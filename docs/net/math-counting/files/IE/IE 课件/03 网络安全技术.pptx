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872" r:id="rId4"/>
    <p:sldMasterId id="2147483874" r:id="rId5"/>
    <p:sldMasterId id="2147483885" r:id="rId6"/>
    <p:sldMasterId id="2147483891" r:id="rId7"/>
  </p:sldMasterIdLst>
  <p:notesMasterIdLst>
    <p:notesMasterId r:id="rId107"/>
  </p:notesMasterIdLst>
  <p:handoutMasterIdLst>
    <p:handoutMasterId r:id="rId108"/>
  </p:handoutMasterIdLst>
  <p:sldIdLst>
    <p:sldId id="257" r:id="rId8"/>
    <p:sldId id="258" r:id="rId9"/>
    <p:sldId id="259" r:id="rId10"/>
    <p:sldId id="260" r:id="rId11"/>
    <p:sldId id="261" r:id="rId12"/>
    <p:sldId id="262" r:id="rId13"/>
    <p:sldId id="263" r:id="rId14"/>
    <p:sldId id="264" r:id="rId15"/>
    <p:sldId id="265" r:id="rId16"/>
    <p:sldId id="266" r:id="rId17"/>
    <p:sldId id="267" r:id="rId18"/>
    <p:sldId id="342" r:id="rId19"/>
    <p:sldId id="269" r:id="rId20"/>
    <p:sldId id="270" r:id="rId21"/>
    <p:sldId id="271" r:id="rId22"/>
    <p:sldId id="272" r:id="rId23"/>
    <p:sldId id="273" r:id="rId24"/>
    <p:sldId id="274" r:id="rId25"/>
    <p:sldId id="275" r:id="rId26"/>
    <p:sldId id="343" r:id="rId27"/>
    <p:sldId id="277" r:id="rId28"/>
    <p:sldId id="278" r:id="rId29"/>
    <p:sldId id="279" r:id="rId30"/>
    <p:sldId id="280" r:id="rId31"/>
    <p:sldId id="281" r:id="rId32"/>
    <p:sldId id="282" r:id="rId33"/>
    <p:sldId id="283" r:id="rId34"/>
    <p:sldId id="284" r:id="rId35"/>
    <p:sldId id="285" r:id="rId36"/>
    <p:sldId id="286" r:id="rId37"/>
    <p:sldId id="344" r:id="rId38"/>
    <p:sldId id="288" r:id="rId39"/>
    <p:sldId id="289" r:id="rId40"/>
    <p:sldId id="290" r:id="rId41"/>
    <p:sldId id="291" r:id="rId42"/>
    <p:sldId id="292" r:id="rId43"/>
    <p:sldId id="293" r:id="rId44"/>
    <p:sldId id="294" r:id="rId45"/>
    <p:sldId id="295" r:id="rId46"/>
    <p:sldId id="296" r:id="rId47"/>
    <p:sldId id="345" r:id="rId48"/>
    <p:sldId id="298" r:id="rId49"/>
    <p:sldId id="299" r:id="rId50"/>
    <p:sldId id="346" r:id="rId51"/>
    <p:sldId id="301" r:id="rId52"/>
    <p:sldId id="302" r:id="rId53"/>
    <p:sldId id="303" r:id="rId54"/>
    <p:sldId id="304" r:id="rId55"/>
    <p:sldId id="305" r:id="rId56"/>
    <p:sldId id="306" r:id="rId57"/>
    <p:sldId id="307" r:id="rId58"/>
    <p:sldId id="309" r:id="rId59"/>
    <p:sldId id="310" r:id="rId60"/>
    <p:sldId id="311" r:id="rId61"/>
    <p:sldId id="312" r:id="rId62"/>
    <p:sldId id="314" r:id="rId63"/>
    <p:sldId id="315" r:id="rId64"/>
    <p:sldId id="347"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48" r:id="rId81"/>
    <p:sldId id="333" r:id="rId82"/>
    <p:sldId id="334" r:id="rId83"/>
    <p:sldId id="335" r:id="rId84"/>
    <p:sldId id="336" r:id="rId85"/>
    <p:sldId id="337" r:id="rId86"/>
    <p:sldId id="338" r:id="rId87"/>
    <p:sldId id="349" r:id="rId88"/>
    <p:sldId id="350" r:id="rId89"/>
    <p:sldId id="352" r:id="rId90"/>
    <p:sldId id="351" r:id="rId91"/>
    <p:sldId id="353" r:id="rId92"/>
    <p:sldId id="354" r:id="rId93"/>
    <p:sldId id="355" r:id="rId94"/>
    <p:sldId id="356" r:id="rId95"/>
    <p:sldId id="357" r:id="rId96"/>
    <p:sldId id="358" r:id="rId97"/>
    <p:sldId id="359" r:id="rId98"/>
    <p:sldId id="360" r:id="rId99"/>
    <p:sldId id="361" r:id="rId100"/>
    <p:sldId id="362" r:id="rId101"/>
    <p:sldId id="363" r:id="rId102"/>
    <p:sldId id="364" r:id="rId103"/>
    <p:sldId id="339" r:id="rId104"/>
    <p:sldId id="340" r:id="rId105"/>
    <p:sldId id="341" r:id="rId106"/>
  </p:sldIdLst>
  <p:sldSz cx="12192000" cy="6858000"/>
  <p:notesSz cx="7010400" cy="9296400"/>
  <p:defaultTextStyle>
    <a:defPPr>
      <a:defRPr lang="en-US"/>
    </a:defPPr>
    <a:lvl1pPr marL="0" algn="l" defTabSz="914478" rtl="0" eaLnBrk="1" latinLnBrk="0" hangingPunct="1">
      <a:defRPr sz="1800" kern="1200">
        <a:solidFill>
          <a:schemeClr val="tx1"/>
        </a:solidFill>
        <a:latin typeface="+mn-lt"/>
        <a:ea typeface="+mn-ea"/>
        <a:cs typeface="+mn-cs"/>
      </a:defRPr>
    </a:lvl1pPr>
    <a:lvl2pPr marL="457240" algn="l" defTabSz="914478" rtl="0" eaLnBrk="1" latinLnBrk="0" hangingPunct="1">
      <a:defRPr sz="1800" kern="1200">
        <a:solidFill>
          <a:schemeClr val="tx1"/>
        </a:solidFill>
        <a:latin typeface="+mn-lt"/>
        <a:ea typeface="+mn-ea"/>
        <a:cs typeface="+mn-cs"/>
      </a:defRPr>
    </a:lvl2pPr>
    <a:lvl3pPr marL="914478" algn="l" defTabSz="914478" rtl="0" eaLnBrk="1" latinLnBrk="0" hangingPunct="1">
      <a:defRPr sz="1800" kern="1200">
        <a:solidFill>
          <a:schemeClr val="tx1"/>
        </a:solidFill>
        <a:latin typeface="+mn-lt"/>
        <a:ea typeface="+mn-ea"/>
        <a:cs typeface="+mn-cs"/>
      </a:defRPr>
    </a:lvl3pPr>
    <a:lvl4pPr marL="1371718" algn="l" defTabSz="914478" rtl="0" eaLnBrk="1" latinLnBrk="0" hangingPunct="1">
      <a:defRPr sz="1800" kern="1200">
        <a:solidFill>
          <a:schemeClr val="tx1"/>
        </a:solidFill>
        <a:latin typeface="+mn-lt"/>
        <a:ea typeface="+mn-ea"/>
        <a:cs typeface="+mn-cs"/>
      </a:defRPr>
    </a:lvl4pPr>
    <a:lvl5pPr marL="1828957" algn="l" defTabSz="914478" rtl="0" eaLnBrk="1" latinLnBrk="0" hangingPunct="1">
      <a:defRPr sz="1800" kern="1200">
        <a:solidFill>
          <a:schemeClr val="tx1"/>
        </a:solidFill>
        <a:latin typeface="+mn-lt"/>
        <a:ea typeface="+mn-ea"/>
        <a:cs typeface="+mn-cs"/>
      </a:defRPr>
    </a:lvl5pPr>
    <a:lvl6pPr marL="2286196" algn="l" defTabSz="914478" rtl="0" eaLnBrk="1" latinLnBrk="0" hangingPunct="1">
      <a:defRPr sz="1800" kern="1200">
        <a:solidFill>
          <a:schemeClr val="tx1"/>
        </a:solidFill>
        <a:latin typeface="+mn-lt"/>
        <a:ea typeface="+mn-ea"/>
        <a:cs typeface="+mn-cs"/>
      </a:defRPr>
    </a:lvl6pPr>
    <a:lvl7pPr marL="2743435" algn="l" defTabSz="914478" rtl="0" eaLnBrk="1" latinLnBrk="0" hangingPunct="1">
      <a:defRPr sz="1800" kern="1200">
        <a:solidFill>
          <a:schemeClr val="tx1"/>
        </a:solidFill>
        <a:latin typeface="+mn-lt"/>
        <a:ea typeface="+mn-ea"/>
        <a:cs typeface="+mn-cs"/>
      </a:defRPr>
    </a:lvl7pPr>
    <a:lvl8pPr marL="3200675" algn="l" defTabSz="914478" rtl="0" eaLnBrk="1" latinLnBrk="0" hangingPunct="1">
      <a:defRPr sz="1800" kern="1200">
        <a:solidFill>
          <a:schemeClr val="tx1"/>
        </a:solidFill>
        <a:latin typeface="+mn-lt"/>
        <a:ea typeface="+mn-ea"/>
        <a:cs typeface="+mn-cs"/>
      </a:defRPr>
    </a:lvl8pPr>
    <a:lvl9pPr marL="3657913" algn="l" defTabSz="914478"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userDrawn="1">
          <p15:clr>
            <a:srgbClr val="A4A3A4"/>
          </p15:clr>
        </p15:guide>
        <p15:guide id="2" pos="220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yueyuezjhw" initials="l" lastIdx="34" clrIdx="0">
    <p:extLst>
      <p:ext uri="{19B8F6BF-5375-455C-9EA6-DF929625EA0E}">
        <p15:presenceInfo xmlns:p15="http://schemas.microsoft.com/office/powerpoint/2012/main" userId="S-1-5-21-147214757-305610072-1517763936-473611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B230"/>
    <a:srgbClr val="56C4D2"/>
    <a:srgbClr val="94DAE2"/>
    <a:srgbClr val="BEE9EE"/>
    <a:srgbClr val="FDD351"/>
    <a:srgbClr val="C7000B"/>
    <a:srgbClr val="FAD3BB"/>
    <a:srgbClr val="30B5C5"/>
    <a:srgbClr val="F28944"/>
    <a:srgbClr val="FDE39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763" autoAdjust="0"/>
  </p:normalViewPr>
  <p:slideViewPr>
    <p:cSldViewPr snapToGrid="0" snapToObjects="1">
      <p:cViewPr varScale="1">
        <p:scale>
          <a:sx n="66" d="100"/>
          <a:sy n="66" d="100"/>
        </p:scale>
        <p:origin x="48" y="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86" d="100"/>
          <a:sy n="86" d="100"/>
        </p:scale>
        <p:origin x="1506" y="102"/>
      </p:cViewPr>
      <p:guideLst>
        <p:guide orient="horz"/>
        <p:guide pos="2208"/>
      </p:guideLst>
    </p:cSldViewPr>
  </p:notes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12" Type="http://schemas.openxmlformats.org/officeDocument/2006/relationships/theme" Target="theme/theme1.xml"/><Relationship Id="rId16" Type="http://schemas.openxmlformats.org/officeDocument/2006/relationships/slide" Target="slides/slide9.xml"/><Relationship Id="rId107" Type="http://schemas.openxmlformats.org/officeDocument/2006/relationships/notesMaster" Target="notesMasters/notesMaster1.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slide" Target="slides/slide95.xml"/><Relationship Id="rId5" Type="http://schemas.openxmlformats.org/officeDocument/2006/relationships/slideMaster" Target="slideMasters/slideMaster2.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tableStyles" Target="tableStyles.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handoutMaster" Target="handoutMasters/handoutMaster1.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6" Type="http://schemas.openxmlformats.org/officeDocument/2006/relationships/slide" Target="slides/slide99.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commentAuthors" Target="commentAuthors.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7" Type="http://schemas.openxmlformats.org/officeDocument/2006/relationships/slideMaster" Target="slideMasters/slideMaster4.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presProps" Target="presProps.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3" Type="http://schemas.openxmlformats.org/officeDocument/2006/relationships/customXml" Target="../customXml/item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8CC198DB-AFBD-584A-8986-364FF2B03F46}"/>
              </a:ext>
            </a:extLst>
          </p:cNvPr>
          <p:cNvSpPr>
            <a:spLocks noGrp="1"/>
          </p:cNvSpPr>
          <p:nvPr>
            <p:ph type="hdr" sz="quarter"/>
          </p:nvPr>
        </p:nvSpPr>
        <p:spPr>
          <a:xfrm>
            <a:off x="0" y="0"/>
            <a:ext cx="3037840" cy="466435"/>
          </a:xfrm>
          <a:prstGeom prst="rect">
            <a:avLst/>
          </a:prstGeom>
        </p:spPr>
        <p:txBody>
          <a:bodyPr vert="horz" lIns="91440" tIns="45720" rIns="91440" bIns="45720" rtlCol="0"/>
          <a:lstStyle>
            <a:lvl1pPr algn="l">
              <a:defRPr sz="1200"/>
            </a:lvl1pPr>
          </a:lstStyle>
          <a:p>
            <a:endParaRPr lang="en-US" dirty="0">
              <a:latin typeface="Huawei Sans" panose="020C0503030203020204" pitchFamily="34" charset="0"/>
            </a:endParaRPr>
          </a:p>
        </p:txBody>
      </p:sp>
      <p:sp>
        <p:nvSpPr>
          <p:cNvPr id="3" name="Date Placeholder 2">
            <a:extLst>
              <a:ext uri="{FF2B5EF4-FFF2-40B4-BE49-F238E27FC236}">
                <a16:creationId xmlns="" xmlns:a16="http://schemas.microsoft.com/office/drawing/2014/main" id="{AD01315C-523F-A043-8029-B9921497126E}"/>
              </a:ext>
            </a:extLst>
          </p:cNvPr>
          <p:cNvSpPr>
            <a:spLocks noGrp="1"/>
          </p:cNvSpPr>
          <p:nvPr>
            <p:ph type="dt" sz="quarter" idx="1"/>
          </p:nvPr>
        </p:nvSpPr>
        <p:spPr>
          <a:xfrm>
            <a:off x="3970938" y="0"/>
            <a:ext cx="3037840" cy="466435"/>
          </a:xfrm>
          <a:prstGeom prst="rect">
            <a:avLst/>
          </a:prstGeom>
        </p:spPr>
        <p:txBody>
          <a:bodyPr vert="horz" lIns="91440" tIns="45720" rIns="91440" bIns="45720" rtlCol="0"/>
          <a:lstStyle>
            <a:lvl1pPr algn="r">
              <a:defRPr sz="1200"/>
            </a:lvl1pPr>
          </a:lstStyle>
          <a:p>
            <a:fld id="{E8CF71B8-DF2A-2E41-BE66-2E18A767DA8A}" type="datetimeFigureOut">
              <a:rPr lang="en-US" smtClean="0">
                <a:latin typeface="Huawei Sans" panose="020C0503030203020204" pitchFamily="34" charset="0"/>
              </a:rPr>
              <a:t>11/15/2021</a:t>
            </a:fld>
            <a:endParaRPr lang="en-US" dirty="0">
              <a:latin typeface="Huawei Sans" panose="020C0503030203020204" pitchFamily="34" charset="0"/>
            </a:endParaRPr>
          </a:p>
        </p:txBody>
      </p:sp>
      <p:sp>
        <p:nvSpPr>
          <p:cNvPr id="4" name="Footer Placeholder 3">
            <a:extLst>
              <a:ext uri="{FF2B5EF4-FFF2-40B4-BE49-F238E27FC236}">
                <a16:creationId xmlns="" xmlns:a16="http://schemas.microsoft.com/office/drawing/2014/main" id="{B9601424-70F4-1643-8E3A-557A0258D6B6}"/>
              </a:ext>
            </a:extLst>
          </p:cNvPr>
          <p:cNvSpPr>
            <a:spLocks noGrp="1"/>
          </p:cNvSpPr>
          <p:nvPr>
            <p:ph type="ftr" sz="quarter" idx="2"/>
          </p:nvPr>
        </p:nvSpPr>
        <p:spPr>
          <a:xfrm>
            <a:off x="0" y="8829968"/>
            <a:ext cx="3037840" cy="466434"/>
          </a:xfrm>
          <a:prstGeom prst="rect">
            <a:avLst/>
          </a:prstGeom>
        </p:spPr>
        <p:txBody>
          <a:bodyPr vert="horz" lIns="91440" tIns="45720" rIns="91440" bIns="45720" rtlCol="0" anchor="b"/>
          <a:lstStyle>
            <a:lvl1pPr algn="l">
              <a:defRPr sz="1200"/>
            </a:lvl1pPr>
          </a:lstStyle>
          <a:p>
            <a:endParaRPr lang="en-US" dirty="0">
              <a:latin typeface="Huawei Sans" panose="020C0503030203020204" pitchFamily="34" charset="0"/>
            </a:endParaRPr>
          </a:p>
        </p:txBody>
      </p:sp>
      <p:sp>
        <p:nvSpPr>
          <p:cNvPr id="5" name="Slide Number Placeholder 4">
            <a:extLst>
              <a:ext uri="{FF2B5EF4-FFF2-40B4-BE49-F238E27FC236}">
                <a16:creationId xmlns="" xmlns:a16="http://schemas.microsoft.com/office/drawing/2014/main" id="{E85BF48A-FF5C-8145-95A7-EE66A87C73DF}"/>
              </a:ext>
            </a:extLst>
          </p:cNvPr>
          <p:cNvSpPr>
            <a:spLocks noGrp="1"/>
          </p:cNvSpPr>
          <p:nvPr>
            <p:ph type="sldNum" sz="quarter" idx="3"/>
          </p:nvPr>
        </p:nvSpPr>
        <p:spPr>
          <a:xfrm>
            <a:off x="3970938" y="8829968"/>
            <a:ext cx="3037840" cy="466434"/>
          </a:xfrm>
          <a:prstGeom prst="rect">
            <a:avLst/>
          </a:prstGeom>
        </p:spPr>
        <p:txBody>
          <a:bodyPr vert="horz" lIns="91440" tIns="45720" rIns="91440" bIns="45720" rtlCol="0" anchor="b"/>
          <a:lstStyle>
            <a:lvl1pPr algn="r">
              <a:defRPr sz="1200"/>
            </a:lvl1pPr>
          </a:lstStyle>
          <a:p>
            <a:fld id="{A35F0CC5-85BE-A64A-BD47-54C66F7E93E3}" type="slidenum">
              <a:rPr lang="en-US" smtClean="0">
                <a:latin typeface="Huawei Sans" panose="020C0503030203020204" pitchFamily="34" charset="0"/>
              </a:rPr>
              <a:t>‹#›</a:t>
            </a:fld>
            <a:endParaRPr lang="en-US" dirty="0">
              <a:latin typeface="Huawei Sans" panose="020C0503030203020204" pitchFamily="34" charset="0"/>
            </a:endParaRPr>
          </a:p>
        </p:txBody>
      </p:sp>
    </p:spTree>
    <p:extLst>
      <p:ext uri="{BB962C8B-B14F-4D97-AF65-F5344CB8AC3E}">
        <p14:creationId xmlns:p14="http://schemas.microsoft.com/office/powerpoint/2010/main" val="40190952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731838" y="717550"/>
            <a:ext cx="5580062" cy="3125788"/>
          </a:xfrm>
          <a:prstGeom prst="rect">
            <a:avLst/>
          </a:prstGeom>
          <a:noFill/>
          <a:ln w="12700">
            <a:solidFill>
              <a:prstClr val="black"/>
            </a:solidFill>
          </a:ln>
        </p:spPr>
        <p:txBody>
          <a:bodyPr vert="horz" lIns="91440" tIns="45720" rIns="91440" bIns="45720" rtlCol="0" anchor="ctr"/>
          <a:lstStyle/>
          <a:p>
            <a:pPr marL="0" lvl="0"/>
            <a:endParaRPr lang="en-US"/>
          </a:p>
        </p:txBody>
      </p:sp>
      <p:sp>
        <p:nvSpPr>
          <p:cNvPr id="5" name="Notes Placeholder 4"/>
          <p:cNvSpPr>
            <a:spLocks noGrp="1"/>
          </p:cNvSpPr>
          <p:nvPr>
            <p:ph type="body" sz="quarter" idx="3"/>
          </p:nvPr>
        </p:nvSpPr>
        <p:spPr>
          <a:xfrm>
            <a:off x="731838" y="4310765"/>
            <a:ext cx="5580062" cy="4784070"/>
          </a:xfrm>
          <a:prstGeom prst="rect">
            <a:avLst/>
          </a:prstGeom>
        </p:spPr>
        <p:txBody>
          <a:bodyPr vert="horz" lIns="97200" tIns="45720" rIns="9720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4632111"/>
      </p:ext>
    </p:extLst>
  </p:cSld>
  <p:clrMap bg1="lt1" tx1="dk1" bg2="lt2" tx2="dk2" accent1="accent1" accent2="accent2" accent3="accent3" accent4="accent4" accent5="accent5" accent6="accent6" hlink="hlink" folHlink="folHlink"/>
  <p:notesStyle>
    <a:lvl1pPr marL="180000" indent="-180000" algn="l" defTabSz="1219304" rtl="0" eaLnBrk="1" fontAlgn="ctr" latinLnBrk="0" hangingPunct="1">
      <a:lnSpc>
        <a:spcPct val="125000"/>
      </a:lnSpc>
      <a:spcAft>
        <a:spcPts val="600"/>
      </a:spcAft>
      <a:buFont typeface="Huawei Sans" panose="020C0503030203020204" pitchFamily="34" charset="0"/>
      <a:buChar char="•"/>
      <a:defRPr lang="en-US" sz="1100" kern="1200" baseline="0">
        <a:solidFill>
          <a:schemeClr val="tx1"/>
        </a:solidFill>
        <a:latin typeface="Huawei Sans" panose="020C0503030203020204" pitchFamily="34" charset="0"/>
        <a:ea typeface="方正兰亭黑简体" panose="02000000000000000000" pitchFamily="2" charset="-122"/>
        <a:cs typeface="+mn-cs"/>
      </a:defRPr>
    </a:lvl1pPr>
    <a:lvl2pPr marL="540000" indent="-180000" algn="l" defTabSz="1219304" rtl="0" eaLnBrk="1" fontAlgn="ctr" latinLnBrk="0" hangingPunct="1">
      <a:lnSpc>
        <a:spcPct val="125000"/>
      </a:lnSpc>
      <a:spcAft>
        <a:spcPts val="600"/>
      </a:spcAft>
      <a:buClrTx/>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2pPr>
    <a:lvl3pPr marL="900000" indent="-180000" algn="l" defTabSz="1219304" rtl="0" eaLnBrk="1" fontAlgn="ctr" latinLnBrk="0" hangingPunct="1">
      <a:lnSpc>
        <a:spcPct val="125000"/>
      </a:lnSpc>
      <a:spcAft>
        <a:spcPts val="600"/>
      </a:spcAft>
      <a:buFont typeface="微软雅黑" panose="020B0503020204020204" pitchFamily="34" charset="-122"/>
      <a:buChar char="▪"/>
      <a:defRPr sz="1100" kern="1200" baseline="0">
        <a:solidFill>
          <a:schemeClr val="tx1"/>
        </a:solidFill>
        <a:latin typeface="Huawei Sans" panose="020C0503030203020204" pitchFamily="34" charset="0"/>
        <a:ea typeface="方正兰亭黑简体" panose="02000000000000000000" pitchFamily="2" charset="-122"/>
        <a:cs typeface="+mn-cs"/>
      </a:defRPr>
    </a:lvl3pPr>
    <a:lvl4pPr marL="126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4pPr>
    <a:lvl5pPr marL="1620000" indent="-180000" algn="l" defTabSz="1219304" rtl="0" eaLnBrk="1" fontAlgn="ctr" latinLnBrk="0" hangingPunct="1">
      <a:lnSpc>
        <a:spcPct val="125000"/>
      </a:lnSpc>
      <a:spcAft>
        <a:spcPts val="600"/>
      </a:spcAft>
      <a:buFont typeface="Huawei Sans" panose="020C0503030203020204" pitchFamily="34" charset="0"/>
      <a:buChar char="~"/>
      <a:defRPr sz="1100" kern="1200" baseline="0">
        <a:solidFill>
          <a:schemeClr val="tx1"/>
        </a:solidFill>
        <a:latin typeface="Huawei Sans" panose="020C0503030203020204" pitchFamily="34" charset="0"/>
        <a:ea typeface="方正兰亭黑简体" panose="02000000000000000000" pitchFamily="2" charset="-122"/>
        <a:cs typeface="+mn-cs"/>
      </a:defRPr>
    </a:lvl5pPr>
    <a:lvl6pPr marL="3048261" algn="l" defTabSz="1219304" rtl="0" eaLnBrk="1" latinLnBrk="0" hangingPunct="1">
      <a:defRPr sz="1600" kern="1200">
        <a:solidFill>
          <a:schemeClr val="tx1"/>
        </a:solidFill>
        <a:latin typeface="+mn-lt"/>
        <a:ea typeface="+mn-ea"/>
        <a:cs typeface="+mn-cs"/>
      </a:defRPr>
    </a:lvl6pPr>
    <a:lvl7pPr marL="3657913" algn="l" defTabSz="1219304" rtl="0" eaLnBrk="1" latinLnBrk="0" hangingPunct="1">
      <a:defRPr sz="1600" kern="1200">
        <a:solidFill>
          <a:schemeClr val="tx1"/>
        </a:solidFill>
        <a:latin typeface="+mn-lt"/>
        <a:ea typeface="+mn-ea"/>
        <a:cs typeface="+mn-cs"/>
      </a:defRPr>
    </a:lvl7pPr>
    <a:lvl8pPr marL="4267566" algn="l" defTabSz="1219304" rtl="0" eaLnBrk="1" latinLnBrk="0" hangingPunct="1">
      <a:defRPr sz="1600" kern="1200">
        <a:solidFill>
          <a:schemeClr val="tx1"/>
        </a:solidFill>
        <a:latin typeface="+mn-lt"/>
        <a:ea typeface="+mn-ea"/>
        <a:cs typeface="+mn-cs"/>
      </a:defRPr>
    </a:lvl8pPr>
    <a:lvl9pPr marL="4877219" algn="l" defTabSz="1219304" rtl="0" eaLnBrk="1" latinLnBrk="0" hangingPunct="1">
      <a:defRPr sz="1600" kern="1200">
        <a:solidFill>
          <a:schemeClr val="tx1"/>
        </a:solidFill>
        <a:latin typeface="+mn-lt"/>
        <a:ea typeface="+mn-ea"/>
        <a:cs typeface="+mn-cs"/>
      </a:defRPr>
    </a:lvl9pPr>
  </p:notesStyle>
  <p:extLst mod="1">
    <p:ext uri="{620B2872-D7B9-4A21-9093-7833F8D536E1}">
      <p15:sldGuideLst xmlns:p15="http://schemas.microsoft.com/office/powerpoint/2012/main">
        <p15:guide id="2" orient="horz" pos="2704" userDrawn="1">
          <p15:clr>
            <a:srgbClr val="F26B43"/>
          </p15:clr>
        </p15:guide>
        <p15:guide id="3" orient="horz" pos="459" userDrawn="1">
          <p15:clr>
            <a:srgbClr val="F26B43"/>
          </p15:clr>
        </p15:guide>
        <p15:guide id="4" orient="horz" pos="2432" userDrawn="1">
          <p15:clr>
            <a:srgbClr val="F26B43"/>
          </p15:clr>
        </p15:guide>
        <p15:guide id="7" pos="461" userDrawn="1">
          <p15:clr>
            <a:srgbClr val="F26B43"/>
          </p15:clr>
        </p15:guide>
        <p15:guide id="9" pos="2207" userDrawn="1">
          <p15:clr>
            <a:srgbClr val="F26B43"/>
          </p15:clr>
        </p15:guide>
        <p15:guide id="10" pos="397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幻灯片图像占位符 2"/>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41132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22305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86612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52058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39222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7423413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742203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采用二层隔离三层互通的隔离模式时，在</a:t>
            </a:r>
            <a:r>
              <a:rPr lang="en-US" altLang="zh-CN" smtClean="0"/>
              <a:t>VLANIF</a:t>
            </a:r>
            <a:r>
              <a:rPr lang="zh-CN" altLang="en-US" smtClean="0"/>
              <a:t>接口上使能</a:t>
            </a:r>
            <a:r>
              <a:rPr lang="en-US" altLang="zh-CN" smtClean="0"/>
              <a:t>VLAN</a:t>
            </a:r>
            <a:r>
              <a:rPr lang="zh-CN" altLang="en-US" smtClean="0"/>
              <a:t>内</a:t>
            </a:r>
            <a:r>
              <a:rPr lang="en-US" altLang="zh-CN" smtClean="0"/>
              <a:t>Proxy ARP</a:t>
            </a:r>
            <a:r>
              <a:rPr lang="zh-CN" altLang="en-US" smtClean="0"/>
              <a:t>功能，配置</a:t>
            </a:r>
            <a:r>
              <a:rPr lang="en-US" altLang="zh-CN" b="1" smtClean="0"/>
              <a:t>arp-proxy inner-sub-vlan-proxy enable</a:t>
            </a:r>
            <a:r>
              <a:rPr lang="zh-CN" altLang="en-US" smtClean="0"/>
              <a:t>，可以实现同一</a:t>
            </a:r>
            <a:r>
              <a:rPr lang="en-US" altLang="zh-CN" smtClean="0"/>
              <a:t>VLAN</a:t>
            </a:r>
            <a:r>
              <a:rPr lang="zh-CN" altLang="en-US" smtClean="0"/>
              <a:t>内主机通信。</a:t>
            </a:r>
            <a:endParaRPr lang="en-US" altLang="zh-CN" smtClean="0"/>
          </a:p>
          <a:p>
            <a:r>
              <a:rPr lang="zh-CN" altLang="en-US" smtClean="0"/>
              <a:t>单向隔离举例：接口</a:t>
            </a:r>
            <a:r>
              <a:rPr lang="en-US" altLang="zh-CN" smtClean="0"/>
              <a:t>A</a:t>
            </a:r>
            <a:r>
              <a:rPr lang="zh-CN" altLang="en-US" smtClean="0"/>
              <a:t>与接口</a:t>
            </a:r>
            <a:r>
              <a:rPr lang="en-US" altLang="zh-CN" smtClean="0"/>
              <a:t>B</a:t>
            </a:r>
            <a:r>
              <a:rPr lang="zh-CN" altLang="en-US" smtClean="0"/>
              <a:t>之间单向</a:t>
            </a:r>
            <a:r>
              <a:rPr lang="zh-CN" altLang="en-US" sz="1100" kern="1200" baseline="0" smtClean="0">
                <a:solidFill>
                  <a:schemeClr val="tx1"/>
                </a:solidFill>
                <a:effectLst/>
                <a:latin typeface="Huawei Sans" panose="020C0503030203020204" pitchFamily="34" charset="0"/>
                <a:ea typeface="方正兰亭黑简体" panose="02000000000000000000" pitchFamily="2" charset="-122"/>
                <a:cs typeface="+mn-cs"/>
              </a:rPr>
              <a:t>隔离</a:t>
            </a:r>
            <a:r>
              <a:rPr lang="zh-CN" altLang="en-US" smtClean="0"/>
              <a:t>，即接口</a:t>
            </a:r>
            <a:r>
              <a:rPr lang="en-US" altLang="zh-CN" smtClean="0"/>
              <a:t>A</a:t>
            </a:r>
            <a:r>
              <a:rPr lang="zh-CN" altLang="en-US" smtClean="0"/>
              <a:t>发送的报文不能到达接口</a:t>
            </a:r>
            <a:r>
              <a:rPr lang="en-US" altLang="zh-CN" smtClean="0"/>
              <a:t>B</a:t>
            </a:r>
            <a:r>
              <a:rPr lang="zh-CN" altLang="en-US" smtClean="0"/>
              <a:t>，但从接口</a:t>
            </a:r>
            <a:r>
              <a:rPr lang="en-US" altLang="zh-CN" smtClean="0"/>
              <a:t>B</a:t>
            </a:r>
            <a:r>
              <a:rPr lang="zh-CN" altLang="en-US" smtClean="0"/>
              <a:t>发送的报文可以到达接口</a:t>
            </a:r>
            <a:r>
              <a:rPr lang="en-US" altLang="zh-CN" smtClean="0"/>
              <a:t>A</a:t>
            </a:r>
            <a:r>
              <a:rPr lang="zh-CN" altLang="en-US" smtClean="0"/>
              <a:t>。</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391157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438661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1431941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362738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992017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MAC</a:t>
            </a:r>
            <a:r>
              <a:rPr lang="zh-CN" altLang="en-US" dirty="0" smtClean="0"/>
              <a:t>地址表记录了交换机学习到的</a:t>
            </a:r>
            <a:r>
              <a:rPr lang="en-US" altLang="zh-CN" dirty="0" smtClean="0"/>
              <a:t>MAC</a:t>
            </a:r>
            <a:r>
              <a:rPr lang="zh-CN" altLang="en-US" dirty="0" smtClean="0"/>
              <a:t>地址与接口的对应关系，以及接口所属</a:t>
            </a:r>
            <a:r>
              <a:rPr lang="en-US" altLang="zh-CN" dirty="0" smtClean="0"/>
              <a:t>VLAN</a:t>
            </a:r>
            <a:r>
              <a:rPr lang="zh-CN" altLang="en-US" dirty="0" smtClean="0"/>
              <a:t>等信息。</a:t>
            </a:r>
          </a:p>
          <a:p>
            <a:r>
              <a:rPr lang="zh-CN" altLang="en-US" dirty="0" smtClean="0"/>
              <a:t>设备在执行二层交换操作时，根据报文的目的</a:t>
            </a:r>
            <a:r>
              <a:rPr lang="en-US" altLang="zh-CN" dirty="0" smtClean="0"/>
              <a:t>MAC</a:t>
            </a:r>
            <a:r>
              <a:rPr lang="zh-CN" altLang="en-US" dirty="0" smtClean="0"/>
              <a:t>地址查询</a:t>
            </a:r>
            <a:r>
              <a:rPr lang="en-US" altLang="zh-CN" dirty="0" smtClean="0"/>
              <a:t>MAC</a:t>
            </a:r>
            <a:r>
              <a:rPr lang="zh-CN" altLang="en-US" dirty="0" smtClean="0"/>
              <a:t>地址表，如果</a:t>
            </a:r>
            <a:r>
              <a:rPr lang="en-US" altLang="zh-CN" dirty="0" smtClean="0"/>
              <a:t>MAC</a:t>
            </a:r>
            <a:r>
              <a:rPr lang="zh-CN" altLang="en-US" dirty="0" smtClean="0"/>
              <a:t>地址表中包含与报文目的</a:t>
            </a:r>
            <a:r>
              <a:rPr lang="en-US" altLang="zh-CN" dirty="0" smtClean="0"/>
              <a:t>MAC</a:t>
            </a:r>
            <a:r>
              <a:rPr lang="zh-CN" altLang="en-US" dirty="0" smtClean="0"/>
              <a:t>地址对应的表项，并且收到该报文的接口与对应的表项的接口不相同时，则直接通过该表项中的出接口转发该报文；如果相同，则丢弃该报文。</a:t>
            </a:r>
          </a:p>
          <a:p>
            <a:r>
              <a:rPr lang="zh-CN" altLang="en-US" dirty="0" smtClean="0"/>
              <a:t>如果</a:t>
            </a:r>
            <a:r>
              <a:rPr lang="en-US" altLang="zh-CN" dirty="0" smtClean="0"/>
              <a:t>MAC</a:t>
            </a:r>
            <a:r>
              <a:rPr lang="zh-CN" altLang="en-US" dirty="0" smtClean="0"/>
              <a:t>地址表中没有包含报文目的</a:t>
            </a:r>
            <a:r>
              <a:rPr lang="en-US" altLang="zh-CN" dirty="0" smtClean="0"/>
              <a:t>MAC</a:t>
            </a:r>
            <a:r>
              <a:rPr lang="zh-CN" altLang="en-US" dirty="0" smtClean="0"/>
              <a:t>地址对应的表项时，设备将采取广播方式在所属</a:t>
            </a:r>
            <a:r>
              <a:rPr lang="en-US" altLang="zh-CN" dirty="0" smtClean="0"/>
              <a:t>VLAN</a:t>
            </a:r>
            <a:r>
              <a:rPr lang="zh-CN" altLang="en-US" dirty="0" smtClean="0"/>
              <a:t>内除接收接口外的所有接口转发该报文。</a:t>
            </a:r>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497832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为了防止一些关键设备（如各种服务器或上行设备）被非法用户恶意修改其</a:t>
            </a:r>
            <a:r>
              <a:rPr lang="en-US" altLang="zh-CN" smtClean="0"/>
              <a:t>MAC</a:t>
            </a:r>
            <a:r>
              <a:rPr lang="zh-CN" altLang="en-US" smtClean="0"/>
              <a:t>地址表项，可将这些设备的</a:t>
            </a:r>
            <a:r>
              <a:rPr lang="en-US" altLang="zh-CN" smtClean="0"/>
              <a:t>MAC</a:t>
            </a:r>
            <a:r>
              <a:rPr lang="zh-CN" altLang="en-US" smtClean="0"/>
              <a:t>地址配置为静态</a:t>
            </a:r>
            <a:r>
              <a:rPr lang="en-US" altLang="zh-CN" smtClean="0"/>
              <a:t>MAC</a:t>
            </a:r>
            <a:r>
              <a:rPr lang="zh-CN" altLang="en-US" smtClean="0"/>
              <a:t>地址表项，因为静态</a:t>
            </a:r>
            <a:r>
              <a:rPr lang="en-US" altLang="zh-CN" smtClean="0"/>
              <a:t>MAC</a:t>
            </a:r>
            <a:r>
              <a:rPr lang="zh-CN" altLang="en-US" smtClean="0"/>
              <a:t>地址表项优先于动态</a:t>
            </a:r>
            <a:r>
              <a:rPr lang="en-US" altLang="zh-CN" smtClean="0"/>
              <a:t>MAC</a:t>
            </a:r>
            <a:r>
              <a:rPr lang="zh-CN" altLang="en-US" smtClean="0"/>
              <a:t>地址表项，不易被非法修改。</a:t>
            </a:r>
          </a:p>
          <a:p>
            <a:r>
              <a:rPr lang="zh-CN" altLang="en-US" smtClean="0"/>
              <a:t>为了防止无用</a:t>
            </a:r>
            <a:r>
              <a:rPr lang="en-US" altLang="zh-CN" smtClean="0"/>
              <a:t>MAC</a:t>
            </a:r>
            <a:r>
              <a:rPr lang="zh-CN" altLang="en-US" smtClean="0"/>
              <a:t>地址表项占用</a:t>
            </a:r>
            <a:r>
              <a:rPr lang="en-US" altLang="zh-CN" smtClean="0"/>
              <a:t>MAC</a:t>
            </a:r>
            <a:r>
              <a:rPr lang="zh-CN" altLang="en-US" smtClean="0"/>
              <a:t>地址表，同时为了防止黑客通过</a:t>
            </a:r>
            <a:r>
              <a:rPr lang="en-US" altLang="zh-CN" smtClean="0"/>
              <a:t>MAC</a:t>
            </a:r>
            <a:r>
              <a:rPr lang="zh-CN" altLang="en-US" smtClean="0"/>
              <a:t>地址攻击用户设备或网络，可将那些有着恶意历史的非信任</a:t>
            </a:r>
            <a:r>
              <a:rPr lang="en-US" altLang="zh-CN" smtClean="0"/>
              <a:t>MAC</a:t>
            </a:r>
            <a:r>
              <a:rPr lang="zh-CN" altLang="en-US" smtClean="0"/>
              <a:t>地址配置为黑洞</a:t>
            </a:r>
            <a:r>
              <a:rPr lang="en-US" altLang="zh-CN" smtClean="0"/>
              <a:t>MAC</a:t>
            </a:r>
            <a:r>
              <a:rPr lang="zh-CN" altLang="en-US" smtClean="0"/>
              <a:t>地址，使设备在收到目的</a:t>
            </a:r>
            <a:r>
              <a:rPr lang="en-US" altLang="zh-CN" smtClean="0"/>
              <a:t>MAC</a:t>
            </a:r>
            <a:r>
              <a:rPr lang="zh-CN" altLang="en-US" smtClean="0"/>
              <a:t>或源</a:t>
            </a:r>
            <a:r>
              <a:rPr lang="en-US" altLang="zh-CN" smtClean="0"/>
              <a:t>MAC</a:t>
            </a:r>
            <a:r>
              <a:rPr lang="zh-CN" altLang="en-US" smtClean="0"/>
              <a:t>地址为这些黑洞</a:t>
            </a:r>
            <a:r>
              <a:rPr lang="en-US" altLang="zh-CN" smtClean="0"/>
              <a:t>MAC</a:t>
            </a:r>
            <a:r>
              <a:rPr lang="zh-CN" altLang="en-US" smtClean="0"/>
              <a:t>地址的报文时，直接予以丢弃，不修改原有的</a:t>
            </a:r>
            <a:r>
              <a:rPr lang="en-US" altLang="zh-CN" smtClean="0"/>
              <a:t>MAC</a:t>
            </a:r>
            <a:r>
              <a:rPr lang="zh-CN" altLang="en-US" smtClean="0"/>
              <a:t>地址表项，也不增加新的</a:t>
            </a:r>
            <a:r>
              <a:rPr lang="en-US" altLang="zh-CN" smtClean="0"/>
              <a:t>MAC</a:t>
            </a:r>
            <a:r>
              <a:rPr lang="zh-CN" altLang="en-US" smtClean="0"/>
              <a:t>地址表项。</a:t>
            </a:r>
          </a:p>
          <a:p>
            <a:r>
              <a:rPr lang="zh-CN" altLang="en-US" smtClean="0"/>
              <a:t>为了减轻手工配置静态</a:t>
            </a:r>
            <a:r>
              <a:rPr lang="en-US" altLang="zh-CN" smtClean="0"/>
              <a:t>MAC</a:t>
            </a:r>
            <a:r>
              <a:rPr lang="zh-CN" altLang="en-US" smtClean="0"/>
              <a:t>地址表项，华为</a:t>
            </a:r>
            <a:r>
              <a:rPr lang="en-US" altLang="zh-CN" smtClean="0"/>
              <a:t>S</a:t>
            </a:r>
            <a:r>
              <a:rPr lang="zh-CN" altLang="en-US" smtClean="0"/>
              <a:t>系列交换机缺省已使能了动态</a:t>
            </a:r>
            <a:r>
              <a:rPr lang="en-US" altLang="zh-CN" smtClean="0"/>
              <a:t>MAC</a:t>
            </a:r>
            <a:r>
              <a:rPr lang="zh-CN" altLang="en-US" smtClean="0"/>
              <a:t>地址表项学习功能。但为了避免</a:t>
            </a:r>
            <a:r>
              <a:rPr lang="en-US" altLang="zh-CN" smtClean="0"/>
              <a:t>MAC</a:t>
            </a:r>
            <a:r>
              <a:rPr lang="zh-CN" altLang="en-US" smtClean="0"/>
              <a:t>地址表项爆炸式增长，可合理配置动态</a:t>
            </a:r>
            <a:r>
              <a:rPr lang="en-US" altLang="zh-CN" smtClean="0"/>
              <a:t>MAC</a:t>
            </a:r>
            <a:r>
              <a:rPr lang="zh-CN" altLang="en-US" smtClean="0"/>
              <a:t>表项的老化时间，以便及时删除</a:t>
            </a:r>
            <a:r>
              <a:rPr lang="en-US" altLang="zh-CN" smtClean="0"/>
              <a:t>MAC</a:t>
            </a:r>
            <a:r>
              <a:rPr lang="zh-CN" altLang="en-US" smtClean="0"/>
              <a:t>地址表中的废弃</a:t>
            </a:r>
            <a:r>
              <a:rPr lang="en-US" altLang="zh-CN" smtClean="0"/>
              <a:t>MAC</a:t>
            </a:r>
            <a:r>
              <a:rPr lang="zh-CN" altLang="en-US" smtClean="0"/>
              <a:t>地址表项。</a:t>
            </a:r>
            <a:endParaRPr lang="en-US" altLang="zh-CN" smtClean="0"/>
          </a:p>
          <a:p>
            <a:pPr lvl="0"/>
            <a:r>
              <a:rPr lang="zh-CN" altLang="en-US" smtClean="0"/>
              <a:t>为了提高网络的安全性，防止设备学习到非法的</a:t>
            </a:r>
            <a:r>
              <a:rPr lang="en-US" altLang="zh-CN" smtClean="0"/>
              <a:t>MAC</a:t>
            </a:r>
            <a:r>
              <a:rPr lang="zh-CN" altLang="en-US" smtClean="0"/>
              <a:t>地址，错误地修改</a:t>
            </a:r>
            <a:r>
              <a:rPr lang="en-US" altLang="zh-CN" smtClean="0"/>
              <a:t>MAC</a:t>
            </a:r>
            <a:r>
              <a:rPr lang="zh-CN" altLang="en-US" smtClean="0"/>
              <a:t>地址表中的原</a:t>
            </a:r>
            <a:r>
              <a:rPr lang="en-US" altLang="zh-CN" smtClean="0"/>
              <a:t>MAC</a:t>
            </a:r>
            <a:r>
              <a:rPr lang="zh-CN" altLang="en-US" smtClean="0"/>
              <a:t>地址表项，可以选择关闭设备上指定接口或指定</a:t>
            </a:r>
            <a:r>
              <a:rPr lang="en-US" altLang="zh-CN" smtClean="0"/>
              <a:t>VLAN</a:t>
            </a:r>
            <a:r>
              <a:rPr lang="zh-CN" altLang="en-US" smtClean="0"/>
              <a:t>中所有接口的</a:t>
            </a:r>
            <a:r>
              <a:rPr lang="en-US" altLang="zh-CN" smtClean="0"/>
              <a:t>MAC</a:t>
            </a:r>
            <a:r>
              <a:rPr lang="zh-CN" altLang="en-US" smtClean="0"/>
              <a:t>地址学习功能，这样设备将不再从这些接口上学习新的</a:t>
            </a:r>
            <a:r>
              <a:rPr lang="en-US" altLang="zh-CN" smtClean="0"/>
              <a:t>MAC</a:t>
            </a:r>
            <a:r>
              <a:rPr lang="zh-CN" altLang="en-US" smtClean="0"/>
              <a:t>地址。</a:t>
            </a:r>
            <a:endParaRPr lang="en-US" altLang="zh-CN" smtClean="0"/>
          </a:p>
          <a:p>
            <a:pPr lvl="0"/>
            <a:r>
              <a:rPr lang="zh-CN" altLang="en-US" smtClean="0"/>
              <a:t>配置限制</a:t>
            </a:r>
            <a:r>
              <a:rPr lang="en-US" altLang="zh-CN" smtClean="0"/>
              <a:t>MAC</a:t>
            </a:r>
            <a:r>
              <a:rPr lang="zh-CN" altLang="en-US" smtClean="0"/>
              <a:t>地址学习数，当超过限制数时不再学习</a:t>
            </a:r>
            <a:r>
              <a:rPr lang="en-US" altLang="zh-CN" smtClean="0"/>
              <a:t>MAC</a:t>
            </a:r>
            <a:r>
              <a:rPr lang="zh-CN" altLang="en-US" smtClean="0"/>
              <a:t>地址，同时可以配置当</a:t>
            </a:r>
            <a:r>
              <a:rPr lang="en-US" altLang="zh-CN" smtClean="0"/>
              <a:t>MAC</a:t>
            </a:r>
            <a:r>
              <a:rPr lang="zh-CN" altLang="en-US" smtClean="0"/>
              <a:t>地址数达到限制后对报文采取的动作，从而防止</a:t>
            </a:r>
            <a:r>
              <a:rPr lang="en-US" altLang="zh-CN" smtClean="0"/>
              <a:t>MAC</a:t>
            </a:r>
            <a:r>
              <a:rPr lang="zh-CN" altLang="en-US" smtClean="0"/>
              <a:t>地址表资源耗尽，提高网络安全性。</a:t>
            </a:r>
          </a:p>
          <a:p>
            <a:pPr lvl="0"/>
            <a:endParaRPr lang="en-US" altLang="zh-CN" smtClean="0"/>
          </a:p>
          <a:p>
            <a:endParaRPr lang="en-US" altLang="zh-CN" smtClean="0"/>
          </a:p>
          <a:p>
            <a:endParaRPr lang="zh-CN" altLang="en-US" smtClean="0"/>
          </a:p>
          <a:p>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285876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4" name="备注占位符 3"/>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604218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266110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9294402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089688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9003965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446009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898603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7981494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a:lnSpc>
                <a:spcPct val="100000"/>
              </a:lnSpc>
            </a:pPr>
            <a:r>
              <a:rPr lang="zh-CN" altLang="en-US" dirty="0" smtClean="0"/>
              <a:t>安全动态</a:t>
            </a:r>
            <a:r>
              <a:rPr lang="en-US" altLang="zh-CN" dirty="0" smtClean="0"/>
              <a:t>MAC</a:t>
            </a:r>
            <a:r>
              <a:rPr lang="zh-CN" altLang="en-US" dirty="0" smtClean="0"/>
              <a:t>地址的老化类型分为：绝对时间老化和相对时间老化：</a:t>
            </a:r>
          </a:p>
          <a:p>
            <a:pPr lvl="1">
              <a:lnSpc>
                <a:spcPct val="100000"/>
              </a:lnSpc>
            </a:pPr>
            <a:r>
              <a:rPr lang="zh-CN" altLang="en-US" dirty="0" smtClean="0"/>
              <a:t>如设置绝对老化时间为</a:t>
            </a:r>
            <a:r>
              <a:rPr lang="en-US" altLang="zh-CN" dirty="0" smtClean="0"/>
              <a:t>5</a:t>
            </a:r>
            <a:r>
              <a:rPr lang="zh-CN" altLang="en-US" dirty="0" smtClean="0"/>
              <a:t>分钟：系统每隔</a:t>
            </a:r>
            <a:r>
              <a:rPr lang="en-US" altLang="zh-CN" dirty="0" smtClean="0"/>
              <a:t>1</a:t>
            </a:r>
            <a:r>
              <a:rPr lang="zh-CN" altLang="en-US" dirty="0" smtClean="0"/>
              <a:t>分钟计算一次每个</a:t>
            </a:r>
            <a:r>
              <a:rPr lang="en-US" altLang="zh-CN" dirty="0" smtClean="0"/>
              <a:t>MAC</a:t>
            </a:r>
            <a:r>
              <a:rPr lang="zh-CN" altLang="en-US" dirty="0" smtClean="0"/>
              <a:t>的存在时间，若大于等于</a:t>
            </a:r>
            <a:r>
              <a:rPr lang="en-US" altLang="zh-CN" dirty="0" smtClean="0"/>
              <a:t>5</a:t>
            </a:r>
            <a:r>
              <a:rPr lang="zh-CN" altLang="en-US" dirty="0" smtClean="0"/>
              <a:t>分钟，则立即将该安全动态</a:t>
            </a:r>
            <a:r>
              <a:rPr lang="en-US" altLang="zh-CN" dirty="0" smtClean="0"/>
              <a:t>MAC</a:t>
            </a:r>
            <a:r>
              <a:rPr lang="zh-CN" altLang="en-US" dirty="0" smtClean="0"/>
              <a:t>地址老化。否则，等待下</a:t>
            </a:r>
            <a:r>
              <a:rPr lang="en-US" altLang="zh-CN" dirty="0" smtClean="0"/>
              <a:t>1</a:t>
            </a:r>
            <a:r>
              <a:rPr lang="zh-CN" altLang="en-US" dirty="0" smtClean="0"/>
              <a:t>分钟再检测计算。</a:t>
            </a:r>
          </a:p>
          <a:p>
            <a:pPr lvl="1">
              <a:lnSpc>
                <a:spcPct val="100000"/>
              </a:lnSpc>
            </a:pPr>
            <a:r>
              <a:rPr lang="zh-CN" altLang="en-US" dirty="0" smtClean="0"/>
              <a:t>如设置相对老化时间为</a:t>
            </a:r>
            <a:r>
              <a:rPr lang="en-US" altLang="zh-CN" dirty="0" smtClean="0"/>
              <a:t>5</a:t>
            </a:r>
            <a:r>
              <a:rPr lang="zh-CN" altLang="en-US" dirty="0" smtClean="0"/>
              <a:t>分钟：系统每隔</a:t>
            </a:r>
            <a:r>
              <a:rPr lang="en-US" altLang="zh-CN" dirty="0" smtClean="0"/>
              <a:t>1</a:t>
            </a:r>
            <a:r>
              <a:rPr lang="zh-CN" altLang="en-US" dirty="0" smtClean="0"/>
              <a:t>分钟检测一次是否有该</a:t>
            </a:r>
            <a:r>
              <a:rPr lang="en-US" altLang="zh-CN" dirty="0" smtClean="0"/>
              <a:t>MAC</a:t>
            </a:r>
            <a:r>
              <a:rPr lang="zh-CN" altLang="en-US" dirty="0" smtClean="0"/>
              <a:t>的流量。若没有流量，则经过</a:t>
            </a:r>
            <a:r>
              <a:rPr lang="en-US" altLang="zh-CN" dirty="0" smtClean="0"/>
              <a:t>5</a:t>
            </a:r>
            <a:r>
              <a:rPr lang="zh-CN" altLang="en-US" dirty="0" smtClean="0"/>
              <a:t>分钟后将该安全动态</a:t>
            </a:r>
            <a:r>
              <a:rPr lang="en-US" altLang="zh-CN" dirty="0" smtClean="0"/>
              <a:t>MAC</a:t>
            </a:r>
            <a:r>
              <a:rPr lang="zh-CN" altLang="en-US" dirty="0" smtClean="0"/>
              <a:t>地址老化。</a:t>
            </a:r>
            <a:endParaRPr lang="en-US" altLang="zh-CN" dirty="0" smtClean="0"/>
          </a:p>
          <a:p>
            <a:pPr>
              <a:lnSpc>
                <a:spcPct val="100000"/>
              </a:lnSpc>
            </a:pPr>
            <a:r>
              <a:rPr lang="zh-CN" altLang="en-US" dirty="0" smtClean="0"/>
              <a:t>默认情况下，接口关闭（</a:t>
            </a:r>
            <a:r>
              <a:rPr lang="en-US" altLang="zh-CN" dirty="0" smtClean="0"/>
              <a:t>error-down</a:t>
            </a:r>
            <a:r>
              <a:rPr lang="zh-CN" altLang="en-US" dirty="0" smtClean="0"/>
              <a:t>）后不会自动恢复，只能由网络管理人员在接口视图下使用</a:t>
            </a:r>
            <a:r>
              <a:rPr lang="en-US" altLang="zh-CN" dirty="0" smtClean="0"/>
              <a:t>restart</a:t>
            </a:r>
            <a:r>
              <a:rPr lang="zh-CN" altLang="en-US" dirty="0" smtClean="0"/>
              <a:t>命令重启接口进行恢复。</a:t>
            </a:r>
          </a:p>
          <a:p>
            <a:pPr>
              <a:lnSpc>
                <a:spcPct val="100000"/>
              </a:lnSpc>
            </a:pPr>
            <a:r>
              <a:rPr lang="zh-CN" altLang="en-US" dirty="0" smtClean="0"/>
              <a:t>如果用户希望被关闭的接口可以自动恢复，则可在接口</a:t>
            </a:r>
            <a:r>
              <a:rPr lang="en-US" altLang="zh-CN" dirty="0" smtClean="0"/>
              <a:t>error-down</a:t>
            </a:r>
            <a:r>
              <a:rPr lang="zh-CN" altLang="en-US" dirty="0" smtClean="0"/>
              <a:t>前通过在系统视图下执行</a:t>
            </a:r>
            <a:r>
              <a:rPr lang="en-US" altLang="zh-CN" b="1" dirty="0" smtClean="0"/>
              <a:t>error-down auto-recovery cause port-security interval </a:t>
            </a:r>
            <a:r>
              <a:rPr lang="en-US" altLang="zh-CN" i="1" dirty="0" smtClean="0"/>
              <a:t>interval-value</a:t>
            </a:r>
            <a:r>
              <a:rPr lang="zh-CN" altLang="en-US" dirty="0" smtClean="0"/>
              <a:t>命令使能接口状态自动恢复为</a:t>
            </a:r>
            <a:r>
              <a:rPr lang="en-US" altLang="zh-CN" dirty="0" smtClean="0"/>
              <a:t>Up</a:t>
            </a:r>
            <a:r>
              <a:rPr lang="zh-CN" altLang="en-US" dirty="0" smtClean="0"/>
              <a:t>的功能，并设置接口自动恢复为</a:t>
            </a:r>
            <a:r>
              <a:rPr lang="en-US" altLang="zh-CN" dirty="0" smtClean="0"/>
              <a:t>Up</a:t>
            </a:r>
            <a:r>
              <a:rPr lang="zh-CN" altLang="en-US" dirty="0" smtClean="0"/>
              <a:t>的延时时间，使被关闭的接口经过延时时间后能够自动恢复。</a:t>
            </a:r>
            <a:endParaRPr lang="en-US" altLang="zh-CN" dirty="0" smtClean="0"/>
          </a:p>
          <a:p>
            <a:pPr>
              <a:lnSpc>
                <a:spcPct val="100000"/>
              </a:lnSpc>
            </a:pPr>
            <a:r>
              <a:rPr lang="zh-CN" altLang="en-US" dirty="0" smtClean="0"/>
              <a:t>当端口安全功能或者</a:t>
            </a:r>
            <a:r>
              <a:rPr lang="en-US" altLang="zh-CN" dirty="0" smtClean="0"/>
              <a:t>Sticky MAC</a:t>
            </a:r>
            <a:r>
              <a:rPr lang="zh-CN" altLang="en-US" dirty="0" smtClean="0"/>
              <a:t>功能使能</a:t>
            </a:r>
            <a:r>
              <a:rPr lang="en-US" altLang="zh-CN" dirty="0" smtClean="0"/>
              <a:t>/</a:t>
            </a:r>
            <a:r>
              <a:rPr lang="zh-CN" altLang="en-US" dirty="0" smtClean="0"/>
              <a:t>去使能时，接口上的</a:t>
            </a:r>
            <a:r>
              <a:rPr lang="en-US" altLang="zh-CN" dirty="0" smtClean="0"/>
              <a:t>MAC</a:t>
            </a:r>
            <a:r>
              <a:rPr lang="zh-CN" altLang="en-US" dirty="0" smtClean="0"/>
              <a:t>地址变化如下：</a:t>
            </a:r>
          </a:p>
          <a:p>
            <a:pPr lvl="1">
              <a:lnSpc>
                <a:spcPct val="100000"/>
              </a:lnSpc>
            </a:pPr>
            <a:r>
              <a:rPr lang="zh-CN" altLang="zh-CN" dirty="0" smtClean="0"/>
              <a:t>端口安全功能</a:t>
            </a:r>
          </a:p>
          <a:p>
            <a:pPr lvl="2">
              <a:lnSpc>
                <a:spcPct val="100000"/>
              </a:lnSpc>
            </a:pPr>
            <a:r>
              <a:rPr lang="zh-CN" altLang="en-US" dirty="0" smtClean="0"/>
              <a:t>使能之后，</a:t>
            </a:r>
            <a:r>
              <a:rPr lang="zh-CN" altLang="zh-CN" dirty="0" smtClean="0"/>
              <a:t>接口上之前学习到的动态</a:t>
            </a:r>
            <a:r>
              <a:rPr lang="en-US" altLang="zh-CN" dirty="0" smtClean="0"/>
              <a:t>MAC</a:t>
            </a:r>
            <a:r>
              <a:rPr lang="zh-CN" altLang="zh-CN" dirty="0" smtClean="0"/>
              <a:t>地址表项将被删除，之后学习到的</a:t>
            </a:r>
            <a:r>
              <a:rPr lang="en-US" altLang="zh-CN" dirty="0" smtClean="0"/>
              <a:t>MAC</a:t>
            </a:r>
            <a:r>
              <a:rPr lang="zh-CN" altLang="zh-CN" dirty="0" smtClean="0"/>
              <a:t>地址将变为安全动态</a:t>
            </a:r>
            <a:r>
              <a:rPr lang="en-US" altLang="zh-CN" dirty="0" smtClean="0"/>
              <a:t>MAC</a:t>
            </a:r>
            <a:r>
              <a:rPr lang="zh-CN" altLang="zh-CN" dirty="0" smtClean="0"/>
              <a:t>地址。</a:t>
            </a:r>
          </a:p>
          <a:p>
            <a:pPr lvl="2">
              <a:lnSpc>
                <a:spcPct val="100000"/>
              </a:lnSpc>
            </a:pPr>
            <a:r>
              <a:rPr lang="zh-CN" altLang="en-US" dirty="0" smtClean="0"/>
              <a:t>去使能之后，</a:t>
            </a:r>
            <a:r>
              <a:rPr lang="zh-CN" altLang="zh-CN" dirty="0" smtClean="0"/>
              <a:t>接口上的安全动态</a:t>
            </a:r>
            <a:r>
              <a:rPr lang="en-US" altLang="zh-CN" dirty="0" smtClean="0"/>
              <a:t>MAC</a:t>
            </a:r>
            <a:r>
              <a:rPr lang="zh-CN" altLang="zh-CN" dirty="0" smtClean="0"/>
              <a:t>地址将被删除，重新学习动态</a:t>
            </a:r>
            <a:r>
              <a:rPr lang="en-US" altLang="zh-CN" dirty="0" smtClean="0"/>
              <a:t>MAC</a:t>
            </a:r>
            <a:r>
              <a:rPr lang="zh-CN" altLang="zh-CN" dirty="0" smtClean="0"/>
              <a:t>地址。</a:t>
            </a:r>
          </a:p>
          <a:p>
            <a:pPr lvl="1">
              <a:lnSpc>
                <a:spcPct val="100000"/>
              </a:lnSpc>
            </a:pPr>
            <a:r>
              <a:rPr lang="en-US" altLang="zh-CN" dirty="0" smtClean="0"/>
              <a:t>Sticky MAC</a:t>
            </a:r>
            <a:r>
              <a:rPr lang="zh-CN" altLang="zh-CN" dirty="0" smtClean="0"/>
              <a:t>功能</a:t>
            </a:r>
          </a:p>
          <a:p>
            <a:pPr lvl="2">
              <a:lnSpc>
                <a:spcPct val="100000"/>
              </a:lnSpc>
            </a:pPr>
            <a:r>
              <a:rPr lang="zh-CN" altLang="en-US" dirty="0" smtClean="0"/>
              <a:t>使能之后，</a:t>
            </a:r>
            <a:r>
              <a:rPr lang="zh-CN" altLang="zh-CN" dirty="0" smtClean="0"/>
              <a:t>接口上的安全动态</a:t>
            </a:r>
            <a:r>
              <a:rPr lang="en-US" altLang="zh-CN" dirty="0" smtClean="0"/>
              <a:t>MAC</a:t>
            </a:r>
            <a:r>
              <a:rPr lang="zh-CN" altLang="zh-CN" dirty="0" smtClean="0"/>
              <a:t>地址表项将转化为</a:t>
            </a:r>
            <a:r>
              <a:rPr lang="en-US" altLang="zh-CN" dirty="0" smtClean="0"/>
              <a:t>Sticky MAC</a:t>
            </a:r>
            <a:r>
              <a:rPr lang="zh-CN" altLang="zh-CN" dirty="0" smtClean="0"/>
              <a:t>地址，之后学习到的</a:t>
            </a:r>
            <a:r>
              <a:rPr lang="en-US" altLang="zh-CN" dirty="0" smtClean="0"/>
              <a:t>MAC</a:t>
            </a:r>
            <a:r>
              <a:rPr lang="zh-CN" altLang="zh-CN" dirty="0" smtClean="0"/>
              <a:t>地址也变为</a:t>
            </a:r>
            <a:r>
              <a:rPr lang="en-US" altLang="zh-CN" dirty="0" smtClean="0"/>
              <a:t>Sticky MAC</a:t>
            </a:r>
            <a:r>
              <a:rPr lang="zh-CN" altLang="zh-CN" dirty="0" smtClean="0"/>
              <a:t>地址。</a:t>
            </a:r>
          </a:p>
          <a:p>
            <a:pPr lvl="2">
              <a:lnSpc>
                <a:spcPct val="100000"/>
              </a:lnSpc>
            </a:pPr>
            <a:r>
              <a:rPr lang="zh-CN" altLang="en-US" dirty="0" smtClean="0"/>
              <a:t>去使能之后，</a:t>
            </a:r>
            <a:r>
              <a:rPr lang="zh-CN" altLang="zh-CN" dirty="0" smtClean="0"/>
              <a:t>接口上的</a:t>
            </a:r>
            <a:r>
              <a:rPr lang="en-US" altLang="zh-CN" dirty="0" smtClean="0"/>
              <a:t>Sticky MAC</a:t>
            </a:r>
            <a:r>
              <a:rPr lang="zh-CN" altLang="zh-CN" dirty="0" smtClean="0"/>
              <a:t>地址，会转换为安全动态</a:t>
            </a:r>
            <a:r>
              <a:rPr lang="en-US" altLang="zh-CN" dirty="0" smtClean="0"/>
              <a:t>MAC</a:t>
            </a:r>
            <a:r>
              <a:rPr lang="zh-CN" altLang="zh-CN" dirty="0" smtClean="0"/>
              <a:t>地址。</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988297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在对接入用户的安全性要求较高的网络中，可以配置端口安全功能及端口安全动态</a:t>
            </a:r>
            <a:r>
              <a:rPr lang="en-US" altLang="zh-CN" smtClean="0"/>
              <a:t>MAC</a:t>
            </a:r>
            <a:r>
              <a:rPr lang="zh-CN" altLang="en-US" smtClean="0"/>
              <a:t>学习的限制数量。此时接口学习到的</a:t>
            </a:r>
            <a:r>
              <a:rPr lang="en-US" altLang="zh-CN" smtClean="0"/>
              <a:t>MAC</a:t>
            </a:r>
            <a:r>
              <a:rPr lang="zh-CN" altLang="en-US" smtClean="0"/>
              <a:t>地址会被转换为安全</a:t>
            </a:r>
            <a:r>
              <a:rPr lang="en-US" altLang="zh-CN" smtClean="0"/>
              <a:t>MAC</a:t>
            </a:r>
            <a:r>
              <a:rPr lang="zh-CN" altLang="en-US" smtClean="0"/>
              <a:t>地址，接口学习的最大</a:t>
            </a:r>
            <a:r>
              <a:rPr lang="en-US" altLang="zh-CN" smtClean="0"/>
              <a:t>MAC</a:t>
            </a:r>
            <a:r>
              <a:rPr lang="zh-CN" altLang="en-US" smtClean="0"/>
              <a:t>数量达到上限后不再学习新的</a:t>
            </a:r>
            <a:r>
              <a:rPr lang="en-US" altLang="zh-CN" smtClean="0"/>
              <a:t>MAC</a:t>
            </a:r>
            <a:r>
              <a:rPr lang="zh-CN" altLang="en-US" smtClean="0"/>
              <a:t>地址，仅允许这些</a:t>
            </a:r>
            <a:r>
              <a:rPr lang="en-US" altLang="zh-CN" smtClean="0"/>
              <a:t>MAC</a:t>
            </a:r>
            <a:r>
              <a:rPr lang="zh-CN" altLang="en-US" smtClean="0"/>
              <a:t>地址和交换机通信。而且接口上安全</a:t>
            </a:r>
            <a:r>
              <a:rPr lang="en-US" altLang="zh-CN" smtClean="0"/>
              <a:t>MAC</a:t>
            </a:r>
            <a:r>
              <a:rPr lang="zh-CN" altLang="en-US" smtClean="0"/>
              <a:t>地址数达到限制后，如果收到源</a:t>
            </a:r>
            <a:r>
              <a:rPr lang="en-US" altLang="zh-CN" smtClean="0"/>
              <a:t>MAC</a:t>
            </a:r>
            <a:r>
              <a:rPr lang="zh-CN" altLang="en-US" smtClean="0"/>
              <a:t>地址不存在的报文，无论目的</a:t>
            </a:r>
            <a:r>
              <a:rPr lang="en-US" altLang="zh-CN" smtClean="0"/>
              <a:t>MAC</a:t>
            </a:r>
            <a:r>
              <a:rPr lang="zh-CN" altLang="en-US" smtClean="0"/>
              <a:t>地址是否存在，交换机即认为有非法用户攻击，就会根据配置的动作对接口做保护处理。这样可以阻止其他非信任用户通过本接口和交换机通信，提高交换机与网络的安全性。</a:t>
            </a:r>
            <a:endParaRPr lang="en-US" altLang="zh-CN" smtClean="0"/>
          </a:p>
          <a:p>
            <a:r>
              <a:rPr lang="zh-CN" altLang="en-US" smtClean="0"/>
              <a:t>配置端口安全功能后，接口学习到的</a:t>
            </a:r>
            <a:r>
              <a:rPr lang="en-US" altLang="zh-CN" smtClean="0"/>
              <a:t>MAC</a:t>
            </a:r>
            <a:r>
              <a:rPr lang="zh-CN" altLang="en-US" smtClean="0"/>
              <a:t>地址会转换为安全</a:t>
            </a:r>
            <a:r>
              <a:rPr lang="en-US" altLang="zh-CN" smtClean="0"/>
              <a:t>MAC</a:t>
            </a:r>
            <a:r>
              <a:rPr lang="zh-CN" altLang="en-US" smtClean="0"/>
              <a:t>地址，接口学习的最大</a:t>
            </a:r>
            <a:r>
              <a:rPr lang="en-US" altLang="zh-CN" smtClean="0"/>
              <a:t>MAC</a:t>
            </a:r>
            <a:r>
              <a:rPr lang="zh-CN" altLang="en-US" smtClean="0"/>
              <a:t>数量达到上限后不再学习新的</a:t>
            </a:r>
            <a:r>
              <a:rPr lang="en-US" altLang="zh-CN" smtClean="0"/>
              <a:t>MAC</a:t>
            </a:r>
            <a:r>
              <a:rPr lang="zh-CN" altLang="en-US" smtClean="0"/>
              <a:t>地址，仅允许这些</a:t>
            </a:r>
            <a:r>
              <a:rPr lang="en-US" altLang="zh-CN" smtClean="0"/>
              <a:t>MAC</a:t>
            </a:r>
            <a:r>
              <a:rPr lang="zh-CN" altLang="en-US" smtClean="0"/>
              <a:t>地址和交换机通信。如果接入用户发生变动，可以通过设备重启或者配置安全</a:t>
            </a:r>
            <a:r>
              <a:rPr lang="en-US" altLang="zh-CN" smtClean="0"/>
              <a:t>MAC</a:t>
            </a:r>
            <a:r>
              <a:rPr lang="zh-CN" altLang="en-US" smtClean="0"/>
              <a:t>老化时间刷新</a:t>
            </a:r>
            <a:r>
              <a:rPr lang="en-US" altLang="zh-CN" smtClean="0"/>
              <a:t>MAC</a:t>
            </a:r>
            <a:r>
              <a:rPr lang="zh-CN" altLang="en-US" smtClean="0"/>
              <a:t>地址表项。对于相对比较稳定的接入用户，如果不希望后续发生变化，可以进一步使能接口</a:t>
            </a:r>
            <a:r>
              <a:rPr lang="en-US" altLang="zh-CN" smtClean="0"/>
              <a:t>Sticky MAC</a:t>
            </a:r>
            <a:r>
              <a:rPr lang="zh-CN" altLang="en-US" smtClean="0"/>
              <a:t>功能，这样在保存配置之后，</a:t>
            </a:r>
            <a:r>
              <a:rPr lang="en-US" altLang="zh-CN" smtClean="0"/>
              <a:t>MAC</a:t>
            </a:r>
            <a:r>
              <a:rPr lang="zh-CN" altLang="en-US" smtClean="0"/>
              <a:t>地址表项不会刷新或者丢失。</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44575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en-US" altLang="zh-CN" smtClean="0"/>
              <a:t>port-security protect-action</a:t>
            </a:r>
            <a:r>
              <a:rPr lang="zh-CN" altLang="en-US" smtClean="0"/>
              <a:t>命令用来配置端口安全功能中接口学习到的</a:t>
            </a:r>
            <a:r>
              <a:rPr lang="en-US" altLang="zh-CN" smtClean="0"/>
              <a:t>MAC</a:t>
            </a:r>
            <a:r>
              <a:rPr lang="zh-CN" altLang="en-US" smtClean="0"/>
              <a:t>地址数超过限制或出现静态</a:t>
            </a:r>
            <a:r>
              <a:rPr lang="en-US" altLang="zh-CN" smtClean="0"/>
              <a:t>MAC</a:t>
            </a:r>
            <a:r>
              <a:rPr lang="zh-CN" altLang="en-US" smtClean="0"/>
              <a:t>地址漂移时的保护动作：</a:t>
            </a:r>
            <a:endParaRPr lang="en-US" altLang="zh-CN" smtClean="0"/>
          </a:p>
          <a:p>
            <a:pPr lvl="1"/>
            <a:r>
              <a:rPr lang="en-US" altLang="zh-CN" smtClean="0"/>
              <a:t>protect</a:t>
            </a:r>
          </a:p>
          <a:p>
            <a:pPr lvl="2"/>
            <a:r>
              <a:rPr lang="zh-CN" altLang="en-US" smtClean="0"/>
              <a:t>当学习到的</a:t>
            </a:r>
            <a:r>
              <a:rPr lang="en-US" altLang="zh-CN" smtClean="0"/>
              <a:t>MAC</a:t>
            </a:r>
            <a:r>
              <a:rPr lang="zh-CN" altLang="en-US" smtClean="0"/>
              <a:t>地址数超过接口限制数时，接口将丢弃源地址在</a:t>
            </a:r>
            <a:r>
              <a:rPr lang="en-US" altLang="zh-CN" smtClean="0"/>
              <a:t>MAC</a:t>
            </a:r>
            <a:r>
              <a:rPr lang="zh-CN" altLang="en-US" smtClean="0"/>
              <a:t>表以外的报文。</a:t>
            </a:r>
          </a:p>
          <a:p>
            <a:pPr lvl="2"/>
            <a:r>
              <a:rPr lang="zh-CN" altLang="en-US" smtClean="0"/>
              <a:t>当出现静态</a:t>
            </a:r>
            <a:r>
              <a:rPr lang="en-US" altLang="zh-CN" smtClean="0"/>
              <a:t>MAC</a:t>
            </a:r>
            <a:r>
              <a:rPr lang="zh-CN" altLang="en-US" smtClean="0"/>
              <a:t>地址漂移时，接口将丢弃带有该</a:t>
            </a:r>
            <a:r>
              <a:rPr lang="en-US" altLang="zh-CN" smtClean="0"/>
              <a:t>MAC</a:t>
            </a:r>
            <a:r>
              <a:rPr lang="zh-CN" altLang="en-US" smtClean="0"/>
              <a:t>地址的报文。</a:t>
            </a:r>
          </a:p>
          <a:p>
            <a:pPr lvl="1"/>
            <a:r>
              <a:rPr lang="en-US" altLang="zh-CN" smtClean="0"/>
              <a:t>restrict</a:t>
            </a:r>
          </a:p>
          <a:p>
            <a:pPr lvl="2"/>
            <a:r>
              <a:rPr lang="zh-CN" altLang="en-US" smtClean="0"/>
              <a:t>当学习到的</a:t>
            </a:r>
            <a:r>
              <a:rPr lang="en-US" altLang="zh-CN" smtClean="0"/>
              <a:t>MAC</a:t>
            </a:r>
            <a:r>
              <a:rPr lang="zh-CN" altLang="en-US" smtClean="0"/>
              <a:t>地址数超过接口限制数时，接口将丢弃源地址在</a:t>
            </a:r>
            <a:r>
              <a:rPr lang="en-US" altLang="zh-CN" smtClean="0"/>
              <a:t>MAC</a:t>
            </a:r>
            <a:r>
              <a:rPr lang="zh-CN" altLang="en-US" smtClean="0"/>
              <a:t>表以外的报文，同时发出告警。</a:t>
            </a:r>
          </a:p>
          <a:p>
            <a:pPr lvl="2"/>
            <a:r>
              <a:rPr lang="zh-CN" altLang="en-US" smtClean="0"/>
              <a:t>当出现静态</a:t>
            </a:r>
            <a:r>
              <a:rPr lang="en-US" altLang="zh-CN" smtClean="0"/>
              <a:t>MAC</a:t>
            </a:r>
            <a:r>
              <a:rPr lang="zh-CN" altLang="en-US" smtClean="0"/>
              <a:t>地址漂移时，接口将丢弃带有该</a:t>
            </a:r>
            <a:r>
              <a:rPr lang="en-US" altLang="zh-CN" smtClean="0"/>
              <a:t>MAC</a:t>
            </a:r>
            <a:r>
              <a:rPr lang="zh-CN" altLang="en-US" smtClean="0"/>
              <a:t>地址的报文，同时发出告警。</a:t>
            </a:r>
          </a:p>
          <a:p>
            <a:pPr lvl="1"/>
            <a:r>
              <a:rPr lang="en-US" altLang="zh-CN" smtClean="0"/>
              <a:t>shutdown</a:t>
            </a:r>
          </a:p>
          <a:p>
            <a:pPr lvl="2"/>
            <a:r>
              <a:rPr lang="zh-CN" altLang="en-US" smtClean="0"/>
              <a:t>当学习到的</a:t>
            </a:r>
            <a:r>
              <a:rPr lang="en-US" altLang="zh-CN" smtClean="0"/>
              <a:t>MAC</a:t>
            </a:r>
            <a:r>
              <a:rPr lang="zh-CN" altLang="en-US" smtClean="0"/>
              <a:t>地址数超过接口限制数时，接口将执行</a:t>
            </a:r>
            <a:r>
              <a:rPr lang="en-US" altLang="zh-CN" smtClean="0"/>
              <a:t>error down</a:t>
            </a:r>
            <a:r>
              <a:rPr lang="zh-CN" altLang="en-US" smtClean="0"/>
              <a:t>操作，同时发出告警。</a:t>
            </a:r>
          </a:p>
          <a:p>
            <a:pPr lvl="2"/>
            <a:r>
              <a:rPr lang="zh-CN" altLang="en-US" smtClean="0"/>
              <a:t>当出现静态</a:t>
            </a:r>
            <a:r>
              <a:rPr lang="en-US" altLang="zh-CN" smtClean="0"/>
              <a:t>MAC</a:t>
            </a:r>
            <a:r>
              <a:rPr lang="zh-CN" altLang="en-US" smtClean="0"/>
              <a:t>地址漂移时，接口将执行</a:t>
            </a:r>
            <a:r>
              <a:rPr lang="en-US" altLang="zh-CN" smtClean="0"/>
              <a:t>error down</a:t>
            </a:r>
            <a:r>
              <a:rPr lang="zh-CN" altLang="en-US" smtClean="0"/>
              <a:t>操作，同时发出告警。</a:t>
            </a:r>
            <a:endParaRPr lang="en-US" altLang="zh-CN"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42462235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451585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365013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6199850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0459389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5205974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732125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8964705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缺省时接口</a:t>
            </a:r>
            <a:r>
              <a:rPr lang="en-US" altLang="zh-CN" smtClean="0"/>
              <a:t>MAC</a:t>
            </a:r>
            <a:r>
              <a:rPr lang="zh-CN" altLang="en-US" smtClean="0"/>
              <a:t>地址学习的优先级均为</a:t>
            </a:r>
            <a:r>
              <a:rPr lang="en-US" altLang="zh-CN" smtClean="0"/>
              <a:t>0</a:t>
            </a:r>
            <a:r>
              <a:rPr lang="zh-CN" altLang="en-US" smtClean="0"/>
              <a:t>，数值越大优先级越高。当同一个</a:t>
            </a:r>
            <a:r>
              <a:rPr lang="en-US" altLang="zh-CN" smtClean="0"/>
              <a:t>MAC</a:t>
            </a:r>
            <a:r>
              <a:rPr lang="zh-CN" altLang="en-US" smtClean="0"/>
              <a:t>地址被两个个接口学习到后，接口</a:t>
            </a:r>
            <a:r>
              <a:rPr lang="en-US" altLang="zh-CN" smtClean="0"/>
              <a:t>MAC</a:t>
            </a:r>
            <a:r>
              <a:rPr lang="zh-CN" altLang="en-US" smtClean="0"/>
              <a:t>地址学习优先级高的会被保留，</a:t>
            </a:r>
            <a:r>
              <a:rPr lang="en-US" altLang="zh-CN" smtClean="0"/>
              <a:t>MAC</a:t>
            </a:r>
            <a:r>
              <a:rPr lang="zh-CN" altLang="en-US" smtClean="0"/>
              <a:t>地址学习优先级低的被覆盖。</a:t>
            </a:r>
            <a:endParaRPr lang="en-US" altLang="zh-CN" smtClean="0"/>
          </a:p>
          <a:p>
            <a:r>
              <a:rPr lang="zh-CN" altLang="en-US" smtClean="0"/>
              <a:t>在配置不允许相同优先级接口</a:t>
            </a:r>
            <a:r>
              <a:rPr lang="en-US" altLang="zh-CN" smtClean="0"/>
              <a:t>MAC</a:t>
            </a:r>
            <a:r>
              <a:rPr lang="zh-CN" altLang="en-US" smtClean="0"/>
              <a:t>地址漂移时，如果安全网络设备下电，则交换机仍会学习到伪造网络设备的</a:t>
            </a:r>
            <a:r>
              <a:rPr lang="en-US" altLang="zh-CN" smtClean="0"/>
              <a:t>MAC</a:t>
            </a:r>
            <a:r>
              <a:rPr lang="zh-CN" altLang="en-US" smtClean="0"/>
              <a:t>地址，当网络设备再次上电时将无法学习到正确的</a:t>
            </a:r>
            <a:r>
              <a:rPr lang="en-US" altLang="zh-CN" smtClean="0"/>
              <a:t>MAC</a:t>
            </a:r>
            <a:r>
              <a:rPr lang="zh-CN" altLang="en-US" smtClean="0"/>
              <a:t>地址。因此该特性需谨慎使用，如果交换机的接口连接的网络设备是服务器，当服务器下电后，另外的接口学习到与服务器相同的</a:t>
            </a:r>
            <a:r>
              <a:rPr lang="en-US" altLang="zh-CN" smtClean="0"/>
              <a:t>MAC</a:t>
            </a:r>
            <a:r>
              <a:rPr lang="zh-CN" altLang="en-US" smtClean="0"/>
              <a:t>地址，当服务器再次上电后就不能学习到正确的</a:t>
            </a:r>
            <a:r>
              <a:rPr lang="en-US" altLang="zh-CN" smtClean="0"/>
              <a:t>MAC</a:t>
            </a:r>
            <a:r>
              <a:rPr lang="zh-CN" altLang="en-US" smtClean="0"/>
              <a:t>地址。</a:t>
            </a:r>
          </a:p>
          <a:p>
            <a:endParaRPr lang="zh-CN" altLang="en-US"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394106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华为交换机是否全部支持</a:t>
            </a:r>
            <a:r>
              <a:rPr lang="en-US" altLang="zh-CN" smtClean="0"/>
              <a:t>MAC</a:t>
            </a:r>
            <a:r>
              <a:rPr lang="zh-CN" altLang="en-US" smtClean="0"/>
              <a:t>地址漂移检测机制以具体型号产品为准。</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546956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MAC</a:t>
            </a:r>
            <a:r>
              <a:rPr lang="zh-CN" altLang="en-US" smtClean="0"/>
              <a:t>地址发生漂移后的三种动作在上图中分别表示为：</a:t>
            </a:r>
            <a:r>
              <a:rPr lang="en-US" altLang="zh-CN" smtClean="0"/>
              <a:t>1.</a:t>
            </a:r>
            <a:r>
              <a:rPr lang="zh-CN" altLang="en-US" smtClean="0"/>
              <a:t>产生并上报告警；</a:t>
            </a:r>
            <a:r>
              <a:rPr lang="en-US" altLang="zh-CN" smtClean="0"/>
              <a:t>2.</a:t>
            </a:r>
            <a:r>
              <a:rPr lang="zh-CN" altLang="en-US" smtClean="0"/>
              <a:t>阻断</a:t>
            </a:r>
            <a:r>
              <a:rPr lang="en-US" altLang="zh-CN" smtClean="0"/>
              <a:t>SW1</a:t>
            </a:r>
            <a:r>
              <a:rPr lang="zh-CN" altLang="en-US" smtClean="0"/>
              <a:t>上的</a:t>
            </a:r>
            <a:r>
              <a:rPr lang="en-US" altLang="zh-CN" smtClean="0"/>
              <a:t>GE0/0/2</a:t>
            </a:r>
            <a:r>
              <a:rPr lang="zh-CN" altLang="en-US" smtClean="0"/>
              <a:t>接口的收发报文的能力；</a:t>
            </a:r>
            <a:r>
              <a:rPr lang="en-US" altLang="zh-CN" smtClean="0"/>
              <a:t>3.</a:t>
            </a:r>
            <a:r>
              <a:rPr lang="zh-CN" altLang="en-US" smtClean="0"/>
              <a:t>阻断</a:t>
            </a:r>
            <a:r>
              <a:rPr lang="en-US" altLang="zh-CN" smtClean="0"/>
              <a:t>SW1</a:t>
            </a:r>
            <a:r>
              <a:rPr lang="zh-CN" altLang="en-US" smtClean="0"/>
              <a:t>上的</a:t>
            </a:r>
            <a:r>
              <a:rPr lang="en-US" altLang="zh-CN" smtClean="0"/>
              <a:t>GE0/0/2</a:t>
            </a:r>
            <a:r>
              <a:rPr lang="zh-CN" altLang="en-US" smtClean="0"/>
              <a:t>接口上针对指定</a:t>
            </a:r>
            <a:r>
              <a:rPr lang="en-US" altLang="zh-CN" smtClean="0"/>
              <a:t>MAC</a:t>
            </a:r>
            <a:r>
              <a:rPr lang="zh-CN" altLang="en-US" smtClean="0"/>
              <a:t>地址报文的收发能力。</a:t>
            </a:r>
            <a:endParaRPr lang="en-US" altLang="zh-CN" smtClean="0"/>
          </a:p>
          <a:p>
            <a:r>
              <a:rPr lang="zh-CN" altLang="en-US" smtClean="0"/>
              <a:t>当配置接口阻塞时：</a:t>
            </a:r>
            <a:endParaRPr lang="en-US" altLang="zh-CN" smtClean="0"/>
          </a:p>
          <a:p>
            <a:pPr lvl="1"/>
            <a:r>
              <a:rPr lang="zh-CN" altLang="en-US" smtClean="0"/>
              <a:t>检测到</a:t>
            </a:r>
            <a:r>
              <a:rPr lang="en-US" altLang="zh-CN" smtClean="0"/>
              <a:t>VLAN2</a:t>
            </a:r>
            <a:r>
              <a:rPr lang="zh-CN" altLang="en-US" smtClean="0"/>
              <a:t>内产生</a:t>
            </a:r>
            <a:r>
              <a:rPr lang="en-US" altLang="zh-CN" smtClean="0"/>
              <a:t>MAC</a:t>
            </a:r>
            <a:r>
              <a:rPr lang="zh-CN" altLang="en-US" smtClean="0"/>
              <a:t>地址漂移时，将产生漂移后的接口直接阻塞。</a:t>
            </a:r>
          </a:p>
          <a:p>
            <a:pPr lvl="1"/>
            <a:r>
              <a:rPr lang="zh-CN" altLang="en-US" smtClean="0"/>
              <a:t>接口将被阻塞</a:t>
            </a:r>
            <a:r>
              <a:rPr lang="en-US" altLang="zh-CN" smtClean="0"/>
              <a:t>10</a:t>
            </a:r>
            <a:r>
              <a:rPr lang="zh-CN" altLang="en-US" smtClean="0"/>
              <a:t>秒（该时长使用</a:t>
            </a:r>
            <a:r>
              <a:rPr lang="en-US" altLang="zh-CN" smtClean="0"/>
              <a:t>block-time</a:t>
            </a:r>
            <a:r>
              <a:rPr lang="zh-CN" altLang="en-US" smtClean="0"/>
              <a:t>关键字指定），接口被阻塞时是无法正常收发数据的。</a:t>
            </a:r>
          </a:p>
          <a:p>
            <a:pPr lvl="1"/>
            <a:r>
              <a:rPr lang="en-US" altLang="zh-CN" smtClean="0"/>
              <a:t>10</a:t>
            </a:r>
            <a:r>
              <a:rPr lang="zh-CN" altLang="en-US" smtClean="0"/>
              <a:t>秒之后接口会被放开并重新进行检测，此时该接口可以正常收发数据，如果</a:t>
            </a:r>
            <a:r>
              <a:rPr lang="en-US" altLang="zh-CN" smtClean="0"/>
              <a:t>20</a:t>
            </a:r>
            <a:r>
              <a:rPr lang="zh-CN" altLang="en-US" smtClean="0"/>
              <a:t>秒内没有再检测到</a:t>
            </a:r>
            <a:r>
              <a:rPr lang="en-US" altLang="zh-CN" smtClean="0"/>
              <a:t>MAC</a:t>
            </a:r>
            <a:r>
              <a:rPr lang="zh-CN" altLang="en-US" smtClean="0"/>
              <a:t>地址漂移，则接口的阻塞将被彻底解除；而如果</a:t>
            </a:r>
            <a:r>
              <a:rPr lang="en-US" altLang="zh-CN" smtClean="0"/>
              <a:t>20</a:t>
            </a:r>
            <a:r>
              <a:rPr lang="zh-CN" altLang="en-US" smtClean="0"/>
              <a:t>秒内再次检测到</a:t>
            </a:r>
            <a:r>
              <a:rPr lang="en-US" altLang="zh-CN" smtClean="0"/>
              <a:t>MAC</a:t>
            </a:r>
            <a:r>
              <a:rPr lang="zh-CN" altLang="en-US" smtClean="0"/>
              <a:t>地址漂移，则再次将该接口阻塞，如此重复</a:t>
            </a:r>
            <a:r>
              <a:rPr lang="en-US" altLang="zh-CN" smtClean="0"/>
              <a:t>2</a:t>
            </a:r>
            <a:r>
              <a:rPr lang="zh-CN" altLang="en-US" smtClean="0"/>
              <a:t>次（该次数使用</a:t>
            </a:r>
            <a:r>
              <a:rPr lang="en-US" altLang="zh-CN" smtClean="0"/>
              <a:t>retry-times</a:t>
            </a:r>
            <a:r>
              <a:rPr lang="zh-CN" altLang="en-US" smtClean="0"/>
              <a:t>关键字指定），如果交换机依然能检测到该接口发生</a:t>
            </a:r>
            <a:r>
              <a:rPr lang="en-US" altLang="zh-CN" smtClean="0"/>
              <a:t>MAC</a:t>
            </a:r>
            <a:r>
              <a:rPr lang="zh-CN" altLang="en-US" smtClean="0"/>
              <a:t>地址漂移，则永久阻塞该接口。</a:t>
            </a:r>
          </a:p>
          <a:p>
            <a:pPr lvl="1"/>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4958951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华为交换机默认开启全局</a:t>
            </a:r>
            <a:r>
              <a:rPr lang="en-US" altLang="zh-CN" dirty="0" smtClean="0"/>
              <a:t>MAC</a:t>
            </a:r>
            <a:r>
              <a:rPr lang="zh-CN" altLang="en-US" dirty="0" smtClean="0"/>
              <a:t>地址漂移检测功能，因此缺省时交换机便会对设备上的所有</a:t>
            </a:r>
            <a:r>
              <a:rPr lang="en-US" altLang="zh-CN" dirty="0" smtClean="0"/>
              <a:t>VLAN</a:t>
            </a:r>
            <a:r>
              <a:rPr lang="zh-CN" altLang="en-US" dirty="0" smtClean="0"/>
              <a:t>进行</a:t>
            </a:r>
            <a:r>
              <a:rPr lang="en-US" altLang="zh-CN" dirty="0" smtClean="0"/>
              <a:t>MAC</a:t>
            </a:r>
            <a:r>
              <a:rPr lang="zh-CN" altLang="en-US" dirty="0" smtClean="0"/>
              <a:t>地址漂移检测。</a:t>
            </a:r>
          </a:p>
          <a:p>
            <a:r>
              <a:rPr lang="zh-CN" altLang="en-US" dirty="0" smtClean="0"/>
              <a:t>在某些场景下，需要对某些</a:t>
            </a:r>
            <a:r>
              <a:rPr lang="en-US" altLang="zh-CN" dirty="0" smtClean="0"/>
              <a:t>VLAN</a:t>
            </a:r>
            <a:r>
              <a:rPr lang="zh-CN" altLang="en-US" dirty="0" smtClean="0"/>
              <a:t>不进行</a:t>
            </a:r>
            <a:r>
              <a:rPr lang="en-US" altLang="zh-CN" dirty="0" smtClean="0"/>
              <a:t>MAC</a:t>
            </a:r>
            <a:r>
              <a:rPr lang="zh-CN" altLang="en-US" dirty="0" smtClean="0"/>
              <a:t>地址漂移检测，可以通过配置</a:t>
            </a:r>
            <a:r>
              <a:rPr lang="en-US" altLang="zh-CN" dirty="0" smtClean="0"/>
              <a:t>MAC</a:t>
            </a:r>
            <a:r>
              <a:rPr lang="zh-CN" altLang="en-US" dirty="0" smtClean="0"/>
              <a:t>地址漂移检测的</a:t>
            </a:r>
            <a:r>
              <a:rPr lang="en-US" altLang="zh-CN" dirty="0" smtClean="0"/>
              <a:t>VLAN</a:t>
            </a:r>
            <a:r>
              <a:rPr lang="zh-CN" altLang="en-US" dirty="0" smtClean="0"/>
              <a:t>白名单来实现。</a:t>
            </a:r>
            <a:endParaRPr lang="en-US" altLang="zh-CN" dirty="0" smtClean="0"/>
          </a:p>
          <a:p>
            <a:r>
              <a:rPr lang="zh-CN" altLang="en-US" dirty="0" smtClean="0"/>
              <a:t>如果接口由于发生了</a:t>
            </a:r>
            <a:r>
              <a:rPr lang="en-US" altLang="zh-CN" dirty="0" smtClean="0"/>
              <a:t>MAC</a:t>
            </a:r>
            <a:r>
              <a:rPr lang="zh-CN" altLang="en-US" dirty="0" smtClean="0"/>
              <a:t>地址漂移从而被设置为</a:t>
            </a:r>
            <a:r>
              <a:rPr lang="en-US" altLang="zh-CN" dirty="0" smtClean="0"/>
              <a:t>Error-Down</a:t>
            </a:r>
            <a:r>
              <a:rPr lang="zh-CN" altLang="en-US" dirty="0" smtClean="0"/>
              <a:t>，默认情况下是不会自动恢复的。</a:t>
            </a:r>
            <a:endParaRPr lang="en-US" altLang="zh-CN" dirty="0" smtClean="0"/>
          </a:p>
          <a:p>
            <a:endParaRPr lang="en-US" altLang="zh-CN"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101491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9899805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一些安全性较差的网络容易受到黑客的</a:t>
            </a:r>
            <a:r>
              <a:rPr lang="en-US" altLang="zh-CN" smtClean="0"/>
              <a:t>MAC</a:t>
            </a:r>
            <a:r>
              <a:rPr lang="zh-CN" altLang="en-US" smtClean="0"/>
              <a:t>地址攻击，由于</a:t>
            </a:r>
            <a:r>
              <a:rPr lang="en-US" altLang="zh-CN" smtClean="0"/>
              <a:t>MAC</a:t>
            </a:r>
            <a:r>
              <a:rPr lang="zh-CN" altLang="en-US" smtClean="0"/>
              <a:t>地址表的容量是有限的，当黑客伪造大量源</a:t>
            </a:r>
            <a:r>
              <a:rPr lang="en-US" altLang="zh-CN" smtClean="0"/>
              <a:t>MAC</a:t>
            </a:r>
            <a:r>
              <a:rPr lang="zh-CN" altLang="en-US" smtClean="0"/>
              <a:t>地址不同的报文并发送给交换机后，交换机的</a:t>
            </a:r>
            <a:r>
              <a:rPr lang="en-US" altLang="zh-CN" smtClean="0"/>
              <a:t>MAC</a:t>
            </a:r>
            <a:r>
              <a:rPr lang="zh-CN" altLang="en-US" smtClean="0"/>
              <a:t>表项资源就可能被耗尽。当</a:t>
            </a:r>
            <a:r>
              <a:rPr lang="en-US" altLang="zh-CN" smtClean="0"/>
              <a:t>MAC</a:t>
            </a:r>
            <a:r>
              <a:rPr lang="zh-CN" altLang="en-US" smtClean="0"/>
              <a:t>表被填满后，即使它再收到正常的报文，也无法学习到报文中的源</a:t>
            </a:r>
            <a:r>
              <a:rPr lang="en-US" altLang="zh-CN" smtClean="0"/>
              <a:t>MAC</a:t>
            </a:r>
            <a:r>
              <a:rPr lang="zh-CN" altLang="en-US" smtClean="0"/>
              <a:t>地址。</a:t>
            </a:r>
          </a:p>
          <a:p>
            <a:r>
              <a:rPr lang="zh-CN" altLang="en-US" smtClean="0"/>
              <a:t>配置限制</a:t>
            </a:r>
            <a:r>
              <a:rPr lang="en-US" altLang="zh-CN" smtClean="0"/>
              <a:t>MAC</a:t>
            </a:r>
            <a:r>
              <a:rPr lang="zh-CN" altLang="en-US" smtClean="0"/>
              <a:t>地址学习数，当超过限制数时不再学习</a:t>
            </a:r>
            <a:r>
              <a:rPr lang="en-US" altLang="zh-CN" smtClean="0"/>
              <a:t>MAC</a:t>
            </a:r>
            <a:r>
              <a:rPr lang="zh-CN" altLang="en-US" smtClean="0"/>
              <a:t>地址，同时可以配置当</a:t>
            </a:r>
            <a:r>
              <a:rPr lang="en-US" altLang="zh-CN" smtClean="0"/>
              <a:t>MAC</a:t>
            </a:r>
            <a:r>
              <a:rPr lang="zh-CN" altLang="en-US" smtClean="0"/>
              <a:t>地址数达到限制后对报文采取的动作，从而防止</a:t>
            </a:r>
            <a:r>
              <a:rPr lang="en-US" altLang="zh-CN" smtClean="0"/>
              <a:t>MAC</a:t>
            </a:r>
            <a:r>
              <a:rPr lang="zh-CN" altLang="en-US" smtClean="0"/>
              <a:t>地址表资源耗尽，提高网络安全性。</a:t>
            </a:r>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599785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当</a:t>
            </a:r>
            <a:r>
              <a:rPr lang="en-US" altLang="zh-CN" dirty="0" smtClean="0"/>
              <a:t>Switch3</a:t>
            </a:r>
            <a:r>
              <a:rPr lang="zh-CN" altLang="en-US" dirty="0" smtClean="0"/>
              <a:t>与</a:t>
            </a:r>
            <a:r>
              <a:rPr lang="en-US" altLang="zh-CN" dirty="0" smtClean="0"/>
              <a:t>Switch4</a:t>
            </a:r>
            <a:r>
              <a:rPr lang="zh-CN" altLang="en-US" dirty="0" smtClean="0"/>
              <a:t>之间误连接之后，</a:t>
            </a:r>
            <a:r>
              <a:rPr lang="en-US" altLang="zh-CN" dirty="0" smtClean="0"/>
              <a:t>Switch2</a:t>
            </a:r>
            <a:r>
              <a:rPr lang="zh-CN" altLang="en-US" dirty="0" smtClean="0"/>
              <a:t>的接口</a:t>
            </a:r>
            <a:r>
              <a:rPr lang="en-US" altLang="zh-CN" dirty="0" smtClean="0"/>
              <a:t>GE0/0/1</a:t>
            </a:r>
            <a:r>
              <a:rPr lang="zh-CN" altLang="en-US" dirty="0" smtClean="0"/>
              <a:t>的</a:t>
            </a:r>
            <a:r>
              <a:rPr lang="en-US" altLang="zh-CN" dirty="0" smtClean="0"/>
              <a:t>MAC</a:t>
            </a:r>
            <a:r>
              <a:rPr lang="zh-CN" altLang="en-US" dirty="0" smtClean="0"/>
              <a:t>地址漂移到接口</a:t>
            </a:r>
            <a:r>
              <a:rPr lang="en-US" altLang="zh-CN" dirty="0" smtClean="0"/>
              <a:t>GE0/0/2</a:t>
            </a:r>
            <a:r>
              <a:rPr lang="zh-CN" altLang="en-US" dirty="0" smtClean="0"/>
              <a:t>后，触发接口</a:t>
            </a:r>
            <a:r>
              <a:rPr lang="en-US" altLang="zh-CN" dirty="0" smtClean="0"/>
              <a:t>error-down</a:t>
            </a:r>
            <a:r>
              <a:rPr lang="zh-CN" altLang="en-US" dirty="0" smtClean="0"/>
              <a:t>，接口</a:t>
            </a:r>
            <a:r>
              <a:rPr lang="en-US" altLang="zh-CN" dirty="0" smtClean="0"/>
              <a:t>GE0/0/2</a:t>
            </a:r>
            <a:r>
              <a:rPr lang="zh-CN" altLang="en-US" dirty="0" smtClean="0"/>
              <a:t>关闭。</a:t>
            </a:r>
            <a:endParaRPr lang="en-US" altLang="zh-CN" dirty="0" smtClean="0"/>
          </a:p>
          <a:p>
            <a:r>
              <a:rPr lang="zh-CN" altLang="en-US" dirty="0" smtClean="0"/>
              <a:t>使用</a:t>
            </a:r>
            <a:r>
              <a:rPr lang="en-US" altLang="zh-CN" b="1" dirty="0" smtClean="0"/>
              <a:t>display mac-address flapping record</a:t>
            </a:r>
            <a:r>
              <a:rPr lang="zh-CN" altLang="en-US" dirty="0" smtClean="0"/>
              <a:t>可查看到漂移记录。</a:t>
            </a:r>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79906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527139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277854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15105632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CAK</a:t>
            </a:r>
            <a:r>
              <a:rPr lang="zh-CN" altLang="en-US" dirty="0" smtClean="0"/>
              <a:t>（</a:t>
            </a:r>
            <a:r>
              <a:rPr lang="en-US" altLang="zh-CN" dirty="0" smtClean="0"/>
              <a:t>Secure Connectivity Association Key</a:t>
            </a:r>
            <a:r>
              <a:rPr lang="zh-CN" altLang="en-US" dirty="0" smtClean="0"/>
              <a:t>，安全连接关联密钥）不直接用于数据报文的加密，由它和其他参数派生出数据报文的加密密钥。</a:t>
            </a:r>
            <a:r>
              <a:rPr lang="en-US" altLang="zh-CN" dirty="0" smtClean="0"/>
              <a:t>CAK</a:t>
            </a:r>
            <a:r>
              <a:rPr lang="zh-CN" altLang="en-US" dirty="0" smtClean="0"/>
              <a:t>可以在</a:t>
            </a:r>
            <a:r>
              <a:rPr lang="en-US" altLang="zh-CN" dirty="0" smtClean="0"/>
              <a:t>802.1X</a:t>
            </a:r>
            <a:r>
              <a:rPr lang="zh-CN" altLang="en-US" dirty="0" smtClean="0"/>
              <a:t>认证过程中下发，也可以由用户直接静态配置。 </a:t>
            </a:r>
            <a:endParaRPr lang="en-US" altLang="zh-CN" dirty="0" smtClean="0"/>
          </a:p>
          <a:p>
            <a:r>
              <a:rPr lang="en-US" altLang="zh-CN" dirty="0" smtClean="0"/>
              <a:t>MKA</a:t>
            </a:r>
            <a:r>
              <a:rPr lang="zh-CN" altLang="en-US" dirty="0" smtClean="0"/>
              <a:t>（</a:t>
            </a:r>
            <a:r>
              <a:rPr lang="en-US" altLang="zh-CN" dirty="0" err="1" smtClean="0"/>
              <a:t>MACsec</a:t>
            </a:r>
            <a:r>
              <a:rPr lang="en-US" altLang="zh-CN" dirty="0" smtClean="0"/>
              <a:t> Key Agreement protocol</a:t>
            </a:r>
            <a:r>
              <a:rPr lang="zh-CN" altLang="en-US" dirty="0" smtClean="0"/>
              <a:t>）用于</a:t>
            </a:r>
            <a:r>
              <a:rPr lang="en-US" altLang="zh-CN" dirty="0" err="1" smtClean="0"/>
              <a:t>MACsec</a:t>
            </a:r>
            <a:r>
              <a:rPr lang="en-US" altLang="zh-CN" dirty="0" smtClean="0"/>
              <a:t> </a:t>
            </a:r>
            <a:r>
              <a:rPr lang="zh-CN" altLang="en-US" dirty="0" smtClean="0"/>
              <a:t>数据加密密钥的协商协议。 </a:t>
            </a:r>
            <a:endParaRPr lang="en-US" altLang="zh-CN" dirty="0" smtClean="0"/>
          </a:p>
          <a:p>
            <a:r>
              <a:rPr lang="en-US" altLang="zh-CN" dirty="0" smtClean="0"/>
              <a:t>SAK</a:t>
            </a:r>
            <a:r>
              <a:rPr lang="zh-CN" altLang="en-US" dirty="0" smtClean="0"/>
              <a:t>（</a:t>
            </a:r>
            <a:r>
              <a:rPr lang="en-US" altLang="zh-CN" dirty="0" smtClean="0"/>
              <a:t>Secure Association Key</a:t>
            </a:r>
            <a:r>
              <a:rPr lang="zh-CN" altLang="en-US" dirty="0" smtClean="0"/>
              <a:t>，安全关联密钥）由</a:t>
            </a:r>
            <a:r>
              <a:rPr lang="en-US" altLang="zh-CN" dirty="0" smtClean="0"/>
              <a:t>CAK</a:t>
            </a:r>
            <a:r>
              <a:rPr lang="zh-CN" altLang="en-US" dirty="0" smtClean="0"/>
              <a:t>根据算法推导产生，用于加密安全通道间传输的数据。</a:t>
            </a:r>
            <a:r>
              <a:rPr lang="en-US" altLang="zh-CN" dirty="0" smtClean="0"/>
              <a:t>MKA</a:t>
            </a:r>
            <a:r>
              <a:rPr lang="zh-CN" altLang="en-US" dirty="0" smtClean="0"/>
              <a:t>对每一个</a:t>
            </a:r>
            <a:r>
              <a:rPr lang="en-US" altLang="zh-CN" dirty="0" smtClean="0"/>
              <a:t>SAK</a:t>
            </a:r>
            <a:r>
              <a:rPr lang="zh-CN" altLang="en-US" dirty="0" smtClean="0"/>
              <a:t>可加密的报文数目有所限制，当使用某</a:t>
            </a:r>
            <a:r>
              <a:rPr lang="en-US" altLang="zh-CN" dirty="0" smtClean="0"/>
              <a:t>SAK</a:t>
            </a:r>
            <a:r>
              <a:rPr lang="zh-CN" altLang="en-US" dirty="0" smtClean="0"/>
              <a:t>加密的</a:t>
            </a:r>
            <a:r>
              <a:rPr lang="en-US" altLang="zh-CN" dirty="0" smtClean="0"/>
              <a:t>PN</a:t>
            </a:r>
            <a:r>
              <a:rPr lang="zh-CN" altLang="en-US" dirty="0" smtClean="0"/>
              <a:t>耗尽，该</a:t>
            </a:r>
            <a:r>
              <a:rPr lang="en-US" altLang="zh-CN" dirty="0" smtClean="0"/>
              <a:t>SAK</a:t>
            </a:r>
            <a:r>
              <a:rPr lang="zh-CN" altLang="en-US" dirty="0" smtClean="0"/>
              <a:t>会被刷新。例如，在</a:t>
            </a:r>
            <a:r>
              <a:rPr lang="en-US" altLang="zh-CN" dirty="0" smtClean="0"/>
              <a:t>10 </a:t>
            </a:r>
            <a:r>
              <a:rPr lang="en-US" altLang="zh-CN" dirty="0" err="1" smtClean="0"/>
              <a:t>Gbps</a:t>
            </a:r>
            <a:r>
              <a:rPr lang="zh-CN" altLang="en-US" dirty="0" smtClean="0"/>
              <a:t>的链路上，</a:t>
            </a:r>
            <a:r>
              <a:rPr lang="en-US" altLang="zh-CN" dirty="0" smtClean="0"/>
              <a:t>SAK</a:t>
            </a:r>
            <a:r>
              <a:rPr lang="zh-CN" altLang="en-US" dirty="0" smtClean="0"/>
              <a:t>最快</a:t>
            </a:r>
            <a:r>
              <a:rPr lang="en-US" altLang="zh-CN" dirty="0" smtClean="0"/>
              <a:t>4.8</a:t>
            </a:r>
            <a:r>
              <a:rPr lang="zh-CN" altLang="en-US" dirty="0" smtClean="0"/>
              <a:t>分钟刷新一次。 </a:t>
            </a:r>
            <a:endParaRPr lang="en-US" altLang="zh-CN" dirty="0" smtClean="0"/>
          </a:p>
          <a:p>
            <a:r>
              <a:rPr lang="en-US" altLang="zh-CN" dirty="0" smtClean="0"/>
              <a:t>Key Server</a:t>
            </a:r>
            <a:r>
              <a:rPr lang="zh-CN" altLang="en-US" dirty="0" smtClean="0"/>
              <a:t>决定加密方案和进行密钥分发的</a:t>
            </a:r>
            <a:r>
              <a:rPr lang="en-US" altLang="zh-CN" dirty="0" smtClean="0"/>
              <a:t>MKA</a:t>
            </a:r>
            <a:r>
              <a:rPr lang="zh-CN" altLang="en-US" dirty="0" smtClean="0"/>
              <a:t>实体。 </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9460476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1859285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r>
              <a:rPr lang="zh-CN" altLang="en-US" dirty="0" smtClean="0"/>
              <a:t>流量抑制和风暴控制是两种用于控制广播、未知组播以及未知单播报文，防止这三类报文引起广播风暴的安全技术。</a:t>
            </a:r>
          </a:p>
          <a:p>
            <a:r>
              <a:rPr lang="zh-CN" altLang="en-US" dirty="0" smtClean="0"/>
              <a:t>流量抑制主要通过配置阈值来限制流量，而风暴控制则主要通过关闭端口来阻断流量。</a:t>
            </a:r>
          </a:p>
          <a:p>
            <a:endParaRPr lang="zh-CN" altLang="en-US" dirty="0"/>
          </a:p>
        </p:txBody>
      </p:sp>
    </p:spTree>
    <p:extLst>
      <p:ext uri="{BB962C8B-B14F-4D97-AF65-F5344CB8AC3E}">
        <p14:creationId xmlns:p14="http://schemas.microsoft.com/office/powerpoint/2010/main" val="20989893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在接口出方向上，设备支持对广播、未知组播和未知单播报文的阻塞。</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728840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流量抑制还可以通过配置阈值的方式对</a:t>
            </a:r>
            <a:r>
              <a:rPr lang="en-US" altLang="zh-CN" smtClean="0"/>
              <a:t>ICMP</a:t>
            </a:r>
            <a:r>
              <a:rPr lang="zh-CN" altLang="en-US" smtClean="0"/>
              <a:t>报文进行限速，防止大量</a:t>
            </a:r>
            <a:r>
              <a:rPr lang="en-US" altLang="zh-CN" smtClean="0"/>
              <a:t>ICMP</a:t>
            </a:r>
            <a:r>
              <a:rPr lang="zh-CN" altLang="en-US" smtClean="0"/>
              <a:t>报文上送</a:t>
            </a:r>
            <a:r>
              <a:rPr lang="en-US" altLang="zh-CN" smtClean="0"/>
              <a:t>CPU</a:t>
            </a:r>
            <a:r>
              <a:rPr lang="zh-CN" altLang="en-US" smtClean="0"/>
              <a:t>处理，导致其他业务功能异常。</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33535001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流量抑制中，可以为接口入方向的报文流量配置阈值，当流量超过阈值时，系统将丢弃多余的流量，阈值范围内的报文可以正常通过，从而将流量限制在合理的范围内。</a:t>
            </a:r>
            <a:endParaRPr lang="en-US" altLang="zh-CN" smtClean="0"/>
          </a:p>
          <a:p>
            <a:r>
              <a:rPr lang="zh-CN" altLang="en-US" smtClean="0"/>
              <a:t>此外，流量抑制还支持对接口出方向的流量进行阻塞。</a:t>
            </a:r>
          </a:p>
          <a:p>
            <a:r>
              <a:rPr lang="zh-CN" altLang="en-US" smtClean="0"/>
              <a:t>风暴控制中，只可以为接口入方向的报文流量配置阈值。当流量超过阈值时，系统会阻塞该接口收到的该类型报文流量或者直接将该接口关闭。</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2454860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8573497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803756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9177280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4248362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流量抑制与风暴控制的主要区别是：风暴控制功能可以对端口下发惩罚动作（</a:t>
            </a:r>
            <a:r>
              <a:rPr lang="en-US" altLang="zh-CN" smtClean="0"/>
              <a:t>block</a:t>
            </a:r>
            <a:r>
              <a:rPr lang="zh-CN" altLang="en-US" smtClean="0"/>
              <a:t>和</a:t>
            </a:r>
            <a:r>
              <a:rPr lang="en-US" altLang="zh-CN" smtClean="0"/>
              <a:t>shutdown)</a:t>
            </a:r>
            <a:r>
              <a:rPr lang="zh-CN" altLang="en-US" smtClean="0"/>
              <a:t>，而流量抑制功能只是对端口流量进行限制。</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6289165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流量抑制中，可以为接口入方向的报文流量配置阈值。当流量超过阈值时，系统将丢弃多余的流量，阈值范围内的报文可以正常通过，从而将流量限制在合理的范围内。此外，流量抑制还支持对接口出方向的流量进行阻塞。</a:t>
            </a:r>
          </a:p>
          <a:p>
            <a:r>
              <a:rPr lang="zh-CN" altLang="en-US" smtClean="0"/>
              <a:t>风暴控制中，只可以为接口入方向的报文流量配置阈值。当流量超过阈值时，系统会阻塞该接口收到的该类型报文流量或者直接将该接口关闭。</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9806898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endParaRPr lang="zh-CN" altLang="zh-CN"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455157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4393272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5866500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11568940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DHCP</a:t>
            </a:r>
            <a:r>
              <a:rPr lang="zh-CN" altLang="en-US" dirty="0" smtClean="0"/>
              <a:t>无中继工作原理：</a:t>
            </a:r>
            <a:endParaRPr lang="en-US" altLang="zh-CN" dirty="0" smtClean="0"/>
          </a:p>
          <a:p>
            <a:pPr lvl="1"/>
            <a:r>
              <a:rPr lang="zh-CN" altLang="en-US" dirty="0" smtClean="0"/>
              <a:t>发现阶段，</a:t>
            </a:r>
            <a:r>
              <a:rPr lang="en-US" altLang="zh-CN" dirty="0" smtClean="0"/>
              <a:t>DHCP</a:t>
            </a:r>
            <a:r>
              <a:rPr lang="zh-CN" altLang="en-US" dirty="0" smtClean="0"/>
              <a:t>客户端发送</a:t>
            </a:r>
            <a:r>
              <a:rPr lang="en-US" altLang="zh-CN" dirty="0" smtClean="0"/>
              <a:t>DHCP DISCOVER</a:t>
            </a:r>
            <a:r>
              <a:rPr lang="zh-CN" altLang="en-US" dirty="0" smtClean="0"/>
              <a:t>报文（广播）来发现</a:t>
            </a:r>
            <a:r>
              <a:rPr lang="en-US" altLang="zh-CN" dirty="0" smtClean="0"/>
              <a:t>DHCP</a:t>
            </a:r>
            <a:r>
              <a:rPr lang="zh-CN" altLang="en-US" dirty="0" smtClean="0"/>
              <a:t>服务器。</a:t>
            </a:r>
            <a:r>
              <a:rPr lang="en-US" altLang="zh-CN" dirty="0" smtClean="0"/>
              <a:t>DHCP DISCOVER</a:t>
            </a:r>
            <a:r>
              <a:rPr lang="zh-CN" altLang="en-US" dirty="0" smtClean="0"/>
              <a:t>报文中携带了客户端的</a:t>
            </a:r>
            <a:r>
              <a:rPr lang="en-US" altLang="zh-CN" dirty="0" smtClean="0"/>
              <a:t>MAC</a:t>
            </a:r>
            <a:r>
              <a:rPr lang="zh-CN" altLang="en-US" dirty="0" smtClean="0"/>
              <a:t>地址（</a:t>
            </a:r>
            <a:r>
              <a:rPr lang="en-US" altLang="zh-CN" dirty="0" smtClean="0"/>
              <a:t>DHCP DISCOVER</a:t>
            </a:r>
            <a:r>
              <a:rPr lang="zh-CN" altLang="en-US" dirty="0" smtClean="0"/>
              <a:t>报文中的</a:t>
            </a:r>
            <a:r>
              <a:rPr lang="en-US" altLang="zh-CN" dirty="0" err="1" smtClean="0"/>
              <a:t>chaddr</a:t>
            </a:r>
            <a:r>
              <a:rPr lang="zh-CN" altLang="en-US" dirty="0" smtClean="0"/>
              <a:t>字段）、需要请求的参数列表选项（</a:t>
            </a:r>
            <a:r>
              <a:rPr lang="en-US" altLang="zh-CN" dirty="0" smtClean="0"/>
              <a:t>Option55</a:t>
            </a:r>
            <a:r>
              <a:rPr lang="zh-CN" altLang="en-US" dirty="0" smtClean="0"/>
              <a:t>）、广播标志位（</a:t>
            </a:r>
            <a:r>
              <a:rPr lang="en-US" altLang="zh-CN" dirty="0" smtClean="0"/>
              <a:t>DHCP DISCOVER</a:t>
            </a:r>
            <a:r>
              <a:rPr lang="zh-CN" altLang="en-US" dirty="0" smtClean="0"/>
              <a:t>报文中的</a:t>
            </a:r>
            <a:r>
              <a:rPr lang="en-US" altLang="zh-CN" dirty="0" smtClean="0"/>
              <a:t>flags</a:t>
            </a:r>
            <a:r>
              <a:rPr lang="zh-CN" altLang="en-US" dirty="0" smtClean="0"/>
              <a:t>字段，表示客户端请求服务器以单播或广播形式发送响应报文）等信息。</a:t>
            </a:r>
          </a:p>
          <a:p>
            <a:pPr lvl="1"/>
            <a:r>
              <a:rPr lang="zh-CN" altLang="en-US" dirty="0" smtClean="0"/>
              <a:t>提供阶段，服务器接收到</a:t>
            </a:r>
            <a:r>
              <a:rPr lang="en-US" altLang="zh-CN" dirty="0" smtClean="0"/>
              <a:t>DHCP DISCOVER</a:t>
            </a:r>
            <a:r>
              <a:rPr lang="zh-CN" altLang="en-US" dirty="0" smtClean="0"/>
              <a:t>报文后，选择跟接收</a:t>
            </a:r>
            <a:r>
              <a:rPr lang="en-US" altLang="zh-CN" dirty="0" smtClean="0"/>
              <a:t>DHCP DISCOVER</a:t>
            </a:r>
            <a:r>
              <a:rPr lang="zh-CN" altLang="en-US" dirty="0" smtClean="0"/>
              <a:t>报文接口的</a:t>
            </a:r>
            <a:r>
              <a:rPr lang="en-US" altLang="zh-CN" dirty="0" smtClean="0"/>
              <a:t>IP</a:t>
            </a:r>
            <a:r>
              <a:rPr lang="zh-CN" altLang="en-US" dirty="0" smtClean="0"/>
              <a:t>地址处于同一网段的地址池，并且从中选择一个可用的</a:t>
            </a:r>
            <a:r>
              <a:rPr lang="en-US" altLang="zh-CN" dirty="0" smtClean="0"/>
              <a:t>IP</a:t>
            </a:r>
            <a:r>
              <a:rPr lang="zh-CN" altLang="en-US" dirty="0" smtClean="0"/>
              <a:t>地址，然后通过</a:t>
            </a:r>
            <a:r>
              <a:rPr lang="en-US" altLang="zh-CN" dirty="0" smtClean="0"/>
              <a:t>DHCP OFFER</a:t>
            </a:r>
            <a:r>
              <a:rPr lang="zh-CN" altLang="en-US" dirty="0" smtClean="0"/>
              <a:t>报文发送给</a:t>
            </a:r>
            <a:r>
              <a:rPr lang="en-US" altLang="zh-CN" dirty="0" smtClean="0"/>
              <a:t>DHCP</a:t>
            </a:r>
            <a:r>
              <a:rPr lang="zh-CN" altLang="en-US" dirty="0" smtClean="0"/>
              <a:t>客户端。</a:t>
            </a:r>
          </a:p>
          <a:p>
            <a:pPr lvl="1"/>
            <a:r>
              <a:rPr lang="zh-CN" altLang="en-US" dirty="0" smtClean="0"/>
              <a:t>请求阶段，如果有多个</a:t>
            </a:r>
            <a:r>
              <a:rPr lang="en-US" altLang="zh-CN" dirty="0" smtClean="0"/>
              <a:t>DHCP</a:t>
            </a:r>
            <a:r>
              <a:rPr lang="zh-CN" altLang="en-US" dirty="0" smtClean="0"/>
              <a:t>服务器向</a:t>
            </a:r>
            <a:r>
              <a:rPr lang="en-US" altLang="zh-CN" dirty="0" smtClean="0"/>
              <a:t>DHCP</a:t>
            </a:r>
            <a:r>
              <a:rPr lang="zh-CN" altLang="en-US" dirty="0" smtClean="0"/>
              <a:t>客户端回应</a:t>
            </a:r>
            <a:r>
              <a:rPr lang="en-US" altLang="zh-CN" dirty="0" smtClean="0"/>
              <a:t>DHCP OFFER</a:t>
            </a:r>
            <a:r>
              <a:rPr lang="zh-CN" altLang="en-US" dirty="0" smtClean="0"/>
              <a:t>报文，则</a:t>
            </a:r>
            <a:r>
              <a:rPr lang="en-US" altLang="zh-CN" dirty="0" smtClean="0"/>
              <a:t>DHCP</a:t>
            </a:r>
            <a:r>
              <a:rPr lang="zh-CN" altLang="en-US" dirty="0" smtClean="0"/>
              <a:t>客户端一般只接收第一个收到的</a:t>
            </a:r>
            <a:r>
              <a:rPr lang="en-US" altLang="zh-CN" dirty="0" smtClean="0"/>
              <a:t>DHCP OFFER</a:t>
            </a:r>
            <a:r>
              <a:rPr lang="zh-CN" altLang="en-US" dirty="0" smtClean="0"/>
              <a:t>报文，然后以广播方式发送</a:t>
            </a:r>
            <a:r>
              <a:rPr lang="en-US" altLang="zh-CN" dirty="0" smtClean="0"/>
              <a:t>DHCP REQUEST</a:t>
            </a:r>
            <a:r>
              <a:rPr lang="zh-CN" altLang="en-US" dirty="0" smtClean="0"/>
              <a:t>报文，该报文中包含客户端想选择的</a:t>
            </a:r>
            <a:r>
              <a:rPr lang="en-US" altLang="zh-CN" dirty="0" smtClean="0"/>
              <a:t>DHCP</a:t>
            </a:r>
            <a:r>
              <a:rPr lang="zh-CN" altLang="en-US" dirty="0" smtClean="0"/>
              <a:t>服务器标识符（即</a:t>
            </a:r>
            <a:r>
              <a:rPr lang="en-US" altLang="zh-CN" dirty="0" smtClean="0"/>
              <a:t>Option54</a:t>
            </a:r>
            <a:r>
              <a:rPr lang="zh-CN" altLang="en-US" dirty="0" smtClean="0"/>
              <a:t>）和客户端</a:t>
            </a:r>
            <a:r>
              <a:rPr lang="en-US" altLang="zh-CN" dirty="0" smtClean="0"/>
              <a:t>IP</a:t>
            </a:r>
            <a:r>
              <a:rPr lang="zh-CN" altLang="en-US" dirty="0" smtClean="0"/>
              <a:t>地址（即</a:t>
            </a:r>
            <a:r>
              <a:rPr lang="en-US" altLang="zh-CN" dirty="0" smtClean="0"/>
              <a:t>Option50</a:t>
            </a:r>
            <a:r>
              <a:rPr lang="zh-CN" altLang="en-US" dirty="0" smtClean="0"/>
              <a:t>，填充了接收的</a:t>
            </a:r>
            <a:r>
              <a:rPr lang="en-US" altLang="zh-CN" dirty="0" smtClean="0"/>
              <a:t>DHCP OFFER</a:t>
            </a:r>
            <a:r>
              <a:rPr lang="zh-CN" altLang="en-US" dirty="0" smtClean="0"/>
              <a:t>报文中</a:t>
            </a:r>
            <a:r>
              <a:rPr lang="en-US" altLang="zh-CN" dirty="0" err="1" smtClean="0"/>
              <a:t>yiaddr</a:t>
            </a:r>
            <a:r>
              <a:rPr lang="zh-CN" altLang="en-US" dirty="0" smtClean="0"/>
              <a:t>字段的</a:t>
            </a:r>
            <a:r>
              <a:rPr lang="en-US" altLang="zh-CN" dirty="0" smtClean="0"/>
              <a:t>IP</a:t>
            </a:r>
            <a:r>
              <a:rPr lang="zh-CN" altLang="en-US" dirty="0" smtClean="0"/>
              <a:t>地址）。以广播方式发送</a:t>
            </a:r>
            <a:r>
              <a:rPr lang="en-US" altLang="zh-CN" dirty="0" smtClean="0"/>
              <a:t>DHCP REQUEST</a:t>
            </a:r>
            <a:r>
              <a:rPr lang="zh-CN" altLang="en-US" dirty="0" smtClean="0"/>
              <a:t>报文，是为了通知所有的</a:t>
            </a:r>
            <a:r>
              <a:rPr lang="en-US" altLang="zh-CN" dirty="0" smtClean="0"/>
              <a:t>DHCP</a:t>
            </a:r>
            <a:r>
              <a:rPr lang="zh-CN" altLang="en-US" dirty="0" smtClean="0"/>
              <a:t>服务器，它将选择某个</a:t>
            </a:r>
            <a:r>
              <a:rPr lang="en-US" altLang="zh-CN" dirty="0" smtClean="0"/>
              <a:t>DHCP</a:t>
            </a:r>
            <a:r>
              <a:rPr lang="zh-CN" altLang="en-US" dirty="0" smtClean="0"/>
              <a:t>服务器提供的</a:t>
            </a:r>
            <a:r>
              <a:rPr lang="en-US" altLang="zh-CN" dirty="0" smtClean="0"/>
              <a:t>IP</a:t>
            </a:r>
            <a:r>
              <a:rPr lang="zh-CN" altLang="en-US" dirty="0" smtClean="0"/>
              <a:t>地址，其他</a:t>
            </a:r>
            <a:r>
              <a:rPr lang="en-US" altLang="zh-CN" dirty="0" smtClean="0"/>
              <a:t>DHCP</a:t>
            </a:r>
            <a:r>
              <a:rPr lang="zh-CN" altLang="en-US" dirty="0" smtClean="0"/>
              <a:t>服务器可以重新将曾经分配给客户端的</a:t>
            </a:r>
            <a:r>
              <a:rPr lang="en-US" altLang="zh-CN" dirty="0" smtClean="0"/>
              <a:t>IP</a:t>
            </a:r>
            <a:r>
              <a:rPr lang="zh-CN" altLang="en-US" dirty="0" smtClean="0"/>
              <a:t>地址分配给其他客户端。</a:t>
            </a:r>
          </a:p>
          <a:p>
            <a:pPr lvl="1"/>
            <a:r>
              <a:rPr lang="zh-CN" altLang="en-US" dirty="0" smtClean="0"/>
              <a:t>确认阶段，</a:t>
            </a:r>
            <a:r>
              <a:rPr lang="en-US" altLang="zh-CN" dirty="0" smtClean="0"/>
              <a:t>DHCP</a:t>
            </a:r>
            <a:r>
              <a:rPr lang="zh-CN" altLang="en-US" dirty="0" smtClean="0"/>
              <a:t>客户端收到</a:t>
            </a:r>
            <a:r>
              <a:rPr lang="en-US" altLang="zh-CN" dirty="0" smtClean="0"/>
              <a:t>DHCP ACK</a:t>
            </a:r>
            <a:r>
              <a:rPr lang="zh-CN" altLang="en-US" dirty="0" smtClean="0"/>
              <a:t>报文，会广播发送免费</a:t>
            </a:r>
            <a:r>
              <a:rPr lang="en-US" altLang="zh-CN" dirty="0" smtClean="0"/>
              <a:t>ARP</a:t>
            </a:r>
            <a:r>
              <a:rPr lang="zh-CN" altLang="en-US" dirty="0" smtClean="0"/>
              <a:t>报文，探测本网段是否有其他终端使用服务器分配的</a:t>
            </a:r>
            <a:r>
              <a:rPr lang="en-US" altLang="zh-CN" dirty="0" smtClean="0"/>
              <a:t>IP</a:t>
            </a:r>
            <a:r>
              <a:rPr lang="zh-CN" altLang="en-US" dirty="0" smtClean="0"/>
              <a:t>地址。</a:t>
            </a:r>
            <a:endParaRPr lang="en-US" altLang="zh-CN" dirty="0"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68251951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a:xfrm>
            <a:off x="713582" y="728663"/>
            <a:ext cx="5580062" cy="4784070"/>
          </a:xfrm>
        </p:spPr>
        <p:txBody>
          <a:bodyPr/>
          <a:lstStyle/>
          <a:p>
            <a:pPr lvl="0"/>
            <a:r>
              <a:rPr lang="en-US" altLang="zh-CN" dirty="0" smtClean="0"/>
              <a:t>DHCP</a:t>
            </a:r>
            <a:r>
              <a:rPr lang="zh-CN" altLang="en-US" dirty="0" smtClean="0"/>
              <a:t>有中继工作原理：</a:t>
            </a:r>
            <a:endParaRPr lang="en-US" altLang="zh-CN" dirty="0" smtClean="0"/>
          </a:p>
          <a:p>
            <a:pPr lvl="1"/>
            <a:r>
              <a:rPr lang="en-US" altLang="zh-CN" dirty="0" smtClean="0"/>
              <a:t>DHCP</a:t>
            </a:r>
            <a:r>
              <a:rPr lang="zh-CN" altLang="en-US" dirty="0" smtClean="0"/>
              <a:t>中继接收到</a:t>
            </a:r>
            <a:r>
              <a:rPr lang="en-US" altLang="zh-CN" dirty="0" smtClean="0"/>
              <a:t>DHCP</a:t>
            </a:r>
            <a:r>
              <a:rPr lang="zh-CN" altLang="en-US" dirty="0" smtClean="0"/>
              <a:t>客户端广播发送的</a:t>
            </a:r>
            <a:r>
              <a:rPr lang="en-US" altLang="zh-CN" dirty="0" smtClean="0"/>
              <a:t>DHCP DISCOVER</a:t>
            </a:r>
            <a:r>
              <a:rPr lang="zh-CN" altLang="en-US" dirty="0" smtClean="0"/>
              <a:t>报文后，主要动作含：检查</a:t>
            </a:r>
            <a:r>
              <a:rPr lang="en-US" altLang="zh-CN" dirty="0" smtClean="0"/>
              <a:t>DHCP</a:t>
            </a:r>
            <a:r>
              <a:rPr lang="zh-CN" altLang="en-US" dirty="0" smtClean="0"/>
              <a:t>报文中的</a:t>
            </a:r>
            <a:r>
              <a:rPr lang="en-US" altLang="zh-CN" dirty="0" err="1" smtClean="0"/>
              <a:t>giaddr</a:t>
            </a:r>
            <a:r>
              <a:rPr lang="zh-CN" altLang="en-US" dirty="0" smtClean="0"/>
              <a:t>字段。</a:t>
            </a:r>
            <a:r>
              <a:rPr lang="en-US" altLang="zh-CN" dirty="0" smtClean="0"/>
              <a:t>DHCP</a:t>
            </a:r>
            <a:r>
              <a:rPr lang="zh-CN" altLang="en-US" dirty="0" smtClean="0"/>
              <a:t>报文中的</a:t>
            </a:r>
            <a:r>
              <a:rPr lang="en-US" altLang="zh-CN" dirty="0" err="1" smtClean="0"/>
              <a:t>giaddr</a:t>
            </a:r>
            <a:r>
              <a:rPr lang="zh-CN" altLang="en-US" dirty="0" smtClean="0"/>
              <a:t>字段标识客户端网关的</a:t>
            </a:r>
            <a:r>
              <a:rPr lang="en-US" altLang="zh-CN" dirty="0" smtClean="0"/>
              <a:t>IP</a:t>
            </a:r>
            <a:r>
              <a:rPr lang="zh-CN" altLang="en-US" dirty="0" smtClean="0"/>
              <a:t>地址。如果服务器和客户端不在同一个网段且中间存在多个</a:t>
            </a:r>
            <a:r>
              <a:rPr lang="en-US" altLang="zh-CN" dirty="0" smtClean="0"/>
              <a:t>DHCP</a:t>
            </a:r>
            <a:r>
              <a:rPr lang="zh-CN" altLang="en-US" dirty="0" smtClean="0"/>
              <a:t>中继，当客户端发出</a:t>
            </a:r>
            <a:r>
              <a:rPr lang="en-US" altLang="zh-CN" dirty="0" smtClean="0"/>
              <a:t>DHCP</a:t>
            </a:r>
            <a:r>
              <a:rPr lang="zh-CN" altLang="en-US" dirty="0" smtClean="0"/>
              <a:t>请求时，第一个</a:t>
            </a:r>
            <a:r>
              <a:rPr lang="en-US" altLang="zh-CN" dirty="0" smtClean="0"/>
              <a:t>DHCP</a:t>
            </a:r>
            <a:r>
              <a:rPr lang="zh-CN" altLang="en-US" dirty="0" smtClean="0"/>
              <a:t>中继会把自己的</a:t>
            </a:r>
            <a:r>
              <a:rPr lang="en-US" altLang="zh-CN" dirty="0" smtClean="0"/>
              <a:t>IP</a:t>
            </a:r>
            <a:r>
              <a:rPr lang="zh-CN" altLang="en-US" dirty="0" smtClean="0"/>
              <a:t>地址填入此字段，后面的</a:t>
            </a:r>
            <a:r>
              <a:rPr lang="en-US" altLang="zh-CN" dirty="0" smtClean="0"/>
              <a:t>DHCP</a:t>
            </a:r>
            <a:r>
              <a:rPr lang="zh-CN" altLang="en-US" dirty="0" smtClean="0"/>
              <a:t>中继不修改此字段内容。</a:t>
            </a:r>
            <a:r>
              <a:rPr lang="en-US" altLang="zh-CN" dirty="0" smtClean="0"/>
              <a:t>DHCP</a:t>
            </a:r>
            <a:r>
              <a:rPr lang="zh-CN" altLang="en-US" dirty="0" smtClean="0"/>
              <a:t>服务器会根据此字段来判断出客户端所在的网段地址，从而为客户端分配该网段的</a:t>
            </a:r>
            <a:r>
              <a:rPr lang="en-US" altLang="zh-CN" dirty="0" smtClean="0"/>
              <a:t>IP</a:t>
            </a:r>
            <a:r>
              <a:rPr lang="zh-CN" altLang="en-US" dirty="0" smtClean="0"/>
              <a:t>地址。</a:t>
            </a:r>
          </a:p>
          <a:p>
            <a:pPr lvl="1"/>
            <a:r>
              <a:rPr lang="zh-CN" altLang="en-US" dirty="0" smtClean="0"/>
              <a:t>将</a:t>
            </a:r>
            <a:r>
              <a:rPr lang="en-US" altLang="zh-CN" dirty="0" smtClean="0"/>
              <a:t>DHCP</a:t>
            </a:r>
            <a:r>
              <a:rPr lang="zh-CN" altLang="en-US" dirty="0" smtClean="0"/>
              <a:t>报文的目的</a:t>
            </a:r>
            <a:r>
              <a:rPr lang="en-US" altLang="zh-CN" dirty="0" smtClean="0"/>
              <a:t>IP</a:t>
            </a:r>
            <a:r>
              <a:rPr lang="zh-CN" altLang="en-US" dirty="0" smtClean="0"/>
              <a:t>地址改为</a:t>
            </a:r>
            <a:r>
              <a:rPr lang="en-US" altLang="zh-CN" dirty="0" smtClean="0"/>
              <a:t>DHCP</a:t>
            </a:r>
            <a:r>
              <a:rPr lang="zh-CN" altLang="en-US" dirty="0" smtClean="0"/>
              <a:t>服务器或下一跳中继的</a:t>
            </a:r>
            <a:r>
              <a:rPr lang="en-US" altLang="zh-CN" dirty="0" smtClean="0"/>
              <a:t>IP</a:t>
            </a:r>
            <a:r>
              <a:rPr lang="zh-CN" altLang="en-US" dirty="0" smtClean="0"/>
              <a:t>地址，源地址改为中继连接客户端的接口地址，通过路由转发将</a:t>
            </a:r>
            <a:r>
              <a:rPr lang="en-US" altLang="zh-CN" dirty="0" smtClean="0"/>
              <a:t>DHCP</a:t>
            </a:r>
            <a:r>
              <a:rPr lang="zh-CN" altLang="en-US" dirty="0" smtClean="0"/>
              <a:t>报文单播发送到</a:t>
            </a:r>
            <a:r>
              <a:rPr lang="en-US" altLang="zh-CN" dirty="0" smtClean="0"/>
              <a:t>DHCP</a:t>
            </a:r>
            <a:r>
              <a:rPr lang="zh-CN" altLang="en-US" dirty="0" smtClean="0"/>
              <a:t>服务器或下一跳中继。</a:t>
            </a:r>
            <a:endParaRPr lang="en-US" altLang="zh-CN" dirty="0" smtClean="0"/>
          </a:p>
          <a:p>
            <a:endParaRPr lang="zh-CN" altLang="en-US" dirty="0"/>
          </a:p>
        </p:txBody>
      </p:sp>
    </p:spTree>
    <p:extLst>
      <p:ext uri="{BB962C8B-B14F-4D97-AF65-F5344CB8AC3E}">
        <p14:creationId xmlns:p14="http://schemas.microsoft.com/office/powerpoint/2010/main" val="139401076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974692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配置</a:t>
            </a:r>
            <a:r>
              <a:rPr lang="en-US" altLang="zh-CN" b="1" dirty="0" err="1" smtClean="0"/>
              <a:t>dhcp</a:t>
            </a:r>
            <a:r>
              <a:rPr lang="en-US" altLang="zh-CN" b="1" dirty="0" smtClean="0"/>
              <a:t> snooping enable</a:t>
            </a:r>
            <a:r>
              <a:rPr lang="zh-CN" altLang="en-US" dirty="0" smtClean="0"/>
              <a:t>命令的接口，收到</a:t>
            </a:r>
            <a:r>
              <a:rPr lang="en-US" altLang="zh-CN" dirty="0" smtClean="0"/>
              <a:t>DHCP</a:t>
            </a:r>
            <a:r>
              <a:rPr lang="zh-CN" altLang="en-US" dirty="0" smtClean="0"/>
              <a:t>请求报文后，转发给所有的信任接口；收到</a:t>
            </a:r>
            <a:r>
              <a:rPr lang="en-US" altLang="zh-CN" dirty="0" smtClean="0"/>
              <a:t>DHCP</a:t>
            </a:r>
            <a:r>
              <a:rPr lang="zh-CN" altLang="en-US" dirty="0" smtClean="0"/>
              <a:t>响应报文后丢弃。</a:t>
            </a:r>
          </a:p>
          <a:p>
            <a:r>
              <a:rPr lang="zh-CN" altLang="en-US" dirty="0" smtClean="0"/>
              <a:t>配置</a:t>
            </a:r>
            <a:r>
              <a:rPr lang="en-US" altLang="zh-CN" b="1" dirty="0" err="1" smtClean="0"/>
              <a:t>dhcp</a:t>
            </a:r>
            <a:r>
              <a:rPr lang="en-US" altLang="zh-CN" b="1" dirty="0" smtClean="0"/>
              <a:t> snooping trusted</a:t>
            </a:r>
            <a:r>
              <a:rPr lang="zh-CN" altLang="en-US" dirty="0" smtClean="0"/>
              <a:t>命令的接口，收到</a:t>
            </a:r>
            <a:r>
              <a:rPr lang="en-US" altLang="zh-CN" dirty="0" smtClean="0"/>
              <a:t>DHCP</a:t>
            </a:r>
            <a:r>
              <a:rPr lang="zh-CN" altLang="en-US" dirty="0" smtClean="0"/>
              <a:t>请求报文后，转发给所有的信任接口，如果没有其他信任接口，则丢弃该</a:t>
            </a:r>
            <a:r>
              <a:rPr lang="en-US" altLang="zh-CN" dirty="0" smtClean="0"/>
              <a:t>DHCP</a:t>
            </a:r>
            <a:r>
              <a:rPr lang="zh-CN" altLang="en-US" dirty="0" smtClean="0"/>
              <a:t>请求报文；收到</a:t>
            </a:r>
            <a:r>
              <a:rPr lang="en-US" altLang="zh-CN" dirty="0" smtClean="0"/>
              <a:t>DHCP</a:t>
            </a:r>
            <a:r>
              <a:rPr lang="zh-CN" altLang="en-US" dirty="0" smtClean="0"/>
              <a:t>响应报文后，只转发给连接对应客户端的并且配置命令</a:t>
            </a:r>
            <a:r>
              <a:rPr lang="en-US" altLang="zh-CN" b="1" dirty="0" err="1" smtClean="0"/>
              <a:t>dhcp</a:t>
            </a:r>
            <a:r>
              <a:rPr lang="en-US" altLang="zh-CN" b="1" dirty="0" smtClean="0"/>
              <a:t> snooping enable</a:t>
            </a:r>
            <a:r>
              <a:rPr lang="zh-CN" altLang="en-US" dirty="0" smtClean="0"/>
              <a:t>的接口，如果查不到上述接口，则丢弃该</a:t>
            </a:r>
            <a:r>
              <a:rPr lang="en-US" altLang="zh-CN" dirty="0" smtClean="0"/>
              <a:t>DHCP</a:t>
            </a:r>
            <a:r>
              <a:rPr lang="zh-CN" altLang="en-US" dirty="0" smtClean="0"/>
              <a:t>响应报文。</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92781216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DHCP Snooping</a:t>
            </a:r>
            <a:r>
              <a:rPr lang="zh-CN" altLang="en-US" smtClean="0"/>
              <a:t>绑定表根据</a:t>
            </a:r>
            <a:r>
              <a:rPr lang="en-US" altLang="zh-CN" smtClean="0"/>
              <a:t>DHCP</a:t>
            </a:r>
            <a:r>
              <a:rPr lang="zh-CN" altLang="en-US" smtClean="0"/>
              <a:t>租期进行老化或根据用户释放</a:t>
            </a:r>
            <a:r>
              <a:rPr lang="en-US" altLang="zh-CN" smtClean="0"/>
              <a:t>IP</a:t>
            </a:r>
            <a:r>
              <a:rPr lang="zh-CN" altLang="en-US" smtClean="0"/>
              <a:t>地址时发出的</a:t>
            </a:r>
            <a:r>
              <a:rPr lang="en-US" altLang="zh-CN" smtClean="0"/>
              <a:t>DHCP Release</a:t>
            </a:r>
            <a:r>
              <a:rPr lang="zh-CN" altLang="en-US" smtClean="0"/>
              <a:t>报文自动删除对应表项。</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79992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582932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4059388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DHCP</a:t>
            </a:r>
            <a:r>
              <a:rPr lang="zh-CN" altLang="en-US" dirty="0" smtClean="0"/>
              <a:t>饿死攻击是攻击者通过持续大量地向</a:t>
            </a:r>
            <a:r>
              <a:rPr lang="en-US" altLang="zh-CN" dirty="0" smtClean="0"/>
              <a:t>DHCP Server</a:t>
            </a:r>
            <a:r>
              <a:rPr lang="zh-CN" altLang="en-US" dirty="0" smtClean="0"/>
              <a:t>申请</a:t>
            </a:r>
            <a:r>
              <a:rPr lang="en-US" altLang="zh-CN" dirty="0" smtClean="0"/>
              <a:t>IP</a:t>
            </a:r>
            <a:r>
              <a:rPr lang="zh-CN" altLang="en-US" dirty="0" smtClean="0"/>
              <a:t>地址来实现的，其目的是耗尽</a:t>
            </a:r>
            <a:r>
              <a:rPr lang="en-US" altLang="zh-CN" dirty="0" smtClean="0"/>
              <a:t>DHCP Server</a:t>
            </a:r>
            <a:r>
              <a:rPr lang="zh-CN" altLang="en-US" dirty="0" smtClean="0"/>
              <a:t>地址池中的</a:t>
            </a:r>
            <a:r>
              <a:rPr lang="en-US" altLang="zh-CN" dirty="0" smtClean="0"/>
              <a:t>IP</a:t>
            </a:r>
            <a:r>
              <a:rPr lang="zh-CN" altLang="en-US" dirty="0" smtClean="0"/>
              <a:t>地址，导致</a:t>
            </a:r>
            <a:r>
              <a:rPr lang="en-US" altLang="zh-CN" dirty="0" smtClean="0"/>
              <a:t>DHCP Server</a:t>
            </a:r>
            <a:r>
              <a:rPr lang="zh-CN" altLang="en-US" dirty="0" smtClean="0"/>
              <a:t>没有</a:t>
            </a:r>
            <a:r>
              <a:rPr lang="en-US" altLang="zh-CN" dirty="0" smtClean="0"/>
              <a:t>IP</a:t>
            </a:r>
            <a:r>
              <a:rPr lang="zh-CN" altLang="en-US" dirty="0" smtClean="0"/>
              <a:t>地址分配给正常的用户。</a:t>
            </a:r>
            <a:r>
              <a:rPr lang="en-US" altLang="zh-CN" dirty="0" smtClean="0"/>
              <a:t>DHCP</a:t>
            </a:r>
            <a:r>
              <a:rPr lang="zh-CN" altLang="en-US" dirty="0" smtClean="0"/>
              <a:t>消息中有一个名叫</a:t>
            </a:r>
            <a:r>
              <a:rPr lang="en-US" altLang="zh-CN" dirty="0" smtClean="0"/>
              <a:t>CHADDR</a:t>
            </a:r>
            <a:r>
              <a:rPr lang="zh-CN" altLang="en-US" dirty="0" smtClean="0"/>
              <a:t>（</a:t>
            </a:r>
            <a:r>
              <a:rPr lang="en-US" altLang="zh-CN" dirty="0" smtClean="0"/>
              <a:t>Client Hardware Address</a:t>
            </a:r>
            <a:r>
              <a:rPr lang="zh-CN" altLang="en-US" dirty="0" smtClean="0"/>
              <a:t>）的字段，该字段是由</a:t>
            </a:r>
            <a:r>
              <a:rPr lang="en-US" altLang="zh-CN" dirty="0" smtClean="0"/>
              <a:t>DHCP</a:t>
            </a:r>
            <a:r>
              <a:rPr lang="zh-CN" altLang="en-US" dirty="0" smtClean="0"/>
              <a:t>客户端填写的，表示的是客户端的硬件地址（也就是客户端的</a:t>
            </a:r>
            <a:r>
              <a:rPr lang="en-US" altLang="zh-CN" dirty="0" smtClean="0"/>
              <a:t>MAC</a:t>
            </a:r>
            <a:r>
              <a:rPr lang="zh-CN" altLang="en-US" dirty="0" smtClean="0"/>
              <a:t>地址）。</a:t>
            </a:r>
            <a:r>
              <a:rPr lang="en-US" altLang="zh-CN" dirty="0" smtClean="0"/>
              <a:t>DHCP Server</a:t>
            </a:r>
            <a:r>
              <a:rPr lang="zh-CN" altLang="en-US" dirty="0" smtClean="0"/>
              <a:t>是针对</a:t>
            </a:r>
            <a:r>
              <a:rPr lang="en-US" altLang="zh-CN" dirty="0" smtClean="0"/>
              <a:t>CHADDR</a:t>
            </a:r>
            <a:r>
              <a:rPr lang="zh-CN" altLang="en-US" dirty="0" smtClean="0"/>
              <a:t>来分配</a:t>
            </a:r>
            <a:r>
              <a:rPr lang="en-US" altLang="zh-CN" dirty="0" smtClean="0"/>
              <a:t>IP</a:t>
            </a:r>
            <a:r>
              <a:rPr lang="zh-CN" altLang="en-US" dirty="0" smtClean="0"/>
              <a:t>地址的，对于不同的</a:t>
            </a:r>
            <a:r>
              <a:rPr lang="en-US" altLang="zh-CN" dirty="0" smtClean="0"/>
              <a:t>CHADDR</a:t>
            </a:r>
            <a:r>
              <a:rPr lang="zh-CN" altLang="en-US" dirty="0" smtClean="0"/>
              <a:t>，</a:t>
            </a:r>
            <a:r>
              <a:rPr lang="en-US" altLang="zh-CN" dirty="0" smtClean="0"/>
              <a:t>DHCP Server</a:t>
            </a:r>
            <a:r>
              <a:rPr lang="zh-CN" altLang="en-US" dirty="0" smtClean="0"/>
              <a:t>会分配不同的</a:t>
            </a:r>
            <a:r>
              <a:rPr lang="en-US" altLang="zh-CN" dirty="0" smtClean="0"/>
              <a:t>IP</a:t>
            </a:r>
            <a:r>
              <a:rPr lang="zh-CN" altLang="en-US" dirty="0" smtClean="0"/>
              <a:t>地址；</a:t>
            </a:r>
            <a:r>
              <a:rPr lang="en-US" altLang="zh-CN" dirty="0" smtClean="0"/>
              <a:t>DHCP Server</a:t>
            </a:r>
            <a:r>
              <a:rPr lang="zh-CN" altLang="en-US" dirty="0" smtClean="0"/>
              <a:t>无法区分什么样的</a:t>
            </a:r>
            <a:r>
              <a:rPr lang="en-US" altLang="zh-CN" dirty="0" smtClean="0"/>
              <a:t>CHADDR</a:t>
            </a:r>
            <a:r>
              <a:rPr lang="zh-CN" altLang="en-US" dirty="0" smtClean="0"/>
              <a:t>是合法的，什么样的</a:t>
            </a:r>
            <a:r>
              <a:rPr lang="en-US" altLang="zh-CN" dirty="0" smtClean="0"/>
              <a:t>CHADDR</a:t>
            </a:r>
            <a:r>
              <a:rPr lang="zh-CN" altLang="en-US" dirty="0" smtClean="0"/>
              <a:t>是非法的。利用这个漏洞，攻击者每申请一个</a:t>
            </a:r>
            <a:r>
              <a:rPr lang="en-US" altLang="zh-CN" dirty="0" smtClean="0"/>
              <a:t>IP</a:t>
            </a:r>
            <a:r>
              <a:rPr lang="zh-CN" altLang="en-US" dirty="0" smtClean="0"/>
              <a:t>地址时，就在</a:t>
            </a:r>
            <a:r>
              <a:rPr lang="en-US" altLang="zh-CN" dirty="0" smtClean="0"/>
              <a:t>DHCP</a:t>
            </a:r>
            <a:r>
              <a:rPr lang="zh-CN" altLang="en-US" dirty="0" smtClean="0"/>
              <a:t>消息的</a:t>
            </a:r>
            <a:r>
              <a:rPr lang="en-US" altLang="zh-CN" dirty="0" smtClean="0"/>
              <a:t>CHADDR</a:t>
            </a:r>
            <a:r>
              <a:rPr lang="zh-CN" altLang="en-US" dirty="0" smtClean="0"/>
              <a:t>字段中填写一个不同的值，以此来冒充是不同的用户在申请</a:t>
            </a:r>
            <a:r>
              <a:rPr lang="en-US" altLang="zh-CN" dirty="0" smtClean="0"/>
              <a:t>IP</a:t>
            </a:r>
            <a:r>
              <a:rPr lang="zh-CN" altLang="en-US" dirty="0" smtClean="0"/>
              <a:t>地址。</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5898767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为了弥补上述漏洞，从而阻止饿死攻击，</a:t>
            </a:r>
            <a:r>
              <a:rPr lang="en-US" altLang="zh-CN" dirty="0" smtClean="0"/>
              <a:t>DHCP Snooping</a:t>
            </a:r>
            <a:r>
              <a:rPr lang="zh-CN" altLang="en-US" dirty="0" smtClean="0"/>
              <a:t>技术支持在端口下对</a:t>
            </a:r>
            <a:r>
              <a:rPr lang="en-US" altLang="zh-CN" dirty="0" smtClean="0"/>
              <a:t>DHCP Request</a:t>
            </a:r>
            <a:r>
              <a:rPr lang="zh-CN" altLang="en-US" dirty="0" smtClean="0"/>
              <a:t>报文的源</a:t>
            </a:r>
            <a:r>
              <a:rPr lang="en-US" altLang="zh-CN" dirty="0" smtClean="0"/>
              <a:t>MAC</a:t>
            </a:r>
            <a:r>
              <a:rPr lang="zh-CN" altLang="en-US" dirty="0" smtClean="0"/>
              <a:t>地址与</a:t>
            </a:r>
            <a:r>
              <a:rPr lang="en-US" altLang="zh-CN" dirty="0" smtClean="0"/>
              <a:t>CHADDR</a:t>
            </a:r>
            <a:r>
              <a:rPr lang="zh-CN" altLang="en-US" dirty="0" smtClean="0"/>
              <a:t>进行一致性检查：如果二者相同，则转发报文；如果二者不相同，则丢弃。如果要在某端口下实施源</a:t>
            </a:r>
            <a:r>
              <a:rPr lang="en-US" altLang="zh-CN" dirty="0" smtClean="0"/>
              <a:t>MAC</a:t>
            </a:r>
            <a:r>
              <a:rPr lang="zh-CN" altLang="en-US" dirty="0" smtClean="0"/>
              <a:t>地址与</a:t>
            </a:r>
            <a:r>
              <a:rPr lang="en-US" altLang="zh-CN" dirty="0" smtClean="0"/>
              <a:t>CHADDR</a:t>
            </a:r>
            <a:r>
              <a:rPr lang="zh-CN" altLang="en-US" dirty="0" smtClean="0"/>
              <a:t>的一致性检查，可以在该端口下使用命令</a:t>
            </a:r>
            <a:r>
              <a:rPr lang="en-US" altLang="zh-CN" b="1" dirty="0" err="1" smtClean="0"/>
              <a:t>dhcp</a:t>
            </a:r>
            <a:r>
              <a:rPr lang="en-US" altLang="zh-CN" b="1" dirty="0" smtClean="0"/>
              <a:t> snooping check </a:t>
            </a:r>
            <a:r>
              <a:rPr lang="en-US" altLang="zh-CN" b="1" dirty="0" err="1" smtClean="0"/>
              <a:t>dhcp-chaddr</a:t>
            </a:r>
            <a:r>
              <a:rPr lang="en-US" altLang="zh-CN" b="1" dirty="0" smtClean="0"/>
              <a:t> enable</a:t>
            </a:r>
            <a:r>
              <a:rPr lang="zh-CN" altLang="en-US" dirty="0" smtClean="0"/>
              <a:t>。</a:t>
            </a:r>
          </a:p>
          <a:p>
            <a:r>
              <a:rPr lang="zh-CN" altLang="en-US" dirty="0" smtClean="0"/>
              <a:t>还可能存在这样一种饿死攻击，就是攻击者不断同时变换</a:t>
            </a:r>
            <a:r>
              <a:rPr lang="en-US" altLang="zh-CN" dirty="0" smtClean="0"/>
              <a:t>MAC</a:t>
            </a:r>
            <a:r>
              <a:rPr lang="zh-CN" altLang="en-US" dirty="0" smtClean="0"/>
              <a:t>地址和</a:t>
            </a:r>
            <a:r>
              <a:rPr lang="en-US" altLang="zh-CN" dirty="0" smtClean="0"/>
              <a:t>CHADDR</a:t>
            </a:r>
            <a:r>
              <a:rPr lang="zh-CN" altLang="en-US" dirty="0" smtClean="0"/>
              <a:t>，并且每一次变换时，都让</a:t>
            </a:r>
            <a:r>
              <a:rPr lang="en-US" altLang="zh-CN" dirty="0" smtClean="0"/>
              <a:t>CHADDR</a:t>
            </a:r>
            <a:r>
              <a:rPr lang="zh-CN" altLang="en-US" dirty="0" smtClean="0"/>
              <a:t>与</a:t>
            </a:r>
            <a:r>
              <a:rPr lang="en-US" altLang="zh-CN" dirty="0" smtClean="0"/>
              <a:t>MAC</a:t>
            </a:r>
            <a:r>
              <a:rPr lang="zh-CN" altLang="en-US" dirty="0" smtClean="0"/>
              <a:t>地址相同，如此一来，便可以躲过上述源</a:t>
            </a:r>
            <a:r>
              <a:rPr lang="en-US" altLang="zh-CN" dirty="0" smtClean="0"/>
              <a:t>MAC</a:t>
            </a:r>
            <a:r>
              <a:rPr lang="zh-CN" altLang="en-US" dirty="0" smtClean="0"/>
              <a:t>地址与</a:t>
            </a:r>
            <a:r>
              <a:rPr lang="en-US" altLang="zh-CN" dirty="0" smtClean="0"/>
              <a:t>CHADDR</a:t>
            </a:r>
            <a:r>
              <a:rPr lang="zh-CN" altLang="en-US" dirty="0" smtClean="0"/>
              <a:t>的一致性检查！</a:t>
            </a:r>
          </a:p>
          <a:p>
            <a:endParaRPr lang="zh-CN" altLang="en-US" dirty="0" smtClean="0"/>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61288220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如图所示，攻击者利用</a:t>
            </a:r>
            <a:r>
              <a:rPr lang="en-US" altLang="zh-CN" smtClean="0"/>
              <a:t>ARP</a:t>
            </a:r>
            <a:r>
              <a:rPr lang="zh-CN" altLang="en-US" smtClean="0"/>
              <a:t>机制，让</a:t>
            </a:r>
            <a:r>
              <a:rPr lang="en-US" altLang="zh-CN" smtClean="0"/>
              <a:t>PC1</a:t>
            </a:r>
            <a:r>
              <a:rPr lang="zh-CN" altLang="en-US" smtClean="0"/>
              <a:t>学习到</a:t>
            </a:r>
            <a:r>
              <a:rPr lang="en-US" altLang="zh-CN" smtClean="0"/>
              <a:t>IP-S</a:t>
            </a:r>
            <a:r>
              <a:rPr lang="zh-CN" altLang="en-US" smtClean="0"/>
              <a:t>与</a:t>
            </a:r>
            <a:r>
              <a:rPr lang="en-US" altLang="zh-CN" smtClean="0"/>
              <a:t>MAC2</a:t>
            </a:r>
            <a:r>
              <a:rPr lang="zh-CN" altLang="en-US" smtClean="0"/>
              <a:t>的映射关系，又让</a:t>
            </a:r>
            <a:r>
              <a:rPr lang="en-US" altLang="zh-CN" smtClean="0"/>
              <a:t>Server</a:t>
            </a:r>
            <a:r>
              <a:rPr lang="zh-CN" altLang="en-US" smtClean="0"/>
              <a:t>学习到</a:t>
            </a:r>
            <a:r>
              <a:rPr lang="en-US" altLang="zh-CN" smtClean="0"/>
              <a:t>IP1</a:t>
            </a:r>
            <a:r>
              <a:rPr lang="zh-CN" altLang="en-US" smtClean="0"/>
              <a:t>与</a:t>
            </a:r>
            <a:r>
              <a:rPr lang="en-US" altLang="zh-CN" smtClean="0"/>
              <a:t>MAC2</a:t>
            </a:r>
            <a:r>
              <a:rPr lang="zh-CN" altLang="en-US" smtClean="0"/>
              <a:t>的映射关系。当</a:t>
            </a:r>
            <a:r>
              <a:rPr lang="en-US" altLang="zh-CN" smtClean="0"/>
              <a:t>PC1</a:t>
            </a:r>
            <a:r>
              <a:rPr lang="zh-CN" altLang="en-US" smtClean="0"/>
              <a:t>向</a:t>
            </a:r>
            <a:r>
              <a:rPr lang="en-US" altLang="zh-CN" smtClean="0"/>
              <a:t>DHCP Server</a:t>
            </a:r>
            <a:r>
              <a:rPr lang="zh-CN" altLang="en-US" smtClean="0"/>
              <a:t>发送</a:t>
            </a:r>
            <a:r>
              <a:rPr lang="en-US" altLang="zh-CN" smtClean="0"/>
              <a:t>IP</a:t>
            </a:r>
            <a:r>
              <a:rPr lang="zh-CN" altLang="en-US" smtClean="0"/>
              <a:t>报文时，目的</a:t>
            </a:r>
            <a:r>
              <a:rPr lang="en-US" altLang="zh-CN" smtClean="0"/>
              <a:t>IP</a:t>
            </a:r>
            <a:r>
              <a:rPr lang="zh-CN" altLang="en-US" smtClean="0"/>
              <a:t>地址为</a:t>
            </a:r>
            <a:r>
              <a:rPr lang="en-US" altLang="zh-CN" smtClean="0"/>
              <a:t>IP-S</a:t>
            </a:r>
            <a:r>
              <a:rPr lang="zh-CN" altLang="en-US" smtClean="0"/>
              <a:t>，源</a:t>
            </a:r>
            <a:r>
              <a:rPr lang="en-US" altLang="zh-CN" smtClean="0"/>
              <a:t>IP</a:t>
            </a:r>
            <a:r>
              <a:rPr lang="zh-CN" altLang="en-US" smtClean="0"/>
              <a:t>地址为</a:t>
            </a:r>
            <a:r>
              <a:rPr lang="en-US" altLang="zh-CN" smtClean="0"/>
              <a:t>IP1</a:t>
            </a:r>
            <a:r>
              <a:rPr lang="zh-CN" altLang="en-US" smtClean="0"/>
              <a:t>，而封装这个</a:t>
            </a:r>
            <a:r>
              <a:rPr lang="en-US" altLang="zh-CN" smtClean="0"/>
              <a:t>IP</a:t>
            </a:r>
            <a:r>
              <a:rPr lang="zh-CN" altLang="en-US" smtClean="0"/>
              <a:t>报文的帧的目的</a:t>
            </a:r>
            <a:r>
              <a:rPr lang="en-US" altLang="zh-CN" smtClean="0"/>
              <a:t>MAC</a:t>
            </a:r>
            <a:r>
              <a:rPr lang="zh-CN" altLang="en-US" smtClean="0"/>
              <a:t>地址为</a:t>
            </a:r>
            <a:r>
              <a:rPr lang="en-US" altLang="zh-CN" smtClean="0"/>
              <a:t>MAC2</a:t>
            </a:r>
            <a:r>
              <a:rPr lang="zh-CN" altLang="en-US" smtClean="0"/>
              <a:t>，源</a:t>
            </a:r>
            <a:r>
              <a:rPr lang="en-US" altLang="zh-CN" smtClean="0"/>
              <a:t>MAC</a:t>
            </a:r>
            <a:r>
              <a:rPr lang="zh-CN" altLang="en-US" smtClean="0"/>
              <a:t>地址为</a:t>
            </a:r>
            <a:r>
              <a:rPr lang="en-US" altLang="zh-CN" smtClean="0"/>
              <a:t>MAC1</a:t>
            </a:r>
            <a:r>
              <a:rPr lang="zh-CN" altLang="en-US" smtClean="0"/>
              <a:t>，所以这个帧会首先到达攻击者</a:t>
            </a:r>
            <a:r>
              <a:rPr lang="en-US" altLang="zh-CN" smtClean="0"/>
              <a:t>PC2</a:t>
            </a:r>
            <a:r>
              <a:rPr lang="zh-CN" altLang="en-US" smtClean="0"/>
              <a:t>。攻击者收到这个帧后，将这个帧的目的</a:t>
            </a:r>
            <a:r>
              <a:rPr lang="en-US" altLang="zh-CN" smtClean="0"/>
              <a:t>MAC</a:t>
            </a:r>
            <a:r>
              <a:rPr lang="zh-CN" altLang="en-US" smtClean="0"/>
              <a:t>地址更换为</a:t>
            </a:r>
            <a:r>
              <a:rPr lang="en-US" altLang="zh-CN" smtClean="0"/>
              <a:t>MAC-S</a:t>
            </a:r>
            <a:r>
              <a:rPr lang="zh-CN" altLang="en-US" smtClean="0"/>
              <a:t>，源</a:t>
            </a:r>
            <a:r>
              <a:rPr lang="en-US" altLang="zh-CN" smtClean="0"/>
              <a:t>MAC</a:t>
            </a:r>
            <a:r>
              <a:rPr lang="zh-CN" altLang="en-US" smtClean="0"/>
              <a:t>地址更换为</a:t>
            </a:r>
            <a:r>
              <a:rPr lang="en-US" altLang="zh-CN" smtClean="0"/>
              <a:t>MAC2</a:t>
            </a:r>
            <a:r>
              <a:rPr lang="zh-CN" altLang="en-US" smtClean="0"/>
              <a:t>，然后将这个帧发往</a:t>
            </a:r>
            <a:r>
              <a:rPr lang="en-US" altLang="zh-CN" smtClean="0"/>
              <a:t>Server</a:t>
            </a:r>
            <a:r>
              <a:rPr lang="zh-CN" altLang="en-US" smtClean="0"/>
              <a:t>。如此“偷梁换柱”，</a:t>
            </a:r>
            <a:r>
              <a:rPr lang="en-US" altLang="zh-CN" smtClean="0"/>
              <a:t>Server</a:t>
            </a:r>
            <a:r>
              <a:rPr lang="zh-CN" altLang="en-US" smtClean="0"/>
              <a:t>是看不出任何破绽的。另一方面，当</a:t>
            </a:r>
            <a:r>
              <a:rPr lang="en-US" altLang="zh-CN" smtClean="0"/>
              <a:t>DHCP Server</a:t>
            </a:r>
            <a:r>
              <a:rPr lang="zh-CN" altLang="en-US" smtClean="0"/>
              <a:t>向</a:t>
            </a:r>
            <a:r>
              <a:rPr lang="en-US" altLang="zh-CN" smtClean="0"/>
              <a:t>PC1</a:t>
            </a:r>
            <a:r>
              <a:rPr lang="zh-CN" altLang="en-US" smtClean="0"/>
              <a:t>发送</a:t>
            </a:r>
            <a:r>
              <a:rPr lang="en-US" altLang="zh-CN" smtClean="0"/>
              <a:t>IP</a:t>
            </a:r>
            <a:r>
              <a:rPr lang="zh-CN" altLang="en-US" smtClean="0"/>
              <a:t>报文时，目的</a:t>
            </a:r>
            <a:r>
              <a:rPr lang="en-US" altLang="zh-CN" smtClean="0"/>
              <a:t>IP</a:t>
            </a:r>
            <a:r>
              <a:rPr lang="zh-CN" altLang="en-US" smtClean="0"/>
              <a:t>地址为</a:t>
            </a:r>
            <a:r>
              <a:rPr lang="en-US" altLang="zh-CN" smtClean="0"/>
              <a:t>IP1</a:t>
            </a:r>
            <a:r>
              <a:rPr lang="zh-CN" altLang="en-US" smtClean="0"/>
              <a:t>，源</a:t>
            </a:r>
            <a:r>
              <a:rPr lang="en-US" altLang="zh-CN" smtClean="0"/>
              <a:t>IP</a:t>
            </a:r>
            <a:r>
              <a:rPr lang="zh-CN" altLang="en-US" smtClean="0"/>
              <a:t>地址为</a:t>
            </a:r>
            <a:r>
              <a:rPr lang="en-US" altLang="zh-CN" smtClean="0"/>
              <a:t>IP-S</a:t>
            </a:r>
            <a:r>
              <a:rPr lang="zh-CN" altLang="en-US" smtClean="0"/>
              <a:t>，而封装这个</a:t>
            </a:r>
            <a:r>
              <a:rPr lang="en-US" altLang="zh-CN" smtClean="0"/>
              <a:t>IP</a:t>
            </a:r>
            <a:r>
              <a:rPr lang="zh-CN" altLang="en-US" smtClean="0"/>
              <a:t>报文的帧的目的</a:t>
            </a:r>
            <a:r>
              <a:rPr lang="en-US" altLang="zh-CN" smtClean="0"/>
              <a:t>MAC</a:t>
            </a:r>
            <a:r>
              <a:rPr lang="zh-CN" altLang="en-US" smtClean="0"/>
              <a:t>地址为</a:t>
            </a:r>
            <a:r>
              <a:rPr lang="en-US" altLang="zh-CN" smtClean="0"/>
              <a:t>MAC2</a:t>
            </a:r>
            <a:r>
              <a:rPr lang="zh-CN" altLang="en-US" smtClean="0"/>
              <a:t>，源</a:t>
            </a:r>
            <a:r>
              <a:rPr lang="en-US" altLang="zh-CN" smtClean="0"/>
              <a:t>MAC</a:t>
            </a:r>
            <a:r>
              <a:rPr lang="zh-CN" altLang="en-US" smtClean="0"/>
              <a:t>地址为</a:t>
            </a:r>
            <a:r>
              <a:rPr lang="en-US" altLang="zh-CN" smtClean="0"/>
              <a:t>MAC-S</a:t>
            </a:r>
            <a:r>
              <a:rPr lang="zh-CN" altLang="en-US" smtClean="0"/>
              <a:t>，所以这个帧也会首先到达攻击者</a:t>
            </a:r>
            <a:r>
              <a:rPr lang="en-US" altLang="zh-CN" smtClean="0"/>
              <a:t>PC2</a:t>
            </a:r>
            <a:r>
              <a:rPr lang="zh-CN" altLang="en-US" smtClean="0"/>
              <a:t>。攻击者收到这个帧后，将这个帧的目的</a:t>
            </a:r>
            <a:r>
              <a:rPr lang="en-US" altLang="zh-CN" smtClean="0"/>
              <a:t>MAC</a:t>
            </a:r>
            <a:r>
              <a:rPr lang="zh-CN" altLang="en-US" smtClean="0"/>
              <a:t>地址更换为</a:t>
            </a:r>
            <a:r>
              <a:rPr lang="en-US" altLang="zh-CN" smtClean="0"/>
              <a:t>MAC1</a:t>
            </a:r>
            <a:r>
              <a:rPr lang="zh-CN" altLang="en-US" smtClean="0"/>
              <a:t>，源</a:t>
            </a:r>
            <a:r>
              <a:rPr lang="en-US" altLang="zh-CN" smtClean="0"/>
              <a:t>MAC</a:t>
            </a:r>
            <a:r>
              <a:rPr lang="zh-CN" altLang="en-US" smtClean="0"/>
              <a:t>地址更换为</a:t>
            </a:r>
            <a:r>
              <a:rPr lang="en-US" altLang="zh-CN" smtClean="0"/>
              <a:t>MAC2</a:t>
            </a:r>
            <a:r>
              <a:rPr lang="zh-CN" altLang="en-US" smtClean="0"/>
              <a:t>，然后将这个帧发往</a:t>
            </a:r>
            <a:r>
              <a:rPr lang="en-US" altLang="zh-CN" smtClean="0"/>
              <a:t>PC1</a:t>
            </a:r>
            <a:r>
              <a:rPr lang="zh-CN" altLang="en-US" smtClean="0"/>
              <a:t>。同样，</a:t>
            </a:r>
            <a:r>
              <a:rPr lang="en-US" altLang="zh-CN" smtClean="0"/>
              <a:t>PC1</a:t>
            </a:r>
            <a:r>
              <a:rPr lang="zh-CN" altLang="en-US" smtClean="0"/>
              <a:t>也是看不出任何破绽的。</a:t>
            </a:r>
          </a:p>
          <a:p>
            <a:r>
              <a:rPr lang="zh-CN" altLang="en-US" smtClean="0"/>
              <a:t>由于往来于</a:t>
            </a:r>
            <a:r>
              <a:rPr lang="en-US" altLang="zh-CN" smtClean="0"/>
              <a:t>PC1</a:t>
            </a:r>
            <a:r>
              <a:rPr lang="zh-CN" altLang="en-US" smtClean="0"/>
              <a:t>与</a:t>
            </a:r>
            <a:r>
              <a:rPr lang="en-US" altLang="zh-CN" smtClean="0"/>
              <a:t>DHCP Server</a:t>
            </a:r>
            <a:r>
              <a:rPr lang="zh-CN" altLang="en-US" smtClean="0"/>
              <a:t>之间的</a:t>
            </a:r>
            <a:r>
              <a:rPr lang="en-US" altLang="zh-CN" smtClean="0"/>
              <a:t>IP</a:t>
            </a:r>
            <a:r>
              <a:rPr lang="zh-CN" altLang="en-US" smtClean="0"/>
              <a:t>报文都会经过攻击者（中间人）进行中转，攻击者便很容易窃取这些</a:t>
            </a:r>
            <a:r>
              <a:rPr lang="en-US" altLang="zh-CN" smtClean="0"/>
              <a:t>IP</a:t>
            </a:r>
            <a:r>
              <a:rPr lang="zh-CN" altLang="en-US" smtClean="0"/>
              <a:t>报文中的某些信息，并利用这些信息来进行其他的破坏行为。攻击者也可以很容易对往来于</a:t>
            </a:r>
            <a:r>
              <a:rPr lang="en-US" altLang="zh-CN" smtClean="0"/>
              <a:t>PC1</a:t>
            </a:r>
            <a:r>
              <a:rPr lang="zh-CN" altLang="en-US" smtClean="0"/>
              <a:t>与</a:t>
            </a:r>
            <a:r>
              <a:rPr lang="en-US" altLang="zh-CN" smtClean="0"/>
              <a:t>DHCP Server</a:t>
            </a:r>
            <a:r>
              <a:rPr lang="zh-CN" altLang="en-US" smtClean="0"/>
              <a:t>之间的</a:t>
            </a:r>
            <a:r>
              <a:rPr lang="en-US" altLang="zh-CN" smtClean="0"/>
              <a:t>DHCP</a:t>
            </a:r>
            <a:r>
              <a:rPr lang="zh-CN" altLang="en-US" smtClean="0"/>
              <a:t>消息（这些消息是封装在</a:t>
            </a:r>
            <a:r>
              <a:rPr lang="en-US" altLang="zh-CN" smtClean="0"/>
              <a:t>UDP</a:t>
            </a:r>
            <a:r>
              <a:rPr lang="zh-CN" altLang="en-US" smtClean="0"/>
              <a:t>报文中的，而</a:t>
            </a:r>
            <a:r>
              <a:rPr lang="en-US" altLang="zh-CN" smtClean="0"/>
              <a:t>UDP</a:t>
            </a:r>
            <a:r>
              <a:rPr lang="zh-CN" altLang="en-US" smtClean="0"/>
              <a:t>报文又是封装在</a:t>
            </a:r>
            <a:r>
              <a:rPr lang="en-US" altLang="zh-CN" smtClean="0"/>
              <a:t>IP</a:t>
            </a:r>
            <a:r>
              <a:rPr lang="zh-CN" altLang="en-US" smtClean="0"/>
              <a:t>报文中的）进行篡改，达到直接攻击</a:t>
            </a:r>
            <a:r>
              <a:rPr lang="en-US" altLang="zh-CN" smtClean="0"/>
              <a:t>DHCP</a:t>
            </a:r>
            <a:r>
              <a:rPr lang="zh-CN" altLang="en-US" smtClean="0"/>
              <a:t>的目的。</a:t>
            </a:r>
            <a:endParaRPr lang="zh-CN" altLang="en-US" dirty="0" smtClean="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7659010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dirty="0" smtClean="0"/>
              <a:t>DHCP</a:t>
            </a:r>
            <a:r>
              <a:rPr lang="zh-CN" altLang="en-US" dirty="0" smtClean="0"/>
              <a:t>中间人攻击本质上是一种</a:t>
            </a:r>
            <a:r>
              <a:rPr lang="en-US" altLang="zh-CN" dirty="0" smtClean="0"/>
              <a:t>Spoofing IP/MAC</a:t>
            </a:r>
            <a:r>
              <a:rPr lang="zh-CN" altLang="en-US" dirty="0" smtClean="0"/>
              <a:t>攻击。要想防止</a:t>
            </a:r>
            <a:r>
              <a:rPr lang="en-US" altLang="zh-CN" dirty="0" smtClean="0"/>
              <a:t>DHCP</a:t>
            </a:r>
            <a:r>
              <a:rPr lang="zh-CN" altLang="en-US" dirty="0" smtClean="0"/>
              <a:t>中间人攻击，其实就是要防止</a:t>
            </a:r>
            <a:r>
              <a:rPr lang="en-US" altLang="zh-CN" dirty="0" smtClean="0"/>
              <a:t>Spoofing IP/MAC</a:t>
            </a:r>
            <a:r>
              <a:rPr lang="zh-CN" altLang="en-US" dirty="0" smtClean="0"/>
              <a:t>攻击。</a:t>
            </a:r>
          </a:p>
          <a:p>
            <a:r>
              <a:rPr lang="zh-CN" altLang="en-US" dirty="0" smtClean="0"/>
              <a:t>运行了</a:t>
            </a:r>
            <a:r>
              <a:rPr lang="en-US" altLang="zh-CN" dirty="0" smtClean="0"/>
              <a:t>DHCP Snooping</a:t>
            </a:r>
            <a:r>
              <a:rPr lang="zh-CN" altLang="en-US" dirty="0" smtClean="0"/>
              <a:t>的交换机会“侦听（</a:t>
            </a:r>
            <a:r>
              <a:rPr lang="en-US" altLang="zh-CN" dirty="0" smtClean="0"/>
              <a:t>Snooping</a:t>
            </a:r>
            <a:r>
              <a:rPr lang="zh-CN" altLang="en-US" dirty="0" smtClean="0"/>
              <a:t>）”往来于用户与</a:t>
            </a:r>
            <a:r>
              <a:rPr lang="en-US" altLang="zh-CN" dirty="0" smtClean="0"/>
              <a:t>DHCP Server</a:t>
            </a:r>
            <a:r>
              <a:rPr lang="zh-CN" altLang="en-US" dirty="0" smtClean="0"/>
              <a:t>之间的</a:t>
            </a:r>
            <a:r>
              <a:rPr lang="en-US" altLang="zh-CN" dirty="0" smtClean="0"/>
              <a:t>DHCP</a:t>
            </a:r>
            <a:r>
              <a:rPr lang="zh-CN" altLang="en-US" dirty="0" smtClean="0"/>
              <a:t>消息，并从中收集用户的</a:t>
            </a:r>
            <a:r>
              <a:rPr lang="en-US" altLang="zh-CN" dirty="0" smtClean="0"/>
              <a:t>MAC</a:t>
            </a:r>
            <a:r>
              <a:rPr lang="zh-CN" altLang="en-US" dirty="0" smtClean="0"/>
              <a:t>地址（这里的</a:t>
            </a:r>
            <a:r>
              <a:rPr lang="en-US" altLang="zh-CN" dirty="0" smtClean="0"/>
              <a:t>MAC</a:t>
            </a:r>
            <a:r>
              <a:rPr lang="zh-CN" altLang="en-US" dirty="0" smtClean="0"/>
              <a:t>地址是指</a:t>
            </a:r>
            <a:r>
              <a:rPr lang="en-US" altLang="zh-CN" dirty="0" smtClean="0"/>
              <a:t>DHCP</a:t>
            </a:r>
            <a:r>
              <a:rPr lang="zh-CN" altLang="en-US" dirty="0" smtClean="0"/>
              <a:t>消息中</a:t>
            </a:r>
            <a:r>
              <a:rPr lang="en-US" altLang="zh-CN" dirty="0" smtClean="0"/>
              <a:t>CHADDR</a:t>
            </a:r>
            <a:r>
              <a:rPr lang="zh-CN" altLang="en-US" dirty="0" smtClean="0"/>
              <a:t>字段的值）、用户的</a:t>
            </a:r>
            <a:r>
              <a:rPr lang="en-US" altLang="zh-CN" dirty="0" smtClean="0"/>
              <a:t>IP</a:t>
            </a:r>
            <a:r>
              <a:rPr lang="zh-CN" altLang="en-US" dirty="0" smtClean="0"/>
              <a:t>地址（这里的</a:t>
            </a:r>
            <a:r>
              <a:rPr lang="en-US" altLang="zh-CN" dirty="0" smtClean="0"/>
              <a:t>IP</a:t>
            </a:r>
            <a:r>
              <a:rPr lang="zh-CN" altLang="en-US" dirty="0" smtClean="0"/>
              <a:t>地址是指</a:t>
            </a:r>
            <a:r>
              <a:rPr lang="en-US" altLang="zh-CN" dirty="0" smtClean="0"/>
              <a:t>DHCP Server</a:t>
            </a:r>
            <a:r>
              <a:rPr lang="zh-CN" altLang="en-US" dirty="0" smtClean="0"/>
              <a:t>分配给相应</a:t>
            </a:r>
            <a:r>
              <a:rPr lang="en-US" altLang="zh-CN" dirty="0" smtClean="0"/>
              <a:t>CHADDR</a:t>
            </a:r>
            <a:r>
              <a:rPr lang="zh-CN" altLang="en-US" dirty="0" smtClean="0"/>
              <a:t>的</a:t>
            </a:r>
            <a:r>
              <a:rPr lang="en-US" altLang="zh-CN" dirty="0" smtClean="0"/>
              <a:t>IP</a:t>
            </a:r>
            <a:r>
              <a:rPr lang="zh-CN" altLang="en-US" dirty="0" smtClean="0"/>
              <a:t>地址）等信息，这些信息会集中存放在一个数据库中，该数据库也被称为</a:t>
            </a:r>
            <a:r>
              <a:rPr lang="en-US" altLang="zh-CN" dirty="0" smtClean="0"/>
              <a:t>DHCP Snooping</a:t>
            </a:r>
            <a:r>
              <a:rPr lang="zh-CN" altLang="en-US" dirty="0" smtClean="0"/>
              <a:t>绑定表。运行了</a:t>
            </a:r>
            <a:r>
              <a:rPr lang="en-US" altLang="zh-CN" dirty="0" smtClean="0"/>
              <a:t>DHCP Snooping</a:t>
            </a:r>
            <a:r>
              <a:rPr lang="zh-CN" altLang="en-US" dirty="0" smtClean="0"/>
              <a:t>的交换机会建立并动态维护</a:t>
            </a:r>
            <a:r>
              <a:rPr lang="en-US" altLang="zh-CN" dirty="0" smtClean="0"/>
              <a:t>DHCP Snooping</a:t>
            </a:r>
            <a:r>
              <a:rPr lang="zh-CN" altLang="en-US" dirty="0" smtClean="0"/>
              <a:t>绑定表，绑定表中除了包含了用户的</a:t>
            </a:r>
            <a:r>
              <a:rPr lang="en-US" altLang="zh-CN" dirty="0" smtClean="0"/>
              <a:t>MAC</a:t>
            </a:r>
            <a:r>
              <a:rPr lang="zh-CN" altLang="en-US" dirty="0" smtClean="0"/>
              <a:t>地址、用户的</a:t>
            </a:r>
            <a:r>
              <a:rPr lang="en-US" altLang="zh-CN" dirty="0" smtClean="0"/>
              <a:t>IP</a:t>
            </a:r>
            <a:r>
              <a:rPr lang="zh-CN" altLang="en-US" dirty="0" smtClean="0"/>
              <a:t>地址外，还包括</a:t>
            </a:r>
            <a:r>
              <a:rPr lang="en-US" altLang="zh-CN" dirty="0" smtClean="0"/>
              <a:t>IP</a:t>
            </a:r>
            <a:r>
              <a:rPr lang="zh-CN" altLang="en-US" dirty="0" smtClean="0"/>
              <a:t>地址租用期、</a:t>
            </a:r>
            <a:r>
              <a:rPr lang="en-US" altLang="zh-CN" dirty="0" smtClean="0"/>
              <a:t>VLAN ID</a:t>
            </a:r>
            <a:r>
              <a:rPr lang="zh-CN" altLang="en-US" dirty="0" smtClean="0"/>
              <a:t>等等信息。</a:t>
            </a:r>
          </a:p>
          <a:p>
            <a:r>
              <a:rPr lang="zh-CN" altLang="en-US" dirty="0" smtClean="0"/>
              <a:t>如图所示，假设</a:t>
            </a:r>
            <a:r>
              <a:rPr lang="en-US" altLang="zh-CN" dirty="0" smtClean="0"/>
              <a:t>DHCP Server</a:t>
            </a:r>
            <a:r>
              <a:rPr lang="zh-CN" altLang="en-US" dirty="0" smtClean="0"/>
              <a:t>给</a:t>
            </a:r>
            <a:r>
              <a:rPr lang="en-US" altLang="zh-CN" dirty="0" smtClean="0"/>
              <a:t>PC1</a:t>
            </a:r>
            <a:r>
              <a:rPr lang="zh-CN" altLang="en-US" dirty="0" smtClean="0"/>
              <a:t>分配了</a:t>
            </a:r>
            <a:r>
              <a:rPr lang="en-US" altLang="zh-CN" dirty="0" smtClean="0"/>
              <a:t>IP</a:t>
            </a:r>
            <a:r>
              <a:rPr lang="zh-CN" altLang="en-US" dirty="0" smtClean="0"/>
              <a:t>地址</a:t>
            </a:r>
            <a:r>
              <a:rPr lang="en-US" altLang="zh-CN" dirty="0" smtClean="0"/>
              <a:t>IP1</a:t>
            </a:r>
            <a:r>
              <a:rPr lang="zh-CN" altLang="en-US" dirty="0" smtClean="0"/>
              <a:t>，给</a:t>
            </a:r>
            <a:r>
              <a:rPr lang="en-US" altLang="zh-CN" dirty="0" smtClean="0"/>
              <a:t>PC2</a:t>
            </a:r>
            <a:r>
              <a:rPr lang="zh-CN" altLang="en-US" dirty="0" smtClean="0"/>
              <a:t>分配了</a:t>
            </a:r>
            <a:r>
              <a:rPr lang="en-US" altLang="zh-CN" dirty="0" smtClean="0"/>
              <a:t>IP</a:t>
            </a:r>
            <a:r>
              <a:rPr lang="zh-CN" altLang="en-US" dirty="0" smtClean="0"/>
              <a:t>地址</a:t>
            </a:r>
            <a:r>
              <a:rPr lang="en-US" altLang="zh-CN" dirty="0" smtClean="0"/>
              <a:t>IP2</a:t>
            </a:r>
            <a:r>
              <a:rPr lang="zh-CN" altLang="en-US" dirty="0" smtClean="0"/>
              <a:t>，那么</a:t>
            </a:r>
            <a:r>
              <a:rPr lang="en-US" altLang="zh-CN" dirty="0" smtClean="0"/>
              <a:t>IP1</a:t>
            </a:r>
            <a:r>
              <a:rPr lang="zh-CN" altLang="en-US" dirty="0" smtClean="0"/>
              <a:t>与</a:t>
            </a:r>
            <a:r>
              <a:rPr lang="en-US" altLang="zh-CN" dirty="0" smtClean="0"/>
              <a:t>MAC1</a:t>
            </a:r>
            <a:r>
              <a:rPr lang="zh-CN" altLang="en-US" dirty="0" smtClean="0"/>
              <a:t>就形成了绑定关系，</a:t>
            </a:r>
            <a:r>
              <a:rPr lang="en-US" altLang="zh-CN" dirty="0" smtClean="0"/>
              <a:t>IP2</a:t>
            </a:r>
            <a:r>
              <a:rPr lang="zh-CN" altLang="en-US" dirty="0" smtClean="0"/>
              <a:t>与</a:t>
            </a:r>
            <a:r>
              <a:rPr lang="en-US" altLang="zh-CN" dirty="0" smtClean="0"/>
              <a:t>MAC2</a:t>
            </a:r>
            <a:r>
              <a:rPr lang="zh-CN" altLang="en-US" dirty="0" smtClean="0"/>
              <a:t>也形成了绑定关系，这种绑定关系都存放于</a:t>
            </a:r>
            <a:r>
              <a:rPr lang="en-US" altLang="zh-CN" dirty="0" smtClean="0"/>
              <a:t>DHCP Snooping</a:t>
            </a:r>
            <a:r>
              <a:rPr lang="zh-CN" altLang="en-US" dirty="0" smtClean="0"/>
              <a:t>绑定表中。攻击者为了让</a:t>
            </a:r>
            <a:r>
              <a:rPr lang="en-US" altLang="zh-CN" dirty="0" smtClean="0"/>
              <a:t>Server</a:t>
            </a:r>
            <a:r>
              <a:rPr lang="zh-CN" altLang="en-US" dirty="0" smtClean="0"/>
              <a:t>学习到</a:t>
            </a:r>
            <a:r>
              <a:rPr lang="en-US" altLang="zh-CN" dirty="0" smtClean="0"/>
              <a:t>IP1</a:t>
            </a:r>
            <a:r>
              <a:rPr lang="zh-CN" altLang="en-US" dirty="0" smtClean="0"/>
              <a:t>与</a:t>
            </a:r>
            <a:r>
              <a:rPr lang="en-US" altLang="zh-CN" dirty="0" smtClean="0"/>
              <a:t>MAC2</a:t>
            </a:r>
            <a:r>
              <a:rPr lang="zh-CN" altLang="en-US" dirty="0" smtClean="0"/>
              <a:t>的映射关系，会发送</a:t>
            </a:r>
            <a:r>
              <a:rPr lang="en-US" altLang="zh-CN" dirty="0" smtClean="0"/>
              <a:t>ARP</a:t>
            </a:r>
            <a:r>
              <a:rPr lang="zh-CN" altLang="en-US" dirty="0" smtClean="0"/>
              <a:t>请求报文（将</a:t>
            </a:r>
            <a:r>
              <a:rPr lang="en-US" altLang="zh-CN" dirty="0" smtClean="0"/>
              <a:t>ARP</a:t>
            </a:r>
            <a:r>
              <a:rPr lang="zh-CN" altLang="en-US" dirty="0" smtClean="0"/>
              <a:t>报文中的源</a:t>
            </a:r>
            <a:r>
              <a:rPr lang="en-US" altLang="zh-CN" dirty="0" smtClean="0"/>
              <a:t>IP</a:t>
            </a:r>
            <a:r>
              <a:rPr lang="zh-CN" altLang="en-US" dirty="0" smtClean="0"/>
              <a:t>地址填为</a:t>
            </a:r>
            <a:r>
              <a:rPr lang="en-US" altLang="zh-CN" dirty="0" smtClean="0"/>
              <a:t>IP1</a:t>
            </a:r>
            <a:r>
              <a:rPr lang="zh-CN" altLang="en-US" dirty="0" smtClean="0"/>
              <a:t>，源</a:t>
            </a:r>
            <a:r>
              <a:rPr lang="en-US" altLang="zh-CN" dirty="0" smtClean="0"/>
              <a:t>MAC</a:t>
            </a:r>
            <a:r>
              <a:rPr lang="zh-CN" altLang="en-US" dirty="0" smtClean="0"/>
              <a:t>地址填为</a:t>
            </a:r>
            <a:r>
              <a:rPr lang="en-US" altLang="zh-CN" dirty="0" smtClean="0"/>
              <a:t>MAC2</a:t>
            </a:r>
            <a:r>
              <a:rPr lang="zh-CN" altLang="en-US" dirty="0" smtClean="0"/>
              <a:t>）。交换机接收到</a:t>
            </a:r>
            <a:r>
              <a:rPr lang="en-US" altLang="zh-CN" dirty="0" smtClean="0"/>
              <a:t>ARP</a:t>
            </a:r>
            <a:r>
              <a:rPr lang="zh-CN" altLang="en-US" dirty="0" smtClean="0"/>
              <a:t>请求报文后，会检查该</a:t>
            </a:r>
            <a:r>
              <a:rPr lang="en-US" altLang="zh-CN" dirty="0" smtClean="0"/>
              <a:t>ARP</a:t>
            </a:r>
            <a:r>
              <a:rPr lang="zh-CN" altLang="en-US" dirty="0" smtClean="0"/>
              <a:t>请求报文中的源</a:t>
            </a:r>
            <a:r>
              <a:rPr lang="en-US" altLang="zh-CN" dirty="0" smtClean="0"/>
              <a:t>IP</a:t>
            </a:r>
            <a:r>
              <a:rPr lang="zh-CN" altLang="en-US" dirty="0" smtClean="0"/>
              <a:t>地址和源</a:t>
            </a:r>
            <a:r>
              <a:rPr lang="en-US" altLang="zh-CN" dirty="0" smtClean="0"/>
              <a:t>MAC</a:t>
            </a:r>
            <a:r>
              <a:rPr lang="zh-CN" altLang="en-US" dirty="0" smtClean="0"/>
              <a:t>地址，发现该</a:t>
            </a:r>
            <a:r>
              <a:rPr lang="en-US" altLang="zh-CN" dirty="0" smtClean="0"/>
              <a:t>IP/MAC</a:t>
            </a:r>
            <a:r>
              <a:rPr lang="zh-CN" altLang="en-US" dirty="0" smtClean="0"/>
              <a:t>（</a:t>
            </a:r>
            <a:r>
              <a:rPr lang="en-US" altLang="zh-CN" dirty="0" smtClean="0"/>
              <a:t>IP1/MAC2</a:t>
            </a:r>
            <a:r>
              <a:rPr lang="zh-CN" altLang="en-US" dirty="0" smtClean="0"/>
              <a:t>）映射关系不能匹配</a:t>
            </a:r>
            <a:r>
              <a:rPr lang="en-US" altLang="zh-CN" dirty="0" smtClean="0"/>
              <a:t>DHCP Snooping</a:t>
            </a:r>
            <a:r>
              <a:rPr lang="zh-CN" altLang="en-US" dirty="0" smtClean="0"/>
              <a:t>绑定表中的条目，于是会丢弃该</a:t>
            </a:r>
            <a:r>
              <a:rPr lang="en-US" altLang="zh-CN" dirty="0" smtClean="0"/>
              <a:t>ARP</a:t>
            </a:r>
            <a:r>
              <a:rPr lang="zh-CN" altLang="en-US" dirty="0" smtClean="0"/>
              <a:t>请求报文，这样就有效地防止了</a:t>
            </a:r>
            <a:r>
              <a:rPr lang="en-US" altLang="zh-CN" dirty="0" smtClean="0"/>
              <a:t>Spoofing IP/MAC</a:t>
            </a:r>
            <a:r>
              <a:rPr lang="zh-CN" altLang="en-US" dirty="0" smtClean="0"/>
              <a:t>攻击。</a:t>
            </a:r>
          </a:p>
          <a:p>
            <a:r>
              <a:rPr lang="zh-CN" altLang="en-US" dirty="0" smtClean="0"/>
              <a:t>如果需要使用上面所描述的防止</a:t>
            </a:r>
            <a:r>
              <a:rPr lang="en-US" altLang="zh-CN" dirty="0" smtClean="0"/>
              <a:t>Spoofing IP/MAC</a:t>
            </a:r>
            <a:r>
              <a:rPr lang="zh-CN" altLang="en-US" dirty="0" smtClean="0"/>
              <a:t>攻击（进而防止中间人）的方法，就必须在交换机的系统视图下执行配置命令</a:t>
            </a:r>
            <a:r>
              <a:rPr lang="en-US" altLang="zh-CN" b="1" dirty="0" err="1" smtClean="0"/>
              <a:t>arp</a:t>
            </a:r>
            <a:r>
              <a:rPr lang="en-US" altLang="zh-CN" b="1" dirty="0" smtClean="0"/>
              <a:t> </a:t>
            </a:r>
            <a:r>
              <a:rPr lang="en-US" altLang="zh-CN" b="1" dirty="0" err="1" smtClean="0"/>
              <a:t>dhcp</a:t>
            </a:r>
            <a:r>
              <a:rPr lang="en-US" altLang="zh-CN" b="1" dirty="0" smtClean="0"/>
              <a:t>-snooping-detect enable</a:t>
            </a:r>
            <a:r>
              <a:rPr lang="zh-CN" altLang="en-US" dirty="0" smtClean="0"/>
              <a:t>。</a:t>
            </a:r>
          </a:p>
          <a:p>
            <a:endParaRPr lang="zh-CN" altLang="en-US" dirty="0" smtClean="0"/>
          </a:p>
          <a:p>
            <a:endParaRPr lang="zh-CN" altLang="en-US" dirty="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32941027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16966815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8856348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3656786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68296993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67536485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非法主机伪造合法主机的</a:t>
            </a:r>
            <a:r>
              <a:rPr lang="en-US" altLang="zh-CN" smtClean="0"/>
              <a:t>IP</a:t>
            </a:r>
            <a:r>
              <a:rPr lang="zh-CN" altLang="en-US" smtClean="0"/>
              <a:t>地址获取上网权限时，通过在</a:t>
            </a:r>
            <a:r>
              <a:rPr lang="en-US" altLang="zh-CN" smtClean="0"/>
              <a:t>Switch</a:t>
            </a:r>
            <a:r>
              <a:rPr lang="zh-CN" altLang="en-US" smtClean="0"/>
              <a:t>的接入用户侧的接口或</a:t>
            </a:r>
            <a:r>
              <a:rPr lang="en-US" altLang="zh-CN" smtClean="0"/>
              <a:t>VLAN</a:t>
            </a:r>
            <a:r>
              <a:rPr lang="zh-CN" altLang="en-US" smtClean="0"/>
              <a:t>上部署</a:t>
            </a:r>
            <a:r>
              <a:rPr lang="en-US" altLang="zh-CN" smtClean="0"/>
              <a:t>IPSG</a:t>
            </a:r>
            <a:r>
              <a:rPr lang="zh-CN" altLang="en-US" smtClean="0"/>
              <a:t>功能，</a:t>
            </a:r>
            <a:r>
              <a:rPr lang="en-US" altLang="zh-CN" smtClean="0"/>
              <a:t>Switch</a:t>
            </a:r>
            <a:r>
              <a:rPr lang="zh-CN" altLang="en-US" smtClean="0"/>
              <a:t>可以对进入接口的</a:t>
            </a:r>
            <a:r>
              <a:rPr lang="en-US" altLang="zh-CN" smtClean="0"/>
              <a:t>IP</a:t>
            </a:r>
            <a:r>
              <a:rPr lang="zh-CN" altLang="en-US" smtClean="0"/>
              <a:t>报文进行检查，丢弃非法主机的报文，从而阻止此类攻击。</a:t>
            </a:r>
            <a:endParaRPr lang="en-US" altLang="zh-CN" smtClean="0"/>
          </a:p>
          <a:p>
            <a:r>
              <a:rPr lang="en-US" altLang="zh-CN" smtClean="0"/>
              <a:t>IPSG</a:t>
            </a:r>
            <a:r>
              <a:rPr lang="zh-CN" altLang="en-US" smtClean="0"/>
              <a:t>一般应用在与用户直连的接入设备上，可以基于接口或者基于</a:t>
            </a:r>
            <a:r>
              <a:rPr lang="en-US" altLang="zh-CN" smtClean="0"/>
              <a:t>VLAN</a:t>
            </a:r>
            <a:r>
              <a:rPr lang="zh-CN" altLang="en-US" smtClean="0"/>
              <a:t>应用。</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0142185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绑定表生成后，</a:t>
            </a:r>
            <a:r>
              <a:rPr lang="en-US" altLang="zh-CN" dirty="0" smtClean="0"/>
              <a:t>IPSG</a:t>
            </a:r>
            <a:r>
              <a:rPr lang="zh-CN" altLang="en-US" dirty="0" smtClean="0"/>
              <a:t>基于绑定表向指定的接口或者指定的</a:t>
            </a:r>
            <a:r>
              <a:rPr lang="en-US" altLang="zh-CN" dirty="0" smtClean="0"/>
              <a:t>VLAN</a:t>
            </a:r>
            <a:r>
              <a:rPr lang="zh-CN" altLang="en-US" dirty="0" smtClean="0"/>
              <a:t>下发</a:t>
            </a:r>
            <a:r>
              <a:rPr lang="en-US" altLang="zh-CN" dirty="0" smtClean="0"/>
              <a:t>ACL</a:t>
            </a:r>
            <a:r>
              <a:rPr lang="zh-CN" altLang="en-US" dirty="0" smtClean="0"/>
              <a:t>，由该</a:t>
            </a:r>
            <a:r>
              <a:rPr lang="en-US" altLang="zh-CN" dirty="0" smtClean="0"/>
              <a:t>ACL</a:t>
            </a:r>
            <a:r>
              <a:rPr lang="zh-CN" altLang="en-US" dirty="0" smtClean="0"/>
              <a:t>来匹配检查所有</a:t>
            </a:r>
            <a:r>
              <a:rPr lang="en-US" altLang="zh-CN" dirty="0" smtClean="0"/>
              <a:t>IP</a:t>
            </a:r>
            <a:r>
              <a:rPr lang="zh-CN" altLang="en-US" dirty="0" smtClean="0"/>
              <a:t>报文。主机发送的报文，只有匹配绑定表才会允许通过，不匹配绑定表的报文都将被丢弃。当绑定表信息变化时，设备会重新下发</a:t>
            </a:r>
            <a:r>
              <a:rPr lang="en-US" altLang="zh-CN" dirty="0" smtClean="0"/>
              <a:t>ACL</a:t>
            </a:r>
            <a:r>
              <a:rPr lang="zh-CN" altLang="en-US" dirty="0" smtClean="0"/>
              <a:t>。</a:t>
            </a:r>
            <a:endParaRPr lang="en-US" altLang="zh-CN" dirty="0" smtClean="0"/>
          </a:p>
          <a:p>
            <a:r>
              <a:rPr lang="zh-CN" altLang="en-US" dirty="0" smtClean="0"/>
              <a:t>缺省情况下，如果在没有绑定表的情况下使能了</a:t>
            </a:r>
            <a:r>
              <a:rPr lang="en-US" altLang="zh-CN" dirty="0" smtClean="0"/>
              <a:t>IPSG</a:t>
            </a:r>
            <a:r>
              <a:rPr lang="zh-CN" altLang="en-US" dirty="0" smtClean="0"/>
              <a:t>，设备将拒绝除</a:t>
            </a:r>
            <a:r>
              <a:rPr lang="en-US" altLang="zh-CN" dirty="0" smtClean="0"/>
              <a:t>DHCP</a:t>
            </a:r>
            <a:r>
              <a:rPr lang="zh-CN" altLang="en-US" dirty="0" smtClean="0"/>
              <a:t>请求报文外的所有</a:t>
            </a:r>
            <a:r>
              <a:rPr lang="en-US" altLang="zh-CN" dirty="0" smtClean="0"/>
              <a:t>IP</a:t>
            </a:r>
            <a:r>
              <a:rPr lang="zh-CN" altLang="en-US" dirty="0" smtClean="0"/>
              <a:t>报文。</a:t>
            </a:r>
            <a:endParaRPr lang="en-US" altLang="zh-CN" dirty="0" smtClean="0"/>
          </a:p>
          <a:p>
            <a:r>
              <a:rPr lang="zh-CN" altLang="en-US" dirty="0" smtClean="0"/>
              <a:t>静态绑定表项包含：</a:t>
            </a:r>
            <a:r>
              <a:rPr lang="en-US" altLang="zh-CN" dirty="0" smtClean="0"/>
              <a:t>MAC</a:t>
            </a:r>
            <a:r>
              <a:rPr lang="zh-CN" altLang="en-US" dirty="0" smtClean="0"/>
              <a:t>地址、</a:t>
            </a:r>
            <a:r>
              <a:rPr lang="en-US" altLang="zh-CN" dirty="0" smtClean="0"/>
              <a:t>IP</a:t>
            </a:r>
            <a:r>
              <a:rPr lang="zh-CN" altLang="en-US" dirty="0" smtClean="0"/>
              <a:t>地址、</a:t>
            </a:r>
            <a:r>
              <a:rPr lang="en-US" altLang="zh-CN" dirty="0" smtClean="0"/>
              <a:t>VLAN ID</a:t>
            </a:r>
            <a:r>
              <a:rPr lang="zh-CN" altLang="en-US" dirty="0" smtClean="0"/>
              <a:t>、入接口。静态绑定表项中指定的信息均用于</a:t>
            </a:r>
            <a:r>
              <a:rPr lang="en-US" altLang="zh-CN" dirty="0" smtClean="0"/>
              <a:t>IPSG</a:t>
            </a:r>
            <a:r>
              <a:rPr lang="zh-CN" altLang="en-US" dirty="0" smtClean="0"/>
              <a:t>过滤接口收到的报文。</a:t>
            </a:r>
          </a:p>
          <a:p>
            <a:r>
              <a:rPr lang="zh-CN" altLang="en-US" dirty="0" smtClean="0"/>
              <a:t>动态绑定表项包含：</a:t>
            </a:r>
            <a:r>
              <a:rPr lang="en-US" altLang="zh-CN" dirty="0" smtClean="0"/>
              <a:t>MAC</a:t>
            </a:r>
            <a:r>
              <a:rPr lang="zh-CN" altLang="en-US" dirty="0" smtClean="0"/>
              <a:t>地址、</a:t>
            </a:r>
            <a:r>
              <a:rPr lang="en-US" altLang="zh-CN" dirty="0" smtClean="0"/>
              <a:t>IP</a:t>
            </a:r>
            <a:r>
              <a:rPr lang="zh-CN" altLang="en-US" dirty="0" smtClean="0"/>
              <a:t>地址、</a:t>
            </a:r>
            <a:r>
              <a:rPr lang="en-US" altLang="zh-CN" dirty="0" smtClean="0"/>
              <a:t>VLAN ID</a:t>
            </a:r>
            <a:r>
              <a:rPr lang="zh-CN" altLang="en-US" dirty="0" smtClean="0"/>
              <a:t>、入接口。</a:t>
            </a:r>
            <a:r>
              <a:rPr lang="en-US" altLang="zh-CN" dirty="0" smtClean="0"/>
              <a:t>IPSG</a:t>
            </a:r>
            <a:r>
              <a:rPr lang="zh-CN" altLang="en-US" dirty="0" smtClean="0"/>
              <a:t>依据该表项中的哪些信息过滤接口收到的报文，由用户设置的检查项决定，缺省是四项都进行匹配检查。常用的检查项有基于源</a:t>
            </a:r>
            <a:r>
              <a:rPr lang="en-US" altLang="zh-CN" dirty="0" smtClean="0"/>
              <a:t>IP</a:t>
            </a:r>
            <a:r>
              <a:rPr lang="zh-CN" altLang="en-US" dirty="0" smtClean="0"/>
              <a:t>地址过滤</a:t>
            </a:r>
            <a:r>
              <a:rPr lang="zh-CN" altLang="en-US" dirty="0"/>
              <a:t>，</a:t>
            </a:r>
            <a:r>
              <a:rPr lang="zh-CN" altLang="en-US" dirty="0" smtClean="0"/>
              <a:t>基于源</a:t>
            </a:r>
            <a:r>
              <a:rPr lang="en-US" altLang="zh-CN" dirty="0" smtClean="0"/>
              <a:t>MAC</a:t>
            </a:r>
            <a:r>
              <a:rPr lang="zh-CN" altLang="en-US" dirty="0" smtClean="0"/>
              <a:t>地址过滤</a:t>
            </a:r>
            <a:r>
              <a:rPr lang="zh-CN" altLang="en-US" dirty="0"/>
              <a:t>，</a:t>
            </a:r>
            <a:r>
              <a:rPr lang="zh-CN" altLang="en-US" dirty="0" smtClean="0"/>
              <a:t>基于源</a:t>
            </a:r>
            <a:r>
              <a:rPr lang="en-US" altLang="zh-CN" dirty="0" smtClean="0"/>
              <a:t>IP</a:t>
            </a:r>
            <a:r>
              <a:rPr lang="zh-CN" altLang="en-US" dirty="0" smtClean="0"/>
              <a:t>地址</a:t>
            </a:r>
            <a:r>
              <a:rPr lang="en-US" altLang="zh-CN" dirty="0" smtClean="0"/>
              <a:t>+</a:t>
            </a:r>
            <a:r>
              <a:rPr lang="zh-CN" altLang="en-US" dirty="0" smtClean="0"/>
              <a:t>源</a:t>
            </a:r>
            <a:r>
              <a:rPr lang="en-US" altLang="zh-CN" dirty="0" smtClean="0"/>
              <a:t>MAC</a:t>
            </a:r>
            <a:r>
              <a:rPr lang="zh-CN" altLang="en-US" dirty="0" smtClean="0"/>
              <a:t>地址过滤，基于源</a:t>
            </a:r>
            <a:r>
              <a:rPr lang="en-US" altLang="zh-CN" dirty="0" smtClean="0"/>
              <a:t>IP</a:t>
            </a:r>
            <a:r>
              <a:rPr lang="zh-CN" altLang="en-US" dirty="0" smtClean="0"/>
              <a:t>地址</a:t>
            </a:r>
            <a:r>
              <a:rPr lang="en-US" altLang="zh-CN" dirty="0" smtClean="0"/>
              <a:t>+</a:t>
            </a:r>
            <a:r>
              <a:rPr lang="zh-CN" altLang="en-US" dirty="0" smtClean="0"/>
              <a:t>源</a:t>
            </a:r>
            <a:r>
              <a:rPr lang="en-US" altLang="zh-CN" dirty="0" smtClean="0"/>
              <a:t>MAC</a:t>
            </a:r>
            <a:r>
              <a:rPr lang="zh-CN" altLang="en-US" dirty="0" smtClean="0"/>
              <a:t>地址</a:t>
            </a:r>
            <a:r>
              <a:rPr lang="en-US" altLang="zh-CN" dirty="0" smtClean="0"/>
              <a:t>+</a:t>
            </a:r>
            <a:r>
              <a:rPr lang="zh-CN" altLang="en-US" dirty="0" smtClean="0"/>
              <a:t>接口过滤</a:t>
            </a:r>
            <a:r>
              <a:rPr lang="zh-CN" altLang="en-US" dirty="0"/>
              <a:t>，</a:t>
            </a:r>
            <a:r>
              <a:rPr lang="zh-CN" altLang="en-US" dirty="0" smtClean="0"/>
              <a:t>基于源</a:t>
            </a:r>
            <a:r>
              <a:rPr lang="en-US" altLang="zh-CN" dirty="0" smtClean="0"/>
              <a:t>IP</a:t>
            </a:r>
            <a:r>
              <a:rPr lang="zh-CN" altLang="en-US" dirty="0" smtClean="0"/>
              <a:t>地址</a:t>
            </a:r>
            <a:r>
              <a:rPr lang="en-US" altLang="zh-CN" dirty="0" smtClean="0"/>
              <a:t>+</a:t>
            </a:r>
            <a:r>
              <a:rPr lang="zh-CN" altLang="en-US" dirty="0" smtClean="0"/>
              <a:t>源</a:t>
            </a:r>
            <a:r>
              <a:rPr lang="en-US" altLang="zh-CN" dirty="0" smtClean="0"/>
              <a:t>MAC</a:t>
            </a:r>
            <a:r>
              <a:rPr lang="zh-CN" altLang="en-US" dirty="0" smtClean="0"/>
              <a:t>地址</a:t>
            </a:r>
            <a:r>
              <a:rPr lang="en-US" altLang="zh-CN" dirty="0" smtClean="0"/>
              <a:t>+</a:t>
            </a:r>
            <a:r>
              <a:rPr lang="zh-CN" altLang="en-US" dirty="0" smtClean="0"/>
              <a:t>接口</a:t>
            </a:r>
            <a:r>
              <a:rPr lang="en-US" altLang="zh-CN" dirty="0" smtClean="0"/>
              <a:t>+VLAN</a:t>
            </a:r>
            <a:r>
              <a:rPr lang="zh-CN" altLang="en-US" dirty="0" smtClean="0"/>
              <a:t>过滤等。</a:t>
            </a: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385742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23540421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9424710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5914774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1147831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02349180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随着移动办公、网上购物、即时通讯、互联网金融、互联网教育等业务蓬勃发展，网络承载的业务越来越多，越来越重要。所以如何保证网络的不间断传输成为网络发展过程中急需解决的一个问题。</a:t>
            </a:r>
          </a:p>
          <a:p>
            <a:r>
              <a:rPr lang="zh-CN" altLang="en-US" smtClean="0"/>
              <a:t>在本例中，防火墙部署在企业网络出口处，内外网之间的业务都会通过防火墙转发。如果防火墙出现故障，便会导致内外网之间的业务全部中断。由此可见，在这种网络关键位置上如果只使用一台设备的话，无论其可靠性多高，都存在因设备单点故障而导致网络中断的风险。于是，在做网络架构设计时，通常会在网络的关键位置部署两台网络设备，以提升网络的可靠性。</a:t>
            </a:r>
            <a:endParaRPr lang="en-US" altLang="zh-CN" smtClean="0"/>
          </a:p>
          <a:p>
            <a:r>
              <a:rPr lang="zh-CN" altLang="en-US" smtClean="0"/>
              <a:t>防火墙是状态检测设备，它会对一条流量的首包进行完整的检测，并建立会话来记录报文的状态信息（包括报文的源</a:t>
            </a:r>
            <a:r>
              <a:rPr lang="en-US" altLang="zh-CN" smtClean="0"/>
              <a:t>IP</a:t>
            </a:r>
            <a:r>
              <a:rPr lang="zh-CN" altLang="en-US" smtClean="0"/>
              <a:t>、源端口、目的</a:t>
            </a:r>
            <a:r>
              <a:rPr lang="en-US" altLang="zh-CN" smtClean="0"/>
              <a:t>IP</a:t>
            </a:r>
            <a:r>
              <a:rPr lang="zh-CN" altLang="en-US" smtClean="0"/>
              <a:t>、目的端口、协议等）。而这条流量的后续报文只有匹配会话才能够通过防火墙并且完成报文转发，如果后续报文不能匹配会话则会被防火墙丢弃。</a:t>
            </a:r>
            <a:endParaRPr lang="en-US" altLang="zh-CN" smtClean="0"/>
          </a:p>
          <a:p>
            <a:pPr lvl="0"/>
            <a:r>
              <a:rPr lang="zh-CN" altLang="en-US" smtClean="0"/>
              <a:t>如果在网络出口处部署两台独立的防火墙，则两台防火墙独立运行，需分别进行配置维护。此外，以在防火墙的上行、下行部署</a:t>
            </a:r>
            <a:r>
              <a:rPr lang="en-US" altLang="zh-CN" smtClean="0"/>
              <a:t>VRRP</a:t>
            </a:r>
            <a:r>
              <a:rPr lang="zh-CN" altLang="en-US" smtClean="0"/>
              <a:t>为例，由于这两组</a:t>
            </a:r>
            <a:r>
              <a:rPr lang="en-US" altLang="zh-CN" smtClean="0"/>
              <a:t>VRRP</a:t>
            </a:r>
            <a:r>
              <a:rPr lang="zh-CN" altLang="en-US" smtClean="0"/>
              <a:t>相互独立，因此容易出现主备状态不一致的情况，此时内网访问外网的往返流量路径不一致，当回程流量抵达</a:t>
            </a:r>
            <a:r>
              <a:rPr lang="en-US" altLang="zh-CN" smtClean="0"/>
              <a:t>FW2</a:t>
            </a:r>
            <a:r>
              <a:rPr lang="zh-CN" altLang="en-US" smtClean="0"/>
              <a:t>时，由于</a:t>
            </a:r>
            <a:r>
              <a:rPr lang="en-US" altLang="zh-CN" smtClean="0"/>
              <a:t>FW2</a:t>
            </a:r>
            <a:r>
              <a:rPr lang="zh-CN" altLang="en-US" smtClean="0"/>
              <a:t>没有匹配的会话表项，因此这些流量将被丢弃。所以当防火墙双机部署时需要考虑两台防火墙之间的会话等状态信息的备份。</a:t>
            </a:r>
            <a:endParaRPr lang="en-US" altLang="zh-CN" smtClean="0"/>
          </a:p>
        </p:txBody>
      </p:sp>
      <p:sp>
        <p:nvSpPr>
          <p:cNvPr id="4" name="幻灯片图像占位符 3"/>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72274468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406009913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每台</a:t>
            </a:r>
            <a:r>
              <a:rPr lang="en-US" altLang="zh-CN" dirty="0" smtClean="0"/>
              <a:t>FW</a:t>
            </a:r>
            <a:r>
              <a:rPr lang="zh-CN" altLang="en-US" dirty="0" smtClean="0"/>
              <a:t>上有一个</a:t>
            </a:r>
            <a:r>
              <a:rPr lang="en-US" altLang="zh-CN" dirty="0" smtClean="0"/>
              <a:t>VGMP</a:t>
            </a:r>
            <a:r>
              <a:rPr lang="zh-CN" altLang="en-US" dirty="0" smtClean="0"/>
              <a:t>组。</a:t>
            </a:r>
            <a:r>
              <a:rPr lang="en-US" altLang="zh-CN" dirty="0" smtClean="0"/>
              <a:t>VGMP</a:t>
            </a:r>
            <a:r>
              <a:rPr lang="zh-CN" altLang="en-US" dirty="0" smtClean="0"/>
              <a:t>组有四种状态</a:t>
            </a:r>
            <a:r>
              <a:rPr lang="zh-CN" altLang="en-US" dirty="0"/>
              <a:t>：</a:t>
            </a:r>
            <a:endParaRPr lang="en-US" altLang="zh-CN" dirty="0" smtClean="0"/>
          </a:p>
          <a:p>
            <a:pPr lvl="1"/>
            <a:r>
              <a:rPr lang="en-US" altLang="zh-CN" dirty="0" smtClean="0"/>
              <a:t>Initialize</a:t>
            </a:r>
            <a:r>
              <a:rPr lang="zh-CN" altLang="en-US" dirty="0" smtClean="0"/>
              <a:t>：启用双机热备功能后，</a:t>
            </a:r>
            <a:r>
              <a:rPr lang="en-US" altLang="zh-CN" dirty="0" smtClean="0"/>
              <a:t>VGMP</a:t>
            </a:r>
            <a:r>
              <a:rPr lang="zh-CN" altLang="en-US" dirty="0" smtClean="0"/>
              <a:t>组的短暂初始状态。</a:t>
            </a:r>
          </a:p>
          <a:p>
            <a:pPr lvl="1"/>
            <a:r>
              <a:rPr lang="en-US" altLang="zh-CN" dirty="0" smtClean="0"/>
              <a:t>Load Balance</a:t>
            </a:r>
            <a:r>
              <a:rPr lang="zh-CN" altLang="en-US" dirty="0" smtClean="0"/>
              <a:t>：当防火墙本端的</a:t>
            </a:r>
            <a:r>
              <a:rPr lang="en-US" altLang="zh-CN" dirty="0" smtClean="0"/>
              <a:t>VGMP</a:t>
            </a:r>
            <a:r>
              <a:rPr lang="zh-CN" altLang="en-US" dirty="0" smtClean="0"/>
              <a:t>组与对端的</a:t>
            </a:r>
            <a:r>
              <a:rPr lang="en-US" altLang="zh-CN" dirty="0" smtClean="0"/>
              <a:t>VGMP</a:t>
            </a:r>
            <a:r>
              <a:rPr lang="zh-CN" altLang="en-US" dirty="0" smtClean="0"/>
              <a:t>组优先级相等时，两端的</a:t>
            </a:r>
            <a:r>
              <a:rPr lang="en-US" altLang="zh-CN" dirty="0" smtClean="0"/>
              <a:t>VGMP</a:t>
            </a:r>
            <a:r>
              <a:rPr lang="zh-CN" altLang="en-US" dirty="0" smtClean="0"/>
              <a:t>组都处于</a:t>
            </a:r>
            <a:r>
              <a:rPr lang="en-US" altLang="zh-CN" dirty="0" smtClean="0"/>
              <a:t>Load Balance</a:t>
            </a:r>
            <a:r>
              <a:rPr lang="zh-CN" altLang="en-US" dirty="0" smtClean="0"/>
              <a:t>状态。</a:t>
            </a:r>
          </a:p>
          <a:p>
            <a:pPr lvl="1"/>
            <a:r>
              <a:rPr lang="en-US" altLang="zh-CN" dirty="0" smtClean="0"/>
              <a:t>Active</a:t>
            </a:r>
            <a:r>
              <a:rPr lang="zh-CN" altLang="en-US" dirty="0" smtClean="0"/>
              <a:t>：当本端的</a:t>
            </a:r>
            <a:r>
              <a:rPr lang="en-US" altLang="zh-CN" dirty="0" smtClean="0"/>
              <a:t>VGMP</a:t>
            </a:r>
            <a:r>
              <a:rPr lang="zh-CN" altLang="en-US" dirty="0" smtClean="0"/>
              <a:t>组优先级高于对端时，本端的</a:t>
            </a:r>
            <a:r>
              <a:rPr lang="en-US" altLang="zh-CN" dirty="0" smtClean="0"/>
              <a:t>VGMP</a:t>
            </a:r>
            <a:r>
              <a:rPr lang="zh-CN" altLang="en-US" dirty="0" smtClean="0"/>
              <a:t>组处于</a:t>
            </a:r>
            <a:r>
              <a:rPr lang="en-US" altLang="zh-CN" dirty="0" smtClean="0"/>
              <a:t>Active</a:t>
            </a:r>
            <a:r>
              <a:rPr lang="zh-CN" altLang="en-US" dirty="0" smtClean="0"/>
              <a:t>状态。</a:t>
            </a:r>
          </a:p>
          <a:p>
            <a:pPr lvl="1"/>
            <a:r>
              <a:rPr lang="en-US" altLang="zh-CN" dirty="0" smtClean="0"/>
              <a:t>Standby</a:t>
            </a:r>
            <a:r>
              <a:rPr lang="zh-CN" altLang="en-US" dirty="0" smtClean="0"/>
              <a:t>：当本端的</a:t>
            </a:r>
            <a:r>
              <a:rPr lang="en-US" altLang="zh-CN" dirty="0" smtClean="0"/>
              <a:t>VGMP</a:t>
            </a:r>
            <a:r>
              <a:rPr lang="zh-CN" altLang="en-US" dirty="0" smtClean="0"/>
              <a:t>组优先级低于对端时，本端的</a:t>
            </a:r>
            <a:r>
              <a:rPr lang="en-US" altLang="zh-CN" dirty="0" smtClean="0"/>
              <a:t>VGMP</a:t>
            </a:r>
            <a:r>
              <a:rPr lang="zh-CN" altLang="en-US" dirty="0" smtClean="0"/>
              <a:t>组处于</a:t>
            </a:r>
            <a:r>
              <a:rPr lang="en-US" altLang="zh-CN" dirty="0" smtClean="0"/>
              <a:t>Standby</a:t>
            </a:r>
            <a:r>
              <a:rPr lang="zh-CN" altLang="en-US" dirty="0" smtClean="0"/>
              <a:t>状态。</a:t>
            </a:r>
          </a:p>
          <a:p>
            <a:r>
              <a:rPr lang="zh-CN" altLang="en-US" dirty="0" smtClean="0"/>
              <a:t>两台</a:t>
            </a:r>
            <a:r>
              <a:rPr lang="en-US" altLang="zh-CN" dirty="0" smtClean="0"/>
              <a:t>FW</a:t>
            </a:r>
            <a:r>
              <a:rPr lang="zh-CN" altLang="en-US" dirty="0" smtClean="0"/>
              <a:t>组成双机热备组网后，正常情况下，两台</a:t>
            </a:r>
            <a:r>
              <a:rPr lang="en-US" altLang="zh-CN" dirty="0" smtClean="0"/>
              <a:t>FW</a:t>
            </a:r>
            <a:r>
              <a:rPr lang="zh-CN" altLang="en-US" dirty="0" smtClean="0"/>
              <a:t>的</a:t>
            </a:r>
            <a:r>
              <a:rPr lang="en-US" altLang="zh-CN" dirty="0" smtClean="0"/>
              <a:t>VGMP</a:t>
            </a:r>
            <a:r>
              <a:rPr lang="zh-CN" altLang="en-US" dirty="0" smtClean="0"/>
              <a:t>组优先级相等，且都处于</a:t>
            </a:r>
            <a:r>
              <a:rPr lang="en-US" altLang="zh-CN" dirty="0" smtClean="0"/>
              <a:t>Load Balance</a:t>
            </a:r>
            <a:r>
              <a:rPr lang="zh-CN" altLang="en-US" dirty="0" smtClean="0"/>
              <a:t>状态。这时两台</a:t>
            </a:r>
            <a:r>
              <a:rPr lang="en-US" altLang="zh-CN" dirty="0" smtClean="0"/>
              <a:t>FW</a:t>
            </a:r>
            <a:r>
              <a:rPr lang="zh-CN" altLang="en-US" dirty="0" smtClean="0"/>
              <a:t>处于负载分担状态。</a:t>
            </a:r>
          </a:p>
          <a:p>
            <a:r>
              <a:rPr lang="zh-CN" altLang="en-US" dirty="0" smtClean="0"/>
              <a:t>可以通过</a:t>
            </a:r>
            <a:r>
              <a:rPr lang="en-US" altLang="zh-CN" dirty="0" smtClean="0"/>
              <a:t>VRRP</a:t>
            </a:r>
            <a:r>
              <a:rPr lang="zh-CN" altLang="en-US" dirty="0" smtClean="0"/>
              <a:t>配置和手工指定备设备这两种方式，使两台</a:t>
            </a:r>
            <a:r>
              <a:rPr lang="en-US" altLang="zh-CN" dirty="0" smtClean="0"/>
              <a:t>FW</a:t>
            </a:r>
            <a:r>
              <a:rPr lang="zh-CN" altLang="en-US" dirty="0" smtClean="0"/>
              <a:t>形成主备备份状态。</a:t>
            </a:r>
          </a:p>
          <a:p>
            <a:r>
              <a:rPr lang="en-US" altLang="zh-CN" dirty="0" smtClean="0"/>
              <a:t>VRRP</a:t>
            </a:r>
            <a:r>
              <a:rPr lang="zh-CN" altLang="en-US" dirty="0" smtClean="0"/>
              <a:t>配置的方式适用于</a:t>
            </a:r>
            <a:r>
              <a:rPr lang="en-US" altLang="zh-CN" dirty="0" smtClean="0"/>
              <a:t>FW</a:t>
            </a:r>
            <a:r>
              <a:rPr lang="zh-CN" altLang="en-US" dirty="0" smtClean="0"/>
              <a:t>连接二层交换机的组网，指定备设备的方式适用于</a:t>
            </a:r>
            <a:r>
              <a:rPr lang="en-US" altLang="zh-CN" dirty="0" smtClean="0"/>
              <a:t>FW</a:t>
            </a:r>
            <a:r>
              <a:rPr lang="zh-CN" altLang="en-US" dirty="0" smtClean="0"/>
              <a:t>其他方式的双机热备组网。</a:t>
            </a:r>
            <a:endParaRPr lang="en-US" altLang="zh-CN" dirty="0" smtClean="0"/>
          </a:p>
          <a:p>
            <a:r>
              <a:rPr lang="en-US" altLang="zh-CN" dirty="0" smtClean="0"/>
              <a:t>FW</a:t>
            </a:r>
            <a:r>
              <a:rPr lang="zh-CN" altLang="en-US" dirty="0" smtClean="0"/>
              <a:t>的</a:t>
            </a:r>
            <a:r>
              <a:rPr lang="en-US" altLang="zh-CN" dirty="0" smtClean="0"/>
              <a:t>VGMP</a:t>
            </a:r>
            <a:r>
              <a:rPr lang="zh-CN" altLang="en-US" dirty="0" smtClean="0"/>
              <a:t>优先级有一个初始优先级，当</a:t>
            </a:r>
            <a:r>
              <a:rPr lang="en-US" altLang="zh-CN" dirty="0" smtClean="0"/>
              <a:t>FW</a:t>
            </a:r>
            <a:r>
              <a:rPr lang="zh-CN" altLang="en-US" dirty="0" smtClean="0"/>
              <a:t>的接口或者单板等出现故障时，会在初始优先级基础上减去一定的降低值。</a:t>
            </a:r>
            <a:endParaRPr lang="en-US" altLang="zh-CN" dirty="0" smtClean="0"/>
          </a:p>
          <a:p>
            <a:r>
              <a:rPr lang="zh-CN" altLang="en-US" dirty="0" smtClean="0"/>
              <a:t>本文档以</a:t>
            </a:r>
            <a:r>
              <a:rPr lang="en-US" altLang="zh-CN" dirty="0" smtClean="0"/>
              <a:t>USG6000 V500R001</a:t>
            </a:r>
            <a:r>
              <a:rPr lang="zh-CN" altLang="en-US" dirty="0" smtClean="0"/>
              <a:t>版本为例。</a:t>
            </a:r>
            <a:br>
              <a:rPr lang="zh-CN" altLang="en-US" dirty="0" smtClean="0"/>
            </a:br>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75878023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72978439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因此为了实现主用设备出现故障时备用设备能平滑地接替工作，必须在主用和备用设备之间备份关键配置命令和会话表等状态信息。</a:t>
            </a:r>
          </a:p>
          <a:p>
            <a:r>
              <a:rPr lang="zh-CN" altLang="en-US" dirty="0" smtClean="0"/>
              <a:t>为此华为防火墙引入了</a:t>
            </a:r>
            <a:r>
              <a:rPr lang="en-US" altLang="zh-CN" dirty="0" smtClean="0"/>
              <a:t>HRP</a:t>
            </a:r>
            <a:r>
              <a:rPr lang="zh-CN" altLang="en-US" dirty="0" smtClean="0"/>
              <a:t>协议，实现防火墙双机之间动态状态数据和关键配置命令的备份。</a:t>
            </a:r>
          </a:p>
          <a:p>
            <a:r>
              <a:rPr lang="zh-CN" altLang="en-US" dirty="0" smtClean="0"/>
              <a:t>在主备备份组网下，配置命令和状态信息都由主用设备备份到备用设备。</a:t>
            </a:r>
          </a:p>
          <a:p>
            <a:r>
              <a:rPr lang="zh-CN" altLang="en-US" dirty="0" smtClean="0"/>
              <a:t>而在负载分担组网下，两台</a:t>
            </a:r>
            <a:r>
              <a:rPr lang="en-US" altLang="zh-CN" dirty="0" smtClean="0"/>
              <a:t>FW</a:t>
            </a:r>
            <a:r>
              <a:rPr lang="zh-CN" altLang="en-US" dirty="0" smtClean="0"/>
              <a:t>都是主用设备。因此如果允许两台主用设备之间能够相互备份命令，那么可能就会造成两台设备命令相互覆盖或冲突的问题。所以为了方便管理员对两台</a:t>
            </a:r>
            <a:r>
              <a:rPr lang="en-US" altLang="zh-CN" dirty="0" smtClean="0"/>
              <a:t>FW</a:t>
            </a:r>
            <a:r>
              <a:rPr lang="zh-CN" altLang="en-US" dirty="0" smtClean="0"/>
              <a:t>配置的统一管理，避免混乱，我们引入配置主和配置从设备的概念。</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7430038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70292975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742950" y="717550"/>
            <a:ext cx="5557838" cy="3125788"/>
          </a:xfrm>
        </p:spPr>
      </p:sp>
      <p:sp>
        <p:nvSpPr>
          <p:cNvPr id="3" name="备注占位符 2"/>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39501232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20039779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dirty="0" smtClean="0"/>
              <a:t>防火墙主要实现了几个方面的虚拟化：</a:t>
            </a:r>
          </a:p>
          <a:p>
            <a:pPr lvl="1"/>
            <a:r>
              <a:rPr lang="zh-CN" altLang="en-US" dirty="0" smtClean="0"/>
              <a:t>资源虚拟化：每个虚拟系统都有独享的资源，包括接口、</a:t>
            </a:r>
            <a:r>
              <a:rPr lang="en-US" altLang="zh-CN" dirty="0" smtClean="0"/>
              <a:t>VLAN</a:t>
            </a:r>
            <a:r>
              <a:rPr lang="zh-CN" altLang="en-US" dirty="0" smtClean="0"/>
              <a:t>、策略和会话等。根系统管理员分配给每个虚拟系统，由各个虚拟系统自行管理和使用。</a:t>
            </a:r>
          </a:p>
          <a:p>
            <a:pPr lvl="1"/>
            <a:r>
              <a:rPr lang="zh-CN" altLang="en-US" dirty="0" smtClean="0"/>
              <a:t>配置虚拟化：每个虚拟系统都拥有独立的虚拟系统管理员和配置界面，每个虚拟系统管理员只能管理自己所属的虚拟系统。</a:t>
            </a:r>
          </a:p>
          <a:p>
            <a:pPr lvl="1"/>
            <a:r>
              <a:rPr lang="zh-CN" altLang="en-US" dirty="0" smtClean="0"/>
              <a:t>安全功能虚拟化：每个虚拟系统都可以配置独立的安全策略及其他安全功能，只有属于该虚拟系统的报文才会受到这些配置的影响。</a:t>
            </a:r>
          </a:p>
          <a:p>
            <a:pPr lvl="1"/>
            <a:r>
              <a:rPr lang="zh-CN" altLang="en-US" dirty="0" smtClean="0"/>
              <a:t>路由虚拟化：每个虚拟系统都拥有各自的路由表，相互独立隔离。目前仅支持静态路由的虚拟化。</a:t>
            </a:r>
          </a:p>
          <a:p>
            <a:r>
              <a:rPr lang="zh-CN" altLang="en-US" dirty="0" smtClean="0"/>
              <a:t>通过以上几个方面的虚拟化，当创建虚拟系统之后，每个虚拟系统的管理员都像在使用一台独占的设备。</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3035666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lvl="0"/>
            <a:r>
              <a:rPr lang="zh-CN" altLang="en-US" dirty="0" smtClean="0"/>
              <a:t>如图所示，各个虚拟系统以及根系统的虚拟接口之间默认通过一条“虚拟链路”连接。如果将虚拟系统、根系统都视为独立的设备，将虚拟接口视为设备之间通信的接口，通过将虚拟接口加入安全区域并按照配置一般设备间互访的思路配置路由和策略，就能实现虚拟系统和根系统的互访、虚拟系统之间的互访。</a:t>
            </a:r>
          </a:p>
          <a:p>
            <a:endParaRPr lang="zh-CN" altLang="en-US" dirty="0"/>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22986374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虚拟系统与根系统互访有两种场景：虚拟系统访问根系统、根系统访问虚拟系统。这两种场景下，报文转发的流程略有不同。</a:t>
            </a:r>
          </a:p>
          <a:p>
            <a:r>
              <a:rPr lang="zh-CN" altLang="en-US" smtClean="0"/>
              <a:t>本页以虚拟系统访问根系统为例。因为虚拟系统和根系统都需要按照防火墙转发流程对报文进行处理，所以虚拟系统和根系统中要分别完成策略、路由等配置。</a:t>
            </a:r>
          </a:p>
        </p:txBody>
      </p:sp>
      <p:sp>
        <p:nvSpPr>
          <p:cNvPr id="7" name="幻灯片图像占位符 6"/>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005201747"/>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en-US" altLang="zh-CN" smtClean="0"/>
              <a:t>FW</a:t>
            </a:r>
            <a:r>
              <a:rPr lang="zh-CN" altLang="en-US" smtClean="0"/>
              <a:t>的虚拟系统之间默认是互相隔离的，不同虚拟系统下的主机不能通信。如果两个虚拟系统下主机有通信的需求，就需要配置策略和路由，使不同虚拟系统能够互访。该场景是虚拟系统</a:t>
            </a:r>
            <a:r>
              <a:rPr lang="en-US" altLang="zh-CN" smtClean="0"/>
              <a:t>A</a:t>
            </a:r>
            <a:r>
              <a:rPr lang="zh-CN" altLang="en-US" smtClean="0"/>
              <a:t>向虚拟系统</a:t>
            </a:r>
            <a:r>
              <a:rPr lang="en-US" altLang="zh-CN" smtClean="0"/>
              <a:t>B</a:t>
            </a:r>
            <a:r>
              <a:rPr lang="zh-CN" altLang="en-US" smtClean="0"/>
              <a:t>发起访问。报文先进入虚拟系统</a:t>
            </a:r>
            <a:r>
              <a:rPr lang="en-US" altLang="zh-CN" smtClean="0"/>
              <a:t>A</a:t>
            </a:r>
            <a:r>
              <a:rPr lang="zh-CN" altLang="en-US" smtClean="0"/>
              <a:t>，虚拟系统</a:t>
            </a:r>
            <a:r>
              <a:rPr lang="en-US" altLang="zh-CN" smtClean="0"/>
              <a:t>A</a:t>
            </a:r>
            <a:r>
              <a:rPr lang="zh-CN" altLang="en-US" smtClean="0"/>
              <a:t>按照防火墙转发流程对报文进行处理。然后报文进入虚拟系统</a:t>
            </a:r>
            <a:r>
              <a:rPr lang="en-US" altLang="zh-CN" smtClean="0"/>
              <a:t>B</a:t>
            </a:r>
            <a:r>
              <a:rPr lang="zh-CN" altLang="en-US" smtClean="0"/>
              <a:t>，虚拟系统</a:t>
            </a:r>
            <a:r>
              <a:rPr lang="en-US" altLang="zh-CN" smtClean="0"/>
              <a:t>B</a:t>
            </a:r>
            <a:r>
              <a:rPr lang="zh-CN" altLang="en-US" smtClean="0"/>
              <a:t>再次按照防火墙转发流程对报文进行处理。</a:t>
            </a:r>
            <a:endParaRPr lang="en-US" altLang="zh-CN" smtClean="0"/>
          </a:p>
          <a:p>
            <a:r>
              <a:rPr lang="zh-CN" altLang="en-US" smtClean="0"/>
              <a:t>因为两个虚拟系统都需要按照防火墙转发流程对报文进行处理，所以两个虚拟系统中要分别完成策略、路由等配置。</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97132658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r>
              <a:rPr lang="zh-CN" altLang="en-US" smtClean="0"/>
              <a:t>以上配置只能实现</a:t>
            </a:r>
            <a:r>
              <a:rPr lang="en-US" altLang="zh-CN" smtClean="0"/>
              <a:t>vsysa</a:t>
            </a:r>
            <a:r>
              <a:rPr lang="zh-CN" altLang="en-US" smtClean="0"/>
              <a:t>到</a:t>
            </a:r>
            <a:r>
              <a:rPr lang="en-US" altLang="zh-CN" smtClean="0"/>
              <a:t>vsysb</a:t>
            </a:r>
            <a:r>
              <a:rPr lang="zh-CN" altLang="en-US" smtClean="0"/>
              <a:t>的单向通信，即只能是</a:t>
            </a:r>
            <a:r>
              <a:rPr lang="en-US" altLang="zh-CN" smtClean="0"/>
              <a:t>vsysa</a:t>
            </a:r>
            <a:r>
              <a:rPr lang="zh-CN" altLang="en-US" smtClean="0"/>
              <a:t>中主机主动向</a:t>
            </a:r>
            <a:r>
              <a:rPr lang="en-US" altLang="zh-CN" smtClean="0"/>
              <a:t>vsysb</a:t>
            </a:r>
            <a:r>
              <a:rPr lang="zh-CN" altLang="en-US" smtClean="0"/>
              <a:t>中主机发起访问，</a:t>
            </a:r>
            <a:r>
              <a:rPr lang="en-US" altLang="zh-CN" smtClean="0"/>
              <a:t>vsysb</a:t>
            </a:r>
            <a:r>
              <a:rPr lang="zh-CN" altLang="en-US" smtClean="0"/>
              <a:t>中主机不能主动向</a:t>
            </a:r>
            <a:r>
              <a:rPr lang="en-US" altLang="zh-CN" smtClean="0"/>
              <a:t>vsysa</a:t>
            </a:r>
            <a:r>
              <a:rPr lang="zh-CN" altLang="en-US" smtClean="0"/>
              <a:t>中主机发起访问。 如果</a:t>
            </a:r>
            <a:r>
              <a:rPr lang="en-US" altLang="zh-CN" smtClean="0"/>
              <a:t>vsysb</a:t>
            </a:r>
            <a:r>
              <a:rPr lang="zh-CN" altLang="en-US" smtClean="0"/>
              <a:t>中主机有主动访问</a:t>
            </a:r>
            <a:r>
              <a:rPr lang="en-US" altLang="zh-CN" smtClean="0"/>
              <a:t>vsysa</a:t>
            </a:r>
            <a:r>
              <a:rPr lang="zh-CN" altLang="en-US" smtClean="0"/>
              <a:t>中主机的需求，则需要配置</a:t>
            </a:r>
            <a:r>
              <a:rPr lang="en-US" altLang="zh-CN" smtClean="0"/>
              <a:t>vsysb</a:t>
            </a:r>
            <a:r>
              <a:rPr lang="zh-CN" altLang="en-US" smtClean="0"/>
              <a:t>到</a:t>
            </a:r>
            <a:r>
              <a:rPr lang="en-US" altLang="zh-CN" smtClean="0"/>
              <a:t>vsysa</a:t>
            </a:r>
            <a:r>
              <a:rPr lang="zh-CN" altLang="en-US" smtClean="0"/>
              <a:t>的路由和安全策略。</a:t>
            </a:r>
          </a:p>
          <a:p>
            <a:endParaRPr lang="zh-CN" altLang="en-US" dirty="0"/>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1113715375"/>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324516518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2926688569"/>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备注占位符 2"/>
          <p:cNvSpPr>
            <a:spLocks noGrp="1"/>
          </p:cNvSpPr>
          <p:nvPr>
            <p:ph type="body" idx="1"/>
          </p:nvPr>
        </p:nvSpPr>
        <p:spPr/>
        <p:txBody>
          <a:bodyPr/>
          <a:lstStyle/>
          <a:p>
            <a:pPr marL="228600" lvl="0" indent="-228600">
              <a:buFont typeface="+mj-lt"/>
              <a:buAutoNum type="arabicPeriod"/>
            </a:pPr>
            <a:r>
              <a:rPr lang="en-US" altLang="zh-CN" dirty="0" smtClean="0"/>
              <a:t>ABD</a:t>
            </a:r>
          </a:p>
          <a:p>
            <a:pPr marL="228600" lvl="0" indent="-228600">
              <a:buFont typeface="+mj-lt"/>
              <a:buAutoNum type="arabicPeriod"/>
            </a:pPr>
            <a:r>
              <a:rPr lang="en-US" altLang="zh-CN" dirty="0" smtClean="0"/>
              <a:t>A</a:t>
            </a:r>
          </a:p>
        </p:txBody>
      </p:sp>
      <p:sp>
        <p:nvSpPr>
          <p:cNvPr id="5" name="幻灯片图像占位符 4"/>
          <p:cNvSpPr>
            <a:spLocks noGrp="1" noRot="1" noChangeAspect="1"/>
          </p:cNvSpPr>
          <p:nvPr>
            <p:ph type="sldImg"/>
          </p:nvPr>
        </p:nvSpPr>
        <p:spPr>
          <a:xfrm>
            <a:off x="742950" y="717550"/>
            <a:ext cx="5557838" cy="3125788"/>
          </a:xfrm>
        </p:spPr>
      </p:sp>
    </p:spTree>
    <p:extLst>
      <p:ext uri="{BB962C8B-B14F-4D97-AF65-F5344CB8AC3E}">
        <p14:creationId xmlns:p14="http://schemas.microsoft.com/office/powerpoint/2010/main" val="243920351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6168730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幻灯片图像占位符 3"/>
          <p:cNvSpPr>
            <a:spLocks noGrp="1" noRot="1" noChangeAspect="1"/>
          </p:cNvSpPr>
          <p:nvPr>
            <p:ph type="sldImg"/>
          </p:nvPr>
        </p:nvSpPr>
        <p:spPr>
          <a:xfrm>
            <a:off x="742950" y="717550"/>
            <a:ext cx="5557838" cy="3125788"/>
          </a:xfrm>
        </p:spPr>
      </p:sp>
      <p:sp>
        <p:nvSpPr>
          <p:cNvPr id="5" name="备注占位符 4"/>
          <p:cNvSpPr>
            <a:spLocks noGrp="1"/>
          </p:cNvSpPr>
          <p:nvPr>
            <p:ph type="body" idx="1"/>
          </p:nvPr>
        </p:nvSpPr>
        <p:spPr/>
        <p:txBody>
          <a:bodyPr/>
          <a:lstStyle/>
          <a:p>
            <a:endParaRPr lang="zh-CN" altLang="en-US"/>
          </a:p>
        </p:txBody>
      </p:sp>
    </p:spTree>
    <p:extLst>
      <p:ext uri="{BB962C8B-B14F-4D97-AF65-F5344CB8AC3E}">
        <p14:creationId xmlns:p14="http://schemas.microsoft.com/office/powerpoint/2010/main" val="13250425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2#总标题">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21"/>
            <a:ext cx="12192000" cy="5602224"/>
          </a:xfrm>
          <a:prstGeom prst="rect">
            <a:avLst/>
          </a:prstGeom>
          <a:ln>
            <a:noFill/>
            <a:prstDash val="dash"/>
          </a:ln>
        </p:spPr>
      </p:pic>
      <p:sp>
        <p:nvSpPr>
          <p:cNvPr id="8" name="L 形 7"/>
          <p:cNvSpPr/>
          <p:nvPr userDrawn="1"/>
        </p:nvSpPr>
        <p:spPr>
          <a:xfrm rot="16200000" flipH="1">
            <a:off x="6634196" y="2578036"/>
            <a:ext cx="701032" cy="717656"/>
          </a:xfrm>
          <a:prstGeom prst="corner">
            <a:avLst>
              <a:gd name="adj1" fmla="val 3243"/>
              <a:gd name="adj2" fmla="val 3048"/>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900" baseline="0">
              <a:latin typeface="Huawei Sans" panose="020C0503030203020204" pitchFamily="34" charset="0"/>
              <a:ea typeface="方正兰亭黑简体" panose="02000000000000000000" pitchFamily="2" charset="-122"/>
            </a:endParaRPr>
          </a:p>
        </p:txBody>
      </p:sp>
      <p:sp>
        <p:nvSpPr>
          <p:cNvPr id="9" name="Title 1">
            <a:extLst>
              <a:ext uri="{FF2B5EF4-FFF2-40B4-BE49-F238E27FC236}">
                <a16:creationId xmlns:a16="http://schemas.microsoft.com/office/drawing/2014/main" xmlns="" id="{8227DEE9-8BE9-0D49-BF96-9E83C5312E00}"/>
              </a:ext>
            </a:extLst>
          </p:cNvPr>
          <p:cNvSpPr>
            <a:spLocks noGrp="1"/>
          </p:cNvSpPr>
          <p:nvPr>
            <p:ph type="ctrTitle" hasCustomPrompt="1"/>
          </p:nvPr>
        </p:nvSpPr>
        <p:spPr>
          <a:xfrm>
            <a:off x="916560" y="907092"/>
            <a:ext cx="8125839" cy="690255"/>
          </a:xfrm>
          <a:prstGeom prst="rect">
            <a:avLst/>
          </a:prstGeom>
          <a:ln>
            <a:noFill/>
            <a:prstDash val="dash"/>
          </a:ln>
        </p:spPr>
        <p:txBody>
          <a:bodyPr lIns="0" tIns="0" rIns="0" bIns="0" anchor="t">
            <a:normAutofit/>
          </a:bodyPr>
          <a:lstStyle>
            <a:lvl1pPr>
              <a:defRPr lang="en-US" sz="3200" b="0" i="0" baseline="0" dirty="0">
                <a:latin typeface="Huawei Sans" panose="020C0503030203020204" pitchFamily="34" charset="0"/>
                <a:ea typeface="方正兰亭黑简体" panose="02000000000000000000" pitchFamily="2" charset="-122"/>
              </a:defRPr>
            </a:lvl1pPr>
          </a:lstStyle>
          <a:p>
            <a:pPr lvl="0" defTabSz="914034">
              <a:lnSpc>
                <a:spcPts val="3439"/>
              </a:lnSpc>
            </a:pPr>
            <a:r>
              <a:rPr lang="zh-CN" altLang="en-US" dirty="0"/>
              <a:t>单击此处添加标题</a:t>
            </a:r>
            <a:endParaRPr lang="en-US" dirty="0"/>
          </a:p>
        </p:txBody>
      </p:sp>
      <p:sp>
        <p:nvSpPr>
          <p:cNvPr id="10" name="Text Placeholder 5">
            <a:extLst>
              <a:ext uri="{FF2B5EF4-FFF2-40B4-BE49-F238E27FC236}">
                <a16:creationId xmlns:a16="http://schemas.microsoft.com/office/drawing/2014/main" xmlns="" id="{2F43DA98-D48D-6947-95EF-BA3B05E68822}"/>
              </a:ext>
            </a:extLst>
          </p:cNvPr>
          <p:cNvSpPr>
            <a:spLocks noGrp="1"/>
          </p:cNvSpPr>
          <p:nvPr>
            <p:ph type="body" sz="quarter" idx="10" hasCustomPrompt="1"/>
          </p:nvPr>
        </p:nvSpPr>
        <p:spPr>
          <a:xfrm>
            <a:off x="916561" y="1949372"/>
            <a:ext cx="8125840" cy="643926"/>
          </a:xfrm>
          <a:prstGeom prst="rect">
            <a:avLst/>
          </a:prstGeom>
        </p:spPr>
        <p:txBody>
          <a:bodyPr vert="horz" lIns="0" tIns="0" rIns="0" bIns="0" rtlCol="0">
            <a:noAutofit/>
          </a:bodyPr>
          <a:lstStyle>
            <a:lvl1pPr marL="228600" indent="-228600" fontAlgn="base">
              <a:buNone/>
              <a:defRPr lang="en-US" sz="1400" baseline="0" dirty="0">
                <a:latin typeface="Huawei Sans" panose="020C0503030203020204" pitchFamily="34" charset="0"/>
                <a:ea typeface="方正兰亭黑简体" panose="02000000000000000000" pitchFamily="2" charset="-122"/>
                <a:cs typeface="Huawei Sans" panose="020C0503030203020204" pitchFamily="34" charset="0"/>
              </a:defRPr>
            </a:lvl1pPr>
          </a:lstStyle>
          <a:p>
            <a:pPr marL="0" lvl="0" indent="0">
              <a:lnSpc>
                <a:spcPct val="100000"/>
              </a:lnSpc>
              <a:spcBef>
                <a:spcPts val="0"/>
              </a:spcBef>
            </a:pPr>
            <a:r>
              <a:rPr lang="zh-CN" altLang="en-US" dirty="0" smtClean="0"/>
              <a:t>单击此处添加文本</a:t>
            </a:r>
            <a:endParaRPr lang="en-US" dirty="0"/>
          </a:p>
        </p:txBody>
      </p:sp>
    </p:spTree>
    <p:extLst>
      <p:ext uri="{BB962C8B-B14F-4D97-AF65-F5344CB8AC3E}">
        <p14:creationId xmlns:p14="http://schemas.microsoft.com/office/powerpoint/2010/main" val="1391813821"/>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1#修订记录">
    <p:spTree>
      <p:nvGrpSpPr>
        <p:cNvPr id="1" name=""/>
        <p:cNvGrpSpPr/>
        <p:nvPr/>
      </p:nvGrpSpPr>
      <p:grpSpPr>
        <a:xfrm>
          <a:off x="0" y="0"/>
          <a:ext cx="0" cy="0"/>
          <a:chOff x="0" y="0"/>
          <a:chExt cx="0" cy="0"/>
        </a:xfrm>
      </p:grpSpPr>
      <p:graphicFrame>
        <p:nvGraphicFramePr>
          <p:cNvPr id="3" name="Group 3"/>
          <p:cNvGraphicFramePr>
            <a:graphicFrameLocks noGrp="1"/>
          </p:cNvGraphicFramePr>
          <p:nvPr userDrawn="1">
            <p:extLst/>
          </p:nvPr>
        </p:nvGraphicFramePr>
        <p:xfrm>
          <a:off x="1007140" y="1398424"/>
          <a:ext cx="10194260" cy="1082675"/>
        </p:xfrm>
        <a:graphic>
          <a:graphicData uri="http://schemas.openxmlformats.org/drawingml/2006/table">
            <a:tbl>
              <a:tblPr/>
              <a:tblGrid>
                <a:gridCol w="3119031">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084624">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课程编码</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适用产品</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产品版本</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课程版本</a:t>
                      </a:r>
                      <a:endPar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bl>
          </a:graphicData>
        </a:graphic>
      </p:graphicFrame>
      <p:graphicFrame>
        <p:nvGraphicFramePr>
          <p:cNvPr id="4" name="Group 21"/>
          <p:cNvGraphicFramePr>
            <a:graphicFrameLocks noGrp="1"/>
          </p:cNvGraphicFramePr>
          <p:nvPr userDrawn="1">
            <p:extLst/>
          </p:nvPr>
        </p:nvGraphicFramePr>
        <p:xfrm>
          <a:off x="1007140" y="2920836"/>
          <a:ext cx="10177327" cy="2549525"/>
        </p:xfrm>
        <a:graphic>
          <a:graphicData uri="http://schemas.openxmlformats.org/drawingml/2006/table">
            <a:tbl>
              <a:tblPr/>
              <a:tblGrid>
                <a:gridCol w="3119030">
                  <a:extLst>
                    <a:ext uri="{9D8B030D-6E8A-4147-A177-3AD203B41FA5}">
                      <a16:colId xmlns:a16="http://schemas.microsoft.com/office/drawing/2014/main" xmlns="" val="20000"/>
                    </a:ext>
                  </a:extLst>
                </a:gridCol>
                <a:gridCol w="1967450">
                  <a:extLst>
                    <a:ext uri="{9D8B030D-6E8A-4147-A177-3AD203B41FA5}">
                      <a16:colId xmlns:a16="http://schemas.microsoft.com/office/drawing/2014/main" xmlns="" val="20001"/>
                    </a:ext>
                  </a:extLst>
                </a:gridCol>
                <a:gridCol w="3023155">
                  <a:extLst>
                    <a:ext uri="{9D8B030D-6E8A-4147-A177-3AD203B41FA5}">
                      <a16:colId xmlns:a16="http://schemas.microsoft.com/office/drawing/2014/main" xmlns="" val="20002"/>
                    </a:ext>
                  </a:extLst>
                </a:gridCol>
                <a:gridCol w="2067692">
                  <a:extLst>
                    <a:ext uri="{9D8B030D-6E8A-4147-A177-3AD203B41FA5}">
                      <a16:colId xmlns:a16="http://schemas.microsoft.com/office/drawing/2014/main" xmlns="" val="20003"/>
                    </a:ext>
                  </a:extLst>
                </a:gridCol>
              </a:tblGrid>
              <a:tr h="5778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作者</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时间</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审核人</a:t>
                      </a:r>
                      <a:r>
                        <a:rPr kumimoji="1" lang="en-US"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a:t>
                      </a:r>
                      <a:r>
                        <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工号</a:t>
                      </a:r>
                    </a:p>
                  </a:txBody>
                  <a:tcPr marL="102659" marR="102659" marT="40053" marB="40053"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r>
                        <a:rPr kumimoji="1" lang="zh-CN" altLang="zh-CN"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rPr>
                        <a:t>新开发/优化</a:t>
                      </a:r>
                      <a:endParaRPr kumimoji="1" lang="zh-CN" altLang="en-US" sz="1800" b="1"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2659" marR="102659" marT="40053" marB="40053"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504825">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en-US"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488950">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40000"/>
                        </a:lnSpc>
                        <a:spcBef>
                          <a:spcPct val="30000"/>
                        </a:spcBef>
                        <a:spcAft>
                          <a:spcPct val="0"/>
                        </a:spcAft>
                        <a:buClr>
                          <a:srgbClr val="808080"/>
                        </a:buClr>
                        <a:buSzPct val="60000"/>
                        <a:buFont typeface="Wingdings" pitchFamily="2" charset="2"/>
                        <a:buNone/>
                        <a:tabLst/>
                      </a:pPr>
                      <a:endParaRPr kumimoji="0" lang="zh-CN" altLang="zh-CN" sz="1600" b="0" i="0" u="none" strike="noStrike" cap="none" normalizeH="0" baseline="0" dirty="0">
                        <a:ln>
                          <a:noFill/>
                        </a:ln>
                        <a:solidFill>
                          <a:schemeClr val="tx1"/>
                        </a:solidFill>
                        <a:effectLst/>
                        <a:latin typeface="Huawei Sans" panose="020C0503030203020204" pitchFamily="34" charset="0"/>
                        <a:ea typeface="方正兰亭黑简体" panose="02000000000000000000" pitchFamily="2" charset="-122"/>
                      </a:endParaRPr>
                    </a:p>
                  </a:txBody>
                  <a:tcPr marL="104303" marR="104303" marT="39127" marB="3912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bl>
          </a:graphicData>
        </a:graphic>
      </p:graphicFrame>
      <p:sp>
        <p:nvSpPr>
          <p:cNvPr id="5" name="文本占位符 7"/>
          <p:cNvSpPr>
            <a:spLocks noGrp="1"/>
          </p:cNvSpPr>
          <p:nvPr>
            <p:ph type="body" sz="quarter" idx="17" hasCustomPrompt="1"/>
          </p:nvPr>
        </p:nvSpPr>
        <p:spPr>
          <a:xfrm>
            <a:off x="1007139" y="1969626"/>
            <a:ext cx="3119030" cy="504887"/>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课程编码</a:t>
            </a:r>
          </a:p>
        </p:txBody>
      </p:sp>
      <p:sp>
        <p:nvSpPr>
          <p:cNvPr id="6" name="文本占位符 7"/>
          <p:cNvSpPr>
            <a:spLocks noGrp="1"/>
          </p:cNvSpPr>
          <p:nvPr>
            <p:ph type="body" sz="quarter" idx="18" hasCustomPrompt="1"/>
          </p:nvPr>
        </p:nvSpPr>
        <p:spPr>
          <a:xfrm>
            <a:off x="4126170" y="1969626"/>
            <a:ext cx="1967450"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适用的产品</a:t>
            </a:r>
          </a:p>
        </p:txBody>
      </p:sp>
      <p:sp>
        <p:nvSpPr>
          <p:cNvPr id="7" name="文本占位符 7"/>
          <p:cNvSpPr>
            <a:spLocks noGrp="1"/>
          </p:cNvSpPr>
          <p:nvPr>
            <p:ph type="body" sz="quarter" idx="19" hasCustomPrompt="1"/>
          </p:nvPr>
        </p:nvSpPr>
        <p:spPr>
          <a:xfrm>
            <a:off x="6093619" y="1969626"/>
            <a:ext cx="3023155" cy="504887"/>
          </a:xfrm>
          <a:prstGeom prst="rect">
            <a:avLst/>
          </a:prstGeom>
        </p:spPr>
        <p:txBody>
          <a:bodyPr anchor="ctr"/>
          <a:lstStyle>
            <a:lvl1pPr algn="ctr">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a:t>V5R2</a:t>
            </a:r>
            <a:endParaRPr lang="zh-CN" altLang="en-US" dirty="0"/>
          </a:p>
        </p:txBody>
      </p:sp>
      <p:sp>
        <p:nvSpPr>
          <p:cNvPr id="8" name="文本占位符 7"/>
          <p:cNvSpPr>
            <a:spLocks noGrp="1"/>
          </p:cNvSpPr>
          <p:nvPr>
            <p:ph type="body" sz="quarter" idx="20" hasCustomPrompt="1"/>
          </p:nvPr>
        </p:nvSpPr>
        <p:spPr>
          <a:xfrm>
            <a:off x="9116775" y="1969626"/>
            <a:ext cx="2084625" cy="504887"/>
          </a:xfrm>
          <a:prstGeom prst="rect">
            <a:avLst/>
          </a:prstGeom>
        </p:spPr>
        <p:txBody>
          <a:bodyPr anchor="ctr"/>
          <a:lstStyle>
            <a:lvl1pPr algn="ctr">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V1.0</a:t>
            </a:r>
            <a:endParaRPr lang="zh-CN" altLang="en-US" dirty="0"/>
          </a:p>
        </p:txBody>
      </p:sp>
      <p:sp>
        <p:nvSpPr>
          <p:cNvPr id="9" name="文本占位符 7"/>
          <p:cNvSpPr>
            <a:spLocks noGrp="1"/>
          </p:cNvSpPr>
          <p:nvPr>
            <p:ph type="body" sz="quarter" idx="13" hasCustomPrompt="1"/>
          </p:nvPr>
        </p:nvSpPr>
        <p:spPr>
          <a:xfrm>
            <a:off x="1007042" y="3517796"/>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0" name="文本占位符 7"/>
          <p:cNvSpPr>
            <a:spLocks noGrp="1"/>
          </p:cNvSpPr>
          <p:nvPr>
            <p:ph type="body" sz="quarter" idx="14" hasCustomPrompt="1"/>
          </p:nvPr>
        </p:nvSpPr>
        <p:spPr>
          <a:xfrm>
            <a:off x="4126170" y="3517796"/>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1" name="文本占位符 7"/>
          <p:cNvSpPr>
            <a:spLocks noGrp="1"/>
          </p:cNvSpPr>
          <p:nvPr>
            <p:ph type="body" sz="quarter" idx="15" hasCustomPrompt="1"/>
          </p:nvPr>
        </p:nvSpPr>
        <p:spPr>
          <a:xfrm>
            <a:off x="6093619" y="3517796"/>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2" name="文本占位符 7"/>
          <p:cNvSpPr>
            <a:spLocks noGrp="1"/>
          </p:cNvSpPr>
          <p:nvPr>
            <p:ph type="body" sz="quarter" idx="16" hasCustomPrompt="1"/>
          </p:nvPr>
        </p:nvSpPr>
        <p:spPr>
          <a:xfrm>
            <a:off x="9116775" y="3481792"/>
            <a:ext cx="2056050"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新开发</a:t>
            </a:r>
          </a:p>
        </p:txBody>
      </p:sp>
      <p:sp>
        <p:nvSpPr>
          <p:cNvPr id="13" name="Rectangle 2"/>
          <p:cNvSpPr>
            <a:spLocks noChangeArrowheads="1"/>
          </p:cNvSpPr>
          <p:nvPr userDrawn="1"/>
        </p:nvSpPr>
        <p:spPr bwMode="auto">
          <a:xfrm>
            <a:off x="952130" y="368661"/>
            <a:ext cx="2802144" cy="479425"/>
          </a:xfrm>
          <a:prstGeom prst="rect">
            <a:avLst/>
          </a:prstGeom>
          <a:noFill/>
          <a:ln w="9525">
            <a:noFill/>
            <a:miter lim="800000"/>
            <a:headEnd/>
            <a:tailEnd/>
          </a:ln>
        </p:spPr>
        <p:txBody>
          <a:bodyPr lIns="78227" tIns="39112" rIns="78227" bIns="39112" anchor="ctr"/>
          <a:lstStyle/>
          <a:p>
            <a:pPr algn="l" defTabSz="1001223" rtl="0" eaLnBrk="0" fontAlgn="ctr" hangingPunct="0">
              <a:spcBef>
                <a:spcPct val="0"/>
              </a:spcBef>
              <a:spcAft>
                <a:spcPct val="0"/>
              </a:spcAft>
            </a:pPr>
            <a:r>
              <a:rPr lang="zh-CN" altLang="en-US" sz="3499" b="0" kern="120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修订记录</a:t>
            </a:r>
          </a:p>
        </p:txBody>
      </p:sp>
      <p:sp>
        <p:nvSpPr>
          <p:cNvPr id="14" name="Text Box 58"/>
          <p:cNvSpPr txBox="1">
            <a:spLocks noChangeArrowheads="1"/>
          </p:cNvSpPr>
          <p:nvPr userDrawn="1"/>
        </p:nvSpPr>
        <p:spPr bwMode="auto">
          <a:xfrm>
            <a:off x="8900835" y="296652"/>
            <a:ext cx="2771225" cy="707886"/>
          </a:xfrm>
          <a:prstGeom prst="rect">
            <a:avLst/>
          </a:prstGeom>
          <a:noFill/>
          <a:ln w="9525" algn="ctr">
            <a:noFill/>
            <a:miter lim="800000"/>
            <a:headEnd/>
            <a:tailEnd/>
          </a:ln>
        </p:spPr>
        <p:txBody>
          <a:bodyPr wrap="square">
            <a:spAutoFit/>
          </a:bodyPr>
          <a:lstStyle/>
          <a:p>
            <a:pPr fontAlgn="ctr">
              <a:spcBef>
                <a:spcPct val="50000"/>
              </a:spcBef>
            </a:pPr>
            <a:r>
              <a:rPr lang="zh-CN" altLang="en-US" sz="3998" i="0" baseline="0" dirty="0">
                <a:solidFill>
                  <a:schemeClr val="bg2">
                    <a:lumMod val="50000"/>
                  </a:schemeClr>
                </a:solidFill>
                <a:latin typeface="Huawei Sans" panose="020C0503030203020204" pitchFamily="34" charset="0"/>
                <a:ea typeface="方正兰亭黑简体" panose="02000000000000000000" pitchFamily="2" charset="-122"/>
                <a:cs typeface="Huawei Sans" panose="020C0503030203020204" pitchFamily="34" charset="0"/>
              </a:rPr>
              <a:t>本页不打印</a:t>
            </a:r>
          </a:p>
        </p:txBody>
      </p:sp>
      <p:sp>
        <p:nvSpPr>
          <p:cNvPr id="15" name="文本占位符 7"/>
          <p:cNvSpPr>
            <a:spLocks noGrp="1"/>
          </p:cNvSpPr>
          <p:nvPr>
            <p:ph type="body" sz="quarter" idx="21" hasCustomPrompt="1"/>
          </p:nvPr>
        </p:nvSpPr>
        <p:spPr>
          <a:xfrm>
            <a:off x="1007042" y="4021852"/>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6" name="文本占位符 7"/>
          <p:cNvSpPr>
            <a:spLocks noGrp="1"/>
          </p:cNvSpPr>
          <p:nvPr>
            <p:ph type="body" sz="quarter" idx="22" hasCustomPrompt="1"/>
          </p:nvPr>
        </p:nvSpPr>
        <p:spPr>
          <a:xfrm>
            <a:off x="4126170" y="4021852"/>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17" name="文本占位符 7"/>
          <p:cNvSpPr>
            <a:spLocks noGrp="1"/>
          </p:cNvSpPr>
          <p:nvPr>
            <p:ph type="body" sz="quarter" idx="23" hasCustomPrompt="1"/>
          </p:nvPr>
        </p:nvSpPr>
        <p:spPr>
          <a:xfrm>
            <a:off x="6093619" y="4021852"/>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18" name="文本占位符 7"/>
          <p:cNvSpPr>
            <a:spLocks noGrp="1"/>
          </p:cNvSpPr>
          <p:nvPr>
            <p:ph type="body" sz="quarter" idx="24" hasCustomPrompt="1"/>
          </p:nvPr>
        </p:nvSpPr>
        <p:spPr>
          <a:xfrm>
            <a:off x="9116775" y="3985848"/>
            <a:ext cx="2084625" cy="504056"/>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19" name="文本占位符 7"/>
          <p:cNvSpPr>
            <a:spLocks noGrp="1"/>
          </p:cNvSpPr>
          <p:nvPr>
            <p:ph type="body" sz="quarter" idx="25" hasCustomPrompt="1"/>
          </p:nvPr>
        </p:nvSpPr>
        <p:spPr>
          <a:xfrm>
            <a:off x="1007042" y="448990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0" name="文本占位符 7"/>
          <p:cNvSpPr>
            <a:spLocks noGrp="1"/>
          </p:cNvSpPr>
          <p:nvPr>
            <p:ph type="body" sz="quarter" idx="26" hasCustomPrompt="1"/>
          </p:nvPr>
        </p:nvSpPr>
        <p:spPr>
          <a:xfrm>
            <a:off x="4126170" y="4489904"/>
            <a:ext cx="19674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1" name="文本占位符 7"/>
          <p:cNvSpPr>
            <a:spLocks noGrp="1"/>
          </p:cNvSpPr>
          <p:nvPr>
            <p:ph type="body" sz="quarter" idx="27" hasCustomPrompt="1"/>
          </p:nvPr>
        </p:nvSpPr>
        <p:spPr>
          <a:xfrm>
            <a:off x="6093619" y="448990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2" name="文本占位符 7"/>
          <p:cNvSpPr>
            <a:spLocks noGrp="1"/>
          </p:cNvSpPr>
          <p:nvPr>
            <p:ph type="body" sz="quarter" idx="28" hasCustomPrompt="1"/>
          </p:nvPr>
        </p:nvSpPr>
        <p:spPr>
          <a:xfrm>
            <a:off x="9116775" y="4489904"/>
            <a:ext cx="2056050"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
        <p:nvSpPr>
          <p:cNvPr id="23" name="文本占位符 7"/>
          <p:cNvSpPr>
            <a:spLocks noGrp="1"/>
          </p:cNvSpPr>
          <p:nvPr>
            <p:ph type="body" sz="quarter" idx="29" hasCustomPrompt="1"/>
          </p:nvPr>
        </p:nvSpPr>
        <p:spPr>
          <a:xfrm>
            <a:off x="1007042" y="4999074"/>
            <a:ext cx="3119128"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4" name="文本占位符 7"/>
          <p:cNvSpPr>
            <a:spLocks noGrp="1"/>
          </p:cNvSpPr>
          <p:nvPr>
            <p:ph type="body" sz="quarter" idx="30" hasCustomPrompt="1"/>
          </p:nvPr>
        </p:nvSpPr>
        <p:spPr>
          <a:xfrm>
            <a:off x="4126170" y="4999074"/>
            <a:ext cx="1967450" cy="468052"/>
          </a:xfrm>
          <a:prstGeom prst="rect">
            <a:avLst/>
          </a:prstGeom>
        </p:spPr>
        <p:txBody>
          <a:bodyPr anchor="ctr"/>
          <a:lstStyle>
            <a:lvl1pPr algn="ctr" fontAlgn="base">
              <a:lnSpc>
                <a:spcPct val="100000"/>
              </a:lnSpc>
              <a:buNone/>
              <a:defRPr lang="zh-CN" altLang="en-US" sz="1599" kern="1200" baseline="0" dirty="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en-US" altLang="zh-CN" dirty="0" smtClean="0"/>
              <a:t>2019.01.25</a:t>
            </a:r>
            <a:endParaRPr lang="zh-CN" altLang="en-US" dirty="0"/>
          </a:p>
        </p:txBody>
      </p:sp>
      <p:sp>
        <p:nvSpPr>
          <p:cNvPr id="25" name="文本占位符 7"/>
          <p:cNvSpPr>
            <a:spLocks noGrp="1"/>
          </p:cNvSpPr>
          <p:nvPr>
            <p:ph type="body" sz="quarter" idx="31" hasCustomPrompt="1"/>
          </p:nvPr>
        </p:nvSpPr>
        <p:spPr>
          <a:xfrm>
            <a:off x="6093619" y="4999074"/>
            <a:ext cx="302315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姓名</a:t>
            </a:r>
            <a:r>
              <a:rPr lang="en-US" altLang="zh-CN" dirty="0"/>
              <a:t>/</a:t>
            </a:r>
            <a:r>
              <a:rPr lang="zh-CN" altLang="en-US" dirty="0"/>
              <a:t>工号</a:t>
            </a:r>
          </a:p>
        </p:txBody>
      </p:sp>
      <p:sp>
        <p:nvSpPr>
          <p:cNvPr id="26" name="文本占位符 7"/>
          <p:cNvSpPr>
            <a:spLocks noGrp="1"/>
          </p:cNvSpPr>
          <p:nvPr>
            <p:ph type="body" sz="quarter" idx="32" hasCustomPrompt="1"/>
          </p:nvPr>
        </p:nvSpPr>
        <p:spPr>
          <a:xfrm>
            <a:off x="9116775" y="4999074"/>
            <a:ext cx="2084625" cy="468052"/>
          </a:xfrm>
          <a:prstGeom prst="rect">
            <a:avLst/>
          </a:prstGeom>
        </p:spPr>
        <p:txBody>
          <a:bodyPr anchor="ctr"/>
          <a:lstStyle>
            <a:lvl1pPr algn="ctr" fontAlgn="base">
              <a:lnSpc>
                <a:spcPct val="100000"/>
              </a:lnSpc>
              <a:buNone/>
              <a:defRPr sz="1599" baseline="0">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优化</a:t>
            </a:r>
          </a:p>
        </p:txBody>
      </p:sp>
    </p:spTree>
    <p:extLst>
      <p:ext uri="{BB962C8B-B14F-4D97-AF65-F5344CB8AC3E}">
        <p14:creationId xmlns:p14="http://schemas.microsoft.com/office/powerpoint/2010/main" val="80025264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3#前言">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a:t>本章主要讲述</a:t>
            </a:r>
            <a:r>
              <a:rPr lang="en-US" altLang="zh-CN" dirty="0"/>
              <a:t>...</a:t>
            </a:r>
          </a:p>
          <a:p>
            <a:pPr lvl="1"/>
            <a:r>
              <a:rPr lang="zh-CN" altLang="en-US" dirty="0"/>
              <a:t>第二</a:t>
            </a:r>
            <a:r>
              <a:rPr lang="zh-CN" altLang="en-US" dirty="0" smtClean="0"/>
              <a:t>级</a:t>
            </a:r>
            <a:endParaRPr lang="zh-CN" altLang="en-US" dirty="0"/>
          </a:p>
          <a:p>
            <a:pPr lvl="2"/>
            <a:r>
              <a:rPr lang="zh-CN" altLang="en-US" dirty="0"/>
              <a:t>第三级</a:t>
            </a:r>
          </a:p>
          <a:p>
            <a:pPr lvl="3"/>
            <a:r>
              <a:rPr lang="zh-CN" altLang="en-US" dirty="0"/>
              <a:t>第四级</a:t>
            </a:r>
          </a:p>
          <a:p>
            <a:pPr lvl="4"/>
            <a:r>
              <a:rPr lang="zh-CN" altLang="en-US" dirty="0"/>
              <a:t>第五级</a:t>
            </a:r>
          </a:p>
          <a:p>
            <a:pPr eaLnBrk="1" hangingPunct="1"/>
            <a:endParaRPr lang="en-US" altLang="zh-CN"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xmlns="" id="{568EC886-2612-1F43-AB51-21A76A078357}"/>
              </a:ext>
            </a:extLst>
          </p:cNvPr>
          <p:cNvSpPr txBox="1"/>
          <p:nvPr userDrawn="1"/>
        </p:nvSpPr>
        <p:spPr>
          <a:xfrm>
            <a:off x="918916" y="630373"/>
            <a:ext cx="1117614"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前言</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19170045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4#目标">
    <p:bg bwMode="gray">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hasCustomPrompt="1"/>
          </p:nvPr>
        </p:nvSpPr>
        <p:spPr>
          <a:xfrm>
            <a:off x="1019174" y="1844675"/>
            <a:ext cx="10153651" cy="4082668"/>
          </a:xfrm>
          <a:prstGeom prst="rect">
            <a:avLst/>
          </a:prstGeom>
        </p:spPr>
        <p:txBody>
          <a:bodyPr/>
          <a:lstStyle>
            <a:lvl1pPr marL="302279" indent="-302279" algn="just" eaLnBrk="1" fontAlgn="base" hangingPunct="1">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eaLnBrk="1" hangingPunct="1"/>
            <a:r>
              <a:rPr lang="zh-CN" altLang="en-US" dirty="0" smtClean="0"/>
              <a:t>学完本课程后，您将能够：</a:t>
            </a:r>
            <a:endParaRPr lang="en-US" altLang="zh-CN" dirty="0" smtClean="0"/>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xmlns="" id="{568EC886-2612-1F43-AB51-21A76A078357}"/>
              </a:ext>
            </a:extLst>
          </p:cNvPr>
          <p:cNvSpPr txBox="1"/>
          <p:nvPr userDrawn="1"/>
        </p:nvSpPr>
        <p:spPr>
          <a:xfrm>
            <a:off x="918916" y="630373"/>
            <a:ext cx="1120820"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目标</a:t>
            </a:r>
            <a:endParaRPr lang="en-US" altLang="zh-CN"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46285438"/>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5#目录">
    <p:bg bwMode="gray">
      <p:bgPr>
        <a:solidFill>
          <a:srgbClr val="EBEBEB"/>
        </a:solidFill>
        <a:effectLst/>
      </p:bgPr>
    </p:bg>
    <p:spTree>
      <p:nvGrpSpPr>
        <p:cNvPr id="1" name=""/>
        <p:cNvGrpSpPr/>
        <p:nvPr/>
      </p:nvGrpSpPr>
      <p:grpSpPr>
        <a:xfrm>
          <a:off x="0" y="0"/>
          <a:ext cx="0" cy="0"/>
          <a:chOff x="0" y="0"/>
          <a:chExt cx="0" cy="0"/>
        </a:xfrm>
      </p:grpSpPr>
      <p:sp>
        <p:nvSpPr>
          <p:cNvPr id="29" name="文本占位符 6"/>
          <p:cNvSpPr>
            <a:spLocks noGrp="1"/>
          </p:cNvSpPr>
          <p:nvPr>
            <p:ph type="body" sz="quarter" idx="10" hasCustomPrompt="1"/>
          </p:nvPr>
        </p:nvSpPr>
        <p:spPr>
          <a:xfrm>
            <a:off x="1019175" y="1844675"/>
            <a:ext cx="10153650" cy="4068811"/>
          </a:xfrm>
          <a:prstGeom prst="rect">
            <a:avLst/>
          </a:prstGeom>
        </p:spPr>
        <p:txBody>
          <a:bodyPr/>
          <a:lstStyle>
            <a:lvl1pPr marL="457017" marR="0" indent="-457017" algn="just" defTabSz="801367" rtl="0" eaLnBrk="1" fontAlgn="ctr" latinLnBrk="0" hangingPunct="1">
              <a:lnSpc>
                <a:spcPct val="140000"/>
              </a:lnSpc>
              <a:spcBef>
                <a:spcPct val="30000"/>
              </a:spcBef>
              <a:spcAft>
                <a:spcPct val="0"/>
              </a:spcAft>
              <a:buClrTx/>
              <a:buSzPct val="100000"/>
              <a:buFont typeface="+mj-lt"/>
              <a:buAutoNum type="arabicPeriod"/>
              <a:tabLst/>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fontAlgn="ctr">
              <a:buClrTx/>
              <a:buSzPct val="100000"/>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2pPr>
            <a:lvl3pPr>
              <a:defRPr/>
            </a:lvl3pPr>
            <a:lvl5pPr>
              <a:buNone/>
              <a:defRPr/>
            </a:lvl5pPr>
          </a:lstStyle>
          <a:p>
            <a:pPr marL="457200" indent="-457200">
              <a:buSzPct val="100000"/>
              <a:buFont typeface="+mj-lt"/>
              <a:buAutoNum type="arabicPeriod"/>
            </a:pPr>
            <a:r>
              <a:rPr lang="zh-CN" altLang="en-US" dirty="0"/>
              <a:t>一级目录一</a:t>
            </a:r>
            <a:endParaRPr lang="en-US" altLang="zh-CN" dirty="0"/>
          </a:p>
          <a:p>
            <a:pPr marL="653788" lvl="1" indent="-457017">
              <a:buSzPct val="100000"/>
              <a:buFont typeface="+mj-lt"/>
              <a:buAutoNum type="arabicPeriod"/>
            </a:pPr>
            <a:endParaRPr lang="en-US" altLang="zh-CN" dirty="0"/>
          </a:p>
          <a:p>
            <a:pPr marL="457200" indent="-457200">
              <a:buSzPct val="100000"/>
              <a:buFont typeface="+mj-lt"/>
              <a:buAutoNum type="arabicPeriod"/>
            </a:pPr>
            <a:r>
              <a:rPr lang="zh-CN" altLang="en-US" dirty="0"/>
              <a:t>一级目录二</a:t>
            </a:r>
            <a:endParaRPr lang="en-US" altLang="zh-CN" dirty="0"/>
          </a:p>
          <a:p>
            <a:pPr marL="457200" indent="-457200">
              <a:buSzPct val="100000"/>
              <a:buFont typeface="+mj-lt"/>
              <a:buAutoNum type="arabicPeriod"/>
            </a:pPr>
            <a:r>
              <a:rPr lang="zh-CN" altLang="en-US" dirty="0"/>
              <a:t>一级目录三</a:t>
            </a:r>
            <a:endParaRPr lang="en-US" altLang="zh-CN" dirty="0"/>
          </a:p>
          <a:p>
            <a:pPr marL="457200" indent="-457200">
              <a:buSzPct val="100000"/>
              <a:buFont typeface="+mj-lt"/>
              <a:buAutoNum type="arabicPeriod"/>
            </a:pPr>
            <a:r>
              <a:rPr lang="zh-CN" altLang="en-US" dirty="0"/>
              <a:t>一级目录四</a:t>
            </a:r>
            <a:endParaRPr lang="en-US" altLang="zh-CN" dirty="0"/>
          </a:p>
          <a:p>
            <a:endParaRPr lang="zh-CN" altLang="en-US" dirty="0"/>
          </a:p>
        </p:txBody>
      </p:sp>
      <p:cxnSp>
        <p:nvCxnSpPr>
          <p:cNvPr id="28"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8" y="1349255"/>
            <a:ext cx="885967"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30" name="文本框 16">
            <a:extLst>
              <a:ext uri="{FF2B5EF4-FFF2-40B4-BE49-F238E27FC236}">
                <a16:creationId xmlns:a16="http://schemas.microsoft.com/office/drawing/2014/main" xmlns="" id="{568EC886-2612-1F43-AB51-21A76A078357}"/>
              </a:ext>
            </a:extLst>
          </p:cNvPr>
          <p:cNvSpPr txBox="1"/>
          <p:nvPr userDrawn="1"/>
        </p:nvSpPr>
        <p:spPr>
          <a:xfrm>
            <a:off x="918916" y="630373"/>
            <a:ext cx="1147485" cy="653509"/>
          </a:xfrm>
          <a:prstGeom prst="rect">
            <a:avLst/>
          </a:prstGeom>
          <a:noFill/>
        </p:spPr>
        <p:txBody>
          <a:bodyPr wrap="none" rtlCol="0">
            <a:spAutoFit/>
          </a:bodyPr>
          <a:lstStyle>
            <a:defPPr>
              <a:defRPr lang="en-US"/>
            </a:defPPr>
            <a:lvl1pPr defTabSz="1001223" eaLnBrk="0" fontAlgn="ctr" hangingPunct="0">
              <a:defRPr sz="3640" b="0" baseline="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defRPr>
            </a:lvl1pPr>
          </a:lstStyle>
          <a:p>
            <a:pPr lvl="0"/>
            <a:r>
              <a:rPr lang="zh-CN" altLang="en-US" dirty="0"/>
              <a:t>目录</a:t>
            </a:r>
          </a:p>
        </p:txBody>
      </p:sp>
    </p:spTree>
    <p:extLst>
      <p:ext uri="{BB962C8B-B14F-4D97-AF65-F5344CB8AC3E}">
        <p14:creationId xmlns:p14="http://schemas.microsoft.com/office/powerpoint/2010/main" val="35252394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6#本节概述和学习目标(可选)">
    <p:bg>
      <p:bgPr>
        <a:solidFill>
          <a:srgbClr val="EBEBEB"/>
        </a:solidFill>
        <a:effectLst/>
      </p:bgPr>
    </p:bg>
    <p:spTree>
      <p:nvGrpSpPr>
        <p:cNvPr id="1" name=""/>
        <p:cNvGrpSpPr/>
        <p:nvPr/>
      </p:nvGrpSpPr>
      <p:grpSpPr>
        <a:xfrm>
          <a:off x="0" y="0"/>
          <a:ext cx="0" cy="0"/>
          <a:chOff x="0" y="0"/>
          <a:chExt cx="0" cy="0"/>
        </a:xfrm>
      </p:grpSpPr>
      <p:sp>
        <p:nvSpPr>
          <p:cNvPr id="15" name="文本占位符 6"/>
          <p:cNvSpPr>
            <a:spLocks noGrp="1"/>
          </p:cNvSpPr>
          <p:nvPr>
            <p:ph type="body" sz="quarter" idx="10"/>
          </p:nvPr>
        </p:nvSpPr>
        <p:spPr>
          <a:xfrm>
            <a:off x="1019174" y="1844675"/>
            <a:ext cx="10153651" cy="4082668"/>
          </a:xfrm>
          <a:prstGeom prst="rect">
            <a:avLst/>
          </a:prstGeom>
        </p:spPr>
        <p:txBody>
          <a:bodyPr/>
          <a:lstStyle>
            <a:lvl1pPr marL="302279" indent="-302279" algn="just" fontAlgn="base">
              <a:buClrTx/>
              <a:buSzPct val="50000"/>
              <a:buFont typeface="Wingdings" panose="05000000000000000000" pitchFamily="2" charset="2"/>
              <a:buChar char="l"/>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marL="654938" indent="-251899" fontAlgn="base">
              <a:buClrTx/>
              <a:buSzPct val="50000"/>
              <a:buFont typeface="Wingdings" panose="05000000000000000000" pitchFamily="2" charset="2"/>
              <a:buChar char="p"/>
              <a:defRPr baseline="0">
                <a:solidFill>
                  <a:schemeClr val="tx1"/>
                </a:solidFill>
                <a:latin typeface="Huawei Sans" panose="020C0503030203020204" pitchFamily="34" charset="0"/>
                <a:ea typeface="方正兰亭黑简体" panose="02000000000000000000" pitchFamily="2" charset="-122"/>
              </a:defRPr>
            </a:lvl2pPr>
            <a:lvl3pPr marL="1003998" indent="-201519" fontAlgn="base">
              <a:buSzPct val="50000"/>
              <a:buFont typeface="Wingdings" panose="05000000000000000000" pitchFamily="2" charset="2"/>
              <a:buChar char="n"/>
              <a:defRPr lang="zh-CN" altLang="en-US" baseline="0" dirty="0" smtClean="0">
                <a:solidFill>
                  <a:schemeClr val="tx1"/>
                </a:solidFill>
                <a:latin typeface="Huawei Sans" panose="020C0503030203020204" pitchFamily="34" charset="0"/>
                <a:ea typeface="方正兰亭黑简体" panose="02000000000000000000" pitchFamily="2" charset="-122"/>
              </a:defRPr>
            </a:lvl3pPr>
            <a:lvl4pPr fontAlgn="base">
              <a:defRPr baseline="0">
                <a:latin typeface="Huawei Sans" panose="020C0503030203020204" pitchFamily="34" charset="0"/>
                <a:ea typeface="方正兰亭黑简体" panose="02000000000000000000" pitchFamily="2" charset="-122"/>
              </a:defRPr>
            </a:lvl4pPr>
            <a:lvl5pPr marL="1802879" indent="-201519" fontAlgn="base">
              <a:buClrTx/>
              <a:buFont typeface="Huawei Sans" panose="020C0503030203020204" pitchFamily="34" charset="0"/>
              <a:buChar char="~"/>
              <a:defRPr baseline="0">
                <a:latin typeface="Huawei Sans" panose="020C0503030203020204" pitchFamily="34" charset="0"/>
                <a:ea typeface="方正兰亭黑简体" panose="02000000000000000000" pitchFamily="2" charset="-122"/>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a:p>
            <a:pPr eaLnBrk="1" hangingPunct="1"/>
            <a:endParaRPr lang="en-US" altLang="zh-CN"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414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7" name="文本框 16">
            <a:extLst>
              <a:ext uri="{FF2B5EF4-FFF2-40B4-BE49-F238E27FC236}">
                <a16:creationId xmlns:a16="http://schemas.microsoft.com/office/drawing/2014/main" xmlns="" id="{568EC886-2612-1F43-AB51-21A76A078357}"/>
              </a:ext>
            </a:extLst>
          </p:cNvPr>
          <p:cNvSpPr txBox="1"/>
          <p:nvPr userDrawn="1"/>
        </p:nvSpPr>
        <p:spPr>
          <a:xfrm>
            <a:off x="918916" y="630373"/>
            <a:ext cx="4397358" cy="652486"/>
          </a:xfrm>
          <a:prstGeom prst="rect">
            <a:avLst/>
          </a:prstGeom>
          <a:noFill/>
        </p:spPr>
        <p:txBody>
          <a:bodyPr wrap="none" rtlCol="0">
            <a:spAutoFit/>
          </a:bodyPr>
          <a:lstStyle/>
          <a:p>
            <a:pPr defTabSz="1001223" eaLnBrk="0" fontAlgn="ctr" hangingPunct="0"/>
            <a:r>
              <a:rPr lang="zh-CN" altLang="en-US" sz="3640" b="0" baseline="0" dirty="0" smtClean="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rPr>
              <a:t>本节概述和学习目标</a:t>
            </a:r>
            <a:endParaRPr lang="zh-CN" altLang="en-US" sz="3640" b="0" baseline="0" dirty="0">
              <a:solidFill>
                <a:schemeClr val="tx1">
                  <a:lumMod val="75000"/>
                  <a:lumOff val="25000"/>
                </a:schemeClr>
              </a:solidFill>
              <a:latin typeface="Huawei Sans" panose="020C0503030203020204" pitchFamily="34" charset="0"/>
              <a:ea typeface="方正兰亭黑简体" panose="02000000000000000000" pitchFamily="2" charset="-122"/>
              <a:cs typeface="Huawei Sans" panose="020C0503030203020204" pitchFamily="34" charset="0"/>
            </a:endParaRPr>
          </a:p>
        </p:txBody>
      </p:sp>
    </p:spTree>
    <p:extLst>
      <p:ext uri="{BB962C8B-B14F-4D97-AF65-F5344CB8AC3E}">
        <p14:creationId xmlns:p14="http://schemas.microsoft.com/office/powerpoint/2010/main" val="1036787055"/>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pos="642">
          <p15:clr>
            <a:srgbClr val="FBAE40"/>
          </p15:clr>
        </p15:guide>
        <p15:guide id="2" pos="7038">
          <p15:clr>
            <a:srgbClr val="FBAE40"/>
          </p15:clr>
        </p15:guide>
        <p15:guide id="3" orient="horz" pos="116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10#思考题">
    <p:spTree>
      <p:nvGrpSpPr>
        <p:cNvPr id="1" name=""/>
        <p:cNvGrpSpPr/>
        <p:nvPr/>
      </p:nvGrpSpPr>
      <p:grpSpPr>
        <a:xfrm>
          <a:off x="0" y="0"/>
          <a:ext cx="0" cy="0"/>
          <a:chOff x="0" y="0"/>
          <a:chExt cx="0" cy="0"/>
        </a:xfrm>
      </p:grpSpPr>
      <p:sp>
        <p:nvSpPr>
          <p:cNvPr id="4" name="文本占位符 6"/>
          <p:cNvSpPr>
            <a:spLocks noGrp="1"/>
          </p:cNvSpPr>
          <p:nvPr>
            <p:ph type="body" sz="quarter" idx="10" hasCustomPrompt="1"/>
          </p:nvPr>
        </p:nvSpPr>
        <p:spPr>
          <a:xfrm>
            <a:off x="1019176" y="1844675"/>
            <a:ext cx="10153650" cy="4068812"/>
          </a:xfrm>
          <a:prstGeom prst="rect">
            <a:avLst/>
          </a:prstGeom>
        </p:spPr>
        <p:txBody>
          <a:bodyPr/>
          <a:lstStyle>
            <a:lvl1pPr marL="457200" marR="0" indent="-457200" algn="just" defTabSz="801688" rtl="0" eaLnBrk="1" fontAlgn="base" latinLnBrk="0" hangingPunct="1">
              <a:lnSpc>
                <a:spcPct val="140000"/>
              </a:lnSpc>
              <a:spcBef>
                <a:spcPct val="30000"/>
              </a:spcBef>
              <a:spcAft>
                <a:spcPct val="0"/>
              </a:spcAft>
              <a:buClr>
                <a:schemeClr val="tx1"/>
              </a:buClr>
              <a:buSzPct val="100000"/>
              <a:buFont typeface="+mj-lt"/>
              <a:buAutoNum type="arabicPeriod"/>
              <a:tabLst/>
              <a:defRPr sz="2000" baseline="0">
                <a:latin typeface="Huawei Sans" panose="020C0503030203020204" pitchFamily="34" charset="0"/>
                <a:ea typeface="方正兰亭黑简体" panose="02000000000000000000" pitchFamily="2" charset="-122"/>
                <a:cs typeface="Huawei Sans" panose="020C0503030203020204" pitchFamily="34" charset="0"/>
              </a:defRPr>
            </a:lvl1pPr>
            <a:lvl2pPr marL="744537" indent="-342900" algn="just" fontAlgn="ctr">
              <a:buSzPct val="100000"/>
              <a:buFont typeface="+mj-lt"/>
              <a:buAutoNum type="alphaUcPeriod"/>
              <a:defRPr sz="1800" baseline="0">
                <a:latin typeface="Huawei Sans" panose="020C0503030203020204" pitchFamily="34" charset="0"/>
              </a:defRPr>
            </a:lvl2pPr>
            <a:lvl3pPr>
              <a:defRPr/>
            </a:lvl3pPr>
            <a:lvl5pPr>
              <a:buNone/>
              <a:defRPr/>
            </a:lvl5pPr>
          </a:lstStyle>
          <a:p>
            <a:r>
              <a:rPr lang="zh-CN" altLang="en-US" dirty="0" smtClean="0"/>
              <a:t>此</a:t>
            </a:r>
            <a:r>
              <a:rPr lang="zh-CN" altLang="en-US" dirty="0"/>
              <a:t>版式用于</a:t>
            </a:r>
            <a:r>
              <a:rPr lang="zh-CN" altLang="en-US" dirty="0" smtClean="0"/>
              <a:t>思考题具体格式</a:t>
            </a:r>
            <a:endParaRPr lang="en-US" altLang="zh-CN" dirty="0" smtClean="0"/>
          </a:p>
        </p:txBody>
      </p:sp>
      <p:cxnSp>
        <p:nvCxnSpPr>
          <p:cNvPr id="2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368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25" name="文本框 16">
            <a:extLst>
              <a:ext uri="{FF2B5EF4-FFF2-40B4-BE49-F238E27FC236}">
                <a16:creationId xmlns:a16="http://schemas.microsoft.com/office/drawing/2014/main" xmlns="" id="{568EC886-2612-1F43-AB51-21A76A078357}"/>
              </a:ext>
            </a:extLst>
          </p:cNvPr>
          <p:cNvSpPr txBox="1"/>
          <p:nvPr userDrawn="1"/>
        </p:nvSpPr>
        <p:spPr>
          <a:xfrm>
            <a:off x="918916" y="630373"/>
            <a:ext cx="1584088"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思考题</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55710467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11#本节小结（可选）">
    <p:spTree>
      <p:nvGrpSpPr>
        <p:cNvPr id="1" name=""/>
        <p:cNvGrpSpPr/>
        <p:nvPr/>
      </p:nvGrpSpPr>
      <p:grpSpPr>
        <a:xfrm>
          <a:off x="0" y="0"/>
          <a:ext cx="0" cy="0"/>
          <a:chOff x="0" y="0"/>
          <a:chExt cx="0" cy="0"/>
        </a:xfrm>
      </p:grpSpPr>
      <p:sp>
        <p:nvSpPr>
          <p:cNvPr id="10" name="内容占位符 6"/>
          <p:cNvSpPr>
            <a:spLocks noGrp="1"/>
          </p:cNvSpPr>
          <p:nvPr>
            <p:ph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smtClean="0"/>
              <a:t>此版式用于每一节的小结</a:t>
            </a:r>
          </a:p>
          <a:p>
            <a:pPr lvl="1"/>
            <a:r>
              <a:rPr lang="zh-CN" altLang="en-US" dirty="0" smtClean="0"/>
              <a:t>第二</a:t>
            </a:r>
            <a:r>
              <a:rPr lang="zh-CN" altLang="en-US" dirty="0"/>
              <a:t>级</a:t>
            </a:r>
          </a:p>
          <a:p>
            <a:pPr lvl="2"/>
            <a:r>
              <a:rPr lang="zh-CN" altLang="en-US" dirty="0"/>
              <a:t>第三级</a:t>
            </a:r>
          </a:p>
          <a:p>
            <a:pPr lvl="3"/>
            <a:r>
              <a:rPr lang="zh-CN" altLang="en-US" dirty="0"/>
              <a:t>第四级</a:t>
            </a:r>
          </a:p>
          <a:p>
            <a:pPr lvl="4"/>
            <a:r>
              <a:rPr lang="zh-CN" altLang="en-US" dirty="0"/>
              <a:t>第五级</a:t>
            </a:r>
          </a:p>
        </p:txBody>
      </p:sp>
      <p:cxnSp>
        <p:nvCxnSpPr>
          <p:cNvPr id="11"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2"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本节小结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3295293137"/>
      </p:ext>
    </p:extLst>
  </p:cSld>
  <p:clrMapOvr>
    <a:masterClrMapping/>
  </p:clrMapOvr>
  <p:timing>
    <p:tnLst>
      <p:par>
        <p:cTn id="1" dur="indefinite" restart="never" nodeType="tmRoot"/>
      </p:par>
    </p:tnLst>
  </p:timing>
  <p:extLst mod="1">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12#本章总结">
    <p:spTree>
      <p:nvGrpSpPr>
        <p:cNvPr id="1" name=""/>
        <p:cNvGrpSpPr/>
        <p:nvPr/>
      </p:nvGrpSpPr>
      <p:grpSpPr>
        <a:xfrm>
          <a:off x="0" y="0"/>
          <a:ext cx="0" cy="0"/>
          <a:chOff x="0" y="0"/>
          <a:chExt cx="0" cy="0"/>
        </a:xfrm>
      </p:grpSpPr>
      <p:sp>
        <p:nvSpPr>
          <p:cNvPr id="10" name="内容占位符 6"/>
          <p:cNvSpPr>
            <a:spLocks noGrp="1"/>
          </p:cNvSpPr>
          <p:nvPr>
            <p:ph sz="quarter" idx="10"/>
          </p:nvPr>
        </p:nvSpPr>
        <p:spPr>
          <a:xfrm>
            <a:off x="1019175" y="1844675"/>
            <a:ext cx="10153650" cy="4082880"/>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2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2pPr>
            <a:lvl3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3pPr>
            <a:lvl4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4pPr>
            <a:lvl5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cxnSp>
        <p:nvCxnSpPr>
          <p:cNvPr id="9"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1"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本章总结</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733786734"/>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13#更多信息(可选)">
    <p:spTree>
      <p:nvGrpSpPr>
        <p:cNvPr id="1" name=""/>
        <p:cNvGrpSpPr/>
        <p:nvPr/>
      </p:nvGrpSpPr>
      <p:grpSpPr>
        <a:xfrm>
          <a:off x="0" y="0"/>
          <a:ext cx="0" cy="0"/>
          <a:chOff x="0" y="0"/>
          <a:chExt cx="0" cy="0"/>
        </a:xfrm>
      </p:grpSpPr>
      <p:sp>
        <p:nvSpPr>
          <p:cNvPr id="3" name="文本占位符 6"/>
          <p:cNvSpPr>
            <a:spLocks noGrp="1"/>
          </p:cNvSpPr>
          <p:nvPr>
            <p:ph type="body" sz="quarter" idx="10" hasCustomPrompt="1"/>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vl5pPr>
              <a:buNone/>
              <a:defRPr/>
            </a:lvl5pPr>
          </a:lstStyle>
          <a:p>
            <a:r>
              <a:rPr lang="zh-CN" altLang="en-US" dirty="0"/>
              <a:t>此版式用于提供给学员更多学习信息。</a:t>
            </a:r>
          </a:p>
        </p:txBody>
      </p:sp>
      <p:cxnSp>
        <p:nvCxnSpPr>
          <p:cNvPr id="12"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3"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更多信息</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1051668388"/>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14#学习推荐(可选)">
    <p:spTree>
      <p:nvGrpSpPr>
        <p:cNvPr id="1" name=""/>
        <p:cNvGrpSpPr/>
        <p:nvPr/>
      </p:nvGrpSpPr>
      <p:grpSpPr>
        <a:xfrm>
          <a:off x="0" y="0"/>
          <a:ext cx="0" cy="0"/>
          <a:chOff x="0" y="0"/>
          <a:chExt cx="0" cy="0"/>
        </a:xfrm>
      </p:grpSpPr>
      <p:sp>
        <p:nvSpPr>
          <p:cNvPr id="3" name="文本占位符 6"/>
          <p:cNvSpPr>
            <a:spLocks noGrp="1"/>
          </p:cNvSpPr>
          <p:nvPr>
            <p:ph type="body" sz="quarter" idx="10"/>
          </p:nvPr>
        </p:nvSpPr>
        <p:spPr>
          <a:xfrm>
            <a:off x="1019175" y="1844675"/>
            <a:ext cx="10153650" cy="4082880"/>
          </a:xfrm>
          <a:prstGeom prst="rect">
            <a:avLst/>
          </a:prstGeom>
        </p:spPr>
        <p:txBody>
          <a:bodyPr/>
          <a:lstStyle>
            <a:lvl1pPr algn="just" fontAlgn="ctr">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endParaRPr lang="zh-CN" altLang="en-US" dirty="0"/>
          </a:p>
        </p:txBody>
      </p:sp>
      <p:cxnSp>
        <p:nvCxnSpPr>
          <p:cNvPr id="14" name="直线连接符 14">
            <a:extLst>
              <a:ext uri="{FF2B5EF4-FFF2-40B4-BE49-F238E27FC236}">
                <a16:creationId xmlns:a16="http://schemas.microsoft.com/office/drawing/2014/main" xmlns="" id="{C79E9F57-49BC-DC4A-B843-36D48051C848}"/>
              </a:ext>
            </a:extLst>
          </p:cNvPr>
          <p:cNvCxnSpPr>
            <a:cxnSpLocks/>
          </p:cNvCxnSpPr>
          <p:nvPr userDrawn="1"/>
        </p:nvCxnSpPr>
        <p:spPr>
          <a:xfrm flipH="1">
            <a:off x="1029917" y="1349255"/>
            <a:ext cx="1800000" cy="0"/>
          </a:xfrm>
          <a:prstGeom prst="line">
            <a:avLst/>
          </a:prstGeom>
          <a:ln w="28575">
            <a:solidFill>
              <a:srgbClr val="C7000B"/>
            </a:solidFill>
          </a:ln>
          <a:effectLst/>
        </p:spPr>
        <p:style>
          <a:lnRef idx="2">
            <a:schemeClr val="accent1"/>
          </a:lnRef>
          <a:fillRef idx="0">
            <a:schemeClr val="accent1"/>
          </a:fillRef>
          <a:effectRef idx="1">
            <a:schemeClr val="accent1"/>
          </a:effectRef>
          <a:fontRef idx="minor">
            <a:schemeClr val="tx1"/>
          </a:fontRef>
        </p:style>
      </p:cxnSp>
      <p:sp>
        <p:nvSpPr>
          <p:cNvPr id="15" name="文本框 16">
            <a:extLst>
              <a:ext uri="{FF2B5EF4-FFF2-40B4-BE49-F238E27FC236}">
                <a16:creationId xmlns:a16="http://schemas.microsoft.com/office/drawing/2014/main" xmlns="" id="{568EC886-2612-1F43-AB51-21A76A078357}"/>
              </a:ext>
            </a:extLst>
          </p:cNvPr>
          <p:cNvSpPr txBox="1"/>
          <p:nvPr userDrawn="1"/>
        </p:nvSpPr>
        <p:spPr>
          <a:xfrm>
            <a:off x="918916" y="630373"/>
            <a:ext cx="2050561" cy="651845"/>
          </a:xfrm>
          <a:prstGeom prst="rect">
            <a:avLst/>
          </a:prstGeom>
          <a:noFill/>
        </p:spPr>
        <p:txBody>
          <a:bodyPr wrap="none" rtlCol="0">
            <a:spAutoFit/>
          </a:bodyPr>
          <a:lstStyle/>
          <a:p>
            <a:r>
              <a:rPr kumimoji="1" lang="zh-CN" altLang="en-US" sz="3636" baseline="0" dirty="0" smtClean="0">
                <a:solidFill>
                  <a:schemeClr val="tx1"/>
                </a:solidFill>
                <a:latin typeface="Huawei Sans" panose="020C0503030203020204" pitchFamily="34" charset="0"/>
                <a:ea typeface="方正兰亭黑简体" panose="02000000000000000000" pitchFamily="2" charset="-122"/>
                <a:cs typeface="Microsoft YaHei" charset="-122"/>
              </a:rPr>
              <a:t>学习推荐</a:t>
            </a:r>
            <a:endParaRPr kumimoji="1" lang="zh-CN" altLang="en-US" sz="3636" baseline="0" dirty="0">
              <a:solidFill>
                <a:schemeClr val="tx1"/>
              </a:solidFill>
              <a:latin typeface="Huawei Sans" panose="020C0503030203020204" pitchFamily="34" charset="0"/>
              <a:ea typeface="方正兰亭黑简体" panose="02000000000000000000" pitchFamily="2" charset="-122"/>
              <a:cs typeface="Microsoft YaHei" charset="-122"/>
            </a:endParaRPr>
          </a:p>
        </p:txBody>
      </p:sp>
    </p:spTree>
    <p:extLst>
      <p:ext uri="{BB962C8B-B14F-4D97-AF65-F5344CB8AC3E}">
        <p14:creationId xmlns:p14="http://schemas.microsoft.com/office/powerpoint/2010/main" val="4259767845"/>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7#标题和内容">
    <p:spTree>
      <p:nvGrpSpPr>
        <p:cNvPr id="1" name=""/>
        <p:cNvGrpSpPr/>
        <p:nvPr/>
      </p:nvGrpSpPr>
      <p:grpSpPr>
        <a:xfrm>
          <a:off x="0" y="0"/>
          <a:ext cx="0" cy="0"/>
          <a:chOff x="0" y="0"/>
          <a:chExt cx="0" cy="0"/>
        </a:xfrm>
      </p:grpSpPr>
      <p:sp>
        <p:nvSpPr>
          <p:cNvPr id="3" name="标题 1"/>
          <p:cNvSpPr>
            <a:spLocks noGrp="1"/>
          </p:cNvSpPr>
          <p:nvPr>
            <p:ph type="title"/>
          </p:nvPr>
        </p:nvSpPr>
        <p:spPr>
          <a:xfrm>
            <a:off x="455612" y="447468"/>
            <a:ext cx="11293475" cy="1001920"/>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484312"/>
            <a:ext cx="11293476" cy="4443243"/>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2649862490"/>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7*#标题和内容（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4" cy="485982"/>
          </a:xfrm>
          <a:prstGeom prst="rect">
            <a:avLst/>
          </a:prstGeom>
        </p:spPr>
        <p:txBody>
          <a:bodyPr lIns="0" tIns="0" rIns="0" bIns="0" anchor="t">
            <a:normAutofit/>
          </a:bodyPr>
          <a:lstStyle>
            <a:lvl1pPr>
              <a:defRPr lang="zh-CN" altLang="en-US" baseline="0" dirty="0">
                <a:latin typeface="Huawei Sans" panose="020C0503030203020204" pitchFamily="34" charset="0"/>
                <a:ea typeface="方正兰亭黑简体" panose="02000000000000000000" pitchFamily="2" charset="-122"/>
              </a:defRPr>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
        <p:nvSpPr>
          <p:cNvPr id="9" name="文本占位符 6"/>
          <p:cNvSpPr>
            <a:spLocks noGrp="1"/>
          </p:cNvSpPr>
          <p:nvPr>
            <p:ph type="body" sz="quarter" idx="10" hasCustomPrompt="1"/>
          </p:nvPr>
        </p:nvSpPr>
        <p:spPr>
          <a:xfrm>
            <a:off x="455612" y="1047750"/>
            <a:ext cx="11293475" cy="4879805"/>
          </a:xfrm>
          <a:prstGeom prst="rect">
            <a:avLst/>
          </a:prstGeom>
        </p:spPr>
        <p:txBody>
          <a:bodyPr/>
          <a:lstStyle>
            <a:lvl1pPr algn="just" fontAlgn="base">
              <a:buClrTx/>
              <a:defRPr baseline="0">
                <a:latin typeface="Huawei Sans" panose="020C0503030203020204" pitchFamily="34" charset="0"/>
                <a:ea typeface="方正兰亭黑简体" panose="02000000000000000000" pitchFamily="2" charset="-122"/>
                <a:cs typeface="Huawei Sans" panose="020C0503030203020204" pitchFamily="34" charset="0"/>
              </a:defRPr>
            </a:lvl1pPr>
          </a:lstStyle>
          <a:p>
            <a:r>
              <a:rPr lang="zh-CN" altLang="en-US" dirty="0"/>
              <a:t>单击此处输入文字</a:t>
            </a:r>
          </a:p>
        </p:txBody>
      </p:sp>
    </p:spTree>
    <p:extLst>
      <p:ext uri="{BB962C8B-B14F-4D97-AF65-F5344CB8AC3E}">
        <p14:creationId xmlns:p14="http://schemas.microsoft.com/office/powerpoint/2010/main" val="1288804162"/>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guide id="2" orient="horz" pos="663">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8#仅标题（两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5613" y="447468"/>
            <a:ext cx="11293475" cy="1001920"/>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3851924938"/>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8*#仅标题（一行标题）">
    <p:spTree>
      <p:nvGrpSpPr>
        <p:cNvPr id="1" name=""/>
        <p:cNvGrpSpPr/>
        <p:nvPr/>
      </p:nvGrpSpPr>
      <p:grpSpPr>
        <a:xfrm>
          <a:off x="0" y="0"/>
          <a:ext cx="0" cy="0"/>
          <a:chOff x="0" y="0"/>
          <a:chExt cx="0" cy="0"/>
        </a:xfrm>
      </p:grpSpPr>
      <p:sp>
        <p:nvSpPr>
          <p:cNvPr id="3" name="标题 1"/>
          <p:cNvSpPr>
            <a:spLocks noGrp="1"/>
          </p:cNvSpPr>
          <p:nvPr>
            <p:ph type="title"/>
          </p:nvPr>
        </p:nvSpPr>
        <p:spPr>
          <a:xfrm>
            <a:off x="452438" y="447468"/>
            <a:ext cx="11296649" cy="497095"/>
          </a:xfrm>
          <a:prstGeom prst="rect">
            <a:avLst/>
          </a:prstGeom>
        </p:spPr>
        <p:txBody>
          <a:bodyPr lIns="0" tIns="0" rIns="0" bIns="0" anchor="t">
            <a:normAutofit/>
          </a:bodyPr>
          <a:lstStyle>
            <a:lvl1pPr>
              <a:defRPr lang="zh-CN" altLang="en-US" baseline="0" dirty="0"/>
            </a:lvl1pPr>
          </a:lstStyle>
          <a:p>
            <a:pPr marL="0" lvl="0" indent="0" defTabSz="1187798">
              <a:lnSpc>
                <a:spcPts val="3430"/>
              </a:lnSpc>
              <a:spcBef>
                <a:spcPts val="0"/>
              </a:spcBef>
              <a:buFont typeface="Arial" panose="020B0604020202020204" pitchFamily="34" charset="0"/>
            </a:pPr>
            <a:r>
              <a:rPr lang="zh-CN" altLang="en-US" dirty="0" smtClean="0"/>
              <a:t>单击</a:t>
            </a:r>
            <a:r>
              <a:rPr lang="zh-CN" altLang="en-US" dirty="0"/>
              <a:t>此处编辑母版标题样式</a:t>
            </a:r>
          </a:p>
        </p:txBody>
      </p:sp>
    </p:spTree>
    <p:extLst>
      <p:ext uri="{BB962C8B-B14F-4D97-AF65-F5344CB8AC3E}">
        <p14:creationId xmlns:p14="http://schemas.microsoft.com/office/powerpoint/2010/main" val="99998166"/>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595">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9#全白背景">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4697958"/>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15#谢谢">
    <p:bg bwMode="gray">
      <p:bgPr>
        <a:solidFill>
          <a:srgbClr val="FFFFFF"/>
        </a:solidFill>
        <a:effectLst/>
      </p:bgPr>
    </p:bg>
    <p:spTree>
      <p:nvGrpSpPr>
        <p:cNvPr id="1" name=""/>
        <p:cNvGrpSpPr/>
        <p:nvPr/>
      </p:nvGrpSpPr>
      <p:grpSpPr>
        <a:xfrm>
          <a:off x="0" y="0"/>
          <a:ext cx="0" cy="0"/>
          <a:chOff x="0" y="0"/>
          <a:chExt cx="0" cy="0"/>
        </a:xfrm>
      </p:grpSpPr>
      <p:sp>
        <p:nvSpPr>
          <p:cNvPr id="3" name="TextBox 3">
            <a:extLst>
              <a:ext uri="{FF2B5EF4-FFF2-40B4-BE49-F238E27FC236}">
                <a16:creationId xmlns="" xmlns:a16="http://schemas.microsoft.com/office/drawing/2014/main" id="{42AF307D-40F4-EC4C-9108-79E948007529}"/>
              </a:ext>
            </a:extLst>
          </p:cNvPr>
          <p:cNvSpPr txBox="1"/>
          <p:nvPr userDrawn="1"/>
        </p:nvSpPr>
        <p:spPr>
          <a:xfrm>
            <a:off x="607486" y="1402064"/>
            <a:ext cx="3921034" cy="854717"/>
          </a:xfrm>
          <a:prstGeom prst="rect">
            <a:avLst/>
          </a:prstGeom>
          <a:noFill/>
        </p:spPr>
        <p:txBody>
          <a:bodyPr wrap="square" rtlCol="0">
            <a:spAutoFit/>
          </a:bodyPr>
          <a:lstStyle/>
          <a:p>
            <a:pPr algn="l"/>
            <a:r>
              <a:rPr lang="en-US" sz="4940" dirty="0" smtClean="0">
                <a:solidFill>
                  <a:schemeClr val="tx1"/>
                </a:solidFill>
              </a:rPr>
              <a:t>Thank you.</a:t>
            </a:r>
            <a:endParaRPr lang="en-US" sz="4940" dirty="0">
              <a:solidFill>
                <a:schemeClr val="tx1"/>
              </a:solidFill>
            </a:endParaRPr>
          </a:p>
        </p:txBody>
      </p:sp>
    </p:spTree>
    <p:extLst>
      <p:ext uri="{BB962C8B-B14F-4D97-AF65-F5344CB8AC3E}">
        <p14:creationId xmlns:p14="http://schemas.microsoft.com/office/powerpoint/2010/main" val="1028299403"/>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3.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theme" Target="../theme/theme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image" Target="../media/image3.pn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3.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03089" y="5976169"/>
            <a:ext cx="2257507" cy="482533"/>
          </a:xfrm>
          <a:prstGeom prst="rect">
            <a:avLst/>
          </a:prstGeom>
        </p:spPr>
      </p:pic>
      <p:grpSp>
        <p:nvGrpSpPr>
          <p:cNvPr id="30"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1"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2"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3"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4"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5"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6"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7"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8"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9"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40"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1"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2"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3"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4"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5"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6"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7"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48"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49"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50"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51"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52"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53"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54"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55"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56"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57"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58"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59"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0"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61"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62"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63"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64"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65"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66"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67"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68"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69"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70"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4070073675"/>
      </p:ext>
    </p:extLst>
  </p:cSld>
  <p:clrMap bg1="lt1" tx1="dk1" bg2="lt2" tx2="dk2" accent1="accent1" accent2="accent2" accent3="accent3" accent4="accent4" accent5="accent5" accent6="accent6" hlink="hlink" folHlink="folHlink"/>
  <p:sldLayoutIdLst>
    <p:sldLayoutId id="2147483873" r:id="rId1"/>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baseline="0">
          <a:solidFill>
            <a:schemeClr val="tx1"/>
          </a:solidFill>
          <a:latin typeface="Huawei Sans" panose="020C0503030203020204" pitchFamily="34" charset="0"/>
          <a:ea typeface="方正兰亭黑简体" panose="02000000000000000000" pitchFamily="2"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p15:clr>
            <a:srgbClr val="F26B43"/>
          </p15:clr>
        </p15:guide>
        <p15:guide id="2" pos="574">
          <p15:clr>
            <a:srgbClr val="F26B43"/>
          </p15:clr>
        </p15:guide>
        <p15:guide id="3" orient="horz" pos="572">
          <p15:clr>
            <a:srgbClr val="F26B43"/>
          </p15:clr>
        </p15:guide>
        <p15:guide id="4" orient="horz" pos="1230">
          <p15:clr>
            <a:srgbClr val="F26B43"/>
          </p15:clr>
        </p15:guide>
        <p15:guide id="5" orient="horz" pos="2160">
          <p15:clr>
            <a:srgbClr val="F26B43"/>
          </p15:clr>
        </p15:guide>
        <p15:guide id="6"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gray">
      <p:bgPr>
        <a:solidFill>
          <a:srgbClr val="EBEBEB"/>
        </a:solidFill>
        <a:effectLst/>
      </p:bgPr>
    </p:bg>
    <p:spTree>
      <p:nvGrpSpPr>
        <p:cNvPr id="1" name=""/>
        <p:cNvGrpSpPr/>
        <p:nvPr/>
      </p:nvGrpSpPr>
      <p:grpSpPr>
        <a:xfrm>
          <a:off x="0" y="0"/>
          <a:ext cx="0" cy="0"/>
          <a:chOff x="0" y="0"/>
          <a:chExt cx="0" cy="0"/>
        </a:xfrm>
      </p:grpSpPr>
      <p:sp>
        <p:nvSpPr>
          <p:cNvPr id="23" name="TextBox 2">
            <a:extLst>
              <a:ext uri="{FF2B5EF4-FFF2-40B4-BE49-F238E27FC236}">
                <a16:creationId xmlns:a16="http://schemas.microsoft.com/office/drawing/2014/main" xmlns=""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xmlns=""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7"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28"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29"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0"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1"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2"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3"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4"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5"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6"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7"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38"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39"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0"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1"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2"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43"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44"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5"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6"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7"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68"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69"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0"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1"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2"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3"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4"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5"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6"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7"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78"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79"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0"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1"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2"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3"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4"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5"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6"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7"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970965524"/>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 id="2147483878" r:id="rId4"/>
    <p:sldLayoutId id="2147483879" r:id="rId5"/>
    <p:sldLayoutId id="2147483880" r:id="rId6"/>
    <p:sldLayoutId id="2147483881" r:id="rId7"/>
    <p:sldLayoutId id="2147483882" r:id="rId8"/>
    <p:sldLayoutId id="2147483883" r:id="rId9"/>
    <p:sldLayoutId id="2147483884" r:id="rId10"/>
  </p:sldLayoutIdLst>
  <p:timing>
    <p:tnLst>
      <p:par>
        <p:cTn id="1" dur="indefinite" restart="never" nodeType="tmRoot"/>
      </p:par>
    </p:tnLst>
  </p:timing>
  <p:txStyles>
    <p:titleStyle>
      <a:lvl1pPr algn="l" defTabSz="914034" rtl="0" eaLnBrk="1" fontAlgn="ctr"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ctr" latinLnBrk="0" hangingPunct="1">
        <a:lnSpc>
          <a:spcPct val="140000"/>
        </a:lnSpc>
        <a:spcBef>
          <a:spcPts val="792"/>
        </a:spcBef>
        <a:buSzPct val="50000"/>
        <a:buFont typeface="Wingdings" panose="05000000000000000000" pitchFamily="2" charset="2"/>
        <a:buChar char="l"/>
        <a:defRPr sz="2199" kern="120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ctr" latinLnBrk="0" hangingPunct="1">
        <a:lnSpc>
          <a:spcPct val="140000"/>
        </a:lnSpc>
        <a:spcBef>
          <a:spcPts val="720"/>
        </a:spcBef>
        <a:buClrTx/>
        <a:buSzPct val="50000"/>
        <a:buFont typeface="Wingdings" panose="05000000000000000000" pitchFamily="2" charset="2"/>
        <a:buChar char="p"/>
        <a:defRPr sz="1999" kern="120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ctr" latinLnBrk="0" hangingPunct="1">
        <a:lnSpc>
          <a:spcPct val="140000"/>
        </a:lnSpc>
        <a:spcBef>
          <a:spcPts val="648"/>
        </a:spcBef>
        <a:buClrTx/>
        <a:buSzPct val="50000"/>
        <a:buFont typeface="Wingdings" panose="05000000000000000000" pitchFamily="2" charset="2"/>
        <a:buChar char="n"/>
        <a:defRPr sz="1799" kern="120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ctr" latinLnBrk="0" hangingPunct="1">
        <a:lnSpc>
          <a:spcPct val="140000"/>
        </a:lnSpc>
        <a:spcBef>
          <a:spcPts val="576"/>
        </a:spcBef>
        <a:buFont typeface="Huawei Sans" panose="020C0503030203020204" pitchFamily="34" charset="0"/>
        <a:buChar char="−"/>
        <a:defRPr sz="1599" kern="120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ctr" latinLnBrk="0" hangingPunct="1">
        <a:lnSpc>
          <a:spcPct val="140000"/>
        </a:lnSpc>
        <a:spcBef>
          <a:spcPts val="576"/>
        </a:spcBef>
        <a:buFont typeface="Huawei Sans" panose="020C0503030203020204" pitchFamily="34" charset="0"/>
        <a:buChar char="~"/>
        <a:defRPr sz="1399" kern="120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642">
          <p15:clr>
            <a:srgbClr val="F26B43"/>
          </p15:clr>
        </p15:guide>
        <p15:guide id="2" pos="7038">
          <p15:clr>
            <a:srgbClr val="F26B43"/>
          </p15:clr>
        </p15:guide>
        <p15:guide id="4" orient="horz" pos="3906">
          <p15:clr>
            <a:srgbClr val="F26B43"/>
          </p15:clr>
        </p15:guide>
        <p15:guide id="5" orient="horz" pos="1162">
          <p15:clr>
            <a:srgbClr val="F26B43"/>
          </p15:clr>
        </p15:guide>
        <p15:guide id="6" pos="3840">
          <p15:clr>
            <a:srgbClr val="F26B43"/>
          </p15:clr>
        </p15:guide>
        <p15:guide id="7" orient="horz" pos="731">
          <p15:clr>
            <a:srgbClr val="F26B43"/>
          </p15:clr>
        </p15:guide>
        <p15:guide id="8" orient="horz" pos="867">
          <p15:clr>
            <a:srgbClr val="F26B43"/>
          </p15:clr>
        </p15:guide>
        <p15:guide id="9" orient="horz" pos="234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27" name="Rectangle 6"/>
          <p:cNvSpPr>
            <a:spLocks noGrp="1" noChangeArrowheads="1"/>
          </p:cNvSpPr>
          <p:nvPr>
            <p:ph type="title"/>
          </p:nvPr>
        </p:nvSpPr>
        <p:spPr bwMode="auto">
          <a:xfrm>
            <a:off x="457905" y="457499"/>
            <a:ext cx="11291061" cy="980113"/>
          </a:xfrm>
          <a:prstGeom prst="rect">
            <a:avLst/>
          </a:prstGeom>
        </p:spPr>
        <p:txBody>
          <a:bodyPr lIns="0" tIns="0" rIns="0" bIns="0" anchor="t">
            <a:normAutofit/>
          </a:bodyPr>
          <a:lstStyle/>
          <a:p>
            <a:pPr marL="0" lvl="0" indent="0" defTabSz="1187798">
              <a:lnSpc>
                <a:spcPts val="3430"/>
              </a:lnSpc>
              <a:spcBef>
                <a:spcPts val="0"/>
              </a:spcBef>
              <a:buFont typeface="Arial" panose="020B0604020202020204" pitchFamily="34" charset="0"/>
            </a:pPr>
            <a:r>
              <a:rPr lang="zh-CN" altLang="en-US" dirty="0"/>
              <a:t>单击此处编辑母版标题样式</a:t>
            </a:r>
          </a:p>
        </p:txBody>
      </p:sp>
      <p:sp>
        <p:nvSpPr>
          <p:cNvPr id="28" name="Rectangle 57"/>
          <p:cNvSpPr>
            <a:spLocks noGrp="1" noChangeArrowheads="1"/>
          </p:cNvSpPr>
          <p:nvPr>
            <p:ph type="body" idx="1"/>
          </p:nvPr>
        </p:nvSpPr>
        <p:spPr bwMode="auto">
          <a:xfrm>
            <a:off x="455613" y="1484313"/>
            <a:ext cx="11293475" cy="4443760"/>
          </a:xfrm>
          <a:prstGeom prst="rect">
            <a:avLst/>
          </a:prstGeom>
          <a:noFill/>
          <a:ln w="9525">
            <a:noFill/>
            <a:miter lim="800000"/>
            <a:headEnd/>
            <a:tailEnd/>
          </a:ln>
        </p:spPr>
        <p:txBody>
          <a:bodyPr vert="horz" wrap="square" lIns="80141" tIns="40071" rIns="80141" bIns="40071"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23" name="TextBox 2">
            <a:extLst>
              <a:ext uri="{FF2B5EF4-FFF2-40B4-BE49-F238E27FC236}">
                <a16:creationId xmlns:a16="http://schemas.microsoft.com/office/drawing/2014/main" xmlns="" id="{6785A3D6-1271-D247-9E96-1B376F4BE7BE}"/>
              </a:ext>
            </a:extLst>
          </p:cNvPr>
          <p:cNvSpPr txBox="1"/>
          <p:nvPr userDrawn="1"/>
        </p:nvSpPr>
        <p:spPr>
          <a:xfrm>
            <a:off x="1095467" y="6356939"/>
            <a:ext cx="1463467" cy="242864"/>
          </a:xfrm>
          <a:prstGeom prst="rect">
            <a:avLst/>
          </a:prstGeom>
          <a:noFill/>
        </p:spPr>
        <p:txBody>
          <a:bodyPr wrap="square" rtlCol="0">
            <a:spAutoFit/>
          </a:bodyPr>
          <a:lstStyle/>
          <a:p>
            <a:r>
              <a:rPr lang="en-US" sz="974" b="0"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t>Huawei Confidential</a:t>
            </a:r>
          </a:p>
        </p:txBody>
      </p:sp>
      <p:sp>
        <p:nvSpPr>
          <p:cNvPr id="24" name="TextBox 3">
            <a:extLst>
              <a:ext uri="{FF2B5EF4-FFF2-40B4-BE49-F238E27FC236}">
                <a16:creationId xmlns:a16="http://schemas.microsoft.com/office/drawing/2014/main" xmlns="" id="{EABEE2EE-BF4D-7A4A-B3C6-9E47668CCD98}"/>
              </a:ext>
            </a:extLst>
          </p:cNvPr>
          <p:cNvSpPr txBox="1"/>
          <p:nvPr userDrawn="1"/>
        </p:nvSpPr>
        <p:spPr>
          <a:xfrm>
            <a:off x="734131" y="6402806"/>
            <a:ext cx="499729" cy="150296"/>
          </a:xfrm>
          <a:prstGeom prst="rect">
            <a:avLst/>
          </a:prstGeom>
          <a:noFill/>
        </p:spPr>
        <p:txBody>
          <a:bodyPr wrap="square" lIns="0" tIns="0" rIns="0" bIns="0" rtlCol="0">
            <a:spAutoFit/>
          </a:bodyPr>
          <a:lstStyle/>
          <a:p>
            <a:pPr marL="0" marR="0" lvl="0" indent="0" algn="l" defTabSz="890849" rtl="0" eaLnBrk="1" fontAlgn="auto" latinLnBrk="0" hangingPunct="1">
              <a:lnSpc>
                <a:spcPct val="100000"/>
              </a:lnSpc>
              <a:spcBef>
                <a:spcPts val="0"/>
              </a:spcBef>
              <a:spcAft>
                <a:spcPts val="0"/>
              </a:spcAft>
              <a:buClrTx/>
              <a:buSzTx/>
              <a:buFontTx/>
              <a:buNone/>
              <a:tabLst/>
              <a:defRPr/>
            </a:pPr>
            <a:fld id="{C3837181-38C6-AD4F-B8BA-B444770388BB}" type="slidenum">
              <a:rPr lang="en-US" sz="974" baseline="0" smtClean="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rPr>
              <a:pPr marL="0" marR="0" lvl="0" indent="0" algn="l" defTabSz="890849" rtl="0" eaLnBrk="1" fontAlgn="auto" latinLnBrk="0" hangingPunct="1">
                <a:lnSpc>
                  <a:spcPct val="100000"/>
                </a:lnSpc>
                <a:spcBef>
                  <a:spcPts val="0"/>
                </a:spcBef>
                <a:spcAft>
                  <a:spcPts val="0"/>
                </a:spcAft>
                <a:buClrTx/>
                <a:buSzTx/>
                <a:buFontTx/>
                <a:buNone/>
                <a:tabLst/>
                <a:defRPr/>
              </a:pPr>
              <a:t>‹#›</a:t>
            </a:fld>
            <a:endParaRPr lang="en-US" sz="974" baseline="0" dirty="0">
              <a:solidFill>
                <a:srgbClr val="1D1D1B"/>
              </a:solidFill>
              <a:latin typeface="Huawei Sans" panose="020C0503030203020204" pitchFamily="34" charset="0"/>
              <a:ea typeface="方正兰亭黑简体" panose="02000000000000000000" pitchFamily="2" charset="-122"/>
              <a:cs typeface="Huawei Sans" panose="020C0503030203020204" pitchFamily="34" charset="0"/>
            </a:endParaRPr>
          </a:p>
        </p:txBody>
      </p:sp>
      <p:pic>
        <p:nvPicPr>
          <p:cNvPr id="25" name="图片 2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0195999" y="6319870"/>
            <a:ext cx="1269075" cy="271153"/>
          </a:xfrm>
          <a:prstGeom prst="rect">
            <a:avLst/>
          </a:prstGeom>
        </p:spPr>
      </p:pic>
      <p:grpSp>
        <p:nvGrpSpPr>
          <p:cNvPr id="29" name="Group 87">
            <a:extLst>
              <a:ext uri="{FF2B5EF4-FFF2-40B4-BE49-F238E27FC236}">
                <a16:creationId xmlns:a16="http://schemas.microsoft.com/office/drawing/2014/main" xmlns=""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a16="http://schemas.microsoft.com/office/drawing/2014/main" xmlns=""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196/0/84</a:t>
              </a:r>
            </a:p>
          </p:txBody>
        </p:sp>
        <p:sp>
          <p:nvSpPr>
            <p:cNvPr id="31" name="文本框 15">
              <a:extLst>
                <a:ext uri="{FF2B5EF4-FFF2-40B4-BE49-F238E27FC236}">
                  <a16:creationId xmlns:a16="http://schemas.microsoft.com/office/drawing/2014/main" xmlns=""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公司辅助色</a:t>
              </a:r>
            </a:p>
          </p:txBody>
        </p:sp>
        <p:sp>
          <p:nvSpPr>
            <p:cNvPr id="32" name="矩形 13">
              <a:extLst>
                <a:ext uri="{FF2B5EF4-FFF2-40B4-BE49-F238E27FC236}">
                  <a16:creationId xmlns:a16="http://schemas.microsoft.com/office/drawing/2014/main" xmlns=""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203/55/120</a:t>
              </a:r>
            </a:p>
          </p:txBody>
        </p:sp>
        <p:sp>
          <p:nvSpPr>
            <p:cNvPr id="33" name="矩形 13">
              <a:extLst>
                <a:ext uri="{FF2B5EF4-FFF2-40B4-BE49-F238E27FC236}">
                  <a16:creationId xmlns:a16="http://schemas.microsoft.com/office/drawing/2014/main" xmlns=""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237/109/0</a:t>
              </a:r>
            </a:p>
          </p:txBody>
        </p:sp>
        <p:sp>
          <p:nvSpPr>
            <p:cNvPr id="34" name="矩形 13">
              <a:extLst>
                <a:ext uri="{FF2B5EF4-FFF2-40B4-BE49-F238E27FC236}">
                  <a16:creationId xmlns:a16="http://schemas.microsoft.com/office/drawing/2014/main" xmlns=""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153/54/54</a:t>
              </a:r>
            </a:p>
          </p:txBody>
        </p:sp>
        <p:sp>
          <p:nvSpPr>
            <p:cNvPr id="35" name="矩形 13">
              <a:extLst>
                <a:ext uri="{FF2B5EF4-FFF2-40B4-BE49-F238E27FC236}">
                  <a16:creationId xmlns:a16="http://schemas.microsoft.com/office/drawing/2014/main" xmlns=""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98/178/48</a:t>
              </a:r>
            </a:p>
          </p:txBody>
        </p:sp>
        <p:sp>
          <p:nvSpPr>
            <p:cNvPr id="36" name="矩形 13">
              <a:extLst>
                <a:ext uri="{FF2B5EF4-FFF2-40B4-BE49-F238E27FC236}">
                  <a16:creationId xmlns:a16="http://schemas.microsoft.com/office/drawing/2014/main" xmlns=""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242/137/68</a:t>
              </a:r>
              <a:endParaRPr kumimoji="1" lang="mr-IN" altLang="zh-CN" sz="500" b="1" dirty="0">
                <a:solidFill>
                  <a:srgbClr val="FFFFFF"/>
                </a:solidFill>
                <a:latin typeface="Huawei Sans" panose="020C0503030203020204" pitchFamily="34" charset="0"/>
                <a:ea typeface="Arial" charset="0"/>
                <a:cs typeface="Arial" charset="0"/>
              </a:endParaRPr>
            </a:p>
          </p:txBody>
        </p:sp>
        <p:sp>
          <p:nvSpPr>
            <p:cNvPr id="37" name="矩形 13">
              <a:extLst>
                <a:ext uri="{FF2B5EF4-FFF2-40B4-BE49-F238E27FC236}">
                  <a16:creationId xmlns:a16="http://schemas.microsoft.com/office/drawing/2014/main" xmlns=""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185C</a:t>
              </a:r>
            </a:p>
            <a:p>
              <a:pPr algn="ctr">
                <a:lnSpc>
                  <a:spcPts val="620"/>
                </a:lnSpc>
                <a:spcBef>
                  <a:spcPts val="0"/>
                </a:spcBef>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 </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199/0/11  </a:t>
              </a:r>
            </a:p>
          </p:txBody>
        </p:sp>
        <p:sp>
          <p:nvSpPr>
            <p:cNvPr id="38" name="文本框 15">
              <a:extLst>
                <a:ext uri="{FF2B5EF4-FFF2-40B4-BE49-F238E27FC236}">
                  <a16:creationId xmlns:a16="http://schemas.microsoft.com/office/drawing/2014/main" xmlns=""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方正兰亭黑简体" panose="02000000000000000000" pitchFamily="2" charset="-122"/>
                  <a:ea typeface="方正兰亭黑简体" panose="02000000000000000000" pitchFamily="2" charset="-122"/>
                </a:rPr>
                <a:t>公司色</a:t>
              </a:r>
            </a:p>
          </p:txBody>
        </p:sp>
        <p:sp>
          <p:nvSpPr>
            <p:cNvPr id="39" name="矩形 13">
              <a:extLst>
                <a:ext uri="{FF2B5EF4-FFF2-40B4-BE49-F238E27FC236}">
                  <a16:creationId xmlns:a16="http://schemas.microsoft.com/office/drawing/2014/main" xmlns=""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PANTONE 186C</a:t>
              </a:r>
            </a:p>
            <a:p>
              <a:pPr algn="ctr">
                <a:lnSpc>
                  <a:spcPts val="620"/>
                </a:lnSpc>
              </a:pP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RGB</a:t>
              </a:r>
              <a:br>
                <a:rPr kumimoji="1" lang="en-US" altLang="zh-CN" sz="500" b="1" dirty="0">
                  <a:solidFill>
                    <a:schemeClr val="tx2"/>
                  </a:solidFill>
                  <a:latin typeface="Huawei Sans" panose="020C0503030203020204" pitchFamily="34" charset="0"/>
                  <a:ea typeface="Arial" charset="0"/>
                  <a:cs typeface="Huawei Sans" panose="020C0503030203020204" pitchFamily="34" charset="0"/>
                </a:rPr>
              </a:br>
              <a:r>
                <a:rPr kumimoji="1" lang="en-US" altLang="zh-CN" sz="500" b="1" dirty="0">
                  <a:solidFill>
                    <a:schemeClr val="tx2"/>
                  </a:solidFill>
                  <a:latin typeface="Huawei Sans" panose="020C0503030203020204" pitchFamily="34" charset="0"/>
                  <a:ea typeface="Arial" charset="0"/>
                  <a:cs typeface="Huawei Sans" panose="020C0503030203020204" pitchFamily="34" charset="0"/>
                </a:rPr>
                <a:t>200/16/46  </a:t>
              </a:r>
            </a:p>
          </p:txBody>
        </p:sp>
        <p:sp>
          <p:nvSpPr>
            <p:cNvPr id="40" name="矩形 13">
              <a:extLst>
                <a:ext uri="{FF2B5EF4-FFF2-40B4-BE49-F238E27FC236}">
                  <a16:creationId xmlns:a16="http://schemas.microsoft.com/office/drawing/2014/main" xmlns=""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127/0/1</a:t>
              </a:r>
            </a:p>
          </p:txBody>
        </p:sp>
        <p:sp>
          <p:nvSpPr>
            <p:cNvPr id="41" name="矩形 13">
              <a:extLst>
                <a:ext uri="{FF2B5EF4-FFF2-40B4-BE49-F238E27FC236}">
                  <a16:creationId xmlns:a16="http://schemas.microsoft.com/office/drawing/2014/main" xmlns=""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52/200/0</a:t>
              </a:r>
            </a:p>
          </p:txBody>
        </p:sp>
        <p:sp>
          <p:nvSpPr>
            <p:cNvPr id="42" name="矩形 13">
              <a:extLst>
                <a:ext uri="{FF2B5EF4-FFF2-40B4-BE49-F238E27FC236}">
                  <a16:creationId xmlns:a16="http://schemas.microsoft.com/office/drawing/2014/main" xmlns=""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48/181/197</a:t>
              </a:r>
            </a:p>
          </p:txBody>
        </p:sp>
        <p:sp>
          <p:nvSpPr>
            <p:cNvPr id="43" name="矩形 13">
              <a:extLst>
                <a:ext uri="{FF2B5EF4-FFF2-40B4-BE49-F238E27FC236}">
                  <a16:creationId xmlns:a16="http://schemas.microsoft.com/office/drawing/2014/main" xmlns=""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129/193/95</a:t>
              </a:r>
            </a:p>
          </p:txBody>
        </p:sp>
        <p:sp>
          <p:nvSpPr>
            <p:cNvPr id="44" name="矩形 13">
              <a:extLst>
                <a:ext uri="{FF2B5EF4-FFF2-40B4-BE49-F238E27FC236}">
                  <a16:creationId xmlns:a16="http://schemas.microsoft.com/office/drawing/2014/main" xmlns=""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253/211/81</a:t>
              </a:r>
            </a:p>
          </p:txBody>
        </p:sp>
        <p:sp>
          <p:nvSpPr>
            <p:cNvPr id="65" name="矩形 13">
              <a:extLst>
                <a:ext uri="{FF2B5EF4-FFF2-40B4-BE49-F238E27FC236}">
                  <a16:creationId xmlns:a16="http://schemas.microsoft.com/office/drawing/2014/main" xmlns=""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86/196/210</a:t>
              </a:r>
            </a:p>
          </p:txBody>
        </p:sp>
        <p:sp>
          <p:nvSpPr>
            <p:cNvPr id="66" name="矩形 13">
              <a:extLst>
                <a:ext uri="{FF2B5EF4-FFF2-40B4-BE49-F238E27FC236}">
                  <a16:creationId xmlns:a16="http://schemas.microsoft.com/office/drawing/2014/main" xmlns=""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211/57/65</a:t>
              </a:r>
            </a:p>
          </p:txBody>
        </p:sp>
        <p:sp>
          <p:nvSpPr>
            <p:cNvPr id="67" name="矩形 13">
              <a:extLst>
                <a:ext uri="{FF2B5EF4-FFF2-40B4-BE49-F238E27FC236}">
                  <a16:creationId xmlns:a16="http://schemas.microsoft.com/office/drawing/2014/main" xmlns=""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211/56/89</a:t>
              </a:r>
            </a:p>
          </p:txBody>
        </p:sp>
        <p:sp>
          <p:nvSpPr>
            <p:cNvPr id="68" name="矩形 13">
              <a:extLst>
                <a:ext uri="{FF2B5EF4-FFF2-40B4-BE49-F238E27FC236}">
                  <a16:creationId xmlns:a16="http://schemas.microsoft.com/office/drawing/2014/main" xmlns=""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221/128/170</a:t>
              </a:r>
            </a:p>
          </p:txBody>
        </p:sp>
        <p:sp>
          <p:nvSpPr>
            <p:cNvPr id="69" name="矩形 13">
              <a:extLst>
                <a:ext uri="{FF2B5EF4-FFF2-40B4-BE49-F238E27FC236}">
                  <a16:creationId xmlns:a16="http://schemas.microsoft.com/office/drawing/2014/main" xmlns=""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191/128/130</a:t>
              </a:r>
            </a:p>
          </p:txBody>
        </p:sp>
        <p:sp>
          <p:nvSpPr>
            <p:cNvPr id="70" name="矩形 13">
              <a:extLst>
                <a:ext uri="{FF2B5EF4-FFF2-40B4-BE49-F238E27FC236}">
                  <a16:creationId xmlns:a16="http://schemas.microsoft.com/office/drawing/2014/main" xmlns=""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246/183/140</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1" name="矩形 13">
              <a:extLst>
                <a:ext uri="{FF2B5EF4-FFF2-40B4-BE49-F238E27FC236}">
                  <a16:creationId xmlns:a16="http://schemas.microsoft.com/office/drawing/2014/main" xmlns=""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176/216/156</a:t>
              </a:r>
            </a:p>
          </p:txBody>
        </p:sp>
        <p:sp>
          <p:nvSpPr>
            <p:cNvPr id="72" name="矩形 13">
              <a:extLst>
                <a:ext uri="{FF2B5EF4-FFF2-40B4-BE49-F238E27FC236}">
                  <a16:creationId xmlns:a16="http://schemas.microsoft.com/office/drawing/2014/main" xmlns=""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253/227/181</a:t>
              </a:r>
            </a:p>
          </p:txBody>
        </p:sp>
        <p:sp>
          <p:nvSpPr>
            <p:cNvPr id="73" name="矩形 13">
              <a:extLst>
                <a:ext uri="{FF2B5EF4-FFF2-40B4-BE49-F238E27FC236}">
                  <a16:creationId xmlns:a16="http://schemas.microsoft.com/office/drawing/2014/main" xmlns=""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148/218/226</a:t>
              </a:r>
            </a:p>
          </p:txBody>
        </p:sp>
        <p:sp>
          <p:nvSpPr>
            <p:cNvPr id="74" name="矩形 13">
              <a:extLst>
                <a:ext uri="{FF2B5EF4-FFF2-40B4-BE49-F238E27FC236}">
                  <a16:creationId xmlns:a16="http://schemas.microsoft.com/office/drawing/2014/main" xmlns=""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226/129/137</a:t>
              </a:r>
            </a:p>
          </p:txBody>
        </p:sp>
        <p:sp>
          <p:nvSpPr>
            <p:cNvPr id="75" name="矩形 13">
              <a:extLst>
                <a:ext uri="{FF2B5EF4-FFF2-40B4-BE49-F238E27FC236}">
                  <a16:creationId xmlns:a16="http://schemas.microsoft.com/office/drawing/2014/main" xmlns=""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226/129/152</a:t>
              </a:r>
            </a:p>
          </p:txBody>
        </p:sp>
        <p:sp>
          <p:nvSpPr>
            <p:cNvPr id="76" name="矩形 13">
              <a:extLst>
                <a:ext uri="{FF2B5EF4-FFF2-40B4-BE49-F238E27FC236}">
                  <a16:creationId xmlns:a16="http://schemas.microsoft.com/office/drawing/2014/main" xmlns=""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235/179/204</a:t>
              </a:r>
            </a:p>
          </p:txBody>
        </p:sp>
        <p:sp>
          <p:nvSpPr>
            <p:cNvPr id="77" name="矩形 13">
              <a:extLst>
                <a:ext uri="{FF2B5EF4-FFF2-40B4-BE49-F238E27FC236}">
                  <a16:creationId xmlns:a16="http://schemas.microsoft.com/office/drawing/2014/main" xmlns=""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216/179/179</a:t>
              </a:r>
            </a:p>
          </p:txBody>
        </p:sp>
        <p:sp>
          <p:nvSpPr>
            <p:cNvPr id="78" name="矩形 13">
              <a:extLst>
                <a:ext uri="{FF2B5EF4-FFF2-40B4-BE49-F238E27FC236}">
                  <a16:creationId xmlns:a16="http://schemas.microsoft.com/office/drawing/2014/main" xmlns=""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250/211/187</a:t>
              </a:r>
              <a:endParaRPr kumimoji="1" lang="mr-IN" altLang="zh-CN" sz="500" b="1" dirty="0">
                <a:solidFill>
                  <a:srgbClr val="595757"/>
                </a:solidFill>
                <a:latin typeface="Huawei Sans" panose="020C0503030203020204" pitchFamily="34" charset="0"/>
                <a:ea typeface="Arial" charset="0"/>
                <a:cs typeface="Arial" charset="0"/>
              </a:endParaRPr>
            </a:p>
          </p:txBody>
        </p:sp>
        <p:sp>
          <p:nvSpPr>
            <p:cNvPr id="79" name="矩形 13">
              <a:extLst>
                <a:ext uri="{FF2B5EF4-FFF2-40B4-BE49-F238E27FC236}">
                  <a16:creationId xmlns:a16="http://schemas.microsoft.com/office/drawing/2014/main" xmlns=""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208/232/196</a:t>
              </a:r>
            </a:p>
          </p:txBody>
        </p:sp>
        <p:sp>
          <p:nvSpPr>
            <p:cNvPr id="80" name="矩形 13">
              <a:extLst>
                <a:ext uri="{FF2B5EF4-FFF2-40B4-BE49-F238E27FC236}">
                  <a16:creationId xmlns:a16="http://schemas.microsoft.com/office/drawing/2014/main" xmlns=""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254/238/193</a:t>
              </a:r>
            </a:p>
          </p:txBody>
        </p:sp>
        <p:sp>
          <p:nvSpPr>
            <p:cNvPr id="81" name="矩形 13">
              <a:extLst>
                <a:ext uri="{FF2B5EF4-FFF2-40B4-BE49-F238E27FC236}">
                  <a16:creationId xmlns:a16="http://schemas.microsoft.com/office/drawing/2014/main" xmlns=""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190/23/238</a:t>
              </a:r>
            </a:p>
          </p:txBody>
        </p:sp>
        <p:sp>
          <p:nvSpPr>
            <p:cNvPr id="82" name="矩形 13">
              <a:extLst>
                <a:ext uri="{FF2B5EF4-FFF2-40B4-BE49-F238E27FC236}">
                  <a16:creationId xmlns:a16="http://schemas.microsoft.com/office/drawing/2014/main" xmlns=""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239/178/184</a:t>
              </a:r>
            </a:p>
          </p:txBody>
        </p:sp>
        <p:sp>
          <p:nvSpPr>
            <p:cNvPr id="83" name="矩形 13">
              <a:extLst>
                <a:ext uri="{FF2B5EF4-FFF2-40B4-BE49-F238E27FC236}">
                  <a16:creationId xmlns:a16="http://schemas.microsoft.com/office/drawing/2014/main" xmlns=""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238/179/193</a:t>
              </a:r>
            </a:p>
          </p:txBody>
        </p:sp>
        <p:sp>
          <p:nvSpPr>
            <p:cNvPr id="84" name="矩形 13">
              <a:extLst>
                <a:ext uri="{FF2B5EF4-FFF2-40B4-BE49-F238E27FC236}">
                  <a16:creationId xmlns:a16="http://schemas.microsoft.com/office/drawing/2014/main" xmlns=""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35/24/21</a:t>
              </a:r>
            </a:p>
          </p:txBody>
        </p:sp>
        <p:sp>
          <p:nvSpPr>
            <p:cNvPr id="85" name="矩形 13">
              <a:extLst>
                <a:ext uri="{FF2B5EF4-FFF2-40B4-BE49-F238E27FC236}">
                  <a16:creationId xmlns:a16="http://schemas.microsoft.com/office/drawing/2014/main" xmlns=""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 </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89/87/87</a:t>
              </a:r>
            </a:p>
          </p:txBody>
        </p:sp>
        <p:sp>
          <p:nvSpPr>
            <p:cNvPr id="86" name="矩形 13">
              <a:extLst>
                <a:ext uri="{FF2B5EF4-FFF2-40B4-BE49-F238E27FC236}">
                  <a16:creationId xmlns:a16="http://schemas.microsoft.com/office/drawing/2014/main" xmlns=""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137/137/</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137</a:t>
              </a:r>
            </a:p>
          </p:txBody>
        </p:sp>
        <p:sp>
          <p:nvSpPr>
            <p:cNvPr id="87" name="矩形 13">
              <a:extLst>
                <a:ext uri="{FF2B5EF4-FFF2-40B4-BE49-F238E27FC236}">
                  <a16:creationId xmlns:a16="http://schemas.microsoft.com/office/drawing/2014/main" xmlns=""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181/181/</a:t>
              </a:r>
              <a:br>
                <a:rPr kumimoji="1" lang="en-US" altLang="zh-CN" sz="500" b="1" dirty="0">
                  <a:solidFill>
                    <a:srgbClr val="FFFFFF"/>
                  </a:solidFill>
                  <a:latin typeface="Huawei Sans" panose="020C0503030203020204" pitchFamily="34" charset="0"/>
                  <a:ea typeface="Arial" charset="0"/>
                  <a:cs typeface="Huawei Sans" panose="020C0503030203020204" pitchFamily="34" charset="0"/>
                </a:rPr>
              </a:br>
              <a:r>
                <a:rPr kumimoji="1" lang="en-US" altLang="zh-CN" sz="500" b="1" dirty="0">
                  <a:solidFill>
                    <a:srgbClr val="FFFFFF"/>
                  </a:solidFill>
                  <a:latin typeface="Huawei Sans" panose="020C0503030203020204" pitchFamily="34" charset="0"/>
                  <a:ea typeface="Arial" charset="0"/>
                  <a:cs typeface="Huawei Sans" panose="020C0503030203020204" pitchFamily="34" charset="0"/>
                </a:rPr>
                <a:t>181</a:t>
              </a:r>
            </a:p>
          </p:txBody>
        </p:sp>
        <p:sp>
          <p:nvSpPr>
            <p:cNvPr id="88" name="矩形 13">
              <a:extLst>
                <a:ext uri="{FF2B5EF4-FFF2-40B4-BE49-F238E27FC236}">
                  <a16:creationId xmlns:a16="http://schemas.microsoft.com/office/drawing/2014/main" xmlns=""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 221/221/</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221</a:t>
              </a:r>
            </a:p>
          </p:txBody>
        </p:sp>
        <p:sp>
          <p:nvSpPr>
            <p:cNvPr id="89" name="矩形 13">
              <a:extLst>
                <a:ext uri="{FF2B5EF4-FFF2-40B4-BE49-F238E27FC236}">
                  <a16:creationId xmlns:a16="http://schemas.microsoft.com/office/drawing/2014/main" xmlns=""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RGB</a:t>
              </a:r>
            </a:p>
            <a:p>
              <a:pPr algn="ctr">
                <a:lnSpc>
                  <a:spcPts val="620"/>
                </a:lnSpc>
              </a:pP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255/255/</a:t>
              </a:r>
              <a:br>
                <a:rPr kumimoji="1" lang="en-US" altLang="zh-CN" sz="500" b="1" dirty="0">
                  <a:solidFill>
                    <a:srgbClr val="595757"/>
                  </a:solidFill>
                  <a:latin typeface="Huawei Sans" panose="020C0503030203020204" pitchFamily="34" charset="0"/>
                  <a:ea typeface="Arial" charset="0"/>
                  <a:cs typeface="Huawei Sans" panose="020C0503030203020204" pitchFamily="34" charset="0"/>
                </a:rPr>
              </a:br>
              <a:r>
                <a:rPr kumimoji="1" lang="en-US" altLang="zh-CN" sz="500" b="1" dirty="0">
                  <a:solidFill>
                    <a:srgbClr val="595757"/>
                  </a:solidFill>
                  <a:latin typeface="Huawei Sans" panose="020C0503030203020204" pitchFamily="34" charset="0"/>
                  <a:ea typeface="Arial" charset="0"/>
                  <a:cs typeface="Huawei Sans" panose="020C0503030203020204" pitchFamily="34" charset="0"/>
                </a:rPr>
                <a:t>255</a:t>
              </a:r>
            </a:p>
          </p:txBody>
        </p:sp>
      </p:grpSp>
    </p:spTree>
    <p:extLst>
      <p:ext uri="{BB962C8B-B14F-4D97-AF65-F5344CB8AC3E}">
        <p14:creationId xmlns:p14="http://schemas.microsoft.com/office/powerpoint/2010/main" val="385576767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Lst>
  <p:timing>
    <p:tnLst>
      <p:par>
        <p:cTn id="1" dur="indefinite" restart="never" nodeType="tmRoot"/>
      </p:par>
    </p:tnLst>
  </p:timing>
  <p:txStyles>
    <p:titleStyle>
      <a:lvl1pPr algn="l" defTabSz="914034" rtl="0" eaLnBrk="1" fontAlgn="base" latinLnBrk="0" hangingPunct="1">
        <a:lnSpc>
          <a:spcPct val="90000"/>
        </a:lnSpc>
        <a:spcBef>
          <a:spcPct val="0"/>
        </a:spcBef>
        <a:buNone/>
        <a:defRPr lang="zh-CN" altLang="en-US" sz="3200" kern="1200" baseline="0" dirty="0">
          <a:solidFill>
            <a:schemeClr val="tx1"/>
          </a:solidFill>
          <a:latin typeface="Huawei Sans" panose="020C0503030203020204" pitchFamily="34" charset="0"/>
          <a:ea typeface="方正兰亭黑简体" panose="02000000000000000000" pitchFamily="2" charset="-122"/>
          <a:cs typeface="+mn-cs"/>
        </a:defRPr>
      </a:lvl1pPr>
    </p:titleStyle>
    <p:body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zh-CN"/>
      </a:defPPr>
      <a:lvl1pPr marL="0" algn="l" defTabSz="914034" rtl="0" eaLnBrk="1" latinLnBrk="0" hangingPunct="1">
        <a:defRPr sz="1799" kern="1200">
          <a:solidFill>
            <a:schemeClr val="tx1"/>
          </a:solidFill>
          <a:latin typeface="+mn-lt"/>
          <a:ea typeface="+mn-ea"/>
          <a:cs typeface="+mn-cs"/>
        </a:defRPr>
      </a:lvl1pPr>
      <a:lvl2pPr marL="457017" algn="l" defTabSz="914034" rtl="0" eaLnBrk="1" latinLnBrk="0" hangingPunct="1">
        <a:defRPr sz="1799" kern="1200">
          <a:solidFill>
            <a:schemeClr val="tx1"/>
          </a:solidFill>
          <a:latin typeface="+mn-lt"/>
          <a:ea typeface="+mn-ea"/>
          <a:cs typeface="+mn-cs"/>
        </a:defRPr>
      </a:lvl2pPr>
      <a:lvl3pPr marL="914034" algn="l" defTabSz="914034" rtl="0" eaLnBrk="1" latinLnBrk="0" hangingPunct="1">
        <a:defRPr sz="1799" kern="1200">
          <a:solidFill>
            <a:schemeClr val="tx1"/>
          </a:solidFill>
          <a:latin typeface="+mn-lt"/>
          <a:ea typeface="+mn-ea"/>
          <a:cs typeface="+mn-cs"/>
        </a:defRPr>
      </a:lvl3pPr>
      <a:lvl4pPr marL="1371051" algn="l" defTabSz="914034" rtl="0" eaLnBrk="1" latinLnBrk="0" hangingPunct="1">
        <a:defRPr sz="1799" kern="1200">
          <a:solidFill>
            <a:schemeClr val="tx1"/>
          </a:solidFill>
          <a:latin typeface="+mn-lt"/>
          <a:ea typeface="+mn-ea"/>
          <a:cs typeface="+mn-cs"/>
        </a:defRPr>
      </a:lvl4pPr>
      <a:lvl5pPr marL="1828068" algn="l" defTabSz="914034" rtl="0" eaLnBrk="1" latinLnBrk="0" hangingPunct="1">
        <a:defRPr sz="1799" kern="1200">
          <a:solidFill>
            <a:schemeClr val="tx1"/>
          </a:solidFill>
          <a:latin typeface="+mn-lt"/>
          <a:ea typeface="+mn-ea"/>
          <a:cs typeface="+mn-cs"/>
        </a:defRPr>
      </a:lvl5pPr>
      <a:lvl6pPr marL="2285086" algn="l" defTabSz="914034" rtl="0" eaLnBrk="1" latinLnBrk="0" hangingPunct="1">
        <a:defRPr sz="1799" kern="1200">
          <a:solidFill>
            <a:schemeClr val="tx1"/>
          </a:solidFill>
          <a:latin typeface="+mn-lt"/>
          <a:ea typeface="+mn-ea"/>
          <a:cs typeface="+mn-cs"/>
        </a:defRPr>
      </a:lvl6pPr>
      <a:lvl7pPr marL="2742103" algn="l" defTabSz="914034" rtl="0" eaLnBrk="1" latinLnBrk="0" hangingPunct="1">
        <a:defRPr sz="1799" kern="1200">
          <a:solidFill>
            <a:schemeClr val="tx1"/>
          </a:solidFill>
          <a:latin typeface="+mn-lt"/>
          <a:ea typeface="+mn-ea"/>
          <a:cs typeface="+mn-cs"/>
        </a:defRPr>
      </a:lvl7pPr>
      <a:lvl8pPr marL="3199120" algn="l" defTabSz="914034" rtl="0" eaLnBrk="1" latinLnBrk="0" hangingPunct="1">
        <a:defRPr sz="1799" kern="1200">
          <a:solidFill>
            <a:schemeClr val="tx1"/>
          </a:solidFill>
          <a:latin typeface="+mn-lt"/>
          <a:ea typeface="+mn-ea"/>
          <a:cs typeface="+mn-cs"/>
        </a:defRPr>
      </a:lvl8pPr>
      <a:lvl9pPr marL="3656137" algn="l" defTabSz="914034" rtl="0" eaLnBrk="1" latinLnBrk="0" hangingPunct="1">
        <a:defRPr sz="1799"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79">
          <p15:clr>
            <a:srgbClr val="F26B43"/>
          </p15:clr>
        </p15:guide>
        <p15:guide id="2" pos="7401">
          <p15:clr>
            <a:srgbClr val="F26B43"/>
          </p15:clr>
        </p15:guide>
        <p15:guide id="3" orient="horz" pos="2341">
          <p15:clr>
            <a:srgbClr val="F26B43"/>
          </p15:clr>
        </p15:guide>
        <p15:guide id="4" orient="horz" pos="3906">
          <p15:clr>
            <a:srgbClr val="F26B43"/>
          </p15:clr>
        </p15:guide>
        <p15:guide id="5" orient="horz" pos="935">
          <p15:clr>
            <a:srgbClr val="F26B43"/>
          </p15:clr>
        </p15:guide>
        <p15:guide id="6" pos="3840">
          <p15:clr>
            <a:srgbClr val="F26B43"/>
          </p15:clr>
        </p15:guide>
        <p15:guide id="7" orient="horz" pos="278">
          <p15:clr>
            <a:srgbClr val="F26B43"/>
          </p15:clr>
        </p15:guide>
        <p15:guide id="8" orient="horz" pos="91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9" name="Group 87">
            <a:extLst>
              <a:ext uri="{FF2B5EF4-FFF2-40B4-BE49-F238E27FC236}">
                <a16:creationId xmlns="" xmlns:a16="http://schemas.microsoft.com/office/drawing/2014/main" id="{37333705-F8D6-2847-B3CB-F2FAB51E2A3B}"/>
              </a:ext>
            </a:extLst>
          </p:cNvPr>
          <p:cNvGrpSpPr>
            <a:grpSpLocks noChangeAspect="1"/>
          </p:cNvGrpSpPr>
          <p:nvPr userDrawn="1"/>
        </p:nvGrpSpPr>
        <p:grpSpPr>
          <a:xfrm>
            <a:off x="12290471" y="2625389"/>
            <a:ext cx="1963323" cy="4233515"/>
            <a:chOff x="5343885" y="-48857"/>
            <a:chExt cx="3263586" cy="7037279"/>
          </a:xfrm>
        </p:grpSpPr>
        <p:sp>
          <p:nvSpPr>
            <p:cNvPr id="30" name="矩形 13">
              <a:extLst>
                <a:ext uri="{FF2B5EF4-FFF2-40B4-BE49-F238E27FC236}">
                  <a16:creationId xmlns="" xmlns:a16="http://schemas.microsoft.com/office/drawing/2014/main" id="{B14DFA89-D483-CF47-82CC-DD86D7CAB09E}"/>
                </a:ext>
              </a:extLst>
            </p:cNvPr>
            <p:cNvSpPr/>
            <p:nvPr userDrawn="1"/>
          </p:nvSpPr>
          <p:spPr>
            <a:xfrm>
              <a:off x="5356401" y="1934171"/>
              <a:ext cx="791510" cy="664397"/>
            </a:xfrm>
            <a:prstGeom prst="rect">
              <a:avLst/>
            </a:prstGeom>
            <a:solidFill>
              <a:srgbClr val="C4005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196/0/84</a:t>
              </a:r>
            </a:p>
          </p:txBody>
        </p:sp>
        <p:sp>
          <p:nvSpPr>
            <p:cNvPr id="31" name="文本框 15">
              <a:extLst>
                <a:ext uri="{FF2B5EF4-FFF2-40B4-BE49-F238E27FC236}">
                  <a16:creationId xmlns="" xmlns:a16="http://schemas.microsoft.com/office/drawing/2014/main" id="{8223ADA0-340A-794B-93B7-24AFF612A719}"/>
                </a:ext>
              </a:extLst>
            </p:cNvPr>
            <p:cNvSpPr txBox="1"/>
            <p:nvPr userDrawn="1"/>
          </p:nvSpPr>
          <p:spPr>
            <a:xfrm>
              <a:off x="5352723" y="1694497"/>
              <a:ext cx="1052647"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公司辅助色</a:t>
              </a:r>
            </a:p>
          </p:txBody>
        </p:sp>
        <p:sp>
          <p:nvSpPr>
            <p:cNvPr id="32" name="矩形 13">
              <a:extLst>
                <a:ext uri="{FF2B5EF4-FFF2-40B4-BE49-F238E27FC236}">
                  <a16:creationId xmlns="" xmlns:a16="http://schemas.microsoft.com/office/drawing/2014/main" id="{5F63E0E3-4F22-7948-AB1A-40A84ECA92EC}"/>
                </a:ext>
              </a:extLst>
            </p:cNvPr>
            <p:cNvSpPr/>
            <p:nvPr userDrawn="1"/>
          </p:nvSpPr>
          <p:spPr>
            <a:xfrm>
              <a:off x="6184680" y="1934171"/>
              <a:ext cx="791510" cy="664397"/>
            </a:xfrm>
            <a:prstGeom prst="rect">
              <a:avLst/>
            </a:prstGeom>
            <a:solidFill>
              <a:srgbClr val="CB377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203/55/120</a:t>
              </a:r>
            </a:p>
          </p:txBody>
        </p:sp>
        <p:sp>
          <p:nvSpPr>
            <p:cNvPr id="33" name="矩形 13">
              <a:extLst>
                <a:ext uri="{FF2B5EF4-FFF2-40B4-BE49-F238E27FC236}">
                  <a16:creationId xmlns="" xmlns:a16="http://schemas.microsoft.com/office/drawing/2014/main" id="{29C4A3C6-7C7B-7140-8F73-591E9F49143F}"/>
                </a:ext>
              </a:extLst>
            </p:cNvPr>
            <p:cNvSpPr/>
            <p:nvPr userDrawn="1"/>
          </p:nvSpPr>
          <p:spPr>
            <a:xfrm>
              <a:off x="5356401" y="3403061"/>
              <a:ext cx="791510" cy="664397"/>
            </a:xfrm>
            <a:prstGeom prst="rect">
              <a:avLst/>
            </a:prstGeom>
            <a:solidFill>
              <a:srgbClr val="ED6D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237/109/0</a:t>
              </a:r>
            </a:p>
          </p:txBody>
        </p:sp>
        <p:sp>
          <p:nvSpPr>
            <p:cNvPr id="34" name="矩形 13">
              <a:extLst>
                <a:ext uri="{FF2B5EF4-FFF2-40B4-BE49-F238E27FC236}">
                  <a16:creationId xmlns="" xmlns:a16="http://schemas.microsoft.com/office/drawing/2014/main" id="{BE4C9A8D-46B0-5B40-BC47-DB6C4899227F}"/>
                </a:ext>
              </a:extLst>
            </p:cNvPr>
            <p:cNvSpPr/>
            <p:nvPr userDrawn="1"/>
          </p:nvSpPr>
          <p:spPr>
            <a:xfrm>
              <a:off x="6184680" y="2673360"/>
              <a:ext cx="791510" cy="664397"/>
            </a:xfrm>
            <a:prstGeom prst="rect">
              <a:avLst/>
            </a:prstGeom>
            <a:solidFill>
              <a:srgbClr val="993636"/>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153/54/54</a:t>
              </a:r>
            </a:p>
          </p:txBody>
        </p:sp>
        <p:sp>
          <p:nvSpPr>
            <p:cNvPr id="35" name="矩形 13">
              <a:extLst>
                <a:ext uri="{FF2B5EF4-FFF2-40B4-BE49-F238E27FC236}">
                  <a16:creationId xmlns="" xmlns:a16="http://schemas.microsoft.com/office/drawing/2014/main" id="{612F2ED4-F7A4-9E48-95E1-8D07B3BBE962}"/>
                </a:ext>
              </a:extLst>
            </p:cNvPr>
            <p:cNvSpPr/>
            <p:nvPr userDrawn="1"/>
          </p:nvSpPr>
          <p:spPr>
            <a:xfrm>
              <a:off x="5356401" y="4866463"/>
              <a:ext cx="791510" cy="664397"/>
            </a:xfrm>
            <a:prstGeom prst="rect">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98/178/48</a:t>
              </a:r>
            </a:p>
          </p:txBody>
        </p:sp>
        <p:sp>
          <p:nvSpPr>
            <p:cNvPr id="36" name="矩形 13">
              <a:extLst>
                <a:ext uri="{FF2B5EF4-FFF2-40B4-BE49-F238E27FC236}">
                  <a16:creationId xmlns="" xmlns:a16="http://schemas.microsoft.com/office/drawing/2014/main" id="{A9E1D476-C288-8945-A68A-1F20C557294B}"/>
                </a:ext>
              </a:extLst>
            </p:cNvPr>
            <p:cNvSpPr/>
            <p:nvPr userDrawn="1"/>
          </p:nvSpPr>
          <p:spPr>
            <a:xfrm>
              <a:off x="6184680" y="3415851"/>
              <a:ext cx="791510" cy="664397"/>
            </a:xfrm>
            <a:prstGeom prst="rect">
              <a:avLst/>
            </a:prstGeom>
            <a:solidFill>
              <a:srgbClr val="F2894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242/137/68</a:t>
              </a:r>
              <a:endParaRPr kumimoji="1" lang="mr-IN" altLang="zh-CN" sz="500" b="1" dirty="0">
                <a:solidFill>
                  <a:srgbClr val="FFFFFF"/>
                </a:solidFill>
                <a:latin typeface="Arial" charset="0"/>
                <a:ea typeface="Arial" charset="0"/>
                <a:cs typeface="Arial" charset="0"/>
              </a:endParaRPr>
            </a:p>
          </p:txBody>
        </p:sp>
        <p:sp>
          <p:nvSpPr>
            <p:cNvPr id="37" name="矩形 13">
              <a:extLst>
                <a:ext uri="{FF2B5EF4-FFF2-40B4-BE49-F238E27FC236}">
                  <a16:creationId xmlns="" xmlns:a16="http://schemas.microsoft.com/office/drawing/2014/main" id="{42823EBB-E62E-F149-AC9A-09950051F283}"/>
                </a:ext>
              </a:extLst>
            </p:cNvPr>
            <p:cNvSpPr/>
            <p:nvPr userDrawn="1"/>
          </p:nvSpPr>
          <p:spPr>
            <a:xfrm>
              <a:off x="5353240" y="184963"/>
              <a:ext cx="791510" cy="664397"/>
            </a:xfrm>
            <a:prstGeom prst="rect">
              <a:avLst/>
            </a:prstGeom>
            <a:solidFill>
              <a:srgbClr val="C7000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185C</a:t>
              </a:r>
            </a:p>
            <a:p>
              <a:pPr algn="ctr">
                <a:lnSpc>
                  <a:spcPts val="620"/>
                </a:lnSpc>
                <a:spcBef>
                  <a:spcPts val="0"/>
                </a:spcBef>
              </a:pPr>
              <a:r>
                <a:rPr kumimoji="1" lang="en-US" altLang="zh-CN" sz="500" b="1" dirty="0">
                  <a:solidFill>
                    <a:schemeClr val="tx2"/>
                  </a:solidFill>
                  <a:latin typeface="Arial" charset="0"/>
                  <a:ea typeface="Arial" charset="0"/>
                  <a:cs typeface="Arial" charset="0"/>
                </a:rPr>
                <a:t>RGB </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199/0/11  </a:t>
              </a:r>
            </a:p>
          </p:txBody>
        </p:sp>
        <p:sp>
          <p:nvSpPr>
            <p:cNvPr id="38" name="文本框 15">
              <a:extLst>
                <a:ext uri="{FF2B5EF4-FFF2-40B4-BE49-F238E27FC236}">
                  <a16:creationId xmlns="" xmlns:a16="http://schemas.microsoft.com/office/drawing/2014/main" id="{EA01C299-6FF2-3642-AAEC-A1DF62D9C654}"/>
                </a:ext>
              </a:extLst>
            </p:cNvPr>
            <p:cNvSpPr txBox="1"/>
            <p:nvPr userDrawn="1"/>
          </p:nvSpPr>
          <p:spPr>
            <a:xfrm>
              <a:off x="5343885" y="-48857"/>
              <a:ext cx="726488" cy="204645"/>
            </a:xfrm>
            <a:prstGeom prst="rect">
              <a:avLst/>
            </a:prstGeom>
            <a:noFill/>
          </p:spPr>
          <p:txBody>
            <a:bodyPr wrap="square" lIns="0" tIns="0" rIns="0" bIns="0" rtlCol="0" anchor="b" anchorCtr="0">
              <a:spAutoFit/>
            </a:bodyPr>
            <a:lstStyle/>
            <a:p>
              <a:pPr algn="l">
                <a:lnSpc>
                  <a:spcPct val="100000"/>
                </a:lnSpc>
              </a:pPr>
              <a:r>
                <a:rPr kumimoji="1" lang="zh-CN" altLang="en-US" sz="800" b="0" i="0" dirty="0">
                  <a:solidFill>
                    <a:schemeClr val="tx1"/>
                  </a:solidFill>
                  <a:latin typeface="Microsoft YaHei" panose="020B0503020204020204" pitchFamily="34" charset="-122"/>
                  <a:ea typeface="Microsoft YaHei" panose="020B0503020204020204" pitchFamily="34" charset="-122"/>
                </a:rPr>
                <a:t>公司色</a:t>
              </a:r>
            </a:p>
          </p:txBody>
        </p:sp>
        <p:sp>
          <p:nvSpPr>
            <p:cNvPr id="39" name="矩形 13">
              <a:extLst>
                <a:ext uri="{FF2B5EF4-FFF2-40B4-BE49-F238E27FC236}">
                  <a16:creationId xmlns="" xmlns:a16="http://schemas.microsoft.com/office/drawing/2014/main" id="{B84AB502-165F-764A-9621-65CA8CBBEAEA}"/>
                </a:ext>
              </a:extLst>
            </p:cNvPr>
            <p:cNvSpPr/>
            <p:nvPr userDrawn="1"/>
          </p:nvSpPr>
          <p:spPr>
            <a:xfrm>
              <a:off x="5352600" y="918047"/>
              <a:ext cx="791510" cy="664397"/>
            </a:xfrm>
            <a:prstGeom prst="rect">
              <a:avLst/>
            </a:prstGeom>
            <a:solidFill>
              <a:srgbClr val="C8102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chemeClr val="tx2"/>
                  </a:solidFill>
                  <a:latin typeface="Arial" charset="0"/>
                  <a:ea typeface="Arial" charset="0"/>
                  <a:cs typeface="Arial" charset="0"/>
                </a:rPr>
                <a:t>PANTONE 186C</a:t>
              </a:r>
            </a:p>
            <a:p>
              <a:pPr algn="ctr">
                <a:lnSpc>
                  <a:spcPts val="620"/>
                </a:lnSpc>
              </a:pPr>
              <a:r>
                <a:rPr kumimoji="1" lang="en-US" altLang="zh-CN" sz="500" b="1" dirty="0">
                  <a:solidFill>
                    <a:schemeClr val="tx2"/>
                  </a:solidFill>
                  <a:latin typeface="Arial" charset="0"/>
                  <a:ea typeface="Arial" charset="0"/>
                  <a:cs typeface="Arial" charset="0"/>
                </a:rPr>
                <a:t>RGB</a:t>
              </a:r>
              <a:br>
                <a:rPr kumimoji="1" lang="en-US" altLang="zh-CN" sz="500" b="1" dirty="0">
                  <a:solidFill>
                    <a:schemeClr val="tx2"/>
                  </a:solidFill>
                  <a:latin typeface="Arial" charset="0"/>
                  <a:ea typeface="Arial" charset="0"/>
                  <a:cs typeface="Arial" charset="0"/>
                </a:rPr>
              </a:br>
              <a:r>
                <a:rPr kumimoji="1" lang="en-US" altLang="zh-CN" sz="500" b="1" dirty="0">
                  <a:solidFill>
                    <a:schemeClr val="tx2"/>
                  </a:solidFill>
                  <a:latin typeface="Arial" charset="0"/>
                  <a:ea typeface="Arial" charset="0"/>
                  <a:cs typeface="Arial" charset="0"/>
                </a:rPr>
                <a:t>200/16/46  </a:t>
              </a:r>
            </a:p>
          </p:txBody>
        </p:sp>
        <p:sp>
          <p:nvSpPr>
            <p:cNvPr id="40" name="矩形 13">
              <a:extLst>
                <a:ext uri="{FF2B5EF4-FFF2-40B4-BE49-F238E27FC236}">
                  <a16:creationId xmlns="" xmlns:a16="http://schemas.microsoft.com/office/drawing/2014/main" id="{CB8870E8-3E95-764C-B621-A168E194CC7A}"/>
                </a:ext>
              </a:extLst>
            </p:cNvPr>
            <p:cNvSpPr/>
            <p:nvPr userDrawn="1"/>
          </p:nvSpPr>
          <p:spPr>
            <a:xfrm>
              <a:off x="5354164" y="2665974"/>
              <a:ext cx="791510" cy="664397"/>
            </a:xfrm>
            <a:prstGeom prst="rect">
              <a:avLst/>
            </a:prstGeom>
            <a:solidFill>
              <a:srgbClr val="7F000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127/0/1</a:t>
              </a:r>
            </a:p>
          </p:txBody>
        </p:sp>
        <p:sp>
          <p:nvSpPr>
            <p:cNvPr id="41" name="矩形 13">
              <a:extLst>
                <a:ext uri="{FF2B5EF4-FFF2-40B4-BE49-F238E27FC236}">
                  <a16:creationId xmlns="" xmlns:a16="http://schemas.microsoft.com/office/drawing/2014/main" id="{356EF69A-1936-544F-A95F-0664F4E186D5}"/>
                </a:ext>
              </a:extLst>
            </p:cNvPr>
            <p:cNvSpPr/>
            <p:nvPr userDrawn="1"/>
          </p:nvSpPr>
          <p:spPr>
            <a:xfrm>
              <a:off x="5354164" y="4134866"/>
              <a:ext cx="791510" cy="664397"/>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52/200/0</a:t>
              </a:r>
            </a:p>
          </p:txBody>
        </p:sp>
        <p:sp>
          <p:nvSpPr>
            <p:cNvPr id="42" name="矩形 13">
              <a:extLst>
                <a:ext uri="{FF2B5EF4-FFF2-40B4-BE49-F238E27FC236}">
                  <a16:creationId xmlns="" xmlns:a16="http://schemas.microsoft.com/office/drawing/2014/main" id="{03EBAB43-95A5-1C4A-8458-B86EB3D51FCA}"/>
                </a:ext>
              </a:extLst>
            </p:cNvPr>
            <p:cNvSpPr/>
            <p:nvPr userDrawn="1"/>
          </p:nvSpPr>
          <p:spPr>
            <a:xfrm>
              <a:off x="5354164" y="5596166"/>
              <a:ext cx="791510" cy="664397"/>
            </a:xfrm>
            <a:prstGeom prst="rect">
              <a:avLst/>
            </a:prstGeom>
            <a:solidFill>
              <a:srgbClr val="30B5C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48/181/197</a:t>
              </a:r>
            </a:p>
          </p:txBody>
        </p:sp>
        <p:sp>
          <p:nvSpPr>
            <p:cNvPr id="43" name="矩形 13">
              <a:extLst>
                <a:ext uri="{FF2B5EF4-FFF2-40B4-BE49-F238E27FC236}">
                  <a16:creationId xmlns="" xmlns:a16="http://schemas.microsoft.com/office/drawing/2014/main" id="{371A8520-F934-304C-B57F-B49F768694E2}"/>
                </a:ext>
              </a:extLst>
            </p:cNvPr>
            <p:cNvSpPr/>
            <p:nvPr userDrawn="1"/>
          </p:nvSpPr>
          <p:spPr>
            <a:xfrm>
              <a:off x="6194511" y="4866463"/>
              <a:ext cx="791510" cy="664397"/>
            </a:xfrm>
            <a:prstGeom prst="rect">
              <a:avLst/>
            </a:prstGeom>
            <a:solidFill>
              <a:srgbClr val="81C15F"/>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129/193/95</a:t>
              </a:r>
            </a:p>
          </p:txBody>
        </p:sp>
        <p:sp>
          <p:nvSpPr>
            <p:cNvPr id="44" name="矩形 13">
              <a:extLst>
                <a:ext uri="{FF2B5EF4-FFF2-40B4-BE49-F238E27FC236}">
                  <a16:creationId xmlns="" xmlns:a16="http://schemas.microsoft.com/office/drawing/2014/main" id="{B83004D7-279B-C14E-9FCF-870FA1B74FDF}"/>
                </a:ext>
              </a:extLst>
            </p:cNvPr>
            <p:cNvSpPr/>
            <p:nvPr userDrawn="1"/>
          </p:nvSpPr>
          <p:spPr>
            <a:xfrm>
              <a:off x="6192274" y="4134866"/>
              <a:ext cx="791510" cy="664397"/>
            </a:xfrm>
            <a:prstGeom prst="rect">
              <a:avLst/>
            </a:prstGeom>
            <a:solidFill>
              <a:srgbClr val="FDD35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253/211/81</a:t>
              </a:r>
            </a:p>
          </p:txBody>
        </p:sp>
        <p:sp>
          <p:nvSpPr>
            <p:cNvPr id="45" name="矩形 13">
              <a:extLst>
                <a:ext uri="{FF2B5EF4-FFF2-40B4-BE49-F238E27FC236}">
                  <a16:creationId xmlns="" xmlns:a16="http://schemas.microsoft.com/office/drawing/2014/main" id="{99635968-4E69-CC41-9D78-6DF253FE3035}"/>
                </a:ext>
              </a:extLst>
            </p:cNvPr>
            <p:cNvSpPr/>
            <p:nvPr userDrawn="1"/>
          </p:nvSpPr>
          <p:spPr>
            <a:xfrm>
              <a:off x="6192274" y="5596166"/>
              <a:ext cx="791510" cy="664397"/>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86/196/210</a:t>
              </a:r>
            </a:p>
          </p:txBody>
        </p:sp>
        <p:sp>
          <p:nvSpPr>
            <p:cNvPr id="46" name="矩形 13">
              <a:extLst>
                <a:ext uri="{FF2B5EF4-FFF2-40B4-BE49-F238E27FC236}">
                  <a16:creationId xmlns="" xmlns:a16="http://schemas.microsoft.com/office/drawing/2014/main" id="{BDBE4949-07B7-F046-AD95-68E4B0C11CCD}"/>
                </a:ext>
              </a:extLst>
            </p:cNvPr>
            <p:cNvSpPr/>
            <p:nvPr/>
          </p:nvSpPr>
          <p:spPr>
            <a:xfrm>
              <a:off x="6186245" y="184963"/>
              <a:ext cx="791510" cy="664397"/>
            </a:xfrm>
            <a:prstGeom prst="rect">
              <a:avLst/>
            </a:prstGeom>
            <a:solidFill>
              <a:srgbClr val="D3394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211/57/65</a:t>
              </a:r>
            </a:p>
          </p:txBody>
        </p:sp>
        <p:sp>
          <p:nvSpPr>
            <p:cNvPr id="47" name="矩形 13">
              <a:extLst>
                <a:ext uri="{FF2B5EF4-FFF2-40B4-BE49-F238E27FC236}">
                  <a16:creationId xmlns="" xmlns:a16="http://schemas.microsoft.com/office/drawing/2014/main" id="{AA9F9E00-6A31-F14B-A2E4-79908835FD14}"/>
                </a:ext>
              </a:extLst>
            </p:cNvPr>
            <p:cNvSpPr/>
            <p:nvPr/>
          </p:nvSpPr>
          <p:spPr>
            <a:xfrm>
              <a:off x="6185604" y="918047"/>
              <a:ext cx="791510" cy="664397"/>
            </a:xfrm>
            <a:prstGeom prst="rect">
              <a:avLst/>
            </a:prstGeom>
            <a:solidFill>
              <a:srgbClr val="D3385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211/56/89</a:t>
              </a:r>
            </a:p>
          </p:txBody>
        </p:sp>
        <p:sp>
          <p:nvSpPr>
            <p:cNvPr id="48" name="矩形 13">
              <a:extLst>
                <a:ext uri="{FF2B5EF4-FFF2-40B4-BE49-F238E27FC236}">
                  <a16:creationId xmlns="" xmlns:a16="http://schemas.microsoft.com/office/drawing/2014/main" id="{38715A31-485E-B744-B409-43F9F04B48F7}"/>
                </a:ext>
              </a:extLst>
            </p:cNvPr>
            <p:cNvSpPr/>
            <p:nvPr/>
          </p:nvSpPr>
          <p:spPr>
            <a:xfrm>
              <a:off x="6996262" y="1934171"/>
              <a:ext cx="791510" cy="664397"/>
            </a:xfrm>
            <a:prstGeom prst="rect">
              <a:avLst/>
            </a:prstGeom>
            <a:solidFill>
              <a:srgbClr val="DD80A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221/128/170</a:t>
              </a:r>
            </a:p>
          </p:txBody>
        </p:sp>
        <p:sp>
          <p:nvSpPr>
            <p:cNvPr id="49" name="矩形 13">
              <a:extLst>
                <a:ext uri="{FF2B5EF4-FFF2-40B4-BE49-F238E27FC236}">
                  <a16:creationId xmlns="" xmlns:a16="http://schemas.microsoft.com/office/drawing/2014/main" id="{4AE1609B-25DD-2C4A-B05B-D18ADBC39C71}"/>
                </a:ext>
              </a:extLst>
            </p:cNvPr>
            <p:cNvSpPr/>
            <p:nvPr/>
          </p:nvSpPr>
          <p:spPr>
            <a:xfrm>
              <a:off x="6996262" y="2673360"/>
              <a:ext cx="791510" cy="664397"/>
            </a:xfrm>
            <a:prstGeom prst="rect">
              <a:avLst/>
            </a:prstGeom>
            <a:solidFill>
              <a:srgbClr val="BF808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191/128/130</a:t>
              </a:r>
            </a:p>
          </p:txBody>
        </p:sp>
        <p:sp>
          <p:nvSpPr>
            <p:cNvPr id="50" name="矩形 13">
              <a:extLst>
                <a:ext uri="{FF2B5EF4-FFF2-40B4-BE49-F238E27FC236}">
                  <a16:creationId xmlns="" xmlns:a16="http://schemas.microsoft.com/office/drawing/2014/main" id="{ECE90F9F-DBBC-0B49-A42C-8B62397E473E}"/>
                </a:ext>
              </a:extLst>
            </p:cNvPr>
            <p:cNvSpPr/>
            <p:nvPr/>
          </p:nvSpPr>
          <p:spPr>
            <a:xfrm>
              <a:off x="6996262" y="3415851"/>
              <a:ext cx="791510" cy="664397"/>
            </a:xfrm>
            <a:prstGeom prst="rect">
              <a:avLst/>
            </a:prstGeom>
            <a:solidFill>
              <a:srgbClr val="F6B78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246/183/140</a:t>
              </a:r>
              <a:endParaRPr kumimoji="1" lang="mr-IN" altLang="zh-CN" sz="500" b="1" dirty="0">
                <a:solidFill>
                  <a:srgbClr val="595757"/>
                </a:solidFill>
                <a:latin typeface="Arial" charset="0"/>
                <a:ea typeface="Arial" charset="0"/>
                <a:cs typeface="Arial" charset="0"/>
              </a:endParaRPr>
            </a:p>
          </p:txBody>
        </p:sp>
        <p:sp>
          <p:nvSpPr>
            <p:cNvPr id="51" name="矩形 13">
              <a:extLst>
                <a:ext uri="{FF2B5EF4-FFF2-40B4-BE49-F238E27FC236}">
                  <a16:creationId xmlns="" xmlns:a16="http://schemas.microsoft.com/office/drawing/2014/main" id="{D5B387BA-F8B8-B54E-966E-F24E271747C4}"/>
                </a:ext>
              </a:extLst>
            </p:cNvPr>
            <p:cNvSpPr/>
            <p:nvPr/>
          </p:nvSpPr>
          <p:spPr>
            <a:xfrm>
              <a:off x="7006093" y="4866463"/>
              <a:ext cx="791510" cy="664397"/>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176/216/156</a:t>
              </a:r>
            </a:p>
          </p:txBody>
        </p:sp>
        <p:sp>
          <p:nvSpPr>
            <p:cNvPr id="52" name="矩形 13">
              <a:extLst>
                <a:ext uri="{FF2B5EF4-FFF2-40B4-BE49-F238E27FC236}">
                  <a16:creationId xmlns="" xmlns:a16="http://schemas.microsoft.com/office/drawing/2014/main" id="{E6C9B99E-8C1C-2B49-B82E-3C754B8E5C02}"/>
                </a:ext>
              </a:extLst>
            </p:cNvPr>
            <p:cNvSpPr/>
            <p:nvPr/>
          </p:nvSpPr>
          <p:spPr>
            <a:xfrm>
              <a:off x="7003856" y="4134866"/>
              <a:ext cx="791510" cy="664397"/>
            </a:xfrm>
            <a:prstGeom prst="rect">
              <a:avLst/>
            </a:prstGeom>
            <a:solidFill>
              <a:srgbClr val="FDE39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253/227/181</a:t>
              </a:r>
            </a:p>
          </p:txBody>
        </p:sp>
        <p:sp>
          <p:nvSpPr>
            <p:cNvPr id="53" name="矩形 13">
              <a:extLst>
                <a:ext uri="{FF2B5EF4-FFF2-40B4-BE49-F238E27FC236}">
                  <a16:creationId xmlns="" xmlns:a16="http://schemas.microsoft.com/office/drawing/2014/main" id="{0106BFA2-9DE1-3A42-A6C6-69BCE0FA34F4}"/>
                </a:ext>
              </a:extLst>
            </p:cNvPr>
            <p:cNvSpPr/>
            <p:nvPr/>
          </p:nvSpPr>
          <p:spPr>
            <a:xfrm>
              <a:off x="7003856" y="5596166"/>
              <a:ext cx="791510" cy="664397"/>
            </a:xfrm>
            <a:prstGeom prst="rect">
              <a:avLst/>
            </a:prstGeom>
            <a:solidFill>
              <a:srgbClr val="94DAE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148/218/226</a:t>
              </a:r>
            </a:p>
          </p:txBody>
        </p:sp>
        <p:sp>
          <p:nvSpPr>
            <p:cNvPr id="54" name="矩形 13">
              <a:extLst>
                <a:ext uri="{FF2B5EF4-FFF2-40B4-BE49-F238E27FC236}">
                  <a16:creationId xmlns="" xmlns:a16="http://schemas.microsoft.com/office/drawing/2014/main" id="{F760C1C5-4342-C346-A7D2-D101978EDF66}"/>
                </a:ext>
              </a:extLst>
            </p:cNvPr>
            <p:cNvSpPr/>
            <p:nvPr/>
          </p:nvSpPr>
          <p:spPr>
            <a:xfrm>
              <a:off x="6997826" y="184963"/>
              <a:ext cx="791510" cy="664397"/>
            </a:xfrm>
            <a:prstGeom prst="rect">
              <a:avLst/>
            </a:prstGeom>
            <a:solidFill>
              <a:srgbClr val="E28189"/>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226/129/137</a:t>
              </a:r>
            </a:p>
          </p:txBody>
        </p:sp>
        <p:sp>
          <p:nvSpPr>
            <p:cNvPr id="55" name="矩形 13">
              <a:extLst>
                <a:ext uri="{FF2B5EF4-FFF2-40B4-BE49-F238E27FC236}">
                  <a16:creationId xmlns="" xmlns:a16="http://schemas.microsoft.com/office/drawing/2014/main" id="{5BB50A4A-0B64-7E4C-824C-1EBCA1A992CF}"/>
                </a:ext>
              </a:extLst>
            </p:cNvPr>
            <p:cNvSpPr/>
            <p:nvPr/>
          </p:nvSpPr>
          <p:spPr>
            <a:xfrm>
              <a:off x="6997185" y="918047"/>
              <a:ext cx="791510" cy="664397"/>
            </a:xfrm>
            <a:prstGeom prst="rect">
              <a:avLst/>
            </a:prstGeom>
            <a:solidFill>
              <a:srgbClr val="E2819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226/129/152</a:t>
              </a:r>
            </a:p>
          </p:txBody>
        </p:sp>
        <p:sp>
          <p:nvSpPr>
            <p:cNvPr id="56" name="矩形 13">
              <a:extLst>
                <a:ext uri="{FF2B5EF4-FFF2-40B4-BE49-F238E27FC236}">
                  <a16:creationId xmlns="" xmlns:a16="http://schemas.microsoft.com/office/drawing/2014/main" id="{756A7E25-6C44-8A44-A8C5-61D19BC9EDAF}"/>
                </a:ext>
              </a:extLst>
            </p:cNvPr>
            <p:cNvSpPr/>
            <p:nvPr userDrawn="1"/>
          </p:nvSpPr>
          <p:spPr>
            <a:xfrm>
              <a:off x="7806130" y="1934171"/>
              <a:ext cx="791510" cy="664397"/>
            </a:xfrm>
            <a:prstGeom prst="rect">
              <a:avLst/>
            </a:prstGeom>
            <a:solidFill>
              <a:srgbClr val="EBB3CC"/>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235/179/204</a:t>
              </a:r>
            </a:p>
          </p:txBody>
        </p:sp>
        <p:sp>
          <p:nvSpPr>
            <p:cNvPr id="57" name="矩形 13">
              <a:extLst>
                <a:ext uri="{FF2B5EF4-FFF2-40B4-BE49-F238E27FC236}">
                  <a16:creationId xmlns="" xmlns:a16="http://schemas.microsoft.com/office/drawing/2014/main" id="{96588389-39CD-DF4E-B9AC-92091E25724E}"/>
                </a:ext>
              </a:extLst>
            </p:cNvPr>
            <p:cNvSpPr/>
            <p:nvPr/>
          </p:nvSpPr>
          <p:spPr>
            <a:xfrm>
              <a:off x="7806130" y="2673360"/>
              <a:ext cx="791510" cy="664397"/>
            </a:xfrm>
            <a:prstGeom prst="rect">
              <a:avLst/>
            </a:prstGeom>
            <a:solidFill>
              <a:srgbClr val="D8B3B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78" rtl="0" eaLnBrk="1" fontAlgn="auto" latinLnBrk="0" hangingPunct="1">
                <a:lnSpc>
                  <a:spcPts val="620"/>
                </a:lnSpc>
                <a:spcBef>
                  <a:spcPts val="0"/>
                </a:spcBef>
                <a:spcAft>
                  <a:spcPts val="0"/>
                </a:spcAft>
                <a:buClrTx/>
                <a:buSzTx/>
                <a:buFontTx/>
                <a:buNone/>
                <a:tabLst/>
                <a:defRPr/>
              </a:pPr>
              <a:r>
                <a:rPr kumimoji="1" lang="en-US" altLang="zh-CN" sz="500" b="1" dirty="0">
                  <a:solidFill>
                    <a:srgbClr val="595757"/>
                  </a:solidFill>
                  <a:latin typeface="Arial" charset="0"/>
                  <a:ea typeface="Arial" charset="0"/>
                  <a:cs typeface="Arial" charset="0"/>
                </a:rPr>
                <a:t>RGB 216/179/179</a:t>
              </a:r>
            </a:p>
          </p:txBody>
        </p:sp>
        <p:sp>
          <p:nvSpPr>
            <p:cNvPr id="58" name="矩形 13">
              <a:extLst>
                <a:ext uri="{FF2B5EF4-FFF2-40B4-BE49-F238E27FC236}">
                  <a16:creationId xmlns="" xmlns:a16="http://schemas.microsoft.com/office/drawing/2014/main" id="{20725C9F-31AE-DB44-B70A-B4ECDEC0BC00}"/>
                </a:ext>
              </a:extLst>
            </p:cNvPr>
            <p:cNvSpPr/>
            <p:nvPr/>
          </p:nvSpPr>
          <p:spPr>
            <a:xfrm>
              <a:off x="7806130" y="3415851"/>
              <a:ext cx="791510" cy="664397"/>
            </a:xfrm>
            <a:prstGeom prst="rect">
              <a:avLst/>
            </a:prstGeom>
            <a:solidFill>
              <a:srgbClr val="FAD3B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250/211/187</a:t>
              </a:r>
              <a:endParaRPr kumimoji="1" lang="mr-IN" altLang="zh-CN" sz="500" b="1" dirty="0">
                <a:solidFill>
                  <a:srgbClr val="595757"/>
                </a:solidFill>
                <a:latin typeface="Arial" charset="0"/>
                <a:ea typeface="Arial" charset="0"/>
                <a:cs typeface="Arial" charset="0"/>
              </a:endParaRPr>
            </a:p>
          </p:txBody>
        </p:sp>
        <p:sp>
          <p:nvSpPr>
            <p:cNvPr id="59" name="矩形 13">
              <a:extLst>
                <a:ext uri="{FF2B5EF4-FFF2-40B4-BE49-F238E27FC236}">
                  <a16:creationId xmlns="" xmlns:a16="http://schemas.microsoft.com/office/drawing/2014/main" id="{AC5BCC27-B68D-0743-8E0B-E25F8D01C3A4}"/>
                </a:ext>
              </a:extLst>
            </p:cNvPr>
            <p:cNvSpPr/>
            <p:nvPr/>
          </p:nvSpPr>
          <p:spPr>
            <a:xfrm>
              <a:off x="7815961" y="4866463"/>
              <a:ext cx="791510" cy="664397"/>
            </a:xfrm>
            <a:prstGeom prst="rect">
              <a:avLst/>
            </a:prstGeom>
            <a:solidFill>
              <a:srgbClr val="D0E8C4"/>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208/232/196</a:t>
              </a:r>
            </a:p>
          </p:txBody>
        </p:sp>
        <p:sp>
          <p:nvSpPr>
            <p:cNvPr id="60" name="矩形 13">
              <a:extLst>
                <a:ext uri="{FF2B5EF4-FFF2-40B4-BE49-F238E27FC236}">
                  <a16:creationId xmlns="" xmlns:a16="http://schemas.microsoft.com/office/drawing/2014/main" id="{51C2E83A-C975-6945-B2FD-5B22BBB53DB7}"/>
                </a:ext>
              </a:extLst>
            </p:cNvPr>
            <p:cNvSpPr/>
            <p:nvPr/>
          </p:nvSpPr>
          <p:spPr>
            <a:xfrm>
              <a:off x="7813724" y="4134866"/>
              <a:ext cx="791510" cy="664397"/>
            </a:xfrm>
            <a:prstGeom prst="rect">
              <a:avLst/>
            </a:prstGeom>
            <a:solidFill>
              <a:srgbClr val="FEEE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254/238/193</a:t>
              </a:r>
            </a:p>
          </p:txBody>
        </p:sp>
        <p:sp>
          <p:nvSpPr>
            <p:cNvPr id="61" name="矩形 13">
              <a:extLst>
                <a:ext uri="{FF2B5EF4-FFF2-40B4-BE49-F238E27FC236}">
                  <a16:creationId xmlns="" xmlns:a16="http://schemas.microsoft.com/office/drawing/2014/main" id="{BEE9A95F-6965-354F-A2C7-2E8C81DDA52F}"/>
                </a:ext>
              </a:extLst>
            </p:cNvPr>
            <p:cNvSpPr/>
            <p:nvPr/>
          </p:nvSpPr>
          <p:spPr>
            <a:xfrm>
              <a:off x="7813724" y="5596166"/>
              <a:ext cx="791510" cy="664397"/>
            </a:xfrm>
            <a:prstGeom prst="rect">
              <a:avLst/>
            </a:prstGeom>
            <a:solidFill>
              <a:srgbClr val="BEE9EE"/>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190/23/238</a:t>
              </a:r>
            </a:p>
          </p:txBody>
        </p:sp>
        <p:sp>
          <p:nvSpPr>
            <p:cNvPr id="62" name="矩形 13">
              <a:extLst>
                <a:ext uri="{FF2B5EF4-FFF2-40B4-BE49-F238E27FC236}">
                  <a16:creationId xmlns="" xmlns:a16="http://schemas.microsoft.com/office/drawing/2014/main" id="{509164EB-3DC4-7A4F-9E7C-06EBC981CD0A}"/>
                </a:ext>
              </a:extLst>
            </p:cNvPr>
            <p:cNvSpPr/>
            <p:nvPr/>
          </p:nvSpPr>
          <p:spPr>
            <a:xfrm>
              <a:off x="7807694" y="184963"/>
              <a:ext cx="791510" cy="664397"/>
            </a:xfrm>
            <a:prstGeom prst="rect">
              <a:avLst/>
            </a:prstGeom>
            <a:solidFill>
              <a:srgbClr val="EEB3B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239/178/184</a:t>
              </a:r>
            </a:p>
          </p:txBody>
        </p:sp>
        <p:sp>
          <p:nvSpPr>
            <p:cNvPr id="63" name="矩形 13">
              <a:extLst>
                <a:ext uri="{FF2B5EF4-FFF2-40B4-BE49-F238E27FC236}">
                  <a16:creationId xmlns="" xmlns:a16="http://schemas.microsoft.com/office/drawing/2014/main" id="{667867DD-D3E6-3040-A7B5-39345C0CE2E3}"/>
                </a:ext>
              </a:extLst>
            </p:cNvPr>
            <p:cNvSpPr/>
            <p:nvPr/>
          </p:nvSpPr>
          <p:spPr>
            <a:xfrm>
              <a:off x="7807054" y="918047"/>
              <a:ext cx="791510" cy="664397"/>
            </a:xfrm>
            <a:prstGeom prst="rect">
              <a:avLst/>
            </a:prstGeom>
            <a:solidFill>
              <a:srgbClr val="EEB3C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238/179/193</a:t>
              </a:r>
            </a:p>
          </p:txBody>
        </p:sp>
        <p:sp>
          <p:nvSpPr>
            <p:cNvPr id="64" name="矩形 13">
              <a:extLst>
                <a:ext uri="{FF2B5EF4-FFF2-40B4-BE49-F238E27FC236}">
                  <a16:creationId xmlns="" xmlns:a16="http://schemas.microsoft.com/office/drawing/2014/main" id="{9EE10597-3782-AB46-8453-89FA049C6C46}"/>
                </a:ext>
              </a:extLst>
            </p:cNvPr>
            <p:cNvSpPr/>
            <p:nvPr userDrawn="1"/>
          </p:nvSpPr>
          <p:spPr>
            <a:xfrm>
              <a:off x="5354169" y="6324025"/>
              <a:ext cx="513579" cy="664397"/>
            </a:xfrm>
            <a:prstGeom prst="rect">
              <a:avLst/>
            </a:prstGeom>
            <a:solidFill>
              <a:srgbClr val="22181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35/24/21</a:t>
              </a:r>
            </a:p>
          </p:txBody>
        </p:sp>
        <p:sp>
          <p:nvSpPr>
            <p:cNvPr id="65" name="矩形 13">
              <a:extLst>
                <a:ext uri="{FF2B5EF4-FFF2-40B4-BE49-F238E27FC236}">
                  <a16:creationId xmlns="" xmlns:a16="http://schemas.microsoft.com/office/drawing/2014/main" id="{966B3529-B594-884C-BED0-5887B34BBBB8}"/>
                </a:ext>
              </a:extLst>
            </p:cNvPr>
            <p:cNvSpPr/>
            <p:nvPr userDrawn="1"/>
          </p:nvSpPr>
          <p:spPr>
            <a:xfrm>
              <a:off x="5900626" y="6324025"/>
              <a:ext cx="513579" cy="664397"/>
            </a:xfrm>
            <a:prstGeom prst="rect">
              <a:avLst/>
            </a:prstGeom>
            <a:solidFill>
              <a:srgbClr val="595757"/>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 </a:t>
              </a:r>
            </a:p>
            <a:p>
              <a:pPr algn="ctr">
                <a:lnSpc>
                  <a:spcPts val="620"/>
                </a:lnSpc>
              </a:pPr>
              <a:r>
                <a:rPr kumimoji="1" lang="en-US" altLang="zh-CN" sz="500" b="1" dirty="0">
                  <a:solidFill>
                    <a:srgbClr val="FFFFFF"/>
                  </a:solidFill>
                  <a:latin typeface="Arial" charset="0"/>
                  <a:ea typeface="Arial" charset="0"/>
                  <a:cs typeface="Arial" charset="0"/>
                </a:rPr>
                <a:t>89/87/87</a:t>
              </a:r>
            </a:p>
          </p:txBody>
        </p:sp>
        <p:sp>
          <p:nvSpPr>
            <p:cNvPr id="66" name="矩形 13">
              <a:extLst>
                <a:ext uri="{FF2B5EF4-FFF2-40B4-BE49-F238E27FC236}">
                  <a16:creationId xmlns="" xmlns:a16="http://schemas.microsoft.com/office/drawing/2014/main" id="{0B0545C9-147F-584F-80D2-EF13876D7D33}"/>
                </a:ext>
              </a:extLst>
            </p:cNvPr>
            <p:cNvSpPr/>
            <p:nvPr userDrawn="1"/>
          </p:nvSpPr>
          <p:spPr>
            <a:xfrm>
              <a:off x="6450318" y="6324025"/>
              <a:ext cx="513579" cy="664397"/>
            </a:xfrm>
            <a:prstGeom prst="rect">
              <a:avLst/>
            </a:prstGeom>
            <a:solidFill>
              <a:srgbClr val="888888"/>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137/137/</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137</a:t>
              </a:r>
            </a:p>
          </p:txBody>
        </p:sp>
        <p:sp>
          <p:nvSpPr>
            <p:cNvPr id="67" name="矩形 13">
              <a:extLst>
                <a:ext uri="{FF2B5EF4-FFF2-40B4-BE49-F238E27FC236}">
                  <a16:creationId xmlns="" xmlns:a16="http://schemas.microsoft.com/office/drawing/2014/main" id="{44FD0A0B-0D45-3340-A523-465AC24134BF}"/>
                </a:ext>
              </a:extLst>
            </p:cNvPr>
            <p:cNvSpPr/>
            <p:nvPr userDrawn="1"/>
          </p:nvSpPr>
          <p:spPr>
            <a:xfrm>
              <a:off x="6998296" y="6324025"/>
              <a:ext cx="513579" cy="664397"/>
            </a:xfrm>
            <a:prstGeom prst="rect">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FFFFFF"/>
                  </a:solidFill>
                  <a:latin typeface="Arial" charset="0"/>
                  <a:ea typeface="Arial" charset="0"/>
                  <a:cs typeface="Arial" charset="0"/>
                </a:rPr>
                <a:t>RGB</a:t>
              </a:r>
            </a:p>
            <a:p>
              <a:pPr algn="ctr">
                <a:lnSpc>
                  <a:spcPts val="620"/>
                </a:lnSpc>
              </a:pPr>
              <a:r>
                <a:rPr kumimoji="1" lang="en-US" altLang="zh-CN" sz="500" b="1" dirty="0">
                  <a:solidFill>
                    <a:srgbClr val="FFFFFF"/>
                  </a:solidFill>
                  <a:latin typeface="Arial" charset="0"/>
                  <a:ea typeface="Arial" charset="0"/>
                  <a:cs typeface="Arial" charset="0"/>
                </a:rPr>
                <a:t>181/181/</a:t>
              </a:r>
              <a:br>
                <a:rPr kumimoji="1" lang="en-US" altLang="zh-CN" sz="500" b="1" dirty="0">
                  <a:solidFill>
                    <a:srgbClr val="FFFFFF"/>
                  </a:solidFill>
                  <a:latin typeface="Arial" charset="0"/>
                  <a:ea typeface="Arial" charset="0"/>
                  <a:cs typeface="Arial" charset="0"/>
                </a:rPr>
              </a:br>
              <a:r>
                <a:rPr kumimoji="1" lang="en-US" altLang="zh-CN" sz="500" b="1" dirty="0">
                  <a:solidFill>
                    <a:srgbClr val="FFFFFF"/>
                  </a:solidFill>
                  <a:latin typeface="Arial" charset="0"/>
                  <a:ea typeface="Arial" charset="0"/>
                  <a:cs typeface="Arial" charset="0"/>
                </a:rPr>
                <a:t>181</a:t>
              </a:r>
            </a:p>
          </p:txBody>
        </p:sp>
        <p:sp>
          <p:nvSpPr>
            <p:cNvPr id="68" name="矩形 13">
              <a:extLst>
                <a:ext uri="{FF2B5EF4-FFF2-40B4-BE49-F238E27FC236}">
                  <a16:creationId xmlns="" xmlns:a16="http://schemas.microsoft.com/office/drawing/2014/main" id="{2C404A07-276B-3648-BB25-4EDB5905448C}"/>
                </a:ext>
              </a:extLst>
            </p:cNvPr>
            <p:cNvSpPr/>
            <p:nvPr userDrawn="1"/>
          </p:nvSpPr>
          <p:spPr>
            <a:xfrm>
              <a:off x="7541580" y="6324025"/>
              <a:ext cx="513579" cy="664397"/>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 221/221/</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221</a:t>
              </a:r>
            </a:p>
          </p:txBody>
        </p:sp>
        <p:sp>
          <p:nvSpPr>
            <p:cNvPr id="69" name="矩形 13">
              <a:extLst>
                <a:ext uri="{FF2B5EF4-FFF2-40B4-BE49-F238E27FC236}">
                  <a16:creationId xmlns="" xmlns:a16="http://schemas.microsoft.com/office/drawing/2014/main" id="{72B0F29C-A346-8946-9B8E-8F1B9DFF7AD0}"/>
                </a:ext>
              </a:extLst>
            </p:cNvPr>
            <p:cNvSpPr/>
            <p:nvPr userDrawn="1"/>
          </p:nvSpPr>
          <p:spPr>
            <a:xfrm>
              <a:off x="8083608" y="6324025"/>
              <a:ext cx="513579" cy="664397"/>
            </a:xfrm>
            <a:prstGeom prst="rect">
              <a:avLst/>
            </a:prstGeom>
            <a:solidFill>
              <a:srgbClr val="FFFFFF"/>
            </a:solidFill>
            <a:ln w="6350">
              <a:solidFill>
                <a:srgbClr val="B5B5B5"/>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620"/>
                </a:lnSpc>
              </a:pPr>
              <a:r>
                <a:rPr kumimoji="1" lang="en-US" altLang="zh-CN" sz="500" b="1" dirty="0">
                  <a:solidFill>
                    <a:srgbClr val="595757"/>
                  </a:solidFill>
                  <a:latin typeface="Arial" charset="0"/>
                  <a:ea typeface="Arial" charset="0"/>
                  <a:cs typeface="Arial" charset="0"/>
                </a:rPr>
                <a:t>RGB</a:t>
              </a:r>
            </a:p>
            <a:p>
              <a:pPr algn="ctr">
                <a:lnSpc>
                  <a:spcPts val="620"/>
                </a:lnSpc>
              </a:pPr>
              <a:r>
                <a:rPr kumimoji="1" lang="en-US" altLang="zh-CN" sz="500" b="1" dirty="0">
                  <a:solidFill>
                    <a:srgbClr val="595757"/>
                  </a:solidFill>
                  <a:latin typeface="Arial" charset="0"/>
                  <a:ea typeface="Arial" charset="0"/>
                  <a:cs typeface="Arial" charset="0"/>
                </a:rPr>
                <a:t>255/255/</a:t>
              </a:r>
              <a:br>
                <a:rPr kumimoji="1" lang="en-US" altLang="zh-CN" sz="500" b="1" dirty="0">
                  <a:solidFill>
                    <a:srgbClr val="595757"/>
                  </a:solidFill>
                  <a:latin typeface="Arial" charset="0"/>
                  <a:ea typeface="Arial" charset="0"/>
                  <a:cs typeface="Arial" charset="0"/>
                </a:rPr>
              </a:br>
              <a:r>
                <a:rPr kumimoji="1" lang="en-US" altLang="zh-CN" sz="500" b="1" dirty="0">
                  <a:solidFill>
                    <a:srgbClr val="595757"/>
                  </a:solidFill>
                  <a:latin typeface="Arial" charset="0"/>
                  <a:ea typeface="Arial" charset="0"/>
                  <a:cs typeface="Arial" charset="0"/>
                </a:rPr>
                <a:t>255</a:t>
              </a:r>
            </a:p>
          </p:txBody>
        </p:sp>
      </p:grpSp>
      <p:sp>
        <p:nvSpPr>
          <p:cNvPr id="70" name="Title Placeholder 1">
            <a:extLst>
              <a:ext uri="{FF2B5EF4-FFF2-40B4-BE49-F238E27FC236}">
                <a16:creationId xmlns="" xmlns:a16="http://schemas.microsoft.com/office/drawing/2014/main" id="{145F1158-B1AA-8F41-AF0A-FEA0EC1874AC}"/>
              </a:ext>
            </a:extLst>
          </p:cNvPr>
          <p:cNvSpPr>
            <a:spLocks noGrp="1"/>
          </p:cNvSpPr>
          <p:nvPr>
            <p:ph type="title"/>
          </p:nvPr>
        </p:nvSpPr>
        <p:spPr>
          <a:xfrm>
            <a:off x="616573" y="1474269"/>
            <a:ext cx="3984232" cy="2816080"/>
          </a:xfrm>
          <a:prstGeom prst="rect">
            <a:avLst/>
          </a:prstGeom>
        </p:spPr>
        <p:txBody>
          <a:bodyPr vert="horz" lIns="91440" tIns="45720" rIns="91440" bIns="45720" rtlCol="0" anchor="t">
            <a:normAutofit/>
          </a:bodyPr>
          <a:lstStyle/>
          <a:p>
            <a:r>
              <a:rPr lang="en-US" dirty="0"/>
              <a:t>Click to edit Master title style</a:t>
            </a:r>
          </a:p>
        </p:txBody>
      </p:sp>
      <p:sp>
        <p:nvSpPr>
          <p:cNvPr id="71" name="Text Placeholder 1">
            <a:extLst>
              <a:ext uri="{FF2B5EF4-FFF2-40B4-BE49-F238E27FC236}">
                <a16:creationId xmlns="" xmlns:a16="http://schemas.microsoft.com/office/drawing/2014/main" id="{F8FC7CCD-75EB-9C44-BC7D-29679334A8CA}"/>
              </a:ext>
            </a:extLst>
          </p:cNvPr>
          <p:cNvSpPr txBox="1">
            <a:spLocks/>
          </p:cNvSpPr>
          <p:nvPr userDrawn="1"/>
        </p:nvSpPr>
        <p:spPr>
          <a:xfrm>
            <a:off x="7979357" y="2794960"/>
            <a:ext cx="3225168" cy="2029962"/>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065"/>
              </a:lnSpc>
            </a:pPr>
            <a:r>
              <a:rPr kumimoji="1" lang="en-US" altLang="zh-CN" sz="850" b="1" baseline="0" dirty="0" smtClean="0">
                <a:solidFill>
                  <a:srgbClr val="1D1D1B"/>
                </a:solidFill>
                <a:latin typeface="+mj-lt"/>
              </a:rPr>
              <a:t>Copyright©2021 </a:t>
            </a:r>
            <a:r>
              <a:rPr kumimoji="1" lang="en-US" altLang="zh-CN" sz="850" b="1" baseline="0" dirty="0">
                <a:solidFill>
                  <a:srgbClr val="1D1D1B"/>
                </a:solidFill>
                <a:latin typeface="+mj-lt"/>
              </a:rPr>
              <a:t>Huawei Technologies Co., Ltd.</a:t>
            </a:r>
            <a:br>
              <a:rPr kumimoji="1" lang="en-US" altLang="zh-CN" sz="850" b="1" baseline="0" dirty="0">
                <a:solidFill>
                  <a:srgbClr val="1D1D1B"/>
                </a:solidFill>
                <a:latin typeface="+mj-lt"/>
              </a:rPr>
            </a:br>
            <a:r>
              <a:rPr kumimoji="1" lang="en-US" altLang="zh-CN" sz="850" b="1" baseline="0" dirty="0">
                <a:solidFill>
                  <a:srgbClr val="1D1D1B"/>
                </a:solidFill>
                <a:latin typeface="+mj-lt"/>
              </a:rPr>
              <a:t>All Rights Reserved.</a:t>
            </a: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779" dirty="0">
                <a:solidFill>
                  <a:srgbClr val="1D1D1B"/>
                </a:solidFill>
                <a:latin typeface="+mn-lt"/>
              </a:rPr>
              <a:t/>
            </a:r>
            <a:br>
              <a:rPr kumimoji="1" lang="en-US" altLang="zh-CN" sz="779" dirty="0">
                <a:solidFill>
                  <a:srgbClr val="1D1D1B"/>
                </a:solidFill>
                <a:latin typeface="+mn-lt"/>
              </a:rPr>
            </a:br>
            <a:r>
              <a:rPr kumimoji="1" lang="en-US" altLang="zh-CN" sz="850" baseline="0" dirty="0">
                <a:solidFill>
                  <a:srgbClr val="1D1D1B"/>
                </a:solidFill>
                <a:latin typeface="+mn-lt"/>
                <a:cs typeface="Arial" panose="020B0604020202020204" pitchFamily="34" charset="0"/>
              </a:rPr>
              <a:t>The information in this document may contain predictive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statements including, without limitation, statements regarding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 future financial and operating results, future product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portfolio, new technology, etc. There are a number of factors that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could cause actual results and developments to differ materially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from those expressed or implied in the predictive statements.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Therefore, such information is provided for reference purpose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only and constitutes neither an offer nor an acceptance. Huawei </a:t>
            </a:r>
            <a:br>
              <a:rPr kumimoji="1" lang="en-US" altLang="zh-CN" sz="850" baseline="0" dirty="0">
                <a:solidFill>
                  <a:srgbClr val="1D1D1B"/>
                </a:solidFill>
                <a:latin typeface="+mn-lt"/>
                <a:cs typeface="Arial" panose="020B0604020202020204" pitchFamily="34" charset="0"/>
              </a:rPr>
            </a:br>
            <a:r>
              <a:rPr kumimoji="1" lang="en-US" altLang="zh-CN" sz="850" baseline="0" dirty="0">
                <a:solidFill>
                  <a:srgbClr val="1D1D1B"/>
                </a:solidFill>
                <a:latin typeface="+mn-lt"/>
                <a:cs typeface="Arial" panose="020B0604020202020204" pitchFamily="34" charset="0"/>
              </a:rPr>
              <a:t>may change the information at any time without notice. </a:t>
            </a:r>
          </a:p>
          <a:p>
            <a:pPr>
              <a:lnSpc>
                <a:spcPts val="1065"/>
              </a:lnSpc>
            </a:pPr>
            <a:endParaRPr kumimoji="1" lang="zh-CN" altLang="en-US" sz="779" dirty="0">
              <a:solidFill>
                <a:srgbClr val="1D1D1B"/>
              </a:solidFill>
              <a:latin typeface="+mn-lt"/>
            </a:endParaRPr>
          </a:p>
        </p:txBody>
      </p:sp>
      <p:sp>
        <p:nvSpPr>
          <p:cNvPr id="72" name="Subtitle 6">
            <a:extLst>
              <a:ext uri="{FF2B5EF4-FFF2-40B4-BE49-F238E27FC236}">
                <a16:creationId xmlns="" xmlns:a16="http://schemas.microsoft.com/office/drawing/2014/main" id="{12B8F806-ABD5-064C-8793-5E22C72554FD}"/>
              </a:ext>
            </a:extLst>
          </p:cNvPr>
          <p:cNvSpPr txBox="1">
            <a:spLocks/>
          </p:cNvSpPr>
          <p:nvPr userDrawn="1"/>
        </p:nvSpPr>
        <p:spPr>
          <a:xfrm>
            <a:off x="7987276" y="1631849"/>
            <a:ext cx="3477701" cy="491114"/>
          </a:xfrm>
          <a:prstGeom prst="rect">
            <a:avLst/>
          </a:prstGeom>
        </p:spPr>
        <p:txBody>
          <a:bodyPr lIns="0" tIns="0" rIns="0" bIns="0">
            <a:norm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rgbClr val="FFFFFF"/>
                </a:solidFill>
                <a:latin typeface="Microsoft YaHei" panose="020B0503020204020204" pitchFamily="34" charset="-122"/>
                <a:ea typeface="Microsoft YaHei" panose="020B0503020204020204" pitchFamily="34" charset="-122"/>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1681"/>
              </a:lnSpc>
              <a:spcBef>
                <a:spcPts val="0"/>
              </a:spcBef>
            </a:pPr>
            <a:r>
              <a:rPr kumimoji="1" lang="zh-CN" altLang="en-US" sz="1300" dirty="0">
                <a:solidFill>
                  <a:srgbClr val="1D1D1B"/>
                </a:solidFill>
                <a:latin typeface="Microsoft YaHei" charset="-122"/>
                <a:ea typeface="Microsoft YaHei" charset="-122"/>
                <a:cs typeface="Microsoft YaHei" charset="-122"/>
              </a:rPr>
              <a:t>把数字世界带入每个人、每个家庭、</a:t>
            </a:r>
            <a:r>
              <a:rPr kumimoji="1" lang="en-US" altLang="zh-CN" sz="1300" dirty="0">
                <a:solidFill>
                  <a:srgbClr val="1D1D1B"/>
                </a:solidFill>
                <a:latin typeface="Microsoft YaHei" charset="-122"/>
                <a:ea typeface="Microsoft YaHei" charset="-122"/>
                <a:cs typeface="Microsoft YaHei" charset="-122"/>
              </a:rPr>
              <a:t/>
            </a:r>
            <a:br>
              <a:rPr kumimoji="1" lang="en-US" altLang="zh-CN" sz="1300" dirty="0">
                <a:solidFill>
                  <a:srgbClr val="1D1D1B"/>
                </a:solidFill>
                <a:latin typeface="Microsoft YaHei" charset="-122"/>
                <a:ea typeface="Microsoft YaHei" charset="-122"/>
                <a:cs typeface="Microsoft YaHei" charset="-122"/>
              </a:rPr>
            </a:br>
            <a:r>
              <a:rPr kumimoji="1" lang="zh-CN" altLang="en-US" sz="1300" dirty="0">
                <a:solidFill>
                  <a:srgbClr val="1D1D1B"/>
                </a:solidFill>
                <a:latin typeface="Microsoft YaHei" charset="-122"/>
                <a:ea typeface="Microsoft YaHei" charset="-122"/>
                <a:cs typeface="Microsoft YaHei" charset="-122"/>
              </a:rPr>
              <a:t>每个组织，构建万物互联的智能世界。</a:t>
            </a:r>
          </a:p>
        </p:txBody>
      </p:sp>
      <p:sp>
        <p:nvSpPr>
          <p:cNvPr id="73" name="Subtitle 6">
            <a:extLst>
              <a:ext uri="{FF2B5EF4-FFF2-40B4-BE49-F238E27FC236}">
                <a16:creationId xmlns="" xmlns:a16="http://schemas.microsoft.com/office/drawing/2014/main" id="{F1235B6F-D691-2C40-93D4-EC5427ADDFB0}"/>
              </a:ext>
            </a:extLst>
          </p:cNvPr>
          <p:cNvSpPr txBox="1">
            <a:spLocks/>
          </p:cNvSpPr>
          <p:nvPr userDrawn="1"/>
        </p:nvSpPr>
        <p:spPr>
          <a:xfrm>
            <a:off x="7977672" y="2106124"/>
            <a:ext cx="3481833" cy="582808"/>
          </a:xfrm>
          <a:prstGeom prst="rect">
            <a:avLst/>
          </a:prstGeom>
        </p:spPr>
        <p:txBody>
          <a:bodyPr vert="horz" lIns="0" tIns="0" rIns="0" bIns="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400" kern="1200">
                <a:solidFill>
                  <a:schemeClr val="tx1"/>
                </a:solidFill>
                <a:latin typeface="Microsoft YaHei" panose="020B0503020204020204" pitchFamily="34" charset="-122"/>
                <a:ea typeface="Microsoft YaHei"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ts val="1294"/>
              </a:lnSpc>
            </a:pPr>
            <a:r>
              <a:rPr kumimoji="1" lang="en-US" altLang="zh-CN" sz="1200" dirty="0">
                <a:solidFill>
                  <a:srgbClr val="1D1D1B"/>
                </a:solidFill>
                <a:latin typeface="+mn-lt"/>
                <a:cs typeface="Arial" panose="020B0604020202020204" pitchFamily="34" charset="0"/>
              </a:rPr>
              <a:t>Bring digital to every person, home, and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organization for a fully connected, </a:t>
            </a:r>
            <a:br>
              <a:rPr kumimoji="1" lang="en-US" altLang="zh-CN" sz="1200" dirty="0">
                <a:solidFill>
                  <a:srgbClr val="1D1D1B"/>
                </a:solidFill>
                <a:latin typeface="+mn-lt"/>
                <a:cs typeface="Arial" panose="020B0604020202020204" pitchFamily="34" charset="0"/>
              </a:rPr>
            </a:br>
            <a:r>
              <a:rPr kumimoji="1" lang="en-US" altLang="zh-CN" sz="1200" dirty="0">
                <a:solidFill>
                  <a:srgbClr val="1D1D1B"/>
                </a:solidFill>
                <a:latin typeface="+mn-lt"/>
                <a:cs typeface="Arial" panose="020B0604020202020204" pitchFamily="34" charset="0"/>
              </a:rPr>
              <a:t>intelligent world.</a:t>
            </a:r>
            <a:endParaRPr kumimoji="1" lang="zh-CN" altLang="en-US" sz="1200" dirty="0">
              <a:solidFill>
                <a:srgbClr val="1D1D1B"/>
              </a:solidFill>
              <a:latin typeface="+mn-lt"/>
              <a:ea typeface="Microsoft YaHei" charset="-122"/>
              <a:cs typeface="Microsoft YaHei" charset="-122"/>
            </a:endParaRPr>
          </a:p>
        </p:txBody>
      </p:sp>
      <p:pic>
        <p:nvPicPr>
          <p:cNvPr id="74" name="图片 7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975497" y="5251150"/>
            <a:ext cx="1869596" cy="399462"/>
          </a:xfrm>
          <a:prstGeom prst="rect">
            <a:avLst/>
          </a:prstGeom>
        </p:spPr>
      </p:pic>
    </p:spTree>
    <p:extLst>
      <p:ext uri="{BB962C8B-B14F-4D97-AF65-F5344CB8AC3E}">
        <p14:creationId xmlns:p14="http://schemas.microsoft.com/office/powerpoint/2010/main" val="3019321380"/>
      </p:ext>
    </p:extLst>
  </p:cSld>
  <p:clrMap bg1="lt1" tx1="dk1" bg2="lt2" tx2="dk2" accent1="accent1" accent2="accent2" accent3="accent3" accent4="accent4" accent5="accent5" accent6="accent6" hlink="hlink" folHlink="folHlink"/>
  <p:sldLayoutIdLst>
    <p:sldLayoutId id="2147483892" r:id="rId1"/>
  </p:sldLayoutIdLst>
  <p:timing>
    <p:tnLst>
      <p:par>
        <p:cTn id="1" dur="indefinite" restart="never" nodeType="tmRoot"/>
      </p:par>
    </p:tnLst>
  </p:timing>
  <p:hf hdr="0" ftr="0" dt="0"/>
  <p:txStyles>
    <p:titleStyle>
      <a:lvl1pPr algn="l" defTabSz="1187323" rtl="0" eaLnBrk="1" latinLnBrk="0" hangingPunct="1">
        <a:lnSpc>
          <a:spcPct val="90000"/>
        </a:lnSpc>
        <a:spcBef>
          <a:spcPct val="0"/>
        </a:spcBef>
        <a:buNone/>
        <a:defRPr sz="4998" b="0" kern="1200">
          <a:solidFill>
            <a:schemeClr val="tx1"/>
          </a:solidFill>
          <a:latin typeface="Huawei Sans" panose="020C0503030203020204" pitchFamily="34" charset="0"/>
          <a:ea typeface="方正兰亭黑简体" panose="02000000000000000000" pitchFamily="2" charset="-122"/>
          <a:cs typeface="Huawei Sans" panose="020C0503030203020204" pitchFamily="34" charset="0"/>
        </a:defRPr>
      </a:lvl1pPr>
    </p:titleStyle>
    <p:bodyStyle>
      <a:lvl1pPr marL="0" indent="0" algn="l" defTabSz="1187323" rtl="0" eaLnBrk="1" latinLnBrk="0" hangingPunct="1">
        <a:lnSpc>
          <a:spcPct val="90000"/>
        </a:lnSpc>
        <a:spcBef>
          <a:spcPts val="1298"/>
        </a:spcBef>
        <a:buFont typeface="Arial" panose="020B0604020202020204" pitchFamily="34" charset="0"/>
        <a:buNone/>
        <a:defRPr sz="1818" kern="1200">
          <a:solidFill>
            <a:srgbClr val="FFFFFF"/>
          </a:solidFill>
          <a:latin typeface="Microsoft YaHei" panose="020B0503020204020204" pitchFamily="34" charset="-122"/>
          <a:ea typeface="Microsoft YaHei" panose="020B0503020204020204" pitchFamily="34" charset="-122"/>
          <a:cs typeface="+mn-cs"/>
        </a:defRPr>
      </a:lvl1pPr>
      <a:lvl2pPr marL="593662" indent="0" algn="l" defTabSz="1187323" rtl="0" eaLnBrk="1" latinLnBrk="0" hangingPunct="1">
        <a:lnSpc>
          <a:spcPct val="90000"/>
        </a:lnSpc>
        <a:spcBef>
          <a:spcPts val="650"/>
        </a:spcBef>
        <a:buFont typeface="Arial" panose="020B0604020202020204" pitchFamily="34" charset="0"/>
        <a:buNone/>
        <a:defRPr sz="3117" kern="1200">
          <a:solidFill>
            <a:schemeClr val="tx1"/>
          </a:solidFill>
          <a:latin typeface="+mn-lt"/>
          <a:ea typeface="+mn-ea"/>
          <a:cs typeface="+mn-cs"/>
        </a:defRPr>
      </a:lvl2pPr>
      <a:lvl3pPr marL="1187323" indent="0" algn="l" defTabSz="1187323" rtl="0" eaLnBrk="1" latinLnBrk="0" hangingPunct="1">
        <a:lnSpc>
          <a:spcPct val="90000"/>
        </a:lnSpc>
        <a:spcBef>
          <a:spcPts val="650"/>
        </a:spcBef>
        <a:buFont typeface="Arial" panose="020B0604020202020204" pitchFamily="34" charset="0"/>
        <a:buNone/>
        <a:defRPr sz="2597" kern="1200">
          <a:solidFill>
            <a:schemeClr val="tx1"/>
          </a:solidFill>
          <a:latin typeface="+mn-lt"/>
          <a:ea typeface="+mn-ea"/>
          <a:cs typeface="+mn-cs"/>
        </a:defRPr>
      </a:lvl3pPr>
      <a:lvl4pPr marL="1780986"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4pPr>
      <a:lvl5pPr marL="2374648" indent="0" algn="l" defTabSz="1187323" rtl="0" eaLnBrk="1" latinLnBrk="0" hangingPunct="1">
        <a:lnSpc>
          <a:spcPct val="90000"/>
        </a:lnSpc>
        <a:spcBef>
          <a:spcPts val="650"/>
        </a:spcBef>
        <a:buFont typeface="Arial" panose="020B0604020202020204" pitchFamily="34" charset="0"/>
        <a:buNone/>
        <a:defRPr sz="2337" kern="1200">
          <a:solidFill>
            <a:schemeClr val="tx1"/>
          </a:solidFill>
          <a:latin typeface="+mn-lt"/>
          <a:ea typeface="+mn-ea"/>
          <a:cs typeface="+mn-cs"/>
        </a:defRPr>
      </a:lvl5pPr>
      <a:lvl6pPr marL="3265140"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6pPr>
      <a:lvl7pPr marL="3858802"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7pPr>
      <a:lvl8pPr marL="4452463"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8pPr>
      <a:lvl9pPr marL="5046125" indent="-296831" algn="l" defTabSz="1187323" rtl="0" eaLnBrk="1" latinLnBrk="0" hangingPunct="1">
        <a:lnSpc>
          <a:spcPct val="90000"/>
        </a:lnSpc>
        <a:spcBef>
          <a:spcPts val="650"/>
        </a:spcBef>
        <a:buFont typeface="Arial" panose="020B0604020202020204" pitchFamily="34" charset="0"/>
        <a:buChar char="•"/>
        <a:defRPr sz="2337" kern="1200">
          <a:solidFill>
            <a:schemeClr val="tx1"/>
          </a:solidFill>
          <a:latin typeface="+mn-lt"/>
          <a:ea typeface="+mn-ea"/>
          <a:cs typeface="+mn-cs"/>
        </a:defRPr>
      </a:lvl9pPr>
    </p:bodyStyle>
    <p:otherStyle>
      <a:defPPr>
        <a:defRPr lang="en-US"/>
      </a:defPPr>
      <a:lvl1pPr marL="0" algn="l" defTabSz="1187323" rtl="0" eaLnBrk="1" latinLnBrk="0" hangingPunct="1">
        <a:defRPr sz="2337" kern="1200">
          <a:solidFill>
            <a:schemeClr val="tx1"/>
          </a:solidFill>
          <a:latin typeface="+mn-lt"/>
          <a:ea typeface="+mn-ea"/>
          <a:cs typeface="+mn-cs"/>
        </a:defRPr>
      </a:lvl1pPr>
      <a:lvl2pPr marL="593662" algn="l" defTabSz="1187323" rtl="0" eaLnBrk="1" latinLnBrk="0" hangingPunct="1">
        <a:defRPr sz="2337" kern="1200">
          <a:solidFill>
            <a:schemeClr val="tx1"/>
          </a:solidFill>
          <a:latin typeface="+mn-lt"/>
          <a:ea typeface="+mn-ea"/>
          <a:cs typeface="+mn-cs"/>
        </a:defRPr>
      </a:lvl2pPr>
      <a:lvl3pPr marL="1187323" algn="l" defTabSz="1187323" rtl="0" eaLnBrk="1" latinLnBrk="0" hangingPunct="1">
        <a:defRPr sz="2337" kern="1200">
          <a:solidFill>
            <a:schemeClr val="tx1"/>
          </a:solidFill>
          <a:latin typeface="+mn-lt"/>
          <a:ea typeface="+mn-ea"/>
          <a:cs typeface="+mn-cs"/>
        </a:defRPr>
      </a:lvl3pPr>
      <a:lvl4pPr marL="1780986" algn="l" defTabSz="1187323" rtl="0" eaLnBrk="1" latinLnBrk="0" hangingPunct="1">
        <a:defRPr sz="2337" kern="1200">
          <a:solidFill>
            <a:schemeClr val="tx1"/>
          </a:solidFill>
          <a:latin typeface="+mn-lt"/>
          <a:ea typeface="+mn-ea"/>
          <a:cs typeface="+mn-cs"/>
        </a:defRPr>
      </a:lvl4pPr>
      <a:lvl5pPr marL="2374648" algn="l" defTabSz="1187323" rtl="0" eaLnBrk="1" latinLnBrk="0" hangingPunct="1">
        <a:defRPr sz="2337" kern="1200">
          <a:solidFill>
            <a:schemeClr val="tx1"/>
          </a:solidFill>
          <a:latin typeface="+mn-lt"/>
          <a:ea typeface="+mn-ea"/>
          <a:cs typeface="+mn-cs"/>
        </a:defRPr>
      </a:lvl5pPr>
      <a:lvl6pPr marL="2968309" algn="l" defTabSz="1187323" rtl="0" eaLnBrk="1" latinLnBrk="0" hangingPunct="1">
        <a:defRPr sz="2337" kern="1200">
          <a:solidFill>
            <a:schemeClr val="tx1"/>
          </a:solidFill>
          <a:latin typeface="+mn-lt"/>
          <a:ea typeface="+mn-ea"/>
          <a:cs typeface="+mn-cs"/>
        </a:defRPr>
      </a:lvl6pPr>
      <a:lvl7pPr marL="3561971" algn="l" defTabSz="1187323" rtl="0" eaLnBrk="1" latinLnBrk="0" hangingPunct="1">
        <a:defRPr sz="2337" kern="1200">
          <a:solidFill>
            <a:schemeClr val="tx1"/>
          </a:solidFill>
          <a:latin typeface="+mn-lt"/>
          <a:ea typeface="+mn-ea"/>
          <a:cs typeface="+mn-cs"/>
        </a:defRPr>
      </a:lvl7pPr>
      <a:lvl8pPr marL="4155634" algn="l" defTabSz="1187323" rtl="0" eaLnBrk="1" latinLnBrk="0" hangingPunct="1">
        <a:defRPr sz="2337" kern="1200">
          <a:solidFill>
            <a:schemeClr val="tx1"/>
          </a:solidFill>
          <a:latin typeface="+mn-lt"/>
          <a:ea typeface="+mn-ea"/>
          <a:cs typeface="+mn-cs"/>
        </a:defRPr>
      </a:lvl8pPr>
      <a:lvl9pPr marL="4749295" algn="l" defTabSz="1187323" rtl="0" eaLnBrk="1" latinLnBrk="0" hangingPunct="1">
        <a:defRPr sz="2337"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1">
          <p15:clr>
            <a:srgbClr val="F26B43"/>
          </p15:clr>
        </p15:guide>
        <p15:guide id="2" pos="3842">
          <p15:clr>
            <a:srgbClr val="F26B43"/>
          </p15:clr>
        </p15:guide>
        <p15:guide id="3" pos="461">
          <p15:clr>
            <a:srgbClr val="F26B43"/>
          </p15:clr>
        </p15:guide>
        <p15:guide id="4" pos="7197">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5.xml"/><Relationship Id="rId5" Type="http://schemas.openxmlformats.org/officeDocument/2006/relationships/image" Target="../media/image6.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5.xml"/><Relationship Id="rId5" Type="http://schemas.openxmlformats.org/officeDocument/2006/relationships/image" Target="../media/image8.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5.xml"/><Relationship Id="rId5" Type="http://schemas.openxmlformats.org/officeDocument/2006/relationships/image" Target="../media/image9.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5.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15.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5.xml"/><Relationship Id="rId5" Type="http://schemas.openxmlformats.org/officeDocument/2006/relationships/image" Target="../media/image8.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15.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6.png"/><Relationship Id="rId4" Type="http://schemas.openxmlformats.org/officeDocument/2006/relationships/image" Target="../media/image8.png"/></Relationships>
</file>

<file path=ppt/slides/_rels/slide4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png"/></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6.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8.png"/></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6.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9.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2.xml"/><Relationship Id="rId1" Type="http://schemas.openxmlformats.org/officeDocument/2006/relationships/slideLayout" Target="../slideLayouts/slideLayout1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0.png"/></Relationships>
</file>

<file path=ppt/slides/_rels/slide6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3.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17.png"/></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4.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5.png"/><Relationship Id="rId4" Type="http://schemas.openxmlformats.org/officeDocument/2006/relationships/image" Target="../media/image19.png"/></Relationships>
</file>

<file path=ppt/slides/_rels/slide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5.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5.png"/><Relationship Id="rId4" Type="http://schemas.openxmlformats.org/officeDocument/2006/relationships/image" Target="../media/image19.png"/></Relationships>
</file>

<file path=ppt/slides/_rels/slide6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6.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5.png"/><Relationship Id="rId4" Type="http://schemas.openxmlformats.org/officeDocument/2006/relationships/image" Target="../media/image19.png"/></Relationships>
</file>

<file path=ppt/slides/_rels/slide6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7.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5.png"/><Relationship Id="rId4" Type="http://schemas.openxmlformats.org/officeDocument/2006/relationships/image" Target="../media/image19.png"/></Relationships>
</file>

<file path=ppt/slides/_rels/slide6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8.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7.png"/><Relationship Id="rId4" Type="http://schemas.openxmlformats.org/officeDocument/2006/relationships/image" Target="../media/image15.png"/></Relationships>
</file>

<file path=ppt/slides/_rels/slide6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9.xml"/><Relationship Id="rId1" Type="http://schemas.openxmlformats.org/officeDocument/2006/relationships/slideLayout" Target="../slideLayouts/slideLayout13.xml"/><Relationship Id="rId6" Type="http://schemas.openxmlformats.org/officeDocument/2006/relationships/image" Target="../media/image20.png"/><Relationship Id="rId5" Type="http://schemas.openxmlformats.org/officeDocument/2006/relationships/image" Target="../media/image15.png"/><Relationship Id="rId4" Type="http://schemas.openxmlformats.org/officeDocument/2006/relationships/image" Target="../media/image19.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2.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0.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5.xml"/><Relationship Id="rId1" Type="http://schemas.openxmlformats.org/officeDocument/2006/relationships/slideLayout" Target="../slideLayouts/slideLayout13.xml"/><Relationship Id="rId6" Type="http://schemas.openxmlformats.org/officeDocument/2006/relationships/image" Target="../media/image4.png"/><Relationship Id="rId5" Type="http://schemas.openxmlformats.org/officeDocument/2006/relationships/image" Target="../media/image17.png"/><Relationship Id="rId4" Type="http://schemas.openxmlformats.org/officeDocument/2006/relationships/image" Target="../media/image6.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6.xml"/><Relationship Id="rId1" Type="http://schemas.openxmlformats.org/officeDocument/2006/relationships/slideLayout" Target="../slideLayouts/slideLayout13.xml"/><Relationship Id="rId6" Type="http://schemas.openxmlformats.org/officeDocument/2006/relationships/image" Target="../media/image17.png"/><Relationship Id="rId5" Type="http://schemas.openxmlformats.org/officeDocument/2006/relationships/image" Target="../media/image6.png"/><Relationship Id="rId4" Type="http://schemas.openxmlformats.org/officeDocument/2006/relationships/image" Target="../media/image7.png"/></Relationships>
</file>

<file path=ppt/slides/_rels/slide7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notesSlide" Target="../notesSlides/notesSlide77.xml"/><Relationship Id="rId1" Type="http://schemas.openxmlformats.org/officeDocument/2006/relationships/slideLayout" Target="../slideLayouts/slideLayout13.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8.png"/></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5.xml"/></Relationships>
</file>

<file path=ppt/slides/_rels/slide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9.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7.png"/><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2.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8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3.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8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4.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8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5.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8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6.xml"/><Relationship Id="rId1" Type="http://schemas.openxmlformats.org/officeDocument/2006/relationships/slideLayout" Target="../slideLayouts/slideLayout15.xml"/><Relationship Id="rId4" Type="http://schemas.openxmlformats.org/officeDocument/2006/relationships/image" Target="../media/image11.png"/></Relationships>
</file>

<file path=ppt/slides/_rels/slide8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7.xml"/><Relationship Id="rId1" Type="http://schemas.openxmlformats.org/officeDocument/2006/relationships/slideLayout" Target="../slideLayouts/slideLayout15.xml"/><Relationship Id="rId6" Type="http://schemas.openxmlformats.org/officeDocument/2006/relationships/image" Target="../media/image21.png"/><Relationship Id="rId5" Type="http://schemas.openxmlformats.org/officeDocument/2006/relationships/image" Target="../media/image4.png"/><Relationship Id="rId4" Type="http://schemas.openxmlformats.org/officeDocument/2006/relationships/image" Target="../media/image11.png"/></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9.xml"/><Relationship Id="rId1" Type="http://schemas.openxmlformats.org/officeDocument/2006/relationships/slideLayout" Target="../slideLayouts/slideLayout15.xml"/></Relationships>
</file>

<file path=ppt/slides/_rels/slide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0.xml"/><Relationship Id="rId1" Type="http://schemas.openxmlformats.org/officeDocument/2006/relationships/slideLayout" Target="../slideLayouts/slideLayout15.xml"/></Relationships>
</file>

<file path=ppt/slides/_rels/slide9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1.xml"/><Relationship Id="rId1" Type="http://schemas.openxmlformats.org/officeDocument/2006/relationships/slideLayout" Target="../slideLayouts/slideLayout15.xml"/></Relationships>
</file>

<file path=ppt/slides/_rels/slide9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2.xml"/><Relationship Id="rId1" Type="http://schemas.openxmlformats.org/officeDocument/2006/relationships/slideLayout" Target="../slideLayouts/slideLayout15.xml"/></Relationships>
</file>

<file path=ppt/slides/_rels/slide9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3.xml"/><Relationship Id="rId1" Type="http://schemas.openxmlformats.org/officeDocument/2006/relationships/slideLayout" Target="../slideLayouts/slideLayout15.xml"/></Relationships>
</file>

<file path=ppt/slides/_rels/slide9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4.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10.png"/></Relationships>
</file>

<file path=ppt/slides/_rels/slide9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5.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10.png"/></Relationships>
</file>

<file path=ppt/slides/_rels/slide9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6.xml"/><Relationship Id="rId1" Type="http://schemas.openxmlformats.org/officeDocument/2006/relationships/slideLayout" Target="../slideLayouts/slideLayout15.xml"/><Relationship Id="rId5" Type="http://schemas.openxmlformats.org/officeDocument/2006/relationships/image" Target="../media/image4.png"/><Relationship Id="rId4" Type="http://schemas.openxmlformats.org/officeDocument/2006/relationships/image" Target="../media/image10.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文本占位符 25"/>
          <p:cNvSpPr>
            <a:spLocks noGrp="1"/>
          </p:cNvSpPr>
          <p:nvPr>
            <p:ph type="body" sz="quarter" idx="17"/>
          </p:nvPr>
        </p:nvSpPr>
        <p:spPr bwMode="gray"/>
        <p:txBody>
          <a:bodyPr/>
          <a:lstStyle/>
          <a:p>
            <a:endParaRPr lang="zh-CN" altLang="en-US" dirty="0">
              <a:sym typeface="Huawei Sans" panose="020C0503030203020204" pitchFamily="34" charset="0"/>
            </a:endParaRPr>
          </a:p>
        </p:txBody>
      </p:sp>
      <p:sp>
        <p:nvSpPr>
          <p:cNvPr id="27" name="文本占位符 26"/>
          <p:cNvSpPr>
            <a:spLocks noGrp="1"/>
          </p:cNvSpPr>
          <p:nvPr>
            <p:ph type="body" sz="quarter" idx="18"/>
          </p:nvPr>
        </p:nvSpPr>
        <p:spPr bwMode="gray"/>
        <p:txBody>
          <a:bodyPr/>
          <a:lstStyle/>
          <a:p>
            <a:r>
              <a:rPr lang="en-US" altLang="zh-CN" dirty="0" smtClean="0">
                <a:sym typeface="Huawei Sans" panose="020C0503030203020204" pitchFamily="34" charset="0"/>
              </a:rPr>
              <a:t>Datacom</a:t>
            </a:r>
            <a:endParaRPr lang="zh-CN" altLang="en-US" dirty="0">
              <a:sym typeface="Huawei Sans" panose="020C0503030203020204" pitchFamily="34" charset="0"/>
            </a:endParaRPr>
          </a:p>
        </p:txBody>
      </p:sp>
      <p:sp>
        <p:nvSpPr>
          <p:cNvPr id="28" name="文本占位符 27"/>
          <p:cNvSpPr>
            <a:spLocks noGrp="1"/>
          </p:cNvSpPr>
          <p:nvPr>
            <p:ph type="body" sz="quarter" idx="19"/>
          </p:nvPr>
        </p:nvSpPr>
        <p:spPr bwMode="gray"/>
        <p:txBody>
          <a:bodyPr/>
          <a:lstStyle/>
          <a:p>
            <a:r>
              <a:rPr lang="zh-CN" altLang="en-US" dirty="0" smtClean="0">
                <a:sym typeface="Huawei Sans" panose="020C0503030203020204" pitchFamily="34" charset="0"/>
              </a:rPr>
              <a:t>通用</a:t>
            </a:r>
            <a:endParaRPr lang="zh-CN" altLang="en-US" dirty="0">
              <a:sym typeface="Huawei Sans" panose="020C0503030203020204" pitchFamily="34" charset="0"/>
            </a:endParaRPr>
          </a:p>
        </p:txBody>
      </p:sp>
      <p:sp>
        <p:nvSpPr>
          <p:cNvPr id="29" name="文本占位符 28"/>
          <p:cNvSpPr>
            <a:spLocks noGrp="1"/>
          </p:cNvSpPr>
          <p:nvPr>
            <p:ph type="body" sz="quarter" idx="20"/>
          </p:nvPr>
        </p:nvSpPr>
        <p:spPr bwMode="gray"/>
        <p:txBody>
          <a:bodyPr/>
          <a:lstStyle/>
          <a:p>
            <a:r>
              <a:rPr lang="en-US" altLang="zh-CN" dirty="0" smtClean="0">
                <a:sym typeface="Huawei Sans" panose="020C0503030203020204" pitchFamily="34" charset="0"/>
              </a:rPr>
              <a:t>V1.0</a:t>
            </a:r>
            <a:endParaRPr lang="zh-CN" altLang="en-US" dirty="0">
              <a:sym typeface="Huawei Sans" panose="020C0503030203020204" pitchFamily="34" charset="0"/>
            </a:endParaRPr>
          </a:p>
        </p:txBody>
      </p:sp>
      <p:sp>
        <p:nvSpPr>
          <p:cNvPr id="74" name="文本占位符 73"/>
          <p:cNvSpPr>
            <a:spLocks noGrp="1"/>
          </p:cNvSpPr>
          <p:nvPr>
            <p:ph type="body" sz="quarter" idx="13"/>
          </p:nvPr>
        </p:nvSpPr>
        <p:spPr bwMode="gray"/>
        <p:txBody>
          <a:bodyPr/>
          <a:lstStyle/>
          <a:p>
            <a:r>
              <a:rPr lang="zh-CN" altLang="en-US" dirty="0" smtClean="0">
                <a:sym typeface="Huawei Sans" panose="020C0503030203020204" pitchFamily="34" charset="0"/>
              </a:rPr>
              <a:t>陈俭元</a:t>
            </a:r>
            <a:r>
              <a:rPr lang="en-US" altLang="zh-CN" dirty="0" smtClean="0">
                <a:sym typeface="Huawei Sans" panose="020C0503030203020204" pitchFamily="34" charset="0"/>
              </a:rPr>
              <a:t>/WX652820</a:t>
            </a:r>
            <a:endParaRPr lang="zh-CN" altLang="en-US" dirty="0">
              <a:sym typeface="Huawei Sans" panose="020C0503030203020204" pitchFamily="34" charset="0"/>
            </a:endParaRPr>
          </a:p>
        </p:txBody>
      </p:sp>
      <p:sp>
        <p:nvSpPr>
          <p:cNvPr id="75" name="文本占位符 74"/>
          <p:cNvSpPr>
            <a:spLocks noGrp="1"/>
          </p:cNvSpPr>
          <p:nvPr>
            <p:ph type="body" sz="quarter" idx="14"/>
          </p:nvPr>
        </p:nvSpPr>
        <p:spPr bwMode="gray"/>
        <p:txBody>
          <a:bodyPr/>
          <a:lstStyle/>
          <a:p>
            <a:r>
              <a:rPr lang="en-US" altLang="zh-CN" dirty="0" smtClean="0">
                <a:sym typeface="Huawei Sans" panose="020C0503030203020204" pitchFamily="34" charset="0"/>
              </a:rPr>
              <a:t>2020.06.23</a:t>
            </a:r>
            <a:endParaRPr lang="zh-CN" altLang="en-US" dirty="0">
              <a:sym typeface="Huawei Sans" panose="020C0503030203020204" pitchFamily="34" charset="0"/>
            </a:endParaRPr>
          </a:p>
        </p:txBody>
      </p:sp>
      <p:sp>
        <p:nvSpPr>
          <p:cNvPr id="2" name="文本占位符 1"/>
          <p:cNvSpPr>
            <a:spLocks noGrp="1"/>
          </p:cNvSpPr>
          <p:nvPr>
            <p:ph type="body" sz="quarter" idx="15"/>
          </p:nvPr>
        </p:nvSpPr>
        <p:spPr bwMode="gray"/>
        <p:txBody>
          <a:bodyPr/>
          <a:lstStyle/>
          <a:p>
            <a:r>
              <a:rPr lang="zh-CN" altLang="en-US" dirty="0" smtClean="0">
                <a:sym typeface="Huawei Sans" panose="020C0503030203020204" pitchFamily="34" charset="0"/>
              </a:rPr>
              <a:t>何军建</a:t>
            </a:r>
            <a:r>
              <a:rPr lang="en-US" altLang="zh-CN" dirty="0" smtClean="0">
                <a:sym typeface="Huawei Sans" panose="020C0503030203020204" pitchFamily="34" charset="0"/>
              </a:rPr>
              <a:t>/WX580230</a:t>
            </a:r>
            <a:endParaRPr lang="zh-CN" altLang="en-US" dirty="0">
              <a:sym typeface="Huawei Sans" panose="020C0503030203020204" pitchFamily="34" charset="0"/>
            </a:endParaRPr>
          </a:p>
        </p:txBody>
      </p:sp>
      <p:sp>
        <p:nvSpPr>
          <p:cNvPr id="25" name="文本占位符 24"/>
          <p:cNvSpPr>
            <a:spLocks noGrp="1"/>
          </p:cNvSpPr>
          <p:nvPr>
            <p:ph type="body" sz="quarter" idx="16"/>
          </p:nvPr>
        </p:nvSpPr>
        <p:spPr bwMode="gray"/>
        <p:txBody>
          <a:bodyPr/>
          <a:lstStyle/>
          <a:p>
            <a:r>
              <a:rPr lang="zh-CN" altLang="en-US" dirty="0" smtClean="0">
                <a:sym typeface="Huawei Sans" panose="020C0503030203020204" pitchFamily="34" charset="0"/>
              </a:rPr>
              <a:t>新开发</a:t>
            </a:r>
            <a:endParaRPr lang="zh-CN" altLang="en-US" dirty="0">
              <a:sym typeface="Huawei Sans" panose="020C0503030203020204" pitchFamily="34" charset="0"/>
            </a:endParaRPr>
          </a:p>
        </p:txBody>
      </p:sp>
      <p:sp>
        <p:nvSpPr>
          <p:cNvPr id="8" name="文本占位符 7"/>
          <p:cNvSpPr>
            <a:spLocks noGrp="1"/>
          </p:cNvSpPr>
          <p:nvPr>
            <p:ph type="body" sz="quarter" idx="21"/>
          </p:nvPr>
        </p:nvSpPr>
        <p:spPr bwMode="gray"/>
        <p:txBody>
          <a:bodyPr/>
          <a:lstStyle/>
          <a:p>
            <a:r>
              <a:rPr lang="zh-CN" altLang="en-US" dirty="0" smtClean="0">
                <a:sym typeface="Huawei Sans" panose="020C0503030203020204" pitchFamily="34" charset="0"/>
              </a:rPr>
              <a:t>何军建</a:t>
            </a:r>
            <a:r>
              <a:rPr lang="en-US" altLang="zh-CN" dirty="0" smtClean="0">
                <a:sym typeface="Huawei Sans" panose="020C0503030203020204" pitchFamily="34" charset="0"/>
              </a:rPr>
              <a:t>/WX580230</a:t>
            </a:r>
            <a:endParaRPr lang="zh-CN" altLang="en-US" dirty="0">
              <a:sym typeface="Huawei Sans" panose="020C0503030203020204" pitchFamily="34" charset="0"/>
            </a:endParaRPr>
          </a:p>
        </p:txBody>
      </p:sp>
      <p:sp>
        <p:nvSpPr>
          <p:cNvPr id="9" name="文本占位符 8"/>
          <p:cNvSpPr>
            <a:spLocks noGrp="1"/>
          </p:cNvSpPr>
          <p:nvPr>
            <p:ph type="body" sz="quarter" idx="22"/>
          </p:nvPr>
        </p:nvSpPr>
        <p:spPr bwMode="gray"/>
        <p:txBody>
          <a:bodyPr/>
          <a:lstStyle/>
          <a:p>
            <a:r>
              <a:rPr lang="en-US" altLang="zh-CN" dirty="0" smtClean="0">
                <a:sym typeface="Huawei Sans" panose="020C0503030203020204" pitchFamily="34" charset="0"/>
              </a:rPr>
              <a:t>2021.07.23</a:t>
            </a:r>
            <a:endParaRPr lang="zh-CN" altLang="en-US" dirty="0">
              <a:sym typeface="Huawei Sans" panose="020C0503030203020204" pitchFamily="34" charset="0"/>
            </a:endParaRPr>
          </a:p>
        </p:txBody>
      </p:sp>
      <p:sp>
        <p:nvSpPr>
          <p:cNvPr id="30" name="文本占位符 29"/>
          <p:cNvSpPr>
            <a:spLocks noGrp="1"/>
          </p:cNvSpPr>
          <p:nvPr>
            <p:ph type="body" sz="quarter" idx="23"/>
          </p:nvPr>
        </p:nvSpPr>
        <p:spPr bwMode="gray"/>
        <p:txBody>
          <a:bodyPr/>
          <a:lstStyle/>
          <a:p>
            <a:r>
              <a:rPr lang="zh-CN" altLang="en-US" dirty="0">
                <a:sym typeface="Huawei Sans" panose="020C0503030203020204" pitchFamily="34" charset="0"/>
              </a:rPr>
              <a:t>卢玥</a:t>
            </a:r>
            <a:r>
              <a:rPr lang="zh-CN" altLang="en-US" dirty="0" smtClean="0">
                <a:sym typeface="Huawei Sans" panose="020C0503030203020204" pitchFamily="34" charset="0"/>
              </a:rPr>
              <a:t>玥</a:t>
            </a:r>
            <a:r>
              <a:rPr lang="en-US" altLang="zh-CN" dirty="0" smtClean="0">
                <a:sym typeface="Huawei Sans" panose="020C0503030203020204" pitchFamily="34" charset="0"/>
              </a:rPr>
              <a:t>/WX445705</a:t>
            </a:r>
            <a:endParaRPr lang="zh-CN" altLang="en-US" dirty="0">
              <a:sym typeface="Huawei Sans" panose="020C0503030203020204" pitchFamily="34" charset="0"/>
            </a:endParaRPr>
          </a:p>
        </p:txBody>
      </p:sp>
      <p:sp>
        <p:nvSpPr>
          <p:cNvPr id="31" name="文本占位符 30"/>
          <p:cNvSpPr>
            <a:spLocks noGrp="1"/>
          </p:cNvSpPr>
          <p:nvPr>
            <p:ph type="body" sz="quarter" idx="24"/>
          </p:nvPr>
        </p:nvSpPr>
        <p:spPr bwMode="gray"/>
        <p:txBody>
          <a:bodyPr/>
          <a:lstStyle/>
          <a:p>
            <a:r>
              <a:rPr lang="zh-CN" altLang="en-US" dirty="0" smtClean="0">
                <a:sym typeface="Huawei Sans" panose="020C0503030203020204" pitchFamily="34" charset="0"/>
              </a:rPr>
              <a:t>优化</a:t>
            </a:r>
            <a:endParaRPr lang="zh-CN" altLang="en-US" dirty="0">
              <a:sym typeface="Huawei Sans" panose="020C0503030203020204" pitchFamily="34" charset="0"/>
            </a:endParaRPr>
          </a:p>
        </p:txBody>
      </p:sp>
      <p:sp>
        <p:nvSpPr>
          <p:cNvPr id="32" name="文本占位符 31"/>
          <p:cNvSpPr>
            <a:spLocks noGrp="1"/>
          </p:cNvSpPr>
          <p:nvPr>
            <p:ph type="body" sz="quarter" idx="25"/>
          </p:nvPr>
        </p:nvSpPr>
        <p:spPr bwMode="gray"/>
        <p:txBody>
          <a:bodyPr/>
          <a:lstStyle/>
          <a:p>
            <a:endParaRPr lang="zh-CN" altLang="en-US">
              <a:sym typeface="Huawei Sans" panose="020C0503030203020204" pitchFamily="34" charset="0"/>
            </a:endParaRPr>
          </a:p>
        </p:txBody>
      </p:sp>
      <p:sp>
        <p:nvSpPr>
          <p:cNvPr id="33" name="文本占位符 32"/>
          <p:cNvSpPr>
            <a:spLocks noGrp="1"/>
          </p:cNvSpPr>
          <p:nvPr>
            <p:ph type="body" sz="quarter" idx="26"/>
          </p:nvPr>
        </p:nvSpPr>
        <p:spPr bwMode="gray"/>
        <p:txBody>
          <a:bodyPr/>
          <a:lstStyle/>
          <a:p>
            <a:endParaRPr lang="zh-CN" altLang="en-US" dirty="0">
              <a:sym typeface="Huawei Sans" panose="020C0503030203020204" pitchFamily="34" charset="0"/>
            </a:endParaRPr>
          </a:p>
        </p:txBody>
      </p:sp>
      <p:sp>
        <p:nvSpPr>
          <p:cNvPr id="34" name="文本占位符 33"/>
          <p:cNvSpPr>
            <a:spLocks noGrp="1"/>
          </p:cNvSpPr>
          <p:nvPr>
            <p:ph type="body" sz="quarter" idx="27"/>
          </p:nvPr>
        </p:nvSpPr>
        <p:spPr bwMode="gray"/>
        <p:txBody>
          <a:bodyPr/>
          <a:lstStyle/>
          <a:p>
            <a:endParaRPr lang="zh-CN" altLang="en-US">
              <a:sym typeface="Huawei Sans" panose="020C0503030203020204" pitchFamily="34" charset="0"/>
            </a:endParaRPr>
          </a:p>
        </p:txBody>
      </p:sp>
      <p:sp>
        <p:nvSpPr>
          <p:cNvPr id="35" name="文本占位符 34"/>
          <p:cNvSpPr>
            <a:spLocks noGrp="1"/>
          </p:cNvSpPr>
          <p:nvPr>
            <p:ph type="body" sz="quarter" idx="28"/>
          </p:nvPr>
        </p:nvSpPr>
        <p:spPr bwMode="gray"/>
        <p:txBody>
          <a:bodyPr/>
          <a:lstStyle/>
          <a:p>
            <a:endParaRPr lang="zh-CN" altLang="en-US">
              <a:sym typeface="Huawei Sans" panose="020C0503030203020204" pitchFamily="34" charset="0"/>
            </a:endParaRPr>
          </a:p>
        </p:txBody>
      </p:sp>
      <p:sp>
        <p:nvSpPr>
          <p:cNvPr id="36" name="文本占位符 35"/>
          <p:cNvSpPr>
            <a:spLocks noGrp="1"/>
          </p:cNvSpPr>
          <p:nvPr>
            <p:ph type="body" sz="quarter" idx="29"/>
          </p:nvPr>
        </p:nvSpPr>
        <p:spPr bwMode="gray"/>
        <p:txBody>
          <a:bodyPr/>
          <a:lstStyle/>
          <a:p>
            <a:endParaRPr lang="zh-CN" altLang="en-US">
              <a:sym typeface="Huawei Sans" panose="020C0503030203020204" pitchFamily="34" charset="0"/>
            </a:endParaRPr>
          </a:p>
        </p:txBody>
      </p:sp>
      <p:sp>
        <p:nvSpPr>
          <p:cNvPr id="37" name="文本占位符 36"/>
          <p:cNvSpPr>
            <a:spLocks noGrp="1"/>
          </p:cNvSpPr>
          <p:nvPr>
            <p:ph type="body" sz="quarter" idx="30"/>
          </p:nvPr>
        </p:nvSpPr>
        <p:spPr bwMode="gray"/>
        <p:txBody>
          <a:bodyPr/>
          <a:lstStyle/>
          <a:p>
            <a:endParaRPr lang="zh-CN" altLang="en-US" dirty="0">
              <a:sym typeface="Huawei Sans" panose="020C0503030203020204" pitchFamily="34" charset="0"/>
            </a:endParaRPr>
          </a:p>
        </p:txBody>
      </p:sp>
      <p:sp>
        <p:nvSpPr>
          <p:cNvPr id="38" name="文本占位符 37"/>
          <p:cNvSpPr>
            <a:spLocks noGrp="1"/>
          </p:cNvSpPr>
          <p:nvPr>
            <p:ph type="body" sz="quarter" idx="31"/>
          </p:nvPr>
        </p:nvSpPr>
        <p:spPr bwMode="gray"/>
        <p:txBody>
          <a:bodyPr/>
          <a:lstStyle/>
          <a:p>
            <a:endParaRPr lang="zh-CN" altLang="en-US">
              <a:sym typeface="Huawei Sans" panose="020C0503030203020204" pitchFamily="34" charset="0"/>
            </a:endParaRPr>
          </a:p>
        </p:txBody>
      </p:sp>
      <p:sp>
        <p:nvSpPr>
          <p:cNvPr id="39" name="文本占位符 38"/>
          <p:cNvSpPr>
            <a:spLocks noGrp="1"/>
          </p:cNvSpPr>
          <p:nvPr>
            <p:ph type="body" sz="quarter" idx="32"/>
          </p:nvPr>
        </p:nvSpPr>
        <p:spPr bwMode="gray"/>
        <p:txBody>
          <a:bodyPr/>
          <a:lstStyle/>
          <a:p>
            <a:endParaRPr lang="zh-CN" altLang="en-US">
              <a:sym typeface="Huawei Sans" panose="020C0503030203020204" pitchFamily="34" charset="0"/>
            </a:endParaRPr>
          </a:p>
        </p:txBody>
      </p:sp>
    </p:spTree>
    <p:extLst>
      <p:ext uri="{BB962C8B-B14F-4D97-AF65-F5344CB8AC3E}">
        <p14:creationId xmlns:p14="http://schemas.microsoft.com/office/powerpoint/2010/main" val="379724353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bwMode="gray"/>
        <p:txBody>
          <a:bodyPr/>
          <a:lstStyle/>
          <a:p>
            <a:r>
              <a:rPr lang="zh-CN" altLang="en-US" smtClean="0">
                <a:sym typeface="Huawei Sans" panose="020C0503030203020204" pitchFamily="34" charset="0"/>
              </a:rPr>
              <a:t>网络安全技术</a:t>
            </a:r>
            <a:endParaRPr lang="zh-CN" altLang="en-US" dirty="0">
              <a:sym typeface="Huawei Sans" panose="020C0503030203020204" pitchFamily="34" charset="0"/>
            </a:endParaRPr>
          </a:p>
        </p:txBody>
      </p:sp>
    </p:spTree>
    <p:extLst>
      <p:ext uri="{BB962C8B-B14F-4D97-AF65-F5344CB8AC3E}">
        <p14:creationId xmlns:p14="http://schemas.microsoft.com/office/powerpoint/2010/main" val="30865259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bwMode="gray"/>
        <p:txBody>
          <a:bodyPr/>
          <a:lstStyle/>
          <a:p>
            <a:r>
              <a:rPr lang="zh-CN" altLang="en-US" sz="2000" smtClean="0">
                <a:sym typeface="Huawei Sans" panose="020C0503030203020204" pitchFamily="34" charset="0"/>
              </a:rPr>
              <a:t>目前网络中以太网技术的应用非常广泛。然而，各种网络攻击的存在（例如针对</a:t>
            </a:r>
            <a:r>
              <a:rPr lang="en-US" altLang="zh-CN" sz="2000" smtClean="0">
                <a:sym typeface="Huawei Sans" panose="020C0503030203020204" pitchFamily="34" charset="0"/>
              </a:rPr>
              <a:t>ARP</a:t>
            </a:r>
            <a:r>
              <a:rPr lang="zh-CN" altLang="en-US" sz="2000" smtClean="0">
                <a:sym typeface="Huawei Sans" panose="020C0503030203020204" pitchFamily="34" charset="0"/>
              </a:rPr>
              <a:t>、</a:t>
            </a:r>
            <a:r>
              <a:rPr lang="en-US" altLang="zh-CN" sz="2000" smtClean="0">
                <a:sym typeface="Huawei Sans" panose="020C0503030203020204" pitchFamily="34" charset="0"/>
              </a:rPr>
              <a:t>DHCP</a:t>
            </a:r>
            <a:r>
              <a:rPr lang="zh-CN" altLang="en-US" sz="2000" smtClean="0">
                <a:sym typeface="Huawei Sans" panose="020C0503030203020204" pitchFamily="34" charset="0"/>
              </a:rPr>
              <a:t>等协议的攻击），不仅造成了网络合法用户无法正常访问网络资源，而且对网络信息安全构成严重威胁，因此以太网交换的安全性越来越重要。</a:t>
            </a:r>
            <a:endParaRPr lang="en-US" altLang="zh-CN" sz="2000" smtClean="0">
              <a:sym typeface="Huawei Sans" panose="020C0503030203020204" pitchFamily="34" charset="0"/>
            </a:endParaRPr>
          </a:p>
          <a:p>
            <a:r>
              <a:rPr lang="zh-CN" altLang="en-US" sz="2000" smtClean="0">
                <a:sym typeface="Huawei Sans" panose="020C0503030203020204" pitchFamily="34" charset="0"/>
              </a:rPr>
              <a:t>在大中型企业通常部署防火墙双机热备，可以保证网络中主用设备出现故障时，备用设备能够平滑地接替主用设备的工作，从而实现业务的不间断运行；防火墙虚拟系统是指将一台防火墙设备划分为多个虚拟系统，每台虚拟系统相当于一台真实的设备。</a:t>
            </a:r>
            <a:endParaRPr lang="en-US" altLang="zh-CN" sz="2000" smtClean="0">
              <a:sym typeface="Huawei Sans" panose="020C0503030203020204" pitchFamily="34" charset="0"/>
            </a:endParaRPr>
          </a:p>
          <a:p>
            <a:r>
              <a:rPr lang="zh-CN" altLang="en-US" sz="2000" smtClean="0">
                <a:sym typeface="Huawei Sans" panose="020C0503030203020204" pitchFamily="34" charset="0"/>
              </a:rPr>
              <a:t>本章节主要介绍常见的以太网交换安全技术：包括端口隔离、端口安全、</a:t>
            </a:r>
            <a:r>
              <a:rPr lang="en-US" altLang="zh-CN" sz="2000" smtClean="0">
                <a:sym typeface="Huawei Sans" panose="020C0503030203020204" pitchFamily="34" charset="0"/>
              </a:rPr>
              <a:t>MAC</a:t>
            </a:r>
            <a:r>
              <a:rPr lang="zh-CN" altLang="en-US" sz="2000" smtClean="0">
                <a:sym typeface="Huawei Sans" panose="020C0503030203020204" pitchFamily="34" charset="0"/>
              </a:rPr>
              <a:t>地址漂移检测、风暴控制、端口限速、</a:t>
            </a:r>
            <a:r>
              <a:rPr lang="en-US" altLang="zh-CN" sz="2000" smtClean="0">
                <a:sym typeface="Huawei Sans" panose="020C0503030203020204" pitchFamily="34" charset="0"/>
              </a:rPr>
              <a:t>MAC</a:t>
            </a:r>
            <a:r>
              <a:rPr lang="zh-CN" altLang="en-US" sz="2000" smtClean="0">
                <a:sym typeface="Huawei Sans" panose="020C0503030203020204" pitchFamily="34" charset="0"/>
              </a:rPr>
              <a:t>地址表安全、</a:t>
            </a:r>
            <a:r>
              <a:rPr lang="en-US" altLang="zh-CN" sz="2000" smtClean="0">
                <a:sym typeface="Huawei Sans" panose="020C0503030203020204" pitchFamily="34" charset="0"/>
              </a:rPr>
              <a:t>DHCP Snooping</a:t>
            </a:r>
            <a:r>
              <a:rPr lang="zh-CN" altLang="en-US" sz="2000" smtClean="0">
                <a:sym typeface="Huawei Sans" panose="020C0503030203020204" pitchFamily="34" charset="0"/>
              </a:rPr>
              <a:t>及</a:t>
            </a:r>
            <a:r>
              <a:rPr lang="en-US" altLang="zh-CN" sz="2000" smtClean="0">
                <a:sym typeface="Huawei Sans" panose="020C0503030203020204" pitchFamily="34" charset="0"/>
              </a:rPr>
              <a:t>IP Source Guard</a:t>
            </a:r>
            <a:r>
              <a:rPr lang="zh-CN" altLang="en-US" sz="2000" smtClean="0">
                <a:sym typeface="Huawei Sans" panose="020C0503030203020204" pitchFamily="34" charset="0"/>
              </a:rPr>
              <a:t>；介绍防火墙高级特性：双机热备，虚拟系统。</a:t>
            </a:r>
            <a:endParaRPr lang="zh-CN" altLang="en-US" sz="2000" dirty="0">
              <a:sym typeface="Huawei Sans" panose="020C0503030203020204" pitchFamily="34" charset="0"/>
            </a:endParaRPr>
          </a:p>
        </p:txBody>
      </p:sp>
    </p:spTree>
    <p:extLst>
      <p:ext uri="{BB962C8B-B14F-4D97-AF65-F5344CB8AC3E}">
        <p14:creationId xmlns:p14="http://schemas.microsoft.com/office/powerpoint/2010/main" val="9249229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p:txBody>
          <a:bodyPr/>
          <a:lstStyle/>
          <a:p>
            <a:r>
              <a:rPr lang="zh-CN" altLang="en-US" dirty="0" smtClean="0">
                <a:sym typeface="Huawei Sans" panose="020C0503030203020204" pitchFamily="34" charset="0"/>
              </a:rPr>
              <a:t>学完本课程后，您将能够：</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阐明端口隔离的类型及配置</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阐明端口安全的技术原理</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实现</a:t>
            </a:r>
            <a:r>
              <a:rPr lang="en-US" altLang="zh-CN" dirty="0" smtClean="0">
                <a:sym typeface="Huawei Sans" panose="020C0503030203020204" pitchFamily="34" charset="0"/>
              </a:rPr>
              <a:t>MAC</a:t>
            </a:r>
            <a:r>
              <a:rPr lang="zh-CN" altLang="en-US" dirty="0" smtClean="0">
                <a:sym typeface="Huawei Sans" panose="020C0503030203020204" pitchFamily="34" charset="0"/>
              </a:rPr>
              <a:t>地址漂移检测</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阐明交换机流量抑制与风暴控制功能</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阐明</a:t>
            </a:r>
            <a:r>
              <a:rPr lang="en-US" altLang="zh-CN" dirty="0" smtClean="0">
                <a:sym typeface="Huawei Sans" panose="020C0503030203020204" pitchFamily="34" charset="0"/>
              </a:rPr>
              <a:t>DHCP Snooping</a:t>
            </a:r>
            <a:r>
              <a:rPr lang="zh-CN" altLang="en-US" dirty="0" smtClean="0">
                <a:sym typeface="Huawei Sans" panose="020C0503030203020204" pitchFamily="34" charset="0"/>
              </a:rPr>
              <a:t>技术应用场景</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阐明</a:t>
            </a:r>
            <a:r>
              <a:rPr lang="en-US" altLang="zh-CN" dirty="0" smtClean="0">
                <a:sym typeface="Huawei Sans" panose="020C0503030203020204" pitchFamily="34" charset="0"/>
              </a:rPr>
              <a:t>IP Source Guard</a:t>
            </a:r>
            <a:r>
              <a:rPr lang="zh-CN" altLang="en-US" dirty="0" smtClean="0">
                <a:sym typeface="Huawei Sans" panose="020C0503030203020204" pitchFamily="34" charset="0"/>
              </a:rPr>
              <a:t>工作原理</a:t>
            </a:r>
            <a:endParaRPr lang="en-US" altLang="zh-CN" dirty="0" smtClean="0">
              <a:sym typeface="Huawei Sans" panose="020C0503030203020204" pitchFamily="34" charset="0"/>
            </a:endParaRPr>
          </a:p>
          <a:p>
            <a:pPr lvl="1"/>
            <a:r>
              <a:rPr lang="zh-CN" altLang="en-US" dirty="0" smtClean="0">
                <a:sym typeface="Huawei Sans" panose="020C0503030203020204" pitchFamily="34" charset="0"/>
              </a:rPr>
              <a:t>描述防火墙双机热备的工作场景</a:t>
            </a:r>
            <a:endParaRPr lang="en-US" altLang="zh-CN" dirty="0" smtClean="0">
              <a:sym typeface="Huawei Sans" panose="020C0503030203020204" pitchFamily="34" charset="0"/>
            </a:endParaRPr>
          </a:p>
          <a:p>
            <a:pPr lvl="1"/>
            <a:endParaRPr lang="zh-CN" altLang="en-US" dirty="0">
              <a:sym typeface="Huawei Sans" panose="020C0503030203020204" pitchFamily="34" charset="0"/>
            </a:endParaRPr>
          </a:p>
        </p:txBody>
      </p:sp>
    </p:spTree>
    <p:extLst>
      <p:ext uri="{BB962C8B-B14F-4D97-AF65-F5344CB8AC3E}">
        <p14:creationId xmlns:p14="http://schemas.microsoft.com/office/powerpoint/2010/main" val="29760331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a:xfrm>
            <a:off x="1019175" y="1844675"/>
            <a:ext cx="10153650" cy="4356100"/>
          </a:xfrm>
        </p:spPr>
        <p:txBody>
          <a:bodyPr/>
          <a:lstStyle/>
          <a:p>
            <a:r>
              <a:rPr lang="zh-CN" altLang="en-US" sz="1800" b="1" dirty="0" smtClean="0">
                <a:sym typeface="Huawei Sans" panose="020C0503030203020204" pitchFamily="34" charset="0"/>
              </a:rPr>
              <a:t>以太网交换安全</a:t>
            </a:r>
            <a:endParaRPr lang="en-US" altLang="zh-CN" sz="1800" b="1" dirty="0" smtClean="0">
              <a:sym typeface="Huawei Sans" panose="020C0503030203020204" pitchFamily="34" charset="0"/>
            </a:endParaRPr>
          </a:p>
          <a:p>
            <a:pPr lvl="1">
              <a:buSzPct val="60000"/>
              <a:buFont typeface="Wingdings" panose="05000000000000000000" pitchFamily="2" charset="2"/>
              <a:buChar char="n"/>
            </a:pPr>
            <a:r>
              <a:rPr lang="zh-CN" altLang="en-US" sz="1600" dirty="0" smtClean="0">
                <a:sym typeface="Huawei Sans" panose="020C0503030203020204" pitchFamily="34" charset="0"/>
              </a:rPr>
              <a:t>端口隔离</a:t>
            </a:r>
            <a:endParaRPr lang="en-US" altLang="zh-CN" sz="1600" dirty="0" smtClean="0">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MAC</a:t>
            </a:r>
            <a:r>
              <a:rPr lang="zh-CN" altLang="en-US" sz="1600" dirty="0" smtClean="0">
                <a:solidFill>
                  <a:schemeClr val="bg1">
                    <a:lumMod val="50000"/>
                  </a:schemeClr>
                </a:solidFill>
                <a:sym typeface="Huawei Sans" panose="020C0503030203020204" pitchFamily="34" charset="0"/>
              </a:rPr>
              <a:t>地址表安全</a:t>
            </a:r>
            <a:endParaRPr lang="en-US" altLang="zh-CN" sz="1600" dirty="0" smtClean="0">
              <a:solidFill>
                <a:schemeClr val="bg1">
                  <a:lumMod val="50000"/>
                </a:schemeClr>
              </a:solidFill>
              <a:sym typeface="Huawei Sans" panose="020C0503030203020204" pitchFamily="34" charset="0"/>
            </a:endParaRPr>
          </a:p>
          <a:p>
            <a:pPr lvl="1"/>
            <a:r>
              <a:rPr lang="zh-CN" altLang="en-US" sz="1600" dirty="0" smtClean="0">
                <a:solidFill>
                  <a:schemeClr val="bg1">
                    <a:lumMod val="50000"/>
                  </a:schemeClr>
                </a:solidFill>
                <a:sym typeface="Huawei Sans" panose="020C0503030203020204" pitchFamily="34" charset="0"/>
              </a:rPr>
              <a:t>端口安全</a:t>
            </a:r>
            <a:endParaRPr lang="en-US" altLang="zh-CN" sz="1600" dirty="0" smtClean="0">
              <a:solidFill>
                <a:schemeClr val="bg1">
                  <a:lumMod val="50000"/>
                </a:schemeClr>
              </a:solidFill>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MAC</a:t>
            </a:r>
            <a:r>
              <a:rPr lang="zh-CN" altLang="en-US" sz="1600" dirty="0" smtClean="0">
                <a:solidFill>
                  <a:schemeClr val="bg1">
                    <a:lumMod val="50000"/>
                  </a:schemeClr>
                </a:solidFill>
                <a:sym typeface="Huawei Sans" panose="020C0503030203020204" pitchFamily="34" charset="0"/>
              </a:rPr>
              <a:t>地址漂移防止与检测</a:t>
            </a:r>
            <a:endParaRPr lang="en-US" altLang="zh-CN" sz="1600" dirty="0" smtClean="0">
              <a:solidFill>
                <a:schemeClr val="bg1">
                  <a:lumMod val="50000"/>
                </a:schemeClr>
              </a:solidFill>
              <a:sym typeface="Huawei Sans" panose="020C0503030203020204" pitchFamily="34" charset="0"/>
            </a:endParaRPr>
          </a:p>
          <a:p>
            <a:pPr lvl="1"/>
            <a:r>
              <a:rPr lang="en-US" altLang="zh-CN" sz="1600" dirty="0" err="1" smtClean="0">
                <a:solidFill>
                  <a:schemeClr val="bg1">
                    <a:lumMod val="50000"/>
                  </a:schemeClr>
                </a:solidFill>
                <a:sym typeface="Huawei Sans" panose="020C0503030203020204" pitchFamily="34" charset="0"/>
              </a:rPr>
              <a:t>MACsec</a:t>
            </a:r>
            <a:endParaRPr lang="en-US" altLang="zh-CN" sz="1600" dirty="0" smtClean="0">
              <a:solidFill>
                <a:schemeClr val="bg1">
                  <a:lumMod val="50000"/>
                </a:schemeClr>
              </a:solidFill>
              <a:sym typeface="Huawei Sans" panose="020C0503030203020204" pitchFamily="34" charset="0"/>
            </a:endParaRPr>
          </a:p>
          <a:p>
            <a:pPr lvl="1"/>
            <a:r>
              <a:rPr lang="zh-CN" altLang="en-US" sz="1600" dirty="0" smtClean="0">
                <a:solidFill>
                  <a:schemeClr val="bg1">
                    <a:lumMod val="50000"/>
                  </a:schemeClr>
                </a:solidFill>
                <a:sym typeface="Huawei Sans" panose="020C0503030203020204" pitchFamily="34" charset="0"/>
              </a:rPr>
              <a:t>交换机流量控制</a:t>
            </a:r>
            <a:endParaRPr lang="en-US" altLang="zh-CN" sz="1600" dirty="0" smtClean="0">
              <a:solidFill>
                <a:schemeClr val="bg1">
                  <a:lumMod val="50000"/>
                </a:schemeClr>
              </a:solidFill>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DHCP Snooping</a:t>
            </a:r>
          </a:p>
          <a:p>
            <a:pPr lvl="1"/>
            <a:r>
              <a:rPr lang="en-US" altLang="zh-CN" sz="1600" dirty="0" smtClean="0">
                <a:solidFill>
                  <a:schemeClr val="bg1">
                    <a:lumMod val="50000"/>
                  </a:schemeClr>
                </a:solidFill>
                <a:sym typeface="Huawei Sans" panose="020C0503030203020204" pitchFamily="34" charset="0"/>
              </a:rPr>
              <a:t>IP Source Guard</a:t>
            </a:r>
          </a:p>
          <a:p>
            <a:r>
              <a:rPr lang="zh-CN" altLang="en-US" sz="1800" dirty="0" smtClean="0">
                <a:solidFill>
                  <a:schemeClr val="bg1">
                    <a:lumMod val="50000"/>
                  </a:schemeClr>
                </a:solidFill>
                <a:sym typeface="Huawei Sans" panose="020C0503030203020204" pitchFamily="34" charset="0"/>
              </a:rPr>
              <a:t>防火墙高级特性</a:t>
            </a:r>
            <a:endParaRPr lang="zh-CN" altLang="en-US"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34863677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端口隔离技术背景</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dirty="0" smtClean="0">
                <a:sym typeface="Huawei Sans" panose="020C0503030203020204" pitchFamily="34" charset="0"/>
              </a:rPr>
              <a:t>以太交换网络中为了实现报文之间的二层隔离，用户通常将不同的端口加入不同的</a:t>
            </a:r>
            <a:r>
              <a:rPr lang="en-US" altLang="zh-CN" sz="1600" dirty="0" smtClean="0">
                <a:sym typeface="Huawei Sans" panose="020C0503030203020204" pitchFamily="34" charset="0"/>
              </a:rPr>
              <a:t>VLAN</a:t>
            </a:r>
            <a:r>
              <a:rPr lang="zh-CN" altLang="en-US" sz="1600" dirty="0" smtClean="0">
                <a:sym typeface="Huawei Sans" panose="020C0503030203020204" pitchFamily="34" charset="0"/>
              </a:rPr>
              <a:t>，实现二层广播域的隔离。</a:t>
            </a:r>
            <a:endParaRPr lang="en-US" altLang="zh-CN" sz="1600" dirty="0" smtClean="0">
              <a:sym typeface="Huawei Sans" panose="020C0503030203020204" pitchFamily="34" charset="0"/>
            </a:endParaRPr>
          </a:p>
          <a:p>
            <a:r>
              <a:rPr lang="zh-CN" altLang="en-US" sz="1600" dirty="0" smtClean="0">
                <a:sym typeface="Huawei Sans" panose="020C0503030203020204" pitchFamily="34" charset="0"/>
              </a:rPr>
              <a:t>大型网络中，业务需求种类繁多，只通过</a:t>
            </a:r>
            <a:r>
              <a:rPr lang="en-US" altLang="zh-CN" sz="1600" dirty="0" smtClean="0">
                <a:sym typeface="Huawei Sans" panose="020C0503030203020204" pitchFamily="34" charset="0"/>
              </a:rPr>
              <a:t>VLAN</a:t>
            </a:r>
            <a:r>
              <a:rPr lang="zh-CN" altLang="en-US" sz="1600" dirty="0" smtClean="0">
                <a:sym typeface="Huawei Sans" panose="020C0503030203020204" pitchFamily="34" charset="0"/>
              </a:rPr>
              <a:t>实现报文二层隔离，会浪费有限的</a:t>
            </a:r>
            <a:r>
              <a:rPr lang="en-US" altLang="zh-CN" sz="1600" dirty="0" smtClean="0">
                <a:sym typeface="Huawei Sans" panose="020C0503030203020204" pitchFamily="34" charset="0"/>
              </a:rPr>
              <a:t>VLAN</a:t>
            </a:r>
            <a:r>
              <a:rPr lang="zh-CN" altLang="en-US" sz="1600" dirty="0" smtClean="0">
                <a:sym typeface="Huawei Sans" panose="020C0503030203020204" pitchFamily="34" charset="0"/>
              </a:rPr>
              <a:t>资源。</a:t>
            </a:r>
            <a:endParaRPr lang="en-US" altLang="zh-CN" sz="1600" dirty="0" smtClean="0">
              <a:sym typeface="Huawei Sans" panose="020C0503030203020204" pitchFamily="34" charset="0"/>
            </a:endParaRPr>
          </a:p>
          <a:p>
            <a:r>
              <a:rPr lang="zh-CN" altLang="en-US" sz="1600" dirty="0" smtClean="0">
                <a:sym typeface="Huawei Sans" panose="020C0503030203020204" pitchFamily="34" charset="0"/>
              </a:rPr>
              <a:t>如下图所示，由于某种业务需求，</a:t>
            </a:r>
            <a:r>
              <a:rPr lang="en-US" altLang="zh-CN" sz="1600" dirty="0" smtClean="0">
                <a:sym typeface="Huawei Sans" panose="020C0503030203020204" pitchFamily="34" charset="0"/>
              </a:rPr>
              <a:t>PC1</a:t>
            </a:r>
            <a:r>
              <a:rPr lang="zh-CN" altLang="en-US" sz="1600" dirty="0" smtClean="0">
                <a:sym typeface="Huawei Sans" panose="020C0503030203020204" pitchFamily="34" charset="0"/>
              </a:rPr>
              <a:t>与</a:t>
            </a:r>
            <a:r>
              <a:rPr lang="en-US" altLang="zh-CN" sz="1600" dirty="0" smtClean="0">
                <a:sym typeface="Huawei Sans" panose="020C0503030203020204" pitchFamily="34" charset="0"/>
              </a:rPr>
              <a:t>PC2</a:t>
            </a:r>
            <a:r>
              <a:rPr lang="zh-CN" altLang="en-US" sz="1600" dirty="0" smtClean="0">
                <a:sym typeface="Huawei Sans" panose="020C0503030203020204" pitchFamily="34" charset="0"/>
              </a:rPr>
              <a:t>虽然属于同一个</a:t>
            </a:r>
            <a:r>
              <a:rPr lang="en-US" altLang="zh-CN" sz="1600" dirty="0" smtClean="0">
                <a:sym typeface="Huawei Sans" panose="020C0503030203020204" pitchFamily="34" charset="0"/>
              </a:rPr>
              <a:t>VLAN </a:t>
            </a:r>
            <a:r>
              <a:rPr lang="zh-CN" altLang="en-US" sz="1600" dirty="0" smtClean="0">
                <a:sym typeface="Huawei Sans" panose="020C0503030203020204" pitchFamily="34" charset="0"/>
              </a:rPr>
              <a:t>，但是要求它们在二层不能互通（但允许三层互通），</a:t>
            </a:r>
            <a:r>
              <a:rPr lang="en-US" altLang="zh-CN" sz="1600" dirty="0" smtClean="0">
                <a:sym typeface="Huawei Sans" panose="020C0503030203020204" pitchFamily="34" charset="0"/>
              </a:rPr>
              <a:t>PC1</a:t>
            </a:r>
            <a:r>
              <a:rPr lang="zh-CN" altLang="en-US" sz="1600" dirty="0" smtClean="0">
                <a:sym typeface="Huawei Sans" panose="020C0503030203020204" pitchFamily="34" charset="0"/>
              </a:rPr>
              <a:t>与</a:t>
            </a:r>
            <a:r>
              <a:rPr lang="en-US" altLang="zh-CN" sz="1600" dirty="0" smtClean="0">
                <a:sym typeface="Huawei Sans" panose="020C0503030203020204" pitchFamily="34" charset="0"/>
              </a:rPr>
              <a:t>PC3</a:t>
            </a:r>
            <a:r>
              <a:rPr lang="zh-CN" altLang="en-US" sz="1600" dirty="0" smtClean="0">
                <a:sym typeface="Huawei Sans" panose="020C0503030203020204" pitchFamily="34" charset="0"/>
              </a:rPr>
              <a:t>在任何情况下都不能互通，但是</a:t>
            </a:r>
            <a:r>
              <a:rPr lang="en-US" altLang="zh-CN" sz="1600" dirty="0" smtClean="0">
                <a:sym typeface="Huawei Sans" panose="020C0503030203020204" pitchFamily="34" charset="0"/>
              </a:rPr>
              <a:t>VLAN 3</a:t>
            </a:r>
            <a:r>
              <a:rPr lang="zh-CN" altLang="en-US" sz="1600" dirty="0" smtClean="0">
                <a:sym typeface="Huawei Sans" panose="020C0503030203020204" pitchFamily="34" charset="0"/>
              </a:rPr>
              <a:t>里的主机可以访问</a:t>
            </a:r>
            <a:r>
              <a:rPr lang="en-US" altLang="zh-CN" sz="1600" dirty="0" smtClean="0">
                <a:sym typeface="Huawei Sans" panose="020C0503030203020204" pitchFamily="34" charset="0"/>
              </a:rPr>
              <a:t>VLAN 2</a:t>
            </a:r>
            <a:r>
              <a:rPr lang="zh-CN" altLang="en-US" sz="1600" dirty="0" smtClean="0">
                <a:sym typeface="Huawei Sans" panose="020C0503030203020204" pitchFamily="34" charset="0"/>
              </a:rPr>
              <a:t>里的主机。 那么该如何解决这个问题呢？</a:t>
            </a:r>
            <a:endParaRPr lang="en-US" altLang="zh-CN" sz="1600" dirty="0" smtClean="0">
              <a:sym typeface="Huawei Sans" panose="020C0503030203020204" pitchFamily="34" charset="0"/>
            </a:endParaRPr>
          </a:p>
          <a:p>
            <a:endParaRPr lang="zh-CN" altLang="en-US" sz="1600" dirty="0">
              <a:sym typeface="Huawei Sans" panose="020C0503030203020204" pitchFamily="34" charset="0"/>
            </a:endParaRPr>
          </a:p>
        </p:txBody>
      </p:sp>
      <p:grpSp>
        <p:nvGrpSpPr>
          <p:cNvPr id="71" name="组合 70"/>
          <p:cNvGrpSpPr/>
          <p:nvPr/>
        </p:nvGrpSpPr>
        <p:grpSpPr bwMode="gray">
          <a:xfrm>
            <a:off x="3559456" y="2780226"/>
            <a:ext cx="5023194" cy="3195125"/>
            <a:chOff x="780545" y="2278940"/>
            <a:chExt cx="5023194" cy="3195125"/>
          </a:xfrm>
        </p:grpSpPr>
        <p:sp>
          <p:nvSpPr>
            <p:cNvPr id="26" name="圆角矩形 25"/>
            <p:cNvSpPr/>
            <p:nvPr/>
          </p:nvSpPr>
          <p:spPr bwMode="gray">
            <a:xfrm>
              <a:off x="780545" y="3854815"/>
              <a:ext cx="2451236" cy="1619250"/>
            </a:xfrm>
            <a:prstGeom prst="roundRect">
              <a:avLst>
                <a:gd name="adj" fmla="val 902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圆角矩形 26"/>
            <p:cNvSpPr/>
            <p:nvPr/>
          </p:nvSpPr>
          <p:spPr bwMode="gray">
            <a:xfrm>
              <a:off x="3352503" y="3854815"/>
              <a:ext cx="2451236" cy="1619250"/>
            </a:xfrm>
            <a:prstGeom prst="roundRect">
              <a:avLst>
                <a:gd name="adj" fmla="val 902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1563146" y="5104733"/>
              <a:ext cx="976549"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VLAN 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4157661" y="5104733"/>
              <a:ext cx="976549"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VLAN 3</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0" name="组合 29"/>
            <p:cNvGrpSpPr/>
            <p:nvPr/>
          </p:nvGrpSpPr>
          <p:grpSpPr bwMode="gray">
            <a:xfrm>
              <a:off x="863813" y="2278940"/>
              <a:ext cx="4809460" cy="2618342"/>
              <a:chOff x="785582" y="2765545"/>
              <a:chExt cx="4809460" cy="2618342"/>
            </a:xfrm>
          </p:grpSpPr>
          <p:pic>
            <p:nvPicPr>
              <p:cNvPr id="32" name="图片 31" descr="PC.png"/>
              <p:cNvPicPr>
                <a:picLocks noChangeAspect="1"/>
              </p:cNvPicPr>
              <p:nvPr/>
            </p:nvPicPr>
            <p:blipFill>
              <a:blip r:embed="rId3" cstate="print"/>
              <a:stretch>
                <a:fillRect/>
              </a:stretch>
            </p:blipFill>
            <p:spPr bwMode="gray">
              <a:xfrm>
                <a:off x="785582" y="4601083"/>
                <a:ext cx="539063" cy="414000"/>
              </a:xfrm>
              <a:prstGeom prst="rect">
                <a:avLst/>
              </a:prstGeom>
            </p:spPr>
          </p:pic>
          <p:pic>
            <p:nvPicPr>
              <p:cNvPr id="33" name="图片 32" descr="PC.png"/>
              <p:cNvPicPr>
                <a:picLocks noChangeAspect="1"/>
              </p:cNvPicPr>
              <p:nvPr/>
            </p:nvPicPr>
            <p:blipFill>
              <a:blip r:embed="rId3" cstate="print"/>
              <a:stretch>
                <a:fillRect/>
              </a:stretch>
            </p:blipFill>
            <p:spPr bwMode="gray">
              <a:xfrm>
                <a:off x="1639661" y="4601083"/>
                <a:ext cx="539063" cy="414000"/>
              </a:xfrm>
              <a:prstGeom prst="rect">
                <a:avLst/>
              </a:prstGeom>
            </p:spPr>
          </p:pic>
          <p:pic>
            <p:nvPicPr>
              <p:cNvPr id="34" name="图片 33" descr="PC.png"/>
              <p:cNvPicPr>
                <a:picLocks noChangeAspect="1"/>
              </p:cNvPicPr>
              <p:nvPr/>
            </p:nvPicPr>
            <p:blipFill>
              <a:blip r:embed="rId3" cstate="print"/>
              <a:stretch>
                <a:fillRect/>
              </a:stretch>
            </p:blipFill>
            <p:spPr bwMode="gray">
              <a:xfrm>
                <a:off x="2493740" y="4601083"/>
                <a:ext cx="539063" cy="414000"/>
              </a:xfrm>
              <a:prstGeom prst="rect">
                <a:avLst/>
              </a:prstGeom>
            </p:spPr>
          </p:pic>
          <p:pic>
            <p:nvPicPr>
              <p:cNvPr id="35" name="图片 34" descr="PC.png"/>
              <p:cNvPicPr>
                <a:picLocks noChangeAspect="1"/>
              </p:cNvPicPr>
              <p:nvPr/>
            </p:nvPicPr>
            <p:blipFill>
              <a:blip r:embed="rId3" cstate="print"/>
              <a:stretch>
                <a:fillRect/>
              </a:stretch>
            </p:blipFill>
            <p:spPr bwMode="gray">
              <a:xfrm>
                <a:off x="3347819" y="4601083"/>
                <a:ext cx="539063" cy="414000"/>
              </a:xfrm>
              <a:prstGeom prst="rect">
                <a:avLst/>
              </a:prstGeom>
            </p:spPr>
          </p:pic>
          <p:pic>
            <p:nvPicPr>
              <p:cNvPr id="36" name="图片 35" descr="PC.png"/>
              <p:cNvPicPr>
                <a:picLocks noChangeAspect="1"/>
              </p:cNvPicPr>
              <p:nvPr/>
            </p:nvPicPr>
            <p:blipFill>
              <a:blip r:embed="rId3" cstate="print"/>
              <a:stretch>
                <a:fillRect/>
              </a:stretch>
            </p:blipFill>
            <p:spPr bwMode="gray">
              <a:xfrm>
                <a:off x="4201898" y="4601083"/>
                <a:ext cx="539063" cy="414000"/>
              </a:xfrm>
              <a:prstGeom prst="rect">
                <a:avLst/>
              </a:prstGeom>
            </p:spPr>
          </p:pic>
          <p:pic>
            <p:nvPicPr>
              <p:cNvPr id="37" name="图片 36" descr="PC.png"/>
              <p:cNvPicPr>
                <a:picLocks noChangeAspect="1"/>
              </p:cNvPicPr>
              <p:nvPr/>
            </p:nvPicPr>
            <p:blipFill>
              <a:blip r:embed="rId3" cstate="print"/>
              <a:stretch>
                <a:fillRect/>
              </a:stretch>
            </p:blipFill>
            <p:spPr bwMode="gray">
              <a:xfrm>
                <a:off x="5055979" y="4601083"/>
                <a:ext cx="539063" cy="414000"/>
              </a:xfrm>
              <a:prstGeom prst="rect">
                <a:avLst/>
              </a:prstGeom>
            </p:spPr>
          </p:pic>
          <p:sp>
            <p:nvSpPr>
              <p:cNvPr id="42" name="文本框 41"/>
              <p:cNvSpPr txBox="1"/>
              <p:nvPr/>
            </p:nvSpPr>
            <p:spPr bwMode="gray">
              <a:xfrm>
                <a:off x="785582" y="504533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1615884" y="504533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2516193" y="504533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3346495" y="504533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PC4</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4206380" y="504533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5036682" y="504533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PC6</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1" name="直接连接符 50"/>
              <p:cNvCxnSpPr/>
              <p:nvPr/>
            </p:nvCxnSpPr>
            <p:spPr bwMode="gray">
              <a:xfrm>
                <a:off x="3013431" y="2782851"/>
                <a:ext cx="0" cy="933487"/>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a:off x="3093249" y="2782851"/>
                <a:ext cx="0" cy="120812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bwMode="gray">
              <a:xfrm>
                <a:off x="3173067" y="2782851"/>
                <a:ext cx="0" cy="1427199"/>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bwMode="gray">
              <a:xfrm>
                <a:off x="3252885" y="2782851"/>
                <a:ext cx="0" cy="1427199"/>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gray">
              <a:xfrm>
                <a:off x="3332703" y="2782851"/>
                <a:ext cx="0" cy="120812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bwMode="gray">
              <a:xfrm>
                <a:off x="3412523" y="2782851"/>
                <a:ext cx="0" cy="933487"/>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a:endCxn id="32" idx="0"/>
              </p:cNvCxnSpPr>
              <p:nvPr/>
            </p:nvCxnSpPr>
            <p:spPr bwMode="gray">
              <a:xfrm flipH="1">
                <a:off x="1055114" y="3716338"/>
                <a:ext cx="0" cy="8847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a:endCxn id="33" idx="0"/>
              </p:cNvCxnSpPr>
              <p:nvPr/>
            </p:nvCxnSpPr>
            <p:spPr bwMode="gray">
              <a:xfrm>
                <a:off x="1909193" y="3990975"/>
                <a:ext cx="0" cy="61010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a:endCxn id="34" idx="0"/>
              </p:cNvCxnSpPr>
              <p:nvPr/>
            </p:nvCxnSpPr>
            <p:spPr bwMode="gray">
              <a:xfrm>
                <a:off x="2763272" y="4210050"/>
                <a:ext cx="0" cy="39103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a:endCxn id="35" idx="0"/>
              </p:cNvCxnSpPr>
              <p:nvPr/>
            </p:nvCxnSpPr>
            <p:spPr bwMode="gray">
              <a:xfrm>
                <a:off x="3617351" y="4210050"/>
                <a:ext cx="0" cy="39103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a:endCxn id="36" idx="0"/>
              </p:cNvCxnSpPr>
              <p:nvPr/>
            </p:nvCxnSpPr>
            <p:spPr bwMode="gray">
              <a:xfrm>
                <a:off x="4471430" y="3990975"/>
                <a:ext cx="0" cy="61010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a:endCxn id="37" idx="0"/>
              </p:cNvCxnSpPr>
              <p:nvPr/>
            </p:nvCxnSpPr>
            <p:spPr bwMode="gray">
              <a:xfrm>
                <a:off x="5325511" y="3716338"/>
                <a:ext cx="0" cy="8847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bwMode="gray">
              <a:xfrm flipH="1">
                <a:off x="1045889" y="3716338"/>
                <a:ext cx="1967542"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bwMode="gray">
              <a:xfrm flipH="1">
                <a:off x="1909193" y="3990975"/>
                <a:ext cx="1192146"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bwMode="gray">
              <a:xfrm flipH="1">
                <a:off x="2763272" y="4210050"/>
                <a:ext cx="409795"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bwMode="gray">
              <a:xfrm flipH="1">
                <a:off x="3402998" y="3716338"/>
                <a:ext cx="1922513"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bwMode="gray">
              <a:xfrm flipH="1">
                <a:off x="3327162" y="3990975"/>
                <a:ext cx="1144268"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bwMode="gray">
              <a:xfrm flipH="1">
                <a:off x="3246536" y="4210050"/>
                <a:ext cx="370815"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31" name="图片 3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953834" y="2765545"/>
                <a:ext cx="540000" cy="442800"/>
              </a:xfrm>
              <a:prstGeom prst="rect">
                <a:avLst/>
              </a:prstGeom>
            </p:spPr>
          </p:pic>
        </p:grpSp>
        <p:sp>
          <p:nvSpPr>
            <p:cNvPr id="70" name="文本框 69"/>
            <p:cNvSpPr txBox="1"/>
            <p:nvPr/>
          </p:nvSpPr>
          <p:spPr bwMode="gray">
            <a:xfrm>
              <a:off x="3512560" y="2383187"/>
              <a:ext cx="798617"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 name="任意多边形 4"/>
          <p:cNvSpPr/>
          <p:nvPr/>
        </p:nvSpPr>
        <p:spPr bwMode="gray">
          <a:xfrm>
            <a:off x="4102795" y="4197287"/>
            <a:ext cx="1443343" cy="392672"/>
          </a:xfrm>
          <a:custGeom>
            <a:avLst/>
            <a:gdLst>
              <a:gd name="connsiteX0" fmla="*/ 0 w 631825"/>
              <a:gd name="connsiteY0" fmla="*/ 9525 h 9525"/>
              <a:gd name="connsiteX1" fmla="*/ 631825 w 631825"/>
              <a:gd name="connsiteY1" fmla="*/ 0 h 9525"/>
              <a:gd name="connsiteX0" fmla="*/ 0 w 8744"/>
              <a:gd name="connsiteY0" fmla="*/ 310000 h 310000"/>
              <a:gd name="connsiteX1" fmla="*/ 8744 w 8744"/>
              <a:gd name="connsiteY1" fmla="*/ 0 h 310000"/>
              <a:gd name="connsiteX0" fmla="*/ 0 w 11667"/>
              <a:gd name="connsiteY0" fmla="*/ 0 h 1075"/>
              <a:gd name="connsiteX1" fmla="*/ 11667 w 11667"/>
              <a:gd name="connsiteY1" fmla="*/ 1075 h 1075"/>
              <a:gd name="connsiteX0" fmla="*/ 0 w 10000"/>
              <a:gd name="connsiteY0" fmla="*/ 71622 h 81622"/>
              <a:gd name="connsiteX1" fmla="*/ 10000 w 10000"/>
              <a:gd name="connsiteY1" fmla="*/ 81622 h 81622"/>
              <a:gd name="connsiteX0" fmla="*/ 0 w 10000"/>
              <a:gd name="connsiteY0" fmla="*/ 116226 h 126226"/>
              <a:gd name="connsiteX1" fmla="*/ 10000 w 10000"/>
              <a:gd name="connsiteY1" fmla="*/ 126226 h 126226"/>
              <a:gd name="connsiteX0" fmla="*/ 0 w 10099"/>
              <a:gd name="connsiteY0" fmla="*/ 123707 h 123707"/>
              <a:gd name="connsiteX1" fmla="*/ 10099 w 10099"/>
              <a:gd name="connsiteY1" fmla="*/ 119703 h 123707"/>
            </a:gdLst>
            <a:ahLst/>
            <a:cxnLst>
              <a:cxn ang="0">
                <a:pos x="connsiteX0" y="connsiteY0"/>
              </a:cxn>
              <a:cxn ang="0">
                <a:pos x="connsiteX1" y="connsiteY1"/>
              </a:cxn>
            </a:cxnLst>
            <a:rect l="l" t="t" r="r" b="b"/>
            <a:pathLst>
              <a:path w="10099" h="123707">
                <a:moveTo>
                  <a:pt x="0" y="123707"/>
                </a:moveTo>
                <a:cubicBezTo>
                  <a:pt x="3333" y="-19997"/>
                  <a:pt x="5338" y="-59674"/>
                  <a:pt x="10099" y="119703"/>
                </a:cubicBezTo>
              </a:path>
            </a:pathLst>
          </a:custGeom>
          <a:noFill/>
          <a:ln>
            <a:solidFill>
              <a:srgbClr val="ED6D00"/>
            </a:solidFill>
            <a:prstDash val="sysDot"/>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任意多边形 47"/>
          <p:cNvSpPr/>
          <p:nvPr/>
        </p:nvSpPr>
        <p:spPr bwMode="gray">
          <a:xfrm>
            <a:off x="4031067" y="4131750"/>
            <a:ext cx="650945" cy="392672"/>
          </a:xfrm>
          <a:custGeom>
            <a:avLst/>
            <a:gdLst>
              <a:gd name="connsiteX0" fmla="*/ 0 w 631825"/>
              <a:gd name="connsiteY0" fmla="*/ 9525 h 9525"/>
              <a:gd name="connsiteX1" fmla="*/ 631825 w 631825"/>
              <a:gd name="connsiteY1" fmla="*/ 0 h 9525"/>
              <a:gd name="connsiteX0" fmla="*/ 0 w 8744"/>
              <a:gd name="connsiteY0" fmla="*/ 310000 h 310000"/>
              <a:gd name="connsiteX1" fmla="*/ 8744 w 8744"/>
              <a:gd name="connsiteY1" fmla="*/ 0 h 310000"/>
              <a:gd name="connsiteX0" fmla="*/ 0 w 11667"/>
              <a:gd name="connsiteY0" fmla="*/ 0 h 1075"/>
              <a:gd name="connsiteX1" fmla="*/ 11667 w 11667"/>
              <a:gd name="connsiteY1" fmla="*/ 1075 h 1075"/>
              <a:gd name="connsiteX0" fmla="*/ 0 w 10000"/>
              <a:gd name="connsiteY0" fmla="*/ 71622 h 81622"/>
              <a:gd name="connsiteX1" fmla="*/ 10000 w 10000"/>
              <a:gd name="connsiteY1" fmla="*/ 81622 h 81622"/>
              <a:gd name="connsiteX0" fmla="*/ 0 w 10000"/>
              <a:gd name="connsiteY0" fmla="*/ 116226 h 126226"/>
              <a:gd name="connsiteX1" fmla="*/ 10000 w 10000"/>
              <a:gd name="connsiteY1" fmla="*/ 126226 h 126226"/>
              <a:gd name="connsiteX0" fmla="*/ 0 w 10099"/>
              <a:gd name="connsiteY0" fmla="*/ 123707 h 123707"/>
              <a:gd name="connsiteX1" fmla="*/ 10099 w 10099"/>
              <a:gd name="connsiteY1" fmla="*/ 119703 h 123707"/>
            </a:gdLst>
            <a:ahLst/>
            <a:cxnLst>
              <a:cxn ang="0">
                <a:pos x="connsiteX0" y="connsiteY0"/>
              </a:cxn>
              <a:cxn ang="0">
                <a:pos x="connsiteX1" y="connsiteY1"/>
              </a:cxn>
            </a:cxnLst>
            <a:rect l="l" t="t" r="r" b="b"/>
            <a:pathLst>
              <a:path w="10099" h="123707">
                <a:moveTo>
                  <a:pt x="0" y="123707"/>
                </a:moveTo>
                <a:cubicBezTo>
                  <a:pt x="3333" y="-19997"/>
                  <a:pt x="5338" y="-59674"/>
                  <a:pt x="10099" y="119703"/>
                </a:cubicBezTo>
              </a:path>
            </a:pathLst>
          </a:custGeom>
          <a:noFill/>
          <a:ln>
            <a:solidFill>
              <a:srgbClr val="ED6D00"/>
            </a:solidFill>
            <a:prstDash val="sysDot"/>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任意多边形 48"/>
          <p:cNvSpPr/>
          <p:nvPr/>
        </p:nvSpPr>
        <p:spPr bwMode="gray">
          <a:xfrm rot="10800000">
            <a:off x="5267708" y="5501256"/>
            <a:ext cx="1606690" cy="358929"/>
          </a:xfrm>
          <a:custGeom>
            <a:avLst/>
            <a:gdLst>
              <a:gd name="connsiteX0" fmla="*/ 0 w 631825"/>
              <a:gd name="connsiteY0" fmla="*/ 9525 h 9525"/>
              <a:gd name="connsiteX1" fmla="*/ 631825 w 631825"/>
              <a:gd name="connsiteY1" fmla="*/ 0 h 9525"/>
              <a:gd name="connsiteX0" fmla="*/ 0 w 8744"/>
              <a:gd name="connsiteY0" fmla="*/ 310000 h 310000"/>
              <a:gd name="connsiteX1" fmla="*/ 8744 w 8744"/>
              <a:gd name="connsiteY1" fmla="*/ 0 h 310000"/>
              <a:gd name="connsiteX0" fmla="*/ 0 w 11667"/>
              <a:gd name="connsiteY0" fmla="*/ 0 h 1075"/>
              <a:gd name="connsiteX1" fmla="*/ 11667 w 11667"/>
              <a:gd name="connsiteY1" fmla="*/ 1075 h 1075"/>
              <a:gd name="connsiteX0" fmla="*/ 0 w 10000"/>
              <a:gd name="connsiteY0" fmla="*/ 71622 h 81622"/>
              <a:gd name="connsiteX1" fmla="*/ 10000 w 10000"/>
              <a:gd name="connsiteY1" fmla="*/ 81622 h 81622"/>
              <a:gd name="connsiteX0" fmla="*/ 0 w 10000"/>
              <a:gd name="connsiteY0" fmla="*/ 116226 h 126226"/>
              <a:gd name="connsiteX1" fmla="*/ 10000 w 10000"/>
              <a:gd name="connsiteY1" fmla="*/ 126226 h 126226"/>
              <a:gd name="connsiteX0" fmla="*/ 0 w 10099"/>
              <a:gd name="connsiteY0" fmla="*/ 123707 h 123707"/>
              <a:gd name="connsiteX1" fmla="*/ 10099 w 10099"/>
              <a:gd name="connsiteY1" fmla="*/ 119703 h 123707"/>
              <a:gd name="connsiteX0" fmla="*/ 0 w 10099"/>
              <a:gd name="connsiteY0" fmla="*/ 126280 h 126280"/>
              <a:gd name="connsiteX1" fmla="*/ 10099 w 10099"/>
              <a:gd name="connsiteY1" fmla="*/ 122276 h 126280"/>
              <a:gd name="connsiteX0" fmla="*/ 0 w 19097"/>
              <a:gd name="connsiteY0" fmla="*/ 120292 h 127624"/>
              <a:gd name="connsiteX1" fmla="*/ 19097 w 19097"/>
              <a:gd name="connsiteY1" fmla="*/ 127624 h 127624"/>
              <a:gd name="connsiteX0" fmla="*/ 0 w 24942"/>
              <a:gd name="connsiteY0" fmla="*/ 134071 h 134071"/>
              <a:gd name="connsiteX1" fmla="*/ 24942 w 24942"/>
              <a:gd name="connsiteY1" fmla="*/ 116063 h 134071"/>
              <a:gd name="connsiteX0" fmla="*/ 0 w 24942"/>
              <a:gd name="connsiteY0" fmla="*/ 114738 h 114738"/>
              <a:gd name="connsiteX1" fmla="*/ 24942 w 24942"/>
              <a:gd name="connsiteY1" fmla="*/ 96730 h 114738"/>
              <a:gd name="connsiteX0" fmla="*/ 0 w 24942"/>
              <a:gd name="connsiteY0" fmla="*/ 105765 h 105765"/>
              <a:gd name="connsiteX1" fmla="*/ 24942 w 24942"/>
              <a:gd name="connsiteY1" fmla="*/ 87757 h 105765"/>
              <a:gd name="connsiteX0" fmla="*/ 0 w 24746"/>
              <a:gd name="connsiteY0" fmla="*/ 97509 h 97509"/>
              <a:gd name="connsiteX1" fmla="*/ 24746 w 24746"/>
              <a:gd name="connsiteY1" fmla="*/ 94868 h 97509"/>
              <a:gd name="connsiteX0" fmla="*/ 0 w 24746"/>
              <a:gd name="connsiteY0" fmla="*/ 95372 h 95372"/>
              <a:gd name="connsiteX1" fmla="*/ 24746 w 24746"/>
              <a:gd name="connsiteY1" fmla="*/ 92731 h 95372"/>
              <a:gd name="connsiteX0" fmla="*/ 0 w 24746"/>
              <a:gd name="connsiteY0" fmla="*/ 101860 h 101860"/>
              <a:gd name="connsiteX1" fmla="*/ 24746 w 24746"/>
              <a:gd name="connsiteY1" fmla="*/ 99219 h 101860"/>
              <a:gd name="connsiteX0" fmla="*/ 0 w 24746"/>
              <a:gd name="connsiteY0" fmla="*/ 106448 h 106448"/>
              <a:gd name="connsiteX1" fmla="*/ 24746 w 24746"/>
              <a:gd name="connsiteY1" fmla="*/ 103807 h 106448"/>
              <a:gd name="connsiteX0" fmla="*/ 0 w 24746"/>
              <a:gd name="connsiteY0" fmla="*/ 112844 h 112844"/>
              <a:gd name="connsiteX1" fmla="*/ 24746 w 24746"/>
              <a:gd name="connsiteY1" fmla="*/ 110203 h 112844"/>
              <a:gd name="connsiteX0" fmla="*/ 0 w 24746"/>
              <a:gd name="connsiteY0" fmla="*/ 124087 h 124087"/>
              <a:gd name="connsiteX1" fmla="*/ 24746 w 24746"/>
              <a:gd name="connsiteY1" fmla="*/ 121446 h 124087"/>
            </a:gdLst>
            <a:ahLst/>
            <a:cxnLst>
              <a:cxn ang="0">
                <a:pos x="connsiteX0" y="connsiteY0"/>
              </a:cxn>
              <a:cxn ang="0">
                <a:pos x="connsiteX1" y="connsiteY1"/>
              </a:cxn>
            </a:cxnLst>
            <a:rect l="l" t="t" r="r" b="b"/>
            <a:pathLst>
              <a:path w="24746" h="124087">
                <a:moveTo>
                  <a:pt x="0" y="124087"/>
                </a:moveTo>
                <a:cubicBezTo>
                  <a:pt x="11995" y="-41859"/>
                  <a:pt x="12050" y="-39986"/>
                  <a:pt x="24746" y="121446"/>
                </a:cubicBezTo>
              </a:path>
            </a:pathLst>
          </a:custGeom>
          <a:noFill/>
          <a:ln>
            <a:solidFill>
              <a:srgbClr val="8BC9A0"/>
            </a:solid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0" name="组合 49"/>
          <p:cNvGrpSpPr/>
          <p:nvPr/>
        </p:nvGrpSpPr>
        <p:grpSpPr bwMode="gray">
          <a:xfrm>
            <a:off x="4232792" y="4095201"/>
            <a:ext cx="210767" cy="211638"/>
            <a:chOff x="856677" y="2615810"/>
            <a:chExt cx="288000" cy="288000"/>
          </a:xfrm>
          <a:solidFill>
            <a:srgbClr val="ED6D00"/>
          </a:solidFill>
        </p:grpSpPr>
        <p:sp>
          <p:nvSpPr>
            <p:cNvPr id="69" name="椭圆 68"/>
            <p:cNvSpPr/>
            <p:nvPr/>
          </p:nvSpPr>
          <p:spPr bwMode="gray">
            <a:xfrm>
              <a:off x="856677" y="2615810"/>
              <a:ext cx="288000" cy="2880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2" name="组合 71"/>
            <p:cNvGrpSpPr/>
            <p:nvPr/>
          </p:nvGrpSpPr>
          <p:grpSpPr bwMode="gray">
            <a:xfrm>
              <a:off x="923444" y="2692169"/>
              <a:ext cx="144001" cy="144002"/>
              <a:chOff x="898853" y="2657982"/>
              <a:chExt cx="203649" cy="203652"/>
            </a:xfrm>
            <a:grpFill/>
          </p:grpSpPr>
          <p:cxnSp>
            <p:nvCxnSpPr>
              <p:cNvPr id="73" name="直接连接符 72"/>
              <p:cNvCxnSpPr>
                <a:stCxn id="69" idx="3"/>
                <a:endCxn id="69" idx="7"/>
              </p:cNvCxnSpPr>
              <p:nvPr/>
            </p:nvCxnSpPr>
            <p:spPr bwMode="gray">
              <a:xfrm flipV="1">
                <a:off x="898853" y="2657986"/>
                <a:ext cx="203648" cy="203648"/>
              </a:xfrm>
              <a:prstGeom prst="line">
                <a:avLst/>
              </a:prstGeom>
              <a:grp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74" name="直接连接符 73"/>
              <p:cNvCxnSpPr>
                <a:stCxn id="69" idx="1"/>
                <a:endCxn id="69" idx="5"/>
              </p:cNvCxnSpPr>
              <p:nvPr/>
            </p:nvCxnSpPr>
            <p:spPr bwMode="gray">
              <a:xfrm>
                <a:off x="898853" y="2657986"/>
                <a:ext cx="203648" cy="203648"/>
              </a:xfrm>
              <a:prstGeom prst="line">
                <a:avLst/>
              </a:prstGeom>
              <a:grp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75" name="组合 74"/>
          <p:cNvGrpSpPr/>
          <p:nvPr/>
        </p:nvGrpSpPr>
        <p:grpSpPr bwMode="gray">
          <a:xfrm>
            <a:off x="4832620" y="4095201"/>
            <a:ext cx="210767" cy="211638"/>
            <a:chOff x="856677" y="2615810"/>
            <a:chExt cx="288000" cy="288000"/>
          </a:xfrm>
          <a:solidFill>
            <a:srgbClr val="ED6D00"/>
          </a:solidFill>
        </p:grpSpPr>
        <p:sp>
          <p:nvSpPr>
            <p:cNvPr id="76" name="椭圆 75"/>
            <p:cNvSpPr/>
            <p:nvPr/>
          </p:nvSpPr>
          <p:spPr bwMode="gray">
            <a:xfrm>
              <a:off x="856677" y="2615810"/>
              <a:ext cx="288000" cy="288000"/>
            </a:xfrm>
            <a:prstGeom prst="ellipse">
              <a:avLst/>
            </a:prstGeom>
            <a:grp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77" name="组合 76"/>
            <p:cNvGrpSpPr/>
            <p:nvPr/>
          </p:nvGrpSpPr>
          <p:grpSpPr bwMode="gray">
            <a:xfrm>
              <a:off x="923444" y="2692169"/>
              <a:ext cx="144001" cy="144002"/>
              <a:chOff x="898853" y="2657982"/>
              <a:chExt cx="203649" cy="203652"/>
            </a:xfrm>
            <a:grpFill/>
          </p:grpSpPr>
          <p:cxnSp>
            <p:nvCxnSpPr>
              <p:cNvPr id="78" name="直接连接符 77"/>
              <p:cNvCxnSpPr>
                <a:stCxn id="76" idx="3"/>
                <a:endCxn id="76" idx="7"/>
              </p:cNvCxnSpPr>
              <p:nvPr/>
            </p:nvCxnSpPr>
            <p:spPr bwMode="gray">
              <a:xfrm flipV="1">
                <a:off x="898853" y="2657986"/>
                <a:ext cx="203648" cy="203648"/>
              </a:xfrm>
              <a:prstGeom prst="line">
                <a:avLst/>
              </a:prstGeom>
              <a:grp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cxnSp>
            <p:nvCxnSpPr>
              <p:cNvPr id="79" name="直接连接符 78"/>
              <p:cNvCxnSpPr>
                <a:stCxn id="76" idx="1"/>
                <a:endCxn id="76" idx="5"/>
              </p:cNvCxnSpPr>
              <p:nvPr/>
            </p:nvCxnSpPr>
            <p:spPr bwMode="gray">
              <a:xfrm>
                <a:off x="898853" y="2657986"/>
                <a:ext cx="203648" cy="203648"/>
              </a:xfrm>
              <a:prstGeom prst="line">
                <a:avLst/>
              </a:prstGeom>
              <a:grpFill/>
              <a:ln w="38100" cap="rnd">
                <a:solidFill>
                  <a:schemeClr val="bg1"/>
                </a:solidFill>
                <a:round/>
              </a:ln>
              <a:effectLst/>
            </p:spPr>
            <p:style>
              <a:lnRef idx="2">
                <a:schemeClr val="accent1"/>
              </a:lnRef>
              <a:fillRef idx="0">
                <a:schemeClr val="accent1"/>
              </a:fillRef>
              <a:effectRef idx="1">
                <a:schemeClr val="accent1"/>
              </a:effectRef>
              <a:fontRef idx="minor">
                <a:schemeClr val="tx1"/>
              </a:fontRef>
            </p:style>
          </p:cxnSp>
        </p:grpSp>
      </p:grpSp>
      <p:grpSp>
        <p:nvGrpSpPr>
          <p:cNvPr id="80" name="组合 79"/>
          <p:cNvGrpSpPr/>
          <p:nvPr/>
        </p:nvGrpSpPr>
        <p:grpSpPr bwMode="gray">
          <a:xfrm>
            <a:off x="5966609" y="5735321"/>
            <a:ext cx="217695" cy="227553"/>
            <a:chOff x="10467178" y="5640414"/>
            <a:chExt cx="213540" cy="213540"/>
          </a:xfrm>
          <a:solidFill>
            <a:srgbClr val="56C4D2"/>
          </a:solidFill>
        </p:grpSpPr>
        <p:sp>
          <p:nvSpPr>
            <p:cNvPr id="81" name="椭圆 80"/>
            <p:cNvSpPr>
              <a:spLocks noChangeAspect="1"/>
            </p:cNvSpPr>
            <p:nvPr/>
          </p:nvSpPr>
          <p:spPr bwMode="gray">
            <a:xfrm>
              <a:off x="10467178" y="5640414"/>
              <a:ext cx="213540" cy="213540"/>
            </a:xfrm>
            <a:prstGeom prst="ellipse">
              <a:avLst/>
            </a:prstGeom>
            <a:grp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任意多边形 81"/>
            <p:cNvSpPr/>
            <p:nvPr/>
          </p:nvSpPr>
          <p:spPr bwMode="gray">
            <a:xfrm>
              <a:off x="10506830" y="5719982"/>
              <a:ext cx="138959" cy="73584"/>
            </a:xfrm>
            <a:custGeom>
              <a:avLst/>
              <a:gdLst>
                <a:gd name="connsiteX0" fmla="*/ 0 w 221456"/>
                <a:gd name="connsiteY0" fmla="*/ 47625 h 126206"/>
                <a:gd name="connsiteX1" fmla="*/ 83344 w 221456"/>
                <a:gd name="connsiteY1" fmla="*/ 126206 h 126206"/>
                <a:gd name="connsiteX2" fmla="*/ 221456 w 221456"/>
                <a:gd name="connsiteY2" fmla="*/ 0 h 126206"/>
                <a:gd name="connsiteX0" fmla="*/ 0 w 250659"/>
                <a:gd name="connsiteY0" fmla="*/ 33024 h 126206"/>
                <a:gd name="connsiteX1" fmla="*/ 112547 w 250659"/>
                <a:gd name="connsiteY1" fmla="*/ 126206 h 126206"/>
                <a:gd name="connsiteX2" fmla="*/ 250659 w 250659"/>
                <a:gd name="connsiteY2" fmla="*/ 0 h 126206"/>
                <a:gd name="connsiteX0" fmla="*/ 0 w 259419"/>
                <a:gd name="connsiteY0" fmla="*/ 35944 h 126206"/>
                <a:gd name="connsiteX1" fmla="*/ 121307 w 259419"/>
                <a:gd name="connsiteY1" fmla="*/ 126206 h 126206"/>
                <a:gd name="connsiteX2" fmla="*/ 259419 w 259419"/>
                <a:gd name="connsiteY2" fmla="*/ 0 h 126206"/>
                <a:gd name="connsiteX0" fmla="*/ 0 w 259419"/>
                <a:gd name="connsiteY0" fmla="*/ 35944 h 126206"/>
                <a:gd name="connsiteX1" fmla="*/ 106706 w 259419"/>
                <a:gd name="connsiteY1" fmla="*/ 126206 h 126206"/>
                <a:gd name="connsiteX2" fmla="*/ 259419 w 259419"/>
                <a:gd name="connsiteY2" fmla="*/ 0 h 126206"/>
                <a:gd name="connsiteX0" fmla="*/ 0 w 279861"/>
                <a:gd name="connsiteY0" fmla="*/ 35944 h 126206"/>
                <a:gd name="connsiteX1" fmla="*/ 106706 w 279861"/>
                <a:gd name="connsiteY1" fmla="*/ 126206 h 126206"/>
                <a:gd name="connsiteX2" fmla="*/ 279861 w 279861"/>
                <a:gd name="connsiteY2" fmla="*/ 0 h 126206"/>
                <a:gd name="connsiteX0" fmla="*/ 0 w 276940"/>
                <a:gd name="connsiteY0" fmla="*/ 56386 h 146648"/>
                <a:gd name="connsiteX1" fmla="*/ 106706 w 276940"/>
                <a:gd name="connsiteY1" fmla="*/ 146648 h 146648"/>
                <a:gd name="connsiteX2" fmla="*/ 276940 w 276940"/>
                <a:gd name="connsiteY2" fmla="*/ 0 h 146648"/>
                <a:gd name="connsiteX0" fmla="*/ 0 w 276940"/>
                <a:gd name="connsiteY0" fmla="*/ 56386 h 146648"/>
                <a:gd name="connsiteX1" fmla="*/ 121308 w 276940"/>
                <a:gd name="connsiteY1" fmla="*/ 146648 h 146648"/>
                <a:gd name="connsiteX2" fmla="*/ 276940 w 276940"/>
                <a:gd name="connsiteY2" fmla="*/ 0 h 146648"/>
              </a:gdLst>
              <a:ahLst/>
              <a:cxnLst>
                <a:cxn ang="0">
                  <a:pos x="connsiteX0" y="connsiteY0"/>
                </a:cxn>
                <a:cxn ang="0">
                  <a:pos x="connsiteX1" y="connsiteY1"/>
                </a:cxn>
                <a:cxn ang="0">
                  <a:pos x="connsiteX2" y="connsiteY2"/>
                </a:cxn>
              </a:cxnLst>
              <a:rect l="l" t="t" r="r" b="b"/>
              <a:pathLst>
                <a:path w="276940" h="146648">
                  <a:moveTo>
                    <a:pt x="0" y="56386"/>
                  </a:moveTo>
                  <a:lnTo>
                    <a:pt x="121308" y="146648"/>
                  </a:lnTo>
                  <a:lnTo>
                    <a:pt x="276940" y="0"/>
                  </a:lnTo>
                </a:path>
              </a:pathLst>
            </a:custGeom>
            <a:grpFill/>
            <a:ln w="38100" cap="rnd" cmpd="sng">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1579578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smtClean="0">
                <a:sym typeface="Huawei Sans" panose="020C0503030203020204" pitchFamily="34" charset="0"/>
              </a:rPr>
              <a:t>端口隔离技术概述</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smtClean="0">
                <a:sym typeface="Huawei Sans" panose="020C0503030203020204" pitchFamily="34" charset="0"/>
              </a:rPr>
              <a:t>采用端口隔离功能，可以实现同一</a:t>
            </a:r>
            <a:r>
              <a:rPr lang="en-US" altLang="zh-CN" sz="1800" smtClean="0">
                <a:sym typeface="Huawei Sans" panose="020C0503030203020204" pitchFamily="34" charset="0"/>
              </a:rPr>
              <a:t>VLAN</a:t>
            </a:r>
            <a:r>
              <a:rPr lang="zh-CN" altLang="en-US" sz="1800" smtClean="0">
                <a:sym typeface="Huawei Sans" panose="020C0503030203020204" pitchFamily="34" charset="0"/>
              </a:rPr>
              <a:t>内端口之间的隔离。用户只需要将端口加入到隔离组中，就可以实现隔离组内端口之间二层数据的隔离。端口隔离功能为用户提供了更安全、更灵活的组网方案。</a:t>
            </a:r>
          </a:p>
          <a:p>
            <a:endParaRPr lang="zh-CN" altLang="en-US" sz="1800" dirty="0">
              <a:sym typeface="Huawei Sans" panose="020C0503030203020204" pitchFamily="34" charset="0"/>
            </a:endParaRPr>
          </a:p>
        </p:txBody>
      </p:sp>
      <p:sp>
        <p:nvSpPr>
          <p:cNvPr id="6" name="圆角矩形 5"/>
          <p:cNvSpPr/>
          <p:nvPr/>
        </p:nvSpPr>
        <p:spPr bwMode="gray">
          <a:xfrm>
            <a:off x="1634931" y="4657486"/>
            <a:ext cx="5123543" cy="1445325"/>
          </a:xfrm>
          <a:prstGeom prst="roundRect">
            <a:avLst>
              <a:gd name="adj" fmla="val 902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3802879" y="5748387"/>
            <a:ext cx="976549"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VLAN 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2" name="图片 11"/>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981748" y="3197529"/>
            <a:ext cx="540000" cy="442800"/>
          </a:xfrm>
          <a:prstGeom prst="rect">
            <a:avLst/>
          </a:prstGeom>
        </p:spPr>
      </p:pic>
      <p:pic>
        <p:nvPicPr>
          <p:cNvPr id="13" name="图片 12" descr="PC.png"/>
          <p:cNvPicPr>
            <a:picLocks noChangeAspect="1"/>
          </p:cNvPicPr>
          <p:nvPr/>
        </p:nvPicPr>
        <p:blipFill>
          <a:blip r:embed="rId4" cstate="print"/>
          <a:stretch>
            <a:fillRect/>
          </a:stretch>
        </p:blipFill>
        <p:spPr bwMode="gray">
          <a:xfrm>
            <a:off x="2056075" y="4936931"/>
            <a:ext cx="539063" cy="414000"/>
          </a:xfrm>
          <a:prstGeom prst="rect">
            <a:avLst/>
          </a:prstGeom>
        </p:spPr>
      </p:pic>
      <p:pic>
        <p:nvPicPr>
          <p:cNvPr id="14" name="图片 13" descr="PC.png"/>
          <p:cNvPicPr>
            <a:picLocks noChangeAspect="1"/>
          </p:cNvPicPr>
          <p:nvPr/>
        </p:nvPicPr>
        <p:blipFill>
          <a:blip r:embed="rId4" cstate="print"/>
          <a:stretch>
            <a:fillRect/>
          </a:stretch>
        </p:blipFill>
        <p:spPr bwMode="gray">
          <a:xfrm>
            <a:off x="3994536" y="4889690"/>
            <a:ext cx="539063" cy="414000"/>
          </a:xfrm>
          <a:prstGeom prst="rect">
            <a:avLst/>
          </a:prstGeom>
        </p:spPr>
      </p:pic>
      <p:pic>
        <p:nvPicPr>
          <p:cNvPr id="15" name="图片 14" descr="PC.png"/>
          <p:cNvPicPr>
            <a:picLocks noChangeAspect="1"/>
          </p:cNvPicPr>
          <p:nvPr/>
        </p:nvPicPr>
        <p:blipFill>
          <a:blip r:embed="rId4" cstate="print"/>
          <a:stretch>
            <a:fillRect/>
          </a:stretch>
        </p:blipFill>
        <p:spPr bwMode="gray">
          <a:xfrm>
            <a:off x="5874492" y="4936931"/>
            <a:ext cx="539063" cy="414000"/>
          </a:xfrm>
          <a:prstGeom prst="rect">
            <a:avLst/>
          </a:prstGeom>
        </p:spPr>
      </p:pic>
      <p:sp>
        <p:nvSpPr>
          <p:cNvPr id="19" name="文本框 18"/>
          <p:cNvSpPr txBox="1"/>
          <p:nvPr/>
        </p:nvSpPr>
        <p:spPr bwMode="gray">
          <a:xfrm>
            <a:off x="2054539" y="5342376"/>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3991148" y="5323229"/>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5874492" y="533761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1" name="直接连接符 30"/>
          <p:cNvCxnSpPr>
            <a:endCxn id="13" idx="0"/>
          </p:cNvCxnSpPr>
          <p:nvPr/>
        </p:nvCxnSpPr>
        <p:spPr bwMode="gray">
          <a:xfrm flipH="1">
            <a:off x="2325607" y="3640329"/>
            <a:ext cx="1781500" cy="1296602"/>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12" idx="2"/>
            <a:endCxn id="14" idx="0"/>
          </p:cNvCxnSpPr>
          <p:nvPr/>
        </p:nvCxnSpPr>
        <p:spPr bwMode="gray">
          <a:xfrm>
            <a:off x="4251748" y="3640329"/>
            <a:ext cx="12320" cy="124936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15" idx="0"/>
          </p:cNvCxnSpPr>
          <p:nvPr/>
        </p:nvCxnSpPr>
        <p:spPr bwMode="gray">
          <a:xfrm>
            <a:off x="4375976" y="3640329"/>
            <a:ext cx="1768048" cy="1296602"/>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bwMode="gray">
          <a:xfrm>
            <a:off x="4489870" y="3181442"/>
            <a:ext cx="798617"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3" name="图片 4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981748" y="2244687"/>
            <a:ext cx="540000" cy="442800"/>
          </a:xfrm>
          <a:prstGeom prst="rect">
            <a:avLst/>
          </a:prstGeom>
        </p:spPr>
      </p:pic>
      <p:sp>
        <p:nvSpPr>
          <p:cNvPr id="44" name="文本框 43"/>
          <p:cNvSpPr txBox="1"/>
          <p:nvPr/>
        </p:nvSpPr>
        <p:spPr bwMode="gray">
          <a:xfrm>
            <a:off x="4475574" y="2216798"/>
            <a:ext cx="809837"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Router</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椭圆 49"/>
          <p:cNvSpPr/>
          <p:nvPr/>
        </p:nvSpPr>
        <p:spPr bwMode="gray">
          <a:xfrm>
            <a:off x="2853938" y="4272496"/>
            <a:ext cx="1537206" cy="353130"/>
          </a:xfrm>
          <a:prstGeom prst="ellipse">
            <a:avLst/>
          </a:prstGeom>
          <a:noFill/>
          <a:ln>
            <a:solidFill>
              <a:srgbClr val="62B23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2" name="直接连接符 51"/>
          <p:cNvCxnSpPr>
            <a:stCxn id="12" idx="0"/>
            <a:endCxn id="43" idx="2"/>
          </p:cNvCxnSpPr>
          <p:nvPr/>
        </p:nvCxnSpPr>
        <p:spPr bwMode="gray">
          <a:xfrm flipV="1">
            <a:off x="4251748" y="2687487"/>
            <a:ext cx="0" cy="510042"/>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bwMode="gray">
          <a:xfrm>
            <a:off x="4467310" y="3551142"/>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rot="5400000">
            <a:off x="3998170" y="3860593"/>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bwMode="gray">
          <a:xfrm>
            <a:off x="3299158" y="3556478"/>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7" name="直接箭头连接符 56"/>
          <p:cNvCxnSpPr>
            <a:stCxn id="50" idx="0"/>
          </p:cNvCxnSpPr>
          <p:nvPr/>
        </p:nvCxnSpPr>
        <p:spPr bwMode="gray">
          <a:xfrm flipH="1" flipV="1">
            <a:off x="3040796" y="3386979"/>
            <a:ext cx="581745" cy="885517"/>
          </a:xfrm>
          <a:prstGeom prst="straightConnector1">
            <a:avLst/>
          </a:prstGeom>
          <a:ln w="28575">
            <a:solidFill>
              <a:srgbClr val="62B230"/>
            </a:solidFill>
            <a:tailEnd type="triangle"/>
          </a:ln>
        </p:spPr>
        <p:style>
          <a:lnRef idx="1">
            <a:schemeClr val="accent1"/>
          </a:lnRef>
          <a:fillRef idx="0">
            <a:schemeClr val="accent1"/>
          </a:fillRef>
          <a:effectRef idx="0">
            <a:schemeClr val="accent1"/>
          </a:effectRef>
          <a:fontRef idx="minor">
            <a:schemeClr val="tx1"/>
          </a:fontRef>
        </p:style>
      </p:cxnSp>
      <p:sp>
        <p:nvSpPr>
          <p:cNvPr id="58" name="文本框 57"/>
          <p:cNvSpPr txBox="1"/>
          <p:nvPr/>
        </p:nvSpPr>
        <p:spPr bwMode="gray">
          <a:xfrm>
            <a:off x="1062839" y="2901917"/>
            <a:ext cx="1907895" cy="656590"/>
          </a:xfrm>
          <a:prstGeom prst="rect">
            <a:avLst/>
          </a:prstGeom>
          <a:solidFill>
            <a:srgbClr val="FFFF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i="0" dirty="0">
                <a:solidFill>
                  <a:schemeClr val="tx1"/>
                </a:solidFill>
                <a:sym typeface="Huawei Sans" panose="020C0503030203020204" pitchFamily="34" charset="0"/>
              </a:rPr>
              <a:t>     </a:t>
            </a:r>
            <a:r>
              <a:rPr lang="zh-CN" altLang="en-US" i="0" dirty="0">
                <a:solidFill>
                  <a:schemeClr val="tx1"/>
                </a:solidFill>
                <a:sym typeface="Huawei Sans" panose="020C0503030203020204" pitchFamily="34" charset="0"/>
              </a:rPr>
              <a:t>端口隔离组</a:t>
            </a:r>
            <a:endParaRPr lang="en-US" altLang="zh-CN" i="0" dirty="0">
              <a:solidFill>
                <a:schemeClr val="tx1"/>
              </a:solidFill>
              <a:sym typeface="Huawei Sans" panose="020C0503030203020204" pitchFamily="34" charset="0"/>
            </a:endParaRPr>
          </a:p>
          <a:p>
            <a:r>
              <a:rPr lang="en-US" altLang="zh-CN" i="0" dirty="0">
                <a:solidFill>
                  <a:schemeClr val="tx1"/>
                </a:solidFill>
                <a:sym typeface="Huawei Sans" panose="020C0503030203020204" pitchFamily="34" charset="0"/>
              </a:rPr>
              <a:t>Port-isolate Group</a:t>
            </a:r>
            <a:endParaRPr lang="zh-CN" altLang="en-US" i="0" dirty="0">
              <a:solidFill>
                <a:schemeClr val="tx1"/>
              </a:solidFill>
              <a:sym typeface="Huawei Sans" panose="020C0503030203020204" pitchFamily="34" charset="0"/>
            </a:endParaRPr>
          </a:p>
        </p:txBody>
      </p:sp>
      <p:sp>
        <p:nvSpPr>
          <p:cNvPr id="59" name="任意多边形 58"/>
          <p:cNvSpPr/>
          <p:nvPr/>
        </p:nvSpPr>
        <p:spPr bwMode="gray">
          <a:xfrm>
            <a:off x="2702284" y="3965745"/>
            <a:ext cx="1498811" cy="881747"/>
          </a:xfrm>
          <a:custGeom>
            <a:avLst/>
            <a:gdLst>
              <a:gd name="connsiteX0" fmla="*/ 0 w 1447800"/>
              <a:gd name="connsiteY0" fmla="*/ 12700 h 12700"/>
              <a:gd name="connsiteX1" fmla="*/ 1447800 w 1447800"/>
              <a:gd name="connsiteY1" fmla="*/ 0 h 12700"/>
              <a:gd name="connsiteX0" fmla="*/ 0 w 1447800"/>
              <a:gd name="connsiteY0" fmla="*/ 12700 h 12700"/>
              <a:gd name="connsiteX1" fmla="*/ 1447800 w 1447800"/>
              <a:gd name="connsiteY1" fmla="*/ 0 h 12700"/>
              <a:gd name="connsiteX0" fmla="*/ 0 w 1471799"/>
              <a:gd name="connsiteY0" fmla="*/ 935573 h 935573"/>
              <a:gd name="connsiteX1" fmla="*/ 1447800 w 1471799"/>
              <a:gd name="connsiteY1" fmla="*/ 922873 h 935573"/>
              <a:gd name="connsiteX0" fmla="*/ 0 w 1796380"/>
              <a:gd name="connsiteY0" fmla="*/ 1129796 h 1129796"/>
              <a:gd name="connsiteX1" fmla="*/ 1447800 w 1796380"/>
              <a:gd name="connsiteY1" fmla="*/ 1117096 h 1129796"/>
              <a:gd name="connsiteX0" fmla="*/ 0 w 1570112"/>
              <a:gd name="connsiteY0" fmla="*/ 862797 h 862797"/>
              <a:gd name="connsiteX1" fmla="*/ 1447800 w 1570112"/>
              <a:gd name="connsiteY1" fmla="*/ 850097 h 862797"/>
              <a:gd name="connsiteX0" fmla="*/ 0 w 1487760"/>
              <a:gd name="connsiteY0" fmla="*/ 939924 h 939924"/>
              <a:gd name="connsiteX1" fmla="*/ 1447800 w 1487760"/>
              <a:gd name="connsiteY1" fmla="*/ 927224 h 939924"/>
              <a:gd name="connsiteX0" fmla="*/ 0 w 1498811"/>
              <a:gd name="connsiteY0" fmla="*/ 881747 h 881747"/>
              <a:gd name="connsiteX1" fmla="*/ 1447800 w 1498811"/>
              <a:gd name="connsiteY1" fmla="*/ 869047 h 881747"/>
            </a:gdLst>
            <a:ahLst/>
            <a:cxnLst>
              <a:cxn ang="0">
                <a:pos x="connsiteX0" y="connsiteY0"/>
              </a:cxn>
              <a:cxn ang="0">
                <a:pos x="connsiteX1" y="connsiteY1"/>
              </a:cxn>
            </a:cxnLst>
            <a:rect l="l" t="t" r="r" b="b"/>
            <a:pathLst>
              <a:path w="1498811" h="881747">
                <a:moveTo>
                  <a:pt x="0" y="881747"/>
                </a:moveTo>
                <a:cubicBezTo>
                  <a:pt x="1592580" y="-448366"/>
                  <a:pt x="1572260" y="-124940"/>
                  <a:pt x="1447800" y="869047"/>
                </a:cubicBezTo>
              </a:path>
            </a:pathLst>
          </a:custGeom>
          <a:noFill/>
          <a:ln w="28575">
            <a:solidFill>
              <a:srgbClr val="F28944"/>
            </a:solidFill>
            <a:prstDash val="dash"/>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1789498" y="5566294"/>
            <a:ext cx="1337226"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10.1.1.1/24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3622541" y="5566294"/>
            <a:ext cx="1337226"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10.1.1.2/24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5352811" y="5566294"/>
            <a:ext cx="1337226"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10.1.1.3/24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4" name="组合 28"/>
          <p:cNvGrpSpPr>
            <a:grpSpLocks noChangeAspect="1"/>
          </p:cNvGrpSpPr>
          <p:nvPr/>
        </p:nvGrpSpPr>
        <p:grpSpPr bwMode="gray">
          <a:xfrm>
            <a:off x="3929456" y="3865467"/>
            <a:ext cx="217662" cy="217662"/>
            <a:chOff x="5076056" y="3356992"/>
            <a:chExt cx="436268" cy="436268"/>
          </a:xfrm>
        </p:grpSpPr>
        <p:sp>
          <p:nvSpPr>
            <p:cNvPr id="35" name="椭圆 27"/>
            <p:cNvSpPr/>
            <p:nvPr/>
          </p:nvSpPr>
          <p:spPr bwMode="gray">
            <a:xfrm>
              <a:off x="5076056" y="3356992"/>
              <a:ext cx="432048" cy="432048"/>
            </a:xfrm>
            <a:prstGeom prst="ellipse">
              <a:avLst/>
            </a:prstGeom>
            <a:solidFill>
              <a:schemeClr val="bg1"/>
            </a:solidFill>
            <a:ln w="9525" cap="flat" cmpd="sng" algn="ctr">
              <a:solidFill>
                <a:srgbClr val="F28944"/>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禁止符 23"/>
            <p:cNvSpPr/>
            <p:nvPr/>
          </p:nvSpPr>
          <p:spPr bwMode="gray">
            <a:xfrm>
              <a:off x="5076056" y="3356992"/>
              <a:ext cx="436268" cy="436268"/>
            </a:xfrm>
            <a:prstGeom prst="noSmoking">
              <a:avLst>
                <a:gd name="adj" fmla="val 15475"/>
              </a:avLst>
            </a:prstGeom>
            <a:solidFill>
              <a:schemeClr val="accent2">
                <a:lumMod val="100000"/>
              </a:schemeClr>
            </a:solidFill>
            <a:ln>
              <a:solidFill>
                <a:srgbClr val="F2894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 name="文本框 4"/>
          <p:cNvSpPr txBox="1"/>
          <p:nvPr/>
        </p:nvSpPr>
        <p:spPr bwMode="gray">
          <a:xfrm>
            <a:off x="5545082" y="2774608"/>
            <a:ext cx="4970518" cy="1348401"/>
          </a:xfrm>
          <a:prstGeom prst="rect">
            <a:avLst/>
          </a:prstGeom>
          <a:solidFill>
            <a:srgbClr val="BEE9EE"/>
          </a:solidFill>
          <a:ln w="12700" cap="flat" cmpd="sng" algn="ctr">
            <a:noFill/>
            <a:prstDash val="solid"/>
            <a:miter lim="800000"/>
          </a:ln>
          <a:effectLst/>
        </p:spPr>
        <p:txBody>
          <a:bodyPr rot="0" spcFirstLastPara="0" vertOverflow="overflow" horzOverflow="overflow" vert="horz" wrap="square" lIns="180000" tIns="180000" rIns="180000" bIns="180000" numCol="1" spcCol="0" rtlCol="0" fromWordArt="0" anchor="ctr" anchorCtr="0" forceAA="0" compatLnSpc="1">
            <a:prstTxWarp prst="textNoShape">
              <a:avLst/>
            </a:prstTxWarp>
            <a:spAutoFit/>
          </a:bodyPr>
          <a:lstStyle>
            <a:defPPr>
              <a:defRPr lang="en-US"/>
            </a:defPPr>
            <a:lvl1pPr algn="ctr">
              <a:defRPr sz="1600" kern="0">
                <a:solidFill>
                  <a:srgbClr val="1D1D1A"/>
                </a:solidFill>
                <a:latin typeface="Huawei Sans" panose="020C0503030203020204" pitchFamily="34" charset="0"/>
                <a:ea typeface="方正兰亭黑简体" panose="02000000000000000000" pitchFamily="2" charset="-122"/>
              </a:defRPr>
            </a:lvl1pPr>
          </a:lstStyle>
          <a:p>
            <a:pPr marL="342900" indent="-342900" algn="l">
              <a:buFont typeface="+mj-lt"/>
              <a:buAutoNum type="arabicPeriod"/>
            </a:pPr>
            <a:r>
              <a:rPr lang="zh-CN" altLang="en-US" dirty="0" smtClean="0">
                <a:sym typeface="Huawei Sans" panose="020C0503030203020204" pitchFamily="34" charset="0"/>
              </a:rPr>
              <a:t>缺省情况下，同属于一个</a:t>
            </a:r>
            <a:r>
              <a:rPr lang="en-US" altLang="zh-CN" dirty="0" smtClean="0">
                <a:sym typeface="Huawei Sans" panose="020C0503030203020204" pitchFamily="34" charset="0"/>
              </a:rPr>
              <a:t>VLAN</a:t>
            </a:r>
            <a:r>
              <a:rPr lang="zh-CN" altLang="en-US" dirty="0" smtClean="0">
                <a:sym typeface="Huawei Sans" panose="020C0503030203020204" pitchFamily="34" charset="0"/>
              </a:rPr>
              <a:t>的</a:t>
            </a:r>
            <a:r>
              <a:rPr lang="en-US" altLang="zh-CN" dirty="0" smtClean="0">
                <a:sym typeface="Huawei Sans" panose="020C0503030203020204" pitchFamily="34" charset="0"/>
              </a:rPr>
              <a:t>PC1</a:t>
            </a:r>
            <a:r>
              <a:rPr lang="zh-CN" altLang="en-US" dirty="0" smtClean="0">
                <a:sym typeface="Huawei Sans" panose="020C0503030203020204" pitchFamily="34" charset="0"/>
              </a:rPr>
              <a:t>和</a:t>
            </a:r>
            <a:r>
              <a:rPr lang="en-US" altLang="zh-CN" dirty="0" smtClean="0">
                <a:sym typeface="Huawei Sans" panose="020C0503030203020204" pitchFamily="34" charset="0"/>
              </a:rPr>
              <a:t>PC2</a:t>
            </a:r>
            <a:r>
              <a:rPr lang="zh-CN" altLang="en-US" dirty="0" smtClean="0">
                <a:sym typeface="Huawei Sans" panose="020C0503030203020204" pitchFamily="34" charset="0"/>
              </a:rPr>
              <a:t>能够二层互通。</a:t>
            </a:r>
            <a:endParaRPr lang="en-US" altLang="zh-CN" dirty="0" smtClean="0">
              <a:sym typeface="Huawei Sans" panose="020C0503030203020204" pitchFamily="34" charset="0"/>
            </a:endParaRPr>
          </a:p>
          <a:p>
            <a:pPr marL="342900" indent="-342900" algn="l">
              <a:buFont typeface="+mj-lt"/>
              <a:buAutoNum type="arabicPeriod"/>
            </a:pPr>
            <a:r>
              <a:rPr lang="zh-CN" altLang="en-US" dirty="0" smtClean="0">
                <a:sym typeface="Huawei Sans" panose="020C0503030203020204" pitchFamily="34" charset="0"/>
              </a:rPr>
              <a:t>将</a:t>
            </a:r>
            <a:r>
              <a:rPr lang="en-US" altLang="zh-CN" dirty="0" smtClean="0">
                <a:sym typeface="Huawei Sans" panose="020C0503030203020204" pitchFamily="34" charset="0"/>
              </a:rPr>
              <a:t>GE0/0/1</a:t>
            </a:r>
            <a:r>
              <a:rPr lang="zh-CN" altLang="en-US" dirty="0">
                <a:sym typeface="Huawei Sans" panose="020C0503030203020204" pitchFamily="34" charset="0"/>
              </a:rPr>
              <a:t>和</a:t>
            </a:r>
            <a:r>
              <a:rPr lang="en-US" altLang="zh-CN" dirty="0">
                <a:sym typeface="Huawei Sans" panose="020C0503030203020204" pitchFamily="34" charset="0"/>
              </a:rPr>
              <a:t>GE0/0/2</a:t>
            </a:r>
            <a:r>
              <a:rPr lang="zh-CN" altLang="en-US" dirty="0" smtClean="0">
                <a:sym typeface="Huawei Sans" panose="020C0503030203020204" pitchFamily="34" charset="0"/>
              </a:rPr>
              <a:t>端口部署到同</a:t>
            </a:r>
            <a:r>
              <a:rPr lang="zh-CN" altLang="en-US" dirty="0">
                <a:sym typeface="Huawei Sans" panose="020C0503030203020204" pitchFamily="34" charset="0"/>
              </a:rPr>
              <a:t>一个端口隔离组</a:t>
            </a:r>
            <a:r>
              <a:rPr lang="zh-CN" altLang="en-US" dirty="0" smtClean="0">
                <a:sym typeface="Huawei Sans" panose="020C0503030203020204" pitchFamily="34" charset="0"/>
              </a:rPr>
              <a:t>，则</a:t>
            </a:r>
            <a:r>
              <a:rPr lang="en-US" altLang="zh-CN" dirty="0" smtClean="0">
                <a:sym typeface="Huawei Sans" panose="020C0503030203020204" pitchFamily="34" charset="0"/>
              </a:rPr>
              <a:t>PC1</a:t>
            </a:r>
            <a:r>
              <a:rPr lang="zh-CN" altLang="en-US" dirty="0">
                <a:sym typeface="Huawei Sans" panose="020C0503030203020204" pitchFamily="34" charset="0"/>
              </a:rPr>
              <a:t>与</a:t>
            </a:r>
            <a:r>
              <a:rPr lang="en-US" altLang="zh-CN" dirty="0" smtClean="0">
                <a:sym typeface="Huawei Sans" panose="020C0503030203020204" pitchFamily="34" charset="0"/>
              </a:rPr>
              <a:t>PC2</a:t>
            </a:r>
            <a:r>
              <a:rPr lang="zh-CN" altLang="en-US" dirty="0" smtClean="0">
                <a:sym typeface="Huawei Sans" panose="020C0503030203020204" pitchFamily="34" charset="0"/>
              </a:rPr>
              <a:t>无法实现二层互通。</a:t>
            </a:r>
            <a:endParaRPr lang="zh-CN" altLang="en-US" dirty="0">
              <a:sym typeface="Huawei Sans" panose="020C0503030203020204" pitchFamily="34" charset="0"/>
            </a:endParaRPr>
          </a:p>
        </p:txBody>
      </p:sp>
    </p:spTree>
    <p:extLst>
      <p:ext uri="{BB962C8B-B14F-4D97-AF65-F5344CB8AC3E}">
        <p14:creationId xmlns:p14="http://schemas.microsoft.com/office/powerpoint/2010/main" val="25670072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圆角矩形 21"/>
          <p:cNvSpPr/>
          <p:nvPr/>
        </p:nvSpPr>
        <p:spPr bwMode="gray">
          <a:xfrm>
            <a:off x="6084812" y="1451461"/>
            <a:ext cx="5604311" cy="773665"/>
          </a:xfrm>
          <a:prstGeom prst="roundRect">
            <a:avLst>
              <a:gd name="adj" fmla="val 10778"/>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端口隔离技术原理</a:t>
            </a:r>
            <a:endParaRPr lang="zh-CN" altLang="en-US" dirty="0">
              <a:sym typeface="Huawei Sans" panose="020C0503030203020204" pitchFamily="34" charset="0"/>
            </a:endParaRPr>
          </a:p>
        </p:txBody>
      </p:sp>
      <p:sp>
        <p:nvSpPr>
          <p:cNvPr id="4" name="文本框 3"/>
          <p:cNvSpPr txBox="1"/>
          <p:nvPr/>
        </p:nvSpPr>
        <p:spPr bwMode="gray">
          <a:xfrm>
            <a:off x="428125" y="3625767"/>
            <a:ext cx="1107996" cy="369332"/>
          </a:xfrm>
          <a:prstGeom prst="rect">
            <a:avLst/>
          </a:prstGeom>
          <a:noFill/>
        </p:spPr>
        <p:txBody>
          <a:bodyPr wrap="none" rtlCol="0">
            <a:spAutoFit/>
          </a:bodyPr>
          <a:lstStyle/>
          <a:p>
            <a:r>
              <a:rPr lang="zh-CN" altLang="en-US" b="1" dirty="0" smtClean="0">
                <a:latin typeface="Huawei Sans" panose="020C0503030203020204" pitchFamily="34" charset="0"/>
                <a:ea typeface="方正兰亭黑简体" panose="02000000000000000000" pitchFamily="2" charset="-122"/>
                <a:sym typeface="Huawei Sans" panose="020C0503030203020204" pitchFamily="34" charset="0"/>
              </a:rPr>
              <a:t>端口隔离</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p:cNvSpPr txBox="1"/>
          <p:nvPr/>
        </p:nvSpPr>
        <p:spPr bwMode="gray">
          <a:xfrm>
            <a:off x="3222841" y="1767413"/>
            <a:ext cx="1005403" cy="338554"/>
          </a:xfrm>
          <a:prstGeom prst="rect">
            <a:avLst/>
          </a:prstGeom>
          <a:noFill/>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双向隔离</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3222841" y="2977674"/>
            <a:ext cx="1005403" cy="338554"/>
          </a:xfrm>
          <a:prstGeom prst="rect">
            <a:avLst/>
          </a:prstGeom>
          <a:noFill/>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单向隔离</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1931155" y="4963780"/>
            <a:ext cx="1107996" cy="369332"/>
          </a:xfrm>
          <a:prstGeom prst="rect">
            <a:avLst/>
          </a:prstGeom>
          <a:noFill/>
        </p:spPr>
        <p:txBody>
          <a:bodyPr wrap="none" rtlCol="0">
            <a:spAutoFi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隔离模式</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3222841" y="4523563"/>
            <a:ext cx="2456122" cy="338554"/>
          </a:xfrm>
          <a:prstGeom prst="rect">
            <a:avLst/>
          </a:prstGeom>
          <a:noFill/>
        </p:spPr>
        <p:txBody>
          <a:bodyPr wrap="none" rtlCol="0">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（二层隔离三层互通</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矩形 9"/>
          <p:cNvSpPr/>
          <p:nvPr/>
        </p:nvSpPr>
        <p:spPr bwMode="gray">
          <a:xfrm>
            <a:off x="3222841" y="5425512"/>
            <a:ext cx="2374368" cy="338554"/>
          </a:xfrm>
          <a:prstGeom prst="rect">
            <a:avLst/>
          </a:prstGeom>
        </p:spPr>
        <p:txBody>
          <a:bodyPr wrap="none">
            <a:spAutoFit/>
          </a:bodyPr>
          <a:lstStyle/>
          <a:p>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ALL</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（二层三层都隔离）</a:t>
            </a:r>
          </a:p>
        </p:txBody>
      </p:sp>
      <p:sp>
        <p:nvSpPr>
          <p:cNvPr id="11" name="AutoShape 90"/>
          <p:cNvSpPr>
            <a:spLocks/>
          </p:cNvSpPr>
          <p:nvPr/>
        </p:nvSpPr>
        <p:spPr bwMode="gray">
          <a:xfrm>
            <a:off x="1647236" y="2420330"/>
            <a:ext cx="213484" cy="2780206"/>
          </a:xfrm>
          <a:prstGeom prst="leftBrace">
            <a:avLst>
              <a:gd name="adj1" fmla="val 189561"/>
              <a:gd name="adj2" fmla="val 50000"/>
            </a:avLst>
          </a:prstGeom>
          <a:noFill/>
          <a:ln w="28575">
            <a:solidFill>
              <a:schemeClr val="tx1"/>
            </a:solidFill>
            <a:round/>
            <a:headEnd/>
            <a:tailEnd/>
          </a:ln>
        </p:spPr>
        <p:txBody>
          <a:bodyPr wrap="none" anchor="ct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AutoShape 90"/>
          <p:cNvSpPr>
            <a:spLocks/>
          </p:cNvSpPr>
          <p:nvPr/>
        </p:nvSpPr>
        <p:spPr bwMode="gray">
          <a:xfrm>
            <a:off x="3062585" y="4594705"/>
            <a:ext cx="125421" cy="1022249"/>
          </a:xfrm>
          <a:prstGeom prst="leftBrace">
            <a:avLst>
              <a:gd name="adj1" fmla="val 189561"/>
              <a:gd name="adj2" fmla="val 50000"/>
            </a:avLst>
          </a:prstGeom>
          <a:noFill/>
          <a:ln w="28575">
            <a:solidFill>
              <a:schemeClr val="tx1"/>
            </a:solidFill>
            <a:round/>
            <a:headEnd/>
            <a:tailEnd/>
          </a:ln>
        </p:spPr>
        <p:txBody>
          <a:bodyPr wrap="none" anchor="ct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 name="组合 4"/>
          <p:cNvGrpSpPr/>
          <p:nvPr/>
        </p:nvGrpSpPr>
        <p:grpSpPr bwMode="gray">
          <a:xfrm>
            <a:off x="6071564" y="4317251"/>
            <a:ext cx="5604311" cy="773665"/>
            <a:chOff x="6142868" y="4137832"/>
            <a:chExt cx="5604311" cy="773665"/>
          </a:xfrm>
          <a:solidFill>
            <a:srgbClr val="BEE9EE"/>
          </a:solidFill>
        </p:grpSpPr>
        <p:sp>
          <p:nvSpPr>
            <p:cNvPr id="24" name="圆角矩形 23"/>
            <p:cNvSpPr/>
            <p:nvPr/>
          </p:nvSpPr>
          <p:spPr bwMode="gray">
            <a:xfrm>
              <a:off x="6142868" y="4137832"/>
              <a:ext cx="5604311" cy="773665"/>
            </a:xfrm>
            <a:prstGeom prst="roundRect">
              <a:avLst>
                <a:gd name="adj" fmla="val 10778"/>
              </a:avLst>
            </a:prstGeom>
            <a:grp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6142868" y="4284442"/>
              <a:ext cx="5604311" cy="523220"/>
            </a:xfrm>
            <a:prstGeom prst="rect">
              <a:avLst/>
            </a:prstGeom>
            <a:grpFill/>
            <a:ln>
              <a:noFill/>
            </a:ln>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隔离</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同一</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内的广播报文，但是不同端口下的用户还可以进行三层通信。缺省情况下，端口隔离模式为二层隔离三层</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互通。</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7" name="组合 16"/>
          <p:cNvGrpSpPr/>
          <p:nvPr/>
        </p:nvGrpSpPr>
        <p:grpSpPr bwMode="gray">
          <a:xfrm>
            <a:off x="6071564" y="5149935"/>
            <a:ext cx="5620820" cy="773665"/>
            <a:chOff x="6142868" y="5261375"/>
            <a:chExt cx="5620820" cy="773665"/>
          </a:xfrm>
          <a:solidFill>
            <a:srgbClr val="BEE9EE"/>
          </a:solidFill>
        </p:grpSpPr>
        <p:sp>
          <p:nvSpPr>
            <p:cNvPr id="25" name="圆角矩形 24"/>
            <p:cNvSpPr/>
            <p:nvPr/>
          </p:nvSpPr>
          <p:spPr bwMode="gray">
            <a:xfrm>
              <a:off x="6142868" y="5261375"/>
              <a:ext cx="5604311" cy="773665"/>
            </a:xfrm>
            <a:prstGeom prst="roundRect">
              <a:avLst>
                <a:gd name="adj" fmla="val 10778"/>
              </a:avLst>
            </a:prstGeom>
            <a:grp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4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矩形 13"/>
            <p:cNvSpPr/>
            <p:nvPr/>
          </p:nvSpPr>
          <p:spPr bwMode="gray">
            <a:xfrm>
              <a:off x="6160643" y="5488760"/>
              <a:ext cx="5603045" cy="307777"/>
            </a:xfrm>
            <a:prstGeom prst="rect">
              <a:avLst/>
            </a:prstGeom>
            <a:noFill/>
            <a:ln>
              <a:noFill/>
            </a:ln>
          </p:spPr>
          <p:txBody>
            <a:bodyPr wrap="square">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同</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一</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的不同</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端口下</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用户二三层彻底隔离无法通信。</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5" name="文本框 14"/>
          <p:cNvSpPr txBox="1"/>
          <p:nvPr/>
        </p:nvSpPr>
        <p:spPr bwMode="gray">
          <a:xfrm>
            <a:off x="1886561" y="2314893"/>
            <a:ext cx="1107996" cy="369332"/>
          </a:xfrm>
          <a:prstGeom prst="rect">
            <a:avLst/>
          </a:prstGeom>
          <a:noFill/>
        </p:spPr>
        <p:txBody>
          <a:bodyPr wrap="none" rtlCol="0">
            <a:spAutoFi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隔离</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类型</a:t>
            </a:r>
          </a:p>
        </p:txBody>
      </p:sp>
      <p:sp>
        <p:nvSpPr>
          <p:cNvPr id="16" name="AutoShape 90"/>
          <p:cNvSpPr>
            <a:spLocks/>
          </p:cNvSpPr>
          <p:nvPr/>
        </p:nvSpPr>
        <p:spPr bwMode="gray">
          <a:xfrm>
            <a:off x="3072065" y="1889887"/>
            <a:ext cx="125421" cy="1220648"/>
          </a:xfrm>
          <a:prstGeom prst="leftBrace">
            <a:avLst>
              <a:gd name="adj1" fmla="val 189561"/>
              <a:gd name="adj2" fmla="val 50000"/>
            </a:avLst>
          </a:prstGeom>
          <a:noFill/>
          <a:ln w="28575">
            <a:solidFill>
              <a:schemeClr val="tx1"/>
            </a:solidFill>
            <a:round/>
            <a:headEnd/>
            <a:tailEnd/>
          </a:ln>
        </p:spPr>
        <p:txBody>
          <a:bodyPr wrap="none" anchor="ct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a:off x="6084812" y="1483381"/>
            <a:ext cx="5604311" cy="738664"/>
          </a:xfrm>
          <a:prstGeom prst="rect">
            <a:avLst/>
          </a:prstGeom>
          <a:solidFill>
            <a:srgbClr val="BEE9EE"/>
          </a:solidFill>
          <a:ln>
            <a:noFill/>
          </a:ln>
        </p:spPr>
        <p:txBody>
          <a:bodyPr wrap="square">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同一端口隔离组的接口之间互相隔离，不同端口隔离组的接口之间不隔离。端口隔离只是针对同一设备上的端口隔离组成员，对于不同设备上的接口而言，无法实现该功能。</a:t>
            </a:r>
          </a:p>
        </p:txBody>
      </p:sp>
      <p:grpSp>
        <p:nvGrpSpPr>
          <p:cNvPr id="3" name="组合 2"/>
          <p:cNvGrpSpPr/>
          <p:nvPr/>
        </p:nvGrpSpPr>
        <p:grpSpPr bwMode="gray">
          <a:xfrm>
            <a:off x="6083546" y="2758007"/>
            <a:ext cx="5604311" cy="773665"/>
            <a:chOff x="6141602" y="2758007"/>
            <a:chExt cx="5604311" cy="773665"/>
          </a:xfrm>
          <a:solidFill>
            <a:srgbClr val="BEE9EE"/>
          </a:solidFill>
        </p:grpSpPr>
        <p:sp>
          <p:nvSpPr>
            <p:cNvPr id="23" name="圆角矩形 22"/>
            <p:cNvSpPr/>
            <p:nvPr/>
          </p:nvSpPr>
          <p:spPr bwMode="gray">
            <a:xfrm>
              <a:off x="6141602" y="2758007"/>
              <a:ext cx="5604311" cy="773665"/>
            </a:xfrm>
            <a:prstGeom prst="roundRect">
              <a:avLst>
                <a:gd name="adj" fmla="val 10778"/>
              </a:avLst>
            </a:prstGeom>
            <a:grp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矩形 20"/>
            <p:cNvSpPr/>
            <p:nvPr/>
          </p:nvSpPr>
          <p:spPr bwMode="gray">
            <a:xfrm>
              <a:off x="6141602" y="2866026"/>
              <a:ext cx="5604311" cy="523220"/>
            </a:xfrm>
            <a:prstGeom prst="rect">
              <a:avLst/>
            </a:prstGeom>
            <a:grpFill/>
            <a:ln>
              <a:noFill/>
            </a:ln>
          </p:spPr>
          <p:txBody>
            <a:bodyPr wrap="square">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实现</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不同端口隔离组的接口之间的</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隔离。缺省</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情况下，未配置端口单向隔离。</a:t>
              </a:r>
            </a:p>
          </p:txBody>
        </p:sp>
      </p:grpSp>
      <p:sp>
        <p:nvSpPr>
          <p:cNvPr id="26" name="Right Arrow 157"/>
          <p:cNvSpPr/>
          <p:nvPr/>
        </p:nvSpPr>
        <p:spPr bwMode="gray">
          <a:xfrm>
            <a:off x="4278948" y="1767413"/>
            <a:ext cx="1728356" cy="288067"/>
          </a:xfrm>
          <a:prstGeom prst="rightArrow">
            <a:avLst>
              <a:gd name="adj1" fmla="val 79333"/>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ight Arrow 157"/>
          <p:cNvSpPr/>
          <p:nvPr/>
        </p:nvSpPr>
        <p:spPr bwMode="gray">
          <a:xfrm>
            <a:off x="4262088" y="3001454"/>
            <a:ext cx="1728356" cy="288067"/>
          </a:xfrm>
          <a:prstGeom prst="rightArrow">
            <a:avLst>
              <a:gd name="adj1" fmla="val 79333"/>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Right Arrow 157"/>
          <p:cNvSpPr/>
          <p:nvPr/>
        </p:nvSpPr>
        <p:spPr bwMode="gray">
          <a:xfrm>
            <a:off x="5530808" y="4546052"/>
            <a:ext cx="493887" cy="316065"/>
          </a:xfrm>
          <a:prstGeom prst="rightArrow">
            <a:avLst>
              <a:gd name="adj1" fmla="val 79333"/>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ight Arrow 157"/>
          <p:cNvSpPr/>
          <p:nvPr/>
        </p:nvSpPr>
        <p:spPr bwMode="gray">
          <a:xfrm>
            <a:off x="5513417" y="5448001"/>
            <a:ext cx="493887" cy="316065"/>
          </a:xfrm>
          <a:prstGeom prst="rightArrow">
            <a:avLst>
              <a:gd name="adj1" fmla="val 79333"/>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872573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端口隔离配置命令</a:t>
            </a:r>
            <a:endParaRPr lang="zh-CN" altLang="en-US" dirty="0">
              <a:sym typeface="Huawei Sans" panose="020C0503030203020204" pitchFamily="34" charset="0"/>
            </a:endParaRPr>
          </a:p>
        </p:txBody>
      </p:sp>
      <p:sp>
        <p:nvSpPr>
          <p:cNvPr id="4" name="矩形 3"/>
          <p:cNvSpPr/>
          <p:nvPr/>
        </p:nvSpPr>
        <p:spPr bwMode="gray">
          <a:xfrm>
            <a:off x="1031917" y="1793538"/>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port-isolate enable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group</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group-id</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使能端口隔离功能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1031917" y="22296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缺省情况下，未使能端口隔离功能</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如果不指定</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group-id</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参数时，默认加入的端口隔离组为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bwMode="gray">
          <a:xfrm>
            <a:off x="1031917" y="3027165"/>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port-isolate mode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l2</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all</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bwMode="gray">
          <a:xfrm>
            <a:off x="551384" y="2598939"/>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配置端口</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隔离模式</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p:cNvSpPr/>
          <p:nvPr/>
        </p:nvSpPr>
        <p:spPr bwMode="gray">
          <a:xfrm>
            <a:off x="1031917" y="3418577"/>
            <a:ext cx="10608699" cy="377732"/>
          </a:xfrm>
          <a:prstGeom prst="rect">
            <a:avLst/>
          </a:prstGeom>
        </p:spPr>
        <p:txBody>
          <a:bodyPr wrap="square">
            <a:spAutoFit/>
          </a:bodyPr>
          <a:lstStyle/>
          <a:p>
            <a:pPr>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缺省情况下，端口隔离模式为</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L2</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端口隔离模式为二层隔离三层</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互通</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all</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 </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端口隔离模式为二层三层都隔离</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p:cNvSpPr/>
          <p:nvPr/>
        </p:nvSpPr>
        <p:spPr bwMode="gray">
          <a:xfrm>
            <a:off x="1031917" y="4264713"/>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am isolate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interface-type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interface-number</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}&amp;&lt;1-8&gt;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551384" y="3872423"/>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配置端口单向隔离</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a:off x="1031917" y="4692657"/>
            <a:ext cx="10608699" cy="707886"/>
          </a:xfrm>
          <a:prstGeom prst="rect">
            <a:avLst/>
          </a:prstGeom>
        </p:spPr>
        <p:txBody>
          <a:bodyPr wrap="square">
            <a:spAutoFit/>
          </a:bodyPr>
          <a:lstStyle/>
          <a:p>
            <a:pPr fontAlgn="auto">
              <a:lnSpc>
                <a:spcPts val="2400"/>
              </a:lnSpc>
            </a:pP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am isolate</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命令用来配置当前接口与指定接口的单向隔离。</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在</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上配置与接口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之间单向隔离后，接口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发送的报文不能到达接口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，但从接口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发送的报文可以到达接口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。缺省</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情况下，未配置端口单向隔离。</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34882925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端口隔离配置举例</a:t>
            </a:r>
            <a:endParaRPr lang="zh-CN" altLang="en-US" dirty="0">
              <a:sym typeface="Huawei Sans" panose="020C0503030203020204" pitchFamily="34" charset="0"/>
            </a:endParaRPr>
          </a:p>
        </p:txBody>
      </p:sp>
      <p:sp>
        <p:nvSpPr>
          <p:cNvPr id="3" name="文本占位符 2"/>
          <p:cNvSpPr>
            <a:spLocks noGrp="1"/>
          </p:cNvSpPr>
          <p:nvPr>
            <p:ph type="body" sz="quarter" idx="4294967295"/>
          </p:nvPr>
        </p:nvSpPr>
        <p:spPr bwMode="gray">
          <a:xfrm>
            <a:off x="574392" y="5298798"/>
            <a:ext cx="5375030" cy="565153"/>
          </a:xfrm>
        </p:spPr>
        <p:txBody>
          <a:bodyPr/>
          <a:lstStyle/>
          <a:p>
            <a:r>
              <a:rPr lang="zh-CN" altLang="en-US" sz="1400" dirty="0" smtClean="0">
                <a:sym typeface="Huawei Sans" panose="020C0503030203020204" pitchFamily="34" charset="0"/>
              </a:rPr>
              <a:t>如图所示：</a:t>
            </a:r>
            <a:r>
              <a:rPr lang="en-US" altLang="zh-CN" sz="1400" dirty="0" smtClean="0">
                <a:sym typeface="Huawei Sans" panose="020C0503030203020204" pitchFamily="34" charset="0"/>
              </a:rPr>
              <a:t>PC1</a:t>
            </a:r>
            <a:r>
              <a:rPr lang="zh-CN" altLang="en-US" sz="1400" dirty="0" smtClean="0">
                <a:sym typeface="Huawei Sans" panose="020C0503030203020204" pitchFamily="34" charset="0"/>
              </a:rPr>
              <a:t>、</a:t>
            </a:r>
            <a:r>
              <a:rPr lang="en-US" altLang="zh-CN" sz="1400" dirty="0" smtClean="0">
                <a:sym typeface="Huawei Sans" panose="020C0503030203020204" pitchFamily="34" charset="0"/>
              </a:rPr>
              <a:t>PC2</a:t>
            </a:r>
            <a:r>
              <a:rPr lang="zh-CN" altLang="en-US" sz="1400" dirty="0" smtClean="0">
                <a:sym typeface="Huawei Sans" panose="020C0503030203020204" pitchFamily="34" charset="0"/>
              </a:rPr>
              <a:t>和</a:t>
            </a:r>
            <a:r>
              <a:rPr lang="en-US" altLang="zh-CN" sz="1400" dirty="0" smtClean="0">
                <a:sym typeface="Huawei Sans" panose="020C0503030203020204" pitchFamily="34" charset="0"/>
              </a:rPr>
              <a:t>PC3</a:t>
            </a:r>
            <a:r>
              <a:rPr lang="zh-CN" altLang="en-US" sz="1400" dirty="0" smtClean="0">
                <a:sym typeface="Huawei Sans" panose="020C0503030203020204" pitchFamily="34" charset="0"/>
              </a:rPr>
              <a:t>属于</a:t>
            </a:r>
            <a:r>
              <a:rPr lang="en-US" altLang="zh-CN" sz="1400" dirty="0" smtClean="0">
                <a:sym typeface="Huawei Sans" panose="020C0503030203020204" pitchFamily="34" charset="0"/>
              </a:rPr>
              <a:t>VLAN 2</a:t>
            </a:r>
            <a:r>
              <a:rPr lang="zh-CN" altLang="en-US" sz="1400" dirty="0" smtClean="0">
                <a:sym typeface="Huawei Sans" panose="020C0503030203020204" pitchFamily="34" charset="0"/>
              </a:rPr>
              <a:t>，通过配置端口隔离，使</a:t>
            </a:r>
            <a:r>
              <a:rPr lang="en-US" altLang="zh-CN" sz="1400" dirty="0" smtClean="0">
                <a:sym typeface="Huawei Sans" panose="020C0503030203020204" pitchFamily="34" charset="0"/>
              </a:rPr>
              <a:t>PC3</a:t>
            </a:r>
            <a:r>
              <a:rPr lang="zh-CN" altLang="en-US" sz="1400" dirty="0" smtClean="0">
                <a:sym typeface="Huawei Sans" panose="020C0503030203020204" pitchFamily="34" charset="0"/>
              </a:rPr>
              <a:t>可以与</a:t>
            </a:r>
            <a:r>
              <a:rPr lang="en-US" altLang="zh-CN" sz="1400" dirty="0" smtClean="0">
                <a:sym typeface="Huawei Sans" panose="020C0503030203020204" pitchFamily="34" charset="0"/>
              </a:rPr>
              <a:t>PC1</a:t>
            </a:r>
            <a:r>
              <a:rPr lang="zh-CN" altLang="en-US" sz="1400" dirty="0" smtClean="0">
                <a:sym typeface="Huawei Sans" panose="020C0503030203020204" pitchFamily="34" charset="0"/>
              </a:rPr>
              <a:t>、</a:t>
            </a:r>
            <a:r>
              <a:rPr lang="en-US" altLang="zh-CN" sz="1400" dirty="0" smtClean="0">
                <a:sym typeface="Huawei Sans" panose="020C0503030203020204" pitchFamily="34" charset="0"/>
              </a:rPr>
              <a:t>PC2</a:t>
            </a:r>
            <a:r>
              <a:rPr lang="zh-CN" altLang="en-US" sz="1400" dirty="0" smtClean="0">
                <a:sym typeface="Huawei Sans" panose="020C0503030203020204" pitchFamily="34" charset="0"/>
              </a:rPr>
              <a:t>通信，但是</a:t>
            </a:r>
            <a:r>
              <a:rPr lang="en-US" altLang="zh-CN" sz="1400" dirty="0" smtClean="0">
                <a:sym typeface="Huawei Sans" panose="020C0503030203020204" pitchFamily="34" charset="0"/>
              </a:rPr>
              <a:t>PC1</a:t>
            </a:r>
            <a:r>
              <a:rPr lang="zh-CN" altLang="en-US" sz="1400" dirty="0" smtClean="0">
                <a:sym typeface="Huawei Sans" panose="020C0503030203020204" pitchFamily="34" charset="0"/>
              </a:rPr>
              <a:t>和</a:t>
            </a:r>
            <a:r>
              <a:rPr lang="en-US" altLang="zh-CN" sz="1400" dirty="0" smtClean="0">
                <a:sym typeface="Huawei Sans" panose="020C0503030203020204" pitchFamily="34" charset="0"/>
              </a:rPr>
              <a:t>PC2</a:t>
            </a:r>
            <a:r>
              <a:rPr lang="zh-CN" altLang="en-US" sz="1400" dirty="0" smtClean="0">
                <a:sym typeface="Huawei Sans" panose="020C0503030203020204" pitchFamily="34" charset="0"/>
              </a:rPr>
              <a:t>之间无法通信。</a:t>
            </a:r>
            <a:endParaRPr lang="zh-CN" altLang="en-US" sz="1400" dirty="0">
              <a:sym typeface="Huawei Sans" panose="020C0503030203020204" pitchFamily="34" charset="0"/>
            </a:endParaRPr>
          </a:p>
        </p:txBody>
      </p:sp>
      <p:grpSp>
        <p:nvGrpSpPr>
          <p:cNvPr id="31" name="组合 30"/>
          <p:cNvGrpSpPr/>
          <p:nvPr/>
        </p:nvGrpSpPr>
        <p:grpSpPr bwMode="gray">
          <a:xfrm>
            <a:off x="585933" y="1233488"/>
            <a:ext cx="5123543" cy="3977246"/>
            <a:chOff x="725714" y="1738105"/>
            <a:chExt cx="5123543" cy="3977246"/>
          </a:xfrm>
        </p:grpSpPr>
        <p:sp>
          <p:nvSpPr>
            <p:cNvPr id="4" name="圆角矩形 3"/>
            <p:cNvSpPr/>
            <p:nvPr/>
          </p:nvSpPr>
          <p:spPr bwMode="gray">
            <a:xfrm>
              <a:off x="725714" y="4304377"/>
              <a:ext cx="5123543" cy="1410974"/>
            </a:xfrm>
            <a:prstGeom prst="roundRect">
              <a:avLst>
                <a:gd name="adj" fmla="val 902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2842357" y="5346019"/>
              <a:ext cx="976549"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VLAN 2</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032065" y="2718836"/>
              <a:ext cx="540000" cy="442800"/>
            </a:xfrm>
            <a:prstGeom prst="rect">
              <a:avLst/>
            </a:prstGeom>
          </p:spPr>
        </p:pic>
        <p:pic>
          <p:nvPicPr>
            <p:cNvPr id="7" name="图片 6" descr="PC.png"/>
            <p:cNvPicPr>
              <a:picLocks noChangeAspect="1"/>
            </p:cNvPicPr>
            <p:nvPr/>
          </p:nvPicPr>
          <p:blipFill>
            <a:blip r:embed="rId4" cstate="print"/>
            <a:stretch>
              <a:fillRect/>
            </a:stretch>
          </p:blipFill>
          <p:spPr bwMode="gray">
            <a:xfrm>
              <a:off x="1106392" y="4458238"/>
              <a:ext cx="539063" cy="414000"/>
            </a:xfrm>
            <a:prstGeom prst="rect">
              <a:avLst/>
            </a:prstGeom>
          </p:spPr>
        </p:pic>
        <p:pic>
          <p:nvPicPr>
            <p:cNvPr id="8" name="图片 7" descr="PC.png"/>
            <p:cNvPicPr>
              <a:picLocks noChangeAspect="1"/>
            </p:cNvPicPr>
            <p:nvPr/>
          </p:nvPicPr>
          <p:blipFill>
            <a:blip r:embed="rId4" cstate="print"/>
            <a:stretch>
              <a:fillRect/>
            </a:stretch>
          </p:blipFill>
          <p:spPr bwMode="gray">
            <a:xfrm>
              <a:off x="3044853" y="4410997"/>
              <a:ext cx="539063" cy="414000"/>
            </a:xfrm>
            <a:prstGeom prst="rect">
              <a:avLst/>
            </a:prstGeom>
          </p:spPr>
        </p:pic>
        <p:pic>
          <p:nvPicPr>
            <p:cNvPr id="9" name="图片 8" descr="PC.png"/>
            <p:cNvPicPr>
              <a:picLocks noChangeAspect="1"/>
            </p:cNvPicPr>
            <p:nvPr/>
          </p:nvPicPr>
          <p:blipFill>
            <a:blip r:embed="rId4" cstate="print"/>
            <a:stretch>
              <a:fillRect/>
            </a:stretch>
          </p:blipFill>
          <p:spPr bwMode="gray">
            <a:xfrm>
              <a:off x="4924809" y="4458238"/>
              <a:ext cx="539063" cy="414000"/>
            </a:xfrm>
            <a:prstGeom prst="rect">
              <a:avLst/>
            </a:prstGeom>
          </p:spPr>
        </p:pic>
        <p:sp>
          <p:nvSpPr>
            <p:cNvPr id="10" name="文本框 9"/>
            <p:cNvSpPr txBox="1"/>
            <p:nvPr/>
          </p:nvSpPr>
          <p:spPr bwMode="gray">
            <a:xfrm>
              <a:off x="1104856" y="486368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bwMode="gray">
            <a:xfrm>
              <a:off x="3041465" y="4844536"/>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4924809" y="4858920"/>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3" name="直接连接符 12"/>
            <p:cNvCxnSpPr>
              <a:endCxn id="7" idx="0"/>
            </p:cNvCxnSpPr>
            <p:nvPr/>
          </p:nvCxnSpPr>
          <p:spPr bwMode="gray">
            <a:xfrm flipH="1">
              <a:off x="1375924" y="3161636"/>
              <a:ext cx="1781500" cy="1296602"/>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6" idx="2"/>
              <a:endCxn id="8" idx="0"/>
            </p:cNvCxnSpPr>
            <p:nvPr/>
          </p:nvCxnSpPr>
          <p:spPr bwMode="gray">
            <a:xfrm>
              <a:off x="3302065" y="3161636"/>
              <a:ext cx="12320" cy="124936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endCxn id="9" idx="0"/>
            </p:cNvCxnSpPr>
            <p:nvPr/>
          </p:nvCxnSpPr>
          <p:spPr bwMode="gray">
            <a:xfrm>
              <a:off x="3426293" y="3161636"/>
              <a:ext cx="1768048" cy="1296602"/>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bwMode="gray">
            <a:xfrm>
              <a:off x="3540187" y="2702749"/>
              <a:ext cx="798617"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7" name="图片 1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032065" y="1765994"/>
              <a:ext cx="540000" cy="442800"/>
            </a:xfrm>
            <a:prstGeom prst="rect">
              <a:avLst/>
            </a:prstGeom>
          </p:spPr>
        </p:pic>
        <p:sp>
          <p:nvSpPr>
            <p:cNvPr id="18" name="文本框 17"/>
            <p:cNvSpPr txBox="1"/>
            <p:nvPr/>
          </p:nvSpPr>
          <p:spPr bwMode="gray">
            <a:xfrm>
              <a:off x="3525891" y="1738105"/>
              <a:ext cx="809837"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Router</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椭圆 18"/>
            <p:cNvSpPr/>
            <p:nvPr/>
          </p:nvSpPr>
          <p:spPr bwMode="gray">
            <a:xfrm>
              <a:off x="1681925" y="3776481"/>
              <a:ext cx="1901991" cy="371912"/>
            </a:xfrm>
            <a:prstGeom prst="ellipse">
              <a:avLst/>
            </a:prstGeom>
            <a:noFill/>
            <a:ln>
              <a:solidFill>
                <a:srgbClr val="30B5C5"/>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0" name="直接连接符 19"/>
            <p:cNvCxnSpPr>
              <a:stCxn id="6" idx="0"/>
              <a:endCxn id="17" idx="2"/>
            </p:cNvCxnSpPr>
            <p:nvPr/>
          </p:nvCxnSpPr>
          <p:spPr bwMode="gray">
            <a:xfrm flipV="1">
              <a:off x="3302065" y="2208794"/>
              <a:ext cx="0" cy="510042"/>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bwMode="gray">
            <a:xfrm>
              <a:off x="3517627" y="3072449"/>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rot="5400000">
              <a:off x="3023219" y="3344608"/>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2336553" y="3077785"/>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839815" y="5087601"/>
              <a:ext cx="1337226"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10.1.1.1/24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2672858" y="5087601"/>
              <a:ext cx="1337226"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10.1.1.2/24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4403128" y="5087601"/>
              <a:ext cx="1337226"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 10.1.1.3/24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9" name="文本框 58"/>
          <p:cNvSpPr txBox="1"/>
          <p:nvPr/>
        </p:nvSpPr>
        <p:spPr bwMode="gray">
          <a:xfrm>
            <a:off x="6096000" y="1286289"/>
            <a:ext cx="2026517"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Switch</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配置如下：</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6096000" y="1677140"/>
            <a:ext cx="5649913" cy="2893100"/>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00000"/>
              </a:lnSpc>
            </a:pPr>
            <a:r>
              <a:rPr lang="en-US" altLang="zh-CN" dirty="0" smtClean="0">
                <a:sym typeface="Huawei Sans" panose="020C0503030203020204" pitchFamily="34" charset="0"/>
              </a:rPr>
              <a:t>[Switch] </a:t>
            </a:r>
            <a:r>
              <a:rPr lang="en-US" altLang="zh-CN" dirty="0">
                <a:sym typeface="Huawei Sans" panose="020C0503030203020204" pitchFamily="34" charset="0"/>
              </a:rPr>
              <a:t>vlan 2</a:t>
            </a:r>
          </a:p>
          <a:p>
            <a:pPr>
              <a:lnSpc>
                <a:spcPct val="100000"/>
              </a:lnSpc>
            </a:pPr>
            <a:r>
              <a:rPr lang="en-US" altLang="zh-CN" dirty="0" smtClean="0">
                <a:sym typeface="Huawei Sans" panose="020C0503030203020204" pitchFamily="34" charset="0"/>
              </a:rPr>
              <a:t>[Switch] </a:t>
            </a:r>
            <a:r>
              <a:rPr lang="en-US" altLang="zh-CN" dirty="0">
                <a:sym typeface="Huawei Sans" panose="020C0503030203020204" pitchFamily="34" charset="0"/>
              </a:rPr>
              <a:t>port-isolate mode all</a:t>
            </a:r>
          </a:p>
          <a:p>
            <a:pPr>
              <a:lnSpc>
                <a:spcPct val="100000"/>
              </a:lnSpc>
            </a:pPr>
            <a:r>
              <a:rPr lang="en-US" altLang="zh-CN" dirty="0" smtClean="0">
                <a:sym typeface="Huawei Sans" panose="020C0503030203020204" pitchFamily="34" charset="0"/>
              </a:rPr>
              <a:t>[Switch] </a:t>
            </a:r>
            <a:r>
              <a:rPr lang="en-US" altLang="zh-CN" dirty="0">
                <a:sym typeface="Huawei Sans" panose="020C0503030203020204" pitchFamily="34" charset="0"/>
              </a:rPr>
              <a:t>interface </a:t>
            </a:r>
            <a:r>
              <a:rPr lang="en-US" altLang="zh-CN" dirty="0" smtClean="0">
                <a:sym typeface="Huawei Sans" panose="020C0503030203020204" pitchFamily="34" charset="0"/>
              </a:rPr>
              <a:t>GigabitEthernet </a:t>
            </a:r>
            <a:r>
              <a:rPr lang="en-US" altLang="zh-CN" dirty="0">
                <a:sym typeface="Huawei Sans" panose="020C0503030203020204" pitchFamily="34" charset="0"/>
              </a:rPr>
              <a:t>0/0/1</a:t>
            </a:r>
          </a:p>
          <a:p>
            <a:pPr>
              <a:lnSpc>
                <a:spcPct val="100000"/>
              </a:lnSpc>
            </a:pPr>
            <a:r>
              <a:rPr lang="en-US" altLang="zh-CN" dirty="0" smtClean="0">
                <a:sym typeface="Huawei Sans" panose="020C0503030203020204" pitchFamily="34" charset="0"/>
              </a:rPr>
              <a:t>[Switch-GigabitEthernet0/0/1</a:t>
            </a:r>
            <a:r>
              <a:rPr lang="en-US" altLang="zh-CN" dirty="0">
                <a:sym typeface="Huawei Sans" panose="020C0503030203020204" pitchFamily="34" charset="0"/>
              </a:rPr>
              <a:t>] port link-type access</a:t>
            </a:r>
          </a:p>
          <a:p>
            <a:pPr>
              <a:lnSpc>
                <a:spcPct val="100000"/>
              </a:lnSpc>
            </a:pPr>
            <a:r>
              <a:rPr lang="en-US" altLang="zh-CN" dirty="0" smtClean="0">
                <a:sym typeface="Huawei Sans" panose="020C0503030203020204" pitchFamily="34" charset="0"/>
              </a:rPr>
              <a:t>[Switch-GigabitEthernet0/0/1</a:t>
            </a:r>
            <a:r>
              <a:rPr lang="en-US" altLang="zh-CN" dirty="0">
                <a:sym typeface="Huawei Sans" panose="020C0503030203020204" pitchFamily="34" charset="0"/>
              </a:rPr>
              <a:t>] port default </a:t>
            </a:r>
            <a:r>
              <a:rPr lang="en-US" altLang="zh-CN" dirty="0" err="1">
                <a:sym typeface="Huawei Sans" panose="020C0503030203020204" pitchFamily="34" charset="0"/>
              </a:rPr>
              <a:t>vlan</a:t>
            </a:r>
            <a:r>
              <a:rPr lang="en-US" altLang="zh-CN" dirty="0">
                <a:sym typeface="Huawei Sans" panose="020C0503030203020204" pitchFamily="34" charset="0"/>
              </a:rPr>
              <a:t> </a:t>
            </a:r>
            <a:r>
              <a:rPr lang="en-US" altLang="zh-CN" dirty="0" smtClean="0">
                <a:sym typeface="Huawei Sans" panose="020C0503030203020204" pitchFamily="34" charset="0"/>
              </a:rPr>
              <a:t>2</a:t>
            </a:r>
            <a:endParaRPr lang="en-US" altLang="zh-CN" dirty="0">
              <a:sym typeface="Huawei Sans" panose="020C0503030203020204" pitchFamily="34" charset="0"/>
            </a:endParaRPr>
          </a:p>
          <a:p>
            <a:pPr>
              <a:lnSpc>
                <a:spcPct val="100000"/>
              </a:lnSpc>
            </a:pPr>
            <a:r>
              <a:rPr lang="en-US" altLang="zh-CN" dirty="0" smtClean="0">
                <a:sym typeface="Huawei Sans" panose="020C0503030203020204" pitchFamily="34" charset="0"/>
              </a:rPr>
              <a:t>[Switch-GigabitEthernet0/0/1</a:t>
            </a:r>
            <a:r>
              <a:rPr lang="en-US" altLang="zh-CN" dirty="0">
                <a:sym typeface="Huawei Sans" panose="020C0503030203020204" pitchFamily="34" charset="0"/>
              </a:rPr>
              <a:t>] port-isolate enable group 2 </a:t>
            </a:r>
          </a:p>
          <a:p>
            <a:pPr>
              <a:lnSpc>
                <a:spcPct val="100000"/>
              </a:lnSpc>
            </a:pPr>
            <a:r>
              <a:rPr lang="en-US" altLang="zh-CN" dirty="0" smtClean="0">
                <a:sym typeface="Huawei Sans" panose="020C0503030203020204" pitchFamily="34" charset="0"/>
              </a:rPr>
              <a:t>[Switch] </a:t>
            </a:r>
            <a:r>
              <a:rPr lang="en-US" altLang="zh-CN" dirty="0">
                <a:sym typeface="Huawei Sans" panose="020C0503030203020204" pitchFamily="34" charset="0"/>
              </a:rPr>
              <a:t>interface GigabitEthernet</a:t>
            </a:r>
            <a:r>
              <a:rPr lang="en-US" altLang="zh-CN" dirty="0" smtClean="0">
                <a:sym typeface="Huawei Sans" panose="020C0503030203020204" pitchFamily="34" charset="0"/>
              </a:rPr>
              <a:t> </a:t>
            </a:r>
            <a:r>
              <a:rPr lang="en-US" altLang="zh-CN" dirty="0">
                <a:sym typeface="Huawei Sans" panose="020C0503030203020204" pitchFamily="34" charset="0"/>
              </a:rPr>
              <a:t>0/0/2</a:t>
            </a:r>
          </a:p>
          <a:p>
            <a:pPr>
              <a:lnSpc>
                <a:spcPct val="100000"/>
              </a:lnSpc>
            </a:pPr>
            <a:r>
              <a:rPr lang="en-US" altLang="zh-CN" dirty="0" smtClean="0">
                <a:sym typeface="Huawei Sans" panose="020C0503030203020204" pitchFamily="34" charset="0"/>
              </a:rPr>
              <a:t>[Switch-GigabitEthernet0/0/2</a:t>
            </a:r>
            <a:r>
              <a:rPr lang="en-US" altLang="zh-CN" dirty="0">
                <a:sym typeface="Huawei Sans" panose="020C0503030203020204" pitchFamily="34" charset="0"/>
              </a:rPr>
              <a:t>] port link-type access</a:t>
            </a:r>
          </a:p>
          <a:p>
            <a:pPr>
              <a:lnSpc>
                <a:spcPct val="100000"/>
              </a:lnSpc>
            </a:pPr>
            <a:r>
              <a:rPr lang="en-US" altLang="zh-CN" dirty="0" smtClean="0">
                <a:sym typeface="Huawei Sans" panose="020C0503030203020204" pitchFamily="34" charset="0"/>
              </a:rPr>
              <a:t>[Switch-GigabitEthernet0/0/2</a:t>
            </a:r>
            <a:r>
              <a:rPr lang="en-US" altLang="zh-CN" dirty="0">
                <a:sym typeface="Huawei Sans" panose="020C0503030203020204" pitchFamily="34" charset="0"/>
              </a:rPr>
              <a:t>] port default </a:t>
            </a:r>
            <a:r>
              <a:rPr lang="en-US" altLang="zh-CN" dirty="0" err="1">
                <a:sym typeface="Huawei Sans" panose="020C0503030203020204" pitchFamily="34" charset="0"/>
              </a:rPr>
              <a:t>vlan</a:t>
            </a:r>
            <a:r>
              <a:rPr lang="en-US" altLang="zh-CN" dirty="0">
                <a:sym typeface="Huawei Sans" panose="020C0503030203020204" pitchFamily="34" charset="0"/>
              </a:rPr>
              <a:t> </a:t>
            </a:r>
            <a:r>
              <a:rPr lang="en-US" altLang="zh-CN" dirty="0" smtClean="0">
                <a:sym typeface="Huawei Sans" panose="020C0503030203020204" pitchFamily="34" charset="0"/>
              </a:rPr>
              <a:t>2</a:t>
            </a:r>
            <a:endParaRPr lang="en-US" altLang="zh-CN" dirty="0">
              <a:sym typeface="Huawei Sans" panose="020C0503030203020204" pitchFamily="34" charset="0"/>
            </a:endParaRPr>
          </a:p>
          <a:p>
            <a:pPr>
              <a:lnSpc>
                <a:spcPct val="100000"/>
              </a:lnSpc>
            </a:pPr>
            <a:r>
              <a:rPr lang="en-US" altLang="zh-CN" dirty="0" smtClean="0">
                <a:sym typeface="Huawei Sans" panose="020C0503030203020204" pitchFamily="34" charset="0"/>
              </a:rPr>
              <a:t>[Switch-GigabitEthernet0/0/2</a:t>
            </a:r>
            <a:r>
              <a:rPr lang="en-US" altLang="zh-CN" dirty="0">
                <a:sym typeface="Huawei Sans" panose="020C0503030203020204" pitchFamily="34" charset="0"/>
              </a:rPr>
              <a:t>] port-isolate enable group 2 </a:t>
            </a:r>
          </a:p>
          <a:p>
            <a:pPr>
              <a:lnSpc>
                <a:spcPct val="100000"/>
              </a:lnSpc>
            </a:pPr>
            <a:r>
              <a:rPr lang="en-US" altLang="zh-CN" dirty="0" smtClean="0">
                <a:sym typeface="Huawei Sans" panose="020C0503030203020204" pitchFamily="34" charset="0"/>
              </a:rPr>
              <a:t>[Switch] </a:t>
            </a:r>
            <a:r>
              <a:rPr lang="en-US" altLang="zh-CN" dirty="0">
                <a:sym typeface="Huawei Sans" panose="020C0503030203020204" pitchFamily="34" charset="0"/>
              </a:rPr>
              <a:t>interface GigabitEthernet</a:t>
            </a:r>
            <a:r>
              <a:rPr lang="en-US" altLang="zh-CN" dirty="0" smtClean="0">
                <a:sym typeface="Huawei Sans" panose="020C0503030203020204" pitchFamily="34" charset="0"/>
              </a:rPr>
              <a:t> </a:t>
            </a:r>
            <a:r>
              <a:rPr lang="en-US" altLang="zh-CN" dirty="0">
                <a:sym typeface="Huawei Sans" panose="020C0503030203020204" pitchFamily="34" charset="0"/>
              </a:rPr>
              <a:t>0/0/3</a:t>
            </a:r>
          </a:p>
          <a:p>
            <a:pPr>
              <a:lnSpc>
                <a:spcPct val="100000"/>
              </a:lnSpc>
            </a:pPr>
            <a:r>
              <a:rPr lang="en-US" altLang="zh-CN" dirty="0" smtClean="0">
                <a:sym typeface="Huawei Sans" panose="020C0503030203020204" pitchFamily="34" charset="0"/>
              </a:rPr>
              <a:t>[Switch-GigabitEthernet0/0/3</a:t>
            </a:r>
            <a:r>
              <a:rPr lang="en-US" altLang="zh-CN" dirty="0">
                <a:sym typeface="Huawei Sans" panose="020C0503030203020204" pitchFamily="34" charset="0"/>
              </a:rPr>
              <a:t>] port link-type access</a:t>
            </a:r>
          </a:p>
          <a:p>
            <a:pPr>
              <a:lnSpc>
                <a:spcPct val="100000"/>
              </a:lnSpc>
            </a:pPr>
            <a:r>
              <a:rPr lang="en-US" altLang="zh-CN" dirty="0" smtClean="0">
                <a:sym typeface="Huawei Sans" panose="020C0503030203020204" pitchFamily="34" charset="0"/>
              </a:rPr>
              <a:t>[Switch-GigabitEthernet0/0/3</a:t>
            </a:r>
            <a:r>
              <a:rPr lang="en-US" altLang="zh-CN" dirty="0">
                <a:sym typeface="Huawei Sans" panose="020C0503030203020204" pitchFamily="34" charset="0"/>
              </a:rPr>
              <a:t>] port default </a:t>
            </a:r>
            <a:r>
              <a:rPr lang="en-US" altLang="zh-CN" dirty="0" err="1">
                <a:sym typeface="Huawei Sans" panose="020C0503030203020204" pitchFamily="34" charset="0"/>
              </a:rPr>
              <a:t>vlan</a:t>
            </a:r>
            <a:r>
              <a:rPr lang="en-US" altLang="zh-CN" dirty="0">
                <a:sym typeface="Huawei Sans" panose="020C0503030203020204" pitchFamily="34" charset="0"/>
              </a:rPr>
              <a:t> </a:t>
            </a:r>
            <a:r>
              <a:rPr lang="en-US" altLang="zh-CN" dirty="0" smtClean="0">
                <a:sym typeface="Huawei Sans" panose="020C0503030203020204" pitchFamily="34" charset="0"/>
              </a:rPr>
              <a:t>2</a:t>
            </a:r>
            <a:endParaRPr lang="en-US" altLang="zh-CN" dirty="0">
              <a:sym typeface="Huawei Sans" panose="020C0503030203020204" pitchFamily="34" charset="0"/>
            </a:endParaRPr>
          </a:p>
        </p:txBody>
      </p:sp>
    </p:spTree>
    <p:extLst>
      <p:ext uri="{BB962C8B-B14F-4D97-AF65-F5344CB8AC3E}">
        <p14:creationId xmlns:p14="http://schemas.microsoft.com/office/powerpoint/2010/main" val="14590438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端口隔离配置验证</a:t>
            </a:r>
            <a:endParaRPr lang="zh-CN" altLang="en-US" dirty="0">
              <a:sym typeface="Huawei Sans" panose="020C0503030203020204" pitchFamily="34" charset="0"/>
            </a:endParaRPr>
          </a:p>
        </p:txBody>
      </p:sp>
      <p:sp>
        <p:nvSpPr>
          <p:cNvPr id="5" name="文本占位符 4"/>
          <p:cNvSpPr>
            <a:spLocks noGrp="1"/>
          </p:cNvSpPr>
          <p:nvPr>
            <p:ph type="body" sz="quarter" idx="4294967295"/>
          </p:nvPr>
        </p:nvSpPr>
        <p:spPr bwMode="gray">
          <a:xfrm>
            <a:off x="559923" y="1391961"/>
            <a:ext cx="5428127" cy="688420"/>
          </a:xfrm>
        </p:spPr>
        <p:txBody>
          <a:bodyPr/>
          <a:lstStyle/>
          <a:p>
            <a:pPr marL="0" indent="0">
              <a:buNone/>
            </a:pPr>
            <a:r>
              <a:rPr lang="en-US" altLang="zh-CN" sz="1800" dirty="0" smtClean="0">
                <a:sym typeface="Huawei Sans" panose="020C0503030203020204" pitchFamily="34" charset="0"/>
              </a:rPr>
              <a:t>1. </a:t>
            </a:r>
            <a:r>
              <a:rPr lang="zh-CN" altLang="en-US" sz="1800" dirty="0" smtClean="0">
                <a:sym typeface="Huawei Sans" panose="020C0503030203020204" pitchFamily="34" charset="0"/>
              </a:rPr>
              <a:t>通过</a:t>
            </a:r>
            <a:r>
              <a:rPr lang="en-US" altLang="zh-CN" sz="1800" b="1" dirty="0" smtClean="0">
                <a:sym typeface="Huawei Sans" panose="020C0503030203020204" pitchFamily="34" charset="0"/>
              </a:rPr>
              <a:t>display port-isolate group group-number</a:t>
            </a:r>
            <a:r>
              <a:rPr lang="zh-CN" altLang="en-US" sz="1800" dirty="0" smtClean="0">
                <a:sym typeface="Huawei Sans" panose="020C0503030203020204" pitchFamily="34" charset="0"/>
              </a:rPr>
              <a:t>查看端口隔离组中的端口。</a:t>
            </a:r>
            <a:endParaRPr lang="en-US" altLang="zh-CN" sz="1800" dirty="0" smtClean="0">
              <a:sym typeface="Huawei Sans" panose="020C0503030203020204" pitchFamily="34" charset="0"/>
            </a:endParaRPr>
          </a:p>
        </p:txBody>
      </p:sp>
      <p:sp>
        <p:nvSpPr>
          <p:cNvPr id="4" name="矩形 3"/>
          <p:cNvSpPr/>
          <p:nvPr/>
        </p:nvSpPr>
        <p:spPr bwMode="gray">
          <a:xfrm>
            <a:off x="468317" y="2274437"/>
            <a:ext cx="5272738" cy="738664"/>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SW]display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port-isolate group 2</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The ports in isolate group 2:</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GigabitEthernet0/0/1     GigabitEthernet0/0/2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6283880" y="2274437"/>
            <a:ext cx="5272739" cy="2462213"/>
          </a:xfrm>
          <a:prstGeom prst="rect">
            <a:avLst/>
          </a:prstGeom>
          <a:solidFill>
            <a:schemeClr val="bg1">
              <a:lumMod val="85000"/>
            </a:schemeClr>
          </a:solidFill>
          <a:ln>
            <a:noFill/>
          </a:ln>
        </p:spPr>
        <p:txBody>
          <a:bodyPr wrap="squar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PC1&gt;ping 10.1.1.2</a:t>
            </a:r>
            <a:endPar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Ping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10.1.1.2: 32 data bytes, Press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Ctrl_C</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to break</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From 10.1.1.1: Destination host unreachable</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From 10.1.1.1: Destination host unreachable</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From 10.1.1.1: Destination host unreachable</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From 10.1.1.1: Destination host unreachable</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From 10.1.1.1: Destination host unreachable</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--- 10.1.1.2 ping statistics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 packet(s) transmitted</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 packet(s) received</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100.00% packet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loss</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bwMode="gray">
          <a:xfrm>
            <a:off x="6288914" y="1456320"/>
            <a:ext cx="4897495" cy="369332"/>
          </a:xfrm>
          <a:prstGeom prst="rect">
            <a:avLst/>
          </a:prstGeom>
        </p:spPr>
        <p:txBody>
          <a:bodyPr wrap="none">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2.  </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验证同</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一端口隔离组</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下主机网络</a:t>
            </a:r>
            <a:r>
              <a:rPr lang="zh-CN" altLang="en-US" dirty="0">
                <a:latin typeface="Huawei Sans" panose="020C0503030203020204" pitchFamily="34" charset="0"/>
                <a:ea typeface="方正兰亭黑简体" panose="02000000000000000000" pitchFamily="2" charset="-122"/>
                <a:sym typeface="Huawei Sans" panose="020C0503030203020204" pitchFamily="34" charset="0"/>
              </a:rPr>
              <a:t>不能</a:t>
            </a:r>
            <a:r>
              <a:rPr lang="zh-CN" altLang="en-US"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互通。</a:t>
            </a:r>
            <a:endParaRPr lang="zh-CN" altLang="en-US"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200778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b="1" dirty="0" smtClean="0">
                <a:sym typeface="Huawei Sans" panose="020C0503030203020204" pitchFamily="34" charset="0"/>
              </a:rPr>
              <a:t>以太网交换安全</a:t>
            </a:r>
            <a:endParaRPr lang="en-US" altLang="zh-CN" sz="1800" b="1" dirty="0" smtClean="0">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端口隔离</a:t>
            </a:r>
            <a:endParaRPr lang="en-US" altLang="zh-CN" sz="16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sz="1600" dirty="0">
                <a:sym typeface="Huawei Sans" panose="020C0503030203020204" pitchFamily="34" charset="0"/>
              </a:rPr>
              <a:t>MAC</a:t>
            </a:r>
            <a:r>
              <a:rPr lang="zh-CN" altLang="en-US" sz="1600" dirty="0">
                <a:sym typeface="Huawei Sans" panose="020C0503030203020204" pitchFamily="34" charset="0"/>
              </a:rPr>
              <a:t>地址表安全</a:t>
            </a:r>
            <a:endParaRPr lang="en-US" altLang="zh-CN" sz="1600" dirty="0">
              <a:sym typeface="Huawei Sans" panose="020C0503030203020204" pitchFamily="34" charset="0"/>
            </a:endParaRPr>
          </a:p>
          <a:p>
            <a:pPr lvl="1"/>
            <a:r>
              <a:rPr lang="zh-CN" altLang="en-US" sz="1600" dirty="0" smtClean="0">
                <a:solidFill>
                  <a:schemeClr val="bg1">
                    <a:lumMod val="50000"/>
                  </a:schemeClr>
                </a:solidFill>
                <a:sym typeface="Huawei Sans" panose="020C0503030203020204" pitchFamily="34" charset="0"/>
              </a:rPr>
              <a:t>端口安全</a:t>
            </a:r>
            <a:endParaRPr lang="en-US" altLang="zh-CN" sz="1600" dirty="0" smtClean="0">
              <a:solidFill>
                <a:schemeClr val="bg1">
                  <a:lumMod val="50000"/>
                </a:schemeClr>
              </a:solidFill>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MAC</a:t>
            </a:r>
            <a:r>
              <a:rPr lang="zh-CN" altLang="en-US" sz="1600" dirty="0" smtClean="0">
                <a:solidFill>
                  <a:schemeClr val="bg1">
                    <a:lumMod val="50000"/>
                  </a:schemeClr>
                </a:solidFill>
                <a:sym typeface="Huawei Sans" panose="020C0503030203020204" pitchFamily="34" charset="0"/>
              </a:rPr>
              <a:t>地址漂移防止与检测</a:t>
            </a:r>
            <a:endParaRPr lang="en-US" altLang="zh-CN" sz="1600" dirty="0" smtClean="0">
              <a:solidFill>
                <a:schemeClr val="bg1">
                  <a:lumMod val="50000"/>
                </a:schemeClr>
              </a:solidFill>
              <a:sym typeface="Huawei Sans" panose="020C0503030203020204" pitchFamily="34" charset="0"/>
            </a:endParaRPr>
          </a:p>
          <a:p>
            <a:pPr lvl="1"/>
            <a:r>
              <a:rPr lang="en-US" altLang="zh-CN" sz="1600" dirty="0" err="1" smtClean="0">
                <a:solidFill>
                  <a:schemeClr val="bg1">
                    <a:lumMod val="50000"/>
                  </a:schemeClr>
                </a:solidFill>
                <a:sym typeface="Huawei Sans" panose="020C0503030203020204" pitchFamily="34" charset="0"/>
              </a:rPr>
              <a:t>MACsec</a:t>
            </a:r>
            <a:endParaRPr lang="en-US" altLang="zh-CN" sz="1600" dirty="0" smtClean="0">
              <a:solidFill>
                <a:schemeClr val="bg1">
                  <a:lumMod val="50000"/>
                </a:schemeClr>
              </a:solidFill>
              <a:sym typeface="Huawei Sans" panose="020C0503030203020204" pitchFamily="34" charset="0"/>
            </a:endParaRPr>
          </a:p>
          <a:p>
            <a:pPr lvl="1"/>
            <a:r>
              <a:rPr lang="zh-CN" altLang="en-US" sz="1600" dirty="0" smtClean="0">
                <a:solidFill>
                  <a:schemeClr val="bg1">
                    <a:lumMod val="50000"/>
                  </a:schemeClr>
                </a:solidFill>
                <a:sym typeface="Huawei Sans" panose="020C0503030203020204" pitchFamily="34" charset="0"/>
              </a:rPr>
              <a:t>交换机流量控制</a:t>
            </a:r>
            <a:endParaRPr lang="en-US" altLang="zh-CN" sz="1600" dirty="0" smtClean="0">
              <a:solidFill>
                <a:schemeClr val="bg1">
                  <a:lumMod val="50000"/>
                </a:schemeClr>
              </a:solidFill>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DHCP Snooping</a:t>
            </a:r>
          </a:p>
          <a:p>
            <a:pPr lvl="1"/>
            <a:r>
              <a:rPr lang="en-US" altLang="zh-CN" sz="1600" dirty="0" smtClean="0">
                <a:solidFill>
                  <a:schemeClr val="bg1">
                    <a:lumMod val="50000"/>
                  </a:schemeClr>
                </a:solidFill>
                <a:sym typeface="Huawei Sans" panose="020C0503030203020204" pitchFamily="34" charset="0"/>
              </a:rPr>
              <a:t>IP Source Guard</a:t>
            </a:r>
          </a:p>
          <a:p>
            <a:r>
              <a:rPr lang="zh-CN" altLang="en-US" sz="1800" dirty="0" smtClean="0">
                <a:solidFill>
                  <a:schemeClr val="bg1">
                    <a:lumMod val="50000"/>
                  </a:schemeClr>
                </a:solidFill>
                <a:sym typeface="Huawei Sans" panose="020C0503030203020204" pitchFamily="34" charset="0"/>
              </a:rPr>
              <a:t>防火墙高级特性</a:t>
            </a:r>
            <a:endParaRPr lang="zh-CN" altLang="en-US"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334881813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MAC</a:t>
            </a:r>
            <a:r>
              <a:rPr lang="zh-CN" altLang="en-US" smtClean="0">
                <a:sym typeface="Huawei Sans" panose="020C0503030203020204" pitchFamily="34" charset="0"/>
              </a:rPr>
              <a:t>地址表项类型</a:t>
            </a:r>
            <a:endParaRPr lang="zh-CN" altLang="en-US" dirty="0">
              <a:sym typeface="Huawei Sans" panose="020C0503030203020204" pitchFamily="34" charset="0"/>
            </a:endParaRPr>
          </a:p>
        </p:txBody>
      </p:sp>
      <p:sp>
        <p:nvSpPr>
          <p:cNvPr id="3" name="文本占位符 2"/>
          <p:cNvSpPr>
            <a:spLocks noGrp="1"/>
          </p:cNvSpPr>
          <p:nvPr>
            <p:ph type="body" sz="quarter" idx="4294967295"/>
          </p:nvPr>
        </p:nvSpPr>
        <p:spPr bwMode="gray">
          <a:xfrm>
            <a:off x="5988051" y="1233488"/>
            <a:ext cx="5761036" cy="4679950"/>
          </a:xfrm>
        </p:spPr>
        <p:txBody>
          <a:bodyPr/>
          <a:lstStyle/>
          <a:p>
            <a:pPr marL="0" indent="0">
              <a:buNone/>
            </a:pPr>
            <a:r>
              <a:rPr lang="en-US" altLang="zh-CN" sz="1600" b="1" dirty="0" smtClean="0">
                <a:sym typeface="Huawei Sans" panose="020C0503030203020204" pitchFamily="34" charset="0"/>
              </a:rPr>
              <a:t>MAC</a:t>
            </a:r>
            <a:r>
              <a:rPr lang="zh-CN" altLang="en-US" sz="1600" b="1" dirty="0" smtClean="0">
                <a:sym typeface="Huawei Sans" panose="020C0503030203020204" pitchFamily="34" charset="0"/>
              </a:rPr>
              <a:t>地址表项类型包括：</a:t>
            </a:r>
            <a:endParaRPr lang="en-US" altLang="zh-CN" sz="1600" b="1" dirty="0" smtClean="0">
              <a:sym typeface="Huawei Sans" panose="020C0503030203020204" pitchFamily="34" charset="0"/>
            </a:endParaRPr>
          </a:p>
          <a:p>
            <a:pPr lvl="1"/>
            <a:r>
              <a:rPr lang="zh-CN" altLang="en-US" sz="1400" b="1" dirty="0" smtClean="0">
                <a:sym typeface="Huawei Sans" panose="020C0503030203020204" pitchFamily="34" charset="0"/>
              </a:rPr>
              <a:t>动态</a:t>
            </a:r>
            <a:r>
              <a:rPr lang="en-US" altLang="zh-CN" sz="1400" b="1" dirty="0">
                <a:sym typeface="Huawei Sans" panose="020C0503030203020204" pitchFamily="34" charset="0"/>
              </a:rPr>
              <a:t>MAC</a:t>
            </a:r>
            <a:r>
              <a:rPr lang="zh-CN" altLang="en-US" sz="1400" b="1" dirty="0">
                <a:sym typeface="Huawei Sans" panose="020C0503030203020204" pitchFamily="34" charset="0"/>
              </a:rPr>
              <a:t>地址表项</a:t>
            </a:r>
            <a:r>
              <a:rPr lang="zh-CN" altLang="en-US" sz="1400" dirty="0">
                <a:sym typeface="Huawei Sans" panose="020C0503030203020204" pitchFamily="34" charset="0"/>
              </a:rPr>
              <a:t>：由接口通过报文中的源</a:t>
            </a:r>
            <a:r>
              <a:rPr lang="en-US" altLang="zh-CN" sz="1400" dirty="0">
                <a:sym typeface="Huawei Sans" panose="020C0503030203020204" pitchFamily="34" charset="0"/>
              </a:rPr>
              <a:t>MAC</a:t>
            </a:r>
            <a:r>
              <a:rPr lang="zh-CN" altLang="en-US" sz="1400" dirty="0">
                <a:sym typeface="Huawei Sans" panose="020C0503030203020204" pitchFamily="34" charset="0"/>
              </a:rPr>
              <a:t>地址学习获得，表项可老化。在系统复位、接口板热插拔或接口板复位后，动态表项会丢失。</a:t>
            </a:r>
          </a:p>
          <a:p>
            <a:pPr lvl="1"/>
            <a:r>
              <a:rPr lang="zh-CN" altLang="en-US" sz="1400" b="1" dirty="0">
                <a:sym typeface="Huawei Sans" panose="020C0503030203020204" pitchFamily="34" charset="0"/>
              </a:rPr>
              <a:t>静态</a:t>
            </a:r>
            <a:r>
              <a:rPr lang="en-US" altLang="zh-CN" sz="1400" b="1" dirty="0">
                <a:sym typeface="Huawei Sans" panose="020C0503030203020204" pitchFamily="34" charset="0"/>
              </a:rPr>
              <a:t>MAC</a:t>
            </a:r>
            <a:r>
              <a:rPr lang="zh-CN" altLang="en-US" sz="1400" b="1" dirty="0">
                <a:sym typeface="Huawei Sans" panose="020C0503030203020204" pitchFamily="34" charset="0"/>
              </a:rPr>
              <a:t>地址表项</a:t>
            </a:r>
            <a:r>
              <a:rPr lang="zh-CN" altLang="en-US" sz="1400" dirty="0">
                <a:sym typeface="Huawei Sans" panose="020C0503030203020204" pitchFamily="34" charset="0"/>
              </a:rPr>
              <a:t>：由用户手工配置并下发到各接口板，表项不老化。在系统复位、接口板热插拔或接口板复位后，保存的表项不会丢失。接口和</a:t>
            </a:r>
            <a:r>
              <a:rPr lang="en-US" altLang="zh-CN" sz="1400" dirty="0">
                <a:sym typeface="Huawei Sans" panose="020C0503030203020204" pitchFamily="34" charset="0"/>
              </a:rPr>
              <a:t>MAC</a:t>
            </a:r>
            <a:r>
              <a:rPr lang="zh-CN" altLang="en-US" sz="1400" dirty="0">
                <a:sym typeface="Huawei Sans" panose="020C0503030203020204" pitchFamily="34" charset="0"/>
              </a:rPr>
              <a:t>地址静态绑定后，其他接口收到源</a:t>
            </a:r>
            <a:r>
              <a:rPr lang="en-US" altLang="zh-CN" sz="1400" dirty="0">
                <a:sym typeface="Huawei Sans" panose="020C0503030203020204" pitchFamily="34" charset="0"/>
              </a:rPr>
              <a:t>MAC</a:t>
            </a:r>
            <a:r>
              <a:rPr lang="zh-CN" altLang="en-US" sz="1400" dirty="0">
                <a:sym typeface="Huawei Sans" panose="020C0503030203020204" pitchFamily="34" charset="0"/>
              </a:rPr>
              <a:t>是该</a:t>
            </a:r>
            <a:r>
              <a:rPr lang="en-US" altLang="zh-CN" sz="1400" dirty="0">
                <a:sym typeface="Huawei Sans" panose="020C0503030203020204" pitchFamily="34" charset="0"/>
              </a:rPr>
              <a:t>MAC</a:t>
            </a:r>
            <a:r>
              <a:rPr lang="zh-CN" altLang="en-US" sz="1400" dirty="0">
                <a:sym typeface="Huawei Sans" panose="020C0503030203020204" pitchFamily="34" charset="0"/>
              </a:rPr>
              <a:t>地址的报文将会被丢弃。</a:t>
            </a:r>
          </a:p>
          <a:p>
            <a:pPr lvl="1"/>
            <a:r>
              <a:rPr lang="zh-CN" altLang="en-US" sz="1400" b="1" dirty="0">
                <a:sym typeface="Huawei Sans" panose="020C0503030203020204" pitchFamily="34" charset="0"/>
              </a:rPr>
              <a:t>黑洞</a:t>
            </a:r>
            <a:r>
              <a:rPr lang="en-US" altLang="zh-CN" sz="1400" b="1" dirty="0">
                <a:sym typeface="Huawei Sans" panose="020C0503030203020204" pitchFamily="34" charset="0"/>
              </a:rPr>
              <a:t>MAC</a:t>
            </a:r>
            <a:r>
              <a:rPr lang="zh-CN" altLang="en-US" sz="1400" b="1" dirty="0">
                <a:sym typeface="Huawei Sans" panose="020C0503030203020204" pitchFamily="34" charset="0"/>
              </a:rPr>
              <a:t>地址表项</a:t>
            </a:r>
            <a:r>
              <a:rPr lang="zh-CN" altLang="en-US" sz="1400" dirty="0">
                <a:sym typeface="Huawei Sans" panose="020C0503030203020204" pitchFamily="34" charset="0"/>
              </a:rPr>
              <a:t>：由用户手工配置，并下发到各接口板，表项不可老化。配置黑洞</a:t>
            </a:r>
            <a:r>
              <a:rPr lang="en-US" altLang="zh-CN" sz="1400" dirty="0">
                <a:sym typeface="Huawei Sans" panose="020C0503030203020204" pitchFamily="34" charset="0"/>
              </a:rPr>
              <a:t>MAC</a:t>
            </a:r>
            <a:r>
              <a:rPr lang="zh-CN" altLang="en-US" sz="1400" dirty="0">
                <a:sym typeface="Huawei Sans" panose="020C0503030203020204" pitchFamily="34" charset="0"/>
              </a:rPr>
              <a:t>地址后，源</a:t>
            </a:r>
            <a:r>
              <a:rPr lang="en-US" altLang="zh-CN" sz="1400" dirty="0">
                <a:sym typeface="Huawei Sans" panose="020C0503030203020204" pitchFamily="34" charset="0"/>
              </a:rPr>
              <a:t>MAC</a:t>
            </a:r>
            <a:r>
              <a:rPr lang="zh-CN" altLang="en-US" sz="1400" dirty="0">
                <a:sym typeface="Huawei Sans" panose="020C0503030203020204" pitchFamily="34" charset="0"/>
              </a:rPr>
              <a:t>地址或目的</a:t>
            </a:r>
            <a:r>
              <a:rPr lang="en-US" altLang="zh-CN" sz="1400" dirty="0">
                <a:sym typeface="Huawei Sans" panose="020C0503030203020204" pitchFamily="34" charset="0"/>
              </a:rPr>
              <a:t>MAC</a:t>
            </a:r>
            <a:r>
              <a:rPr lang="zh-CN" altLang="en-US" sz="1400" dirty="0">
                <a:sym typeface="Huawei Sans" panose="020C0503030203020204" pitchFamily="34" charset="0"/>
              </a:rPr>
              <a:t>地址是该</a:t>
            </a:r>
            <a:r>
              <a:rPr lang="en-US" altLang="zh-CN" sz="1400" dirty="0">
                <a:sym typeface="Huawei Sans" panose="020C0503030203020204" pitchFamily="34" charset="0"/>
              </a:rPr>
              <a:t>MAC</a:t>
            </a:r>
            <a:r>
              <a:rPr lang="zh-CN" altLang="en-US" sz="1400" dirty="0">
                <a:sym typeface="Huawei Sans" panose="020C0503030203020204" pitchFamily="34" charset="0"/>
              </a:rPr>
              <a:t>的报文将会被丢弃。</a:t>
            </a:r>
          </a:p>
          <a:p>
            <a:endParaRPr lang="zh-CN" altLang="en-US" sz="1600" dirty="0">
              <a:sym typeface="Huawei Sans" panose="020C0503030203020204" pitchFamily="34" charset="0"/>
            </a:endParaRP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78150" y="1181218"/>
            <a:ext cx="540000" cy="442800"/>
          </a:xfrm>
          <a:prstGeom prst="rect">
            <a:avLst/>
          </a:prstGeom>
        </p:spPr>
      </p:pic>
      <p:pic>
        <p:nvPicPr>
          <p:cNvPr id="5" name="图片 4" descr="PC.png"/>
          <p:cNvPicPr>
            <a:picLocks noChangeAspect="1"/>
          </p:cNvPicPr>
          <p:nvPr/>
        </p:nvPicPr>
        <p:blipFill>
          <a:blip r:embed="rId4" cstate="print"/>
          <a:stretch>
            <a:fillRect/>
          </a:stretch>
        </p:blipFill>
        <p:spPr bwMode="gray">
          <a:xfrm>
            <a:off x="4488967" y="2523395"/>
            <a:ext cx="539063" cy="414000"/>
          </a:xfrm>
          <a:prstGeom prst="rect">
            <a:avLst/>
          </a:prstGeom>
        </p:spPr>
      </p:pic>
      <p:pic>
        <p:nvPicPr>
          <p:cNvPr id="6" name="图片 5" descr="PC.png"/>
          <p:cNvPicPr>
            <a:picLocks noChangeAspect="1"/>
          </p:cNvPicPr>
          <p:nvPr/>
        </p:nvPicPr>
        <p:blipFill>
          <a:blip r:embed="rId4" cstate="print"/>
          <a:stretch>
            <a:fillRect/>
          </a:stretch>
        </p:blipFill>
        <p:spPr bwMode="gray">
          <a:xfrm>
            <a:off x="2979087" y="2521663"/>
            <a:ext cx="539063" cy="414000"/>
          </a:xfrm>
          <a:prstGeom prst="rect">
            <a:avLst/>
          </a:prstGeom>
        </p:spPr>
      </p:pic>
      <p:pic>
        <p:nvPicPr>
          <p:cNvPr id="7" name="图片 6" descr="PC.png"/>
          <p:cNvPicPr>
            <a:picLocks noChangeAspect="1"/>
          </p:cNvPicPr>
          <p:nvPr/>
        </p:nvPicPr>
        <p:blipFill>
          <a:blip r:embed="rId4" cstate="print"/>
          <a:stretch>
            <a:fillRect/>
          </a:stretch>
        </p:blipFill>
        <p:spPr bwMode="gray">
          <a:xfrm>
            <a:off x="1510494" y="2523395"/>
            <a:ext cx="539063" cy="414000"/>
          </a:xfrm>
          <a:prstGeom prst="rect">
            <a:avLst/>
          </a:prstGeom>
        </p:spPr>
      </p:pic>
      <p:cxnSp>
        <p:nvCxnSpPr>
          <p:cNvPr id="8" name="直接连接符 7"/>
          <p:cNvCxnSpPr>
            <a:endCxn id="7" idx="0"/>
          </p:cNvCxnSpPr>
          <p:nvPr/>
        </p:nvCxnSpPr>
        <p:spPr bwMode="gray">
          <a:xfrm flipH="1">
            <a:off x="1780026" y="1609207"/>
            <a:ext cx="1288076" cy="91418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4" idx="2"/>
            <a:endCxn id="6" idx="0"/>
          </p:cNvCxnSpPr>
          <p:nvPr/>
        </p:nvCxnSpPr>
        <p:spPr bwMode="gray">
          <a:xfrm>
            <a:off x="3248150" y="1624018"/>
            <a:ext cx="469" cy="8976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endCxn id="5" idx="0"/>
          </p:cNvCxnSpPr>
          <p:nvPr/>
        </p:nvCxnSpPr>
        <p:spPr bwMode="gray">
          <a:xfrm>
            <a:off x="3428667" y="1609207"/>
            <a:ext cx="1329832" cy="91418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bwMode="gray">
          <a:xfrm>
            <a:off x="3494840" y="1125824"/>
            <a:ext cx="76335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2211058" y="1518130"/>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3182160" y="1892170"/>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3560629" y="1522399"/>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1507421" y="290846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2981201" y="290846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4483780" y="2906731"/>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18" name="表格 17"/>
          <p:cNvGraphicFramePr>
            <a:graphicFrameLocks noGrp="1"/>
          </p:cNvGraphicFramePr>
          <p:nvPr>
            <p:extLst>
              <p:ext uri="{D42A27DB-BD31-4B8C-83A1-F6EECF244321}">
                <p14:modId xmlns:p14="http://schemas.microsoft.com/office/powerpoint/2010/main" val="1339315010"/>
              </p:ext>
            </p:extLst>
          </p:nvPr>
        </p:nvGraphicFramePr>
        <p:xfrm>
          <a:off x="714969" y="4245576"/>
          <a:ext cx="5067300" cy="1516820"/>
        </p:xfrm>
        <a:graphic>
          <a:graphicData uri="http://schemas.openxmlformats.org/drawingml/2006/table">
            <a:tbl>
              <a:tblPr/>
              <a:tblGrid>
                <a:gridCol w="1851879"/>
                <a:gridCol w="941795"/>
                <a:gridCol w="1094004"/>
                <a:gridCol w="1179622"/>
              </a:tblGrid>
              <a:tr h="389283">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VLAN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接口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600" b="1" i="0" u="none" strike="noStrike"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Type</a:t>
                      </a:r>
                      <a:endPar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93442">
                <a:tc>
                  <a:txBody>
                    <a:bodyPr/>
                    <a:lstStyle/>
                    <a:p>
                      <a:pPr algn="ctr" rtl="0" fontAlgn="ct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0021-0000-0001</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GE0/0/1</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Static</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99245">
                <a:tc>
                  <a:txBody>
                    <a:bodyPr/>
                    <a:lstStyle/>
                    <a:p>
                      <a:pPr algn="ctr" rtl="0" fontAlgn="ctr"/>
                      <a:r>
                        <a:rPr lang="en-US" altLang="zh-CN" sz="14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0021-0000-0002</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GE0/0/2</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Blackhole</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4850">
                <a:tc>
                  <a:txBody>
                    <a:bodyPr/>
                    <a:lstStyle/>
                    <a:p>
                      <a:pPr algn="ctr" rtl="0" fontAlgn="ct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0021-0000-0003</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rtl="0" fontAlgn="ct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GE0/0/3</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rtl="0" fontAlgn="ctr"/>
                      <a:r>
                        <a:rPr lang="en-US" sz="1400" b="0"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Dynamic</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
        <p:nvSpPr>
          <p:cNvPr id="20" name="矩形 19"/>
          <p:cNvSpPr/>
          <p:nvPr/>
        </p:nvSpPr>
        <p:spPr bwMode="gray">
          <a:xfrm>
            <a:off x="831230" y="3183307"/>
            <a:ext cx="1537600" cy="307777"/>
          </a:xfrm>
          <a:prstGeom prst="rect">
            <a:avLst/>
          </a:prstGeom>
        </p:spPr>
        <p:txBody>
          <a:bodyPr wrap="none">
            <a:spAutoFit/>
          </a:bodyPr>
          <a:lstStyle/>
          <a:p>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0021-0000-0001</a:t>
            </a:r>
          </a:p>
        </p:txBody>
      </p:sp>
      <p:sp>
        <p:nvSpPr>
          <p:cNvPr id="21" name="矩形 20"/>
          <p:cNvSpPr/>
          <p:nvPr/>
        </p:nvSpPr>
        <p:spPr bwMode="gray">
          <a:xfrm>
            <a:off x="2550148" y="3183307"/>
            <a:ext cx="1537600" cy="307777"/>
          </a:xfrm>
          <a:prstGeom prst="rect">
            <a:avLst/>
          </a:prstGeom>
        </p:spPr>
        <p:txBody>
          <a:bodyPr wrap="none">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0021-0000-0002</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矩形 21"/>
          <p:cNvSpPr/>
          <p:nvPr/>
        </p:nvSpPr>
        <p:spPr bwMode="gray">
          <a:xfrm>
            <a:off x="4269065" y="3183307"/>
            <a:ext cx="1537600" cy="307777"/>
          </a:xfrm>
          <a:prstGeom prst="rect">
            <a:avLst/>
          </a:prstGeom>
        </p:spPr>
        <p:txBody>
          <a:bodyPr wrap="none">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0021-0000-0003</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6903839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bwMode="gray">
          <a:xfrm>
            <a:off x="5805281" y="1575783"/>
            <a:ext cx="5649912" cy="721951"/>
          </a:xfrm>
          <a:prstGeom prst="roundRect">
            <a:avLst>
              <a:gd name="adj" fmla="val 1456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5805281" y="2469484"/>
            <a:ext cx="5649912" cy="721951"/>
          </a:xfrm>
          <a:prstGeom prst="roundRect">
            <a:avLst>
              <a:gd name="adj" fmla="val 1456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5805281" y="3342881"/>
            <a:ext cx="5649912" cy="721951"/>
          </a:xfrm>
          <a:prstGeom prst="roundRect">
            <a:avLst>
              <a:gd name="adj" fmla="val 1456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圆角矩形 22"/>
          <p:cNvSpPr/>
          <p:nvPr/>
        </p:nvSpPr>
        <p:spPr bwMode="gray">
          <a:xfrm>
            <a:off x="5805281" y="4196043"/>
            <a:ext cx="5649912" cy="721951"/>
          </a:xfrm>
          <a:prstGeom prst="roundRect">
            <a:avLst>
              <a:gd name="adj" fmla="val 1456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5805281" y="5136012"/>
            <a:ext cx="5649912" cy="721951"/>
          </a:xfrm>
          <a:prstGeom prst="roundRect">
            <a:avLst>
              <a:gd name="adj" fmla="val 1456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圆角矩形 14"/>
          <p:cNvSpPr/>
          <p:nvPr/>
        </p:nvSpPr>
        <p:spPr bwMode="gray">
          <a:xfrm>
            <a:off x="2375206" y="1716725"/>
            <a:ext cx="2462664" cy="462651"/>
          </a:xfrm>
          <a:prstGeom prst="roundRect">
            <a:avLst>
              <a:gd name="adj" fmla="val 23738"/>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圆角矩形 15"/>
          <p:cNvSpPr/>
          <p:nvPr/>
        </p:nvSpPr>
        <p:spPr bwMode="gray">
          <a:xfrm>
            <a:off x="2375206" y="2576082"/>
            <a:ext cx="2462664" cy="462651"/>
          </a:xfrm>
          <a:prstGeom prst="roundRect">
            <a:avLst>
              <a:gd name="adj" fmla="val 23738"/>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gray">
          <a:xfrm>
            <a:off x="2375206" y="3472532"/>
            <a:ext cx="2462664" cy="462651"/>
          </a:xfrm>
          <a:prstGeom prst="roundRect">
            <a:avLst>
              <a:gd name="adj" fmla="val 23738"/>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圆角矩形 17"/>
          <p:cNvSpPr/>
          <p:nvPr/>
        </p:nvSpPr>
        <p:spPr bwMode="gray">
          <a:xfrm>
            <a:off x="2375206" y="4378675"/>
            <a:ext cx="2462664" cy="462651"/>
          </a:xfrm>
          <a:prstGeom prst="roundRect">
            <a:avLst>
              <a:gd name="adj" fmla="val 23738"/>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圆角矩形 18"/>
          <p:cNvSpPr/>
          <p:nvPr/>
        </p:nvSpPr>
        <p:spPr bwMode="gray">
          <a:xfrm>
            <a:off x="2375206" y="5265663"/>
            <a:ext cx="2462664" cy="462651"/>
          </a:xfrm>
          <a:prstGeom prst="roundRect">
            <a:avLst>
              <a:gd name="adj" fmla="val 23738"/>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smtClean="0">
                <a:sym typeface="Huawei Sans" panose="020C0503030203020204" pitchFamily="34" charset="0"/>
              </a:rPr>
              <a:t>MAC</a:t>
            </a:r>
            <a:r>
              <a:rPr lang="zh-CN" altLang="en-US" smtClean="0">
                <a:sym typeface="Huawei Sans" panose="020C0503030203020204" pitchFamily="34" charset="0"/>
              </a:rPr>
              <a:t>地址表安全功能</a:t>
            </a:r>
            <a:endParaRPr lang="zh-CN" altLang="en-US" dirty="0">
              <a:sym typeface="Huawei Sans" panose="020C0503030203020204" pitchFamily="34" charset="0"/>
            </a:endParaRPr>
          </a:p>
        </p:txBody>
      </p:sp>
      <p:sp>
        <p:nvSpPr>
          <p:cNvPr id="4" name="文本框 3"/>
          <p:cNvSpPr txBox="1"/>
          <p:nvPr/>
        </p:nvSpPr>
        <p:spPr bwMode="gray">
          <a:xfrm>
            <a:off x="2375206" y="1779761"/>
            <a:ext cx="1866217" cy="338554"/>
          </a:xfrm>
          <a:prstGeom prst="rect">
            <a:avLst/>
          </a:prstGeom>
          <a:noFill/>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静态</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地址表项</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文本框 4"/>
          <p:cNvSpPr txBox="1"/>
          <p:nvPr/>
        </p:nvSpPr>
        <p:spPr bwMode="gray">
          <a:xfrm>
            <a:off x="2375206" y="2666749"/>
            <a:ext cx="1866217" cy="338554"/>
          </a:xfrm>
          <a:prstGeom prst="rect">
            <a:avLst/>
          </a:prstGeom>
          <a:noFill/>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黑洞</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地址表项</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p:cNvSpPr txBox="1"/>
          <p:nvPr/>
        </p:nvSpPr>
        <p:spPr bwMode="gray">
          <a:xfrm>
            <a:off x="2375206" y="3553737"/>
            <a:ext cx="2276585" cy="338554"/>
          </a:xfrm>
          <a:prstGeom prst="rect">
            <a:avLst/>
          </a:prstGeom>
          <a:noFill/>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动态</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地址老化时间</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2375206" y="4440725"/>
            <a:ext cx="2276585" cy="338554"/>
          </a:xfrm>
          <a:prstGeom prst="rect">
            <a:avLst/>
          </a:prstGeom>
          <a:noFill/>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禁止</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地址学习功能</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2375206" y="5327713"/>
            <a:ext cx="2276585" cy="338554"/>
          </a:xfrm>
          <a:prstGeom prst="rect">
            <a:avLst/>
          </a:prstGeom>
          <a:noFill/>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限制</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地址学习数量</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728737" y="3349434"/>
            <a:ext cx="1346844" cy="646331"/>
          </a:xfrm>
          <a:prstGeom prst="rect">
            <a:avLst/>
          </a:prstGeom>
          <a:noFill/>
        </p:spPr>
        <p:txBody>
          <a:bodyPr wrap="none" rtlCol="0">
            <a:spAutoFit/>
          </a:bodyPr>
          <a:lstStyle/>
          <a:p>
            <a:pPr algn="ctr"/>
            <a:r>
              <a:rPr lang="zh-CN" altLang="en-US" b="1" dirty="0" smtClean="0">
                <a:latin typeface="Huawei Sans" panose="020C0503030203020204" pitchFamily="34" charset="0"/>
                <a:ea typeface="方正兰亭黑简体" panose="02000000000000000000" pitchFamily="2" charset="-122"/>
                <a:sym typeface="Huawei Sans" panose="020C0503030203020204" pitchFamily="34" charset="0"/>
              </a:rPr>
              <a:t>实现</a:t>
            </a:r>
            <a:r>
              <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rPr>
              <a:t>MAC</a:t>
            </a:r>
          </a:p>
          <a:p>
            <a:pPr algn="ctr"/>
            <a:r>
              <a:rPr lang="zh-CN" altLang="en-US" b="1" dirty="0" smtClean="0">
                <a:latin typeface="Huawei Sans" panose="020C0503030203020204" pitchFamily="34" charset="0"/>
                <a:ea typeface="方正兰亭黑简体" panose="02000000000000000000" pitchFamily="2" charset="-122"/>
                <a:sym typeface="Huawei Sans" panose="020C0503030203020204" pitchFamily="34" charset="0"/>
              </a:rPr>
              <a:t>地址表安全</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文本框 9"/>
          <p:cNvSpPr txBox="1"/>
          <p:nvPr/>
        </p:nvSpPr>
        <p:spPr bwMode="gray">
          <a:xfrm>
            <a:off x="5805280" y="1655664"/>
            <a:ext cx="5649913" cy="523220"/>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将一些固定的上行设备或者信任用户的</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地址配置为静态</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表项，可以保证其安全通信。</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文本框 10"/>
          <p:cNvSpPr txBox="1"/>
          <p:nvPr/>
        </p:nvSpPr>
        <p:spPr bwMode="gray">
          <a:xfrm>
            <a:off x="5805280" y="2543638"/>
            <a:ext cx="5649913" cy="523220"/>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防止黑客通过</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地址攻击网络，交换机对来自黑洞</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或者去往黑洞</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的报文采取丢弃处理。</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5805280" y="3429128"/>
            <a:ext cx="5533280" cy="523220"/>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合理配置动态</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地址表项的老化时间，可以防止</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地址爆炸式增长。</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5805281" y="4194503"/>
            <a:ext cx="5649911" cy="738664"/>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对于网络环境固定的场景或者已经明确转发路径的场景，通过配置禁止</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地址学习功能，可以限制非信任用户接入，防止</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地址攻击，提高网络安全性。</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5805280" y="5204602"/>
            <a:ext cx="5649912" cy="523220"/>
          </a:xfrm>
          <a:prstGeom prst="rect">
            <a:avLst/>
          </a:prstGeom>
          <a:noFill/>
        </p:spPr>
        <p:txBody>
          <a:bodyPr wrap="squar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在安全性较差的网路环境中，通过限制</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地址学习数量，可以防止攻击者通过变换</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地址进行攻击。</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Right Arrow 157"/>
          <p:cNvSpPr/>
          <p:nvPr/>
        </p:nvSpPr>
        <p:spPr bwMode="gray">
          <a:xfrm>
            <a:off x="4924011" y="1797266"/>
            <a:ext cx="795129" cy="319178"/>
          </a:xfrm>
          <a:prstGeom prst="rightArrow">
            <a:avLst>
              <a:gd name="adj1" fmla="val 79333"/>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Right Arrow 157"/>
          <p:cNvSpPr/>
          <p:nvPr/>
        </p:nvSpPr>
        <p:spPr bwMode="gray">
          <a:xfrm>
            <a:off x="4924011" y="2645659"/>
            <a:ext cx="795129" cy="319178"/>
          </a:xfrm>
          <a:prstGeom prst="rightArrow">
            <a:avLst>
              <a:gd name="adj1" fmla="val 79333"/>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Right Arrow 157"/>
          <p:cNvSpPr/>
          <p:nvPr/>
        </p:nvSpPr>
        <p:spPr bwMode="gray">
          <a:xfrm>
            <a:off x="4924011" y="3531149"/>
            <a:ext cx="795129" cy="319178"/>
          </a:xfrm>
          <a:prstGeom prst="rightArrow">
            <a:avLst>
              <a:gd name="adj1" fmla="val 79333"/>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Right Arrow 157"/>
          <p:cNvSpPr/>
          <p:nvPr/>
        </p:nvSpPr>
        <p:spPr bwMode="gray">
          <a:xfrm>
            <a:off x="4924011" y="4461123"/>
            <a:ext cx="795129" cy="319178"/>
          </a:xfrm>
          <a:prstGeom prst="rightArrow">
            <a:avLst>
              <a:gd name="adj1" fmla="val 79333"/>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Right Arrow 157"/>
          <p:cNvSpPr/>
          <p:nvPr/>
        </p:nvSpPr>
        <p:spPr bwMode="gray">
          <a:xfrm>
            <a:off x="4924011" y="5337398"/>
            <a:ext cx="795129" cy="319178"/>
          </a:xfrm>
          <a:prstGeom prst="rightArrow">
            <a:avLst>
              <a:gd name="adj1" fmla="val 79333"/>
              <a:gd name="adj2" fmla="val 5000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AutoShape 90"/>
          <p:cNvSpPr>
            <a:spLocks/>
          </p:cNvSpPr>
          <p:nvPr/>
        </p:nvSpPr>
        <p:spPr bwMode="gray">
          <a:xfrm>
            <a:off x="2075581" y="1900538"/>
            <a:ext cx="213484" cy="3606085"/>
          </a:xfrm>
          <a:prstGeom prst="leftBrace">
            <a:avLst>
              <a:gd name="adj1" fmla="val 189561"/>
              <a:gd name="adj2" fmla="val 50000"/>
            </a:avLst>
          </a:prstGeom>
          <a:noFill/>
          <a:ln w="28575">
            <a:solidFill>
              <a:schemeClr val="bg1">
                <a:lumMod val="50000"/>
              </a:schemeClr>
            </a:solidFill>
            <a:round/>
            <a:headEnd/>
            <a:tailEnd/>
          </a:ln>
        </p:spPr>
        <p:txBody>
          <a:bodyPr wrap="none" anchor="ctr"/>
          <a:lstStyle/>
          <a:p>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325031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MAC</a:t>
            </a:r>
            <a:r>
              <a:rPr lang="zh-CN" altLang="en-US" smtClean="0">
                <a:sym typeface="Huawei Sans" panose="020C0503030203020204" pitchFamily="34" charset="0"/>
              </a:rPr>
              <a:t>地址表项配置</a:t>
            </a:r>
            <a:endParaRPr lang="zh-CN" altLang="en-US" dirty="0">
              <a:sym typeface="Huawei Sans" panose="020C0503030203020204" pitchFamily="34" charset="0"/>
            </a:endParaRPr>
          </a:p>
        </p:txBody>
      </p:sp>
      <p:sp>
        <p:nvSpPr>
          <p:cNvPr id="9" name="矩形 8"/>
          <p:cNvSpPr/>
          <p:nvPr/>
        </p:nvSpPr>
        <p:spPr bwMode="gray">
          <a:xfrm>
            <a:off x="1031917" y="1797459"/>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mac-address static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mac-address</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interface-type interface-number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vlan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vlan-id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bwMode="gray">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配置静态</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表项</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bwMode="gray">
          <a:xfrm>
            <a:off x="1031916" y="2144933"/>
            <a:ext cx="10608699" cy="707886"/>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指定</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必须已经创建并且已经加入绑定的</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端口；指定</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地址，必须是单播</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地址，不能是组播和广播</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p:cNvSpPr/>
          <p:nvPr/>
        </p:nvSpPr>
        <p:spPr bwMode="gray">
          <a:xfrm>
            <a:off x="1031917" y="3418015"/>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mac-address blackhole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mac-address</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vlan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vlan-id</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bwMode="gray">
          <a:xfrm>
            <a:off x="551384" y="2985868"/>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配置黑洞</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表项</a:t>
            </a:r>
          </a:p>
        </p:txBody>
      </p:sp>
      <p:sp>
        <p:nvSpPr>
          <p:cNvPr id="14" name="矩形 13"/>
          <p:cNvSpPr/>
          <p:nvPr/>
        </p:nvSpPr>
        <p:spPr bwMode="gray">
          <a:xfrm>
            <a:off x="1031916" y="3850162"/>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当设备收到目的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或源</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地址为黑洞</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地址的报文，直接丢弃。</a:t>
            </a:r>
          </a:p>
        </p:txBody>
      </p:sp>
      <p:sp>
        <p:nvSpPr>
          <p:cNvPr id="15" name="矩形 14"/>
          <p:cNvSpPr/>
          <p:nvPr/>
        </p:nvSpPr>
        <p:spPr bwMode="gray">
          <a:xfrm>
            <a:off x="1031917" y="4790451"/>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mac-address aging-time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aging-time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a:off x="551384" y="4358304"/>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配置动态</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表项的老化时间</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3100593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禁止</a:t>
            </a:r>
            <a:r>
              <a:rPr lang="en-US" altLang="zh-CN" smtClean="0">
                <a:sym typeface="Huawei Sans" panose="020C0503030203020204" pitchFamily="34" charset="0"/>
              </a:rPr>
              <a:t>MAC</a:t>
            </a:r>
            <a:r>
              <a:rPr lang="zh-CN" altLang="en-US" smtClean="0">
                <a:sym typeface="Huawei Sans" panose="020C0503030203020204" pitchFamily="34" charset="0"/>
              </a:rPr>
              <a:t>地址学习功能</a:t>
            </a:r>
            <a:endParaRPr lang="zh-CN" altLang="en-US" dirty="0">
              <a:sym typeface="Huawei Sans" panose="020C0503030203020204" pitchFamily="34" charset="0"/>
            </a:endParaRPr>
          </a:p>
        </p:txBody>
      </p:sp>
      <p:sp>
        <p:nvSpPr>
          <p:cNvPr id="4" name="矩形 3"/>
          <p:cNvSpPr/>
          <p:nvPr/>
        </p:nvSpPr>
        <p:spPr bwMode="gray">
          <a:xfrm>
            <a:off x="926621" y="1797459"/>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mac-address learning disable [ action { discard | forward }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551383"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关闭基于接口</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地址学习</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926621" y="2144933"/>
            <a:ext cx="10608699" cy="1323439"/>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缺省情况下，接口的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地址学习功能是使能</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的：</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buFont typeface="Huawei Sans" panose="020C0503030203020204" pitchFamily="34" charset="0"/>
              <a:buChar char="▫"/>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关闭</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地址学习功能的缺省动作为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forward</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，即对报文进行转发</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nSpc>
                <a:spcPts val="2400"/>
              </a:lnSpc>
              <a:buFont typeface="Huawei Sans" panose="020C0503030203020204" pitchFamily="34" charset="0"/>
              <a:buChar char="▫"/>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当</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配置动作为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discard</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时</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，会对报文的源</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地址进行匹配，</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当接口和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地址表项匹配时，则对该报文进行转发。当接口和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地址与</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地址表项不</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匹配时</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，则丢弃该报文。</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bwMode="gray">
          <a:xfrm>
            <a:off x="926621" y="3953004"/>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[Huawei-vlan2]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mac-address learning disable</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gray">
          <a:xfrm>
            <a:off x="551383" y="3520857"/>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关闭基于</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地址学习功能</a:t>
            </a:r>
          </a:p>
        </p:txBody>
      </p:sp>
      <p:sp>
        <p:nvSpPr>
          <p:cNvPr id="9" name="矩形 8"/>
          <p:cNvSpPr/>
          <p:nvPr/>
        </p:nvSpPr>
        <p:spPr bwMode="gray">
          <a:xfrm>
            <a:off x="926621" y="4385151"/>
            <a:ext cx="10608699" cy="707886"/>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地址学习功能是使能的</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pPr fontAlgn="auto">
              <a:lnSpc>
                <a:spcPts val="2400"/>
              </a:lnSpc>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当同时配置基于接口和基于</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的禁止</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地址学习功能时，基于</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的优先级要高于基于接口的优先级配置。</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30937959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限制</a:t>
            </a:r>
            <a:r>
              <a:rPr lang="en-US" altLang="zh-CN" smtClean="0">
                <a:sym typeface="Huawei Sans" panose="020C0503030203020204" pitchFamily="34" charset="0"/>
              </a:rPr>
              <a:t>MAC</a:t>
            </a:r>
            <a:r>
              <a:rPr lang="zh-CN" altLang="en-US" smtClean="0">
                <a:sym typeface="Huawei Sans" panose="020C0503030203020204" pitchFamily="34" charset="0"/>
              </a:rPr>
              <a:t>地址学习数量</a:t>
            </a:r>
            <a:endParaRPr lang="zh-CN" altLang="en-US" dirty="0">
              <a:sym typeface="Huawei Sans" panose="020C0503030203020204" pitchFamily="34" charset="0"/>
            </a:endParaRPr>
          </a:p>
        </p:txBody>
      </p:sp>
      <p:sp>
        <p:nvSpPr>
          <p:cNvPr id="4" name="矩形 3"/>
          <p:cNvSpPr/>
          <p:nvPr/>
        </p:nvSpPr>
        <p:spPr bwMode="gray">
          <a:xfrm>
            <a:off x="1031916" y="1513947"/>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mac-limit maximum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max-num</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551382" y="110146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配置基于接口限制</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地址学习数</a:t>
            </a:r>
          </a:p>
        </p:txBody>
      </p:sp>
      <p:sp>
        <p:nvSpPr>
          <p:cNvPr id="6" name="矩形 5"/>
          <p:cNvSpPr/>
          <p:nvPr/>
        </p:nvSpPr>
        <p:spPr bwMode="gray">
          <a:xfrm>
            <a:off x="1031916" y="1926432"/>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缺省情况下，不限制</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地址学习数。</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bwMode="gray">
          <a:xfrm>
            <a:off x="1031916" y="5388602"/>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[Huawei-vlan2]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mac-limit maximum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max-num</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gray">
          <a:xfrm>
            <a:off x="551382" y="4976117"/>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配置基于</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限制</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地址学习数</a:t>
            </a:r>
          </a:p>
        </p:txBody>
      </p:sp>
      <p:sp>
        <p:nvSpPr>
          <p:cNvPr id="9" name="矩形 8"/>
          <p:cNvSpPr/>
          <p:nvPr/>
        </p:nvSpPr>
        <p:spPr bwMode="gray">
          <a:xfrm>
            <a:off x="1031916" y="5801084"/>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缺省情况下，不限制</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地址学习数。</a:t>
            </a:r>
          </a:p>
        </p:txBody>
      </p:sp>
      <p:sp>
        <p:nvSpPr>
          <p:cNvPr id="13" name="矩形 12"/>
          <p:cNvSpPr/>
          <p:nvPr/>
        </p:nvSpPr>
        <p:spPr bwMode="gray">
          <a:xfrm>
            <a:off x="1031916" y="2790580"/>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mac-limit action { discard | forward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1031916" y="3203065"/>
            <a:ext cx="10608699" cy="377732"/>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缺省</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情况下，对超过</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地址学习数限制的报文采取丢弃动作。</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a:off x="1031916" y="4089591"/>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mac-limit alarm { disable | enable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a:off x="1031916" y="4502076"/>
            <a:ext cx="10608699" cy="377732"/>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缺省</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情况下，对超过</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地址学习数限制的报文进行告警。</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551382" y="2378095"/>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配置当</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地址数达到限制后，对报文应采取的</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动作</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551382" y="3677106"/>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配置当</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地址数达到限制后是否进行</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告警</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64409753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MAC</a:t>
            </a:r>
            <a:r>
              <a:rPr lang="zh-CN" altLang="en-US" smtClean="0">
                <a:sym typeface="Huawei Sans" panose="020C0503030203020204" pitchFamily="34" charset="0"/>
              </a:rPr>
              <a:t>地址表安全配置举例</a:t>
            </a:r>
            <a:endParaRPr lang="zh-CN" altLang="en-US" dirty="0">
              <a:sym typeface="Huawei Sans" panose="020C0503030203020204" pitchFamily="34" charset="0"/>
            </a:endParaRPr>
          </a:p>
        </p:txBody>
      </p:sp>
      <p:sp>
        <p:nvSpPr>
          <p:cNvPr id="55" name="文本占位符 54"/>
          <p:cNvSpPr>
            <a:spLocks noGrp="1"/>
          </p:cNvSpPr>
          <p:nvPr>
            <p:ph type="body" sz="quarter" idx="4294967295"/>
          </p:nvPr>
        </p:nvSpPr>
        <p:spPr bwMode="gray">
          <a:xfrm>
            <a:off x="452438" y="4050137"/>
            <a:ext cx="5540375" cy="2047875"/>
          </a:xfrm>
        </p:spPr>
        <p:txBody>
          <a:bodyPr/>
          <a:lstStyle/>
          <a:p>
            <a:pPr marL="0" indent="0">
              <a:buNone/>
            </a:pPr>
            <a:r>
              <a:rPr lang="zh-CN" altLang="en-US" sz="1600" dirty="0" smtClean="0">
                <a:sym typeface="Huawei Sans" panose="020C0503030203020204" pitchFamily="34" charset="0"/>
              </a:rPr>
              <a:t>实验要求：</a:t>
            </a:r>
            <a:endParaRPr lang="en-US" altLang="zh-CN" sz="1600" dirty="0" smtClean="0">
              <a:sym typeface="Huawei Sans" panose="020C0503030203020204" pitchFamily="34" charset="0"/>
            </a:endParaRPr>
          </a:p>
          <a:p>
            <a:pPr lvl="1"/>
            <a:r>
              <a:rPr lang="zh-CN" altLang="en-US" sz="1400" dirty="0">
                <a:sym typeface="Huawei Sans" panose="020C0503030203020204" pitchFamily="34" charset="0"/>
              </a:rPr>
              <a:t>网络拓扑基本配置已完成，用户网络</a:t>
            </a:r>
            <a:r>
              <a:rPr lang="en-US" altLang="zh-CN" sz="1400" dirty="0">
                <a:sym typeface="Huawei Sans" panose="020C0503030203020204" pitchFamily="34" charset="0"/>
              </a:rPr>
              <a:t>1</a:t>
            </a:r>
            <a:r>
              <a:rPr lang="zh-CN" altLang="en-US" sz="1400" dirty="0">
                <a:sym typeface="Huawei Sans" panose="020C0503030203020204" pitchFamily="34" charset="0"/>
              </a:rPr>
              <a:t>属于</a:t>
            </a:r>
            <a:r>
              <a:rPr lang="en-US" altLang="zh-CN" sz="1400" dirty="0">
                <a:sym typeface="Huawei Sans" panose="020C0503030203020204" pitchFamily="34" charset="0"/>
              </a:rPr>
              <a:t>VLAN 10</a:t>
            </a:r>
            <a:r>
              <a:rPr lang="zh-CN" altLang="en-US" sz="1400" dirty="0">
                <a:sym typeface="Huawei Sans" panose="020C0503030203020204" pitchFamily="34" charset="0"/>
              </a:rPr>
              <a:t>，用户网络</a:t>
            </a:r>
            <a:r>
              <a:rPr lang="en-US" altLang="zh-CN" sz="1400" dirty="0">
                <a:sym typeface="Huawei Sans" panose="020C0503030203020204" pitchFamily="34" charset="0"/>
              </a:rPr>
              <a:t>2</a:t>
            </a:r>
            <a:r>
              <a:rPr lang="zh-CN" altLang="en-US" sz="1400" dirty="0">
                <a:sym typeface="Huawei Sans" panose="020C0503030203020204" pitchFamily="34" charset="0"/>
              </a:rPr>
              <a:t>属于</a:t>
            </a:r>
            <a:r>
              <a:rPr lang="en-US" altLang="zh-CN" sz="1400" dirty="0">
                <a:sym typeface="Huawei Sans" panose="020C0503030203020204" pitchFamily="34" charset="0"/>
              </a:rPr>
              <a:t>VLAN 20</a:t>
            </a:r>
            <a:r>
              <a:rPr lang="zh-CN" altLang="en-US" sz="1400" dirty="0" smtClean="0">
                <a:sym typeface="Huawei Sans" panose="020C0503030203020204" pitchFamily="34" charset="0"/>
              </a:rPr>
              <a:t>。</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在</a:t>
            </a:r>
            <a:r>
              <a:rPr lang="en-US" altLang="zh-CN" sz="1400" dirty="0" smtClean="0">
                <a:sym typeface="Huawei Sans" panose="020C0503030203020204" pitchFamily="34" charset="0"/>
              </a:rPr>
              <a:t>Switch3</a:t>
            </a:r>
            <a:r>
              <a:rPr lang="zh-CN" altLang="en-US" sz="1400" dirty="0" smtClean="0">
                <a:sym typeface="Huawei Sans" panose="020C0503030203020204" pitchFamily="34" charset="0"/>
              </a:rPr>
              <a:t>上配置禁止学习来自用户网络</a:t>
            </a:r>
            <a:r>
              <a:rPr lang="en-US" altLang="zh-CN" sz="1400" dirty="0" smtClean="0">
                <a:sym typeface="Huawei Sans" panose="020C0503030203020204" pitchFamily="34" charset="0"/>
              </a:rPr>
              <a:t>1</a:t>
            </a:r>
            <a:r>
              <a:rPr lang="zh-CN" altLang="en-US" sz="1400" dirty="0" smtClean="0">
                <a:sym typeface="Huawei Sans" panose="020C0503030203020204" pitchFamily="34" charset="0"/>
              </a:rPr>
              <a:t>的</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在</a:t>
            </a:r>
            <a:r>
              <a:rPr lang="en-US" altLang="zh-CN" sz="1400" dirty="0" smtClean="0">
                <a:sym typeface="Huawei Sans" panose="020C0503030203020204" pitchFamily="34" charset="0"/>
              </a:rPr>
              <a:t>Switch3</a:t>
            </a:r>
            <a:r>
              <a:rPr lang="zh-CN" altLang="en-US" sz="1400" dirty="0" smtClean="0">
                <a:sym typeface="Huawei Sans" panose="020C0503030203020204" pitchFamily="34" charset="0"/>
              </a:rPr>
              <a:t>上配置限制用户网络</a:t>
            </a:r>
            <a:r>
              <a:rPr lang="en-US" altLang="zh-CN" sz="1400" dirty="0" smtClean="0">
                <a:sym typeface="Huawei Sans" panose="020C0503030203020204" pitchFamily="34" charset="0"/>
              </a:rPr>
              <a:t>2</a:t>
            </a:r>
            <a:r>
              <a:rPr lang="zh-CN" altLang="en-US" sz="1400" dirty="0" smtClean="0">
                <a:sym typeface="Huawei Sans" panose="020C0503030203020204" pitchFamily="34" charset="0"/>
              </a:rPr>
              <a:t>的</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地址学习数量。</a:t>
            </a:r>
            <a:endParaRPr lang="en-US" altLang="zh-CN" sz="1400" dirty="0" smtClean="0">
              <a:sym typeface="Huawei Sans" panose="020C0503030203020204" pitchFamily="34" charset="0"/>
            </a:endParaRPr>
          </a:p>
        </p:txBody>
      </p:sp>
      <p:grpSp>
        <p:nvGrpSpPr>
          <p:cNvPr id="53" name="组合 52"/>
          <p:cNvGrpSpPr/>
          <p:nvPr/>
        </p:nvGrpSpPr>
        <p:grpSpPr bwMode="gray">
          <a:xfrm>
            <a:off x="1044712" y="1154082"/>
            <a:ext cx="4342905" cy="2994599"/>
            <a:chOff x="1044712" y="1313736"/>
            <a:chExt cx="4342905" cy="2994599"/>
          </a:xfrm>
        </p:grpSpPr>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721222" y="1313736"/>
              <a:ext cx="938683" cy="589407"/>
            </a:xfrm>
            <a:prstGeom prst="rect">
              <a:avLst/>
            </a:prstGeom>
          </p:spPr>
        </p:pic>
        <p:sp>
          <p:nvSpPr>
            <p:cNvPr id="15" name="文本框 14"/>
            <p:cNvSpPr txBox="1"/>
            <p:nvPr/>
          </p:nvSpPr>
          <p:spPr bwMode="gray">
            <a:xfrm>
              <a:off x="2721222" y="1464562"/>
              <a:ext cx="928459" cy="338554"/>
            </a:xfrm>
            <a:prstGeom prst="rect">
              <a:avLst/>
            </a:prstGeom>
            <a:noFill/>
            <a:ln>
              <a:noFill/>
            </a:ln>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 name="直接连接符 16"/>
            <p:cNvCxnSpPr>
              <a:endCxn id="21" idx="0"/>
            </p:cNvCxnSpPr>
            <p:nvPr/>
          </p:nvCxnSpPr>
          <p:spPr bwMode="gray">
            <a:xfrm flipH="1">
              <a:off x="2080003" y="2185768"/>
              <a:ext cx="1108797" cy="76658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21" idx="2"/>
              <a:endCxn id="23" idx="0"/>
            </p:cNvCxnSpPr>
            <p:nvPr/>
          </p:nvCxnSpPr>
          <p:spPr bwMode="gray">
            <a:xfrm flipH="1">
              <a:off x="1614164" y="3395148"/>
              <a:ext cx="465839" cy="32378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27" idx="2"/>
              <a:endCxn id="24" idx="0"/>
            </p:cNvCxnSpPr>
            <p:nvPr/>
          </p:nvCxnSpPr>
          <p:spPr bwMode="gray">
            <a:xfrm>
              <a:off x="4250072" y="3426145"/>
              <a:ext cx="469342" cy="29278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21" name="图片 2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810003" y="2952348"/>
              <a:ext cx="540000" cy="442800"/>
            </a:xfrm>
            <a:prstGeom prst="rect">
              <a:avLst/>
            </a:prstGeom>
          </p:spPr>
        </p:pic>
        <p:sp>
          <p:nvSpPr>
            <p:cNvPr id="5" name="文本框 4"/>
            <p:cNvSpPr txBox="1"/>
            <p:nvPr/>
          </p:nvSpPr>
          <p:spPr bwMode="gray">
            <a:xfrm>
              <a:off x="4520072" y="3019859"/>
              <a:ext cx="867545"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Switch2</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文本框 5"/>
            <p:cNvSpPr txBox="1"/>
            <p:nvPr/>
          </p:nvSpPr>
          <p:spPr bwMode="gray">
            <a:xfrm>
              <a:off x="1044712" y="2997713"/>
              <a:ext cx="867545"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Switch1</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文本框 6"/>
            <p:cNvSpPr txBox="1"/>
            <p:nvPr/>
          </p:nvSpPr>
          <p:spPr bwMode="gray">
            <a:xfrm>
              <a:off x="1986394" y="3400331"/>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文本框 7"/>
            <p:cNvSpPr txBox="1"/>
            <p:nvPr/>
          </p:nvSpPr>
          <p:spPr bwMode="gray">
            <a:xfrm>
              <a:off x="1522103" y="2667241"/>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文本框 8"/>
            <p:cNvSpPr txBox="1"/>
            <p:nvPr/>
          </p:nvSpPr>
          <p:spPr bwMode="gray">
            <a:xfrm>
              <a:off x="3392810" y="2160394"/>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 name="图片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144822" y="3718928"/>
              <a:ext cx="938683" cy="589407"/>
            </a:xfrm>
            <a:prstGeom prst="rect">
              <a:avLst/>
            </a:prstGeom>
          </p:spPr>
        </p:pic>
        <p:pic>
          <p:nvPicPr>
            <p:cNvPr id="24" name="图片 2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4250072" y="3718928"/>
              <a:ext cx="938683" cy="589407"/>
            </a:xfrm>
            <a:prstGeom prst="rect">
              <a:avLst/>
            </a:prstGeom>
          </p:spPr>
        </p:pic>
        <p:pic>
          <p:nvPicPr>
            <p:cNvPr id="27" name="图片 2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980072" y="2983345"/>
              <a:ext cx="540000" cy="442800"/>
            </a:xfrm>
            <a:prstGeom prst="rect">
              <a:avLst/>
            </a:prstGeom>
          </p:spPr>
        </p:pic>
        <p:cxnSp>
          <p:nvCxnSpPr>
            <p:cNvPr id="35" name="直接连接符 34"/>
            <p:cNvCxnSpPr>
              <a:endCxn id="27" idx="0"/>
            </p:cNvCxnSpPr>
            <p:nvPr/>
          </p:nvCxnSpPr>
          <p:spPr bwMode="gray">
            <a:xfrm>
              <a:off x="3188800" y="2185768"/>
              <a:ext cx="1061272" cy="797577"/>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12" name="图片 1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918801" y="1856094"/>
              <a:ext cx="540000" cy="442800"/>
            </a:xfrm>
            <a:prstGeom prst="rect">
              <a:avLst/>
            </a:prstGeom>
          </p:spPr>
        </p:pic>
        <p:sp>
          <p:nvSpPr>
            <p:cNvPr id="47" name="文本框 46"/>
            <p:cNvSpPr txBox="1"/>
            <p:nvPr/>
          </p:nvSpPr>
          <p:spPr bwMode="gray">
            <a:xfrm>
              <a:off x="2204108" y="2162417"/>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3691607" y="3408088"/>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4135992" y="2688089"/>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文本框 53"/>
            <p:cNvSpPr txBox="1"/>
            <p:nvPr/>
          </p:nvSpPr>
          <p:spPr bwMode="gray">
            <a:xfrm>
              <a:off x="3425347" y="1890567"/>
              <a:ext cx="867545"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Switch3</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6" name="文本框 55"/>
          <p:cNvSpPr txBox="1"/>
          <p:nvPr/>
        </p:nvSpPr>
        <p:spPr bwMode="gray">
          <a:xfrm>
            <a:off x="1180591" y="3744554"/>
            <a:ext cx="934871" cy="276999"/>
          </a:xfrm>
          <a:prstGeom prst="rect">
            <a:avLst/>
          </a:prstGeom>
          <a:noFill/>
          <a:ln>
            <a:noFill/>
          </a:ln>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用户网络</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4264517" y="3749302"/>
            <a:ext cx="934871" cy="276999"/>
          </a:xfrm>
          <a:prstGeom prst="rect">
            <a:avLst/>
          </a:prstGeom>
          <a:noFill/>
          <a:ln>
            <a:noFill/>
          </a:ln>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用户网络</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6203950" y="1269959"/>
            <a:ext cx="2204450" cy="338554"/>
          </a:xfrm>
          <a:prstGeom prst="rect">
            <a:avLst/>
          </a:prstGeom>
          <a:noFill/>
          <a:ln>
            <a:noFill/>
          </a:ln>
        </p:spPr>
        <p:txBody>
          <a:bodyPr wrap="none" rtlCol="0">
            <a:spAutoFit/>
          </a:bodyPr>
          <a:lstStyle/>
          <a:p>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Switch3</a:t>
            </a:r>
            <a:r>
              <a:rPr lang="zh-CN" altLang="en-US" sz="1600" b="1" dirty="0" smtClean="0">
                <a:latin typeface="Huawei Sans" panose="020C0503030203020204" pitchFamily="34" charset="0"/>
                <a:ea typeface="方正兰亭黑简体" panose="02000000000000000000" pitchFamily="2" charset="-122"/>
                <a:sym typeface="Huawei Sans" panose="020C0503030203020204" pitchFamily="34" charset="0"/>
              </a:rPr>
              <a:t>的配置如下：</a:t>
            </a:r>
          </a:p>
        </p:txBody>
      </p:sp>
      <p:sp>
        <p:nvSpPr>
          <p:cNvPr id="59" name="文本框 58"/>
          <p:cNvSpPr txBox="1"/>
          <p:nvPr/>
        </p:nvSpPr>
        <p:spPr bwMode="gray">
          <a:xfrm>
            <a:off x="6110743" y="1963022"/>
            <a:ext cx="5635170" cy="1600438"/>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00000"/>
              </a:lnSpc>
            </a:pPr>
            <a:r>
              <a:rPr lang="en-US" altLang="zh-CN" dirty="0">
                <a:sym typeface="Huawei Sans" panose="020C0503030203020204" pitchFamily="34" charset="0"/>
              </a:rPr>
              <a:t># </a:t>
            </a:r>
            <a:r>
              <a:rPr lang="zh-CN" altLang="en-US" dirty="0">
                <a:sym typeface="Huawei Sans" panose="020C0503030203020204" pitchFamily="34" charset="0"/>
              </a:rPr>
              <a:t>在接口</a:t>
            </a:r>
            <a:r>
              <a:rPr lang="en-US" altLang="zh-CN" dirty="0">
                <a:sym typeface="Huawei Sans" panose="020C0503030203020204" pitchFamily="34" charset="0"/>
              </a:rPr>
              <a:t>GE0/0/1</a:t>
            </a:r>
            <a:r>
              <a:rPr lang="zh-CN" altLang="en-US" dirty="0">
                <a:sym typeface="Huawei Sans" panose="020C0503030203020204" pitchFamily="34" charset="0"/>
              </a:rPr>
              <a:t>上配置禁止</a:t>
            </a:r>
            <a:r>
              <a:rPr lang="en-US" altLang="zh-CN" dirty="0">
                <a:sym typeface="Huawei Sans" panose="020C0503030203020204" pitchFamily="34" charset="0"/>
              </a:rPr>
              <a:t>MAC</a:t>
            </a:r>
            <a:r>
              <a:rPr lang="zh-CN" altLang="en-US" dirty="0">
                <a:sym typeface="Huawei Sans" panose="020C0503030203020204" pitchFamily="34" charset="0"/>
              </a:rPr>
              <a:t>地址学习</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[Switch3-GigabitEthernet0/0/1] mac-address learning disable action discard</a:t>
            </a:r>
          </a:p>
          <a:p>
            <a:pPr>
              <a:lnSpc>
                <a:spcPct val="100000"/>
              </a:lnSpc>
            </a:pPr>
            <a:r>
              <a:rPr lang="en-US" altLang="zh-CN" dirty="0">
                <a:sym typeface="Huawei Sans" panose="020C0503030203020204" pitchFamily="34" charset="0"/>
              </a:rPr>
              <a:t>#</a:t>
            </a:r>
            <a:r>
              <a:rPr lang="zh-CN" altLang="en-US" dirty="0">
                <a:sym typeface="Huawei Sans" panose="020C0503030203020204" pitchFamily="34" charset="0"/>
              </a:rPr>
              <a:t>在接口</a:t>
            </a:r>
            <a:r>
              <a:rPr lang="en-US" altLang="zh-CN" dirty="0">
                <a:sym typeface="Huawei Sans" panose="020C0503030203020204" pitchFamily="34" charset="0"/>
              </a:rPr>
              <a:t>GE0/0/2</a:t>
            </a:r>
            <a:r>
              <a:rPr lang="zh-CN" altLang="en-US" dirty="0">
                <a:sym typeface="Huawei Sans" panose="020C0503030203020204" pitchFamily="34" charset="0"/>
              </a:rPr>
              <a:t>上配置限制</a:t>
            </a:r>
            <a:r>
              <a:rPr lang="en-US" altLang="zh-CN" dirty="0">
                <a:sym typeface="Huawei Sans" panose="020C0503030203020204" pitchFamily="34" charset="0"/>
              </a:rPr>
              <a:t>MAC</a:t>
            </a:r>
            <a:r>
              <a:rPr lang="zh-CN" altLang="en-US" dirty="0">
                <a:sym typeface="Huawei Sans" panose="020C0503030203020204" pitchFamily="34" charset="0"/>
              </a:rPr>
              <a:t>地址学习数量，超过阈值策略及告警</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[Switch3-GigabitEthernet0/0/2] mac-limit maximum 100 </a:t>
            </a:r>
          </a:p>
          <a:p>
            <a:pPr>
              <a:lnSpc>
                <a:spcPct val="100000"/>
              </a:lnSpc>
            </a:pPr>
            <a:r>
              <a:rPr lang="en-US" altLang="zh-CN" dirty="0">
                <a:sym typeface="Huawei Sans" panose="020C0503030203020204" pitchFamily="34" charset="0"/>
              </a:rPr>
              <a:t>[Switch3-GigabitEthernet0/0/2] mac-limit alarm enable</a:t>
            </a:r>
          </a:p>
          <a:p>
            <a:pPr>
              <a:lnSpc>
                <a:spcPct val="100000"/>
              </a:lnSpc>
            </a:pPr>
            <a:r>
              <a:rPr lang="en-US" altLang="zh-CN" dirty="0">
                <a:sym typeface="Huawei Sans" panose="020C0503030203020204" pitchFamily="34" charset="0"/>
              </a:rPr>
              <a:t>[Switch3-GigabitEthernet0/0/2] mac-limit action discard </a:t>
            </a:r>
            <a:endParaRPr lang="zh-CN" altLang="en-US" dirty="0">
              <a:sym typeface="Huawei Sans" panose="020C0503030203020204" pitchFamily="34" charset="0"/>
            </a:endParaRPr>
          </a:p>
        </p:txBody>
      </p:sp>
      <p:sp>
        <p:nvSpPr>
          <p:cNvPr id="60" name="文本框 59"/>
          <p:cNvSpPr txBox="1"/>
          <p:nvPr/>
        </p:nvSpPr>
        <p:spPr bwMode="gray">
          <a:xfrm>
            <a:off x="6110743" y="4755082"/>
            <a:ext cx="5635170" cy="954107"/>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00000"/>
              </a:lnSpc>
            </a:pPr>
            <a:r>
              <a:rPr lang="en-US" altLang="zh-CN" dirty="0">
                <a:sym typeface="Huawei Sans" panose="020C0503030203020204" pitchFamily="34" charset="0"/>
              </a:rPr>
              <a:t># </a:t>
            </a:r>
            <a:r>
              <a:rPr lang="zh-CN" altLang="en-US" dirty="0">
                <a:sym typeface="Huawei Sans" panose="020C0503030203020204" pitchFamily="34" charset="0"/>
              </a:rPr>
              <a:t>在</a:t>
            </a:r>
            <a:r>
              <a:rPr lang="en-US" altLang="zh-CN" dirty="0">
                <a:sym typeface="Huawei Sans" panose="020C0503030203020204" pitchFamily="34" charset="0"/>
              </a:rPr>
              <a:t>VLAN 10</a:t>
            </a:r>
            <a:r>
              <a:rPr lang="zh-CN" altLang="en-US" dirty="0">
                <a:sym typeface="Huawei Sans" panose="020C0503030203020204" pitchFamily="34" charset="0"/>
              </a:rPr>
              <a:t>上配置禁止</a:t>
            </a:r>
            <a:r>
              <a:rPr lang="en-US" altLang="zh-CN" dirty="0">
                <a:sym typeface="Huawei Sans" panose="020C0503030203020204" pitchFamily="34" charset="0"/>
              </a:rPr>
              <a:t>MAC</a:t>
            </a:r>
            <a:r>
              <a:rPr lang="zh-CN" altLang="en-US" dirty="0">
                <a:sym typeface="Huawei Sans" panose="020C0503030203020204" pitchFamily="34" charset="0"/>
              </a:rPr>
              <a:t>地址学习</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[Switch3-vlan10] mac-address learning disable</a:t>
            </a:r>
          </a:p>
          <a:p>
            <a:pPr>
              <a:lnSpc>
                <a:spcPct val="100000"/>
              </a:lnSpc>
            </a:pPr>
            <a:r>
              <a:rPr lang="en-US" altLang="zh-CN" dirty="0">
                <a:sym typeface="Huawei Sans" panose="020C0503030203020204" pitchFamily="34" charset="0"/>
              </a:rPr>
              <a:t>#</a:t>
            </a:r>
            <a:r>
              <a:rPr lang="zh-CN" altLang="en-US" dirty="0">
                <a:sym typeface="Huawei Sans" panose="020C0503030203020204" pitchFamily="34" charset="0"/>
              </a:rPr>
              <a:t>在</a:t>
            </a:r>
            <a:r>
              <a:rPr lang="en-US" altLang="zh-CN" dirty="0">
                <a:sym typeface="Huawei Sans" panose="020C0503030203020204" pitchFamily="34" charset="0"/>
              </a:rPr>
              <a:t>VLAN 20</a:t>
            </a:r>
            <a:r>
              <a:rPr lang="zh-CN" altLang="en-US" dirty="0">
                <a:sym typeface="Huawei Sans" panose="020C0503030203020204" pitchFamily="34" charset="0"/>
              </a:rPr>
              <a:t>上配置限制</a:t>
            </a:r>
            <a:r>
              <a:rPr lang="en-US" altLang="zh-CN" dirty="0">
                <a:sym typeface="Huawei Sans" panose="020C0503030203020204" pitchFamily="34" charset="0"/>
              </a:rPr>
              <a:t>MAC</a:t>
            </a:r>
            <a:r>
              <a:rPr lang="zh-CN" altLang="en-US" dirty="0">
                <a:sym typeface="Huawei Sans" panose="020C0503030203020204" pitchFamily="34" charset="0"/>
              </a:rPr>
              <a:t>地址学习数量与告警</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[Switch3-vlan20] mac-limit maximum 100 alarm enable</a:t>
            </a:r>
          </a:p>
        </p:txBody>
      </p:sp>
      <p:sp>
        <p:nvSpPr>
          <p:cNvPr id="61" name="文本框 60"/>
          <p:cNvSpPr txBox="1"/>
          <p:nvPr/>
        </p:nvSpPr>
        <p:spPr bwMode="gray">
          <a:xfrm>
            <a:off x="6203950" y="1655245"/>
            <a:ext cx="2698175"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配置方式一：在接口视图下配置</a:t>
            </a:r>
          </a:p>
        </p:txBody>
      </p:sp>
      <p:sp>
        <p:nvSpPr>
          <p:cNvPr id="64" name="文本框 63"/>
          <p:cNvSpPr txBox="1"/>
          <p:nvPr/>
        </p:nvSpPr>
        <p:spPr bwMode="gray">
          <a:xfrm>
            <a:off x="6160668" y="4368525"/>
            <a:ext cx="2799164"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配置方式二：在</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视图下配置</a:t>
            </a:r>
          </a:p>
        </p:txBody>
      </p:sp>
    </p:spTree>
    <p:extLst>
      <p:ext uri="{BB962C8B-B14F-4D97-AF65-F5344CB8AC3E}">
        <p14:creationId xmlns:p14="http://schemas.microsoft.com/office/powerpoint/2010/main" val="21828217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配置验证</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sz="1800" dirty="0" smtClean="0">
                <a:sym typeface="Huawei Sans" panose="020C0503030203020204" pitchFamily="34" charset="0"/>
              </a:rPr>
              <a:t>执行</a:t>
            </a:r>
            <a:r>
              <a:rPr lang="en-US" altLang="zh-CN" sz="1800" b="1" dirty="0" smtClean="0">
                <a:sym typeface="Huawei Sans" panose="020C0503030203020204" pitchFamily="34" charset="0"/>
              </a:rPr>
              <a:t>display mac-limit</a:t>
            </a:r>
            <a:r>
              <a:rPr lang="zh-CN" altLang="en-US" sz="1800" dirty="0" smtClean="0">
                <a:sym typeface="Huawei Sans" panose="020C0503030203020204" pitchFamily="34" charset="0"/>
              </a:rPr>
              <a:t>命令，查看</a:t>
            </a:r>
            <a:r>
              <a:rPr lang="en-US" altLang="zh-CN" sz="1800" dirty="0" smtClean="0">
                <a:sym typeface="Huawei Sans" panose="020C0503030203020204" pitchFamily="34" charset="0"/>
              </a:rPr>
              <a:t>MAC</a:t>
            </a:r>
            <a:r>
              <a:rPr lang="zh-CN" altLang="en-US" sz="1800" dirty="0" smtClean="0">
                <a:sym typeface="Huawei Sans" panose="020C0503030203020204" pitchFamily="34" charset="0"/>
              </a:rPr>
              <a:t>地址学习限制规则是否配置成功。</a:t>
            </a:r>
            <a:endParaRPr lang="zh-CN" altLang="en-US" sz="1800" dirty="0">
              <a:sym typeface="Huawei Sans" panose="020C0503030203020204" pitchFamily="34" charset="0"/>
            </a:endParaRPr>
          </a:p>
        </p:txBody>
      </p:sp>
      <p:sp>
        <p:nvSpPr>
          <p:cNvPr id="4" name="矩形 3"/>
          <p:cNvSpPr/>
          <p:nvPr/>
        </p:nvSpPr>
        <p:spPr bwMode="gray">
          <a:xfrm>
            <a:off x="1439346" y="1532385"/>
            <a:ext cx="8137652" cy="1815882"/>
          </a:xfrm>
          <a:prstGeom prst="rect">
            <a:avLst/>
          </a:prstGeom>
          <a:solidFill>
            <a:schemeClr val="bg1">
              <a:lumMod val="85000"/>
            </a:schemeClr>
          </a:solidFill>
          <a:ln>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Switch3]display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mac-limit </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 Limit is enabled</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Total MAC Limit rule count : 2</a:t>
            </a:r>
          </a:p>
          <a:p>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                 VLAN/VSI/SI      SLOT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Maximum  Rate(</a:t>
            </a:r>
            <a:r>
              <a:rPr lang="en-US" altLang="zh-CN" sz="1400" dirty="0" err="1"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ms</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Action    	Alarm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GE0/0/2</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100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forward     enable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20</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100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forward   	enable </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文本框 4"/>
          <p:cNvSpPr txBox="1"/>
          <p:nvPr/>
        </p:nvSpPr>
        <p:spPr bwMode="gray">
          <a:xfrm>
            <a:off x="1314017" y="4288163"/>
            <a:ext cx="2892138" cy="358496"/>
          </a:xfrm>
          <a:prstGeom prst="rect">
            <a:avLst/>
          </a:prstGeom>
          <a:solidFill>
            <a:srgbClr val="BEE9EE"/>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i="0" dirty="0">
                <a:solidFill>
                  <a:schemeClr val="tx1"/>
                </a:solidFill>
                <a:sym typeface="Huawei Sans" panose="020C0503030203020204" pitchFamily="34" charset="0"/>
              </a:rPr>
              <a:t>基于接口的</a:t>
            </a:r>
            <a:r>
              <a:rPr lang="en-US" altLang="zh-CN" i="0" dirty="0">
                <a:solidFill>
                  <a:schemeClr val="tx1"/>
                </a:solidFill>
                <a:sym typeface="Huawei Sans" panose="020C0503030203020204" pitchFamily="34" charset="0"/>
              </a:rPr>
              <a:t>MAC</a:t>
            </a:r>
            <a:r>
              <a:rPr lang="zh-CN" altLang="en-US" i="0" dirty="0">
                <a:solidFill>
                  <a:schemeClr val="tx1"/>
                </a:solidFill>
                <a:sym typeface="Huawei Sans" panose="020C0503030203020204" pitchFamily="34" charset="0"/>
              </a:rPr>
              <a:t>地址学习限制</a:t>
            </a:r>
          </a:p>
        </p:txBody>
      </p:sp>
      <p:sp>
        <p:nvSpPr>
          <p:cNvPr id="7" name="文本框 6"/>
          <p:cNvSpPr txBox="1"/>
          <p:nvPr/>
        </p:nvSpPr>
        <p:spPr bwMode="gray">
          <a:xfrm>
            <a:off x="2702377" y="3620441"/>
            <a:ext cx="3007555" cy="358496"/>
          </a:xfrm>
          <a:prstGeom prst="rect">
            <a:avLst/>
          </a:prstGeom>
          <a:solidFill>
            <a:srgbClr val="BEE9EE"/>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i="0" dirty="0">
                <a:solidFill>
                  <a:schemeClr val="tx1"/>
                </a:solidFill>
                <a:sym typeface="Huawei Sans" panose="020C0503030203020204" pitchFamily="34" charset="0"/>
              </a:rPr>
              <a:t>基于</a:t>
            </a:r>
            <a:r>
              <a:rPr lang="en-US" altLang="zh-CN" i="0" dirty="0">
                <a:solidFill>
                  <a:schemeClr val="tx1"/>
                </a:solidFill>
                <a:sym typeface="Huawei Sans" panose="020C0503030203020204" pitchFamily="34" charset="0"/>
              </a:rPr>
              <a:t>VLAN</a:t>
            </a:r>
            <a:r>
              <a:rPr lang="zh-CN" altLang="en-US" i="0" dirty="0">
                <a:solidFill>
                  <a:schemeClr val="tx1"/>
                </a:solidFill>
                <a:sym typeface="Huawei Sans" panose="020C0503030203020204" pitchFamily="34" charset="0"/>
              </a:rPr>
              <a:t>的</a:t>
            </a:r>
            <a:r>
              <a:rPr lang="en-US" altLang="zh-CN" i="0" dirty="0">
                <a:solidFill>
                  <a:schemeClr val="tx1"/>
                </a:solidFill>
                <a:sym typeface="Huawei Sans" panose="020C0503030203020204" pitchFamily="34" charset="0"/>
              </a:rPr>
              <a:t>MAC</a:t>
            </a:r>
            <a:r>
              <a:rPr lang="zh-CN" altLang="en-US" i="0" dirty="0">
                <a:solidFill>
                  <a:schemeClr val="tx1"/>
                </a:solidFill>
                <a:sym typeface="Huawei Sans" panose="020C0503030203020204" pitchFamily="34" charset="0"/>
              </a:rPr>
              <a:t>地址学习限制</a:t>
            </a:r>
          </a:p>
        </p:txBody>
      </p:sp>
      <p:cxnSp>
        <p:nvCxnSpPr>
          <p:cNvPr id="8" name="直接箭头连接符 7"/>
          <p:cNvCxnSpPr/>
          <p:nvPr/>
        </p:nvCxnSpPr>
        <p:spPr bwMode="gray">
          <a:xfrm flipV="1">
            <a:off x="1682880" y="3065013"/>
            <a:ext cx="0" cy="1223150"/>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bwMode="gray">
          <a:xfrm flipV="1">
            <a:off x="2974520" y="3267366"/>
            <a:ext cx="0" cy="331129"/>
          </a:xfrm>
          <a:prstGeom prst="straightConnector1">
            <a:avLst/>
          </a:prstGeom>
          <a:ln w="2857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460743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b="1" dirty="0" smtClean="0">
                <a:sym typeface="Huawei Sans" panose="020C0503030203020204" pitchFamily="34" charset="0"/>
              </a:rPr>
              <a:t>以太网交换安全</a:t>
            </a:r>
            <a:endParaRPr lang="en-US" altLang="zh-CN" sz="1800" b="1" dirty="0" smtClean="0">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端口隔离</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地址表安全</a:t>
            </a:r>
            <a:endParaRPr lang="en-US" altLang="zh-CN" sz="16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sz="1600" dirty="0">
                <a:sym typeface="Huawei Sans" panose="020C0503030203020204" pitchFamily="34" charset="0"/>
              </a:rPr>
              <a:t>端口安全</a:t>
            </a:r>
            <a:endParaRPr lang="en-US" altLang="zh-CN" sz="1600" dirty="0">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MAC</a:t>
            </a:r>
            <a:r>
              <a:rPr lang="zh-CN" altLang="en-US" sz="1600" dirty="0" smtClean="0">
                <a:solidFill>
                  <a:schemeClr val="bg1">
                    <a:lumMod val="50000"/>
                  </a:schemeClr>
                </a:solidFill>
                <a:sym typeface="Huawei Sans" panose="020C0503030203020204" pitchFamily="34" charset="0"/>
              </a:rPr>
              <a:t>地址漂移防止与检测</a:t>
            </a:r>
            <a:endParaRPr lang="en-US" altLang="zh-CN" sz="1600" dirty="0" smtClean="0">
              <a:solidFill>
                <a:schemeClr val="bg1">
                  <a:lumMod val="50000"/>
                </a:schemeClr>
              </a:solidFill>
              <a:sym typeface="Huawei Sans" panose="020C0503030203020204" pitchFamily="34" charset="0"/>
            </a:endParaRPr>
          </a:p>
          <a:p>
            <a:pPr lvl="1"/>
            <a:r>
              <a:rPr lang="en-US" altLang="zh-CN" sz="1600" dirty="0" err="1" smtClean="0">
                <a:solidFill>
                  <a:schemeClr val="bg1">
                    <a:lumMod val="50000"/>
                  </a:schemeClr>
                </a:solidFill>
                <a:sym typeface="Huawei Sans" panose="020C0503030203020204" pitchFamily="34" charset="0"/>
              </a:rPr>
              <a:t>MACsec</a:t>
            </a:r>
            <a:endParaRPr lang="en-US" altLang="zh-CN" sz="1600" dirty="0" smtClean="0">
              <a:solidFill>
                <a:schemeClr val="bg1">
                  <a:lumMod val="50000"/>
                </a:schemeClr>
              </a:solidFill>
              <a:sym typeface="Huawei Sans" panose="020C0503030203020204" pitchFamily="34" charset="0"/>
            </a:endParaRPr>
          </a:p>
          <a:p>
            <a:pPr lvl="1"/>
            <a:r>
              <a:rPr lang="zh-CN" altLang="en-US" sz="1600" dirty="0" smtClean="0">
                <a:solidFill>
                  <a:schemeClr val="bg1">
                    <a:lumMod val="50000"/>
                  </a:schemeClr>
                </a:solidFill>
                <a:sym typeface="Huawei Sans" panose="020C0503030203020204" pitchFamily="34" charset="0"/>
              </a:rPr>
              <a:t>交换机流量控制</a:t>
            </a:r>
            <a:endParaRPr lang="en-US" altLang="zh-CN" sz="1600" dirty="0" smtClean="0">
              <a:solidFill>
                <a:schemeClr val="bg1">
                  <a:lumMod val="50000"/>
                </a:schemeClr>
              </a:solidFill>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DHCP Snooping</a:t>
            </a:r>
          </a:p>
          <a:p>
            <a:pPr lvl="1"/>
            <a:r>
              <a:rPr lang="en-US" altLang="zh-CN" sz="1600" dirty="0" smtClean="0">
                <a:solidFill>
                  <a:schemeClr val="bg1">
                    <a:lumMod val="50000"/>
                  </a:schemeClr>
                </a:solidFill>
                <a:sym typeface="Huawei Sans" panose="020C0503030203020204" pitchFamily="34" charset="0"/>
              </a:rPr>
              <a:t>IP Source Guard</a:t>
            </a:r>
          </a:p>
          <a:p>
            <a:r>
              <a:rPr lang="zh-CN" altLang="en-US" sz="1800" dirty="0" smtClean="0">
                <a:solidFill>
                  <a:schemeClr val="bg1">
                    <a:lumMod val="50000"/>
                  </a:schemeClr>
                </a:solidFill>
                <a:sym typeface="Huawei Sans" panose="020C0503030203020204" pitchFamily="34" charset="0"/>
              </a:rPr>
              <a:t>防火墙高级特性</a:t>
            </a:r>
            <a:endParaRPr lang="zh-CN" altLang="en-US"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4462538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圆角矩形 80"/>
          <p:cNvSpPr/>
          <p:nvPr/>
        </p:nvSpPr>
        <p:spPr bwMode="gray">
          <a:xfrm>
            <a:off x="8772577" y="5034709"/>
            <a:ext cx="1781947" cy="1023486"/>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圆角矩形 79"/>
          <p:cNvSpPr/>
          <p:nvPr/>
        </p:nvSpPr>
        <p:spPr bwMode="gray">
          <a:xfrm>
            <a:off x="6637582" y="5034709"/>
            <a:ext cx="1709254" cy="1023486"/>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44"/>
          <p:cNvSpPr/>
          <p:nvPr/>
        </p:nvSpPr>
        <p:spPr bwMode="gray">
          <a:xfrm>
            <a:off x="758047" y="5057884"/>
            <a:ext cx="1506723" cy="1023486"/>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40"/>
          <p:cNvSpPr/>
          <p:nvPr/>
        </p:nvSpPr>
        <p:spPr bwMode="gray">
          <a:xfrm>
            <a:off x="2739327" y="5057884"/>
            <a:ext cx="2189017" cy="1023486"/>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标题 3"/>
          <p:cNvSpPr>
            <a:spLocks noGrp="1"/>
          </p:cNvSpPr>
          <p:nvPr>
            <p:ph type="title"/>
          </p:nvPr>
        </p:nvSpPr>
        <p:spPr bwMode="gray"/>
        <p:txBody>
          <a:bodyPr/>
          <a:lstStyle/>
          <a:p>
            <a:r>
              <a:rPr lang="zh-CN" altLang="en-US" smtClean="0">
                <a:sym typeface="Huawei Sans" panose="020C0503030203020204" pitchFamily="34" charset="0"/>
              </a:rPr>
              <a:t>端口安全技术背景</a:t>
            </a:r>
            <a:endParaRPr lang="zh-CN" altLang="en-US" dirty="0">
              <a:sym typeface="Huawei Sans" panose="020C0503030203020204" pitchFamily="34" charset="0"/>
            </a:endParaRPr>
          </a:p>
        </p:txBody>
      </p:sp>
      <p:sp>
        <p:nvSpPr>
          <p:cNvPr id="2" name="文本占位符 1"/>
          <p:cNvSpPr>
            <a:spLocks noGrp="1"/>
          </p:cNvSpPr>
          <p:nvPr>
            <p:ph type="body" sz="quarter" idx="4294967295"/>
          </p:nvPr>
        </p:nvSpPr>
        <p:spPr bwMode="gray">
          <a:xfrm>
            <a:off x="442913" y="1000770"/>
            <a:ext cx="11298238" cy="2036762"/>
          </a:xfrm>
        </p:spPr>
        <p:txBody>
          <a:bodyPr/>
          <a:lstStyle/>
          <a:p>
            <a:r>
              <a:rPr lang="zh-CN" altLang="en-US" sz="1600" dirty="0">
                <a:sym typeface="Huawei Sans" panose="020C0503030203020204" pitchFamily="34" charset="0"/>
              </a:rPr>
              <a:t>企业要求接入层</a:t>
            </a:r>
            <a:r>
              <a:rPr lang="zh-CN" altLang="en-US" sz="1600" dirty="0" smtClean="0">
                <a:sym typeface="Huawei Sans" panose="020C0503030203020204" pitchFamily="34" charset="0"/>
              </a:rPr>
              <a:t>交换机上</a:t>
            </a:r>
            <a:r>
              <a:rPr lang="zh-CN" altLang="en-US" sz="1600" dirty="0">
                <a:sym typeface="Huawei Sans" panose="020C0503030203020204" pitchFamily="34" charset="0"/>
              </a:rPr>
              <a:t>每个连接终端设备的接口均只允许一台</a:t>
            </a:r>
            <a:r>
              <a:rPr lang="en-US" altLang="zh-CN" sz="1600" dirty="0">
                <a:sym typeface="Huawei Sans" panose="020C0503030203020204" pitchFamily="34" charset="0"/>
              </a:rPr>
              <a:t>PC</a:t>
            </a:r>
            <a:r>
              <a:rPr lang="zh-CN" altLang="en-US" sz="1600" dirty="0">
                <a:sym typeface="Huawei Sans" panose="020C0503030203020204" pitchFamily="34" charset="0"/>
              </a:rPr>
              <a:t>接入网络（限制</a:t>
            </a:r>
            <a:r>
              <a:rPr lang="en-US" altLang="zh-CN" sz="1600" dirty="0">
                <a:sym typeface="Huawei Sans" panose="020C0503030203020204" pitchFamily="34" charset="0"/>
              </a:rPr>
              <a:t>MAC</a:t>
            </a:r>
            <a:r>
              <a:rPr lang="zh-CN" altLang="en-US" sz="1600" dirty="0">
                <a:sym typeface="Huawei Sans" panose="020C0503030203020204" pitchFamily="34" charset="0"/>
              </a:rPr>
              <a:t>地址接入数量）。如果有员工试图在某个接口下级联一台小交换机或集线器从而扩展上网接口，那么这种行为应该被发现或被</a:t>
            </a:r>
            <a:r>
              <a:rPr lang="zh-CN" altLang="en-US" sz="1600" dirty="0" smtClean="0">
                <a:sym typeface="Huawei Sans" panose="020C0503030203020204" pitchFamily="34" charset="0"/>
              </a:rPr>
              <a:t>禁止，如左图所示。</a:t>
            </a:r>
            <a:endParaRPr lang="zh-CN" altLang="en-US" sz="1600" dirty="0">
              <a:sym typeface="Huawei Sans" panose="020C0503030203020204" pitchFamily="34" charset="0"/>
            </a:endParaRPr>
          </a:p>
          <a:p>
            <a:r>
              <a:rPr lang="zh-CN" altLang="en-US" sz="1600" dirty="0">
                <a:sym typeface="Huawei Sans" panose="020C0503030203020204" pitchFamily="34" charset="0"/>
              </a:rPr>
              <a:t>另一些企业还可能会要求只有</a:t>
            </a:r>
            <a:r>
              <a:rPr lang="en-US" altLang="zh-CN" sz="1600" dirty="0">
                <a:sym typeface="Huawei Sans" panose="020C0503030203020204" pitchFamily="34" charset="0"/>
              </a:rPr>
              <a:t>MAC</a:t>
            </a:r>
            <a:r>
              <a:rPr lang="zh-CN" altLang="en-US" sz="1600" dirty="0">
                <a:sym typeface="Huawei Sans" panose="020C0503030203020204" pitchFamily="34" charset="0"/>
              </a:rPr>
              <a:t>地址为可信任的终端发送的数据帧才允许被交换机转发到上层网络，员工不能私自更换位置（变更交换机的接入端口</a:t>
            </a:r>
            <a:r>
              <a:rPr lang="zh-CN" altLang="en-US" sz="1600" dirty="0" smtClean="0">
                <a:sym typeface="Huawei Sans" panose="020C0503030203020204" pitchFamily="34" charset="0"/>
              </a:rPr>
              <a:t>），如右图所示。</a:t>
            </a:r>
            <a:endParaRPr lang="en-US" altLang="zh-CN" sz="1600" dirty="0" smtClean="0">
              <a:sym typeface="Huawei Sans" panose="020C0503030203020204" pitchFamily="34" charset="0"/>
            </a:endParaRPr>
          </a:p>
          <a:p>
            <a:r>
              <a:rPr lang="zh-CN" altLang="en-US" sz="1600" dirty="0" smtClean="0">
                <a:sym typeface="Huawei Sans" panose="020C0503030203020204" pitchFamily="34" charset="0"/>
              </a:rPr>
              <a:t>通过交换机的端口安全（</a:t>
            </a:r>
            <a:r>
              <a:rPr lang="en-US" altLang="zh-CN" sz="1600" dirty="0" smtClean="0">
                <a:sym typeface="Huawei Sans" panose="020C0503030203020204" pitchFamily="34" charset="0"/>
              </a:rPr>
              <a:t>port security</a:t>
            </a:r>
            <a:r>
              <a:rPr lang="zh-CN" altLang="en-US" sz="1600" dirty="0" smtClean="0">
                <a:sym typeface="Huawei Sans" panose="020C0503030203020204" pitchFamily="34" charset="0"/>
              </a:rPr>
              <a:t>）特性可以解决这些问题。</a:t>
            </a:r>
            <a:endParaRPr lang="zh-CN" altLang="en-US" sz="1600" dirty="0">
              <a:sym typeface="Huawei Sans" panose="020C0503030203020204" pitchFamily="34" charset="0"/>
            </a:endParaRPr>
          </a:p>
          <a:p>
            <a:endParaRPr lang="zh-CN" altLang="en-US" sz="1600" dirty="0">
              <a:sym typeface="Huawei Sans" panose="020C0503030203020204" pitchFamily="34" charset="0"/>
            </a:endParaRPr>
          </a:p>
        </p:txBody>
      </p:sp>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467660" y="3320787"/>
            <a:ext cx="540000" cy="442800"/>
          </a:xfrm>
          <a:prstGeom prst="rect">
            <a:avLst/>
          </a:prstGeom>
        </p:spPr>
      </p:pic>
      <p:cxnSp>
        <p:nvCxnSpPr>
          <p:cNvPr id="9" name="直接连接符 8"/>
          <p:cNvCxnSpPr>
            <a:endCxn id="8" idx="0"/>
          </p:cNvCxnSpPr>
          <p:nvPr/>
        </p:nvCxnSpPr>
        <p:spPr bwMode="gray">
          <a:xfrm flipH="1">
            <a:off x="1301493" y="3763587"/>
            <a:ext cx="1296584" cy="159808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a:off x="2867608" y="3763587"/>
            <a:ext cx="716784" cy="60530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bwMode="gray">
          <a:xfrm>
            <a:off x="2377422" y="2992487"/>
            <a:ext cx="914033"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Switch1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1697858" y="3675464"/>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2955392" y="3677887"/>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4" name="组合 13"/>
          <p:cNvGrpSpPr/>
          <p:nvPr/>
        </p:nvGrpSpPr>
        <p:grpSpPr bwMode="gray">
          <a:xfrm>
            <a:off x="1015514" y="5361668"/>
            <a:ext cx="555510" cy="711097"/>
            <a:chOff x="4386209" y="5724718"/>
            <a:chExt cx="555510" cy="711097"/>
          </a:xfrm>
        </p:grpSpPr>
        <p:pic>
          <p:nvPicPr>
            <p:cNvPr id="8" name="图片 7" descr="PC.png"/>
            <p:cNvPicPr>
              <a:picLocks noChangeAspect="1"/>
            </p:cNvPicPr>
            <p:nvPr/>
          </p:nvPicPr>
          <p:blipFill>
            <a:blip r:embed="rId4" cstate="print"/>
            <a:stretch>
              <a:fillRect/>
            </a:stretch>
          </p:blipFill>
          <p:spPr bwMode="gray">
            <a:xfrm>
              <a:off x="4402656" y="5724718"/>
              <a:ext cx="539063" cy="414000"/>
            </a:xfrm>
            <a:prstGeom prst="rect">
              <a:avLst/>
            </a:prstGeom>
          </p:spPr>
        </p:pic>
        <p:sp>
          <p:nvSpPr>
            <p:cNvPr id="21" name="文本框 20"/>
            <p:cNvSpPr txBox="1"/>
            <p:nvPr/>
          </p:nvSpPr>
          <p:spPr bwMode="gray">
            <a:xfrm>
              <a:off x="4386209" y="6097261"/>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2" name="组合 11"/>
          <p:cNvGrpSpPr/>
          <p:nvPr/>
        </p:nvGrpSpPr>
        <p:grpSpPr bwMode="gray">
          <a:xfrm>
            <a:off x="3912461" y="5308012"/>
            <a:ext cx="542136" cy="770241"/>
            <a:chOff x="7520713" y="5579738"/>
            <a:chExt cx="542136" cy="770241"/>
          </a:xfrm>
        </p:grpSpPr>
        <p:sp>
          <p:nvSpPr>
            <p:cNvPr id="23" name="文本框 22"/>
            <p:cNvSpPr txBox="1"/>
            <p:nvPr/>
          </p:nvSpPr>
          <p:spPr bwMode="gray">
            <a:xfrm>
              <a:off x="7520713" y="6011425"/>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 name="图片 24" descr="PC.png"/>
            <p:cNvPicPr>
              <a:picLocks noChangeAspect="1"/>
            </p:cNvPicPr>
            <p:nvPr/>
          </p:nvPicPr>
          <p:blipFill>
            <a:blip r:embed="rId4" cstate="print"/>
            <a:stretch>
              <a:fillRect/>
            </a:stretch>
          </p:blipFill>
          <p:spPr bwMode="gray">
            <a:xfrm>
              <a:off x="7520713" y="5579738"/>
              <a:ext cx="539063" cy="414000"/>
            </a:xfrm>
            <a:prstGeom prst="rect">
              <a:avLst/>
            </a:prstGeom>
          </p:spPr>
        </p:pic>
      </p:grpSp>
      <p:grpSp>
        <p:nvGrpSpPr>
          <p:cNvPr id="10" name="组合 9"/>
          <p:cNvGrpSpPr/>
          <p:nvPr/>
        </p:nvGrpSpPr>
        <p:grpSpPr bwMode="gray">
          <a:xfrm>
            <a:off x="2769023" y="5320211"/>
            <a:ext cx="542136" cy="758042"/>
            <a:chOff x="6238525" y="5588742"/>
            <a:chExt cx="542136" cy="758042"/>
          </a:xfrm>
        </p:grpSpPr>
        <p:pic>
          <p:nvPicPr>
            <p:cNvPr id="6" name="图片 5" descr="PC.png"/>
            <p:cNvPicPr>
              <a:picLocks noChangeAspect="1"/>
            </p:cNvPicPr>
            <p:nvPr/>
          </p:nvPicPr>
          <p:blipFill>
            <a:blip r:embed="rId4" cstate="print"/>
            <a:stretch>
              <a:fillRect/>
            </a:stretch>
          </p:blipFill>
          <p:spPr bwMode="gray">
            <a:xfrm>
              <a:off x="6238525" y="5588742"/>
              <a:ext cx="539063" cy="414000"/>
            </a:xfrm>
            <a:prstGeom prst="rect">
              <a:avLst/>
            </a:prstGeom>
          </p:spPr>
        </p:pic>
        <p:sp>
          <p:nvSpPr>
            <p:cNvPr id="26" name="文本框 25"/>
            <p:cNvSpPr txBox="1"/>
            <p:nvPr/>
          </p:nvSpPr>
          <p:spPr bwMode="gray">
            <a:xfrm>
              <a:off x="6238525" y="6008230"/>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30" name="直接连接符 29"/>
          <p:cNvCxnSpPr>
            <a:endCxn id="6" idx="0"/>
          </p:cNvCxnSpPr>
          <p:nvPr/>
        </p:nvCxnSpPr>
        <p:spPr bwMode="gray">
          <a:xfrm flipH="1">
            <a:off x="3038555" y="4620983"/>
            <a:ext cx="578268" cy="69922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endCxn id="25" idx="0"/>
          </p:cNvCxnSpPr>
          <p:nvPr/>
        </p:nvCxnSpPr>
        <p:spPr bwMode="gray">
          <a:xfrm>
            <a:off x="3584392" y="4620983"/>
            <a:ext cx="597601" cy="687029"/>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bwMode="gray">
          <a:xfrm>
            <a:off x="3852529" y="4433516"/>
            <a:ext cx="914033"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Switch2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6" name="图片 35"/>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332469" y="4354492"/>
            <a:ext cx="540000" cy="442800"/>
          </a:xfrm>
          <a:prstGeom prst="rect">
            <a:avLst/>
          </a:prstGeom>
        </p:spPr>
      </p:pic>
      <p:sp>
        <p:nvSpPr>
          <p:cNvPr id="38" name="椭圆 27"/>
          <p:cNvSpPr/>
          <p:nvPr/>
        </p:nvSpPr>
        <p:spPr bwMode="gray">
          <a:xfrm>
            <a:off x="2766530" y="3669644"/>
            <a:ext cx="202155" cy="203965"/>
          </a:xfrm>
          <a:prstGeom prst="ellipse">
            <a:avLst/>
          </a:prstGeom>
          <a:solidFill>
            <a:srgbClr val="EC706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连接符 47"/>
          <p:cNvCxnSpPr>
            <a:endCxn id="67" idx="0"/>
          </p:cNvCxnSpPr>
          <p:nvPr/>
        </p:nvCxnSpPr>
        <p:spPr bwMode="gray">
          <a:xfrm flipH="1">
            <a:off x="7604568" y="3580045"/>
            <a:ext cx="961290" cy="151042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a:endCxn id="63" idx="0"/>
          </p:cNvCxnSpPr>
          <p:nvPr/>
        </p:nvCxnSpPr>
        <p:spPr bwMode="gray">
          <a:xfrm>
            <a:off x="8600153" y="3527617"/>
            <a:ext cx="1072090" cy="157522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bwMode="gray">
          <a:xfrm>
            <a:off x="8188568" y="3000527"/>
            <a:ext cx="798617"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文本框 50"/>
          <p:cNvSpPr txBox="1"/>
          <p:nvPr/>
        </p:nvSpPr>
        <p:spPr bwMode="gray">
          <a:xfrm>
            <a:off x="7671458" y="3707834"/>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8818338" y="3697798"/>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53" name="组合 52"/>
          <p:cNvGrpSpPr/>
          <p:nvPr/>
        </p:nvGrpSpPr>
        <p:grpSpPr bwMode="gray">
          <a:xfrm>
            <a:off x="7318589" y="5090468"/>
            <a:ext cx="555510" cy="711097"/>
            <a:chOff x="4386209" y="5724718"/>
            <a:chExt cx="555510" cy="711097"/>
          </a:xfrm>
        </p:grpSpPr>
        <p:pic>
          <p:nvPicPr>
            <p:cNvPr id="67" name="图片 66" descr="PC.png"/>
            <p:cNvPicPr>
              <a:picLocks noChangeAspect="1"/>
            </p:cNvPicPr>
            <p:nvPr/>
          </p:nvPicPr>
          <p:blipFill>
            <a:blip r:embed="rId4" cstate="print"/>
            <a:stretch>
              <a:fillRect/>
            </a:stretch>
          </p:blipFill>
          <p:spPr bwMode="gray">
            <a:xfrm>
              <a:off x="4402656" y="5724718"/>
              <a:ext cx="539063" cy="414000"/>
            </a:xfrm>
            <a:prstGeom prst="rect">
              <a:avLst/>
            </a:prstGeom>
          </p:spPr>
        </p:pic>
        <p:sp>
          <p:nvSpPr>
            <p:cNvPr id="68" name="文本框 67"/>
            <p:cNvSpPr txBox="1"/>
            <p:nvPr/>
          </p:nvSpPr>
          <p:spPr bwMode="gray">
            <a:xfrm>
              <a:off x="4386209" y="6097261"/>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5" name="组合 54"/>
          <p:cNvGrpSpPr/>
          <p:nvPr/>
        </p:nvGrpSpPr>
        <p:grpSpPr bwMode="gray">
          <a:xfrm>
            <a:off x="9399638" y="5102837"/>
            <a:ext cx="542136" cy="724526"/>
            <a:chOff x="6235452" y="5588742"/>
            <a:chExt cx="542136" cy="724526"/>
          </a:xfrm>
        </p:grpSpPr>
        <p:pic>
          <p:nvPicPr>
            <p:cNvPr id="63" name="图片 62" descr="PC.png"/>
            <p:cNvPicPr>
              <a:picLocks noChangeAspect="1"/>
            </p:cNvPicPr>
            <p:nvPr/>
          </p:nvPicPr>
          <p:blipFill>
            <a:blip r:embed="rId4" cstate="print"/>
            <a:stretch>
              <a:fillRect/>
            </a:stretch>
          </p:blipFill>
          <p:spPr bwMode="gray">
            <a:xfrm>
              <a:off x="6238525" y="5588742"/>
              <a:ext cx="539063" cy="414000"/>
            </a:xfrm>
            <a:prstGeom prst="rect">
              <a:avLst/>
            </a:prstGeom>
          </p:spPr>
        </p:pic>
        <p:sp>
          <p:nvSpPr>
            <p:cNvPr id="64" name="文本框 63"/>
            <p:cNvSpPr txBox="1"/>
            <p:nvPr/>
          </p:nvSpPr>
          <p:spPr bwMode="gray">
            <a:xfrm>
              <a:off x="6235452" y="5974714"/>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pic>
        <p:nvPicPr>
          <p:cNvPr id="47" name="图片 4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339443" y="3328827"/>
            <a:ext cx="540000" cy="442800"/>
          </a:xfrm>
          <a:prstGeom prst="rect">
            <a:avLst/>
          </a:prstGeom>
        </p:spPr>
      </p:pic>
      <p:sp>
        <p:nvSpPr>
          <p:cNvPr id="75" name="文本框 74"/>
          <p:cNvSpPr txBox="1"/>
          <p:nvPr/>
        </p:nvSpPr>
        <p:spPr bwMode="gray">
          <a:xfrm>
            <a:off x="6632839" y="5748472"/>
            <a:ext cx="1718740"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MAC:0011-0022-0033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76" name="表格 75"/>
          <p:cNvGraphicFramePr>
            <a:graphicFrameLocks noGrp="1"/>
          </p:cNvGraphicFramePr>
          <p:nvPr>
            <p:extLst>
              <p:ext uri="{D42A27DB-BD31-4B8C-83A1-F6EECF244321}">
                <p14:modId xmlns:p14="http://schemas.microsoft.com/office/powerpoint/2010/main" val="2073018679"/>
              </p:ext>
            </p:extLst>
          </p:nvPr>
        </p:nvGraphicFramePr>
        <p:xfrm>
          <a:off x="8954141" y="2929534"/>
          <a:ext cx="2680674" cy="672834"/>
        </p:xfrm>
        <a:graphic>
          <a:graphicData uri="http://schemas.openxmlformats.org/drawingml/2006/table">
            <a:tbl>
              <a:tblPr/>
              <a:tblGrid>
                <a:gridCol w="1029674">
                  <a:extLst>
                    <a:ext uri="{9D8B030D-6E8A-4147-A177-3AD203B41FA5}">
                      <a16:colId xmlns="" xmlns:a16="http://schemas.microsoft.com/office/drawing/2014/main" val="20000"/>
                    </a:ext>
                  </a:extLst>
                </a:gridCol>
                <a:gridCol w="1651000">
                  <a:extLst>
                    <a:ext uri="{9D8B030D-6E8A-4147-A177-3AD203B41FA5}">
                      <a16:colId xmlns="" xmlns:a16="http://schemas.microsoft.com/office/drawing/2014/main" val="20001"/>
                    </a:ext>
                  </a:extLst>
                </a:gridCol>
              </a:tblGrid>
              <a:tr h="308893">
                <a:tc>
                  <a:txBody>
                    <a:bodyPr/>
                    <a:lstStyle/>
                    <a:p>
                      <a:pPr algn="ctr">
                        <a:lnSpc>
                          <a:spcPct val="100000"/>
                        </a:lnSpc>
                      </a:pPr>
                      <a:r>
                        <a:rPr lang="en-US" altLang="zh-CN"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Port</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lnSpc>
                          <a:spcPct val="100000"/>
                        </a:lnSpc>
                      </a:pPr>
                      <a:r>
                        <a:rPr lang="en-US" altLang="zh-CN" sz="1600" b="1" dirty="0" smtClean="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MAC</a:t>
                      </a:r>
                      <a:endParaRPr lang="zh-CN" altLang="en-US" sz="1600" b="1"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 xmlns:a16="http://schemas.microsoft.com/office/drawing/2014/main" val="10000"/>
                  </a:ext>
                </a:extLst>
              </a:tr>
              <a:tr h="337554">
                <a:tc>
                  <a:txBody>
                    <a:bodyPr/>
                    <a:lstStyle/>
                    <a:p>
                      <a:pPr algn="ctr">
                        <a:lnSpc>
                          <a:spcPct val="100000"/>
                        </a:lnSpc>
                      </a:pPr>
                      <a:r>
                        <a:rPr lang="en-US"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GE0/0/1</a:t>
                      </a:r>
                      <a:endParaRPr 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altLang="zh-CN" sz="1400" dirty="0" smtClean="0">
                          <a:effectLst/>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400" dirty="0">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0001"/>
                  </a:ext>
                </a:extLst>
              </a:tr>
            </a:tbl>
          </a:graphicData>
        </a:graphic>
      </p:graphicFrame>
      <p:sp>
        <p:nvSpPr>
          <p:cNvPr id="82" name="文本框 81"/>
          <p:cNvSpPr txBox="1"/>
          <p:nvPr/>
        </p:nvSpPr>
        <p:spPr bwMode="gray">
          <a:xfrm>
            <a:off x="8818338" y="5758113"/>
            <a:ext cx="1718740"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MAC:0011-0022-0033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Right Arrow 157"/>
          <p:cNvSpPr/>
          <p:nvPr/>
        </p:nvSpPr>
        <p:spPr bwMode="gray">
          <a:xfrm>
            <a:off x="8046523" y="5338716"/>
            <a:ext cx="729789" cy="356242"/>
          </a:xfrm>
          <a:prstGeom prst="rightArrow">
            <a:avLst>
              <a:gd name="adj1" fmla="val 47130"/>
              <a:gd name="adj2" fmla="val 57130"/>
            </a:avLst>
          </a:prstGeom>
          <a:gradFill flip="none" rotWithShape="1">
            <a:gsLst>
              <a:gs pos="15000">
                <a:schemeClr val="accent1">
                  <a:lumMod val="5000"/>
                  <a:lumOff val="95000"/>
                  <a:alpha val="0"/>
                </a:schemeClr>
              </a:gs>
              <a:gs pos="81000">
                <a:srgbClr val="BEE9EE"/>
              </a:gs>
            </a:gsLst>
            <a:lin ang="0" scaled="1"/>
            <a:tileRect/>
          </a:gradFill>
          <a:ln w="1587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椭圆 27"/>
          <p:cNvSpPr/>
          <p:nvPr/>
        </p:nvSpPr>
        <p:spPr bwMode="gray">
          <a:xfrm>
            <a:off x="8675235" y="3669644"/>
            <a:ext cx="202155" cy="203965"/>
          </a:xfrm>
          <a:prstGeom prst="ellipse">
            <a:avLst/>
          </a:prstGeom>
          <a:solidFill>
            <a:srgbClr val="EC706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1408450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端口安全概述</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smtClean="0">
                <a:sym typeface="Huawei Sans" panose="020C0503030203020204" pitchFamily="34" charset="0"/>
              </a:rPr>
              <a:t>通过在交换机的特定接口上部署端口安全，可以限制接口的</a:t>
            </a:r>
            <a:r>
              <a:rPr lang="en-US" altLang="zh-CN" sz="1800" smtClean="0">
                <a:sym typeface="Huawei Sans" panose="020C0503030203020204" pitchFamily="34" charset="0"/>
              </a:rPr>
              <a:t>MAC</a:t>
            </a:r>
            <a:r>
              <a:rPr lang="zh-CN" altLang="en-US" sz="1800" smtClean="0">
                <a:sym typeface="Huawei Sans" panose="020C0503030203020204" pitchFamily="34" charset="0"/>
              </a:rPr>
              <a:t>地址学习数量，并且配置出现越限时的惩罚措施。</a:t>
            </a:r>
          </a:p>
          <a:p>
            <a:r>
              <a:rPr lang="zh-CN" altLang="en-US" sz="1800" smtClean="0">
                <a:sym typeface="Huawei Sans" panose="020C0503030203020204" pitchFamily="34" charset="0"/>
              </a:rPr>
              <a:t>端口安全通过将接口学习到的动态</a:t>
            </a:r>
            <a:r>
              <a:rPr lang="en-US" altLang="zh-CN" sz="1800" smtClean="0">
                <a:sym typeface="Huawei Sans" panose="020C0503030203020204" pitchFamily="34" charset="0"/>
              </a:rPr>
              <a:t>MAC</a:t>
            </a:r>
            <a:r>
              <a:rPr lang="zh-CN" altLang="en-US" sz="1800" smtClean="0">
                <a:sym typeface="Huawei Sans" panose="020C0503030203020204" pitchFamily="34" charset="0"/>
              </a:rPr>
              <a:t>地址转换为安全</a:t>
            </a:r>
            <a:r>
              <a:rPr lang="en-US" altLang="zh-CN" sz="1800" smtClean="0">
                <a:sym typeface="Huawei Sans" panose="020C0503030203020204" pitchFamily="34" charset="0"/>
              </a:rPr>
              <a:t>MAC</a:t>
            </a:r>
            <a:r>
              <a:rPr lang="zh-CN" altLang="en-US" sz="1800" smtClean="0">
                <a:sym typeface="Huawei Sans" panose="020C0503030203020204" pitchFamily="34" charset="0"/>
              </a:rPr>
              <a:t>地址（包括安全动态</a:t>
            </a:r>
            <a:r>
              <a:rPr lang="en-US" altLang="zh-CN" sz="1800" smtClean="0">
                <a:sym typeface="Huawei Sans" panose="020C0503030203020204" pitchFamily="34" charset="0"/>
              </a:rPr>
              <a:t>MAC</a:t>
            </a:r>
            <a:r>
              <a:rPr lang="zh-CN" altLang="en-US" sz="1800" smtClean="0">
                <a:sym typeface="Huawei Sans" panose="020C0503030203020204" pitchFamily="34" charset="0"/>
              </a:rPr>
              <a:t>，安全静态</a:t>
            </a:r>
            <a:r>
              <a:rPr lang="en-US" altLang="zh-CN" sz="1800" smtClean="0">
                <a:sym typeface="Huawei Sans" panose="020C0503030203020204" pitchFamily="34" charset="0"/>
              </a:rPr>
              <a:t>MAC</a:t>
            </a:r>
            <a:r>
              <a:rPr lang="zh-CN" altLang="en-US" sz="1800" smtClean="0">
                <a:sym typeface="Huawei Sans" panose="020C0503030203020204" pitchFamily="34" charset="0"/>
              </a:rPr>
              <a:t>和</a:t>
            </a:r>
            <a:r>
              <a:rPr lang="en-US" altLang="zh-CN" sz="1800" smtClean="0">
                <a:sym typeface="Huawei Sans" panose="020C0503030203020204" pitchFamily="34" charset="0"/>
              </a:rPr>
              <a:t>Sticky MAC</a:t>
            </a:r>
            <a:r>
              <a:rPr lang="zh-CN" altLang="en-US" sz="1800" smtClean="0">
                <a:sym typeface="Huawei Sans" panose="020C0503030203020204" pitchFamily="34" charset="0"/>
              </a:rPr>
              <a:t>），阻止非法用户通过本接口和交换机通信，从而增强设备的安全性。</a:t>
            </a:r>
          </a:p>
          <a:p>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16171392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端口安全技术原理</a:t>
            </a:r>
            <a:endParaRPr lang="zh-CN" altLang="en-US" dirty="0">
              <a:sym typeface="Huawei Sans" panose="020C0503030203020204" pitchFamily="34" charset="0"/>
            </a:endParaRPr>
          </a:p>
        </p:txBody>
      </p:sp>
      <p:sp>
        <p:nvSpPr>
          <p:cNvPr id="6" name="文本占位符 5"/>
          <p:cNvSpPr>
            <a:spLocks noGrp="1"/>
          </p:cNvSpPr>
          <p:nvPr>
            <p:ph type="body" sz="quarter" idx="10"/>
          </p:nvPr>
        </p:nvSpPr>
        <p:spPr bwMode="gray"/>
        <p:txBody>
          <a:bodyPr/>
          <a:lstStyle/>
          <a:p>
            <a:r>
              <a:rPr lang="zh-CN" altLang="en-US" sz="1800" dirty="0" smtClean="0">
                <a:sym typeface="Huawei Sans" panose="020C0503030203020204" pitchFamily="34" charset="0"/>
              </a:rPr>
              <a:t>安全</a:t>
            </a:r>
            <a:r>
              <a:rPr lang="en-US" altLang="zh-CN" sz="1800" dirty="0" smtClean="0">
                <a:sym typeface="Huawei Sans" panose="020C0503030203020204" pitchFamily="34" charset="0"/>
              </a:rPr>
              <a:t>MAC</a:t>
            </a:r>
            <a:r>
              <a:rPr lang="zh-CN" altLang="en-US" sz="1800" dirty="0" smtClean="0">
                <a:sym typeface="Huawei Sans" panose="020C0503030203020204" pitchFamily="34" charset="0"/>
              </a:rPr>
              <a:t>地址分为以下类型：</a:t>
            </a:r>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endParaRPr lang="en-US" altLang="zh-CN" sz="1800" dirty="0" smtClean="0">
              <a:sym typeface="Huawei Sans" panose="020C0503030203020204" pitchFamily="34" charset="0"/>
            </a:endParaRPr>
          </a:p>
          <a:p>
            <a:r>
              <a:rPr lang="zh-CN" altLang="en-US" sz="1800" dirty="0" smtClean="0">
                <a:sym typeface="Huawei Sans" panose="020C0503030203020204" pitchFamily="34" charset="0"/>
              </a:rPr>
              <a:t>安全</a:t>
            </a:r>
            <a:r>
              <a:rPr lang="en-US" altLang="zh-CN" sz="1800" dirty="0" smtClean="0">
                <a:sym typeface="Huawei Sans" panose="020C0503030203020204" pitchFamily="34" charset="0"/>
              </a:rPr>
              <a:t>MAC</a:t>
            </a:r>
            <a:r>
              <a:rPr lang="zh-CN" altLang="en-US" sz="1800" dirty="0" smtClean="0">
                <a:sym typeface="Huawei Sans" panose="020C0503030203020204" pitchFamily="34" charset="0"/>
              </a:rPr>
              <a:t>地址通常与安全保护动作结合使用，常见的安全保护动作有：</a:t>
            </a:r>
            <a:endParaRPr lang="en-US" altLang="zh-CN" sz="1800" dirty="0" smtClean="0">
              <a:sym typeface="Huawei Sans" panose="020C0503030203020204" pitchFamily="34" charset="0"/>
            </a:endParaRPr>
          </a:p>
          <a:p>
            <a:pPr lvl="1"/>
            <a:r>
              <a:rPr lang="en-US" altLang="zh-CN" sz="1600" dirty="0" smtClean="0">
                <a:sym typeface="Huawei Sans" panose="020C0503030203020204" pitchFamily="34" charset="0"/>
              </a:rPr>
              <a:t>Restrict</a:t>
            </a:r>
            <a:r>
              <a:rPr lang="zh-CN" altLang="en-US" sz="1600" dirty="0" smtClean="0">
                <a:sym typeface="Huawei Sans" panose="020C0503030203020204" pitchFamily="34" charset="0"/>
              </a:rPr>
              <a:t>：丢弃源</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地址不存在的报文并上报告警。</a:t>
            </a:r>
            <a:endParaRPr lang="en-US" altLang="zh-CN" sz="1600" dirty="0" smtClean="0">
              <a:sym typeface="Huawei Sans" panose="020C0503030203020204" pitchFamily="34" charset="0"/>
            </a:endParaRPr>
          </a:p>
          <a:p>
            <a:pPr lvl="1"/>
            <a:r>
              <a:rPr lang="en-US" altLang="zh-CN" sz="1600" dirty="0" smtClean="0">
                <a:sym typeface="Huawei Sans" panose="020C0503030203020204" pitchFamily="34" charset="0"/>
              </a:rPr>
              <a:t>Protect</a:t>
            </a:r>
            <a:r>
              <a:rPr lang="zh-CN" altLang="en-US" sz="1600" dirty="0" smtClean="0">
                <a:sym typeface="Huawei Sans" panose="020C0503030203020204" pitchFamily="34" charset="0"/>
              </a:rPr>
              <a:t>：只丢弃源</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地址不存在的报文，不上报告警。</a:t>
            </a:r>
            <a:endParaRPr lang="en-US" altLang="zh-CN" sz="1600" dirty="0" smtClean="0">
              <a:sym typeface="Huawei Sans" panose="020C0503030203020204" pitchFamily="34" charset="0"/>
            </a:endParaRPr>
          </a:p>
          <a:p>
            <a:pPr lvl="1"/>
            <a:r>
              <a:rPr lang="en-US" altLang="zh-CN" sz="1600" dirty="0" smtClean="0">
                <a:sym typeface="Huawei Sans" panose="020C0503030203020204" pitchFamily="34" charset="0"/>
              </a:rPr>
              <a:t>Shutdown</a:t>
            </a:r>
            <a:r>
              <a:rPr lang="zh-CN" altLang="en-US" sz="1600" dirty="0" smtClean="0">
                <a:sym typeface="Huawei Sans" panose="020C0503030203020204" pitchFamily="34" charset="0"/>
              </a:rPr>
              <a:t>：接口状态被置为</a:t>
            </a:r>
            <a:r>
              <a:rPr lang="en-US" altLang="zh-CN" sz="1600" dirty="0" smtClean="0">
                <a:sym typeface="Huawei Sans" panose="020C0503030203020204" pitchFamily="34" charset="0"/>
              </a:rPr>
              <a:t>error-down</a:t>
            </a:r>
            <a:r>
              <a:rPr lang="zh-CN" altLang="en-US" sz="1600" dirty="0" smtClean="0">
                <a:sym typeface="Huawei Sans" panose="020C0503030203020204" pitchFamily="34" charset="0"/>
              </a:rPr>
              <a:t>，并上报告警。</a:t>
            </a:r>
          </a:p>
          <a:p>
            <a:pPr lvl="1"/>
            <a:endParaRPr lang="en-US" altLang="zh-CN" sz="1600" dirty="0" smtClean="0">
              <a:sym typeface="Huawei Sans" panose="020C0503030203020204" pitchFamily="34" charset="0"/>
            </a:endParaRPr>
          </a:p>
          <a:p>
            <a:pPr lvl="1"/>
            <a:endParaRPr lang="zh-CN" altLang="en-US" sz="1600" dirty="0">
              <a:sym typeface="Huawei Sans" panose="020C0503030203020204" pitchFamily="34"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1396266960"/>
              </p:ext>
            </p:extLst>
          </p:nvPr>
        </p:nvGraphicFramePr>
        <p:xfrm>
          <a:off x="781199" y="1770887"/>
          <a:ext cx="10629601" cy="2094332"/>
        </p:xfrm>
        <a:graphic>
          <a:graphicData uri="http://schemas.openxmlformats.org/drawingml/2006/table">
            <a:tbl>
              <a:tblPr/>
              <a:tblGrid>
                <a:gridCol w="1936243"/>
                <a:gridCol w="3786389"/>
                <a:gridCol w="4906969"/>
              </a:tblGrid>
              <a:tr h="361346">
                <a:tc>
                  <a:txBody>
                    <a:bodyPr/>
                    <a:lstStyle/>
                    <a:p>
                      <a:pPr algn="ctr" rtl="0" fontAlgn="ctr"/>
                      <a:r>
                        <a:rPr lang="zh-CN" alt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类型</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定义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特点</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631065">
                <a:tc>
                  <a:txBody>
                    <a:bodyPr/>
                    <a:lstStyle/>
                    <a:p>
                      <a:pPr algn="ctr" rtl="0"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安全动态</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使能端口安全而未使能</a:t>
                      </a:r>
                      <a:r>
                        <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Sticky MAC</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功能时转换的</a:t>
                      </a:r>
                      <a:r>
                        <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4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设备重启后表项会丢失，需要重新学习。缺省情况下不会被老化，只有在配置安全</a:t>
                      </a:r>
                      <a:r>
                        <a:rPr lang="en-US" altLang="zh-CN" sz="14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0" i="0" u="none" strike="noStrike">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的老化时间后才可以被老化。</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3791">
                <a:tc>
                  <a:txBody>
                    <a:bodyPr/>
                    <a:lstStyle/>
                    <a:p>
                      <a:pPr algn="ctr" rtl="0"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安全静态</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使能端口安全时手工配置的静态</a:t>
                      </a: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不会被老化，手动保存配置后重启设备不会丢失。</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48130">
                <a:tc>
                  <a:txBody>
                    <a:bodyPr/>
                    <a:lstStyle/>
                    <a:p>
                      <a:pPr algn="ctr" rtl="0" fontAlgn="ctr"/>
                      <a:r>
                        <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Sticky MAC</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rtl="0"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使能端口安全后又同时使能</a:t>
                      </a:r>
                      <a:r>
                        <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Sticky MAC</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功能后转换到的</a:t>
                      </a:r>
                      <a:r>
                        <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地址。</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l" rtl="0" fontAlgn="ctr"/>
                      <a:r>
                        <a:rPr lang="zh-CN" alt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不会被老化，手动保存配置后重启设备不会丢失。</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7140525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圆角矩形 55"/>
          <p:cNvSpPr/>
          <p:nvPr/>
        </p:nvSpPr>
        <p:spPr bwMode="gray">
          <a:xfrm>
            <a:off x="4604052" y="2917916"/>
            <a:ext cx="1451670" cy="1631257"/>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圆角矩形 56"/>
          <p:cNvSpPr/>
          <p:nvPr/>
        </p:nvSpPr>
        <p:spPr bwMode="gray">
          <a:xfrm>
            <a:off x="6879004" y="2917915"/>
            <a:ext cx="1444752" cy="1631257"/>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4"/>
          <p:cNvSpPr/>
          <p:nvPr/>
        </p:nvSpPr>
        <p:spPr bwMode="gray">
          <a:xfrm>
            <a:off x="2225212" y="2917916"/>
            <a:ext cx="1908047" cy="1631257"/>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端口安全技术应用</a:t>
            </a:r>
            <a:endParaRPr lang="zh-CN" altLang="en-US" dirty="0">
              <a:sym typeface="Huawei Sans" panose="020C0503030203020204" pitchFamily="34" charset="0"/>
            </a:endParaRPr>
          </a:p>
        </p:txBody>
      </p:sp>
      <p:pic>
        <p:nvPicPr>
          <p:cNvPr id="45" name="图片 44" descr="PC.png"/>
          <p:cNvPicPr>
            <a:picLocks noChangeAspect="1"/>
          </p:cNvPicPr>
          <p:nvPr/>
        </p:nvPicPr>
        <p:blipFill>
          <a:blip r:embed="rId3" cstate="print"/>
          <a:stretch>
            <a:fillRect/>
          </a:stretch>
        </p:blipFill>
        <p:spPr bwMode="gray">
          <a:xfrm>
            <a:off x="5087251" y="3714716"/>
            <a:ext cx="539063" cy="414000"/>
          </a:xfrm>
          <a:prstGeom prst="rect">
            <a:avLst/>
          </a:prstGeom>
        </p:spPr>
      </p:pic>
      <p:grpSp>
        <p:nvGrpSpPr>
          <p:cNvPr id="58" name="组合 57"/>
          <p:cNvGrpSpPr/>
          <p:nvPr/>
        </p:nvGrpSpPr>
        <p:grpSpPr bwMode="gray">
          <a:xfrm>
            <a:off x="7062060" y="3695023"/>
            <a:ext cx="1161715" cy="414000"/>
            <a:chOff x="7632286" y="4093463"/>
            <a:chExt cx="1161715" cy="414000"/>
          </a:xfrm>
        </p:grpSpPr>
        <p:pic>
          <p:nvPicPr>
            <p:cNvPr id="46" name="图片 45" descr="PC.png"/>
            <p:cNvPicPr>
              <a:picLocks noChangeAspect="1"/>
            </p:cNvPicPr>
            <p:nvPr/>
          </p:nvPicPr>
          <p:blipFill>
            <a:blip r:embed="rId3" cstate="print"/>
            <a:stretch>
              <a:fillRect/>
            </a:stretch>
          </p:blipFill>
          <p:spPr bwMode="gray">
            <a:xfrm>
              <a:off x="8254938" y="4093463"/>
              <a:ext cx="539063" cy="414000"/>
            </a:xfrm>
            <a:prstGeom prst="rect">
              <a:avLst/>
            </a:prstGeom>
          </p:spPr>
        </p:pic>
        <p:pic>
          <p:nvPicPr>
            <p:cNvPr id="47" name="图片 46" descr="PC.png"/>
            <p:cNvPicPr>
              <a:picLocks noChangeAspect="1"/>
            </p:cNvPicPr>
            <p:nvPr/>
          </p:nvPicPr>
          <p:blipFill>
            <a:blip r:embed="rId3" cstate="print"/>
            <a:stretch>
              <a:fillRect/>
            </a:stretch>
          </p:blipFill>
          <p:spPr bwMode="gray">
            <a:xfrm>
              <a:off x="7632286" y="4093463"/>
              <a:ext cx="539063" cy="414000"/>
            </a:xfrm>
            <a:prstGeom prst="rect">
              <a:avLst/>
            </a:prstGeom>
          </p:spPr>
        </p:pic>
      </p:grpSp>
      <p:grpSp>
        <p:nvGrpSpPr>
          <p:cNvPr id="51" name="组合 50"/>
          <p:cNvGrpSpPr/>
          <p:nvPr/>
        </p:nvGrpSpPr>
        <p:grpSpPr bwMode="gray">
          <a:xfrm>
            <a:off x="3009632" y="1134859"/>
            <a:ext cx="4653974" cy="2350775"/>
            <a:chOff x="3478992" y="1380767"/>
            <a:chExt cx="4653974" cy="2350775"/>
          </a:xfrm>
        </p:grpSpPr>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120955" y="1380767"/>
              <a:ext cx="1443556" cy="695898"/>
            </a:xfrm>
            <a:prstGeom prst="rect">
              <a:avLst/>
            </a:prstGeom>
          </p:spPr>
        </p:pic>
        <p:pic>
          <p:nvPicPr>
            <p:cNvPr id="7" name="图片 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478992" y="3284953"/>
              <a:ext cx="540000" cy="442800"/>
            </a:xfrm>
            <a:prstGeom prst="rect">
              <a:avLst/>
            </a:prstGeom>
          </p:spPr>
        </p:pic>
        <p:sp>
          <p:nvSpPr>
            <p:cNvPr id="15" name="文本框 14"/>
            <p:cNvSpPr txBox="1"/>
            <p:nvPr/>
          </p:nvSpPr>
          <p:spPr bwMode="gray">
            <a:xfrm>
              <a:off x="4759479" y="2075869"/>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5775652" y="2505813"/>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6077443" y="2100178"/>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5366262" y="1532315"/>
              <a:ext cx="1023037"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Intranet</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1" name="图片 3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5555674" y="3288742"/>
              <a:ext cx="540000" cy="442800"/>
            </a:xfrm>
            <a:prstGeom prst="rect">
              <a:avLst/>
            </a:prstGeom>
          </p:spPr>
        </p:pic>
        <p:pic>
          <p:nvPicPr>
            <p:cNvPr id="32" name="图片 31"/>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7592966" y="3288742"/>
              <a:ext cx="540000" cy="442800"/>
            </a:xfrm>
            <a:prstGeom prst="rect">
              <a:avLst/>
            </a:prstGeom>
          </p:spPr>
        </p:pic>
        <p:cxnSp>
          <p:nvCxnSpPr>
            <p:cNvPr id="34" name="直接连接符 33"/>
            <p:cNvCxnSpPr>
              <a:endCxn id="7" idx="0"/>
            </p:cNvCxnSpPr>
            <p:nvPr/>
          </p:nvCxnSpPr>
          <p:spPr bwMode="gray">
            <a:xfrm flipH="1">
              <a:off x="3748992" y="2126676"/>
              <a:ext cx="2088144" cy="1158277"/>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endCxn id="31" idx="0"/>
            </p:cNvCxnSpPr>
            <p:nvPr/>
          </p:nvCxnSpPr>
          <p:spPr bwMode="gray">
            <a:xfrm>
              <a:off x="5825674" y="2126676"/>
              <a:ext cx="0" cy="1162066"/>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endCxn id="32" idx="0"/>
            </p:cNvCxnSpPr>
            <p:nvPr/>
          </p:nvCxnSpPr>
          <p:spPr bwMode="gray">
            <a:xfrm>
              <a:off x="5825674" y="2121451"/>
              <a:ext cx="2037292" cy="116729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6" name="图片 5"/>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5561095" y="1910068"/>
              <a:ext cx="540000" cy="442800"/>
            </a:xfrm>
            <a:prstGeom prst="rect">
              <a:avLst/>
            </a:prstGeom>
          </p:spPr>
        </p:pic>
      </p:grpSp>
      <p:grpSp>
        <p:nvGrpSpPr>
          <p:cNvPr id="53" name="组合 52"/>
          <p:cNvGrpSpPr/>
          <p:nvPr/>
        </p:nvGrpSpPr>
        <p:grpSpPr bwMode="gray">
          <a:xfrm>
            <a:off x="2319150" y="3714716"/>
            <a:ext cx="1722832" cy="436612"/>
            <a:chOff x="2661004" y="4809980"/>
            <a:chExt cx="1722832" cy="436612"/>
          </a:xfrm>
        </p:grpSpPr>
        <p:pic>
          <p:nvPicPr>
            <p:cNvPr id="8" name="图片 7" descr="PC.png"/>
            <p:cNvPicPr>
              <a:picLocks noChangeAspect="1"/>
            </p:cNvPicPr>
            <p:nvPr/>
          </p:nvPicPr>
          <p:blipFill>
            <a:blip r:embed="rId3" cstate="print"/>
            <a:stretch>
              <a:fillRect/>
            </a:stretch>
          </p:blipFill>
          <p:spPr bwMode="gray">
            <a:xfrm>
              <a:off x="3844773" y="4832592"/>
              <a:ext cx="539063" cy="414000"/>
            </a:xfrm>
            <a:prstGeom prst="rect">
              <a:avLst/>
            </a:prstGeom>
          </p:spPr>
        </p:pic>
        <p:pic>
          <p:nvPicPr>
            <p:cNvPr id="10" name="图片 9" descr="PC.png"/>
            <p:cNvPicPr>
              <a:picLocks noChangeAspect="1"/>
            </p:cNvPicPr>
            <p:nvPr/>
          </p:nvPicPr>
          <p:blipFill>
            <a:blip r:embed="rId3" cstate="print"/>
            <a:stretch>
              <a:fillRect/>
            </a:stretch>
          </p:blipFill>
          <p:spPr bwMode="gray">
            <a:xfrm>
              <a:off x="2661004" y="4832592"/>
              <a:ext cx="539063" cy="414000"/>
            </a:xfrm>
            <a:prstGeom prst="rect">
              <a:avLst/>
            </a:prstGeom>
          </p:spPr>
        </p:pic>
        <p:sp>
          <p:nvSpPr>
            <p:cNvPr id="52" name="文本框 51"/>
            <p:cNvSpPr txBox="1"/>
            <p:nvPr/>
          </p:nvSpPr>
          <p:spPr bwMode="gray">
            <a:xfrm>
              <a:off x="3283656" y="4809980"/>
              <a:ext cx="503664" cy="369332"/>
            </a:xfrm>
            <a:prstGeom prst="rect">
              <a:avLst/>
            </a:prstGeom>
            <a:noFill/>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9" name="文本框 58"/>
          <p:cNvSpPr txBox="1"/>
          <p:nvPr/>
        </p:nvSpPr>
        <p:spPr bwMode="gray">
          <a:xfrm>
            <a:off x="7246130" y="4179840"/>
            <a:ext cx="787395" cy="369332"/>
          </a:xfrm>
          <a:prstGeom prst="rect">
            <a:avLst/>
          </a:prstGeom>
          <a:noFill/>
        </p:spPr>
        <p:txBody>
          <a:bodyPr wrap="none" rtlCol="0">
            <a:spAutoFi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部门</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文本框 59"/>
          <p:cNvSpPr txBox="1"/>
          <p:nvPr/>
        </p:nvSpPr>
        <p:spPr bwMode="gray">
          <a:xfrm>
            <a:off x="4923359" y="4185494"/>
            <a:ext cx="785793" cy="369332"/>
          </a:xfrm>
          <a:prstGeom prst="rect">
            <a:avLst/>
          </a:prstGeom>
          <a:noFill/>
        </p:spPr>
        <p:txBody>
          <a:bodyPr wrap="none" rtlCol="0">
            <a:spAutoFi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部门</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文本框 60"/>
          <p:cNvSpPr txBox="1"/>
          <p:nvPr/>
        </p:nvSpPr>
        <p:spPr bwMode="gray">
          <a:xfrm>
            <a:off x="2749217" y="4175517"/>
            <a:ext cx="797013" cy="369332"/>
          </a:xfrm>
          <a:prstGeom prst="rect">
            <a:avLst/>
          </a:prstGeom>
          <a:noFill/>
        </p:spPr>
        <p:txBody>
          <a:bodyPr wrap="none" rtlCol="0">
            <a:spAutoFi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部门</a:t>
            </a: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6651308" y="4642506"/>
            <a:ext cx="2066806" cy="1502976"/>
          </a:xfrm>
          <a:prstGeom prst="rect">
            <a:avLst/>
          </a:prstGeom>
          <a:solidFill>
            <a:srgbClr val="FFFF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i="0" dirty="0">
                <a:solidFill>
                  <a:schemeClr val="tx1"/>
                </a:solidFill>
                <a:sym typeface="Huawei Sans" panose="020C0503030203020204" pitchFamily="34" charset="0"/>
              </a:rPr>
              <a:t>将频繁接入的用户</a:t>
            </a:r>
            <a:r>
              <a:rPr lang="en-US" altLang="zh-CN" sz="1400" i="0" dirty="0">
                <a:solidFill>
                  <a:schemeClr val="tx1"/>
                </a:solidFill>
                <a:sym typeface="Huawei Sans" panose="020C0503030203020204" pitchFamily="34" charset="0"/>
              </a:rPr>
              <a:t>MAC</a:t>
            </a:r>
            <a:r>
              <a:rPr lang="zh-CN" altLang="en-US" sz="1400" i="0" dirty="0">
                <a:solidFill>
                  <a:schemeClr val="tx1"/>
                </a:solidFill>
                <a:sym typeface="Huawei Sans" panose="020C0503030203020204" pitchFamily="34" charset="0"/>
              </a:rPr>
              <a:t>地址转换为动态安全</a:t>
            </a:r>
            <a:r>
              <a:rPr lang="en-US" altLang="zh-CN" sz="1400" i="0" dirty="0">
                <a:solidFill>
                  <a:schemeClr val="tx1"/>
                </a:solidFill>
                <a:sym typeface="Huawei Sans" panose="020C0503030203020204" pitchFamily="34" charset="0"/>
              </a:rPr>
              <a:t>MAC</a:t>
            </a:r>
            <a:r>
              <a:rPr lang="zh-CN" altLang="en-US" sz="1400" i="0" dirty="0">
                <a:solidFill>
                  <a:schemeClr val="tx1"/>
                </a:solidFill>
                <a:sym typeface="Huawei Sans" panose="020C0503030203020204" pitchFamily="34" charset="0"/>
              </a:rPr>
              <a:t>地址，易于清除绑定的</a:t>
            </a:r>
            <a:r>
              <a:rPr lang="en-US" altLang="zh-CN" sz="1400" i="0" dirty="0">
                <a:solidFill>
                  <a:schemeClr val="tx1"/>
                </a:solidFill>
                <a:sym typeface="Huawei Sans" panose="020C0503030203020204" pitchFamily="34" charset="0"/>
              </a:rPr>
              <a:t>MAC</a:t>
            </a:r>
            <a:r>
              <a:rPr lang="zh-CN" altLang="en-US" sz="1400" i="0" dirty="0">
                <a:solidFill>
                  <a:schemeClr val="tx1"/>
                </a:solidFill>
                <a:sym typeface="Huawei Sans" panose="020C0503030203020204" pitchFamily="34" charset="0"/>
              </a:rPr>
              <a:t>地址表项。</a:t>
            </a:r>
          </a:p>
        </p:txBody>
      </p:sp>
      <p:sp>
        <p:nvSpPr>
          <p:cNvPr id="63" name="文本框 62"/>
          <p:cNvSpPr txBox="1"/>
          <p:nvPr/>
        </p:nvSpPr>
        <p:spPr bwMode="gray">
          <a:xfrm>
            <a:off x="2180232" y="4637839"/>
            <a:ext cx="1932539" cy="1502976"/>
          </a:xfrm>
          <a:prstGeom prst="rect">
            <a:avLst/>
          </a:prstGeom>
          <a:solidFill>
            <a:srgbClr val="FFFF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i="0" dirty="0">
                <a:solidFill>
                  <a:schemeClr val="tx1"/>
                </a:solidFill>
                <a:sym typeface="Huawei Sans" panose="020C0503030203020204" pitchFamily="34" charset="0"/>
              </a:rPr>
              <a:t>将大量固定用户接入的</a:t>
            </a:r>
            <a:r>
              <a:rPr lang="en-US" altLang="zh-CN" sz="1400" i="0" dirty="0">
                <a:solidFill>
                  <a:schemeClr val="tx1"/>
                </a:solidFill>
                <a:sym typeface="Huawei Sans" panose="020C0503030203020204" pitchFamily="34" charset="0"/>
              </a:rPr>
              <a:t>MAC</a:t>
            </a:r>
            <a:r>
              <a:rPr lang="zh-CN" altLang="en-US" sz="1400" i="0" dirty="0">
                <a:solidFill>
                  <a:schemeClr val="tx1"/>
                </a:solidFill>
                <a:sym typeface="Huawei Sans" panose="020C0503030203020204" pitchFamily="34" charset="0"/>
              </a:rPr>
              <a:t>地址转为</a:t>
            </a:r>
            <a:r>
              <a:rPr lang="en-US" altLang="zh-CN" sz="1400" i="0" dirty="0">
                <a:solidFill>
                  <a:schemeClr val="tx1"/>
                </a:solidFill>
                <a:sym typeface="Huawei Sans" panose="020C0503030203020204" pitchFamily="34" charset="0"/>
              </a:rPr>
              <a:t>Sticky MAC</a:t>
            </a:r>
            <a:r>
              <a:rPr lang="zh-CN" altLang="en-US" sz="1400" i="0" dirty="0">
                <a:solidFill>
                  <a:schemeClr val="tx1"/>
                </a:solidFill>
                <a:sym typeface="Huawei Sans" panose="020C0503030203020204" pitchFamily="34" charset="0"/>
              </a:rPr>
              <a:t>地址，设备重启</a:t>
            </a:r>
            <a:r>
              <a:rPr lang="en-US" altLang="zh-CN" sz="1400" i="0" dirty="0">
                <a:solidFill>
                  <a:schemeClr val="tx1"/>
                </a:solidFill>
                <a:sym typeface="Huawei Sans" panose="020C0503030203020204" pitchFamily="34" charset="0"/>
              </a:rPr>
              <a:t>MAC</a:t>
            </a:r>
            <a:r>
              <a:rPr lang="zh-CN" altLang="en-US" sz="1400" i="0" dirty="0">
                <a:solidFill>
                  <a:schemeClr val="tx1"/>
                </a:solidFill>
                <a:sym typeface="Huawei Sans" panose="020C0503030203020204" pitchFamily="34" charset="0"/>
              </a:rPr>
              <a:t>表项不</a:t>
            </a:r>
            <a:r>
              <a:rPr lang="zh-CN" altLang="en-US" sz="1400" i="0" dirty="0" smtClean="0">
                <a:solidFill>
                  <a:schemeClr val="tx1"/>
                </a:solidFill>
                <a:sym typeface="Huawei Sans" panose="020C0503030203020204" pitchFamily="34" charset="0"/>
              </a:rPr>
              <a:t>丢失</a:t>
            </a:r>
            <a:r>
              <a:rPr lang="zh-CN" altLang="en-US" sz="1400" i="0" dirty="0">
                <a:solidFill>
                  <a:schemeClr val="tx1"/>
                </a:solidFill>
                <a:sym typeface="Huawei Sans" panose="020C0503030203020204" pitchFamily="34" charset="0"/>
              </a:rPr>
              <a:t>。</a:t>
            </a:r>
          </a:p>
        </p:txBody>
      </p:sp>
      <p:sp>
        <p:nvSpPr>
          <p:cNvPr id="64" name="文本框 63"/>
          <p:cNvSpPr txBox="1"/>
          <p:nvPr/>
        </p:nvSpPr>
        <p:spPr bwMode="gray">
          <a:xfrm>
            <a:off x="4359987" y="4637839"/>
            <a:ext cx="1973165" cy="1502976"/>
          </a:xfrm>
          <a:prstGeom prst="rect">
            <a:avLst/>
          </a:prstGeom>
          <a:solidFill>
            <a:srgbClr val="FFFF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1400" i="0" dirty="0">
                <a:solidFill>
                  <a:schemeClr val="tx1"/>
                </a:solidFill>
                <a:sym typeface="Huawei Sans" panose="020C0503030203020204" pitchFamily="34" charset="0"/>
              </a:rPr>
              <a:t>将少量固定用户接入的</a:t>
            </a:r>
            <a:r>
              <a:rPr lang="en-US" altLang="zh-CN" sz="1400" i="0" dirty="0">
                <a:solidFill>
                  <a:schemeClr val="tx1"/>
                </a:solidFill>
                <a:sym typeface="Huawei Sans" panose="020C0503030203020204" pitchFamily="34" charset="0"/>
              </a:rPr>
              <a:t>MAC</a:t>
            </a:r>
            <a:r>
              <a:rPr lang="zh-CN" altLang="en-US" sz="1400" i="0" dirty="0">
                <a:solidFill>
                  <a:schemeClr val="tx1"/>
                </a:solidFill>
                <a:sym typeface="Huawei Sans" panose="020C0503030203020204" pitchFamily="34" charset="0"/>
              </a:rPr>
              <a:t>地址配置为安全静态</a:t>
            </a:r>
            <a:r>
              <a:rPr lang="en-US" altLang="zh-CN" sz="1400" i="0" dirty="0">
                <a:solidFill>
                  <a:schemeClr val="tx1"/>
                </a:solidFill>
                <a:sym typeface="Huawei Sans" panose="020C0503030203020204" pitchFamily="34" charset="0"/>
              </a:rPr>
              <a:t>MAC</a:t>
            </a:r>
            <a:r>
              <a:rPr lang="zh-CN" altLang="en-US" sz="1400" i="0" dirty="0">
                <a:solidFill>
                  <a:schemeClr val="tx1"/>
                </a:solidFill>
                <a:sym typeface="Huawei Sans" panose="020C0503030203020204" pitchFamily="34" charset="0"/>
              </a:rPr>
              <a:t>地址，绑定</a:t>
            </a:r>
            <a:r>
              <a:rPr lang="en-US" altLang="zh-CN" sz="1400" i="0" dirty="0">
                <a:solidFill>
                  <a:schemeClr val="tx1"/>
                </a:solidFill>
                <a:sym typeface="Huawei Sans" panose="020C0503030203020204" pitchFamily="34" charset="0"/>
              </a:rPr>
              <a:t>MAC</a:t>
            </a:r>
            <a:r>
              <a:rPr lang="zh-CN" altLang="en-US" sz="1400" i="0" dirty="0">
                <a:solidFill>
                  <a:schemeClr val="tx1"/>
                </a:solidFill>
                <a:sym typeface="Huawei Sans" panose="020C0503030203020204" pitchFamily="34" charset="0"/>
              </a:rPr>
              <a:t>表项重启不丢失。</a:t>
            </a:r>
          </a:p>
        </p:txBody>
      </p:sp>
      <p:sp>
        <p:nvSpPr>
          <p:cNvPr id="65" name="矩形 64"/>
          <p:cNvSpPr/>
          <p:nvPr/>
        </p:nvSpPr>
        <p:spPr bwMode="gray">
          <a:xfrm>
            <a:off x="7062060" y="1318244"/>
            <a:ext cx="4148134" cy="937390"/>
          </a:xfrm>
          <a:prstGeom prst="rect">
            <a:avLst/>
          </a:prstGeom>
          <a:solidFill>
            <a:srgbClr val="BEE9EE"/>
          </a:solidFill>
          <a:ln w="12700" cap="flat" cmpd="sng" algn="ctr">
            <a:noFill/>
            <a:prstDash val="solid"/>
            <a:miter lim="800000"/>
          </a:ln>
          <a:effectLst/>
        </p:spPr>
        <p:txBody>
          <a:bodyPr rot="0" spcFirstLastPara="0" vertOverflow="overflow" horzOverflow="overflow" vert="horz" wrap="square" lIns="108000" tIns="72000" rIns="108000" bIns="72000" numCol="1" spcCol="0" rtlCol="0" fromWordArt="0" anchor="ctr" anchorCtr="0" forceAA="0" compatLnSpc="1">
            <a:prstTxWarp prst="textNoShape">
              <a:avLst/>
            </a:prstTxWarp>
            <a:noAutofit/>
          </a:bodyPr>
          <a:lstStyle/>
          <a:p>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为了保证汇聚设备的安全性，控制接入用户的数量，可以在汇聚设备上配置端口</a:t>
            </a:r>
            <a:r>
              <a:rPr lang="zh-CN" altLang="en-US" sz="1600" kern="0" dirty="0" smtClean="0">
                <a:latin typeface="Huawei Sans" panose="020C0503030203020204" pitchFamily="34" charset="0"/>
                <a:ea typeface="方正兰亭黑简体" panose="02000000000000000000" pitchFamily="2" charset="-122"/>
                <a:sym typeface="Huawei Sans" panose="020C0503030203020204" pitchFamily="34" charset="0"/>
              </a:rPr>
              <a:t>安全功能，同时</a:t>
            </a: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指定安全</a:t>
            </a:r>
            <a:r>
              <a:rPr lang="en-US" altLang="zh-CN" sz="1600" kern="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kern="0" dirty="0">
                <a:latin typeface="Huawei Sans" panose="020C0503030203020204" pitchFamily="34" charset="0"/>
                <a:ea typeface="方正兰亭黑简体" panose="02000000000000000000" pitchFamily="2" charset="-122"/>
                <a:sym typeface="Huawei Sans" panose="020C0503030203020204" pitchFamily="34" charset="0"/>
              </a:rPr>
              <a:t>地址的限制数量。</a:t>
            </a:r>
          </a:p>
        </p:txBody>
      </p:sp>
    </p:spTree>
    <p:extLst>
      <p:ext uri="{BB962C8B-B14F-4D97-AF65-F5344CB8AC3E}">
        <p14:creationId xmlns:p14="http://schemas.microsoft.com/office/powerpoint/2010/main" val="18722718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端口安全配置命令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4" name="矩形 3"/>
          <p:cNvSpPr/>
          <p:nvPr/>
        </p:nvSpPr>
        <p:spPr bwMode="gray">
          <a:xfrm>
            <a:off x="1031917" y="1797459"/>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port-security enable</a:t>
            </a:r>
            <a:endParaRPr lang="zh-CN" altLang="en-US"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使能端口安全功能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1031917" y="2229606"/>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缺省情况下，未使能端口安全功能。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bwMode="gray">
          <a:xfrm>
            <a:off x="1031916" y="3109144"/>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port-security max-mac-num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max-number</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bwMode="gray">
          <a:xfrm>
            <a:off x="551383" y="2688964"/>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配置端口安全动态</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学习限制数量</a:t>
            </a:r>
          </a:p>
        </p:txBody>
      </p:sp>
      <p:sp>
        <p:nvSpPr>
          <p:cNvPr id="12" name="矩形 11"/>
          <p:cNvSpPr/>
          <p:nvPr/>
        </p:nvSpPr>
        <p:spPr bwMode="gray">
          <a:xfrm>
            <a:off x="1031916" y="3527472"/>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缺省情况下，接口学习的安全</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地址限制数量为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
        <p:nvSpPr>
          <p:cNvPr id="27" name="矩形 26"/>
          <p:cNvSpPr/>
          <p:nvPr/>
        </p:nvSpPr>
        <p:spPr bwMode="gray">
          <a:xfrm>
            <a:off x="1031916" y="4409021"/>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port-security mac-address</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mac-address</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vlan-id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8" name="矩形 27"/>
          <p:cNvSpPr/>
          <p:nvPr/>
        </p:nvSpPr>
        <p:spPr bwMode="gray">
          <a:xfrm>
            <a:off x="551383" y="3984084"/>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（可选）手工配置安全静态</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地址表项</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9" name="矩形 28"/>
          <p:cNvSpPr/>
          <p:nvPr/>
        </p:nvSpPr>
        <p:spPr bwMode="gray">
          <a:xfrm>
            <a:off x="1031917" y="5256591"/>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port-security protect-action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protect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restrict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shutdown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0" name="矩形 29"/>
          <p:cNvSpPr/>
          <p:nvPr/>
        </p:nvSpPr>
        <p:spPr bwMode="gray">
          <a:xfrm>
            <a:off x="551384" y="4831654"/>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（可选）配置端口安全保护动作</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31" name="矩形 30"/>
          <p:cNvSpPr/>
          <p:nvPr/>
        </p:nvSpPr>
        <p:spPr bwMode="gray">
          <a:xfrm>
            <a:off x="1031916" y="568332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缺省情况下，端口安全保护动作为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restrict</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Tree>
    <p:extLst>
      <p:ext uri="{BB962C8B-B14F-4D97-AF65-F5344CB8AC3E}">
        <p14:creationId xmlns:p14="http://schemas.microsoft.com/office/powerpoint/2010/main" val="129353232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端口安全配置命令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4" name="矩形 3"/>
          <p:cNvSpPr/>
          <p:nvPr/>
        </p:nvSpPr>
        <p:spPr bwMode="gray">
          <a:xfrm>
            <a:off x="1031917" y="1783311"/>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port-security aging-time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time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type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absolute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inactivity</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551384" y="1365312"/>
            <a:ext cx="11089232" cy="338554"/>
          </a:xfrm>
          <a:prstGeom prst="rect">
            <a:avLst/>
          </a:prstGeom>
        </p:spPr>
        <p:txBody>
          <a:bodyPr wrap="square">
            <a:spAutoFit/>
          </a:bodyPr>
          <a:lstStyle/>
          <a:p>
            <a:pPr marL="342900" indent="-342900" fontAlgn="auto">
              <a:buFont typeface="+mj-lt"/>
              <a:buAutoNum type="arabicPeriod" startAt="5"/>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（可选）配置接口学习到的安全动态</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地址的老化时间</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1031917" y="2202708"/>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缺省情况下，接口学习的安全动态</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地址不老化。</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0" name="矩形 9"/>
          <p:cNvSpPr/>
          <p:nvPr/>
        </p:nvSpPr>
        <p:spPr bwMode="gray">
          <a:xfrm>
            <a:off x="1031916" y="3097166"/>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port-security mac-address sticky</a:t>
            </a:r>
            <a:endParaRPr lang="zh-CN" altLang="en-US"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bwMode="gray">
          <a:xfrm>
            <a:off x="551383" y="2665875"/>
            <a:ext cx="11089232" cy="338554"/>
          </a:xfrm>
          <a:prstGeom prst="rect">
            <a:avLst/>
          </a:prstGeom>
        </p:spPr>
        <p:txBody>
          <a:bodyPr wrap="square">
            <a:spAutoFit/>
          </a:bodyPr>
          <a:lstStyle/>
          <a:p>
            <a:pPr marL="342900" indent="-342900" fontAlgn="auto">
              <a:buFont typeface="+mj-lt"/>
              <a:buAutoNum type="arabicPeriod" startAt="6"/>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使能接口</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Sticky 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p>
        </p:txBody>
      </p:sp>
      <p:sp>
        <p:nvSpPr>
          <p:cNvPr id="12" name="矩形 11"/>
          <p:cNvSpPr/>
          <p:nvPr/>
        </p:nvSpPr>
        <p:spPr bwMode="gray">
          <a:xfrm>
            <a:off x="1031916" y="3519752"/>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缺省情况下，接口未使能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Sticky 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p>
        </p:txBody>
      </p:sp>
      <p:sp>
        <p:nvSpPr>
          <p:cNvPr id="13" name="矩形 12"/>
          <p:cNvSpPr/>
          <p:nvPr/>
        </p:nvSpPr>
        <p:spPr bwMode="gray">
          <a:xfrm>
            <a:off x="1031916" y="4328775"/>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port-security max-mac-num</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max-number</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551383" y="3897484"/>
            <a:ext cx="11089232" cy="338554"/>
          </a:xfrm>
          <a:prstGeom prst="rect">
            <a:avLst/>
          </a:prstGeom>
        </p:spPr>
        <p:txBody>
          <a:bodyPr wrap="square">
            <a:spAutoFit/>
          </a:bodyPr>
          <a:lstStyle/>
          <a:p>
            <a:pPr marL="342900" indent="-342900" fontAlgn="auto">
              <a:buFont typeface="+mj-lt"/>
              <a:buAutoNum type="arabicPeriod" startAt="7"/>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Sticky 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学习限制</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数量</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a:off x="1031917" y="5580287"/>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port-security mac-address sticky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mac-address</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vlan-id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551384" y="5148996"/>
            <a:ext cx="11089232" cy="338554"/>
          </a:xfrm>
          <a:prstGeom prst="rect">
            <a:avLst/>
          </a:prstGeom>
        </p:spPr>
        <p:txBody>
          <a:bodyPr wrap="square">
            <a:spAutoFit/>
          </a:bodyPr>
          <a:lstStyle/>
          <a:p>
            <a:pPr marL="342900" indent="-342900" fontAlgn="auto">
              <a:buFont typeface="+mj-lt"/>
              <a:buAutoNum type="arabicPeriod" startAt="8"/>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（可选）手动配置一条</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sticky-mac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表项</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a:off x="1031917" y="476006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使能接口</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Sticky 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功能后，缺省情况下，接口学习的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地址限制数量为</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p:txBody>
      </p:sp>
    </p:spTree>
    <p:extLst>
      <p:ext uri="{BB962C8B-B14F-4D97-AF65-F5344CB8AC3E}">
        <p14:creationId xmlns:p14="http://schemas.microsoft.com/office/powerpoint/2010/main" val="5045818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端口安全配置举例：安全动态</a:t>
            </a:r>
            <a:r>
              <a:rPr lang="en-US" altLang="zh-CN" dirty="0" smtClean="0">
                <a:sym typeface="Huawei Sans" panose="020C0503030203020204" pitchFamily="34" charset="0"/>
              </a:rPr>
              <a:t>MAC</a:t>
            </a:r>
            <a:endParaRPr lang="zh-CN" altLang="en-US" dirty="0">
              <a:sym typeface="Huawei Sans" panose="020C0503030203020204" pitchFamily="34" charset="0"/>
            </a:endParaRPr>
          </a:p>
        </p:txBody>
      </p:sp>
      <p:sp>
        <p:nvSpPr>
          <p:cNvPr id="3" name="文本占位符 2"/>
          <p:cNvSpPr>
            <a:spLocks noGrp="1"/>
          </p:cNvSpPr>
          <p:nvPr>
            <p:ph type="body" sz="quarter" idx="4294967295"/>
          </p:nvPr>
        </p:nvSpPr>
        <p:spPr bwMode="gray">
          <a:xfrm>
            <a:off x="442913" y="3254829"/>
            <a:ext cx="5956300" cy="2722562"/>
          </a:xfrm>
        </p:spPr>
        <p:txBody>
          <a:bodyPr/>
          <a:lstStyle/>
          <a:p>
            <a:r>
              <a:rPr lang="zh-CN" altLang="en-US" sz="1600" dirty="0" smtClean="0">
                <a:sym typeface="Huawei Sans" panose="020C0503030203020204" pitchFamily="34" charset="0"/>
              </a:rPr>
              <a:t>配置要求：</a:t>
            </a:r>
            <a:endParaRPr lang="en-US" altLang="zh-CN" sz="1600" dirty="0" smtClean="0">
              <a:sym typeface="Huawei Sans" panose="020C0503030203020204" pitchFamily="34" charset="0"/>
            </a:endParaRPr>
          </a:p>
          <a:p>
            <a:pPr lvl="1"/>
            <a:r>
              <a:rPr lang="zh-CN" altLang="en-US" sz="1400" dirty="0" smtClean="0">
                <a:sym typeface="Huawei Sans" panose="020C0503030203020204" pitchFamily="34" charset="0"/>
              </a:rPr>
              <a:t>在</a:t>
            </a:r>
            <a:r>
              <a:rPr lang="en-US" altLang="zh-CN" sz="1400" dirty="0" smtClean="0">
                <a:sym typeface="Huawei Sans" panose="020C0503030203020204" pitchFamily="34" charset="0"/>
              </a:rPr>
              <a:t>Switch1</a:t>
            </a:r>
            <a:r>
              <a:rPr lang="zh-CN" altLang="en-US" sz="1400" dirty="0" smtClean="0">
                <a:sym typeface="Huawei Sans" panose="020C0503030203020204" pitchFamily="34" charset="0"/>
              </a:rPr>
              <a:t>上</a:t>
            </a:r>
            <a:r>
              <a:rPr lang="zh-CN" altLang="en-US" sz="1400" dirty="0">
                <a:sym typeface="Huawei Sans" panose="020C0503030203020204" pitchFamily="34" charset="0"/>
              </a:rPr>
              <a:t>部署端口安全</a:t>
            </a:r>
            <a:r>
              <a:rPr lang="zh-CN" altLang="en-US" sz="1400" dirty="0" smtClean="0">
                <a:sym typeface="Huawei Sans" panose="020C0503030203020204" pitchFamily="34" charset="0"/>
              </a:rPr>
              <a:t>。</a:t>
            </a:r>
            <a:endParaRPr lang="en-US" altLang="zh-CN" sz="1400" dirty="0" smtClean="0">
              <a:sym typeface="Huawei Sans" panose="020C0503030203020204" pitchFamily="34" charset="0"/>
            </a:endParaRPr>
          </a:p>
          <a:p>
            <a:pPr lvl="1"/>
            <a:r>
              <a:rPr lang="en-US" altLang="zh-CN" sz="1400" dirty="0" smtClean="0">
                <a:sym typeface="Huawei Sans" panose="020C0503030203020204" pitchFamily="34" charset="0"/>
              </a:rPr>
              <a:t>GE0/0/1</a:t>
            </a:r>
            <a:r>
              <a:rPr lang="zh-CN" altLang="en-US" sz="1400" dirty="0" smtClean="0">
                <a:sym typeface="Huawei Sans" panose="020C0503030203020204" pitchFamily="34" charset="0"/>
              </a:rPr>
              <a:t>及</a:t>
            </a:r>
            <a:r>
              <a:rPr lang="en-US" altLang="zh-CN" sz="1400" dirty="0" smtClean="0">
                <a:sym typeface="Huawei Sans" panose="020C0503030203020204" pitchFamily="34" charset="0"/>
              </a:rPr>
              <a:t>GE0/0/2</a:t>
            </a:r>
            <a:r>
              <a:rPr lang="zh-CN" altLang="en-US" sz="1400" dirty="0" smtClean="0">
                <a:sym typeface="Huawei Sans" panose="020C0503030203020204" pitchFamily="34" charset="0"/>
              </a:rPr>
              <a:t>接口将</a:t>
            </a:r>
            <a:r>
              <a:rPr lang="zh-CN" altLang="en-US" sz="1400" dirty="0">
                <a:sym typeface="Huawei Sans" panose="020C0503030203020204" pitchFamily="34" charset="0"/>
              </a:rPr>
              <a:t>学习</a:t>
            </a:r>
            <a:r>
              <a:rPr lang="en-US" altLang="zh-CN" sz="1400" dirty="0">
                <a:sym typeface="Huawei Sans" panose="020C0503030203020204" pitchFamily="34" charset="0"/>
              </a:rPr>
              <a:t>MAC</a:t>
            </a:r>
            <a:r>
              <a:rPr lang="zh-CN" altLang="en-US" sz="1400" dirty="0">
                <a:sym typeface="Huawei Sans" panose="020C0503030203020204" pitchFamily="34" charset="0"/>
              </a:rPr>
              <a:t>地址的数量限制为</a:t>
            </a:r>
            <a:r>
              <a:rPr lang="en-US" altLang="zh-CN" sz="1400" dirty="0">
                <a:sym typeface="Huawei Sans" panose="020C0503030203020204" pitchFamily="34" charset="0"/>
              </a:rPr>
              <a:t>1</a:t>
            </a:r>
            <a:r>
              <a:rPr lang="zh-CN" altLang="en-US" sz="1400" dirty="0" smtClean="0">
                <a:sym typeface="Huawei Sans" panose="020C0503030203020204" pitchFamily="34" charset="0"/>
              </a:rPr>
              <a:t>。当</a:t>
            </a:r>
            <a:r>
              <a:rPr lang="zh-CN" altLang="en-US" sz="1400" dirty="0">
                <a:sym typeface="Huawei Sans" panose="020C0503030203020204" pitchFamily="34" charset="0"/>
              </a:rPr>
              <a:t>该接口连接多台</a:t>
            </a:r>
            <a:r>
              <a:rPr lang="en-US" altLang="zh-CN" sz="1400" dirty="0">
                <a:sym typeface="Huawei Sans" panose="020C0503030203020204" pitchFamily="34" charset="0"/>
              </a:rPr>
              <a:t>PC</a:t>
            </a:r>
            <a:r>
              <a:rPr lang="zh-CN" altLang="en-US" sz="1400" dirty="0">
                <a:sym typeface="Huawei Sans" panose="020C0503030203020204" pitchFamily="34" charset="0"/>
              </a:rPr>
              <a:t>时</a:t>
            </a:r>
            <a:r>
              <a:rPr lang="zh-CN" altLang="en-US" sz="1400" dirty="0" smtClean="0">
                <a:sym typeface="Huawei Sans" panose="020C0503030203020204" pitchFamily="34" charset="0"/>
              </a:rPr>
              <a:t>，</a:t>
            </a:r>
            <a:r>
              <a:rPr lang="en-US" altLang="zh-CN" sz="1400" dirty="0" smtClean="0">
                <a:sym typeface="Huawei Sans" panose="020C0503030203020204" pitchFamily="34" charset="0"/>
              </a:rPr>
              <a:t>Switch1</a:t>
            </a:r>
            <a:r>
              <a:rPr lang="zh-CN" altLang="en-US" sz="1400" dirty="0" smtClean="0">
                <a:sym typeface="Huawei Sans" panose="020C0503030203020204" pitchFamily="34" charset="0"/>
              </a:rPr>
              <a:t>需</a:t>
            </a:r>
            <a:r>
              <a:rPr lang="zh-CN" altLang="en-US" sz="1400" dirty="0">
                <a:sym typeface="Huawei Sans" panose="020C0503030203020204" pitchFamily="34" charset="0"/>
              </a:rPr>
              <a:t>发出告警，且要求此时接口依然能正常转发合法</a:t>
            </a:r>
            <a:r>
              <a:rPr lang="en-US" altLang="zh-CN" sz="1400" dirty="0">
                <a:sym typeface="Huawei Sans" panose="020C0503030203020204" pitchFamily="34" charset="0"/>
              </a:rPr>
              <a:t>PC</a:t>
            </a:r>
            <a:r>
              <a:rPr lang="zh-CN" altLang="en-US" sz="1400" dirty="0">
                <a:sym typeface="Huawei Sans" panose="020C0503030203020204" pitchFamily="34" charset="0"/>
              </a:rPr>
              <a:t>的数据帧。</a:t>
            </a:r>
          </a:p>
          <a:p>
            <a:pPr lvl="1"/>
            <a:r>
              <a:rPr lang="en-US" altLang="zh-CN" sz="1400" dirty="0" smtClean="0">
                <a:sym typeface="Huawei Sans" panose="020C0503030203020204" pitchFamily="34" charset="0"/>
              </a:rPr>
              <a:t>GE0/0/3</a:t>
            </a:r>
            <a:r>
              <a:rPr lang="zh-CN" altLang="en-US" sz="1400" dirty="0">
                <a:sym typeface="Huawei Sans" panose="020C0503030203020204" pitchFamily="34" charset="0"/>
              </a:rPr>
              <a:t>接口将学习</a:t>
            </a:r>
            <a:r>
              <a:rPr lang="en-US" altLang="zh-CN" sz="1400" dirty="0">
                <a:sym typeface="Huawei Sans" panose="020C0503030203020204" pitchFamily="34" charset="0"/>
              </a:rPr>
              <a:t>MAC</a:t>
            </a:r>
            <a:r>
              <a:rPr lang="zh-CN" altLang="en-US" sz="1400" dirty="0">
                <a:sym typeface="Huawei Sans" panose="020C0503030203020204" pitchFamily="34" charset="0"/>
              </a:rPr>
              <a:t>地址的数量限制为</a:t>
            </a:r>
            <a:r>
              <a:rPr lang="en-US" altLang="zh-CN" sz="1400" dirty="0">
                <a:sym typeface="Huawei Sans" panose="020C0503030203020204" pitchFamily="34" charset="0"/>
              </a:rPr>
              <a:t>2</a:t>
            </a:r>
            <a:r>
              <a:rPr lang="zh-CN" altLang="en-US" sz="1400" dirty="0">
                <a:sym typeface="Huawei Sans" panose="020C0503030203020204" pitchFamily="34" charset="0"/>
              </a:rPr>
              <a:t>，并且当学习到的</a:t>
            </a:r>
            <a:r>
              <a:rPr lang="en-US" altLang="zh-CN" sz="1400" dirty="0">
                <a:sym typeface="Huawei Sans" panose="020C0503030203020204" pitchFamily="34" charset="0"/>
              </a:rPr>
              <a:t>MAC</a:t>
            </a:r>
            <a:r>
              <a:rPr lang="zh-CN" altLang="en-US" sz="1400" dirty="0">
                <a:sym typeface="Huawei Sans" panose="020C0503030203020204" pitchFamily="34" charset="0"/>
              </a:rPr>
              <a:t>地址数超出接口限制数时，交换机需发出告警，并且将接口关闭。</a:t>
            </a:r>
          </a:p>
          <a:p>
            <a:endParaRPr lang="zh-CN" altLang="en-US" sz="1600" dirty="0">
              <a:sym typeface="Huawei Sans" panose="020C0503030203020204" pitchFamily="34" charset="0"/>
            </a:endParaRP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494779" y="1114975"/>
            <a:ext cx="540000" cy="442800"/>
          </a:xfrm>
          <a:prstGeom prst="rect">
            <a:avLst/>
          </a:prstGeom>
        </p:spPr>
      </p:pic>
      <p:pic>
        <p:nvPicPr>
          <p:cNvPr id="5" name="图片 4" descr="PC.png"/>
          <p:cNvPicPr>
            <a:picLocks noChangeAspect="1"/>
          </p:cNvPicPr>
          <p:nvPr/>
        </p:nvPicPr>
        <p:blipFill>
          <a:blip r:embed="rId4" cstate="print"/>
          <a:stretch>
            <a:fillRect/>
          </a:stretch>
        </p:blipFill>
        <p:spPr bwMode="gray">
          <a:xfrm>
            <a:off x="3340651" y="3084227"/>
            <a:ext cx="539063" cy="414000"/>
          </a:xfrm>
          <a:prstGeom prst="rect">
            <a:avLst/>
          </a:prstGeom>
        </p:spPr>
      </p:pic>
      <p:pic>
        <p:nvPicPr>
          <p:cNvPr id="6" name="图片 5" descr="PC.png"/>
          <p:cNvPicPr>
            <a:picLocks noChangeAspect="1"/>
          </p:cNvPicPr>
          <p:nvPr/>
        </p:nvPicPr>
        <p:blipFill>
          <a:blip r:embed="rId4" cstate="print"/>
          <a:stretch>
            <a:fillRect/>
          </a:stretch>
        </p:blipFill>
        <p:spPr bwMode="gray">
          <a:xfrm>
            <a:off x="2491094" y="2339274"/>
            <a:ext cx="539063" cy="414000"/>
          </a:xfrm>
          <a:prstGeom prst="rect">
            <a:avLst/>
          </a:prstGeom>
        </p:spPr>
      </p:pic>
      <p:pic>
        <p:nvPicPr>
          <p:cNvPr id="7" name="图片 6" descr="PC.png"/>
          <p:cNvPicPr>
            <a:picLocks noChangeAspect="1"/>
          </p:cNvPicPr>
          <p:nvPr/>
        </p:nvPicPr>
        <p:blipFill>
          <a:blip r:embed="rId4" cstate="print"/>
          <a:stretch>
            <a:fillRect/>
          </a:stretch>
        </p:blipFill>
        <p:spPr bwMode="gray">
          <a:xfrm>
            <a:off x="1028383" y="2339748"/>
            <a:ext cx="539063" cy="414000"/>
          </a:xfrm>
          <a:prstGeom prst="rect">
            <a:avLst/>
          </a:prstGeom>
        </p:spPr>
      </p:pic>
      <p:cxnSp>
        <p:nvCxnSpPr>
          <p:cNvPr id="8" name="直接连接符 7"/>
          <p:cNvCxnSpPr>
            <a:endCxn id="7" idx="0"/>
          </p:cNvCxnSpPr>
          <p:nvPr/>
        </p:nvCxnSpPr>
        <p:spPr bwMode="gray">
          <a:xfrm flipH="1">
            <a:off x="1297915" y="1557775"/>
            <a:ext cx="1296191" cy="78197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4" idx="2"/>
            <a:endCxn id="6" idx="0"/>
          </p:cNvCxnSpPr>
          <p:nvPr/>
        </p:nvCxnSpPr>
        <p:spPr bwMode="gray">
          <a:xfrm flipH="1">
            <a:off x="2760626" y="1557775"/>
            <a:ext cx="4153" cy="781499"/>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endCxn id="19" idx="0"/>
          </p:cNvCxnSpPr>
          <p:nvPr/>
        </p:nvCxnSpPr>
        <p:spPr bwMode="gray">
          <a:xfrm>
            <a:off x="2921671" y="1556086"/>
            <a:ext cx="1331254" cy="787946"/>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bwMode="gray">
          <a:xfrm>
            <a:off x="3001013" y="1098514"/>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1713570" y="1469652"/>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2712083" y="1930465"/>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3057519" y="1467121"/>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1028383" y="2697943"/>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2502581" y="2670556"/>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3348708" y="3425741"/>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9" name="图片 18"/>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982925" y="2344032"/>
            <a:ext cx="540000" cy="442800"/>
          </a:xfrm>
          <a:prstGeom prst="rect">
            <a:avLst/>
          </a:prstGeom>
        </p:spPr>
      </p:pic>
      <p:pic>
        <p:nvPicPr>
          <p:cNvPr id="24" name="图片 23" descr="PC.png"/>
          <p:cNvPicPr>
            <a:picLocks noChangeAspect="1"/>
          </p:cNvPicPr>
          <p:nvPr/>
        </p:nvPicPr>
        <p:blipFill>
          <a:blip r:embed="rId4" cstate="print"/>
          <a:stretch>
            <a:fillRect/>
          </a:stretch>
        </p:blipFill>
        <p:spPr bwMode="gray">
          <a:xfrm>
            <a:off x="4684600" y="3072313"/>
            <a:ext cx="539063" cy="414000"/>
          </a:xfrm>
          <a:prstGeom prst="rect">
            <a:avLst/>
          </a:prstGeom>
        </p:spPr>
      </p:pic>
      <p:sp>
        <p:nvSpPr>
          <p:cNvPr id="25" name="文本框 24"/>
          <p:cNvSpPr txBox="1"/>
          <p:nvPr/>
        </p:nvSpPr>
        <p:spPr bwMode="gray">
          <a:xfrm>
            <a:off x="4671662" y="3425741"/>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PC4</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7" name="直接连接符 26"/>
          <p:cNvCxnSpPr>
            <a:endCxn id="5" idx="0"/>
          </p:cNvCxnSpPr>
          <p:nvPr/>
        </p:nvCxnSpPr>
        <p:spPr bwMode="gray">
          <a:xfrm flipH="1">
            <a:off x="3610183" y="2785143"/>
            <a:ext cx="486368" cy="29908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a:endCxn id="24" idx="0"/>
          </p:cNvCxnSpPr>
          <p:nvPr/>
        </p:nvCxnSpPr>
        <p:spPr bwMode="gray">
          <a:xfrm>
            <a:off x="4457425" y="2785143"/>
            <a:ext cx="496707" cy="28717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bwMode="gray">
          <a:xfrm>
            <a:off x="4457425" y="2370509"/>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文本框 39"/>
          <p:cNvSpPr txBox="1"/>
          <p:nvPr/>
        </p:nvSpPr>
        <p:spPr bwMode="gray">
          <a:xfrm>
            <a:off x="6419429" y="1492903"/>
            <a:ext cx="2223686" cy="369332"/>
          </a:xfrm>
          <a:prstGeom prst="rect">
            <a:avLst/>
          </a:prstGeom>
          <a:noFill/>
        </p:spPr>
        <p:txBody>
          <a:bodyPr wrap="none" rtlCol="0">
            <a:spAutoFit/>
          </a:bodyPr>
          <a:lstStyle/>
          <a:p>
            <a:r>
              <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rPr>
              <a:t>Switch1</a:t>
            </a:r>
            <a:r>
              <a:rPr lang="zh-CN" altLang="en-US" b="1" dirty="0" smtClean="0">
                <a:latin typeface="Huawei Sans" panose="020C0503030203020204" pitchFamily="34" charset="0"/>
                <a:ea typeface="方正兰亭黑简体" panose="02000000000000000000" pitchFamily="2" charset="-122"/>
                <a:sym typeface="Huawei Sans" panose="020C0503030203020204" pitchFamily="34" charset="0"/>
              </a:rPr>
              <a:t>配置如下：</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6419429" y="2029214"/>
            <a:ext cx="5325938" cy="2308324"/>
          </a:xfrm>
          <a:prstGeom prst="rect">
            <a:avLst/>
          </a:prstGeom>
          <a:solidFill>
            <a:schemeClr val="bg1">
              <a:lumMod val="85000"/>
            </a:schemeClr>
          </a:solidFill>
          <a:ln>
            <a:noFill/>
          </a:ln>
        </p:spPr>
        <p:txBody>
          <a:bodyPr wrap="square" rtlCol="0">
            <a:spAutoFit/>
          </a:bodyPr>
          <a:lstStyle/>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 interface GigabitEthernet 0/0/1</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0/0/1] port-security enable</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0/0/1] port-security max-mac-num 1</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0/0/1] port-security protect-action restrict</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 interface GigabitEthernet 0/0/2</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0/0/2] port-security enable</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0/0/2] port-security max-mac-num 1</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0/0/2] port-security protect-action restrict</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 interface GigabitEthernet 0/0/3</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0/0/3] port-security enable</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0/0/3] port-security max-mac-num 2</a:t>
            </a:r>
          </a:p>
          <a:p>
            <a:r>
              <a:rPr lang="en-US" altLang="zh-CN" sz="12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0/0/3] port-security protect-action shutdown</a:t>
            </a:r>
          </a:p>
        </p:txBody>
      </p:sp>
    </p:spTree>
    <p:extLst>
      <p:ext uri="{BB962C8B-B14F-4D97-AF65-F5344CB8AC3E}">
        <p14:creationId xmlns:p14="http://schemas.microsoft.com/office/powerpoint/2010/main" val="12508771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配置验证</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a:sym typeface="Huawei Sans" panose="020C0503030203020204" pitchFamily="34" charset="0"/>
              </a:rPr>
              <a:t>执行命令</a:t>
            </a:r>
            <a:r>
              <a:rPr lang="en-US" altLang="zh-CN" sz="1800" b="1" dirty="0">
                <a:sym typeface="Huawei Sans" panose="020C0503030203020204" pitchFamily="34" charset="0"/>
              </a:rPr>
              <a:t>display mac-address </a:t>
            </a:r>
            <a:r>
              <a:rPr lang="en-US" altLang="zh-CN" sz="1800" b="1" dirty="0" smtClean="0">
                <a:sym typeface="Huawei Sans" panose="020C0503030203020204" pitchFamily="34" charset="0"/>
              </a:rPr>
              <a:t>security</a:t>
            </a:r>
            <a:r>
              <a:rPr lang="zh-CN" altLang="en-US" sz="1800" dirty="0" smtClean="0">
                <a:sym typeface="Huawei Sans" panose="020C0503030203020204" pitchFamily="34" charset="0"/>
              </a:rPr>
              <a:t>，</a:t>
            </a:r>
            <a:r>
              <a:rPr lang="zh-CN" altLang="en-US" sz="1800" dirty="0">
                <a:sym typeface="Huawei Sans" panose="020C0503030203020204" pitchFamily="34" charset="0"/>
              </a:rPr>
              <a:t>查看动态安全</a:t>
            </a:r>
            <a:r>
              <a:rPr lang="en-US" altLang="zh-CN" sz="1800" dirty="0" smtClean="0">
                <a:sym typeface="Huawei Sans" panose="020C0503030203020204" pitchFamily="34" charset="0"/>
              </a:rPr>
              <a:t>MAC</a:t>
            </a:r>
            <a:r>
              <a:rPr lang="zh-CN" altLang="en-US" sz="1800" dirty="0">
                <a:sym typeface="Huawei Sans" panose="020C0503030203020204" pitchFamily="34" charset="0"/>
              </a:rPr>
              <a:t>表项。</a:t>
            </a:r>
          </a:p>
        </p:txBody>
      </p:sp>
      <p:sp>
        <p:nvSpPr>
          <p:cNvPr id="4" name="矩形 3"/>
          <p:cNvSpPr/>
          <p:nvPr/>
        </p:nvSpPr>
        <p:spPr bwMode="gray">
          <a:xfrm>
            <a:off x="1451428" y="1688854"/>
            <a:ext cx="8676640" cy="2462213"/>
          </a:xfrm>
          <a:prstGeom prst="rect">
            <a:avLst/>
          </a:prstGeom>
          <a:solidFill>
            <a:schemeClr val="bg1">
              <a:lumMod val="85000"/>
            </a:schemeClr>
          </a:solidFill>
          <a:ln>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[Switch1]display mac-address security</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 address table of slot 0:</a:t>
            </a: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 Address    VLAN/       PEVLAN CEVLAN Port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Type      	LSP/LSR-ID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VSI/SI                                              	             		MAC-Tunnel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5489-98ac-71a9 1           -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GE0/0/3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security</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5489-98b1-7b30 1           -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GE0/0/1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security</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5489-9815-662b 1           -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GE0/0/2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security</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Total matching items on slot 0 displayed = 3 </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124616463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端口安全配置举例：</a:t>
            </a:r>
            <a:r>
              <a:rPr lang="en-US" altLang="zh-CN" dirty="0" smtClean="0">
                <a:sym typeface="Huawei Sans" panose="020C0503030203020204" pitchFamily="34" charset="0"/>
              </a:rPr>
              <a:t>Sticky MAC</a:t>
            </a:r>
            <a:endParaRPr lang="zh-CN" altLang="en-US" dirty="0">
              <a:sym typeface="Huawei Sans" panose="020C0503030203020204" pitchFamily="34" charset="0"/>
            </a:endParaRPr>
          </a:p>
        </p:txBody>
      </p:sp>
      <p:sp>
        <p:nvSpPr>
          <p:cNvPr id="3" name="文本占位符 2"/>
          <p:cNvSpPr>
            <a:spLocks noGrp="1"/>
          </p:cNvSpPr>
          <p:nvPr>
            <p:ph type="body" sz="quarter" idx="4294967295"/>
          </p:nvPr>
        </p:nvSpPr>
        <p:spPr bwMode="gray">
          <a:xfrm>
            <a:off x="442913" y="3335142"/>
            <a:ext cx="5899024" cy="2717800"/>
          </a:xfrm>
        </p:spPr>
        <p:txBody>
          <a:bodyPr/>
          <a:lstStyle/>
          <a:p>
            <a:r>
              <a:rPr lang="zh-CN" altLang="en-US" sz="1600" dirty="0" smtClean="0">
                <a:sym typeface="Huawei Sans" panose="020C0503030203020204" pitchFamily="34" charset="0"/>
              </a:rPr>
              <a:t>配置要求：</a:t>
            </a:r>
            <a:endParaRPr lang="en-US" altLang="zh-CN" sz="1600" dirty="0" smtClean="0">
              <a:sym typeface="Huawei Sans" panose="020C0503030203020204" pitchFamily="34" charset="0"/>
            </a:endParaRPr>
          </a:p>
          <a:p>
            <a:pPr lvl="1"/>
            <a:r>
              <a:rPr lang="zh-CN" altLang="en-US" sz="1400" dirty="0" smtClean="0">
                <a:sym typeface="Huawei Sans" panose="020C0503030203020204" pitchFamily="34" charset="0"/>
              </a:rPr>
              <a:t>在</a:t>
            </a:r>
            <a:r>
              <a:rPr lang="en-US" altLang="zh-CN" sz="1400" dirty="0" smtClean="0">
                <a:sym typeface="Huawei Sans" panose="020C0503030203020204" pitchFamily="34" charset="0"/>
              </a:rPr>
              <a:t>Switch</a:t>
            </a:r>
            <a:r>
              <a:rPr lang="zh-CN" altLang="en-US" sz="1400" dirty="0" smtClean="0">
                <a:sym typeface="Huawei Sans" panose="020C0503030203020204" pitchFamily="34" charset="0"/>
              </a:rPr>
              <a:t>上</a:t>
            </a:r>
            <a:r>
              <a:rPr lang="zh-CN" altLang="en-US" sz="1400" dirty="0">
                <a:sym typeface="Huawei Sans" panose="020C0503030203020204" pitchFamily="34" charset="0"/>
              </a:rPr>
              <a:t>部署端口安全。</a:t>
            </a:r>
            <a:r>
              <a:rPr lang="zh-CN" altLang="en-US" sz="1400" dirty="0" smtClean="0">
                <a:sym typeface="Huawei Sans" panose="020C0503030203020204" pitchFamily="34" charset="0"/>
              </a:rPr>
              <a:t>将</a:t>
            </a:r>
            <a:r>
              <a:rPr lang="en-US" altLang="zh-CN" sz="1400" dirty="0" smtClean="0">
                <a:sym typeface="Huawei Sans" panose="020C0503030203020204" pitchFamily="34" charset="0"/>
              </a:rPr>
              <a:t>GE0/0/1~GE0/0/3</a:t>
            </a:r>
            <a:r>
              <a:rPr lang="zh-CN" altLang="en-US" sz="1400" dirty="0">
                <a:sym typeface="Huawei Sans" panose="020C0503030203020204" pitchFamily="34" charset="0"/>
              </a:rPr>
              <a:t>都激活端口安全。</a:t>
            </a:r>
          </a:p>
          <a:p>
            <a:pPr lvl="1"/>
            <a:r>
              <a:rPr lang="en-US" altLang="zh-CN" sz="1400" dirty="0" smtClean="0">
                <a:sym typeface="Huawei Sans" panose="020C0503030203020204" pitchFamily="34" charset="0"/>
              </a:rPr>
              <a:t>GE0/0/1</a:t>
            </a:r>
            <a:r>
              <a:rPr lang="zh-CN" altLang="en-US" sz="1400" dirty="0" smtClean="0">
                <a:sym typeface="Huawei Sans" panose="020C0503030203020204" pitchFamily="34" charset="0"/>
              </a:rPr>
              <a:t>及</a:t>
            </a:r>
            <a:r>
              <a:rPr lang="en-US" altLang="zh-CN" sz="1400" dirty="0" smtClean="0">
                <a:sym typeface="Huawei Sans" panose="020C0503030203020204" pitchFamily="34" charset="0"/>
              </a:rPr>
              <a:t>GE0/0/2</a:t>
            </a:r>
            <a:r>
              <a:rPr lang="zh-CN" altLang="en-US" sz="1400" dirty="0">
                <a:sym typeface="Huawei Sans" panose="020C0503030203020204" pitchFamily="34" charset="0"/>
              </a:rPr>
              <a:t>接口都将学习</a:t>
            </a:r>
            <a:r>
              <a:rPr lang="en-US" altLang="zh-CN" sz="1400" dirty="0">
                <a:sym typeface="Huawei Sans" panose="020C0503030203020204" pitchFamily="34" charset="0"/>
              </a:rPr>
              <a:t>MAC</a:t>
            </a:r>
            <a:r>
              <a:rPr lang="zh-CN" altLang="en-US" sz="1400" dirty="0">
                <a:sym typeface="Huawei Sans" panose="020C0503030203020204" pitchFamily="34" charset="0"/>
              </a:rPr>
              <a:t>地址的数量限制为</a:t>
            </a:r>
            <a:r>
              <a:rPr lang="en-US" altLang="zh-CN" sz="1400" dirty="0">
                <a:sym typeface="Huawei Sans" panose="020C0503030203020204" pitchFamily="34" charset="0"/>
              </a:rPr>
              <a:t>1</a:t>
            </a:r>
            <a:r>
              <a:rPr lang="zh-CN" altLang="en-US" sz="1400" dirty="0">
                <a:sym typeface="Huawei Sans" panose="020C0503030203020204" pitchFamily="34" charset="0"/>
              </a:rPr>
              <a:t>，并将在这两个接口上学习到的动态安全</a:t>
            </a:r>
            <a:r>
              <a:rPr lang="en-US" altLang="zh-CN" sz="1400" dirty="0">
                <a:sym typeface="Huawei Sans" panose="020C0503030203020204" pitchFamily="34" charset="0"/>
              </a:rPr>
              <a:t>MAC</a:t>
            </a:r>
            <a:r>
              <a:rPr lang="zh-CN" altLang="en-US" sz="1400" dirty="0">
                <a:sym typeface="Huawei Sans" panose="020C0503030203020204" pitchFamily="34" charset="0"/>
              </a:rPr>
              <a:t>地址转换</a:t>
            </a:r>
            <a:r>
              <a:rPr lang="zh-CN" altLang="en-US" sz="1400" dirty="0" smtClean="0">
                <a:sym typeface="Huawei Sans" panose="020C0503030203020204" pitchFamily="34" charset="0"/>
              </a:rPr>
              <a:t>为</a:t>
            </a:r>
            <a:r>
              <a:rPr lang="en-US" altLang="zh-CN" sz="1400" dirty="0" smtClean="0">
                <a:sym typeface="Huawei Sans" panose="020C0503030203020204" pitchFamily="34" charset="0"/>
              </a:rPr>
              <a:t>Sticky </a:t>
            </a:r>
            <a:r>
              <a:rPr lang="en-US" altLang="zh-CN" sz="1400" dirty="0">
                <a:sym typeface="Huawei Sans" panose="020C0503030203020204" pitchFamily="34" charset="0"/>
              </a:rPr>
              <a:t>MAC</a:t>
            </a:r>
            <a:r>
              <a:rPr lang="zh-CN" altLang="en-US" sz="1400" dirty="0" smtClean="0">
                <a:sym typeface="Huawei Sans" panose="020C0503030203020204" pitchFamily="34" charset="0"/>
              </a:rPr>
              <a:t>地址。</a:t>
            </a:r>
            <a:endParaRPr lang="zh-CN" altLang="en-US" sz="1400" dirty="0">
              <a:sym typeface="Huawei Sans" panose="020C0503030203020204" pitchFamily="34" charset="0"/>
            </a:endParaRPr>
          </a:p>
          <a:p>
            <a:pPr lvl="1"/>
            <a:r>
              <a:rPr lang="zh-CN" altLang="en-US" sz="1400" dirty="0" smtClean="0">
                <a:sym typeface="Huawei Sans" panose="020C0503030203020204" pitchFamily="34" charset="0"/>
              </a:rPr>
              <a:t>对于</a:t>
            </a:r>
            <a:r>
              <a:rPr lang="en-US" altLang="zh-CN" sz="1400" dirty="0" smtClean="0">
                <a:sym typeface="Huawei Sans" panose="020C0503030203020204" pitchFamily="34" charset="0"/>
              </a:rPr>
              <a:t>GE0/0/3</a:t>
            </a:r>
            <a:r>
              <a:rPr lang="zh-CN" altLang="en-US" sz="1400" dirty="0">
                <a:sym typeface="Huawei Sans" panose="020C0503030203020204" pitchFamily="34" charset="0"/>
              </a:rPr>
              <a:t>将学习</a:t>
            </a:r>
            <a:r>
              <a:rPr lang="en-US" altLang="zh-CN" sz="1400" dirty="0">
                <a:sym typeface="Huawei Sans" panose="020C0503030203020204" pitchFamily="34" charset="0"/>
              </a:rPr>
              <a:t>MAC</a:t>
            </a:r>
            <a:r>
              <a:rPr lang="zh-CN" altLang="en-US" sz="1400" dirty="0">
                <a:sym typeface="Huawei Sans" panose="020C0503030203020204" pitchFamily="34" charset="0"/>
              </a:rPr>
              <a:t>地址的数量限制为</a:t>
            </a:r>
            <a:r>
              <a:rPr lang="en-US" altLang="zh-CN" sz="1400" dirty="0">
                <a:sym typeface="Huawei Sans" panose="020C0503030203020204" pitchFamily="34" charset="0"/>
              </a:rPr>
              <a:t>1</a:t>
            </a:r>
            <a:r>
              <a:rPr lang="zh-CN" altLang="en-US" sz="1400" dirty="0">
                <a:sym typeface="Huawei Sans" panose="020C0503030203020204" pitchFamily="34" charset="0"/>
              </a:rPr>
              <a:t>，但是通过手工的方式为该接口创建一个</a:t>
            </a:r>
            <a:r>
              <a:rPr lang="en-US" altLang="zh-CN" sz="1400" dirty="0">
                <a:sym typeface="Huawei Sans" panose="020C0503030203020204" pitchFamily="34" charset="0"/>
              </a:rPr>
              <a:t>sticky MAC</a:t>
            </a:r>
            <a:r>
              <a:rPr lang="zh-CN" altLang="en-US" sz="1400" dirty="0">
                <a:sym typeface="Huawei Sans" panose="020C0503030203020204" pitchFamily="34" charset="0"/>
              </a:rPr>
              <a:t>地址表项，将该接口与</a:t>
            </a:r>
            <a:r>
              <a:rPr lang="en-US" altLang="zh-CN" sz="1400" dirty="0">
                <a:sym typeface="Huawei Sans" panose="020C0503030203020204" pitchFamily="34" charset="0"/>
              </a:rPr>
              <a:t>MAC</a:t>
            </a:r>
            <a:r>
              <a:rPr lang="zh-CN" altLang="en-US" sz="1400" dirty="0" smtClean="0">
                <a:sym typeface="Huawei Sans" panose="020C0503030203020204" pitchFamily="34" charset="0"/>
              </a:rPr>
              <a:t>地址</a:t>
            </a:r>
            <a:r>
              <a:rPr lang="en-US" altLang="zh-CN" sz="1400" dirty="0">
                <a:sym typeface="Huawei Sans" panose="020C0503030203020204" pitchFamily="34" charset="0"/>
              </a:rPr>
              <a:t>5489-98ac-71a9</a:t>
            </a:r>
            <a:r>
              <a:rPr lang="zh-CN" altLang="en-US" sz="1400" dirty="0" smtClean="0">
                <a:sym typeface="Huawei Sans" panose="020C0503030203020204" pitchFamily="34" charset="0"/>
              </a:rPr>
              <a:t>绑定。各接口违例</a:t>
            </a:r>
            <a:r>
              <a:rPr lang="zh-CN" altLang="en-US" sz="1400" dirty="0">
                <a:sym typeface="Huawei Sans" panose="020C0503030203020204" pitchFamily="34" charset="0"/>
              </a:rPr>
              <a:t>惩罚保持缺省。</a:t>
            </a:r>
          </a:p>
          <a:p>
            <a:pPr lvl="1"/>
            <a:endParaRPr lang="zh-CN" altLang="en-US" sz="1400" dirty="0">
              <a:sym typeface="Huawei Sans" panose="020C0503030203020204" pitchFamily="34" charset="0"/>
            </a:endParaRPr>
          </a:p>
          <a:p>
            <a:endParaRPr lang="zh-CN" altLang="en-US" sz="1600" dirty="0">
              <a:sym typeface="Huawei Sans" panose="020C0503030203020204" pitchFamily="34" charset="0"/>
            </a:endParaRP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896561" y="1097052"/>
            <a:ext cx="540000" cy="442800"/>
          </a:xfrm>
          <a:prstGeom prst="rect">
            <a:avLst/>
          </a:prstGeom>
        </p:spPr>
      </p:pic>
      <p:pic>
        <p:nvPicPr>
          <p:cNvPr id="5" name="图片 4" descr="PC.png"/>
          <p:cNvPicPr>
            <a:picLocks noChangeAspect="1"/>
          </p:cNvPicPr>
          <p:nvPr/>
        </p:nvPicPr>
        <p:blipFill>
          <a:blip r:embed="rId4" cstate="print"/>
          <a:stretch>
            <a:fillRect/>
          </a:stretch>
        </p:blipFill>
        <p:spPr bwMode="gray">
          <a:xfrm>
            <a:off x="4407378" y="2439229"/>
            <a:ext cx="539063" cy="414000"/>
          </a:xfrm>
          <a:prstGeom prst="rect">
            <a:avLst/>
          </a:prstGeom>
        </p:spPr>
      </p:pic>
      <p:pic>
        <p:nvPicPr>
          <p:cNvPr id="6" name="图片 5" descr="PC.png"/>
          <p:cNvPicPr>
            <a:picLocks noChangeAspect="1"/>
          </p:cNvPicPr>
          <p:nvPr/>
        </p:nvPicPr>
        <p:blipFill>
          <a:blip r:embed="rId4" cstate="print"/>
          <a:stretch>
            <a:fillRect/>
          </a:stretch>
        </p:blipFill>
        <p:spPr bwMode="gray">
          <a:xfrm>
            <a:off x="2897498" y="2437497"/>
            <a:ext cx="539063" cy="414000"/>
          </a:xfrm>
          <a:prstGeom prst="rect">
            <a:avLst/>
          </a:prstGeom>
        </p:spPr>
      </p:pic>
      <p:pic>
        <p:nvPicPr>
          <p:cNvPr id="7" name="图片 6" descr="PC.png"/>
          <p:cNvPicPr>
            <a:picLocks noChangeAspect="1"/>
          </p:cNvPicPr>
          <p:nvPr/>
        </p:nvPicPr>
        <p:blipFill>
          <a:blip r:embed="rId4" cstate="print"/>
          <a:stretch>
            <a:fillRect/>
          </a:stretch>
        </p:blipFill>
        <p:spPr bwMode="gray">
          <a:xfrm>
            <a:off x="1428905" y="2439229"/>
            <a:ext cx="539063" cy="414000"/>
          </a:xfrm>
          <a:prstGeom prst="rect">
            <a:avLst/>
          </a:prstGeom>
        </p:spPr>
      </p:pic>
      <p:cxnSp>
        <p:nvCxnSpPr>
          <p:cNvPr id="8" name="直接连接符 7"/>
          <p:cNvCxnSpPr>
            <a:endCxn id="7" idx="0"/>
          </p:cNvCxnSpPr>
          <p:nvPr/>
        </p:nvCxnSpPr>
        <p:spPr bwMode="gray">
          <a:xfrm flipH="1">
            <a:off x="1698437" y="1525041"/>
            <a:ext cx="1288076" cy="91418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4" idx="2"/>
            <a:endCxn id="6" idx="0"/>
          </p:cNvCxnSpPr>
          <p:nvPr/>
        </p:nvCxnSpPr>
        <p:spPr bwMode="gray">
          <a:xfrm>
            <a:off x="3166561" y="1539852"/>
            <a:ext cx="469" cy="8976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endCxn id="5" idx="0"/>
          </p:cNvCxnSpPr>
          <p:nvPr/>
        </p:nvCxnSpPr>
        <p:spPr bwMode="gray">
          <a:xfrm>
            <a:off x="3347078" y="1525041"/>
            <a:ext cx="1329832" cy="91418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bwMode="gray">
          <a:xfrm>
            <a:off x="3413251" y="1041658"/>
            <a:ext cx="76335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2140560" y="1444483"/>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3100571" y="1808004"/>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3512136" y="1413548"/>
            <a:ext cx="75693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1425832" y="2824297"/>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2899612" y="2824297"/>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4402191" y="2822565"/>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PC3</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6341937" y="1003815"/>
            <a:ext cx="2090637" cy="369332"/>
          </a:xfrm>
          <a:prstGeom prst="rect">
            <a:avLst/>
          </a:prstGeom>
          <a:noFill/>
        </p:spPr>
        <p:txBody>
          <a:bodyPr wrap="none" rtlCol="0">
            <a:spAutoFit/>
          </a:bodyPr>
          <a:lstStyle/>
          <a:p>
            <a:r>
              <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rPr>
              <a:t>Switch</a:t>
            </a:r>
            <a:r>
              <a:rPr lang="zh-CN" altLang="en-US" b="1" dirty="0" smtClean="0">
                <a:latin typeface="Huawei Sans" panose="020C0503030203020204" pitchFamily="34" charset="0"/>
                <a:ea typeface="方正兰亭黑简体" panose="02000000000000000000" pitchFamily="2" charset="-122"/>
                <a:sym typeface="Huawei Sans" panose="020C0503030203020204" pitchFamily="34" charset="0"/>
              </a:rPr>
              <a:t>配置如下：</a:t>
            </a:r>
            <a:endParaRPr lang="zh-CN" altLang="en-US"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6341937" y="1347923"/>
            <a:ext cx="5407151" cy="3108543"/>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00000"/>
              </a:lnSpc>
            </a:pPr>
            <a:r>
              <a:rPr lang="en-US" altLang="zh-CN" dirty="0">
                <a:sym typeface="Huawei Sans" panose="020C0503030203020204" pitchFamily="34" charset="0"/>
              </a:rPr>
              <a:t>[Switch] interface GigabitEthernet 0/0/1</a:t>
            </a:r>
          </a:p>
          <a:p>
            <a:pPr>
              <a:lnSpc>
                <a:spcPct val="100000"/>
              </a:lnSpc>
            </a:pPr>
            <a:r>
              <a:rPr lang="en-US" altLang="zh-CN" dirty="0">
                <a:sym typeface="Huawei Sans" panose="020C0503030203020204" pitchFamily="34" charset="0"/>
              </a:rPr>
              <a:t>[Switch-GigabitEthernet 0/0/1] port-security enable</a:t>
            </a:r>
          </a:p>
          <a:p>
            <a:pPr>
              <a:lnSpc>
                <a:spcPct val="100000"/>
              </a:lnSpc>
            </a:pPr>
            <a:r>
              <a:rPr lang="en-US" altLang="zh-CN" dirty="0">
                <a:sym typeface="Huawei Sans" panose="020C0503030203020204" pitchFamily="34" charset="0"/>
              </a:rPr>
              <a:t>[Switch-GigabitEthernet 0/0/1] port-security max-mac-num 1</a:t>
            </a:r>
          </a:p>
          <a:p>
            <a:pPr>
              <a:lnSpc>
                <a:spcPct val="100000"/>
              </a:lnSpc>
            </a:pPr>
            <a:r>
              <a:rPr lang="en-US" altLang="zh-CN" dirty="0">
                <a:sym typeface="Huawei Sans" panose="020C0503030203020204" pitchFamily="34" charset="0"/>
              </a:rPr>
              <a:t>[Switch-GigabitEthernet 0/0/1] port-security mac-address sticky</a:t>
            </a:r>
          </a:p>
          <a:p>
            <a:pPr>
              <a:lnSpc>
                <a:spcPct val="100000"/>
              </a:lnSpc>
            </a:pPr>
            <a:r>
              <a:rPr lang="en-US" altLang="zh-CN" dirty="0">
                <a:sym typeface="Huawei Sans" panose="020C0503030203020204" pitchFamily="34" charset="0"/>
              </a:rPr>
              <a:t>[Switch] interface GigabitEthernet 0/0/2</a:t>
            </a:r>
          </a:p>
          <a:p>
            <a:pPr>
              <a:lnSpc>
                <a:spcPct val="100000"/>
              </a:lnSpc>
            </a:pPr>
            <a:r>
              <a:rPr lang="en-US" altLang="zh-CN" dirty="0">
                <a:sym typeface="Huawei Sans" panose="020C0503030203020204" pitchFamily="34" charset="0"/>
              </a:rPr>
              <a:t>[Switch-GigabitEthernet 0/0/2] port-security enable</a:t>
            </a:r>
          </a:p>
          <a:p>
            <a:pPr>
              <a:lnSpc>
                <a:spcPct val="100000"/>
              </a:lnSpc>
            </a:pPr>
            <a:r>
              <a:rPr lang="en-US" altLang="zh-CN" dirty="0">
                <a:sym typeface="Huawei Sans" panose="020C0503030203020204" pitchFamily="34" charset="0"/>
              </a:rPr>
              <a:t>[Switch-GigabitEthernet 0/0/2] port-security max-mac-num 1</a:t>
            </a:r>
          </a:p>
          <a:p>
            <a:pPr>
              <a:lnSpc>
                <a:spcPct val="100000"/>
              </a:lnSpc>
            </a:pPr>
            <a:r>
              <a:rPr lang="en-US" altLang="zh-CN" dirty="0">
                <a:sym typeface="Huawei Sans" panose="020C0503030203020204" pitchFamily="34" charset="0"/>
              </a:rPr>
              <a:t>[Switch-GigabitEthernet 0/0/2] port-security mac-address sticky</a:t>
            </a:r>
          </a:p>
          <a:p>
            <a:pPr>
              <a:lnSpc>
                <a:spcPct val="100000"/>
              </a:lnSpc>
            </a:pPr>
            <a:r>
              <a:rPr lang="en-US" altLang="zh-CN" dirty="0">
                <a:sym typeface="Huawei Sans" panose="020C0503030203020204" pitchFamily="34" charset="0"/>
              </a:rPr>
              <a:t>[Switch] interface GigabitEthernet 0/0/3</a:t>
            </a:r>
          </a:p>
          <a:p>
            <a:pPr>
              <a:lnSpc>
                <a:spcPct val="100000"/>
              </a:lnSpc>
            </a:pPr>
            <a:r>
              <a:rPr lang="en-US" altLang="zh-CN" dirty="0">
                <a:sym typeface="Huawei Sans" panose="020C0503030203020204" pitchFamily="34" charset="0"/>
              </a:rPr>
              <a:t>[Switch-GigabitEthernet 0/0/3] port-security enable</a:t>
            </a:r>
          </a:p>
          <a:p>
            <a:pPr>
              <a:lnSpc>
                <a:spcPct val="100000"/>
              </a:lnSpc>
            </a:pPr>
            <a:r>
              <a:rPr lang="en-US" altLang="zh-CN" dirty="0">
                <a:sym typeface="Huawei Sans" panose="020C0503030203020204" pitchFamily="34" charset="0"/>
              </a:rPr>
              <a:t>[Switch-GigabitEthernet 0/0/3] port-security max-mac-num 1</a:t>
            </a:r>
          </a:p>
          <a:p>
            <a:pPr>
              <a:lnSpc>
                <a:spcPct val="100000"/>
              </a:lnSpc>
            </a:pPr>
            <a:r>
              <a:rPr lang="en-US" altLang="zh-CN" dirty="0">
                <a:sym typeface="Huawei Sans" panose="020C0503030203020204" pitchFamily="34" charset="0"/>
              </a:rPr>
              <a:t>[Switch-GigabitEthernet 0/0/3] port-security mac-address sticky</a:t>
            </a:r>
          </a:p>
          <a:p>
            <a:pPr>
              <a:lnSpc>
                <a:spcPct val="100000"/>
              </a:lnSpc>
            </a:pPr>
            <a:r>
              <a:rPr lang="en-US" altLang="zh-CN" dirty="0">
                <a:sym typeface="Huawei Sans" panose="020C0503030203020204" pitchFamily="34" charset="0"/>
              </a:rPr>
              <a:t>[Switch-GigabitEthernet 0/0/3] port-security mac-address sticky 5489-98ac-71a9 vlan 1</a:t>
            </a:r>
          </a:p>
        </p:txBody>
      </p:sp>
    </p:spTree>
    <p:extLst>
      <p:ext uri="{BB962C8B-B14F-4D97-AF65-F5344CB8AC3E}">
        <p14:creationId xmlns:p14="http://schemas.microsoft.com/office/powerpoint/2010/main" val="9232818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配置验证</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sz="1800" dirty="0" smtClean="0">
                <a:sym typeface="Huawei Sans" panose="020C0503030203020204" pitchFamily="34" charset="0"/>
              </a:rPr>
              <a:t>执行命令</a:t>
            </a:r>
            <a:r>
              <a:rPr lang="en-US" altLang="zh-CN" sz="1800" b="1" dirty="0" smtClean="0">
                <a:sym typeface="Huawei Sans" panose="020C0503030203020204" pitchFamily="34" charset="0"/>
              </a:rPr>
              <a:t>display mac-address sticky</a:t>
            </a:r>
            <a:r>
              <a:rPr lang="zh-CN" altLang="en-US" sz="1800" dirty="0" smtClean="0">
                <a:sym typeface="Huawei Sans" panose="020C0503030203020204" pitchFamily="34" charset="0"/>
              </a:rPr>
              <a:t>，查看</a:t>
            </a:r>
            <a:r>
              <a:rPr lang="en-US" altLang="zh-CN" sz="1800" dirty="0" smtClean="0">
                <a:sym typeface="Huawei Sans" panose="020C0503030203020204" pitchFamily="34" charset="0"/>
              </a:rPr>
              <a:t>Sticky MAC</a:t>
            </a:r>
            <a:r>
              <a:rPr lang="zh-CN" altLang="en-US" sz="1800" dirty="0" smtClean="0">
                <a:sym typeface="Huawei Sans" panose="020C0503030203020204" pitchFamily="34" charset="0"/>
              </a:rPr>
              <a:t>表项。</a:t>
            </a:r>
            <a:endParaRPr lang="zh-CN" altLang="en-US" sz="1800" dirty="0">
              <a:sym typeface="Huawei Sans" panose="020C0503030203020204" pitchFamily="34" charset="0"/>
            </a:endParaRPr>
          </a:p>
        </p:txBody>
      </p:sp>
      <p:sp>
        <p:nvSpPr>
          <p:cNvPr id="4" name="矩形 3"/>
          <p:cNvSpPr/>
          <p:nvPr/>
        </p:nvSpPr>
        <p:spPr bwMode="gray">
          <a:xfrm>
            <a:off x="1355130" y="1547869"/>
            <a:ext cx="8051027" cy="2462213"/>
          </a:xfrm>
          <a:prstGeom prst="rect">
            <a:avLst/>
          </a:prstGeom>
          <a:solidFill>
            <a:schemeClr val="bg1">
              <a:lumMod val="85000"/>
            </a:schemeClr>
          </a:solidFill>
          <a:ln>
            <a:noFill/>
          </a:ln>
        </p:spPr>
        <p:txBody>
          <a:bodyPr wrap="square" rtlCol="0">
            <a:spAutoFit/>
          </a:bodyPr>
          <a:lstStyle/>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[Switch1]display mac-address sticky</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 address table of slot 0:</a:t>
            </a: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 Address    VLAN/       PEVLAN CEVLAN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Port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Type      LSP/LSR-ID  </a:t>
            </a: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VSI/SI                                              		MAC-Tunnel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5489-98ac-71a9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GE0/0/3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sticky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5489-98b1-7b30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GE0/0/1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sticky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5489-9815-662b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           -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GE0/0/2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sticky  </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Total matching items on slot 0 displayed = 3 </a:t>
            </a:r>
            <a:endParaRPr lang="zh-CN" altLang="en-US" sz="14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25865362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b="1" dirty="0" smtClean="0">
                <a:sym typeface="Huawei Sans" panose="020C0503030203020204" pitchFamily="34" charset="0"/>
              </a:rPr>
              <a:t>以太网交换安全</a:t>
            </a:r>
            <a:endParaRPr lang="en-US" altLang="zh-CN" sz="1800" b="1" dirty="0" smtClean="0">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端口隔离</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地址表安全</a:t>
            </a:r>
            <a:endParaRPr lang="en-US" altLang="zh-CN" sz="1600" dirty="0">
              <a:solidFill>
                <a:schemeClr val="bg1">
                  <a:lumMod val="50000"/>
                </a:schemeClr>
              </a:solidFill>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端口安全</a:t>
            </a:r>
            <a:endParaRPr lang="en-US" altLang="zh-CN" sz="16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sz="1600" dirty="0">
                <a:sym typeface="Huawei Sans" panose="020C0503030203020204" pitchFamily="34" charset="0"/>
              </a:rPr>
              <a:t>MAC</a:t>
            </a:r>
            <a:r>
              <a:rPr lang="zh-CN" altLang="en-US" sz="1600" dirty="0">
                <a:sym typeface="Huawei Sans" panose="020C0503030203020204" pitchFamily="34" charset="0"/>
              </a:rPr>
              <a:t>地址漂移防止与检测</a:t>
            </a:r>
            <a:endParaRPr lang="en-US" altLang="zh-CN" sz="1600" dirty="0">
              <a:sym typeface="Huawei Sans" panose="020C0503030203020204" pitchFamily="34" charset="0"/>
            </a:endParaRPr>
          </a:p>
          <a:p>
            <a:pPr lvl="1"/>
            <a:r>
              <a:rPr lang="en-US" altLang="zh-CN" sz="1600" dirty="0" err="1" smtClean="0">
                <a:solidFill>
                  <a:schemeClr val="bg1">
                    <a:lumMod val="50000"/>
                  </a:schemeClr>
                </a:solidFill>
                <a:sym typeface="Huawei Sans" panose="020C0503030203020204" pitchFamily="34" charset="0"/>
              </a:rPr>
              <a:t>MACsec</a:t>
            </a:r>
            <a:endParaRPr lang="en-US" altLang="zh-CN" sz="1600" dirty="0" smtClean="0">
              <a:solidFill>
                <a:schemeClr val="bg1">
                  <a:lumMod val="50000"/>
                </a:schemeClr>
              </a:solidFill>
              <a:sym typeface="Huawei Sans" panose="020C0503030203020204" pitchFamily="34" charset="0"/>
            </a:endParaRPr>
          </a:p>
          <a:p>
            <a:pPr lvl="1"/>
            <a:r>
              <a:rPr lang="zh-CN" altLang="en-US" sz="1600" dirty="0" smtClean="0">
                <a:solidFill>
                  <a:schemeClr val="bg1">
                    <a:lumMod val="50000"/>
                  </a:schemeClr>
                </a:solidFill>
                <a:sym typeface="Huawei Sans" panose="020C0503030203020204" pitchFamily="34" charset="0"/>
              </a:rPr>
              <a:t>交换机流量控制</a:t>
            </a:r>
            <a:endParaRPr lang="en-US" altLang="zh-CN" sz="1600" dirty="0" smtClean="0">
              <a:solidFill>
                <a:schemeClr val="bg1">
                  <a:lumMod val="50000"/>
                </a:schemeClr>
              </a:solidFill>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DHCP Snooping</a:t>
            </a:r>
          </a:p>
          <a:p>
            <a:pPr lvl="1"/>
            <a:r>
              <a:rPr lang="en-US" altLang="zh-CN" sz="1600" dirty="0" smtClean="0">
                <a:solidFill>
                  <a:schemeClr val="bg1">
                    <a:lumMod val="50000"/>
                  </a:schemeClr>
                </a:solidFill>
                <a:sym typeface="Huawei Sans" panose="020C0503030203020204" pitchFamily="34" charset="0"/>
              </a:rPr>
              <a:t>IP Source Guard</a:t>
            </a:r>
          </a:p>
          <a:p>
            <a:r>
              <a:rPr lang="zh-CN" altLang="en-US" sz="1800" dirty="0" smtClean="0">
                <a:solidFill>
                  <a:schemeClr val="bg1">
                    <a:lumMod val="50000"/>
                  </a:schemeClr>
                </a:solidFill>
                <a:sym typeface="Huawei Sans" panose="020C0503030203020204" pitchFamily="34" charset="0"/>
              </a:rPr>
              <a:t>防火墙高级特性</a:t>
            </a:r>
            <a:endParaRPr lang="zh-CN" altLang="en-US"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407241431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smtClean="0">
                <a:sym typeface="Huawei Sans" panose="020C0503030203020204" pitchFamily="34" charset="0"/>
              </a:rPr>
              <a:t>MAC</a:t>
            </a:r>
            <a:r>
              <a:rPr lang="zh-CN" altLang="en-US" smtClean="0">
                <a:sym typeface="Huawei Sans" panose="020C0503030203020204" pitchFamily="34" charset="0"/>
              </a:rPr>
              <a:t>地址漂移概述</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en-US" altLang="zh-CN" sz="1600" smtClean="0">
                <a:sym typeface="Huawei Sans" panose="020C0503030203020204" pitchFamily="34" charset="0"/>
              </a:rPr>
              <a:t>MAC</a:t>
            </a:r>
            <a:r>
              <a:rPr lang="zh-CN" altLang="en-US" sz="1600" smtClean="0">
                <a:sym typeface="Huawei Sans" panose="020C0503030203020204" pitchFamily="34" charset="0"/>
              </a:rPr>
              <a:t>地址漂移是指交换机上一个</a:t>
            </a:r>
            <a:r>
              <a:rPr lang="en-US" altLang="zh-CN" sz="1600" smtClean="0">
                <a:sym typeface="Huawei Sans" panose="020C0503030203020204" pitchFamily="34" charset="0"/>
              </a:rPr>
              <a:t>VLAN</a:t>
            </a:r>
            <a:r>
              <a:rPr lang="zh-CN" altLang="en-US" sz="1600" smtClean="0">
                <a:sym typeface="Huawei Sans" panose="020C0503030203020204" pitchFamily="34" charset="0"/>
              </a:rPr>
              <a:t>内有两个端口学习到同一个</a:t>
            </a:r>
            <a:r>
              <a:rPr lang="en-US" altLang="zh-CN" sz="1600" smtClean="0">
                <a:sym typeface="Huawei Sans" panose="020C0503030203020204" pitchFamily="34" charset="0"/>
              </a:rPr>
              <a:t>MAC</a:t>
            </a:r>
            <a:r>
              <a:rPr lang="zh-CN" altLang="en-US" sz="1600" smtClean="0">
                <a:sym typeface="Huawei Sans" panose="020C0503030203020204" pitchFamily="34" charset="0"/>
              </a:rPr>
              <a:t>地址，后学习到的</a:t>
            </a:r>
            <a:r>
              <a:rPr lang="en-US" altLang="zh-CN" sz="1600" smtClean="0">
                <a:sym typeface="Huawei Sans" panose="020C0503030203020204" pitchFamily="34" charset="0"/>
              </a:rPr>
              <a:t>MAC</a:t>
            </a:r>
            <a:r>
              <a:rPr lang="zh-CN" altLang="en-US" sz="1600" smtClean="0">
                <a:sym typeface="Huawei Sans" panose="020C0503030203020204" pitchFamily="34" charset="0"/>
              </a:rPr>
              <a:t>地址表项覆盖原</a:t>
            </a:r>
            <a:r>
              <a:rPr lang="en-US" altLang="zh-CN" sz="1600" smtClean="0">
                <a:sym typeface="Huawei Sans" panose="020C0503030203020204" pitchFamily="34" charset="0"/>
              </a:rPr>
              <a:t>MAC</a:t>
            </a:r>
            <a:r>
              <a:rPr lang="zh-CN" altLang="en-US" sz="1600" smtClean="0">
                <a:sym typeface="Huawei Sans" panose="020C0503030203020204" pitchFamily="34" charset="0"/>
              </a:rPr>
              <a:t>地址表项的现象。</a:t>
            </a:r>
          </a:p>
          <a:p>
            <a:r>
              <a:rPr lang="zh-CN" altLang="en-US" sz="1600" smtClean="0">
                <a:sym typeface="Huawei Sans" panose="020C0503030203020204" pitchFamily="34" charset="0"/>
              </a:rPr>
              <a:t>当一个</a:t>
            </a:r>
            <a:r>
              <a:rPr lang="en-US" altLang="zh-CN" sz="1600" smtClean="0">
                <a:sym typeface="Huawei Sans" panose="020C0503030203020204" pitchFamily="34" charset="0"/>
              </a:rPr>
              <a:t>MAC</a:t>
            </a:r>
            <a:r>
              <a:rPr lang="zh-CN" altLang="en-US" sz="1600" smtClean="0">
                <a:sym typeface="Huawei Sans" panose="020C0503030203020204" pitchFamily="34" charset="0"/>
              </a:rPr>
              <a:t>地址在两个端口之间频繁发生迁移时，即会产生</a:t>
            </a:r>
            <a:r>
              <a:rPr lang="en-US" altLang="zh-CN" sz="1600" smtClean="0">
                <a:sym typeface="Huawei Sans" panose="020C0503030203020204" pitchFamily="34" charset="0"/>
              </a:rPr>
              <a:t>MAC</a:t>
            </a:r>
            <a:r>
              <a:rPr lang="zh-CN" altLang="en-US" sz="1600" smtClean="0">
                <a:sym typeface="Huawei Sans" panose="020C0503030203020204" pitchFamily="34" charset="0"/>
              </a:rPr>
              <a:t>地址漂移现象。</a:t>
            </a:r>
          </a:p>
          <a:p>
            <a:r>
              <a:rPr lang="zh-CN" altLang="en-US" sz="1600" smtClean="0">
                <a:sym typeface="Huawei Sans" panose="020C0503030203020204" pitchFamily="34" charset="0"/>
              </a:rPr>
              <a:t>正常情况下，网络中不会在短时间内出现大量</a:t>
            </a:r>
            <a:r>
              <a:rPr lang="en-US" altLang="zh-CN" sz="1600" smtClean="0">
                <a:sym typeface="Huawei Sans" panose="020C0503030203020204" pitchFamily="34" charset="0"/>
              </a:rPr>
              <a:t>MAC</a:t>
            </a:r>
            <a:r>
              <a:rPr lang="zh-CN" altLang="en-US" sz="1600" smtClean="0">
                <a:sym typeface="Huawei Sans" panose="020C0503030203020204" pitchFamily="34" charset="0"/>
              </a:rPr>
              <a:t>地址漂移的情况。出现这种现象一般都意味着网络中存在环路，或者存在网络攻击行为。</a:t>
            </a:r>
            <a:endParaRPr lang="zh-CN" altLang="en-US" sz="1600" dirty="0">
              <a:sym typeface="Huawei Sans" panose="020C0503030203020204" pitchFamily="34" charset="0"/>
            </a:endParaRPr>
          </a:p>
        </p:txBody>
      </p:sp>
      <p:grpSp>
        <p:nvGrpSpPr>
          <p:cNvPr id="70" name="组合 69"/>
          <p:cNvGrpSpPr/>
          <p:nvPr/>
        </p:nvGrpSpPr>
        <p:grpSpPr bwMode="gray">
          <a:xfrm>
            <a:off x="1393379" y="3157354"/>
            <a:ext cx="3621689" cy="2693062"/>
            <a:chOff x="951146" y="3688688"/>
            <a:chExt cx="3621689" cy="2693062"/>
          </a:xfrm>
        </p:grpSpPr>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951146" y="3716338"/>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462526" y="3716338"/>
              <a:ext cx="540000" cy="442800"/>
            </a:xfrm>
            <a:prstGeom prst="rect">
              <a:avLst/>
            </a:prstGeom>
          </p:spPr>
        </p:pic>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174639" y="5001766"/>
              <a:ext cx="540000" cy="442800"/>
            </a:xfrm>
            <a:prstGeom prst="rect">
              <a:avLst/>
            </a:prstGeom>
          </p:spPr>
        </p:pic>
        <p:cxnSp>
          <p:nvCxnSpPr>
            <p:cNvPr id="9" name="直接连接符 8"/>
            <p:cNvCxnSpPr>
              <a:stCxn id="5" idx="3"/>
              <a:endCxn id="6" idx="1"/>
            </p:cNvCxnSpPr>
            <p:nvPr/>
          </p:nvCxnSpPr>
          <p:spPr bwMode="gray">
            <a:xfrm>
              <a:off x="1491146" y="3937738"/>
              <a:ext cx="1971380"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6" idx="2"/>
              <a:endCxn id="7" idx="3"/>
            </p:cNvCxnSpPr>
            <p:nvPr/>
          </p:nvCxnSpPr>
          <p:spPr bwMode="gray">
            <a:xfrm flipH="1">
              <a:off x="2714639" y="4159138"/>
              <a:ext cx="1017887" cy="106402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7" idx="1"/>
              <a:endCxn id="5" idx="2"/>
            </p:cNvCxnSpPr>
            <p:nvPr/>
          </p:nvCxnSpPr>
          <p:spPr bwMode="gray">
            <a:xfrm flipH="1" flipV="1">
              <a:off x="1221146" y="4159138"/>
              <a:ext cx="953493" cy="106402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17" name="图片 16" descr="PC.png"/>
            <p:cNvPicPr>
              <a:picLocks noChangeAspect="1"/>
            </p:cNvPicPr>
            <p:nvPr/>
          </p:nvPicPr>
          <p:blipFill>
            <a:blip r:embed="rId4" cstate="print"/>
            <a:stretch>
              <a:fillRect/>
            </a:stretch>
          </p:blipFill>
          <p:spPr bwMode="gray">
            <a:xfrm>
              <a:off x="2175576" y="5967750"/>
              <a:ext cx="539063" cy="414000"/>
            </a:xfrm>
            <a:prstGeom prst="rect">
              <a:avLst/>
            </a:prstGeom>
          </p:spPr>
        </p:pic>
        <p:cxnSp>
          <p:nvCxnSpPr>
            <p:cNvPr id="21" name="直接连接符 20"/>
            <p:cNvCxnSpPr>
              <a:stCxn id="7" idx="2"/>
              <a:endCxn id="17" idx="0"/>
            </p:cNvCxnSpPr>
            <p:nvPr/>
          </p:nvCxnSpPr>
          <p:spPr bwMode="gray">
            <a:xfrm>
              <a:off x="2444639" y="5444566"/>
              <a:ext cx="469" cy="52318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bwMode="gray">
            <a:xfrm flipV="1">
              <a:off x="2795831" y="4232311"/>
              <a:ext cx="608110" cy="618186"/>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grpSp>
          <p:nvGrpSpPr>
            <p:cNvPr id="47" name="组合 46"/>
            <p:cNvGrpSpPr/>
            <p:nvPr/>
          </p:nvGrpSpPr>
          <p:grpSpPr bwMode="gray">
            <a:xfrm>
              <a:off x="1606008" y="4159138"/>
              <a:ext cx="1743383" cy="691173"/>
              <a:chOff x="1531219" y="4159137"/>
              <a:chExt cx="1743383" cy="691173"/>
            </a:xfrm>
          </p:grpSpPr>
          <p:cxnSp>
            <p:nvCxnSpPr>
              <p:cNvPr id="44" name="直接箭头连接符 43"/>
              <p:cNvCxnSpPr/>
              <p:nvPr/>
            </p:nvCxnSpPr>
            <p:spPr bwMode="gray">
              <a:xfrm>
                <a:off x="1543050" y="4159138"/>
                <a:ext cx="1731552" cy="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bwMode="gray">
              <a:xfrm flipH="1" flipV="1">
                <a:off x="1531219" y="4159137"/>
                <a:ext cx="577850" cy="691173"/>
              </a:xfrm>
              <a:prstGeom prst="line">
                <a:avLst/>
              </a:prstGeom>
              <a:ln w="19050">
                <a:solidFill>
                  <a:srgbClr val="EC7061"/>
                </a:solidFill>
              </a:ln>
            </p:spPr>
            <p:style>
              <a:lnRef idx="1">
                <a:schemeClr val="accent1"/>
              </a:lnRef>
              <a:fillRef idx="0">
                <a:schemeClr val="accent1"/>
              </a:fillRef>
              <a:effectRef idx="0">
                <a:schemeClr val="accent1"/>
              </a:effectRef>
              <a:fontRef idx="minor">
                <a:schemeClr val="tx1"/>
              </a:fontRef>
            </p:style>
          </p:cxnSp>
        </p:grpSp>
        <p:cxnSp>
          <p:nvCxnSpPr>
            <p:cNvPr id="49" name="直接箭头连接符 48"/>
            <p:cNvCxnSpPr/>
            <p:nvPr/>
          </p:nvCxnSpPr>
          <p:spPr bwMode="gray">
            <a:xfrm flipV="1">
              <a:off x="2604913" y="5530816"/>
              <a:ext cx="0" cy="350684"/>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p:cNvSpPr txBox="1"/>
            <p:nvPr/>
          </p:nvSpPr>
          <p:spPr bwMode="gray">
            <a:xfrm>
              <a:off x="2735473" y="6085013"/>
              <a:ext cx="1837362" cy="276999"/>
            </a:xfrm>
            <a:prstGeom prst="rect">
              <a:avLst/>
            </a:prstGeom>
            <a:noFill/>
            <a:ln>
              <a:noFill/>
            </a:ln>
          </p:spPr>
          <p:txBody>
            <a:bodyPr wrap="none" rtlCol="0">
              <a:spAutoFit/>
            </a:bodyPr>
            <a:lstStyle/>
            <a:p>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文本框 51"/>
            <p:cNvSpPr txBox="1"/>
            <p:nvPr/>
          </p:nvSpPr>
          <p:spPr bwMode="gray">
            <a:xfrm>
              <a:off x="3594843" y="4159139"/>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文本框 52"/>
            <p:cNvSpPr txBox="1"/>
            <p:nvPr/>
          </p:nvSpPr>
          <p:spPr bwMode="gray">
            <a:xfrm>
              <a:off x="2710114" y="3688688"/>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69" name="组合 68"/>
          <p:cNvGrpSpPr/>
          <p:nvPr/>
        </p:nvGrpSpPr>
        <p:grpSpPr bwMode="gray">
          <a:xfrm>
            <a:off x="6901590" y="3178065"/>
            <a:ext cx="3728980" cy="2644493"/>
            <a:chOff x="6999357" y="3716339"/>
            <a:chExt cx="3728980" cy="2644493"/>
          </a:xfrm>
        </p:grpSpPr>
        <p:pic>
          <p:nvPicPr>
            <p:cNvPr id="28" name="图片 27" descr="PC.png"/>
            <p:cNvPicPr>
              <a:picLocks noChangeAspect="1"/>
            </p:cNvPicPr>
            <p:nvPr/>
          </p:nvPicPr>
          <p:blipFill>
            <a:blip r:embed="rId4" cstate="print"/>
            <a:stretch>
              <a:fillRect/>
            </a:stretch>
          </p:blipFill>
          <p:spPr bwMode="gray">
            <a:xfrm>
              <a:off x="9517458" y="5316798"/>
              <a:ext cx="539063" cy="414000"/>
            </a:xfrm>
            <a:prstGeom prst="rect">
              <a:avLst/>
            </a:prstGeom>
          </p:spPr>
        </p:pic>
        <p:pic>
          <p:nvPicPr>
            <p:cNvPr id="29" name="图片 28" descr="PC.png"/>
            <p:cNvPicPr>
              <a:picLocks noChangeAspect="1"/>
            </p:cNvPicPr>
            <p:nvPr/>
          </p:nvPicPr>
          <p:blipFill>
            <a:blip r:embed="rId4" cstate="print"/>
            <a:stretch>
              <a:fillRect/>
            </a:stretch>
          </p:blipFill>
          <p:spPr bwMode="gray">
            <a:xfrm>
              <a:off x="7522790" y="5327080"/>
              <a:ext cx="539063" cy="414000"/>
            </a:xfrm>
            <a:prstGeom prst="rect">
              <a:avLst/>
            </a:prstGeom>
          </p:spPr>
        </p:pic>
        <p:cxnSp>
          <p:nvCxnSpPr>
            <p:cNvPr id="31" name="直接连接符 30"/>
            <p:cNvCxnSpPr>
              <a:endCxn id="29" idx="0"/>
            </p:cNvCxnSpPr>
            <p:nvPr/>
          </p:nvCxnSpPr>
          <p:spPr bwMode="gray">
            <a:xfrm flipH="1">
              <a:off x="7792322" y="3965687"/>
              <a:ext cx="942472" cy="136139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endCxn id="28" idx="0"/>
            </p:cNvCxnSpPr>
            <p:nvPr/>
          </p:nvCxnSpPr>
          <p:spPr bwMode="gray">
            <a:xfrm>
              <a:off x="8745482" y="3965687"/>
              <a:ext cx="1041508" cy="135111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26" name="图片 2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8465309" y="3716339"/>
              <a:ext cx="540000" cy="442800"/>
            </a:xfrm>
            <a:prstGeom prst="rect">
              <a:avLst/>
            </a:prstGeom>
          </p:spPr>
        </p:pic>
        <p:sp>
          <p:nvSpPr>
            <p:cNvPr id="54" name="文本框 53"/>
            <p:cNvSpPr txBox="1"/>
            <p:nvPr/>
          </p:nvSpPr>
          <p:spPr bwMode="gray">
            <a:xfrm>
              <a:off x="6999357" y="6083833"/>
              <a:ext cx="1837362" cy="276999"/>
            </a:xfrm>
            <a:prstGeom prst="rect">
              <a:avLst/>
            </a:prstGeom>
            <a:noFill/>
            <a:ln>
              <a:noFill/>
            </a:ln>
          </p:spPr>
          <p:txBody>
            <a:bodyPr wrap="none" rtlCol="0">
              <a:spAutoFit/>
            </a:bodyPr>
            <a:lstStyle/>
            <a:p>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文本框 61"/>
            <p:cNvSpPr txBox="1"/>
            <p:nvPr/>
          </p:nvSpPr>
          <p:spPr bwMode="gray">
            <a:xfrm>
              <a:off x="7768043" y="4111441"/>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8995892" y="4093810"/>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7595220" y="5705750"/>
              <a:ext cx="453970"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p:cNvSpPr txBox="1"/>
            <p:nvPr/>
          </p:nvSpPr>
          <p:spPr bwMode="gray">
            <a:xfrm>
              <a:off x="8890975" y="5706158"/>
              <a:ext cx="1837362" cy="646331"/>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攻击者伪造</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1" name="文本框 70"/>
          <p:cNvSpPr txBox="1"/>
          <p:nvPr/>
        </p:nvSpPr>
        <p:spPr bwMode="gray">
          <a:xfrm>
            <a:off x="4260523" y="4267575"/>
            <a:ext cx="1107996" cy="369332"/>
          </a:xfrm>
          <a:prstGeom prst="rect">
            <a:avLst/>
          </a:prstGeom>
          <a:noFill/>
          <a:ln>
            <a:noFill/>
          </a:ln>
        </p:spPr>
        <p:txBody>
          <a:bodyPr wrap="none" rtlCol="0">
            <a:spAutoFi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网络环路</a:t>
            </a:r>
          </a:p>
        </p:txBody>
      </p:sp>
      <p:sp>
        <p:nvSpPr>
          <p:cNvPr id="72" name="文本框 71"/>
          <p:cNvSpPr txBox="1"/>
          <p:nvPr/>
        </p:nvSpPr>
        <p:spPr bwMode="gray">
          <a:xfrm>
            <a:off x="10017261" y="4267575"/>
            <a:ext cx="1107996" cy="369332"/>
          </a:xfrm>
          <a:prstGeom prst="rect">
            <a:avLst/>
          </a:prstGeom>
          <a:noFill/>
          <a:ln>
            <a:noFill/>
          </a:ln>
        </p:spPr>
        <p:txBody>
          <a:bodyPr wrap="none" rtlCol="0">
            <a:spAutoFit/>
          </a:bodyPr>
          <a:lstStyle/>
          <a:p>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网络攻击</a:t>
            </a:r>
          </a:p>
        </p:txBody>
      </p:sp>
      <p:cxnSp>
        <p:nvCxnSpPr>
          <p:cNvPr id="73" name="直接箭头连接符 72"/>
          <p:cNvCxnSpPr/>
          <p:nvPr/>
        </p:nvCxnSpPr>
        <p:spPr bwMode="gray">
          <a:xfrm flipV="1">
            <a:off x="7961081" y="3970565"/>
            <a:ext cx="463128" cy="653693"/>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bwMode="gray">
          <a:xfrm flipH="1" flipV="1">
            <a:off x="8888315" y="3965611"/>
            <a:ext cx="518290" cy="66360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817809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smtClean="0">
                <a:sym typeface="Huawei Sans" panose="020C0503030203020204" pitchFamily="34" charset="0"/>
              </a:rPr>
              <a:t>防止</a:t>
            </a:r>
            <a:r>
              <a:rPr lang="en-US" altLang="zh-CN" smtClean="0">
                <a:sym typeface="Huawei Sans" panose="020C0503030203020204" pitchFamily="34" charset="0"/>
              </a:rPr>
              <a:t>MAC</a:t>
            </a:r>
            <a:r>
              <a:rPr lang="zh-CN" altLang="en-US" smtClean="0">
                <a:sym typeface="Huawei Sans" panose="020C0503030203020204" pitchFamily="34" charset="0"/>
              </a:rPr>
              <a:t>地址漂移</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dirty="0" smtClean="0">
                <a:sym typeface="Huawei Sans" panose="020C0503030203020204" pitchFamily="34" charset="0"/>
              </a:rPr>
              <a:t>如果是环路引发</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地址漂移，治本的方法是部署防环技术，例如</a:t>
            </a:r>
            <a:r>
              <a:rPr lang="en-US" altLang="zh-CN" sz="1600" dirty="0" smtClean="0">
                <a:sym typeface="Huawei Sans" panose="020C0503030203020204" pitchFamily="34" charset="0"/>
              </a:rPr>
              <a:t>STP</a:t>
            </a:r>
            <a:r>
              <a:rPr lang="zh-CN" altLang="en-US" sz="1600" dirty="0" smtClean="0">
                <a:sym typeface="Huawei Sans" panose="020C0503030203020204" pitchFamily="34" charset="0"/>
              </a:rPr>
              <a:t>，消除二层环路。如果由于网络攻击等其他原因引起，则可使用如下</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地址防漂移特性：</a:t>
            </a:r>
          </a:p>
          <a:p>
            <a:endParaRPr lang="zh-CN" altLang="en-US" sz="1600" dirty="0">
              <a:sym typeface="Huawei Sans" panose="020C0503030203020204" pitchFamily="34" charset="0"/>
            </a:endParaRPr>
          </a:p>
        </p:txBody>
      </p:sp>
      <p:sp>
        <p:nvSpPr>
          <p:cNvPr id="5" name="圆角矩形 75"/>
          <p:cNvSpPr/>
          <p:nvPr/>
        </p:nvSpPr>
        <p:spPr bwMode="gray">
          <a:xfrm>
            <a:off x="442913" y="1902982"/>
            <a:ext cx="5649912" cy="361066"/>
          </a:xfrm>
          <a:prstGeom prst="roundRect">
            <a:avLst>
              <a:gd name="adj" fmla="val 10604"/>
            </a:avLst>
          </a:prstGeom>
          <a:solidFill>
            <a:srgbClr val="30B5C5"/>
          </a:solidFill>
          <a:ln>
            <a:solidFill>
              <a:srgbClr val="00B0F0"/>
            </a:solidFill>
          </a:ln>
        </p:spPr>
        <p:txBody>
          <a:bodyPr wrap="square" rtlCol="0" anchor="ctr" anchorCtr="0">
            <a:noAutofit/>
          </a:bodyPr>
          <a:lstStyle/>
          <a:p>
            <a:pPr algn="ctr" fontAlgn="auto">
              <a:spcBef>
                <a:spcPts val="0"/>
              </a:spcBef>
              <a:spcAft>
                <a:spcPts val="0"/>
              </a:spcAft>
            </a:pP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配置接口</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地址学习优先级</a:t>
            </a:r>
          </a:p>
        </p:txBody>
      </p:sp>
      <p:sp>
        <p:nvSpPr>
          <p:cNvPr id="6" name="圆角矩形 75"/>
          <p:cNvSpPr/>
          <p:nvPr/>
        </p:nvSpPr>
        <p:spPr bwMode="gray">
          <a:xfrm>
            <a:off x="442913" y="2334487"/>
            <a:ext cx="5649912" cy="383201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地址在交换机的两个接口之间发生漂移时，可以将其中一个接口的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地址学习优先级提高</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。高</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优先级的接口学习到的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地址表项将覆盖低优先级接口学习到的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地址表项。</a:t>
            </a:r>
          </a:p>
        </p:txBody>
      </p:sp>
      <p:sp>
        <p:nvSpPr>
          <p:cNvPr id="7" name="圆角矩形 75"/>
          <p:cNvSpPr/>
          <p:nvPr/>
        </p:nvSpPr>
        <p:spPr bwMode="gray">
          <a:xfrm>
            <a:off x="6200775" y="1902982"/>
            <a:ext cx="5541963" cy="361066"/>
          </a:xfrm>
          <a:prstGeom prst="roundRect">
            <a:avLst>
              <a:gd name="adj" fmla="val 10604"/>
            </a:avLst>
          </a:prstGeom>
          <a:solidFill>
            <a:srgbClr val="30B5C5"/>
          </a:solidFill>
          <a:ln>
            <a:solidFill>
              <a:srgbClr val="00B0F0"/>
            </a:solidFill>
          </a:ln>
        </p:spPr>
        <p:txBody>
          <a:bodyPr wrap="square" rtlCol="0" anchor="ctr" anchorCtr="0">
            <a:noAutofit/>
          </a:bodyPr>
          <a:lstStyle/>
          <a:p>
            <a:pPr algn="ctr" fontAlgn="auto">
              <a:spcBef>
                <a:spcPts val="0"/>
              </a:spcBef>
              <a:spcAft>
                <a:spcPts val="0"/>
              </a:spcAft>
            </a:pP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配置不允许相同优先级接口</a:t>
            </a: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地址漂移</a:t>
            </a:r>
          </a:p>
        </p:txBody>
      </p:sp>
      <p:sp>
        <p:nvSpPr>
          <p:cNvPr id="8" name="圆角矩形 75"/>
          <p:cNvSpPr/>
          <p:nvPr/>
        </p:nvSpPr>
        <p:spPr bwMode="gray">
          <a:xfrm>
            <a:off x="6200775" y="2334487"/>
            <a:ext cx="5541963" cy="3832010"/>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当伪造网络设备所连接口的</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地址优先级与安全的网络设备相同时，后学习到的伪造网络设备</a:t>
            </a:r>
            <a:r>
              <a:rPr lang="en-US" altLang="zh-CN"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地址表项不会覆盖之前正确的表项</a:t>
            </a:r>
            <a:r>
              <a:rPr lang="zh-CN" altLang="en-US" sz="1400" dirty="0" smtClean="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9" name="组合 8"/>
          <p:cNvGrpSpPr/>
          <p:nvPr/>
        </p:nvGrpSpPr>
        <p:grpSpPr bwMode="gray">
          <a:xfrm>
            <a:off x="1436869" y="3563774"/>
            <a:ext cx="3824813" cy="2636150"/>
            <a:chOff x="6903524" y="3716339"/>
            <a:chExt cx="3824813" cy="2636150"/>
          </a:xfrm>
        </p:grpSpPr>
        <p:pic>
          <p:nvPicPr>
            <p:cNvPr id="10" name="图片 9" descr="PC.png"/>
            <p:cNvPicPr>
              <a:picLocks noChangeAspect="1"/>
            </p:cNvPicPr>
            <p:nvPr/>
          </p:nvPicPr>
          <p:blipFill>
            <a:blip r:embed="rId3" cstate="print"/>
            <a:stretch>
              <a:fillRect/>
            </a:stretch>
          </p:blipFill>
          <p:spPr bwMode="gray">
            <a:xfrm>
              <a:off x="9517458" y="5316798"/>
              <a:ext cx="539063" cy="414000"/>
            </a:xfrm>
            <a:prstGeom prst="rect">
              <a:avLst/>
            </a:prstGeom>
          </p:spPr>
        </p:pic>
        <p:pic>
          <p:nvPicPr>
            <p:cNvPr id="11" name="图片 10" descr="PC.png"/>
            <p:cNvPicPr>
              <a:picLocks noChangeAspect="1"/>
            </p:cNvPicPr>
            <p:nvPr/>
          </p:nvPicPr>
          <p:blipFill>
            <a:blip r:embed="rId3" cstate="print"/>
            <a:stretch>
              <a:fillRect/>
            </a:stretch>
          </p:blipFill>
          <p:spPr bwMode="gray">
            <a:xfrm>
              <a:off x="7522790" y="5327080"/>
              <a:ext cx="539063" cy="414000"/>
            </a:xfrm>
            <a:prstGeom prst="rect">
              <a:avLst/>
            </a:prstGeom>
          </p:spPr>
        </p:pic>
        <p:cxnSp>
          <p:nvCxnSpPr>
            <p:cNvPr id="12" name="直接连接符 11"/>
            <p:cNvCxnSpPr>
              <a:endCxn id="11" idx="0"/>
            </p:cNvCxnSpPr>
            <p:nvPr/>
          </p:nvCxnSpPr>
          <p:spPr bwMode="gray">
            <a:xfrm flipH="1">
              <a:off x="7792322" y="3965687"/>
              <a:ext cx="942472" cy="136139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10" idx="0"/>
            </p:cNvCxnSpPr>
            <p:nvPr/>
          </p:nvCxnSpPr>
          <p:spPr bwMode="gray">
            <a:xfrm>
              <a:off x="8745482" y="3965687"/>
              <a:ext cx="1041508" cy="135111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14" name="图片 1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465309" y="3716339"/>
              <a:ext cx="540000" cy="442800"/>
            </a:xfrm>
            <a:prstGeom prst="rect">
              <a:avLst/>
            </a:prstGeom>
          </p:spPr>
        </p:pic>
        <p:sp>
          <p:nvSpPr>
            <p:cNvPr id="15" name="文本框 14"/>
            <p:cNvSpPr txBox="1"/>
            <p:nvPr/>
          </p:nvSpPr>
          <p:spPr bwMode="gray">
            <a:xfrm>
              <a:off x="6903524" y="5874110"/>
              <a:ext cx="1837362" cy="461665"/>
            </a:xfrm>
            <a:prstGeom prst="rect">
              <a:avLst/>
            </a:prstGeom>
            <a:noFill/>
            <a:ln>
              <a:noFill/>
            </a:ln>
          </p:spPr>
          <p:txBody>
            <a:bodyPr wrap="non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安全网络</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7768043" y="4111441"/>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8995892" y="4093810"/>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7595220" y="5705750"/>
              <a:ext cx="453970"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8890975" y="5706158"/>
              <a:ext cx="1837362" cy="646331"/>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攻击者伪造</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a:t>
              </a:r>
            </a:p>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 name="文本框 1"/>
          <p:cNvSpPr txBox="1"/>
          <p:nvPr/>
        </p:nvSpPr>
        <p:spPr bwMode="gray">
          <a:xfrm>
            <a:off x="883647" y="4117432"/>
            <a:ext cx="2180405"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mac-learning priority 5 </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3537671" y="4088157"/>
            <a:ext cx="2180405"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 mac-learning priority 0 </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1" name="直接箭头连接符 20"/>
          <p:cNvCxnSpPr/>
          <p:nvPr/>
        </p:nvCxnSpPr>
        <p:spPr bwMode="gray">
          <a:xfrm flipV="1">
            <a:off x="2602791" y="4422716"/>
            <a:ext cx="463128" cy="65369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bwMode="gray">
          <a:xfrm flipH="1" flipV="1">
            <a:off x="3530025" y="4417762"/>
            <a:ext cx="518290" cy="66360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grpSp>
        <p:nvGrpSpPr>
          <p:cNvPr id="26" name="组合 25"/>
          <p:cNvGrpSpPr/>
          <p:nvPr/>
        </p:nvGrpSpPr>
        <p:grpSpPr bwMode="gray">
          <a:xfrm>
            <a:off x="6152291" y="3501085"/>
            <a:ext cx="3824813" cy="2636150"/>
            <a:chOff x="6903524" y="3716339"/>
            <a:chExt cx="3824813" cy="2636150"/>
          </a:xfrm>
        </p:grpSpPr>
        <p:pic>
          <p:nvPicPr>
            <p:cNvPr id="27" name="图片 26" descr="PC.png"/>
            <p:cNvPicPr>
              <a:picLocks noChangeAspect="1"/>
            </p:cNvPicPr>
            <p:nvPr/>
          </p:nvPicPr>
          <p:blipFill>
            <a:blip r:embed="rId3" cstate="print"/>
            <a:stretch>
              <a:fillRect/>
            </a:stretch>
          </p:blipFill>
          <p:spPr bwMode="gray">
            <a:xfrm>
              <a:off x="9517458" y="5316798"/>
              <a:ext cx="539063" cy="414000"/>
            </a:xfrm>
            <a:prstGeom prst="rect">
              <a:avLst/>
            </a:prstGeom>
          </p:spPr>
        </p:pic>
        <p:pic>
          <p:nvPicPr>
            <p:cNvPr id="28" name="图片 27" descr="PC.png"/>
            <p:cNvPicPr>
              <a:picLocks noChangeAspect="1"/>
            </p:cNvPicPr>
            <p:nvPr/>
          </p:nvPicPr>
          <p:blipFill>
            <a:blip r:embed="rId3" cstate="print"/>
            <a:stretch>
              <a:fillRect/>
            </a:stretch>
          </p:blipFill>
          <p:spPr bwMode="gray">
            <a:xfrm>
              <a:off x="7522790" y="5327080"/>
              <a:ext cx="539063" cy="414000"/>
            </a:xfrm>
            <a:prstGeom prst="rect">
              <a:avLst/>
            </a:prstGeom>
          </p:spPr>
        </p:pic>
        <p:cxnSp>
          <p:nvCxnSpPr>
            <p:cNvPr id="29" name="直接连接符 28"/>
            <p:cNvCxnSpPr>
              <a:endCxn id="28" idx="0"/>
            </p:cNvCxnSpPr>
            <p:nvPr/>
          </p:nvCxnSpPr>
          <p:spPr bwMode="gray">
            <a:xfrm flipH="1">
              <a:off x="7792322" y="3965687"/>
              <a:ext cx="942472" cy="136139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a:endCxn id="27" idx="0"/>
            </p:cNvCxnSpPr>
            <p:nvPr/>
          </p:nvCxnSpPr>
          <p:spPr bwMode="gray">
            <a:xfrm>
              <a:off x="8745482" y="3965687"/>
              <a:ext cx="1041508" cy="135111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31" name="图片 3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465309" y="3716339"/>
              <a:ext cx="540000" cy="442800"/>
            </a:xfrm>
            <a:prstGeom prst="rect">
              <a:avLst/>
            </a:prstGeom>
          </p:spPr>
        </p:pic>
        <p:sp>
          <p:nvSpPr>
            <p:cNvPr id="32" name="文本框 31"/>
            <p:cNvSpPr txBox="1"/>
            <p:nvPr/>
          </p:nvSpPr>
          <p:spPr bwMode="gray">
            <a:xfrm>
              <a:off x="6903524" y="5874110"/>
              <a:ext cx="1837362" cy="461665"/>
            </a:xfrm>
            <a:prstGeom prst="rect">
              <a:avLst/>
            </a:prstGeom>
            <a:noFill/>
            <a:ln>
              <a:noFill/>
            </a:ln>
          </p:spPr>
          <p:txBody>
            <a:bodyPr wrap="non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安全网络</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7768043" y="4111441"/>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a:off x="8995892" y="4093810"/>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7595220" y="5705750"/>
              <a:ext cx="453970"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8890975" y="5706158"/>
              <a:ext cx="1837362" cy="646331"/>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攻击者伪造</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a:t>
              </a:r>
            </a:p>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37" name="直接箭头连接符 36"/>
          <p:cNvCxnSpPr/>
          <p:nvPr/>
        </p:nvCxnSpPr>
        <p:spPr bwMode="gray">
          <a:xfrm flipV="1">
            <a:off x="7310620" y="4317835"/>
            <a:ext cx="463128" cy="65369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bwMode="gray">
          <a:xfrm flipH="1" flipV="1">
            <a:off x="8237854" y="4312881"/>
            <a:ext cx="518290" cy="66360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
          <p:cNvSpPr>
            <a:spLocks noChangeAspect="1"/>
          </p:cNvSpPr>
          <p:nvPr/>
        </p:nvSpPr>
        <p:spPr bwMode="gray">
          <a:xfrm>
            <a:off x="7394444" y="4835410"/>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Oval 4"/>
          <p:cNvSpPr>
            <a:spLocks noChangeAspect="1"/>
          </p:cNvSpPr>
          <p:nvPr/>
        </p:nvSpPr>
        <p:spPr bwMode="gray">
          <a:xfrm>
            <a:off x="8380680" y="4835410"/>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矩形 45"/>
          <p:cNvSpPr/>
          <p:nvPr/>
        </p:nvSpPr>
        <p:spPr bwMode="gray">
          <a:xfrm>
            <a:off x="8420332" y="3440108"/>
            <a:ext cx="3259226" cy="276999"/>
          </a:xfrm>
          <a:prstGeom prst="rect">
            <a:avLst/>
          </a:prstGeom>
        </p:spPr>
        <p:txBody>
          <a:bodyPr wrap="none">
            <a:spAutoFit/>
          </a:bodyPr>
          <a:lstStyle/>
          <a:p>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undo mac-learning priority </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0</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 allow-flapping</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标注 46"/>
          <p:cNvSpPr/>
          <p:nvPr/>
        </p:nvSpPr>
        <p:spPr bwMode="gray">
          <a:xfrm>
            <a:off x="8420332" y="3426757"/>
            <a:ext cx="3219574" cy="313066"/>
          </a:xfrm>
          <a:prstGeom prst="wedgeRoundRectCallout">
            <a:avLst>
              <a:gd name="adj1" fmla="val -53235"/>
              <a:gd name="adj2" fmla="val 41930"/>
              <a:gd name="adj3" fmla="val 16667"/>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48" name="组合 28"/>
          <p:cNvGrpSpPr>
            <a:grpSpLocks noChangeAspect="1"/>
          </p:cNvGrpSpPr>
          <p:nvPr/>
        </p:nvGrpSpPr>
        <p:grpSpPr bwMode="gray">
          <a:xfrm>
            <a:off x="3358422" y="3933189"/>
            <a:ext cx="165471" cy="165471"/>
            <a:chOff x="5076056" y="3356992"/>
            <a:chExt cx="436268" cy="436268"/>
          </a:xfrm>
        </p:grpSpPr>
        <p:sp>
          <p:nvSpPr>
            <p:cNvPr id="49"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禁止符 23"/>
            <p:cNvSpPr/>
            <p:nvPr/>
          </p:nvSpPr>
          <p:spPr bwMode="gray">
            <a:xfrm>
              <a:off x="5076056" y="3356992"/>
              <a:ext cx="436268" cy="436268"/>
            </a:xfrm>
            <a:prstGeom prst="noSmoking">
              <a:avLst>
                <a:gd name="adj" fmla="val 1547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51" name="组合 28"/>
          <p:cNvGrpSpPr>
            <a:grpSpLocks noChangeAspect="1"/>
          </p:cNvGrpSpPr>
          <p:nvPr/>
        </p:nvGrpSpPr>
        <p:grpSpPr bwMode="gray">
          <a:xfrm>
            <a:off x="8054247" y="3868475"/>
            <a:ext cx="165471" cy="165471"/>
            <a:chOff x="5076056" y="3356992"/>
            <a:chExt cx="436268" cy="436268"/>
          </a:xfrm>
        </p:grpSpPr>
        <p:sp>
          <p:nvSpPr>
            <p:cNvPr id="52"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禁止符 23"/>
            <p:cNvSpPr/>
            <p:nvPr/>
          </p:nvSpPr>
          <p:spPr bwMode="gray">
            <a:xfrm>
              <a:off x="5076056" y="3356992"/>
              <a:ext cx="436268" cy="436268"/>
            </a:xfrm>
            <a:prstGeom prst="noSmoking">
              <a:avLst>
                <a:gd name="adj" fmla="val 1547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307612473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smtClean="0">
                <a:sym typeface="Huawei Sans" panose="020C0503030203020204" pitchFamily="34" charset="0"/>
              </a:rPr>
              <a:t>MAC</a:t>
            </a:r>
            <a:r>
              <a:rPr lang="zh-CN" altLang="en-US" smtClean="0">
                <a:sym typeface="Huawei Sans" panose="020C0503030203020204" pitchFamily="34" charset="0"/>
              </a:rPr>
              <a:t>地址漂移检测</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dirty="0" smtClean="0">
                <a:sym typeface="Huawei Sans" panose="020C0503030203020204" pitchFamily="34" charset="0"/>
              </a:rPr>
              <a:t>交换机支持</a:t>
            </a:r>
            <a:r>
              <a:rPr lang="en-US" altLang="zh-CN" sz="1800" dirty="0" smtClean="0">
                <a:sym typeface="Huawei Sans" panose="020C0503030203020204" pitchFamily="34" charset="0"/>
              </a:rPr>
              <a:t>MAC</a:t>
            </a:r>
            <a:r>
              <a:rPr lang="zh-CN" altLang="en-US" sz="1800" dirty="0" smtClean="0">
                <a:sym typeface="Huawei Sans" panose="020C0503030203020204" pitchFamily="34" charset="0"/>
              </a:rPr>
              <a:t>地址漂移检测机制，分为以下两种方式：</a:t>
            </a:r>
          </a:p>
          <a:p>
            <a:pPr lvl="1"/>
            <a:r>
              <a:rPr lang="zh-CN" altLang="en-US" sz="1600" dirty="0" smtClean="0">
                <a:sym typeface="Huawei Sans" panose="020C0503030203020204" pitchFamily="34" charset="0"/>
              </a:rPr>
              <a:t>基于</a:t>
            </a:r>
            <a:r>
              <a:rPr lang="en-US" altLang="zh-CN" sz="1600" dirty="0" smtClean="0">
                <a:sym typeface="Huawei Sans" panose="020C0503030203020204" pitchFamily="34" charset="0"/>
              </a:rPr>
              <a:t>VLAN</a:t>
            </a:r>
            <a:r>
              <a:rPr lang="zh-CN" altLang="en-US" sz="1600" dirty="0" smtClean="0">
                <a:sym typeface="Huawei Sans" panose="020C0503030203020204" pitchFamily="34" charset="0"/>
              </a:rPr>
              <a:t>的</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地址漂移检测</a:t>
            </a:r>
          </a:p>
          <a:p>
            <a:pPr lvl="2"/>
            <a:r>
              <a:rPr lang="zh-CN" altLang="en-US" sz="1400" dirty="0" smtClean="0">
                <a:sym typeface="Huawei Sans" panose="020C0503030203020204" pitchFamily="34" charset="0"/>
              </a:rPr>
              <a:t>配置</a:t>
            </a:r>
            <a:r>
              <a:rPr lang="en-US" altLang="zh-CN" sz="1400" dirty="0" smtClean="0">
                <a:sym typeface="Huawei Sans" panose="020C0503030203020204" pitchFamily="34" charset="0"/>
              </a:rPr>
              <a:t>VLAN</a:t>
            </a:r>
            <a:r>
              <a:rPr lang="zh-CN" altLang="en-US" sz="1400" dirty="0" smtClean="0">
                <a:sym typeface="Huawei Sans" panose="020C0503030203020204" pitchFamily="34" charset="0"/>
              </a:rPr>
              <a:t>的</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地址漂移检测功能可以检测指定</a:t>
            </a:r>
            <a:r>
              <a:rPr lang="en-US" altLang="zh-CN" sz="1400" dirty="0" smtClean="0">
                <a:sym typeface="Huawei Sans" panose="020C0503030203020204" pitchFamily="34" charset="0"/>
              </a:rPr>
              <a:t>VLAN</a:t>
            </a:r>
            <a:r>
              <a:rPr lang="zh-CN" altLang="en-US" sz="1400" dirty="0" smtClean="0">
                <a:sym typeface="Huawei Sans" panose="020C0503030203020204" pitchFamily="34" charset="0"/>
              </a:rPr>
              <a:t>下的所有的</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地址是否发生漂移。</a:t>
            </a:r>
            <a:endParaRPr lang="en-US" altLang="zh-CN" sz="1400" dirty="0" smtClean="0">
              <a:sym typeface="Huawei Sans" panose="020C0503030203020204" pitchFamily="34" charset="0"/>
            </a:endParaRPr>
          </a:p>
          <a:p>
            <a:pPr lvl="2"/>
            <a:r>
              <a:rPr lang="zh-CN" altLang="en-US" sz="1400" dirty="0" smtClean="0">
                <a:sym typeface="Huawei Sans" panose="020C0503030203020204" pitchFamily="34" charset="0"/>
              </a:rPr>
              <a:t>当</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地址发生漂移后，可以配置指定的动作，例如告警、阻断接口或阻断</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a:t>
            </a:r>
          </a:p>
          <a:p>
            <a:pPr lvl="1"/>
            <a:r>
              <a:rPr lang="zh-CN" altLang="en-US" sz="1600" dirty="0" smtClean="0">
                <a:sym typeface="Huawei Sans" panose="020C0503030203020204" pitchFamily="34" charset="0"/>
              </a:rPr>
              <a:t>全局</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地址漂移检测</a:t>
            </a:r>
          </a:p>
          <a:p>
            <a:pPr lvl="2"/>
            <a:r>
              <a:rPr lang="zh-CN" altLang="en-US" sz="1400" dirty="0" smtClean="0">
                <a:sym typeface="Huawei Sans" panose="020C0503030203020204" pitchFamily="34" charset="0"/>
              </a:rPr>
              <a:t>该功能可以检测设备上的所有的</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地址是否发生了漂移。</a:t>
            </a:r>
            <a:endParaRPr lang="en-US" altLang="zh-CN" sz="1400" dirty="0" smtClean="0">
              <a:sym typeface="Huawei Sans" panose="020C0503030203020204" pitchFamily="34" charset="0"/>
            </a:endParaRPr>
          </a:p>
          <a:p>
            <a:pPr lvl="2"/>
            <a:r>
              <a:rPr lang="zh-CN" altLang="en-US" sz="1400" dirty="0" smtClean="0">
                <a:sym typeface="Huawei Sans" panose="020C0503030203020204" pitchFamily="34" charset="0"/>
              </a:rPr>
              <a:t>若发生漂移，设备会上报告警到网管系统。</a:t>
            </a:r>
            <a:endParaRPr lang="en-US" altLang="zh-CN" sz="1400" dirty="0" smtClean="0">
              <a:sym typeface="Huawei Sans" panose="020C0503030203020204" pitchFamily="34" charset="0"/>
            </a:endParaRPr>
          </a:p>
          <a:p>
            <a:pPr lvl="2"/>
            <a:r>
              <a:rPr lang="zh-CN" altLang="en-US" sz="1400" dirty="0" smtClean="0">
                <a:sym typeface="Huawei Sans" panose="020C0503030203020204" pitchFamily="34" charset="0"/>
              </a:rPr>
              <a:t>用户也可以指定发生漂移后的处理动作，例如将接口关闭或退出</a:t>
            </a:r>
            <a:r>
              <a:rPr lang="en-US" altLang="zh-CN" sz="1400" dirty="0" smtClean="0">
                <a:sym typeface="Huawei Sans" panose="020C0503030203020204" pitchFamily="34" charset="0"/>
              </a:rPr>
              <a:t>VLAN</a:t>
            </a:r>
            <a:r>
              <a:rPr lang="zh-CN" altLang="en-US" sz="1400" dirty="0" smtClean="0">
                <a:sym typeface="Huawei Sans" panose="020C0503030203020204" pitchFamily="34" charset="0"/>
              </a:rPr>
              <a:t>。</a:t>
            </a:r>
          </a:p>
          <a:p>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370148835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bwMode="gray">
          <a:xfrm>
            <a:off x="548781" y="2988632"/>
            <a:ext cx="5176951" cy="3092088"/>
          </a:xfrm>
          <a:prstGeom prst="roundRect">
            <a:avLst>
              <a:gd name="adj" fmla="val 4756"/>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smtClean="0">
                <a:sym typeface="Huawei Sans" panose="020C0503030203020204" pitchFamily="34" charset="0"/>
              </a:rPr>
              <a:t>基于</a:t>
            </a:r>
            <a:r>
              <a:rPr lang="en-US" altLang="zh-CN" smtClean="0">
                <a:sym typeface="Huawei Sans" panose="020C0503030203020204" pitchFamily="34" charset="0"/>
              </a:rPr>
              <a:t>VLAN</a:t>
            </a:r>
            <a:r>
              <a:rPr lang="zh-CN" altLang="en-US" smtClean="0">
                <a:sym typeface="Huawei Sans" panose="020C0503030203020204" pitchFamily="34" charset="0"/>
              </a:rPr>
              <a:t>的</a:t>
            </a:r>
            <a:r>
              <a:rPr lang="en-US" altLang="zh-CN" smtClean="0">
                <a:sym typeface="Huawei Sans" panose="020C0503030203020204" pitchFamily="34" charset="0"/>
              </a:rPr>
              <a:t>MAC</a:t>
            </a:r>
            <a:r>
              <a:rPr lang="zh-CN" altLang="en-US" smtClean="0">
                <a:sym typeface="Huawei Sans" panose="020C0503030203020204" pitchFamily="34" charset="0"/>
              </a:rPr>
              <a:t>地址漂移检测</a:t>
            </a:r>
            <a:endParaRPr lang="zh-CN" altLang="en-US" dirty="0">
              <a:sym typeface="Huawei Sans" panose="020C0503030203020204" pitchFamily="34" charset="0"/>
            </a:endParaRPr>
          </a:p>
        </p:txBody>
      </p:sp>
      <p:sp>
        <p:nvSpPr>
          <p:cNvPr id="4" name="文本占位符 3"/>
          <p:cNvSpPr>
            <a:spLocks noGrp="1"/>
          </p:cNvSpPr>
          <p:nvPr>
            <p:ph type="body" sz="quarter" idx="4294967295"/>
          </p:nvPr>
        </p:nvSpPr>
        <p:spPr bwMode="gray">
          <a:xfrm>
            <a:off x="5951539" y="1411288"/>
            <a:ext cx="5797548" cy="4806950"/>
          </a:xfrm>
        </p:spPr>
        <p:txBody>
          <a:bodyPr/>
          <a:lstStyle/>
          <a:p>
            <a:pPr>
              <a:lnSpc>
                <a:spcPct val="150000"/>
              </a:lnSpc>
            </a:pPr>
            <a:r>
              <a:rPr lang="zh-CN" altLang="en-US" sz="1800" dirty="0">
                <a:sym typeface="Huawei Sans" panose="020C0503030203020204" pitchFamily="34" charset="0"/>
              </a:rPr>
              <a:t>在</a:t>
            </a:r>
            <a:r>
              <a:rPr lang="zh-CN" altLang="en-US" sz="1800" dirty="0" smtClean="0">
                <a:sym typeface="Huawei Sans" panose="020C0503030203020204" pitchFamily="34" charset="0"/>
              </a:rPr>
              <a:t>配置基于</a:t>
            </a:r>
            <a:r>
              <a:rPr lang="en-US" altLang="zh-CN" sz="1800" dirty="0" smtClean="0">
                <a:sym typeface="Huawei Sans" panose="020C0503030203020204" pitchFamily="34" charset="0"/>
              </a:rPr>
              <a:t>VLAN</a:t>
            </a:r>
            <a:r>
              <a:rPr lang="zh-CN" altLang="en-US" sz="1800" dirty="0" smtClean="0">
                <a:sym typeface="Huawei Sans" panose="020C0503030203020204" pitchFamily="34" charset="0"/>
              </a:rPr>
              <a:t>的</a:t>
            </a:r>
            <a:r>
              <a:rPr lang="en-US" altLang="zh-CN" sz="1800" dirty="0" smtClean="0">
                <a:sym typeface="Huawei Sans" panose="020C0503030203020204" pitchFamily="34" charset="0"/>
              </a:rPr>
              <a:t>MAC</a:t>
            </a:r>
            <a:r>
              <a:rPr lang="zh-CN" altLang="en-US" sz="1800" dirty="0">
                <a:sym typeface="Huawei Sans" panose="020C0503030203020204" pitchFamily="34" charset="0"/>
              </a:rPr>
              <a:t>地址漂移检测</a:t>
            </a:r>
            <a:r>
              <a:rPr lang="zh-CN" altLang="en-US" sz="1800" dirty="0" smtClean="0">
                <a:sym typeface="Huawei Sans" panose="020C0503030203020204" pitchFamily="34" charset="0"/>
              </a:rPr>
              <a:t>功能后，</a:t>
            </a:r>
            <a:r>
              <a:rPr lang="zh-CN" altLang="en-US" sz="1800" dirty="0">
                <a:sym typeface="Huawei Sans" panose="020C0503030203020204" pitchFamily="34" charset="0"/>
              </a:rPr>
              <a:t>如果</a:t>
            </a:r>
            <a:r>
              <a:rPr lang="en-US" altLang="zh-CN" sz="1800" dirty="0" smtClean="0">
                <a:sym typeface="Huawei Sans" panose="020C0503030203020204" pitchFamily="34" charset="0"/>
              </a:rPr>
              <a:t>MAC</a:t>
            </a:r>
            <a:r>
              <a:rPr lang="zh-CN" altLang="en-US" sz="1800" dirty="0">
                <a:sym typeface="Huawei Sans" panose="020C0503030203020204" pitchFamily="34" charset="0"/>
              </a:rPr>
              <a:t>地址发生漂移时</a:t>
            </a:r>
            <a:r>
              <a:rPr lang="zh-CN" altLang="en-US" sz="1800" dirty="0" smtClean="0">
                <a:sym typeface="Huawei Sans" panose="020C0503030203020204" pitchFamily="34" charset="0"/>
              </a:rPr>
              <a:t>，则可</a:t>
            </a:r>
            <a:r>
              <a:rPr lang="zh-CN" altLang="en-US" sz="1800" dirty="0">
                <a:sym typeface="Huawei Sans" panose="020C0503030203020204" pitchFamily="34" charset="0"/>
              </a:rPr>
              <a:t>根据需求配置接口</a:t>
            </a:r>
            <a:r>
              <a:rPr lang="zh-CN" altLang="en-US" sz="1800" dirty="0" smtClean="0">
                <a:sym typeface="Huawei Sans" panose="020C0503030203020204" pitchFamily="34" charset="0"/>
              </a:rPr>
              <a:t>做出的动作有以下三种：</a:t>
            </a:r>
            <a:endParaRPr lang="en-US" altLang="zh-CN" sz="1800" dirty="0" smtClean="0">
              <a:sym typeface="Huawei Sans" panose="020C0503030203020204" pitchFamily="34" charset="0"/>
            </a:endParaRPr>
          </a:p>
          <a:p>
            <a:pPr marL="745939" lvl="1" indent="-342900">
              <a:lnSpc>
                <a:spcPct val="150000"/>
              </a:lnSpc>
              <a:buSzPct val="100000"/>
              <a:buFont typeface="+mj-lt"/>
              <a:buAutoNum type="arabicPeriod"/>
            </a:pPr>
            <a:r>
              <a:rPr lang="zh-CN" altLang="en-US" sz="1600" dirty="0">
                <a:sym typeface="Huawei Sans" panose="020C0503030203020204" pitchFamily="34" charset="0"/>
              </a:rPr>
              <a:t>发送告警，当检测到</a:t>
            </a:r>
            <a:r>
              <a:rPr lang="en-US" altLang="zh-CN" sz="1600" dirty="0">
                <a:sym typeface="Huawei Sans" panose="020C0503030203020204" pitchFamily="34" charset="0"/>
              </a:rPr>
              <a:t>MAC</a:t>
            </a:r>
            <a:r>
              <a:rPr lang="zh-CN" altLang="en-US" sz="1600" dirty="0">
                <a:sym typeface="Huawei Sans" panose="020C0503030203020204" pitchFamily="34" charset="0"/>
              </a:rPr>
              <a:t>地址发生漂移时只给网管发送告警</a:t>
            </a:r>
            <a:r>
              <a:rPr lang="zh-CN" altLang="en-US" sz="1600" dirty="0" smtClean="0">
                <a:sym typeface="Huawei Sans" panose="020C0503030203020204" pitchFamily="34" charset="0"/>
              </a:rPr>
              <a:t>。</a:t>
            </a:r>
            <a:endParaRPr lang="zh-CN" altLang="en-US" sz="1600" dirty="0">
              <a:sym typeface="Huawei Sans" panose="020C0503030203020204" pitchFamily="34" charset="0"/>
            </a:endParaRPr>
          </a:p>
          <a:p>
            <a:pPr marL="745939" lvl="1" indent="-342900">
              <a:lnSpc>
                <a:spcPct val="150000"/>
              </a:lnSpc>
              <a:buSzPct val="100000"/>
              <a:buFont typeface="+mj-lt"/>
              <a:buAutoNum type="arabicPeriod"/>
            </a:pPr>
            <a:r>
              <a:rPr lang="zh-CN" altLang="en-US" sz="1600" dirty="0" smtClean="0">
                <a:sym typeface="Huawei Sans" panose="020C0503030203020204" pitchFamily="34" charset="0"/>
              </a:rPr>
              <a:t>接口阻断，</a:t>
            </a:r>
            <a:r>
              <a:rPr lang="zh-CN" altLang="en-US" sz="1600" dirty="0">
                <a:sym typeface="Huawei Sans" panose="020C0503030203020204" pitchFamily="34" charset="0"/>
              </a:rPr>
              <a:t>当</a:t>
            </a:r>
            <a:r>
              <a:rPr lang="zh-CN" altLang="en-US" sz="1600" dirty="0" smtClean="0">
                <a:sym typeface="Huawei Sans" panose="020C0503030203020204" pitchFamily="34" charset="0"/>
              </a:rPr>
              <a:t>检测到</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地址发生漂移时，根据设置的阻塞时间对接口进行阻塞，并关闭接口收发报文的能力。</a:t>
            </a:r>
            <a:endParaRPr lang="en-US" altLang="zh-CN" sz="1600" dirty="0" smtClean="0">
              <a:sym typeface="Huawei Sans" panose="020C0503030203020204" pitchFamily="34" charset="0"/>
            </a:endParaRPr>
          </a:p>
          <a:p>
            <a:pPr marL="745939" lvl="1" indent="-342900">
              <a:lnSpc>
                <a:spcPct val="150000"/>
              </a:lnSpc>
              <a:buSzPct val="100000"/>
              <a:buFont typeface="+mj-lt"/>
              <a:buAutoNum type="arabicPeriod"/>
            </a:pPr>
            <a:r>
              <a:rPr lang="en-US" altLang="zh-CN" sz="1600" dirty="0" smtClean="0">
                <a:sym typeface="Huawei Sans" panose="020C0503030203020204" pitchFamily="34" charset="0"/>
              </a:rPr>
              <a:t>MAC</a:t>
            </a:r>
            <a:r>
              <a:rPr lang="zh-CN" altLang="en-US" sz="1600" dirty="0">
                <a:sym typeface="Huawei Sans" panose="020C0503030203020204" pitchFamily="34" charset="0"/>
              </a:rPr>
              <a:t>地址</a:t>
            </a:r>
            <a:r>
              <a:rPr lang="zh-CN" altLang="en-US" sz="1600" dirty="0" smtClean="0">
                <a:sym typeface="Huawei Sans" panose="020C0503030203020204" pitchFamily="34" charset="0"/>
              </a:rPr>
              <a:t>阻断，当检测到</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地址发生漂移时，只阻塞当前</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地址，而不对物理接口进行阻塞，当前接口下的其他</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的通信不受影响。</a:t>
            </a:r>
            <a:endParaRPr lang="zh-CN" altLang="en-US" sz="1600" dirty="0">
              <a:sym typeface="Huawei Sans" panose="020C0503030203020204" pitchFamily="34" charset="0"/>
            </a:endParaRPr>
          </a:p>
        </p:txBody>
      </p:sp>
      <p:grpSp>
        <p:nvGrpSpPr>
          <p:cNvPr id="32" name="组合 31"/>
          <p:cNvGrpSpPr/>
          <p:nvPr/>
        </p:nvGrpSpPr>
        <p:grpSpPr bwMode="gray">
          <a:xfrm>
            <a:off x="711200" y="1757586"/>
            <a:ext cx="5073843" cy="4276959"/>
            <a:chOff x="6461619" y="1672998"/>
            <a:chExt cx="5073843" cy="4276959"/>
          </a:xfrm>
        </p:grpSpPr>
        <p:pic>
          <p:nvPicPr>
            <p:cNvPr id="6" name="图片 5" descr="PC.png"/>
            <p:cNvPicPr>
              <a:picLocks noChangeAspect="1"/>
            </p:cNvPicPr>
            <p:nvPr/>
          </p:nvPicPr>
          <p:blipFill>
            <a:blip r:embed="rId3" cstate="print"/>
            <a:stretch>
              <a:fillRect/>
            </a:stretch>
          </p:blipFill>
          <p:spPr bwMode="gray">
            <a:xfrm>
              <a:off x="10324583" y="4685315"/>
              <a:ext cx="539063" cy="414000"/>
            </a:xfrm>
            <a:prstGeom prst="rect">
              <a:avLst/>
            </a:prstGeom>
          </p:spPr>
        </p:pic>
        <p:pic>
          <p:nvPicPr>
            <p:cNvPr id="7" name="图片 6" descr="PC.png"/>
            <p:cNvPicPr>
              <a:picLocks noChangeAspect="1"/>
            </p:cNvPicPr>
            <p:nvPr/>
          </p:nvPicPr>
          <p:blipFill>
            <a:blip r:embed="rId3" cstate="print"/>
            <a:stretch>
              <a:fillRect/>
            </a:stretch>
          </p:blipFill>
          <p:spPr bwMode="gray">
            <a:xfrm>
              <a:off x="8329915" y="4695597"/>
              <a:ext cx="539063" cy="414000"/>
            </a:xfrm>
            <a:prstGeom prst="rect">
              <a:avLst/>
            </a:prstGeom>
          </p:spPr>
        </p:pic>
        <p:cxnSp>
          <p:nvCxnSpPr>
            <p:cNvPr id="8" name="直接连接符 7"/>
            <p:cNvCxnSpPr>
              <a:endCxn id="7" idx="0"/>
            </p:cNvCxnSpPr>
            <p:nvPr/>
          </p:nvCxnSpPr>
          <p:spPr bwMode="gray">
            <a:xfrm flipH="1">
              <a:off x="8599447" y="3334204"/>
              <a:ext cx="942472" cy="136139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endCxn id="6" idx="0"/>
            </p:cNvCxnSpPr>
            <p:nvPr/>
          </p:nvCxnSpPr>
          <p:spPr bwMode="gray">
            <a:xfrm>
              <a:off x="9552607" y="3334204"/>
              <a:ext cx="1041508" cy="135111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9272434" y="3084856"/>
              <a:ext cx="540000" cy="442800"/>
            </a:xfrm>
            <a:prstGeom prst="rect">
              <a:avLst/>
            </a:prstGeom>
          </p:spPr>
        </p:pic>
        <p:sp>
          <p:nvSpPr>
            <p:cNvPr id="11" name="文本框 10"/>
            <p:cNvSpPr txBox="1"/>
            <p:nvPr/>
          </p:nvSpPr>
          <p:spPr bwMode="gray">
            <a:xfrm>
              <a:off x="6461619" y="3653969"/>
              <a:ext cx="1837362"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7390522" y="1739341"/>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8618371" y="1721710"/>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8402345" y="5074267"/>
              <a:ext cx="453970"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9698100" y="5074675"/>
              <a:ext cx="1837362" cy="646331"/>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PC3</a:t>
              </a:r>
            </a:p>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攻击者</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 name="直接箭头连接符 16"/>
            <p:cNvCxnSpPr/>
            <p:nvPr/>
          </p:nvCxnSpPr>
          <p:spPr bwMode="gray">
            <a:xfrm flipH="1" flipV="1">
              <a:off x="9783549" y="3876846"/>
              <a:ext cx="518290" cy="66360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bwMode="gray">
            <a:xfrm>
              <a:off x="8181204" y="5580625"/>
              <a:ext cx="976549" cy="369332"/>
            </a:xfrm>
            <a:prstGeom prst="rect">
              <a:avLst/>
            </a:prstGeom>
            <a:noFill/>
            <a:ln>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VLAN 2</a:t>
              </a:r>
              <a:endPar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1" name="图片 2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112915" y="1672998"/>
              <a:ext cx="540000" cy="442800"/>
            </a:xfrm>
            <a:prstGeom prst="rect">
              <a:avLst/>
            </a:prstGeom>
          </p:spPr>
        </p:pic>
        <p:pic>
          <p:nvPicPr>
            <p:cNvPr id="22" name="图片 21" descr="PC.png"/>
            <p:cNvPicPr>
              <a:picLocks noChangeAspect="1"/>
            </p:cNvPicPr>
            <p:nvPr/>
          </p:nvPicPr>
          <p:blipFill>
            <a:blip r:embed="rId3" cstate="print"/>
            <a:stretch>
              <a:fillRect/>
            </a:stretch>
          </p:blipFill>
          <p:spPr bwMode="gray">
            <a:xfrm>
              <a:off x="7051458" y="3065958"/>
              <a:ext cx="539063" cy="414000"/>
            </a:xfrm>
            <a:prstGeom prst="rect">
              <a:avLst/>
            </a:prstGeom>
          </p:spPr>
        </p:pic>
        <p:cxnSp>
          <p:nvCxnSpPr>
            <p:cNvPr id="24" name="直接连接符 23"/>
            <p:cNvCxnSpPr>
              <a:stCxn id="21" idx="1"/>
              <a:endCxn id="22" idx="0"/>
            </p:cNvCxnSpPr>
            <p:nvPr/>
          </p:nvCxnSpPr>
          <p:spPr bwMode="gray">
            <a:xfrm flipH="1">
              <a:off x="7320990" y="1894398"/>
              <a:ext cx="791925" cy="117156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21" idx="3"/>
              <a:endCxn id="10" idx="0"/>
            </p:cNvCxnSpPr>
            <p:nvPr/>
          </p:nvCxnSpPr>
          <p:spPr bwMode="gray">
            <a:xfrm>
              <a:off x="8652915" y="1894398"/>
              <a:ext cx="889519" cy="119045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bwMode="gray">
            <a:xfrm>
              <a:off x="7044332" y="3462411"/>
              <a:ext cx="453970"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 name="文本框 1"/>
          <p:cNvSpPr txBox="1"/>
          <p:nvPr/>
        </p:nvSpPr>
        <p:spPr bwMode="gray">
          <a:xfrm>
            <a:off x="2364026" y="2215238"/>
            <a:ext cx="575799"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4065662" y="3264297"/>
            <a:ext cx="575799"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279070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圆角矩形 44"/>
          <p:cNvSpPr/>
          <p:nvPr/>
        </p:nvSpPr>
        <p:spPr bwMode="gray">
          <a:xfrm>
            <a:off x="8305677" y="4985312"/>
            <a:ext cx="2031131" cy="1079838"/>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45"/>
          <p:cNvSpPr/>
          <p:nvPr/>
        </p:nvSpPr>
        <p:spPr bwMode="gray">
          <a:xfrm>
            <a:off x="6282814" y="4990796"/>
            <a:ext cx="1713594" cy="1079838"/>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43"/>
          <p:cNvSpPr/>
          <p:nvPr/>
        </p:nvSpPr>
        <p:spPr bwMode="gray">
          <a:xfrm>
            <a:off x="3174466" y="4993613"/>
            <a:ext cx="1713594" cy="1079838"/>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圆角矩形 42"/>
          <p:cNvSpPr/>
          <p:nvPr/>
        </p:nvSpPr>
        <p:spPr bwMode="gray">
          <a:xfrm>
            <a:off x="1185761" y="4969142"/>
            <a:ext cx="1713594" cy="1079838"/>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smtClean="0">
                <a:sym typeface="Huawei Sans" panose="020C0503030203020204" pitchFamily="34" charset="0"/>
              </a:rPr>
              <a:t>全局</a:t>
            </a:r>
            <a:r>
              <a:rPr lang="en-US" altLang="zh-CN" smtClean="0">
                <a:sym typeface="Huawei Sans" panose="020C0503030203020204" pitchFamily="34" charset="0"/>
              </a:rPr>
              <a:t>MAC</a:t>
            </a:r>
            <a:r>
              <a:rPr lang="zh-CN" altLang="en-US" smtClean="0">
                <a:sym typeface="Huawei Sans" panose="020C0503030203020204" pitchFamily="34" charset="0"/>
              </a:rPr>
              <a:t>地址漂移检测</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dirty="0" smtClean="0">
                <a:sym typeface="Huawei Sans" panose="020C0503030203020204" pitchFamily="34" charset="0"/>
              </a:rPr>
              <a:t>当交换机检测到</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地址漂移，在缺省情况下，它只是简单地上报告警，并不会采取其他动作。在实际网络部署中，可以根据网络需求，对检测到</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地址漂移之后定义以下动作：</a:t>
            </a:r>
            <a:endParaRPr lang="en-US" altLang="zh-CN" sz="1600" dirty="0" smtClean="0">
              <a:sym typeface="Huawei Sans" panose="020C0503030203020204" pitchFamily="34" charset="0"/>
            </a:endParaRPr>
          </a:p>
          <a:p>
            <a:pPr lvl="1"/>
            <a:r>
              <a:rPr lang="en-US" altLang="zh-CN" sz="1600" dirty="0" smtClean="0">
                <a:sym typeface="Huawei Sans" panose="020C0503030203020204" pitchFamily="34" charset="0"/>
              </a:rPr>
              <a:t>error-down</a:t>
            </a:r>
          </a:p>
          <a:p>
            <a:pPr lvl="2"/>
            <a:r>
              <a:rPr lang="zh-CN" altLang="en-US" sz="1400" dirty="0" smtClean="0">
                <a:sym typeface="Huawei Sans" panose="020C0503030203020204" pitchFamily="34" charset="0"/>
              </a:rPr>
              <a:t>当配置了</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地址漂移检测的端口检测到有</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地址漂移时，将对应接口状态置为</a:t>
            </a:r>
            <a:r>
              <a:rPr lang="en-US" altLang="zh-CN" sz="1400" dirty="0" smtClean="0">
                <a:sym typeface="Huawei Sans" panose="020C0503030203020204" pitchFamily="34" charset="0"/>
              </a:rPr>
              <a:t>error-down</a:t>
            </a:r>
            <a:r>
              <a:rPr lang="zh-CN" altLang="en-US" sz="1400" dirty="0" smtClean="0">
                <a:sym typeface="Huawei Sans" panose="020C0503030203020204" pitchFamily="34" charset="0"/>
              </a:rPr>
              <a:t>，不再转发数据。</a:t>
            </a:r>
            <a:endParaRPr lang="en-US" altLang="zh-CN" sz="1400" dirty="0" smtClean="0">
              <a:sym typeface="Huawei Sans" panose="020C0503030203020204" pitchFamily="34" charset="0"/>
            </a:endParaRPr>
          </a:p>
          <a:p>
            <a:pPr lvl="1"/>
            <a:r>
              <a:rPr lang="en-US" altLang="zh-CN" sz="1600" dirty="0" smtClean="0">
                <a:sym typeface="Huawei Sans" panose="020C0503030203020204" pitchFamily="34" charset="0"/>
              </a:rPr>
              <a:t>quit-</a:t>
            </a:r>
            <a:r>
              <a:rPr lang="en-US" altLang="zh-CN" sz="1600" dirty="0" err="1" smtClean="0">
                <a:sym typeface="Huawei Sans" panose="020C0503030203020204" pitchFamily="34" charset="0"/>
              </a:rPr>
              <a:t>vlan</a:t>
            </a:r>
            <a:endParaRPr lang="en-US" altLang="zh-CN" sz="1600" dirty="0" smtClean="0">
              <a:sym typeface="Huawei Sans" panose="020C0503030203020204" pitchFamily="34" charset="0"/>
            </a:endParaRPr>
          </a:p>
          <a:p>
            <a:pPr lvl="2"/>
            <a:r>
              <a:rPr lang="zh-CN" altLang="en-US" sz="1400" dirty="0" smtClean="0">
                <a:sym typeface="Huawei Sans" panose="020C0503030203020204" pitchFamily="34" charset="0"/>
              </a:rPr>
              <a:t>当配置了</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地址漂移检测的端口检测到有</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地址漂移时，将退出当前接口所属的</a:t>
            </a:r>
            <a:r>
              <a:rPr lang="en-US" altLang="zh-CN" sz="1400" dirty="0" smtClean="0">
                <a:sym typeface="Huawei Sans" panose="020C0503030203020204" pitchFamily="34" charset="0"/>
              </a:rPr>
              <a:t>VLAN</a:t>
            </a:r>
            <a:r>
              <a:rPr lang="zh-CN" altLang="en-US" sz="1400" dirty="0" smtClean="0">
                <a:sym typeface="Huawei Sans" panose="020C0503030203020204" pitchFamily="34" charset="0"/>
              </a:rPr>
              <a:t>。</a:t>
            </a:r>
            <a:endParaRPr lang="en-US" altLang="zh-CN" sz="1400" dirty="0" smtClean="0">
              <a:sym typeface="Huawei Sans" panose="020C0503030203020204" pitchFamily="34" charset="0"/>
            </a:endParaRPr>
          </a:p>
          <a:p>
            <a:endParaRPr lang="zh-CN" altLang="en-US" sz="1600" dirty="0" smtClean="0">
              <a:sym typeface="Huawei Sans" panose="020C0503030203020204" pitchFamily="34" charset="0"/>
            </a:endParaRPr>
          </a:p>
          <a:p>
            <a:endParaRPr lang="zh-CN" altLang="en-US" sz="1600" dirty="0">
              <a:sym typeface="Huawei Sans" panose="020C0503030203020204" pitchFamily="34" charset="0"/>
            </a:endParaRPr>
          </a:p>
        </p:txBody>
      </p:sp>
      <p:grpSp>
        <p:nvGrpSpPr>
          <p:cNvPr id="5" name="组合 4"/>
          <p:cNvGrpSpPr/>
          <p:nvPr/>
        </p:nvGrpSpPr>
        <p:grpSpPr bwMode="gray">
          <a:xfrm>
            <a:off x="1117214" y="3429000"/>
            <a:ext cx="3824813" cy="2636150"/>
            <a:chOff x="6903524" y="3716339"/>
            <a:chExt cx="3824813" cy="2636150"/>
          </a:xfrm>
        </p:grpSpPr>
        <p:pic>
          <p:nvPicPr>
            <p:cNvPr id="6" name="图片 5" descr="PC.png"/>
            <p:cNvPicPr>
              <a:picLocks noChangeAspect="1"/>
            </p:cNvPicPr>
            <p:nvPr/>
          </p:nvPicPr>
          <p:blipFill>
            <a:blip r:embed="rId3" cstate="print"/>
            <a:stretch>
              <a:fillRect/>
            </a:stretch>
          </p:blipFill>
          <p:spPr bwMode="gray">
            <a:xfrm>
              <a:off x="9517458" y="5316798"/>
              <a:ext cx="539063" cy="414000"/>
            </a:xfrm>
            <a:prstGeom prst="rect">
              <a:avLst/>
            </a:prstGeom>
          </p:spPr>
        </p:pic>
        <p:pic>
          <p:nvPicPr>
            <p:cNvPr id="7" name="图片 6" descr="PC.png"/>
            <p:cNvPicPr>
              <a:picLocks noChangeAspect="1"/>
            </p:cNvPicPr>
            <p:nvPr/>
          </p:nvPicPr>
          <p:blipFill>
            <a:blip r:embed="rId3" cstate="print"/>
            <a:stretch>
              <a:fillRect/>
            </a:stretch>
          </p:blipFill>
          <p:spPr bwMode="gray">
            <a:xfrm>
              <a:off x="7522790" y="5327080"/>
              <a:ext cx="539063" cy="414000"/>
            </a:xfrm>
            <a:prstGeom prst="rect">
              <a:avLst/>
            </a:prstGeom>
          </p:spPr>
        </p:pic>
        <p:cxnSp>
          <p:nvCxnSpPr>
            <p:cNvPr id="8" name="直接连接符 7"/>
            <p:cNvCxnSpPr>
              <a:endCxn id="7" idx="0"/>
            </p:cNvCxnSpPr>
            <p:nvPr/>
          </p:nvCxnSpPr>
          <p:spPr bwMode="gray">
            <a:xfrm flipH="1">
              <a:off x="7792322" y="3965687"/>
              <a:ext cx="942472" cy="136139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endCxn id="6" idx="0"/>
            </p:cNvCxnSpPr>
            <p:nvPr/>
          </p:nvCxnSpPr>
          <p:spPr bwMode="gray">
            <a:xfrm>
              <a:off x="8745482" y="3965687"/>
              <a:ext cx="1041508" cy="135111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10" name="图片 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465309" y="3716339"/>
              <a:ext cx="540000" cy="442800"/>
            </a:xfrm>
            <a:prstGeom prst="rect">
              <a:avLst/>
            </a:prstGeom>
          </p:spPr>
        </p:pic>
        <p:sp>
          <p:nvSpPr>
            <p:cNvPr id="11" name="文本框 10"/>
            <p:cNvSpPr txBox="1"/>
            <p:nvPr/>
          </p:nvSpPr>
          <p:spPr bwMode="gray">
            <a:xfrm>
              <a:off x="6903524" y="5874110"/>
              <a:ext cx="1837362" cy="461665"/>
            </a:xfrm>
            <a:prstGeom prst="rect">
              <a:avLst/>
            </a:prstGeom>
            <a:noFill/>
            <a:ln>
              <a:noFill/>
            </a:ln>
          </p:spPr>
          <p:txBody>
            <a:bodyPr wrap="non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安全网络</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文本框 11"/>
            <p:cNvSpPr txBox="1"/>
            <p:nvPr/>
          </p:nvSpPr>
          <p:spPr bwMode="gray">
            <a:xfrm>
              <a:off x="7768043" y="4111441"/>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8995892" y="4093810"/>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7595220" y="5705750"/>
              <a:ext cx="453970"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8890975" y="5706158"/>
              <a:ext cx="1837362" cy="646331"/>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攻击者伪造</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a:t>
              </a:r>
            </a:p>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16" name="直接箭头连接符 15"/>
          <p:cNvCxnSpPr/>
          <p:nvPr/>
        </p:nvCxnSpPr>
        <p:spPr bwMode="gray">
          <a:xfrm flipV="1">
            <a:off x="2285624" y="4226802"/>
            <a:ext cx="463128" cy="65369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bwMode="gray">
          <a:xfrm flipH="1" flipV="1">
            <a:off x="3212858" y="4221848"/>
            <a:ext cx="518290" cy="66360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18" name="Oval 4"/>
          <p:cNvSpPr>
            <a:spLocks noChangeAspect="1"/>
          </p:cNvSpPr>
          <p:nvPr/>
        </p:nvSpPr>
        <p:spPr bwMode="gray">
          <a:xfrm>
            <a:off x="2468732" y="4634295"/>
            <a:ext cx="203706" cy="203706"/>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Oval 4"/>
          <p:cNvSpPr>
            <a:spLocks noChangeAspect="1"/>
          </p:cNvSpPr>
          <p:nvPr/>
        </p:nvSpPr>
        <p:spPr bwMode="gray">
          <a:xfrm>
            <a:off x="3353115" y="4634295"/>
            <a:ext cx="203706" cy="203706"/>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0" name="组合 28"/>
          <p:cNvGrpSpPr>
            <a:grpSpLocks noChangeAspect="1"/>
          </p:cNvGrpSpPr>
          <p:nvPr/>
        </p:nvGrpSpPr>
        <p:grpSpPr bwMode="gray">
          <a:xfrm>
            <a:off x="3009951" y="3770146"/>
            <a:ext cx="165471" cy="165471"/>
            <a:chOff x="5076056" y="3356992"/>
            <a:chExt cx="436268" cy="436268"/>
          </a:xfrm>
        </p:grpSpPr>
        <p:sp>
          <p:nvSpPr>
            <p:cNvPr id="21"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禁止符 23"/>
            <p:cNvSpPr/>
            <p:nvPr/>
          </p:nvSpPr>
          <p:spPr bwMode="gray">
            <a:xfrm>
              <a:off x="5076056" y="3356992"/>
              <a:ext cx="436268" cy="436268"/>
            </a:xfrm>
            <a:prstGeom prst="noSmoking">
              <a:avLst>
                <a:gd name="adj" fmla="val 1547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 name="文本框 1"/>
          <p:cNvSpPr txBox="1"/>
          <p:nvPr/>
        </p:nvSpPr>
        <p:spPr bwMode="gray">
          <a:xfrm>
            <a:off x="3891024" y="3832373"/>
            <a:ext cx="1156010" cy="286943"/>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a:solidFill>
                  <a:schemeClr val="tx1"/>
                </a:solidFill>
                <a:sym typeface="Huawei Sans" panose="020C0503030203020204" pitchFamily="34" charset="0"/>
              </a:rPr>
              <a:t>Error-down</a:t>
            </a:r>
            <a:endParaRPr lang="zh-CN" altLang="en-US" sz="1400" i="0" dirty="0">
              <a:solidFill>
                <a:schemeClr val="tx1"/>
              </a:solidFill>
              <a:sym typeface="Huawei Sans" panose="020C0503030203020204" pitchFamily="34" charset="0"/>
            </a:endParaRPr>
          </a:p>
        </p:txBody>
      </p:sp>
      <p:grpSp>
        <p:nvGrpSpPr>
          <p:cNvPr id="23" name="组合 22"/>
          <p:cNvGrpSpPr/>
          <p:nvPr/>
        </p:nvGrpSpPr>
        <p:grpSpPr bwMode="gray">
          <a:xfrm>
            <a:off x="6279010" y="3429000"/>
            <a:ext cx="3824813" cy="2636150"/>
            <a:chOff x="6903524" y="3716339"/>
            <a:chExt cx="3824813" cy="2636150"/>
          </a:xfrm>
        </p:grpSpPr>
        <p:pic>
          <p:nvPicPr>
            <p:cNvPr id="24" name="图片 23" descr="PC.png"/>
            <p:cNvPicPr>
              <a:picLocks noChangeAspect="1"/>
            </p:cNvPicPr>
            <p:nvPr/>
          </p:nvPicPr>
          <p:blipFill>
            <a:blip r:embed="rId3" cstate="print"/>
            <a:stretch>
              <a:fillRect/>
            </a:stretch>
          </p:blipFill>
          <p:spPr bwMode="gray">
            <a:xfrm>
              <a:off x="9517458" y="5316798"/>
              <a:ext cx="539063" cy="414000"/>
            </a:xfrm>
            <a:prstGeom prst="rect">
              <a:avLst/>
            </a:prstGeom>
          </p:spPr>
        </p:pic>
        <p:pic>
          <p:nvPicPr>
            <p:cNvPr id="25" name="图片 24" descr="PC.png"/>
            <p:cNvPicPr>
              <a:picLocks noChangeAspect="1"/>
            </p:cNvPicPr>
            <p:nvPr/>
          </p:nvPicPr>
          <p:blipFill>
            <a:blip r:embed="rId3" cstate="print"/>
            <a:stretch>
              <a:fillRect/>
            </a:stretch>
          </p:blipFill>
          <p:spPr bwMode="gray">
            <a:xfrm>
              <a:off x="7522790" y="5327080"/>
              <a:ext cx="539063" cy="414000"/>
            </a:xfrm>
            <a:prstGeom prst="rect">
              <a:avLst/>
            </a:prstGeom>
          </p:spPr>
        </p:pic>
        <p:cxnSp>
          <p:nvCxnSpPr>
            <p:cNvPr id="26" name="直接连接符 25"/>
            <p:cNvCxnSpPr>
              <a:endCxn id="25" idx="0"/>
            </p:cNvCxnSpPr>
            <p:nvPr/>
          </p:nvCxnSpPr>
          <p:spPr bwMode="gray">
            <a:xfrm flipH="1">
              <a:off x="7792322" y="3965687"/>
              <a:ext cx="942472" cy="136139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24" idx="0"/>
            </p:cNvCxnSpPr>
            <p:nvPr/>
          </p:nvCxnSpPr>
          <p:spPr bwMode="gray">
            <a:xfrm>
              <a:off x="8745482" y="3965687"/>
              <a:ext cx="1041508" cy="135111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28" name="图片 2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465309" y="3716339"/>
              <a:ext cx="540000" cy="442800"/>
            </a:xfrm>
            <a:prstGeom prst="rect">
              <a:avLst/>
            </a:prstGeom>
          </p:spPr>
        </p:pic>
        <p:sp>
          <p:nvSpPr>
            <p:cNvPr id="29" name="文本框 28"/>
            <p:cNvSpPr txBox="1"/>
            <p:nvPr/>
          </p:nvSpPr>
          <p:spPr bwMode="gray">
            <a:xfrm>
              <a:off x="6903524" y="5874110"/>
              <a:ext cx="1837362" cy="461665"/>
            </a:xfrm>
            <a:prstGeom prst="rect">
              <a:avLst/>
            </a:prstGeom>
            <a:noFill/>
            <a:ln>
              <a:noFill/>
            </a:ln>
          </p:spPr>
          <p:txBody>
            <a:bodyPr wrap="none" rtlCol="0">
              <a:spAutoFit/>
            </a:bodyPr>
            <a:lstStyle/>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安全网络</a:t>
              </a:r>
              <a:endPar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a:off x="7768043" y="4111441"/>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a:off x="8995892" y="4093810"/>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7595220" y="5705750"/>
              <a:ext cx="453970"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8890975" y="5706158"/>
              <a:ext cx="1837362" cy="646331"/>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PC2</a:t>
              </a:r>
            </a:p>
            <a:p>
              <a:pPr algn="ct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攻击者伪造</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a:t>
              </a:r>
            </a:p>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0011-0022-0033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34" name="直接箭头连接符 33"/>
          <p:cNvCxnSpPr/>
          <p:nvPr/>
        </p:nvCxnSpPr>
        <p:spPr bwMode="gray">
          <a:xfrm flipV="1">
            <a:off x="7447420" y="4226802"/>
            <a:ext cx="463128" cy="65369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bwMode="gray">
          <a:xfrm flipH="1" flipV="1">
            <a:off x="8374654" y="4221848"/>
            <a:ext cx="518290" cy="663600"/>
          </a:xfrm>
          <a:prstGeom prst="straightConnector1">
            <a:avLst/>
          </a:prstGeom>
          <a:ln w="1905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bwMode="gray">
          <a:xfrm>
            <a:off x="9090086" y="3811121"/>
            <a:ext cx="954426" cy="276999"/>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smtClean="0">
                <a:solidFill>
                  <a:schemeClr val="tx1"/>
                </a:solidFill>
                <a:sym typeface="Huawei Sans" panose="020C0503030203020204" pitchFamily="34" charset="0"/>
              </a:rPr>
              <a:t>Quit-vlan</a:t>
            </a:r>
            <a:endParaRPr lang="zh-CN" altLang="en-US" sz="1400" i="0" dirty="0">
              <a:solidFill>
                <a:schemeClr val="tx1"/>
              </a:solidFill>
              <a:sym typeface="Huawei Sans" panose="020C0503030203020204" pitchFamily="34" charset="0"/>
            </a:endParaRPr>
          </a:p>
        </p:txBody>
      </p:sp>
      <p:sp>
        <p:nvSpPr>
          <p:cNvPr id="47" name="Oval 4"/>
          <p:cNvSpPr>
            <a:spLocks noChangeAspect="1"/>
          </p:cNvSpPr>
          <p:nvPr/>
        </p:nvSpPr>
        <p:spPr bwMode="gray">
          <a:xfrm>
            <a:off x="7599148" y="4681742"/>
            <a:ext cx="203706" cy="203706"/>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Oval 4"/>
          <p:cNvSpPr>
            <a:spLocks noChangeAspect="1"/>
          </p:cNvSpPr>
          <p:nvPr/>
        </p:nvSpPr>
        <p:spPr bwMode="gray">
          <a:xfrm>
            <a:off x="8483531" y="4681742"/>
            <a:ext cx="203706" cy="203706"/>
          </a:xfrm>
          <a:prstGeom prst="ellipse">
            <a:avLst/>
          </a:prstGeom>
          <a:solidFill>
            <a:srgbClr val="56C4D2"/>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9558113" y="5022917"/>
            <a:ext cx="800219"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VLAN 10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18039812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smtClean="0">
                <a:sym typeface="Huawei Sans" panose="020C0503030203020204" pitchFamily="34" charset="0"/>
              </a:rPr>
              <a:t>MAC</a:t>
            </a:r>
            <a:r>
              <a:rPr lang="zh-CN" altLang="en-US" smtClean="0">
                <a:sym typeface="Huawei Sans" panose="020C0503030203020204" pitchFamily="34" charset="0"/>
              </a:rPr>
              <a:t>地址漂移配置命令介绍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5" name="矩形 4"/>
          <p:cNvSpPr/>
          <p:nvPr/>
        </p:nvSpPr>
        <p:spPr bwMode="gray">
          <a:xfrm>
            <a:off x="1031917" y="1455890"/>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mac-learning priority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priority-id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551382" y="1043405"/>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配置接口学习</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地址的优先级</a:t>
            </a:r>
          </a:p>
        </p:txBody>
      </p:sp>
      <p:sp>
        <p:nvSpPr>
          <p:cNvPr id="7" name="矩形 6"/>
          <p:cNvSpPr/>
          <p:nvPr/>
        </p:nvSpPr>
        <p:spPr bwMode="gray">
          <a:xfrm>
            <a:off x="1031919" y="186837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缺省情况下，接口学习</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地址的优先级为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，数值越大优先级越高。</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gray">
          <a:xfrm>
            <a:off x="1031918" y="5330545"/>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i="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vlan2]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mac-address flapping detection</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9" name="矩形 8"/>
          <p:cNvSpPr/>
          <p:nvPr/>
        </p:nvSpPr>
        <p:spPr bwMode="gray">
          <a:xfrm>
            <a:off x="551382" y="4918060"/>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地址漂移检测功能。</a:t>
            </a:r>
          </a:p>
        </p:txBody>
      </p:sp>
      <p:sp>
        <p:nvSpPr>
          <p:cNvPr id="10" name="矩形 9"/>
          <p:cNvSpPr/>
          <p:nvPr/>
        </p:nvSpPr>
        <p:spPr bwMode="gray">
          <a:xfrm>
            <a:off x="1031918" y="2747442"/>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mac-learning priority flapping-defend action discard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1" name="矩形 10"/>
          <p:cNvSpPr/>
          <p:nvPr/>
        </p:nvSpPr>
        <p:spPr bwMode="gray">
          <a:xfrm>
            <a:off x="1031921" y="3159838"/>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缺省情况下，禁止</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地址漂移时报文的处理动作是转发。</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p:cNvSpPr/>
          <p:nvPr/>
        </p:nvSpPr>
        <p:spPr bwMode="gray">
          <a:xfrm>
            <a:off x="1031916" y="4038994"/>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undo mac-learning priority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priority-id</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allow-flapping</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bwMode="gray">
          <a:xfrm>
            <a:off x="1031921" y="4451301"/>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缺省情况下，允许相同优先级的接口发生</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地址漂移。</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551382" y="2334957"/>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配置禁止</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地址漂移时报文的处理动作为丢弃</a:t>
            </a:r>
          </a:p>
        </p:txBody>
      </p:sp>
      <p:sp>
        <p:nvSpPr>
          <p:cNvPr id="15" name="矩形 14"/>
          <p:cNvSpPr/>
          <p:nvPr/>
        </p:nvSpPr>
        <p:spPr bwMode="gray">
          <a:xfrm>
            <a:off x="551382" y="3626509"/>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配置不允许相同优先级的接口发生</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地址漂移</a:t>
            </a:r>
          </a:p>
        </p:txBody>
      </p:sp>
      <p:sp>
        <p:nvSpPr>
          <p:cNvPr id="16" name="矩形 15"/>
          <p:cNvSpPr/>
          <p:nvPr/>
        </p:nvSpPr>
        <p:spPr bwMode="gray">
          <a:xfrm>
            <a:off x="1031918" y="5742765"/>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缺省情况下，已经配置</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了对</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交换机上所有</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进行</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地址漂移</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检测的功能。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411181547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MAC</a:t>
            </a:r>
            <a:r>
              <a:rPr lang="zh-CN" altLang="en-US" smtClean="0">
                <a:sym typeface="Huawei Sans" panose="020C0503030203020204" pitchFamily="34" charset="0"/>
              </a:rPr>
              <a:t>地址漂移配置命令介绍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4" name="矩形 3"/>
          <p:cNvSpPr/>
          <p:nvPr/>
        </p:nvSpPr>
        <p:spPr bwMode="gray">
          <a:xfrm>
            <a:off x="1031917" y="1558244"/>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mac-address flapping detection exclude vlan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vlan-id1</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to vlan-id2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&amp;&lt;1-10&gt;</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551382" y="1145759"/>
            <a:ext cx="11089232" cy="338554"/>
          </a:xfrm>
          <a:prstGeom prst="rect">
            <a:avLst/>
          </a:prstGeom>
        </p:spPr>
        <p:txBody>
          <a:bodyPr wrap="square">
            <a:spAutoFit/>
          </a:bodyPr>
          <a:lstStyle/>
          <a:p>
            <a:pPr marL="342900" indent="-342900" fontAlgn="auto">
              <a:buFont typeface="+mj-lt"/>
              <a:buAutoNum type="arabicPeriod" startAt="5"/>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地址漂移检测的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白名单</a:t>
            </a:r>
          </a:p>
        </p:txBody>
      </p:sp>
      <p:sp>
        <p:nvSpPr>
          <p:cNvPr id="6" name="矩形 5"/>
          <p:cNvSpPr/>
          <p:nvPr/>
        </p:nvSpPr>
        <p:spPr bwMode="gray">
          <a:xfrm>
            <a:off x="1031916" y="1970729"/>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缺省情况下，没有配置</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地址漂移检测的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白名单。</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7" name="矩形 6"/>
          <p:cNvSpPr/>
          <p:nvPr/>
        </p:nvSpPr>
        <p:spPr bwMode="gray">
          <a:xfrm>
            <a:off x="1031918" y="5432899"/>
            <a:ext cx="10608699" cy="584775"/>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[Huawei-vlan2</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loop-detect eth-loop </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block-mac</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block-time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block-time</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retry-times</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retry-times</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alarm-only</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8" name="矩形 7"/>
          <p:cNvSpPr/>
          <p:nvPr/>
        </p:nvSpPr>
        <p:spPr bwMode="gray">
          <a:xfrm>
            <a:off x="551382" y="5020414"/>
            <a:ext cx="11089232" cy="338554"/>
          </a:xfrm>
          <a:prstGeom prst="rect">
            <a:avLst/>
          </a:prstGeom>
        </p:spPr>
        <p:txBody>
          <a:bodyPr wrap="square">
            <a:spAutoFit/>
          </a:bodyPr>
          <a:lstStyle/>
          <a:p>
            <a:pPr marL="342900" indent="-342900" fontAlgn="auto">
              <a:buFont typeface="+mj-lt"/>
              <a:buAutoNum type="arabicPeriod" startAt="8"/>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地址漂移检测</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bwMode="gray">
          <a:xfrm>
            <a:off x="1031918" y="2834877"/>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i="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mac-address flapping action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quit-vlan</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error-down</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1031918" y="3247362"/>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缺省情况下，没有配置接口</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地址漂移后的处理动作。</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a:off x="1031916" y="4133888"/>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mac-address flapping aging-time </a:t>
            </a:r>
            <a:r>
              <a:rPr lang="en-US" altLang="zh-CN" sz="1600" i="1" dirty="0" smtClean="0">
                <a:latin typeface="Huawei Sans" panose="020C0503030203020204" pitchFamily="34" charset="0"/>
                <a:ea typeface="方正兰亭黑简体" panose="02000000000000000000" pitchFamily="2" charset="-122"/>
                <a:sym typeface="Huawei Sans" panose="020C0503030203020204" pitchFamily="34" charset="0"/>
              </a:rPr>
              <a:t>aging-time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6" name="矩形 15"/>
          <p:cNvSpPr/>
          <p:nvPr/>
        </p:nvSpPr>
        <p:spPr bwMode="gray">
          <a:xfrm>
            <a:off x="1031918" y="4546373"/>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地址漂移表项的老化时间为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300</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秒。</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551382" y="2437311"/>
            <a:ext cx="11089232" cy="338554"/>
          </a:xfrm>
          <a:prstGeom prst="rect">
            <a:avLst/>
          </a:prstGeom>
        </p:spPr>
        <p:txBody>
          <a:bodyPr wrap="square">
            <a:spAutoFit/>
          </a:bodyPr>
          <a:lstStyle/>
          <a:p>
            <a:pPr marL="342900" indent="-342900" fontAlgn="auto">
              <a:buFont typeface="+mj-lt"/>
              <a:buAutoNum type="arabicPeriod" startAt="6"/>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发生漂移后接口的处理动作</a:t>
            </a:r>
          </a:p>
        </p:txBody>
      </p:sp>
      <p:sp>
        <p:nvSpPr>
          <p:cNvPr id="18" name="矩形 17"/>
          <p:cNvSpPr/>
          <p:nvPr/>
        </p:nvSpPr>
        <p:spPr bwMode="gray">
          <a:xfrm>
            <a:off x="551382" y="3728863"/>
            <a:ext cx="11089232" cy="338554"/>
          </a:xfrm>
          <a:prstGeom prst="rect">
            <a:avLst/>
          </a:prstGeom>
        </p:spPr>
        <p:txBody>
          <a:bodyPr wrap="square">
            <a:spAutoFit/>
          </a:bodyPr>
          <a:lstStyle/>
          <a:p>
            <a:pPr marL="342900" indent="-342900" fontAlgn="auto">
              <a:buFont typeface="+mj-lt"/>
              <a:buAutoNum type="arabicPeriod" startAt="7"/>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a:t>
            </a: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MAC</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地址漂移表项的老化时间</a:t>
            </a:r>
          </a:p>
        </p:txBody>
      </p:sp>
    </p:spTree>
    <p:extLst>
      <p:ext uri="{BB962C8B-B14F-4D97-AF65-F5344CB8AC3E}">
        <p14:creationId xmlns:p14="http://schemas.microsoft.com/office/powerpoint/2010/main" val="256588444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MAC</a:t>
            </a:r>
            <a:r>
              <a:rPr lang="zh-CN" altLang="en-US" smtClean="0">
                <a:sym typeface="Huawei Sans" panose="020C0503030203020204" pitchFamily="34" charset="0"/>
              </a:rPr>
              <a:t>地址漂移配置举例</a:t>
            </a:r>
            <a:endParaRPr lang="zh-CN" altLang="en-US" dirty="0">
              <a:sym typeface="Huawei Sans" panose="020C0503030203020204" pitchFamily="34" charset="0"/>
            </a:endParaRPr>
          </a:p>
        </p:txBody>
      </p:sp>
      <p:sp>
        <p:nvSpPr>
          <p:cNvPr id="30" name="文本占位符 29"/>
          <p:cNvSpPr>
            <a:spLocks noGrp="1"/>
          </p:cNvSpPr>
          <p:nvPr>
            <p:ph type="body" sz="quarter" idx="4294967295"/>
          </p:nvPr>
        </p:nvSpPr>
        <p:spPr bwMode="gray">
          <a:xfrm>
            <a:off x="452438" y="3621021"/>
            <a:ext cx="5621338" cy="2503487"/>
          </a:xfrm>
        </p:spPr>
        <p:txBody>
          <a:bodyPr/>
          <a:lstStyle/>
          <a:p>
            <a:r>
              <a:rPr lang="zh-CN" altLang="en-US" sz="1600" dirty="0" smtClean="0">
                <a:sym typeface="Huawei Sans" panose="020C0503030203020204" pitchFamily="34" charset="0"/>
              </a:rPr>
              <a:t>实验介绍：</a:t>
            </a:r>
            <a:endParaRPr lang="en-US" altLang="zh-CN" sz="1600" dirty="0" smtClean="0">
              <a:sym typeface="Huawei Sans" panose="020C0503030203020204" pitchFamily="34" charset="0"/>
            </a:endParaRPr>
          </a:p>
          <a:p>
            <a:pPr lvl="1"/>
            <a:r>
              <a:rPr lang="zh-CN" altLang="en-US" sz="1400" dirty="0" smtClean="0">
                <a:sym typeface="Huawei Sans" panose="020C0503030203020204" pitchFamily="34" charset="0"/>
              </a:rPr>
              <a:t>网络基础配置已完成，</a:t>
            </a:r>
            <a:r>
              <a:rPr lang="en-US" altLang="zh-CN" sz="1400" dirty="0" smtClean="0">
                <a:sym typeface="Huawei Sans" panose="020C0503030203020204" pitchFamily="34" charset="0"/>
              </a:rPr>
              <a:t>Switch3</a:t>
            </a:r>
            <a:r>
              <a:rPr lang="zh-CN" altLang="en-US" sz="1400" dirty="0" smtClean="0">
                <a:sym typeface="Huawei Sans" panose="020C0503030203020204" pitchFamily="34" charset="0"/>
              </a:rPr>
              <a:t>与</a:t>
            </a:r>
            <a:r>
              <a:rPr lang="en-US" altLang="zh-CN" sz="1400" dirty="0" smtClean="0">
                <a:sym typeface="Huawei Sans" panose="020C0503030203020204" pitchFamily="34" charset="0"/>
              </a:rPr>
              <a:t>Switch4</a:t>
            </a:r>
            <a:r>
              <a:rPr lang="zh-CN" altLang="en-US" sz="1400" dirty="0" smtClean="0">
                <a:sym typeface="Huawei Sans" panose="020C0503030203020204" pitchFamily="34" charset="0"/>
              </a:rPr>
              <a:t>之间误接网线导致网络出现环路；</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在</a:t>
            </a:r>
            <a:r>
              <a:rPr lang="en-US" altLang="zh-CN" sz="1400" dirty="0" smtClean="0">
                <a:sym typeface="Huawei Sans" panose="020C0503030203020204" pitchFamily="34" charset="0"/>
              </a:rPr>
              <a:t>Switch1</a:t>
            </a:r>
            <a:r>
              <a:rPr lang="zh-CN" altLang="en-US" sz="1400" dirty="0" smtClean="0">
                <a:sym typeface="Huawei Sans" panose="020C0503030203020204" pitchFamily="34" charset="0"/>
              </a:rPr>
              <a:t>的接口</a:t>
            </a:r>
            <a:r>
              <a:rPr lang="en-US" altLang="zh-CN" sz="1400" dirty="0" smtClean="0">
                <a:sym typeface="Huawei Sans" panose="020C0503030203020204" pitchFamily="34" charset="0"/>
              </a:rPr>
              <a:t>GE0/0/1</a:t>
            </a:r>
            <a:r>
              <a:rPr lang="zh-CN" altLang="en-US" sz="1400" dirty="0" smtClean="0">
                <a:sym typeface="Huawei Sans" panose="020C0503030203020204" pitchFamily="34" charset="0"/>
              </a:rPr>
              <a:t>上配置</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地址防漂移</a:t>
            </a:r>
            <a:r>
              <a:rPr lang="zh-CN" altLang="en-US" sz="1400" dirty="0">
                <a:sym typeface="Huawei Sans" panose="020C0503030203020204" pitchFamily="34" charset="0"/>
              </a:rPr>
              <a:t>功能</a:t>
            </a:r>
            <a:r>
              <a:rPr lang="zh-CN" altLang="en-US" sz="1400" dirty="0" smtClean="0">
                <a:sym typeface="Huawei Sans" panose="020C0503030203020204" pitchFamily="34" charset="0"/>
              </a:rPr>
              <a:t>，防止</a:t>
            </a:r>
            <a:r>
              <a:rPr lang="zh-CN" altLang="en-US" sz="1400" dirty="0">
                <a:sym typeface="Huawei Sans" panose="020C0503030203020204" pitchFamily="34" charset="0"/>
              </a:rPr>
              <a:t>被非法用户</a:t>
            </a:r>
            <a:r>
              <a:rPr lang="zh-CN" altLang="en-US" sz="1400" dirty="0" smtClean="0">
                <a:sym typeface="Huawei Sans" panose="020C0503030203020204" pitchFamily="34" charset="0"/>
              </a:rPr>
              <a:t>攻击；</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在</a:t>
            </a:r>
            <a:r>
              <a:rPr lang="en-US" altLang="zh-CN" sz="1400" dirty="0" smtClean="0">
                <a:sym typeface="Huawei Sans" panose="020C0503030203020204" pitchFamily="34" charset="0"/>
              </a:rPr>
              <a:t>Switch2</a:t>
            </a:r>
            <a:r>
              <a:rPr lang="zh-CN" altLang="en-US" sz="1400" dirty="0" smtClean="0">
                <a:sym typeface="Huawei Sans" panose="020C0503030203020204" pitchFamily="34" charset="0"/>
              </a:rPr>
              <a:t>上配置</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地址漂移检测功能，判断网络中存在的环路，排除故障。</a:t>
            </a:r>
            <a:endParaRPr lang="en-US" altLang="zh-CN" sz="1400" dirty="0" smtClean="0">
              <a:sym typeface="Huawei Sans" panose="020C0503030203020204" pitchFamily="34" charset="0"/>
            </a:endParaRPr>
          </a:p>
        </p:txBody>
      </p:sp>
      <p:grpSp>
        <p:nvGrpSpPr>
          <p:cNvPr id="28" name="组合 27"/>
          <p:cNvGrpSpPr/>
          <p:nvPr/>
        </p:nvGrpSpPr>
        <p:grpSpPr bwMode="gray">
          <a:xfrm>
            <a:off x="992612" y="1141631"/>
            <a:ext cx="4610058" cy="2558822"/>
            <a:chOff x="777812" y="1612022"/>
            <a:chExt cx="4610058" cy="2558822"/>
          </a:xfrm>
        </p:grpSpPr>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616642" y="3728044"/>
              <a:ext cx="540000" cy="442800"/>
            </a:xfrm>
            <a:prstGeom prst="rect">
              <a:avLst/>
            </a:prstGeom>
          </p:spPr>
        </p:pic>
        <p:pic>
          <p:nvPicPr>
            <p:cNvPr id="5" name="图片 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141142" y="1634037"/>
              <a:ext cx="540000" cy="442800"/>
            </a:xfrm>
            <a:prstGeom prst="rect">
              <a:avLst/>
            </a:prstGeom>
          </p:spPr>
        </p:pic>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3871142" y="3728044"/>
              <a:ext cx="540000" cy="442800"/>
            </a:xfrm>
            <a:prstGeom prst="rect">
              <a:avLst/>
            </a:prstGeom>
          </p:spPr>
        </p:pic>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686521" y="1634037"/>
              <a:ext cx="540000" cy="442800"/>
            </a:xfrm>
            <a:prstGeom prst="rect">
              <a:avLst/>
            </a:prstGeom>
          </p:spPr>
        </p:pic>
        <p:cxnSp>
          <p:nvCxnSpPr>
            <p:cNvPr id="9" name="直接连接符 8"/>
            <p:cNvCxnSpPr>
              <a:stCxn id="7" idx="2"/>
              <a:endCxn id="3" idx="0"/>
            </p:cNvCxnSpPr>
            <p:nvPr/>
          </p:nvCxnSpPr>
          <p:spPr bwMode="gray">
            <a:xfrm>
              <a:off x="2956521" y="2076837"/>
              <a:ext cx="0" cy="57640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endCxn id="4" idx="0"/>
            </p:cNvCxnSpPr>
            <p:nvPr/>
          </p:nvCxnSpPr>
          <p:spPr bwMode="gray">
            <a:xfrm flipH="1">
              <a:off x="1886642" y="2977300"/>
              <a:ext cx="1041521" cy="75074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endCxn id="6" idx="0"/>
            </p:cNvCxnSpPr>
            <p:nvPr/>
          </p:nvCxnSpPr>
          <p:spPr bwMode="gray">
            <a:xfrm>
              <a:off x="2956521" y="2977300"/>
              <a:ext cx="1184621" cy="75074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7" idx="3"/>
              <a:endCxn id="5" idx="1"/>
            </p:cNvCxnSpPr>
            <p:nvPr/>
          </p:nvCxnSpPr>
          <p:spPr bwMode="gray">
            <a:xfrm>
              <a:off x="3226521" y="1855437"/>
              <a:ext cx="914621"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4" idx="3"/>
              <a:endCxn id="6" idx="1"/>
            </p:cNvCxnSpPr>
            <p:nvPr/>
          </p:nvCxnSpPr>
          <p:spPr bwMode="gray">
            <a:xfrm>
              <a:off x="2156642" y="3949444"/>
              <a:ext cx="1714500" cy="0"/>
            </a:xfrm>
            <a:prstGeom prst="line">
              <a:avLst/>
            </a:prstGeom>
            <a:ln w="19050">
              <a:solidFill>
                <a:srgbClr val="151515"/>
              </a:solidFill>
              <a:prstDash val="sysDot"/>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bwMode="gray">
            <a:xfrm>
              <a:off x="1901665" y="1716021"/>
              <a:ext cx="867545"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Switch1</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文本框 18"/>
            <p:cNvSpPr txBox="1"/>
            <p:nvPr/>
          </p:nvSpPr>
          <p:spPr bwMode="gray">
            <a:xfrm>
              <a:off x="1880714" y="2698848"/>
              <a:ext cx="867545"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Switch2</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777812" y="3795555"/>
              <a:ext cx="867545"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Switch3</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4393242" y="3801113"/>
              <a:ext cx="867545"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Switch4</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4658183" y="1722915"/>
              <a:ext cx="729687"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3170362" y="1612022"/>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2904345" y="2076837"/>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2907024" y="2423355"/>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bwMode="gray">
            <a:xfrm>
              <a:off x="2006357" y="2974294"/>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3200736" y="2977300"/>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 name="图片 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686521" y="2653241"/>
              <a:ext cx="540000" cy="442800"/>
            </a:xfrm>
            <a:prstGeom prst="rect">
              <a:avLst/>
            </a:prstGeom>
          </p:spPr>
        </p:pic>
      </p:grpSp>
      <p:sp>
        <p:nvSpPr>
          <p:cNvPr id="36" name="文本框 35"/>
          <p:cNvSpPr txBox="1"/>
          <p:nvPr/>
        </p:nvSpPr>
        <p:spPr bwMode="gray">
          <a:xfrm>
            <a:off x="5797642" y="1128440"/>
            <a:ext cx="5413895" cy="584775"/>
          </a:xfrm>
          <a:prstGeom prst="rect">
            <a:avLst/>
          </a:prstGeom>
          <a:noFill/>
          <a:ln>
            <a:noFill/>
          </a:ln>
        </p:spPr>
        <p:txBody>
          <a:bodyPr wrap="square" rtlCol="0">
            <a:spAutoFit/>
          </a:bodyPr>
          <a:lstStyle/>
          <a:p>
            <a:pPr marL="342900" indent="-342900">
              <a:buFont typeface="+mj-lt"/>
              <a:buAutoNum type="arabicPeriod"/>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Switch1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与</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Server</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相连的接口</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GE0/0/1</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上配置</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地址学习优先级高于其他接口，此优先级默认值为</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0</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37" name="矩形 36"/>
          <p:cNvSpPr/>
          <p:nvPr/>
        </p:nvSpPr>
        <p:spPr bwMode="gray">
          <a:xfrm>
            <a:off x="6096001" y="1750696"/>
            <a:ext cx="5519349" cy="523220"/>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 interface GigabitEthernet 0/0/1</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[Switch1-GigabitEthernet 0/0/1] mac-leaning priority 3</a:t>
            </a:r>
          </a:p>
        </p:txBody>
      </p:sp>
      <p:sp>
        <p:nvSpPr>
          <p:cNvPr id="38" name="文本框 37"/>
          <p:cNvSpPr txBox="1"/>
          <p:nvPr/>
        </p:nvSpPr>
        <p:spPr bwMode="gray">
          <a:xfrm>
            <a:off x="5797643" y="2847648"/>
            <a:ext cx="5413896" cy="584775"/>
          </a:xfrm>
          <a:prstGeom prst="rect">
            <a:avLst/>
          </a:prstGeom>
          <a:noFill/>
          <a:ln>
            <a:noFill/>
          </a:ln>
        </p:spPr>
        <p:txBody>
          <a:bodyPr wrap="square" rtlCol="0">
            <a:spAutoFit/>
          </a:bodyPr>
          <a:lstStyle/>
          <a:p>
            <a:pPr marL="342900" indent="-342900">
              <a:buFont typeface="+mj-lt"/>
              <a:buAutoNum type="arabicPeriod" startAt="2"/>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Switch2</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上配置</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地址漂移检测功能，并配置接口</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地址漂移后的处理动作</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8"/>
          <p:cNvSpPr/>
          <p:nvPr/>
        </p:nvSpPr>
        <p:spPr bwMode="gray">
          <a:xfrm>
            <a:off x="6096002" y="3480430"/>
            <a:ext cx="5519349" cy="1815882"/>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[Switch2] mac-address flapping detection</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[Switch2] mac-address flapping aging-time 500</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[Switch2-GigabitEthernet0/0/1] mac-address flapping action error-down</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[Switch2-GigabitEthernet0/0/2] mac-address flapping action error-down</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[Switch2] error-down auto-recovery cause mac-address-flapping interval 500</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4905248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smtClean="0">
                <a:sym typeface="Huawei Sans" panose="020C0503030203020204" pitchFamily="34" charset="0"/>
              </a:rPr>
              <a:t>配置验证</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smtClean="0">
                <a:sym typeface="Huawei Sans" panose="020C0503030203020204" pitchFamily="34" charset="0"/>
              </a:rPr>
              <a:t>配置完成后，当</a:t>
            </a:r>
            <a:r>
              <a:rPr lang="en-US" altLang="zh-CN" sz="1800" smtClean="0">
                <a:sym typeface="Huawei Sans" panose="020C0503030203020204" pitchFamily="34" charset="0"/>
              </a:rPr>
              <a:t>Switch2</a:t>
            </a:r>
            <a:r>
              <a:rPr lang="zh-CN" altLang="en-US" sz="1800" smtClean="0">
                <a:sym typeface="Huawei Sans" panose="020C0503030203020204" pitchFamily="34" charset="0"/>
              </a:rPr>
              <a:t>的接口</a:t>
            </a:r>
            <a:r>
              <a:rPr lang="en-US" altLang="zh-CN" sz="1800" smtClean="0">
                <a:sym typeface="Huawei Sans" panose="020C0503030203020204" pitchFamily="34" charset="0"/>
              </a:rPr>
              <a:t>GE0/0/1</a:t>
            </a:r>
            <a:r>
              <a:rPr lang="zh-CN" altLang="en-US" sz="1800" smtClean="0">
                <a:sym typeface="Huawei Sans" panose="020C0503030203020204" pitchFamily="34" charset="0"/>
              </a:rPr>
              <a:t>的</a:t>
            </a:r>
            <a:r>
              <a:rPr lang="en-US" altLang="zh-CN" sz="1800" smtClean="0">
                <a:sym typeface="Huawei Sans" panose="020C0503030203020204" pitchFamily="34" charset="0"/>
              </a:rPr>
              <a:t>MAC</a:t>
            </a:r>
            <a:r>
              <a:rPr lang="zh-CN" altLang="en-US" sz="1800" smtClean="0">
                <a:sym typeface="Huawei Sans" panose="020C0503030203020204" pitchFamily="34" charset="0"/>
              </a:rPr>
              <a:t>地址漂移到接口</a:t>
            </a:r>
            <a:r>
              <a:rPr lang="en-US" altLang="zh-CN" sz="1800" smtClean="0">
                <a:sym typeface="Huawei Sans" panose="020C0503030203020204" pitchFamily="34" charset="0"/>
              </a:rPr>
              <a:t>GE0/0/2</a:t>
            </a:r>
            <a:r>
              <a:rPr lang="zh-CN" altLang="en-US" sz="1800" smtClean="0">
                <a:sym typeface="Huawei Sans" panose="020C0503030203020204" pitchFamily="34" charset="0"/>
              </a:rPr>
              <a:t>后，接口</a:t>
            </a:r>
            <a:r>
              <a:rPr lang="en-US" altLang="zh-CN" sz="1800" smtClean="0">
                <a:sym typeface="Huawei Sans" panose="020C0503030203020204" pitchFamily="34" charset="0"/>
              </a:rPr>
              <a:t>GE0/0/2</a:t>
            </a:r>
            <a:r>
              <a:rPr lang="zh-CN" altLang="en-US" sz="1800" smtClean="0">
                <a:sym typeface="Huawei Sans" panose="020C0503030203020204" pitchFamily="34" charset="0"/>
              </a:rPr>
              <a:t>关闭；使用</a:t>
            </a:r>
            <a:r>
              <a:rPr lang="en-US" altLang="zh-CN" sz="1800" smtClean="0">
                <a:sym typeface="Huawei Sans" panose="020C0503030203020204" pitchFamily="34" charset="0"/>
              </a:rPr>
              <a:t>display mac-address flapping record</a:t>
            </a:r>
            <a:r>
              <a:rPr lang="zh-CN" altLang="en-US" sz="1800" smtClean="0">
                <a:sym typeface="Huawei Sans" panose="020C0503030203020204" pitchFamily="34" charset="0"/>
              </a:rPr>
              <a:t>可查看到漂移记录。</a:t>
            </a:r>
            <a:endParaRPr lang="zh-CN" altLang="en-US" sz="1800" dirty="0">
              <a:sym typeface="Huawei Sans" panose="020C0503030203020204" pitchFamily="34" charset="0"/>
            </a:endParaRPr>
          </a:p>
        </p:txBody>
      </p:sp>
      <p:sp>
        <p:nvSpPr>
          <p:cNvPr id="5" name="矩形 4"/>
          <p:cNvSpPr/>
          <p:nvPr/>
        </p:nvSpPr>
        <p:spPr bwMode="gray">
          <a:xfrm>
            <a:off x="2339951" y="2315872"/>
            <a:ext cx="7532914" cy="2677656"/>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Switch2]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display mac-address flapping record</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  : start time                                                                </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E  : end time                                                                  </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(Q) : quit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 : error down </a:t>
            </a: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Move-Time                 VLAN MAC-Address     Original-Port    Move-Ports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MoveNum</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S:2020-06-22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17:22:36     1    5489-9815-662b  GE0/0/1         GE0/0/2(D)   83</a:t>
            </a: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E:2020-06-22 17:22:44</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Total items on slot 0: 1</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388102341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b="1" dirty="0" smtClean="0">
                <a:sym typeface="Huawei Sans" panose="020C0503030203020204" pitchFamily="34" charset="0"/>
              </a:rPr>
              <a:t>以太网交换安全</a:t>
            </a:r>
            <a:endParaRPr lang="en-US" altLang="zh-CN" sz="1800" b="1" dirty="0" smtClean="0">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端口隔离</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地址表安全</a:t>
            </a:r>
            <a:endParaRPr lang="en-US" altLang="zh-CN" sz="1600" dirty="0">
              <a:solidFill>
                <a:schemeClr val="bg1">
                  <a:lumMod val="50000"/>
                </a:schemeClr>
              </a:solidFill>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端口安全</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地址漂移防止与检测</a:t>
            </a:r>
            <a:endParaRPr lang="en-US" altLang="zh-CN" sz="16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sz="1600" dirty="0" err="1">
                <a:sym typeface="Huawei Sans" panose="020C0503030203020204" pitchFamily="34" charset="0"/>
              </a:rPr>
              <a:t>MACsec</a:t>
            </a:r>
            <a:endParaRPr lang="en-US" altLang="zh-CN" sz="1600" dirty="0">
              <a:sym typeface="Huawei Sans" panose="020C0503030203020204" pitchFamily="34" charset="0"/>
            </a:endParaRPr>
          </a:p>
          <a:p>
            <a:pPr lvl="1"/>
            <a:r>
              <a:rPr lang="zh-CN" altLang="en-US" sz="1600" dirty="0" smtClean="0">
                <a:solidFill>
                  <a:schemeClr val="bg1">
                    <a:lumMod val="50000"/>
                  </a:schemeClr>
                </a:solidFill>
                <a:sym typeface="Huawei Sans" panose="020C0503030203020204" pitchFamily="34" charset="0"/>
              </a:rPr>
              <a:t>交换机流量控制</a:t>
            </a:r>
            <a:endParaRPr lang="en-US" altLang="zh-CN" sz="1600" dirty="0" smtClean="0">
              <a:solidFill>
                <a:schemeClr val="bg1">
                  <a:lumMod val="50000"/>
                </a:schemeClr>
              </a:solidFill>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DHCP Snooping</a:t>
            </a:r>
          </a:p>
          <a:p>
            <a:pPr lvl="1"/>
            <a:r>
              <a:rPr lang="en-US" altLang="zh-CN" sz="1600" dirty="0" smtClean="0">
                <a:solidFill>
                  <a:schemeClr val="bg1">
                    <a:lumMod val="50000"/>
                  </a:schemeClr>
                </a:solidFill>
                <a:sym typeface="Huawei Sans" panose="020C0503030203020204" pitchFamily="34" charset="0"/>
              </a:rPr>
              <a:t>IP Source Guard</a:t>
            </a:r>
          </a:p>
          <a:p>
            <a:r>
              <a:rPr lang="zh-CN" altLang="en-US" sz="1800" dirty="0" smtClean="0">
                <a:solidFill>
                  <a:schemeClr val="bg1">
                    <a:lumMod val="50000"/>
                  </a:schemeClr>
                </a:solidFill>
                <a:sym typeface="Huawei Sans" panose="020C0503030203020204" pitchFamily="34" charset="0"/>
              </a:rPr>
              <a:t>防火墙高级特性</a:t>
            </a:r>
            <a:endParaRPr lang="zh-CN" altLang="en-US"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923465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MACsec</a:t>
            </a:r>
            <a:r>
              <a:rPr lang="zh-CN" altLang="en-US" smtClean="0">
                <a:sym typeface="Huawei Sans" panose="020C0503030203020204" pitchFamily="34" charset="0"/>
              </a:rPr>
              <a:t>，提供二层数据安全传输</a:t>
            </a:r>
            <a:endParaRPr lang="zh-CN" altLang="en-US" dirty="0">
              <a:sym typeface="Huawei Sans" panose="020C0503030203020204" pitchFamily="34" charset="0"/>
            </a:endParaRPr>
          </a:p>
        </p:txBody>
      </p:sp>
      <p:cxnSp>
        <p:nvCxnSpPr>
          <p:cNvPr id="3" name="Straight Connector 166"/>
          <p:cNvCxnSpPr/>
          <p:nvPr/>
        </p:nvCxnSpPr>
        <p:spPr bwMode="gray">
          <a:xfrm>
            <a:off x="2724053" y="1585983"/>
            <a:ext cx="0" cy="6447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166"/>
          <p:cNvCxnSpPr/>
          <p:nvPr/>
        </p:nvCxnSpPr>
        <p:spPr bwMode="gray">
          <a:xfrm>
            <a:off x="2724052" y="3415052"/>
            <a:ext cx="1" cy="7380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166"/>
          <p:cNvCxnSpPr/>
          <p:nvPr/>
        </p:nvCxnSpPr>
        <p:spPr bwMode="gray">
          <a:xfrm flipH="1">
            <a:off x="1228852" y="5220484"/>
            <a:ext cx="1" cy="5552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166"/>
          <p:cNvCxnSpPr/>
          <p:nvPr/>
        </p:nvCxnSpPr>
        <p:spPr bwMode="gray">
          <a:xfrm flipH="1">
            <a:off x="4214188" y="5220484"/>
            <a:ext cx="1" cy="55527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165"/>
          <p:cNvGrpSpPr/>
          <p:nvPr/>
        </p:nvGrpSpPr>
        <p:grpSpPr bwMode="gray">
          <a:xfrm rot="10800000">
            <a:off x="1306340" y="4268947"/>
            <a:ext cx="2835430" cy="773558"/>
            <a:chOff x="-1233037" y="914446"/>
            <a:chExt cx="1573823" cy="778776"/>
          </a:xfrm>
        </p:grpSpPr>
        <p:cxnSp>
          <p:nvCxnSpPr>
            <p:cNvPr id="8" name="Straight Connector 166"/>
            <p:cNvCxnSpPr/>
            <p:nvPr/>
          </p:nvCxnSpPr>
          <p:spPr bwMode="gray">
            <a:xfrm flipH="1" flipV="1">
              <a:off x="-1233037" y="914446"/>
              <a:ext cx="786912" cy="77877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167"/>
            <p:cNvCxnSpPr/>
            <p:nvPr/>
          </p:nvCxnSpPr>
          <p:spPr bwMode="gray">
            <a:xfrm flipV="1">
              <a:off x="-446125" y="914446"/>
              <a:ext cx="786911" cy="778776"/>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gr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500915" y="3299164"/>
            <a:ext cx="446281" cy="365139"/>
          </a:xfrm>
          <a:prstGeom prst="rect">
            <a:avLst/>
          </a:prstGeom>
        </p:spPr>
      </p:pic>
      <p:pic>
        <p:nvPicPr>
          <p:cNvPr id="11" name="图片 86" descr="核心交换机.png"/>
          <p:cNvPicPr>
            <a:picLocks noChangeAspect="1"/>
          </p:cNvPicPr>
          <p:nvPr/>
        </p:nvPicPr>
        <p:blipFill>
          <a:blip r:embed="rId4" cstate="print"/>
          <a:stretch>
            <a:fillRect/>
          </a:stretch>
        </p:blipFill>
        <p:spPr bwMode="gray">
          <a:xfrm>
            <a:off x="2500915" y="4060261"/>
            <a:ext cx="446281" cy="365139"/>
          </a:xfrm>
          <a:prstGeom prst="rect">
            <a:avLst/>
          </a:prstGeom>
        </p:spPr>
      </p:pic>
      <p:pic>
        <p:nvPicPr>
          <p:cNvPr id="12" name="图片 76" descr="接入交换机.png"/>
          <p:cNvPicPr>
            <a:picLocks noChangeAspect="1"/>
          </p:cNvPicPr>
          <p:nvPr/>
        </p:nvPicPr>
        <p:blipFill>
          <a:blip r:embed="rId5" cstate="print"/>
          <a:stretch>
            <a:fillRect/>
          </a:stretch>
        </p:blipFill>
        <p:spPr bwMode="gray">
          <a:xfrm>
            <a:off x="1010782" y="4917435"/>
            <a:ext cx="446281" cy="365139"/>
          </a:xfrm>
          <a:prstGeom prst="rect">
            <a:avLst/>
          </a:prstGeom>
        </p:spPr>
      </p:pic>
      <p:pic>
        <p:nvPicPr>
          <p:cNvPr id="13" name="图片 14" descr="日志告警服务器-蓝.png"/>
          <p:cNvPicPr>
            <a:picLocks noChangeAspect="1"/>
          </p:cNvPicPr>
          <p:nvPr/>
        </p:nvPicPr>
        <p:blipFill>
          <a:blip r:embed="rId6" cstate="print"/>
          <a:stretch>
            <a:fillRect/>
          </a:stretch>
        </p:blipFill>
        <p:spPr bwMode="gray">
          <a:xfrm>
            <a:off x="988646" y="5713666"/>
            <a:ext cx="490552" cy="306312"/>
          </a:xfrm>
          <a:prstGeom prst="rect">
            <a:avLst/>
          </a:prstGeom>
        </p:spPr>
      </p:pic>
      <p:pic>
        <p:nvPicPr>
          <p:cNvPr id="14" name="图片 76" descr="接入交换机.png"/>
          <p:cNvPicPr>
            <a:picLocks noChangeAspect="1"/>
          </p:cNvPicPr>
          <p:nvPr/>
        </p:nvPicPr>
        <p:blipFill>
          <a:blip r:embed="rId5" cstate="print"/>
          <a:stretch>
            <a:fillRect/>
          </a:stretch>
        </p:blipFill>
        <p:spPr bwMode="gray">
          <a:xfrm>
            <a:off x="3991048" y="4917435"/>
            <a:ext cx="446281" cy="365139"/>
          </a:xfrm>
          <a:prstGeom prst="rect">
            <a:avLst/>
          </a:prstGeom>
        </p:spPr>
      </p:pic>
      <p:pic>
        <p:nvPicPr>
          <p:cNvPr id="15" name="图片 14" descr="日志告警服务器-蓝.png"/>
          <p:cNvPicPr>
            <a:picLocks noChangeAspect="1"/>
          </p:cNvPicPr>
          <p:nvPr/>
        </p:nvPicPr>
        <p:blipFill>
          <a:blip r:embed="rId6" cstate="print"/>
          <a:stretch>
            <a:fillRect/>
          </a:stretch>
        </p:blipFill>
        <p:spPr bwMode="gray">
          <a:xfrm>
            <a:off x="3968912" y="5713666"/>
            <a:ext cx="490552" cy="306312"/>
          </a:xfrm>
          <a:prstGeom prst="rect">
            <a:avLst/>
          </a:prstGeom>
        </p:spPr>
      </p:pic>
      <p:pic>
        <p:nvPicPr>
          <p:cNvPr id="16" name="图片 1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500915" y="2109836"/>
            <a:ext cx="446281" cy="365139"/>
          </a:xfrm>
          <a:prstGeom prst="rect">
            <a:avLst/>
          </a:prstGeom>
        </p:spPr>
      </p:pic>
      <p:pic>
        <p:nvPicPr>
          <p:cNvPr id="17" name="图片 14" descr="日志告警服务器-蓝.png"/>
          <p:cNvPicPr>
            <a:picLocks noChangeAspect="1"/>
          </p:cNvPicPr>
          <p:nvPr/>
        </p:nvPicPr>
        <p:blipFill>
          <a:blip r:embed="rId6" cstate="print"/>
          <a:stretch>
            <a:fillRect/>
          </a:stretch>
        </p:blipFill>
        <p:spPr bwMode="gray">
          <a:xfrm>
            <a:off x="2478777" y="1284098"/>
            <a:ext cx="490552" cy="306312"/>
          </a:xfrm>
          <a:prstGeom prst="rect">
            <a:avLst/>
          </a:prstGeom>
        </p:spPr>
      </p:pic>
      <p:sp>
        <p:nvSpPr>
          <p:cNvPr id="18" name="圆角矩形 17"/>
          <p:cNvSpPr/>
          <p:nvPr/>
        </p:nvSpPr>
        <p:spPr bwMode="gray">
          <a:xfrm>
            <a:off x="547674" y="3213709"/>
            <a:ext cx="4352762" cy="2935817"/>
          </a:xfrm>
          <a:prstGeom prst="roundRect">
            <a:avLst>
              <a:gd name="adj" fmla="val 140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圆角矩形 18"/>
          <p:cNvSpPr/>
          <p:nvPr/>
        </p:nvSpPr>
        <p:spPr bwMode="gray">
          <a:xfrm>
            <a:off x="547674" y="1122026"/>
            <a:ext cx="4352762" cy="1474578"/>
          </a:xfrm>
          <a:prstGeom prst="roundRect">
            <a:avLst>
              <a:gd name="adj" fmla="val 1400"/>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547674" y="2253048"/>
            <a:ext cx="644728" cy="307777"/>
          </a:xfrm>
          <a:prstGeom prst="rect">
            <a:avLst/>
          </a:prstGeom>
          <a:noFill/>
        </p:spPr>
        <p:txBody>
          <a:bodyPr wrap="none" rtlCol="0">
            <a:spAutoFit/>
          </a:bodyPr>
          <a:lstStyle/>
          <a:p>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547674" y="3231986"/>
            <a:ext cx="644728" cy="307777"/>
          </a:xfrm>
          <a:prstGeom prst="rect">
            <a:avLst/>
          </a:prstGeom>
          <a:noFill/>
        </p:spPr>
        <p:txBody>
          <a:bodyPr wrap="none" rtlCol="0">
            <a:spAutoFit/>
          </a:bodyPr>
          <a:lstStyle/>
          <a:p>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站点</a:t>
            </a:r>
            <a:r>
              <a:rPr lang="en-US" altLang="zh-CN"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22" name="Group 6"/>
          <p:cNvGrpSpPr/>
          <p:nvPr/>
        </p:nvGrpSpPr>
        <p:grpSpPr bwMode="gray">
          <a:xfrm>
            <a:off x="2359535" y="2649664"/>
            <a:ext cx="729034" cy="436655"/>
            <a:chOff x="7877711" y="3990014"/>
            <a:chExt cx="998434" cy="598013"/>
          </a:xfrm>
        </p:grpSpPr>
        <p:sp>
          <p:nvSpPr>
            <p:cNvPr id="23" name="Freeform 200"/>
            <p:cNvSpPr/>
            <p:nvPr/>
          </p:nvSpPr>
          <p:spPr bwMode="gray">
            <a:xfrm>
              <a:off x="7877711" y="3990014"/>
              <a:ext cx="998434" cy="566030"/>
            </a:xfrm>
            <a:custGeom>
              <a:avLst/>
              <a:gdLst>
                <a:gd name="connsiteX0" fmla="*/ 511396 w 823780"/>
                <a:gd name="connsiteY0" fmla="*/ 0 h 467015"/>
                <a:gd name="connsiteX1" fmla="*/ 732475 w 823780"/>
                <a:gd name="connsiteY1" fmla="*/ 223125 h 467015"/>
                <a:gd name="connsiteX2" fmla="*/ 727487 w 823780"/>
                <a:gd name="connsiteY2" fmla="*/ 248058 h 467015"/>
                <a:gd name="connsiteX3" fmla="*/ 756693 w 823780"/>
                <a:gd name="connsiteY3" fmla="*/ 254009 h 467015"/>
                <a:gd name="connsiteX4" fmla="*/ 823780 w 823780"/>
                <a:gd name="connsiteY4" fmla="*/ 356156 h 467015"/>
                <a:gd name="connsiteX5" fmla="*/ 756693 w 823780"/>
                <a:gd name="connsiteY5" fmla="*/ 458303 h 467015"/>
                <a:gd name="connsiteX6" fmla="*/ 732017 w 823780"/>
                <a:gd name="connsiteY6" fmla="*/ 463331 h 467015"/>
                <a:gd name="connsiteX7" fmla="*/ 732017 w 823780"/>
                <a:gd name="connsiteY7" fmla="*/ 467014 h 467015"/>
                <a:gd name="connsiteX8" fmla="*/ 713942 w 823780"/>
                <a:gd name="connsiteY8" fmla="*/ 467014 h 467015"/>
                <a:gd name="connsiteX9" fmla="*/ 713937 w 823780"/>
                <a:gd name="connsiteY9" fmla="*/ 467015 h 467015"/>
                <a:gd name="connsiteX10" fmla="*/ 713932 w 823780"/>
                <a:gd name="connsiteY10" fmla="*/ 467014 h 467015"/>
                <a:gd name="connsiteX11" fmla="*/ 120827 w 823780"/>
                <a:gd name="connsiteY11" fmla="*/ 467014 h 467015"/>
                <a:gd name="connsiteX12" fmla="*/ 100287 w 823780"/>
                <a:gd name="connsiteY12" fmla="*/ 467014 h 467015"/>
                <a:gd name="connsiteX13" fmla="*/ 100287 w 823780"/>
                <a:gd name="connsiteY13" fmla="*/ 462829 h 467015"/>
                <a:gd name="connsiteX14" fmla="*/ 73795 w 823780"/>
                <a:gd name="connsiteY14" fmla="*/ 457431 h 467015"/>
                <a:gd name="connsiteX15" fmla="*/ 0 w 823780"/>
                <a:gd name="connsiteY15" fmla="*/ 345069 h 467015"/>
                <a:gd name="connsiteX16" fmla="*/ 73795 w 823780"/>
                <a:gd name="connsiteY16" fmla="*/ 232707 h 467015"/>
                <a:gd name="connsiteX17" fmla="*/ 81613 w 823780"/>
                <a:gd name="connsiteY17" fmla="*/ 231114 h 467015"/>
                <a:gd name="connsiteX18" fmla="*/ 94608 w 823780"/>
                <a:gd name="connsiteY18" fmla="*/ 172061 h 467015"/>
                <a:gd name="connsiteX19" fmla="*/ 250025 w 823780"/>
                <a:gd name="connsiteY19" fmla="*/ 77543 h 467015"/>
                <a:gd name="connsiteX20" fmla="*/ 315680 w 823780"/>
                <a:gd name="connsiteY20" fmla="*/ 89704 h 467015"/>
                <a:gd name="connsiteX21" fmla="*/ 332040 w 823780"/>
                <a:gd name="connsiteY21" fmla="*/ 99825 h 467015"/>
                <a:gd name="connsiteX22" fmla="*/ 355070 w 823780"/>
                <a:gd name="connsiteY22" fmla="*/ 65352 h 467015"/>
                <a:gd name="connsiteX23" fmla="*/ 511396 w 823780"/>
                <a:gd name="connsiteY23" fmla="*/ 0 h 46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23780" h="467015">
                  <a:moveTo>
                    <a:pt x="511396" y="0"/>
                  </a:moveTo>
                  <a:cubicBezTo>
                    <a:pt x="633495" y="0"/>
                    <a:pt x="732475" y="99896"/>
                    <a:pt x="732475" y="223125"/>
                  </a:cubicBezTo>
                  <a:lnTo>
                    <a:pt x="727487" y="248058"/>
                  </a:lnTo>
                  <a:lnTo>
                    <a:pt x="756693" y="254009"/>
                  </a:lnTo>
                  <a:cubicBezTo>
                    <a:pt x="796117" y="270838"/>
                    <a:pt x="823780" y="310236"/>
                    <a:pt x="823780" y="356156"/>
                  </a:cubicBezTo>
                  <a:cubicBezTo>
                    <a:pt x="823780" y="402076"/>
                    <a:pt x="796117" y="441474"/>
                    <a:pt x="756693" y="458303"/>
                  </a:cubicBezTo>
                  <a:lnTo>
                    <a:pt x="732017" y="463331"/>
                  </a:lnTo>
                  <a:lnTo>
                    <a:pt x="732017" y="467014"/>
                  </a:lnTo>
                  <a:lnTo>
                    <a:pt x="713942" y="467014"/>
                  </a:lnTo>
                  <a:lnTo>
                    <a:pt x="713937" y="467015"/>
                  </a:lnTo>
                  <a:lnTo>
                    <a:pt x="713932" y="467014"/>
                  </a:lnTo>
                  <a:lnTo>
                    <a:pt x="120827" y="467014"/>
                  </a:lnTo>
                  <a:lnTo>
                    <a:pt x="100287" y="467014"/>
                  </a:lnTo>
                  <a:lnTo>
                    <a:pt x="100287" y="462829"/>
                  </a:lnTo>
                  <a:lnTo>
                    <a:pt x="73795" y="457431"/>
                  </a:lnTo>
                  <a:cubicBezTo>
                    <a:pt x="30429" y="438919"/>
                    <a:pt x="0" y="395580"/>
                    <a:pt x="0" y="345069"/>
                  </a:cubicBezTo>
                  <a:cubicBezTo>
                    <a:pt x="0" y="294558"/>
                    <a:pt x="30429" y="251219"/>
                    <a:pt x="73795" y="232707"/>
                  </a:cubicBezTo>
                  <a:lnTo>
                    <a:pt x="81613" y="231114"/>
                  </a:lnTo>
                  <a:lnTo>
                    <a:pt x="94608" y="172061"/>
                  </a:lnTo>
                  <a:cubicBezTo>
                    <a:pt x="120214" y="116517"/>
                    <a:pt x="180159" y="77543"/>
                    <a:pt x="250025" y="77543"/>
                  </a:cubicBezTo>
                  <a:cubicBezTo>
                    <a:pt x="273314" y="77543"/>
                    <a:pt x="295500" y="81873"/>
                    <a:pt x="315680" y="89704"/>
                  </a:cubicBezTo>
                  <a:lnTo>
                    <a:pt x="332040" y="99825"/>
                  </a:lnTo>
                  <a:lnTo>
                    <a:pt x="355070" y="65352"/>
                  </a:lnTo>
                  <a:cubicBezTo>
                    <a:pt x="395077" y="24974"/>
                    <a:pt x="450347" y="0"/>
                    <a:pt x="511396" y="0"/>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2"/>
            <p:cNvSpPr txBox="1"/>
            <p:nvPr/>
          </p:nvSpPr>
          <p:spPr bwMode="gray">
            <a:xfrm>
              <a:off x="8254692" y="4208668"/>
              <a:ext cx="252995" cy="379359"/>
            </a:xfrm>
            <a:prstGeom prst="rect">
              <a:avLst/>
            </a:prstGeom>
            <a:noFill/>
          </p:spPr>
          <p:txBody>
            <a:bodyPr wrap="none" rtlCol="0">
              <a:spAutoFit/>
            </a:bodyPr>
            <a:lstStyle/>
            <a:p>
              <a:pPr algn="ctr"/>
              <a:endParaRPr lang="zh-CN" altLang="en-US" sz="12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5" name="Can 9"/>
          <p:cNvSpPr/>
          <p:nvPr/>
        </p:nvSpPr>
        <p:spPr bwMode="gray">
          <a:xfrm>
            <a:off x="2609316" y="2381479"/>
            <a:ext cx="229472" cy="980398"/>
          </a:xfrm>
          <a:prstGeom prst="can">
            <a:avLst>
              <a:gd name="adj" fmla="val 40000"/>
            </a:avLst>
          </a:prstGeom>
          <a:solidFill>
            <a:srgbClr val="FFF2CC"/>
          </a:solidFill>
          <a:ln w="12700" cap="flat" cmpd="sng" algn="ctr">
            <a:solidFill>
              <a:srgbClr val="FFD17D"/>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Can 9"/>
          <p:cNvSpPr/>
          <p:nvPr/>
        </p:nvSpPr>
        <p:spPr bwMode="gray">
          <a:xfrm rot="3683218">
            <a:off x="1879120" y="3924400"/>
            <a:ext cx="172405" cy="1485219"/>
          </a:xfrm>
          <a:prstGeom prst="can">
            <a:avLst>
              <a:gd name="adj" fmla="val 40000"/>
            </a:avLst>
          </a:prstGeom>
          <a:solidFill>
            <a:srgbClr val="BEE9EE"/>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文本框 26"/>
          <p:cNvSpPr txBox="1"/>
          <p:nvPr/>
        </p:nvSpPr>
        <p:spPr bwMode="gray">
          <a:xfrm>
            <a:off x="1568278" y="2741701"/>
            <a:ext cx="832279" cy="307777"/>
          </a:xfrm>
          <a:prstGeom prst="rect">
            <a:avLst/>
          </a:prstGeom>
          <a:noFill/>
        </p:spPr>
        <p:txBody>
          <a:bodyPr wrap="none" rtlCol="0">
            <a:spAutoFit/>
          </a:bodyPr>
          <a:lstStyle/>
          <a:p>
            <a:r>
              <a:rPr lang="en-US" altLang="zh-CN"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Can 9"/>
          <p:cNvSpPr/>
          <p:nvPr/>
        </p:nvSpPr>
        <p:spPr bwMode="gray">
          <a:xfrm rot="17905139">
            <a:off x="3420263" y="3920793"/>
            <a:ext cx="172405" cy="1485219"/>
          </a:xfrm>
          <a:prstGeom prst="can">
            <a:avLst>
              <a:gd name="adj" fmla="val 40000"/>
            </a:avLst>
          </a:prstGeom>
          <a:solidFill>
            <a:srgbClr val="BEE9EE"/>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rot="19880899">
            <a:off x="1413009" y="4318937"/>
            <a:ext cx="829073" cy="307777"/>
          </a:xfrm>
          <a:prstGeom prst="rect">
            <a:avLst/>
          </a:prstGeom>
          <a:noFill/>
        </p:spPr>
        <p:txBody>
          <a:bodyPr wrap="none" rtlCol="0">
            <a:spAutoFit/>
          </a:bodyPr>
          <a:lstStyle/>
          <a:p>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MACsec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文本框 29"/>
          <p:cNvSpPr txBox="1"/>
          <p:nvPr/>
        </p:nvSpPr>
        <p:spPr bwMode="gray">
          <a:xfrm rot="1500659">
            <a:off x="3208848" y="4318937"/>
            <a:ext cx="829073" cy="307777"/>
          </a:xfrm>
          <a:prstGeom prst="rect">
            <a:avLst/>
          </a:prstGeom>
          <a:noFill/>
        </p:spPr>
        <p:txBody>
          <a:bodyPr wrap="none" rtlCol="0">
            <a:spAutoFit/>
          </a:bodyPr>
          <a:lstStyle/>
          <a:p>
            <a:r>
              <a:rPr lang="en-US" altLang="zh-CN" sz="1400" dirty="0" err="1" smtClean="0">
                <a:latin typeface="Huawei Sans" panose="020C0503030203020204" pitchFamily="34" charset="0"/>
                <a:ea typeface="方正兰亭黑简体" panose="02000000000000000000" pitchFamily="2" charset="-122"/>
                <a:sym typeface="Huawei Sans" panose="020C0503030203020204" pitchFamily="34" charset="0"/>
              </a:rPr>
              <a:t>MACsec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文本框 30"/>
          <p:cNvSpPr txBox="1"/>
          <p:nvPr/>
        </p:nvSpPr>
        <p:spPr bwMode="gray">
          <a:xfrm rot="5400000">
            <a:off x="2418521" y="2733156"/>
            <a:ext cx="611065"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IPsec</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圆角矩形 75"/>
          <p:cNvSpPr/>
          <p:nvPr/>
        </p:nvSpPr>
        <p:spPr bwMode="gray">
          <a:xfrm>
            <a:off x="5161777" y="1071226"/>
            <a:ext cx="6258064" cy="360000"/>
          </a:xfrm>
          <a:prstGeom prst="roundRect">
            <a:avLst>
              <a:gd name="adj" fmla="val 10604"/>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zh-CN" altLang="en-US" sz="160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背景</a:t>
            </a:r>
            <a:endParaRPr lang="zh-CN" altLang="en-US" sz="16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圆角矩形 75"/>
          <p:cNvSpPr/>
          <p:nvPr/>
        </p:nvSpPr>
        <p:spPr bwMode="gray">
          <a:xfrm>
            <a:off x="5161777" y="1475185"/>
            <a:ext cx="6258064" cy="755552"/>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400"/>
              </a:lnSpc>
            </a:pP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绝大部分</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数据在局域网链路中都是以明文形式传输的</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，在某些安全性要求较高的场景下存在安全隐患。</a:t>
            </a:r>
            <a:endPar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82563" indent="-182563">
              <a:lnSpc>
                <a:spcPts val="2400"/>
              </a:lnSpc>
              <a:buFont typeface="+mj-lt"/>
              <a:buAutoNum type="arabicPeriod"/>
            </a:pPr>
            <a:endPar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34" name="圆角矩形 75"/>
          <p:cNvSpPr/>
          <p:nvPr/>
        </p:nvSpPr>
        <p:spPr bwMode="gray">
          <a:xfrm>
            <a:off x="5161777" y="2308895"/>
            <a:ext cx="6258064" cy="360000"/>
          </a:xfrm>
          <a:prstGeom prst="roundRect">
            <a:avLst>
              <a:gd name="adj" fmla="val 10604"/>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en-US" altLang="zh-CN" sz="1600" dirty="0" err="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MACsec</a:t>
            </a:r>
            <a:r>
              <a:rPr lang="zh-CN" altLang="en-US"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概述</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圆角矩形 75"/>
          <p:cNvSpPr/>
          <p:nvPr/>
        </p:nvSpPr>
        <p:spPr bwMode="gray">
          <a:xfrm>
            <a:off x="5161777" y="2712853"/>
            <a:ext cx="6258064" cy="1712547"/>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400"/>
              </a:lnSpc>
            </a:pPr>
            <a:r>
              <a:rPr lang="en-US" altLang="zh-CN" sz="1400" dirty="0" err="1"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MACsec</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定义</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了</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基于以太网的</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数据安全通信的方法，通过逐跳设备之间数据加密，保证数据传输安全性</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，对应的标准为</a:t>
            </a:r>
            <a:r>
              <a:rPr lang="en-US" altLang="zh-CN"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802.1AE</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p>
        </p:txBody>
      </p:sp>
      <p:sp>
        <p:nvSpPr>
          <p:cNvPr id="36" name="圆角矩形 35"/>
          <p:cNvSpPr/>
          <p:nvPr/>
        </p:nvSpPr>
        <p:spPr bwMode="gray">
          <a:xfrm>
            <a:off x="5315905" y="3796589"/>
            <a:ext cx="1347330" cy="355691"/>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数据帧完整性检查</a:t>
            </a:r>
          </a:p>
        </p:txBody>
      </p:sp>
      <p:sp>
        <p:nvSpPr>
          <p:cNvPr id="37" name="圆角矩形 36"/>
          <p:cNvSpPr/>
          <p:nvPr/>
        </p:nvSpPr>
        <p:spPr bwMode="gray">
          <a:xfrm>
            <a:off x="6851818" y="3796589"/>
            <a:ext cx="1347330" cy="355691"/>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用户数据加密</a:t>
            </a:r>
          </a:p>
        </p:txBody>
      </p:sp>
      <p:sp>
        <p:nvSpPr>
          <p:cNvPr id="38" name="圆角矩形 37"/>
          <p:cNvSpPr/>
          <p:nvPr/>
        </p:nvSpPr>
        <p:spPr bwMode="gray">
          <a:xfrm>
            <a:off x="8387731" y="3796589"/>
            <a:ext cx="1347330" cy="355691"/>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数据源真实性校验</a:t>
            </a:r>
          </a:p>
        </p:txBody>
      </p:sp>
      <p:sp>
        <p:nvSpPr>
          <p:cNvPr id="39" name="圆角矩形 38"/>
          <p:cNvSpPr/>
          <p:nvPr/>
        </p:nvSpPr>
        <p:spPr bwMode="gray">
          <a:xfrm>
            <a:off x="9923645" y="3796589"/>
            <a:ext cx="1347330" cy="355691"/>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zh-CN" altLang="en-US" sz="1200" kern="0">
                <a:latin typeface="Huawei Sans" panose="020C0503030203020204" pitchFamily="34" charset="0"/>
                <a:ea typeface="方正兰亭黑简体" panose="02000000000000000000" pitchFamily="2" charset="-122"/>
                <a:sym typeface="Huawei Sans" panose="020C0503030203020204" pitchFamily="34" charset="0"/>
              </a:rPr>
              <a:t>重放保护</a:t>
            </a:r>
          </a:p>
        </p:txBody>
      </p:sp>
      <p:sp>
        <p:nvSpPr>
          <p:cNvPr id="40" name="圆角矩形 75"/>
          <p:cNvSpPr/>
          <p:nvPr/>
        </p:nvSpPr>
        <p:spPr bwMode="gray">
          <a:xfrm>
            <a:off x="5161777" y="4515525"/>
            <a:ext cx="6258064" cy="360000"/>
          </a:xfrm>
          <a:prstGeom prst="roundRect">
            <a:avLst>
              <a:gd name="adj" fmla="val 10604"/>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defTabSz="914478"/>
            <a:r>
              <a:rPr lang="zh-CN" altLang="en-US" sz="160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典型应用场景</a:t>
            </a:r>
            <a:endParaRPr lang="zh-CN" altLang="en-US" sz="160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圆角矩形 75"/>
          <p:cNvSpPr/>
          <p:nvPr/>
        </p:nvSpPr>
        <p:spPr bwMode="gray">
          <a:xfrm>
            <a:off x="5161777" y="4919483"/>
            <a:ext cx="6258064" cy="1230043"/>
          </a:xfrm>
          <a:prstGeom prst="roundRect">
            <a:avLst>
              <a:gd name="adj" fmla="val 3921"/>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285750" indent="-285750">
              <a:lnSpc>
                <a:spcPts val="2400"/>
              </a:lnSpc>
              <a:buFont typeface="Arial" panose="020B0604020202020204" pitchFamily="34" charset="0"/>
              <a:buChar char="•"/>
            </a:pP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在交换机之间部署</a:t>
            </a:r>
            <a:r>
              <a:rPr lang="en-US" altLang="zh-CN"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MACsec</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保护数据安全，例如在接入交换机与上联的汇聚或核心交换机之间部署</a:t>
            </a:r>
            <a:r>
              <a:rPr lang="en-US" altLang="zh-CN"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 </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285750" indent="-285750">
              <a:lnSpc>
                <a:spcPts val="2400"/>
              </a:lnSpc>
              <a:buFont typeface="Arial" panose="020B0604020202020204" pitchFamily="34" charset="0"/>
              <a:buChar char="•"/>
            </a:pP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当交换机之间存在传输设备时可部署</a:t>
            </a:r>
            <a:r>
              <a:rPr lang="en-US" altLang="zh-CN"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MACsec</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保护数据安全。</a:t>
            </a: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66671082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smtClean="0">
                <a:sym typeface="Huawei Sans" panose="020C0503030203020204" pitchFamily="34" charset="0"/>
              </a:rPr>
              <a:t>MACsec</a:t>
            </a:r>
            <a:r>
              <a:rPr lang="zh-CN" altLang="en-US" smtClean="0">
                <a:sym typeface="Huawei Sans" panose="020C0503030203020204" pitchFamily="34" charset="0"/>
              </a:rPr>
              <a:t>工作机制</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smtClean="0">
                <a:sym typeface="Huawei Sans" panose="020C0503030203020204" pitchFamily="34" charset="0"/>
              </a:rPr>
              <a:t>在设备运行点到点</a:t>
            </a:r>
            <a:r>
              <a:rPr lang="en-US" altLang="zh-CN" sz="1600" smtClean="0">
                <a:sym typeface="Huawei Sans" panose="020C0503030203020204" pitchFamily="34" charset="0"/>
              </a:rPr>
              <a:t>MACsec</a:t>
            </a:r>
            <a:r>
              <a:rPr lang="zh-CN" altLang="en-US" sz="1600" smtClean="0">
                <a:sym typeface="Huawei Sans" panose="020C0503030203020204" pitchFamily="34" charset="0"/>
              </a:rPr>
              <a:t>时，网络管理员在两台设备上通过命令行预配置相同的</a:t>
            </a:r>
            <a:r>
              <a:rPr lang="en-US" altLang="zh-CN" sz="1600" smtClean="0">
                <a:sym typeface="Huawei Sans" panose="020C0503030203020204" pitchFamily="34" charset="0"/>
              </a:rPr>
              <a:t>CAK</a:t>
            </a:r>
            <a:r>
              <a:rPr lang="zh-CN" altLang="en-US" sz="1600" smtClean="0">
                <a:sym typeface="Huawei Sans" panose="020C0503030203020204" pitchFamily="34" charset="0"/>
              </a:rPr>
              <a:t>，两台设备会通过</a:t>
            </a:r>
            <a:r>
              <a:rPr lang="en-US" altLang="zh-CN" sz="1600" smtClean="0">
                <a:sym typeface="Huawei Sans" panose="020C0503030203020204" pitchFamily="34" charset="0"/>
              </a:rPr>
              <a:t>MKA</a:t>
            </a:r>
            <a:r>
              <a:rPr lang="zh-CN" altLang="en-US" sz="1600" smtClean="0">
                <a:sym typeface="Huawei Sans" panose="020C0503030203020204" pitchFamily="34" charset="0"/>
              </a:rPr>
              <a:t>协议选举出一个</a:t>
            </a:r>
            <a:r>
              <a:rPr lang="en-US" altLang="zh-CN" sz="1600" smtClean="0">
                <a:sym typeface="Huawei Sans" panose="020C0503030203020204" pitchFamily="34" charset="0"/>
              </a:rPr>
              <a:t>Key Server</a:t>
            </a:r>
            <a:r>
              <a:rPr lang="zh-CN" altLang="en-US" sz="1600" smtClean="0">
                <a:sym typeface="Huawei Sans" panose="020C0503030203020204" pitchFamily="34" charset="0"/>
              </a:rPr>
              <a:t>，</a:t>
            </a:r>
            <a:r>
              <a:rPr lang="en-US" altLang="zh-CN" sz="1600" smtClean="0">
                <a:sym typeface="Huawei Sans" panose="020C0503030203020204" pitchFamily="34" charset="0"/>
              </a:rPr>
              <a:t>Key Server</a:t>
            </a:r>
            <a:r>
              <a:rPr lang="zh-CN" altLang="en-US" sz="1600" smtClean="0">
                <a:sym typeface="Huawei Sans" panose="020C0503030203020204" pitchFamily="34" charset="0"/>
              </a:rPr>
              <a:t>决定加密方案，</a:t>
            </a:r>
            <a:r>
              <a:rPr lang="en-US" altLang="zh-CN" sz="1600" smtClean="0">
                <a:sym typeface="Huawei Sans" panose="020C0503030203020204" pitchFamily="34" charset="0"/>
              </a:rPr>
              <a:t>Key Server</a:t>
            </a:r>
            <a:r>
              <a:rPr lang="zh-CN" altLang="en-US" sz="1600" smtClean="0">
                <a:sym typeface="Huawei Sans" panose="020C0503030203020204" pitchFamily="34" charset="0"/>
              </a:rPr>
              <a:t>会根据</a:t>
            </a:r>
            <a:r>
              <a:rPr lang="en-US" altLang="zh-CN" sz="1600" smtClean="0">
                <a:sym typeface="Huawei Sans" panose="020C0503030203020204" pitchFamily="34" charset="0"/>
              </a:rPr>
              <a:t>CAK</a:t>
            </a:r>
            <a:r>
              <a:rPr lang="zh-CN" altLang="en-US" sz="1600" smtClean="0">
                <a:sym typeface="Huawei Sans" panose="020C0503030203020204" pitchFamily="34" charset="0"/>
              </a:rPr>
              <a:t>等参数使用某种加密算法生成</a:t>
            </a:r>
            <a:r>
              <a:rPr lang="en-US" altLang="zh-CN" sz="1600" smtClean="0">
                <a:sym typeface="Huawei Sans" panose="020C0503030203020204" pitchFamily="34" charset="0"/>
              </a:rPr>
              <a:t>SAK</a:t>
            </a:r>
            <a:r>
              <a:rPr lang="zh-CN" altLang="en-US" sz="1600" smtClean="0">
                <a:sym typeface="Huawei Sans" panose="020C0503030203020204" pitchFamily="34" charset="0"/>
              </a:rPr>
              <a:t>数据密钥，由</a:t>
            </a:r>
            <a:r>
              <a:rPr lang="en-US" altLang="zh-CN" sz="1600" smtClean="0">
                <a:sym typeface="Huawei Sans" panose="020C0503030203020204" pitchFamily="34" charset="0"/>
              </a:rPr>
              <a:t>Key Server</a:t>
            </a:r>
            <a:r>
              <a:rPr lang="zh-CN" altLang="en-US" sz="1600" smtClean="0">
                <a:sym typeface="Huawei Sans" panose="020C0503030203020204" pitchFamily="34" charset="0"/>
              </a:rPr>
              <a:t>将</a:t>
            </a:r>
            <a:r>
              <a:rPr lang="en-US" altLang="zh-CN" sz="1600" smtClean="0">
                <a:sym typeface="Huawei Sans" panose="020C0503030203020204" pitchFamily="34" charset="0"/>
              </a:rPr>
              <a:t>SAK</a:t>
            </a:r>
            <a:r>
              <a:rPr lang="zh-CN" altLang="en-US" sz="1600" smtClean="0">
                <a:sym typeface="Huawei Sans" panose="020C0503030203020204" pitchFamily="34" charset="0"/>
              </a:rPr>
              <a:t>分发给对端设备，这样两台设备拥有相同的</a:t>
            </a:r>
            <a:r>
              <a:rPr lang="en-US" altLang="zh-CN" sz="1600" smtClean="0">
                <a:sym typeface="Huawei Sans" panose="020C0503030203020204" pitchFamily="34" charset="0"/>
              </a:rPr>
              <a:t>SAK</a:t>
            </a:r>
            <a:r>
              <a:rPr lang="zh-CN" altLang="en-US" sz="1600" smtClean="0">
                <a:sym typeface="Huawei Sans" panose="020C0503030203020204" pitchFamily="34" charset="0"/>
              </a:rPr>
              <a:t>数据密钥，可以进行后续</a:t>
            </a:r>
            <a:r>
              <a:rPr lang="en-US" altLang="zh-CN" sz="1600" smtClean="0">
                <a:sym typeface="Huawei Sans" panose="020C0503030203020204" pitchFamily="34" charset="0"/>
              </a:rPr>
              <a:t>MACsec</a:t>
            </a:r>
            <a:r>
              <a:rPr lang="zh-CN" altLang="en-US" sz="1600" smtClean="0">
                <a:sym typeface="Huawei Sans" panose="020C0503030203020204" pitchFamily="34" charset="0"/>
              </a:rPr>
              <a:t>数据报文加解密收发。</a:t>
            </a:r>
            <a:endParaRPr lang="zh-CN" altLang="en-US" sz="1600" dirty="0">
              <a:sym typeface="Huawei Sans" panose="020C0503030203020204" pitchFamily="34" charset="0"/>
            </a:endParaRPr>
          </a:p>
        </p:txBody>
      </p:sp>
      <p:pic>
        <p:nvPicPr>
          <p:cNvPr id="7" name="图片 6"/>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7575539" y="2523687"/>
            <a:ext cx="540000" cy="442800"/>
          </a:xfrm>
          <a:prstGeom prst="rect">
            <a:avLst/>
          </a:prstGeom>
        </p:spPr>
      </p:pic>
      <p:pic>
        <p:nvPicPr>
          <p:cNvPr id="8" name="图片 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787537" y="2523687"/>
            <a:ext cx="540000" cy="442800"/>
          </a:xfrm>
          <a:prstGeom prst="rect">
            <a:avLst/>
          </a:prstGeom>
        </p:spPr>
      </p:pic>
      <p:cxnSp>
        <p:nvCxnSpPr>
          <p:cNvPr id="10" name="直接连接符 9"/>
          <p:cNvCxnSpPr>
            <a:stCxn id="8" idx="3"/>
            <a:endCxn id="7" idx="1"/>
          </p:cNvCxnSpPr>
          <p:nvPr/>
        </p:nvCxnSpPr>
        <p:spPr bwMode="gray">
          <a:xfrm>
            <a:off x="4327537" y="2745087"/>
            <a:ext cx="3248002"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flipH="1">
            <a:off x="4050649" y="2966487"/>
            <a:ext cx="3444" cy="2835102"/>
          </a:xfrm>
          <a:prstGeom prst="line">
            <a:avLst/>
          </a:prstGeom>
          <a:ln w="19050">
            <a:solidFill>
              <a:srgbClr val="EC7061"/>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bwMode="gray">
          <a:xfrm flipH="1">
            <a:off x="7845539" y="2966487"/>
            <a:ext cx="3444" cy="2835102"/>
          </a:xfrm>
          <a:prstGeom prst="line">
            <a:avLst/>
          </a:prstGeom>
          <a:ln w="19050">
            <a:solidFill>
              <a:srgbClr val="EC7061"/>
            </a:solidFill>
            <a:prstDash val="dash"/>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bwMode="gray">
          <a:xfrm>
            <a:off x="5102910" y="3220992"/>
            <a:ext cx="1842171"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预配置</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CAK</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CAK</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获取</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15" name="文本框 14"/>
          <p:cNvSpPr txBox="1"/>
          <p:nvPr/>
        </p:nvSpPr>
        <p:spPr bwMode="gray">
          <a:xfrm>
            <a:off x="4771995" y="4182411"/>
            <a:ext cx="2646878"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MKA</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秘钥协商（产生数据秘钥</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SAK</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4662990" y="5143830"/>
            <a:ext cx="2864887" cy="276999"/>
          </a:xfrm>
          <a:prstGeom prst="rect">
            <a:avLst/>
          </a:prstGeom>
          <a:noFill/>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MACsec</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数据加解密（用</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SAK</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加密数据</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a:t>
            </a:r>
          </a:p>
        </p:txBody>
      </p:sp>
      <p:cxnSp>
        <p:nvCxnSpPr>
          <p:cNvPr id="18" name="直接箭头连接符 17"/>
          <p:cNvCxnSpPr/>
          <p:nvPr/>
        </p:nvCxnSpPr>
        <p:spPr bwMode="gray">
          <a:xfrm>
            <a:off x="4057537" y="4459410"/>
            <a:ext cx="3788002" cy="0"/>
          </a:xfrm>
          <a:prstGeom prst="straightConnector1">
            <a:avLst/>
          </a:prstGeom>
          <a:ln w="19050">
            <a:solidFill>
              <a:srgbClr val="56C4D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bwMode="gray">
          <a:xfrm>
            <a:off x="4050635" y="5420829"/>
            <a:ext cx="3788002" cy="0"/>
          </a:xfrm>
          <a:prstGeom prst="straightConnector1">
            <a:avLst/>
          </a:prstGeom>
          <a:ln w="19050">
            <a:solidFill>
              <a:srgbClr val="56C4D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a:stCxn id="14" idx="1"/>
          </p:cNvCxnSpPr>
          <p:nvPr/>
        </p:nvCxnSpPr>
        <p:spPr bwMode="gray">
          <a:xfrm flipH="1">
            <a:off x="4054094" y="3359492"/>
            <a:ext cx="1048816" cy="334165"/>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4" idx="3"/>
          </p:cNvCxnSpPr>
          <p:nvPr/>
        </p:nvCxnSpPr>
        <p:spPr bwMode="gray">
          <a:xfrm>
            <a:off x="6945081" y="3359492"/>
            <a:ext cx="900458" cy="334165"/>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bwMode="gray">
          <a:xfrm>
            <a:off x="3110108" y="2955240"/>
            <a:ext cx="954107"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接入交换机</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7838637" y="2963386"/>
            <a:ext cx="954107"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汇聚交换机</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Oval 4"/>
          <p:cNvSpPr>
            <a:spLocks noChangeAspect="1"/>
          </p:cNvSpPr>
          <p:nvPr/>
        </p:nvSpPr>
        <p:spPr bwMode="gray">
          <a:xfrm>
            <a:off x="4938856" y="3230673"/>
            <a:ext cx="252000" cy="252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Oval 4"/>
          <p:cNvSpPr>
            <a:spLocks noChangeAspect="1"/>
          </p:cNvSpPr>
          <p:nvPr/>
        </p:nvSpPr>
        <p:spPr bwMode="gray">
          <a:xfrm>
            <a:off x="4598121" y="4179243"/>
            <a:ext cx="252000" cy="252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Oval 4"/>
          <p:cNvSpPr>
            <a:spLocks noChangeAspect="1"/>
          </p:cNvSpPr>
          <p:nvPr/>
        </p:nvSpPr>
        <p:spPr bwMode="gray">
          <a:xfrm>
            <a:off x="4425291" y="5156329"/>
            <a:ext cx="252000" cy="252000"/>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31" name="组合 30"/>
          <p:cNvGrpSpPr/>
          <p:nvPr/>
        </p:nvGrpSpPr>
        <p:grpSpPr bwMode="gray">
          <a:xfrm>
            <a:off x="7911008" y="3963173"/>
            <a:ext cx="2148840" cy="936140"/>
            <a:chOff x="8072780" y="4427630"/>
            <a:chExt cx="2148840" cy="936140"/>
          </a:xfrm>
          <a:solidFill>
            <a:srgbClr val="94DAE2"/>
          </a:solidFill>
        </p:grpSpPr>
        <p:sp>
          <p:nvSpPr>
            <p:cNvPr id="30" name="任意多边形 29"/>
            <p:cNvSpPr/>
            <p:nvPr/>
          </p:nvSpPr>
          <p:spPr bwMode="gray">
            <a:xfrm>
              <a:off x="8072780" y="4427630"/>
              <a:ext cx="2148840" cy="936140"/>
            </a:xfrm>
            <a:custGeom>
              <a:avLst/>
              <a:gdLst>
                <a:gd name="connsiteX0" fmla="*/ 0 w 2702560"/>
                <a:gd name="connsiteY0" fmla="*/ 472440 h 751840"/>
                <a:gd name="connsiteX1" fmla="*/ 807720 w 2702560"/>
                <a:gd name="connsiteY1" fmla="*/ 0 h 751840"/>
                <a:gd name="connsiteX2" fmla="*/ 2702560 w 2702560"/>
                <a:gd name="connsiteY2" fmla="*/ 0 h 751840"/>
                <a:gd name="connsiteX3" fmla="*/ 2702560 w 2702560"/>
                <a:gd name="connsiteY3" fmla="*/ 751840 h 751840"/>
                <a:gd name="connsiteX4" fmla="*/ 843280 w 2702560"/>
                <a:gd name="connsiteY4" fmla="*/ 751840 h 751840"/>
                <a:gd name="connsiteX5" fmla="*/ 0 w 2702560"/>
                <a:gd name="connsiteY5" fmla="*/ 472440 h 751840"/>
                <a:gd name="connsiteX0" fmla="*/ 0 w 2702560"/>
                <a:gd name="connsiteY0" fmla="*/ 417407 h 751840"/>
                <a:gd name="connsiteX1" fmla="*/ 807720 w 2702560"/>
                <a:gd name="connsiteY1" fmla="*/ 0 h 751840"/>
                <a:gd name="connsiteX2" fmla="*/ 2702560 w 2702560"/>
                <a:gd name="connsiteY2" fmla="*/ 0 h 751840"/>
                <a:gd name="connsiteX3" fmla="*/ 2702560 w 2702560"/>
                <a:gd name="connsiteY3" fmla="*/ 751840 h 751840"/>
                <a:gd name="connsiteX4" fmla="*/ 843280 w 2702560"/>
                <a:gd name="connsiteY4" fmla="*/ 751840 h 751840"/>
                <a:gd name="connsiteX5" fmla="*/ 0 w 2702560"/>
                <a:gd name="connsiteY5" fmla="*/ 417407 h 751840"/>
                <a:gd name="connsiteX0" fmla="*/ 0 w 2291080"/>
                <a:gd name="connsiteY0" fmla="*/ 380688 h 751840"/>
                <a:gd name="connsiteX1" fmla="*/ 396240 w 2291080"/>
                <a:gd name="connsiteY1" fmla="*/ 0 h 751840"/>
                <a:gd name="connsiteX2" fmla="*/ 2291080 w 2291080"/>
                <a:gd name="connsiteY2" fmla="*/ 0 h 751840"/>
                <a:gd name="connsiteX3" fmla="*/ 2291080 w 2291080"/>
                <a:gd name="connsiteY3" fmla="*/ 751840 h 751840"/>
                <a:gd name="connsiteX4" fmla="*/ 431800 w 2291080"/>
                <a:gd name="connsiteY4" fmla="*/ 751840 h 751840"/>
                <a:gd name="connsiteX5" fmla="*/ 0 w 2291080"/>
                <a:gd name="connsiteY5" fmla="*/ 380688 h 751840"/>
                <a:gd name="connsiteX0" fmla="*/ 0 w 2291080"/>
                <a:gd name="connsiteY0" fmla="*/ 401088 h 751840"/>
                <a:gd name="connsiteX1" fmla="*/ 396240 w 2291080"/>
                <a:gd name="connsiteY1" fmla="*/ 0 h 751840"/>
                <a:gd name="connsiteX2" fmla="*/ 2291080 w 2291080"/>
                <a:gd name="connsiteY2" fmla="*/ 0 h 751840"/>
                <a:gd name="connsiteX3" fmla="*/ 2291080 w 2291080"/>
                <a:gd name="connsiteY3" fmla="*/ 751840 h 751840"/>
                <a:gd name="connsiteX4" fmla="*/ 431800 w 2291080"/>
                <a:gd name="connsiteY4" fmla="*/ 751840 h 751840"/>
                <a:gd name="connsiteX5" fmla="*/ 0 w 2291080"/>
                <a:gd name="connsiteY5" fmla="*/ 401088 h 751840"/>
                <a:gd name="connsiteX0" fmla="*/ 0 w 2148840"/>
                <a:gd name="connsiteY0" fmla="*/ 401088 h 751840"/>
                <a:gd name="connsiteX1" fmla="*/ 254000 w 2148840"/>
                <a:gd name="connsiteY1" fmla="*/ 0 h 751840"/>
                <a:gd name="connsiteX2" fmla="*/ 2148840 w 2148840"/>
                <a:gd name="connsiteY2" fmla="*/ 0 h 751840"/>
                <a:gd name="connsiteX3" fmla="*/ 2148840 w 2148840"/>
                <a:gd name="connsiteY3" fmla="*/ 751840 h 751840"/>
                <a:gd name="connsiteX4" fmla="*/ 289560 w 2148840"/>
                <a:gd name="connsiteY4" fmla="*/ 751840 h 751840"/>
                <a:gd name="connsiteX5" fmla="*/ 0 w 2148840"/>
                <a:gd name="connsiteY5" fmla="*/ 401088 h 751840"/>
                <a:gd name="connsiteX0" fmla="*/ 0 w 2148840"/>
                <a:gd name="connsiteY0" fmla="*/ 372528 h 751840"/>
                <a:gd name="connsiteX1" fmla="*/ 254000 w 2148840"/>
                <a:gd name="connsiteY1" fmla="*/ 0 h 751840"/>
                <a:gd name="connsiteX2" fmla="*/ 2148840 w 2148840"/>
                <a:gd name="connsiteY2" fmla="*/ 0 h 751840"/>
                <a:gd name="connsiteX3" fmla="*/ 2148840 w 2148840"/>
                <a:gd name="connsiteY3" fmla="*/ 751840 h 751840"/>
                <a:gd name="connsiteX4" fmla="*/ 289560 w 2148840"/>
                <a:gd name="connsiteY4" fmla="*/ 751840 h 751840"/>
                <a:gd name="connsiteX5" fmla="*/ 0 w 2148840"/>
                <a:gd name="connsiteY5" fmla="*/ 372528 h 751840"/>
                <a:gd name="connsiteX0" fmla="*/ 0 w 2148840"/>
                <a:gd name="connsiteY0" fmla="*/ 388848 h 751840"/>
                <a:gd name="connsiteX1" fmla="*/ 254000 w 2148840"/>
                <a:gd name="connsiteY1" fmla="*/ 0 h 751840"/>
                <a:gd name="connsiteX2" fmla="*/ 2148840 w 2148840"/>
                <a:gd name="connsiteY2" fmla="*/ 0 h 751840"/>
                <a:gd name="connsiteX3" fmla="*/ 2148840 w 2148840"/>
                <a:gd name="connsiteY3" fmla="*/ 751840 h 751840"/>
                <a:gd name="connsiteX4" fmla="*/ 289560 w 2148840"/>
                <a:gd name="connsiteY4" fmla="*/ 751840 h 751840"/>
                <a:gd name="connsiteX5" fmla="*/ 0 w 2148840"/>
                <a:gd name="connsiteY5" fmla="*/ 388848 h 751840"/>
                <a:gd name="connsiteX0" fmla="*/ 0 w 2148840"/>
                <a:gd name="connsiteY0" fmla="*/ 401088 h 751840"/>
                <a:gd name="connsiteX1" fmla="*/ 254000 w 2148840"/>
                <a:gd name="connsiteY1" fmla="*/ 0 h 751840"/>
                <a:gd name="connsiteX2" fmla="*/ 2148840 w 2148840"/>
                <a:gd name="connsiteY2" fmla="*/ 0 h 751840"/>
                <a:gd name="connsiteX3" fmla="*/ 2148840 w 2148840"/>
                <a:gd name="connsiteY3" fmla="*/ 751840 h 751840"/>
                <a:gd name="connsiteX4" fmla="*/ 289560 w 2148840"/>
                <a:gd name="connsiteY4" fmla="*/ 751840 h 751840"/>
                <a:gd name="connsiteX5" fmla="*/ 0 w 2148840"/>
                <a:gd name="connsiteY5" fmla="*/ 401088 h 751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48840" h="751840">
                  <a:moveTo>
                    <a:pt x="0" y="401088"/>
                  </a:moveTo>
                  <a:lnTo>
                    <a:pt x="254000" y="0"/>
                  </a:lnTo>
                  <a:lnTo>
                    <a:pt x="2148840" y="0"/>
                  </a:lnTo>
                  <a:lnTo>
                    <a:pt x="2148840" y="751840"/>
                  </a:lnTo>
                  <a:lnTo>
                    <a:pt x="289560" y="751840"/>
                  </a:lnTo>
                  <a:lnTo>
                    <a:pt x="0" y="401088"/>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8264050" y="4427630"/>
              <a:ext cx="1731564" cy="923330"/>
            </a:xfrm>
            <a:prstGeom prst="rect">
              <a:avLst/>
            </a:prstGeom>
            <a:grpFill/>
          </p:spPr>
          <p:txBody>
            <a:bodyPr wrap="none" rtlCol="0">
              <a:spAutoFit/>
            </a:bodyPr>
            <a:lstStyle/>
            <a:p>
              <a:pPr marL="342900" indent="-342900">
                <a:lnSpc>
                  <a:spcPct val="150000"/>
                </a:lnSpc>
                <a:buFont typeface="+mj-lt"/>
                <a:buAutoNum type="arabicPeriod"/>
              </a:pP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选举</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Key Server</a:t>
              </a:r>
            </a:p>
            <a:p>
              <a:pPr marL="342900" indent="-342900">
                <a:lnSpc>
                  <a:spcPct val="150000"/>
                </a:lnSpc>
                <a:buFont typeface="+mj-lt"/>
                <a:buAutoNum type="arabicPeriod"/>
              </a:pP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生产数据秘钥</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SAK</a:t>
              </a:r>
            </a:p>
            <a:p>
              <a:pPr marL="342900" indent="-342900">
                <a:lnSpc>
                  <a:spcPct val="150000"/>
                </a:lnSpc>
                <a:buFont typeface="+mj-lt"/>
                <a:buAutoNum type="arabicPeriod"/>
              </a:pP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发送</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SAK</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给对端</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Tree>
    <p:extLst>
      <p:ext uri="{BB962C8B-B14F-4D97-AF65-F5344CB8AC3E}">
        <p14:creationId xmlns:p14="http://schemas.microsoft.com/office/powerpoint/2010/main" val="219756233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b="1" dirty="0" smtClean="0">
                <a:sym typeface="Huawei Sans" panose="020C0503030203020204" pitchFamily="34" charset="0"/>
              </a:rPr>
              <a:t>以太网交换安全</a:t>
            </a:r>
            <a:endParaRPr lang="en-US" altLang="zh-CN" sz="1800" b="1" dirty="0" smtClean="0">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端口隔离</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地址表安全</a:t>
            </a:r>
            <a:endParaRPr lang="en-US" altLang="zh-CN" sz="1600" dirty="0">
              <a:solidFill>
                <a:schemeClr val="bg1">
                  <a:lumMod val="50000"/>
                </a:schemeClr>
              </a:solidFill>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端口安全</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地址漂移防止与检测</a:t>
            </a:r>
            <a:endParaRPr lang="en-US" altLang="zh-CN" sz="1600" dirty="0">
              <a:solidFill>
                <a:schemeClr val="bg1">
                  <a:lumMod val="50000"/>
                </a:schemeClr>
              </a:solidFill>
              <a:sym typeface="Huawei Sans" panose="020C0503030203020204" pitchFamily="34" charset="0"/>
            </a:endParaRPr>
          </a:p>
          <a:p>
            <a:pPr lvl="1"/>
            <a:r>
              <a:rPr lang="en-US" altLang="zh-CN" sz="1600" dirty="0" err="1">
                <a:solidFill>
                  <a:schemeClr val="bg1">
                    <a:lumMod val="50000"/>
                  </a:schemeClr>
                </a:solidFill>
                <a:sym typeface="Huawei Sans" panose="020C0503030203020204" pitchFamily="34" charset="0"/>
              </a:rPr>
              <a:t>MACsec</a:t>
            </a:r>
            <a:endParaRPr lang="en-US" altLang="zh-CN" sz="16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sz="1600" dirty="0">
                <a:sym typeface="Huawei Sans" panose="020C0503030203020204" pitchFamily="34" charset="0"/>
              </a:rPr>
              <a:t>交换机流量控制</a:t>
            </a:r>
            <a:endParaRPr lang="en-US" altLang="zh-CN" sz="1600" dirty="0">
              <a:sym typeface="Huawei Sans" panose="020C0503030203020204" pitchFamily="34" charset="0"/>
            </a:endParaRPr>
          </a:p>
          <a:p>
            <a:pPr lvl="1"/>
            <a:r>
              <a:rPr lang="en-US" altLang="zh-CN" sz="1600" dirty="0" smtClean="0">
                <a:solidFill>
                  <a:schemeClr val="bg1">
                    <a:lumMod val="50000"/>
                  </a:schemeClr>
                </a:solidFill>
                <a:sym typeface="Huawei Sans" panose="020C0503030203020204" pitchFamily="34" charset="0"/>
              </a:rPr>
              <a:t>DHCP Snooping</a:t>
            </a:r>
          </a:p>
          <a:p>
            <a:pPr lvl="1"/>
            <a:r>
              <a:rPr lang="en-US" altLang="zh-CN" sz="1600" dirty="0" smtClean="0">
                <a:solidFill>
                  <a:schemeClr val="bg1">
                    <a:lumMod val="50000"/>
                  </a:schemeClr>
                </a:solidFill>
                <a:sym typeface="Huawei Sans" panose="020C0503030203020204" pitchFamily="34" charset="0"/>
              </a:rPr>
              <a:t>IP Source Guard</a:t>
            </a:r>
          </a:p>
          <a:p>
            <a:r>
              <a:rPr lang="zh-CN" altLang="en-US" sz="1800" dirty="0" smtClean="0">
                <a:solidFill>
                  <a:schemeClr val="bg1">
                    <a:lumMod val="50000"/>
                  </a:schemeClr>
                </a:solidFill>
                <a:sym typeface="Huawei Sans" panose="020C0503030203020204" pitchFamily="34" charset="0"/>
              </a:rPr>
              <a:t>防火墙高级特性</a:t>
            </a:r>
            <a:endParaRPr lang="zh-CN" altLang="en-US"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17287500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圆角矩形 60"/>
          <p:cNvSpPr/>
          <p:nvPr/>
        </p:nvSpPr>
        <p:spPr bwMode="gray">
          <a:xfrm>
            <a:off x="871171" y="4183277"/>
            <a:ext cx="4318000" cy="1087904"/>
          </a:xfrm>
          <a:prstGeom prst="roundRect">
            <a:avLst/>
          </a:prstGeom>
          <a:solidFill>
            <a:srgbClr val="94DAE2"/>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流量抑制概述</a:t>
            </a:r>
            <a:endParaRPr lang="zh-CN" altLang="en-US" dirty="0">
              <a:sym typeface="Huawei Sans" panose="020C0503030203020204" pitchFamily="34" charset="0"/>
            </a:endParaRPr>
          </a:p>
        </p:txBody>
      </p:sp>
      <p:sp>
        <p:nvSpPr>
          <p:cNvPr id="69" name="文本占位符 68"/>
          <p:cNvSpPr>
            <a:spLocks noGrp="1"/>
          </p:cNvSpPr>
          <p:nvPr>
            <p:ph type="body" sz="quarter" idx="10"/>
          </p:nvPr>
        </p:nvSpPr>
        <p:spPr bwMode="gray">
          <a:xfrm>
            <a:off x="5921469" y="1047750"/>
            <a:ext cx="5827618" cy="4879805"/>
          </a:xfrm>
        </p:spPr>
        <p:txBody>
          <a:bodyPr/>
          <a:lstStyle/>
          <a:p>
            <a:r>
              <a:rPr lang="zh-CN" altLang="en-US" sz="1600" smtClean="0">
                <a:sym typeface="Huawei Sans" panose="020C0503030203020204" pitchFamily="34" charset="0"/>
              </a:rPr>
              <a:t>网络中存在的问题：</a:t>
            </a:r>
            <a:endParaRPr lang="en-US" altLang="zh-CN" sz="1600" smtClean="0">
              <a:sym typeface="Huawei Sans" panose="020C0503030203020204" pitchFamily="34" charset="0"/>
            </a:endParaRPr>
          </a:p>
          <a:p>
            <a:pPr lvl="1"/>
            <a:r>
              <a:rPr lang="zh-CN" altLang="en-US" sz="1400" smtClean="0">
                <a:sym typeface="Huawei Sans" panose="020C0503030203020204" pitchFamily="34" charset="0"/>
              </a:rPr>
              <a:t>正常情况下，当设备某个二层以太接口收到广播、未知组播或未知单播报文时，会向同一</a:t>
            </a:r>
            <a:r>
              <a:rPr lang="en-US" altLang="zh-CN" sz="1400" smtClean="0">
                <a:sym typeface="Huawei Sans" panose="020C0503030203020204" pitchFamily="34" charset="0"/>
              </a:rPr>
              <a:t>VLAN</a:t>
            </a:r>
            <a:r>
              <a:rPr lang="zh-CN" altLang="en-US" sz="1400" smtClean="0">
                <a:sym typeface="Huawei Sans" panose="020C0503030203020204" pitchFamily="34" charset="0"/>
              </a:rPr>
              <a:t>内的其他二层以太接口转发这些报文，从而导致流量泛洪，降低设备转发性能。</a:t>
            </a:r>
            <a:endParaRPr lang="en-US" altLang="zh-CN" sz="1400" smtClean="0">
              <a:sym typeface="Huawei Sans" panose="020C0503030203020204" pitchFamily="34" charset="0"/>
            </a:endParaRPr>
          </a:p>
          <a:p>
            <a:pPr lvl="1"/>
            <a:r>
              <a:rPr lang="zh-CN" altLang="en-US" sz="1400" smtClean="0">
                <a:sym typeface="Huawei Sans" panose="020C0503030203020204" pitchFamily="34" charset="0"/>
              </a:rPr>
              <a:t>当设备某个以太接口收到已知组播或已知单播报文时，如果某种报文流量过大则可能会对设备造成冲击，影响其他业务的正常处理。</a:t>
            </a:r>
            <a:endParaRPr lang="en-US" altLang="zh-CN" sz="1400" smtClean="0">
              <a:sym typeface="Huawei Sans" panose="020C0503030203020204" pitchFamily="34" charset="0"/>
            </a:endParaRPr>
          </a:p>
          <a:p>
            <a:r>
              <a:rPr lang="zh-CN" altLang="en-US" sz="1600" smtClean="0">
                <a:sym typeface="Huawei Sans" panose="020C0503030203020204" pitchFamily="34" charset="0"/>
              </a:rPr>
              <a:t>可用的解决方案：</a:t>
            </a:r>
            <a:endParaRPr lang="en-US" altLang="zh-CN" sz="1600" smtClean="0">
              <a:sym typeface="Huawei Sans" panose="020C0503030203020204" pitchFamily="34" charset="0"/>
            </a:endParaRPr>
          </a:p>
          <a:p>
            <a:pPr lvl="1"/>
            <a:r>
              <a:rPr lang="zh-CN" altLang="en-US" sz="1400" smtClean="0">
                <a:sym typeface="Huawei Sans" panose="020C0503030203020204" pitchFamily="34" charset="0"/>
              </a:rPr>
              <a:t>流量抑制可以通过配置阈值来限制广播、未知组播、未知单播、已知组播和已知单播报文的速率，防止广播、未知组播报文和未知单播报文产生流量泛洪，阻止已知组播报文和已知单播报文的大流量冲击。</a:t>
            </a:r>
            <a:endParaRPr lang="zh-CN" altLang="en-US" sz="1400" dirty="0">
              <a:sym typeface="Huawei Sans" panose="020C0503030203020204" pitchFamily="34" charset="0"/>
            </a:endParaRPr>
          </a:p>
        </p:txBody>
      </p:sp>
      <p:pic>
        <p:nvPicPr>
          <p:cNvPr id="3" name="图片 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762821" y="3138818"/>
            <a:ext cx="540000" cy="442800"/>
          </a:xfrm>
          <a:prstGeom prst="rect">
            <a:avLst/>
          </a:prstGeom>
        </p:spPr>
      </p:pic>
      <p:pic>
        <p:nvPicPr>
          <p:cNvPr id="4" name="图片 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61884" y="1970607"/>
            <a:ext cx="540000" cy="442800"/>
          </a:xfrm>
          <a:prstGeom prst="rect">
            <a:avLst/>
          </a:prstGeom>
        </p:spPr>
      </p:pic>
      <p:pic>
        <p:nvPicPr>
          <p:cNvPr id="5" name="图片 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4180797" y="1970607"/>
            <a:ext cx="540000" cy="442800"/>
          </a:xfrm>
          <a:prstGeom prst="rect">
            <a:avLst/>
          </a:prstGeom>
        </p:spPr>
      </p:pic>
      <p:pic>
        <p:nvPicPr>
          <p:cNvPr id="6" name="图片 5" descr="PC.png"/>
          <p:cNvPicPr>
            <a:picLocks noChangeAspect="1"/>
          </p:cNvPicPr>
          <p:nvPr/>
        </p:nvPicPr>
        <p:blipFill>
          <a:blip r:embed="rId6" cstate="print"/>
          <a:stretch>
            <a:fillRect/>
          </a:stretch>
        </p:blipFill>
        <p:spPr bwMode="gray">
          <a:xfrm>
            <a:off x="1218245" y="4498363"/>
            <a:ext cx="539063" cy="414000"/>
          </a:xfrm>
          <a:prstGeom prst="rect">
            <a:avLst/>
          </a:prstGeom>
        </p:spPr>
      </p:pic>
      <p:pic>
        <p:nvPicPr>
          <p:cNvPr id="7" name="图片 6" descr="PC.png"/>
          <p:cNvPicPr>
            <a:picLocks noChangeAspect="1"/>
          </p:cNvPicPr>
          <p:nvPr/>
        </p:nvPicPr>
        <p:blipFill>
          <a:blip r:embed="rId6" cstate="print"/>
          <a:stretch>
            <a:fillRect/>
          </a:stretch>
        </p:blipFill>
        <p:spPr bwMode="gray">
          <a:xfrm>
            <a:off x="1990533" y="4498363"/>
            <a:ext cx="539063" cy="414000"/>
          </a:xfrm>
          <a:prstGeom prst="rect">
            <a:avLst/>
          </a:prstGeom>
        </p:spPr>
      </p:pic>
      <p:pic>
        <p:nvPicPr>
          <p:cNvPr id="8" name="图片 7" descr="PC.png"/>
          <p:cNvPicPr>
            <a:picLocks noChangeAspect="1"/>
          </p:cNvPicPr>
          <p:nvPr/>
        </p:nvPicPr>
        <p:blipFill>
          <a:blip r:embed="rId6" cstate="print"/>
          <a:stretch>
            <a:fillRect/>
          </a:stretch>
        </p:blipFill>
        <p:spPr bwMode="gray">
          <a:xfrm>
            <a:off x="2762821" y="4498363"/>
            <a:ext cx="539063" cy="414000"/>
          </a:xfrm>
          <a:prstGeom prst="rect">
            <a:avLst/>
          </a:prstGeom>
        </p:spPr>
      </p:pic>
      <p:pic>
        <p:nvPicPr>
          <p:cNvPr id="9" name="图片 8" descr="PC.png"/>
          <p:cNvPicPr>
            <a:picLocks noChangeAspect="1"/>
          </p:cNvPicPr>
          <p:nvPr/>
        </p:nvPicPr>
        <p:blipFill>
          <a:blip r:embed="rId6" cstate="print"/>
          <a:stretch>
            <a:fillRect/>
          </a:stretch>
        </p:blipFill>
        <p:spPr bwMode="gray">
          <a:xfrm>
            <a:off x="3535109" y="4498363"/>
            <a:ext cx="539063" cy="414000"/>
          </a:xfrm>
          <a:prstGeom prst="rect">
            <a:avLst/>
          </a:prstGeom>
        </p:spPr>
      </p:pic>
      <p:pic>
        <p:nvPicPr>
          <p:cNvPr id="10" name="图片 9" descr="PC.png"/>
          <p:cNvPicPr>
            <a:picLocks noChangeAspect="1"/>
          </p:cNvPicPr>
          <p:nvPr/>
        </p:nvPicPr>
        <p:blipFill>
          <a:blip r:embed="rId6" cstate="print"/>
          <a:stretch>
            <a:fillRect/>
          </a:stretch>
        </p:blipFill>
        <p:spPr bwMode="gray">
          <a:xfrm>
            <a:off x="4307395" y="4498363"/>
            <a:ext cx="539063" cy="414000"/>
          </a:xfrm>
          <a:prstGeom prst="rect">
            <a:avLst/>
          </a:prstGeom>
        </p:spPr>
      </p:pic>
      <p:cxnSp>
        <p:nvCxnSpPr>
          <p:cNvPr id="13" name="直接连接符 12"/>
          <p:cNvCxnSpPr>
            <a:stCxn id="6" idx="0"/>
          </p:cNvCxnSpPr>
          <p:nvPr/>
        </p:nvCxnSpPr>
        <p:spPr bwMode="gray">
          <a:xfrm flipV="1">
            <a:off x="1487777" y="3581618"/>
            <a:ext cx="1311351" cy="9167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7" idx="0"/>
          </p:cNvCxnSpPr>
          <p:nvPr/>
        </p:nvCxnSpPr>
        <p:spPr bwMode="gray">
          <a:xfrm flipV="1">
            <a:off x="2260065" y="3581618"/>
            <a:ext cx="655806" cy="9167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8" idx="0"/>
            <a:endCxn id="3" idx="2"/>
          </p:cNvCxnSpPr>
          <p:nvPr/>
        </p:nvCxnSpPr>
        <p:spPr bwMode="gray">
          <a:xfrm flipV="1">
            <a:off x="3032353" y="3581618"/>
            <a:ext cx="468" cy="9167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9" idx="0"/>
          </p:cNvCxnSpPr>
          <p:nvPr/>
        </p:nvCxnSpPr>
        <p:spPr bwMode="gray">
          <a:xfrm flipH="1" flipV="1">
            <a:off x="3149094" y="3581618"/>
            <a:ext cx="655547" cy="9167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0" idx="0"/>
          </p:cNvCxnSpPr>
          <p:nvPr/>
        </p:nvCxnSpPr>
        <p:spPr bwMode="gray">
          <a:xfrm flipH="1" flipV="1">
            <a:off x="3266044" y="3581618"/>
            <a:ext cx="1310883" cy="9167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3" idx="0"/>
            <a:endCxn id="4" idx="2"/>
          </p:cNvCxnSpPr>
          <p:nvPr/>
        </p:nvCxnSpPr>
        <p:spPr bwMode="gray">
          <a:xfrm flipH="1" flipV="1">
            <a:off x="3031884" y="2413407"/>
            <a:ext cx="937" cy="72541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4" idx="3"/>
            <a:endCxn id="5" idx="1"/>
          </p:cNvCxnSpPr>
          <p:nvPr/>
        </p:nvCxnSpPr>
        <p:spPr bwMode="gray">
          <a:xfrm>
            <a:off x="3301884" y="2192007"/>
            <a:ext cx="878913"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29" name="图片 2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3980566" y="1091240"/>
            <a:ext cx="940461" cy="590523"/>
          </a:xfrm>
          <a:prstGeom prst="rect">
            <a:avLst/>
          </a:prstGeom>
        </p:spPr>
      </p:pic>
      <p:cxnSp>
        <p:nvCxnSpPr>
          <p:cNvPr id="31" name="直接连接符 30"/>
          <p:cNvCxnSpPr>
            <a:stCxn id="5" idx="0"/>
            <a:endCxn id="29" idx="2"/>
          </p:cNvCxnSpPr>
          <p:nvPr/>
        </p:nvCxnSpPr>
        <p:spPr bwMode="gray">
          <a:xfrm flipV="1">
            <a:off x="4450797" y="1681763"/>
            <a:ext cx="0" cy="28884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bwMode="gray">
          <a:xfrm flipH="1" flipV="1">
            <a:off x="2930464" y="3783376"/>
            <a:ext cx="6858" cy="645368"/>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bwMode="gray">
          <a:xfrm>
            <a:off x="3231265" y="5602223"/>
            <a:ext cx="530135" cy="0"/>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bwMode="gray">
          <a:xfrm>
            <a:off x="3916535" y="5463723"/>
            <a:ext cx="2031325"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广播、组播、未知单播报文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2" name="直接箭头连接符 41"/>
          <p:cNvCxnSpPr/>
          <p:nvPr/>
        </p:nvCxnSpPr>
        <p:spPr bwMode="gray">
          <a:xfrm flipH="1">
            <a:off x="2373590" y="3774870"/>
            <a:ext cx="284923" cy="408407"/>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bwMode="gray">
          <a:xfrm flipH="1">
            <a:off x="1802696" y="3711947"/>
            <a:ext cx="652586" cy="448415"/>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bwMode="gray">
          <a:xfrm>
            <a:off x="3418628" y="3783376"/>
            <a:ext cx="283205" cy="399901"/>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bwMode="gray">
          <a:xfrm>
            <a:off x="3642101" y="3710412"/>
            <a:ext cx="644245" cy="448415"/>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bwMode="gray">
          <a:xfrm>
            <a:off x="2551359" y="4971228"/>
            <a:ext cx="889987" cy="338554"/>
          </a:xfrm>
          <a:prstGeom prst="rect">
            <a:avLst/>
          </a:prstGeom>
          <a:noFill/>
        </p:spPr>
        <p:txBody>
          <a:bodyPr wrap="none" rtlCol="0">
            <a:spAutoFit/>
          </a:bodyPr>
          <a:lstStyle/>
          <a:p>
            <a:r>
              <a:rPr lang="en-US" altLang="zh-CN" sz="16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 2</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3" name="直接箭头连接符 62"/>
          <p:cNvCxnSpPr/>
          <p:nvPr/>
        </p:nvCxnSpPr>
        <p:spPr bwMode="gray">
          <a:xfrm flipH="1" flipV="1">
            <a:off x="3149094" y="3789098"/>
            <a:ext cx="6858" cy="645368"/>
          </a:xfrm>
          <a:prstGeom prst="straightConnector1">
            <a:avLst/>
          </a:prstGeom>
          <a:ln w="1905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bwMode="gray">
          <a:xfrm>
            <a:off x="3231265" y="5951176"/>
            <a:ext cx="530135" cy="0"/>
          </a:xfrm>
          <a:prstGeom prst="straightConnector1">
            <a:avLst/>
          </a:prstGeom>
          <a:ln w="1905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bwMode="gray">
          <a:xfrm flipH="1" flipV="1">
            <a:off x="2938662" y="2464018"/>
            <a:ext cx="6858" cy="645368"/>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6" name="文本框 65"/>
          <p:cNvSpPr txBox="1"/>
          <p:nvPr/>
        </p:nvSpPr>
        <p:spPr bwMode="gray">
          <a:xfrm>
            <a:off x="4063535" y="1248830"/>
            <a:ext cx="832279"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7" name="文本框 66"/>
          <p:cNvSpPr txBox="1"/>
          <p:nvPr/>
        </p:nvSpPr>
        <p:spPr bwMode="gray">
          <a:xfrm>
            <a:off x="3907739" y="5812676"/>
            <a:ext cx="1877437"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已知组播、已知单播报文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8" name="直接箭头连接符 67"/>
          <p:cNvCxnSpPr/>
          <p:nvPr/>
        </p:nvCxnSpPr>
        <p:spPr bwMode="gray">
          <a:xfrm flipH="1" flipV="1">
            <a:off x="3142236" y="2467825"/>
            <a:ext cx="6858" cy="645368"/>
          </a:xfrm>
          <a:prstGeom prst="straightConnector1">
            <a:avLst/>
          </a:prstGeom>
          <a:ln w="1905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bwMode="gray">
          <a:xfrm flipH="1" flipV="1">
            <a:off x="3224407" y="3789098"/>
            <a:ext cx="6858" cy="645368"/>
          </a:xfrm>
          <a:prstGeom prst="straightConnector1">
            <a:avLst/>
          </a:prstGeom>
          <a:ln w="1905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bwMode="gray">
          <a:xfrm flipH="1" flipV="1">
            <a:off x="3211154" y="2467825"/>
            <a:ext cx="6858" cy="645368"/>
          </a:xfrm>
          <a:prstGeom prst="straightConnector1">
            <a:avLst/>
          </a:prstGeom>
          <a:ln w="19050">
            <a:solidFill>
              <a:srgbClr val="00B05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38" name="五边形 37"/>
          <p:cNvSpPr/>
          <p:nvPr/>
        </p:nvSpPr>
        <p:spPr bwMode="gray">
          <a:xfrm>
            <a:off x="9990680"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40" name="燕尾形 39"/>
          <p:cNvSpPr/>
          <p:nvPr/>
        </p:nvSpPr>
        <p:spPr bwMode="gray">
          <a:xfrm>
            <a:off x="10714093"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2710493785"/>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sym typeface="Huawei Sans" panose="020C0503030203020204" pitchFamily="34" charset="0"/>
              </a:rPr>
              <a:t>流量抑制工作原理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108" name="文本占位符 107"/>
          <p:cNvSpPr>
            <a:spLocks noGrp="1"/>
          </p:cNvSpPr>
          <p:nvPr>
            <p:ph type="body" sz="quarter" idx="10"/>
          </p:nvPr>
        </p:nvSpPr>
        <p:spPr bwMode="gray"/>
        <p:txBody>
          <a:bodyPr/>
          <a:lstStyle/>
          <a:p>
            <a:r>
              <a:rPr lang="zh-CN" altLang="en-US" sz="1800" dirty="0" smtClean="0">
                <a:sym typeface="Huawei Sans" panose="020C0503030203020204" pitchFamily="34" charset="0"/>
              </a:rPr>
              <a:t>在接口入方向上，设备支持对广播、未知组播、未知单播、已知组播和已知单播报文按百分比、包速率和比特速率进行流量抑制。设备监控接口下的各类报文速率并和配置的阈值相比较，当入口流量超过配置的阈值时，设备会丢弃超额的流量。</a:t>
            </a:r>
            <a:endParaRPr lang="en-US" altLang="zh-CN" sz="1800" dirty="0" smtClean="0">
              <a:sym typeface="Huawei Sans" panose="020C0503030203020204" pitchFamily="34" charset="0"/>
            </a:endParaRPr>
          </a:p>
        </p:txBody>
      </p:sp>
      <p:grpSp>
        <p:nvGrpSpPr>
          <p:cNvPr id="110" name="组合 109"/>
          <p:cNvGrpSpPr/>
          <p:nvPr/>
        </p:nvGrpSpPr>
        <p:grpSpPr bwMode="gray">
          <a:xfrm>
            <a:off x="7615230" y="5472349"/>
            <a:ext cx="1700233" cy="276999"/>
            <a:chOff x="6145030" y="3386720"/>
            <a:chExt cx="1700233" cy="276999"/>
          </a:xfrm>
        </p:grpSpPr>
        <p:sp>
          <p:nvSpPr>
            <p:cNvPr id="46" name="矩形 45"/>
            <p:cNvSpPr/>
            <p:nvPr/>
          </p:nvSpPr>
          <p:spPr bwMode="gray">
            <a:xfrm>
              <a:off x="6145030" y="3436084"/>
              <a:ext cx="656880"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xx</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6985732" y="3386720"/>
              <a:ext cx="859531"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报文</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速率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4" name="矩形 63"/>
          <p:cNvSpPr/>
          <p:nvPr/>
        </p:nvSpPr>
        <p:spPr bwMode="gray">
          <a:xfrm>
            <a:off x="6439295" y="4214598"/>
            <a:ext cx="464944"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矩形 64"/>
          <p:cNvSpPr/>
          <p:nvPr/>
        </p:nvSpPr>
        <p:spPr bwMode="gray">
          <a:xfrm>
            <a:off x="6247359" y="4566267"/>
            <a:ext cx="656880"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6" name="直接箭头连接符 65"/>
          <p:cNvCxnSpPr/>
          <p:nvPr/>
        </p:nvCxnSpPr>
        <p:spPr bwMode="gray">
          <a:xfrm>
            <a:off x="6981843" y="4321515"/>
            <a:ext cx="526656"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bwMode="gray">
          <a:xfrm>
            <a:off x="6981843" y="4645724"/>
            <a:ext cx="526656"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68" name="矩形 67"/>
          <p:cNvSpPr/>
          <p:nvPr/>
        </p:nvSpPr>
        <p:spPr bwMode="gray">
          <a:xfrm>
            <a:off x="6247359" y="4907652"/>
            <a:ext cx="656880"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9" name="直接箭头连接符 68"/>
          <p:cNvCxnSpPr/>
          <p:nvPr/>
        </p:nvCxnSpPr>
        <p:spPr bwMode="gray">
          <a:xfrm>
            <a:off x="6981843" y="5008268"/>
            <a:ext cx="520487"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7" name="Freeform 159"/>
          <p:cNvSpPr/>
          <p:nvPr/>
        </p:nvSpPr>
        <p:spPr bwMode="gray">
          <a:xfrm flipH="1">
            <a:off x="2689209" y="3651018"/>
            <a:ext cx="1102902" cy="597529"/>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285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476220" y="3837168"/>
            <a:ext cx="540000" cy="442800"/>
          </a:xfrm>
          <a:prstGeom prst="rect">
            <a:avLst/>
          </a:prstGeom>
        </p:spPr>
      </p:pic>
      <p:pic>
        <p:nvPicPr>
          <p:cNvPr id="8" name="图片 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646229" y="3844458"/>
            <a:ext cx="540000" cy="442800"/>
          </a:xfrm>
          <a:prstGeom prst="rect">
            <a:avLst/>
          </a:prstGeom>
        </p:spPr>
      </p:pic>
      <p:grpSp>
        <p:nvGrpSpPr>
          <p:cNvPr id="113" name="组合 112"/>
          <p:cNvGrpSpPr/>
          <p:nvPr/>
        </p:nvGrpSpPr>
        <p:grpSpPr bwMode="gray">
          <a:xfrm>
            <a:off x="2493717" y="3383015"/>
            <a:ext cx="986119" cy="847244"/>
            <a:chOff x="2444243" y="3664363"/>
            <a:chExt cx="986119" cy="847244"/>
          </a:xfrm>
        </p:grpSpPr>
        <p:pic>
          <p:nvPicPr>
            <p:cNvPr id="11" name="图片 10"/>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890362" y="3664363"/>
              <a:ext cx="540000" cy="442800"/>
            </a:xfrm>
            <a:prstGeom prst="rect">
              <a:avLst/>
            </a:prstGeom>
          </p:spPr>
        </p:pic>
        <p:pic>
          <p:nvPicPr>
            <p:cNvPr id="48" name="图片 47"/>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685142" y="3857448"/>
              <a:ext cx="540000" cy="442800"/>
            </a:xfrm>
            <a:prstGeom prst="rect">
              <a:avLst/>
            </a:prstGeom>
          </p:spPr>
        </p:pic>
        <p:pic>
          <p:nvPicPr>
            <p:cNvPr id="13" name="图片 12"/>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2444243" y="4068807"/>
              <a:ext cx="540000" cy="442800"/>
            </a:xfrm>
            <a:prstGeom prst="rect">
              <a:avLst/>
            </a:prstGeom>
          </p:spPr>
        </p:pic>
      </p:grpSp>
      <p:cxnSp>
        <p:nvCxnSpPr>
          <p:cNvPr id="15" name="直接连接符 14"/>
          <p:cNvCxnSpPr>
            <a:stCxn id="47" idx="8"/>
            <a:endCxn id="6" idx="1"/>
          </p:cNvCxnSpPr>
          <p:nvPr/>
        </p:nvCxnSpPr>
        <p:spPr bwMode="gray">
          <a:xfrm flipV="1">
            <a:off x="3792111" y="4058568"/>
            <a:ext cx="1684109" cy="50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6" idx="3"/>
            <a:endCxn id="8" idx="1"/>
          </p:cNvCxnSpPr>
          <p:nvPr/>
        </p:nvCxnSpPr>
        <p:spPr bwMode="gray">
          <a:xfrm>
            <a:off x="6016220" y="4058568"/>
            <a:ext cx="1630009" cy="729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8" idx="3"/>
            <a:endCxn id="5" idx="1"/>
          </p:cNvCxnSpPr>
          <p:nvPr/>
        </p:nvCxnSpPr>
        <p:spPr bwMode="gray">
          <a:xfrm>
            <a:off x="8186229" y="4065858"/>
            <a:ext cx="619778" cy="239"/>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23" name="图片 22" descr="故障链路.png"/>
          <p:cNvPicPr>
            <a:picLocks noChangeAspect="1"/>
          </p:cNvPicPr>
          <p:nvPr/>
        </p:nvPicPr>
        <p:blipFill>
          <a:blip r:embed="rId6" cstate="print"/>
          <a:stretch>
            <a:fillRect/>
          </a:stretch>
        </p:blipFill>
        <p:spPr bwMode="gray">
          <a:xfrm>
            <a:off x="4794070" y="3294144"/>
            <a:ext cx="540000" cy="440216"/>
          </a:xfrm>
          <a:prstGeom prst="rect">
            <a:avLst/>
          </a:prstGeom>
        </p:spPr>
      </p:pic>
      <p:sp>
        <p:nvSpPr>
          <p:cNvPr id="28" name="椭圆 27"/>
          <p:cNvSpPr>
            <a:spLocks noChangeAspect="1"/>
          </p:cNvSpPr>
          <p:nvPr/>
        </p:nvSpPr>
        <p:spPr bwMode="gray">
          <a:xfrm flipH="1" flipV="1">
            <a:off x="5408026" y="4011291"/>
            <a:ext cx="136388" cy="136388"/>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36" name="直接箭头连接符 35"/>
          <p:cNvCxnSpPr/>
          <p:nvPr/>
        </p:nvCxnSpPr>
        <p:spPr bwMode="gray">
          <a:xfrm>
            <a:off x="4705850" y="3837168"/>
            <a:ext cx="742892" cy="0"/>
          </a:xfrm>
          <a:prstGeom prst="straightConnector1">
            <a:avLst/>
          </a:prstGeom>
          <a:ln w="28575">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7" name="椭圆 36"/>
          <p:cNvSpPr/>
          <p:nvPr/>
        </p:nvSpPr>
        <p:spPr bwMode="gray">
          <a:xfrm>
            <a:off x="5376137" y="2800168"/>
            <a:ext cx="399748" cy="368972"/>
          </a:xfrm>
          <a:prstGeom prst="ellipse">
            <a:avLst/>
          </a:prstGeom>
          <a:solidFill>
            <a:srgbClr val="62B23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5382205" y="2813031"/>
            <a:ext cx="871222" cy="338554"/>
          </a:xfrm>
          <a:prstGeom prst="rect">
            <a:avLst/>
          </a:prstGeom>
          <a:noFill/>
        </p:spPr>
        <p:txBody>
          <a:bodyPr wrap="square" rtlCol="0">
            <a:spAutoFit/>
          </a:bodyPr>
          <a:lstStyle/>
          <a:p>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0" name="直接连接符 39"/>
          <p:cNvCxnSpPr/>
          <p:nvPr/>
        </p:nvCxnSpPr>
        <p:spPr bwMode="gray">
          <a:xfrm>
            <a:off x="5432526" y="3697633"/>
            <a:ext cx="289880"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37" idx="4"/>
          </p:cNvCxnSpPr>
          <p:nvPr/>
        </p:nvCxnSpPr>
        <p:spPr bwMode="gray">
          <a:xfrm>
            <a:off x="5576011" y="3169144"/>
            <a:ext cx="0" cy="53573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49" name="矩形 48"/>
          <p:cNvSpPr/>
          <p:nvPr/>
        </p:nvSpPr>
        <p:spPr bwMode="gray">
          <a:xfrm>
            <a:off x="4115077" y="4202689"/>
            <a:ext cx="464944"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3923141" y="4554358"/>
            <a:ext cx="656880"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3724443" y="4895743"/>
            <a:ext cx="854635"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3" name="直接箭头连接符 52"/>
          <p:cNvCxnSpPr/>
          <p:nvPr/>
        </p:nvCxnSpPr>
        <p:spPr bwMode="gray">
          <a:xfrm>
            <a:off x="4657625" y="4309606"/>
            <a:ext cx="526656"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bwMode="gray">
          <a:xfrm>
            <a:off x="4657625" y="4633815"/>
            <a:ext cx="526656"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bwMode="gray">
          <a:xfrm>
            <a:off x="4657625" y="4996359"/>
            <a:ext cx="519544" cy="0"/>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bwMode="gray">
          <a:xfrm>
            <a:off x="5356134" y="4222974"/>
            <a:ext cx="763351"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文本框 73"/>
          <p:cNvSpPr txBox="1"/>
          <p:nvPr/>
        </p:nvSpPr>
        <p:spPr bwMode="gray">
          <a:xfrm>
            <a:off x="7573122" y="4230259"/>
            <a:ext cx="769763"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Router</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15" name="组合 114"/>
          <p:cNvGrpSpPr/>
          <p:nvPr/>
        </p:nvGrpSpPr>
        <p:grpSpPr bwMode="gray">
          <a:xfrm>
            <a:off x="8806007" y="3770835"/>
            <a:ext cx="940461" cy="590523"/>
            <a:chOff x="7106856" y="3199960"/>
            <a:chExt cx="940461" cy="590523"/>
          </a:xfrm>
        </p:grpSpPr>
        <p:pic>
          <p:nvPicPr>
            <p:cNvPr id="5" name="图片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bwMode="gray">
            <a:xfrm>
              <a:off x="7106856" y="3199960"/>
              <a:ext cx="940461" cy="590523"/>
            </a:xfrm>
            <a:prstGeom prst="rect">
              <a:avLst/>
            </a:prstGeom>
          </p:spPr>
        </p:pic>
        <p:sp>
          <p:nvSpPr>
            <p:cNvPr id="75" name="文本框 74"/>
            <p:cNvSpPr txBox="1"/>
            <p:nvPr/>
          </p:nvSpPr>
          <p:spPr bwMode="gray">
            <a:xfrm>
              <a:off x="7186999" y="3358893"/>
              <a:ext cx="832279"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 name="文本框 1"/>
          <p:cNvSpPr txBox="1"/>
          <p:nvPr/>
        </p:nvSpPr>
        <p:spPr bwMode="gray">
          <a:xfrm>
            <a:off x="5774259" y="2812767"/>
            <a:ext cx="595035" cy="338554"/>
          </a:xfrm>
          <a:prstGeom prst="rect">
            <a:avLst/>
          </a:prstGeom>
          <a:noFill/>
          <a:ln>
            <a:noFill/>
          </a:ln>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阈值</a:t>
            </a:r>
          </a:p>
        </p:txBody>
      </p:sp>
      <p:sp>
        <p:nvSpPr>
          <p:cNvPr id="43" name="五边形 42"/>
          <p:cNvSpPr/>
          <p:nvPr/>
        </p:nvSpPr>
        <p:spPr bwMode="gray">
          <a:xfrm>
            <a:off x="9990680"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44" name="燕尾形 43"/>
          <p:cNvSpPr/>
          <p:nvPr/>
        </p:nvSpPr>
        <p:spPr bwMode="gray">
          <a:xfrm>
            <a:off x="10714093"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388507183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圆角矩形 109"/>
          <p:cNvSpPr/>
          <p:nvPr/>
        </p:nvSpPr>
        <p:spPr bwMode="gray">
          <a:xfrm>
            <a:off x="7499772" y="4273100"/>
            <a:ext cx="1686992" cy="1383851"/>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圆角矩形 108"/>
          <p:cNvSpPr/>
          <p:nvPr/>
        </p:nvSpPr>
        <p:spPr bwMode="gray">
          <a:xfrm>
            <a:off x="2946137" y="4273100"/>
            <a:ext cx="1777356" cy="1383851"/>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p:cNvSpPr/>
          <p:nvPr/>
        </p:nvSpPr>
        <p:spPr bwMode="gray">
          <a:xfrm>
            <a:off x="5875648" y="2166593"/>
            <a:ext cx="440703" cy="419098"/>
          </a:xfrm>
          <a:prstGeom prst="ellipse">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 name="标题 2"/>
          <p:cNvSpPr>
            <a:spLocks noGrp="1"/>
          </p:cNvSpPr>
          <p:nvPr>
            <p:ph type="title"/>
          </p:nvPr>
        </p:nvSpPr>
        <p:spPr bwMode="gray"/>
        <p:txBody>
          <a:bodyPr/>
          <a:lstStyle/>
          <a:p>
            <a:r>
              <a:rPr lang="zh-CN" altLang="en-US" smtClean="0">
                <a:sym typeface="Huawei Sans" panose="020C0503030203020204" pitchFamily="34" charset="0"/>
              </a:rPr>
              <a:t>流量抑制工作原理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dirty="0" smtClean="0">
                <a:sym typeface="Huawei Sans" panose="020C0503030203020204" pitchFamily="34" charset="0"/>
              </a:rPr>
              <a:t>在</a:t>
            </a:r>
            <a:r>
              <a:rPr lang="en-US" altLang="zh-CN" sz="1800" dirty="0" smtClean="0">
                <a:sym typeface="Huawei Sans" panose="020C0503030203020204" pitchFamily="34" charset="0"/>
              </a:rPr>
              <a:t>VLAN</a:t>
            </a:r>
            <a:r>
              <a:rPr lang="zh-CN" altLang="en-US" sz="1800" dirty="0" smtClean="0">
                <a:sym typeface="Huawei Sans" panose="020C0503030203020204" pitchFamily="34" charset="0"/>
              </a:rPr>
              <a:t>视图下，设备支持对广播报文按比特速率进行流量抑制。设备监控同一</a:t>
            </a:r>
            <a:r>
              <a:rPr lang="en-US" altLang="zh-CN" sz="1800" dirty="0" smtClean="0">
                <a:sym typeface="Huawei Sans" panose="020C0503030203020204" pitchFamily="34" charset="0"/>
              </a:rPr>
              <a:t>VLAN</a:t>
            </a:r>
            <a:r>
              <a:rPr lang="zh-CN" altLang="en-US" sz="1800" dirty="0" smtClean="0">
                <a:sym typeface="Huawei Sans" panose="020C0503030203020204" pitchFamily="34" charset="0"/>
              </a:rPr>
              <a:t>内广播报文的速率并和配置的阈值相比较，当</a:t>
            </a:r>
            <a:r>
              <a:rPr lang="en-US" altLang="zh-CN" sz="1800" dirty="0" smtClean="0">
                <a:sym typeface="Huawei Sans" panose="020C0503030203020204" pitchFamily="34" charset="0"/>
              </a:rPr>
              <a:t>VLAN</a:t>
            </a:r>
            <a:r>
              <a:rPr lang="zh-CN" altLang="en-US" sz="1800" dirty="0" smtClean="0">
                <a:sym typeface="Huawei Sans" panose="020C0503030203020204" pitchFamily="34" charset="0"/>
              </a:rPr>
              <a:t>内流量超过配置的阈值时，设备会丢弃超额的流量。</a:t>
            </a:r>
            <a:endParaRPr lang="zh-CN" altLang="en-US" sz="1800" dirty="0">
              <a:sym typeface="Huawei Sans" panose="020C0503030203020204" pitchFamily="34" charset="0"/>
            </a:endParaRPr>
          </a:p>
        </p:txBody>
      </p:sp>
      <p:pic>
        <p:nvPicPr>
          <p:cNvPr id="15" name="图片 14" descr="故障链路.png"/>
          <p:cNvPicPr>
            <a:picLocks noChangeAspect="1"/>
          </p:cNvPicPr>
          <p:nvPr/>
        </p:nvPicPr>
        <p:blipFill>
          <a:blip r:embed="rId3" cstate="print"/>
          <a:stretch>
            <a:fillRect/>
          </a:stretch>
        </p:blipFill>
        <p:spPr bwMode="gray">
          <a:xfrm>
            <a:off x="5358761" y="2685846"/>
            <a:ext cx="540000" cy="440216"/>
          </a:xfrm>
          <a:prstGeom prst="rect">
            <a:avLst/>
          </a:prstGeom>
        </p:spPr>
      </p:pic>
      <p:sp>
        <p:nvSpPr>
          <p:cNvPr id="53" name="文本框 52"/>
          <p:cNvSpPr txBox="1"/>
          <p:nvPr/>
        </p:nvSpPr>
        <p:spPr bwMode="gray">
          <a:xfrm>
            <a:off x="5919810" y="2219983"/>
            <a:ext cx="499209" cy="338554"/>
          </a:xfrm>
          <a:prstGeom prst="rect">
            <a:avLst/>
          </a:prstGeom>
          <a:noFill/>
          <a:ln>
            <a:noFill/>
          </a:ln>
        </p:spPr>
        <p:txBody>
          <a:bodyPr wrap="square" rtlCol="0">
            <a:spAutoFit/>
          </a:bodyPr>
          <a:lstStyle/>
          <a:p>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4" name="直接连接符 53"/>
          <p:cNvCxnSpPr/>
          <p:nvPr/>
        </p:nvCxnSpPr>
        <p:spPr bwMode="gray">
          <a:xfrm>
            <a:off x="5952515" y="3114180"/>
            <a:ext cx="289880"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bwMode="gray">
          <a:xfrm>
            <a:off x="6096000" y="2585691"/>
            <a:ext cx="0" cy="53573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bwMode="gray">
          <a:xfrm>
            <a:off x="10578606" y="5903936"/>
            <a:ext cx="1167307"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广播报文</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速率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矩形 95"/>
          <p:cNvSpPr/>
          <p:nvPr/>
        </p:nvSpPr>
        <p:spPr bwMode="gray">
          <a:xfrm>
            <a:off x="10029217" y="5953611"/>
            <a:ext cx="464944"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xx</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bwMode="gray">
          <a:xfrm>
            <a:off x="6262587" y="2198143"/>
            <a:ext cx="595035" cy="338554"/>
          </a:xfrm>
          <a:prstGeom prst="rect">
            <a:avLst/>
          </a:prstGeom>
          <a:noFill/>
          <a:ln>
            <a:noFill/>
          </a:ln>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阈值</a:t>
            </a:r>
          </a:p>
        </p:txBody>
      </p:sp>
      <p:sp>
        <p:nvSpPr>
          <p:cNvPr id="33" name="文本框 32"/>
          <p:cNvSpPr txBox="1"/>
          <p:nvPr/>
        </p:nvSpPr>
        <p:spPr bwMode="gray">
          <a:xfrm rot="20095020">
            <a:off x="4005466" y="2526452"/>
            <a:ext cx="928987" cy="428777"/>
          </a:xfrm>
          <a:prstGeom prst="rect">
            <a:avLst/>
          </a:prstGeom>
          <a:solidFill>
            <a:srgbClr val="FDE39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a:solidFill>
                  <a:schemeClr val="tx1"/>
                </a:solidFill>
                <a:sym typeface="Huawei Sans" panose="020C0503030203020204" pitchFamily="34" charset="0"/>
              </a:rPr>
              <a:t>VLAN 10</a:t>
            </a:r>
          </a:p>
          <a:p>
            <a:endParaRPr lang="zh-CN" altLang="en-US" sz="1400" dirty="0">
              <a:solidFill>
                <a:schemeClr val="tx1"/>
              </a:solidFill>
              <a:sym typeface="Huawei Sans" panose="020C0503030203020204" pitchFamily="34" charset="0"/>
            </a:endParaRPr>
          </a:p>
        </p:txBody>
      </p:sp>
      <p:sp>
        <p:nvSpPr>
          <p:cNvPr id="79" name="矩形 78"/>
          <p:cNvSpPr/>
          <p:nvPr/>
        </p:nvSpPr>
        <p:spPr bwMode="gray">
          <a:xfrm rot="20095020">
            <a:off x="4302427" y="2705394"/>
            <a:ext cx="464944"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文本框 33"/>
          <p:cNvSpPr txBox="1"/>
          <p:nvPr/>
        </p:nvSpPr>
        <p:spPr bwMode="gray">
          <a:xfrm rot="20080033">
            <a:off x="3969898" y="3077939"/>
            <a:ext cx="928987" cy="428777"/>
          </a:xfrm>
          <a:prstGeom prst="rect">
            <a:avLst/>
          </a:prstGeom>
          <a:solidFill>
            <a:srgbClr val="FDE39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a:solidFill>
                  <a:schemeClr val="tx1"/>
                </a:solidFill>
                <a:sym typeface="Huawei Sans" panose="020C0503030203020204" pitchFamily="34" charset="0"/>
              </a:rPr>
              <a:t>VLAN 20</a:t>
            </a:r>
          </a:p>
          <a:p>
            <a:endParaRPr lang="zh-CN" altLang="en-US" sz="1400" dirty="0">
              <a:solidFill>
                <a:schemeClr val="tx1"/>
              </a:solidFill>
              <a:sym typeface="Huawei Sans" panose="020C0503030203020204" pitchFamily="34" charset="0"/>
            </a:endParaRPr>
          </a:p>
        </p:txBody>
      </p:sp>
      <p:sp>
        <p:nvSpPr>
          <p:cNvPr id="81" name="矩形 80"/>
          <p:cNvSpPr/>
          <p:nvPr/>
        </p:nvSpPr>
        <p:spPr bwMode="gray">
          <a:xfrm rot="20080033">
            <a:off x="4158195" y="3265197"/>
            <a:ext cx="656880"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rot="20010222">
            <a:off x="3967889" y="3629234"/>
            <a:ext cx="928987" cy="428777"/>
          </a:xfrm>
          <a:prstGeom prst="rect">
            <a:avLst/>
          </a:prstGeom>
          <a:solidFill>
            <a:srgbClr val="FDE39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a:solidFill>
                  <a:schemeClr val="tx1"/>
                </a:solidFill>
                <a:sym typeface="Huawei Sans" panose="020C0503030203020204" pitchFamily="34" charset="0"/>
              </a:rPr>
              <a:t>VLAN 30</a:t>
            </a:r>
          </a:p>
          <a:p>
            <a:endParaRPr lang="zh-CN" altLang="en-US" sz="1400" dirty="0">
              <a:solidFill>
                <a:schemeClr val="tx1"/>
              </a:solidFill>
              <a:sym typeface="Huawei Sans" panose="020C0503030203020204" pitchFamily="34" charset="0"/>
            </a:endParaRPr>
          </a:p>
        </p:txBody>
      </p:sp>
      <p:sp>
        <p:nvSpPr>
          <p:cNvPr id="105" name="矩形 104"/>
          <p:cNvSpPr/>
          <p:nvPr/>
        </p:nvSpPr>
        <p:spPr bwMode="gray">
          <a:xfrm rot="20010222">
            <a:off x="4093788" y="3829929"/>
            <a:ext cx="722683"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100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6316351" y="3164531"/>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p:cNvSpPr txBox="1"/>
          <p:nvPr/>
        </p:nvSpPr>
        <p:spPr bwMode="gray">
          <a:xfrm rot="1591994">
            <a:off x="7306635" y="2531198"/>
            <a:ext cx="908112" cy="446958"/>
          </a:xfrm>
          <a:prstGeom prst="rect">
            <a:avLst/>
          </a:prstGeom>
          <a:solidFill>
            <a:srgbClr val="FDE39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a:solidFill>
                  <a:schemeClr val="tx1"/>
                </a:solidFill>
                <a:sym typeface="Huawei Sans" panose="020C0503030203020204" pitchFamily="34" charset="0"/>
              </a:rPr>
              <a:t>VLAN 10</a:t>
            </a:r>
          </a:p>
          <a:p>
            <a:endParaRPr lang="zh-CN" altLang="en-US" sz="1400" dirty="0">
              <a:solidFill>
                <a:schemeClr val="tx1"/>
              </a:solidFill>
              <a:sym typeface="Huawei Sans" panose="020C0503030203020204" pitchFamily="34" charset="0"/>
            </a:endParaRPr>
          </a:p>
        </p:txBody>
      </p:sp>
      <p:sp>
        <p:nvSpPr>
          <p:cNvPr id="80" name="矩形 79"/>
          <p:cNvSpPr/>
          <p:nvPr/>
        </p:nvSpPr>
        <p:spPr bwMode="gray">
          <a:xfrm rot="1591994">
            <a:off x="7490257" y="2734198"/>
            <a:ext cx="464944"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0" name="文本框 89"/>
          <p:cNvSpPr txBox="1"/>
          <p:nvPr/>
        </p:nvSpPr>
        <p:spPr bwMode="gray">
          <a:xfrm rot="1567469">
            <a:off x="7289345" y="3083053"/>
            <a:ext cx="908112" cy="446958"/>
          </a:xfrm>
          <a:prstGeom prst="rect">
            <a:avLst/>
          </a:prstGeom>
          <a:solidFill>
            <a:srgbClr val="FDE39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a:solidFill>
                  <a:schemeClr val="tx1"/>
                </a:solidFill>
                <a:sym typeface="Huawei Sans" panose="020C0503030203020204" pitchFamily="34" charset="0"/>
              </a:rPr>
              <a:t>VLAN 20</a:t>
            </a:r>
          </a:p>
          <a:p>
            <a:endParaRPr lang="zh-CN" altLang="en-US" sz="1400" dirty="0">
              <a:solidFill>
                <a:schemeClr val="tx1"/>
              </a:solidFill>
              <a:sym typeface="Huawei Sans" panose="020C0503030203020204" pitchFamily="34" charset="0"/>
            </a:endParaRPr>
          </a:p>
        </p:txBody>
      </p:sp>
      <p:sp>
        <p:nvSpPr>
          <p:cNvPr id="104" name="矩形 103"/>
          <p:cNvSpPr/>
          <p:nvPr/>
        </p:nvSpPr>
        <p:spPr bwMode="gray">
          <a:xfrm rot="1574827">
            <a:off x="7390054" y="3296314"/>
            <a:ext cx="656880"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3" name="文本框 92"/>
          <p:cNvSpPr txBox="1"/>
          <p:nvPr/>
        </p:nvSpPr>
        <p:spPr bwMode="gray">
          <a:xfrm rot="1546636">
            <a:off x="7222743" y="3600788"/>
            <a:ext cx="908112" cy="446958"/>
          </a:xfrm>
          <a:prstGeom prst="rect">
            <a:avLst/>
          </a:prstGeom>
          <a:solidFill>
            <a:srgbClr val="FDE39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a:solidFill>
                  <a:schemeClr val="tx1"/>
                </a:solidFill>
                <a:sym typeface="Huawei Sans" panose="020C0503030203020204" pitchFamily="34" charset="0"/>
              </a:rPr>
              <a:t>VLAN 30</a:t>
            </a:r>
          </a:p>
          <a:p>
            <a:endParaRPr lang="zh-CN" altLang="en-US" sz="1400" dirty="0">
              <a:solidFill>
                <a:schemeClr val="tx1"/>
              </a:solidFill>
              <a:sym typeface="Huawei Sans" panose="020C0503030203020204" pitchFamily="34" charset="0"/>
            </a:endParaRPr>
          </a:p>
        </p:txBody>
      </p:sp>
      <p:sp>
        <p:nvSpPr>
          <p:cNvPr id="106" name="矩形 105"/>
          <p:cNvSpPr/>
          <p:nvPr/>
        </p:nvSpPr>
        <p:spPr bwMode="gray">
          <a:xfrm rot="1546636">
            <a:off x="7323590" y="3839251"/>
            <a:ext cx="652124" cy="174171"/>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7" name="图片 10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841259" y="4423595"/>
            <a:ext cx="540000" cy="442800"/>
          </a:xfrm>
          <a:prstGeom prst="rect">
            <a:avLst/>
          </a:prstGeom>
        </p:spPr>
      </p:pic>
      <p:pic>
        <p:nvPicPr>
          <p:cNvPr id="108" name="图片 10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7777109" y="4421963"/>
            <a:ext cx="540000" cy="442800"/>
          </a:xfrm>
          <a:prstGeom prst="rect">
            <a:avLst/>
          </a:prstGeom>
        </p:spPr>
      </p:pic>
      <p:cxnSp>
        <p:nvCxnSpPr>
          <p:cNvPr id="64" name="直接连接符 63"/>
          <p:cNvCxnSpPr>
            <a:endCxn id="107" idx="0"/>
          </p:cNvCxnSpPr>
          <p:nvPr/>
        </p:nvCxnSpPr>
        <p:spPr bwMode="gray">
          <a:xfrm flipH="1">
            <a:off x="4111259" y="3469297"/>
            <a:ext cx="1954669" cy="95429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a:endCxn id="108" idx="0"/>
          </p:cNvCxnSpPr>
          <p:nvPr/>
        </p:nvCxnSpPr>
        <p:spPr bwMode="gray">
          <a:xfrm>
            <a:off x="6096000" y="3430665"/>
            <a:ext cx="1951109" cy="99129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814179" y="3209265"/>
            <a:ext cx="540000" cy="442800"/>
          </a:xfrm>
          <a:prstGeom prst="rect">
            <a:avLst/>
          </a:prstGeom>
        </p:spPr>
      </p:pic>
      <p:sp>
        <p:nvSpPr>
          <p:cNvPr id="121" name="文本框 120"/>
          <p:cNvSpPr txBox="1"/>
          <p:nvPr/>
        </p:nvSpPr>
        <p:spPr bwMode="gray">
          <a:xfrm>
            <a:off x="3623746" y="4825954"/>
            <a:ext cx="1005403" cy="830997"/>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VLAN 10</a:t>
            </a:r>
          </a:p>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VLAN 20</a:t>
            </a:r>
          </a:p>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VLAN 30</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文本框 121"/>
          <p:cNvSpPr txBox="1"/>
          <p:nvPr/>
        </p:nvSpPr>
        <p:spPr bwMode="gray">
          <a:xfrm>
            <a:off x="7601264" y="4825954"/>
            <a:ext cx="1005403" cy="830997"/>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VLAN 10</a:t>
            </a:r>
          </a:p>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VLAN 20</a:t>
            </a:r>
          </a:p>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VLAN 30</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4" name="直接箭头连接符 123"/>
          <p:cNvCxnSpPr/>
          <p:nvPr/>
        </p:nvCxnSpPr>
        <p:spPr bwMode="gray">
          <a:xfrm flipV="1">
            <a:off x="4945950" y="3824267"/>
            <a:ext cx="769050" cy="448833"/>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6" name="直接箭头连接符 125"/>
          <p:cNvCxnSpPr/>
          <p:nvPr/>
        </p:nvCxnSpPr>
        <p:spPr bwMode="gray">
          <a:xfrm>
            <a:off x="6508057" y="3843622"/>
            <a:ext cx="779873" cy="42947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8" name="文本框 127"/>
          <p:cNvSpPr txBox="1"/>
          <p:nvPr/>
        </p:nvSpPr>
        <p:spPr bwMode="gray">
          <a:xfrm>
            <a:off x="2946136" y="4468474"/>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文本框 128"/>
          <p:cNvSpPr txBox="1"/>
          <p:nvPr/>
        </p:nvSpPr>
        <p:spPr bwMode="gray">
          <a:xfrm>
            <a:off x="8319219" y="4484801"/>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五边形 43"/>
          <p:cNvSpPr/>
          <p:nvPr/>
        </p:nvSpPr>
        <p:spPr bwMode="gray">
          <a:xfrm>
            <a:off x="9990680"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45" name="燕尾形 44"/>
          <p:cNvSpPr/>
          <p:nvPr/>
        </p:nvSpPr>
        <p:spPr bwMode="gray">
          <a:xfrm>
            <a:off x="10714093"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20490369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流量抑制的应用</a:t>
            </a:r>
            <a:endParaRPr lang="zh-CN" altLang="en-US" dirty="0">
              <a:sym typeface="Huawei Sans" panose="020C0503030203020204" pitchFamily="34" charset="0"/>
            </a:endParaRPr>
          </a:p>
        </p:txBody>
      </p:sp>
      <p:sp>
        <p:nvSpPr>
          <p:cNvPr id="27" name="文本占位符 26"/>
          <p:cNvSpPr>
            <a:spLocks noGrp="1"/>
          </p:cNvSpPr>
          <p:nvPr>
            <p:ph type="body" sz="quarter" idx="10"/>
          </p:nvPr>
        </p:nvSpPr>
        <p:spPr bwMode="gray"/>
        <p:txBody>
          <a:bodyPr/>
          <a:lstStyle/>
          <a:p>
            <a:r>
              <a:rPr lang="zh-CN" altLang="en-US" sz="1800" dirty="0" smtClean="0">
                <a:sym typeface="Huawei Sans" panose="020C0503030203020204" pitchFamily="34" charset="0"/>
              </a:rPr>
              <a:t>流量抑制通过对不同类型的报文采取不同的限制措施，达到限制报文发送速率的目的。具体实施可分为以下三种情况：</a:t>
            </a:r>
            <a:endParaRPr lang="en-US" altLang="zh-CN" sz="1800" dirty="0" smtClean="0">
              <a:sym typeface="Huawei Sans" panose="020C0503030203020204" pitchFamily="34" charset="0"/>
            </a:endParaRPr>
          </a:p>
          <a:p>
            <a:pPr lvl="1"/>
            <a:r>
              <a:rPr lang="zh-CN" altLang="en-US" sz="1600" dirty="0" smtClean="0">
                <a:sym typeface="Huawei Sans" panose="020C0503030203020204" pitchFamily="34" charset="0"/>
              </a:rPr>
              <a:t>在交换机接口的入方向，例如下图中</a:t>
            </a:r>
            <a:r>
              <a:rPr lang="en-US" altLang="zh-CN" sz="1600" dirty="0" smtClean="0">
                <a:sym typeface="Huawei Sans" panose="020C0503030203020204" pitchFamily="34" charset="0"/>
              </a:rPr>
              <a:t>SW1</a:t>
            </a:r>
            <a:r>
              <a:rPr lang="zh-CN" altLang="en-US" sz="1600" dirty="0" smtClean="0">
                <a:sym typeface="Huawei Sans" panose="020C0503030203020204" pitchFamily="34" charset="0"/>
              </a:rPr>
              <a:t>的</a:t>
            </a:r>
            <a:r>
              <a:rPr lang="en-US" altLang="zh-CN" sz="1600" dirty="0" smtClean="0">
                <a:sym typeface="Huawei Sans" panose="020C0503030203020204" pitchFamily="34" charset="0"/>
              </a:rPr>
              <a:t>GE0/0/1</a:t>
            </a:r>
            <a:r>
              <a:rPr lang="zh-CN" altLang="en-US" sz="1600" dirty="0" smtClean="0">
                <a:sym typeface="Huawei Sans" panose="020C0503030203020204" pitchFamily="34" charset="0"/>
              </a:rPr>
              <a:t>入方向，通过流量抑制功能可以限制任意报文的发送速率。</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在交换机接口出方向，例如下图中</a:t>
            </a:r>
            <a:r>
              <a:rPr lang="en-US" altLang="zh-CN" sz="1600" dirty="0" smtClean="0">
                <a:sym typeface="Huawei Sans" panose="020C0503030203020204" pitchFamily="34" charset="0"/>
              </a:rPr>
              <a:t>SW1</a:t>
            </a:r>
            <a:r>
              <a:rPr lang="zh-CN" altLang="en-US" sz="1600" dirty="0" smtClean="0">
                <a:sym typeface="Huawei Sans" panose="020C0503030203020204" pitchFamily="34" charset="0"/>
              </a:rPr>
              <a:t>的</a:t>
            </a:r>
            <a:r>
              <a:rPr lang="en-US" altLang="zh-CN" sz="1600" dirty="0" smtClean="0">
                <a:sym typeface="Huawei Sans" panose="020C0503030203020204" pitchFamily="34" charset="0"/>
              </a:rPr>
              <a:t>GE0/0/1</a:t>
            </a:r>
            <a:r>
              <a:rPr lang="zh-CN" altLang="en-US" sz="1600" dirty="0" smtClean="0">
                <a:sym typeface="Huawei Sans" panose="020C0503030203020204" pitchFamily="34" charset="0"/>
              </a:rPr>
              <a:t>出方向，通过流量抑制功能可以阻塞广播，未知组播和未知单播报文。</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在交换机的</a:t>
            </a:r>
            <a:r>
              <a:rPr lang="en-US" altLang="zh-CN" sz="1600" dirty="0" smtClean="0">
                <a:sym typeface="Huawei Sans" panose="020C0503030203020204" pitchFamily="34" charset="0"/>
              </a:rPr>
              <a:t>VLAN</a:t>
            </a:r>
            <a:r>
              <a:rPr lang="zh-CN" altLang="en-US" sz="1600" dirty="0" smtClean="0">
                <a:sym typeface="Huawei Sans" panose="020C0503030203020204" pitchFamily="34" charset="0"/>
              </a:rPr>
              <a:t>视图下，通过</a:t>
            </a:r>
            <a:r>
              <a:rPr lang="zh-CN" altLang="en-US" sz="1600" smtClean="0">
                <a:sym typeface="Huawei Sans" panose="020C0503030203020204" pitchFamily="34" charset="0"/>
              </a:rPr>
              <a:t>配置</a:t>
            </a:r>
            <a:r>
              <a:rPr lang="en-US" altLang="zh-CN" sz="1600" smtClean="0">
                <a:sym typeface="Huawei Sans" panose="020C0503030203020204" pitchFamily="34" charset="0"/>
              </a:rPr>
              <a:t>VLAN</a:t>
            </a:r>
            <a:r>
              <a:rPr lang="zh-CN" altLang="en-US" sz="1600" smtClean="0">
                <a:sym typeface="Huawei Sans" panose="020C0503030203020204" pitchFamily="34" charset="0"/>
              </a:rPr>
              <a:t>内</a:t>
            </a:r>
            <a:r>
              <a:rPr lang="zh-CN" altLang="en-US" sz="1600" dirty="0" smtClean="0">
                <a:sym typeface="Huawei Sans" panose="020C0503030203020204" pitchFamily="34" charset="0"/>
              </a:rPr>
              <a:t>流量抑制限制</a:t>
            </a:r>
            <a:r>
              <a:rPr lang="en-US" altLang="zh-CN" sz="1600" dirty="0" smtClean="0">
                <a:sym typeface="Huawei Sans" panose="020C0503030203020204" pitchFamily="34" charset="0"/>
              </a:rPr>
              <a:t>VLAN</a:t>
            </a:r>
            <a:r>
              <a:rPr lang="zh-CN" altLang="en-US" sz="1600" dirty="0" smtClean="0">
                <a:sym typeface="Huawei Sans" panose="020C0503030203020204" pitchFamily="34" charset="0"/>
              </a:rPr>
              <a:t>内广播报文。</a:t>
            </a:r>
          </a:p>
          <a:p>
            <a:pPr lvl="1"/>
            <a:endParaRPr lang="en-US" altLang="zh-CN" sz="1600" dirty="0" smtClean="0">
              <a:sym typeface="Huawei Sans" panose="020C0503030203020204" pitchFamily="34" charset="0"/>
            </a:endParaRPr>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181680" y="3919138"/>
            <a:ext cx="1530023" cy="960714"/>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8036832" y="3907489"/>
            <a:ext cx="1530023" cy="960714"/>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627550" y="4166446"/>
            <a:ext cx="540000" cy="442800"/>
          </a:xfrm>
          <a:prstGeom prst="rect">
            <a:avLst/>
          </a:prstGeom>
        </p:spPr>
      </p:pic>
      <p:pic>
        <p:nvPicPr>
          <p:cNvPr id="10" name="图片 9" descr="通用交换机.png"/>
          <p:cNvPicPr>
            <a:picLocks noChangeAspect="1"/>
          </p:cNvPicPr>
          <p:nvPr/>
        </p:nvPicPr>
        <p:blipFill>
          <a:blip r:embed="rId5" cstate="print"/>
          <a:stretch>
            <a:fillRect/>
          </a:stretch>
        </p:blipFill>
        <p:spPr bwMode="gray">
          <a:xfrm>
            <a:off x="4940424" y="4166446"/>
            <a:ext cx="540000" cy="441818"/>
          </a:xfrm>
          <a:prstGeom prst="rect">
            <a:avLst/>
          </a:prstGeom>
        </p:spPr>
      </p:pic>
      <p:cxnSp>
        <p:nvCxnSpPr>
          <p:cNvPr id="12" name="直接连接符 11"/>
          <p:cNvCxnSpPr/>
          <p:nvPr/>
        </p:nvCxnSpPr>
        <p:spPr bwMode="gray">
          <a:xfrm>
            <a:off x="3711703" y="4399495"/>
            <a:ext cx="1216162"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0" idx="3"/>
            <a:endCxn id="7" idx="1"/>
          </p:cNvCxnSpPr>
          <p:nvPr/>
        </p:nvCxnSpPr>
        <p:spPr bwMode="gray">
          <a:xfrm>
            <a:off x="5480424" y="4387355"/>
            <a:ext cx="1147126" cy="49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7" idx="3"/>
            <a:endCxn id="6" idx="1"/>
          </p:cNvCxnSpPr>
          <p:nvPr/>
        </p:nvCxnSpPr>
        <p:spPr bwMode="gray">
          <a:xfrm>
            <a:off x="7167550" y="4387846"/>
            <a:ext cx="869282"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bwMode="gray">
          <a:xfrm>
            <a:off x="2270664" y="4239914"/>
            <a:ext cx="1407758" cy="369332"/>
          </a:xfrm>
          <a:prstGeom prst="rect">
            <a:avLst/>
          </a:prstGeom>
          <a:noFill/>
          <a:ln>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L2 Network</a:t>
            </a:r>
            <a:endPar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8118803" y="4203180"/>
            <a:ext cx="1407758" cy="369332"/>
          </a:xfrm>
          <a:prstGeom prst="rect">
            <a:avLst/>
          </a:prstGeom>
          <a:noFill/>
          <a:ln>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L3 Network</a:t>
            </a:r>
            <a:endPar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文本框 22"/>
          <p:cNvSpPr txBox="1"/>
          <p:nvPr/>
        </p:nvSpPr>
        <p:spPr bwMode="gray">
          <a:xfrm>
            <a:off x="4879244" y="4577788"/>
            <a:ext cx="662361" cy="369332"/>
          </a:xfrm>
          <a:prstGeom prst="rect">
            <a:avLst/>
          </a:prstGeom>
          <a:noFill/>
          <a:ln>
            <a:noFill/>
          </a:ln>
        </p:spPr>
        <p:txBody>
          <a:bodyPr wrap="none" rtlCol="0">
            <a:spAutoFit/>
          </a:bodyPr>
          <a:lstStyle/>
          <a:p>
            <a:pPr algn="ctr"/>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6508775" y="4577679"/>
            <a:ext cx="885179" cy="369332"/>
          </a:xfrm>
          <a:prstGeom prst="rect">
            <a:avLst/>
          </a:prstGeom>
          <a:noFill/>
          <a:ln>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Router</a:t>
            </a:r>
            <a:endPar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4121553" y="4085043"/>
            <a:ext cx="851515"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五边形 15"/>
          <p:cNvSpPr/>
          <p:nvPr/>
        </p:nvSpPr>
        <p:spPr bwMode="gray">
          <a:xfrm>
            <a:off x="9990680"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18" name="燕尾形 17"/>
          <p:cNvSpPr/>
          <p:nvPr/>
        </p:nvSpPr>
        <p:spPr bwMode="gray">
          <a:xfrm>
            <a:off x="10714093"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11300680"/>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流量抑制配置命令介绍</a:t>
            </a:r>
            <a:endParaRPr lang="zh-CN" altLang="en-US" dirty="0">
              <a:sym typeface="Huawei Sans" panose="020C0503030203020204" pitchFamily="34" charset="0"/>
            </a:endParaRPr>
          </a:p>
        </p:txBody>
      </p:sp>
      <p:sp>
        <p:nvSpPr>
          <p:cNvPr id="4" name="矩形 3"/>
          <p:cNvSpPr/>
          <p:nvPr/>
        </p:nvSpPr>
        <p:spPr bwMode="gray">
          <a:xfrm>
            <a:off x="1031917" y="1717143"/>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suppression mode { by-packets | by-bits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551382" y="1304658"/>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（可选）配置流量抑制模式</a:t>
            </a:r>
          </a:p>
        </p:txBody>
      </p:sp>
      <p:sp>
        <p:nvSpPr>
          <p:cNvPr id="6" name="矩形 5"/>
          <p:cNvSpPr/>
          <p:nvPr/>
        </p:nvSpPr>
        <p:spPr bwMode="gray">
          <a:xfrm>
            <a:off x="1031916" y="2129628"/>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缺省情况下，缺省的抑制模式为</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packets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bits</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模式下，流量抑制的粒度更小、抑制更</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精确。</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bwMode="gray">
          <a:xfrm>
            <a:off x="1031917" y="2981396"/>
            <a:ext cx="10608699" cy="584775"/>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broadcast-suppression | multicast-suppression | </a:t>
            </a:r>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unicast-suppression}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percent-value</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cir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cir-value</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cbs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cbs-value</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 packets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packets-per-second</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4" name="矩形 13"/>
          <p:cNvSpPr/>
          <p:nvPr/>
        </p:nvSpPr>
        <p:spPr bwMode="gray">
          <a:xfrm>
            <a:off x="1031915" y="3690525"/>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接口下配置流量抑制时，抑制模式需与全局的流量抑制模式保持</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一致。</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a:off x="1031917" y="4460076"/>
            <a:ext cx="10608699" cy="584775"/>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broadcast-suppression | multicast-suppression | unicast-suppression } block outbound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551382" y="2580917"/>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配置流量抑制</a:t>
            </a:r>
          </a:p>
        </p:txBody>
      </p:sp>
      <p:sp>
        <p:nvSpPr>
          <p:cNvPr id="18" name="矩形 17"/>
          <p:cNvSpPr/>
          <p:nvPr/>
        </p:nvSpPr>
        <p:spPr bwMode="gray">
          <a:xfrm>
            <a:off x="551382" y="4096168"/>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配置在接口出方向上阻塞报文</a:t>
            </a:r>
          </a:p>
        </p:txBody>
      </p:sp>
      <p:sp>
        <p:nvSpPr>
          <p:cNvPr id="19" name="矩形 18"/>
          <p:cNvSpPr/>
          <p:nvPr/>
        </p:nvSpPr>
        <p:spPr bwMode="gray">
          <a:xfrm>
            <a:off x="1031917" y="5620454"/>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[Huawei-vlan2]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broadcast-suppression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threshold-value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p:cNvSpPr/>
          <p:nvPr/>
        </p:nvSpPr>
        <p:spPr bwMode="gray">
          <a:xfrm>
            <a:off x="551382" y="5202081"/>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的广播抑制速率</a:t>
            </a:r>
          </a:p>
        </p:txBody>
      </p:sp>
      <p:sp>
        <p:nvSpPr>
          <p:cNvPr id="16" name="五边形 15"/>
          <p:cNvSpPr/>
          <p:nvPr/>
        </p:nvSpPr>
        <p:spPr bwMode="gray">
          <a:xfrm>
            <a:off x="9990680"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21" name="燕尾形 20"/>
          <p:cNvSpPr/>
          <p:nvPr/>
        </p:nvSpPr>
        <p:spPr bwMode="gray">
          <a:xfrm>
            <a:off x="10714093"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1322613554"/>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流量抑制配置举例</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61963" y="2792227"/>
            <a:ext cx="5640387" cy="1539099"/>
          </a:xfrm>
        </p:spPr>
        <p:txBody>
          <a:bodyPr/>
          <a:lstStyle/>
          <a:p>
            <a:r>
              <a:rPr lang="zh-CN" altLang="en-US" sz="1600" dirty="0" smtClean="0">
                <a:sym typeface="Huawei Sans" panose="020C0503030203020204" pitchFamily="34" charset="0"/>
              </a:rPr>
              <a:t>配置要求：</a:t>
            </a:r>
            <a:endParaRPr lang="en-US" altLang="zh-CN" sz="1600" dirty="0" smtClean="0">
              <a:sym typeface="Huawei Sans" panose="020C0503030203020204" pitchFamily="34" charset="0"/>
            </a:endParaRPr>
          </a:p>
          <a:p>
            <a:pPr lvl="1"/>
            <a:r>
              <a:rPr lang="zh-CN" altLang="en-US" sz="1400" dirty="0" smtClean="0">
                <a:sym typeface="Huawei Sans" panose="020C0503030203020204" pitchFamily="34" charset="0"/>
              </a:rPr>
              <a:t>在</a:t>
            </a:r>
            <a:r>
              <a:rPr lang="en-US" altLang="zh-CN" sz="1400" dirty="0" smtClean="0">
                <a:sym typeface="Huawei Sans" panose="020C0503030203020204" pitchFamily="34" charset="0"/>
              </a:rPr>
              <a:t>GE0/0/1</a:t>
            </a:r>
            <a:r>
              <a:rPr lang="zh-CN" altLang="en-US" sz="1400" dirty="0" smtClean="0">
                <a:sym typeface="Huawei Sans" panose="020C0503030203020204" pitchFamily="34" charset="0"/>
              </a:rPr>
              <a:t>接口视图下配置流量抑制功能，限制二层网络转发的广播、未知组播和未知单播报文的能力。</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配置广播流量抑制，按百分比抑制，百分比值为</a:t>
            </a:r>
            <a:r>
              <a:rPr lang="en-US" altLang="zh-CN" sz="1400" dirty="0" smtClean="0">
                <a:sym typeface="Huawei Sans" panose="020C0503030203020204" pitchFamily="34" charset="0"/>
              </a:rPr>
              <a:t>60%</a:t>
            </a:r>
            <a:r>
              <a:rPr lang="zh-CN" altLang="en-US" sz="1400" dirty="0" smtClean="0">
                <a:sym typeface="Huawei Sans" panose="020C0503030203020204" pitchFamily="34" charset="0"/>
              </a:rPr>
              <a:t>。</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配置未知组播流量抑制，按百分比抑制，百分比值为</a:t>
            </a:r>
            <a:r>
              <a:rPr lang="en-US" altLang="zh-CN" sz="1400" dirty="0" smtClean="0">
                <a:sym typeface="Huawei Sans" panose="020C0503030203020204" pitchFamily="34" charset="0"/>
              </a:rPr>
              <a:t>70%</a:t>
            </a:r>
            <a:r>
              <a:rPr lang="zh-CN" altLang="en-US" sz="1400" dirty="0" smtClean="0">
                <a:sym typeface="Huawei Sans" panose="020C0503030203020204" pitchFamily="34" charset="0"/>
              </a:rPr>
              <a:t>。</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配置未知单播流量抑制，按百分比抑制，百分比值为</a:t>
            </a:r>
            <a:r>
              <a:rPr lang="en-US" altLang="zh-CN" sz="1400" dirty="0" smtClean="0">
                <a:sym typeface="Huawei Sans" panose="020C0503030203020204" pitchFamily="34" charset="0"/>
              </a:rPr>
              <a:t>80%</a:t>
            </a:r>
            <a:r>
              <a:rPr lang="zh-CN" altLang="en-US" sz="1400" dirty="0" smtClean="0">
                <a:sym typeface="Huawei Sans" panose="020C0503030203020204" pitchFamily="34" charset="0"/>
              </a:rPr>
              <a:t>。</a:t>
            </a:r>
          </a:p>
          <a:p>
            <a:endParaRPr lang="en-US" altLang="zh-CN" sz="1600" dirty="0" smtClean="0">
              <a:sym typeface="Huawei Sans" panose="020C0503030203020204" pitchFamily="34" charset="0"/>
            </a:endParaRPr>
          </a:p>
        </p:txBody>
      </p:sp>
      <p:grpSp>
        <p:nvGrpSpPr>
          <p:cNvPr id="33" name="组合 32"/>
          <p:cNvGrpSpPr/>
          <p:nvPr/>
        </p:nvGrpSpPr>
        <p:grpSpPr bwMode="gray">
          <a:xfrm>
            <a:off x="541949" y="1719490"/>
            <a:ext cx="5302111" cy="783313"/>
            <a:chOff x="576609" y="2100317"/>
            <a:chExt cx="5302111" cy="783313"/>
          </a:xfrm>
        </p:grpSpPr>
        <p:grpSp>
          <p:nvGrpSpPr>
            <p:cNvPr id="4" name="组合 3"/>
            <p:cNvGrpSpPr/>
            <p:nvPr/>
          </p:nvGrpSpPr>
          <p:grpSpPr bwMode="gray">
            <a:xfrm>
              <a:off x="576609" y="2105278"/>
              <a:ext cx="5302111" cy="778352"/>
              <a:chOff x="2194684" y="2376937"/>
              <a:chExt cx="5302111" cy="778352"/>
            </a:xfrm>
          </p:grpSpPr>
          <p:pic>
            <p:nvPicPr>
              <p:cNvPr id="5" name="图片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231638" y="2391908"/>
                <a:ext cx="892562" cy="560447"/>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23452" y="2376937"/>
                <a:ext cx="938683" cy="589407"/>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291615" y="2450241"/>
                <a:ext cx="540000" cy="442800"/>
              </a:xfrm>
              <a:prstGeom prst="rect">
                <a:avLst/>
              </a:prstGeom>
            </p:spPr>
          </p:pic>
          <p:pic>
            <p:nvPicPr>
              <p:cNvPr id="8" name="图片 7" descr="通用交换机.png"/>
              <p:cNvPicPr>
                <a:picLocks noChangeAspect="1"/>
              </p:cNvPicPr>
              <p:nvPr/>
            </p:nvPicPr>
            <p:blipFill>
              <a:blip r:embed="rId5" cstate="print"/>
              <a:stretch>
                <a:fillRect/>
              </a:stretch>
            </p:blipFill>
            <p:spPr bwMode="gray">
              <a:xfrm>
                <a:off x="3957293" y="2451223"/>
                <a:ext cx="540000" cy="441818"/>
              </a:xfrm>
              <a:prstGeom prst="rect">
                <a:avLst/>
              </a:prstGeom>
            </p:spPr>
          </p:pic>
          <p:cxnSp>
            <p:nvCxnSpPr>
              <p:cNvPr id="9" name="直接连接符 8"/>
              <p:cNvCxnSpPr>
                <a:stCxn id="5" idx="3"/>
                <a:endCxn id="8" idx="1"/>
              </p:cNvCxnSpPr>
              <p:nvPr/>
            </p:nvCxnSpPr>
            <p:spPr bwMode="gray">
              <a:xfrm>
                <a:off x="3124200" y="2672132"/>
                <a:ext cx="833093"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8" idx="3"/>
                <a:endCxn id="7" idx="1"/>
              </p:cNvCxnSpPr>
              <p:nvPr/>
            </p:nvCxnSpPr>
            <p:spPr bwMode="gray">
              <a:xfrm flipV="1">
                <a:off x="4497293" y="2671641"/>
                <a:ext cx="794322" cy="49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7" idx="3"/>
                <a:endCxn id="6" idx="1"/>
              </p:cNvCxnSpPr>
              <p:nvPr/>
            </p:nvCxnSpPr>
            <p:spPr bwMode="gray">
              <a:xfrm>
                <a:off x="5831615" y="2671641"/>
                <a:ext cx="691837"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bwMode="gray">
              <a:xfrm>
                <a:off x="2194684" y="2533632"/>
                <a:ext cx="973343"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L2 network</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6523452" y="2539984"/>
                <a:ext cx="973343"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L3 network</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3856674" y="2847512"/>
                <a:ext cx="763351"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5230156" y="2843819"/>
                <a:ext cx="769763"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Router</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1" name="文本框 30"/>
            <p:cNvSpPr txBox="1"/>
            <p:nvPr/>
          </p:nvSpPr>
          <p:spPr bwMode="gray">
            <a:xfrm>
              <a:off x="1643227" y="2110015"/>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文本框 31"/>
            <p:cNvSpPr txBox="1"/>
            <p:nvPr/>
          </p:nvSpPr>
          <p:spPr bwMode="gray">
            <a:xfrm>
              <a:off x="2823830" y="2100317"/>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34" name="文本框 33"/>
          <p:cNvSpPr txBox="1"/>
          <p:nvPr/>
        </p:nvSpPr>
        <p:spPr bwMode="gray">
          <a:xfrm>
            <a:off x="6333513" y="2217517"/>
            <a:ext cx="2090637" cy="369332"/>
          </a:xfrm>
          <a:prstGeom prst="rect">
            <a:avLst/>
          </a:prstGeom>
          <a:noFill/>
          <a:ln>
            <a:noFill/>
          </a:ln>
        </p:spPr>
        <p:txBody>
          <a:bodyPr wrap="none" rtlCol="0">
            <a:spAutoFit/>
          </a:bodyPr>
          <a:lstStyle/>
          <a:p>
            <a:r>
              <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rPr>
              <a:t>Switch</a:t>
            </a:r>
            <a:r>
              <a:rPr lang="zh-CN" altLang="en-US" b="1" dirty="0" smtClean="0">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35" name="文本框 34"/>
          <p:cNvSpPr txBox="1"/>
          <p:nvPr/>
        </p:nvSpPr>
        <p:spPr bwMode="gray">
          <a:xfrm>
            <a:off x="6423482" y="2713850"/>
            <a:ext cx="5058973"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00000"/>
              </a:lnSpc>
            </a:pPr>
            <a:r>
              <a:rPr lang="en-US" altLang="zh-CN" dirty="0">
                <a:sym typeface="Huawei Sans" panose="020C0503030203020204" pitchFamily="34" charset="0"/>
              </a:rPr>
              <a:t>[</a:t>
            </a:r>
            <a:r>
              <a:rPr lang="en-US" altLang="zh-CN" dirty="0" smtClean="0">
                <a:sym typeface="Huawei Sans" panose="020C0503030203020204" pitchFamily="34" charset="0"/>
              </a:rPr>
              <a:t>Switch] suppression </a:t>
            </a:r>
            <a:r>
              <a:rPr lang="en-US" altLang="zh-CN" dirty="0">
                <a:sym typeface="Huawei Sans" panose="020C0503030203020204" pitchFamily="34" charset="0"/>
              </a:rPr>
              <a:t>mode </a:t>
            </a:r>
            <a:r>
              <a:rPr lang="en-US" altLang="zh-CN" dirty="0" smtClean="0">
                <a:sym typeface="Huawei Sans" panose="020C0503030203020204" pitchFamily="34" charset="0"/>
              </a:rPr>
              <a:t>by-packets</a:t>
            </a:r>
          </a:p>
          <a:p>
            <a:pPr>
              <a:lnSpc>
                <a:spcPct val="100000"/>
              </a:lnSpc>
            </a:pPr>
            <a:r>
              <a:rPr lang="en-US" altLang="zh-CN" dirty="0">
                <a:sym typeface="Huawei Sans" panose="020C0503030203020204" pitchFamily="34" charset="0"/>
              </a:rPr>
              <a:t>[Switch] interface </a:t>
            </a:r>
            <a:r>
              <a:rPr lang="en-US" altLang="zh-CN" dirty="0" err="1" smtClean="0">
                <a:sym typeface="Huawei Sans" panose="020C0503030203020204" pitchFamily="34" charset="0"/>
              </a:rPr>
              <a:t>GigabitEthernet</a:t>
            </a:r>
            <a:r>
              <a:rPr lang="en-US" altLang="zh-CN" dirty="0" smtClean="0">
                <a:sym typeface="Huawei Sans" panose="020C0503030203020204" pitchFamily="34" charset="0"/>
              </a:rPr>
              <a:t> 0/0/1</a:t>
            </a:r>
            <a:endParaRPr lang="en-US" altLang="zh-CN" dirty="0">
              <a:sym typeface="Huawei Sans" panose="020C0503030203020204" pitchFamily="34" charset="0"/>
            </a:endParaRPr>
          </a:p>
          <a:p>
            <a:pPr>
              <a:lnSpc>
                <a:spcPct val="100000"/>
              </a:lnSpc>
            </a:pPr>
            <a:r>
              <a:rPr lang="en-US" altLang="zh-CN" dirty="0" smtClean="0">
                <a:sym typeface="Huawei Sans" panose="020C0503030203020204" pitchFamily="34" charset="0"/>
              </a:rPr>
              <a:t>[</a:t>
            </a:r>
            <a:r>
              <a:rPr lang="en-US" altLang="zh-CN" dirty="0">
                <a:sym typeface="Huawei Sans" panose="020C0503030203020204" pitchFamily="34" charset="0"/>
              </a:rPr>
              <a:t>Switch-GigabitEthernet0/0/1] unicast-suppression 80</a:t>
            </a:r>
          </a:p>
          <a:p>
            <a:pPr>
              <a:lnSpc>
                <a:spcPct val="100000"/>
              </a:lnSpc>
            </a:pPr>
            <a:r>
              <a:rPr lang="en-US" altLang="zh-CN" dirty="0">
                <a:sym typeface="Huawei Sans" panose="020C0503030203020204" pitchFamily="34" charset="0"/>
              </a:rPr>
              <a:t>[Switch-GigabitEthernet0/0/1] multicast-suppression </a:t>
            </a:r>
            <a:r>
              <a:rPr lang="en-US" altLang="zh-CN" dirty="0" smtClean="0">
                <a:sym typeface="Huawei Sans" panose="020C0503030203020204" pitchFamily="34" charset="0"/>
              </a:rPr>
              <a:t>70</a:t>
            </a:r>
            <a:endParaRPr lang="en-US" altLang="zh-CN" dirty="0">
              <a:sym typeface="Huawei Sans" panose="020C0503030203020204" pitchFamily="34" charset="0"/>
            </a:endParaRPr>
          </a:p>
          <a:p>
            <a:pPr>
              <a:lnSpc>
                <a:spcPct val="100000"/>
              </a:lnSpc>
            </a:pPr>
            <a:r>
              <a:rPr lang="en-US" altLang="zh-CN" dirty="0">
                <a:sym typeface="Huawei Sans" panose="020C0503030203020204" pitchFamily="34" charset="0"/>
              </a:rPr>
              <a:t>[Switch-GigabitEthernet0/0/1] broadcast-suppression </a:t>
            </a:r>
            <a:r>
              <a:rPr lang="en-US" altLang="zh-CN" dirty="0" smtClean="0">
                <a:sym typeface="Huawei Sans" panose="020C0503030203020204" pitchFamily="34" charset="0"/>
              </a:rPr>
              <a:t>60</a:t>
            </a:r>
            <a:endParaRPr lang="en-US" altLang="zh-CN" dirty="0">
              <a:sym typeface="Huawei Sans" panose="020C0503030203020204" pitchFamily="34" charset="0"/>
            </a:endParaRPr>
          </a:p>
        </p:txBody>
      </p:sp>
      <p:sp>
        <p:nvSpPr>
          <p:cNvPr id="21" name="五边形 20"/>
          <p:cNvSpPr/>
          <p:nvPr/>
        </p:nvSpPr>
        <p:spPr bwMode="gray">
          <a:xfrm>
            <a:off x="9990680"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22" name="燕尾形 21"/>
          <p:cNvSpPr/>
          <p:nvPr/>
        </p:nvSpPr>
        <p:spPr bwMode="gray">
          <a:xfrm>
            <a:off x="10714093"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4021601128"/>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配置验证</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smtClean="0">
                <a:sym typeface="Huawei Sans" panose="020C0503030203020204" pitchFamily="34" charset="0"/>
              </a:rPr>
              <a:t>使用命令</a:t>
            </a:r>
            <a:r>
              <a:rPr lang="en-US" altLang="zh-CN" sz="1800" dirty="0" smtClean="0">
                <a:sym typeface="Huawei Sans" panose="020C0503030203020204" pitchFamily="34" charset="0"/>
              </a:rPr>
              <a:t>display flow-suppression interface </a:t>
            </a:r>
            <a:r>
              <a:rPr lang="zh-CN" altLang="en-US" sz="1800" dirty="0" smtClean="0">
                <a:sym typeface="Huawei Sans" panose="020C0503030203020204" pitchFamily="34" charset="0"/>
              </a:rPr>
              <a:t>查看流量抑制配置信息。</a:t>
            </a:r>
            <a:endParaRPr lang="zh-CN" altLang="en-US" sz="1800" dirty="0">
              <a:sym typeface="Huawei Sans" panose="020C0503030203020204" pitchFamily="34" charset="0"/>
            </a:endParaRPr>
          </a:p>
        </p:txBody>
      </p:sp>
      <p:sp>
        <p:nvSpPr>
          <p:cNvPr id="4" name="矩形 3"/>
          <p:cNvSpPr/>
          <p:nvPr/>
        </p:nvSpPr>
        <p:spPr bwMode="gray">
          <a:xfrm>
            <a:off x="2519565" y="2008725"/>
            <a:ext cx="7173686" cy="1815882"/>
          </a:xfrm>
          <a:prstGeom prst="rect">
            <a:avLst/>
          </a:prstGeom>
          <a:solidFill>
            <a:schemeClr val="bg1">
              <a:lumMod val="85000"/>
            </a:schemeClr>
          </a:solidFill>
          <a:ln>
            <a:noFill/>
          </a:ln>
        </p:spPr>
        <p:txBody>
          <a:bodyPr wrap="square" rtlCol="0">
            <a:spAutoFit/>
          </a:bodyPr>
          <a:lstStyle/>
          <a:p>
            <a:r>
              <a:rPr lang="en-US" altLang="zh-CN" sz="16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[Switch]dis flow-suppression interface </a:t>
            </a:r>
            <a:r>
              <a:rPr lang="en-US" altLang="zh-CN" sz="16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6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0/0/1</a:t>
            </a:r>
          </a:p>
          <a:p>
            <a:r>
              <a:rPr lang="en-US" altLang="zh-CN" sz="16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storm type         </a:t>
            </a:r>
            <a:r>
              <a:rPr lang="en-US" altLang="zh-CN" sz="16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rate </a:t>
            </a:r>
            <a:r>
              <a:rPr lang="en-US" altLang="zh-CN" sz="16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  </a:t>
            </a:r>
            <a:r>
              <a:rPr lang="en-US" altLang="zh-CN" sz="16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set </a:t>
            </a:r>
            <a:r>
              <a:rPr lang="en-US" altLang="zh-CN" sz="16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rate value </a:t>
            </a:r>
          </a:p>
          <a:p>
            <a:r>
              <a:rPr lang="en-US" altLang="zh-CN" sz="16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unknown-unicast    </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percent      	percent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80% </a:t>
            </a:r>
          </a:p>
          <a:p>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multicast          </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percent      	percent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70</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p>
          <a:p>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broadcast         </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percent      	percent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6</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p>
          <a:p>
            <a:r>
              <a:rPr lang="en-US" altLang="zh-CN" sz="16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6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五边形 4"/>
          <p:cNvSpPr/>
          <p:nvPr/>
        </p:nvSpPr>
        <p:spPr bwMode="gray">
          <a:xfrm>
            <a:off x="9990680" y="124239"/>
            <a:ext cx="781200" cy="213120"/>
          </a:xfrm>
          <a:prstGeom prst="homePlate">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6" name="燕尾形 5"/>
          <p:cNvSpPr/>
          <p:nvPr/>
        </p:nvSpPr>
        <p:spPr bwMode="gray">
          <a:xfrm>
            <a:off x="10714093" y="124239"/>
            <a:ext cx="1033407" cy="213120"/>
          </a:xfrm>
          <a:prstGeom prst="chevron">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2980728169"/>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圆角矩形 59"/>
          <p:cNvSpPr/>
          <p:nvPr/>
        </p:nvSpPr>
        <p:spPr bwMode="gray">
          <a:xfrm>
            <a:off x="4180896" y="4279672"/>
            <a:ext cx="1796218" cy="1087904"/>
          </a:xfrm>
          <a:prstGeom prst="roundRect">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圆角矩形 60"/>
          <p:cNvSpPr/>
          <p:nvPr/>
        </p:nvSpPr>
        <p:spPr bwMode="gray">
          <a:xfrm>
            <a:off x="787364" y="4284430"/>
            <a:ext cx="1796218" cy="1087904"/>
          </a:xfrm>
          <a:prstGeom prst="roundRect">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风暴控制概述</a:t>
            </a:r>
            <a:endParaRPr lang="zh-CN" altLang="en-US" dirty="0">
              <a:sym typeface="Huawei Sans" panose="020C0503030203020204" pitchFamily="34" charset="0"/>
            </a:endParaRPr>
          </a:p>
        </p:txBody>
      </p:sp>
      <p:sp>
        <p:nvSpPr>
          <p:cNvPr id="69" name="文本占位符 68"/>
          <p:cNvSpPr>
            <a:spLocks noGrp="1"/>
          </p:cNvSpPr>
          <p:nvPr>
            <p:ph type="body" sz="quarter" idx="10"/>
          </p:nvPr>
        </p:nvSpPr>
        <p:spPr bwMode="gray">
          <a:xfrm>
            <a:off x="5951538" y="1047750"/>
            <a:ext cx="5797549" cy="4879805"/>
          </a:xfrm>
        </p:spPr>
        <p:txBody>
          <a:bodyPr/>
          <a:lstStyle/>
          <a:p>
            <a:r>
              <a:rPr lang="zh-CN" altLang="en-US" sz="1600" smtClean="0">
                <a:sym typeface="Huawei Sans" panose="020C0503030203020204" pitchFamily="34" charset="0"/>
              </a:rPr>
              <a:t>网络中存在的问题：</a:t>
            </a:r>
            <a:endParaRPr lang="en-US" altLang="zh-CN" sz="1600" smtClean="0">
              <a:sym typeface="Huawei Sans" panose="020C0503030203020204" pitchFamily="34" charset="0"/>
            </a:endParaRPr>
          </a:p>
          <a:p>
            <a:pPr lvl="1"/>
            <a:r>
              <a:rPr lang="zh-CN" altLang="en-US" sz="1400" smtClean="0">
                <a:sym typeface="Huawei Sans" panose="020C0503030203020204" pitchFamily="34" charset="0"/>
              </a:rPr>
              <a:t>正常情况下，当设备某个二层以太接口收到广播、未知组播或未知单播报文时，会向同一</a:t>
            </a:r>
            <a:r>
              <a:rPr lang="en-US" altLang="zh-CN" sz="1400" smtClean="0">
                <a:sym typeface="Huawei Sans" panose="020C0503030203020204" pitchFamily="34" charset="0"/>
              </a:rPr>
              <a:t>VLAN</a:t>
            </a:r>
            <a:r>
              <a:rPr lang="zh-CN" altLang="en-US" sz="1400" smtClean="0">
                <a:sym typeface="Huawei Sans" panose="020C0503030203020204" pitchFamily="34" charset="0"/>
              </a:rPr>
              <a:t>内的其他二层以太接口转发这些报文，如果网络存在环路，则会导致广播风暴，严重降低设备转发性能。</a:t>
            </a:r>
            <a:endParaRPr lang="en-US" altLang="zh-CN" sz="1400" smtClean="0">
              <a:sym typeface="Huawei Sans" panose="020C0503030203020204" pitchFamily="34" charset="0"/>
            </a:endParaRPr>
          </a:p>
          <a:p>
            <a:r>
              <a:rPr lang="zh-CN" altLang="en-US" sz="1600" smtClean="0">
                <a:sym typeface="Huawei Sans" panose="020C0503030203020204" pitchFamily="34" charset="0"/>
              </a:rPr>
              <a:t>可用的解决方案：</a:t>
            </a:r>
            <a:endParaRPr lang="en-US" altLang="zh-CN" sz="1600" smtClean="0">
              <a:sym typeface="Huawei Sans" panose="020C0503030203020204" pitchFamily="34" charset="0"/>
            </a:endParaRPr>
          </a:p>
          <a:p>
            <a:pPr lvl="1"/>
            <a:r>
              <a:rPr lang="zh-CN" altLang="en-US" sz="1400" smtClean="0">
                <a:sym typeface="Huawei Sans" panose="020C0503030203020204" pitchFamily="34" charset="0"/>
              </a:rPr>
              <a:t>风暴控制可以通过阻塞报文或关闭端口来阻断广播、未知组播和未知单播报文的流量。</a:t>
            </a:r>
            <a:endParaRPr lang="en-US" altLang="zh-CN" sz="1400" smtClean="0">
              <a:sym typeface="Huawei Sans" panose="020C0503030203020204" pitchFamily="34" charset="0"/>
            </a:endParaRPr>
          </a:p>
          <a:p>
            <a:endParaRPr lang="en-US" altLang="zh-CN" sz="1600" dirty="0" smtClean="0">
              <a:sym typeface="Huawei Sans" panose="020C0503030203020204" pitchFamily="34" charset="0"/>
            </a:endParaRPr>
          </a:p>
        </p:txBody>
      </p:sp>
      <p:pic>
        <p:nvPicPr>
          <p:cNvPr id="3" name="图片 2"/>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1710801" y="3239971"/>
            <a:ext cx="540000" cy="442800"/>
          </a:xfrm>
          <a:prstGeom prst="rect">
            <a:avLst/>
          </a:prstGeom>
        </p:spPr>
      </p:pic>
      <p:pic>
        <p:nvPicPr>
          <p:cNvPr id="4" name="图片 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709864" y="2071760"/>
            <a:ext cx="540000" cy="442800"/>
          </a:xfrm>
          <a:prstGeom prst="rect">
            <a:avLst/>
          </a:prstGeom>
        </p:spPr>
      </p:pic>
      <p:pic>
        <p:nvPicPr>
          <p:cNvPr id="7" name="图片 6" descr="PC.png"/>
          <p:cNvPicPr>
            <a:picLocks noChangeAspect="1"/>
          </p:cNvPicPr>
          <p:nvPr/>
        </p:nvPicPr>
        <p:blipFill>
          <a:blip r:embed="rId5" cstate="print"/>
          <a:stretch>
            <a:fillRect/>
          </a:stretch>
        </p:blipFill>
        <p:spPr bwMode="gray">
          <a:xfrm>
            <a:off x="938513" y="4599516"/>
            <a:ext cx="539063" cy="414000"/>
          </a:xfrm>
          <a:prstGeom prst="rect">
            <a:avLst/>
          </a:prstGeom>
        </p:spPr>
      </p:pic>
      <p:pic>
        <p:nvPicPr>
          <p:cNvPr id="8" name="图片 7" descr="PC.png"/>
          <p:cNvPicPr>
            <a:picLocks noChangeAspect="1"/>
          </p:cNvPicPr>
          <p:nvPr/>
        </p:nvPicPr>
        <p:blipFill>
          <a:blip r:embed="rId5" cstate="print"/>
          <a:stretch>
            <a:fillRect/>
          </a:stretch>
        </p:blipFill>
        <p:spPr bwMode="gray">
          <a:xfrm>
            <a:off x="1710801" y="4599516"/>
            <a:ext cx="539063" cy="414000"/>
          </a:xfrm>
          <a:prstGeom prst="rect">
            <a:avLst/>
          </a:prstGeom>
        </p:spPr>
      </p:pic>
      <p:pic>
        <p:nvPicPr>
          <p:cNvPr id="9" name="图片 8" descr="PC.png"/>
          <p:cNvPicPr>
            <a:picLocks noChangeAspect="1"/>
          </p:cNvPicPr>
          <p:nvPr/>
        </p:nvPicPr>
        <p:blipFill>
          <a:blip r:embed="rId5" cstate="print"/>
          <a:stretch>
            <a:fillRect/>
          </a:stretch>
        </p:blipFill>
        <p:spPr bwMode="gray">
          <a:xfrm>
            <a:off x="4445581" y="4557683"/>
            <a:ext cx="539063" cy="414000"/>
          </a:xfrm>
          <a:prstGeom prst="rect">
            <a:avLst/>
          </a:prstGeom>
        </p:spPr>
      </p:pic>
      <p:pic>
        <p:nvPicPr>
          <p:cNvPr id="10" name="图片 9" descr="PC.png"/>
          <p:cNvPicPr>
            <a:picLocks noChangeAspect="1"/>
          </p:cNvPicPr>
          <p:nvPr/>
        </p:nvPicPr>
        <p:blipFill>
          <a:blip r:embed="rId5" cstate="print"/>
          <a:stretch>
            <a:fillRect/>
          </a:stretch>
        </p:blipFill>
        <p:spPr bwMode="gray">
          <a:xfrm>
            <a:off x="5261930" y="4548905"/>
            <a:ext cx="539063" cy="414000"/>
          </a:xfrm>
          <a:prstGeom prst="rect">
            <a:avLst/>
          </a:prstGeom>
        </p:spPr>
      </p:pic>
      <p:cxnSp>
        <p:nvCxnSpPr>
          <p:cNvPr id="15" name="直接连接符 14"/>
          <p:cNvCxnSpPr>
            <a:stCxn id="7" idx="0"/>
          </p:cNvCxnSpPr>
          <p:nvPr/>
        </p:nvCxnSpPr>
        <p:spPr bwMode="gray">
          <a:xfrm flipV="1">
            <a:off x="1208045" y="3682771"/>
            <a:ext cx="655806" cy="9167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8" idx="0"/>
            <a:endCxn id="3" idx="2"/>
          </p:cNvCxnSpPr>
          <p:nvPr/>
        </p:nvCxnSpPr>
        <p:spPr bwMode="gray">
          <a:xfrm flipV="1">
            <a:off x="1980333" y="3682771"/>
            <a:ext cx="468" cy="91674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9" idx="0"/>
            <a:endCxn id="46" idx="2"/>
          </p:cNvCxnSpPr>
          <p:nvPr/>
        </p:nvCxnSpPr>
        <p:spPr bwMode="gray">
          <a:xfrm flipV="1">
            <a:off x="4715113" y="3682771"/>
            <a:ext cx="468" cy="874912"/>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0" idx="0"/>
          </p:cNvCxnSpPr>
          <p:nvPr/>
        </p:nvCxnSpPr>
        <p:spPr bwMode="gray">
          <a:xfrm flipH="1" flipV="1">
            <a:off x="4903140" y="3675742"/>
            <a:ext cx="628322" cy="87316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3" idx="0"/>
            <a:endCxn id="4" idx="2"/>
          </p:cNvCxnSpPr>
          <p:nvPr/>
        </p:nvCxnSpPr>
        <p:spPr bwMode="gray">
          <a:xfrm flipH="1" flipV="1">
            <a:off x="1979864" y="2514560"/>
            <a:ext cx="937" cy="72541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a:stCxn id="4" idx="3"/>
            <a:endCxn id="47" idx="1"/>
          </p:cNvCxnSpPr>
          <p:nvPr/>
        </p:nvCxnSpPr>
        <p:spPr bwMode="gray">
          <a:xfrm>
            <a:off x="2249864" y="2293160"/>
            <a:ext cx="2194780"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bwMode="gray">
          <a:xfrm flipH="1" flipV="1">
            <a:off x="1878444" y="3884529"/>
            <a:ext cx="6858" cy="645368"/>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1" name="组合 10"/>
          <p:cNvGrpSpPr/>
          <p:nvPr/>
        </p:nvGrpSpPr>
        <p:grpSpPr bwMode="gray">
          <a:xfrm>
            <a:off x="3379009" y="5694507"/>
            <a:ext cx="2716595" cy="276999"/>
            <a:chOff x="3426894" y="5688467"/>
            <a:chExt cx="2716595" cy="276999"/>
          </a:xfrm>
        </p:grpSpPr>
        <p:cxnSp>
          <p:nvCxnSpPr>
            <p:cNvPr id="39" name="直接箭头连接符 38"/>
            <p:cNvCxnSpPr/>
            <p:nvPr/>
          </p:nvCxnSpPr>
          <p:spPr bwMode="gray">
            <a:xfrm>
              <a:off x="3426894" y="5826967"/>
              <a:ext cx="530135" cy="0"/>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bwMode="gray">
            <a:xfrm>
              <a:off x="4112164" y="5688467"/>
              <a:ext cx="2031325"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广播、组播、未知单播报文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grpSp>
      <p:cxnSp>
        <p:nvCxnSpPr>
          <p:cNvPr id="42" name="直接箭头连接符 41"/>
          <p:cNvCxnSpPr/>
          <p:nvPr/>
        </p:nvCxnSpPr>
        <p:spPr bwMode="gray">
          <a:xfrm flipH="1">
            <a:off x="1321570" y="3876023"/>
            <a:ext cx="284923" cy="408407"/>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bwMode="gray">
          <a:xfrm>
            <a:off x="4825184" y="3837298"/>
            <a:ext cx="0" cy="628233"/>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bwMode="gray">
          <a:xfrm>
            <a:off x="5057673" y="3741765"/>
            <a:ext cx="542912" cy="695696"/>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bwMode="gray">
          <a:xfrm>
            <a:off x="1208045" y="5052756"/>
            <a:ext cx="889987" cy="338554"/>
          </a:xfrm>
          <a:prstGeom prst="rect">
            <a:avLst/>
          </a:prstGeom>
          <a:noFill/>
        </p:spPr>
        <p:txBody>
          <a:bodyPr wrap="none" rtlCol="0">
            <a:spAutoFit/>
          </a:bodyPr>
          <a:lstStyle/>
          <a:p>
            <a:r>
              <a:rPr lang="en-US" altLang="zh-CN" sz="16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 2</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5" name="直接箭头连接符 64"/>
          <p:cNvCxnSpPr/>
          <p:nvPr/>
        </p:nvCxnSpPr>
        <p:spPr bwMode="gray">
          <a:xfrm flipV="1">
            <a:off x="1886642" y="2636809"/>
            <a:ext cx="0" cy="502092"/>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pic>
        <p:nvPicPr>
          <p:cNvPr id="46" name="图片 45"/>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4445581" y="3239971"/>
            <a:ext cx="540000" cy="442800"/>
          </a:xfrm>
          <a:prstGeom prst="rect">
            <a:avLst/>
          </a:prstGeom>
        </p:spPr>
      </p:pic>
      <p:pic>
        <p:nvPicPr>
          <p:cNvPr id="47" name="图片 4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444644" y="2071760"/>
            <a:ext cx="540000" cy="442800"/>
          </a:xfrm>
          <a:prstGeom prst="rect">
            <a:avLst/>
          </a:prstGeom>
        </p:spPr>
      </p:pic>
      <p:cxnSp>
        <p:nvCxnSpPr>
          <p:cNvPr id="57" name="直接连接符 56"/>
          <p:cNvCxnSpPr>
            <a:stCxn id="46" idx="0"/>
            <a:endCxn id="47" idx="2"/>
          </p:cNvCxnSpPr>
          <p:nvPr/>
        </p:nvCxnSpPr>
        <p:spPr bwMode="gray">
          <a:xfrm flipH="1" flipV="1">
            <a:off x="4714644" y="2514560"/>
            <a:ext cx="937" cy="72541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bwMode="gray">
          <a:xfrm>
            <a:off x="4655336" y="4998520"/>
            <a:ext cx="889987" cy="338554"/>
          </a:xfrm>
          <a:prstGeom prst="rect">
            <a:avLst/>
          </a:prstGeom>
          <a:noFill/>
        </p:spPr>
        <p:txBody>
          <a:bodyPr wrap="none" rtlCol="0">
            <a:spAutoFit/>
          </a:bodyPr>
          <a:lstStyle/>
          <a:p>
            <a:r>
              <a:rPr lang="en-US" altLang="zh-CN" sz="16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 2</a:t>
            </a:r>
            <a:endParaRPr lang="zh-CN" altLang="en-US" sz="1600" dirty="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74" name="直接箭头连接符 73"/>
          <p:cNvCxnSpPr/>
          <p:nvPr/>
        </p:nvCxnSpPr>
        <p:spPr bwMode="gray">
          <a:xfrm>
            <a:off x="4825184" y="2646965"/>
            <a:ext cx="0" cy="447132"/>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3" idx="3"/>
            <a:endCxn id="46" idx="1"/>
          </p:cNvCxnSpPr>
          <p:nvPr/>
        </p:nvCxnSpPr>
        <p:spPr bwMode="gray">
          <a:xfrm>
            <a:off x="2250801" y="3461371"/>
            <a:ext cx="2194780" cy="0"/>
          </a:xfrm>
          <a:prstGeom prst="line">
            <a:avLst/>
          </a:prstGeom>
          <a:ln w="19050">
            <a:solidFill>
              <a:srgbClr val="151515"/>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bwMode="gray">
          <a:xfrm flipV="1">
            <a:off x="2834621" y="2148345"/>
            <a:ext cx="1088776" cy="3578"/>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p:cNvCxnSpPr/>
          <p:nvPr/>
        </p:nvCxnSpPr>
        <p:spPr bwMode="gray">
          <a:xfrm flipH="1">
            <a:off x="2807908" y="3608388"/>
            <a:ext cx="1071722" cy="1"/>
          </a:xfrm>
          <a:prstGeom prst="straightConnector1">
            <a:avLst/>
          </a:prstGeom>
          <a:ln w="19050">
            <a:solidFill>
              <a:srgbClr val="EC706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86" name="文本框 85"/>
          <p:cNvSpPr txBox="1"/>
          <p:nvPr/>
        </p:nvSpPr>
        <p:spPr bwMode="gray">
          <a:xfrm>
            <a:off x="1167842" y="3335754"/>
            <a:ext cx="556563"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SW1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7" name="文本框 86"/>
          <p:cNvSpPr txBox="1"/>
          <p:nvPr/>
        </p:nvSpPr>
        <p:spPr bwMode="gray">
          <a:xfrm>
            <a:off x="1148607" y="2139271"/>
            <a:ext cx="556563"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SW2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文本框 87"/>
          <p:cNvSpPr txBox="1"/>
          <p:nvPr/>
        </p:nvSpPr>
        <p:spPr bwMode="gray">
          <a:xfrm>
            <a:off x="4977070" y="3317931"/>
            <a:ext cx="556563"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SW4</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p:cNvSpPr txBox="1"/>
          <p:nvPr/>
        </p:nvSpPr>
        <p:spPr bwMode="gray">
          <a:xfrm>
            <a:off x="4957835" y="2121448"/>
            <a:ext cx="556563"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SW3</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五边形 39"/>
          <p:cNvSpPr/>
          <p:nvPr/>
        </p:nvSpPr>
        <p:spPr bwMode="gray">
          <a:xfrm>
            <a:off x="9990680"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43" name="燕尾形 42"/>
          <p:cNvSpPr/>
          <p:nvPr/>
        </p:nvSpPr>
        <p:spPr bwMode="gray">
          <a:xfrm>
            <a:off x="10714093" y="124239"/>
            <a:ext cx="103340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17248834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圆角矩形 139"/>
          <p:cNvSpPr/>
          <p:nvPr/>
        </p:nvSpPr>
        <p:spPr bwMode="gray">
          <a:xfrm>
            <a:off x="10449857" y="4304662"/>
            <a:ext cx="897366" cy="942679"/>
          </a:xfrm>
          <a:prstGeom prst="roundRect">
            <a:avLst>
              <a:gd name="adj" fmla="val 15000"/>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圆角矩形 140"/>
          <p:cNvSpPr/>
          <p:nvPr/>
        </p:nvSpPr>
        <p:spPr bwMode="gray">
          <a:xfrm>
            <a:off x="6537187" y="4313243"/>
            <a:ext cx="891874" cy="942679"/>
          </a:xfrm>
          <a:prstGeom prst="roundRect">
            <a:avLst>
              <a:gd name="adj" fmla="val 15000"/>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风暴控制工作原理</a:t>
            </a:r>
            <a:endParaRPr lang="zh-CN" altLang="en-US" dirty="0">
              <a:sym typeface="Huawei Sans" panose="020C0503030203020204" pitchFamily="34" charset="0"/>
            </a:endParaRPr>
          </a:p>
        </p:txBody>
      </p:sp>
      <p:sp>
        <p:nvSpPr>
          <p:cNvPr id="41" name="文本占位符 40"/>
          <p:cNvSpPr>
            <a:spLocks noGrp="1"/>
          </p:cNvSpPr>
          <p:nvPr>
            <p:ph type="body" sz="quarter" idx="10"/>
          </p:nvPr>
        </p:nvSpPr>
        <p:spPr bwMode="gray"/>
        <p:txBody>
          <a:bodyPr/>
          <a:lstStyle/>
          <a:p>
            <a:r>
              <a:rPr lang="zh-CN" altLang="en-US" sz="1600" dirty="0" smtClean="0">
                <a:sym typeface="Huawei Sans" panose="020C0503030203020204" pitchFamily="34" charset="0"/>
              </a:rPr>
              <a:t>风暴控制可以用来防止广播、未知组播以及未知单播报文产生广播风暴。在风暴控制检测时间间隔内，设备监控接口下接收的三类报文的包平均速率与配置的最大阈值相比较。当报文速率大于配置的最大阈值时，风暴控制将根据配置的动作来对接口进行阻塞报文或关闭接口的处理。</a:t>
            </a:r>
            <a:endParaRPr lang="zh-CN" altLang="en-US" sz="1600" dirty="0">
              <a:sym typeface="Huawei Sans" panose="020C0503030203020204" pitchFamily="34" charset="0"/>
            </a:endParaRPr>
          </a:p>
        </p:txBody>
      </p:sp>
      <p:sp>
        <p:nvSpPr>
          <p:cNvPr id="54" name="圆角矩形 53"/>
          <p:cNvSpPr/>
          <p:nvPr/>
        </p:nvSpPr>
        <p:spPr bwMode="gray">
          <a:xfrm>
            <a:off x="4764487" y="4347611"/>
            <a:ext cx="897366" cy="942679"/>
          </a:xfrm>
          <a:prstGeom prst="roundRect">
            <a:avLst>
              <a:gd name="adj" fmla="val 15000"/>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圆角矩形 54"/>
          <p:cNvSpPr/>
          <p:nvPr/>
        </p:nvSpPr>
        <p:spPr bwMode="gray">
          <a:xfrm>
            <a:off x="898234" y="4347611"/>
            <a:ext cx="891874" cy="942679"/>
          </a:xfrm>
          <a:prstGeom prst="roundRect">
            <a:avLst>
              <a:gd name="adj" fmla="val 15000"/>
            </a:avLst>
          </a:prstGeom>
          <a:solidFill>
            <a:srgbClr val="F3FBF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椭圆 55"/>
          <p:cNvSpPr/>
          <p:nvPr/>
        </p:nvSpPr>
        <p:spPr bwMode="gray">
          <a:xfrm>
            <a:off x="8725630" y="2210305"/>
            <a:ext cx="440703" cy="419098"/>
          </a:xfrm>
          <a:prstGeom prst="ellipse">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57" name="图片 56" descr="故障链路.png"/>
          <p:cNvPicPr>
            <a:picLocks noChangeAspect="1"/>
          </p:cNvPicPr>
          <p:nvPr/>
        </p:nvPicPr>
        <p:blipFill>
          <a:blip r:embed="rId3" cstate="print"/>
          <a:stretch>
            <a:fillRect/>
          </a:stretch>
        </p:blipFill>
        <p:spPr bwMode="gray">
          <a:xfrm>
            <a:off x="3353420" y="2697593"/>
            <a:ext cx="540000" cy="440216"/>
          </a:xfrm>
          <a:prstGeom prst="rect">
            <a:avLst/>
          </a:prstGeom>
        </p:spPr>
      </p:pic>
      <p:cxnSp>
        <p:nvCxnSpPr>
          <p:cNvPr id="59" name="直接连接符 58"/>
          <p:cNvCxnSpPr/>
          <p:nvPr/>
        </p:nvCxnSpPr>
        <p:spPr bwMode="gray">
          <a:xfrm>
            <a:off x="3160482" y="3157892"/>
            <a:ext cx="289880"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bwMode="gray">
          <a:xfrm>
            <a:off x="3303967" y="2629403"/>
            <a:ext cx="0" cy="53573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61" name="文本框 60"/>
          <p:cNvSpPr txBox="1"/>
          <p:nvPr/>
        </p:nvSpPr>
        <p:spPr bwMode="gray">
          <a:xfrm>
            <a:off x="3470554" y="2241855"/>
            <a:ext cx="595035" cy="338554"/>
          </a:xfrm>
          <a:prstGeom prst="rect">
            <a:avLst/>
          </a:prstGeom>
          <a:noFill/>
          <a:ln>
            <a:noFill/>
          </a:ln>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阈值</a:t>
            </a:r>
          </a:p>
        </p:txBody>
      </p:sp>
      <p:sp>
        <p:nvSpPr>
          <p:cNvPr id="76" name="文本框 75"/>
          <p:cNvSpPr txBox="1"/>
          <p:nvPr/>
        </p:nvSpPr>
        <p:spPr bwMode="gray">
          <a:xfrm>
            <a:off x="2858373" y="3662249"/>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6" name="图片 85"/>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049226" y="4467307"/>
            <a:ext cx="540000" cy="442800"/>
          </a:xfrm>
          <a:prstGeom prst="rect">
            <a:avLst/>
          </a:prstGeom>
        </p:spPr>
      </p:pic>
      <p:pic>
        <p:nvPicPr>
          <p:cNvPr id="87" name="图片 8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985076" y="4465675"/>
            <a:ext cx="540000" cy="442800"/>
          </a:xfrm>
          <a:prstGeom prst="rect">
            <a:avLst/>
          </a:prstGeom>
        </p:spPr>
      </p:pic>
      <p:cxnSp>
        <p:nvCxnSpPr>
          <p:cNvPr id="88" name="直接连接符 87"/>
          <p:cNvCxnSpPr>
            <a:endCxn id="86" idx="0"/>
          </p:cNvCxnSpPr>
          <p:nvPr/>
        </p:nvCxnSpPr>
        <p:spPr bwMode="gray">
          <a:xfrm flipH="1">
            <a:off x="1319226" y="3513009"/>
            <a:ext cx="1954669" cy="95429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a:endCxn id="87" idx="0"/>
          </p:cNvCxnSpPr>
          <p:nvPr/>
        </p:nvCxnSpPr>
        <p:spPr bwMode="gray">
          <a:xfrm>
            <a:off x="3303967" y="3474377"/>
            <a:ext cx="1951109" cy="99129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90" name="图片 8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3022146" y="3252977"/>
            <a:ext cx="540000" cy="442800"/>
          </a:xfrm>
          <a:prstGeom prst="rect">
            <a:avLst/>
          </a:prstGeom>
        </p:spPr>
      </p:pic>
      <p:cxnSp>
        <p:nvCxnSpPr>
          <p:cNvPr id="93" name="直接箭头连接符 92"/>
          <p:cNvCxnSpPr/>
          <p:nvPr/>
        </p:nvCxnSpPr>
        <p:spPr bwMode="gray">
          <a:xfrm flipV="1">
            <a:off x="1813920" y="3986122"/>
            <a:ext cx="769050" cy="370956"/>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直接箭头连接符 93"/>
          <p:cNvCxnSpPr/>
          <p:nvPr/>
        </p:nvCxnSpPr>
        <p:spPr bwMode="gray">
          <a:xfrm>
            <a:off x="3883044" y="3876525"/>
            <a:ext cx="779873" cy="429478"/>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5" name="文本框 94"/>
          <p:cNvSpPr txBox="1"/>
          <p:nvPr/>
        </p:nvSpPr>
        <p:spPr bwMode="gray">
          <a:xfrm>
            <a:off x="885453" y="4930096"/>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文本框 95"/>
          <p:cNvSpPr txBox="1"/>
          <p:nvPr/>
        </p:nvSpPr>
        <p:spPr bwMode="gray">
          <a:xfrm>
            <a:off x="4821303" y="4959853"/>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8" name="矩形 97"/>
          <p:cNvSpPr/>
          <p:nvPr/>
        </p:nvSpPr>
        <p:spPr bwMode="gray">
          <a:xfrm rot="1649679">
            <a:off x="4356104" y="3476423"/>
            <a:ext cx="464944"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9" name="矩形 98"/>
          <p:cNvSpPr/>
          <p:nvPr/>
        </p:nvSpPr>
        <p:spPr bwMode="gray">
          <a:xfrm rot="1649679">
            <a:off x="4193368" y="3812585"/>
            <a:ext cx="656880" cy="193016"/>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2" name="矩形 101"/>
          <p:cNvSpPr/>
          <p:nvPr/>
        </p:nvSpPr>
        <p:spPr bwMode="gray">
          <a:xfrm rot="19989580">
            <a:off x="1264502" y="3299133"/>
            <a:ext cx="464944"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矩形 102"/>
          <p:cNvSpPr/>
          <p:nvPr/>
        </p:nvSpPr>
        <p:spPr bwMode="gray">
          <a:xfrm rot="19989580">
            <a:off x="1402717" y="3549376"/>
            <a:ext cx="656880" cy="193016"/>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矩形 103"/>
          <p:cNvSpPr/>
          <p:nvPr/>
        </p:nvSpPr>
        <p:spPr bwMode="gray">
          <a:xfrm rot="19989580">
            <a:off x="1550379" y="3817593"/>
            <a:ext cx="854635" cy="193016"/>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120</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8" name="图片 107" descr="故障链路.png"/>
          <p:cNvPicPr>
            <a:picLocks noChangeAspect="1"/>
          </p:cNvPicPr>
          <p:nvPr/>
        </p:nvPicPr>
        <p:blipFill>
          <a:blip r:embed="rId3" cstate="print"/>
          <a:stretch>
            <a:fillRect/>
          </a:stretch>
        </p:blipFill>
        <p:spPr bwMode="gray">
          <a:xfrm>
            <a:off x="9003364" y="2677466"/>
            <a:ext cx="540000" cy="440216"/>
          </a:xfrm>
          <a:prstGeom prst="rect">
            <a:avLst/>
          </a:prstGeom>
        </p:spPr>
      </p:pic>
      <p:cxnSp>
        <p:nvCxnSpPr>
          <p:cNvPr id="110" name="直接连接符 109"/>
          <p:cNvCxnSpPr/>
          <p:nvPr/>
        </p:nvCxnSpPr>
        <p:spPr bwMode="gray">
          <a:xfrm>
            <a:off x="8818857" y="3140897"/>
            <a:ext cx="289880"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bwMode="gray">
          <a:xfrm>
            <a:off x="8962342" y="2612408"/>
            <a:ext cx="0" cy="53573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12" name="文本框 111"/>
          <p:cNvSpPr txBox="1"/>
          <p:nvPr/>
        </p:nvSpPr>
        <p:spPr bwMode="gray">
          <a:xfrm>
            <a:off x="9128929" y="2224860"/>
            <a:ext cx="595035" cy="338554"/>
          </a:xfrm>
          <a:prstGeom prst="rect">
            <a:avLst/>
          </a:prstGeom>
          <a:noFill/>
          <a:ln>
            <a:noFill/>
          </a:ln>
        </p:spPr>
        <p:txBody>
          <a:bodyPr wrap="none" rtlCol="0">
            <a:spAutoFit/>
          </a:bodyPr>
          <a:lstStyle/>
          <a:p>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阈值</a:t>
            </a:r>
          </a:p>
        </p:txBody>
      </p:sp>
      <p:sp>
        <p:nvSpPr>
          <p:cNvPr id="113" name="文本框 112"/>
          <p:cNvSpPr txBox="1"/>
          <p:nvPr/>
        </p:nvSpPr>
        <p:spPr bwMode="gray">
          <a:xfrm>
            <a:off x="8516748" y="3645254"/>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Switch1</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14" name="图片 113"/>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707601" y="4450312"/>
            <a:ext cx="540000" cy="442800"/>
          </a:xfrm>
          <a:prstGeom prst="rect">
            <a:avLst/>
          </a:prstGeom>
        </p:spPr>
      </p:pic>
      <p:pic>
        <p:nvPicPr>
          <p:cNvPr id="115" name="图片 11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10643451" y="4448680"/>
            <a:ext cx="540000" cy="442800"/>
          </a:xfrm>
          <a:prstGeom prst="rect">
            <a:avLst/>
          </a:prstGeom>
        </p:spPr>
      </p:pic>
      <p:cxnSp>
        <p:nvCxnSpPr>
          <p:cNvPr id="116" name="直接连接符 115"/>
          <p:cNvCxnSpPr/>
          <p:nvPr/>
        </p:nvCxnSpPr>
        <p:spPr bwMode="gray">
          <a:xfrm flipH="1">
            <a:off x="6977601" y="3496014"/>
            <a:ext cx="1954669" cy="95429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a:endCxn id="115" idx="0"/>
          </p:cNvCxnSpPr>
          <p:nvPr/>
        </p:nvCxnSpPr>
        <p:spPr bwMode="gray">
          <a:xfrm>
            <a:off x="8962342" y="3457382"/>
            <a:ext cx="1951109" cy="99129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118" name="图片 11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8680521" y="3235982"/>
            <a:ext cx="540000" cy="442800"/>
          </a:xfrm>
          <a:prstGeom prst="rect">
            <a:avLst/>
          </a:prstGeom>
        </p:spPr>
      </p:pic>
      <p:cxnSp>
        <p:nvCxnSpPr>
          <p:cNvPr id="119" name="直接箭头连接符 118"/>
          <p:cNvCxnSpPr/>
          <p:nvPr/>
        </p:nvCxnSpPr>
        <p:spPr bwMode="gray">
          <a:xfrm flipV="1">
            <a:off x="7429061" y="3966513"/>
            <a:ext cx="769050" cy="370956"/>
          </a:xfrm>
          <a:prstGeom prst="straightConnector1">
            <a:avLst/>
          </a:prstGeom>
          <a:ln w="190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1" name="文本框 120"/>
          <p:cNvSpPr txBox="1"/>
          <p:nvPr/>
        </p:nvSpPr>
        <p:spPr bwMode="gray">
          <a:xfrm>
            <a:off x="6543828" y="4913101"/>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Switch2</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2" name="文本框 121"/>
          <p:cNvSpPr txBox="1"/>
          <p:nvPr/>
        </p:nvSpPr>
        <p:spPr bwMode="gray">
          <a:xfrm>
            <a:off x="10479678" y="4942858"/>
            <a:ext cx="867545" cy="307777"/>
          </a:xfrm>
          <a:prstGeom prst="rect">
            <a:avLst/>
          </a:prstGeom>
          <a:noFill/>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Switch3</a:t>
            </a:r>
            <a:endPar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7" name="矩形 126"/>
          <p:cNvSpPr/>
          <p:nvPr/>
        </p:nvSpPr>
        <p:spPr bwMode="gray">
          <a:xfrm rot="19989580">
            <a:off x="6884755" y="3307185"/>
            <a:ext cx="464944"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8" name="矩形 127"/>
          <p:cNvSpPr/>
          <p:nvPr/>
        </p:nvSpPr>
        <p:spPr bwMode="gray">
          <a:xfrm rot="19989580">
            <a:off x="7022970" y="3557428"/>
            <a:ext cx="656880" cy="193016"/>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9" name="矩形 128"/>
          <p:cNvSpPr/>
          <p:nvPr/>
        </p:nvSpPr>
        <p:spPr bwMode="gray">
          <a:xfrm rot="19989580">
            <a:off x="7170632" y="3825645"/>
            <a:ext cx="854635" cy="193016"/>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120</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1" name="文本框 130"/>
          <p:cNvSpPr txBox="1"/>
          <p:nvPr/>
        </p:nvSpPr>
        <p:spPr bwMode="gray">
          <a:xfrm>
            <a:off x="2816483" y="5274412"/>
            <a:ext cx="1475084"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广播报文</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平均速率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5" name="矩形 134"/>
          <p:cNvSpPr/>
          <p:nvPr/>
        </p:nvSpPr>
        <p:spPr bwMode="gray">
          <a:xfrm>
            <a:off x="1957064" y="5316404"/>
            <a:ext cx="464944" cy="193016"/>
          </a:xfrm>
          <a:prstGeom prst="rect">
            <a:avLst/>
          </a:prstGeom>
          <a:solidFill>
            <a:srgbClr val="56C4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50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2" name="文本框 131"/>
          <p:cNvSpPr txBox="1"/>
          <p:nvPr/>
        </p:nvSpPr>
        <p:spPr bwMode="gray">
          <a:xfrm>
            <a:off x="2816160" y="5533990"/>
            <a:ext cx="1782860" cy="276999"/>
          </a:xfrm>
          <a:prstGeom prst="rect">
            <a:avLst/>
          </a:prstGeom>
          <a:noFill/>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未知组播报文</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平均速率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6" name="矩形 135"/>
          <p:cNvSpPr/>
          <p:nvPr/>
        </p:nvSpPr>
        <p:spPr bwMode="gray">
          <a:xfrm>
            <a:off x="1955574" y="5572400"/>
            <a:ext cx="656880" cy="193016"/>
          </a:xfrm>
          <a:prstGeom prst="rect">
            <a:avLst/>
          </a:prstGeom>
          <a:solidFill>
            <a:srgbClr val="FCC8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文本框 132"/>
          <p:cNvSpPr txBox="1"/>
          <p:nvPr/>
        </p:nvSpPr>
        <p:spPr bwMode="gray">
          <a:xfrm>
            <a:off x="2816160" y="5775681"/>
            <a:ext cx="1782860"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未知</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单播报文</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平均速率</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7" name="矩形 136"/>
          <p:cNvSpPr/>
          <p:nvPr/>
        </p:nvSpPr>
        <p:spPr bwMode="gray">
          <a:xfrm>
            <a:off x="1961525" y="5820864"/>
            <a:ext cx="854635" cy="193016"/>
          </a:xfrm>
          <a:prstGeom prst="rect">
            <a:avLst/>
          </a:prstGeom>
          <a:solidFill>
            <a:srgbClr val="AFD8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120</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2258096" y="2758179"/>
            <a:ext cx="621263" cy="259181"/>
          </a:xfrm>
          <a:prstGeom prst="rect">
            <a:avLst/>
          </a:prstGeom>
          <a:solidFill>
            <a:srgbClr val="FAD3B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a:solidFill>
                  <a:schemeClr val="tx1"/>
                </a:solidFill>
                <a:sym typeface="Huawei Sans" panose="020C0503030203020204" pitchFamily="34" charset="0"/>
              </a:rPr>
              <a:t>Block</a:t>
            </a:r>
            <a:endParaRPr lang="zh-CN" altLang="en-US" sz="1400" i="0" dirty="0">
              <a:solidFill>
                <a:schemeClr val="tx1"/>
              </a:solidFill>
              <a:sym typeface="Huawei Sans" panose="020C0503030203020204" pitchFamily="34" charset="0"/>
            </a:endParaRPr>
          </a:p>
        </p:txBody>
      </p:sp>
      <p:sp>
        <p:nvSpPr>
          <p:cNvPr id="23" name="文本框 22"/>
          <p:cNvSpPr txBox="1"/>
          <p:nvPr/>
        </p:nvSpPr>
        <p:spPr bwMode="gray">
          <a:xfrm>
            <a:off x="7332008" y="2749830"/>
            <a:ext cx="1127617" cy="259181"/>
          </a:xfrm>
          <a:prstGeom prst="rect">
            <a:avLst/>
          </a:prstGeom>
          <a:solidFill>
            <a:srgbClr val="FAD3B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sz="1400" i="0" dirty="0">
                <a:solidFill>
                  <a:schemeClr val="tx1"/>
                </a:solidFill>
                <a:sym typeface="Huawei Sans" panose="020C0503030203020204" pitchFamily="34" charset="0"/>
              </a:rPr>
              <a:t>Error-down</a:t>
            </a:r>
            <a:endParaRPr lang="zh-CN" altLang="en-US" sz="1400" i="0" dirty="0">
              <a:solidFill>
                <a:schemeClr val="tx1"/>
              </a:solidFill>
              <a:sym typeface="Huawei Sans" panose="020C0503030203020204" pitchFamily="34" charset="0"/>
            </a:endParaRPr>
          </a:p>
        </p:txBody>
      </p:sp>
      <p:sp>
        <p:nvSpPr>
          <p:cNvPr id="138" name="椭圆 137"/>
          <p:cNvSpPr>
            <a:spLocks noChangeAspect="1"/>
          </p:cNvSpPr>
          <p:nvPr/>
        </p:nvSpPr>
        <p:spPr bwMode="gray">
          <a:xfrm>
            <a:off x="2964490" y="3576093"/>
            <a:ext cx="126000" cy="126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9" name="椭圆 138"/>
          <p:cNvSpPr>
            <a:spLocks noChangeAspect="1"/>
          </p:cNvSpPr>
          <p:nvPr/>
        </p:nvSpPr>
        <p:spPr bwMode="gray">
          <a:xfrm>
            <a:off x="8617938" y="3555936"/>
            <a:ext cx="126000" cy="126000"/>
          </a:xfrm>
          <a:prstGeom prst="ellipse">
            <a:avLst/>
          </a:prstGeom>
          <a:solidFill>
            <a:schemeClr val="accent2">
              <a:lumMod val="10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42" name="直接箭头连接符 141"/>
          <p:cNvCxnSpPr>
            <a:stCxn id="17" idx="2"/>
          </p:cNvCxnSpPr>
          <p:nvPr/>
        </p:nvCxnSpPr>
        <p:spPr bwMode="gray">
          <a:xfrm>
            <a:off x="2568728" y="3017360"/>
            <a:ext cx="337758" cy="498263"/>
          </a:xfrm>
          <a:prstGeom prst="straightConnector1">
            <a:avLst/>
          </a:prstGeom>
          <a:ln w="28575">
            <a:solidFill>
              <a:srgbClr val="FAD3BB"/>
            </a:solidFill>
            <a:tailEnd type="triangle"/>
          </a:ln>
        </p:spPr>
        <p:style>
          <a:lnRef idx="1">
            <a:schemeClr val="accent1"/>
          </a:lnRef>
          <a:fillRef idx="0">
            <a:schemeClr val="accent1"/>
          </a:fillRef>
          <a:effectRef idx="0">
            <a:schemeClr val="accent1"/>
          </a:effectRef>
          <a:fontRef idx="minor">
            <a:schemeClr val="tx1"/>
          </a:fontRef>
        </p:style>
      </p:cxnSp>
      <p:cxnSp>
        <p:nvCxnSpPr>
          <p:cNvPr id="143" name="直接箭头连接符 142"/>
          <p:cNvCxnSpPr/>
          <p:nvPr/>
        </p:nvCxnSpPr>
        <p:spPr bwMode="gray">
          <a:xfrm>
            <a:off x="8183094" y="2997750"/>
            <a:ext cx="305187" cy="498263"/>
          </a:xfrm>
          <a:prstGeom prst="straightConnector1">
            <a:avLst/>
          </a:prstGeom>
          <a:ln w="28575">
            <a:solidFill>
              <a:srgbClr val="FAD3BB"/>
            </a:solidFill>
            <a:tailEnd type="triangle"/>
          </a:ln>
        </p:spPr>
        <p:style>
          <a:lnRef idx="1">
            <a:schemeClr val="accent1"/>
          </a:lnRef>
          <a:fillRef idx="0">
            <a:schemeClr val="accent1"/>
          </a:fillRef>
          <a:effectRef idx="0">
            <a:schemeClr val="accent1"/>
          </a:effectRef>
          <a:fontRef idx="minor">
            <a:schemeClr val="tx1"/>
          </a:fontRef>
        </p:style>
      </p:cxnSp>
      <p:sp>
        <p:nvSpPr>
          <p:cNvPr id="73" name="五边形 72"/>
          <p:cNvSpPr/>
          <p:nvPr/>
        </p:nvSpPr>
        <p:spPr bwMode="gray">
          <a:xfrm>
            <a:off x="9990680"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74" name="燕尾形 73"/>
          <p:cNvSpPr/>
          <p:nvPr/>
        </p:nvSpPr>
        <p:spPr bwMode="gray">
          <a:xfrm>
            <a:off x="10714093" y="124239"/>
            <a:ext cx="103340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
        <p:nvSpPr>
          <p:cNvPr id="62" name="文本框 61"/>
          <p:cNvSpPr txBox="1"/>
          <p:nvPr/>
        </p:nvSpPr>
        <p:spPr bwMode="gray">
          <a:xfrm>
            <a:off x="8725630" y="2261938"/>
            <a:ext cx="499209" cy="338554"/>
          </a:xfrm>
          <a:prstGeom prst="rect">
            <a:avLst/>
          </a:prstGeom>
          <a:noFill/>
          <a:ln>
            <a:noFill/>
          </a:ln>
        </p:spPr>
        <p:txBody>
          <a:bodyPr wrap="square" rtlCol="0">
            <a:spAutoFit/>
          </a:bodyPr>
          <a:lstStyle/>
          <a:p>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椭圆 62"/>
          <p:cNvSpPr/>
          <p:nvPr/>
        </p:nvSpPr>
        <p:spPr bwMode="gray">
          <a:xfrm>
            <a:off x="3084515" y="2210305"/>
            <a:ext cx="440703" cy="419098"/>
          </a:xfrm>
          <a:prstGeom prst="ellipse">
            <a:avLst/>
          </a:prstGeom>
          <a:solidFill>
            <a:srgbClr val="62B2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3109449" y="2261938"/>
            <a:ext cx="499209" cy="338554"/>
          </a:xfrm>
          <a:prstGeom prst="rect">
            <a:avLst/>
          </a:prstGeom>
          <a:noFill/>
          <a:ln>
            <a:noFill/>
          </a:ln>
        </p:spPr>
        <p:txBody>
          <a:bodyPr wrap="square" rtlCol="0">
            <a:spAutoFit/>
          </a:bodyPr>
          <a:lstStyle/>
          <a:p>
            <a:r>
              <a:rPr lang="en-US" altLang="zh-CN" sz="16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80</a:t>
            </a:r>
            <a:endParaRPr lang="zh-CN" altLang="en-US" sz="16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87877431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风暴控制的应用</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smtClean="0">
                <a:sym typeface="Huawei Sans" panose="020C0503030203020204" pitchFamily="34" charset="0"/>
              </a:rPr>
              <a:t>风暴控制与流量抑制相比的优势是可以同时监控接口下的广播报文、未知组播报文和未知单播报文各自的包平均速率，并根据阈值对接口采取阻塞相关报文或者关闭物理接口的惩罚动作。</a:t>
            </a:r>
            <a:endParaRPr lang="en-US" altLang="zh-CN" sz="1800" smtClean="0">
              <a:sym typeface="Huawei Sans" panose="020C0503030203020204" pitchFamily="34" charset="0"/>
            </a:endParaRPr>
          </a:p>
          <a:p>
            <a:r>
              <a:rPr lang="zh-CN" altLang="en-US" sz="1800" smtClean="0">
                <a:sym typeface="Huawei Sans" panose="020C0503030203020204" pitchFamily="34" charset="0"/>
              </a:rPr>
              <a:t>本例中，</a:t>
            </a:r>
            <a:r>
              <a:rPr lang="en-US" altLang="zh-CN" sz="1800" smtClean="0">
                <a:sym typeface="Huawei Sans" panose="020C0503030203020204" pitchFamily="34" charset="0"/>
              </a:rPr>
              <a:t>Switch</a:t>
            </a:r>
            <a:r>
              <a:rPr lang="zh-CN" altLang="en-US" sz="1800" smtClean="0">
                <a:sym typeface="Huawei Sans" panose="020C0503030203020204" pitchFamily="34" charset="0"/>
              </a:rPr>
              <a:t>作为二层网络到路由器的衔接点，当需要限制二层网络转发过来的用户广播、未知组播和未知单播报文时，可以通过在</a:t>
            </a:r>
            <a:r>
              <a:rPr lang="en-US" altLang="zh-CN" sz="1800" smtClean="0">
                <a:sym typeface="Huawei Sans" panose="020C0503030203020204" pitchFamily="34" charset="0"/>
              </a:rPr>
              <a:t>Switch</a:t>
            </a:r>
            <a:r>
              <a:rPr lang="zh-CN" altLang="en-US" sz="1800" smtClean="0">
                <a:sym typeface="Huawei Sans" panose="020C0503030203020204" pitchFamily="34" charset="0"/>
              </a:rPr>
              <a:t>的</a:t>
            </a:r>
            <a:r>
              <a:rPr lang="en-US" altLang="zh-CN" sz="1800" smtClean="0">
                <a:sym typeface="Huawei Sans" panose="020C0503030203020204" pitchFamily="34" charset="0"/>
              </a:rPr>
              <a:t>GE0/0/1</a:t>
            </a:r>
            <a:r>
              <a:rPr lang="zh-CN" altLang="en-US" sz="1800" smtClean="0">
                <a:sym typeface="Huawei Sans" panose="020C0503030203020204" pitchFamily="34" charset="0"/>
              </a:rPr>
              <a:t>上配置风暴控制功能来实现。</a:t>
            </a:r>
            <a:endParaRPr lang="zh-CN" altLang="en-US" sz="1800" dirty="0">
              <a:sym typeface="Huawei Sans" panose="020C0503030203020204" pitchFamily="34" charset="0"/>
            </a:endParaRPr>
          </a:p>
        </p:txBody>
      </p:sp>
      <p:grpSp>
        <p:nvGrpSpPr>
          <p:cNvPr id="19" name="组合 18"/>
          <p:cNvGrpSpPr/>
          <p:nvPr/>
        </p:nvGrpSpPr>
        <p:grpSpPr bwMode="gray">
          <a:xfrm>
            <a:off x="2270664" y="3420485"/>
            <a:ext cx="7385175" cy="1039631"/>
            <a:chOff x="1641282" y="2198230"/>
            <a:chExt cx="7385175" cy="1039631"/>
          </a:xfrm>
        </p:grpSpPr>
        <p:pic>
          <p:nvPicPr>
            <p:cNvPr id="20" name="图片 1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641282" y="2209879"/>
              <a:ext cx="1530023" cy="960714"/>
            </a:xfrm>
            <a:prstGeom prst="rect">
              <a:avLst/>
            </a:prstGeom>
          </p:spPr>
        </p:pic>
        <p:pic>
          <p:nvPicPr>
            <p:cNvPr id="26" name="图片 2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96434" y="2198230"/>
              <a:ext cx="1530023" cy="960714"/>
            </a:xfrm>
            <a:prstGeom prst="rect">
              <a:avLst/>
            </a:prstGeom>
          </p:spPr>
        </p:pic>
        <p:pic>
          <p:nvPicPr>
            <p:cNvPr id="29" name="图片 2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087152" y="2457187"/>
              <a:ext cx="540000" cy="442800"/>
            </a:xfrm>
            <a:prstGeom prst="rect">
              <a:avLst/>
            </a:prstGeom>
          </p:spPr>
        </p:pic>
        <p:pic>
          <p:nvPicPr>
            <p:cNvPr id="31" name="图片 30" descr="通用交换机.png"/>
            <p:cNvPicPr>
              <a:picLocks noChangeAspect="1"/>
            </p:cNvPicPr>
            <p:nvPr/>
          </p:nvPicPr>
          <p:blipFill>
            <a:blip r:embed="rId5" cstate="print"/>
            <a:stretch>
              <a:fillRect/>
            </a:stretch>
          </p:blipFill>
          <p:spPr bwMode="gray">
            <a:xfrm>
              <a:off x="4387467" y="2457187"/>
              <a:ext cx="540000" cy="441818"/>
            </a:xfrm>
            <a:prstGeom prst="rect">
              <a:avLst/>
            </a:prstGeom>
          </p:spPr>
        </p:pic>
        <p:cxnSp>
          <p:nvCxnSpPr>
            <p:cNvPr id="32" name="直接连接符 31"/>
            <p:cNvCxnSpPr/>
            <p:nvPr/>
          </p:nvCxnSpPr>
          <p:spPr bwMode="gray">
            <a:xfrm>
              <a:off x="3171305" y="2690236"/>
              <a:ext cx="1216162"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31" idx="3"/>
              <a:endCxn id="29" idx="1"/>
            </p:cNvCxnSpPr>
            <p:nvPr/>
          </p:nvCxnSpPr>
          <p:spPr bwMode="gray">
            <a:xfrm>
              <a:off x="4927467" y="2678096"/>
              <a:ext cx="1159685" cy="49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9" idx="3"/>
              <a:endCxn id="26" idx="1"/>
            </p:cNvCxnSpPr>
            <p:nvPr/>
          </p:nvCxnSpPr>
          <p:spPr bwMode="gray">
            <a:xfrm>
              <a:off x="6627152" y="2678587"/>
              <a:ext cx="869282"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bwMode="gray">
            <a:xfrm>
              <a:off x="1730266" y="2530655"/>
              <a:ext cx="1407758" cy="369332"/>
            </a:xfrm>
            <a:prstGeom prst="rect">
              <a:avLst/>
            </a:prstGeom>
            <a:noFill/>
            <a:ln>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L2 Network</a:t>
              </a:r>
              <a:endPar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文本框 35"/>
            <p:cNvSpPr txBox="1"/>
            <p:nvPr/>
          </p:nvSpPr>
          <p:spPr bwMode="gray">
            <a:xfrm>
              <a:off x="7578405" y="2493921"/>
              <a:ext cx="1407758" cy="369332"/>
            </a:xfrm>
            <a:prstGeom prst="rect">
              <a:avLst/>
            </a:prstGeom>
            <a:noFill/>
            <a:ln>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L3 Network</a:t>
              </a:r>
              <a:endPar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4233404" y="2868529"/>
              <a:ext cx="872355" cy="369332"/>
            </a:xfrm>
            <a:prstGeom prst="rect">
              <a:avLst/>
            </a:prstGeom>
            <a:noFill/>
            <a:ln>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文本框 37"/>
            <p:cNvSpPr txBox="1"/>
            <p:nvPr/>
          </p:nvSpPr>
          <p:spPr bwMode="gray">
            <a:xfrm>
              <a:off x="5968377" y="2868420"/>
              <a:ext cx="885179" cy="369332"/>
            </a:xfrm>
            <a:prstGeom prst="rect">
              <a:avLst/>
            </a:prstGeom>
            <a:noFill/>
            <a:ln>
              <a:noFill/>
            </a:ln>
          </p:spPr>
          <p:txBody>
            <a:bodyPr wrap="none" rtlCol="0">
              <a:spAutoFit/>
            </a:bodyPr>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Router</a:t>
              </a:r>
              <a:endPar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文本框 38"/>
            <p:cNvSpPr txBox="1"/>
            <p:nvPr/>
          </p:nvSpPr>
          <p:spPr bwMode="gray">
            <a:xfrm>
              <a:off x="3597495" y="2355081"/>
              <a:ext cx="851515"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7" name="五边形 16"/>
          <p:cNvSpPr/>
          <p:nvPr/>
        </p:nvSpPr>
        <p:spPr bwMode="gray">
          <a:xfrm>
            <a:off x="9990680"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18" name="燕尾形 17"/>
          <p:cNvSpPr/>
          <p:nvPr/>
        </p:nvSpPr>
        <p:spPr bwMode="gray">
          <a:xfrm>
            <a:off x="10714093" y="124239"/>
            <a:ext cx="103340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381147831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风暴控制配置命令介绍</a:t>
            </a:r>
            <a:endParaRPr lang="zh-CN" altLang="en-US" dirty="0">
              <a:sym typeface="Huawei Sans" panose="020C0503030203020204" pitchFamily="34" charset="0"/>
            </a:endParaRPr>
          </a:p>
        </p:txBody>
      </p:sp>
      <p:sp>
        <p:nvSpPr>
          <p:cNvPr id="4" name="矩形 3"/>
          <p:cNvSpPr/>
          <p:nvPr/>
        </p:nvSpPr>
        <p:spPr bwMode="gray">
          <a:xfrm>
            <a:off x="1031929" y="2857126"/>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storm-control action { block | error-down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551382" y="1115974"/>
            <a:ext cx="11089232" cy="338554"/>
          </a:xfrm>
          <a:prstGeom prst="rect">
            <a:avLst/>
          </a:prstGeom>
        </p:spPr>
        <p:txBody>
          <a:bodyPr wrap="square">
            <a:spAutoFit/>
          </a:bodyPr>
          <a:lstStyle/>
          <a:p>
            <a:pPr marL="342900" indent="-342900" fontAlgn="auto">
              <a:buFont typeface="+mj-lt"/>
              <a:buAutoNum type="arabicPeriod"/>
            </a:pPr>
            <a:r>
              <a:rPr lang="zh-CN" altLang="en-US"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配置接口对报文的风暴控制</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6" name="矩形 5"/>
          <p:cNvSpPr/>
          <p:nvPr/>
        </p:nvSpPr>
        <p:spPr bwMode="gray">
          <a:xfrm>
            <a:off x="896947" y="2109334"/>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对接口上的广播、未知组播或未知单播报文进行风暴控制。</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bwMode="gray">
          <a:xfrm>
            <a:off x="1031914" y="1445878"/>
            <a:ext cx="10608699" cy="584775"/>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storm-control { broadcast | multicast | unicast } min-rate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min-rate-value</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max-rate </a:t>
            </a:r>
            <a:r>
              <a:rPr lang="en-US" altLang="zh-CN" sz="1600" i="1" dirty="0" smtClean="0">
                <a:latin typeface="Huawei Sans" panose="020C0503030203020204" pitchFamily="34" charset="0"/>
                <a:ea typeface="方正兰亭黑简体" panose="02000000000000000000" pitchFamily="2" charset="-122"/>
                <a:sym typeface="Huawei Sans" panose="020C0503030203020204" pitchFamily="34" charset="0"/>
              </a:rPr>
              <a:t>max-rate-value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a:off x="1031929" y="3706482"/>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storm-control interval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interval-value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551404" y="2504100"/>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配置风暴控制的动作</a:t>
            </a:r>
          </a:p>
        </p:txBody>
      </p:sp>
      <p:sp>
        <p:nvSpPr>
          <p:cNvPr id="18" name="矩形 17"/>
          <p:cNvSpPr/>
          <p:nvPr/>
        </p:nvSpPr>
        <p:spPr bwMode="gray">
          <a:xfrm>
            <a:off x="551396" y="3342574"/>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配置风暴控制的检测时间间隔</a:t>
            </a:r>
          </a:p>
        </p:txBody>
      </p:sp>
      <p:sp>
        <p:nvSpPr>
          <p:cNvPr id="19" name="矩形 18"/>
          <p:cNvSpPr/>
          <p:nvPr/>
        </p:nvSpPr>
        <p:spPr bwMode="gray">
          <a:xfrm>
            <a:off x="1031897" y="4598414"/>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error-down auto-recovery cause storm-control interval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interval-value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p:cNvSpPr/>
          <p:nvPr/>
        </p:nvSpPr>
        <p:spPr bwMode="gray">
          <a:xfrm>
            <a:off x="551364" y="4180041"/>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配置使能接口状态自动恢复</a:t>
            </a:r>
          </a:p>
        </p:txBody>
      </p:sp>
      <p:sp>
        <p:nvSpPr>
          <p:cNvPr id="16" name="矩形 15"/>
          <p:cNvSpPr/>
          <p:nvPr/>
        </p:nvSpPr>
        <p:spPr bwMode="gray">
          <a:xfrm>
            <a:off x="1031896" y="4928439"/>
            <a:ext cx="10608699" cy="400110"/>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使能接口状态自动恢复为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的功能，并设置接口自动恢复为</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Up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的延时时间。</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1" name="矩形 20"/>
          <p:cNvSpPr/>
          <p:nvPr/>
        </p:nvSpPr>
        <p:spPr bwMode="gray">
          <a:xfrm>
            <a:off x="1031897" y="5752154"/>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storm-control whitelist protocol { arp-request | bpdu | dhcp | igmp | </a:t>
            </a:r>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ospf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2" name="矩形 21"/>
          <p:cNvSpPr/>
          <p:nvPr/>
        </p:nvSpPr>
        <p:spPr bwMode="gray">
          <a:xfrm>
            <a:off x="551364" y="5388246"/>
            <a:ext cx="11089232" cy="338554"/>
          </a:xfrm>
          <a:prstGeom prst="rect">
            <a:avLst/>
          </a:prstGeom>
        </p:spPr>
        <p:txBody>
          <a:bodyPr wrap="square">
            <a:spAutoFit/>
          </a:bodyPr>
          <a:lstStyle/>
          <a:p>
            <a:pPr marL="342900" indent="-342900" fontAlgn="auto">
              <a:buFont typeface="+mj-lt"/>
              <a:buAutoNum type="arabicPeriod" startAt="5"/>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（可选）配置流量抑制及风暴控制白名单</a:t>
            </a:r>
          </a:p>
        </p:txBody>
      </p:sp>
      <p:sp>
        <p:nvSpPr>
          <p:cNvPr id="23" name="五边形 22"/>
          <p:cNvSpPr/>
          <p:nvPr/>
        </p:nvSpPr>
        <p:spPr bwMode="gray">
          <a:xfrm>
            <a:off x="9990680"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24" name="燕尾形 23"/>
          <p:cNvSpPr/>
          <p:nvPr/>
        </p:nvSpPr>
        <p:spPr bwMode="gray">
          <a:xfrm>
            <a:off x="10714093" y="124239"/>
            <a:ext cx="103340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190140049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风暴控制配置举例</a:t>
            </a:r>
            <a:endParaRPr lang="zh-CN" altLang="en-US" dirty="0">
              <a:sym typeface="Huawei Sans" panose="020C0503030203020204" pitchFamily="34" charset="0"/>
            </a:endParaRPr>
          </a:p>
        </p:txBody>
      </p:sp>
      <p:sp>
        <p:nvSpPr>
          <p:cNvPr id="18" name="文本占位符 17"/>
          <p:cNvSpPr>
            <a:spLocks noGrp="1"/>
          </p:cNvSpPr>
          <p:nvPr>
            <p:ph type="body" sz="quarter" idx="10"/>
          </p:nvPr>
        </p:nvSpPr>
        <p:spPr bwMode="gray">
          <a:xfrm>
            <a:off x="455613" y="2726298"/>
            <a:ext cx="5640388" cy="3201257"/>
          </a:xfrm>
        </p:spPr>
        <p:txBody>
          <a:bodyPr/>
          <a:lstStyle/>
          <a:p>
            <a:r>
              <a:rPr lang="zh-CN" altLang="en-US" sz="1600" dirty="0" smtClean="0">
                <a:sym typeface="Huawei Sans" panose="020C0503030203020204" pitchFamily="34" charset="0"/>
              </a:rPr>
              <a:t>配置需求</a:t>
            </a:r>
            <a:endParaRPr lang="en-US" altLang="zh-CN" sz="1600" dirty="0" smtClean="0">
              <a:sym typeface="Huawei Sans" panose="020C0503030203020204" pitchFamily="34" charset="0"/>
            </a:endParaRPr>
          </a:p>
          <a:p>
            <a:pPr lvl="1"/>
            <a:r>
              <a:rPr lang="zh-CN" altLang="en-US" sz="1400" dirty="0" smtClean="0">
                <a:sym typeface="Huawei Sans" panose="020C0503030203020204" pitchFamily="34" charset="0"/>
              </a:rPr>
              <a:t>在交换机</a:t>
            </a:r>
            <a:r>
              <a:rPr lang="en-US" altLang="zh-CN" sz="1400" dirty="0" smtClean="0">
                <a:sym typeface="Huawei Sans" panose="020C0503030203020204" pitchFamily="34" charset="0"/>
              </a:rPr>
              <a:t>Switch</a:t>
            </a:r>
            <a:r>
              <a:rPr lang="zh-CN" altLang="en-US" sz="1400" dirty="0" smtClean="0">
                <a:sym typeface="Huawei Sans" panose="020C0503030203020204" pitchFamily="34" charset="0"/>
              </a:rPr>
              <a:t>上需要配置防止二层网络转发的广播、未知组播和未知单播报文产生的广播风暴。</a:t>
            </a:r>
            <a:endParaRPr lang="en-US" altLang="zh-CN" sz="1400" dirty="0" smtClean="0">
              <a:sym typeface="Huawei Sans" panose="020C0503030203020204" pitchFamily="34" charset="0"/>
            </a:endParaRPr>
          </a:p>
          <a:p>
            <a:r>
              <a:rPr lang="zh-CN" altLang="en-US" sz="1600" dirty="0" smtClean="0">
                <a:sym typeface="Huawei Sans" panose="020C0503030203020204" pitchFamily="34" charset="0"/>
              </a:rPr>
              <a:t>配置思路：</a:t>
            </a:r>
            <a:endParaRPr lang="en-US" altLang="zh-CN" sz="1600" dirty="0" smtClean="0">
              <a:sym typeface="Huawei Sans" panose="020C0503030203020204" pitchFamily="34" charset="0"/>
            </a:endParaRPr>
          </a:p>
          <a:p>
            <a:pPr lvl="1"/>
            <a:r>
              <a:rPr lang="zh-CN" altLang="en-US" sz="1400" dirty="0" smtClean="0">
                <a:sym typeface="Huawei Sans" panose="020C0503030203020204" pitchFamily="34" charset="0"/>
              </a:rPr>
              <a:t>通过在接口</a:t>
            </a:r>
            <a:r>
              <a:rPr lang="en-US" altLang="zh-CN" sz="1400" dirty="0" smtClean="0">
                <a:sym typeface="Huawei Sans" panose="020C0503030203020204" pitchFamily="34" charset="0"/>
              </a:rPr>
              <a:t>GE0/0/1</a:t>
            </a:r>
            <a:r>
              <a:rPr lang="zh-CN" altLang="en-US" sz="1400" dirty="0" smtClean="0">
                <a:sym typeface="Huawei Sans" panose="020C0503030203020204" pitchFamily="34" charset="0"/>
              </a:rPr>
              <a:t>上配置风暴控制限制二层网络的广播风暴的产生。</a:t>
            </a:r>
            <a:endParaRPr lang="en-US" altLang="zh-CN" sz="1400" dirty="0" smtClean="0">
              <a:sym typeface="Huawei Sans" panose="020C0503030203020204" pitchFamily="34" charset="0"/>
            </a:endParaRPr>
          </a:p>
          <a:p>
            <a:endParaRPr lang="en-US" altLang="zh-CN" sz="1600" dirty="0" smtClean="0">
              <a:sym typeface="Huawei Sans" panose="020C0503030203020204" pitchFamily="34" charset="0"/>
            </a:endParaRPr>
          </a:p>
        </p:txBody>
      </p:sp>
      <p:grpSp>
        <p:nvGrpSpPr>
          <p:cNvPr id="3" name="组合 2"/>
          <p:cNvGrpSpPr/>
          <p:nvPr/>
        </p:nvGrpSpPr>
        <p:grpSpPr bwMode="gray">
          <a:xfrm>
            <a:off x="541949" y="1723882"/>
            <a:ext cx="5302111" cy="809061"/>
            <a:chOff x="576609" y="2104709"/>
            <a:chExt cx="5302111" cy="809061"/>
          </a:xfrm>
        </p:grpSpPr>
        <p:grpSp>
          <p:nvGrpSpPr>
            <p:cNvPr id="4" name="组合 3"/>
            <p:cNvGrpSpPr/>
            <p:nvPr/>
          </p:nvGrpSpPr>
          <p:grpSpPr bwMode="gray">
            <a:xfrm>
              <a:off x="576609" y="2105278"/>
              <a:ext cx="5302111" cy="808492"/>
              <a:chOff x="2194684" y="2376937"/>
              <a:chExt cx="5302111" cy="808492"/>
            </a:xfrm>
          </p:grpSpPr>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231638" y="2391908"/>
                <a:ext cx="892562" cy="560447"/>
              </a:xfrm>
              <a:prstGeom prst="rect">
                <a:avLst/>
              </a:prstGeom>
            </p:spPr>
          </p:pic>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6523452" y="2376937"/>
                <a:ext cx="938683" cy="589407"/>
              </a:xfrm>
              <a:prstGeom prst="rect">
                <a:avLst/>
              </a:prstGeom>
            </p:spPr>
          </p:pic>
          <p:pic>
            <p:nvPicPr>
              <p:cNvPr id="9" name="图片 8"/>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5291615" y="2450241"/>
                <a:ext cx="540000" cy="442800"/>
              </a:xfrm>
              <a:prstGeom prst="rect">
                <a:avLst/>
              </a:prstGeom>
            </p:spPr>
          </p:pic>
          <p:pic>
            <p:nvPicPr>
              <p:cNvPr id="10" name="图片 9" descr="通用交换机.png"/>
              <p:cNvPicPr>
                <a:picLocks noChangeAspect="1"/>
              </p:cNvPicPr>
              <p:nvPr/>
            </p:nvPicPr>
            <p:blipFill>
              <a:blip r:embed="rId5" cstate="print"/>
              <a:stretch>
                <a:fillRect/>
              </a:stretch>
            </p:blipFill>
            <p:spPr bwMode="gray">
              <a:xfrm>
                <a:off x="3957293" y="2451223"/>
                <a:ext cx="540000" cy="441818"/>
              </a:xfrm>
              <a:prstGeom prst="rect">
                <a:avLst/>
              </a:prstGeom>
            </p:spPr>
          </p:pic>
          <p:cxnSp>
            <p:nvCxnSpPr>
              <p:cNvPr id="11" name="直接连接符 10"/>
              <p:cNvCxnSpPr>
                <a:stCxn id="7" idx="3"/>
                <a:endCxn id="10" idx="1"/>
              </p:cNvCxnSpPr>
              <p:nvPr/>
            </p:nvCxnSpPr>
            <p:spPr bwMode="gray">
              <a:xfrm>
                <a:off x="3124200" y="2672132"/>
                <a:ext cx="833093"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10" idx="3"/>
                <a:endCxn id="9" idx="1"/>
              </p:cNvCxnSpPr>
              <p:nvPr/>
            </p:nvCxnSpPr>
            <p:spPr bwMode="gray">
              <a:xfrm flipV="1">
                <a:off x="4497293" y="2671641"/>
                <a:ext cx="794322" cy="49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9" idx="3"/>
                <a:endCxn id="8" idx="1"/>
              </p:cNvCxnSpPr>
              <p:nvPr/>
            </p:nvCxnSpPr>
            <p:spPr bwMode="gray">
              <a:xfrm>
                <a:off x="5831615" y="2671641"/>
                <a:ext cx="691837"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bwMode="gray">
              <a:xfrm>
                <a:off x="2194684" y="2533632"/>
                <a:ext cx="973343"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L2 network</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6523452" y="2539984"/>
                <a:ext cx="973343"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L3 network</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文本框 15"/>
              <p:cNvSpPr txBox="1"/>
              <p:nvPr/>
            </p:nvSpPr>
            <p:spPr bwMode="gray">
              <a:xfrm>
                <a:off x="3846699" y="2877652"/>
                <a:ext cx="763351"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5237951" y="2877651"/>
                <a:ext cx="769763"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Router</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 name="文本框 4"/>
            <p:cNvSpPr txBox="1"/>
            <p:nvPr/>
          </p:nvSpPr>
          <p:spPr bwMode="gray">
            <a:xfrm>
              <a:off x="1621466" y="2104709"/>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 name="文本框 18"/>
          <p:cNvSpPr txBox="1"/>
          <p:nvPr/>
        </p:nvSpPr>
        <p:spPr bwMode="gray">
          <a:xfrm>
            <a:off x="6054090" y="1887498"/>
            <a:ext cx="2090637" cy="369332"/>
          </a:xfrm>
          <a:prstGeom prst="rect">
            <a:avLst/>
          </a:prstGeom>
          <a:noFill/>
          <a:ln>
            <a:noFill/>
          </a:ln>
        </p:spPr>
        <p:txBody>
          <a:bodyPr wrap="none" rtlCol="0">
            <a:spAutoFit/>
          </a:bodyPr>
          <a:lstStyle/>
          <a:p>
            <a:r>
              <a:rPr lang="en-US" altLang="zh-CN" b="1" dirty="0" smtClean="0">
                <a:latin typeface="Huawei Sans" panose="020C0503030203020204" pitchFamily="34" charset="0"/>
                <a:ea typeface="方正兰亭黑简体" panose="02000000000000000000" pitchFamily="2" charset="-122"/>
                <a:sym typeface="Huawei Sans" panose="020C0503030203020204" pitchFamily="34" charset="0"/>
              </a:rPr>
              <a:t>Switch</a:t>
            </a:r>
            <a:r>
              <a:rPr lang="zh-CN" altLang="en-US" b="1" dirty="0" smtClean="0">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20" name="文本框 19"/>
          <p:cNvSpPr txBox="1"/>
          <p:nvPr/>
        </p:nvSpPr>
        <p:spPr bwMode="gray">
          <a:xfrm>
            <a:off x="6096000" y="2315855"/>
            <a:ext cx="5649913" cy="2677656"/>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00000"/>
              </a:lnSpc>
            </a:pPr>
            <a:r>
              <a:rPr lang="en-US" altLang="zh-CN" dirty="0">
                <a:sym typeface="Huawei Sans" panose="020C0503030203020204" pitchFamily="34" charset="0"/>
              </a:rPr>
              <a:t>[Switch] storm-control whitelist protocol arp-request</a:t>
            </a:r>
          </a:p>
          <a:p>
            <a:pPr>
              <a:lnSpc>
                <a:spcPct val="100000"/>
              </a:lnSpc>
            </a:pPr>
            <a:r>
              <a:rPr lang="en-US" altLang="zh-CN" dirty="0">
                <a:sym typeface="Huawei Sans" panose="020C0503030203020204" pitchFamily="34" charset="0"/>
              </a:rPr>
              <a:t>[Switch] interface gigabitethernet0/0/1</a:t>
            </a:r>
          </a:p>
          <a:p>
            <a:pPr>
              <a:lnSpc>
                <a:spcPct val="100000"/>
              </a:lnSpc>
            </a:pPr>
            <a:r>
              <a:rPr lang="en-US" altLang="zh-CN" dirty="0">
                <a:sym typeface="Huawei Sans" panose="020C0503030203020204" pitchFamily="34" charset="0"/>
              </a:rPr>
              <a:t>[Switch-GigabitEthernet0/0/1] storm-control broadcast min-rate 1000 max-rate 2000</a:t>
            </a:r>
          </a:p>
          <a:p>
            <a:pPr>
              <a:lnSpc>
                <a:spcPct val="100000"/>
              </a:lnSpc>
            </a:pPr>
            <a:r>
              <a:rPr lang="en-US" altLang="zh-CN" dirty="0">
                <a:sym typeface="Huawei Sans" panose="020C0503030203020204" pitchFamily="34" charset="0"/>
              </a:rPr>
              <a:t>[Switch-GigabitEthernet0/0/1] storm-control multicast min-rate 1000 max-rate 2000</a:t>
            </a:r>
          </a:p>
          <a:p>
            <a:pPr>
              <a:lnSpc>
                <a:spcPct val="100000"/>
              </a:lnSpc>
            </a:pPr>
            <a:r>
              <a:rPr lang="en-US" altLang="zh-CN" dirty="0">
                <a:sym typeface="Huawei Sans" panose="020C0503030203020204" pitchFamily="34" charset="0"/>
              </a:rPr>
              <a:t>[Switch-GigabitEthernet0/0/1] storm-control unicast min-rate 1000 max-rate 2000</a:t>
            </a:r>
          </a:p>
          <a:p>
            <a:pPr>
              <a:lnSpc>
                <a:spcPct val="100000"/>
              </a:lnSpc>
            </a:pPr>
            <a:r>
              <a:rPr lang="en-US" altLang="zh-CN" dirty="0">
                <a:sym typeface="Huawei Sans" panose="020C0503030203020204" pitchFamily="34" charset="0"/>
              </a:rPr>
              <a:t>[Switch-GigabitEthernet0/0/1] storm-control interval 90</a:t>
            </a:r>
          </a:p>
          <a:p>
            <a:pPr>
              <a:lnSpc>
                <a:spcPct val="100000"/>
              </a:lnSpc>
            </a:pPr>
            <a:r>
              <a:rPr lang="en-US" altLang="zh-CN" dirty="0">
                <a:sym typeface="Huawei Sans" panose="020C0503030203020204" pitchFamily="34" charset="0"/>
              </a:rPr>
              <a:t>[Switch-GigabitEthernet0/0/1] storm-control action block</a:t>
            </a:r>
          </a:p>
          <a:p>
            <a:pPr>
              <a:lnSpc>
                <a:spcPct val="100000"/>
              </a:lnSpc>
            </a:pPr>
            <a:r>
              <a:rPr lang="en-US" altLang="zh-CN" dirty="0">
                <a:sym typeface="Huawei Sans" panose="020C0503030203020204" pitchFamily="34" charset="0"/>
              </a:rPr>
              <a:t>[Switch-GigabitEthernet0/0/1] storm-control enable </a:t>
            </a:r>
            <a:r>
              <a:rPr lang="en-US" altLang="zh-CN" dirty="0" smtClean="0">
                <a:sym typeface="Huawei Sans" panose="020C0503030203020204" pitchFamily="34" charset="0"/>
              </a:rPr>
              <a:t>trap</a:t>
            </a:r>
          </a:p>
          <a:p>
            <a:pPr>
              <a:lnSpc>
                <a:spcPct val="100000"/>
              </a:lnSpc>
            </a:pPr>
            <a:r>
              <a:rPr lang="en-US" altLang="zh-CN" dirty="0" smtClean="0">
                <a:sym typeface="Huawei Sans" panose="020C0503030203020204" pitchFamily="34" charset="0"/>
              </a:rPr>
              <a:t>#</a:t>
            </a:r>
            <a:r>
              <a:rPr lang="zh-CN" altLang="en-US" dirty="0" smtClean="0">
                <a:sym typeface="Huawei Sans" panose="020C0503030203020204" pitchFamily="34" charset="0"/>
              </a:rPr>
              <a:t>使能风暴控制上报告警</a:t>
            </a:r>
            <a:endParaRPr lang="en-US" altLang="zh-CN" dirty="0">
              <a:sym typeface="Huawei Sans" panose="020C0503030203020204" pitchFamily="34" charset="0"/>
            </a:endParaRPr>
          </a:p>
        </p:txBody>
      </p:sp>
      <p:sp>
        <p:nvSpPr>
          <p:cNvPr id="21" name="五边形 20"/>
          <p:cNvSpPr/>
          <p:nvPr/>
        </p:nvSpPr>
        <p:spPr bwMode="gray">
          <a:xfrm>
            <a:off x="9990680"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22" name="燕尾形 21"/>
          <p:cNvSpPr/>
          <p:nvPr/>
        </p:nvSpPr>
        <p:spPr bwMode="gray">
          <a:xfrm>
            <a:off x="10714093" y="124239"/>
            <a:ext cx="103340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382783112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dirty="0" smtClean="0">
                <a:sym typeface="Huawei Sans" panose="020C0503030203020204" pitchFamily="34" charset="0"/>
              </a:rPr>
              <a:t>配置验证</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600" dirty="0" smtClean="0">
                <a:sym typeface="Huawei Sans" panose="020C0503030203020204" pitchFamily="34" charset="0"/>
              </a:rPr>
              <a:t>执行命令</a:t>
            </a:r>
            <a:r>
              <a:rPr lang="en-US" altLang="zh-CN" sz="1600" dirty="0" smtClean="0">
                <a:sym typeface="Huawei Sans" panose="020C0503030203020204" pitchFamily="34" charset="0"/>
              </a:rPr>
              <a:t>display storm-control interface</a:t>
            </a:r>
            <a:r>
              <a:rPr lang="zh-CN" altLang="en-US" sz="1600" dirty="0" smtClean="0">
                <a:sym typeface="Huawei Sans" panose="020C0503030203020204" pitchFamily="34" charset="0"/>
              </a:rPr>
              <a:t>查看</a:t>
            </a:r>
            <a:r>
              <a:rPr lang="en-US" altLang="zh-CN" sz="1600" dirty="0" smtClean="0">
                <a:sym typeface="Huawei Sans" panose="020C0503030203020204" pitchFamily="34" charset="0"/>
              </a:rPr>
              <a:t>GE0/0/1</a:t>
            </a:r>
            <a:r>
              <a:rPr lang="zh-CN" altLang="en-US" sz="1600" dirty="0" smtClean="0">
                <a:sym typeface="Huawei Sans" panose="020C0503030203020204" pitchFamily="34" charset="0"/>
              </a:rPr>
              <a:t>接口下的风暴控制配置情况。</a:t>
            </a:r>
            <a:endParaRPr lang="zh-CN" altLang="en-US" sz="1600" dirty="0">
              <a:sym typeface="Huawei Sans" panose="020C0503030203020204" pitchFamily="34" charset="0"/>
            </a:endParaRPr>
          </a:p>
        </p:txBody>
      </p:sp>
      <p:sp>
        <p:nvSpPr>
          <p:cNvPr id="4" name="矩形 3"/>
          <p:cNvSpPr/>
          <p:nvPr/>
        </p:nvSpPr>
        <p:spPr bwMode="gray">
          <a:xfrm>
            <a:off x="1883230" y="2024743"/>
            <a:ext cx="8240486" cy="2246769"/>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[Switch]display storm-control interface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0/0/1</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PortName</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Type      Rate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Mode 	Action   	Punish-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Trap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Log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Int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Last-</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Min/Max)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Status                	Punish-Time</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      Multicast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1000      	</a:t>
            </a:r>
            <a:r>
              <a:rPr lang="en-US" altLang="zh-CN" sz="1400" dirty="0" err="1"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Pps</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Block    	Normal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On   Off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90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zh-CN" altLang="en-US"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/2000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      Broadcast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1000      	</a:t>
            </a:r>
            <a:r>
              <a:rPr lang="en-US" altLang="zh-CN" sz="1400" dirty="0" err="1"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Pps</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Block    	Normal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On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Off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90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2000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GE0/0/1      Unicast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1000      	</a:t>
            </a:r>
            <a:r>
              <a:rPr lang="en-US" altLang="zh-CN" sz="1400" dirty="0" err="1"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Pps</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Block    	Normal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On   Off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90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a:p>
            <a:r>
              <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2000 </a:t>
            </a:r>
            <a:endParaRPr lang="zh-CN" altLang="en-US"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五边形 4"/>
          <p:cNvSpPr/>
          <p:nvPr/>
        </p:nvSpPr>
        <p:spPr bwMode="gray">
          <a:xfrm>
            <a:off x="9990680" y="124239"/>
            <a:ext cx="781200" cy="213120"/>
          </a:xfrm>
          <a:prstGeom prst="homePlate">
            <a:avLst/>
          </a:prstGeom>
          <a:solidFill>
            <a:schemeClr val="bg1">
              <a:lumMod val="85000"/>
            </a:schemeClr>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kern="0" dirty="0">
                <a:latin typeface="Huawei Sans" panose="020C0503030203020204" pitchFamily="34" charset="0"/>
                <a:ea typeface="方正兰亭黑简体" panose="02000000000000000000" pitchFamily="2" charset="-122"/>
                <a:sym typeface="Huawei Sans" panose="020C0503030203020204" pitchFamily="34" charset="0"/>
              </a:rPr>
              <a:t>流量抑制</a:t>
            </a:r>
          </a:p>
        </p:txBody>
      </p:sp>
      <p:sp>
        <p:nvSpPr>
          <p:cNvPr id="6" name="燕尾形 5"/>
          <p:cNvSpPr/>
          <p:nvPr/>
        </p:nvSpPr>
        <p:spPr bwMode="gray">
          <a:xfrm>
            <a:off x="10714093" y="124239"/>
            <a:ext cx="1033407" cy="213120"/>
          </a:xfrm>
          <a:prstGeom prst="chevron">
            <a:avLst/>
          </a:prstGeom>
          <a:solidFill>
            <a:srgbClr val="56C4D2"/>
          </a:solidFill>
          <a:ln w="9525" cap="flat" cmpd="sng" algn="ctr">
            <a:noFill/>
            <a:prstDash val="solid"/>
            <a:round/>
            <a:headEnd type="none" w="med" len="med"/>
            <a:tailEnd type="none" w="med" len="med"/>
          </a:ln>
          <a:effectLst/>
        </p:spPr>
        <p:txBody>
          <a:bodyPr vert="horz" wrap="square" lIns="0" tIns="0" rIns="0" bIns="0" numCol="1" rtlCol="0" anchor="ctr" anchorCtr="0" compatLnSpc="1">
            <a:prstTxWarp prst="textNoShape">
              <a:avLst/>
            </a:prstTxWarp>
          </a:bodyPr>
          <a:lstStyle/>
          <a:p>
            <a:pPr algn="ctr" fontAlgn="ctr"/>
            <a:r>
              <a:rPr lang="zh-CN" altLang="en-US" sz="1200" b="1" kern="0" dirty="0">
                <a:solidFill>
                  <a:srgbClr val="FFFFFF"/>
                </a:solidFill>
                <a:latin typeface="Huawei Sans" panose="020C0503030203020204" pitchFamily="34" charset="0"/>
                <a:ea typeface="方正兰亭黑简体" panose="02000000000000000000" pitchFamily="2" charset="-122"/>
                <a:sym typeface="Huawei Sans" panose="020C0503030203020204" pitchFamily="34" charset="0"/>
              </a:rPr>
              <a:t>风暴控制</a:t>
            </a:r>
          </a:p>
        </p:txBody>
      </p:sp>
    </p:spTree>
    <p:extLst>
      <p:ext uri="{BB962C8B-B14F-4D97-AF65-F5344CB8AC3E}">
        <p14:creationId xmlns:p14="http://schemas.microsoft.com/office/powerpoint/2010/main" val="1619483560"/>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b="1" dirty="0" smtClean="0">
                <a:sym typeface="Huawei Sans" panose="020C0503030203020204" pitchFamily="34" charset="0"/>
              </a:rPr>
              <a:t>以太网交换安全</a:t>
            </a:r>
            <a:endParaRPr lang="en-US" altLang="zh-CN" sz="1800" b="1" dirty="0" smtClean="0">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端口隔离</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地址表安全</a:t>
            </a:r>
            <a:endParaRPr lang="en-US" altLang="zh-CN" sz="1600" dirty="0">
              <a:solidFill>
                <a:schemeClr val="bg1">
                  <a:lumMod val="50000"/>
                </a:schemeClr>
              </a:solidFill>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端口安全</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地址漂移防止与检测</a:t>
            </a:r>
            <a:endParaRPr lang="en-US" altLang="zh-CN" sz="1600" dirty="0">
              <a:solidFill>
                <a:schemeClr val="bg1">
                  <a:lumMod val="50000"/>
                </a:schemeClr>
              </a:solidFill>
              <a:sym typeface="Huawei Sans" panose="020C0503030203020204" pitchFamily="34" charset="0"/>
            </a:endParaRPr>
          </a:p>
          <a:p>
            <a:pPr lvl="1"/>
            <a:r>
              <a:rPr lang="en-US" altLang="zh-CN" sz="1600" dirty="0" err="1">
                <a:solidFill>
                  <a:schemeClr val="bg1">
                    <a:lumMod val="50000"/>
                  </a:schemeClr>
                </a:solidFill>
                <a:sym typeface="Huawei Sans" panose="020C0503030203020204" pitchFamily="34" charset="0"/>
              </a:rPr>
              <a:t>MACsec</a:t>
            </a:r>
            <a:endParaRPr lang="en-US" altLang="zh-CN" sz="1600" dirty="0">
              <a:solidFill>
                <a:schemeClr val="bg1">
                  <a:lumMod val="50000"/>
                </a:schemeClr>
              </a:solidFill>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交换机流量控制</a:t>
            </a:r>
            <a:endParaRPr lang="en-US" altLang="zh-CN" sz="1600" dirty="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en-US" altLang="zh-CN" sz="1600" dirty="0">
                <a:sym typeface="Huawei Sans" panose="020C0503030203020204" pitchFamily="34" charset="0"/>
              </a:rPr>
              <a:t>DHCP Snooping</a:t>
            </a:r>
          </a:p>
          <a:p>
            <a:pPr lvl="1"/>
            <a:r>
              <a:rPr lang="en-US" altLang="zh-CN" sz="1600" dirty="0" smtClean="0">
                <a:solidFill>
                  <a:schemeClr val="bg1">
                    <a:lumMod val="50000"/>
                  </a:schemeClr>
                </a:solidFill>
                <a:sym typeface="Huawei Sans" panose="020C0503030203020204" pitchFamily="34" charset="0"/>
              </a:rPr>
              <a:t>IP Source Guard</a:t>
            </a:r>
          </a:p>
          <a:p>
            <a:r>
              <a:rPr lang="zh-CN" altLang="en-US" sz="1800" dirty="0" smtClean="0">
                <a:solidFill>
                  <a:schemeClr val="bg1">
                    <a:lumMod val="50000"/>
                  </a:schemeClr>
                </a:solidFill>
                <a:sym typeface="Huawei Sans" panose="020C0503030203020204" pitchFamily="34" charset="0"/>
              </a:rPr>
              <a:t>防火墙高级特性</a:t>
            </a:r>
            <a:endParaRPr lang="zh-CN" altLang="en-US"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412554223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DHCP</a:t>
            </a:r>
            <a:r>
              <a:rPr lang="zh-CN" altLang="en-US" smtClean="0">
                <a:sym typeface="Huawei Sans" panose="020C0503030203020204" pitchFamily="34" charset="0"/>
              </a:rPr>
              <a:t>工作原理概述</a:t>
            </a:r>
            <a:endParaRPr lang="zh-CN" altLang="en-US" dirty="0">
              <a:sym typeface="Huawei Sans" panose="020C0503030203020204" pitchFamily="34" charset="0"/>
            </a:endParaRPr>
          </a:p>
        </p:txBody>
      </p:sp>
      <p:grpSp>
        <p:nvGrpSpPr>
          <p:cNvPr id="85" name="组合 84"/>
          <p:cNvGrpSpPr/>
          <p:nvPr/>
        </p:nvGrpSpPr>
        <p:grpSpPr bwMode="gray">
          <a:xfrm>
            <a:off x="834690" y="1911700"/>
            <a:ext cx="3933248" cy="4010940"/>
            <a:chOff x="551770" y="1682717"/>
            <a:chExt cx="3933248" cy="4010940"/>
          </a:xfrm>
        </p:grpSpPr>
        <p:pic>
          <p:nvPicPr>
            <p:cNvPr id="4" name="图片 3" descr="通用交换机.png"/>
            <p:cNvPicPr>
              <a:picLocks noChangeAspect="1"/>
            </p:cNvPicPr>
            <p:nvPr/>
          </p:nvPicPr>
          <p:blipFill>
            <a:blip r:embed="rId3" cstate="print"/>
            <a:stretch>
              <a:fillRect/>
            </a:stretch>
          </p:blipFill>
          <p:spPr bwMode="gray">
            <a:xfrm>
              <a:off x="3714099" y="1939871"/>
              <a:ext cx="540000" cy="441818"/>
            </a:xfrm>
            <a:prstGeom prst="rect">
              <a:avLst/>
            </a:prstGeom>
          </p:spPr>
        </p:pic>
        <p:pic>
          <p:nvPicPr>
            <p:cNvPr id="5" name="图片 4" descr="PC.png"/>
            <p:cNvPicPr>
              <a:picLocks noChangeAspect="1"/>
            </p:cNvPicPr>
            <p:nvPr/>
          </p:nvPicPr>
          <p:blipFill>
            <a:blip r:embed="rId4" cstate="print"/>
            <a:stretch>
              <a:fillRect/>
            </a:stretch>
          </p:blipFill>
          <p:spPr bwMode="gray">
            <a:xfrm>
              <a:off x="760665" y="1967689"/>
              <a:ext cx="539063" cy="414000"/>
            </a:xfrm>
            <a:prstGeom prst="rect">
              <a:avLst/>
            </a:prstGeom>
          </p:spPr>
        </p:pic>
        <p:cxnSp>
          <p:nvCxnSpPr>
            <p:cNvPr id="7" name="直接连接符 6"/>
            <p:cNvCxnSpPr>
              <a:stCxn id="5" idx="3"/>
              <a:endCxn id="4" idx="1"/>
            </p:cNvCxnSpPr>
            <p:nvPr/>
          </p:nvCxnSpPr>
          <p:spPr bwMode="gray">
            <a:xfrm flipV="1">
              <a:off x="1299728" y="2160780"/>
              <a:ext cx="2414371"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bwMode="gray">
            <a:xfrm>
              <a:off x="859347" y="2381689"/>
              <a:ext cx="0" cy="3311968"/>
            </a:xfrm>
            <a:prstGeom prst="line">
              <a:avLst/>
            </a:prstGeom>
            <a:ln w="19050">
              <a:solidFill>
                <a:srgbClr val="EC7061"/>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bwMode="gray">
            <a:xfrm>
              <a:off x="4148647" y="2381689"/>
              <a:ext cx="0" cy="3311968"/>
            </a:xfrm>
            <a:prstGeom prst="line">
              <a:avLst/>
            </a:prstGeom>
            <a:ln w="19050">
              <a:solidFill>
                <a:srgbClr val="EC7061"/>
              </a:solidFill>
              <a:prstDash val="sysDash"/>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p:nvPr/>
          </p:nvCxnSpPr>
          <p:spPr bwMode="gray">
            <a:xfrm>
              <a:off x="859347" y="3077457"/>
              <a:ext cx="3289300"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bwMode="gray">
            <a:xfrm flipH="1">
              <a:off x="859347" y="3886024"/>
              <a:ext cx="3289300"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bwMode="gray">
            <a:xfrm>
              <a:off x="859347" y="4694591"/>
              <a:ext cx="3289300"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bwMode="gray">
            <a:xfrm flipH="1">
              <a:off x="859347" y="5503157"/>
              <a:ext cx="3289300"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3" name="Oval 4"/>
            <p:cNvSpPr>
              <a:spLocks noChangeAspect="1"/>
            </p:cNvSpPr>
            <p:nvPr/>
          </p:nvSpPr>
          <p:spPr bwMode="gray">
            <a:xfrm>
              <a:off x="948791" y="2624110"/>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Oval 4"/>
            <p:cNvSpPr>
              <a:spLocks noChangeAspect="1"/>
            </p:cNvSpPr>
            <p:nvPr/>
          </p:nvSpPr>
          <p:spPr bwMode="gray">
            <a:xfrm>
              <a:off x="948791" y="4241444"/>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Oval 4"/>
            <p:cNvSpPr>
              <a:spLocks noChangeAspect="1"/>
            </p:cNvSpPr>
            <p:nvPr/>
          </p:nvSpPr>
          <p:spPr bwMode="gray">
            <a:xfrm>
              <a:off x="948791" y="5050110"/>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Oval 4"/>
            <p:cNvSpPr>
              <a:spLocks noChangeAspect="1"/>
            </p:cNvSpPr>
            <p:nvPr/>
          </p:nvSpPr>
          <p:spPr bwMode="gray">
            <a:xfrm>
              <a:off x="948791" y="3432777"/>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1203442" y="2624110"/>
              <a:ext cx="3058851"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发现阶段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DISCOVER</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（广播）</a:t>
              </a:r>
            </a:p>
          </p:txBody>
        </p:sp>
        <p:sp>
          <p:nvSpPr>
            <p:cNvPr id="29" name="文本框 28"/>
            <p:cNvSpPr txBox="1"/>
            <p:nvPr/>
          </p:nvSpPr>
          <p:spPr bwMode="gray">
            <a:xfrm>
              <a:off x="1203442" y="3445594"/>
              <a:ext cx="2747868"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提供阶段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OFFER</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（单播）</a:t>
              </a:r>
            </a:p>
          </p:txBody>
        </p:sp>
        <p:sp>
          <p:nvSpPr>
            <p:cNvPr id="30" name="文本框 29"/>
            <p:cNvSpPr txBox="1"/>
            <p:nvPr/>
          </p:nvSpPr>
          <p:spPr bwMode="gray">
            <a:xfrm>
              <a:off x="1202763" y="4232589"/>
              <a:ext cx="2985113"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请求阶段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REQUEST</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（广播）</a:t>
              </a:r>
            </a:p>
          </p:txBody>
        </p:sp>
        <p:sp>
          <p:nvSpPr>
            <p:cNvPr id="31" name="文本框 30"/>
            <p:cNvSpPr txBox="1"/>
            <p:nvPr/>
          </p:nvSpPr>
          <p:spPr bwMode="gray">
            <a:xfrm>
              <a:off x="1195286" y="5066790"/>
              <a:ext cx="2547492"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确认阶段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ACK</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（单播）</a:t>
              </a:r>
            </a:p>
          </p:txBody>
        </p:sp>
        <p:sp>
          <p:nvSpPr>
            <p:cNvPr id="32" name="文本框 31"/>
            <p:cNvSpPr txBox="1"/>
            <p:nvPr/>
          </p:nvSpPr>
          <p:spPr bwMode="gray">
            <a:xfrm>
              <a:off x="551770" y="1729558"/>
              <a:ext cx="1047082"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文本框 32"/>
            <p:cNvSpPr txBox="1"/>
            <p:nvPr/>
          </p:nvSpPr>
          <p:spPr bwMode="gray">
            <a:xfrm>
              <a:off x="3404273" y="1682717"/>
              <a:ext cx="1080745"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86" name="组合 85"/>
          <p:cNvGrpSpPr/>
          <p:nvPr/>
        </p:nvGrpSpPr>
        <p:grpSpPr bwMode="gray">
          <a:xfrm>
            <a:off x="5490484" y="1908325"/>
            <a:ext cx="6255429" cy="4015957"/>
            <a:chOff x="5341630" y="1611699"/>
            <a:chExt cx="6255429" cy="4015957"/>
          </a:xfrm>
        </p:grpSpPr>
        <p:pic>
          <p:nvPicPr>
            <p:cNvPr id="34" name="图片 33" descr="通用交换机.png"/>
            <p:cNvPicPr>
              <a:picLocks noChangeAspect="1"/>
            </p:cNvPicPr>
            <p:nvPr/>
          </p:nvPicPr>
          <p:blipFill>
            <a:blip r:embed="rId3" cstate="print"/>
            <a:stretch>
              <a:fillRect/>
            </a:stretch>
          </p:blipFill>
          <p:spPr bwMode="gray">
            <a:xfrm>
              <a:off x="8182513" y="1884476"/>
              <a:ext cx="540000" cy="441818"/>
            </a:xfrm>
            <a:prstGeom prst="rect">
              <a:avLst/>
            </a:prstGeom>
          </p:spPr>
        </p:pic>
        <p:pic>
          <p:nvPicPr>
            <p:cNvPr id="35" name="图片 34" descr="PC.png"/>
            <p:cNvPicPr>
              <a:picLocks noChangeAspect="1"/>
            </p:cNvPicPr>
            <p:nvPr/>
          </p:nvPicPr>
          <p:blipFill>
            <a:blip r:embed="rId4" cstate="print"/>
            <a:stretch>
              <a:fillRect/>
            </a:stretch>
          </p:blipFill>
          <p:spPr bwMode="gray">
            <a:xfrm>
              <a:off x="5519746" y="1912294"/>
              <a:ext cx="539063" cy="414000"/>
            </a:xfrm>
            <a:prstGeom prst="rect">
              <a:avLst/>
            </a:prstGeom>
          </p:spPr>
        </p:pic>
        <p:cxnSp>
          <p:nvCxnSpPr>
            <p:cNvPr id="36" name="直接连接符 35"/>
            <p:cNvCxnSpPr>
              <a:stCxn id="35" idx="3"/>
              <a:endCxn id="34" idx="1"/>
            </p:cNvCxnSpPr>
            <p:nvPr/>
          </p:nvCxnSpPr>
          <p:spPr bwMode="gray">
            <a:xfrm flipV="1">
              <a:off x="6058809" y="2105385"/>
              <a:ext cx="2123704"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38" name="图片 37" descr="通用交换机.png"/>
            <p:cNvPicPr>
              <a:picLocks noChangeAspect="1"/>
            </p:cNvPicPr>
            <p:nvPr/>
          </p:nvPicPr>
          <p:blipFill>
            <a:blip r:embed="rId3" cstate="print"/>
            <a:stretch>
              <a:fillRect/>
            </a:stretch>
          </p:blipFill>
          <p:spPr bwMode="gray">
            <a:xfrm>
              <a:off x="10846218" y="1884476"/>
              <a:ext cx="540000" cy="441818"/>
            </a:xfrm>
            <a:prstGeom prst="rect">
              <a:avLst/>
            </a:prstGeom>
          </p:spPr>
        </p:pic>
        <p:cxnSp>
          <p:nvCxnSpPr>
            <p:cNvPr id="39" name="直接连接符 38"/>
            <p:cNvCxnSpPr>
              <a:stCxn id="34" idx="3"/>
              <a:endCxn id="38" idx="1"/>
            </p:cNvCxnSpPr>
            <p:nvPr/>
          </p:nvCxnSpPr>
          <p:spPr bwMode="gray">
            <a:xfrm>
              <a:off x="8722513" y="2105385"/>
              <a:ext cx="2123705"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bwMode="gray">
            <a:xfrm>
              <a:off x="5341630" y="1649161"/>
              <a:ext cx="1047082"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文本框 47"/>
            <p:cNvSpPr txBox="1"/>
            <p:nvPr/>
          </p:nvSpPr>
          <p:spPr bwMode="gray">
            <a:xfrm>
              <a:off x="8001088" y="1635410"/>
              <a:ext cx="1023037"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Relay</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文本框 48"/>
            <p:cNvSpPr txBox="1"/>
            <p:nvPr/>
          </p:nvSpPr>
          <p:spPr bwMode="gray">
            <a:xfrm>
              <a:off x="10516314" y="1611699"/>
              <a:ext cx="1080745"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0" name="直接连接符 49"/>
            <p:cNvCxnSpPr/>
            <p:nvPr/>
          </p:nvCxnSpPr>
          <p:spPr bwMode="gray">
            <a:xfrm>
              <a:off x="5610280" y="2315688"/>
              <a:ext cx="0" cy="3311968"/>
            </a:xfrm>
            <a:prstGeom prst="line">
              <a:avLst/>
            </a:prstGeom>
            <a:ln w="19050">
              <a:solidFill>
                <a:srgbClr val="EC7061"/>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bwMode="gray">
            <a:xfrm>
              <a:off x="8471890" y="2315688"/>
              <a:ext cx="0" cy="3311968"/>
            </a:xfrm>
            <a:prstGeom prst="line">
              <a:avLst/>
            </a:prstGeom>
            <a:ln w="19050">
              <a:solidFill>
                <a:srgbClr val="EC7061"/>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bwMode="gray">
            <a:xfrm>
              <a:off x="11116218" y="2315688"/>
              <a:ext cx="0" cy="3311968"/>
            </a:xfrm>
            <a:prstGeom prst="line">
              <a:avLst/>
            </a:prstGeom>
            <a:ln w="19050">
              <a:solidFill>
                <a:srgbClr val="EC7061"/>
              </a:solidFill>
              <a:prstDash val="sysDash"/>
            </a:ln>
          </p:spPr>
          <p:style>
            <a:lnRef idx="1">
              <a:schemeClr val="accent1"/>
            </a:lnRef>
            <a:fillRef idx="0">
              <a:schemeClr val="accent1"/>
            </a:fillRef>
            <a:effectRef idx="0">
              <a:schemeClr val="accent1"/>
            </a:effectRef>
            <a:fontRef idx="minor">
              <a:schemeClr val="tx1"/>
            </a:fontRef>
          </p:style>
        </p:cxnSp>
        <p:cxnSp>
          <p:nvCxnSpPr>
            <p:cNvPr id="56" name="直接箭头连接符 55"/>
            <p:cNvCxnSpPr/>
            <p:nvPr/>
          </p:nvCxnSpPr>
          <p:spPr bwMode="gray">
            <a:xfrm>
              <a:off x="5610280" y="3043901"/>
              <a:ext cx="2842233"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bwMode="gray">
            <a:xfrm>
              <a:off x="8452513" y="3043901"/>
              <a:ext cx="2663705"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bwMode="gray">
            <a:xfrm flipH="1">
              <a:off x="8452513" y="3839698"/>
              <a:ext cx="2663705"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bwMode="gray">
            <a:xfrm flipH="1">
              <a:off x="5610280" y="3839698"/>
              <a:ext cx="2842233"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bwMode="gray">
            <a:xfrm>
              <a:off x="5610280" y="4646096"/>
              <a:ext cx="2861610"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bwMode="gray">
            <a:xfrm>
              <a:off x="8452513" y="4646096"/>
              <a:ext cx="2663705"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bwMode="gray">
            <a:xfrm flipH="1">
              <a:off x="8471890" y="5427919"/>
              <a:ext cx="2644328"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p:cNvCxnSpPr/>
            <p:nvPr/>
          </p:nvCxnSpPr>
          <p:spPr bwMode="gray">
            <a:xfrm flipH="1">
              <a:off x="5610280" y="5427919"/>
              <a:ext cx="2861610" cy="0"/>
            </a:xfrm>
            <a:prstGeom prst="straightConnector1">
              <a:avLst/>
            </a:prstGeom>
            <a:ln w="19050">
              <a:solidFill>
                <a:schemeClr val="tx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1" name="Oval 4"/>
            <p:cNvSpPr>
              <a:spLocks noChangeAspect="1"/>
            </p:cNvSpPr>
            <p:nvPr/>
          </p:nvSpPr>
          <p:spPr bwMode="gray">
            <a:xfrm>
              <a:off x="5684715" y="2566911"/>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Oval 4"/>
            <p:cNvSpPr>
              <a:spLocks noChangeAspect="1"/>
            </p:cNvSpPr>
            <p:nvPr/>
          </p:nvSpPr>
          <p:spPr bwMode="gray">
            <a:xfrm>
              <a:off x="5684715" y="4184245"/>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Oval 4"/>
            <p:cNvSpPr>
              <a:spLocks noChangeAspect="1"/>
            </p:cNvSpPr>
            <p:nvPr/>
          </p:nvSpPr>
          <p:spPr bwMode="gray">
            <a:xfrm>
              <a:off x="5684715" y="4992911"/>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Oval 4"/>
            <p:cNvSpPr>
              <a:spLocks noChangeAspect="1"/>
            </p:cNvSpPr>
            <p:nvPr/>
          </p:nvSpPr>
          <p:spPr bwMode="gray">
            <a:xfrm>
              <a:off x="5684715" y="3375578"/>
              <a:ext cx="282142" cy="282142"/>
            </a:xfrm>
            <a:prstGeom prst="ellipse">
              <a:avLst/>
            </a:prstGeom>
            <a:solidFill>
              <a:srgbClr val="30B5C5"/>
            </a:solidFill>
            <a:ln w="1270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a:r>
                <a:rPr lang="en-US" altLang="zh-CN"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文本框 74"/>
            <p:cNvSpPr txBox="1"/>
            <p:nvPr/>
          </p:nvSpPr>
          <p:spPr bwMode="gray">
            <a:xfrm>
              <a:off x="5966857" y="2547992"/>
              <a:ext cx="2340705"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发现阶段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DISCOVER</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文本框 75"/>
            <p:cNvSpPr txBox="1"/>
            <p:nvPr/>
          </p:nvSpPr>
          <p:spPr bwMode="gray">
            <a:xfrm>
              <a:off x="5949601" y="3367726"/>
              <a:ext cx="2444900"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提供阶段  中继</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OFFER</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文本框 76"/>
            <p:cNvSpPr txBox="1"/>
            <p:nvPr/>
          </p:nvSpPr>
          <p:spPr bwMode="gray">
            <a:xfrm>
              <a:off x="5954617" y="4182442"/>
              <a:ext cx="2266967"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请求阶段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REQUEST</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文本框 77"/>
            <p:cNvSpPr txBox="1"/>
            <p:nvPr/>
          </p:nvSpPr>
          <p:spPr bwMode="gray">
            <a:xfrm>
              <a:off x="5954617" y="4980093"/>
              <a:ext cx="2188420"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确认阶段 中继</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ACK</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文本框 79"/>
            <p:cNvSpPr txBox="1"/>
            <p:nvPr/>
          </p:nvSpPr>
          <p:spPr bwMode="gray">
            <a:xfrm>
              <a:off x="8555576" y="2556967"/>
              <a:ext cx="2284600"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中继单播</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DISCOVER</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文本框 80"/>
            <p:cNvSpPr txBox="1"/>
            <p:nvPr/>
          </p:nvSpPr>
          <p:spPr bwMode="gray">
            <a:xfrm>
              <a:off x="8582477" y="3378262"/>
              <a:ext cx="2153154" cy="307777"/>
            </a:xfrm>
            <a:prstGeom prst="rect">
              <a:avLst/>
            </a:prstGeom>
            <a:noFill/>
            <a:ln>
              <a:noFill/>
            </a:ln>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服务器</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单播</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OFFER</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文本框 81"/>
            <p:cNvSpPr txBox="1"/>
            <p:nvPr/>
          </p:nvSpPr>
          <p:spPr bwMode="gray">
            <a:xfrm>
              <a:off x="8565920" y="4171427"/>
              <a:ext cx="2210862" cy="307777"/>
            </a:xfrm>
            <a:prstGeom prst="rect">
              <a:avLst/>
            </a:prstGeom>
            <a:noFill/>
            <a:ln>
              <a:noFill/>
            </a:ln>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中继</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单播</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REQUEST</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文本框 82"/>
            <p:cNvSpPr txBox="1"/>
            <p:nvPr/>
          </p:nvSpPr>
          <p:spPr bwMode="gray">
            <a:xfrm>
              <a:off x="8582477" y="4967276"/>
              <a:ext cx="1952779" cy="307777"/>
            </a:xfrm>
            <a:prstGeom prst="rect">
              <a:avLst/>
            </a:prstGeom>
            <a:noFill/>
            <a:ln>
              <a:noFill/>
            </a:ln>
          </p:spPr>
          <p:txBody>
            <a:bodyPr wrap="none" rtlCol="0">
              <a:spAutoFit/>
            </a:bodyPr>
            <a:lstStyle/>
            <a:p>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服务器</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单播</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ACK</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87" name="圆角矩形 75"/>
          <p:cNvSpPr/>
          <p:nvPr/>
        </p:nvSpPr>
        <p:spPr bwMode="gray">
          <a:xfrm>
            <a:off x="455283" y="1253971"/>
            <a:ext cx="4670509" cy="394020"/>
          </a:xfrm>
          <a:prstGeom prst="roundRect">
            <a:avLst>
              <a:gd name="adj" fmla="val 10604"/>
            </a:avLst>
          </a:prstGeom>
          <a:solidFill>
            <a:srgbClr val="30B5C5"/>
          </a:solidFill>
          <a:ln>
            <a:noFill/>
          </a:ln>
        </p:spPr>
        <p:txBody>
          <a:bodyPr wrap="square" rtlCol="0" anchor="ctr" anchorCtr="0">
            <a:noAutofit/>
          </a:bodyPr>
          <a:lstStyle/>
          <a:p>
            <a:pPr algn="ct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无中继场景</a:t>
            </a:r>
          </a:p>
        </p:txBody>
      </p:sp>
      <p:sp>
        <p:nvSpPr>
          <p:cNvPr id="88" name="圆角矩形 75"/>
          <p:cNvSpPr/>
          <p:nvPr/>
        </p:nvSpPr>
        <p:spPr bwMode="gray">
          <a:xfrm>
            <a:off x="455283" y="1685476"/>
            <a:ext cx="4670509" cy="4238806"/>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圆角矩形 75"/>
          <p:cNvSpPr/>
          <p:nvPr/>
        </p:nvSpPr>
        <p:spPr bwMode="gray">
          <a:xfrm>
            <a:off x="5459325" y="1251212"/>
            <a:ext cx="6284043" cy="394020"/>
          </a:xfrm>
          <a:prstGeom prst="roundRect">
            <a:avLst>
              <a:gd name="adj" fmla="val 10604"/>
            </a:avLst>
          </a:prstGeom>
          <a:solidFill>
            <a:srgbClr val="30B5C5"/>
          </a:solidFill>
          <a:ln>
            <a:noFill/>
          </a:ln>
        </p:spPr>
        <p:txBody>
          <a:bodyPr wrap="square" rtlCol="0" anchor="ctr" anchorCtr="0">
            <a:noAutofit/>
          </a:bodyPr>
          <a:lstStyle/>
          <a:p>
            <a:pPr algn="ctr"/>
            <a:r>
              <a:rPr lang="en-US" altLang="zh-CN"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rPr>
              <a:t>有中继场景</a:t>
            </a:r>
          </a:p>
        </p:txBody>
      </p:sp>
      <p:sp>
        <p:nvSpPr>
          <p:cNvPr id="90" name="圆角矩形 75"/>
          <p:cNvSpPr/>
          <p:nvPr/>
        </p:nvSpPr>
        <p:spPr bwMode="gray">
          <a:xfrm>
            <a:off x="5459325" y="1682717"/>
            <a:ext cx="6284043" cy="4241565"/>
          </a:xfrm>
          <a:prstGeom prst="roundRect">
            <a:avLst>
              <a:gd name="adj" fmla="val 874"/>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36000" rIns="72000" bIns="36000" rtlCol="0" anchor="t" anchorCtr="0">
            <a:noAutofit/>
          </a:bodyPr>
          <a:lstStyle/>
          <a:p>
            <a:pPr algn="just" fontAlgn="auto">
              <a:lnSpc>
                <a:spcPts val="2600"/>
              </a:lnSpc>
              <a:spcBef>
                <a:spcPts val="0"/>
              </a:spcBef>
              <a:spcAft>
                <a:spcPts val="600"/>
              </a:spcAft>
            </a:pPr>
            <a:endParaRPr lang="en-US" altLang="zh-CN" sz="1600" dirty="0">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7294895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773844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DHCP Snooping</a:t>
            </a:r>
            <a:r>
              <a:rPr lang="zh-CN" altLang="en-US" smtClean="0">
                <a:sym typeface="Huawei Sans" panose="020C0503030203020204" pitchFamily="34" charset="0"/>
              </a:rPr>
              <a:t>概述</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800" dirty="0" smtClean="0">
                <a:sym typeface="Huawei Sans" panose="020C0503030203020204" pitchFamily="34" charset="0"/>
              </a:rPr>
              <a:t>为了保证网络通信业务的安全性，引入了</a:t>
            </a:r>
            <a:r>
              <a:rPr lang="en-US" altLang="zh-CN" sz="1800" dirty="0" smtClean="0">
                <a:sym typeface="Huawei Sans" panose="020C0503030203020204" pitchFamily="34" charset="0"/>
              </a:rPr>
              <a:t>DHCP Snooping</a:t>
            </a:r>
            <a:r>
              <a:rPr lang="zh-CN" altLang="en-US" sz="1800" dirty="0" smtClean="0">
                <a:sym typeface="Huawei Sans" panose="020C0503030203020204" pitchFamily="34" charset="0"/>
              </a:rPr>
              <a:t>技术，在</a:t>
            </a:r>
            <a:r>
              <a:rPr lang="en-US" altLang="zh-CN" sz="1800" dirty="0" smtClean="0">
                <a:sym typeface="Huawei Sans" panose="020C0503030203020204" pitchFamily="34" charset="0"/>
              </a:rPr>
              <a:t>DHCP Client</a:t>
            </a:r>
            <a:r>
              <a:rPr lang="zh-CN" altLang="en-US" sz="1800" dirty="0" smtClean="0">
                <a:sym typeface="Huawei Sans" panose="020C0503030203020204" pitchFamily="34" charset="0"/>
              </a:rPr>
              <a:t>和</a:t>
            </a:r>
            <a:r>
              <a:rPr lang="en-US" altLang="zh-CN" sz="1800" dirty="0" smtClean="0">
                <a:sym typeface="Huawei Sans" panose="020C0503030203020204" pitchFamily="34" charset="0"/>
              </a:rPr>
              <a:t>DHCP Server</a:t>
            </a:r>
            <a:r>
              <a:rPr lang="zh-CN" altLang="en-US" sz="1800" dirty="0" smtClean="0">
                <a:sym typeface="Huawei Sans" panose="020C0503030203020204" pitchFamily="34" charset="0"/>
              </a:rPr>
              <a:t>之间建立一道防火墙，以抵御网络中针对</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的各种攻击。</a:t>
            </a:r>
            <a:endParaRPr lang="en-US" altLang="zh-CN" sz="1800" dirty="0" smtClean="0">
              <a:sym typeface="Huawei Sans" panose="020C0503030203020204" pitchFamily="34" charset="0"/>
            </a:endParaRPr>
          </a:p>
          <a:p>
            <a:r>
              <a:rPr lang="en-US" altLang="zh-CN" sz="1800" dirty="0" smtClean="0">
                <a:sym typeface="Huawei Sans" panose="020C0503030203020204" pitchFamily="34" charset="0"/>
              </a:rPr>
              <a:t>DHCP Snooping</a:t>
            </a:r>
            <a:r>
              <a:rPr lang="zh-CN" altLang="en-US" sz="1800" dirty="0" smtClean="0">
                <a:sym typeface="Huawei Sans" panose="020C0503030203020204" pitchFamily="34" charset="0"/>
              </a:rPr>
              <a:t>是</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的一种安全特性，用于保证</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客户端从合法的</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服务器获取</a:t>
            </a:r>
            <a:r>
              <a:rPr lang="en-US" altLang="zh-CN" sz="1800" dirty="0" smtClean="0">
                <a:sym typeface="Huawei Sans" panose="020C0503030203020204" pitchFamily="34" charset="0"/>
              </a:rPr>
              <a:t>IP</a:t>
            </a:r>
            <a:r>
              <a:rPr lang="zh-CN" altLang="en-US" sz="1800" dirty="0" smtClean="0">
                <a:sym typeface="Huawei Sans" panose="020C0503030203020204" pitchFamily="34" charset="0"/>
              </a:rPr>
              <a:t>地址。</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 服务器记录</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客户端</a:t>
            </a:r>
            <a:r>
              <a:rPr lang="en-US" altLang="zh-CN" sz="1800" dirty="0" smtClean="0">
                <a:sym typeface="Huawei Sans" panose="020C0503030203020204" pitchFamily="34" charset="0"/>
              </a:rPr>
              <a:t>IP</a:t>
            </a:r>
            <a:r>
              <a:rPr lang="zh-CN" altLang="en-US" sz="1800" dirty="0" smtClean="0">
                <a:sym typeface="Huawei Sans" panose="020C0503030203020204" pitchFamily="34" charset="0"/>
              </a:rPr>
              <a:t>地址与</a:t>
            </a:r>
            <a:r>
              <a:rPr lang="en-US" altLang="zh-CN" sz="1800" dirty="0" smtClean="0">
                <a:sym typeface="Huawei Sans" panose="020C0503030203020204" pitchFamily="34" charset="0"/>
              </a:rPr>
              <a:t>MAC</a:t>
            </a:r>
            <a:r>
              <a:rPr lang="zh-CN" altLang="en-US" sz="1800" dirty="0" smtClean="0">
                <a:sym typeface="Huawei Sans" panose="020C0503030203020204" pitchFamily="34" charset="0"/>
              </a:rPr>
              <a:t>地址等参数的对应关系，防止网络上针对</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攻击。</a:t>
            </a:r>
            <a:endParaRPr lang="en-US" altLang="zh-CN" sz="1800" dirty="0" smtClean="0">
              <a:sym typeface="Huawei Sans" panose="020C0503030203020204" pitchFamily="34" charset="0"/>
            </a:endParaRPr>
          </a:p>
          <a:p>
            <a:r>
              <a:rPr lang="zh-CN" altLang="en-US" sz="1800" dirty="0" smtClean="0">
                <a:sym typeface="Huawei Sans" panose="020C0503030203020204" pitchFamily="34" charset="0"/>
              </a:rPr>
              <a:t>目前</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协议在应用的过程中遇到很多安全方面的问题，网络中存在一些针对</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的攻击，如</a:t>
            </a:r>
            <a:r>
              <a:rPr lang="en-US" altLang="zh-CN" sz="1800" dirty="0" smtClean="0">
                <a:sym typeface="Huawei Sans" panose="020C0503030203020204" pitchFamily="34" charset="0"/>
              </a:rPr>
              <a:t>DHCP Server</a:t>
            </a:r>
            <a:r>
              <a:rPr lang="zh-CN" altLang="en-US" sz="1800" dirty="0" smtClean="0">
                <a:sym typeface="Huawei Sans" panose="020C0503030203020204" pitchFamily="34" charset="0"/>
              </a:rPr>
              <a:t>仿冒者攻击、</a:t>
            </a:r>
            <a:r>
              <a:rPr lang="en-US" altLang="zh-CN" sz="1800" dirty="0" smtClean="0">
                <a:sym typeface="Huawei Sans" panose="020C0503030203020204" pitchFamily="34" charset="0"/>
              </a:rPr>
              <a:t>DHCP Server</a:t>
            </a:r>
            <a:r>
              <a:rPr lang="zh-CN" altLang="en-US" sz="1800" dirty="0" smtClean="0">
                <a:sym typeface="Huawei Sans" panose="020C0503030203020204" pitchFamily="34" charset="0"/>
              </a:rPr>
              <a:t>的拒绝服务攻击、仿冒</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报文攻击等。</a:t>
            </a:r>
          </a:p>
          <a:p>
            <a:r>
              <a:rPr lang="en-US" altLang="zh-CN" sz="1800" dirty="0" smtClean="0">
                <a:sym typeface="Huawei Sans" panose="020C0503030203020204" pitchFamily="34" charset="0"/>
              </a:rPr>
              <a:t>DHCP Snooping</a:t>
            </a:r>
            <a:r>
              <a:rPr lang="zh-CN" altLang="en-US" sz="1800" dirty="0" smtClean="0">
                <a:sym typeface="Huawei Sans" panose="020C0503030203020204" pitchFamily="34" charset="0"/>
              </a:rPr>
              <a:t>主要是通过</a:t>
            </a:r>
            <a:r>
              <a:rPr lang="en-US" altLang="zh-CN" sz="1800" dirty="0" smtClean="0">
                <a:sym typeface="Huawei Sans" panose="020C0503030203020204" pitchFamily="34" charset="0"/>
              </a:rPr>
              <a:t>DHCP Snooping</a:t>
            </a:r>
            <a:r>
              <a:rPr lang="zh-CN" altLang="en-US" sz="1800" dirty="0" smtClean="0">
                <a:sym typeface="Huawei Sans" panose="020C0503030203020204" pitchFamily="34" charset="0"/>
              </a:rPr>
              <a:t>信任功能和</a:t>
            </a:r>
            <a:r>
              <a:rPr lang="en-US" altLang="zh-CN" sz="1800" dirty="0" smtClean="0">
                <a:sym typeface="Huawei Sans" panose="020C0503030203020204" pitchFamily="34" charset="0"/>
              </a:rPr>
              <a:t>DHCP Snooping</a:t>
            </a:r>
            <a:r>
              <a:rPr lang="zh-CN" altLang="en-US" sz="1800" dirty="0" smtClean="0">
                <a:sym typeface="Huawei Sans" panose="020C0503030203020204" pitchFamily="34" charset="0"/>
              </a:rPr>
              <a:t>绑定表实现</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网络安全。</a:t>
            </a:r>
            <a:endParaRPr lang="zh-CN" altLang="en-US" sz="1800" dirty="0">
              <a:sym typeface="Huawei Sans" panose="020C0503030203020204" pitchFamily="34" charset="0"/>
            </a:endParaRPr>
          </a:p>
        </p:txBody>
      </p:sp>
    </p:spTree>
    <p:extLst>
      <p:ext uri="{BB962C8B-B14F-4D97-AF65-F5344CB8AC3E}">
        <p14:creationId xmlns:p14="http://schemas.microsoft.com/office/powerpoint/2010/main" val="232249208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DHCP Snooping</a:t>
            </a:r>
            <a:r>
              <a:rPr lang="zh-CN" altLang="en-US" smtClean="0">
                <a:sym typeface="Huawei Sans" panose="020C0503030203020204" pitchFamily="34" charset="0"/>
              </a:rPr>
              <a:t>信任功能</a:t>
            </a:r>
            <a:endParaRPr lang="zh-CN" altLang="en-US" dirty="0">
              <a:sym typeface="Huawei Sans" panose="020C0503030203020204" pitchFamily="34" charset="0"/>
            </a:endParaRPr>
          </a:p>
        </p:txBody>
      </p:sp>
      <p:sp>
        <p:nvSpPr>
          <p:cNvPr id="3" name="文本占位符 2"/>
          <p:cNvSpPr>
            <a:spLocks noGrp="1"/>
          </p:cNvSpPr>
          <p:nvPr>
            <p:ph type="body" sz="quarter" idx="4294967295"/>
          </p:nvPr>
        </p:nvSpPr>
        <p:spPr bwMode="gray">
          <a:xfrm>
            <a:off x="6172200" y="1204663"/>
            <a:ext cx="5576887" cy="4996112"/>
          </a:xfrm>
        </p:spPr>
        <p:txBody>
          <a:bodyPr/>
          <a:lstStyle/>
          <a:p>
            <a:r>
              <a:rPr lang="en-US" altLang="zh-CN" sz="1600" dirty="0">
                <a:sym typeface="Huawei Sans" panose="020C0503030203020204" pitchFamily="34" charset="0"/>
              </a:rPr>
              <a:t>DHCP Snooping</a:t>
            </a:r>
            <a:r>
              <a:rPr lang="zh-CN" altLang="en-US" sz="1600" dirty="0">
                <a:sym typeface="Huawei Sans" panose="020C0503030203020204" pitchFamily="34" charset="0"/>
              </a:rPr>
              <a:t>的信任功能，能够</a:t>
            </a:r>
            <a:r>
              <a:rPr lang="zh-CN" altLang="en-US" sz="1600" dirty="0" smtClean="0">
                <a:sym typeface="Huawei Sans" panose="020C0503030203020204" pitchFamily="34" charset="0"/>
              </a:rPr>
              <a:t>保证</a:t>
            </a:r>
            <a:r>
              <a:rPr lang="en-US" altLang="zh-CN" sz="1600" dirty="0" smtClean="0">
                <a:sym typeface="Huawei Sans" panose="020C0503030203020204" pitchFamily="34" charset="0"/>
              </a:rPr>
              <a:t>DHCP</a:t>
            </a:r>
            <a:r>
              <a:rPr lang="zh-CN" altLang="en-US" sz="1600" dirty="0" smtClean="0">
                <a:sym typeface="Huawei Sans" panose="020C0503030203020204" pitchFamily="34" charset="0"/>
              </a:rPr>
              <a:t>客户端</a:t>
            </a:r>
            <a:r>
              <a:rPr lang="zh-CN" altLang="en-US" sz="1600" dirty="0">
                <a:sym typeface="Huawei Sans" panose="020C0503030203020204" pitchFamily="34" charset="0"/>
              </a:rPr>
              <a:t>从合法</a:t>
            </a:r>
            <a:r>
              <a:rPr lang="zh-CN" altLang="en-US" sz="1600" dirty="0" smtClean="0">
                <a:sym typeface="Huawei Sans" panose="020C0503030203020204" pitchFamily="34" charset="0"/>
              </a:rPr>
              <a:t>的</a:t>
            </a:r>
            <a:r>
              <a:rPr lang="en-US" altLang="zh-CN" sz="1600" dirty="0" smtClean="0">
                <a:sym typeface="Huawei Sans" panose="020C0503030203020204" pitchFamily="34" charset="0"/>
              </a:rPr>
              <a:t>DHCP</a:t>
            </a:r>
            <a:r>
              <a:rPr lang="zh-CN" altLang="en-US" sz="1600" dirty="0" smtClean="0">
                <a:sym typeface="Huawei Sans" panose="020C0503030203020204" pitchFamily="34" charset="0"/>
              </a:rPr>
              <a:t>服务器</a:t>
            </a:r>
            <a:r>
              <a:rPr lang="zh-CN" altLang="en-US" sz="1600" dirty="0">
                <a:sym typeface="Huawei Sans" panose="020C0503030203020204" pitchFamily="34" charset="0"/>
              </a:rPr>
              <a:t>获取</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a:t>
            </a:r>
            <a:r>
              <a:rPr lang="zh-CN" altLang="en-US" sz="1600" dirty="0">
                <a:sym typeface="Huawei Sans" panose="020C0503030203020204" pitchFamily="34" charset="0"/>
              </a:rPr>
              <a:t>。</a:t>
            </a:r>
          </a:p>
          <a:p>
            <a:r>
              <a:rPr lang="en-US" altLang="zh-CN" sz="1600" dirty="0">
                <a:sym typeface="Huawei Sans" panose="020C0503030203020204" pitchFamily="34" charset="0"/>
              </a:rPr>
              <a:t>DHCP Snooping</a:t>
            </a:r>
            <a:r>
              <a:rPr lang="zh-CN" altLang="en-US" sz="1600" dirty="0">
                <a:sym typeface="Huawei Sans" panose="020C0503030203020204" pitchFamily="34" charset="0"/>
              </a:rPr>
              <a:t>信任功能将接口分为信任接口和非信任接口</a:t>
            </a:r>
            <a:r>
              <a:rPr lang="zh-CN" altLang="en-US" sz="1600" dirty="0" smtClean="0">
                <a:sym typeface="Huawei Sans" panose="020C0503030203020204" pitchFamily="34" charset="0"/>
              </a:rPr>
              <a:t>：</a:t>
            </a:r>
            <a:endParaRPr lang="en-US" altLang="zh-CN" sz="1600" dirty="0" smtClean="0">
              <a:sym typeface="Huawei Sans" panose="020C0503030203020204" pitchFamily="34" charset="0"/>
            </a:endParaRPr>
          </a:p>
          <a:p>
            <a:pPr lvl="1"/>
            <a:r>
              <a:rPr lang="zh-CN" altLang="en-US" sz="1400" dirty="0" smtClean="0">
                <a:sym typeface="Huawei Sans" panose="020C0503030203020204" pitchFamily="34" charset="0"/>
              </a:rPr>
              <a:t>信任接口正常接收</a:t>
            </a:r>
            <a:r>
              <a:rPr lang="en-US" altLang="zh-CN" sz="1400" dirty="0">
                <a:sym typeface="Huawei Sans" panose="020C0503030203020204" pitchFamily="34" charset="0"/>
              </a:rPr>
              <a:t>DHCP</a:t>
            </a:r>
            <a:r>
              <a:rPr lang="zh-CN" altLang="en-US" sz="1400" dirty="0">
                <a:sym typeface="Huawei Sans" panose="020C0503030203020204" pitchFamily="34" charset="0"/>
              </a:rPr>
              <a:t>服务器响应的</a:t>
            </a:r>
            <a:r>
              <a:rPr lang="en-US" altLang="zh-CN" sz="1400" dirty="0">
                <a:sym typeface="Huawei Sans" panose="020C0503030203020204" pitchFamily="34" charset="0"/>
              </a:rPr>
              <a:t>DHCP ACK</a:t>
            </a:r>
            <a:r>
              <a:rPr lang="zh-CN" altLang="en-US" sz="1400" dirty="0">
                <a:sym typeface="Huawei Sans" panose="020C0503030203020204" pitchFamily="34" charset="0"/>
              </a:rPr>
              <a:t>、</a:t>
            </a:r>
            <a:r>
              <a:rPr lang="en-US" altLang="zh-CN" sz="1400" dirty="0">
                <a:sym typeface="Huawei Sans" panose="020C0503030203020204" pitchFamily="34" charset="0"/>
              </a:rPr>
              <a:t>DHCP NAK</a:t>
            </a:r>
            <a:r>
              <a:rPr lang="zh-CN" altLang="en-US" sz="1400" dirty="0">
                <a:sym typeface="Huawei Sans" panose="020C0503030203020204" pitchFamily="34" charset="0"/>
              </a:rPr>
              <a:t>和</a:t>
            </a:r>
            <a:r>
              <a:rPr lang="en-US" altLang="zh-CN" sz="1400" dirty="0">
                <a:sym typeface="Huawei Sans" panose="020C0503030203020204" pitchFamily="34" charset="0"/>
              </a:rPr>
              <a:t>DHCP Offer</a:t>
            </a:r>
            <a:r>
              <a:rPr lang="zh-CN" altLang="en-US" sz="1400" dirty="0">
                <a:sym typeface="Huawei Sans" panose="020C0503030203020204" pitchFamily="34" charset="0"/>
              </a:rPr>
              <a:t>报文</a:t>
            </a:r>
            <a:r>
              <a:rPr lang="zh-CN" altLang="en-US" sz="1400" dirty="0" smtClean="0">
                <a:sym typeface="Huawei Sans" panose="020C0503030203020204" pitchFamily="34" charset="0"/>
              </a:rPr>
              <a:t>。</a:t>
            </a:r>
            <a:endParaRPr lang="en-US" altLang="zh-CN" sz="1400" dirty="0" smtClean="0">
              <a:sym typeface="Huawei Sans" panose="020C0503030203020204" pitchFamily="34" charset="0"/>
            </a:endParaRPr>
          </a:p>
          <a:p>
            <a:pPr lvl="1"/>
            <a:r>
              <a:rPr lang="zh-CN" altLang="en-US" sz="1400" dirty="0">
                <a:sym typeface="Huawei Sans" panose="020C0503030203020204" pitchFamily="34" charset="0"/>
              </a:rPr>
              <a:t>设备</a:t>
            </a:r>
            <a:r>
              <a:rPr lang="zh-CN" altLang="en-US" sz="1400" dirty="0" smtClean="0">
                <a:sym typeface="Huawei Sans" panose="020C0503030203020204" pitchFamily="34" charset="0"/>
              </a:rPr>
              <a:t>只将</a:t>
            </a:r>
            <a:r>
              <a:rPr lang="en-US" altLang="zh-CN" sz="1400" dirty="0">
                <a:sym typeface="Huawei Sans" panose="020C0503030203020204" pitchFamily="34" charset="0"/>
              </a:rPr>
              <a:t>DHCP</a:t>
            </a:r>
            <a:r>
              <a:rPr lang="zh-CN" altLang="en-US" sz="1400" dirty="0">
                <a:sym typeface="Huawei Sans" panose="020C0503030203020204" pitchFamily="34" charset="0"/>
              </a:rPr>
              <a:t>客户端的</a:t>
            </a:r>
            <a:r>
              <a:rPr lang="en-US" altLang="zh-CN" sz="1400" dirty="0">
                <a:sym typeface="Huawei Sans" panose="020C0503030203020204" pitchFamily="34" charset="0"/>
              </a:rPr>
              <a:t>DHCP</a:t>
            </a:r>
            <a:r>
              <a:rPr lang="zh-CN" altLang="en-US" sz="1400" dirty="0">
                <a:sym typeface="Huawei Sans" panose="020C0503030203020204" pitchFamily="34" charset="0"/>
              </a:rPr>
              <a:t>请求报文通过信任接口发送给合法的</a:t>
            </a:r>
            <a:r>
              <a:rPr lang="en-US" altLang="zh-CN" sz="1400" dirty="0">
                <a:sym typeface="Huawei Sans" panose="020C0503030203020204" pitchFamily="34" charset="0"/>
              </a:rPr>
              <a:t>DHCP</a:t>
            </a:r>
            <a:r>
              <a:rPr lang="zh-CN" altLang="en-US" sz="1400" dirty="0" smtClean="0">
                <a:sym typeface="Huawei Sans" panose="020C0503030203020204" pitchFamily="34" charset="0"/>
              </a:rPr>
              <a:t>服务器，不会向非信任接口转发。</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非信任接口收到的</a:t>
            </a:r>
            <a:r>
              <a:rPr lang="en-US" altLang="zh-CN" sz="1400" dirty="0" smtClean="0">
                <a:sym typeface="Huawei Sans" panose="020C0503030203020204" pitchFamily="34" charset="0"/>
              </a:rPr>
              <a:t>DHCP Server</a:t>
            </a:r>
            <a:r>
              <a:rPr lang="zh-CN" altLang="en-US" sz="1400" dirty="0" smtClean="0">
                <a:sym typeface="Huawei Sans" panose="020C0503030203020204" pitchFamily="34" charset="0"/>
              </a:rPr>
              <a:t>发送的</a:t>
            </a:r>
            <a:r>
              <a:rPr lang="en-US" altLang="zh-CN" sz="1400" dirty="0" smtClean="0">
                <a:sym typeface="Huawei Sans" panose="020C0503030203020204" pitchFamily="34" charset="0"/>
              </a:rPr>
              <a:t>DHCP OFFER</a:t>
            </a:r>
            <a:r>
              <a:rPr lang="zh-CN" altLang="en-US" sz="1400" dirty="0" smtClean="0">
                <a:sym typeface="Huawei Sans" panose="020C0503030203020204" pitchFamily="34" charset="0"/>
              </a:rPr>
              <a:t>、</a:t>
            </a:r>
            <a:r>
              <a:rPr lang="en-US" altLang="zh-CN" sz="1400" dirty="0" smtClean="0">
                <a:sym typeface="Huawei Sans" panose="020C0503030203020204" pitchFamily="34" charset="0"/>
              </a:rPr>
              <a:t>DHCP ACK</a:t>
            </a:r>
            <a:r>
              <a:rPr lang="zh-CN" altLang="en-US" sz="1400" dirty="0" smtClean="0">
                <a:sym typeface="Huawei Sans" panose="020C0503030203020204" pitchFamily="34" charset="0"/>
              </a:rPr>
              <a:t>、</a:t>
            </a:r>
            <a:r>
              <a:rPr lang="en-US" altLang="zh-CN" sz="1400" dirty="0" smtClean="0">
                <a:sym typeface="Huawei Sans" panose="020C0503030203020204" pitchFamily="34" charset="0"/>
              </a:rPr>
              <a:t>DHCP NAK</a:t>
            </a:r>
            <a:r>
              <a:rPr lang="zh-CN" altLang="en-US" sz="1400" dirty="0" smtClean="0">
                <a:sym typeface="Huawei Sans" panose="020C0503030203020204" pitchFamily="34" charset="0"/>
              </a:rPr>
              <a:t>报文会被直接丢弃。</a:t>
            </a:r>
            <a:endParaRPr lang="zh-CN" altLang="en-US" sz="1400" dirty="0">
              <a:sym typeface="Huawei Sans" panose="020C0503030203020204" pitchFamily="34" charset="0"/>
            </a:endParaRPr>
          </a:p>
          <a:p>
            <a:endParaRPr lang="zh-CN" altLang="en-US" sz="1600" dirty="0">
              <a:sym typeface="Huawei Sans" panose="020C0503030203020204" pitchFamily="34" charset="0"/>
            </a:endParaRPr>
          </a:p>
        </p:txBody>
      </p:sp>
      <p:sp>
        <p:nvSpPr>
          <p:cNvPr id="36" name="文本框 35"/>
          <p:cNvSpPr txBox="1"/>
          <p:nvPr/>
        </p:nvSpPr>
        <p:spPr bwMode="gray">
          <a:xfrm>
            <a:off x="3659425" y="4282352"/>
            <a:ext cx="1912703"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Snooping</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信任接口</a:t>
            </a:r>
          </a:p>
        </p:txBody>
      </p:sp>
      <p:sp>
        <p:nvSpPr>
          <p:cNvPr id="37" name="文本框 36"/>
          <p:cNvSpPr txBox="1"/>
          <p:nvPr/>
        </p:nvSpPr>
        <p:spPr bwMode="gray">
          <a:xfrm>
            <a:off x="3659425" y="4584744"/>
            <a:ext cx="2066591"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Snooping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非</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信任接口</a:t>
            </a:r>
          </a:p>
        </p:txBody>
      </p:sp>
      <p:sp>
        <p:nvSpPr>
          <p:cNvPr id="38" name="文本框 37"/>
          <p:cNvSpPr txBox="1"/>
          <p:nvPr/>
        </p:nvSpPr>
        <p:spPr bwMode="gray">
          <a:xfrm>
            <a:off x="3667377" y="4860851"/>
            <a:ext cx="2066591" cy="276999"/>
          </a:xfrm>
          <a:prstGeom prst="rect">
            <a:avLst/>
          </a:prstGeom>
          <a:noFill/>
          <a:ln>
            <a:noFill/>
          </a:ln>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使能</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Snooping</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接口</a:t>
            </a:r>
          </a:p>
        </p:txBody>
      </p:sp>
      <p:sp>
        <p:nvSpPr>
          <p:cNvPr id="57" name="文本框 56"/>
          <p:cNvSpPr txBox="1"/>
          <p:nvPr/>
        </p:nvSpPr>
        <p:spPr bwMode="gray">
          <a:xfrm>
            <a:off x="3670752" y="5150646"/>
            <a:ext cx="2444900" cy="276999"/>
          </a:xfrm>
          <a:prstGeom prst="rect">
            <a:avLst/>
          </a:prstGeom>
          <a:noFill/>
          <a:ln>
            <a:noFill/>
          </a:ln>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合法</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OFFER/ACK/NAK</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报文</a:t>
            </a:r>
          </a:p>
        </p:txBody>
      </p:sp>
      <p:cxnSp>
        <p:nvCxnSpPr>
          <p:cNvPr id="61" name="直接箭头连接符 60"/>
          <p:cNvCxnSpPr/>
          <p:nvPr/>
        </p:nvCxnSpPr>
        <p:spPr bwMode="gray">
          <a:xfrm flipH="1">
            <a:off x="3159723" y="5274656"/>
            <a:ext cx="488084" cy="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62" name="文本框 61"/>
          <p:cNvSpPr txBox="1"/>
          <p:nvPr/>
        </p:nvSpPr>
        <p:spPr bwMode="gray">
          <a:xfrm>
            <a:off x="3647807" y="5453038"/>
            <a:ext cx="2444900" cy="276999"/>
          </a:xfrm>
          <a:prstGeom prst="rect">
            <a:avLst/>
          </a:prstGeom>
          <a:noFill/>
          <a:ln>
            <a:noFill/>
          </a:ln>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非</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法</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OFFER/ACK/NAK</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报文</a:t>
            </a:r>
          </a:p>
        </p:txBody>
      </p:sp>
      <p:cxnSp>
        <p:nvCxnSpPr>
          <p:cNvPr id="63" name="直接箭头连接符 62"/>
          <p:cNvCxnSpPr/>
          <p:nvPr/>
        </p:nvCxnSpPr>
        <p:spPr bwMode="gray">
          <a:xfrm flipH="1">
            <a:off x="3166346" y="5591537"/>
            <a:ext cx="504647" cy="0"/>
          </a:xfrm>
          <a:prstGeom prst="straightConnector1">
            <a:avLst/>
          </a:prstGeom>
          <a:ln w="19050">
            <a:solidFill>
              <a:srgbClr val="C7000B"/>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91" name="文本框 90"/>
          <p:cNvSpPr txBox="1"/>
          <p:nvPr/>
        </p:nvSpPr>
        <p:spPr bwMode="gray">
          <a:xfrm>
            <a:off x="3670752" y="5722651"/>
            <a:ext cx="1673856"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客户端请求报文</a:t>
            </a:r>
          </a:p>
        </p:txBody>
      </p:sp>
      <p:pic>
        <p:nvPicPr>
          <p:cNvPr id="6" name="图片 5" descr="PC.png"/>
          <p:cNvPicPr>
            <a:picLocks noChangeAspect="1"/>
          </p:cNvPicPr>
          <p:nvPr/>
        </p:nvPicPr>
        <p:blipFill>
          <a:blip r:embed="rId3" cstate="print"/>
          <a:stretch>
            <a:fillRect/>
          </a:stretch>
        </p:blipFill>
        <p:spPr bwMode="gray">
          <a:xfrm>
            <a:off x="883821" y="3606931"/>
            <a:ext cx="539063" cy="414000"/>
          </a:xfrm>
          <a:prstGeom prst="rect">
            <a:avLst/>
          </a:prstGeom>
        </p:spPr>
      </p:pic>
      <p:pic>
        <p:nvPicPr>
          <p:cNvPr id="7" name="图片 6" descr="PC.png"/>
          <p:cNvPicPr>
            <a:picLocks noChangeAspect="1"/>
          </p:cNvPicPr>
          <p:nvPr/>
        </p:nvPicPr>
        <p:blipFill>
          <a:blip r:embed="rId3" cstate="print"/>
          <a:stretch>
            <a:fillRect/>
          </a:stretch>
        </p:blipFill>
        <p:spPr bwMode="gray">
          <a:xfrm>
            <a:off x="881469" y="1916231"/>
            <a:ext cx="539063" cy="414000"/>
          </a:xfrm>
          <a:prstGeom prst="rect">
            <a:avLst/>
          </a:prstGeom>
        </p:spPr>
      </p:pic>
      <p:pic>
        <p:nvPicPr>
          <p:cNvPr id="8" name="图片 7"/>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497387" y="2817289"/>
            <a:ext cx="540000" cy="442800"/>
          </a:xfrm>
          <a:prstGeom prst="rect">
            <a:avLst/>
          </a:prstGeom>
        </p:spPr>
      </p:pic>
      <p:cxnSp>
        <p:nvCxnSpPr>
          <p:cNvPr id="10" name="直接连接符 9"/>
          <p:cNvCxnSpPr>
            <a:stCxn id="7" idx="3"/>
          </p:cNvCxnSpPr>
          <p:nvPr/>
        </p:nvCxnSpPr>
        <p:spPr bwMode="gray">
          <a:xfrm>
            <a:off x="1420532" y="2123231"/>
            <a:ext cx="1325574" cy="91169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a:stCxn id="6" idx="3"/>
          </p:cNvCxnSpPr>
          <p:nvPr/>
        </p:nvCxnSpPr>
        <p:spPr bwMode="gray">
          <a:xfrm flipV="1">
            <a:off x="1422884" y="3034929"/>
            <a:ext cx="1323222" cy="779002"/>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4" idx="3"/>
            <a:endCxn id="8" idx="1"/>
          </p:cNvCxnSpPr>
          <p:nvPr/>
        </p:nvCxnSpPr>
        <p:spPr bwMode="gray">
          <a:xfrm>
            <a:off x="3090071" y="3035420"/>
            <a:ext cx="1407316" cy="3269"/>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bwMode="gray">
          <a:xfrm flipV="1">
            <a:off x="3019290" y="1972291"/>
            <a:ext cx="1748097" cy="844998"/>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4" name="图片 3" descr="通用交换机.png"/>
          <p:cNvPicPr>
            <a:picLocks noChangeAspect="1"/>
          </p:cNvPicPr>
          <p:nvPr/>
        </p:nvPicPr>
        <p:blipFill>
          <a:blip r:embed="rId5" cstate="print"/>
          <a:stretch>
            <a:fillRect/>
          </a:stretch>
        </p:blipFill>
        <p:spPr bwMode="gray">
          <a:xfrm>
            <a:off x="2550071" y="2814511"/>
            <a:ext cx="540000" cy="441818"/>
          </a:xfrm>
          <a:prstGeom prst="rect">
            <a:avLst/>
          </a:prstGeom>
        </p:spPr>
      </p:pic>
      <p:sp>
        <p:nvSpPr>
          <p:cNvPr id="19" name="文本框 18"/>
          <p:cNvSpPr txBox="1"/>
          <p:nvPr/>
        </p:nvSpPr>
        <p:spPr bwMode="gray">
          <a:xfrm>
            <a:off x="514506" y="1567266"/>
            <a:ext cx="1345240"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Client 1</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4016723" y="1537940"/>
            <a:ext cx="1585690"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非法</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514506" y="4047985"/>
            <a:ext cx="1345240"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Client 2</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4077412" y="3320668"/>
            <a:ext cx="1585690"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合法</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3" name="图片 22"/>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4522003" y="1857442"/>
            <a:ext cx="540000" cy="442800"/>
          </a:xfrm>
          <a:prstGeom prst="rect">
            <a:avLst/>
          </a:prstGeom>
        </p:spPr>
      </p:pic>
      <p:sp>
        <p:nvSpPr>
          <p:cNvPr id="27" name="椭圆 26"/>
          <p:cNvSpPr>
            <a:spLocks noChangeAspect="1"/>
          </p:cNvSpPr>
          <p:nvPr/>
        </p:nvSpPr>
        <p:spPr bwMode="gray">
          <a:xfrm flipV="1">
            <a:off x="3054300" y="2980211"/>
            <a:ext cx="125276" cy="125276"/>
          </a:xfrm>
          <a:prstGeom prst="ellipse">
            <a:avLst/>
          </a:prstGeom>
          <a:solidFill>
            <a:srgbClr val="56C4D2"/>
          </a:solidFill>
          <a:ln w="28575">
            <a:solidFill>
              <a:srgbClr val="94DAE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椭圆 28"/>
          <p:cNvSpPr>
            <a:spLocks noChangeAspect="1"/>
          </p:cNvSpPr>
          <p:nvPr/>
        </p:nvSpPr>
        <p:spPr bwMode="gray">
          <a:xfrm flipV="1">
            <a:off x="2959248" y="2735108"/>
            <a:ext cx="130823" cy="130823"/>
          </a:xfrm>
          <a:prstGeom prst="ellipse">
            <a:avLst/>
          </a:prstGeom>
          <a:solidFill>
            <a:srgbClr val="C7000B"/>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椭圆 29"/>
          <p:cNvSpPr>
            <a:spLocks noChangeAspect="1"/>
          </p:cNvSpPr>
          <p:nvPr/>
        </p:nvSpPr>
        <p:spPr bwMode="gray">
          <a:xfrm flipV="1">
            <a:off x="2457613" y="3087889"/>
            <a:ext cx="131041" cy="131041"/>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椭圆 30"/>
          <p:cNvSpPr>
            <a:spLocks noChangeAspect="1"/>
          </p:cNvSpPr>
          <p:nvPr/>
        </p:nvSpPr>
        <p:spPr bwMode="gray">
          <a:xfrm flipV="1">
            <a:off x="2454779" y="2793679"/>
            <a:ext cx="131041" cy="131041"/>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1" name="直接箭头连接符 40"/>
          <p:cNvCxnSpPr/>
          <p:nvPr/>
        </p:nvCxnSpPr>
        <p:spPr bwMode="gray">
          <a:xfrm flipH="1">
            <a:off x="3354998" y="2896518"/>
            <a:ext cx="976168" cy="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bwMode="gray">
          <a:xfrm flipH="1" flipV="1">
            <a:off x="1733673" y="2177642"/>
            <a:ext cx="655639" cy="45907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bwMode="gray">
          <a:xfrm flipH="1">
            <a:off x="1642012" y="3138367"/>
            <a:ext cx="678270" cy="402781"/>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bwMode="gray">
          <a:xfrm flipH="1">
            <a:off x="3187528" y="2108671"/>
            <a:ext cx="994517" cy="511740"/>
          </a:xfrm>
          <a:prstGeom prst="straightConnector1">
            <a:avLst/>
          </a:prstGeom>
          <a:ln w="19050">
            <a:solidFill>
              <a:srgbClr val="C7000B"/>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79" name="直接箭头连接符 78"/>
          <p:cNvCxnSpPr/>
          <p:nvPr/>
        </p:nvCxnSpPr>
        <p:spPr bwMode="gray">
          <a:xfrm flipV="1">
            <a:off x="1783344" y="3380577"/>
            <a:ext cx="659440" cy="398217"/>
          </a:xfrm>
          <a:prstGeom prst="straightConnector1">
            <a:avLst/>
          </a:prstGeom>
          <a:ln w="19050">
            <a:solidFill>
              <a:srgbClr val="FDD351"/>
            </a:solidFill>
            <a:prstDash val="lgDashDot"/>
            <a:tailEnd type="triangle"/>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bwMode="gray">
          <a:xfrm>
            <a:off x="3381563" y="3153410"/>
            <a:ext cx="923037" cy="0"/>
          </a:xfrm>
          <a:prstGeom prst="straightConnector1">
            <a:avLst/>
          </a:prstGeom>
          <a:ln w="19050">
            <a:solidFill>
              <a:srgbClr val="FDD351"/>
            </a:solidFill>
            <a:prstDash val="lgDashDot"/>
            <a:tailEnd type="triangle"/>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bwMode="gray">
          <a:xfrm>
            <a:off x="1554496" y="2385435"/>
            <a:ext cx="622204" cy="446940"/>
          </a:xfrm>
          <a:prstGeom prst="straightConnector1">
            <a:avLst/>
          </a:prstGeom>
          <a:ln w="19050">
            <a:solidFill>
              <a:srgbClr val="FDD351"/>
            </a:solidFill>
            <a:prstDash val="lgDashDot"/>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p:cNvCxnSpPr/>
          <p:nvPr/>
        </p:nvCxnSpPr>
        <p:spPr bwMode="gray">
          <a:xfrm flipH="1">
            <a:off x="3166346" y="5861151"/>
            <a:ext cx="504647" cy="0"/>
          </a:xfrm>
          <a:prstGeom prst="straightConnector1">
            <a:avLst/>
          </a:prstGeom>
          <a:ln w="19050">
            <a:solidFill>
              <a:srgbClr val="FDD351"/>
            </a:solidFill>
            <a:prstDash val="lgDashDot"/>
            <a:tailEnd type="triangle"/>
          </a:ln>
        </p:spPr>
        <p:style>
          <a:lnRef idx="1">
            <a:schemeClr val="accent1"/>
          </a:lnRef>
          <a:fillRef idx="0">
            <a:schemeClr val="accent1"/>
          </a:fillRef>
          <a:effectRef idx="0">
            <a:schemeClr val="accent1"/>
          </a:effectRef>
          <a:fontRef idx="minor">
            <a:schemeClr val="tx1"/>
          </a:fontRef>
        </p:style>
      </p:cxnSp>
      <p:grpSp>
        <p:nvGrpSpPr>
          <p:cNvPr id="47" name="组合 28"/>
          <p:cNvGrpSpPr>
            <a:grpSpLocks noChangeAspect="1"/>
          </p:cNvGrpSpPr>
          <p:nvPr/>
        </p:nvGrpSpPr>
        <p:grpSpPr bwMode="gray">
          <a:xfrm>
            <a:off x="3364085" y="2400045"/>
            <a:ext cx="158017" cy="158017"/>
            <a:chOff x="5076056" y="3356992"/>
            <a:chExt cx="436268" cy="436268"/>
          </a:xfrm>
        </p:grpSpPr>
        <p:sp>
          <p:nvSpPr>
            <p:cNvPr id="48" name="椭圆 27"/>
            <p:cNvSpPr/>
            <p:nvPr/>
          </p:nvSpPr>
          <p:spPr bwMode="gray">
            <a:xfrm>
              <a:off x="5076056" y="3356992"/>
              <a:ext cx="432048" cy="432048"/>
            </a:xfrm>
            <a:prstGeom prst="ellipse">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784225" rtl="0" eaLnBrk="0" fontAlgn="base" latinLnBrk="0" hangingPunct="0">
                <a:lnSpc>
                  <a:spcPct val="100000"/>
                </a:lnSpc>
                <a:spcBef>
                  <a:spcPct val="0"/>
                </a:spcBef>
                <a:spcAft>
                  <a:spcPct val="0"/>
                </a:spcAft>
                <a:buClrTx/>
                <a:buSzTx/>
                <a:buFontTx/>
                <a:buNone/>
                <a:tabLst/>
              </a:pPr>
              <a:endParaRPr kumimoji="0" lang="zh-CN" altLang="en-US" sz="2100" b="0" i="0" u="none" strike="noStrike" cap="none" normalizeH="0" baseline="0">
                <a:ln>
                  <a:noFill/>
                </a:ln>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禁止符 23"/>
            <p:cNvSpPr/>
            <p:nvPr/>
          </p:nvSpPr>
          <p:spPr bwMode="gray">
            <a:xfrm>
              <a:off x="5076056" y="3356992"/>
              <a:ext cx="436268" cy="436268"/>
            </a:xfrm>
            <a:prstGeom prst="noSmoking">
              <a:avLst>
                <a:gd name="adj" fmla="val 15475"/>
              </a:avLst>
            </a:prstGeom>
            <a:solidFill>
              <a:schemeClr val="accent2">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0" name="椭圆 49"/>
          <p:cNvSpPr>
            <a:spLocks noChangeAspect="1"/>
          </p:cNvSpPr>
          <p:nvPr/>
        </p:nvSpPr>
        <p:spPr bwMode="gray">
          <a:xfrm flipV="1">
            <a:off x="3358438" y="4374238"/>
            <a:ext cx="125642" cy="125642"/>
          </a:xfrm>
          <a:prstGeom prst="ellipse">
            <a:avLst/>
          </a:prstGeom>
          <a:solidFill>
            <a:srgbClr val="56C4D2"/>
          </a:solidFill>
          <a:ln w="28575">
            <a:solidFill>
              <a:srgbClr val="94DAE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椭圆 50"/>
          <p:cNvSpPr>
            <a:spLocks noChangeAspect="1"/>
          </p:cNvSpPr>
          <p:nvPr/>
        </p:nvSpPr>
        <p:spPr bwMode="gray">
          <a:xfrm flipV="1">
            <a:off x="3353257" y="4661327"/>
            <a:ext cx="130823" cy="130823"/>
          </a:xfrm>
          <a:prstGeom prst="ellipse">
            <a:avLst/>
          </a:prstGeom>
          <a:solidFill>
            <a:srgbClr val="C7000B"/>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椭圆 51"/>
          <p:cNvSpPr>
            <a:spLocks noChangeAspect="1"/>
          </p:cNvSpPr>
          <p:nvPr/>
        </p:nvSpPr>
        <p:spPr bwMode="gray">
          <a:xfrm flipV="1">
            <a:off x="3358438" y="4947998"/>
            <a:ext cx="131041" cy="131041"/>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500" b="1">
              <a:solidFill>
                <a:prstClr val="black"/>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37066430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DHCP Snooping</a:t>
            </a:r>
            <a:r>
              <a:rPr lang="zh-CN" altLang="en-US" smtClean="0">
                <a:sym typeface="Huawei Sans" panose="020C0503030203020204" pitchFamily="34" charset="0"/>
              </a:rPr>
              <a:t>绑定表</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zh-CN" altLang="en-US" sz="1600" dirty="0" smtClean="0">
                <a:sym typeface="Huawei Sans" panose="020C0503030203020204" pitchFamily="34" charset="0"/>
              </a:rPr>
              <a:t>二层接入设备使能了</a:t>
            </a:r>
            <a:r>
              <a:rPr lang="en-US" altLang="zh-CN" sz="1600" dirty="0" smtClean="0">
                <a:sym typeface="Huawei Sans" panose="020C0503030203020204" pitchFamily="34" charset="0"/>
              </a:rPr>
              <a:t>DHCP Snooping</a:t>
            </a:r>
            <a:r>
              <a:rPr lang="zh-CN" altLang="en-US" sz="1600" dirty="0" smtClean="0">
                <a:sym typeface="Huawei Sans" panose="020C0503030203020204" pitchFamily="34" charset="0"/>
              </a:rPr>
              <a:t>功能后，从收到</a:t>
            </a:r>
            <a:r>
              <a:rPr lang="en-US" altLang="zh-CN" sz="1600" dirty="0" smtClean="0">
                <a:sym typeface="Huawei Sans" panose="020C0503030203020204" pitchFamily="34" charset="0"/>
              </a:rPr>
              <a:t>DHCP ACK</a:t>
            </a:r>
            <a:r>
              <a:rPr lang="zh-CN" altLang="en-US" sz="1600" dirty="0" smtClean="0">
                <a:sym typeface="Huawei Sans" panose="020C0503030203020204" pitchFamily="34" charset="0"/>
              </a:rPr>
              <a:t>报文中提取关键信息（包括</a:t>
            </a:r>
            <a:r>
              <a:rPr lang="en-US" altLang="zh-CN" sz="1600" dirty="0" smtClean="0">
                <a:sym typeface="Huawei Sans" panose="020C0503030203020204" pitchFamily="34" charset="0"/>
              </a:rPr>
              <a:t>PC</a:t>
            </a:r>
            <a:r>
              <a:rPr lang="zh-CN" altLang="en-US" sz="1600" dirty="0" smtClean="0">
                <a:sym typeface="Huawei Sans" panose="020C0503030203020204" pitchFamily="34" charset="0"/>
              </a:rPr>
              <a:t>的</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地址以及获取到的</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地址、地址租期），并获取与</a:t>
            </a:r>
            <a:r>
              <a:rPr lang="en-US" altLang="zh-CN" sz="1600" dirty="0" smtClean="0">
                <a:sym typeface="Huawei Sans" panose="020C0503030203020204" pitchFamily="34" charset="0"/>
              </a:rPr>
              <a:t>PC</a:t>
            </a:r>
            <a:r>
              <a:rPr lang="zh-CN" altLang="en-US" sz="1600" dirty="0" smtClean="0">
                <a:sym typeface="Huawei Sans" panose="020C0503030203020204" pitchFamily="34" charset="0"/>
              </a:rPr>
              <a:t>连接的使能了</a:t>
            </a:r>
            <a:r>
              <a:rPr lang="en-US" altLang="zh-CN" sz="1600" dirty="0" smtClean="0">
                <a:sym typeface="Huawei Sans" panose="020C0503030203020204" pitchFamily="34" charset="0"/>
              </a:rPr>
              <a:t>DHCP Snooping</a:t>
            </a:r>
            <a:r>
              <a:rPr lang="zh-CN" altLang="en-US" sz="1600" dirty="0" smtClean="0">
                <a:sym typeface="Huawei Sans" panose="020C0503030203020204" pitchFamily="34" charset="0"/>
              </a:rPr>
              <a:t>功能的接口信息（包括接口编号及该接口所属的</a:t>
            </a:r>
            <a:r>
              <a:rPr lang="en-US" altLang="zh-CN" sz="1600" dirty="0" smtClean="0">
                <a:sym typeface="Huawei Sans" panose="020C0503030203020204" pitchFamily="34" charset="0"/>
              </a:rPr>
              <a:t>VLAN</a:t>
            </a:r>
            <a:r>
              <a:rPr lang="zh-CN" altLang="en-US" sz="1600" dirty="0" smtClean="0">
                <a:sym typeface="Huawei Sans" panose="020C0503030203020204" pitchFamily="34" charset="0"/>
              </a:rPr>
              <a:t>），根据这些信息生成</a:t>
            </a:r>
            <a:r>
              <a:rPr lang="en-US" altLang="zh-CN" sz="1600" dirty="0" smtClean="0">
                <a:sym typeface="Huawei Sans" panose="020C0503030203020204" pitchFamily="34" charset="0"/>
              </a:rPr>
              <a:t>DHCP Snooping</a:t>
            </a:r>
            <a:r>
              <a:rPr lang="zh-CN" altLang="en-US" sz="1600" dirty="0" smtClean="0">
                <a:sym typeface="Huawei Sans" panose="020C0503030203020204" pitchFamily="34" charset="0"/>
              </a:rPr>
              <a:t>绑定表。</a:t>
            </a:r>
            <a:endParaRPr lang="en-US" altLang="zh-CN" sz="1600" dirty="0" smtClean="0">
              <a:sym typeface="Huawei Sans" panose="020C0503030203020204" pitchFamily="34" charset="0"/>
            </a:endParaRPr>
          </a:p>
          <a:p>
            <a:r>
              <a:rPr lang="zh-CN" altLang="en-US" sz="1600" dirty="0" smtClean="0">
                <a:sym typeface="Huawei Sans" panose="020C0503030203020204" pitchFamily="34" charset="0"/>
              </a:rPr>
              <a:t>由于</a:t>
            </a:r>
            <a:r>
              <a:rPr lang="en-US" altLang="zh-CN" sz="1600" dirty="0" smtClean="0">
                <a:sym typeface="Huawei Sans" panose="020C0503030203020204" pitchFamily="34" charset="0"/>
              </a:rPr>
              <a:t>DHCP Snooping</a:t>
            </a:r>
            <a:r>
              <a:rPr lang="zh-CN" altLang="en-US" sz="1600" dirty="0" smtClean="0">
                <a:sym typeface="Huawei Sans" panose="020C0503030203020204" pitchFamily="34" charset="0"/>
              </a:rPr>
              <a:t>绑定表记录了</a:t>
            </a:r>
            <a:r>
              <a:rPr lang="en-US" altLang="zh-CN" sz="1600" dirty="0" smtClean="0">
                <a:sym typeface="Huawei Sans" panose="020C0503030203020204" pitchFamily="34" charset="0"/>
              </a:rPr>
              <a:t>DHCP</a:t>
            </a:r>
            <a:r>
              <a:rPr lang="zh-CN" altLang="en-US" sz="1600" dirty="0" smtClean="0">
                <a:sym typeface="Huawei Sans" panose="020C0503030203020204" pitchFamily="34" charset="0"/>
              </a:rPr>
              <a:t>客户端</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地址与</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地址等参数的对应关系，故通过对报文与</a:t>
            </a:r>
            <a:r>
              <a:rPr lang="en-US" altLang="zh-CN" sz="1600" dirty="0" smtClean="0">
                <a:sym typeface="Huawei Sans" panose="020C0503030203020204" pitchFamily="34" charset="0"/>
              </a:rPr>
              <a:t>DHCP Snooping</a:t>
            </a:r>
            <a:r>
              <a:rPr lang="zh-CN" altLang="en-US" sz="1600" dirty="0" smtClean="0">
                <a:sym typeface="Huawei Sans" panose="020C0503030203020204" pitchFamily="34" charset="0"/>
              </a:rPr>
              <a:t>绑定表进行匹配检查，能够有效防范非法用户的攻击。</a:t>
            </a:r>
          </a:p>
          <a:p>
            <a:endParaRPr lang="zh-CN" altLang="en-US" sz="1600" dirty="0">
              <a:sym typeface="Huawei Sans" panose="020C0503030203020204" pitchFamily="34" charset="0"/>
            </a:endParaRPr>
          </a:p>
        </p:txBody>
      </p:sp>
      <p:pic>
        <p:nvPicPr>
          <p:cNvPr id="8" name="图片 7"/>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5575028" y="4172565"/>
            <a:ext cx="540000" cy="442800"/>
          </a:xfrm>
          <a:prstGeom prst="rect">
            <a:avLst/>
          </a:prstGeom>
        </p:spPr>
      </p:pic>
      <p:cxnSp>
        <p:nvCxnSpPr>
          <p:cNvPr id="9" name="直接连接符 8"/>
          <p:cNvCxnSpPr/>
          <p:nvPr/>
        </p:nvCxnSpPr>
        <p:spPr bwMode="gray">
          <a:xfrm>
            <a:off x="1986268" y="3533185"/>
            <a:ext cx="1906983" cy="88567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6" idx="3"/>
          </p:cNvCxnSpPr>
          <p:nvPr/>
        </p:nvCxnSpPr>
        <p:spPr bwMode="gray">
          <a:xfrm flipV="1">
            <a:off x="2013701" y="4364085"/>
            <a:ext cx="1959168" cy="753119"/>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a:stCxn id="13" idx="3"/>
            <a:endCxn id="8" idx="1"/>
          </p:cNvCxnSpPr>
          <p:nvPr/>
        </p:nvCxnSpPr>
        <p:spPr bwMode="gray">
          <a:xfrm>
            <a:off x="4231804" y="4393474"/>
            <a:ext cx="1343224" cy="49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13" name="图片 12" descr="通用交换机.png"/>
          <p:cNvPicPr>
            <a:picLocks noChangeAspect="1"/>
          </p:cNvPicPr>
          <p:nvPr/>
        </p:nvPicPr>
        <p:blipFill>
          <a:blip r:embed="rId4" cstate="print"/>
          <a:stretch>
            <a:fillRect/>
          </a:stretch>
        </p:blipFill>
        <p:spPr bwMode="gray">
          <a:xfrm>
            <a:off x="3691804" y="4172565"/>
            <a:ext cx="540000" cy="441818"/>
          </a:xfrm>
          <a:prstGeom prst="rect">
            <a:avLst/>
          </a:prstGeom>
        </p:spPr>
      </p:pic>
      <p:sp>
        <p:nvSpPr>
          <p:cNvPr id="17" name="文本框 16"/>
          <p:cNvSpPr txBox="1"/>
          <p:nvPr/>
        </p:nvSpPr>
        <p:spPr bwMode="gray">
          <a:xfrm>
            <a:off x="5156378" y="4596269"/>
            <a:ext cx="1377300" cy="338554"/>
          </a:xfrm>
          <a:prstGeom prst="rect">
            <a:avLst/>
          </a:prstGeom>
          <a:noFill/>
          <a:ln>
            <a:noFill/>
          </a:ln>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23" name="直接箭头连接符 22"/>
          <p:cNvCxnSpPr/>
          <p:nvPr/>
        </p:nvCxnSpPr>
        <p:spPr bwMode="gray">
          <a:xfrm flipH="1">
            <a:off x="4432639" y="4251794"/>
            <a:ext cx="976168" cy="0"/>
          </a:xfrm>
          <a:prstGeom prst="straightConnector1">
            <a:avLst/>
          </a:prstGeom>
          <a:ln w="19050">
            <a:solidFill>
              <a:srgbClr val="56C4D2"/>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bwMode="gray">
          <a:xfrm>
            <a:off x="961481" y="3339040"/>
            <a:ext cx="1489510" cy="1137271"/>
            <a:chOff x="1729859" y="3339040"/>
            <a:chExt cx="1489510" cy="1137271"/>
          </a:xfrm>
        </p:grpSpPr>
        <p:grpSp>
          <p:nvGrpSpPr>
            <p:cNvPr id="5" name="组合 4"/>
            <p:cNvGrpSpPr/>
            <p:nvPr/>
          </p:nvGrpSpPr>
          <p:grpSpPr bwMode="gray">
            <a:xfrm>
              <a:off x="1762530" y="3339040"/>
              <a:ext cx="1345240" cy="726277"/>
              <a:chOff x="1762530" y="3339040"/>
              <a:chExt cx="1345240" cy="726277"/>
            </a:xfrm>
          </p:grpSpPr>
          <p:pic>
            <p:nvPicPr>
              <p:cNvPr id="7" name="图片 6" descr="PC.png"/>
              <p:cNvPicPr>
                <a:picLocks noChangeAspect="1"/>
              </p:cNvPicPr>
              <p:nvPr/>
            </p:nvPicPr>
            <p:blipFill>
              <a:blip r:embed="rId5" cstate="print"/>
              <a:stretch>
                <a:fillRect/>
              </a:stretch>
            </p:blipFill>
            <p:spPr bwMode="gray">
              <a:xfrm>
                <a:off x="2243016" y="3339040"/>
                <a:ext cx="539063" cy="414000"/>
              </a:xfrm>
              <a:prstGeom prst="rect">
                <a:avLst/>
              </a:prstGeom>
            </p:spPr>
          </p:pic>
          <p:sp>
            <p:nvSpPr>
              <p:cNvPr id="14" name="文本框 13"/>
              <p:cNvSpPr txBox="1"/>
              <p:nvPr/>
            </p:nvSpPr>
            <p:spPr bwMode="gray">
              <a:xfrm>
                <a:off x="1762530" y="3757540"/>
                <a:ext cx="1345240"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Client 1</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2" name="文本框 41"/>
            <p:cNvSpPr txBox="1"/>
            <p:nvPr/>
          </p:nvSpPr>
          <p:spPr bwMode="gray">
            <a:xfrm>
              <a:off x="1729859" y="3953091"/>
              <a:ext cx="1489510" cy="523220"/>
            </a:xfrm>
            <a:prstGeom prst="rect">
              <a:avLst/>
            </a:prstGeom>
            <a:noFill/>
            <a:ln>
              <a:noFill/>
            </a:ln>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192.168.1.98/24</a:t>
              </a:r>
            </a:p>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MAC-1</a:t>
              </a:r>
              <a:endPar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5" name="组合 14"/>
          <p:cNvGrpSpPr/>
          <p:nvPr/>
        </p:nvGrpSpPr>
        <p:grpSpPr bwMode="gray">
          <a:xfrm>
            <a:off x="978968" y="4910204"/>
            <a:ext cx="1489510" cy="1126217"/>
            <a:chOff x="1747346" y="4910204"/>
            <a:chExt cx="1489510" cy="1126217"/>
          </a:xfrm>
        </p:grpSpPr>
        <p:pic>
          <p:nvPicPr>
            <p:cNvPr id="6" name="图片 5" descr="PC.png"/>
            <p:cNvPicPr>
              <a:picLocks noChangeAspect="1"/>
            </p:cNvPicPr>
            <p:nvPr/>
          </p:nvPicPr>
          <p:blipFill>
            <a:blip r:embed="rId5" cstate="print"/>
            <a:stretch>
              <a:fillRect/>
            </a:stretch>
          </p:blipFill>
          <p:spPr bwMode="gray">
            <a:xfrm>
              <a:off x="2243016" y="4910204"/>
              <a:ext cx="539063" cy="414000"/>
            </a:xfrm>
            <a:prstGeom prst="rect">
              <a:avLst/>
            </a:prstGeom>
          </p:spPr>
        </p:pic>
        <p:sp>
          <p:nvSpPr>
            <p:cNvPr id="16" name="文本框 15"/>
            <p:cNvSpPr txBox="1"/>
            <p:nvPr/>
          </p:nvSpPr>
          <p:spPr bwMode="gray">
            <a:xfrm>
              <a:off x="1762530" y="5295874"/>
              <a:ext cx="1345240"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Client 2</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1747346" y="5513201"/>
              <a:ext cx="1489510" cy="523220"/>
            </a:xfrm>
            <a:prstGeom prst="rect">
              <a:avLst/>
            </a:prstGeom>
            <a:noFill/>
            <a:ln>
              <a:noFill/>
            </a:ln>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192.168.1.99/24</a:t>
              </a:r>
            </a:p>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      MAC-2</a:t>
              </a:r>
              <a:endPar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8" name="文本框 47"/>
          <p:cNvSpPr txBox="1"/>
          <p:nvPr/>
        </p:nvSpPr>
        <p:spPr bwMode="gray">
          <a:xfrm>
            <a:off x="4398025" y="3800984"/>
            <a:ext cx="1180131" cy="354521"/>
          </a:xfrm>
          <a:prstGeom prst="rect">
            <a:avLst/>
          </a:prstGeom>
          <a:solidFill>
            <a:srgbClr val="BEE9EE"/>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zh-CN" i="0" dirty="0">
                <a:solidFill>
                  <a:schemeClr val="tx1"/>
                </a:solidFill>
                <a:sym typeface="Huawei Sans" panose="020C0503030203020204" pitchFamily="34" charset="0"/>
              </a:rPr>
              <a:t>DHCP ACK</a:t>
            </a:r>
            <a:endParaRPr lang="zh-CN" altLang="en-US" i="0" dirty="0">
              <a:solidFill>
                <a:schemeClr val="tx1"/>
              </a:solidFill>
              <a:sym typeface="Huawei Sans" panose="020C0503030203020204" pitchFamily="34" charset="0"/>
            </a:endParaRPr>
          </a:p>
        </p:txBody>
      </p:sp>
      <p:cxnSp>
        <p:nvCxnSpPr>
          <p:cNvPr id="55" name="直接箭头连接符 54"/>
          <p:cNvCxnSpPr/>
          <p:nvPr/>
        </p:nvCxnSpPr>
        <p:spPr bwMode="gray">
          <a:xfrm>
            <a:off x="5637267" y="3970261"/>
            <a:ext cx="896411" cy="0"/>
          </a:xfrm>
          <a:prstGeom prst="straightConnector1">
            <a:avLst/>
          </a:prstGeom>
          <a:ln w="19050">
            <a:solidFill>
              <a:srgbClr val="56C4D2"/>
            </a:solidFill>
            <a:tailEnd type="triangle"/>
          </a:ln>
        </p:spPr>
        <p:style>
          <a:lnRef idx="1">
            <a:schemeClr val="accent1"/>
          </a:lnRef>
          <a:fillRef idx="0">
            <a:schemeClr val="accent1"/>
          </a:fillRef>
          <a:effectRef idx="0">
            <a:schemeClr val="accent1"/>
          </a:effectRef>
          <a:fontRef idx="minor">
            <a:schemeClr val="tx1"/>
          </a:fontRef>
        </p:style>
      </p:cxnSp>
      <p:sp>
        <p:nvSpPr>
          <p:cNvPr id="64" name="文本框 63"/>
          <p:cNvSpPr txBox="1"/>
          <p:nvPr/>
        </p:nvSpPr>
        <p:spPr bwMode="gray">
          <a:xfrm>
            <a:off x="3180732" y="3882594"/>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文本框 64"/>
          <p:cNvSpPr txBox="1"/>
          <p:nvPr/>
        </p:nvSpPr>
        <p:spPr bwMode="gray">
          <a:xfrm>
            <a:off x="3184718" y="4610378"/>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文本框 65"/>
          <p:cNvSpPr txBox="1"/>
          <p:nvPr/>
        </p:nvSpPr>
        <p:spPr bwMode="gray">
          <a:xfrm>
            <a:off x="4175942" y="4392148"/>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2" name="表格 21"/>
          <p:cNvGraphicFramePr>
            <a:graphicFrameLocks noGrp="1"/>
          </p:cNvGraphicFramePr>
          <p:nvPr>
            <p:extLst>
              <p:ext uri="{D42A27DB-BD31-4B8C-83A1-F6EECF244321}">
                <p14:modId xmlns:p14="http://schemas.microsoft.com/office/powerpoint/2010/main" val="3500302880"/>
              </p:ext>
            </p:extLst>
          </p:nvPr>
        </p:nvGraphicFramePr>
        <p:xfrm>
          <a:off x="6592318" y="3837704"/>
          <a:ext cx="4990083" cy="1486499"/>
        </p:xfrm>
        <a:graphic>
          <a:graphicData uri="http://schemas.openxmlformats.org/drawingml/2006/table">
            <a:tbl>
              <a:tblPr firstRow="1" bandRow="1">
                <a:tableStyleId>{72833802-FEF1-4C79-8D5D-14CF1EAF98D9}</a:tableStyleId>
              </a:tblPr>
              <a:tblGrid>
                <a:gridCol w="1276687"/>
                <a:gridCol w="1005339"/>
                <a:gridCol w="824703"/>
                <a:gridCol w="941677"/>
                <a:gridCol w="941677"/>
              </a:tblGrid>
              <a:tr h="391749">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MAC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VLAN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接口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Lease</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547375">
                <a:tc>
                  <a:txBody>
                    <a:bodyPr/>
                    <a:lstStyle/>
                    <a:p>
                      <a:pPr algn="ctr" rtl="0" fontAlgn="ctr"/>
                      <a:r>
                        <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192.168.1.98</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altLang="zh-CN"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GE0/0/1</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47375">
                <a:tc>
                  <a:txBody>
                    <a:bodyPr/>
                    <a:lstStyle/>
                    <a:p>
                      <a:pPr algn="ctr" rtl="0" fontAlgn="ctr"/>
                      <a:r>
                        <a:rPr lang="en-US" altLang="zh-CN"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192.168.1.99</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rtl="0" fontAlgn="ctr"/>
                      <a:r>
                        <a:rPr lang="en-US" altLang="zh-CN"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MAC-2</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rtl="0" fontAlgn="ctr"/>
                      <a:r>
                        <a:rPr lang="en-US" altLang="zh-CN"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rtl="0" fontAlgn="ctr"/>
                      <a:r>
                        <a:rPr lang="en-US"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GE0/0/2</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401273120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en-US" altLang="zh-CN" smtClean="0">
                <a:sym typeface="Huawei Sans" panose="020C0503030203020204" pitchFamily="34" charset="0"/>
              </a:rPr>
              <a:t>DHCP</a:t>
            </a:r>
            <a:r>
              <a:rPr lang="zh-CN" altLang="en-US" smtClean="0">
                <a:sym typeface="Huawei Sans" panose="020C0503030203020204" pitchFamily="34" charset="0"/>
              </a:rPr>
              <a:t>饿死攻击</a:t>
            </a:r>
            <a:endParaRPr lang="zh-CN" altLang="en-US" dirty="0">
              <a:sym typeface="Huawei Sans" panose="020C0503030203020204" pitchFamily="34" charset="0"/>
            </a:endParaRPr>
          </a:p>
        </p:txBody>
      </p:sp>
      <p:sp>
        <p:nvSpPr>
          <p:cNvPr id="2" name="文本占位符 1"/>
          <p:cNvSpPr>
            <a:spLocks noGrp="1"/>
          </p:cNvSpPr>
          <p:nvPr>
            <p:ph type="body" sz="quarter" idx="10"/>
          </p:nvPr>
        </p:nvSpPr>
        <p:spPr bwMode="gray"/>
        <p:txBody>
          <a:bodyPr/>
          <a:lstStyle/>
          <a:p>
            <a:r>
              <a:rPr lang="zh-CN" altLang="en-US" sz="1600" dirty="0" smtClean="0">
                <a:sym typeface="Huawei Sans" panose="020C0503030203020204" pitchFamily="34" charset="0"/>
              </a:rPr>
              <a:t>攻击原理：攻击者持续大量地向</a:t>
            </a:r>
            <a:r>
              <a:rPr lang="en-US" altLang="zh-CN" sz="1600" dirty="0" smtClean="0">
                <a:sym typeface="Huawei Sans" panose="020C0503030203020204" pitchFamily="34" charset="0"/>
              </a:rPr>
              <a:t>DHCP Server</a:t>
            </a:r>
            <a:r>
              <a:rPr lang="zh-CN" altLang="en-US" sz="1600" dirty="0" smtClean="0">
                <a:sym typeface="Huawei Sans" panose="020C0503030203020204" pitchFamily="34" charset="0"/>
              </a:rPr>
              <a:t>申请</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地址，直到耗尽</a:t>
            </a:r>
            <a:r>
              <a:rPr lang="en-US" altLang="zh-CN" sz="1600" dirty="0" smtClean="0">
                <a:sym typeface="Huawei Sans" panose="020C0503030203020204" pitchFamily="34" charset="0"/>
              </a:rPr>
              <a:t>DHCP Server</a:t>
            </a:r>
            <a:r>
              <a:rPr lang="zh-CN" altLang="en-US" sz="1600" dirty="0" smtClean="0">
                <a:sym typeface="Huawei Sans" panose="020C0503030203020204" pitchFamily="34" charset="0"/>
              </a:rPr>
              <a:t>地址池中的</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地址，导致</a:t>
            </a:r>
            <a:r>
              <a:rPr lang="en-US" altLang="zh-CN" sz="1600" dirty="0" smtClean="0">
                <a:sym typeface="Huawei Sans" panose="020C0503030203020204" pitchFamily="34" charset="0"/>
              </a:rPr>
              <a:t>DHCP Server</a:t>
            </a:r>
            <a:r>
              <a:rPr lang="zh-CN" altLang="en-US" sz="1600" dirty="0" smtClean="0">
                <a:sym typeface="Huawei Sans" panose="020C0503030203020204" pitchFamily="34" charset="0"/>
              </a:rPr>
              <a:t>不能给正常的用户进行分配。</a:t>
            </a:r>
          </a:p>
          <a:p>
            <a:r>
              <a:rPr lang="zh-CN" altLang="en-US" sz="1600" dirty="0" smtClean="0">
                <a:sym typeface="Huawei Sans" panose="020C0503030203020204" pitchFamily="34" charset="0"/>
              </a:rPr>
              <a:t>漏洞分析：</a:t>
            </a:r>
            <a:r>
              <a:rPr lang="en-US" altLang="zh-CN" sz="1600" dirty="0" smtClean="0">
                <a:sym typeface="Huawei Sans" panose="020C0503030203020204" pitchFamily="34" charset="0"/>
              </a:rPr>
              <a:t>DHCP Server</a:t>
            </a:r>
            <a:r>
              <a:rPr lang="zh-CN" altLang="en-US" sz="1600" dirty="0" smtClean="0">
                <a:sym typeface="Huawei Sans" panose="020C0503030203020204" pitchFamily="34" charset="0"/>
              </a:rPr>
              <a:t>向申请者分配</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地址时，无法区分正常的申请者与恶意的申请者。</a:t>
            </a:r>
            <a:endParaRPr lang="zh-CN" altLang="en-US" sz="1600" dirty="0">
              <a:sym typeface="Huawei Sans" panose="020C0503030203020204" pitchFamily="34" charset="0"/>
            </a:endParaRPr>
          </a:p>
        </p:txBody>
      </p:sp>
      <p:pic>
        <p:nvPicPr>
          <p:cNvPr id="5" name="图片 4" descr="通用交换机.png"/>
          <p:cNvPicPr>
            <a:picLocks noChangeAspect="1"/>
          </p:cNvPicPr>
          <p:nvPr/>
        </p:nvPicPr>
        <p:blipFill>
          <a:blip r:embed="rId3" cstate="print"/>
          <a:stretch>
            <a:fillRect/>
          </a:stretch>
        </p:blipFill>
        <p:spPr bwMode="gray">
          <a:xfrm>
            <a:off x="6009035" y="4070964"/>
            <a:ext cx="540000" cy="441818"/>
          </a:xfrm>
          <a:prstGeom prst="rect">
            <a:avLst/>
          </a:prstGeom>
        </p:spPr>
      </p:pic>
      <p:pic>
        <p:nvPicPr>
          <p:cNvPr id="6" name="图片 5" descr="交换机.png"/>
          <p:cNvPicPr>
            <a:picLocks noChangeAspect="1"/>
          </p:cNvPicPr>
          <p:nvPr/>
        </p:nvPicPr>
        <p:blipFill>
          <a:blip r:embed="rId4" cstate="print"/>
          <a:stretch>
            <a:fillRect/>
          </a:stretch>
        </p:blipFill>
        <p:spPr bwMode="gray">
          <a:xfrm>
            <a:off x="9626847" y="4070964"/>
            <a:ext cx="539999" cy="441816"/>
          </a:xfrm>
          <a:prstGeom prst="rect">
            <a:avLst/>
          </a:prstGeom>
        </p:spPr>
      </p:pic>
      <p:pic>
        <p:nvPicPr>
          <p:cNvPr id="7" name="图片 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548403" y="5111934"/>
            <a:ext cx="540000" cy="442800"/>
          </a:xfrm>
          <a:prstGeom prst="rect">
            <a:avLst/>
          </a:prstGeom>
        </p:spPr>
      </p:pic>
      <p:pic>
        <p:nvPicPr>
          <p:cNvPr id="8" name="图片 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608269" y="3130634"/>
            <a:ext cx="540000" cy="442800"/>
          </a:xfrm>
          <a:prstGeom prst="rect">
            <a:avLst/>
          </a:prstGeom>
        </p:spPr>
      </p:pic>
      <p:cxnSp>
        <p:nvCxnSpPr>
          <p:cNvPr id="9" name="直接连接符 8"/>
          <p:cNvCxnSpPr>
            <a:stCxn id="8" idx="3"/>
            <a:endCxn id="5" idx="1"/>
          </p:cNvCxnSpPr>
          <p:nvPr/>
        </p:nvCxnSpPr>
        <p:spPr bwMode="gray">
          <a:xfrm>
            <a:off x="2148269" y="3352034"/>
            <a:ext cx="3860766" cy="93983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直接连接符 9"/>
          <p:cNvCxnSpPr>
            <a:stCxn id="7" idx="3"/>
            <a:endCxn id="5" idx="1"/>
          </p:cNvCxnSpPr>
          <p:nvPr/>
        </p:nvCxnSpPr>
        <p:spPr bwMode="gray">
          <a:xfrm flipV="1">
            <a:off x="2088403" y="4291873"/>
            <a:ext cx="3920632" cy="104146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直接连接符 10"/>
          <p:cNvCxnSpPr>
            <a:stCxn id="5" idx="3"/>
            <a:endCxn id="6" idx="1"/>
          </p:cNvCxnSpPr>
          <p:nvPr/>
        </p:nvCxnSpPr>
        <p:spPr bwMode="gray">
          <a:xfrm flipV="1">
            <a:off x="6549035" y="4291872"/>
            <a:ext cx="3077812"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文本框 11"/>
          <p:cNvSpPr txBox="1"/>
          <p:nvPr/>
        </p:nvSpPr>
        <p:spPr bwMode="gray">
          <a:xfrm>
            <a:off x="9360148" y="4444413"/>
            <a:ext cx="1073398"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1298536" y="5531822"/>
            <a:ext cx="103973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5961948" y="4444413"/>
            <a:ext cx="634175"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1494657" y="3499928"/>
            <a:ext cx="76722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Attacker</a:t>
            </a:r>
          </a:p>
        </p:txBody>
      </p:sp>
      <p:sp>
        <p:nvSpPr>
          <p:cNvPr id="16" name="圆角矩形 15"/>
          <p:cNvSpPr/>
          <p:nvPr/>
        </p:nvSpPr>
        <p:spPr bwMode="gray">
          <a:xfrm>
            <a:off x="2219071" y="5231712"/>
            <a:ext cx="4011515" cy="243003"/>
          </a:xfrm>
          <a:prstGeom prst="roundRect">
            <a:avLst>
              <a:gd name="adj" fmla="val 2303"/>
            </a:avLst>
          </a:prstGeom>
          <a:solidFill>
            <a:srgbClr val="56C4D2"/>
          </a:solidFill>
          <a:ln w="12700">
            <a:solidFill>
              <a:srgbClr val="A6D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50000"/>
              </a:lnSpc>
              <a:spcBef>
                <a:spcPts val="0"/>
              </a:spcBef>
              <a:spcAft>
                <a:spcPts val="0"/>
              </a:spcAft>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DHCP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REQUEST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CHADDR =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  Source Mac = Mac-A</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gray">
          <a:xfrm>
            <a:off x="2219072" y="2396112"/>
            <a:ext cx="4008764" cy="222839"/>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B  Source Mac = Mac-B</a:t>
            </a:r>
          </a:p>
        </p:txBody>
      </p:sp>
      <p:sp>
        <p:nvSpPr>
          <p:cNvPr id="18" name="圆角矩形 17"/>
          <p:cNvSpPr/>
          <p:nvPr/>
        </p:nvSpPr>
        <p:spPr bwMode="gray">
          <a:xfrm>
            <a:off x="2219072" y="2720528"/>
            <a:ext cx="4008764" cy="235739"/>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C  Source Mac = Mac-C</a:t>
            </a:r>
          </a:p>
        </p:txBody>
      </p:sp>
      <p:sp>
        <p:nvSpPr>
          <p:cNvPr id="19" name="圆角矩形 18"/>
          <p:cNvSpPr/>
          <p:nvPr/>
        </p:nvSpPr>
        <p:spPr bwMode="gray">
          <a:xfrm>
            <a:off x="2224801" y="3047865"/>
            <a:ext cx="4001827" cy="210607"/>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D  Source Mac = Mac-D</a:t>
            </a:r>
          </a:p>
        </p:txBody>
      </p:sp>
      <p:sp>
        <p:nvSpPr>
          <p:cNvPr id="20" name="圆角矩形 19"/>
          <p:cNvSpPr/>
          <p:nvPr/>
        </p:nvSpPr>
        <p:spPr bwMode="gray">
          <a:xfrm>
            <a:off x="2241268" y="3363316"/>
            <a:ext cx="2667464" cy="871450"/>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攻击者通过不断伪造源</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地址不同的的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discover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报文，向服务器申请</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2261881" y="5531823"/>
            <a:ext cx="2667464" cy="520824"/>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正常主机用户向</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申请</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7287693" y="2816377"/>
            <a:ext cx="3577121" cy="231488"/>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ACK  CHADDR = B  IP Address 10.1.1.1    </a:t>
            </a:r>
          </a:p>
        </p:txBody>
      </p:sp>
      <p:sp>
        <p:nvSpPr>
          <p:cNvPr id="23" name="圆角矩形 22"/>
          <p:cNvSpPr/>
          <p:nvPr/>
        </p:nvSpPr>
        <p:spPr bwMode="gray">
          <a:xfrm>
            <a:off x="7287693" y="3140794"/>
            <a:ext cx="3577121" cy="211240"/>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ACK  CHADDR = C  IP Address 10.1.1.2 </a:t>
            </a:r>
          </a:p>
        </p:txBody>
      </p:sp>
      <p:sp>
        <p:nvSpPr>
          <p:cNvPr id="24" name="圆角矩形 23"/>
          <p:cNvSpPr/>
          <p:nvPr/>
        </p:nvSpPr>
        <p:spPr bwMode="gray">
          <a:xfrm>
            <a:off x="7287693" y="3418885"/>
            <a:ext cx="3577121" cy="208252"/>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ACK  CHADDR = D  IP Address 10.1.1.3 </a:t>
            </a:r>
          </a:p>
        </p:txBody>
      </p:sp>
      <p:sp>
        <p:nvSpPr>
          <p:cNvPr id="25" name="圆角矩形 24"/>
          <p:cNvSpPr/>
          <p:nvPr/>
        </p:nvSpPr>
        <p:spPr bwMode="gray">
          <a:xfrm>
            <a:off x="7294886" y="3732117"/>
            <a:ext cx="3577121" cy="220771"/>
          </a:xfrm>
          <a:prstGeom prst="roundRect">
            <a:avLst>
              <a:gd name="adj" fmla="val 2303"/>
            </a:avLst>
          </a:prstGeom>
          <a:solidFill>
            <a:srgbClr val="56C4D2"/>
          </a:solidFill>
          <a:ln w="12700">
            <a:solidFill>
              <a:srgbClr val="A6D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50000"/>
              </a:lnSpc>
              <a:spcBef>
                <a:spcPts val="0"/>
              </a:spcBef>
              <a:spcAft>
                <a:spcPts val="0"/>
              </a:spcAft>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DHCP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NAK   CHADDR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A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IP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Address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0.0.0.0 </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bwMode="gray">
          <a:xfrm>
            <a:off x="7514923" y="4773705"/>
            <a:ext cx="2734498" cy="1101640"/>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是根据请求报文中的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CHADDR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字段来为其一一分配</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地址，并最终被耗光，当合法用户请求时已经无地址可分配</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了</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Tree>
    <p:extLst>
      <p:ext uri="{BB962C8B-B14F-4D97-AF65-F5344CB8AC3E}">
        <p14:creationId xmlns:p14="http://schemas.microsoft.com/office/powerpoint/2010/main" val="3124356894"/>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en-US" altLang="zh-CN" smtClean="0">
                <a:sym typeface="Huawei Sans" panose="020C0503030203020204" pitchFamily="34" charset="0"/>
              </a:rPr>
              <a:t>DHCP Snooping</a:t>
            </a:r>
            <a:r>
              <a:rPr lang="zh-CN" altLang="en-US" smtClean="0">
                <a:sym typeface="Huawei Sans" panose="020C0503030203020204" pitchFamily="34" charset="0"/>
              </a:rPr>
              <a:t>防饿死攻击</a:t>
            </a:r>
            <a:endParaRPr lang="zh-CN" altLang="en-US" dirty="0">
              <a:sym typeface="Huawei Sans" panose="020C0503030203020204" pitchFamily="34" charset="0"/>
            </a:endParaRPr>
          </a:p>
        </p:txBody>
      </p:sp>
      <p:sp>
        <p:nvSpPr>
          <p:cNvPr id="2" name="文本占位符 1"/>
          <p:cNvSpPr>
            <a:spLocks noGrp="1"/>
          </p:cNvSpPr>
          <p:nvPr>
            <p:ph type="body" sz="quarter" idx="10"/>
          </p:nvPr>
        </p:nvSpPr>
        <p:spPr bwMode="gray"/>
        <p:txBody>
          <a:bodyPr/>
          <a:lstStyle/>
          <a:p>
            <a:r>
              <a:rPr lang="zh-CN" altLang="en-US" sz="1600" smtClean="0">
                <a:sym typeface="Huawei Sans" panose="020C0503030203020204" pitchFamily="34" charset="0"/>
              </a:rPr>
              <a:t>解决方法：对于饿死攻击，可以通过</a:t>
            </a:r>
            <a:r>
              <a:rPr lang="en-US" altLang="zh-CN" sz="1600" smtClean="0">
                <a:sym typeface="Huawei Sans" panose="020C0503030203020204" pitchFamily="34" charset="0"/>
              </a:rPr>
              <a:t>DHCP Snooping</a:t>
            </a:r>
            <a:r>
              <a:rPr lang="zh-CN" altLang="en-US" sz="1600" smtClean="0">
                <a:sym typeface="Huawei Sans" panose="020C0503030203020204" pitchFamily="34" charset="0"/>
              </a:rPr>
              <a:t>的</a:t>
            </a:r>
            <a:r>
              <a:rPr lang="en-US" altLang="zh-CN" sz="1600" smtClean="0">
                <a:sym typeface="Huawei Sans" panose="020C0503030203020204" pitchFamily="34" charset="0"/>
              </a:rPr>
              <a:t>MAC</a:t>
            </a:r>
            <a:r>
              <a:rPr lang="zh-CN" altLang="en-US" sz="1600" smtClean="0">
                <a:sym typeface="Huawei Sans" panose="020C0503030203020204" pitchFamily="34" charset="0"/>
              </a:rPr>
              <a:t>地址限制功能来防止。该功能通过限制交换机接口上允许学习到的最多</a:t>
            </a:r>
            <a:r>
              <a:rPr lang="en-US" altLang="zh-CN" sz="1600" smtClean="0">
                <a:sym typeface="Huawei Sans" panose="020C0503030203020204" pitchFamily="34" charset="0"/>
              </a:rPr>
              <a:t>MAC</a:t>
            </a:r>
            <a:r>
              <a:rPr lang="zh-CN" altLang="en-US" sz="1600" smtClean="0">
                <a:sym typeface="Huawei Sans" panose="020C0503030203020204" pitchFamily="34" charset="0"/>
              </a:rPr>
              <a:t>地址数目，防止通过变换</a:t>
            </a:r>
            <a:r>
              <a:rPr lang="en-US" altLang="zh-CN" sz="1600" smtClean="0">
                <a:sym typeface="Huawei Sans" panose="020C0503030203020204" pitchFamily="34" charset="0"/>
              </a:rPr>
              <a:t>MAC</a:t>
            </a:r>
            <a:r>
              <a:rPr lang="zh-CN" altLang="en-US" sz="1600" smtClean="0">
                <a:sym typeface="Huawei Sans" panose="020C0503030203020204" pitchFamily="34" charset="0"/>
              </a:rPr>
              <a:t>地址，大量发送</a:t>
            </a:r>
            <a:r>
              <a:rPr lang="en-US" altLang="zh-CN" sz="1600" smtClean="0">
                <a:sym typeface="Huawei Sans" panose="020C0503030203020204" pitchFamily="34" charset="0"/>
              </a:rPr>
              <a:t>DHCP</a:t>
            </a:r>
            <a:r>
              <a:rPr lang="zh-CN" altLang="en-US" sz="1600" smtClean="0">
                <a:sym typeface="Huawei Sans" panose="020C0503030203020204" pitchFamily="34" charset="0"/>
              </a:rPr>
              <a:t>请求。</a:t>
            </a:r>
          </a:p>
          <a:p>
            <a:endParaRPr lang="zh-CN" altLang="en-US" sz="1600" dirty="0">
              <a:sym typeface="Huawei Sans" panose="020C0503030203020204" pitchFamily="34" charset="0"/>
            </a:endParaRPr>
          </a:p>
        </p:txBody>
      </p:sp>
      <p:pic>
        <p:nvPicPr>
          <p:cNvPr id="5" name="图片 4" descr="通用交换机.png"/>
          <p:cNvPicPr>
            <a:picLocks noChangeAspect="1"/>
          </p:cNvPicPr>
          <p:nvPr/>
        </p:nvPicPr>
        <p:blipFill>
          <a:blip r:embed="rId3" cstate="print"/>
          <a:stretch>
            <a:fillRect/>
          </a:stretch>
        </p:blipFill>
        <p:spPr bwMode="gray">
          <a:xfrm>
            <a:off x="6323300" y="3755993"/>
            <a:ext cx="540000" cy="441818"/>
          </a:xfrm>
          <a:prstGeom prst="rect">
            <a:avLst/>
          </a:prstGeom>
        </p:spPr>
      </p:pic>
      <p:pic>
        <p:nvPicPr>
          <p:cNvPr id="6" name="图片 5" descr="交换机.png"/>
          <p:cNvPicPr>
            <a:picLocks noChangeAspect="1"/>
          </p:cNvPicPr>
          <p:nvPr/>
        </p:nvPicPr>
        <p:blipFill>
          <a:blip r:embed="rId4" cstate="print"/>
          <a:stretch>
            <a:fillRect/>
          </a:stretch>
        </p:blipFill>
        <p:spPr bwMode="gray">
          <a:xfrm>
            <a:off x="9941112" y="3755993"/>
            <a:ext cx="539999" cy="441816"/>
          </a:xfrm>
          <a:prstGeom prst="rect">
            <a:avLst/>
          </a:prstGeom>
        </p:spPr>
      </p:pic>
      <p:pic>
        <p:nvPicPr>
          <p:cNvPr id="7" name="图片 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862668" y="4796963"/>
            <a:ext cx="540000" cy="442800"/>
          </a:xfrm>
          <a:prstGeom prst="rect">
            <a:avLst/>
          </a:prstGeom>
        </p:spPr>
      </p:pic>
      <p:pic>
        <p:nvPicPr>
          <p:cNvPr id="8" name="图片 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922534" y="2815663"/>
            <a:ext cx="540000" cy="442800"/>
          </a:xfrm>
          <a:prstGeom prst="rect">
            <a:avLst/>
          </a:prstGeom>
        </p:spPr>
      </p:pic>
      <p:cxnSp>
        <p:nvCxnSpPr>
          <p:cNvPr id="9" name="直接连接符 8"/>
          <p:cNvCxnSpPr>
            <a:stCxn id="8" idx="3"/>
            <a:endCxn id="5" idx="1"/>
          </p:cNvCxnSpPr>
          <p:nvPr/>
        </p:nvCxnSpPr>
        <p:spPr bwMode="gray">
          <a:xfrm>
            <a:off x="2462534" y="3037063"/>
            <a:ext cx="3860766" cy="93983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直接连接符 9"/>
          <p:cNvCxnSpPr>
            <a:stCxn id="7" idx="3"/>
            <a:endCxn id="5" idx="1"/>
          </p:cNvCxnSpPr>
          <p:nvPr/>
        </p:nvCxnSpPr>
        <p:spPr bwMode="gray">
          <a:xfrm flipV="1">
            <a:off x="2402668" y="3976902"/>
            <a:ext cx="3920632" cy="104146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直接连接符 10"/>
          <p:cNvCxnSpPr>
            <a:stCxn id="5" idx="3"/>
            <a:endCxn id="6" idx="1"/>
          </p:cNvCxnSpPr>
          <p:nvPr/>
        </p:nvCxnSpPr>
        <p:spPr bwMode="gray">
          <a:xfrm flipV="1">
            <a:off x="6863300" y="3976901"/>
            <a:ext cx="3077812"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文本框 11"/>
          <p:cNvSpPr txBox="1"/>
          <p:nvPr/>
        </p:nvSpPr>
        <p:spPr bwMode="gray">
          <a:xfrm>
            <a:off x="9674413" y="4152283"/>
            <a:ext cx="1073398"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1612801" y="5216851"/>
            <a:ext cx="103973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6272911" y="4147808"/>
            <a:ext cx="634175"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1749056" y="3184957"/>
            <a:ext cx="76722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Attacker</a:t>
            </a:r>
          </a:p>
        </p:txBody>
      </p:sp>
      <p:sp>
        <p:nvSpPr>
          <p:cNvPr id="16" name="圆角矩形 15"/>
          <p:cNvSpPr/>
          <p:nvPr/>
        </p:nvSpPr>
        <p:spPr bwMode="gray">
          <a:xfrm>
            <a:off x="2533337" y="4916741"/>
            <a:ext cx="4056149" cy="300110"/>
          </a:xfrm>
          <a:prstGeom prst="roundRect">
            <a:avLst>
              <a:gd name="adj" fmla="val 2303"/>
            </a:avLst>
          </a:prstGeom>
          <a:solidFill>
            <a:srgbClr val="56C4D2"/>
          </a:solidFill>
          <a:ln w="12700">
            <a:solidFill>
              <a:srgbClr val="A6D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50000"/>
              </a:lnSpc>
              <a:spcBef>
                <a:spcPts val="0"/>
              </a:spcBef>
              <a:spcAft>
                <a:spcPts val="0"/>
              </a:spcAft>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DHCP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REQUEST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CHADDR =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  Source Mac = Mac-A</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gray">
          <a:xfrm>
            <a:off x="2533337" y="2081142"/>
            <a:ext cx="4056149" cy="193989"/>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B  Source Mac = Mac-B</a:t>
            </a:r>
          </a:p>
        </p:txBody>
      </p:sp>
      <p:sp>
        <p:nvSpPr>
          <p:cNvPr id="18" name="圆角矩形 17"/>
          <p:cNvSpPr/>
          <p:nvPr/>
        </p:nvSpPr>
        <p:spPr bwMode="gray">
          <a:xfrm>
            <a:off x="2533337" y="2405557"/>
            <a:ext cx="4056149" cy="205219"/>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C  Source Mac = Mac-C</a:t>
            </a:r>
          </a:p>
        </p:txBody>
      </p:sp>
      <p:sp>
        <p:nvSpPr>
          <p:cNvPr id="19" name="圆角矩形 18"/>
          <p:cNvSpPr/>
          <p:nvPr/>
        </p:nvSpPr>
        <p:spPr bwMode="gray">
          <a:xfrm>
            <a:off x="2539066" y="2732895"/>
            <a:ext cx="4049129" cy="183341"/>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D  Source Mac = Mac-D</a:t>
            </a:r>
          </a:p>
        </p:txBody>
      </p:sp>
      <p:sp>
        <p:nvSpPr>
          <p:cNvPr id="20" name="圆角矩形 19"/>
          <p:cNvSpPr/>
          <p:nvPr/>
        </p:nvSpPr>
        <p:spPr bwMode="gray">
          <a:xfrm>
            <a:off x="2525273" y="3037063"/>
            <a:ext cx="2667464" cy="928556"/>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攻击者通过不断伪造源</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地址不同的的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REQUEST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报文，向服务器申请</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1" name="圆角矩形 20"/>
          <p:cNvSpPr/>
          <p:nvPr/>
        </p:nvSpPr>
        <p:spPr bwMode="gray">
          <a:xfrm>
            <a:off x="2652535" y="5258384"/>
            <a:ext cx="2667464" cy="666115"/>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正常主机用户向</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申请</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6935124" y="2732895"/>
            <a:ext cx="2465988" cy="1153860"/>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Snooping</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限制交换机接口学习</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地址数量，避免大量伪造</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报文请求分配</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78592355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smtClean="0">
                <a:sym typeface="Huawei Sans" panose="020C0503030203020204" pitchFamily="34" charset="0"/>
              </a:rPr>
              <a:t>改变</a:t>
            </a:r>
            <a:r>
              <a:rPr lang="en-US" altLang="zh-CN" smtClean="0">
                <a:sym typeface="Huawei Sans" panose="020C0503030203020204" pitchFamily="34" charset="0"/>
              </a:rPr>
              <a:t>CHADDR</a:t>
            </a:r>
            <a:r>
              <a:rPr lang="zh-CN" altLang="en-US" smtClean="0">
                <a:sym typeface="Huawei Sans" panose="020C0503030203020204" pitchFamily="34" charset="0"/>
              </a:rPr>
              <a:t>值的</a:t>
            </a:r>
            <a:r>
              <a:rPr lang="en-US" altLang="zh-CN" smtClean="0">
                <a:sym typeface="Huawei Sans" panose="020C0503030203020204" pitchFamily="34" charset="0"/>
              </a:rPr>
              <a:t>DoS</a:t>
            </a:r>
            <a:r>
              <a:rPr lang="zh-CN" altLang="en-US" smtClean="0">
                <a:sym typeface="Huawei Sans" panose="020C0503030203020204" pitchFamily="34" charset="0"/>
              </a:rPr>
              <a:t>攻击</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smtClean="0">
                <a:sym typeface="Huawei Sans" panose="020C0503030203020204" pitchFamily="34" charset="0"/>
              </a:rPr>
              <a:t>攻击原理：攻击者持续大量地向</a:t>
            </a:r>
            <a:r>
              <a:rPr lang="en-US" altLang="zh-CN" sz="1600" smtClean="0">
                <a:sym typeface="Huawei Sans" panose="020C0503030203020204" pitchFamily="34" charset="0"/>
              </a:rPr>
              <a:t>DHCP Server</a:t>
            </a:r>
            <a:r>
              <a:rPr lang="zh-CN" altLang="en-US" sz="1600" smtClean="0">
                <a:sym typeface="Huawei Sans" panose="020C0503030203020204" pitchFamily="34" charset="0"/>
              </a:rPr>
              <a:t>申请</a:t>
            </a:r>
            <a:r>
              <a:rPr lang="en-US" altLang="zh-CN" sz="1600" smtClean="0">
                <a:sym typeface="Huawei Sans" panose="020C0503030203020204" pitchFamily="34" charset="0"/>
              </a:rPr>
              <a:t>IP</a:t>
            </a:r>
            <a:r>
              <a:rPr lang="zh-CN" altLang="en-US" sz="1600" smtClean="0">
                <a:sym typeface="Huawei Sans" panose="020C0503030203020204" pitchFamily="34" charset="0"/>
              </a:rPr>
              <a:t>地址，直到耗尽</a:t>
            </a:r>
            <a:r>
              <a:rPr lang="en-US" altLang="zh-CN" sz="1600" smtClean="0">
                <a:sym typeface="Huawei Sans" panose="020C0503030203020204" pitchFamily="34" charset="0"/>
              </a:rPr>
              <a:t>DHCP Server</a:t>
            </a:r>
            <a:r>
              <a:rPr lang="zh-CN" altLang="en-US" sz="1600" smtClean="0">
                <a:sym typeface="Huawei Sans" panose="020C0503030203020204" pitchFamily="34" charset="0"/>
              </a:rPr>
              <a:t>地址池中的</a:t>
            </a:r>
            <a:r>
              <a:rPr lang="en-US" altLang="zh-CN" sz="1600" smtClean="0">
                <a:sym typeface="Huawei Sans" panose="020C0503030203020204" pitchFamily="34" charset="0"/>
              </a:rPr>
              <a:t>IP</a:t>
            </a:r>
            <a:r>
              <a:rPr lang="zh-CN" altLang="en-US" sz="1600" smtClean="0">
                <a:sym typeface="Huawei Sans" panose="020C0503030203020204" pitchFamily="34" charset="0"/>
              </a:rPr>
              <a:t>地址，导致</a:t>
            </a:r>
            <a:r>
              <a:rPr lang="en-US" altLang="zh-CN" sz="1600" smtClean="0">
                <a:sym typeface="Huawei Sans" panose="020C0503030203020204" pitchFamily="34" charset="0"/>
              </a:rPr>
              <a:t>DHCP Server</a:t>
            </a:r>
            <a:r>
              <a:rPr lang="zh-CN" altLang="en-US" sz="1600" smtClean="0">
                <a:sym typeface="Huawei Sans" panose="020C0503030203020204" pitchFamily="34" charset="0"/>
              </a:rPr>
              <a:t>不能给正常的用户进行分配。</a:t>
            </a:r>
          </a:p>
          <a:p>
            <a:r>
              <a:rPr lang="zh-CN" altLang="en-US" sz="1600" smtClean="0">
                <a:sym typeface="Huawei Sans" panose="020C0503030203020204" pitchFamily="34" charset="0"/>
              </a:rPr>
              <a:t>漏洞分析：</a:t>
            </a:r>
            <a:r>
              <a:rPr lang="en-US" altLang="zh-CN" sz="1600" smtClean="0">
                <a:sym typeface="Huawei Sans" panose="020C0503030203020204" pitchFamily="34" charset="0"/>
              </a:rPr>
              <a:t>DHCP Server</a:t>
            </a:r>
            <a:r>
              <a:rPr lang="zh-CN" altLang="en-US" sz="1600" smtClean="0">
                <a:sym typeface="Huawei Sans" panose="020C0503030203020204" pitchFamily="34" charset="0"/>
              </a:rPr>
              <a:t>向申请者分配</a:t>
            </a:r>
            <a:r>
              <a:rPr lang="en-US" altLang="zh-CN" sz="1600" smtClean="0">
                <a:sym typeface="Huawei Sans" panose="020C0503030203020204" pitchFamily="34" charset="0"/>
              </a:rPr>
              <a:t>IP</a:t>
            </a:r>
            <a:r>
              <a:rPr lang="zh-CN" altLang="en-US" sz="1600" smtClean="0">
                <a:sym typeface="Huawei Sans" panose="020C0503030203020204" pitchFamily="34" charset="0"/>
              </a:rPr>
              <a:t>地址时，无法区分正常的申请者与恶意的申请者。</a:t>
            </a:r>
          </a:p>
          <a:p>
            <a:endParaRPr lang="zh-CN" altLang="en-US" sz="1600" dirty="0">
              <a:sym typeface="Huawei Sans" panose="020C0503030203020204" pitchFamily="34" charset="0"/>
            </a:endParaRPr>
          </a:p>
        </p:txBody>
      </p:sp>
      <p:pic>
        <p:nvPicPr>
          <p:cNvPr id="5" name="图片 4" descr="通用交换机.png"/>
          <p:cNvPicPr>
            <a:picLocks noChangeAspect="1"/>
          </p:cNvPicPr>
          <p:nvPr/>
        </p:nvPicPr>
        <p:blipFill>
          <a:blip r:embed="rId3" cstate="print"/>
          <a:stretch>
            <a:fillRect/>
          </a:stretch>
        </p:blipFill>
        <p:spPr bwMode="gray">
          <a:xfrm>
            <a:off x="5869594" y="4074056"/>
            <a:ext cx="540000" cy="441818"/>
          </a:xfrm>
          <a:prstGeom prst="rect">
            <a:avLst/>
          </a:prstGeom>
        </p:spPr>
      </p:pic>
      <p:pic>
        <p:nvPicPr>
          <p:cNvPr id="6" name="图片 5" descr="交换机.png"/>
          <p:cNvPicPr>
            <a:picLocks noChangeAspect="1"/>
          </p:cNvPicPr>
          <p:nvPr/>
        </p:nvPicPr>
        <p:blipFill>
          <a:blip r:embed="rId4" cstate="print"/>
          <a:stretch>
            <a:fillRect/>
          </a:stretch>
        </p:blipFill>
        <p:spPr bwMode="gray">
          <a:xfrm>
            <a:off x="9487406" y="4074056"/>
            <a:ext cx="539999" cy="441816"/>
          </a:xfrm>
          <a:prstGeom prst="rect">
            <a:avLst/>
          </a:prstGeom>
        </p:spPr>
      </p:pic>
      <p:pic>
        <p:nvPicPr>
          <p:cNvPr id="7" name="图片 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408962" y="5115026"/>
            <a:ext cx="540000" cy="442800"/>
          </a:xfrm>
          <a:prstGeom prst="rect">
            <a:avLst/>
          </a:prstGeom>
        </p:spPr>
      </p:pic>
      <p:pic>
        <p:nvPicPr>
          <p:cNvPr id="8" name="图片 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468828" y="3133726"/>
            <a:ext cx="540000" cy="442800"/>
          </a:xfrm>
          <a:prstGeom prst="rect">
            <a:avLst/>
          </a:prstGeom>
        </p:spPr>
      </p:pic>
      <p:cxnSp>
        <p:nvCxnSpPr>
          <p:cNvPr id="9" name="直接连接符 8"/>
          <p:cNvCxnSpPr>
            <a:stCxn id="8" idx="3"/>
            <a:endCxn id="5" idx="1"/>
          </p:cNvCxnSpPr>
          <p:nvPr/>
        </p:nvCxnSpPr>
        <p:spPr bwMode="gray">
          <a:xfrm>
            <a:off x="2008828" y="3355126"/>
            <a:ext cx="3860766" cy="93983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直接连接符 9"/>
          <p:cNvCxnSpPr>
            <a:stCxn id="7" idx="3"/>
            <a:endCxn id="5" idx="1"/>
          </p:cNvCxnSpPr>
          <p:nvPr/>
        </p:nvCxnSpPr>
        <p:spPr bwMode="gray">
          <a:xfrm flipV="1">
            <a:off x="1948962" y="4294965"/>
            <a:ext cx="3920632" cy="104146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直接连接符 10"/>
          <p:cNvCxnSpPr>
            <a:stCxn id="5" idx="3"/>
            <a:endCxn id="6" idx="1"/>
          </p:cNvCxnSpPr>
          <p:nvPr/>
        </p:nvCxnSpPr>
        <p:spPr bwMode="gray">
          <a:xfrm flipV="1">
            <a:off x="6409594" y="4294964"/>
            <a:ext cx="3077812"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文本框 11"/>
          <p:cNvSpPr txBox="1"/>
          <p:nvPr/>
        </p:nvSpPr>
        <p:spPr bwMode="gray">
          <a:xfrm>
            <a:off x="9260410" y="4445034"/>
            <a:ext cx="1073398"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1206720" y="5534915"/>
            <a:ext cx="103973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5840977" y="4445034"/>
            <a:ext cx="634175"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1342975" y="3503021"/>
            <a:ext cx="76722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Attacker</a:t>
            </a:r>
          </a:p>
        </p:txBody>
      </p:sp>
      <p:sp>
        <p:nvSpPr>
          <p:cNvPr id="16" name="圆角矩形 15"/>
          <p:cNvSpPr/>
          <p:nvPr/>
        </p:nvSpPr>
        <p:spPr bwMode="gray">
          <a:xfrm>
            <a:off x="2246453" y="5139554"/>
            <a:ext cx="3875537" cy="219075"/>
          </a:xfrm>
          <a:prstGeom prst="roundRect">
            <a:avLst>
              <a:gd name="adj" fmla="val 2303"/>
            </a:avLst>
          </a:prstGeom>
          <a:solidFill>
            <a:srgbClr val="56C4D2"/>
          </a:solidFill>
          <a:ln w="12700">
            <a:solidFill>
              <a:srgbClr val="A6D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50000"/>
              </a:lnSpc>
              <a:spcBef>
                <a:spcPts val="0"/>
              </a:spcBef>
              <a:spcAft>
                <a:spcPts val="0"/>
              </a:spcAft>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DHCP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REQUEST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CHADDR =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  Source Mac = Mac-A</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gray">
          <a:xfrm>
            <a:off x="2079630" y="2399204"/>
            <a:ext cx="3872879" cy="200897"/>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B  Source Mac = Mac-B</a:t>
            </a:r>
          </a:p>
        </p:txBody>
      </p:sp>
      <p:sp>
        <p:nvSpPr>
          <p:cNvPr id="18" name="圆角矩形 17"/>
          <p:cNvSpPr/>
          <p:nvPr/>
        </p:nvSpPr>
        <p:spPr bwMode="gray">
          <a:xfrm>
            <a:off x="2079630" y="2723621"/>
            <a:ext cx="3872879" cy="212526"/>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C  Source Mac = Mac-B</a:t>
            </a:r>
          </a:p>
        </p:txBody>
      </p:sp>
      <p:sp>
        <p:nvSpPr>
          <p:cNvPr id="19" name="圆角矩形 18"/>
          <p:cNvSpPr/>
          <p:nvPr/>
        </p:nvSpPr>
        <p:spPr bwMode="gray">
          <a:xfrm>
            <a:off x="2085360" y="3050957"/>
            <a:ext cx="3866177" cy="189869"/>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D  Source Mac = Mac-B</a:t>
            </a:r>
          </a:p>
        </p:txBody>
      </p:sp>
      <p:sp>
        <p:nvSpPr>
          <p:cNvPr id="20" name="圆角矩形 19"/>
          <p:cNvSpPr/>
          <p:nvPr/>
        </p:nvSpPr>
        <p:spPr bwMode="gray">
          <a:xfrm>
            <a:off x="2093275" y="3422892"/>
            <a:ext cx="2667464" cy="818635"/>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攻击者通过不断伪造</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CHADDR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值不同的的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REQUEST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报文，向服务器申请</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圆角矩形 20"/>
          <p:cNvSpPr/>
          <p:nvPr/>
        </p:nvSpPr>
        <p:spPr bwMode="gray">
          <a:xfrm>
            <a:off x="2252184" y="5443302"/>
            <a:ext cx="3425196" cy="434187"/>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正常主机用户向</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申请</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7148252" y="2819469"/>
            <a:ext cx="3455868" cy="208694"/>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ACK  CHADDR = B  IP Address 10.1.1.1    </a:t>
            </a:r>
          </a:p>
        </p:txBody>
      </p:sp>
      <p:sp>
        <p:nvSpPr>
          <p:cNvPr id="23" name="圆角矩形 22"/>
          <p:cNvSpPr/>
          <p:nvPr/>
        </p:nvSpPr>
        <p:spPr bwMode="gray">
          <a:xfrm>
            <a:off x="7148252" y="3143886"/>
            <a:ext cx="3455868" cy="190440"/>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ACK  CHADDR = C  IP Address 10.1.1.2 </a:t>
            </a:r>
          </a:p>
        </p:txBody>
      </p:sp>
      <p:sp>
        <p:nvSpPr>
          <p:cNvPr id="24" name="圆角矩形 23"/>
          <p:cNvSpPr/>
          <p:nvPr/>
        </p:nvSpPr>
        <p:spPr bwMode="gray">
          <a:xfrm>
            <a:off x="7148252" y="3421977"/>
            <a:ext cx="3455868" cy="187746"/>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ACK  CHADDR = D  IP Address 10.1.1.3 </a:t>
            </a:r>
          </a:p>
        </p:txBody>
      </p:sp>
      <p:sp>
        <p:nvSpPr>
          <p:cNvPr id="25" name="圆角矩形 24"/>
          <p:cNvSpPr/>
          <p:nvPr/>
        </p:nvSpPr>
        <p:spPr bwMode="gray">
          <a:xfrm>
            <a:off x="7155445" y="3735209"/>
            <a:ext cx="3448676" cy="245491"/>
          </a:xfrm>
          <a:prstGeom prst="roundRect">
            <a:avLst>
              <a:gd name="adj" fmla="val 2303"/>
            </a:avLst>
          </a:prstGeom>
          <a:solidFill>
            <a:srgbClr val="56C4D2"/>
          </a:solidFill>
          <a:ln w="12700">
            <a:solidFill>
              <a:srgbClr val="A6D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50000"/>
              </a:lnSpc>
              <a:spcBef>
                <a:spcPts val="0"/>
              </a:spcBef>
              <a:spcAft>
                <a:spcPts val="0"/>
              </a:spcAft>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DHCP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NAK   CHADDR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A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IP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Address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0.0.0.0 </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圆角矩形 25"/>
          <p:cNvSpPr/>
          <p:nvPr/>
        </p:nvSpPr>
        <p:spPr bwMode="gray">
          <a:xfrm>
            <a:off x="7375481" y="4776797"/>
            <a:ext cx="2865977" cy="1100692"/>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是根据请求报文中的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CHADDR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字段来为</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其逐一</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分配</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地址，并最终被耗光，当合法用户请求时已经无地址可分配</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了。</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40295271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smtClean="0">
                <a:sym typeface="Huawei Sans" panose="020C0503030203020204" pitchFamily="34" charset="0"/>
              </a:rPr>
              <a:t>DHCP Snooping</a:t>
            </a:r>
            <a:r>
              <a:rPr lang="zh-CN" altLang="en-US" smtClean="0">
                <a:sym typeface="Huawei Sans" panose="020C0503030203020204" pitchFamily="34" charset="0"/>
              </a:rPr>
              <a:t>防改变</a:t>
            </a:r>
            <a:r>
              <a:rPr lang="en-US" altLang="zh-CN" smtClean="0">
                <a:sym typeface="Huawei Sans" panose="020C0503030203020204" pitchFamily="34" charset="0"/>
              </a:rPr>
              <a:t>CHADDR</a:t>
            </a:r>
            <a:r>
              <a:rPr lang="zh-CN" altLang="en-US" smtClean="0">
                <a:sym typeface="Huawei Sans" panose="020C0503030203020204" pitchFamily="34" charset="0"/>
              </a:rPr>
              <a:t>值的</a:t>
            </a:r>
            <a:r>
              <a:rPr lang="en-US" altLang="zh-CN" smtClean="0">
                <a:sym typeface="Huawei Sans" panose="020C0503030203020204" pitchFamily="34" charset="0"/>
              </a:rPr>
              <a:t>DoS</a:t>
            </a:r>
            <a:r>
              <a:rPr lang="zh-CN" altLang="en-US" smtClean="0">
                <a:sym typeface="Huawei Sans" panose="020C0503030203020204" pitchFamily="34" charset="0"/>
              </a:rPr>
              <a:t>攻击</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dirty="0" smtClean="0">
                <a:sym typeface="Huawei Sans" panose="020C0503030203020204" pitchFamily="34" charset="0"/>
              </a:rPr>
              <a:t>解决方法：为了避免受到攻击者改变</a:t>
            </a:r>
            <a:r>
              <a:rPr lang="en-US" altLang="zh-CN" sz="1600" dirty="0" smtClean="0">
                <a:sym typeface="Huawei Sans" panose="020C0503030203020204" pitchFamily="34" charset="0"/>
              </a:rPr>
              <a:t>CHADDR</a:t>
            </a:r>
            <a:r>
              <a:rPr lang="zh-CN" altLang="en-US" sz="1600" dirty="0" smtClean="0">
                <a:sym typeface="Huawei Sans" panose="020C0503030203020204" pitchFamily="34" charset="0"/>
              </a:rPr>
              <a:t>值的攻击，可以在设备上配置</a:t>
            </a:r>
            <a:r>
              <a:rPr lang="en-US" altLang="zh-CN" sz="1600" dirty="0" smtClean="0">
                <a:sym typeface="Huawei Sans" panose="020C0503030203020204" pitchFamily="34" charset="0"/>
              </a:rPr>
              <a:t>DHCP Snooping</a:t>
            </a:r>
            <a:r>
              <a:rPr lang="zh-CN" altLang="en-US" sz="1600" dirty="0" smtClean="0">
                <a:sym typeface="Huawei Sans" panose="020C0503030203020204" pitchFamily="34" charset="0"/>
              </a:rPr>
              <a:t>功能，检查</a:t>
            </a:r>
            <a:r>
              <a:rPr lang="en-US" altLang="zh-CN" sz="1600" dirty="0" smtClean="0">
                <a:sym typeface="Huawei Sans" panose="020C0503030203020204" pitchFamily="34" charset="0"/>
              </a:rPr>
              <a:t>DHCP Request</a:t>
            </a:r>
            <a:r>
              <a:rPr lang="zh-CN" altLang="en-US" sz="1600" dirty="0" smtClean="0">
                <a:sym typeface="Huawei Sans" panose="020C0503030203020204" pitchFamily="34" charset="0"/>
              </a:rPr>
              <a:t>报文中</a:t>
            </a:r>
            <a:r>
              <a:rPr lang="en-US" altLang="zh-CN" sz="1600" dirty="0" smtClean="0">
                <a:sym typeface="Huawei Sans" panose="020C0503030203020204" pitchFamily="34" charset="0"/>
              </a:rPr>
              <a:t>CHADDR</a:t>
            </a:r>
            <a:r>
              <a:rPr lang="zh-CN" altLang="en-US" sz="1600" dirty="0" smtClean="0">
                <a:sym typeface="Huawei Sans" panose="020C0503030203020204" pitchFamily="34" charset="0"/>
              </a:rPr>
              <a:t>字段。如果该字段跟数据帧头部的源</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相匹配，转发报文；否则，丢弃报文。从而保证合法用户可以正常使用网络服务。</a:t>
            </a:r>
          </a:p>
          <a:p>
            <a:endParaRPr lang="zh-CN" altLang="en-US" sz="1600" dirty="0">
              <a:sym typeface="Huawei Sans" panose="020C0503030203020204" pitchFamily="34" charset="0"/>
            </a:endParaRPr>
          </a:p>
        </p:txBody>
      </p:sp>
      <p:pic>
        <p:nvPicPr>
          <p:cNvPr id="5" name="图片 4" descr="通用交换机.png"/>
          <p:cNvPicPr>
            <a:picLocks noChangeAspect="1"/>
          </p:cNvPicPr>
          <p:nvPr/>
        </p:nvPicPr>
        <p:blipFill>
          <a:blip r:embed="rId3" cstate="print"/>
          <a:stretch>
            <a:fillRect/>
          </a:stretch>
        </p:blipFill>
        <p:spPr bwMode="gray">
          <a:xfrm>
            <a:off x="5870469" y="3863903"/>
            <a:ext cx="540000" cy="441818"/>
          </a:xfrm>
          <a:prstGeom prst="rect">
            <a:avLst/>
          </a:prstGeom>
        </p:spPr>
      </p:pic>
      <p:pic>
        <p:nvPicPr>
          <p:cNvPr id="6" name="图片 5" descr="交换机.png"/>
          <p:cNvPicPr>
            <a:picLocks noChangeAspect="1"/>
          </p:cNvPicPr>
          <p:nvPr/>
        </p:nvPicPr>
        <p:blipFill>
          <a:blip r:embed="rId4" cstate="print"/>
          <a:stretch>
            <a:fillRect/>
          </a:stretch>
        </p:blipFill>
        <p:spPr bwMode="gray">
          <a:xfrm>
            <a:off x="9488281" y="3863903"/>
            <a:ext cx="539999" cy="441816"/>
          </a:xfrm>
          <a:prstGeom prst="rect">
            <a:avLst/>
          </a:prstGeom>
        </p:spPr>
      </p:pic>
      <p:pic>
        <p:nvPicPr>
          <p:cNvPr id="7" name="图片 6"/>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1409837" y="4904873"/>
            <a:ext cx="540000" cy="442800"/>
          </a:xfrm>
          <a:prstGeom prst="rect">
            <a:avLst/>
          </a:prstGeom>
        </p:spPr>
      </p:pic>
      <p:pic>
        <p:nvPicPr>
          <p:cNvPr id="8" name="图片 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1431040" y="2914599"/>
            <a:ext cx="540000" cy="442800"/>
          </a:xfrm>
          <a:prstGeom prst="rect">
            <a:avLst/>
          </a:prstGeom>
        </p:spPr>
      </p:pic>
      <p:cxnSp>
        <p:nvCxnSpPr>
          <p:cNvPr id="9" name="直接连接符 8"/>
          <p:cNvCxnSpPr>
            <a:stCxn id="8" idx="3"/>
            <a:endCxn id="5" idx="1"/>
          </p:cNvCxnSpPr>
          <p:nvPr/>
        </p:nvCxnSpPr>
        <p:spPr bwMode="gray">
          <a:xfrm>
            <a:off x="1971040" y="3135999"/>
            <a:ext cx="3899429" cy="948813"/>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直接连接符 9"/>
          <p:cNvCxnSpPr>
            <a:stCxn id="7" idx="3"/>
            <a:endCxn id="5" idx="1"/>
          </p:cNvCxnSpPr>
          <p:nvPr/>
        </p:nvCxnSpPr>
        <p:spPr bwMode="gray">
          <a:xfrm flipV="1">
            <a:off x="1949837" y="4084812"/>
            <a:ext cx="3920632" cy="104146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直接连接符 10"/>
          <p:cNvCxnSpPr>
            <a:stCxn id="5" idx="3"/>
            <a:endCxn id="6" idx="1"/>
          </p:cNvCxnSpPr>
          <p:nvPr/>
        </p:nvCxnSpPr>
        <p:spPr bwMode="gray">
          <a:xfrm flipV="1">
            <a:off x="6410469" y="4084811"/>
            <a:ext cx="3077812"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sp>
        <p:nvSpPr>
          <p:cNvPr id="12" name="文本框 11"/>
          <p:cNvSpPr txBox="1"/>
          <p:nvPr/>
        </p:nvSpPr>
        <p:spPr bwMode="gray">
          <a:xfrm>
            <a:off x="9221582" y="4255718"/>
            <a:ext cx="1073398"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1159970" y="5324761"/>
            <a:ext cx="103973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5885694" y="4269908"/>
            <a:ext cx="634175"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1356091" y="3292867"/>
            <a:ext cx="76722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Attacker</a:t>
            </a:r>
          </a:p>
        </p:txBody>
      </p:sp>
      <p:sp>
        <p:nvSpPr>
          <p:cNvPr id="16" name="圆角矩形 15"/>
          <p:cNvSpPr/>
          <p:nvPr/>
        </p:nvSpPr>
        <p:spPr bwMode="gray">
          <a:xfrm>
            <a:off x="2086235" y="4832003"/>
            <a:ext cx="3865303" cy="226120"/>
          </a:xfrm>
          <a:prstGeom prst="roundRect">
            <a:avLst>
              <a:gd name="adj" fmla="val 2303"/>
            </a:avLst>
          </a:prstGeom>
          <a:solidFill>
            <a:srgbClr val="56C4D2"/>
          </a:solidFill>
          <a:ln w="12700">
            <a:solidFill>
              <a:srgbClr val="A6D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50000"/>
              </a:lnSpc>
              <a:spcBef>
                <a:spcPts val="0"/>
              </a:spcBef>
              <a:spcAft>
                <a:spcPts val="0"/>
              </a:spcAft>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DHCP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REQUEST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CHADDR =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  Source Mac = Mac-A</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gray">
          <a:xfrm>
            <a:off x="2080505" y="2189051"/>
            <a:ext cx="3872003" cy="200862"/>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B  Source Mac = Mac-E</a:t>
            </a:r>
          </a:p>
        </p:txBody>
      </p:sp>
      <p:sp>
        <p:nvSpPr>
          <p:cNvPr id="18" name="圆角矩形 17"/>
          <p:cNvSpPr/>
          <p:nvPr/>
        </p:nvSpPr>
        <p:spPr bwMode="gray">
          <a:xfrm>
            <a:off x="2080505" y="2513467"/>
            <a:ext cx="3872003" cy="212490"/>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C  Source Mac = Mac-E</a:t>
            </a:r>
          </a:p>
        </p:txBody>
      </p:sp>
      <p:sp>
        <p:nvSpPr>
          <p:cNvPr id="19" name="圆角矩形 18"/>
          <p:cNvSpPr/>
          <p:nvPr/>
        </p:nvSpPr>
        <p:spPr bwMode="gray">
          <a:xfrm>
            <a:off x="2086236" y="2840804"/>
            <a:ext cx="3865302" cy="189837"/>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2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DHCP REQUEST  CHADDR = D  Source Mac = Mac-E</a:t>
            </a:r>
          </a:p>
        </p:txBody>
      </p:sp>
      <p:sp>
        <p:nvSpPr>
          <p:cNvPr id="20" name="圆角矩形 19"/>
          <p:cNvSpPr/>
          <p:nvPr/>
        </p:nvSpPr>
        <p:spPr bwMode="gray">
          <a:xfrm>
            <a:off x="2123315" y="3140081"/>
            <a:ext cx="2667464" cy="885937"/>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攻击者通过不断伪造</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CHADDR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值不同的的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discover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报文，向服务器申请</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21" name="圆角矩形 20"/>
          <p:cNvSpPr/>
          <p:nvPr/>
        </p:nvSpPr>
        <p:spPr bwMode="gray">
          <a:xfrm>
            <a:off x="2123315" y="5146682"/>
            <a:ext cx="2667464" cy="675515"/>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正常主机用户向</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申请</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圆角矩形 21"/>
          <p:cNvSpPr/>
          <p:nvPr/>
        </p:nvSpPr>
        <p:spPr bwMode="gray">
          <a:xfrm>
            <a:off x="6490829" y="2914599"/>
            <a:ext cx="2756310" cy="1063343"/>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对</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Request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报文的源</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地址与</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CHADDR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进行一致性检查，若一致，则转发，若不一致，则丢弃该报文。</a:t>
            </a:r>
          </a:p>
        </p:txBody>
      </p:sp>
      <p:sp>
        <p:nvSpPr>
          <p:cNvPr id="24" name="圆角矩形 23"/>
          <p:cNvSpPr/>
          <p:nvPr/>
        </p:nvSpPr>
        <p:spPr bwMode="gray">
          <a:xfrm>
            <a:off x="7742635" y="4631396"/>
            <a:ext cx="3897822" cy="226800"/>
          </a:xfrm>
          <a:prstGeom prst="roundRect">
            <a:avLst>
              <a:gd name="adj" fmla="val 2303"/>
            </a:avLst>
          </a:prstGeom>
          <a:solidFill>
            <a:srgbClr val="56C4D2"/>
          </a:solidFill>
          <a:ln w="12700">
            <a:solidFill>
              <a:srgbClr val="A6D2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fontAlgn="auto">
              <a:lnSpc>
                <a:spcPct val="150000"/>
              </a:lnSpc>
              <a:spcBef>
                <a:spcPts val="0"/>
              </a:spcBef>
              <a:spcAft>
                <a:spcPts val="0"/>
              </a:spcAft>
            </a:pP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DHCP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REQUEST  </a:t>
            </a:r>
            <a:r>
              <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CHADDR = </a:t>
            </a:r>
            <a:r>
              <a:rPr lang="en-US" altLang="zh-CN" sz="1200"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  Source Mac = Mac-A</a:t>
            </a:r>
            <a:endParaRPr lang="en-US" altLang="zh-CN" sz="1200"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41074662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smtClean="0">
                <a:sym typeface="Huawei Sans" panose="020C0503030203020204" pitchFamily="34" charset="0"/>
              </a:rPr>
              <a:t>DHCP</a:t>
            </a:r>
            <a:r>
              <a:rPr lang="zh-CN" altLang="en-US" smtClean="0">
                <a:sym typeface="Huawei Sans" panose="020C0503030203020204" pitchFamily="34" charset="0"/>
              </a:rPr>
              <a:t>中间人攻击</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dirty="0" smtClean="0">
                <a:sym typeface="Huawei Sans" panose="020C0503030203020204" pitchFamily="34" charset="0"/>
              </a:rPr>
              <a:t>攻击原理：攻击者利用</a:t>
            </a:r>
            <a:r>
              <a:rPr lang="en-US" altLang="zh-CN" sz="1600" dirty="0" smtClean="0">
                <a:sym typeface="Huawei Sans" panose="020C0503030203020204" pitchFamily="34" charset="0"/>
              </a:rPr>
              <a:t>ARP</a:t>
            </a:r>
            <a:r>
              <a:rPr lang="zh-CN" altLang="en-US" sz="1600" dirty="0" smtClean="0">
                <a:sym typeface="Huawei Sans" panose="020C0503030203020204" pitchFamily="34" charset="0"/>
              </a:rPr>
              <a:t>机制，让</a:t>
            </a:r>
            <a:r>
              <a:rPr lang="en-US" altLang="zh-CN" sz="1600" dirty="0" smtClean="0">
                <a:sym typeface="Huawei Sans" panose="020C0503030203020204" pitchFamily="34" charset="0"/>
              </a:rPr>
              <a:t>Client</a:t>
            </a:r>
            <a:r>
              <a:rPr lang="zh-CN" altLang="en-US" sz="1600" dirty="0" smtClean="0">
                <a:sym typeface="Huawei Sans" panose="020C0503030203020204" pitchFamily="34" charset="0"/>
              </a:rPr>
              <a:t>学习到</a:t>
            </a:r>
            <a:r>
              <a:rPr lang="en-US" altLang="zh-CN" sz="1600" dirty="0" smtClean="0">
                <a:sym typeface="Huawei Sans" panose="020C0503030203020204" pitchFamily="34" charset="0"/>
              </a:rPr>
              <a:t>DHCP Server IP</a:t>
            </a:r>
            <a:r>
              <a:rPr lang="zh-CN" altLang="en-US" sz="1600" dirty="0" smtClean="0">
                <a:sym typeface="Huawei Sans" panose="020C0503030203020204" pitchFamily="34" charset="0"/>
              </a:rPr>
              <a:t>与</a:t>
            </a:r>
            <a:r>
              <a:rPr lang="en-US" altLang="zh-CN" sz="1600" dirty="0" smtClean="0">
                <a:sym typeface="Huawei Sans" panose="020C0503030203020204" pitchFamily="34" charset="0"/>
              </a:rPr>
              <a:t>Attacker MAC</a:t>
            </a:r>
            <a:r>
              <a:rPr lang="zh-CN" altLang="en-US" sz="1600" dirty="0" smtClean="0">
                <a:sym typeface="Huawei Sans" panose="020C0503030203020204" pitchFamily="34" charset="0"/>
              </a:rPr>
              <a:t>的映射关系，又让</a:t>
            </a:r>
            <a:r>
              <a:rPr lang="en-US" altLang="zh-CN" sz="1600" dirty="0" smtClean="0">
                <a:sym typeface="Huawei Sans" panose="020C0503030203020204" pitchFamily="34" charset="0"/>
              </a:rPr>
              <a:t>Server</a:t>
            </a:r>
            <a:r>
              <a:rPr lang="zh-CN" altLang="en-US" sz="1600" dirty="0" smtClean="0">
                <a:sym typeface="Huawei Sans" panose="020C0503030203020204" pitchFamily="34" charset="0"/>
              </a:rPr>
              <a:t>学习到</a:t>
            </a:r>
            <a:r>
              <a:rPr lang="en-US" altLang="zh-CN" sz="1600" dirty="0" smtClean="0">
                <a:sym typeface="Huawei Sans" panose="020C0503030203020204" pitchFamily="34" charset="0"/>
              </a:rPr>
              <a:t>Client IP</a:t>
            </a:r>
            <a:r>
              <a:rPr lang="zh-CN" altLang="en-US" sz="1600" dirty="0" smtClean="0">
                <a:sym typeface="Huawei Sans" panose="020C0503030203020204" pitchFamily="34" charset="0"/>
              </a:rPr>
              <a:t>与</a:t>
            </a:r>
            <a:r>
              <a:rPr lang="en-US" altLang="zh-CN" sz="1600" dirty="0" smtClean="0">
                <a:sym typeface="Huawei Sans" panose="020C0503030203020204" pitchFamily="34" charset="0"/>
              </a:rPr>
              <a:t>Attacker Mac</a:t>
            </a:r>
            <a:r>
              <a:rPr lang="zh-CN" altLang="en-US" sz="1600" dirty="0" smtClean="0">
                <a:sym typeface="Huawei Sans" panose="020C0503030203020204" pitchFamily="34" charset="0"/>
              </a:rPr>
              <a:t>的映射关系。如此一来，</a:t>
            </a:r>
            <a:r>
              <a:rPr lang="en-US" altLang="zh-CN" sz="1600" dirty="0" smtClean="0">
                <a:sym typeface="Huawei Sans" panose="020C0503030203020204" pitchFamily="34" charset="0"/>
              </a:rPr>
              <a:t>Client</a:t>
            </a:r>
            <a:r>
              <a:rPr lang="zh-CN" altLang="en-US" sz="1600" dirty="0" smtClean="0">
                <a:sym typeface="Huawei Sans" panose="020C0503030203020204" pitchFamily="34" charset="0"/>
              </a:rPr>
              <a:t>与</a:t>
            </a:r>
            <a:r>
              <a:rPr lang="en-US" altLang="zh-CN" sz="1600" dirty="0" smtClean="0">
                <a:sym typeface="Huawei Sans" panose="020C0503030203020204" pitchFamily="34" charset="0"/>
              </a:rPr>
              <a:t>Server</a:t>
            </a:r>
            <a:r>
              <a:rPr lang="zh-CN" altLang="en-US" sz="1600" dirty="0" smtClean="0">
                <a:sym typeface="Huawei Sans" panose="020C0503030203020204" pitchFamily="34" charset="0"/>
              </a:rPr>
              <a:t>之间交互的</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报文都会经过攻击者中转。</a:t>
            </a:r>
          </a:p>
          <a:p>
            <a:r>
              <a:rPr lang="zh-CN" altLang="en-US" sz="1600" dirty="0" smtClean="0">
                <a:sym typeface="Huawei Sans" panose="020C0503030203020204" pitchFamily="34" charset="0"/>
              </a:rPr>
              <a:t>漏洞分析：从本质上讲，中间人攻击是一种</a:t>
            </a:r>
            <a:r>
              <a:rPr lang="en-US" altLang="zh-CN" sz="1600" dirty="0" smtClean="0">
                <a:sym typeface="Huawei Sans" panose="020C0503030203020204" pitchFamily="34" charset="0"/>
              </a:rPr>
              <a:t>Spoofing IP/MAC</a:t>
            </a:r>
            <a:r>
              <a:rPr lang="zh-CN" altLang="en-US" sz="1600" dirty="0" smtClean="0">
                <a:sym typeface="Huawei Sans" panose="020C0503030203020204" pitchFamily="34" charset="0"/>
              </a:rPr>
              <a:t>攻击，中间人利用了虚假的</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地址与</a:t>
            </a:r>
            <a:r>
              <a:rPr lang="en-US" altLang="zh-CN" sz="1600" dirty="0" smtClean="0">
                <a:sym typeface="Huawei Sans" panose="020C0503030203020204" pitchFamily="34" charset="0"/>
              </a:rPr>
              <a:t>MAC</a:t>
            </a:r>
            <a:r>
              <a:rPr lang="zh-CN" altLang="en-US" sz="1600" dirty="0" smtClean="0">
                <a:sym typeface="Huawei Sans" panose="020C0503030203020204" pitchFamily="34" charset="0"/>
              </a:rPr>
              <a:t>地址之间的映射关系来同时欺骗</a:t>
            </a:r>
            <a:r>
              <a:rPr lang="en-US" altLang="zh-CN" sz="1600" dirty="0" smtClean="0">
                <a:sym typeface="Huawei Sans" panose="020C0503030203020204" pitchFamily="34" charset="0"/>
              </a:rPr>
              <a:t>DHCP</a:t>
            </a:r>
            <a:r>
              <a:rPr lang="zh-CN" altLang="en-US" sz="1600" dirty="0" smtClean="0">
                <a:sym typeface="Huawei Sans" panose="020C0503030203020204" pitchFamily="34" charset="0"/>
              </a:rPr>
              <a:t>的客户端和服务器。</a:t>
            </a:r>
          </a:p>
          <a:p>
            <a:endParaRPr lang="zh-CN" altLang="en-US" sz="1600" dirty="0">
              <a:sym typeface="Huawei Sans" panose="020C0503030203020204" pitchFamily="34" charset="0"/>
            </a:endParaRPr>
          </a:p>
        </p:txBody>
      </p:sp>
      <p:cxnSp>
        <p:nvCxnSpPr>
          <p:cNvPr id="5" name="直接连接符 4"/>
          <p:cNvCxnSpPr>
            <a:stCxn id="18" idx="2"/>
            <a:endCxn id="15" idx="0"/>
          </p:cNvCxnSpPr>
          <p:nvPr/>
        </p:nvCxnSpPr>
        <p:spPr bwMode="gray">
          <a:xfrm flipH="1">
            <a:off x="5491520" y="3035103"/>
            <a:ext cx="0" cy="182910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6" name="直接连接符 5"/>
          <p:cNvCxnSpPr>
            <a:stCxn id="12" idx="3"/>
            <a:endCxn id="15" idx="1"/>
          </p:cNvCxnSpPr>
          <p:nvPr/>
        </p:nvCxnSpPr>
        <p:spPr bwMode="gray">
          <a:xfrm>
            <a:off x="2339078" y="5078742"/>
            <a:ext cx="2882442"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7" name="直接连接符 6"/>
          <p:cNvCxnSpPr>
            <a:stCxn id="15" idx="3"/>
            <a:endCxn id="9" idx="1"/>
          </p:cNvCxnSpPr>
          <p:nvPr/>
        </p:nvCxnSpPr>
        <p:spPr bwMode="gray">
          <a:xfrm>
            <a:off x="5761520" y="5085112"/>
            <a:ext cx="2885593"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nvGrpSpPr>
          <p:cNvPr id="8" name="组合 7"/>
          <p:cNvGrpSpPr/>
          <p:nvPr/>
        </p:nvGrpSpPr>
        <p:grpSpPr bwMode="gray">
          <a:xfrm>
            <a:off x="8330405" y="4881515"/>
            <a:ext cx="1073398" cy="711121"/>
            <a:chOff x="9283560" y="4185933"/>
            <a:chExt cx="1073398" cy="711121"/>
          </a:xfrm>
        </p:grpSpPr>
        <p:pic>
          <p:nvPicPr>
            <p:cNvPr id="9" name="图片 8" descr="交换机.png"/>
            <p:cNvPicPr>
              <a:picLocks noChangeAspect="1"/>
            </p:cNvPicPr>
            <p:nvPr/>
          </p:nvPicPr>
          <p:blipFill>
            <a:blip r:embed="rId3" cstate="print"/>
            <a:stretch>
              <a:fillRect/>
            </a:stretch>
          </p:blipFill>
          <p:spPr bwMode="gray">
            <a:xfrm>
              <a:off x="9600268" y="4185933"/>
              <a:ext cx="539999" cy="441816"/>
            </a:xfrm>
            <a:prstGeom prst="rect">
              <a:avLst/>
            </a:prstGeom>
          </p:spPr>
        </p:pic>
        <p:sp>
          <p:nvSpPr>
            <p:cNvPr id="10" name="文本框 9"/>
            <p:cNvSpPr txBox="1"/>
            <p:nvPr/>
          </p:nvSpPr>
          <p:spPr bwMode="gray">
            <a:xfrm>
              <a:off x="9283560" y="4531396"/>
              <a:ext cx="1073398"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1" name="组合 10"/>
          <p:cNvGrpSpPr/>
          <p:nvPr/>
        </p:nvGrpSpPr>
        <p:grpSpPr bwMode="gray">
          <a:xfrm>
            <a:off x="1549211" y="4857342"/>
            <a:ext cx="1039734" cy="735294"/>
            <a:chOff x="2502366" y="4161760"/>
            <a:chExt cx="1039734" cy="735294"/>
          </a:xfrm>
        </p:grpSpPr>
        <p:pic>
          <p:nvPicPr>
            <p:cNvPr id="12" name="图片 11"/>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752233" y="4161760"/>
              <a:ext cx="540000" cy="442800"/>
            </a:xfrm>
            <a:prstGeom prst="rect">
              <a:avLst/>
            </a:prstGeom>
          </p:spPr>
        </p:pic>
        <p:sp>
          <p:nvSpPr>
            <p:cNvPr id="13" name="文本框 12"/>
            <p:cNvSpPr txBox="1"/>
            <p:nvPr/>
          </p:nvSpPr>
          <p:spPr bwMode="gray">
            <a:xfrm>
              <a:off x="2502366" y="4531396"/>
              <a:ext cx="103973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4" name="组合 13"/>
          <p:cNvGrpSpPr/>
          <p:nvPr/>
        </p:nvGrpSpPr>
        <p:grpSpPr bwMode="gray">
          <a:xfrm>
            <a:off x="5158961" y="4864203"/>
            <a:ext cx="634175" cy="728433"/>
            <a:chOff x="6112116" y="4168621"/>
            <a:chExt cx="634175" cy="728433"/>
          </a:xfrm>
        </p:grpSpPr>
        <p:pic>
          <p:nvPicPr>
            <p:cNvPr id="15" name="图片 14" descr="通用交换机.png"/>
            <p:cNvPicPr>
              <a:picLocks noChangeAspect="1"/>
            </p:cNvPicPr>
            <p:nvPr/>
          </p:nvPicPr>
          <p:blipFill>
            <a:blip r:embed="rId5" cstate="print"/>
            <a:stretch>
              <a:fillRect/>
            </a:stretch>
          </p:blipFill>
          <p:spPr bwMode="gray">
            <a:xfrm>
              <a:off x="6174675" y="4168621"/>
              <a:ext cx="540000" cy="441818"/>
            </a:xfrm>
            <a:prstGeom prst="rect">
              <a:avLst/>
            </a:prstGeom>
          </p:spPr>
        </p:pic>
        <p:sp>
          <p:nvSpPr>
            <p:cNvPr id="16" name="文本框 15"/>
            <p:cNvSpPr txBox="1"/>
            <p:nvPr/>
          </p:nvSpPr>
          <p:spPr bwMode="gray">
            <a:xfrm>
              <a:off x="6112116" y="4531396"/>
              <a:ext cx="634175"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17" name="组合 16"/>
          <p:cNvGrpSpPr/>
          <p:nvPr/>
        </p:nvGrpSpPr>
        <p:grpSpPr bwMode="gray">
          <a:xfrm>
            <a:off x="5107908" y="2188565"/>
            <a:ext cx="767224" cy="846538"/>
            <a:chOff x="6061063" y="1492983"/>
            <a:chExt cx="767224" cy="846538"/>
          </a:xfrm>
        </p:grpSpPr>
        <p:pic>
          <p:nvPicPr>
            <p:cNvPr id="18" name="图片 17"/>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6177120" y="1896721"/>
              <a:ext cx="540000" cy="442800"/>
            </a:xfrm>
            <a:prstGeom prst="rect">
              <a:avLst/>
            </a:prstGeom>
          </p:spPr>
        </p:pic>
        <p:sp>
          <p:nvSpPr>
            <p:cNvPr id="19" name="文本框 18"/>
            <p:cNvSpPr txBox="1"/>
            <p:nvPr/>
          </p:nvSpPr>
          <p:spPr bwMode="gray">
            <a:xfrm>
              <a:off x="6061063" y="1492983"/>
              <a:ext cx="76722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Attacker</a:t>
              </a:r>
            </a:p>
          </p:txBody>
        </p:sp>
      </p:grpSp>
      <p:sp>
        <p:nvSpPr>
          <p:cNvPr id="20" name="圆角矩形 19"/>
          <p:cNvSpPr/>
          <p:nvPr/>
        </p:nvSpPr>
        <p:spPr bwMode="gray">
          <a:xfrm>
            <a:off x="1974493" y="3119196"/>
            <a:ext cx="2873993" cy="1176885"/>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中间人向客户端发送带有自己</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和服务器</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的报文，让客户端学到中间人的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，达到仿冒</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Server</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的目的。</a:t>
            </a:r>
          </a:p>
        </p:txBody>
      </p:sp>
      <p:sp>
        <p:nvSpPr>
          <p:cNvPr id="21" name="圆角矩形 20"/>
          <p:cNvSpPr/>
          <p:nvPr/>
        </p:nvSpPr>
        <p:spPr bwMode="gray">
          <a:xfrm>
            <a:off x="6152439" y="3119196"/>
            <a:ext cx="2873993" cy="1176885"/>
          </a:xfrm>
          <a:prstGeom prst="roundRect">
            <a:avLst>
              <a:gd name="adj" fmla="val 2303"/>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中间人向服务器发送带有自己</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和客户端</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的报文，让服务器学到中间人的</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，达到仿冒</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Client</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的目的。</a:t>
            </a:r>
          </a:p>
        </p:txBody>
      </p:sp>
      <p:grpSp>
        <p:nvGrpSpPr>
          <p:cNvPr id="24" name="组合 23"/>
          <p:cNvGrpSpPr/>
          <p:nvPr/>
        </p:nvGrpSpPr>
        <p:grpSpPr bwMode="gray">
          <a:xfrm>
            <a:off x="2825176" y="3421632"/>
            <a:ext cx="2396344" cy="1505230"/>
            <a:chOff x="2675620" y="2744924"/>
            <a:chExt cx="2396344" cy="1505230"/>
          </a:xfrm>
        </p:grpSpPr>
        <p:cxnSp>
          <p:nvCxnSpPr>
            <p:cNvPr id="25" name="直接箭头连接符 24"/>
            <p:cNvCxnSpPr/>
            <p:nvPr/>
          </p:nvCxnSpPr>
          <p:spPr bwMode="gray">
            <a:xfrm>
              <a:off x="2675620" y="4250154"/>
              <a:ext cx="2396344" cy="0"/>
            </a:xfrm>
            <a:prstGeom prst="straightConnector1">
              <a:avLst/>
            </a:prstGeom>
            <a:ln w="25400">
              <a:solidFill>
                <a:srgbClr val="EC7061"/>
              </a:solidFill>
              <a:tailEnd type="none"/>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p:nvPr/>
          </p:nvCxnSpPr>
          <p:spPr bwMode="gray">
            <a:xfrm flipV="1">
              <a:off x="5071964" y="2744924"/>
              <a:ext cx="0" cy="1505230"/>
            </a:xfrm>
            <a:prstGeom prst="straightConnector1">
              <a:avLst/>
            </a:prstGeom>
            <a:ln w="25400">
              <a:solidFill>
                <a:srgbClr val="EC7061"/>
              </a:solidFill>
              <a:tailEnd type="arrow"/>
            </a:ln>
          </p:spPr>
          <p:style>
            <a:lnRef idx="1">
              <a:schemeClr val="accent1"/>
            </a:lnRef>
            <a:fillRef idx="0">
              <a:schemeClr val="accent1"/>
            </a:fillRef>
            <a:effectRef idx="0">
              <a:schemeClr val="accent1"/>
            </a:effectRef>
            <a:fontRef idx="minor">
              <a:schemeClr val="tx1"/>
            </a:fontRef>
          </p:style>
        </p:cxnSp>
      </p:grpSp>
      <p:grpSp>
        <p:nvGrpSpPr>
          <p:cNvPr id="27" name="组合 26"/>
          <p:cNvGrpSpPr/>
          <p:nvPr/>
        </p:nvGrpSpPr>
        <p:grpSpPr bwMode="gray">
          <a:xfrm>
            <a:off x="5725576" y="3421632"/>
            <a:ext cx="2428192" cy="1520775"/>
            <a:chOff x="5576020" y="2744924"/>
            <a:chExt cx="2428192" cy="1520775"/>
          </a:xfrm>
        </p:grpSpPr>
        <p:cxnSp>
          <p:nvCxnSpPr>
            <p:cNvPr id="28" name="直接箭头连接符 27"/>
            <p:cNvCxnSpPr/>
            <p:nvPr/>
          </p:nvCxnSpPr>
          <p:spPr bwMode="gray">
            <a:xfrm>
              <a:off x="5576020" y="4249833"/>
              <a:ext cx="2428192" cy="0"/>
            </a:xfrm>
            <a:prstGeom prst="straightConnector1">
              <a:avLst/>
            </a:prstGeom>
            <a:ln w="25400">
              <a:solidFill>
                <a:srgbClr val="EC7061"/>
              </a:solidFill>
              <a:tailEnd type="arrow"/>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bwMode="gray">
            <a:xfrm>
              <a:off x="5576020" y="2744924"/>
              <a:ext cx="0" cy="1520775"/>
            </a:xfrm>
            <a:prstGeom prst="straightConnector1">
              <a:avLst/>
            </a:prstGeom>
            <a:ln w="25400">
              <a:solidFill>
                <a:srgbClr val="EC7061"/>
              </a:solidFill>
              <a:tailEnd type="none"/>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bwMode="gray">
          <a:xfrm>
            <a:off x="5597484" y="3421632"/>
            <a:ext cx="2556284" cy="1339004"/>
            <a:chOff x="5447928" y="2744924"/>
            <a:chExt cx="2556284" cy="1339004"/>
          </a:xfrm>
        </p:grpSpPr>
        <p:cxnSp>
          <p:nvCxnSpPr>
            <p:cNvPr id="31" name="直接箭头连接符 30"/>
            <p:cNvCxnSpPr/>
            <p:nvPr/>
          </p:nvCxnSpPr>
          <p:spPr bwMode="gray">
            <a:xfrm flipH="1">
              <a:off x="5447928" y="4070134"/>
              <a:ext cx="2556284" cy="0"/>
            </a:xfrm>
            <a:prstGeom prst="straightConnector1">
              <a:avLst/>
            </a:prstGeom>
            <a:ln w="25400">
              <a:solidFill>
                <a:srgbClr val="56C4D2"/>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bwMode="gray">
            <a:xfrm flipV="1">
              <a:off x="5447928" y="2744924"/>
              <a:ext cx="0" cy="1339004"/>
            </a:xfrm>
            <a:prstGeom prst="straightConnector1">
              <a:avLst/>
            </a:prstGeom>
            <a:ln w="25400">
              <a:solidFill>
                <a:srgbClr val="56C4D2"/>
              </a:solidFill>
              <a:prstDash val="dashDot"/>
              <a:tailEnd type="arrow"/>
            </a:ln>
          </p:spPr>
          <p:style>
            <a:lnRef idx="1">
              <a:schemeClr val="accent1"/>
            </a:lnRef>
            <a:fillRef idx="0">
              <a:schemeClr val="accent1"/>
            </a:fillRef>
            <a:effectRef idx="0">
              <a:schemeClr val="accent1"/>
            </a:effectRef>
            <a:fontRef idx="minor">
              <a:schemeClr val="tx1"/>
            </a:fontRef>
          </p:style>
        </p:cxnSp>
      </p:grpSp>
      <p:grpSp>
        <p:nvGrpSpPr>
          <p:cNvPr id="33" name="组合 32"/>
          <p:cNvGrpSpPr/>
          <p:nvPr/>
        </p:nvGrpSpPr>
        <p:grpSpPr bwMode="gray">
          <a:xfrm>
            <a:off x="2825176" y="3454858"/>
            <a:ext cx="2540360" cy="1327988"/>
            <a:chOff x="2675620" y="2778150"/>
            <a:chExt cx="2540360" cy="1327988"/>
          </a:xfrm>
        </p:grpSpPr>
        <p:cxnSp>
          <p:nvCxnSpPr>
            <p:cNvPr id="34" name="直接箭头连接符 33"/>
            <p:cNvCxnSpPr/>
            <p:nvPr/>
          </p:nvCxnSpPr>
          <p:spPr bwMode="gray">
            <a:xfrm flipH="1">
              <a:off x="2675620" y="4106138"/>
              <a:ext cx="2540360" cy="0"/>
            </a:xfrm>
            <a:prstGeom prst="straightConnector1">
              <a:avLst/>
            </a:prstGeom>
            <a:ln w="25400">
              <a:solidFill>
                <a:srgbClr val="56C4D2"/>
              </a:solidFill>
              <a:prstDash val="dashDot"/>
              <a:tailEnd type="arrow"/>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bwMode="gray">
            <a:xfrm flipV="1">
              <a:off x="5215980" y="2778150"/>
              <a:ext cx="0" cy="1327988"/>
            </a:xfrm>
            <a:prstGeom prst="straightConnector1">
              <a:avLst/>
            </a:prstGeom>
            <a:ln w="25400">
              <a:solidFill>
                <a:srgbClr val="56C4D2"/>
              </a:solidFill>
              <a:prstDash val="dashDot"/>
              <a:tailEnd type="none"/>
            </a:ln>
          </p:spPr>
          <p:style>
            <a:lnRef idx="1">
              <a:schemeClr val="accent1"/>
            </a:lnRef>
            <a:fillRef idx="0">
              <a:schemeClr val="accent1"/>
            </a:fillRef>
            <a:effectRef idx="0">
              <a:schemeClr val="accent1"/>
            </a:effectRef>
            <a:fontRef idx="minor">
              <a:schemeClr val="tx1"/>
            </a:fontRef>
          </p:style>
        </p:cxnSp>
      </p:grpSp>
      <p:cxnSp>
        <p:nvCxnSpPr>
          <p:cNvPr id="37" name="直接箭头连接符 36"/>
          <p:cNvCxnSpPr/>
          <p:nvPr/>
        </p:nvCxnSpPr>
        <p:spPr bwMode="gray">
          <a:xfrm>
            <a:off x="9549289" y="5899056"/>
            <a:ext cx="2048895" cy="0"/>
          </a:xfrm>
          <a:prstGeom prst="straightConnector1">
            <a:avLst/>
          </a:prstGeom>
          <a:ln w="25400">
            <a:solidFill>
              <a:srgbClr val="EC7061"/>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93"/>
          <p:cNvSpPr txBox="1"/>
          <p:nvPr/>
        </p:nvSpPr>
        <p:spPr bwMode="gray">
          <a:xfrm>
            <a:off x="9386217" y="5484608"/>
            <a:ext cx="2359696" cy="340991"/>
          </a:xfrm>
          <a:prstGeom prst="rect">
            <a:avLst/>
          </a:prstGeom>
          <a:noFill/>
        </p:spPr>
        <p:txBody>
          <a:bodyPr wrap="square" rtlCol="0">
            <a:spAutoFit/>
          </a:bodyPr>
          <a:lstStyle/>
          <a:p>
            <a:pPr 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发</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往</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报文的走向</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TextBox 95"/>
          <p:cNvSpPr txBox="1"/>
          <p:nvPr/>
        </p:nvSpPr>
        <p:spPr bwMode="gray">
          <a:xfrm>
            <a:off x="9425565" y="5019754"/>
            <a:ext cx="2318935" cy="340991"/>
          </a:xfrm>
          <a:prstGeom prst="rect">
            <a:avLst/>
          </a:prstGeom>
          <a:noFill/>
        </p:spPr>
        <p:txBody>
          <a:bodyPr wrap="square" rtlCol="0">
            <a:spAutoFit/>
          </a:bodyPr>
          <a:lstStyle/>
          <a:p>
            <a:pPr algn="ctr">
              <a:lnSpc>
                <a:spcPct val="150000"/>
              </a:lnSpc>
            </a:pP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Server</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发</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往</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PC1</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报文的走向</a:t>
            </a:r>
            <a:endParaRPr lang="en-US" altLang="zh-CN"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0" name="直接箭头连接符 39"/>
          <p:cNvCxnSpPr/>
          <p:nvPr/>
        </p:nvCxnSpPr>
        <p:spPr bwMode="gray">
          <a:xfrm flipV="1">
            <a:off x="9549289" y="5391583"/>
            <a:ext cx="2030893" cy="1"/>
          </a:xfrm>
          <a:prstGeom prst="straightConnector1">
            <a:avLst/>
          </a:prstGeom>
          <a:ln w="25400">
            <a:solidFill>
              <a:srgbClr val="56C4D2"/>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22" name="任意多边形 21"/>
          <p:cNvSpPr/>
          <p:nvPr/>
        </p:nvSpPr>
        <p:spPr bwMode="gray">
          <a:xfrm rot="8118891">
            <a:off x="3359688" y="3853051"/>
            <a:ext cx="2420811" cy="722746"/>
          </a:xfrm>
          <a:custGeom>
            <a:avLst/>
            <a:gdLst>
              <a:gd name="connsiteX0" fmla="*/ 0 w 2055571"/>
              <a:gd name="connsiteY0" fmla="*/ 243839 h 243839"/>
              <a:gd name="connsiteX1" fmla="*/ 987552 w 2055571"/>
              <a:gd name="connsiteY1" fmla="*/ 2438 h 243839"/>
              <a:gd name="connsiteX2" fmla="*/ 2055571 w 2055571"/>
              <a:gd name="connsiteY2" fmla="*/ 229209 h 243839"/>
            </a:gdLst>
            <a:ahLst/>
            <a:cxnLst>
              <a:cxn ang="0">
                <a:pos x="connsiteX0" y="connsiteY0"/>
              </a:cxn>
              <a:cxn ang="0">
                <a:pos x="connsiteX1" y="connsiteY1"/>
              </a:cxn>
              <a:cxn ang="0">
                <a:pos x="connsiteX2" y="connsiteY2"/>
              </a:cxn>
            </a:cxnLst>
            <a:rect l="l" t="t" r="r" b="b"/>
            <a:pathLst>
              <a:path w="2055571" h="243839">
                <a:moveTo>
                  <a:pt x="0" y="243839"/>
                </a:moveTo>
                <a:cubicBezTo>
                  <a:pt x="322478" y="124357"/>
                  <a:pt x="644957" y="4876"/>
                  <a:pt x="987552" y="2438"/>
                </a:cubicBezTo>
                <a:cubicBezTo>
                  <a:pt x="1330147" y="0"/>
                  <a:pt x="1692859" y="114604"/>
                  <a:pt x="2055571" y="229209"/>
                </a:cubicBezTo>
              </a:path>
            </a:pathLst>
          </a:custGeom>
          <a:ln w="25400">
            <a:solidFill>
              <a:schemeClr val="bg1">
                <a:lumMod val="50000"/>
              </a:schemeClr>
            </a:solidFill>
            <a:prstDash val="dash"/>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50000"/>
              </a:lnSpc>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任意多边形 22"/>
          <p:cNvSpPr/>
          <p:nvPr/>
        </p:nvSpPr>
        <p:spPr bwMode="gray">
          <a:xfrm rot="2437762" flipV="1">
            <a:off x="5218145" y="3805244"/>
            <a:ext cx="2550279" cy="838632"/>
          </a:xfrm>
          <a:custGeom>
            <a:avLst/>
            <a:gdLst>
              <a:gd name="connsiteX0" fmla="*/ 0 w 2055571"/>
              <a:gd name="connsiteY0" fmla="*/ 243839 h 243839"/>
              <a:gd name="connsiteX1" fmla="*/ 987552 w 2055571"/>
              <a:gd name="connsiteY1" fmla="*/ 2438 h 243839"/>
              <a:gd name="connsiteX2" fmla="*/ 2055571 w 2055571"/>
              <a:gd name="connsiteY2" fmla="*/ 229209 h 243839"/>
            </a:gdLst>
            <a:ahLst/>
            <a:cxnLst>
              <a:cxn ang="0">
                <a:pos x="connsiteX0" y="connsiteY0"/>
              </a:cxn>
              <a:cxn ang="0">
                <a:pos x="connsiteX1" y="connsiteY1"/>
              </a:cxn>
              <a:cxn ang="0">
                <a:pos x="connsiteX2" y="connsiteY2"/>
              </a:cxn>
            </a:cxnLst>
            <a:rect l="l" t="t" r="r" b="b"/>
            <a:pathLst>
              <a:path w="2055571" h="243839">
                <a:moveTo>
                  <a:pt x="0" y="243839"/>
                </a:moveTo>
                <a:cubicBezTo>
                  <a:pt x="322478" y="124357"/>
                  <a:pt x="644957" y="4876"/>
                  <a:pt x="987552" y="2438"/>
                </a:cubicBezTo>
                <a:cubicBezTo>
                  <a:pt x="1330147" y="0"/>
                  <a:pt x="1692859" y="114604"/>
                  <a:pt x="2055571" y="229209"/>
                </a:cubicBezTo>
              </a:path>
            </a:pathLst>
          </a:custGeom>
          <a:ln w="25400">
            <a:solidFill>
              <a:schemeClr val="bg1">
                <a:lumMod val="50000"/>
              </a:schemeClr>
            </a:solidFill>
            <a:prstDash val="dash"/>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50000"/>
              </a:lnSpc>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文本框 1"/>
          <p:cNvSpPr txBox="1"/>
          <p:nvPr/>
        </p:nvSpPr>
        <p:spPr bwMode="gray">
          <a:xfrm>
            <a:off x="1742040" y="5580611"/>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文本框 40"/>
          <p:cNvSpPr txBox="1"/>
          <p:nvPr/>
        </p:nvSpPr>
        <p:spPr bwMode="gray">
          <a:xfrm>
            <a:off x="8511902" y="5580612"/>
            <a:ext cx="766557"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文本框 41"/>
          <p:cNvSpPr txBox="1"/>
          <p:nvPr/>
        </p:nvSpPr>
        <p:spPr bwMode="gray">
          <a:xfrm>
            <a:off x="1549211" y="4494307"/>
            <a:ext cx="1031720"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(MAC1 IP1)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8435267" y="4498545"/>
            <a:ext cx="1068589"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(Mac-S IP-S)</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5685392" y="2611673"/>
            <a:ext cx="102370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(MAC2 IP2)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文本框 44"/>
          <p:cNvSpPr txBox="1"/>
          <p:nvPr/>
        </p:nvSpPr>
        <p:spPr bwMode="gray">
          <a:xfrm>
            <a:off x="5793136" y="2466372"/>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0572639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en-US" altLang="zh-CN" smtClean="0">
                <a:sym typeface="Huawei Sans" panose="020C0503030203020204" pitchFamily="34" charset="0"/>
              </a:rPr>
              <a:t>DHCP Snooping</a:t>
            </a:r>
            <a:r>
              <a:rPr lang="zh-CN" altLang="en-US" smtClean="0">
                <a:sym typeface="Huawei Sans" panose="020C0503030203020204" pitchFamily="34" charset="0"/>
              </a:rPr>
              <a:t>防</a:t>
            </a:r>
            <a:r>
              <a:rPr lang="en-US" altLang="zh-CN" smtClean="0">
                <a:sym typeface="Huawei Sans" panose="020C0503030203020204" pitchFamily="34" charset="0"/>
              </a:rPr>
              <a:t>DHCP</a:t>
            </a:r>
            <a:r>
              <a:rPr lang="zh-CN" altLang="en-US" smtClean="0">
                <a:sym typeface="Huawei Sans" panose="020C0503030203020204" pitchFamily="34" charset="0"/>
              </a:rPr>
              <a:t>中间人攻击</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600" smtClean="0">
                <a:sym typeface="Huawei Sans" panose="020C0503030203020204" pitchFamily="34" charset="0"/>
              </a:rPr>
              <a:t>解决方法：为防御中间人攻击与</a:t>
            </a:r>
            <a:r>
              <a:rPr lang="en-US" altLang="zh-CN" sz="1600" smtClean="0">
                <a:sym typeface="Huawei Sans" panose="020C0503030203020204" pitchFamily="34" charset="0"/>
              </a:rPr>
              <a:t>IP/MAC Spoofing</a:t>
            </a:r>
            <a:r>
              <a:rPr lang="zh-CN" altLang="en-US" sz="1600" smtClean="0">
                <a:sym typeface="Huawei Sans" panose="020C0503030203020204" pitchFamily="34" charset="0"/>
              </a:rPr>
              <a:t>攻击，可使用</a:t>
            </a:r>
            <a:r>
              <a:rPr lang="en-US" altLang="zh-CN" sz="1600" smtClean="0">
                <a:sym typeface="Huawei Sans" panose="020C0503030203020204" pitchFamily="34" charset="0"/>
              </a:rPr>
              <a:t>DHCP Snooping</a:t>
            </a:r>
            <a:r>
              <a:rPr lang="zh-CN" altLang="en-US" sz="1600" smtClean="0">
                <a:sym typeface="Huawei Sans" panose="020C0503030203020204" pitchFamily="34" charset="0"/>
              </a:rPr>
              <a:t>的绑定表工作模式，当接口接收到</a:t>
            </a:r>
            <a:r>
              <a:rPr lang="en-US" altLang="zh-CN" sz="1600" smtClean="0">
                <a:sym typeface="Huawei Sans" panose="020C0503030203020204" pitchFamily="34" charset="0"/>
              </a:rPr>
              <a:t>ARP</a:t>
            </a:r>
            <a:r>
              <a:rPr lang="zh-CN" altLang="en-US" sz="1600" smtClean="0">
                <a:sym typeface="Huawei Sans" panose="020C0503030203020204" pitchFamily="34" charset="0"/>
              </a:rPr>
              <a:t>或者</a:t>
            </a:r>
            <a:r>
              <a:rPr lang="en-US" altLang="zh-CN" sz="1600" smtClean="0">
                <a:sym typeface="Huawei Sans" panose="020C0503030203020204" pitchFamily="34" charset="0"/>
              </a:rPr>
              <a:t>IP</a:t>
            </a:r>
            <a:r>
              <a:rPr lang="zh-CN" altLang="en-US" sz="1600" smtClean="0">
                <a:sym typeface="Huawei Sans" panose="020C0503030203020204" pitchFamily="34" charset="0"/>
              </a:rPr>
              <a:t>报文，使用</a:t>
            </a:r>
            <a:r>
              <a:rPr lang="en-US" altLang="zh-CN" sz="1600" smtClean="0">
                <a:sym typeface="Huawei Sans" panose="020C0503030203020204" pitchFamily="34" charset="0"/>
              </a:rPr>
              <a:t>ARP</a:t>
            </a:r>
            <a:r>
              <a:rPr lang="zh-CN" altLang="en-US" sz="1600" smtClean="0">
                <a:sym typeface="Huawei Sans" panose="020C0503030203020204" pitchFamily="34" charset="0"/>
              </a:rPr>
              <a:t>或者</a:t>
            </a:r>
            <a:r>
              <a:rPr lang="en-US" altLang="zh-CN" sz="1600" smtClean="0">
                <a:sym typeface="Huawei Sans" panose="020C0503030203020204" pitchFamily="34" charset="0"/>
              </a:rPr>
              <a:t>IP</a:t>
            </a:r>
            <a:r>
              <a:rPr lang="zh-CN" altLang="en-US" sz="1600" smtClean="0">
                <a:sym typeface="Huawei Sans" panose="020C0503030203020204" pitchFamily="34" charset="0"/>
              </a:rPr>
              <a:t>报文中的“源</a:t>
            </a:r>
            <a:r>
              <a:rPr lang="en-US" altLang="zh-CN" sz="1600" smtClean="0">
                <a:sym typeface="Huawei Sans" panose="020C0503030203020204" pitchFamily="34" charset="0"/>
              </a:rPr>
              <a:t>IP+</a:t>
            </a:r>
            <a:r>
              <a:rPr lang="zh-CN" altLang="en-US" sz="1600" smtClean="0">
                <a:sym typeface="Huawei Sans" panose="020C0503030203020204" pitchFamily="34" charset="0"/>
              </a:rPr>
              <a:t>源</a:t>
            </a:r>
            <a:r>
              <a:rPr lang="en-US" altLang="zh-CN" sz="1600" smtClean="0">
                <a:sym typeface="Huawei Sans" panose="020C0503030203020204" pitchFamily="34" charset="0"/>
              </a:rPr>
              <a:t>MAC”</a:t>
            </a:r>
            <a:r>
              <a:rPr lang="zh-CN" altLang="en-US" sz="1600" smtClean="0">
                <a:sym typeface="Huawei Sans" panose="020C0503030203020204" pitchFamily="34" charset="0"/>
              </a:rPr>
              <a:t>匹配</a:t>
            </a:r>
            <a:r>
              <a:rPr lang="en-US" altLang="zh-CN" sz="1600" smtClean="0">
                <a:sym typeface="Huawei Sans" panose="020C0503030203020204" pitchFamily="34" charset="0"/>
              </a:rPr>
              <a:t>DHCP Snooping</a:t>
            </a:r>
            <a:r>
              <a:rPr lang="zh-CN" altLang="en-US" sz="1600" smtClean="0">
                <a:sym typeface="Huawei Sans" panose="020C0503030203020204" pitchFamily="34" charset="0"/>
              </a:rPr>
              <a:t>绑定表。如果匹配就进行转发，如果不匹配就丢弃。</a:t>
            </a:r>
          </a:p>
          <a:p>
            <a:endParaRPr lang="zh-CN" altLang="en-US" sz="1600" dirty="0">
              <a:sym typeface="Huawei Sans" panose="020C0503030203020204" pitchFamily="34" charset="0"/>
            </a:endParaRPr>
          </a:p>
        </p:txBody>
      </p:sp>
      <p:sp>
        <p:nvSpPr>
          <p:cNvPr id="5" name="AutoShape 21"/>
          <p:cNvSpPr>
            <a:spLocks noChangeArrowheads="1"/>
          </p:cNvSpPr>
          <p:nvPr/>
        </p:nvSpPr>
        <p:spPr bwMode="gray">
          <a:xfrm>
            <a:off x="3538196" y="4561506"/>
            <a:ext cx="4932609" cy="1383073"/>
          </a:xfrm>
          <a:prstGeom prst="wedgeRectCallout">
            <a:avLst>
              <a:gd name="adj1" fmla="val -2468"/>
              <a:gd name="adj2" fmla="val -78125"/>
            </a:avLst>
          </a:prstGeom>
          <a:noFill/>
          <a:ln w="12700" cap="flat" cmpd="sng" algn="ctr">
            <a:solidFill>
              <a:sysClr val="window" lastClr="FFFFFF">
                <a:lumMod val="75000"/>
              </a:sysClr>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en-US" altLang="zh-CN" sz="8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 name="图片 5" descr="通用交换机.png"/>
          <p:cNvPicPr>
            <a:picLocks noChangeAspect="1"/>
          </p:cNvPicPr>
          <p:nvPr/>
        </p:nvPicPr>
        <p:blipFill>
          <a:blip r:embed="rId3" cstate="print"/>
          <a:stretch>
            <a:fillRect/>
          </a:stretch>
        </p:blipFill>
        <p:spPr bwMode="gray">
          <a:xfrm>
            <a:off x="5826579" y="3709343"/>
            <a:ext cx="540000" cy="441818"/>
          </a:xfrm>
          <a:prstGeom prst="rect">
            <a:avLst/>
          </a:prstGeom>
        </p:spPr>
      </p:pic>
      <p:pic>
        <p:nvPicPr>
          <p:cNvPr id="7" name="图片 6" descr="交换机.png"/>
          <p:cNvPicPr>
            <a:picLocks noChangeAspect="1"/>
          </p:cNvPicPr>
          <p:nvPr/>
        </p:nvPicPr>
        <p:blipFill>
          <a:blip r:embed="rId4" cstate="print"/>
          <a:stretch>
            <a:fillRect/>
          </a:stretch>
        </p:blipFill>
        <p:spPr bwMode="gray">
          <a:xfrm>
            <a:off x="8470805" y="3709345"/>
            <a:ext cx="539999" cy="441816"/>
          </a:xfrm>
          <a:prstGeom prst="rect">
            <a:avLst/>
          </a:prstGeom>
        </p:spPr>
      </p:pic>
      <p:pic>
        <p:nvPicPr>
          <p:cNvPr id="8" name="图片 7"/>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3340362" y="3708852"/>
            <a:ext cx="540000" cy="442800"/>
          </a:xfrm>
          <a:prstGeom prst="rect">
            <a:avLst/>
          </a:prstGeom>
        </p:spPr>
      </p:pic>
      <p:cxnSp>
        <p:nvCxnSpPr>
          <p:cNvPr id="9" name="直接连接符 8"/>
          <p:cNvCxnSpPr>
            <a:stCxn id="8" idx="3"/>
          </p:cNvCxnSpPr>
          <p:nvPr/>
        </p:nvCxnSpPr>
        <p:spPr bwMode="gray">
          <a:xfrm>
            <a:off x="3880362" y="3930252"/>
            <a:ext cx="1946217"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0" name="直接连接符 9"/>
          <p:cNvCxnSpPr>
            <a:stCxn id="6" idx="3"/>
            <a:endCxn id="7" idx="1"/>
          </p:cNvCxnSpPr>
          <p:nvPr/>
        </p:nvCxnSpPr>
        <p:spPr bwMode="gray">
          <a:xfrm>
            <a:off x="6366579" y="3930252"/>
            <a:ext cx="2104226" cy="1"/>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1" name="直接连接符 10"/>
          <p:cNvCxnSpPr>
            <a:stCxn id="6" idx="0"/>
            <a:endCxn id="12" idx="2"/>
          </p:cNvCxnSpPr>
          <p:nvPr/>
        </p:nvCxnSpPr>
        <p:spPr bwMode="gray">
          <a:xfrm flipH="1" flipV="1">
            <a:off x="6090611" y="2329225"/>
            <a:ext cx="5968" cy="1380118"/>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2" name="图片 11"/>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5820611" y="1886425"/>
            <a:ext cx="540000" cy="442800"/>
          </a:xfrm>
          <a:prstGeom prst="rect">
            <a:avLst/>
          </a:prstGeom>
        </p:spPr>
      </p:pic>
      <p:sp>
        <p:nvSpPr>
          <p:cNvPr id="13" name="文本框 12"/>
          <p:cNvSpPr txBox="1"/>
          <p:nvPr/>
        </p:nvSpPr>
        <p:spPr bwMode="gray">
          <a:xfrm>
            <a:off x="8204106" y="4118781"/>
            <a:ext cx="1073398"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5789320" y="4133361"/>
            <a:ext cx="634175"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文本框 14"/>
          <p:cNvSpPr txBox="1"/>
          <p:nvPr/>
        </p:nvSpPr>
        <p:spPr bwMode="gray">
          <a:xfrm>
            <a:off x="6360611" y="1889006"/>
            <a:ext cx="76722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Attacker</a:t>
            </a:r>
          </a:p>
        </p:txBody>
      </p:sp>
      <p:sp>
        <p:nvSpPr>
          <p:cNvPr id="16" name="文本框 15"/>
          <p:cNvSpPr txBox="1"/>
          <p:nvPr/>
        </p:nvSpPr>
        <p:spPr bwMode="gray">
          <a:xfrm>
            <a:off x="3132362" y="4123429"/>
            <a:ext cx="103973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DHCP Client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圆角矩形 16"/>
          <p:cNvSpPr/>
          <p:nvPr/>
        </p:nvSpPr>
        <p:spPr bwMode="gray">
          <a:xfrm>
            <a:off x="8039020" y="2123067"/>
            <a:ext cx="3128434" cy="1199875"/>
          </a:xfrm>
          <a:prstGeom prst="roundRect">
            <a:avLst>
              <a:gd name="adj" fmla="val 2303"/>
            </a:avLst>
          </a:prstGeom>
          <a:solidFill>
            <a:srgbClr val="FFFF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检查</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请求报文中的源</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地址和源</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地址，发现该</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IP/MAC</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映射关系不能匹配</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DHCP Snooping</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绑定表中的条目，于是丢弃该</a:t>
            </a:r>
            <a:r>
              <a:rPr lang="en-US" altLang="zh-CN"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ARP</a:t>
            </a:r>
            <a:r>
              <a:rPr lang="zh-CN" altLang="en-US" sz="14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请求报文。</a:t>
            </a:r>
          </a:p>
        </p:txBody>
      </p:sp>
      <p:sp>
        <p:nvSpPr>
          <p:cNvPr id="19" name="文本框 18"/>
          <p:cNvSpPr txBox="1"/>
          <p:nvPr/>
        </p:nvSpPr>
        <p:spPr bwMode="gray">
          <a:xfrm>
            <a:off x="3045793" y="3351127"/>
            <a:ext cx="1031720"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(MAC1 IP1)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文本框 19"/>
          <p:cNvSpPr txBox="1"/>
          <p:nvPr/>
        </p:nvSpPr>
        <p:spPr bwMode="gray">
          <a:xfrm>
            <a:off x="8208915" y="3331341"/>
            <a:ext cx="110866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(MAC-S IP-S)</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5088959" y="2234784"/>
            <a:ext cx="1023704" cy="365658"/>
          </a:xfrm>
          <a:prstGeom prst="rect">
            <a:avLst/>
          </a:prstGeom>
          <a:noFill/>
          <a:ln w="9525" algn="ctr">
            <a:noFill/>
            <a:miter lim="800000"/>
            <a:headEnd/>
            <a:tailEnd/>
          </a:ln>
        </p:spPr>
        <p:txBody>
          <a:bodyPr vert="horz" wrap="none" lIns="87802" tIns="43901" rIns="87802" bIns="43901" numCol="1" rtlCol="0" anchor="ctr" anchorCtr="0" compatLnSpc="1">
            <a:prstTxWarp prst="textNoShape">
              <a:avLst/>
            </a:prstTxWarp>
            <a:spAutoFit/>
          </a:bodyPr>
          <a:lstStyle/>
          <a:p>
            <a:pPr fontAlgn="ctr">
              <a:lnSpc>
                <a:spcPct val="150000"/>
              </a:lnSpc>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(MAC2 IP2)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任意多边形 21"/>
          <p:cNvSpPr/>
          <p:nvPr/>
        </p:nvSpPr>
        <p:spPr bwMode="gray">
          <a:xfrm rot="8118891">
            <a:off x="4772273" y="3101977"/>
            <a:ext cx="1301006" cy="388422"/>
          </a:xfrm>
          <a:custGeom>
            <a:avLst/>
            <a:gdLst>
              <a:gd name="connsiteX0" fmla="*/ 0 w 2055571"/>
              <a:gd name="connsiteY0" fmla="*/ 243839 h 243839"/>
              <a:gd name="connsiteX1" fmla="*/ 987552 w 2055571"/>
              <a:gd name="connsiteY1" fmla="*/ 2438 h 243839"/>
              <a:gd name="connsiteX2" fmla="*/ 2055571 w 2055571"/>
              <a:gd name="connsiteY2" fmla="*/ 229209 h 243839"/>
            </a:gdLst>
            <a:ahLst/>
            <a:cxnLst>
              <a:cxn ang="0">
                <a:pos x="connsiteX0" y="connsiteY0"/>
              </a:cxn>
              <a:cxn ang="0">
                <a:pos x="connsiteX1" y="connsiteY1"/>
              </a:cxn>
              <a:cxn ang="0">
                <a:pos x="connsiteX2" y="connsiteY2"/>
              </a:cxn>
            </a:cxnLst>
            <a:rect l="l" t="t" r="r" b="b"/>
            <a:pathLst>
              <a:path w="2055571" h="243839">
                <a:moveTo>
                  <a:pt x="0" y="243839"/>
                </a:moveTo>
                <a:cubicBezTo>
                  <a:pt x="322478" y="124357"/>
                  <a:pt x="644957" y="4876"/>
                  <a:pt x="987552" y="2438"/>
                </a:cubicBezTo>
                <a:cubicBezTo>
                  <a:pt x="1330147" y="0"/>
                  <a:pt x="1692859" y="114604"/>
                  <a:pt x="2055571" y="229209"/>
                </a:cubicBezTo>
              </a:path>
            </a:pathLst>
          </a:custGeom>
          <a:ln w="25400">
            <a:solidFill>
              <a:schemeClr val="bg1">
                <a:lumMod val="50000"/>
              </a:schemeClr>
            </a:solidFill>
            <a:prstDash val="dash"/>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50000"/>
              </a:lnSpc>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任意多边形 22"/>
          <p:cNvSpPr/>
          <p:nvPr/>
        </p:nvSpPr>
        <p:spPr bwMode="gray">
          <a:xfrm rot="2437762" flipV="1">
            <a:off x="6146889" y="3070835"/>
            <a:ext cx="1370588" cy="450704"/>
          </a:xfrm>
          <a:custGeom>
            <a:avLst/>
            <a:gdLst>
              <a:gd name="connsiteX0" fmla="*/ 0 w 2055571"/>
              <a:gd name="connsiteY0" fmla="*/ 243839 h 243839"/>
              <a:gd name="connsiteX1" fmla="*/ 987552 w 2055571"/>
              <a:gd name="connsiteY1" fmla="*/ 2438 h 243839"/>
              <a:gd name="connsiteX2" fmla="*/ 2055571 w 2055571"/>
              <a:gd name="connsiteY2" fmla="*/ 229209 h 243839"/>
            </a:gdLst>
            <a:ahLst/>
            <a:cxnLst>
              <a:cxn ang="0">
                <a:pos x="connsiteX0" y="connsiteY0"/>
              </a:cxn>
              <a:cxn ang="0">
                <a:pos x="connsiteX1" y="connsiteY1"/>
              </a:cxn>
              <a:cxn ang="0">
                <a:pos x="connsiteX2" y="connsiteY2"/>
              </a:cxn>
            </a:cxnLst>
            <a:rect l="l" t="t" r="r" b="b"/>
            <a:pathLst>
              <a:path w="2055571" h="243839">
                <a:moveTo>
                  <a:pt x="0" y="243839"/>
                </a:moveTo>
                <a:cubicBezTo>
                  <a:pt x="322478" y="124357"/>
                  <a:pt x="644957" y="4876"/>
                  <a:pt x="987552" y="2438"/>
                </a:cubicBezTo>
                <a:cubicBezTo>
                  <a:pt x="1330147" y="0"/>
                  <a:pt x="1692859" y="114604"/>
                  <a:pt x="2055571" y="229209"/>
                </a:cubicBezTo>
              </a:path>
            </a:pathLst>
          </a:custGeom>
          <a:ln w="25400">
            <a:solidFill>
              <a:schemeClr val="bg1">
                <a:lumMod val="50000"/>
              </a:schemeClr>
            </a:solidFill>
            <a:prstDash val="dash"/>
            <a:headEnd type="none"/>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lnSpc>
                <a:spcPct val="150000"/>
              </a:lnSpc>
            </a:pP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圆角矩形 23"/>
          <p:cNvSpPr/>
          <p:nvPr/>
        </p:nvSpPr>
        <p:spPr bwMode="gray">
          <a:xfrm>
            <a:off x="4461790" y="2927053"/>
            <a:ext cx="1110061" cy="404287"/>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IP-S </a:t>
            </a:r>
            <a:r>
              <a:rPr lang="en-US" altLang="zh-CN" sz="16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MAC2</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24"/>
          <p:cNvSpPr/>
          <p:nvPr/>
        </p:nvSpPr>
        <p:spPr bwMode="gray">
          <a:xfrm>
            <a:off x="6632477" y="2927053"/>
            <a:ext cx="1110061" cy="404287"/>
          </a:xfrm>
          <a:prstGeom prst="roundRect">
            <a:avLst>
              <a:gd name="adj" fmla="val 2303"/>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IP-C </a:t>
            </a:r>
            <a:r>
              <a:rPr lang="en-US" altLang="zh-CN" sz="1600" kern="0" dirty="0" smtClean="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MAC2</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6" name="表格 25"/>
          <p:cNvGraphicFramePr>
            <a:graphicFrameLocks noGrp="1"/>
          </p:cNvGraphicFramePr>
          <p:nvPr>
            <p:extLst>
              <p:ext uri="{D42A27DB-BD31-4B8C-83A1-F6EECF244321}">
                <p14:modId xmlns:p14="http://schemas.microsoft.com/office/powerpoint/2010/main" val="2436803667"/>
              </p:ext>
            </p:extLst>
          </p:nvPr>
        </p:nvGraphicFramePr>
        <p:xfrm>
          <a:off x="3720212" y="4703727"/>
          <a:ext cx="4603261" cy="1080819"/>
        </p:xfrm>
        <a:graphic>
          <a:graphicData uri="http://schemas.openxmlformats.org/drawingml/2006/table">
            <a:tbl>
              <a:tblPr firstRow="1" bandRow="1">
                <a:tableStyleId>{72833802-FEF1-4C79-8D5D-14CF1EAF98D9}</a:tableStyleId>
              </a:tblPr>
              <a:tblGrid>
                <a:gridCol w="1177721"/>
                <a:gridCol w="927407"/>
                <a:gridCol w="760773"/>
                <a:gridCol w="868680"/>
                <a:gridCol w="868680"/>
              </a:tblGrid>
              <a:tr h="370840">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MAC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VLAN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接口</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en-US" altLang="zh-CN"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Lease</a:t>
                      </a:r>
                      <a:endParaRPr lang="zh-CN" altLang="en-US"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70840">
                <a:tc>
                  <a:txBody>
                    <a:bodyPr/>
                    <a:lstStyle/>
                    <a:p>
                      <a:pPr algn="ctr" rtl="0" fontAlgn="ctr"/>
                      <a:r>
                        <a:rPr lang="en-US" altLang="zh-CN"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IP1</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MAC1</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altLang="zh-CN"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39139">
                <a:tc>
                  <a:txBody>
                    <a:bodyPr/>
                    <a:lstStyle/>
                    <a:p>
                      <a:pPr algn="ctr" rtl="0" fontAlgn="ctr"/>
                      <a:r>
                        <a:rPr lang="en-US" altLang="zh-CN"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IP2</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rtl="0" fontAlgn="ctr"/>
                      <a:r>
                        <a:rPr lang="en-US" altLang="zh-CN"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MAC2</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rtl="0" fontAlgn="ctr"/>
                      <a:r>
                        <a:rPr lang="en-US" altLang="zh-CN"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rtl="0" fontAlgn="ctr"/>
                      <a:r>
                        <a:rPr lang="en-US" sz="14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a:t>
                      </a:r>
                      <a:endParaRPr lang="en-US" sz="14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sp>
        <p:nvSpPr>
          <p:cNvPr id="27" name="文本框 26"/>
          <p:cNvSpPr txBox="1"/>
          <p:nvPr/>
        </p:nvSpPr>
        <p:spPr bwMode="gray">
          <a:xfrm>
            <a:off x="2650869" y="3812607"/>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8" name="文本框 27"/>
          <p:cNvSpPr txBox="1"/>
          <p:nvPr/>
        </p:nvSpPr>
        <p:spPr bwMode="gray">
          <a:xfrm>
            <a:off x="5256700" y="1940501"/>
            <a:ext cx="542136"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9010804" y="3810927"/>
            <a:ext cx="766557" cy="338554"/>
          </a:xfrm>
          <a:prstGeom prst="rect">
            <a:avLst/>
          </a:prstGeom>
          <a:noFill/>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Server</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83602725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DHCP Snooping</a:t>
            </a:r>
            <a:r>
              <a:rPr lang="zh-CN" altLang="en-US" smtClean="0">
                <a:sym typeface="Huawei Sans" panose="020C0503030203020204" pitchFamily="34" charset="0"/>
              </a:rPr>
              <a:t>配置命令介绍 </a:t>
            </a:r>
            <a:r>
              <a:rPr lang="en-US" altLang="zh-CN" smtClean="0">
                <a:sym typeface="Huawei Sans" panose="020C0503030203020204" pitchFamily="34" charset="0"/>
              </a:rPr>
              <a:t>(1)</a:t>
            </a:r>
            <a:endParaRPr lang="zh-CN" altLang="en-US" dirty="0">
              <a:sym typeface="Huawei Sans" panose="020C0503030203020204" pitchFamily="34" charset="0"/>
            </a:endParaRPr>
          </a:p>
        </p:txBody>
      </p:sp>
      <p:sp>
        <p:nvSpPr>
          <p:cNvPr id="11" name="矩形 10"/>
          <p:cNvSpPr/>
          <p:nvPr/>
        </p:nvSpPr>
        <p:spPr bwMode="gray">
          <a:xfrm>
            <a:off x="1031917" y="1797459"/>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snooping enable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ipv4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ipv6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2" name="矩形 11"/>
          <p:cNvSpPr/>
          <p:nvPr/>
        </p:nvSpPr>
        <p:spPr bwMode="gray">
          <a:xfrm>
            <a:off x="551384" y="1365312"/>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全局使能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 Snooping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p>
        </p:txBody>
      </p:sp>
      <p:sp>
        <p:nvSpPr>
          <p:cNvPr id="17" name="矩形 16"/>
          <p:cNvSpPr/>
          <p:nvPr/>
        </p:nvSpPr>
        <p:spPr bwMode="gray">
          <a:xfrm>
            <a:off x="1031917" y="2661753"/>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[Huawei-vlan2]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snooping enable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9" name="矩形 18"/>
          <p:cNvSpPr/>
          <p:nvPr/>
        </p:nvSpPr>
        <p:spPr bwMode="gray">
          <a:xfrm>
            <a:off x="551384" y="2229606"/>
            <a:ext cx="11089232" cy="338554"/>
          </a:xfrm>
          <a:prstGeom prst="rect">
            <a:avLst/>
          </a:prstGeom>
        </p:spPr>
        <p:txBody>
          <a:bodyPr wrap="square">
            <a:spAutoFit/>
          </a:bodyPr>
          <a:lstStyle/>
          <a:p>
            <a:pPr marL="342900" indent="-342900" fontAlgn="auto">
              <a:buFont typeface="+mj-lt"/>
              <a:buAutoNum type="arabicPeriod" startAt="2"/>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视图下使能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 Snooping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p>
        </p:txBody>
      </p:sp>
      <p:sp>
        <p:nvSpPr>
          <p:cNvPr id="20" name="矩形 19"/>
          <p:cNvSpPr/>
          <p:nvPr/>
        </p:nvSpPr>
        <p:spPr bwMode="gray">
          <a:xfrm>
            <a:off x="1031917" y="3093900"/>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视图下执行此命令，则对设备所有接口接收到的属于该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报文命令功能生效。</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3" name="矩形 22"/>
          <p:cNvSpPr/>
          <p:nvPr/>
        </p:nvSpPr>
        <p:spPr bwMode="gray">
          <a:xfrm>
            <a:off x="1031917" y="3997372"/>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[Huawei-vlan2]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snooping trusted interface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interface-type interface-number</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4" name="矩形 23"/>
          <p:cNvSpPr/>
          <p:nvPr/>
        </p:nvSpPr>
        <p:spPr bwMode="gray">
          <a:xfrm>
            <a:off x="551384" y="3565225"/>
            <a:ext cx="11089232" cy="338554"/>
          </a:xfrm>
          <a:prstGeom prst="rect">
            <a:avLst/>
          </a:prstGeom>
        </p:spPr>
        <p:txBody>
          <a:bodyPr wrap="square">
            <a:spAutoFit/>
          </a:bodyPr>
          <a:lstStyle/>
          <a:p>
            <a:pPr marL="342900" indent="-342900" fontAlgn="auto">
              <a:buFont typeface="+mj-lt"/>
              <a:buAutoNum type="arabicPeriod" startAt="3"/>
            </a:pP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视图下配置接口为“信任”状态</a:t>
            </a:r>
          </a:p>
        </p:txBody>
      </p:sp>
      <p:sp>
        <p:nvSpPr>
          <p:cNvPr id="25" name="矩形 24"/>
          <p:cNvSpPr/>
          <p:nvPr/>
        </p:nvSpPr>
        <p:spPr bwMode="gray">
          <a:xfrm>
            <a:off x="1031917" y="4429517"/>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视图下执行此命令，则命令功能仅对加入该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的接口收到的属于此</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报文生效。</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4967342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DHCP Snooping</a:t>
            </a:r>
            <a:r>
              <a:rPr lang="zh-CN" altLang="en-US" smtClean="0">
                <a:sym typeface="Huawei Sans" panose="020C0503030203020204" pitchFamily="34" charset="0"/>
              </a:rPr>
              <a:t>配置命令介绍 </a:t>
            </a:r>
            <a:r>
              <a:rPr lang="en-US" altLang="zh-CN" smtClean="0">
                <a:sym typeface="Huawei Sans" panose="020C0503030203020204" pitchFamily="34" charset="0"/>
              </a:rPr>
              <a:t>(2)</a:t>
            </a:r>
            <a:endParaRPr lang="zh-CN" altLang="en-US" dirty="0">
              <a:sym typeface="Huawei Sans" panose="020C0503030203020204" pitchFamily="34" charset="0"/>
            </a:endParaRPr>
          </a:p>
        </p:txBody>
      </p:sp>
      <p:sp>
        <p:nvSpPr>
          <p:cNvPr id="17" name="矩形 16"/>
          <p:cNvSpPr/>
          <p:nvPr/>
        </p:nvSpPr>
        <p:spPr bwMode="gray">
          <a:xfrm>
            <a:off x="1031917" y="1797459"/>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snooping enable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8" name="矩形 17"/>
          <p:cNvSpPr/>
          <p:nvPr/>
        </p:nvSpPr>
        <p:spPr bwMode="gray">
          <a:xfrm>
            <a:off x="551384" y="1365312"/>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接口视图下使能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 Snooping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p>
        </p:txBody>
      </p:sp>
      <p:sp>
        <p:nvSpPr>
          <p:cNvPr id="24" name="矩形 23"/>
          <p:cNvSpPr/>
          <p:nvPr/>
        </p:nvSpPr>
        <p:spPr bwMode="gray">
          <a:xfrm>
            <a:off x="1031917" y="2661753"/>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snooping trusted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5" name="矩形 24"/>
          <p:cNvSpPr/>
          <p:nvPr/>
        </p:nvSpPr>
        <p:spPr bwMode="gray">
          <a:xfrm>
            <a:off x="551384" y="2229606"/>
            <a:ext cx="11089232" cy="338554"/>
          </a:xfrm>
          <a:prstGeom prst="rect">
            <a:avLst/>
          </a:prstGeom>
        </p:spPr>
        <p:txBody>
          <a:bodyPr wrap="square">
            <a:spAutoFit/>
          </a:bodyPr>
          <a:lstStyle/>
          <a:p>
            <a:pPr marL="342900" indent="-342900" fontAlgn="auto">
              <a:buFont typeface="+mj-lt"/>
              <a:buAutoNum type="arabicPeriod" startAt="5"/>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接口视图下配置接口为“信任”状态</a:t>
            </a:r>
          </a:p>
        </p:txBody>
      </p:sp>
      <p:sp>
        <p:nvSpPr>
          <p:cNvPr id="26" name="矩形 25"/>
          <p:cNvSpPr/>
          <p:nvPr/>
        </p:nvSpPr>
        <p:spPr bwMode="gray">
          <a:xfrm>
            <a:off x="1031917" y="3093900"/>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缺省情况下，设备接口为非信任状态。</a:t>
            </a:r>
          </a:p>
        </p:txBody>
      </p:sp>
      <p:sp>
        <p:nvSpPr>
          <p:cNvPr id="27" name="矩形 26"/>
          <p:cNvSpPr/>
          <p:nvPr/>
        </p:nvSpPr>
        <p:spPr bwMode="gray">
          <a:xfrm>
            <a:off x="1031917" y="3991275"/>
            <a:ext cx="10608699" cy="338554"/>
          </a:xfrm>
          <a:prstGeom prst="rect">
            <a:avLst/>
          </a:prstGeom>
          <a:solidFill>
            <a:schemeClr val="bg1">
              <a:lumMod val="85000"/>
            </a:schemeClr>
          </a:solidFill>
          <a:ln>
            <a:noFill/>
          </a:ln>
        </p:spPr>
        <p:txBody>
          <a:bodyPr wrap="square">
            <a:spAutoFit/>
          </a:bodyPr>
          <a:lstStyle/>
          <a:p>
            <a:pPr fontAlgn="base"/>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dhcp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snooping check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dhcp-giaddr</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enable </a:t>
            </a:r>
            <a:r>
              <a:rPr lang="en-US" altLang="zh-CN" sz="1600" b="1" dirty="0" err="1">
                <a:latin typeface="Huawei Sans" panose="020C0503030203020204" pitchFamily="34" charset="0"/>
                <a:ea typeface="方正兰亭黑简体" panose="02000000000000000000" pitchFamily="2" charset="-122"/>
                <a:sym typeface="Huawei Sans" panose="020C0503030203020204" pitchFamily="34" charset="0"/>
              </a:rPr>
              <a:t>vlan</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vlan-id1</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to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vlan-id2</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8" name="矩形 27"/>
          <p:cNvSpPr/>
          <p:nvPr/>
        </p:nvSpPr>
        <p:spPr bwMode="gray">
          <a:xfrm>
            <a:off x="551384" y="3559128"/>
            <a:ext cx="11089232" cy="338554"/>
          </a:xfrm>
          <a:prstGeom prst="rect">
            <a:avLst/>
          </a:prstGeom>
        </p:spPr>
        <p:txBody>
          <a:bodyPr wrap="square">
            <a:spAutoFit/>
          </a:bodyPr>
          <a:lstStyle/>
          <a:p>
            <a:pPr marL="342900" indent="-342900" fontAlgn="auto">
              <a:buFont typeface="+mj-lt"/>
              <a:buAutoNum type="arabicPeriod" startAt="6"/>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（可选）配置丢弃</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GIADDR</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字段非零的</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a:t>
            </a:r>
          </a:p>
        </p:txBody>
      </p:sp>
      <p:sp>
        <p:nvSpPr>
          <p:cNvPr id="29" name="矩形 28"/>
          <p:cNvSpPr/>
          <p:nvPr/>
        </p:nvSpPr>
        <p:spPr bwMode="gray">
          <a:xfrm>
            <a:off x="1031917" y="4423420"/>
            <a:ext cx="10608699" cy="1015663"/>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使能检测</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DHCP Request</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报文中</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GIADDR</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字段是否非零的功能。此命令同时可以在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视图或接口视图下进行配置。</a:t>
            </a:r>
            <a:endParaRPr lang="en-US" altLang="zh-CN" sz="1600" dirty="0">
              <a:latin typeface="Huawei Sans" panose="020C0503030203020204" pitchFamily="34" charset="0"/>
              <a:ea typeface="方正兰亭黑简体" panose="02000000000000000000" pitchFamily="2" charset="-122"/>
              <a:sym typeface="Huawei Sans" panose="020C0503030203020204" pitchFamily="34" charset="0"/>
            </a:endParaRPr>
          </a:p>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在</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视图下执行此命令，则对设备所有接口接收到的属于该</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报文命令功能生效；在接口下执行该命令，则对该接口下的所有</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DHCP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报文命令功能生效。</a:t>
            </a:r>
          </a:p>
        </p:txBody>
      </p:sp>
    </p:spTree>
    <p:extLst>
      <p:ext uri="{BB962C8B-B14F-4D97-AF65-F5344CB8AC3E}">
        <p14:creationId xmlns:p14="http://schemas.microsoft.com/office/powerpoint/2010/main" val="54876720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DHCP Snooping</a:t>
            </a:r>
            <a:r>
              <a:rPr lang="zh-CN" altLang="en-US" smtClean="0">
                <a:sym typeface="Huawei Sans" panose="020C0503030203020204" pitchFamily="34" charset="0"/>
              </a:rPr>
              <a:t>配置举例</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5172428"/>
            <a:ext cx="5495926" cy="755127"/>
          </a:xfrm>
        </p:spPr>
        <p:txBody>
          <a:bodyPr/>
          <a:lstStyle/>
          <a:p>
            <a:r>
              <a:rPr lang="zh-CN" altLang="en-US" sz="1600" dirty="0" smtClean="0">
                <a:sym typeface="Huawei Sans" panose="020C0503030203020204" pitchFamily="34" charset="0"/>
              </a:rPr>
              <a:t>如图所示，</a:t>
            </a:r>
            <a:r>
              <a:rPr lang="en-US" altLang="zh-CN" sz="1600" dirty="0" smtClean="0">
                <a:sym typeface="Huawei Sans" panose="020C0503030203020204" pitchFamily="34" charset="0"/>
              </a:rPr>
              <a:t>DHCP</a:t>
            </a:r>
            <a:r>
              <a:rPr lang="zh-CN" altLang="en-US" sz="1600" dirty="0" smtClean="0">
                <a:sym typeface="Huawei Sans" panose="020C0503030203020204" pitchFamily="34" charset="0"/>
              </a:rPr>
              <a:t>和</a:t>
            </a:r>
            <a:r>
              <a:rPr lang="en-US" altLang="zh-CN" sz="1600" dirty="0" smtClean="0">
                <a:sym typeface="Huawei Sans" panose="020C0503030203020204" pitchFamily="34" charset="0"/>
              </a:rPr>
              <a:t>VLAN</a:t>
            </a:r>
            <a:r>
              <a:rPr lang="zh-CN" altLang="en-US" sz="1600" dirty="0" smtClean="0">
                <a:sym typeface="Huawei Sans" panose="020C0503030203020204" pitchFamily="34" charset="0"/>
              </a:rPr>
              <a:t>基础配置已完成，在</a:t>
            </a:r>
            <a:r>
              <a:rPr lang="en-US" altLang="zh-CN" sz="1600" dirty="0" smtClean="0">
                <a:sym typeface="Huawei Sans" panose="020C0503030203020204" pitchFamily="34" charset="0"/>
              </a:rPr>
              <a:t>Switch</a:t>
            </a:r>
            <a:r>
              <a:rPr lang="zh-CN" altLang="en-US" sz="1600" dirty="0" smtClean="0">
                <a:sym typeface="Huawei Sans" panose="020C0503030203020204" pitchFamily="34" charset="0"/>
              </a:rPr>
              <a:t>配置</a:t>
            </a:r>
            <a:r>
              <a:rPr lang="en-US" altLang="zh-CN" sz="1600" dirty="0" smtClean="0">
                <a:sym typeface="Huawei Sans" panose="020C0503030203020204" pitchFamily="34" charset="0"/>
              </a:rPr>
              <a:t>DHCP Snooping</a:t>
            </a:r>
            <a:r>
              <a:rPr lang="zh-CN" altLang="en-US" sz="1600" dirty="0" smtClean="0">
                <a:sym typeface="Huawei Sans" panose="020C0503030203020204" pitchFamily="34" charset="0"/>
              </a:rPr>
              <a:t>功能。</a:t>
            </a:r>
            <a:endParaRPr lang="zh-CN" altLang="en-US" sz="1600" dirty="0">
              <a:sym typeface="Huawei Sans" panose="020C0503030203020204" pitchFamily="34" charset="0"/>
            </a:endParaRPr>
          </a:p>
        </p:txBody>
      </p:sp>
      <p:grpSp>
        <p:nvGrpSpPr>
          <p:cNvPr id="27" name="组合 26"/>
          <p:cNvGrpSpPr/>
          <p:nvPr/>
        </p:nvGrpSpPr>
        <p:grpSpPr bwMode="gray">
          <a:xfrm>
            <a:off x="711020" y="1948102"/>
            <a:ext cx="5139336" cy="2481938"/>
            <a:chOff x="711020" y="1320169"/>
            <a:chExt cx="5139336" cy="2481938"/>
          </a:xfrm>
        </p:grpSpPr>
        <p:grpSp>
          <p:nvGrpSpPr>
            <p:cNvPr id="4" name="组合 3"/>
            <p:cNvGrpSpPr/>
            <p:nvPr/>
          </p:nvGrpSpPr>
          <p:grpSpPr bwMode="gray">
            <a:xfrm>
              <a:off x="711020" y="1320169"/>
              <a:ext cx="5139336" cy="2481938"/>
              <a:chOff x="452812" y="1316120"/>
              <a:chExt cx="5139336" cy="2481938"/>
            </a:xfrm>
          </p:grpSpPr>
          <p:pic>
            <p:nvPicPr>
              <p:cNvPr id="5" name="图片 4" descr="PC.png"/>
              <p:cNvPicPr>
                <a:picLocks noChangeAspect="1"/>
              </p:cNvPicPr>
              <p:nvPr/>
            </p:nvPicPr>
            <p:blipFill>
              <a:blip r:embed="rId3" cstate="print"/>
              <a:stretch>
                <a:fillRect/>
              </a:stretch>
            </p:blipFill>
            <p:spPr bwMode="gray">
              <a:xfrm>
                <a:off x="933298" y="2887284"/>
                <a:ext cx="539063" cy="414000"/>
              </a:xfrm>
              <a:prstGeom prst="rect">
                <a:avLst/>
              </a:prstGeom>
            </p:spPr>
          </p:pic>
          <p:pic>
            <p:nvPicPr>
              <p:cNvPr id="6" name="图片 5" descr="PC.png"/>
              <p:cNvPicPr>
                <a:picLocks noChangeAspect="1"/>
              </p:cNvPicPr>
              <p:nvPr/>
            </p:nvPicPr>
            <p:blipFill>
              <a:blip r:embed="rId3" cstate="print"/>
              <a:stretch>
                <a:fillRect/>
              </a:stretch>
            </p:blipFill>
            <p:spPr bwMode="gray">
              <a:xfrm>
                <a:off x="933298" y="1316120"/>
                <a:ext cx="539063" cy="414000"/>
              </a:xfrm>
              <a:prstGeom prst="rect">
                <a:avLst/>
              </a:prstGeom>
            </p:spPr>
          </p:pic>
          <p:pic>
            <p:nvPicPr>
              <p:cNvPr id="7" name="图片 6"/>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669019" y="2149645"/>
                <a:ext cx="540000" cy="442800"/>
              </a:xfrm>
              <a:prstGeom prst="rect">
                <a:avLst/>
              </a:prstGeom>
            </p:spPr>
          </p:pic>
          <p:cxnSp>
            <p:nvCxnSpPr>
              <p:cNvPr id="8" name="直接连接符 7"/>
              <p:cNvCxnSpPr/>
              <p:nvPr/>
            </p:nvCxnSpPr>
            <p:spPr bwMode="gray">
              <a:xfrm>
                <a:off x="1444928" y="1510265"/>
                <a:ext cx="1906983" cy="885673"/>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a:stCxn id="5" idx="3"/>
              </p:cNvCxnSpPr>
              <p:nvPr/>
            </p:nvCxnSpPr>
            <p:spPr bwMode="gray">
              <a:xfrm flipV="1">
                <a:off x="1472361" y="2341165"/>
                <a:ext cx="1959168" cy="753119"/>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11" idx="3"/>
                <a:endCxn id="7" idx="1"/>
              </p:cNvCxnSpPr>
              <p:nvPr/>
            </p:nvCxnSpPr>
            <p:spPr bwMode="gray">
              <a:xfrm>
                <a:off x="3532568" y="2370554"/>
                <a:ext cx="1136451" cy="49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11" name="图片 10" descr="通用交换机.png"/>
              <p:cNvPicPr>
                <a:picLocks noChangeAspect="1"/>
              </p:cNvPicPr>
              <p:nvPr/>
            </p:nvPicPr>
            <p:blipFill>
              <a:blip r:embed="rId5" cstate="print"/>
              <a:stretch>
                <a:fillRect/>
              </a:stretch>
            </p:blipFill>
            <p:spPr bwMode="gray">
              <a:xfrm>
                <a:off x="2992568" y="2149645"/>
                <a:ext cx="540000" cy="441818"/>
              </a:xfrm>
              <a:prstGeom prst="rect">
                <a:avLst/>
              </a:prstGeom>
            </p:spPr>
          </p:pic>
          <p:sp>
            <p:nvSpPr>
              <p:cNvPr id="12" name="文本框 11"/>
              <p:cNvSpPr txBox="1"/>
              <p:nvPr/>
            </p:nvSpPr>
            <p:spPr bwMode="gray">
              <a:xfrm>
                <a:off x="452812" y="1734620"/>
                <a:ext cx="1345240"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Client 1</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文本框 12"/>
              <p:cNvSpPr txBox="1"/>
              <p:nvPr/>
            </p:nvSpPr>
            <p:spPr bwMode="gray">
              <a:xfrm>
                <a:off x="452812" y="3272954"/>
                <a:ext cx="1345240" cy="307777"/>
              </a:xfrm>
              <a:prstGeom prst="rect">
                <a:avLst/>
              </a:prstGeom>
              <a:noFill/>
              <a:ln>
                <a:noFill/>
              </a:ln>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DHCP Client 2</a:t>
                </a:r>
                <a:endPar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文本框 13"/>
              <p:cNvSpPr txBox="1"/>
              <p:nvPr/>
            </p:nvSpPr>
            <p:spPr bwMode="gray">
              <a:xfrm>
                <a:off x="4214848" y="2549325"/>
                <a:ext cx="1377300" cy="338554"/>
              </a:xfrm>
              <a:prstGeom prst="rect">
                <a:avLst/>
              </a:prstGeom>
              <a:noFill/>
              <a:ln>
                <a:noFill/>
              </a:ln>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DHCP Server</a:t>
                </a:r>
              </a:p>
            </p:txBody>
          </p:sp>
          <p:sp>
            <p:nvSpPr>
              <p:cNvPr id="16" name="文本框 15"/>
              <p:cNvSpPr txBox="1"/>
              <p:nvPr/>
            </p:nvSpPr>
            <p:spPr bwMode="gray">
              <a:xfrm>
                <a:off x="724519" y="1944053"/>
                <a:ext cx="801823" cy="307777"/>
              </a:xfrm>
              <a:prstGeom prst="rect">
                <a:avLst/>
              </a:prstGeom>
              <a:noFill/>
              <a:ln>
                <a:noFill/>
              </a:ln>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 2</a:t>
                </a:r>
                <a:endPar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724520" y="3490281"/>
                <a:ext cx="801823" cy="307777"/>
              </a:xfrm>
              <a:prstGeom prst="rect">
                <a:avLst/>
              </a:prstGeom>
              <a:noFill/>
              <a:ln>
                <a:noFill/>
              </a:ln>
            </p:spPr>
            <p:txBody>
              <a:bodyPr wrap="none" rtlCol="0">
                <a:spAutoFit/>
              </a:bodyPr>
              <a:lstStyle/>
              <a:p>
                <a:r>
                  <a:rPr lang="en-US" altLang="zh-CN"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VLAN 2</a:t>
                </a:r>
                <a:endParaRPr lang="zh-CN" altLang="en-US" sz="1400" dirty="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1" name="文本框 20"/>
            <p:cNvSpPr txBox="1"/>
            <p:nvPr/>
          </p:nvSpPr>
          <p:spPr bwMode="gray">
            <a:xfrm>
              <a:off x="3077883" y="2540508"/>
              <a:ext cx="845103" cy="338554"/>
            </a:xfrm>
            <a:prstGeom prst="rect">
              <a:avLst/>
            </a:prstGeom>
            <a:noFill/>
            <a:ln>
              <a:noFill/>
            </a:ln>
          </p:spPr>
          <p:txBody>
            <a:bodyPr wrap="none" rtlCol="0">
              <a:spAutoFit/>
            </a:bodyPr>
            <a:lstStyle/>
            <a:p>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6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文本框 23"/>
            <p:cNvSpPr txBox="1"/>
            <p:nvPr/>
          </p:nvSpPr>
          <p:spPr bwMode="gray">
            <a:xfrm>
              <a:off x="2743497" y="1800001"/>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文本框 24"/>
            <p:cNvSpPr txBox="1"/>
            <p:nvPr/>
          </p:nvSpPr>
          <p:spPr bwMode="gray">
            <a:xfrm>
              <a:off x="2743498" y="2806369"/>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文本框 25"/>
            <p:cNvSpPr txBox="1"/>
            <p:nvPr/>
          </p:nvSpPr>
          <p:spPr bwMode="gray">
            <a:xfrm>
              <a:off x="3728300" y="2098095"/>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28" name="文本框 27"/>
          <p:cNvSpPr txBox="1"/>
          <p:nvPr/>
        </p:nvSpPr>
        <p:spPr bwMode="gray">
          <a:xfrm>
            <a:off x="6096000" y="1020476"/>
            <a:ext cx="2252540" cy="338554"/>
          </a:xfrm>
          <a:prstGeom prst="rect">
            <a:avLst/>
          </a:prstGeom>
          <a:noFill/>
          <a:ln>
            <a:noFill/>
          </a:ln>
        </p:spPr>
        <p:txBody>
          <a:bodyPr wrap="none" rtlCol="0">
            <a:spAutoFit/>
          </a:bodyPr>
          <a:lstStyle/>
          <a:p>
            <a:r>
              <a:rPr lang="zh-CN" altLang="en-US" sz="1600" b="1" dirty="0" smtClean="0">
                <a:latin typeface="Huawei Sans" panose="020C0503030203020204" pitchFamily="34" charset="0"/>
                <a:ea typeface="方正兰亭黑简体" panose="02000000000000000000" pitchFamily="2" charset="-122"/>
                <a:sym typeface="Huawei Sans" panose="020C0503030203020204" pitchFamily="34" charset="0"/>
              </a:rPr>
              <a:t>配置方式一：接口视图</a:t>
            </a:r>
          </a:p>
        </p:txBody>
      </p:sp>
      <p:sp>
        <p:nvSpPr>
          <p:cNvPr id="30" name="文本框 29"/>
          <p:cNvSpPr txBox="1"/>
          <p:nvPr/>
        </p:nvSpPr>
        <p:spPr bwMode="gray">
          <a:xfrm>
            <a:off x="6147719" y="1350015"/>
            <a:ext cx="5598194" cy="1815882"/>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00000"/>
              </a:lnSpc>
            </a:pPr>
            <a:r>
              <a:rPr lang="en-US" altLang="zh-CN" dirty="0">
                <a:sym typeface="Huawei Sans" panose="020C0503030203020204" pitchFamily="34" charset="0"/>
              </a:rPr>
              <a:t>[Switch] dhcp snooping enable ipv4</a:t>
            </a:r>
          </a:p>
          <a:p>
            <a:pPr>
              <a:lnSpc>
                <a:spcPct val="100000"/>
              </a:lnSpc>
            </a:pPr>
            <a:r>
              <a:rPr lang="en-US" altLang="zh-CN" dirty="0">
                <a:sym typeface="Huawei Sans" panose="020C0503030203020204" pitchFamily="34" charset="0"/>
              </a:rPr>
              <a:t>[Switch] interface GigabitEthernet 0/0/1</a:t>
            </a:r>
          </a:p>
          <a:p>
            <a:pPr>
              <a:lnSpc>
                <a:spcPct val="100000"/>
              </a:lnSpc>
            </a:pPr>
            <a:r>
              <a:rPr lang="en-US" altLang="zh-CN" dirty="0">
                <a:sym typeface="Huawei Sans" panose="020C0503030203020204" pitchFamily="34" charset="0"/>
              </a:rPr>
              <a:t>[Switch-GigabitEthernet0/0/1] dhcp snooping enable</a:t>
            </a:r>
          </a:p>
          <a:p>
            <a:pPr>
              <a:lnSpc>
                <a:spcPct val="100000"/>
              </a:lnSpc>
            </a:pPr>
            <a:r>
              <a:rPr lang="en-US" altLang="zh-CN" dirty="0">
                <a:sym typeface="Huawei Sans" panose="020C0503030203020204" pitchFamily="34" charset="0"/>
              </a:rPr>
              <a:t>[Switch] interface GigabitEthernet 0/0/2</a:t>
            </a:r>
          </a:p>
          <a:p>
            <a:pPr>
              <a:lnSpc>
                <a:spcPct val="100000"/>
              </a:lnSpc>
            </a:pPr>
            <a:r>
              <a:rPr lang="en-US" altLang="zh-CN" dirty="0">
                <a:sym typeface="Huawei Sans" panose="020C0503030203020204" pitchFamily="34" charset="0"/>
              </a:rPr>
              <a:t>[Switch-GigabitEthernet0/0/2] dhcp snooping enable</a:t>
            </a:r>
          </a:p>
          <a:p>
            <a:pPr>
              <a:lnSpc>
                <a:spcPct val="100000"/>
              </a:lnSpc>
            </a:pPr>
            <a:r>
              <a:rPr lang="en-US" altLang="zh-CN" dirty="0">
                <a:sym typeface="Huawei Sans" panose="020C0503030203020204" pitchFamily="34" charset="0"/>
              </a:rPr>
              <a:t>[Switch] interface GigabitEthernet 0/0/3</a:t>
            </a:r>
          </a:p>
          <a:p>
            <a:pPr>
              <a:lnSpc>
                <a:spcPct val="100000"/>
              </a:lnSpc>
            </a:pPr>
            <a:r>
              <a:rPr lang="en-US" altLang="zh-CN" dirty="0">
                <a:sym typeface="Huawei Sans" panose="020C0503030203020204" pitchFamily="34" charset="0"/>
              </a:rPr>
              <a:t>[Switch-GigabitEthernet0/0/3] dhcp snooping enable</a:t>
            </a:r>
          </a:p>
          <a:p>
            <a:pPr>
              <a:lnSpc>
                <a:spcPct val="100000"/>
              </a:lnSpc>
            </a:pPr>
            <a:r>
              <a:rPr lang="en-US" altLang="zh-CN" dirty="0">
                <a:sym typeface="Huawei Sans" panose="020C0503030203020204" pitchFamily="34" charset="0"/>
              </a:rPr>
              <a:t>[Switch-GigabitEthernet0/0/3] dhcp snooping trusted</a:t>
            </a:r>
          </a:p>
        </p:txBody>
      </p:sp>
      <p:sp>
        <p:nvSpPr>
          <p:cNvPr id="31" name="文本框 30"/>
          <p:cNvSpPr txBox="1"/>
          <p:nvPr/>
        </p:nvSpPr>
        <p:spPr bwMode="gray">
          <a:xfrm>
            <a:off x="6096000" y="4048411"/>
            <a:ext cx="2393604" cy="338554"/>
          </a:xfrm>
          <a:prstGeom prst="rect">
            <a:avLst/>
          </a:prstGeom>
          <a:noFill/>
          <a:ln>
            <a:noFill/>
          </a:ln>
        </p:spPr>
        <p:txBody>
          <a:bodyPr wrap="none" rtlCol="0">
            <a:spAutoFit/>
          </a:bodyPr>
          <a:lstStyle/>
          <a:p>
            <a:r>
              <a:rPr lang="zh-CN" altLang="en-US" sz="1600" b="1" dirty="0" smtClean="0">
                <a:latin typeface="Huawei Sans" panose="020C0503030203020204" pitchFamily="34" charset="0"/>
                <a:ea typeface="方正兰亭黑简体" panose="02000000000000000000" pitchFamily="2" charset="-122"/>
                <a:sym typeface="Huawei Sans" panose="020C0503030203020204" pitchFamily="34" charset="0"/>
              </a:rPr>
              <a:t>配置方式二：</a:t>
            </a:r>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b="1" dirty="0" smtClean="0">
                <a:latin typeface="Huawei Sans" panose="020C0503030203020204" pitchFamily="34" charset="0"/>
                <a:ea typeface="方正兰亭黑简体" panose="02000000000000000000" pitchFamily="2" charset="-122"/>
                <a:sym typeface="Huawei Sans" panose="020C0503030203020204" pitchFamily="34" charset="0"/>
              </a:rPr>
              <a:t>视图</a:t>
            </a:r>
          </a:p>
        </p:txBody>
      </p:sp>
      <p:sp>
        <p:nvSpPr>
          <p:cNvPr id="32" name="文本框 31"/>
          <p:cNvSpPr txBox="1"/>
          <p:nvPr/>
        </p:nvSpPr>
        <p:spPr bwMode="gray">
          <a:xfrm>
            <a:off x="6167437" y="4401722"/>
            <a:ext cx="5578475" cy="1169551"/>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00000"/>
              </a:lnSpc>
            </a:pPr>
            <a:r>
              <a:rPr lang="en-US" altLang="zh-CN" dirty="0">
                <a:sym typeface="Huawei Sans" panose="020C0503030203020204" pitchFamily="34" charset="0"/>
              </a:rPr>
              <a:t>[Switch] dhcp snooping enable ipv4	</a:t>
            </a:r>
          </a:p>
          <a:p>
            <a:pPr>
              <a:lnSpc>
                <a:spcPct val="100000"/>
              </a:lnSpc>
            </a:pPr>
            <a:r>
              <a:rPr lang="en-US" altLang="zh-CN" dirty="0">
                <a:sym typeface="Huawei Sans" panose="020C0503030203020204" pitchFamily="34" charset="0"/>
              </a:rPr>
              <a:t>[Switch] vlan 2</a:t>
            </a:r>
          </a:p>
          <a:p>
            <a:pPr>
              <a:lnSpc>
                <a:spcPct val="100000"/>
              </a:lnSpc>
            </a:pPr>
            <a:r>
              <a:rPr lang="en-US" altLang="zh-CN" dirty="0">
                <a:sym typeface="Huawei Sans" panose="020C0503030203020204" pitchFamily="34" charset="0"/>
              </a:rPr>
              <a:t>[Switch-vlan2] dhcp snooping enable	</a:t>
            </a:r>
          </a:p>
          <a:p>
            <a:pPr>
              <a:lnSpc>
                <a:spcPct val="100000"/>
              </a:lnSpc>
            </a:pPr>
            <a:r>
              <a:rPr lang="en-US" altLang="zh-CN" dirty="0">
                <a:sym typeface="Huawei Sans" panose="020C0503030203020204" pitchFamily="34" charset="0"/>
              </a:rPr>
              <a:t>[Switch] interface GigabitEthernet 0/0/3</a:t>
            </a:r>
          </a:p>
          <a:p>
            <a:pPr>
              <a:lnSpc>
                <a:spcPct val="100000"/>
              </a:lnSpc>
            </a:pPr>
            <a:r>
              <a:rPr lang="en-US" altLang="zh-CN" dirty="0">
                <a:sym typeface="Huawei Sans" panose="020C0503030203020204" pitchFamily="34" charset="0"/>
              </a:rPr>
              <a:t>[Switch-GigabitEthernet0/0/3] dhcp snooping trusted	</a:t>
            </a:r>
            <a:endParaRPr lang="zh-CN" altLang="en-US" dirty="0">
              <a:sym typeface="Huawei Sans" panose="020C0503030203020204" pitchFamily="34" charset="0"/>
            </a:endParaRPr>
          </a:p>
        </p:txBody>
      </p:sp>
    </p:spTree>
    <p:extLst>
      <p:ext uri="{BB962C8B-B14F-4D97-AF65-F5344CB8AC3E}">
        <p14:creationId xmlns:p14="http://schemas.microsoft.com/office/powerpoint/2010/main" val="410692494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sym typeface="Huawei Sans" panose="020C0503030203020204" pitchFamily="34" charset="0"/>
              </a:rPr>
              <a:t>配置验证</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p:txBody>
          <a:bodyPr/>
          <a:lstStyle/>
          <a:p>
            <a:r>
              <a:rPr lang="zh-CN" altLang="en-US" sz="1600" smtClean="0">
                <a:sym typeface="Huawei Sans" panose="020C0503030203020204" pitchFamily="34" charset="0"/>
              </a:rPr>
              <a:t>执行命令</a:t>
            </a:r>
            <a:r>
              <a:rPr lang="en-US" altLang="zh-CN" sz="1600" smtClean="0">
                <a:sym typeface="Huawei Sans" panose="020C0503030203020204" pitchFamily="34" charset="0"/>
              </a:rPr>
              <a:t>display dhcp snooping interface</a:t>
            </a:r>
            <a:r>
              <a:rPr lang="zh-CN" altLang="en-US" sz="1600" smtClean="0">
                <a:sym typeface="Huawei Sans" panose="020C0503030203020204" pitchFamily="34" charset="0"/>
              </a:rPr>
              <a:t>，查看接口下的</a:t>
            </a:r>
            <a:r>
              <a:rPr lang="en-US" altLang="zh-CN" sz="1600" smtClean="0">
                <a:sym typeface="Huawei Sans" panose="020C0503030203020204" pitchFamily="34" charset="0"/>
              </a:rPr>
              <a:t>DHCP Snooping</a:t>
            </a:r>
            <a:r>
              <a:rPr lang="zh-CN" altLang="en-US" sz="1600" smtClean="0">
                <a:sym typeface="Huawei Sans" panose="020C0503030203020204" pitchFamily="34" charset="0"/>
              </a:rPr>
              <a:t>运行信息。</a:t>
            </a:r>
            <a:endParaRPr lang="zh-CN" altLang="en-US" sz="1600" dirty="0">
              <a:sym typeface="Huawei Sans" panose="020C0503030203020204" pitchFamily="34" charset="0"/>
            </a:endParaRPr>
          </a:p>
        </p:txBody>
      </p:sp>
      <p:sp>
        <p:nvSpPr>
          <p:cNvPr id="4" name="矩形 3"/>
          <p:cNvSpPr/>
          <p:nvPr/>
        </p:nvSpPr>
        <p:spPr bwMode="gray">
          <a:xfrm>
            <a:off x="1981200" y="1491570"/>
            <a:ext cx="6055360" cy="2893100"/>
          </a:xfrm>
          <a:prstGeom prst="rect">
            <a:avLst/>
          </a:prstGeom>
          <a:solidFill>
            <a:schemeClr val="bg1">
              <a:lumMod val="85000"/>
            </a:schemeClr>
          </a:solidFill>
          <a:ln>
            <a:noFill/>
          </a:ln>
        </p:spPr>
        <p:txBody>
          <a:bodyPr wrap="square" rtlCol="0">
            <a:spAutoFit/>
          </a:bodyPr>
          <a:lstStyle/>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[Switch]display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snooping interface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0/0/3</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DHCP snooping running information for interface GigabitEthernet0/0/3 :</a:t>
            </a:r>
          </a:p>
          <a:p>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DHCP snooping                            </a:t>
            </a:r>
            <a:r>
              <a:rPr lang="en-US" altLang="zh-CN" sz="1400" b="1"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b="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Enable   </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Trusted interface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Yes     </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user max number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1024     (default)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Current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user number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0       </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Check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dhcp-giaddr</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Disable  (default)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Check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dhcp-chaddr</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Disable  (default)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Alarm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dhcp-chaddr</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Disable  (default)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Check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-request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Disable  (default)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Alarm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-request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Disable  (default</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more ------</a:t>
            </a:r>
            <a:endPar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Tree>
    <p:extLst>
      <p:ext uri="{BB962C8B-B14F-4D97-AF65-F5344CB8AC3E}">
        <p14:creationId xmlns:p14="http://schemas.microsoft.com/office/powerpoint/2010/main" val="413824399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z="1800" b="1" dirty="0" smtClean="0">
                <a:sym typeface="Huawei Sans" panose="020C0503030203020204" pitchFamily="34" charset="0"/>
              </a:rPr>
              <a:t>以太网交换安全</a:t>
            </a:r>
            <a:endParaRPr lang="en-US" altLang="zh-CN" sz="1800" b="1" dirty="0" smtClean="0">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端口隔离</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地址表安全</a:t>
            </a:r>
            <a:endParaRPr lang="en-US" altLang="zh-CN" sz="1600" dirty="0">
              <a:solidFill>
                <a:schemeClr val="bg1">
                  <a:lumMod val="50000"/>
                </a:schemeClr>
              </a:solidFill>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端口安全</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MAC</a:t>
            </a:r>
            <a:r>
              <a:rPr lang="zh-CN" altLang="en-US" sz="1600" dirty="0">
                <a:solidFill>
                  <a:schemeClr val="bg1">
                    <a:lumMod val="50000"/>
                  </a:schemeClr>
                </a:solidFill>
                <a:sym typeface="Huawei Sans" panose="020C0503030203020204" pitchFamily="34" charset="0"/>
              </a:rPr>
              <a:t>地址漂移防止与检测</a:t>
            </a:r>
            <a:endParaRPr lang="en-US" altLang="zh-CN" sz="1600" dirty="0">
              <a:solidFill>
                <a:schemeClr val="bg1">
                  <a:lumMod val="50000"/>
                </a:schemeClr>
              </a:solidFill>
              <a:sym typeface="Huawei Sans" panose="020C0503030203020204" pitchFamily="34" charset="0"/>
            </a:endParaRPr>
          </a:p>
          <a:p>
            <a:pPr lvl="1"/>
            <a:r>
              <a:rPr lang="en-US" altLang="zh-CN" sz="1600" dirty="0" err="1">
                <a:solidFill>
                  <a:schemeClr val="bg1">
                    <a:lumMod val="50000"/>
                  </a:schemeClr>
                </a:solidFill>
                <a:sym typeface="Huawei Sans" panose="020C0503030203020204" pitchFamily="34" charset="0"/>
              </a:rPr>
              <a:t>MACsec</a:t>
            </a:r>
            <a:endParaRPr lang="en-US" altLang="zh-CN" sz="1600" dirty="0">
              <a:solidFill>
                <a:schemeClr val="bg1">
                  <a:lumMod val="50000"/>
                </a:schemeClr>
              </a:solidFill>
              <a:sym typeface="Huawei Sans" panose="020C0503030203020204" pitchFamily="34" charset="0"/>
            </a:endParaRPr>
          </a:p>
          <a:p>
            <a:pPr lvl="1"/>
            <a:r>
              <a:rPr lang="zh-CN" altLang="en-US" sz="1600" dirty="0">
                <a:solidFill>
                  <a:schemeClr val="bg1">
                    <a:lumMod val="50000"/>
                  </a:schemeClr>
                </a:solidFill>
                <a:sym typeface="Huawei Sans" panose="020C0503030203020204" pitchFamily="34" charset="0"/>
              </a:rPr>
              <a:t>交换机流量控制</a:t>
            </a:r>
            <a:endParaRPr lang="en-US" altLang="zh-CN" sz="1600" dirty="0">
              <a:solidFill>
                <a:schemeClr val="bg1">
                  <a:lumMod val="50000"/>
                </a:schemeClr>
              </a:solidFill>
              <a:sym typeface="Huawei Sans" panose="020C0503030203020204" pitchFamily="34" charset="0"/>
            </a:endParaRPr>
          </a:p>
          <a:p>
            <a:pPr lvl="1"/>
            <a:r>
              <a:rPr lang="en-US" altLang="zh-CN" sz="1600" dirty="0">
                <a:solidFill>
                  <a:schemeClr val="bg1">
                    <a:lumMod val="50000"/>
                  </a:schemeClr>
                </a:solidFill>
                <a:sym typeface="Huawei Sans" panose="020C0503030203020204" pitchFamily="34" charset="0"/>
              </a:rPr>
              <a:t>DHCP Snooping</a:t>
            </a:r>
          </a:p>
          <a:p>
            <a:pPr lvl="1">
              <a:buSzPct val="60000"/>
              <a:buFont typeface="Wingdings" panose="05000000000000000000" pitchFamily="2" charset="2"/>
              <a:buChar char="n"/>
            </a:pPr>
            <a:r>
              <a:rPr lang="en-US" altLang="zh-CN" sz="1600" dirty="0">
                <a:sym typeface="Huawei Sans" panose="020C0503030203020204" pitchFamily="34" charset="0"/>
              </a:rPr>
              <a:t>IP Source Guard</a:t>
            </a:r>
          </a:p>
          <a:p>
            <a:r>
              <a:rPr lang="zh-CN" altLang="en-US" sz="1800" dirty="0" smtClean="0">
                <a:solidFill>
                  <a:schemeClr val="bg1">
                    <a:lumMod val="50000"/>
                  </a:schemeClr>
                </a:solidFill>
                <a:sym typeface="Huawei Sans" panose="020C0503030203020204" pitchFamily="34" charset="0"/>
              </a:rPr>
              <a:t>防火墙高级特性</a:t>
            </a:r>
            <a:endParaRPr lang="zh-CN" altLang="en-US" sz="1800"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89578618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smtClean="0">
                <a:sym typeface="Huawei Sans" panose="020C0503030203020204" pitchFamily="34" charset="0"/>
              </a:rPr>
              <a:t>IPSG</a:t>
            </a:r>
            <a:r>
              <a:rPr lang="zh-CN" altLang="en-US" smtClean="0">
                <a:sym typeface="Huawei Sans" panose="020C0503030203020204" pitchFamily="34" charset="0"/>
              </a:rPr>
              <a:t>技术概述</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800" smtClean="0">
                <a:sym typeface="Huawei Sans" panose="020C0503030203020204" pitchFamily="34" charset="0"/>
              </a:rPr>
              <a:t>IP</a:t>
            </a:r>
            <a:r>
              <a:rPr lang="zh-CN" altLang="en-US" sz="1800" smtClean="0">
                <a:sym typeface="Huawei Sans" panose="020C0503030203020204" pitchFamily="34" charset="0"/>
              </a:rPr>
              <a:t>地址欺骗攻击中，攻击者通过伪造合法用户的</a:t>
            </a:r>
            <a:r>
              <a:rPr lang="en-US" altLang="zh-CN" sz="1800" smtClean="0">
                <a:sym typeface="Huawei Sans" panose="020C0503030203020204" pitchFamily="34" charset="0"/>
              </a:rPr>
              <a:t>IP</a:t>
            </a:r>
            <a:r>
              <a:rPr lang="zh-CN" altLang="en-US" sz="1800" smtClean="0">
                <a:sym typeface="Huawei Sans" panose="020C0503030203020204" pitchFamily="34" charset="0"/>
              </a:rPr>
              <a:t>地址获取网络访问权限，非法访问网络，甚至造成合法用户无法访问网络，或者信息泄露。</a:t>
            </a:r>
            <a:r>
              <a:rPr lang="en-US" altLang="zh-CN" sz="1800" smtClean="0">
                <a:sym typeface="Huawei Sans" panose="020C0503030203020204" pitchFamily="34" charset="0"/>
              </a:rPr>
              <a:t>IPSG</a:t>
            </a:r>
            <a:r>
              <a:rPr lang="zh-CN" altLang="en-US" sz="1800" smtClean="0">
                <a:sym typeface="Huawei Sans" panose="020C0503030203020204" pitchFamily="34" charset="0"/>
              </a:rPr>
              <a:t>针对</a:t>
            </a:r>
            <a:r>
              <a:rPr lang="en-US" altLang="zh-CN" sz="1800" smtClean="0">
                <a:sym typeface="Huawei Sans" panose="020C0503030203020204" pitchFamily="34" charset="0"/>
              </a:rPr>
              <a:t>IP</a:t>
            </a:r>
            <a:r>
              <a:rPr lang="zh-CN" altLang="en-US" sz="1800" smtClean="0">
                <a:sym typeface="Huawei Sans" panose="020C0503030203020204" pitchFamily="34" charset="0"/>
              </a:rPr>
              <a:t>地址欺骗攻击提供了一种防御机制，可以有效阻止此类网络攻击行为。</a:t>
            </a:r>
          </a:p>
          <a:p>
            <a:r>
              <a:rPr lang="en-US" altLang="zh-CN" sz="1800" smtClean="0">
                <a:sym typeface="Huawei Sans" panose="020C0503030203020204" pitchFamily="34" charset="0"/>
              </a:rPr>
              <a:t>IP</a:t>
            </a:r>
            <a:r>
              <a:rPr lang="zh-CN" altLang="en-US" sz="1800" smtClean="0">
                <a:sym typeface="Huawei Sans" panose="020C0503030203020204" pitchFamily="34" charset="0"/>
              </a:rPr>
              <a:t>源防攻击（</a:t>
            </a:r>
            <a:r>
              <a:rPr lang="en-US" altLang="zh-CN" sz="1800" smtClean="0">
                <a:sym typeface="Huawei Sans" panose="020C0503030203020204" pitchFamily="34" charset="0"/>
              </a:rPr>
              <a:t>IPSG</a:t>
            </a:r>
            <a:r>
              <a:rPr lang="zh-CN" altLang="en-US" sz="1800" smtClean="0">
                <a:sym typeface="Huawei Sans" panose="020C0503030203020204" pitchFamily="34" charset="0"/>
              </a:rPr>
              <a:t>，</a:t>
            </a:r>
            <a:r>
              <a:rPr lang="en-US" altLang="zh-CN" sz="1800" smtClean="0">
                <a:sym typeface="Huawei Sans" panose="020C0503030203020204" pitchFamily="34" charset="0"/>
              </a:rPr>
              <a:t>IP Source Guard</a:t>
            </a:r>
            <a:r>
              <a:rPr lang="zh-CN" altLang="en-US" sz="1800" smtClean="0">
                <a:sym typeface="Huawei Sans" panose="020C0503030203020204" pitchFamily="34" charset="0"/>
              </a:rPr>
              <a:t>）是一种基于二层接口的源</a:t>
            </a:r>
            <a:r>
              <a:rPr lang="en-US" altLang="zh-CN" sz="1800" smtClean="0">
                <a:sym typeface="Huawei Sans" panose="020C0503030203020204" pitchFamily="34" charset="0"/>
              </a:rPr>
              <a:t>IP</a:t>
            </a:r>
            <a:r>
              <a:rPr lang="zh-CN" altLang="en-US" sz="1800" smtClean="0">
                <a:sym typeface="Huawei Sans" panose="020C0503030203020204" pitchFamily="34" charset="0"/>
              </a:rPr>
              <a:t>地址过滤技术。它能够防止恶意主机伪造合法主机的</a:t>
            </a:r>
            <a:r>
              <a:rPr lang="en-US" altLang="zh-CN" sz="1800" smtClean="0">
                <a:sym typeface="Huawei Sans" panose="020C0503030203020204" pitchFamily="34" charset="0"/>
              </a:rPr>
              <a:t>IP</a:t>
            </a:r>
            <a:r>
              <a:rPr lang="zh-CN" altLang="en-US" sz="1800" smtClean="0">
                <a:sym typeface="Huawei Sans" panose="020C0503030203020204" pitchFamily="34" charset="0"/>
              </a:rPr>
              <a:t>地址来仿冒合法主机，还能确保非授权主机不能通过自己指定</a:t>
            </a:r>
            <a:r>
              <a:rPr lang="en-US" altLang="zh-CN" sz="1800" smtClean="0">
                <a:sym typeface="Huawei Sans" panose="020C0503030203020204" pitchFamily="34" charset="0"/>
              </a:rPr>
              <a:t>IP</a:t>
            </a:r>
            <a:r>
              <a:rPr lang="zh-CN" altLang="en-US" sz="1800" smtClean="0">
                <a:sym typeface="Huawei Sans" panose="020C0503030203020204" pitchFamily="34" charset="0"/>
              </a:rPr>
              <a:t>地址的方式来访问网络或攻击网络。</a:t>
            </a:r>
            <a:endParaRPr lang="en-US" altLang="zh-CN" sz="1800" dirty="0" smtClean="0">
              <a:sym typeface="Huawei Sans" panose="020C0503030203020204" pitchFamily="34" charset="0"/>
            </a:endParaRPr>
          </a:p>
        </p:txBody>
      </p:sp>
      <p:grpSp>
        <p:nvGrpSpPr>
          <p:cNvPr id="40" name="组合 39"/>
          <p:cNvGrpSpPr/>
          <p:nvPr/>
        </p:nvGrpSpPr>
        <p:grpSpPr bwMode="gray">
          <a:xfrm>
            <a:off x="3934250" y="3435302"/>
            <a:ext cx="5895825" cy="2240280"/>
            <a:chOff x="2403135" y="3869317"/>
            <a:chExt cx="5895825" cy="2240280"/>
          </a:xfrm>
        </p:grpSpPr>
        <p:grpSp>
          <p:nvGrpSpPr>
            <p:cNvPr id="19" name="组合 18"/>
            <p:cNvGrpSpPr/>
            <p:nvPr/>
          </p:nvGrpSpPr>
          <p:grpSpPr bwMode="gray">
            <a:xfrm>
              <a:off x="3942763" y="4687911"/>
              <a:ext cx="4356197" cy="778451"/>
              <a:chOff x="4069598" y="4686592"/>
              <a:chExt cx="4356197" cy="778451"/>
            </a:xfrm>
          </p:grpSpPr>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7487112" y="4686592"/>
                <a:ext cx="938683" cy="589407"/>
              </a:xfrm>
              <a:prstGeom prst="rect">
                <a:avLst/>
              </a:prstGeom>
            </p:spPr>
          </p:pic>
          <p:pic>
            <p:nvPicPr>
              <p:cNvPr id="10" name="图片 9"/>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6255275" y="4759896"/>
                <a:ext cx="540000" cy="442800"/>
              </a:xfrm>
              <a:prstGeom prst="rect">
                <a:avLst/>
              </a:prstGeom>
            </p:spPr>
          </p:pic>
          <p:pic>
            <p:nvPicPr>
              <p:cNvPr id="11" name="图片 10" descr="通用交换机.png"/>
              <p:cNvPicPr>
                <a:picLocks noChangeAspect="1"/>
              </p:cNvPicPr>
              <p:nvPr/>
            </p:nvPicPr>
            <p:blipFill>
              <a:blip r:embed="rId5" cstate="print"/>
              <a:stretch>
                <a:fillRect/>
              </a:stretch>
            </p:blipFill>
            <p:spPr bwMode="gray">
              <a:xfrm>
                <a:off x="4920953" y="4760878"/>
                <a:ext cx="540000" cy="441818"/>
              </a:xfrm>
              <a:prstGeom prst="rect">
                <a:avLst/>
              </a:prstGeom>
            </p:spPr>
          </p:pic>
          <p:cxnSp>
            <p:nvCxnSpPr>
              <p:cNvPr id="12" name="直接连接符 11"/>
              <p:cNvCxnSpPr>
                <a:endCxn id="11" idx="1"/>
              </p:cNvCxnSpPr>
              <p:nvPr/>
            </p:nvCxnSpPr>
            <p:spPr bwMode="gray">
              <a:xfrm>
                <a:off x="4069598" y="4981787"/>
                <a:ext cx="851355"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11" idx="3"/>
                <a:endCxn id="10" idx="1"/>
              </p:cNvCxnSpPr>
              <p:nvPr/>
            </p:nvCxnSpPr>
            <p:spPr bwMode="gray">
              <a:xfrm flipV="1">
                <a:off x="5460953" y="4981296"/>
                <a:ext cx="794322" cy="49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a:stCxn id="10" idx="3"/>
                <a:endCxn id="9" idx="1"/>
              </p:cNvCxnSpPr>
              <p:nvPr/>
            </p:nvCxnSpPr>
            <p:spPr bwMode="gray">
              <a:xfrm>
                <a:off x="6795275" y="4981296"/>
                <a:ext cx="691837"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bwMode="gray">
              <a:xfrm>
                <a:off x="7606759" y="4849639"/>
                <a:ext cx="74090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文本框 16"/>
              <p:cNvSpPr txBox="1"/>
              <p:nvPr/>
            </p:nvSpPr>
            <p:spPr bwMode="gray">
              <a:xfrm>
                <a:off x="4957506" y="5157266"/>
                <a:ext cx="763351"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文本框 17"/>
              <p:cNvSpPr txBox="1"/>
              <p:nvPr/>
            </p:nvSpPr>
            <p:spPr bwMode="gray">
              <a:xfrm>
                <a:off x="6359665" y="5157266"/>
                <a:ext cx="769763"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Router</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9" name="组合 38"/>
            <p:cNvGrpSpPr/>
            <p:nvPr/>
          </p:nvGrpSpPr>
          <p:grpSpPr bwMode="gray">
            <a:xfrm>
              <a:off x="2403135" y="3869317"/>
              <a:ext cx="1557890" cy="2240280"/>
              <a:chOff x="2403135" y="3869317"/>
              <a:chExt cx="1557890" cy="2240280"/>
            </a:xfrm>
          </p:grpSpPr>
          <p:cxnSp>
            <p:nvCxnSpPr>
              <p:cNvPr id="21" name="直接连接符 20"/>
              <p:cNvCxnSpPr/>
              <p:nvPr/>
            </p:nvCxnSpPr>
            <p:spPr bwMode="gray">
              <a:xfrm>
                <a:off x="3935143" y="3869317"/>
                <a:ext cx="7620" cy="224028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28" idx="3"/>
              </p:cNvCxnSpPr>
              <p:nvPr/>
            </p:nvCxnSpPr>
            <p:spPr bwMode="gray">
              <a:xfrm>
                <a:off x="2942198" y="4122420"/>
                <a:ext cx="997342"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stCxn id="29" idx="3"/>
              </p:cNvCxnSpPr>
              <p:nvPr/>
            </p:nvCxnSpPr>
            <p:spPr bwMode="gray">
              <a:xfrm>
                <a:off x="2942198" y="4979670"/>
                <a:ext cx="1018827"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stCxn id="30" idx="3"/>
              </p:cNvCxnSpPr>
              <p:nvPr/>
            </p:nvCxnSpPr>
            <p:spPr bwMode="gray">
              <a:xfrm>
                <a:off x="2942198" y="5836920"/>
                <a:ext cx="992945"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28" name="图片 27" descr="PC.png"/>
              <p:cNvPicPr>
                <a:picLocks noChangeAspect="1"/>
              </p:cNvPicPr>
              <p:nvPr/>
            </p:nvPicPr>
            <p:blipFill>
              <a:blip r:embed="rId6" cstate="print"/>
              <a:stretch>
                <a:fillRect/>
              </a:stretch>
            </p:blipFill>
            <p:spPr bwMode="gray">
              <a:xfrm>
                <a:off x="2403135" y="3915420"/>
                <a:ext cx="539063" cy="414000"/>
              </a:xfrm>
              <a:prstGeom prst="rect">
                <a:avLst/>
              </a:prstGeom>
            </p:spPr>
          </p:pic>
          <p:pic>
            <p:nvPicPr>
              <p:cNvPr id="29" name="图片 28" descr="PC.png"/>
              <p:cNvPicPr>
                <a:picLocks noChangeAspect="1"/>
              </p:cNvPicPr>
              <p:nvPr/>
            </p:nvPicPr>
            <p:blipFill>
              <a:blip r:embed="rId6" cstate="print"/>
              <a:stretch>
                <a:fillRect/>
              </a:stretch>
            </p:blipFill>
            <p:spPr bwMode="gray">
              <a:xfrm>
                <a:off x="2403135" y="4772670"/>
                <a:ext cx="539063" cy="414000"/>
              </a:xfrm>
              <a:prstGeom prst="rect">
                <a:avLst/>
              </a:prstGeom>
            </p:spPr>
          </p:pic>
          <p:pic>
            <p:nvPicPr>
              <p:cNvPr id="30" name="图片 29" descr="PC.png"/>
              <p:cNvPicPr>
                <a:picLocks noChangeAspect="1"/>
              </p:cNvPicPr>
              <p:nvPr/>
            </p:nvPicPr>
            <p:blipFill>
              <a:blip r:embed="rId6" cstate="print"/>
              <a:stretch>
                <a:fillRect/>
              </a:stretch>
            </p:blipFill>
            <p:spPr bwMode="gray">
              <a:xfrm>
                <a:off x="2403135" y="5629920"/>
                <a:ext cx="539063" cy="414000"/>
              </a:xfrm>
              <a:prstGeom prst="rect">
                <a:avLst/>
              </a:prstGeom>
            </p:spPr>
          </p:pic>
        </p:grpSp>
      </p:grpSp>
      <p:sp>
        <p:nvSpPr>
          <p:cNvPr id="42" name="文本框 41"/>
          <p:cNvSpPr txBox="1"/>
          <p:nvPr/>
        </p:nvSpPr>
        <p:spPr bwMode="gray">
          <a:xfrm>
            <a:off x="3073843" y="3549905"/>
            <a:ext cx="886781" cy="276999"/>
          </a:xfrm>
          <a:prstGeom prst="rect">
            <a:avLst/>
          </a:prstGeom>
          <a:noFill/>
          <a:ln>
            <a:noFill/>
          </a:ln>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合法主机</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文本框 42"/>
          <p:cNvSpPr txBox="1"/>
          <p:nvPr/>
        </p:nvSpPr>
        <p:spPr bwMode="gray">
          <a:xfrm>
            <a:off x="3087326" y="4407155"/>
            <a:ext cx="886781" cy="276999"/>
          </a:xfrm>
          <a:prstGeom prst="rect">
            <a:avLst/>
          </a:prstGeom>
          <a:noFill/>
          <a:ln>
            <a:noFill/>
          </a:ln>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合法主机</a:t>
            </a: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文本框 43"/>
          <p:cNvSpPr txBox="1"/>
          <p:nvPr/>
        </p:nvSpPr>
        <p:spPr bwMode="gray">
          <a:xfrm>
            <a:off x="3087326" y="5264405"/>
            <a:ext cx="800219" cy="276999"/>
          </a:xfrm>
          <a:prstGeom prst="rect">
            <a:avLst/>
          </a:prstGeom>
          <a:noFill/>
          <a:ln>
            <a:noFill/>
          </a:ln>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非法主机</a:t>
            </a:r>
          </a:p>
        </p:txBody>
      </p:sp>
      <p:sp>
        <p:nvSpPr>
          <p:cNvPr id="45" name="文本框 44"/>
          <p:cNvSpPr txBox="1"/>
          <p:nvPr/>
        </p:nvSpPr>
        <p:spPr bwMode="gray">
          <a:xfrm>
            <a:off x="3032600" y="3738073"/>
            <a:ext cx="938077"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IP: 10.1.1.1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3032600" y="4586071"/>
            <a:ext cx="938077"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IP: 10.1.1.2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2967679" y="5444334"/>
            <a:ext cx="1024639"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IP: 10.1.1.10</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圆角矩形标注 47"/>
          <p:cNvSpPr/>
          <p:nvPr/>
        </p:nvSpPr>
        <p:spPr bwMode="gray">
          <a:xfrm>
            <a:off x="6595234" y="3145433"/>
            <a:ext cx="1604321" cy="1000882"/>
          </a:xfrm>
          <a:prstGeom prst="wedgeRoundRectCallout">
            <a:avLst>
              <a:gd name="adj1" fmla="val -33402"/>
              <a:gd name="adj2" fmla="val 63769"/>
              <a:gd name="adj3" fmla="val 16667"/>
            </a:avLst>
          </a:prstGeom>
          <a:solidFill>
            <a:srgbClr val="BEE9EE"/>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规定：</a:t>
            </a:r>
            <a:endPar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只允许</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地址为</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10.1.1.1</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10.1.1.2</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的主机可以上网</a:t>
            </a:r>
          </a:p>
        </p:txBody>
      </p:sp>
      <p:sp>
        <p:nvSpPr>
          <p:cNvPr id="50" name="圆角矩形标注 49"/>
          <p:cNvSpPr/>
          <p:nvPr/>
        </p:nvSpPr>
        <p:spPr bwMode="gray">
          <a:xfrm>
            <a:off x="1018859" y="3834423"/>
            <a:ext cx="2089209" cy="511749"/>
          </a:xfrm>
          <a:prstGeom prst="wedgeRoundRectCallout">
            <a:avLst>
              <a:gd name="adj1" fmla="val 65558"/>
              <a:gd name="adj2" fmla="val 24057"/>
              <a:gd name="adj3" fmla="val 16667"/>
            </a:avLst>
          </a:prstGeom>
          <a:solidFill>
            <a:srgbClr val="BEE9EE"/>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合法主机</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和</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2</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可以上网，但是关机了</a:t>
            </a:r>
          </a:p>
        </p:txBody>
      </p:sp>
      <p:sp>
        <p:nvSpPr>
          <p:cNvPr id="52" name="圆角矩形标注 51"/>
          <p:cNvSpPr/>
          <p:nvPr/>
        </p:nvSpPr>
        <p:spPr bwMode="gray">
          <a:xfrm>
            <a:off x="964089" y="4656784"/>
            <a:ext cx="2123237" cy="788749"/>
          </a:xfrm>
          <a:prstGeom prst="wedgeRoundRectCallout">
            <a:avLst>
              <a:gd name="adj1" fmla="val 65867"/>
              <a:gd name="adj2" fmla="val 21116"/>
              <a:gd name="adj3" fmla="val 16667"/>
            </a:avLst>
          </a:prstGeom>
          <a:solidFill>
            <a:srgbClr val="BEE9EE"/>
          </a:solidFill>
          <a:ln w="12700" cap="flat" cmpd="sng" algn="ctr">
            <a:solidFill>
              <a:srgbClr val="94DAE2"/>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非法主机的</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地址为</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10.1.1.10</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，不能上网，改为</a:t>
            </a:r>
            <a:r>
              <a:rPr lang="en-US" altLang="zh-CN"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10.1.1.1</a:t>
            </a:r>
            <a:r>
              <a:rPr lang="zh-CN" altLang="en-US" sz="14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就可以上网了</a:t>
            </a:r>
          </a:p>
        </p:txBody>
      </p:sp>
      <p:sp>
        <p:nvSpPr>
          <p:cNvPr id="53" name="文本框 52"/>
          <p:cNvSpPr txBox="1"/>
          <p:nvPr/>
        </p:nvSpPr>
        <p:spPr bwMode="gray">
          <a:xfrm>
            <a:off x="5918673" y="5326047"/>
            <a:ext cx="2722407" cy="576835"/>
          </a:xfrm>
          <a:prstGeom prst="rect">
            <a:avLst/>
          </a:prstGeom>
          <a:solidFill>
            <a:srgbClr val="AFD89C"/>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i="0" dirty="0">
                <a:solidFill>
                  <a:schemeClr val="tx1"/>
                </a:solidFill>
                <a:sym typeface="Huawei Sans" panose="020C0503030203020204" pitchFamily="34" charset="0"/>
              </a:rPr>
              <a:t>在</a:t>
            </a:r>
            <a:r>
              <a:rPr lang="en-US" altLang="zh-CN" i="0" dirty="0">
                <a:solidFill>
                  <a:schemeClr val="tx1"/>
                </a:solidFill>
                <a:sym typeface="Huawei Sans" panose="020C0503030203020204" pitchFamily="34" charset="0"/>
              </a:rPr>
              <a:t>Switch</a:t>
            </a:r>
            <a:r>
              <a:rPr lang="zh-CN" altLang="en-US" i="0" dirty="0">
                <a:solidFill>
                  <a:schemeClr val="tx1"/>
                </a:solidFill>
                <a:sym typeface="Huawei Sans" panose="020C0503030203020204" pitchFamily="34" charset="0"/>
              </a:rPr>
              <a:t>的接入用户侧的接口或</a:t>
            </a:r>
            <a:r>
              <a:rPr lang="en-US" altLang="zh-CN" i="0" dirty="0">
                <a:solidFill>
                  <a:schemeClr val="tx1"/>
                </a:solidFill>
                <a:sym typeface="Huawei Sans" panose="020C0503030203020204" pitchFamily="34" charset="0"/>
              </a:rPr>
              <a:t>VLAN</a:t>
            </a:r>
            <a:r>
              <a:rPr lang="zh-CN" altLang="en-US" i="0" dirty="0">
                <a:solidFill>
                  <a:schemeClr val="tx1"/>
                </a:solidFill>
                <a:sym typeface="Huawei Sans" panose="020C0503030203020204" pitchFamily="34" charset="0"/>
              </a:rPr>
              <a:t>上部署</a:t>
            </a:r>
            <a:r>
              <a:rPr lang="en-US" altLang="zh-CN" i="0" dirty="0">
                <a:solidFill>
                  <a:schemeClr val="tx1"/>
                </a:solidFill>
                <a:sym typeface="Huawei Sans" panose="020C0503030203020204" pitchFamily="34" charset="0"/>
              </a:rPr>
              <a:t>IPSG</a:t>
            </a:r>
            <a:r>
              <a:rPr lang="zh-CN" altLang="en-US" i="0" dirty="0">
                <a:solidFill>
                  <a:schemeClr val="tx1"/>
                </a:solidFill>
                <a:sym typeface="Huawei Sans" panose="020C0503030203020204" pitchFamily="34" charset="0"/>
              </a:rPr>
              <a:t>功能</a:t>
            </a:r>
          </a:p>
        </p:txBody>
      </p:sp>
      <p:sp>
        <p:nvSpPr>
          <p:cNvPr id="54" name="椭圆 53"/>
          <p:cNvSpPr>
            <a:spLocks noChangeAspect="1"/>
          </p:cNvSpPr>
          <p:nvPr/>
        </p:nvSpPr>
        <p:spPr bwMode="gray">
          <a:xfrm flipV="1">
            <a:off x="6225496" y="4471006"/>
            <a:ext cx="136290" cy="136290"/>
          </a:xfrm>
          <a:prstGeom prst="ellipse">
            <a:avLst/>
          </a:prstGeom>
          <a:solidFill>
            <a:srgbClr val="EC706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56" name="直接箭头连接符 55"/>
          <p:cNvCxnSpPr/>
          <p:nvPr/>
        </p:nvCxnSpPr>
        <p:spPr bwMode="gray">
          <a:xfrm flipV="1">
            <a:off x="6269954" y="4693942"/>
            <a:ext cx="0" cy="632105"/>
          </a:xfrm>
          <a:prstGeom prst="straightConnector1">
            <a:avLst/>
          </a:prstGeom>
          <a:ln w="28575">
            <a:solidFill>
              <a:srgbClr val="AFD89C"/>
            </a:solidFill>
            <a:tailEnd type="triangle"/>
          </a:ln>
        </p:spPr>
        <p:style>
          <a:lnRef idx="1">
            <a:schemeClr val="accent1"/>
          </a:lnRef>
          <a:fillRef idx="0">
            <a:schemeClr val="accent1"/>
          </a:fillRef>
          <a:effectRef idx="0">
            <a:schemeClr val="accent1"/>
          </a:effectRef>
          <a:fontRef idx="minor">
            <a:schemeClr val="tx1"/>
          </a:fontRef>
        </p:style>
      </p:cxnSp>
      <p:grpSp>
        <p:nvGrpSpPr>
          <p:cNvPr id="65" name="组合 64"/>
          <p:cNvGrpSpPr/>
          <p:nvPr/>
        </p:nvGrpSpPr>
        <p:grpSpPr bwMode="gray">
          <a:xfrm>
            <a:off x="4554788" y="3797072"/>
            <a:ext cx="4163762" cy="654822"/>
            <a:chOff x="4554788" y="4193874"/>
            <a:chExt cx="4163762" cy="654822"/>
          </a:xfrm>
        </p:grpSpPr>
        <p:cxnSp>
          <p:nvCxnSpPr>
            <p:cNvPr id="59" name="肘形连接符 58"/>
            <p:cNvCxnSpPr/>
            <p:nvPr/>
          </p:nvCxnSpPr>
          <p:spPr bwMode="gray">
            <a:xfrm>
              <a:off x="4578350" y="4193874"/>
              <a:ext cx="4140200" cy="654822"/>
            </a:xfrm>
            <a:prstGeom prst="bentConnector3">
              <a:avLst>
                <a:gd name="adj1" fmla="val 26074"/>
              </a:avLst>
            </a:prstGeom>
            <a:ln w="19050">
              <a:solidFill>
                <a:srgbClr val="94DAE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bwMode="gray">
            <a:xfrm>
              <a:off x="4554788" y="4848696"/>
              <a:ext cx="1138846" cy="0"/>
            </a:xfrm>
            <a:prstGeom prst="line">
              <a:avLst/>
            </a:prstGeom>
            <a:ln w="19050">
              <a:solidFill>
                <a:srgbClr val="94DAE2"/>
              </a:solidFill>
              <a:prstDash val="dash"/>
            </a:ln>
          </p:spPr>
          <p:style>
            <a:lnRef idx="1">
              <a:schemeClr val="accent1"/>
            </a:lnRef>
            <a:fillRef idx="0">
              <a:schemeClr val="accent1"/>
            </a:fillRef>
            <a:effectRef idx="0">
              <a:schemeClr val="accent1"/>
            </a:effectRef>
            <a:fontRef idx="minor">
              <a:schemeClr val="tx1"/>
            </a:fontRef>
          </p:style>
        </p:cxnSp>
      </p:grpSp>
      <p:cxnSp>
        <p:nvCxnSpPr>
          <p:cNvPr id="67" name="肘形连接符 66"/>
          <p:cNvCxnSpPr/>
          <p:nvPr/>
        </p:nvCxnSpPr>
        <p:spPr bwMode="gray">
          <a:xfrm flipV="1">
            <a:off x="4554788" y="4684154"/>
            <a:ext cx="1688970" cy="641893"/>
          </a:xfrm>
          <a:prstGeom prst="bentConnector3">
            <a:avLst>
              <a:gd name="adj1" fmla="val 65791"/>
            </a:avLst>
          </a:prstGeom>
          <a:ln w="19050">
            <a:solidFill>
              <a:srgbClr val="EC7061"/>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70" name="禁止符 23"/>
          <p:cNvSpPr/>
          <p:nvPr/>
        </p:nvSpPr>
        <p:spPr bwMode="gray">
          <a:xfrm>
            <a:off x="5909478" y="4575684"/>
            <a:ext cx="199911" cy="199911"/>
          </a:xfrm>
          <a:prstGeom prst="noSmoking">
            <a:avLst>
              <a:gd name="adj" fmla="val 15475"/>
            </a:avLst>
          </a:prstGeom>
          <a:solidFill>
            <a:srgbClr val="EC70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2"/>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56822986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圆角矩形 58"/>
          <p:cNvSpPr/>
          <p:nvPr/>
        </p:nvSpPr>
        <p:spPr bwMode="gray">
          <a:xfrm>
            <a:off x="6833883" y="2352801"/>
            <a:ext cx="1121435" cy="409777"/>
          </a:xfrm>
          <a:prstGeom prst="roundRect">
            <a:avLst/>
          </a:prstGeom>
          <a:solidFill>
            <a:srgbClr val="FDE39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匹配通过</a:t>
            </a:r>
          </a:p>
        </p:txBody>
      </p:sp>
      <p:sp>
        <p:nvSpPr>
          <p:cNvPr id="60" name="圆角矩形 59"/>
          <p:cNvSpPr/>
          <p:nvPr/>
        </p:nvSpPr>
        <p:spPr bwMode="gray">
          <a:xfrm>
            <a:off x="6863958" y="4982161"/>
            <a:ext cx="1274202" cy="697119"/>
          </a:xfrm>
          <a:prstGeom prst="roundRect">
            <a:avLst/>
          </a:prstGeom>
          <a:solidFill>
            <a:srgbClr val="FDE397"/>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2200"/>
              </a:lnSpc>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伪造合法</a:t>
            </a:r>
            <a:r>
              <a:rPr lang="en-US" altLang="zh-CN"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IP</a:t>
            </a:r>
          </a:p>
          <a:p>
            <a:pPr>
              <a:lnSpc>
                <a:spcPts val="2200"/>
              </a:lnSpc>
            </a:pPr>
            <a:r>
              <a:rPr lang="zh-CN" altLang="en-US" sz="16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不匹配丢弃</a:t>
            </a:r>
          </a:p>
        </p:txBody>
      </p:sp>
      <p:sp>
        <p:nvSpPr>
          <p:cNvPr id="2" name="标题 1"/>
          <p:cNvSpPr>
            <a:spLocks noGrp="1"/>
          </p:cNvSpPr>
          <p:nvPr>
            <p:ph type="title"/>
          </p:nvPr>
        </p:nvSpPr>
        <p:spPr bwMode="gray"/>
        <p:txBody>
          <a:bodyPr/>
          <a:lstStyle/>
          <a:p>
            <a:r>
              <a:rPr lang="en-US" altLang="zh-CN" smtClean="0">
                <a:sym typeface="Huawei Sans" panose="020C0503030203020204" pitchFamily="34" charset="0"/>
              </a:rPr>
              <a:t>IPSG</a:t>
            </a:r>
            <a:r>
              <a:rPr lang="zh-CN" altLang="en-US" smtClean="0">
                <a:sym typeface="Huawei Sans" panose="020C0503030203020204" pitchFamily="34" charset="0"/>
              </a:rPr>
              <a:t>工作原理</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p:txBody>
          <a:bodyPr/>
          <a:lstStyle/>
          <a:p>
            <a:r>
              <a:rPr lang="en-US" altLang="zh-CN" sz="1600" smtClean="0">
                <a:sym typeface="Huawei Sans" panose="020C0503030203020204" pitchFamily="34" charset="0"/>
              </a:rPr>
              <a:t>IPSG</a:t>
            </a:r>
            <a:r>
              <a:rPr lang="zh-CN" altLang="en-US" sz="1600" smtClean="0">
                <a:sym typeface="Huawei Sans" panose="020C0503030203020204" pitchFamily="34" charset="0"/>
              </a:rPr>
              <a:t>利用绑定表（源</a:t>
            </a:r>
            <a:r>
              <a:rPr lang="en-US" altLang="zh-CN" sz="1600" smtClean="0">
                <a:sym typeface="Huawei Sans" panose="020C0503030203020204" pitchFamily="34" charset="0"/>
              </a:rPr>
              <a:t>IP</a:t>
            </a:r>
            <a:r>
              <a:rPr lang="zh-CN" altLang="en-US" sz="1600" smtClean="0">
                <a:sym typeface="Huawei Sans" panose="020C0503030203020204" pitchFamily="34" charset="0"/>
              </a:rPr>
              <a:t>地址、源</a:t>
            </a:r>
            <a:r>
              <a:rPr lang="en-US" altLang="zh-CN" sz="1600" smtClean="0">
                <a:sym typeface="Huawei Sans" panose="020C0503030203020204" pitchFamily="34" charset="0"/>
              </a:rPr>
              <a:t>MAC</a:t>
            </a:r>
            <a:r>
              <a:rPr lang="zh-CN" altLang="en-US" sz="1600" smtClean="0">
                <a:sym typeface="Huawei Sans" panose="020C0503030203020204" pitchFamily="34" charset="0"/>
              </a:rPr>
              <a:t>地址、所属</a:t>
            </a:r>
            <a:r>
              <a:rPr lang="en-US" altLang="zh-CN" sz="1600" smtClean="0">
                <a:sym typeface="Huawei Sans" panose="020C0503030203020204" pitchFamily="34" charset="0"/>
              </a:rPr>
              <a:t>VLAN</a:t>
            </a:r>
            <a:r>
              <a:rPr lang="zh-CN" altLang="en-US" sz="1600" smtClean="0">
                <a:sym typeface="Huawei Sans" panose="020C0503030203020204" pitchFamily="34" charset="0"/>
              </a:rPr>
              <a:t>、入接口的绑定关系）去匹配检查二层接口上收到的</a:t>
            </a:r>
            <a:r>
              <a:rPr lang="en-US" altLang="zh-CN" sz="1600" smtClean="0">
                <a:sym typeface="Huawei Sans" panose="020C0503030203020204" pitchFamily="34" charset="0"/>
              </a:rPr>
              <a:t>IP</a:t>
            </a:r>
            <a:r>
              <a:rPr lang="zh-CN" altLang="en-US" sz="1600" smtClean="0">
                <a:sym typeface="Huawei Sans" panose="020C0503030203020204" pitchFamily="34" charset="0"/>
              </a:rPr>
              <a:t>报文，只有匹配绑定表的报文才允许通过，其他报文将被丢弃。常见的绑定表有静态绑定表和</a:t>
            </a:r>
            <a:r>
              <a:rPr lang="en-US" altLang="zh-CN" sz="1600" smtClean="0">
                <a:sym typeface="Huawei Sans" panose="020C0503030203020204" pitchFamily="34" charset="0"/>
              </a:rPr>
              <a:t>DHCP Snooping</a:t>
            </a:r>
            <a:r>
              <a:rPr lang="zh-CN" altLang="en-US" sz="1600" smtClean="0">
                <a:sym typeface="Huawei Sans" panose="020C0503030203020204" pitchFamily="34" charset="0"/>
              </a:rPr>
              <a:t>动态绑定表。</a:t>
            </a:r>
            <a:endParaRPr lang="zh-CN" altLang="en-US" sz="1600" dirty="0">
              <a:sym typeface="Huawei Sans" panose="020C0503030203020204" pitchFamily="34" charset="0"/>
            </a:endParaRPr>
          </a:p>
        </p:txBody>
      </p:sp>
      <p:sp>
        <p:nvSpPr>
          <p:cNvPr id="24" name="文本框 23"/>
          <p:cNvSpPr txBox="1"/>
          <p:nvPr/>
        </p:nvSpPr>
        <p:spPr bwMode="gray">
          <a:xfrm>
            <a:off x="2722394" y="2571791"/>
            <a:ext cx="800219" cy="276999"/>
          </a:xfrm>
          <a:prstGeom prst="rect">
            <a:avLst/>
          </a:prstGeom>
          <a:noFill/>
          <a:ln>
            <a:noFill/>
          </a:ln>
        </p:spPr>
        <p:txBody>
          <a:bodyPr wrap="none" rtlCol="0">
            <a:spAutoFit/>
          </a:bodyPr>
          <a:lstStyle/>
          <a:p>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合法主机</a:t>
            </a:r>
          </a:p>
        </p:txBody>
      </p:sp>
      <p:sp>
        <p:nvSpPr>
          <p:cNvPr id="25" name="文本框 24"/>
          <p:cNvSpPr txBox="1"/>
          <p:nvPr/>
        </p:nvSpPr>
        <p:spPr bwMode="gray">
          <a:xfrm>
            <a:off x="2833347" y="2881198"/>
            <a:ext cx="1774845" cy="461665"/>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IP: 10.1.1.1</a:t>
            </a:r>
          </a:p>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5489-98C2-1486</a:t>
            </a:r>
          </a:p>
        </p:txBody>
      </p:sp>
      <p:sp>
        <p:nvSpPr>
          <p:cNvPr id="26" name="文本框 25"/>
          <p:cNvSpPr txBox="1"/>
          <p:nvPr/>
        </p:nvSpPr>
        <p:spPr bwMode="gray">
          <a:xfrm>
            <a:off x="2722393" y="4927335"/>
            <a:ext cx="800219" cy="276999"/>
          </a:xfrm>
          <a:prstGeom prst="rect">
            <a:avLst/>
          </a:prstGeom>
          <a:noFill/>
          <a:ln>
            <a:noFill/>
          </a:ln>
        </p:spPr>
        <p:txBody>
          <a:bodyPr wrap="none" rtlCol="0">
            <a:spAutoFit/>
          </a:bodyPr>
          <a:lstStyle/>
          <a:p>
            <a:r>
              <a:rPr lang="zh-CN" altLang="en-US" sz="1200" dirty="0">
                <a:latin typeface="Huawei Sans" panose="020C0503030203020204" pitchFamily="34" charset="0"/>
                <a:ea typeface="方正兰亭黑简体" panose="02000000000000000000" pitchFamily="2" charset="-122"/>
                <a:sym typeface="Huawei Sans" panose="020C0503030203020204" pitchFamily="34" charset="0"/>
              </a:rPr>
              <a:t>非</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法主机</a:t>
            </a:r>
          </a:p>
        </p:txBody>
      </p:sp>
      <p:sp>
        <p:nvSpPr>
          <p:cNvPr id="27" name="文本框 26"/>
          <p:cNvSpPr txBox="1"/>
          <p:nvPr/>
        </p:nvSpPr>
        <p:spPr bwMode="gray">
          <a:xfrm>
            <a:off x="2811239" y="5319589"/>
            <a:ext cx="1802096" cy="461665"/>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   IP: 10.1.1.10</a:t>
            </a:r>
          </a:p>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MAC: </a:t>
            </a: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5489-98AB-22A7</a:t>
            </a:r>
          </a:p>
        </p:txBody>
      </p:sp>
      <p:grpSp>
        <p:nvGrpSpPr>
          <p:cNvPr id="30" name="组合 29"/>
          <p:cNvGrpSpPr/>
          <p:nvPr/>
        </p:nvGrpSpPr>
        <p:grpSpPr bwMode="gray">
          <a:xfrm>
            <a:off x="3445600" y="2482919"/>
            <a:ext cx="6140238" cy="2812593"/>
            <a:chOff x="3255100" y="3350467"/>
            <a:chExt cx="6140238" cy="2812593"/>
          </a:xfrm>
        </p:grpSpPr>
        <p:grpSp>
          <p:nvGrpSpPr>
            <p:cNvPr id="6" name="组合 5"/>
            <p:cNvGrpSpPr/>
            <p:nvPr/>
          </p:nvGrpSpPr>
          <p:grpSpPr bwMode="gray">
            <a:xfrm>
              <a:off x="3255100" y="3350467"/>
              <a:ext cx="2905396" cy="2812593"/>
              <a:chOff x="2402198" y="3915420"/>
              <a:chExt cx="2905396" cy="2812593"/>
            </a:xfrm>
          </p:grpSpPr>
          <p:cxnSp>
            <p:nvCxnSpPr>
              <p:cNvPr id="8" name="直接连接符 7"/>
              <p:cNvCxnSpPr>
                <a:stCxn id="11" idx="3"/>
              </p:cNvCxnSpPr>
              <p:nvPr/>
            </p:nvCxnSpPr>
            <p:spPr bwMode="gray">
              <a:xfrm>
                <a:off x="2942198" y="4122420"/>
                <a:ext cx="2365396" cy="130299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a:stCxn id="13" idx="3"/>
              </p:cNvCxnSpPr>
              <p:nvPr/>
            </p:nvCxnSpPr>
            <p:spPr bwMode="gray">
              <a:xfrm flipV="1">
                <a:off x="2941261" y="5439708"/>
                <a:ext cx="2366333" cy="1081305"/>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11" name="图片 10" descr="PC.png"/>
              <p:cNvPicPr>
                <a:picLocks noChangeAspect="1"/>
              </p:cNvPicPr>
              <p:nvPr/>
            </p:nvPicPr>
            <p:blipFill>
              <a:blip r:embed="rId3" cstate="print"/>
              <a:stretch>
                <a:fillRect/>
              </a:stretch>
            </p:blipFill>
            <p:spPr bwMode="gray">
              <a:xfrm>
                <a:off x="2403135" y="3915420"/>
                <a:ext cx="539063" cy="414000"/>
              </a:xfrm>
              <a:prstGeom prst="rect">
                <a:avLst/>
              </a:prstGeom>
            </p:spPr>
          </p:pic>
          <p:pic>
            <p:nvPicPr>
              <p:cNvPr id="13" name="图片 12" descr="PC.png"/>
              <p:cNvPicPr>
                <a:picLocks noChangeAspect="1"/>
              </p:cNvPicPr>
              <p:nvPr/>
            </p:nvPicPr>
            <p:blipFill>
              <a:blip r:embed="rId3" cstate="print"/>
              <a:stretch>
                <a:fillRect/>
              </a:stretch>
            </p:blipFill>
            <p:spPr bwMode="gray">
              <a:xfrm>
                <a:off x="2402198" y="6314013"/>
                <a:ext cx="539063" cy="414000"/>
              </a:xfrm>
              <a:prstGeom prst="rect">
                <a:avLst/>
              </a:prstGeom>
            </p:spPr>
          </p:pic>
        </p:grpSp>
        <p:grpSp>
          <p:nvGrpSpPr>
            <p:cNvPr id="5" name="组合 4"/>
            <p:cNvGrpSpPr/>
            <p:nvPr/>
          </p:nvGrpSpPr>
          <p:grpSpPr bwMode="gray">
            <a:xfrm>
              <a:off x="5781770" y="4565758"/>
              <a:ext cx="3613568" cy="759646"/>
              <a:chOff x="5055703" y="5129392"/>
              <a:chExt cx="3613568" cy="759646"/>
            </a:xfrm>
          </p:grpSpPr>
          <p:pic>
            <p:nvPicPr>
              <p:cNvPr id="14" name="图片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730588" y="5129392"/>
                <a:ext cx="938683" cy="589407"/>
              </a:xfrm>
              <a:prstGeom prst="rect">
                <a:avLst/>
              </a:prstGeom>
            </p:spPr>
          </p:pic>
          <p:pic>
            <p:nvPicPr>
              <p:cNvPr id="15" name="图片 14"/>
              <p:cNvPicPr>
                <a:picLocks/>
              </p:cNvPicPr>
              <p:nvPr/>
            </p:nvPicPr>
            <p:blipFill>
              <a:blip r:embed="rId5" cstate="print">
                <a:extLst>
                  <a:ext uri="{28A0092B-C50C-407E-A947-70E740481C1C}">
                    <a14:useLocalDpi xmlns:a14="http://schemas.microsoft.com/office/drawing/2010/main" val="0"/>
                  </a:ext>
                </a:extLst>
              </a:blip>
              <a:stretch>
                <a:fillRect/>
              </a:stretch>
            </p:blipFill>
            <p:spPr bwMode="gray">
              <a:xfrm>
                <a:off x="6498751" y="5202696"/>
                <a:ext cx="540000" cy="442800"/>
              </a:xfrm>
              <a:prstGeom prst="rect">
                <a:avLst/>
              </a:prstGeom>
            </p:spPr>
          </p:pic>
          <p:cxnSp>
            <p:nvCxnSpPr>
              <p:cNvPr id="18" name="直接连接符 17"/>
              <p:cNvCxnSpPr>
                <a:stCxn id="16" idx="3"/>
                <a:endCxn id="15" idx="1"/>
              </p:cNvCxnSpPr>
              <p:nvPr/>
            </p:nvCxnSpPr>
            <p:spPr bwMode="gray">
              <a:xfrm flipV="1">
                <a:off x="5704429" y="5424096"/>
                <a:ext cx="794322" cy="49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15" idx="3"/>
                <a:endCxn id="14" idx="1"/>
              </p:cNvCxnSpPr>
              <p:nvPr/>
            </p:nvCxnSpPr>
            <p:spPr bwMode="gray">
              <a:xfrm>
                <a:off x="7038751" y="5424096"/>
                <a:ext cx="691837" cy="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bwMode="gray">
              <a:xfrm>
                <a:off x="7850235" y="5292439"/>
                <a:ext cx="74090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文本框 20"/>
              <p:cNvSpPr txBox="1"/>
              <p:nvPr/>
            </p:nvSpPr>
            <p:spPr bwMode="gray">
              <a:xfrm>
                <a:off x="5055703" y="5576542"/>
                <a:ext cx="763351"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文本框 21"/>
              <p:cNvSpPr txBox="1"/>
              <p:nvPr/>
            </p:nvSpPr>
            <p:spPr bwMode="gray">
              <a:xfrm>
                <a:off x="6428598" y="5581261"/>
                <a:ext cx="769763"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Router</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6" name="图片 15" descr="通用交换机.png"/>
              <p:cNvPicPr>
                <a:picLocks noChangeAspect="1"/>
              </p:cNvPicPr>
              <p:nvPr/>
            </p:nvPicPr>
            <p:blipFill>
              <a:blip r:embed="rId6" cstate="print"/>
              <a:stretch>
                <a:fillRect/>
              </a:stretch>
            </p:blipFill>
            <p:spPr bwMode="gray">
              <a:xfrm>
                <a:off x="5164429" y="5203678"/>
                <a:ext cx="540000" cy="441818"/>
              </a:xfrm>
              <a:prstGeom prst="rect">
                <a:avLst/>
              </a:prstGeom>
            </p:spPr>
          </p:pic>
        </p:grpSp>
      </p:grpSp>
      <p:sp>
        <p:nvSpPr>
          <p:cNvPr id="31" name="圆角矩形标注 30"/>
          <p:cNvSpPr/>
          <p:nvPr/>
        </p:nvSpPr>
        <p:spPr bwMode="gray">
          <a:xfrm>
            <a:off x="9124824" y="2372766"/>
            <a:ext cx="1762579" cy="1048306"/>
          </a:xfrm>
          <a:prstGeom prst="wedgeRoundRectCallout">
            <a:avLst>
              <a:gd name="adj1" fmla="val -37094"/>
              <a:gd name="adj2" fmla="val 74233"/>
              <a:gd name="adj3" fmla="val 16667"/>
            </a:avLst>
          </a:prstGeom>
          <a:solidFill>
            <a:srgbClr val="BEE9EE"/>
          </a:solidFill>
          <a:ln w="12700" cap="flat" cmpd="sng" algn="ctr">
            <a:solidFill>
              <a:srgbClr val="99DFF9"/>
            </a:solid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规定：</a:t>
            </a:r>
            <a:endPar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a:p>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只允许</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地址为</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10.1.1.1</a:t>
            </a:r>
            <a:r>
              <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的主机可以访问</a:t>
            </a:r>
            <a:r>
              <a:rPr lang="en-US" altLang="zh-CN"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椭圆 32"/>
          <p:cNvSpPr>
            <a:spLocks noChangeAspect="1"/>
          </p:cNvSpPr>
          <p:nvPr/>
        </p:nvSpPr>
        <p:spPr bwMode="gray">
          <a:xfrm flipV="1">
            <a:off x="6015995" y="3794105"/>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椭圆 33"/>
          <p:cNvSpPr>
            <a:spLocks noChangeAspect="1"/>
          </p:cNvSpPr>
          <p:nvPr/>
        </p:nvSpPr>
        <p:spPr bwMode="gray">
          <a:xfrm flipV="1">
            <a:off x="6041550" y="4063864"/>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文本框 34"/>
          <p:cNvSpPr txBox="1"/>
          <p:nvPr/>
        </p:nvSpPr>
        <p:spPr bwMode="gray">
          <a:xfrm>
            <a:off x="1723918" y="3244102"/>
            <a:ext cx="1301959"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绑定表</a:t>
            </a:r>
          </a:p>
        </p:txBody>
      </p:sp>
      <p:grpSp>
        <p:nvGrpSpPr>
          <p:cNvPr id="38" name="组合 37"/>
          <p:cNvGrpSpPr/>
          <p:nvPr/>
        </p:nvGrpSpPr>
        <p:grpSpPr bwMode="gray">
          <a:xfrm>
            <a:off x="9574824" y="5682615"/>
            <a:ext cx="2048275" cy="307777"/>
            <a:chOff x="8294780" y="5323965"/>
            <a:chExt cx="2048275" cy="307777"/>
          </a:xfrm>
        </p:grpSpPr>
        <p:sp>
          <p:nvSpPr>
            <p:cNvPr id="36" name="椭圆 35"/>
            <p:cNvSpPr>
              <a:spLocks noChangeAspect="1"/>
            </p:cNvSpPr>
            <p:nvPr/>
          </p:nvSpPr>
          <p:spPr bwMode="gray">
            <a:xfrm flipV="1">
              <a:off x="8294780" y="5424281"/>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文本框 36"/>
            <p:cNvSpPr txBox="1"/>
            <p:nvPr/>
          </p:nvSpPr>
          <p:spPr bwMode="gray">
            <a:xfrm>
              <a:off x="8523326" y="5323965"/>
              <a:ext cx="1819729"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使能</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IPSG</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的二层接口</a:t>
              </a:r>
            </a:p>
          </p:txBody>
        </p:sp>
      </p:grpSp>
      <p:sp>
        <p:nvSpPr>
          <p:cNvPr id="45" name="文本框 44"/>
          <p:cNvSpPr txBox="1"/>
          <p:nvPr/>
        </p:nvSpPr>
        <p:spPr bwMode="gray">
          <a:xfrm>
            <a:off x="5480815" y="3314169"/>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文本框 45"/>
          <p:cNvSpPr txBox="1"/>
          <p:nvPr/>
        </p:nvSpPr>
        <p:spPr bwMode="gray">
          <a:xfrm>
            <a:off x="5478886" y="4326840"/>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文本框 46"/>
          <p:cNvSpPr txBox="1"/>
          <p:nvPr/>
        </p:nvSpPr>
        <p:spPr bwMode="gray">
          <a:xfrm>
            <a:off x="6568795" y="3953436"/>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4757699" y="5563205"/>
            <a:ext cx="1338301" cy="415393"/>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5489-98AB-22A7</a:t>
            </a:r>
          </a:p>
        </p:txBody>
      </p:sp>
      <p:sp>
        <p:nvSpPr>
          <p:cNvPr id="51" name="矩形 50"/>
          <p:cNvSpPr/>
          <p:nvPr/>
        </p:nvSpPr>
        <p:spPr bwMode="gray">
          <a:xfrm>
            <a:off x="4757699" y="5119016"/>
            <a:ext cx="1338301" cy="221723"/>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SIP:10.1.1.1</a:t>
            </a:r>
            <a:endPar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bwMode="gray">
          <a:xfrm>
            <a:off x="4757699" y="4897293"/>
            <a:ext cx="1338301" cy="221723"/>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a:t>
            </a:r>
            <a:endPar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矩形 53"/>
          <p:cNvSpPr/>
          <p:nvPr/>
        </p:nvSpPr>
        <p:spPr bwMode="gray">
          <a:xfrm>
            <a:off x="4757699" y="5341482"/>
            <a:ext cx="1338301" cy="221723"/>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 1</a:t>
            </a:r>
            <a:endPar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矩形 54"/>
          <p:cNvSpPr/>
          <p:nvPr/>
        </p:nvSpPr>
        <p:spPr bwMode="gray">
          <a:xfrm>
            <a:off x="4757699" y="2750739"/>
            <a:ext cx="1338301" cy="350370"/>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smtClean="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rPr>
              <a:t>5489-98C2-1486</a:t>
            </a:r>
            <a:endParaRPr lang="en-US" altLang="zh-CN" sz="1200" dirty="0">
              <a:solidFill>
                <a:srgbClr val="000000"/>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矩形 55"/>
          <p:cNvSpPr/>
          <p:nvPr/>
        </p:nvSpPr>
        <p:spPr bwMode="gray">
          <a:xfrm>
            <a:off x="4757699" y="2306549"/>
            <a:ext cx="1338301" cy="221723"/>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10.1.1.1</a:t>
            </a:r>
            <a:endPar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矩形 56"/>
          <p:cNvSpPr/>
          <p:nvPr/>
        </p:nvSpPr>
        <p:spPr bwMode="gray">
          <a:xfrm>
            <a:off x="4757699" y="2084826"/>
            <a:ext cx="1338301" cy="221723"/>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Data</a:t>
            </a:r>
            <a:endPar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4757699" y="2529015"/>
            <a:ext cx="1338301" cy="221723"/>
          </a:xfrm>
          <a:prstGeom prst="rect">
            <a:avLst/>
          </a:prstGeom>
          <a:noFill/>
          <a:ln>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VLAN 1</a:t>
            </a:r>
            <a:endPar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下箭头 63"/>
          <p:cNvSpPr/>
          <p:nvPr/>
        </p:nvSpPr>
        <p:spPr bwMode="gray">
          <a:xfrm rot="5400000" flipV="1">
            <a:off x="6275580" y="2277944"/>
            <a:ext cx="474882" cy="554393"/>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下箭头 63"/>
          <p:cNvSpPr/>
          <p:nvPr/>
        </p:nvSpPr>
        <p:spPr bwMode="gray">
          <a:xfrm rot="5400000" flipV="1">
            <a:off x="6270616" y="5070243"/>
            <a:ext cx="474882" cy="554393"/>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5000">
                <a:srgbClr val="FFC000"/>
              </a:gs>
              <a:gs pos="100000">
                <a:schemeClr val="bg1">
                  <a:alpha val="0"/>
                </a:schemeClr>
              </a:gs>
            </a:gsLst>
            <a:lin ang="16200000" scaled="1"/>
            <a:tileRect/>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spcBef>
                <a:spcPts val="0"/>
              </a:spcBef>
              <a:spcAft>
                <a:spcPts val="0"/>
              </a:spcAft>
            </a:pPr>
            <a:endParaRPr lang="zh-CN" altLang="en-US" sz="180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2" name="表格 51"/>
          <p:cNvGraphicFramePr>
            <a:graphicFrameLocks noGrp="1"/>
          </p:cNvGraphicFramePr>
          <p:nvPr>
            <p:extLst>
              <p:ext uri="{D42A27DB-BD31-4B8C-83A1-F6EECF244321}">
                <p14:modId xmlns:p14="http://schemas.microsoft.com/office/powerpoint/2010/main" val="111534583"/>
              </p:ext>
            </p:extLst>
          </p:nvPr>
        </p:nvGraphicFramePr>
        <p:xfrm>
          <a:off x="594361" y="3545297"/>
          <a:ext cx="4371563" cy="1038202"/>
        </p:xfrm>
        <a:graphic>
          <a:graphicData uri="http://schemas.openxmlformats.org/drawingml/2006/table">
            <a:tbl>
              <a:tblPr firstRow="1" bandRow="1">
                <a:tableStyleId>{72833802-FEF1-4C79-8D5D-14CF1EAF98D9}</a:tableStyleId>
              </a:tblPr>
              <a:tblGrid>
                <a:gridCol w="988769"/>
                <a:gridCol w="1526776"/>
                <a:gridCol w="847563"/>
                <a:gridCol w="1008455"/>
              </a:tblGrid>
              <a:tr h="291586">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IP</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MAC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VLAN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rtl="0" fontAlgn="ctr"/>
                      <a:r>
                        <a:rPr lang="zh-CN" altLang="en-US" sz="1600" b="1" i="0" u="none" strike="noStrike" dirty="0">
                          <a:solidFill>
                            <a:schemeClr val="tx1"/>
                          </a:solidFill>
                          <a:effectLst/>
                          <a:latin typeface="Huawei Sans" panose="020C0503030203020204" pitchFamily="34" charset="0"/>
                          <a:ea typeface="方正兰亭黑简体" panose="02000000000000000000" pitchFamily="2" charset="-122"/>
                          <a:sym typeface="Huawei Sans" panose="020C0503030203020204" pitchFamily="34" charset="0"/>
                        </a:rPr>
                        <a:t>接口</a:t>
                      </a: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390358">
                <a:tc>
                  <a:txBody>
                    <a:bodyPr/>
                    <a:lstStyle/>
                    <a:p>
                      <a:pPr algn="ctr" rtl="0" fontAlgn="ctr"/>
                      <a:r>
                        <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10.1.1.1</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2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5489-98C2-1486</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altLang="zh-CN" sz="12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fontAlgn="ctr"/>
                      <a:r>
                        <a:rPr lang="en-US" sz="12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GE0/0/1</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2564">
                <a:tc>
                  <a:txBody>
                    <a:bodyPr/>
                    <a:lstStyle/>
                    <a:p>
                      <a:pPr algn="ctr" rtl="0" fontAlgn="ctr"/>
                      <a:r>
                        <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10.1.1.10</a:t>
                      </a: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rtl="0" fontAlgn="ctr"/>
                      <a:r>
                        <a:rPr lang="en-US" sz="12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5489-98AB-22A7</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rtl="0" fontAlgn="ctr"/>
                      <a:r>
                        <a:rPr lang="en-US" altLang="zh-CN" sz="12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1</a:t>
                      </a:r>
                      <a:endParaRPr lang="en-US" altLang="zh-CN"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pPr algn="ctr" rtl="0" fontAlgn="ctr"/>
                      <a:r>
                        <a:rPr lang="en-US" sz="1200" b="0" i="0" u="none" strike="noStrike" dirty="0" smtClean="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rPr>
                        <a:t>GE0/0/2</a:t>
                      </a:r>
                      <a:endParaRPr lang="en-US" sz="1200" b="0" i="0" u="none" strike="noStrike" dirty="0">
                        <a:solidFill>
                          <a:srgbClr val="000000"/>
                        </a:solidFill>
                        <a:effectLst/>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347065735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圆角矩形 96"/>
          <p:cNvSpPr/>
          <p:nvPr/>
        </p:nvSpPr>
        <p:spPr bwMode="gray">
          <a:xfrm>
            <a:off x="446088" y="3067277"/>
            <a:ext cx="5649912" cy="2172090"/>
          </a:xfrm>
          <a:prstGeom prst="roundRect">
            <a:avLst>
              <a:gd name="adj" fmla="val 8432"/>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smtClean="0">
                <a:sym typeface="Huawei Sans" panose="020C0503030203020204" pitchFamily="34" charset="0"/>
              </a:rPr>
              <a:t>IPSG</a:t>
            </a:r>
            <a:r>
              <a:rPr lang="zh-CN" altLang="en-US" smtClean="0">
                <a:sym typeface="Huawei Sans" panose="020C0503030203020204" pitchFamily="34" charset="0"/>
              </a:rPr>
              <a:t>应用场景</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6096000" y="1047750"/>
            <a:ext cx="5653087" cy="4879805"/>
          </a:xfrm>
        </p:spPr>
        <p:txBody>
          <a:bodyPr/>
          <a:lstStyle/>
          <a:p>
            <a:r>
              <a:rPr lang="zh-CN" altLang="en-US" sz="1800" smtClean="0">
                <a:sym typeface="Huawei Sans" panose="020C0503030203020204" pitchFamily="34" charset="0"/>
              </a:rPr>
              <a:t>通过</a:t>
            </a:r>
            <a:r>
              <a:rPr lang="en-US" altLang="zh-CN" sz="1800" smtClean="0">
                <a:sym typeface="Huawei Sans" panose="020C0503030203020204" pitchFamily="34" charset="0"/>
              </a:rPr>
              <a:t>IPSG</a:t>
            </a:r>
            <a:r>
              <a:rPr lang="zh-CN" altLang="en-US" sz="1800" smtClean="0">
                <a:sym typeface="Huawei Sans" panose="020C0503030203020204" pitchFamily="34" charset="0"/>
              </a:rPr>
              <a:t>防止</a:t>
            </a:r>
            <a:r>
              <a:rPr lang="en-US" altLang="zh-CN" sz="1800" smtClean="0">
                <a:sym typeface="Huawei Sans" panose="020C0503030203020204" pitchFamily="34" charset="0"/>
              </a:rPr>
              <a:t>PC</a:t>
            </a:r>
            <a:r>
              <a:rPr lang="zh-CN" altLang="en-US" sz="1800" smtClean="0">
                <a:sym typeface="Huawei Sans" panose="020C0503030203020204" pitchFamily="34" charset="0"/>
              </a:rPr>
              <a:t>私自更改</a:t>
            </a:r>
            <a:r>
              <a:rPr lang="en-US" altLang="zh-CN" sz="1800" smtClean="0">
                <a:sym typeface="Huawei Sans" panose="020C0503030203020204" pitchFamily="34" charset="0"/>
              </a:rPr>
              <a:t>IP</a:t>
            </a:r>
            <a:r>
              <a:rPr lang="zh-CN" altLang="en-US" sz="1800" smtClean="0">
                <a:sym typeface="Huawei Sans" panose="020C0503030203020204" pitchFamily="34" charset="0"/>
              </a:rPr>
              <a:t>地址。</a:t>
            </a:r>
            <a:endParaRPr lang="en-US" altLang="zh-CN" sz="1800" smtClean="0">
              <a:sym typeface="Huawei Sans" panose="020C0503030203020204" pitchFamily="34" charset="0"/>
            </a:endParaRPr>
          </a:p>
          <a:p>
            <a:pPr lvl="1"/>
            <a:r>
              <a:rPr lang="en-US" altLang="zh-CN" sz="1600" smtClean="0">
                <a:sym typeface="Huawei Sans" panose="020C0503030203020204" pitchFamily="34" charset="0"/>
              </a:rPr>
              <a:t>PC</a:t>
            </a:r>
            <a:r>
              <a:rPr lang="zh-CN" altLang="en-US" sz="1600" smtClean="0">
                <a:sym typeface="Huawei Sans" panose="020C0503030203020204" pitchFamily="34" charset="0"/>
              </a:rPr>
              <a:t>只能使用</a:t>
            </a:r>
            <a:r>
              <a:rPr lang="en-US" altLang="zh-CN" sz="1600" smtClean="0">
                <a:sym typeface="Huawei Sans" panose="020C0503030203020204" pitchFamily="34" charset="0"/>
              </a:rPr>
              <a:t>DHCP Server</a:t>
            </a:r>
            <a:r>
              <a:rPr lang="zh-CN" altLang="en-US" sz="1600" smtClean="0">
                <a:sym typeface="Huawei Sans" panose="020C0503030203020204" pitchFamily="34" charset="0"/>
              </a:rPr>
              <a:t>分配的</a:t>
            </a:r>
            <a:r>
              <a:rPr lang="en-US" altLang="zh-CN" sz="1600" smtClean="0">
                <a:sym typeface="Huawei Sans" panose="020C0503030203020204" pitchFamily="34" charset="0"/>
              </a:rPr>
              <a:t>IP</a:t>
            </a:r>
            <a:r>
              <a:rPr lang="zh-CN" altLang="en-US" sz="1600" smtClean="0">
                <a:sym typeface="Huawei Sans" panose="020C0503030203020204" pitchFamily="34" charset="0"/>
              </a:rPr>
              <a:t>地址或者管理员配置的静态地址，随意更改</a:t>
            </a:r>
            <a:r>
              <a:rPr lang="en-US" altLang="zh-CN" sz="1600" smtClean="0">
                <a:sym typeface="Huawei Sans" panose="020C0503030203020204" pitchFamily="34" charset="0"/>
              </a:rPr>
              <a:t>IP</a:t>
            </a:r>
            <a:r>
              <a:rPr lang="zh-CN" altLang="en-US" sz="1600" smtClean="0">
                <a:sym typeface="Huawei Sans" panose="020C0503030203020204" pitchFamily="34" charset="0"/>
              </a:rPr>
              <a:t>地址后无法访问网络，防止</a:t>
            </a:r>
            <a:r>
              <a:rPr lang="en-US" altLang="zh-CN" sz="1600" smtClean="0">
                <a:sym typeface="Huawei Sans" panose="020C0503030203020204" pitchFamily="34" charset="0"/>
              </a:rPr>
              <a:t>PC</a:t>
            </a:r>
            <a:r>
              <a:rPr lang="zh-CN" altLang="en-US" sz="1600" smtClean="0">
                <a:sym typeface="Huawei Sans" panose="020C0503030203020204" pitchFamily="34" charset="0"/>
              </a:rPr>
              <a:t>非法取得上网权限。</a:t>
            </a:r>
            <a:endParaRPr lang="en-US" altLang="zh-CN" sz="1600" smtClean="0">
              <a:sym typeface="Huawei Sans" panose="020C0503030203020204" pitchFamily="34" charset="0"/>
            </a:endParaRPr>
          </a:p>
          <a:p>
            <a:r>
              <a:rPr lang="zh-CN" altLang="en-US" sz="1800" smtClean="0">
                <a:sym typeface="Huawei Sans" panose="020C0503030203020204" pitchFamily="34" charset="0"/>
              </a:rPr>
              <a:t>小型网络</a:t>
            </a:r>
            <a:r>
              <a:rPr lang="en-US" altLang="zh-CN" sz="1800" smtClean="0">
                <a:sym typeface="Huawei Sans" panose="020C0503030203020204" pitchFamily="34" charset="0"/>
              </a:rPr>
              <a:t>IP</a:t>
            </a:r>
            <a:r>
              <a:rPr lang="zh-CN" altLang="en-US" sz="1800" smtClean="0">
                <a:sym typeface="Huawei Sans" panose="020C0503030203020204" pitchFamily="34" charset="0"/>
              </a:rPr>
              <a:t>地址是静态分配时，通过</a:t>
            </a:r>
            <a:r>
              <a:rPr lang="en-US" altLang="zh-CN" sz="1800" smtClean="0">
                <a:sym typeface="Huawei Sans" panose="020C0503030203020204" pitchFamily="34" charset="0"/>
              </a:rPr>
              <a:t>IPSG</a:t>
            </a:r>
            <a:r>
              <a:rPr lang="zh-CN" altLang="en-US" sz="1800" smtClean="0">
                <a:sym typeface="Huawei Sans" panose="020C0503030203020204" pitchFamily="34" charset="0"/>
              </a:rPr>
              <a:t>限制非法</a:t>
            </a:r>
            <a:r>
              <a:rPr lang="en-US" altLang="zh-CN" sz="1800" smtClean="0">
                <a:sym typeface="Huawei Sans" panose="020C0503030203020204" pitchFamily="34" charset="0"/>
              </a:rPr>
              <a:t>PC</a:t>
            </a:r>
            <a:r>
              <a:rPr lang="zh-CN" altLang="en-US" sz="1800" smtClean="0">
                <a:sym typeface="Huawei Sans" panose="020C0503030203020204" pitchFamily="34" charset="0"/>
              </a:rPr>
              <a:t>接入。</a:t>
            </a:r>
            <a:endParaRPr lang="en-US" altLang="zh-CN" sz="1800" smtClean="0">
              <a:sym typeface="Huawei Sans" panose="020C0503030203020204" pitchFamily="34" charset="0"/>
            </a:endParaRPr>
          </a:p>
          <a:p>
            <a:pPr lvl="1"/>
            <a:r>
              <a:rPr lang="zh-CN" altLang="en-US" sz="1600" smtClean="0">
                <a:sym typeface="Huawei Sans" panose="020C0503030203020204" pitchFamily="34" charset="0"/>
              </a:rPr>
              <a:t>外来人员自带电脑不能随意接入内网，防止内网资源泄露。</a:t>
            </a:r>
            <a:endParaRPr lang="zh-CN" altLang="en-US" sz="1600" dirty="0">
              <a:sym typeface="Huawei Sans" panose="020C0503030203020204" pitchFamily="34" charset="0"/>
            </a:endParaRPr>
          </a:p>
        </p:txBody>
      </p:sp>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68589" y="1636043"/>
            <a:ext cx="540000" cy="442800"/>
          </a:xfrm>
          <a:prstGeom prst="rect">
            <a:avLst/>
          </a:prstGeom>
        </p:spPr>
      </p:pic>
      <p:pic>
        <p:nvPicPr>
          <p:cNvPr id="5" name="图片 4"/>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2968589" y="2410639"/>
            <a:ext cx="540000" cy="442800"/>
          </a:xfrm>
          <a:prstGeom prst="rect">
            <a:avLst/>
          </a:prstGeom>
        </p:spPr>
      </p:pic>
      <p:pic>
        <p:nvPicPr>
          <p:cNvPr id="7" name="图片 6" descr="PC.png"/>
          <p:cNvPicPr>
            <a:picLocks noChangeAspect="1"/>
          </p:cNvPicPr>
          <p:nvPr/>
        </p:nvPicPr>
        <p:blipFill>
          <a:blip r:embed="rId5" cstate="print"/>
          <a:stretch>
            <a:fillRect/>
          </a:stretch>
        </p:blipFill>
        <p:spPr bwMode="gray">
          <a:xfrm>
            <a:off x="607743" y="4503164"/>
            <a:ext cx="539063" cy="414000"/>
          </a:xfrm>
          <a:prstGeom prst="rect">
            <a:avLst/>
          </a:prstGeom>
        </p:spPr>
      </p:pic>
      <p:pic>
        <p:nvPicPr>
          <p:cNvPr id="9" name="图片 8" descr="PC.png"/>
          <p:cNvPicPr>
            <a:picLocks noChangeAspect="1"/>
          </p:cNvPicPr>
          <p:nvPr/>
        </p:nvPicPr>
        <p:blipFill>
          <a:blip r:embed="rId5" cstate="print"/>
          <a:stretch>
            <a:fillRect/>
          </a:stretch>
        </p:blipFill>
        <p:spPr bwMode="gray">
          <a:xfrm>
            <a:off x="1491815" y="4503164"/>
            <a:ext cx="539063" cy="414000"/>
          </a:xfrm>
          <a:prstGeom prst="rect">
            <a:avLst/>
          </a:prstGeom>
        </p:spPr>
      </p:pic>
      <p:pic>
        <p:nvPicPr>
          <p:cNvPr id="10" name="图片 9" descr="PC.png"/>
          <p:cNvPicPr>
            <a:picLocks noChangeAspect="1"/>
          </p:cNvPicPr>
          <p:nvPr/>
        </p:nvPicPr>
        <p:blipFill>
          <a:blip r:embed="rId5" cstate="print"/>
          <a:stretch>
            <a:fillRect/>
          </a:stretch>
        </p:blipFill>
        <p:spPr bwMode="gray">
          <a:xfrm>
            <a:off x="3599396" y="4480166"/>
            <a:ext cx="539063" cy="414000"/>
          </a:xfrm>
          <a:prstGeom prst="rect">
            <a:avLst/>
          </a:prstGeom>
        </p:spPr>
      </p:pic>
      <p:pic>
        <p:nvPicPr>
          <p:cNvPr id="11" name="图片 10" descr="PC.png"/>
          <p:cNvPicPr>
            <a:picLocks noChangeAspect="1"/>
          </p:cNvPicPr>
          <p:nvPr/>
        </p:nvPicPr>
        <p:blipFill>
          <a:blip r:embed="rId5" cstate="print"/>
          <a:stretch>
            <a:fillRect/>
          </a:stretch>
        </p:blipFill>
        <p:spPr bwMode="gray">
          <a:xfrm>
            <a:off x="4454599" y="4503164"/>
            <a:ext cx="539063" cy="414000"/>
          </a:xfrm>
          <a:prstGeom prst="rect">
            <a:avLst/>
          </a:prstGeom>
        </p:spPr>
      </p:pic>
      <p:pic>
        <p:nvPicPr>
          <p:cNvPr id="12" name="图片 1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bwMode="gray">
          <a:xfrm>
            <a:off x="2769247" y="1114370"/>
            <a:ext cx="938683" cy="589407"/>
          </a:xfrm>
          <a:prstGeom prst="rect">
            <a:avLst/>
          </a:prstGeom>
        </p:spPr>
      </p:pic>
      <p:sp>
        <p:nvSpPr>
          <p:cNvPr id="13" name="文本框 12"/>
          <p:cNvSpPr txBox="1"/>
          <p:nvPr/>
        </p:nvSpPr>
        <p:spPr bwMode="gray">
          <a:xfrm>
            <a:off x="2779471" y="1260977"/>
            <a:ext cx="928459" cy="338554"/>
          </a:xfrm>
          <a:prstGeom prst="rect">
            <a:avLst/>
          </a:prstGeom>
          <a:noFill/>
          <a:ln>
            <a:noFill/>
          </a:ln>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5" name="直接连接符 14"/>
          <p:cNvCxnSpPr>
            <a:stCxn id="4" idx="2"/>
            <a:endCxn id="5" idx="0"/>
          </p:cNvCxnSpPr>
          <p:nvPr/>
        </p:nvCxnSpPr>
        <p:spPr bwMode="gray">
          <a:xfrm>
            <a:off x="3238589" y="2078843"/>
            <a:ext cx="0" cy="331796"/>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5" idx="2"/>
            <a:endCxn id="6" idx="0"/>
          </p:cNvCxnSpPr>
          <p:nvPr/>
        </p:nvCxnSpPr>
        <p:spPr bwMode="gray">
          <a:xfrm flipH="1">
            <a:off x="1757289" y="2853439"/>
            <a:ext cx="1481300" cy="45332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5" idx="2"/>
            <a:endCxn id="8" idx="0"/>
          </p:cNvCxnSpPr>
          <p:nvPr/>
        </p:nvCxnSpPr>
        <p:spPr bwMode="gray">
          <a:xfrm>
            <a:off x="3238589" y="2853439"/>
            <a:ext cx="1480483" cy="45332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endCxn id="7" idx="0"/>
          </p:cNvCxnSpPr>
          <p:nvPr/>
        </p:nvCxnSpPr>
        <p:spPr bwMode="gray">
          <a:xfrm flipH="1">
            <a:off x="877275" y="3528160"/>
            <a:ext cx="890794" cy="97500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endCxn id="9" idx="0"/>
          </p:cNvCxnSpPr>
          <p:nvPr/>
        </p:nvCxnSpPr>
        <p:spPr bwMode="gray">
          <a:xfrm>
            <a:off x="1759649" y="3528160"/>
            <a:ext cx="1698" cy="97500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a:endCxn id="10" idx="0"/>
          </p:cNvCxnSpPr>
          <p:nvPr/>
        </p:nvCxnSpPr>
        <p:spPr bwMode="gray">
          <a:xfrm flipH="1">
            <a:off x="3868928" y="3528160"/>
            <a:ext cx="850144" cy="952006"/>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a:endCxn id="11" idx="0"/>
          </p:cNvCxnSpPr>
          <p:nvPr/>
        </p:nvCxnSpPr>
        <p:spPr bwMode="gray">
          <a:xfrm>
            <a:off x="4710828" y="3528160"/>
            <a:ext cx="13303" cy="97500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bwMode="gray">
          <a:xfrm>
            <a:off x="1752216" y="3528160"/>
            <a:ext cx="889319" cy="975004"/>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bwMode="gray">
          <a:xfrm>
            <a:off x="4718603" y="3519715"/>
            <a:ext cx="873786" cy="969049"/>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4449072" y="3306760"/>
            <a:ext cx="540000" cy="442800"/>
          </a:xfrm>
          <a:prstGeom prst="rect">
            <a:avLst/>
          </a:prstGeom>
        </p:spPr>
      </p:pic>
      <p:pic>
        <p:nvPicPr>
          <p:cNvPr id="6" name="图片 5"/>
          <p:cNvPicPr>
            <a:picLocks/>
          </p:cNvPicPr>
          <p:nvPr/>
        </p:nvPicPr>
        <p:blipFill>
          <a:blip r:embed="rId7" cstate="print">
            <a:extLst>
              <a:ext uri="{28A0092B-C50C-407E-A947-70E740481C1C}">
                <a14:useLocalDpi xmlns:a14="http://schemas.microsoft.com/office/drawing/2010/main" val="0"/>
              </a:ext>
            </a:extLst>
          </a:blip>
          <a:stretch>
            <a:fillRect/>
          </a:stretch>
        </p:blipFill>
        <p:spPr bwMode="gray">
          <a:xfrm>
            <a:off x="1487289" y="3306760"/>
            <a:ext cx="540000" cy="442800"/>
          </a:xfrm>
          <a:prstGeom prst="rect">
            <a:avLst/>
          </a:prstGeom>
        </p:spPr>
      </p:pic>
      <p:sp>
        <p:nvSpPr>
          <p:cNvPr id="79" name="椭圆 78"/>
          <p:cNvSpPr>
            <a:spLocks noChangeAspect="1"/>
          </p:cNvSpPr>
          <p:nvPr/>
        </p:nvSpPr>
        <p:spPr bwMode="gray">
          <a:xfrm flipV="1">
            <a:off x="1508551" y="3695110"/>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0" name="椭圆 79"/>
          <p:cNvSpPr>
            <a:spLocks noChangeAspect="1"/>
          </p:cNvSpPr>
          <p:nvPr/>
        </p:nvSpPr>
        <p:spPr bwMode="gray">
          <a:xfrm flipV="1">
            <a:off x="1713619" y="3690005"/>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1" name="椭圆 80"/>
          <p:cNvSpPr>
            <a:spLocks noChangeAspect="1"/>
          </p:cNvSpPr>
          <p:nvPr/>
        </p:nvSpPr>
        <p:spPr bwMode="gray">
          <a:xfrm flipV="1">
            <a:off x="1897127" y="3697599"/>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2" name="椭圆 81"/>
          <p:cNvSpPr>
            <a:spLocks noChangeAspect="1"/>
          </p:cNvSpPr>
          <p:nvPr/>
        </p:nvSpPr>
        <p:spPr bwMode="gray">
          <a:xfrm flipV="1">
            <a:off x="4471051" y="3691250"/>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3" name="椭圆 82"/>
          <p:cNvSpPr>
            <a:spLocks noChangeAspect="1"/>
          </p:cNvSpPr>
          <p:nvPr/>
        </p:nvSpPr>
        <p:spPr bwMode="gray">
          <a:xfrm flipV="1">
            <a:off x="4660266" y="3691250"/>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4" name="椭圆 83"/>
          <p:cNvSpPr>
            <a:spLocks noChangeAspect="1"/>
          </p:cNvSpPr>
          <p:nvPr/>
        </p:nvSpPr>
        <p:spPr bwMode="gray">
          <a:xfrm flipV="1">
            <a:off x="4876210" y="3691250"/>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5" name="椭圆 84"/>
          <p:cNvSpPr>
            <a:spLocks noChangeAspect="1"/>
          </p:cNvSpPr>
          <p:nvPr/>
        </p:nvSpPr>
        <p:spPr bwMode="gray">
          <a:xfrm flipV="1">
            <a:off x="1727560" y="3237766"/>
            <a:ext cx="108899" cy="108899"/>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6" name="椭圆 85"/>
          <p:cNvSpPr>
            <a:spLocks noChangeAspect="1"/>
          </p:cNvSpPr>
          <p:nvPr/>
        </p:nvSpPr>
        <p:spPr bwMode="gray">
          <a:xfrm flipV="1">
            <a:off x="4656378" y="3234361"/>
            <a:ext cx="108899" cy="108899"/>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8" name="椭圆 87"/>
          <p:cNvSpPr>
            <a:spLocks noChangeAspect="1"/>
          </p:cNvSpPr>
          <p:nvPr/>
        </p:nvSpPr>
        <p:spPr bwMode="gray">
          <a:xfrm flipV="1">
            <a:off x="4406798" y="5861926"/>
            <a:ext cx="108899" cy="108899"/>
          </a:xfrm>
          <a:prstGeom prst="ellipse">
            <a:avLst/>
          </a:prstGeom>
          <a:solidFill>
            <a:srgbClr val="FDD351"/>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9" name="文本框 88"/>
          <p:cNvSpPr txBox="1"/>
          <p:nvPr/>
        </p:nvSpPr>
        <p:spPr bwMode="gray">
          <a:xfrm>
            <a:off x="4635344" y="5761610"/>
            <a:ext cx="1460656"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使能</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IPSG</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接口</a:t>
            </a:r>
          </a:p>
        </p:txBody>
      </p:sp>
      <p:sp>
        <p:nvSpPr>
          <p:cNvPr id="91" name="文本框 90"/>
          <p:cNvSpPr txBox="1"/>
          <p:nvPr/>
        </p:nvSpPr>
        <p:spPr bwMode="gray">
          <a:xfrm>
            <a:off x="4646914" y="5324373"/>
            <a:ext cx="902811" cy="307777"/>
          </a:xfrm>
          <a:prstGeom prst="rect">
            <a:avLst/>
          </a:prstGeom>
          <a:noFill/>
          <a:ln>
            <a:noFill/>
          </a:ln>
        </p:spPr>
        <p:txBody>
          <a:bodyPr wrap="none" rtlCol="0">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信任接口</a:t>
            </a:r>
          </a:p>
        </p:txBody>
      </p:sp>
      <p:sp>
        <p:nvSpPr>
          <p:cNvPr id="90" name="椭圆 89"/>
          <p:cNvSpPr>
            <a:spLocks noChangeAspect="1"/>
          </p:cNvSpPr>
          <p:nvPr/>
        </p:nvSpPr>
        <p:spPr bwMode="gray">
          <a:xfrm flipV="1">
            <a:off x="4406798" y="5423813"/>
            <a:ext cx="108899" cy="108899"/>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algn="ctr" fontAlgn="auto">
              <a:spcBef>
                <a:spcPts val="0"/>
              </a:spcBef>
              <a:spcAft>
                <a:spcPts val="0"/>
              </a:spcAft>
            </a:pPr>
            <a:endParaRPr lang="zh-CN" altLang="en-US" sz="1400" b="1" dirty="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6" name="文本框 95"/>
          <p:cNvSpPr txBox="1"/>
          <p:nvPr/>
        </p:nvSpPr>
        <p:spPr bwMode="gray">
          <a:xfrm>
            <a:off x="2599658" y="3385418"/>
            <a:ext cx="1213905" cy="358496"/>
          </a:xfrm>
          <a:prstGeom prst="rect">
            <a:avLst/>
          </a:prstGeom>
          <a:solidFill>
            <a:srgbClr val="94DAE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fontAlgn="auto">
              <a:lnSpc>
                <a:spcPts val="2200"/>
              </a:lnSpc>
              <a:spcBef>
                <a:spcPts val="0"/>
              </a:spcBef>
              <a:spcAft>
                <a:spcPts val="0"/>
              </a:spcAft>
              <a:defRPr sz="1600" i="1">
                <a:solidFill>
                  <a:schemeClr val="accent2"/>
                </a:solidFill>
                <a:latin typeface="Huawei Sans" panose="020C0503030203020204" pitchFamily="34" charset="0"/>
                <a:ea typeface="方正兰亭黑简体" panose="02000000000000000000" pitchFamily="2"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i="0" dirty="0">
                <a:solidFill>
                  <a:schemeClr val="tx1"/>
                </a:solidFill>
                <a:sym typeface="Huawei Sans" panose="020C0503030203020204" pitchFamily="34" charset="0"/>
              </a:rPr>
              <a:t>接入交换机</a:t>
            </a:r>
          </a:p>
        </p:txBody>
      </p:sp>
      <p:sp>
        <p:nvSpPr>
          <p:cNvPr id="14" name="矩形 13"/>
          <p:cNvSpPr/>
          <p:nvPr/>
        </p:nvSpPr>
        <p:spPr bwMode="gray">
          <a:xfrm>
            <a:off x="587771" y="4962368"/>
            <a:ext cx="453970" cy="276999"/>
          </a:xfrm>
          <a:prstGeom prst="rect">
            <a:avLst/>
          </a:prstGeom>
        </p:spPr>
        <p:txBody>
          <a:bodyPr wrap="none">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a:t>
            </a:r>
            <a:r>
              <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1478566" y="4962368"/>
            <a:ext cx="453970" cy="276999"/>
          </a:xfrm>
          <a:prstGeom prst="rect">
            <a:avLst/>
          </a:prstGeom>
        </p:spPr>
        <p:txBody>
          <a:bodyPr wrap="none">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2362151" y="4962368"/>
            <a:ext cx="453970" cy="276999"/>
          </a:xfrm>
          <a:prstGeom prst="rect">
            <a:avLst/>
          </a:prstGeom>
        </p:spPr>
        <p:txBody>
          <a:bodyPr wrap="none">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PC3</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8" name="矩形 47"/>
          <p:cNvSpPr/>
          <p:nvPr/>
        </p:nvSpPr>
        <p:spPr bwMode="gray">
          <a:xfrm>
            <a:off x="3542108" y="4932080"/>
            <a:ext cx="453970" cy="276999"/>
          </a:xfrm>
          <a:prstGeom prst="rect">
            <a:avLst/>
          </a:prstGeom>
        </p:spPr>
        <p:txBody>
          <a:bodyPr wrap="none">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4432903" y="4932080"/>
            <a:ext cx="453970" cy="276999"/>
          </a:xfrm>
          <a:prstGeom prst="rect">
            <a:avLst/>
          </a:prstGeom>
        </p:spPr>
        <p:txBody>
          <a:bodyPr wrap="none">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PC5</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矩形 49"/>
          <p:cNvSpPr/>
          <p:nvPr/>
        </p:nvSpPr>
        <p:spPr bwMode="gray">
          <a:xfrm>
            <a:off x="5316488" y="4932080"/>
            <a:ext cx="453970" cy="276999"/>
          </a:xfrm>
          <a:prstGeom prst="rect">
            <a:avLst/>
          </a:prstGeom>
        </p:spPr>
        <p:txBody>
          <a:bodyPr wrap="none">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PC6</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7" name="图片 46" descr="PC.png"/>
          <p:cNvPicPr>
            <a:picLocks noChangeAspect="1"/>
          </p:cNvPicPr>
          <p:nvPr/>
        </p:nvPicPr>
        <p:blipFill>
          <a:blip r:embed="rId5" cstate="print"/>
          <a:stretch>
            <a:fillRect/>
          </a:stretch>
        </p:blipFill>
        <p:spPr bwMode="gray">
          <a:xfrm>
            <a:off x="2325067" y="4503164"/>
            <a:ext cx="539063" cy="414000"/>
          </a:xfrm>
          <a:prstGeom prst="rect">
            <a:avLst/>
          </a:prstGeom>
        </p:spPr>
      </p:pic>
      <p:pic>
        <p:nvPicPr>
          <p:cNvPr id="51" name="图片 50" descr="PC.png"/>
          <p:cNvPicPr>
            <a:picLocks noChangeAspect="1"/>
          </p:cNvPicPr>
          <p:nvPr/>
        </p:nvPicPr>
        <p:blipFill>
          <a:blip r:embed="rId5" cstate="print"/>
          <a:stretch>
            <a:fillRect/>
          </a:stretch>
        </p:blipFill>
        <p:spPr bwMode="gray">
          <a:xfrm>
            <a:off x="5296500" y="4503164"/>
            <a:ext cx="539063" cy="414000"/>
          </a:xfrm>
          <a:prstGeom prst="rect">
            <a:avLst/>
          </a:prstGeom>
        </p:spPr>
      </p:pic>
    </p:spTree>
    <p:extLst>
      <p:ext uri="{BB962C8B-B14F-4D97-AF65-F5344CB8AC3E}">
        <p14:creationId xmlns:p14="http://schemas.microsoft.com/office/powerpoint/2010/main" val="44404141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en-US" altLang="zh-CN" dirty="0">
                <a:sym typeface="Huawei Sans" panose="020C0503030203020204" pitchFamily="34" charset="0"/>
              </a:rPr>
              <a:t>IPSG</a:t>
            </a:r>
            <a:r>
              <a:rPr lang="zh-CN" altLang="en-US" dirty="0">
                <a:sym typeface="Huawei Sans" panose="020C0503030203020204" pitchFamily="34" charset="0"/>
              </a:rPr>
              <a:t>配置命令介绍</a:t>
            </a:r>
          </a:p>
        </p:txBody>
      </p:sp>
      <p:sp>
        <p:nvSpPr>
          <p:cNvPr id="4" name="矩形 3"/>
          <p:cNvSpPr/>
          <p:nvPr/>
        </p:nvSpPr>
        <p:spPr bwMode="gray">
          <a:xfrm>
            <a:off x="1031893" y="3157659"/>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ip source check user-bind </a:t>
            </a:r>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enable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5" name="矩形 4"/>
          <p:cNvSpPr/>
          <p:nvPr/>
        </p:nvSpPr>
        <p:spPr bwMode="gray">
          <a:xfrm>
            <a:off x="551382" y="1130487"/>
            <a:ext cx="11089232" cy="338554"/>
          </a:xfrm>
          <a:prstGeom prst="rect">
            <a:avLst/>
          </a:prstGeom>
        </p:spPr>
        <p:txBody>
          <a:bodyPr wrap="square">
            <a:spAutoFit/>
          </a:bodyPr>
          <a:lstStyle/>
          <a:p>
            <a:pPr marL="342900" indent="-342900" fontAlgn="auto">
              <a:buFont typeface="+mj-lt"/>
              <a:buAutoNum type="arabicPeriod"/>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配置静态用户绑定表项</a:t>
            </a:r>
          </a:p>
        </p:txBody>
      </p:sp>
      <p:sp>
        <p:nvSpPr>
          <p:cNvPr id="6" name="矩形 5"/>
          <p:cNvSpPr/>
          <p:nvPr/>
        </p:nvSpPr>
        <p:spPr bwMode="gray">
          <a:xfrm>
            <a:off x="1031889" y="2290969"/>
            <a:ext cx="10608699" cy="377732"/>
          </a:xfrm>
          <a:prstGeom prst="rect">
            <a:avLst/>
          </a:prstGeom>
        </p:spPr>
        <p:txBody>
          <a:bodyPr wrap="square">
            <a:spAutoFit/>
          </a:bodyPr>
          <a:lstStyle/>
          <a:p>
            <a:pPr fontAlgn="auto">
              <a:lnSpc>
                <a:spcPts val="2400"/>
              </a:lnSpc>
            </a:pP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IPSG</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按照静态绑定表项进行完全</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匹配。</a:t>
            </a:r>
            <a:endPar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3" name="矩形 12"/>
          <p:cNvSpPr/>
          <p:nvPr/>
        </p:nvSpPr>
        <p:spPr bwMode="gray">
          <a:xfrm>
            <a:off x="1031914" y="1460391"/>
            <a:ext cx="10608699" cy="830997"/>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user-bind static { { { ip-address | ipv6-address } {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start-ip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to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end-ip</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 </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&amp;&lt;1-10&gt;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ipv6-prefix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prefix/prefix-length</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 mac-address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mac-address</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 [ interface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interface-type interface-number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vlan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vlan-id</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ce-vlan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ce-vlan-id</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 ] ]</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5" name="矩形 14"/>
          <p:cNvSpPr/>
          <p:nvPr/>
        </p:nvSpPr>
        <p:spPr bwMode="gray">
          <a:xfrm>
            <a:off x="1031946" y="4511028"/>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GigabitEthernet0/0/1</a:t>
            </a:r>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ip source check user-bind alarm enable</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17" name="矩形 16"/>
          <p:cNvSpPr/>
          <p:nvPr/>
        </p:nvSpPr>
        <p:spPr bwMode="gray">
          <a:xfrm>
            <a:off x="551413" y="2735115"/>
            <a:ext cx="11089232" cy="338554"/>
          </a:xfrm>
          <a:prstGeom prst="rect">
            <a:avLst/>
          </a:prstGeom>
        </p:spPr>
        <p:txBody>
          <a:bodyPr wrap="square">
            <a:spAutoFit/>
          </a:bodyPr>
          <a:lstStyle/>
          <a:p>
            <a:pPr marL="342900" indent="-342900" fontAlgn="auto">
              <a:buFont typeface="+mj-lt"/>
              <a:buAutoNum type="arabicPeriod" startAt="2"/>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IPSG</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功能</a:t>
            </a:r>
          </a:p>
        </p:txBody>
      </p:sp>
      <p:sp>
        <p:nvSpPr>
          <p:cNvPr id="18" name="矩形 17"/>
          <p:cNvSpPr/>
          <p:nvPr/>
        </p:nvSpPr>
        <p:spPr bwMode="gray">
          <a:xfrm>
            <a:off x="551356" y="4172474"/>
            <a:ext cx="11089232" cy="338554"/>
          </a:xfrm>
          <a:prstGeom prst="rect">
            <a:avLst/>
          </a:prstGeom>
        </p:spPr>
        <p:txBody>
          <a:bodyPr wrap="square">
            <a:spAutoFit/>
          </a:bodyPr>
          <a:lstStyle/>
          <a:p>
            <a:pPr marL="342900" indent="-342900" fontAlgn="auto">
              <a:buFont typeface="+mj-lt"/>
              <a:buAutoNum type="arabicPeriod" startAt="3"/>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使能</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报文检查告警功能</a:t>
            </a:r>
          </a:p>
        </p:txBody>
      </p:sp>
      <p:sp>
        <p:nvSpPr>
          <p:cNvPr id="19" name="矩形 18"/>
          <p:cNvSpPr/>
          <p:nvPr/>
        </p:nvSpPr>
        <p:spPr bwMode="gray">
          <a:xfrm>
            <a:off x="1031947" y="5408481"/>
            <a:ext cx="10608699" cy="338554"/>
          </a:xfrm>
          <a:prstGeom prst="rect">
            <a:avLst/>
          </a:prstGeom>
          <a:solidFill>
            <a:schemeClr val="bg1">
              <a:lumMod val="85000"/>
            </a:schemeClr>
          </a:solidFill>
          <a:ln>
            <a:noFill/>
          </a:ln>
        </p:spPr>
        <p:txBody>
          <a:bodyPr wrap="square">
            <a:spAutoFit/>
          </a:bodyPr>
          <a:lstStyle/>
          <a:p>
            <a:pPr fontAlgn="base"/>
            <a:r>
              <a:rPr lang="en-US" altLang="zh-CN" sz="1600" dirty="0" smtClean="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Huawei-GigabitEthernet0/0/1] </a:t>
            </a:r>
            <a:r>
              <a:rPr lang="en-US" altLang="zh-CN" sz="1600" b="1" dirty="0">
                <a:latin typeface="Huawei Sans" panose="020C0503030203020204" pitchFamily="34" charset="0"/>
                <a:ea typeface="方正兰亭黑简体" panose="02000000000000000000" pitchFamily="2" charset="-122"/>
                <a:sym typeface="Huawei Sans" panose="020C0503030203020204" pitchFamily="34" charset="0"/>
              </a:rPr>
              <a:t>ip source check user-bind alarm threshold </a:t>
            </a:r>
            <a:r>
              <a:rPr lang="en-US" altLang="zh-CN" sz="1600" i="1" dirty="0">
                <a:latin typeface="Huawei Sans" panose="020C0503030203020204" pitchFamily="34" charset="0"/>
                <a:ea typeface="方正兰亭黑简体" panose="02000000000000000000" pitchFamily="2" charset="-122"/>
                <a:sym typeface="Huawei Sans" panose="020C0503030203020204" pitchFamily="34" charset="0"/>
              </a:rPr>
              <a:t>threshold</a:t>
            </a:r>
            <a:endParaRPr lang="zh-CN" altLang="en-US" sz="1600" i="1"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endParaRPr>
          </a:p>
        </p:txBody>
      </p:sp>
      <p:sp>
        <p:nvSpPr>
          <p:cNvPr id="20" name="矩形 19"/>
          <p:cNvSpPr/>
          <p:nvPr/>
        </p:nvSpPr>
        <p:spPr bwMode="gray">
          <a:xfrm>
            <a:off x="551414" y="4990108"/>
            <a:ext cx="11089232" cy="338554"/>
          </a:xfrm>
          <a:prstGeom prst="rect">
            <a:avLst/>
          </a:prstGeom>
        </p:spPr>
        <p:txBody>
          <a:bodyPr wrap="square">
            <a:spAutoFit/>
          </a:bodyPr>
          <a:lstStyle/>
          <a:p>
            <a:pPr marL="342900" indent="-342900" fontAlgn="auto">
              <a:buFont typeface="+mj-lt"/>
              <a:buAutoNum type="arabicPeriod" startAt="4"/>
            </a:pP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配置</a:t>
            </a:r>
            <a:r>
              <a:rPr lang="en-US" altLang="zh-CN"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报文检查告警阈值</a:t>
            </a:r>
          </a:p>
        </p:txBody>
      </p:sp>
      <p:sp>
        <p:nvSpPr>
          <p:cNvPr id="16" name="矩形 15"/>
          <p:cNvSpPr/>
          <p:nvPr/>
        </p:nvSpPr>
        <p:spPr bwMode="gray">
          <a:xfrm>
            <a:off x="1031889" y="5738506"/>
            <a:ext cx="10608699" cy="377732"/>
          </a:xfrm>
          <a:prstGeom prst="rect">
            <a:avLst/>
          </a:prstGeom>
        </p:spPr>
        <p:txBody>
          <a:bodyPr wrap="square">
            <a:spAutoFit/>
          </a:bodyPr>
          <a:lstStyle/>
          <a:p>
            <a:pPr fontAlgn="auto">
              <a:lnSpc>
                <a:spcPts val="2400"/>
              </a:lnSpc>
            </a:pP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配置了</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报文检查告警功能后，当丢弃的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报文超过告警阈值时，会产生告警提醒用户。</a:t>
            </a:r>
          </a:p>
        </p:txBody>
      </p:sp>
      <p:sp>
        <p:nvSpPr>
          <p:cNvPr id="14" name="矩形 13"/>
          <p:cNvSpPr/>
          <p:nvPr/>
        </p:nvSpPr>
        <p:spPr bwMode="gray">
          <a:xfrm>
            <a:off x="1031889" y="3658604"/>
            <a:ext cx="10608699" cy="377732"/>
          </a:xfrm>
          <a:prstGeom prst="rect">
            <a:avLst/>
          </a:prstGeom>
        </p:spPr>
        <p:txBody>
          <a:bodyPr wrap="square">
            <a:spAutoFit/>
          </a:bodyPr>
          <a:lstStyle/>
          <a:p>
            <a:pPr fontAlgn="auto">
              <a:lnSpc>
                <a:spcPts val="2400"/>
              </a:lnSpc>
            </a:pP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使</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能接口或者</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的</a:t>
            </a:r>
            <a:r>
              <a:rPr lang="en-US" altLang="zh-CN" sz="16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600" dirty="0">
                <a:latin typeface="Huawei Sans" panose="020C0503030203020204" pitchFamily="34" charset="0"/>
                <a:ea typeface="方正兰亭黑简体" panose="02000000000000000000" pitchFamily="2" charset="-122"/>
                <a:sym typeface="Huawei Sans" panose="020C0503030203020204" pitchFamily="34" charset="0"/>
              </a:rPr>
              <a:t>报文检查</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功能，</a:t>
            </a:r>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VLAN</a:t>
            </a:r>
            <a:r>
              <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rPr>
              <a:t>视图配置与接口视图一致。</a:t>
            </a:r>
            <a:endParaRPr lang="zh-CN" altLang="en-US" sz="16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195632711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圆角矩形 25"/>
          <p:cNvSpPr/>
          <p:nvPr/>
        </p:nvSpPr>
        <p:spPr bwMode="gray">
          <a:xfrm>
            <a:off x="4018753" y="3120941"/>
            <a:ext cx="1850844" cy="945967"/>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圆角矩形 24"/>
          <p:cNvSpPr/>
          <p:nvPr/>
        </p:nvSpPr>
        <p:spPr bwMode="gray">
          <a:xfrm>
            <a:off x="1124712" y="3120941"/>
            <a:ext cx="1850844" cy="941486"/>
          </a:xfrm>
          <a:prstGeom prst="roundRect">
            <a:avLst>
              <a:gd name="adj" fmla="val 15000"/>
            </a:avLst>
          </a:prstGeom>
          <a:solidFill>
            <a:srgbClr val="BEE9EE"/>
          </a:solidFill>
          <a:ln w="12700" cap="flat" cmpd="sng" algn="ctr">
            <a:noFill/>
            <a:prstDash val="solid"/>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dirty="0">
              <a:solidFill>
                <a:srgbClr val="1D1D1A"/>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en-US" altLang="zh-CN" smtClean="0">
                <a:sym typeface="Huawei Sans" panose="020C0503030203020204" pitchFamily="34" charset="0"/>
              </a:rPr>
              <a:t>IPSG</a:t>
            </a:r>
            <a:r>
              <a:rPr lang="zh-CN" altLang="en-US" smtClean="0">
                <a:sym typeface="Huawei Sans" panose="020C0503030203020204" pitchFamily="34" charset="0"/>
              </a:rPr>
              <a:t>配置举例</a:t>
            </a:r>
            <a:endParaRPr lang="zh-CN" altLang="en-US" dirty="0">
              <a:sym typeface="Huawei Sans" panose="020C0503030203020204" pitchFamily="34" charset="0"/>
            </a:endParaRPr>
          </a:p>
        </p:txBody>
      </p:sp>
      <p:sp>
        <p:nvSpPr>
          <p:cNvPr id="3" name="文本占位符 2"/>
          <p:cNvSpPr>
            <a:spLocks noGrp="1"/>
          </p:cNvSpPr>
          <p:nvPr>
            <p:ph type="body" sz="quarter" idx="10"/>
          </p:nvPr>
        </p:nvSpPr>
        <p:spPr bwMode="gray">
          <a:xfrm>
            <a:off x="455613" y="4168504"/>
            <a:ext cx="5640388" cy="1280089"/>
          </a:xfrm>
        </p:spPr>
        <p:txBody>
          <a:bodyPr/>
          <a:lstStyle/>
          <a:p>
            <a:r>
              <a:rPr lang="zh-CN" altLang="en-US" sz="1600" dirty="0" smtClean="0">
                <a:sym typeface="Huawei Sans" panose="020C0503030203020204" pitchFamily="34" charset="0"/>
              </a:rPr>
              <a:t>如图所示：网络终端设备通过手工方式配置静态</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地址统一管理，通过在接入交换机上配置</a:t>
            </a:r>
            <a:r>
              <a:rPr lang="en-US" altLang="zh-CN" sz="1600" dirty="0" smtClean="0">
                <a:sym typeface="Huawei Sans" panose="020C0503030203020204" pitchFamily="34" charset="0"/>
              </a:rPr>
              <a:t>IPSG</a:t>
            </a:r>
            <a:r>
              <a:rPr lang="zh-CN" altLang="en-US" sz="1600" dirty="0" smtClean="0">
                <a:sym typeface="Huawei Sans" panose="020C0503030203020204" pitchFamily="34" charset="0"/>
              </a:rPr>
              <a:t>，防止主机私自更改</a:t>
            </a:r>
            <a:r>
              <a:rPr lang="en-US" altLang="zh-CN" sz="1600" dirty="0" smtClean="0">
                <a:sym typeface="Huawei Sans" panose="020C0503030203020204" pitchFamily="34" charset="0"/>
              </a:rPr>
              <a:t>IP</a:t>
            </a:r>
            <a:r>
              <a:rPr lang="zh-CN" altLang="en-US" sz="1600" dirty="0" smtClean="0">
                <a:sym typeface="Huawei Sans" panose="020C0503030203020204" pitchFamily="34" charset="0"/>
              </a:rPr>
              <a:t>地址非法获取访问网络权限。</a:t>
            </a:r>
            <a:endParaRPr lang="en-US" altLang="zh-CN" sz="1600" dirty="0" smtClean="0">
              <a:sym typeface="Huawei Sans" panose="020C0503030203020204" pitchFamily="34" charset="0"/>
            </a:endParaRPr>
          </a:p>
          <a:p>
            <a:pPr lvl="1"/>
            <a:r>
              <a:rPr lang="zh-CN" altLang="en-US" sz="1400" dirty="0" smtClean="0">
                <a:sym typeface="Huawei Sans" panose="020C0503030203020204" pitchFamily="34" charset="0"/>
              </a:rPr>
              <a:t>配置静态绑定表</a:t>
            </a:r>
            <a:endParaRPr lang="en-US" altLang="zh-CN" sz="1400" dirty="0" smtClean="0">
              <a:sym typeface="Huawei Sans" panose="020C0503030203020204" pitchFamily="34" charset="0"/>
            </a:endParaRPr>
          </a:p>
          <a:p>
            <a:pPr lvl="1"/>
            <a:r>
              <a:rPr lang="zh-CN" altLang="en-US" sz="1400" dirty="0" smtClean="0">
                <a:sym typeface="Huawei Sans" panose="020C0503030203020204" pitchFamily="34" charset="0"/>
              </a:rPr>
              <a:t>使能</a:t>
            </a:r>
            <a:r>
              <a:rPr lang="en-US" altLang="zh-CN" sz="1400" dirty="0" smtClean="0">
                <a:sym typeface="Huawei Sans" panose="020C0503030203020204" pitchFamily="34" charset="0"/>
              </a:rPr>
              <a:t>IPSG</a:t>
            </a:r>
            <a:r>
              <a:rPr lang="zh-CN" altLang="en-US" sz="1400" dirty="0" smtClean="0">
                <a:sym typeface="Huawei Sans" panose="020C0503030203020204" pitchFamily="34" charset="0"/>
              </a:rPr>
              <a:t>及告警上报功能</a:t>
            </a:r>
            <a:endParaRPr lang="zh-CN" altLang="en-US" sz="1400" dirty="0">
              <a:sym typeface="Huawei Sans" panose="020C0503030203020204" pitchFamily="34" charset="0"/>
            </a:endParaRPr>
          </a:p>
        </p:txBody>
      </p:sp>
      <p:grpSp>
        <p:nvGrpSpPr>
          <p:cNvPr id="74" name="组合 73"/>
          <p:cNvGrpSpPr/>
          <p:nvPr/>
        </p:nvGrpSpPr>
        <p:grpSpPr bwMode="gray">
          <a:xfrm>
            <a:off x="1070627" y="1391221"/>
            <a:ext cx="4745603" cy="2889137"/>
            <a:chOff x="1070627" y="1870183"/>
            <a:chExt cx="4745603" cy="2889137"/>
          </a:xfrm>
        </p:grpSpPr>
        <p:grpSp>
          <p:nvGrpSpPr>
            <p:cNvPr id="47" name="组合 46"/>
            <p:cNvGrpSpPr/>
            <p:nvPr/>
          </p:nvGrpSpPr>
          <p:grpSpPr bwMode="gray">
            <a:xfrm>
              <a:off x="1216955" y="1870183"/>
              <a:ext cx="3422556" cy="2250126"/>
              <a:chOff x="1269518" y="2443522"/>
              <a:chExt cx="3422556" cy="2250126"/>
            </a:xfrm>
          </p:grpSpPr>
          <p:pic>
            <p:nvPicPr>
              <p:cNvPr id="5" name="图片 4"/>
              <p:cNvPicPr>
                <a:picLocks/>
              </p:cNvPicPr>
              <p:nvPr/>
            </p:nvPicPr>
            <p:blipFill>
              <a:blip r:embed="rId3" cstate="print">
                <a:extLst>
                  <a:ext uri="{28A0092B-C50C-407E-A947-70E740481C1C}">
                    <a14:useLocalDpi xmlns:a14="http://schemas.microsoft.com/office/drawing/2010/main" val="0"/>
                  </a:ext>
                </a:extLst>
              </a:blip>
              <a:stretch>
                <a:fillRect/>
              </a:stretch>
            </p:blipFill>
            <p:spPr bwMode="gray">
              <a:xfrm>
                <a:off x="2971364" y="2516825"/>
                <a:ext cx="540000" cy="442800"/>
              </a:xfrm>
              <a:prstGeom prst="rect">
                <a:avLst/>
              </a:prstGeom>
            </p:spPr>
          </p:pic>
          <p:pic>
            <p:nvPicPr>
              <p:cNvPr id="6" name="图片 5" descr="PC.png"/>
              <p:cNvPicPr>
                <a:picLocks noChangeAspect="1"/>
              </p:cNvPicPr>
              <p:nvPr/>
            </p:nvPicPr>
            <p:blipFill>
              <a:blip r:embed="rId4" cstate="print"/>
              <a:stretch>
                <a:fillRect/>
              </a:stretch>
            </p:blipFill>
            <p:spPr bwMode="gray">
              <a:xfrm>
                <a:off x="1593034" y="4279648"/>
                <a:ext cx="539063" cy="414000"/>
              </a:xfrm>
              <a:prstGeom prst="rect">
                <a:avLst/>
              </a:prstGeom>
            </p:spPr>
          </p:pic>
          <p:pic>
            <p:nvPicPr>
              <p:cNvPr id="10" name="图片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bwMode="gray">
              <a:xfrm>
                <a:off x="1269518" y="2443522"/>
                <a:ext cx="938683" cy="589407"/>
              </a:xfrm>
              <a:prstGeom prst="rect">
                <a:avLst/>
              </a:prstGeom>
            </p:spPr>
          </p:pic>
          <p:sp>
            <p:nvSpPr>
              <p:cNvPr id="11" name="文本框 10"/>
              <p:cNvSpPr txBox="1"/>
              <p:nvPr/>
            </p:nvSpPr>
            <p:spPr bwMode="gray">
              <a:xfrm>
                <a:off x="1274227" y="2573453"/>
                <a:ext cx="928459" cy="338554"/>
              </a:xfrm>
              <a:prstGeom prst="rect">
                <a:avLst/>
              </a:prstGeom>
              <a:noFill/>
              <a:ln>
                <a:noFill/>
              </a:ln>
            </p:spPr>
            <p:txBody>
              <a:bodyPr wrap="none" rtlCol="0">
                <a:spAutoFit/>
              </a:bodyPr>
              <a:lstStyle/>
              <a:p>
                <a:r>
                  <a:rPr lang="en-US" altLang="zh-CN" sz="1600" dirty="0" smtClean="0">
                    <a:latin typeface="Huawei Sans" panose="020C0503030203020204" pitchFamily="34" charset="0"/>
                    <a:ea typeface="方正兰亭黑简体" panose="02000000000000000000" pitchFamily="2" charset="-122"/>
                    <a:sym typeface="Huawei Sans" panose="020C0503030203020204" pitchFamily="34" charset="0"/>
                  </a:rPr>
                  <a:t>Internet</a:t>
                </a:r>
                <a:endParaRPr lang="zh-CN" altLang="en-US" sz="16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a:stCxn id="10" idx="3"/>
                <a:endCxn id="5" idx="1"/>
              </p:cNvCxnSpPr>
              <p:nvPr/>
            </p:nvCxnSpPr>
            <p:spPr bwMode="gray">
              <a:xfrm flipV="1">
                <a:off x="2208201" y="2738225"/>
                <a:ext cx="763163" cy="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a:stCxn id="5" idx="2"/>
                <a:endCxn id="24" idx="0"/>
              </p:cNvCxnSpPr>
              <p:nvPr/>
            </p:nvCxnSpPr>
            <p:spPr bwMode="gray">
              <a:xfrm>
                <a:off x="3241364" y="2959625"/>
                <a:ext cx="6547" cy="35527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endCxn id="6" idx="0"/>
              </p:cNvCxnSpPr>
              <p:nvPr/>
            </p:nvCxnSpPr>
            <p:spPr bwMode="gray">
              <a:xfrm flipH="1">
                <a:off x="1862566" y="3747087"/>
                <a:ext cx="1250864" cy="532561"/>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bwMode="gray">
              <a:xfrm>
                <a:off x="3373197" y="3736478"/>
                <a:ext cx="1318877" cy="543170"/>
              </a:xfrm>
              <a:prstGeom prst="line">
                <a:avLst/>
              </a:prstGeom>
              <a:ln w="19050">
                <a:solidFill>
                  <a:srgbClr val="151515"/>
                </a:solidFill>
              </a:ln>
            </p:spPr>
            <p:style>
              <a:lnRef idx="1">
                <a:schemeClr val="accent1"/>
              </a:lnRef>
              <a:fillRef idx="0">
                <a:schemeClr val="accent1"/>
              </a:fillRef>
              <a:effectRef idx="0">
                <a:schemeClr val="accent1"/>
              </a:effectRef>
              <a:fontRef idx="minor">
                <a:schemeClr val="tx1"/>
              </a:fontRef>
            </p:style>
          </p:cxnSp>
          <p:pic>
            <p:nvPicPr>
              <p:cNvPr id="24" name="图片 23"/>
              <p:cNvPicPr>
                <a:picLocks/>
              </p:cNvPicPr>
              <p:nvPr/>
            </p:nvPicPr>
            <p:blipFill>
              <a:blip r:embed="rId6" cstate="print">
                <a:extLst>
                  <a:ext uri="{28A0092B-C50C-407E-A947-70E740481C1C}">
                    <a14:useLocalDpi xmlns:a14="http://schemas.microsoft.com/office/drawing/2010/main" val="0"/>
                  </a:ext>
                </a:extLst>
              </a:blip>
              <a:stretch>
                <a:fillRect/>
              </a:stretch>
            </p:blipFill>
            <p:spPr bwMode="gray">
              <a:xfrm>
                <a:off x="2977911" y="3314896"/>
                <a:ext cx="540000" cy="442800"/>
              </a:xfrm>
              <a:prstGeom prst="rect">
                <a:avLst/>
              </a:prstGeom>
            </p:spPr>
          </p:pic>
        </p:grpSp>
        <p:sp>
          <p:nvSpPr>
            <p:cNvPr id="54" name="文本框 53"/>
            <p:cNvSpPr txBox="1"/>
            <p:nvPr/>
          </p:nvSpPr>
          <p:spPr bwMode="gray">
            <a:xfrm>
              <a:off x="3441331" y="2042341"/>
              <a:ext cx="867545"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Switch2</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文本框 54"/>
            <p:cNvSpPr txBox="1"/>
            <p:nvPr/>
          </p:nvSpPr>
          <p:spPr bwMode="gray">
            <a:xfrm>
              <a:off x="3458801" y="2764396"/>
              <a:ext cx="867545" cy="307777"/>
            </a:xfrm>
            <a:prstGeom prst="rect">
              <a:avLst/>
            </a:prstGeom>
            <a:noFill/>
            <a:ln>
              <a:noFill/>
            </a:ln>
          </p:spPr>
          <p:txBody>
            <a:bodyPr wrap="none" rtlCol="0">
              <a:spAutoFit/>
            </a:bodyPr>
            <a:lstStyle/>
            <a:p>
              <a:r>
                <a:rPr lang="en-US" altLang="zh-CN" sz="1400" b="1" dirty="0" smtClean="0">
                  <a:latin typeface="Huawei Sans" panose="020C0503030203020204" pitchFamily="34" charset="0"/>
                  <a:ea typeface="方正兰亭黑简体" panose="02000000000000000000" pitchFamily="2" charset="-122"/>
                  <a:sym typeface="Huawei Sans" panose="020C0503030203020204" pitchFamily="34" charset="0"/>
                </a:rPr>
                <a:t>Switch1</a:t>
              </a:r>
              <a:endPar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文本框 56"/>
            <p:cNvSpPr txBox="1"/>
            <p:nvPr/>
          </p:nvSpPr>
          <p:spPr bwMode="gray">
            <a:xfrm>
              <a:off x="2099191" y="3030567"/>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GE0/0/1</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文本框 57"/>
            <p:cNvSpPr txBox="1"/>
            <p:nvPr/>
          </p:nvSpPr>
          <p:spPr bwMode="gray">
            <a:xfrm>
              <a:off x="3498133" y="3030567"/>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GE0/0/2</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文本框 58"/>
            <p:cNvSpPr txBox="1"/>
            <p:nvPr/>
          </p:nvSpPr>
          <p:spPr bwMode="gray">
            <a:xfrm>
              <a:off x="2471615" y="2481203"/>
              <a:ext cx="756938" cy="276999"/>
            </a:xfrm>
            <a:prstGeom prst="rect">
              <a:avLst/>
            </a:prstGeom>
            <a:noFill/>
            <a:ln>
              <a:noFill/>
            </a:ln>
          </p:spPr>
          <p:txBody>
            <a:bodyPr wrap="none" rtlCol="0">
              <a:spAutoFit/>
            </a:bodyPr>
            <a:lstStyle/>
            <a:p>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GE0/0/3</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文本框 62"/>
            <p:cNvSpPr txBox="1"/>
            <p:nvPr/>
          </p:nvSpPr>
          <p:spPr bwMode="gray">
            <a:xfrm>
              <a:off x="1070627" y="4080554"/>
              <a:ext cx="1726755" cy="646331"/>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IP:10.1.1.1/24</a:t>
              </a:r>
              <a:endParaRPr lang="en-US" altLang="zh-CN" sz="1200" b="1" dirty="0" smtClean="0">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MAC:5489-98C2-1486</a:t>
              </a:r>
            </a:p>
            <a:p>
              <a:pPr algn="ct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文本框 63"/>
            <p:cNvSpPr txBox="1"/>
            <p:nvPr/>
          </p:nvSpPr>
          <p:spPr bwMode="gray">
            <a:xfrm>
              <a:off x="4062224" y="4112989"/>
              <a:ext cx="1754006" cy="646331"/>
            </a:xfrm>
            <a:prstGeom prst="rect">
              <a:avLst/>
            </a:prstGeom>
            <a:noFill/>
            <a:ln>
              <a:noFill/>
            </a:ln>
          </p:spPr>
          <p:txBody>
            <a:bodyPr wrap="none" rtlCol="0">
              <a:spAutoFit/>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IP:10.1.1.10/24</a:t>
              </a:r>
            </a:p>
            <a:p>
              <a:pPr algn="ctr"/>
              <a:r>
                <a:rPr lang="en-US" altLang="zh-CN" sz="1200" dirty="0">
                  <a:latin typeface="Huawei Sans" panose="020C0503030203020204" pitchFamily="34" charset="0"/>
                  <a:ea typeface="方正兰亭黑简体" panose="02000000000000000000" pitchFamily="2" charset="-122"/>
                  <a:sym typeface="Huawei Sans" panose="020C0503030203020204" pitchFamily="34" charset="0"/>
                </a:rPr>
                <a:t>MAC:5489-98AB-22A7</a:t>
              </a:r>
            </a:p>
            <a:p>
              <a:pPr algn="ct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75" name="文本框 74"/>
          <p:cNvSpPr txBox="1"/>
          <p:nvPr/>
        </p:nvSpPr>
        <p:spPr bwMode="gray">
          <a:xfrm>
            <a:off x="6203950" y="1219265"/>
            <a:ext cx="1997663" cy="338554"/>
          </a:xfrm>
          <a:prstGeom prst="rect">
            <a:avLst/>
          </a:prstGeom>
          <a:noFill/>
          <a:ln>
            <a:noFill/>
          </a:ln>
        </p:spPr>
        <p:txBody>
          <a:bodyPr wrap="none" rtlCol="0">
            <a:spAutoFit/>
          </a:bodyPr>
          <a:lstStyle/>
          <a:p>
            <a:r>
              <a:rPr lang="en-US" altLang="zh-CN" sz="1600" b="1" dirty="0" smtClean="0">
                <a:latin typeface="Huawei Sans" panose="020C0503030203020204" pitchFamily="34" charset="0"/>
                <a:ea typeface="方正兰亭黑简体" panose="02000000000000000000" pitchFamily="2" charset="-122"/>
                <a:sym typeface="Huawei Sans" panose="020C0503030203020204" pitchFamily="34" charset="0"/>
              </a:rPr>
              <a:t>Switch1</a:t>
            </a:r>
            <a:r>
              <a:rPr lang="zh-CN" altLang="en-US" sz="1600" b="1" dirty="0" smtClean="0">
                <a:latin typeface="Huawei Sans" panose="020C0503030203020204" pitchFamily="34" charset="0"/>
                <a:ea typeface="方正兰亭黑简体" panose="02000000000000000000" pitchFamily="2" charset="-122"/>
                <a:sym typeface="Huawei Sans" panose="020C0503030203020204" pitchFamily="34" charset="0"/>
              </a:rPr>
              <a:t>配置如下：</a:t>
            </a:r>
          </a:p>
        </p:txBody>
      </p:sp>
      <p:sp>
        <p:nvSpPr>
          <p:cNvPr id="76" name="文本框 75"/>
          <p:cNvSpPr txBox="1"/>
          <p:nvPr/>
        </p:nvSpPr>
        <p:spPr bwMode="gray">
          <a:xfrm>
            <a:off x="6126041" y="1584449"/>
            <a:ext cx="5619872" cy="1938992"/>
          </a:xfrm>
          <a:prstGeom prst="rect">
            <a:avLst/>
          </a:prstGeom>
          <a:solidFill>
            <a:schemeClr val="bg1">
              <a:lumMod val="85000"/>
            </a:schemeClr>
          </a:solidFill>
          <a:ln>
            <a:noFill/>
          </a:ln>
        </p:spPr>
        <p:txBody>
          <a:bodyPr wrap="square" rtlCol="0">
            <a:spAutoFit/>
          </a:bodyPr>
          <a:lstStyle>
            <a:defPPr>
              <a:defRPr lang="en-US"/>
            </a:defPPr>
            <a:lvl1pPr fontAlgn="auto">
              <a:lnSpc>
                <a:spcPts val="2400"/>
              </a:lnSpc>
              <a:spcBef>
                <a:spcPts val="0"/>
              </a:spcBef>
              <a:spcAft>
                <a:spcPts val="0"/>
              </a:spcAft>
              <a:defRPr sz="1400">
                <a:solidFill>
                  <a:prstClr val="black"/>
                </a:solidFill>
                <a:latin typeface="Huawei Sans" panose="020C0503030203020204" pitchFamily="34" charset="0"/>
                <a:ea typeface="方正兰亭黑简体" panose="02000000000000000000" pitchFamily="2" charset="-122"/>
                <a:cs typeface="Courier New" panose="02070309020205020404" pitchFamily="49" charset="0"/>
              </a:defRPr>
            </a:lvl1pPr>
          </a:lstStyle>
          <a:p>
            <a:pPr>
              <a:lnSpc>
                <a:spcPct val="100000"/>
              </a:lnSpc>
            </a:pPr>
            <a:r>
              <a:rPr lang="en-US" altLang="zh-CN" sz="1200" dirty="0">
                <a:sym typeface="Huawei Sans" panose="020C0503030203020204" pitchFamily="34" charset="0"/>
              </a:rPr>
              <a:t>#</a:t>
            </a:r>
            <a:r>
              <a:rPr lang="zh-CN" altLang="en-US" sz="1200" dirty="0">
                <a:sym typeface="Huawei Sans" panose="020C0503030203020204" pitchFamily="34" charset="0"/>
              </a:rPr>
              <a:t>在接入交换机上配置静态绑定表</a:t>
            </a:r>
            <a:endParaRPr lang="en-US" altLang="zh-CN" sz="1200" dirty="0">
              <a:sym typeface="Huawei Sans" panose="020C0503030203020204" pitchFamily="34" charset="0"/>
            </a:endParaRPr>
          </a:p>
          <a:p>
            <a:pPr>
              <a:lnSpc>
                <a:spcPct val="100000"/>
              </a:lnSpc>
            </a:pPr>
            <a:r>
              <a:rPr lang="en-US" altLang="zh-CN" sz="1200" dirty="0">
                <a:sym typeface="Huawei Sans" panose="020C0503030203020204" pitchFamily="34" charset="0"/>
              </a:rPr>
              <a:t>[Switch1] user-bind static </a:t>
            </a:r>
            <a:r>
              <a:rPr lang="en-US" altLang="zh-CN" sz="1200" dirty="0" err="1">
                <a:sym typeface="Huawei Sans" panose="020C0503030203020204" pitchFamily="34" charset="0"/>
              </a:rPr>
              <a:t>ip</a:t>
            </a:r>
            <a:r>
              <a:rPr lang="en-US" altLang="zh-CN" sz="1200" dirty="0">
                <a:sym typeface="Huawei Sans" panose="020C0503030203020204" pitchFamily="34" charset="0"/>
              </a:rPr>
              <a:t>-address 10.1.1.1 mac-address </a:t>
            </a:r>
            <a:r>
              <a:rPr lang="en-US" altLang="zh-CN" sz="1200" dirty="0" smtClean="0">
                <a:sym typeface="Huawei Sans" panose="020C0503030203020204" pitchFamily="34" charset="0"/>
              </a:rPr>
              <a:t>5489-98C2-1486 </a:t>
            </a:r>
          </a:p>
          <a:p>
            <a:pPr>
              <a:lnSpc>
                <a:spcPct val="100000"/>
              </a:lnSpc>
            </a:pPr>
            <a:r>
              <a:rPr lang="en-US" altLang="zh-CN" sz="1200" dirty="0" smtClean="0">
                <a:sym typeface="Huawei Sans" panose="020C0503030203020204" pitchFamily="34" charset="0"/>
              </a:rPr>
              <a:t>[</a:t>
            </a:r>
            <a:r>
              <a:rPr lang="en-US" altLang="zh-CN" sz="1200" dirty="0">
                <a:sym typeface="Huawei Sans" panose="020C0503030203020204" pitchFamily="34" charset="0"/>
              </a:rPr>
              <a:t>Switch1] user-bind static </a:t>
            </a:r>
            <a:r>
              <a:rPr lang="en-US" altLang="zh-CN" sz="1200" dirty="0" err="1">
                <a:sym typeface="Huawei Sans" panose="020C0503030203020204" pitchFamily="34" charset="0"/>
              </a:rPr>
              <a:t>ip</a:t>
            </a:r>
            <a:r>
              <a:rPr lang="en-US" altLang="zh-CN" sz="1200" dirty="0">
                <a:sym typeface="Huawei Sans" panose="020C0503030203020204" pitchFamily="34" charset="0"/>
              </a:rPr>
              <a:t>-address </a:t>
            </a:r>
            <a:r>
              <a:rPr lang="en-US" altLang="zh-CN" sz="1200" dirty="0" smtClean="0">
                <a:sym typeface="Huawei Sans" panose="020C0503030203020204" pitchFamily="34" charset="0"/>
              </a:rPr>
              <a:t>10.1.1.10 </a:t>
            </a:r>
            <a:r>
              <a:rPr lang="en-US" altLang="zh-CN" sz="1200" dirty="0">
                <a:sym typeface="Huawei Sans" panose="020C0503030203020204" pitchFamily="34" charset="0"/>
              </a:rPr>
              <a:t>mac-address 5489-98AB-22A7</a:t>
            </a:r>
          </a:p>
          <a:p>
            <a:pPr>
              <a:lnSpc>
                <a:spcPct val="100000"/>
              </a:lnSpc>
            </a:pPr>
            <a:r>
              <a:rPr lang="en-US" altLang="zh-CN" sz="1200" dirty="0" smtClean="0">
                <a:sym typeface="Huawei Sans" panose="020C0503030203020204" pitchFamily="34" charset="0"/>
              </a:rPr>
              <a:t>#</a:t>
            </a:r>
            <a:r>
              <a:rPr lang="zh-CN" altLang="en-US" sz="1200" dirty="0">
                <a:sym typeface="Huawei Sans" panose="020C0503030203020204" pitchFamily="34" charset="0"/>
              </a:rPr>
              <a:t>使能</a:t>
            </a:r>
            <a:r>
              <a:rPr lang="en-US" altLang="zh-CN" sz="1200" dirty="0">
                <a:sym typeface="Huawei Sans" panose="020C0503030203020204" pitchFamily="34" charset="0"/>
              </a:rPr>
              <a:t>GE0/0/1</a:t>
            </a:r>
            <a:r>
              <a:rPr lang="zh-CN" altLang="en-US" sz="1200" dirty="0">
                <a:sym typeface="Huawei Sans" panose="020C0503030203020204" pitchFamily="34" charset="0"/>
              </a:rPr>
              <a:t>接口</a:t>
            </a:r>
            <a:r>
              <a:rPr lang="en-US" altLang="zh-CN" sz="1200" dirty="0">
                <a:sym typeface="Huawei Sans" panose="020C0503030203020204" pitchFamily="34" charset="0"/>
              </a:rPr>
              <a:t>IPSG</a:t>
            </a:r>
            <a:r>
              <a:rPr lang="zh-CN" altLang="en-US" sz="1200" dirty="0">
                <a:sym typeface="Huawei Sans" panose="020C0503030203020204" pitchFamily="34" charset="0"/>
              </a:rPr>
              <a:t>和</a:t>
            </a:r>
            <a:r>
              <a:rPr lang="en-US" altLang="zh-CN" sz="1200" dirty="0">
                <a:sym typeface="Huawei Sans" panose="020C0503030203020204" pitchFamily="34" charset="0"/>
              </a:rPr>
              <a:t>IP</a:t>
            </a:r>
            <a:r>
              <a:rPr lang="zh-CN" altLang="en-US" sz="1200" dirty="0">
                <a:sym typeface="Huawei Sans" panose="020C0503030203020204" pitchFamily="34" charset="0"/>
              </a:rPr>
              <a:t>报文检查告警功能</a:t>
            </a:r>
            <a:endParaRPr lang="en-US" altLang="zh-CN" sz="1200" dirty="0">
              <a:sym typeface="Huawei Sans" panose="020C0503030203020204" pitchFamily="34" charset="0"/>
            </a:endParaRPr>
          </a:p>
          <a:p>
            <a:pPr>
              <a:lnSpc>
                <a:spcPct val="100000"/>
              </a:lnSpc>
            </a:pPr>
            <a:r>
              <a:rPr lang="en-US" altLang="zh-CN" sz="1200" dirty="0">
                <a:sym typeface="Huawei Sans" panose="020C0503030203020204" pitchFamily="34" charset="0"/>
              </a:rPr>
              <a:t>[Switch1] interface GigabitEthernet 0/0/1</a:t>
            </a:r>
          </a:p>
          <a:p>
            <a:pPr>
              <a:lnSpc>
                <a:spcPct val="100000"/>
              </a:lnSpc>
            </a:pPr>
            <a:r>
              <a:rPr lang="en-US" altLang="zh-CN" sz="1200" dirty="0">
                <a:sym typeface="Huawei Sans" panose="020C0503030203020204" pitchFamily="34" charset="0"/>
              </a:rPr>
              <a:t>[Switch1-GigabitEthernet0/0/1] ip source check user-bind enable</a:t>
            </a:r>
          </a:p>
          <a:p>
            <a:pPr>
              <a:lnSpc>
                <a:spcPct val="100000"/>
              </a:lnSpc>
            </a:pPr>
            <a:r>
              <a:rPr lang="en-US" altLang="zh-CN" sz="1200" dirty="0">
                <a:sym typeface="Huawei Sans" panose="020C0503030203020204" pitchFamily="34" charset="0"/>
              </a:rPr>
              <a:t>[Switch1-GigabitEthernet0/0/1] ip source check user-bind alarm enable</a:t>
            </a:r>
          </a:p>
          <a:p>
            <a:pPr>
              <a:lnSpc>
                <a:spcPct val="100000"/>
              </a:lnSpc>
            </a:pPr>
            <a:r>
              <a:rPr lang="en-US" altLang="zh-CN" sz="1200" dirty="0">
                <a:sym typeface="Huawei Sans" panose="020C0503030203020204" pitchFamily="34" charset="0"/>
              </a:rPr>
              <a:t>[Switch1-GigabitEthernet0/0/1] ip source check user-bind alarm threshold 100</a:t>
            </a:r>
          </a:p>
          <a:p>
            <a:pPr>
              <a:lnSpc>
                <a:spcPct val="100000"/>
              </a:lnSpc>
            </a:pPr>
            <a:r>
              <a:rPr lang="en-US" altLang="zh-CN" sz="1200" dirty="0">
                <a:sym typeface="Huawei Sans" panose="020C0503030203020204" pitchFamily="34" charset="0"/>
              </a:rPr>
              <a:t>#</a:t>
            </a:r>
            <a:r>
              <a:rPr lang="zh-CN" altLang="en-US" sz="1200" dirty="0">
                <a:sym typeface="Huawei Sans" panose="020C0503030203020204" pitchFamily="34" charset="0"/>
              </a:rPr>
              <a:t>接口</a:t>
            </a:r>
            <a:r>
              <a:rPr lang="en-US" altLang="zh-CN" sz="1200" dirty="0">
                <a:sym typeface="Huawei Sans" panose="020C0503030203020204" pitchFamily="34" charset="0"/>
              </a:rPr>
              <a:t>GE0/0/2</a:t>
            </a:r>
            <a:r>
              <a:rPr lang="zh-CN" altLang="en-US" sz="1200" dirty="0">
                <a:sym typeface="Huawei Sans" panose="020C0503030203020204" pitchFamily="34" charset="0"/>
              </a:rPr>
              <a:t>配置与</a:t>
            </a:r>
            <a:r>
              <a:rPr lang="en-US" altLang="zh-CN" sz="1200" dirty="0">
                <a:sym typeface="Huawei Sans" panose="020C0503030203020204" pitchFamily="34" charset="0"/>
              </a:rPr>
              <a:t>GE0/0/1</a:t>
            </a:r>
            <a:r>
              <a:rPr lang="zh-CN" altLang="en-US" sz="1200" dirty="0">
                <a:sym typeface="Huawei Sans" panose="020C0503030203020204" pitchFamily="34" charset="0"/>
              </a:rPr>
              <a:t>类似，此处省略</a:t>
            </a:r>
          </a:p>
        </p:txBody>
      </p:sp>
      <p:pic>
        <p:nvPicPr>
          <p:cNvPr id="27" name="图片 26" descr="PC.png"/>
          <p:cNvPicPr>
            <a:picLocks noChangeAspect="1"/>
          </p:cNvPicPr>
          <p:nvPr/>
        </p:nvPicPr>
        <p:blipFill>
          <a:blip r:embed="rId4" cstate="print"/>
          <a:stretch>
            <a:fillRect/>
          </a:stretch>
        </p:blipFill>
        <p:spPr bwMode="gray">
          <a:xfrm>
            <a:off x="4387890" y="3195739"/>
            <a:ext cx="539063" cy="414000"/>
          </a:xfrm>
          <a:prstGeom prst="rect">
            <a:avLst/>
          </a:prstGeom>
        </p:spPr>
      </p:pic>
      <p:sp>
        <p:nvSpPr>
          <p:cNvPr id="4" name="文本框 3"/>
          <p:cNvSpPr txBox="1"/>
          <p:nvPr/>
        </p:nvSpPr>
        <p:spPr bwMode="gray">
          <a:xfrm>
            <a:off x="2038926" y="3302718"/>
            <a:ext cx="497252"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PC1</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9" name="文本框 28"/>
          <p:cNvSpPr txBox="1"/>
          <p:nvPr/>
        </p:nvSpPr>
        <p:spPr bwMode="gray">
          <a:xfrm>
            <a:off x="4868353" y="3280458"/>
            <a:ext cx="497252" cy="307777"/>
          </a:xfrm>
          <a:prstGeom prst="rect">
            <a:avLst/>
          </a:prstGeom>
          <a:noFill/>
        </p:spPr>
        <p:txBody>
          <a:bodyPr wrap="none" rtlCol="0">
            <a:spAutoFit/>
          </a:bodyPr>
          <a:lstStyle/>
          <a:p>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PC2</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260318680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dirty="0" smtClean="0">
                <a:sym typeface="Huawei Sans" panose="020C0503030203020204" pitchFamily="34" charset="0"/>
              </a:rPr>
              <a:t>配置验证</a:t>
            </a:r>
            <a:endParaRPr lang="zh-CN" altLang="en-US" dirty="0">
              <a:sym typeface="Huawei Sans" panose="020C0503030203020204" pitchFamily="34" charset="0"/>
            </a:endParaRPr>
          </a:p>
        </p:txBody>
      </p:sp>
      <p:sp>
        <p:nvSpPr>
          <p:cNvPr id="4" name="文本占位符 3"/>
          <p:cNvSpPr>
            <a:spLocks noGrp="1"/>
          </p:cNvSpPr>
          <p:nvPr>
            <p:ph type="body" sz="quarter" idx="10"/>
          </p:nvPr>
        </p:nvSpPr>
        <p:spPr bwMode="gray"/>
        <p:txBody>
          <a:bodyPr/>
          <a:lstStyle/>
          <a:p>
            <a:r>
              <a:rPr lang="zh-CN" altLang="en-US" sz="1800" dirty="0" smtClean="0">
                <a:sym typeface="Huawei Sans" panose="020C0503030203020204" pitchFamily="34" charset="0"/>
              </a:rPr>
              <a:t>在</a:t>
            </a:r>
            <a:r>
              <a:rPr lang="en-US" altLang="zh-CN" sz="1800" dirty="0" smtClean="0">
                <a:sym typeface="Huawei Sans" panose="020C0503030203020204" pitchFamily="34" charset="0"/>
              </a:rPr>
              <a:t>Switch1</a:t>
            </a:r>
            <a:r>
              <a:rPr lang="zh-CN" altLang="en-US" sz="1800" dirty="0" smtClean="0">
                <a:sym typeface="Huawei Sans" panose="020C0503030203020204" pitchFamily="34" charset="0"/>
              </a:rPr>
              <a:t>上执行</a:t>
            </a:r>
            <a:r>
              <a:rPr lang="en-US" altLang="zh-CN" sz="1800" dirty="0" smtClean="0">
                <a:sym typeface="Huawei Sans" panose="020C0503030203020204" pitchFamily="34" charset="0"/>
              </a:rPr>
              <a:t>display </a:t>
            </a:r>
            <a:r>
              <a:rPr lang="en-US" altLang="zh-CN" sz="1800" dirty="0" err="1" smtClean="0">
                <a:sym typeface="Huawei Sans" panose="020C0503030203020204" pitchFamily="34" charset="0"/>
              </a:rPr>
              <a:t>dhcp</a:t>
            </a:r>
            <a:r>
              <a:rPr lang="en-US" altLang="zh-CN" sz="1800" dirty="0" smtClean="0">
                <a:sym typeface="Huawei Sans" panose="020C0503030203020204" pitchFamily="34" charset="0"/>
              </a:rPr>
              <a:t> static user-bind all</a:t>
            </a:r>
            <a:r>
              <a:rPr lang="zh-CN" altLang="en-US" sz="1800" dirty="0" smtClean="0">
                <a:sym typeface="Huawei Sans" panose="020C0503030203020204" pitchFamily="34" charset="0"/>
              </a:rPr>
              <a:t>命令，可以查看静态绑定表信息。</a:t>
            </a:r>
          </a:p>
          <a:p>
            <a:r>
              <a:rPr lang="en-US" altLang="zh-CN" sz="1800" dirty="0" smtClean="0">
                <a:sym typeface="Huawei Sans" panose="020C0503030203020204" pitchFamily="34" charset="0"/>
              </a:rPr>
              <a:t>PC1</a:t>
            </a:r>
            <a:r>
              <a:rPr lang="zh-CN" altLang="en-US" sz="1800" dirty="0" smtClean="0">
                <a:sym typeface="Huawei Sans" panose="020C0503030203020204" pitchFamily="34" charset="0"/>
              </a:rPr>
              <a:t>和</a:t>
            </a:r>
            <a:r>
              <a:rPr lang="en-US" altLang="zh-CN" sz="1800" dirty="0" smtClean="0">
                <a:sym typeface="Huawei Sans" panose="020C0503030203020204" pitchFamily="34" charset="0"/>
              </a:rPr>
              <a:t>PC2</a:t>
            </a:r>
            <a:r>
              <a:rPr lang="zh-CN" altLang="en-US" sz="1800" dirty="0" smtClean="0">
                <a:sym typeface="Huawei Sans" panose="020C0503030203020204" pitchFamily="34" charset="0"/>
              </a:rPr>
              <a:t>使用管理员分配的固定</a:t>
            </a:r>
            <a:r>
              <a:rPr lang="en-US" altLang="zh-CN" sz="1800" dirty="0" smtClean="0">
                <a:sym typeface="Huawei Sans" panose="020C0503030203020204" pitchFamily="34" charset="0"/>
              </a:rPr>
              <a:t>IP</a:t>
            </a:r>
            <a:r>
              <a:rPr lang="zh-CN" altLang="en-US" sz="1800" dirty="0" smtClean="0">
                <a:sym typeface="Huawei Sans" panose="020C0503030203020204" pitchFamily="34" charset="0"/>
              </a:rPr>
              <a:t>地址可以正常访问网络，更改</a:t>
            </a:r>
            <a:r>
              <a:rPr lang="en-US" altLang="zh-CN" sz="1800" dirty="0" smtClean="0">
                <a:sym typeface="Huawei Sans" panose="020C0503030203020204" pitchFamily="34" charset="0"/>
              </a:rPr>
              <a:t>IP</a:t>
            </a:r>
            <a:r>
              <a:rPr lang="zh-CN" altLang="en-US" sz="1800" dirty="0" smtClean="0">
                <a:sym typeface="Huawei Sans" panose="020C0503030203020204" pitchFamily="34" charset="0"/>
              </a:rPr>
              <a:t>地址后无法访问网络。</a:t>
            </a:r>
          </a:p>
          <a:p>
            <a:endParaRPr lang="zh-CN" altLang="en-US" sz="1800" dirty="0">
              <a:sym typeface="Huawei Sans" panose="020C0503030203020204" pitchFamily="34" charset="0"/>
            </a:endParaRPr>
          </a:p>
        </p:txBody>
      </p:sp>
      <p:sp>
        <p:nvSpPr>
          <p:cNvPr id="5" name="矩形 4"/>
          <p:cNvSpPr/>
          <p:nvPr/>
        </p:nvSpPr>
        <p:spPr bwMode="gray">
          <a:xfrm>
            <a:off x="2062480" y="2498768"/>
            <a:ext cx="7355840" cy="2031325"/>
          </a:xfrm>
          <a:prstGeom prst="rect">
            <a:avLst/>
          </a:prstGeom>
          <a:solidFill>
            <a:schemeClr val="bg1">
              <a:lumMod val="85000"/>
            </a:schemeClr>
          </a:solidFill>
          <a:ln>
            <a:noFill/>
          </a:ln>
        </p:spPr>
        <p:txBody>
          <a:bodyPr wrap="square" rtlCol="0">
            <a:spAutoFit/>
          </a:bodyPr>
          <a:lstStyle/>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[Switch1]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display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static user-bind all</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DHCP static Bind-table:                                                         </a:t>
            </a:r>
          </a:p>
          <a:p>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Flags:O</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outer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,I - inner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,P - </a:t>
            </a:r>
            <a:r>
              <a:rPr lang="en-US" altLang="zh-CN" sz="1400" dirty="0" err="1">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Vlan</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-mapping                          </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IP Address                      MAC Address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VSI/VLAN(O/I/P</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Interface       </a:t>
            </a: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10.1.1.1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5489-98C2-1486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10.1.1.10                       </a:t>
            </a:r>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5489-98AB-22A7  		--  </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  /--    --       </a:t>
            </a:r>
          </a:p>
          <a:p>
            <a:r>
              <a:rPr lang="en-US" altLang="zh-CN" sz="1400" dirty="0" smtClean="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a:t>
            </a:r>
          </a:p>
          <a:p>
            <a:r>
              <a:rPr lang="en-US" altLang="zh-CN" sz="1400" dirty="0">
                <a:solidFill>
                  <a:prstClr val="black"/>
                </a:solidFill>
                <a:latin typeface="Huawei Sans" panose="020C0503030203020204" pitchFamily="34" charset="0"/>
                <a:ea typeface="方正兰亭黑简体" panose="02000000000000000000" pitchFamily="2" charset="-122"/>
                <a:cs typeface="Courier New" panose="02070309020205020404" pitchFamily="49" charset="0"/>
                <a:sym typeface="Huawei Sans" panose="020C0503030203020204" pitchFamily="34" charset="0"/>
              </a:rPr>
              <a:t>Print count:           2          Total count:           2           </a:t>
            </a:r>
          </a:p>
        </p:txBody>
      </p:sp>
    </p:spTree>
    <p:extLst>
      <p:ext uri="{BB962C8B-B14F-4D97-AF65-F5344CB8AC3E}">
        <p14:creationId xmlns:p14="http://schemas.microsoft.com/office/powerpoint/2010/main" val="204979491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dirty="0" smtClean="0">
                <a:solidFill>
                  <a:schemeClr val="bg1">
                    <a:lumMod val="50000"/>
                  </a:schemeClr>
                </a:solidFill>
                <a:sym typeface="Huawei Sans" panose="020C0503030203020204" pitchFamily="34" charset="0"/>
              </a:rPr>
              <a:t>以太网交换安全</a:t>
            </a:r>
            <a:endParaRPr lang="en-US" altLang="zh-CN" dirty="0" smtClean="0">
              <a:solidFill>
                <a:schemeClr val="bg1">
                  <a:lumMod val="50000"/>
                </a:schemeClr>
              </a:solidFill>
              <a:sym typeface="Huawei Sans" panose="020C0503030203020204" pitchFamily="34" charset="0"/>
            </a:endParaRPr>
          </a:p>
          <a:p>
            <a:r>
              <a:rPr lang="zh-CN" altLang="en-US" b="1" dirty="0" smtClean="0">
                <a:sym typeface="Huawei Sans" panose="020C0503030203020204" pitchFamily="34" charset="0"/>
              </a:rPr>
              <a:t>防火墙高级特性</a:t>
            </a:r>
            <a:endParaRPr lang="en-US" altLang="zh-CN" b="1" dirty="0" smtClean="0">
              <a:sym typeface="Huawei Sans" panose="020C0503030203020204" pitchFamily="34" charset="0"/>
            </a:endParaRPr>
          </a:p>
          <a:p>
            <a:pPr lvl="1">
              <a:buSzPct val="60000"/>
              <a:buFont typeface="Wingdings" panose="05000000000000000000" pitchFamily="2" charset="2"/>
              <a:buChar char="n"/>
            </a:pPr>
            <a:r>
              <a:rPr lang="zh-CN" altLang="en-US" dirty="0" smtClean="0">
                <a:sym typeface="Huawei Sans" panose="020C0503030203020204" pitchFamily="34" charset="0"/>
              </a:rPr>
              <a:t>双机热备</a:t>
            </a:r>
            <a:endParaRPr lang="en-US" altLang="zh-CN" dirty="0" smtClean="0">
              <a:sym typeface="Huawei Sans" panose="020C0503030203020204" pitchFamily="34" charset="0"/>
            </a:endParaRPr>
          </a:p>
          <a:p>
            <a:pPr lvl="1"/>
            <a:r>
              <a:rPr lang="zh-CN" altLang="en-US" dirty="0" smtClean="0">
                <a:solidFill>
                  <a:schemeClr val="bg1">
                    <a:lumMod val="50000"/>
                  </a:schemeClr>
                </a:solidFill>
                <a:sym typeface="Huawei Sans" panose="020C0503030203020204" pitchFamily="34" charset="0"/>
              </a:rPr>
              <a:t>虚拟系统</a:t>
            </a:r>
            <a:endParaRPr lang="zh-CN" altLang="en-US" dirty="0">
              <a:solidFill>
                <a:schemeClr val="bg1">
                  <a:lumMod val="50000"/>
                </a:schemeClr>
              </a:solidFill>
              <a:sym typeface="Huawei Sans" panose="020C0503030203020204" pitchFamily="34" charset="0"/>
            </a:endParaRPr>
          </a:p>
        </p:txBody>
      </p:sp>
    </p:spTree>
    <p:extLst>
      <p:ext uri="{BB962C8B-B14F-4D97-AF65-F5344CB8AC3E}">
        <p14:creationId xmlns:p14="http://schemas.microsoft.com/office/powerpoint/2010/main" val="3438316932"/>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下箭头 63"/>
          <p:cNvSpPr/>
          <p:nvPr/>
        </p:nvSpPr>
        <p:spPr bwMode="gray">
          <a:xfrm rot="5400000" flipV="1">
            <a:off x="9588348" y="3333898"/>
            <a:ext cx="524148" cy="488660"/>
          </a:xfrm>
          <a:custGeom>
            <a:avLst/>
            <a:gdLst>
              <a:gd name="connsiteX0" fmla="*/ 0 w 1035535"/>
              <a:gd name="connsiteY0" fmla="*/ 468495 h 794114"/>
              <a:gd name="connsiteX1" fmla="*/ 258884 w 1035535"/>
              <a:gd name="connsiteY1" fmla="*/ 468495 h 794114"/>
              <a:gd name="connsiteX2" fmla="*/ 258884 w 1035535"/>
              <a:gd name="connsiteY2" fmla="*/ 0 h 794114"/>
              <a:gd name="connsiteX3" fmla="*/ 776651 w 1035535"/>
              <a:gd name="connsiteY3" fmla="*/ 0 h 794114"/>
              <a:gd name="connsiteX4" fmla="*/ 776651 w 1035535"/>
              <a:gd name="connsiteY4" fmla="*/ 468495 h 794114"/>
              <a:gd name="connsiteX5" fmla="*/ 1035535 w 1035535"/>
              <a:gd name="connsiteY5" fmla="*/ 468495 h 794114"/>
              <a:gd name="connsiteX6" fmla="*/ 517768 w 1035535"/>
              <a:gd name="connsiteY6" fmla="*/ 794114 h 794114"/>
              <a:gd name="connsiteX7" fmla="*/ 0 w 1035535"/>
              <a:gd name="connsiteY7" fmla="*/ 468495 h 794114"/>
              <a:gd name="connsiteX0" fmla="*/ 258884 w 1035535"/>
              <a:gd name="connsiteY0" fmla="*/ 0 h 794114"/>
              <a:gd name="connsiteX1" fmla="*/ 776651 w 1035535"/>
              <a:gd name="connsiteY1" fmla="*/ 0 h 794114"/>
              <a:gd name="connsiteX2" fmla="*/ 776651 w 1035535"/>
              <a:gd name="connsiteY2" fmla="*/ 468495 h 794114"/>
              <a:gd name="connsiteX3" fmla="*/ 1035535 w 1035535"/>
              <a:gd name="connsiteY3" fmla="*/ 468495 h 794114"/>
              <a:gd name="connsiteX4" fmla="*/ 517768 w 1035535"/>
              <a:gd name="connsiteY4" fmla="*/ 794114 h 794114"/>
              <a:gd name="connsiteX5" fmla="*/ 0 w 1035535"/>
              <a:gd name="connsiteY5" fmla="*/ 468495 h 794114"/>
              <a:gd name="connsiteX6" fmla="*/ 258884 w 1035535"/>
              <a:gd name="connsiteY6" fmla="*/ 468495 h 794114"/>
              <a:gd name="connsiteX7" fmla="*/ 350324 w 1035535"/>
              <a:gd name="connsiteY7" fmla="*/ 91440 h 794114"/>
              <a:gd name="connsiteX0" fmla="*/ 258884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6121 w 1035535"/>
              <a:gd name="connsiteY0" fmla="*/ 0 h 794114"/>
              <a:gd name="connsiteX1" fmla="*/ 776651 w 1035535"/>
              <a:gd name="connsiteY1" fmla="*/ 468495 h 794114"/>
              <a:gd name="connsiteX2" fmla="*/ 1035535 w 1035535"/>
              <a:gd name="connsiteY2" fmla="*/ 468495 h 794114"/>
              <a:gd name="connsiteX3" fmla="*/ 517768 w 1035535"/>
              <a:gd name="connsiteY3" fmla="*/ 794114 h 794114"/>
              <a:gd name="connsiteX4" fmla="*/ 0 w 1035535"/>
              <a:gd name="connsiteY4" fmla="*/ 468495 h 794114"/>
              <a:gd name="connsiteX5" fmla="*/ 258884 w 1035535"/>
              <a:gd name="connsiteY5" fmla="*/ 468495 h 794114"/>
              <a:gd name="connsiteX6" fmla="*/ 350324 w 1035535"/>
              <a:gd name="connsiteY6" fmla="*/ 91440 h 794114"/>
              <a:gd name="connsiteX0" fmla="*/ 1018222 w 1037636"/>
              <a:gd name="connsiteY0" fmla="*/ 0 h 794114"/>
              <a:gd name="connsiteX1" fmla="*/ 778752 w 1037636"/>
              <a:gd name="connsiteY1" fmla="*/ 468495 h 794114"/>
              <a:gd name="connsiteX2" fmla="*/ 1037636 w 1037636"/>
              <a:gd name="connsiteY2" fmla="*/ 468495 h 794114"/>
              <a:gd name="connsiteX3" fmla="*/ 519869 w 1037636"/>
              <a:gd name="connsiteY3" fmla="*/ 794114 h 794114"/>
              <a:gd name="connsiteX4" fmla="*/ 2101 w 1037636"/>
              <a:gd name="connsiteY4" fmla="*/ 468495 h 794114"/>
              <a:gd name="connsiteX5" fmla="*/ 260985 w 1037636"/>
              <a:gd name="connsiteY5" fmla="*/ 468495 h 794114"/>
              <a:gd name="connsiteX6" fmla="*/ 0 w 1037636"/>
              <a:gd name="connsiteY6" fmla="*/ 86678 h 794114"/>
              <a:gd name="connsiteX0" fmla="*/ 1027747 w 1047161"/>
              <a:gd name="connsiteY0" fmla="*/ 0 h 794114"/>
              <a:gd name="connsiteX1" fmla="*/ 788277 w 1047161"/>
              <a:gd name="connsiteY1" fmla="*/ 468495 h 794114"/>
              <a:gd name="connsiteX2" fmla="*/ 1047161 w 1047161"/>
              <a:gd name="connsiteY2" fmla="*/ 468495 h 794114"/>
              <a:gd name="connsiteX3" fmla="*/ 529394 w 1047161"/>
              <a:gd name="connsiteY3" fmla="*/ 794114 h 794114"/>
              <a:gd name="connsiteX4" fmla="*/ 11626 w 1047161"/>
              <a:gd name="connsiteY4" fmla="*/ 468495 h 794114"/>
              <a:gd name="connsiteX5" fmla="*/ 270510 w 1047161"/>
              <a:gd name="connsiteY5" fmla="*/ 468495 h 794114"/>
              <a:gd name="connsiteX6" fmla="*/ 0 w 1047161"/>
              <a:gd name="connsiteY6" fmla="*/ 10478 h 794114"/>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258884 w 1035535"/>
              <a:gd name="connsiteY5" fmla="*/ 481830 h 807449"/>
              <a:gd name="connsiteX6" fmla="*/ 12187 w 1035535"/>
              <a:gd name="connsiteY6" fmla="*/ 0 h 807449"/>
              <a:gd name="connsiteX0" fmla="*/ 1016121 w 1035535"/>
              <a:gd name="connsiteY0" fmla="*/ 13335 h 807449"/>
              <a:gd name="connsiteX1" fmla="*/ 776651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16121 w 1035535"/>
              <a:gd name="connsiteY0" fmla="*/ 13335 h 807449"/>
              <a:gd name="connsiteX1" fmla="*/ 619488 w 1035535"/>
              <a:gd name="connsiteY1" fmla="*/ 481830 h 807449"/>
              <a:gd name="connsiteX2" fmla="*/ 1035535 w 1035535"/>
              <a:gd name="connsiteY2" fmla="*/ 481830 h 807449"/>
              <a:gd name="connsiteX3" fmla="*/ 517768 w 1035535"/>
              <a:gd name="connsiteY3" fmla="*/ 807449 h 807449"/>
              <a:gd name="connsiteX4" fmla="*/ 0 w 1035535"/>
              <a:gd name="connsiteY4" fmla="*/ 481830 h 807449"/>
              <a:gd name="connsiteX5" fmla="*/ 392234 w 1035535"/>
              <a:gd name="connsiteY5" fmla="*/ 486592 h 807449"/>
              <a:gd name="connsiteX6" fmla="*/ 12187 w 1035535"/>
              <a:gd name="connsiteY6" fmla="*/ 0 h 807449"/>
              <a:gd name="connsiteX0" fmla="*/ 1044696 w 1044696"/>
              <a:gd name="connsiteY0" fmla="*/ 0 h 832214"/>
              <a:gd name="connsiteX1" fmla="*/ 619488 w 1044696"/>
              <a:gd name="connsiteY1" fmla="*/ 506595 h 832214"/>
              <a:gd name="connsiteX2" fmla="*/ 1035535 w 1044696"/>
              <a:gd name="connsiteY2" fmla="*/ 506595 h 832214"/>
              <a:gd name="connsiteX3" fmla="*/ 517768 w 1044696"/>
              <a:gd name="connsiteY3" fmla="*/ 832214 h 832214"/>
              <a:gd name="connsiteX4" fmla="*/ 0 w 1044696"/>
              <a:gd name="connsiteY4" fmla="*/ 506595 h 832214"/>
              <a:gd name="connsiteX5" fmla="*/ 392234 w 1044696"/>
              <a:gd name="connsiteY5" fmla="*/ 511357 h 832214"/>
              <a:gd name="connsiteX6" fmla="*/ 12187 w 1044696"/>
              <a:gd name="connsiteY6" fmla="*/ 24765 h 832214"/>
              <a:gd name="connsiteX0" fmla="*/ 1032509 w 1032509"/>
              <a:gd name="connsiteY0" fmla="*/ 0 h 832214"/>
              <a:gd name="connsiteX1" fmla="*/ 607301 w 1032509"/>
              <a:gd name="connsiteY1" fmla="*/ 506595 h 832214"/>
              <a:gd name="connsiteX2" fmla="*/ 1023348 w 1032509"/>
              <a:gd name="connsiteY2" fmla="*/ 506595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832214"/>
              <a:gd name="connsiteX1" fmla="*/ 607301 w 1032509"/>
              <a:gd name="connsiteY1" fmla="*/ 506595 h 832214"/>
              <a:gd name="connsiteX2" fmla="*/ 804276 w 1032509"/>
              <a:gd name="connsiteY2" fmla="*/ 513741 h 832214"/>
              <a:gd name="connsiteX3" fmla="*/ 505581 w 1032509"/>
              <a:gd name="connsiteY3" fmla="*/ 832214 h 832214"/>
              <a:gd name="connsiteX4" fmla="*/ 237844 w 1032509"/>
              <a:gd name="connsiteY4" fmla="*/ 508976 h 832214"/>
              <a:gd name="connsiteX5" fmla="*/ 380047 w 1032509"/>
              <a:gd name="connsiteY5" fmla="*/ 511357 h 832214"/>
              <a:gd name="connsiteX6" fmla="*/ 0 w 1032509"/>
              <a:gd name="connsiteY6" fmla="*/ 24765 h 832214"/>
              <a:gd name="connsiteX0" fmla="*/ 1032509 w 1032509"/>
              <a:gd name="connsiteY0" fmla="*/ 0 h 722679"/>
              <a:gd name="connsiteX1" fmla="*/ 607301 w 1032509"/>
              <a:gd name="connsiteY1" fmla="*/ 506595 h 722679"/>
              <a:gd name="connsiteX2" fmla="*/ 804276 w 1032509"/>
              <a:gd name="connsiteY2" fmla="*/ 513741 h 722679"/>
              <a:gd name="connsiteX3" fmla="*/ 507965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804276 w 1032509"/>
              <a:gd name="connsiteY2" fmla="*/ 513741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2679"/>
              <a:gd name="connsiteX1" fmla="*/ 607301 w 1032509"/>
              <a:gd name="connsiteY1" fmla="*/ 506595 h 722679"/>
              <a:gd name="connsiteX2" fmla="*/ 792369 w 1032509"/>
              <a:gd name="connsiteY2" fmla="*/ 515732 h 722679"/>
              <a:gd name="connsiteX3" fmla="*/ 498440 w 1032509"/>
              <a:gd name="connsiteY3" fmla="*/ 722679 h 722679"/>
              <a:gd name="connsiteX4" fmla="*/ 237844 w 1032509"/>
              <a:gd name="connsiteY4" fmla="*/ 508976 h 722679"/>
              <a:gd name="connsiteX5" fmla="*/ 380047 w 1032509"/>
              <a:gd name="connsiteY5" fmla="*/ 511357 h 722679"/>
              <a:gd name="connsiteX6" fmla="*/ 0 w 1032509"/>
              <a:gd name="connsiteY6" fmla="*/ 24765 h 722679"/>
              <a:gd name="connsiteX0" fmla="*/ 1032509 w 1032509"/>
              <a:gd name="connsiteY0" fmla="*/ 0 h 720688"/>
              <a:gd name="connsiteX1" fmla="*/ 607301 w 1032509"/>
              <a:gd name="connsiteY1" fmla="*/ 506595 h 720688"/>
              <a:gd name="connsiteX2" fmla="*/ 792369 w 1032509"/>
              <a:gd name="connsiteY2" fmla="*/ 515732 h 720688"/>
              <a:gd name="connsiteX3" fmla="*/ 503202 w 1032509"/>
              <a:gd name="connsiteY3" fmla="*/ 720688 h 720688"/>
              <a:gd name="connsiteX4" fmla="*/ 237844 w 1032509"/>
              <a:gd name="connsiteY4" fmla="*/ 508976 h 720688"/>
              <a:gd name="connsiteX5" fmla="*/ 380047 w 1032509"/>
              <a:gd name="connsiteY5" fmla="*/ 511357 h 720688"/>
              <a:gd name="connsiteX6" fmla="*/ 0 w 1032509"/>
              <a:gd name="connsiteY6" fmla="*/ 24765 h 720688"/>
              <a:gd name="connsiteX0" fmla="*/ 1044414 w 1044414"/>
              <a:gd name="connsiteY0" fmla="*/ 0 h 720688"/>
              <a:gd name="connsiteX1" fmla="*/ 619206 w 1044414"/>
              <a:gd name="connsiteY1" fmla="*/ 506595 h 720688"/>
              <a:gd name="connsiteX2" fmla="*/ 804274 w 1044414"/>
              <a:gd name="connsiteY2" fmla="*/ 515732 h 720688"/>
              <a:gd name="connsiteX3" fmla="*/ 515107 w 1044414"/>
              <a:gd name="connsiteY3" fmla="*/ 720688 h 720688"/>
              <a:gd name="connsiteX4" fmla="*/ 249749 w 1044414"/>
              <a:gd name="connsiteY4" fmla="*/ 508976 h 720688"/>
              <a:gd name="connsiteX5" fmla="*/ 391952 w 1044414"/>
              <a:gd name="connsiteY5" fmla="*/ 511357 h 720688"/>
              <a:gd name="connsiteX6" fmla="*/ 0 w 1044414"/>
              <a:gd name="connsiteY6" fmla="*/ 4852 h 720688"/>
              <a:gd name="connsiteX0" fmla="*/ 1082514 w 1082514"/>
              <a:gd name="connsiteY0" fmla="*/ 0 h 722679"/>
              <a:gd name="connsiteX1" fmla="*/ 619206 w 1082514"/>
              <a:gd name="connsiteY1" fmla="*/ 508586 h 722679"/>
              <a:gd name="connsiteX2" fmla="*/ 804274 w 1082514"/>
              <a:gd name="connsiteY2" fmla="*/ 517723 h 722679"/>
              <a:gd name="connsiteX3" fmla="*/ 515107 w 1082514"/>
              <a:gd name="connsiteY3" fmla="*/ 722679 h 722679"/>
              <a:gd name="connsiteX4" fmla="*/ 249749 w 1082514"/>
              <a:gd name="connsiteY4" fmla="*/ 510967 h 722679"/>
              <a:gd name="connsiteX5" fmla="*/ 391952 w 1082514"/>
              <a:gd name="connsiteY5" fmla="*/ 513348 h 722679"/>
              <a:gd name="connsiteX6" fmla="*/ 0 w 1082514"/>
              <a:gd name="connsiteY6" fmla="*/ 6843 h 722679"/>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91952 w 1082514"/>
              <a:gd name="connsiteY5" fmla="*/ 513348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49749 w 1082514"/>
              <a:gd name="connsiteY4" fmla="*/ 510967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3080 w 1082514"/>
              <a:gd name="connsiteY4" fmla="*/ 526899 h 724672"/>
              <a:gd name="connsiteX5" fmla="*/ 380046 w 1082514"/>
              <a:gd name="connsiteY5" fmla="*/ 533263 h 724672"/>
              <a:gd name="connsiteX6" fmla="*/ 0 w 1082514"/>
              <a:gd name="connsiteY6" fmla="*/ 6843 h 724672"/>
              <a:gd name="connsiteX0" fmla="*/ 1082514 w 1082514"/>
              <a:gd name="connsiteY0" fmla="*/ 0 h 724672"/>
              <a:gd name="connsiteX1" fmla="*/ 619206 w 1082514"/>
              <a:gd name="connsiteY1" fmla="*/ 508586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04274 w 1082514"/>
              <a:gd name="connsiteY2" fmla="*/ 517723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380046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37842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830468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90644 w 1082514"/>
              <a:gd name="connsiteY1" fmla="*/ 532484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 name="connsiteX0" fmla="*/ 1082514 w 1082514"/>
              <a:gd name="connsiteY0" fmla="*/ 0 h 724672"/>
              <a:gd name="connsiteX1" fmla="*/ 638256 w 1082514"/>
              <a:gd name="connsiteY1" fmla="*/ 534476 h 724672"/>
              <a:gd name="connsiteX2" fmla="*/ 768555 w 1082514"/>
              <a:gd name="connsiteY2" fmla="*/ 531664 h 724672"/>
              <a:gd name="connsiteX3" fmla="*/ 534160 w 1082514"/>
              <a:gd name="connsiteY3" fmla="*/ 724672 h 724672"/>
              <a:gd name="connsiteX4" fmla="*/ 297373 w 1082514"/>
              <a:gd name="connsiteY4" fmla="*/ 532873 h 724672"/>
              <a:gd name="connsiteX5" fmla="*/ 434815 w 1082514"/>
              <a:gd name="connsiteY5" fmla="*/ 533263 h 724672"/>
              <a:gd name="connsiteX6" fmla="*/ 0 w 1082514"/>
              <a:gd name="connsiteY6" fmla="*/ 6843 h 7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2514" h="724672">
                <a:moveTo>
                  <a:pt x="1082514" y="0"/>
                </a:moveTo>
                <a:cubicBezTo>
                  <a:pt x="788378" y="227602"/>
                  <a:pt x="727605" y="349736"/>
                  <a:pt x="638256" y="534476"/>
                </a:cubicBezTo>
                <a:lnTo>
                  <a:pt x="768555" y="531664"/>
                </a:lnTo>
                <a:lnTo>
                  <a:pt x="534160" y="724672"/>
                </a:lnTo>
                <a:lnTo>
                  <a:pt x="297373" y="532873"/>
                </a:lnTo>
                <a:lnTo>
                  <a:pt x="434815" y="533263"/>
                </a:lnTo>
                <a:cubicBezTo>
                  <a:pt x="434815" y="377098"/>
                  <a:pt x="0" y="6843"/>
                  <a:pt x="0" y="6843"/>
                </a:cubicBezTo>
              </a:path>
            </a:pathLst>
          </a:custGeom>
          <a:gradFill flip="none" rotWithShape="1">
            <a:gsLst>
              <a:gs pos="16000">
                <a:srgbClr val="94DAE2"/>
              </a:gs>
              <a:gs pos="100000">
                <a:sysClr val="window" lastClr="FFFFFF">
                  <a:alpha val="0"/>
                </a:sysClr>
              </a:gs>
            </a:gsLst>
            <a:lin ang="16200000" scaled="1"/>
            <a:tileRect/>
          </a:gradFill>
          <a:ln w="12700" cap="flat" cmpd="sng" algn="ctr">
            <a:solidFill>
              <a:srgbClr val="94DAE2"/>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在网络中部署防火墙双机时面临的问题</a:t>
            </a:r>
            <a:endParaRPr lang="zh-CN" altLang="en-US">
              <a:sym typeface="Huawei Sans" panose="020C0503030203020204" pitchFamily="34" charset="0"/>
            </a:endParaRPr>
          </a:p>
        </p:txBody>
      </p:sp>
      <p:sp>
        <p:nvSpPr>
          <p:cNvPr id="17" name="TextBox 10"/>
          <p:cNvSpPr txBox="1"/>
          <p:nvPr/>
        </p:nvSpPr>
        <p:spPr bwMode="gray">
          <a:xfrm>
            <a:off x="2647528" y="3698726"/>
            <a:ext cx="516488"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FW2</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0" name="TextBox 13"/>
          <p:cNvSpPr txBox="1"/>
          <p:nvPr/>
        </p:nvSpPr>
        <p:spPr bwMode="gray">
          <a:xfrm>
            <a:off x="1543893" y="4364203"/>
            <a:ext cx="1103635" cy="461665"/>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VRID1</a:t>
            </a:r>
          </a:p>
          <a:p>
            <a:pPr algn="ctr"/>
            <a:r>
              <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192.168.1.1</a:t>
            </a:r>
          </a:p>
        </p:txBody>
      </p:sp>
      <p:sp>
        <p:nvSpPr>
          <p:cNvPr id="21" name="Freeform 14"/>
          <p:cNvSpPr/>
          <p:nvPr/>
        </p:nvSpPr>
        <p:spPr bwMode="gray">
          <a:xfrm flipH="1" flipV="1">
            <a:off x="1920833" y="3993556"/>
            <a:ext cx="1453390" cy="583137"/>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105696"/>
              <a:gd name="connsiteY0" fmla="*/ 2716537 h 3381721"/>
              <a:gd name="connsiteX1" fmla="*/ 1439273 w 2105696"/>
              <a:gd name="connsiteY1" fmla="*/ 0 h 3381721"/>
              <a:gd name="connsiteX2" fmla="*/ 2105696 w 2105696"/>
              <a:gd name="connsiteY2" fmla="*/ 1883825 h 3381721"/>
              <a:gd name="connsiteX3" fmla="*/ 60884 w 2105696"/>
              <a:gd name="connsiteY3" fmla="*/ 3381721 h 3381721"/>
              <a:gd name="connsiteX0" fmla="*/ 0 w 2081858"/>
              <a:gd name="connsiteY0" fmla="*/ 2716537 h 3381721"/>
              <a:gd name="connsiteX1" fmla="*/ 1439273 w 2081858"/>
              <a:gd name="connsiteY1" fmla="*/ 0 h 3381721"/>
              <a:gd name="connsiteX2" fmla="*/ 2081858 w 2081858"/>
              <a:gd name="connsiteY2" fmla="*/ 754099 h 3381721"/>
              <a:gd name="connsiteX3" fmla="*/ 60884 w 2081858"/>
              <a:gd name="connsiteY3" fmla="*/ 3381721 h 3381721"/>
              <a:gd name="connsiteX0" fmla="*/ 0 w 2081858"/>
              <a:gd name="connsiteY0" fmla="*/ 3727354 h 4392538"/>
              <a:gd name="connsiteX1" fmla="*/ 1522710 w 2081858"/>
              <a:gd name="connsiteY1" fmla="*/ 0 h 4392538"/>
              <a:gd name="connsiteX2" fmla="*/ 2081858 w 2081858"/>
              <a:gd name="connsiteY2" fmla="*/ 1764916 h 4392538"/>
              <a:gd name="connsiteX3" fmla="*/ 60884 w 2081858"/>
              <a:gd name="connsiteY3" fmla="*/ 4392538 h 4392538"/>
              <a:gd name="connsiteX0" fmla="*/ 0 w 2081858"/>
              <a:gd name="connsiteY0" fmla="*/ 3430059 h 4095243"/>
              <a:gd name="connsiteX1" fmla="*/ 1653824 w 2081858"/>
              <a:gd name="connsiteY1" fmla="*/ 0 h 4095243"/>
              <a:gd name="connsiteX2" fmla="*/ 2081858 w 2081858"/>
              <a:gd name="connsiteY2" fmla="*/ 1467621 h 4095243"/>
              <a:gd name="connsiteX3" fmla="*/ 60884 w 2081858"/>
              <a:gd name="connsiteY3" fmla="*/ 4095243 h 4095243"/>
              <a:gd name="connsiteX0" fmla="*/ 0 w 2046100"/>
              <a:gd name="connsiteY0" fmla="*/ 3430059 h 4095243"/>
              <a:gd name="connsiteX1" fmla="*/ 1618066 w 2046100"/>
              <a:gd name="connsiteY1" fmla="*/ 0 h 4095243"/>
              <a:gd name="connsiteX2" fmla="*/ 2046100 w 2046100"/>
              <a:gd name="connsiteY2" fmla="*/ 1467621 h 4095243"/>
              <a:gd name="connsiteX3" fmla="*/ 25126 w 2046100"/>
              <a:gd name="connsiteY3" fmla="*/ 4095243 h 4095243"/>
            </a:gdLst>
            <a:ahLst/>
            <a:cxnLst>
              <a:cxn ang="0">
                <a:pos x="connsiteX0" y="connsiteY0"/>
              </a:cxn>
              <a:cxn ang="0">
                <a:pos x="connsiteX1" y="connsiteY1"/>
              </a:cxn>
              <a:cxn ang="0">
                <a:pos x="connsiteX2" y="connsiteY2"/>
              </a:cxn>
              <a:cxn ang="0">
                <a:pos x="connsiteX3" y="connsiteY3"/>
              </a:cxn>
            </a:cxnLst>
            <a:rect l="l" t="t" r="r" b="b"/>
            <a:pathLst>
              <a:path w="2046100" h="4095243">
                <a:moveTo>
                  <a:pt x="0" y="3430059"/>
                </a:moveTo>
                <a:lnTo>
                  <a:pt x="1618066" y="0"/>
                </a:lnTo>
                <a:lnTo>
                  <a:pt x="2046100" y="1467621"/>
                </a:lnTo>
                <a:lnTo>
                  <a:pt x="25126" y="4095243"/>
                </a:lnTo>
              </a:path>
            </a:pathLst>
          </a:custGeom>
          <a:gradFill flip="none" rotWithShape="0">
            <a:gsLst>
              <a:gs pos="0">
                <a:schemeClr val="bg1">
                  <a:alpha val="0"/>
                </a:schemeClr>
              </a:gs>
              <a:gs pos="100000">
                <a:srgbClr val="FFCC66"/>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TextBox 17"/>
          <p:cNvSpPr txBox="1"/>
          <p:nvPr/>
        </p:nvSpPr>
        <p:spPr bwMode="gray">
          <a:xfrm>
            <a:off x="1062866" y="3698726"/>
            <a:ext cx="516488" cy="276999"/>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FW1</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71" name="组合 70"/>
          <p:cNvGrpSpPr/>
          <p:nvPr/>
        </p:nvGrpSpPr>
        <p:grpSpPr bwMode="gray">
          <a:xfrm>
            <a:off x="799761" y="1743927"/>
            <a:ext cx="2572169" cy="4195900"/>
            <a:chOff x="1163114" y="1682967"/>
            <a:chExt cx="2894093" cy="4195900"/>
          </a:xfrm>
        </p:grpSpPr>
        <p:cxnSp>
          <p:nvCxnSpPr>
            <p:cNvPr id="12" name="直接连接符 3"/>
            <p:cNvCxnSpPr/>
            <p:nvPr/>
          </p:nvCxnSpPr>
          <p:spPr bwMode="gray">
            <a:xfrm flipV="1">
              <a:off x="4057206" y="2466712"/>
              <a:ext cx="0" cy="2559891"/>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1" name="直接连接符 3"/>
            <p:cNvCxnSpPr/>
            <p:nvPr/>
          </p:nvCxnSpPr>
          <p:spPr bwMode="gray">
            <a:xfrm flipV="1">
              <a:off x="1187300" y="2466712"/>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5" name="Group 52"/>
            <p:cNvGrpSpPr/>
            <p:nvPr/>
          </p:nvGrpSpPr>
          <p:grpSpPr bwMode="gray">
            <a:xfrm rot="10800000">
              <a:off x="1187300" y="5026603"/>
              <a:ext cx="2869906" cy="852264"/>
              <a:chOff x="158262" y="1838050"/>
              <a:chExt cx="1565030" cy="1349164"/>
            </a:xfrm>
          </p:grpSpPr>
          <p:cxnSp>
            <p:nvCxnSpPr>
              <p:cNvPr id="6"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grpSp>
          <p:nvGrpSpPr>
            <p:cNvPr id="8" name="Group 49"/>
            <p:cNvGrpSpPr/>
            <p:nvPr/>
          </p:nvGrpSpPr>
          <p:grpSpPr bwMode="gray">
            <a:xfrm>
              <a:off x="1187300" y="1682967"/>
              <a:ext cx="2869906" cy="852264"/>
              <a:chOff x="158262" y="1838050"/>
              <a:chExt cx="1565030" cy="1349164"/>
            </a:xfrm>
          </p:grpSpPr>
          <p:cxnSp>
            <p:nvCxnSpPr>
              <p:cNvPr id="9"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0"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cxnSp>
          <p:nvCxnSpPr>
            <p:cNvPr id="13" name="Straight Connector 6"/>
            <p:cNvCxnSpPr/>
            <p:nvPr/>
          </p:nvCxnSpPr>
          <p:spPr bwMode="gray">
            <a:xfrm>
              <a:off x="1163114" y="5011626"/>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25" name="Straight Connector 18"/>
            <p:cNvCxnSpPr/>
            <p:nvPr/>
          </p:nvCxnSpPr>
          <p:spPr bwMode="gray">
            <a:xfrm>
              <a:off x="1163114" y="2536842"/>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sp>
        <p:nvSpPr>
          <p:cNvPr id="28" name="Freeform 21"/>
          <p:cNvSpPr/>
          <p:nvPr/>
        </p:nvSpPr>
        <p:spPr bwMode="gray">
          <a:xfrm flipV="1">
            <a:off x="812284" y="3993556"/>
            <a:ext cx="1498902" cy="608536"/>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075774"/>
              <a:gd name="connsiteY0" fmla="*/ 2716537 h 3381721"/>
              <a:gd name="connsiteX1" fmla="*/ 1439273 w 2075774"/>
              <a:gd name="connsiteY1" fmla="*/ 0 h 3381721"/>
              <a:gd name="connsiteX2" fmla="*/ 2075774 w 2075774"/>
              <a:gd name="connsiteY2" fmla="*/ 1883832 h 3381721"/>
              <a:gd name="connsiteX3" fmla="*/ 60884 w 2075774"/>
              <a:gd name="connsiteY3" fmla="*/ 3381721 h 3381721"/>
              <a:gd name="connsiteX0" fmla="*/ 0 w 2075774"/>
              <a:gd name="connsiteY0" fmla="*/ 3608430 h 4273614"/>
              <a:gd name="connsiteX1" fmla="*/ 1439273 w 2075774"/>
              <a:gd name="connsiteY1" fmla="*/ 0 h 4273614"/>
              <a:gd name="connsiteX2" fmla="*/ 2075774 w 2075774"/>
              <a:gd name="connsiteY2" fmla="*/ 2775725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121669 w 2075774"/>
              <a:gd name="connsiteY3" fmla="*/ 4273614 h 4273614"/>
              <a:gd name="connsiteX0" fmla="*/ 0 w 2049723"/>
              <a:gd name="connsiteY0" fmla="*/ 3920593 h 4273614"/>
              <a:gd name="connsiteX1" fmla="*/ 1413222 w 2049723"/>
              <a:gd name="connsiteY1" fmla="*/ 0 h 4273614"/>
              <a:gd name="connsiteX2" fmla="*/ 2049723 w 2049723"/>
              <a:gd name="connsiteY2" fmla="*/ 1348697 h 4273614"/>
              <a:gd name="connsiteX3" fmla="*/ 95618 w 2049723"/>
              <a:gd name="connsiteY3" fmla="*/ 4273614 h 4273614"/>
            </a:gdLst>
            <a:ahLst/>
            <a:cxnLst>
              <a:cxn ang="0">
                <a:pos x="connsiteX0" y="connsiteY0"/>
              </a:cxn>
              <a:cxn ang="0">
                <a:pos x="connsiteX1" y="connsiteY1"/>
              </a:cxn>
              <a:cxn ang="0">
                <a:pos x="connsiteX2" y="connsiteY2"/>
              </a:cxn>
              <a:cxn ang="0">
                <a:pos x="connsiteX3" y="connsiteY3"/>
              </a:cxn>
            </a:cxnLst>
            <a:rect l="l" t="t" r="r" b="b"/>
            <a:pathLst>
              <a:path w="2049723" h="4273614">
                <a:moveTo>
                  <a:pt x="0" y="3920593"/>
                </a:moveTo>
                <a:lnTo>
                  <a:pt x="1413222" y="0"/>
                </a:lnTo>
                <a:lnTo>
                  <a:pt x="2049723" y="1348697"/>
                </a:lnTo>
                <a:lnTo>
                  <a:pt x="95618" y="4273614"/>
                </a:lnTo>
              </a:path>
            </a:pathLst>
          </a:custGeom>
          <a:gradFill flip="none" rotWithShape="0">
            <a:gsLst>
              <a:gs pos="0">
                <a:schemeClr val="bg1">
                  <a:alpha val="0"/>
                </a:schemeClr>
              </a:gs>
              <a:gs pos="100000">
                <a:srgbClr val="FFCC66"/>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Freeform 23"/>
          <p:cNvSpPr/>
          <p:nvPr/>
        </p:nvSpPr>
        <p:spPr bwMode="gray">
          <a:xfrm flipH="1">
            <a:off x="1920833" y="3131179"/>
            <a:ext cx="1453390" cy="492960"/>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105696"/>
              <a:gd name="connsiteY0" fmla="*/ 2716537 h 3381721"/>
              <a:gd name="connsiteX1" fmla="*/ 1439273 w 2105696"/>
              <a:gd name="connsiteY1" fmla="*/ 0 h 3381721"/>
              <a:gd name="connsiteX2" fmla="*/ 2105696 w 2105696"/>
              <a:gd name="connsiteY2" fmla="*/ 1883825 h 3381721"/>
              <a:gd name="connsiteX3" fmla="*/ 60884 w 2105696"/>
              <a:gd name="connsiteY3" fmla="*/ 3381721 h 3381721"/>
              <a:gd name="connsiteX0" fmla="*/ 0 w 2081858"/>
              <a:gd name="connsiteY0" fmla="*/ 2716537 h 3381721"/>
              <a:gd name="connsiteX1" fmla="*/ 1439273 w 2081858"/>
              <a:gd name="connsiteY1" fmla="*/ 0 h 3381721"/>
              <a:gd name="connsiteX2" fmla="*/ 2081858 w 2081858"/>
              <a:gd name="connsiteY2" fmla="*/ 754099 h 3381721"/>
              <a:gd name="connsiteX3" fmla="*/ 60884 w 2081858"/>
              <a:gd name="connsiteY3" fmla="*/ 3381721 h 3381721"/>
              <a:gd name="connsiteX0" fmla="*/ 0 w 2081858"/>
              <a:gd name="connsiteY0" fmla="*/ 3727354 h 4392538"/>
              <a:gd name="connsiteX1" fmla="*/ 1522710 w 2081858"/>
              <a:gd name="connsiteY1" fmla="*/ 0 h 4392538"/>
              <a:gd name="connsiteX2" fmla="*/ 2081858 w 2081858"/>
              <a:gd name="connsiteY2" fmla="*/ 1764916 h 4392538"/>
              <a:gd name="connsiteX3" fmla="*/ 60884 w 2081858"/>
              <a:gd name="connsiteY3" fmla="*/ 4392538 h 4392538"/>
              <a:gd name="connsiteX0" fmla="*/ 0 w 2081858"/>
              <a:gd name="connsiteY0" fmla="*/ 3430059 h 4095243"/>
              <a:gd name="connsiteX1" fmla="*/ 1653824 w 2081858"/>
              <a:gd name="connsiteY1" fmla="*/ 0 h 4095243"/>
              <a:gd name="connsiteX2" fmla="*/ 2081858 w 2081858"/>
              <a:gd name="connsiteY2" fmla="*/ 1467621 h 4095243"/>
              <a:gd name="connsiteX3" fmla="*/ 60884 w 2081858"/>
              <a:gd name="connsiteY3" fmla="*/ 4095243 h 4095243"/>
              <a:gd name="connsiteX0" fmla="*/ 0 w 2046100"/>
              <a:gd name="connsiteY0" fmla="*/ 3430059 h 4095243"/>
              <a:gd name="connsiteX1" fmla="*/ 1618066 w 2046100"/>
              <a:gd name="connsiteY1" fmla="*/ 0 h 4095243"/>
              <a:gd name="connsiteX2" fmla="*/ 2046100 w 2046100"/>
              <a:gd name="connsiteY2" fmla="*/ 1467621 h 4095243"/>
              <a:gd name="connsiteX3" fmla="*/ 25126 w 2046100"/>
              <a:gd name="connsiteY3" fmla="*/ 4095243 h 4095243"/>
              <a:gd name="connsiteX0" fmla="*/ 0 w 2046100"/>
              <a:gd name="connsiteY0" fmla="*/ 3661572 h 4326756"/>
              <a:gd name="connsiteX1" fmla="*/ 1543798 w 2046100"/>
              <a:gd name="connsiteY1" fmla="*/ 0 h 4326756"/>
              <a:gd name="connsiteX2" fmla="*/ 2046100 w 2046100"/>
              <a:gd name="connsiteY2" fmla="*/ 1699134 h 4326756"/>
              <a:gd name="connsiteX3" fmla="*/ 25126 w 2046100"/>
              <a:gd name="connsiteY3" fmla="*/ 4326756 h 4326756"/>
            </a:gdLst>
            <a:ahLst/>
            <a:cxnLst>
              <a:cxn ang="0">
                <a:pos x="connsiteX0" y="connsiteY0"/>
              </a:cxn>
              <a:cxn ang="0">
                <a:pos x="connsiteX1" y="connsiteY1"/>
              </a:cxn>
              <a:cxn ang="0">
                <a:pos x="connsiteX2" y="connsiteY2"/>
              </a:cxn>
              <a:cxn ang="0">
                <a:pos x="connsiteX3" y="connsiteY3"/>
              </a:cxn>
            </a:cxnLst>
            <a:rect l="l" t="t" r="r" b="b"/>
            <a:pathLst>
              <a:path w="2046100" h="4326756">
                <a:moveTo>
                  <a:pt x="0" y="3661572"/>
                </a:moveTo>
                <a:lnTo>
                  <a:pt x="1543798" y="0"/>
                </a:lnTo>
                <a:lnTo>
                  <a:pt x="2046100" y="1699134"/>
                </a:lnTo>
                <a:lnTo>
                  <a:pt x="25126" y="4326756"/>
                </a:lnTo>
              </a:path>
            </a:pathLst>
          </a:custGeom>
          <a:gradFill flip="none" rotWithShape="0">
            <a:gsLst>
              <a:gs pos="0">
                <a:schemeClr val="bg1">
                  <a:alpha val="0"/>
                </a:schemeClr>
              </a:gs>
              <a:gs pos="100000">
                <a:srgbClr val="FFCC6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Freeform 24"/>
          <p:cNvSpPr/>
          <p:nvPr/>
        </p:nvSpPr>
        <p:spPr bwMode="gray">
          <a:xfrm>
            <a:off x="812284" y="3137237"/>
            <a:ext cx="1498902" cy="486905"/>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075774"/>
              <a:gd name="connsiteY0" fmla="*/ 2716537 h 3381721"/>
              <a:gd name="connsiteX1" fmla="*/ 1439273 w 2075774"/>
              <a:gd name="connsiteY1" fmla="*/ 0 h 3381721"/>
              <a:gd name="connsiteX2" fmla="*/ 2075774 w 2075774"/>
              <a:gd name="connsiteY2" fmla="*/ 1883832 h 3381721"/>
              <a:gd name="connsiteX3" fmla="*/ 60884 w 2075774"/>
              <a:gd name="connsiteY3" fmla="*/ 3381721 h 3381721"/>
              <a:gd name="connsiteX0" fmla="*/ 0 w 2075774"/>
              <a:gd name="connsiteY0" fmla="*/ 3608430 h 4273614"/>
              <a:gd name="connsiteX1" fmla="*/ 1439273 w 2075774"/>
              <a:gd name="connsiteY1" fmla="*/ 0 h 4273614"/>
              <a:gd name="connsiteX2" fmla="*/ 2075774 w 2075774"/>
              <a:gd name="connsiteY2" fmla="*/ 2775725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121669 w 2075774"/>
              <a:gd name="connsiteY3" fmla="*/ 4273614 h 4273614"/>
              <a:gd name="connsiteX0" fmla="*/ 0 w 2049723"/>
              <a:gd name="connsiteY0" fmla="*/ 3920593 h 4273614"/>
              <a:gd name="connsiteX1" fmla="*/ 1413222 w 2049723"/>
              <a:gd name="connsiteY1" fmla="*/ 0 h 4273614"/>
              <a:gd name="connsiteX2" fmla="*/ 2049723 w 2049723"/>
              <a:gd name="connsiteY2" fmla="*/ 1348697 h 4273614"/>
              <a:gd name="connsiteX3" fmla="*/ 95618 w 2049723"/>
              <a:gd name="connsiteY3" fmla="*/ 4273614 h 4273614"/>
            </a:gdLst>
            <a:ahLst/>
            <a:cxnLst>
              <a:cxn ang="0">
                <a:pos x="connsiteX0" y="connsiteY0"/>
              </a:cxn>
              <a:cxn ang="0">
                <a:pos x="connsiteX1" y="connsiteY1"/>
              </a:cxn>
              <a:cxn ang="0">
                <a:pos x="connsiteX2" y="connsiteY2"/>
              </a:cxn>
              <a:cxn ang="0">
                <a:pos x="connsiteX3" y="connsiteY3"/>
              </a:cxn>
            </a:cxnLst>
            <a:rect l="l" t="t" r="r" b="b"/>
            <a:pathLst>
              <a:path w="2049723" h="4273614">
                <a:moveTo>
                  <a:pt x="0" y="3920593"/>
                </a:moveTo>
                <a:lnTo>
                  <a:pt x="1413222" y="0"/>
                </a:lnTo>
                <a:lnTo>
                  <a:pt x="2049723" y="1348697"/>
                </a:lnTo>
                <a:lnTo>
                  <a:pt x="95618" y="4273614"/>
                </a:lnTo>
              </a:path>
            </a:pathLst>
          </a:custGeom>
          <a:gradFill flip="none" rotWithShape="0">
            <a:gsLst>
              <a:gs pos="0">
                <a:schemeClr val="bg1">
                  <a:alpha val="0"/>
                </a:schemeClr>
              </a:gs>
              <a:gs pos="100000">
                <a:srgbClr val="FFCC66"/>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TextBox 25"/>
          <p:cNvSpPr txBox="1"/>
          <p:nvPr/>
        </p:nvSpPr>
        <p:spPr bwMode="gray">
          <a:xfrm>
            <a:off x="1458934" y="2976403"/>
            <a:ext cx="1273554" cy="461665"/>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VRID100</a:t>
            </a:r>
          </a:p>
          <a:p>
            <a:pPr algn="ctr"/>
            <a:r>
              <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10.1.1.1</a:t>
            </a:r>
          </a:p>
        </p:txBody>
      </p:sp>
      <p:pic>
        <p:nvPicPr>
          <p:cNvPr id="64" name="图片 76" descr="接入交换机.png"/>
          <p:cNvPicPr>
            <a:picLocks noChangeAspect="1"/>
          </p:cNvPicPr>
          <p:nvPr/>
        </p:nvPicPr>
        <p:blipFill>
          <a:blip r:embed="rId3" cstate="print"/>
          <a:stretch>
            <a:fillRect/>
          </a:stretch>
        </p:blipFill>
        <p:spPr bwMode="gray">
          <a:xfrm>
            <a:off x="586591" y="2440659"/>
            <a:ext cx="490909" cy="401653"/>
          </a:xfrm>
          <a:prstGeom prst="rect">
            <a:avLst/>
          </a:prstGeom>
        </p:spPr>
      </p:pic>
      <p:sp>
        <p:nvSpPr>
          <p:cNvPr id="65" name="Freeform 159"/>
          <p:cNvSpPr/>
          <p:nvPr/>
        </p:nvSpPr>
        <p:spPr bwMode="gray">
          <a:xfrm flipH="1">
            <a:off x="1675029" y="551052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内网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159"/>
          <p:cNvSpPr/>
          <p:nvPr/>
        </p:nvSpPr>
        <p:spPr bwMode="gray">
          <a:xfrm flipH="1">
            <a:off x="1675029" y="15845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外网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7" name="图片 76" descr="接入交换机.png"/>
          <p:cNvPicPr>
            <a:picLocks noChangeAspect="1"/>
          </p:cNvPicPr>
          <p:nvPr/>
        </p:nvPicPr>
        <p:blipFill>
          <a:blip r:embed="rId3" cstate="print"/>
          <a:stretch>
            <a:fillRect/>
          </a:stretch>
        </p:blipFill>
        <p:spPr bwMode="gray">
          <a:xfrm>
            <a:off x="3125113" y="2440659"/>
            <a:ext cx="490909" cy="401653"/>
          </a:xfrm>
          <a:prstGeom prst="rect">
            <a:avLst/>
          </a:prstGeom>
        </p:spPr>
      </p:pic>
      <p:pic>
        <p:nvPicPr>
          <p:cNvPr id="69" name="图片 76" descr="接入交换机.png"/>
          <p:cNvPicPr>
            <a:picLocks noChangeAspect="1"/>
          </p:cNvPicPr>
          <p:nvPr/>
        </p:nvPicPr>
        <p:blipFill>
          <a:blip r:embed="rId3" cstate="print"/>
          <a:stretch>
            <a:fillRect/>
          </a:stretch>
        </p:blipFill>
        <p:spPr bwMode="gray">
          <a:xfrm>
            <a:off x="586591" y="4832139"/>
            <a:ext cx="490909" cy="401653"/>
          </a:xfrm>
          <a:prstGeom prst="rect">
            <a:avLst/>
          </a:prstGeom>
        </p:spPr>
      </p:pic>
      <p:pic>
        <p:nvPicPr>
          <p:cNvPr id="70" name="图片 76" descr="接入交换机.png"/>
          <p:cNvPicPr>
            <a:picLocks noChangeAspect="1"/>
          </p:cNvPicPr>
          <p:nvPr/>
        </p:nvPicPr>
        <p:blipFill>
          <a:blip r:embed="rId3" cstate="print"/>
          <a:stretch>
            <a:fillRect/>
          </a:stretch>
        </p:blipFill>
        <p:spPr bwMode="gray">
          <a:xfrm>
            <a:off x="3125113" y="4832139"/>
            <a:ext cx="490909" cy="401653"/>
          </a:xfrm>
          <a:prstGeom prst="rect">
            <a:avLst/>
          </a:prstGeom>
        </p:spPr>
      </p:pic>
      <p:pic>
        <p:nvPicPr>
          <p:cNvPr id="72"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125113" y="3622475"/>
            <a:ext cx="490909" cy="401653"/>
          </a:xfrm>
          <a:prstGeom prst="rect">
            <a:avLst/>
          </a:prstGeom>
        </p:spPr>
      </p:pic>
      <p:sp>
        <p:nvSpPr>
          <p:cNvPr id="73" name="Oval 15"/>
          <p:cNvSpPr>
            <a:spLocks noChangeAspect="1"/>
          </p:cNvSpPr>
          <p:nvPr/>
        </p:nvSpPr>
        <p:spPr bwMode="gray">
          <a:xfrm>
            <a:off x="3304690" y="3947039"/>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Oval 26"/>
          <p:cNvSpPr>
            <a:spLocks noChangeAspect="1"/>
          </p:cNvSpPr>
          <p:nvPr/>
        </p:nvSpPr>
        <p:spPr bwMode="gray">
          <a:xfrm>
            <a:off x="3304690" y="3551385"/>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Rectangle 68"/>
          <p:cNvSpPr/>
          <p:nvPr/>
        </p:nvSpPr>
        <p:spPr bwMode="gray">
          <a:xfrm>
            <a:off x="3747103" y="3438554"/>
            <a:ext cx="2054008" cy="938719"/>
          </a:xfrm>
          <a:prstGeom prst="rect">
            <a:avLst/>
          </a:prstGeom>
        </p:spPr>
        <p:txBody>
          <a:bodyPr wrap="square">
            <a:spAutoFit/>
          </a:bodyPr>
          <a:lstStyle/>
          <a:p>
            <a:pPr marL="176213" indent="-176213" algn="just">
              <a:lnSpc>
                <a:spcPts val="2000"/>
              </a:lnSpc>
              <a:spcAft>
                <a:spcPts val="6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两台防火墙独立运行</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，需分别进行配置维护</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gn="just">
              <a:lnSpc>
                <a:spcPts val="2000"/>
              </a:lnSpc>
              <a:spcAft>
                <a:spcPts val="600"/>
              </a:spcAft>
              <a:buFont typeface="Arial" panose="020B0604020202020204" pitchFamily="34" charset="0"/>
              <a:buChar char="•"/>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多</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个</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组相互</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独立。</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76"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586591" y="3622475"/>
            <a:ext cx="490909" cy="401653"/>
          </a:xfrm>
          <a:prstGeom prst="rect">
            <a:avLst/>
          </a:prstGeom>
        </p:spPr>
      </p:pic>
      <p:sp>
        <p:nvSpPr>
          <p:cNvPr id="77" name="Oval 22"/>
          <p:cNvSpPr>
            <a:spLocks noChangeAspect="1"/>
          </p:cNvSpPr>
          <p:nvPr/>
        </p:nvSpPr>
        <p:spPr bwMode="gray">
          <a:xfrm>
            <a:off x="766168" y="3947039"/>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Oval 27"/>
          <p:cNvSpPr>
            <a:spLocks noChangeAspect="1"/>
          </p:cNvSpPr>
          <p:nvPr/>
        </p:nvSpPr>
        <p:spPr bwMode="gray">
          <a:xfrm>
            <a:off x="766168" y="3551385"/>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TextBox 10"/>
          <p:cNvSpPr txBox="1"/>
          <p:nvPr/>
        </p:nvSpPr>
        <p:spPr bwMode="gray">
          <a:xfrm>
            <a:off x="8695556" y="3698726"/>
            <a:ext cx="516488"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FW2</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2" name="TextBox 17"/>
          <p:cNvSpPr txBox="1"/>
          <p:nvPr/>
        </p:nvSpPr>
        <p:spPr bwMode="gray">
          <a:xfrm>
            <a:off x="7110894" y="3698726"/>
            <a:ext cx="516488" cy="276999"/>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FW1</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83" name="组合 82"/>
          <p:cNvGrpSpPr/>
          <p:nvPr/>
        </p:nvGrpSpPr>
        <p:grpSpPr bwMode="gray">
          <a:xfrm>
            <a:off x="6847789" y="1743927"/>
            <a:ext cx="2572169" cy="4195900"/>
            <a:chOff x="1163114" y="1682967"/>
            <a:chExt cx="2894093" cy="4195900"/>
          </a:xfrm>
        </p:grpSpPr>
        <p:cxnSp>
          <p:nvCxnSpPr>
            <p:cNvPr id="84" name="直接连接符 3"/>
            <p:cNvCxnSpPr/>
            <p:nvPr/>
          </p:nvCxnSpPr>
          <p:spPr bwMode="gray">
            <a:xfrm flipV="1">
              <a:off x="4057206" y="2466712"/>
              <a:ext cx="0" cy="2559891"/>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85" name="直接连接符 3"/>
            <p:cNvCxnSpPr/>
            <p:nvPr/>
          </p:nvCxnSpPr>
          <p:spPr bwMode="gray">
            <a:xfrm flipV="1">
              <a:off x="1187300" y="2466712"/>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86" name="Group 52"/>
            <p:cNvGrpSpPr/>
            <p:nvPr/>
          </p:nvGrpSpPr>
          <p:grpSpPr bwMode="gray">
            <a:xfrm rot="10800000">
              <a:off x="1187300" y="5026603"/>
              <a:ext cx="2869906" cy="852264"/>
              <a:chOff x="158262" y="1838050"/>
              <a:chExt cx="1565030" cy="1349164"/>
            </a:xfrm>
          </p:grpSpPr>
          <p:cxnSp>
            <p:nvCxnSpPr>
              <p:cNvPr id="92"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3"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grpSp>
          <p:nvGrpSpPr>
            <p:cNvPr id="87" name="Group 49"/>
            <p:cNvGrpSpPr/>
            <p:nvPr/>
          </p:nvGrpSpPr>
          <p:grpSpPr bwMode="gray">
            <a:xfrm>
              <a:off x="1187300" y="1682967"/>
              <a:ext cx="2869906" cy="852264"/>
              <a:chOff x="158262" y="1838050"/>
              <a:chExt cx="1565030" cy="1349164"/>
            </a:xfrm>
          </p:grpSpPr>
          <p:cxnSp>
            <p:nvCxnSpPr>
              <p:cNvPr id="90"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1"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cxnSp>
          <p:nvCxnSpPr>
            <p:cNvPr id="88" name="Straight Connector 6"/>
            <p:cNvCxnSpPr/>
            <p:nvPr/>
          </p:nvCxnSpPr>
          <p:spPr bwMode="gray">
            <a:xfrm>
              <a:off x="1163114" y="5011626"/>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9" name="Straight Connector 18"/>
            <p:cNvCxnSpPr/>
            <p:nvPr/>
          </p:nvCxnSpPr>
          <p:spPr bwMode="gray">
            <a:xfrm>
              <a:off x="1163114" y="2536842"/>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98" name="图片 76" descr="接入交换机.png"/>
          <p:cNvPicPr>
            <a:picLocks noChangeAspect="1"/>
          </p:cNvPicPr>
          <p:nvPr/>
        </p:nvPicPr>
        <p:blipFill>
          <a:blip r:embed="rId3" cstate="print"/>
          <a:stretch>
            <a:fillRect/>
          </a:stretch>
        </p:blipFill>
        <p:spPr bwMode="gray">
          <a:xfrm>
            <a:off x="6634619" y="2440659"/>
            <a:ext cx="490909" cy="401653"/>
          </a:xfrm>
          <a:prstGeom prst="rect">
            <a:avLst/>
          </a:prstGeom>
        </p:spPr>
      </p:pic>
      <p:sp>
        <p:nvSpPr>
          <p:cNvPr id="99" name="Freeform 159"/>
          <p:cNvSpPr/>
          <p:nvPr/>
        </p:nvSpPr>
        <p:spPr bwMode="gray">
          <a:xfrm flipH="1">
            <a:off x="7723057" y="551052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内网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0" name="Freeform 159"/>
          <p:cNvSpPr/>
          <p:nvPr/>
        </p:nvSpPr>
        <p:spPr bwMode="gray">
          <a:xfrm flipH="1">
            <a:off x="7723057" y="15845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外网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1" name="图片 76" descr="接入交换机.png"/>
          <p:cNvPicPr>
            <a:picLocks noChangeAspect="1"/>
          </p:cNvPicPr>
          <p:nvPr/>
        </p:nvPicPr>
        <p:blipFill>
          <a:blip r:embed="rId3" cstate="print"/>
          <a:stretch>
            <a:fillRect/>
          </a:stretch>
        </p:blipFill>
        <p:spPr bwMode="gray">
          <a:xfrm>
            <a:off x="9173141" y="2440659"/>
            <a:ext cx="490909" cy="401653"/>
          </a:xfrm>
          <a:prstGeom prst="rect">
            <a:avLst/>
          </a:prstGeom>
        </p:spPr>
      </p:pic>
      <p:pic>
        <p:nvPicPr>
          <p:cNvPr id="102" name="图片 76" descr="接入交换机.png"/>
          <p:cNvPicPr>
            <a:picLocks noChangeAspect="1"/>
          </p:cNvPicPr>
          <p:nvPr/>
        </p:nvPicPr>
        <p:blipFill>
          <a:blip r:embed="rId3" cstate="print"/>
          <a:stretch>
            <a:fillRect/>
          </a:stretch>
        </p:blipFill>
        <p:spPr bwMode="gray">
          <a:xfrm>
            <a:off x="6634619" y="4832139"/>
            <a:ext cx="490909" cy="401653"/>
          </a:xfrm>
          <a:prstGeom prst="rect">
            <a:avLst/>
          </a:prstGeom>
        </p:spPr>
      </p:pic>
      <p:pic>
        <p:nvPicPr>
          <p:cNvPr id="103" name="图片 76" descr="接入交换机.png"/>
          <p:cNvPicPr>
            <a:picLocks noChangeAspect="1"/>
          </p:cNvPicPr>
          <p:nvPr/>
        </p:nvPicPr>
        <p:blipFill>
          <a:blip r:embed="rId3" cstate="print"/>
          <a:stretch>
            <a:fillRect/>
          </a:stretch>
        </p:blipFill>
        <p:spPr bwMode="gray">
          <a:xfrm>
            <a:off x="9173141" y="4832139"/>
            <a:ext cx="490909" cy="401653"/>
          </a:xfrm>
          <a:prstGeom prst="rect">
            <a:avLst/>
          </a:prstGeom>
        </p:spPr>
      </p:pic>
      <p:pic>
        <p:nvPicPr>
          <p:cNvPr id="104"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173141" y="3622475"/>
            <a:ext cx="490909" cy="401653"/>
          </a:xfrm>
          <a:prstGeom prst="rect">
            <a:avLst/>
          </a:prstGeom>
        </p:spPr>
      </p:pic>
      <p:sp>
        <p:nvSpPr>
          <p:cNvPr id="105" name="Oval 15"/>
          <p:cNvSpPr>
            <a:spLocks noChangeAspect="1"/>
          </p:cNvSpPr>
          <p:nvPr/>
        </p:nvSpPr>
        <p:spPr bwMode="gray">
          <a:xfrm>
            <a:off x="9352718" y="3947039"/>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6" name="Oval 26"/>
          <p:cNvSpPr>
            <a:spLocks noChangeAspect="1"/>
          </p:cNvSpPr>
          <p:nvPr/>
        </p:nvSpPr>
        <p:spPr bwMode="gray">
          <a:xfrm>
            <a:off x="9352718" y="3551385"/>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7"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634619" y="3622475"/>
            <a:ext cx="490909" cy="401653"/>
          </a:xfrm>
          <a:prstGeom prst="rect">
            <a:avLst/>
          </a:prstGeom>
        </p:spPr>
      </p:pic>
      <p:sp>
        <p:nvSpPr>
          <p:cNvPr id="108" name="Oval 22"/>
          <p:cNvSpPr>
            <a:spLocks noChangeAspect="1"/>
          </p:cNvSpPr>
          <p:nvPr/>
        </p:nvSpPr>
        <p:spPr bwMode="gray">
          <a:xfrm>
            <a:off x="6814196" y="3947039"/>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9" name="Oval 27"/>
          <p:cNvSpPr>
            <a:spLocks noChangeAspect="1"/>
          </p:cNvSpPr>
          <p:nvPr/>
        </p:nvSpPr>
        <p:spPr bwMode="gray">
          <a:xfrm>
            <a:off x="6814196" y="3551385"/>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0" name="Rectangle 68"/>
          <p:cNvSpPr/>
          <p:nvPr/>
        </p:nvSpPr>
        <p:spPr bwMode="gray">
          <a:xfrm>
            <a:off x="9841642" y="4629974"/>
            <a:ext cx="1805321" cy="1118255"/>
          </a:xfrm>
          <a:prstGeom prst="rect">
            <a:avLst/>
          </a:prstGeom>
        </p:spPr>
        <p:txBody>
          <a:bodyPr wrap="square">
            <a:spAutoFit/>
          </a:bodyPr>
          <a:lstStyle/>
          <a:p>
            <a:pPr algn="just">
              <a:lnSpc>
                <a:spcPts val="2000"/>
              </a:lnSpc>
              <a:spcAft>
                <a:spcPts val="600"/>
              </a:spcAft>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当</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组状态不一致时</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，易使流量往返</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路径不</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一致，</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导致回程流量被丢弃。</a:t>
            </a:r>
          </a:p>
        </p:txBody>
      </p:sp>
      <p:sp>
        <p:nvSpPr>
          <p:cNvPr id="111" name="TextBox 10"/>
          <p:cNvSpPr txBox="1"/>
          <p:nvPr/>
        </p:nvSpPr>
        <p:spPr bwMode="gray">
          <a:xfrm>
            <a:off x="6858751" y="4062001"/>
            <a:ext cx="603050" cy="276999"/>
          </a:xfrm>
          <a:prstGeom prst="rect">
            <a:avLst/>
          </a:prstGeom>
          <a:noFill/>
        </p:spPr>
        <p:txBody>
          <a:bodyPr wrap="none" rtlCol="0">
            <a:spAutoFit/>
          </a:bodyPr>
          <a:lstStyle/>
          <a:p>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Active</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3" name="TextBox 10"/>
          <p:cNvSpPr txBox="1"/>
          <p:nvPr/>
        </p:nvSpPr>
        <p:spPr bwMode="gray">
          <a:xfrm>
            <a:off x="6858751" y="3269406"/>
            <a:ext cx="747320" cy="276999"/>
          </a:xfrm>
          <a:prstGeom prst="rect">
            <a:avLst/>
          </a:prstGeom>
          <a:noFill/>
        </p:spPr>
        <p:txBody>
          <a:bodyPr wrap="none" rtlCol="0">
            <a:spAutoFit/>
          </a:bodyPr>
          <a:lstStyle/>
          <a:p>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Standby</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4" name="TextBox 10"/>
          <p:cNvSpPr txBox="1"/>
          <p:nvPr/>
        </p:nvSpPr>
        <p:spPr bwMode="gray">
          <a:xfrm>
            <a:off x="8668582" y="4062001"/>
            <a:ext cx="747320" cy="276999"/>
          </a:xfrm>
          <a:prstGeom prst="rect">
            <a:avLst/>
          </a:prstGeom>
          <a:noFill/>
        </p:spPr>
        <p:txBody>
          <a:bodyPr wrap="none" rtlCol="0">
            <a:spAutoFit/>
          </a:bodyPr>
          <a:lstStyle/>
          <a:p>
            <a:pPr algn="r"/>
            <a:r>
              <a:rPr lang="en-US" altLang="zh-CN"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Standby</a:t>
            </a:r>
          </a:p>
        </p:txBody>
      </p:sp>
      <p:sp>
        <p:nvSpPr>
          <p:cNvPr id="115" name="TextBox 10"/>
          <p:cNvSpPr txBox="1"/>
          <p:nvPr/>
        </p:nvSpPr>
        <p:spPr bwMode="gray">
          <a:xfrm>
            <a:off x="8812852" y="3269406"/>
            <a:ext cx="603050" cy="276999"/>
          </a:xfrm>
          <a:prstGeom prst="rect">
            <a:avLst/>
          </a:prstGeom>
          <a:noFill/>
        </p:spPr>
        <p:txBody>
          <a:bodyPr wrap="none" rtlCol="0">
            <a:spAutoFit/>
          </a:bodyPr>
          <a:lstStyle/>
          <a:p>
            <a:pPr algn="r"/>
            <a:r>
              <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Active</a:t>
            </a:r>
          </a:p>
        </p:txBody>
      </p:sp>
      <p:cxnSp>
        <p:nvCxnSpPr>
          <p:cNvPr id="116" name="Straight Arrow Connector 70"/>
          <p:cNvCxnSpPr/>
          <p:nvPr/>
        </p:nvCxnSpPr>
        <p:spPr bwMode="gray">
          <a:xfrm flipH="1" flipV="1">
            <a:off x="6984182" y="5313035"/>
            <a:ext cx="672520" cy="466720"/>
          </a:xfrm>
          <a:prstGeom prst="straightConnector1">
            <a:avLst/>
          </a:prstGeom>
          <a:solidFill>
            <a:schemeClr val="accent1"/>
          </a:solidFill>
          <a:ln w="28575" cap="flat" cmpd="sng" algn="ctr">
            <a:solidFill>
              <a:srgbClr val="30B5C5"/>
            </a:solidFill>
            <a:prstDash val="solid"/>
            <a:round/>
            <a:headEnd type="none" w="med" len="med"/>
            <a:tailEnd type="triangle" w="med" len="med"/>
          </a:ln>
          <a:effectLst/>
        </p:spPr>
      </p:cxnSp>
      <p:cxnSp>
        <p:nvCxnSpPr>
          <p:cNvPr id="121" name="Straight Arrow Connector 70"/>
          <p:cNvCxnSpPr/>
          <p:nvPr/>
        </p:nvCxnSpPr>
        <p:spPr bwMode="gray">
          <a:xfrm flipV="1">
            <a:off x="6758075" y="4156514"/>
            <a:ext cx="0" cy="580061"/>
          </a:xfrm>
          <a:prstGeom prst="straightConnector1">
            <a:avLst/>
          </a:prstGeom>
          <a:solidFill>
            <a:schemeClr val="accent1"/>
          </a:solidFill>
          <a:ln w="28575" cap="flat" cmpd="sng" algn="ctr">
            <a:solidFill>
              <a:srgbClr val="30B5C5"/>
            </a:solidFill>
            <a:prstDash val="solid"/>
            <a:round/>
            <a:headEnd type="none" w="med" len="med"/>
            <a:tailEnd type="triangle" w="med" len="med"/>
          </a:ln>
          <a:effectLst/>
        </p:spPr>
      </p:cxnSp>
      <p:cxnSp>
        <p:nvCxnSpPr>
          <p:cNvPr id="123" name="Straight Arrow Connector 70"/>
          <p:cNvCxnSpPr/>
          <p:nvPr/>
        </p:nvCxnSpPr>
        <p:spPr bwMode="gray">
          <a:xfrm flipV="1">
            <a:off x="6758075" y="2966344"/>
            <a:ext cx="0" cy="580061"/>
          </a:xfrm>
          <a:prstGeom prst="straightConnector1">
            <a:avLst/>
          </a:prstGeom>
          <a:solidFill>
            <a:schemeClr val="accent1"/>
          </a:solidFill>
          <a:ln w="28575" cap="flat" cmpd="sng" algn="ctr">
            <a:solidFill>
              <a:srgbClr val="30B5C5"/>
            </a:solidFill>
            <a:prstDash val="solid"/>
            <a:round/>
            <a:headEnd type="none" w="med" len="med"/>
            <a:tailEnd type="triangle" w="med" len="med"/>
          </a:ln>
          <a:effectLst/>
        </p:spPr>
      </p:cxnSp>
      <p:cxnSp>
        <p:nvCxnSpPr>
          <p:cNvPr id="124" name="Straight Arrow Connector 70"/>
          <p:cNvCxnSpPr/>
          <p:nvPr/>
        </p:nvCxnSpPr>
        <p:spPr bwMode="gray">
          <a:xfrm flipV="1">
            <a:off x="7038330" y="1977390"/>
            <a:ext cx="567741" cy="384026"/>
          </a:xfrm>
          <a:prstGeom prst="straightConnector1">
            <a:avLst/>
          </a:prstGeom>
          <a:solidFill>
            <a:schemeClr val="accent1"/>
          </a:solidFill>
          <a:ln w="28575" cap="flat" cmpd="sng" algn="ctr">
            <a:solidFill>
              <a:srgbClr val="30B5C5"/>
            </a:solidFill>
            <a:prstDash val="solid"/>
            <a:round/>
            <a:headEnd type="none" w="med" len="med"/>
            <a:tailEnd type="triangle" w="med" len="med"/>
          </a:ln>
          <a:effectLst/>
        </p:spPr>
      </p:cxnSp>
      <p:cxnSp>
        <p:nvCxnSpPr>
          <p:cNvPr id="127" name="Straight Arrow Connector 70"/>
          <p:cNvCxnSpPr/>
          <p:nvPr/>
        </p:nvCxnSpPr>
        <p:spPr bwMode="gray">
          <a:xfrm>
            <a:off x="8677375" y="1944428"/>
            <a:ext cx="620242" cy="415057"/>
          </a:xfrm>
          <a:prstGeom prst="straightConnector1">
            <a:avLst/>
          </a:prstGeom>
          <a:solidFill>
            <a:schemeClr val="accent1"/>
          </a:solidFill>
          <a:ln w="28575" cap="flat" cmpd="sng" algn="ctr">
            <a:solidFill>
              <a:srgbClr val="30B5C5"/>
            </a:solidFill>
            <a:prstDash val="solid"/>
            <a:round/>
            <a:headEnd type="none" w="med" len="med"/>
            <a:tailEnd type="triangle" w="med" len="med"/>
          </a:ln>
          <a:effectLst/>
        </p:spPr>
      </p:cxnSp>
      <p:cxnSp>
        <p:nvCxnSpPr>
          <p:cNvPr id="129" name="Straight Arrow Connector 70"/>
          <p:cNvCxnSpPr/>
          <p:nvPr/>
        </p:nvCxnSpPr>
        <p:spPr bwMode="gray">
          <a:xfrm>
            <a:off x="9527360" y="2922579"/>
            <a:ext cx="0" cy="560546"/>
          </a:xfrm>
          <a:prstGeom prst="straightConnector1">
            <a:avLst/>
          </a:prstGeom>
          <a:solidFill>
            <a:schemeClr val="accent1"/>
          </a:solidFill>
          <a:ln w="28575" cap="flat" cmpd="sng" algn="ctr">
            <a:solidFill>
              <a:srgbClr val="30B5C5"/>
            </a:solidFill>
            <a:prstDash val="solid"/>
            <a:round/>
            <a:headEnd type="none" w="med" len="med"/>
            <a:tailEnd type="triangle" w="med" len="med"/>
          </a:ln>
          <a:effectLst/>
        </p:spPr>
      </p:cxnSp>
      <p:sp>
        <p:nvSpPr>
          <p:cNvPr id="146" name="Rectangle 68"/>
          <p:cNvSpPr/>
          <p:nvPr/>
        </p:nvSpPr>
        <p:spPr bwMode="gray">
          <a:xfrm>
            <a:off x="10129661" y="3162354"/>
            <a:ext cx="1279663" cy="861774"/>
          </a:xfrm>
          <a:prstGeom prst="rect">
            <a:avLst/>
          </a:prstGeom>
        </p:spPr>
        <p:txBody>
          <a:bodyPr wrap="square">
            <a:spAutoFit/>
          </a:bodyPr>
          <a:lstStyle/>
          <a:p>
            <a:pPr algn="just">
              <a:lnSpc>
                <a:spcPts val="2000"/>
              </a:lnSpc>
              <a:spcAft>
                <a:spcPts val="600"/>
              </a:spcAft>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没有</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匹配的会话表项，回程报文被丢弃。</a:t>
            </a:r>
          </a:p>
        </p:txBody>
      </p:sp>
      <p:sp>
        <p:nvSpPr>
          <p:cNvPr id="151" name="圆角矩形 75"/>
          <p:cNvSpPr/>
          <p:nvPr/>
        </p:nvSpPr>
        <p:spPr bwMode="gray">
          <a:xfrm>
            <a:off x="442913" y="1449388"/>
            <a:ext cx="5527243" cy="4751386"/>
          </a:xfrm>
          <a:prstGeom prst="roundRect">
            <a:avLst>
              <a:gd name="adj" fmla="val 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52" name="圆角矩形 75"/>
          <p:cNvSpPr/>
          <p:nvPr/>
        </p:nvSpPr>
        <p:spPr bwMode="gray">
          <a:xfrm>
            <a:off x="6211764" y="1449388"/>
            <a:ext cx="5537324" cy="4751386"/>
          </a:xfrm>
          <a:prstGeom prst="roundRect">
            <a:avLst>
              <a:gd name="adj" fmla="val 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Tree>
    <p:extLst>
      <p:ext uri="{BB962C8B-B14F-4D97-AF65-F5344CB8AC3E}">
        <p14:creationId xmlns:p14="http://schemas.microsoft.com/office/powerpoint/2010/main" val="113985333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Straight Connector 18"/>
          <p:cNvCxnSpPr/>
          <p:nvPr/>
        </p:nvCxnSpPr>
        <p:spPr bwMode="gray">
          <a:xfrm>
            <a:off x="1263493" y="3764943"/>
            <a:ext cx="2572169" cy="0"/>
          </a:xfrm>
          <a:prstGeom prst="line">
            <a:avLst/>
          </a:prstGeom>
          <a:solidFill>
            <a:schemeClr val="accent1"/>
          </a:solidFill>
          <a:ln w="19050" cap="flat" cmpd="sng" algn="ctr">
            <a:solidFill>
              <a:srgbClr val="56C4D2"/>
            </a:solidFill>
            <a:prstDash val="solid"/>
            <a:round/>
            <a:headEnd type="none" w="med" len="med"/>
            <a:tailEnd type="none" w="med" len="med"/>
          </a:ln>
          <a:effectLst/>
        </p:spPr>
      </p:cxnSp>
      <p:sp>
        <p:nvSpPr>
          <p:cNvPr id="2" name="标题 1"/>
          <p:cNvSpPr>
            <a:spLocks noGrp="1"/>
          </p:cNvSpPr>
          <p:nvPr>
            <p:ph type="title"/>
          </p:nvPr>
        </p:nvSpPr>
        <p:spPr bwMode="gray"/>
        <p:txBody>
          <a:bodyPr/>
          <a:lstStyle/>
          <a:p>
            <a:r>
              <a:rPr lang="zh-CN" altLang="en-US" smtClean="0">
                <a:sym typeface="Huawei Sans" panose="020C0503030203020204" pitchFamily="34" charset="0"/>
              </a:rPr>
              <a:t>防火墙双机热备简介</a:t>
            </a:r>
            <a:endParaRPr lang="zh-CN" altLang="en-US">
              <a:sym typeface="Huawei Sans" panose="020C0503030203020204" pitchFamily="34" charset="0"/>
            </a:endParaRPr>
          </a:p>
        </p:txBody>
      </p:sp>
      <p:grpSp>
        <p:nvGrpSpPr>
          <p:cNvPr id="7" name="组合 6"/>
          <p:cNvGrpSpPr/>
          <p:nvPr/>
        </p:nvGrpSpPr>
        <p:grpSpPr bwMode="gray">
          <a:xfrm>
            <a:off x="1111093" y="1682967"/>
            <a:ext cx="2572169" cy="4195900"/>
            <a:chOff x="1163114" y="1682967"/>
            <a:chExt cx="2894093" cy="4195900"/>
          </a:xfrm>
        </p:grpSpPr>
        <p:cxnSp>
          <p:nvCxnSpPr>
            <p:cNvPr id="8" name="直接连接符 3"/>
            <p:cNvCxnSpPr/>
            <p:nvPr/>
          </p:nvCxnSpPr>
          <p:spPr bwMode="gray">
            <a:xfrm flipV="1">
              <a:off x="4057206" y="2466712"/>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直接连接符 3"/>
            <p:cNvCxnSpPr/>
            <p:nvPr/>
          </p:nvCxnSpPr>
          <p:spPr bwMode="gray">
            <a:xfrm flipV="1">
              <a:off x="1187300" y="2466712"/>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10" name="Group 52"/>
            <p:cNvGrpSpPr/>
            <p:nvPr/>
          </p:nvGrpSpPr>
          <p:grpSpPr bwMode="gray">
            <a:xfrm rot="10800000">
              <a:off x="1187300" y="5026603"/>
              <a:ext cx="2869906" cy="852264"/>
              <a:chOff x="158262" y="1838050"/>
              <a:chExt cx="1565030" cy="1349164"/>
            </a:xfrm>
          </p:grpSpPr>
          <p:cxnSp>
            <p:nvCxnSpPr>
              <p:cNvPr id="16"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7"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grpSp>
          <p:nvGrpSpPr>
            <p:cNvPr id="11" name="Group 49"/>
            <p:cNvGrpSpPr/>
            <p:nvPr/>
          </p:nvGrpSpPr>
          <p:grpSpPr bwMode="gray">
            <a:xfrm>
              <a:off x="1187300" y="1682967"/>
              <a:ext cx="2869906" cy="852264"/>
              <a:chOff x="158262" y="1838050"/>
              <a:chExt cx="1565030" cy="1349164"/>
            </a:xfrm>
          </p:grpSpPr>
          <p:cxnSp>
            <p:nvCxnSpPr>
              <p:cNvPr id="14"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5"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cxnSp>
          <p:nvCxnSpPr>
            <p:cNvPr id="12" name="Straight Connector 6"/>
            <p:cNvCxnSpPr/>
            <p:nvPr/>
          </p:nvCxnSpPr>
          <p:spPr bwMode="gray">
            <a:xfrm>
              <a:off x="1163114" y="5011626"/>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 name="Straight Connector 18"/>
            <p:cNvCxnSpPr/>
            <p:nvPr/>
          </p:nvCxnSpPr>
          <p:spPr bwMode="gray">
            <a:xfrm>
              <a:off x="1163114" y="2536842"/>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22" name="图片 76" descr="接入交换机.png"/>
          <p:cNvPicPr>
            <a:picLocks noChangeAspect="1"/>
          </p:cNvPicPr>
          <p:nvPr/>
        </p:nvPicPr>
        <p:blipFill>
          <a:blip r:embed="rId3" cstate="print"/>
          <a:stretch>
            <a:fillRect/>
          </a:stretch>
        </p:blipFill>
        <p:spPr bwMode="gray">
          <a:xfrm>
            <a:off x="897923" y="2379699"/>
            <a:ext cx="490909" cy="401653"/>
          </a:xfrm>
          <a:prstGeom prst="rect">
            <a:avLst/>
          </a:prstGeom>
        </p:spPr>
      </p:pic>
      <p:sp>
        <p:nvSpPr>
          <p:cNvPr id="23" name="Freeform 159"/>
          <p:cNvSpPr/>
          <p:nvPr/>
        </p:nvSpPr>
        <p:spPr bwMode="gray">
          <a:xfrm flipH="1">
            <a:off x="1986361" y="54495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内网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Freeform 159"/>
          <p:cNvSpPr/>
          <p:nvPr/>
        </p:nvSpPr>
        <p:spPr bwMode="gray">
          <a:xfrm flipH="1">
            <a:off x="1986361" y="152360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外网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 name="图片 76" descr="接入交换机.png"/>
          <p:cNvPicPr>
            <a:picLocks noChangeAspect="1"/>
          </p:cNvPicPr>
          <p:nvPr/>
        </p:nvPicPr>
        <p:blipFill>
          <a:blip r:embed="rId3" cstate="print"/>
          <a:stretch>
            <a:fillRect/>
          </a:stretch>
        </p:blipFill>
        <p:spPr bwMode="gray">
          <a:xfrm>
            <a:off x="3436445" y="2379699"/>
            <a:ext cx="490909" cy="401653"/>
          </a:xfrm>
          <a:prstGeom prst="rect">
            <a:avLst/>
          </a:prstGeom>
        </p:spPr>
      </p:pic>
      <p:pic>
        <p:nvPicPr>
          <p:cNvPr id="26" name="图片 76" descr="接入交换机.png"/>
          <p:cNvPicPr>
            <a:picLocks noChangeAspect="1"/>
          </p:cNvPicPr>
          <p:nvPr/>
        </p:nvPicPr>
        <p:blipFill>
          <a:blip r:embed="rId3" cstate="print"/>
          <a:stretch>
            <a:fillRect/>
          </a:stretch>
        </p:blipFill>
        <p:spPr bwMode="gray">
          <a:xfrm>
            <a:off x="897923" y="4771179"/>
            <a:ext cx="490909" cy="401653"/>
          </a:xfrm>
          <a:prstGeom prst="rect">
            <a:avLst/>
          </a:prstGeom>
        </p:spPr>
      </p:pic>
      <p:pic>
        <p:nvPicPr>
          <p:cNvPr id="27" name="图片 76" descr="接入交换机.png"/>
          <p:cNvPicPr>
            <a:picLocks noChangeAspect="1"/>
          </p:cNvPicPr>
          <p:nvPr/>
        </p:nvPicPr>
        <p:blipFill>
          <a:blip r:embed="rId3" cstate="print"/>
          <a:stretch>
            <a:fillRect/>
          </a:stretch>
        </p:blipFill>
        <p:spPr bwMode="gray">
          <a:xfrm>
            <a:off x="3436445" y="4771179"/>
            <a:ext cx="490909" cy="401653"/>
          </a:xfrm>
          <a:prstGeom prst="rect">
            <a:avLst/>
          </a:prstGeom>
        </p:spPr>
      </p:pic>
      <p:pic>
        <p:nvPicPr>
          <p:cNvPr id="28"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436445" y="3561515"/>
            <a:ext cx="490909" cy="401653"/>
          </a:xfrm>
          <a:prstGeom prst="rect">
            <a:avLst/>
          </a:prstGeom>
        </p:spPr>
      </p:pic>
      <p:pic>
        <p:nvPicPr>
          <p:cNvPr id="31"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97923" y="3561515"/>
            <a:ext cx="490909" cy="401653"/>
          </a:xfrm>
          <a:prstGeom prst="rect">
            <a:avLst/>
          </a:prstGeom>
        </p:spPr>
      </p:pic>
      <p:sp>
        <p:nvSpPr>
          <p:cNvPr id="46" name="TextBox 10"/>
          <p:cNvSpPr txBox="1"/>
          <p:nvPr/>
        </p:nvSpPr>
        <p:spPr bwMode="gray">
          <a:xfrm>
            <a:off x="2069324" y="3801701"/>
            <a:ext cx="646332"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心跳线</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47" name="Straight Arrow Connector 70"/>
          <p:cNvCxnSpPr/>
          <p:nvPr/>
        </p:nvCxnSpPr>
        <p:spPr bwMode="gray">
          <a:xfrm flipH="1" flipV="1">
            <a:off x="1180859" y="5263675"/>
            <a:ext cx="672520" cy="466720"/>
          </a:xfrm>
          <a:prstGeom prst="straightConnector1">
            <a:avLst/>
          </a:prstGeom>
          <a:solidFill>
            <a:schemeClr val="accent1"/>
          </a:solidFill>
          <a:ln w="28575" cap="flat" cmpd="sng" algn="ctr">
            <a:solidFill>
              <a:srgbClr val="56C4D2"/>
            </a:solidFill>
            <a:prstDash val="solid"/>
            <a:round/>
            <a:headEnd type="none" w="med" len="med"/>
            <a:tailEnd type="triangle" w="med" len="med"/>
          </a:ln>
          <a:effectLst/>
        </p:spPr>
      </p:cxnSp>
      <p:cxnSp>
        <p:nvCxnSpPr>
          <p:cNvPr id="48" name="Straight Arrow Connector 70"/>
          <p:cNvCxnSpPr/>
          <p:nvPr/>
        </p:nvCxnSpPr>
        <p:spPr bwMode="gray">
          <a:xfrm flipV="1">
            <a:off x="954752" y="4107154"/>
            <a:ext cx="0" cy="580061"/>
          </a:xfrm>
          <a:prstGeom prst="straightConnector1">
            <a:avLst/>
          </a:prstGeom>
          <a:solidFill>
            <a:schemeClr val="accent1"/>
          </a:solidFill>
          <a:ln w="28575" cap="flat" cmpd="sng" algn="ctr">
            <a:solidFill>
              <a:srgbClr val="56C4D2"/>
            </a:solidFill>
            <a:prstDash val="solid"/>
            <a:round/>
            <a:headEnd type="none" w="med" len="med"/>
            <a:tailEnd type="triangle" w="med" len="med"/>
          </a:ln>
          <a:effectLst/>
        </p:spPr>
      </p:cxnSp>
      <p:cxnSp>
        <p:nvCxnSpPr>
          <p:cNvPr id="49" name="Straight Arrow Connector 70"/>
          <p:cNvCxnSpPr/>
          <p:nvPr/>
        </p:nvCxnSpPr>
        <p:spPr bwMode="gray">
          <a:xfrm flipV="1">
            <a:off x="954752" y="2916984"/>
            <a:ext cx="0" cy="580061"/>
          </a:xfrm>
          <a:prstGeom prst="straightConnector1">
            <a:avLst/>
          </a:prstGeom>
          <a:solidFill>
            <a:schemeClr val="accent1"/>
          </a:solidFill>
          <a:ln w="28575" cap="flat" cmpd="sng" algn="ctr">
            <a:solidFill>
              <a:srgbClr val="56C4D2"/>
            </a:solidFill>
            <a:prstDash val="solid"/>
            <a:round/>
            <a:headEnd type="none" w="med" len="med"/>
            <a:tailEnd type="triangle" w="med" len="med"/>
          </a:ln>
          <a:effectLst/>
        </p:spPr>
      </p:cxnSp>
      <p:cxnSp>
        <p:nvCxnSpPr>
          <p:cNvPr id="50" name="Straight Arrow Connector 70"/>
          <p:cNvCxnSpPr/>
          <p:nvPr/>
        </p:nvCxnSpPr>
        <p:spPr bwMode="gray">
          <a:xfrm flipV="1">
            <a:off x="1235007" y="1928030"/>
            <a:ext cx="567741" cy="384026"/>
          </a:xfrm>
          <a:prstGeom prst="straightConnector1">
            <a:avLst/>
          </a:prstGeom>
          <a:solidFill>
            <a:schemeClr val="accent1"/>
          </a:solidFill>
          <a:ln w="28575" cap="flat" cmpd="sng" algn="ctr">
            <a:solidFill>
              <a:srgbClr val="56C4D2"/>
            </a:solidFill>
            <a:prstDash val="solid"/>
            <a:round/>
            <a:headEnd type="none" w="med" len="med"/>
            <a:tailEnd type="triangle" w="med" len="med"/>
          </a:ln>
          <a:effectLst/>
        </p:spPr>
      </p:cxnSp>
      <p:sp>
        <p:nvSpPr>
          <p:cNvPr id="51" name="TextBox 10"/>
          <p:cNvSpPr txBox="1"/>
          <p:nvPr/>
        </p:nvSpPr>
        <p:spPr bwMode="gray">
          <a:xfrm>
            <a:off x="580707" y="3979008"/>
            <a:ext cx="360756" cy="830997"/>
          </a:xfrm>
          <a:prstGeom prst="rect">
            <a:avLst/>
          </a:prstGeom>
          <a:noFill/>
        </p:spPr>
        <p:txBody>
          <a:bodyPr wrap="squar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业务流量</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52" name="Straight Arrow Connector 70"/>
          <p:cNvCxnSpPr/>
          <p:nvPr/>
        </p:nvCxnSpPr>
        <p:spPr bwMode="gray">
          <a:xfrm>
            <a:off x="1474439" y="3572148"/>
            <a:ext cx="1885449" cy="0"/>
          </a:xfrm>
          <a:prstGeom prst="straightConnector1">
            <a:avLst/>
          </a:prstGeom>
          <a:solidFill>
            <a:schemeClr val="accent1"/>
          </a:solidFill>
          <a:ln w="19050" cap="flat" cmpd="sng" algn="ctr">
            <a:solidFill>
              <a:srgbClr val="56C4D2"/>
            </a:solidFill>
            <a:prstDash val="sysDot"/>
            <a:round/>
            <a:headEnd type="triangle" w="med" len="med"/>
            <a:tailEnd type="triangle" w="med" len="med"/>
          </a:ln>
          <a:effectLst/>
        </p:spPr>
      </p:cxnSp>
      <p:sp>
        <p:nvSpPr>
          <p:cNvPr id="55" name="TextBox 10"/>
          <p:cNvSpPr txBox="1"/>
          <p:nvPr/>
        </p:nvSpPr>
        <p:spPr bwMode="gray">
          <a:xfrm>
            <a:off x="1394715" y="3278063"/>
            <a:ext cx="2185214" cy="276999"/>
          </a:xfrm>
          <a:prstGeom prst="rect">
            <a:avLst/>
          </a:prstGeom>
          <a:noFill/>
        </p:spPr>
        <p:txBody>
          <a:bodyPr wrap="none" rtlCol="0">
            <a:spAutoFit/>
          </a:bodyPr>
          <a:lstStyle/>
          <a:p>
            <a:r>
              <a:rPr lang="zh-CN" altLang="en-US"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状态信息备份；配置</a:t>
            </a:r>
            <a:r>
              <a:rPr lang="zh-CN" altLang="en-US" sz="1200"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命令同步</a:t>
            </a:r>
            <a:endParaRPr lang="en-US" altLang="zh-CN" sz="12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8" name="圆角矩形 75"/>
          <p:cNvSpPr/>
          <p:nvPr/>
        </p:nvSpPr>
        <p:spPr bwMode="gray">
          <a:xfrm>
            <a:off x="4635224" y="1537415"/>
            <a:ext cx="7113863" cy="360000"/>
          </a:xfrm>
          <a:prstGeom prst="roundRect">
            <a:avLst>
              <a:gd name="adj" fmla="val 10604"/>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防火墙双机热备</a:t>
            </a:r>
          </a:p>
        </p:txBody>
      </p:sp>
      <p:sp>
        <p:nvSpPr>
          <p:cNvPr id="59" name="圆角矩形 75"/>
          <p:cNvSpPr/>
          <p:nvPr/>
        </p:nvSpPr>
        <p:spPr bwMode="gray">
          <a:xfrm>
            <a:off x="4635224" y="1941373"/>
            <a:ext cx="7113863" cy="1746455"/>
          </a:xfrm>
          <a:prstGeom prst="roundRect">
            <a:avLst>
              <a:gd name="adj" fmla="val 3921"/>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双机热备需要两台硬件和软件配置均相同</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的防火墙组成双机热备系统。防火墙</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之间通过独立的链路</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连接（</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心跳线</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），通过</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心跳线了解对端的健康状况，向对端备份配置和表项（如会话表</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r>
              <a:rPr lang="en-US" altLang="zh-CN"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IPsec </a:t>
            </a:r>
            <a:r>
              <a:rPr lang="en-US" altLang="zh-CN"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SA</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等）</a:t>
            </a: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en-US" altLang="zh-CN"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a:p>
            <a:pPr marL="177800" indent="-177800">
              <a:lnSpc>
                <a:spcPts val="2400"/>
              </a:lnSpc>
              <a:spcAft>
                <a:spcPts val="600"/>
              </a:spcAft>
              <a:buFont typeface="Arial" panose="020B0604020202020204" pitchFamily="34" charset="0"/>
              <a:buChar char="•"/>
            </a:pPr>
            <a:r>
              <a:rPr lang="zh-CN" altLang="en-US" sz="1400" dirty="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当</a:t>
            </a:r>
            <a:r>
              <a:rPr lang="zh-CN" altLang="en-US" sz="1400" dirty="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一台防火墙出现故障时，业务流量能平滑地切换到另一台设备上处理，使业务不中断。</a:t>
            </a:r>
          </a:p>
        </p:txBody>
      </p:sp>
      <p:sp>
        <p:nvSpPr>
          <p:cNvPr id="60" name="圆角矩形 75"/>
          <p:cNvSpPr/>
          <p:nvPr/>
        </p:nvSpPr>
        <p:spPr bwMode="gray">
          <a:xfrm>
            <a:off x="4635224" y="3872616"/>
            <a:ext cx="7113863" cy="360000"/>
          </a:xfrm>
          <a:prstGeom prst="roundRect">
            <a:avLst>
              <a:gd name="adj" fmla="val 10604"/>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部署要求</a:t>
            </a:r>
          </a:p>
        </p:txBody>
      </p:sp>
      <p:sp>
        <p:nvSpPr>
          <p:cNvPr id="61" name="圆角矩形 75"/>
          <p:cNvSpPr/>
          <p:nvPr/>
        </p:nvSpPr>
        <p:spPr bwMode="gray">
          <a:xfrm>
            <a:off x="4635224" y="4276575"/>
            <a:ext cx="7113863" cy="1636128"/>
          </a:xfrm>
          <a:prstGeom prst="roundRect">
            <a:avLst>
              <a:gd name="adj" fmla="val 3921"/>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目前只支持两台设备进行双机热备。</a:t>
            </a:r>
          </a:p>
          <a:p>
            <a:pPr marL="177800" indent="-177800">
              <a:lnSpc>
                <a:spcPts val="2400"/>
              </a:lnSpc>
              <a:spcAft>
                <a:spcPts val="600"/>
              </a:spcAft>
              <a:buFont typeface="Arial" panose="020B0604020202020204" pitchFamily="34" charset="0"/>
              <a:buChar char="•"/>
            </a:pP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主备设备的产品型号和版本必须相同。</a:t>
            </a:r>
          </a:p>
          <a:p>
            <a:pPr marL="177800" indent="-177800">
              <a:lnSpc>
                <a:spcPts val="2400"/>
              </a:lnSpc>
              <a:spcAft>
                <a:spcPts val="600"/>
              </a:spcAft>
              <a:buFont typeface="Arial" panose="020B0604020202020204" pitchFamily="34" charset="0"/>
              <a:buChar char="•"/>
            </a:pP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主备设备业务板和接口卡的位置、类型和数目</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都须</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相同，否则会出现主用设备备份过去的信息，与备用设备的物理配置无法兼容，导致主备切换后出现问题。</a:t>
            </a:r>
          </a:p>
        </p:txBody>
      </p:sp>
    </p:spTree>
    <p:extLst>
      <p:ext uri="{BB962C8B-B14F-4D97-AF65-F5344CB8AC3E}">
        <p14:creationId xmlns:p14="http://schemas.microsoft.com/office/powerpoint/2010/main" val="1203460521"/>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5" name="Straight Connector 18"/>
          <p:cNvCxnSpPr/>
          <p:nvPr/>
        </p:nvCxnSpPr>
        <p:spPr bwMode="gray">
          <a:xfrm>
            <a:off x="1263493" y="3764943"/>
            <a:ext cx="2572169" cy="0"/>
          </a:xfrm>
          <a:prstGeom prst="line">
            <a:avLst/>
          </a:prstGeom>
          <a:solidFill>
            <a:schemeClr val="accent1"/>
          </a:solidFill>
          <a:ln w="19050" cap="flat" cmpd="sng" algn="ctr">
            <a:solidFill>
              <a:srgbClr val="30B5C5"/>
            </a:solidFill>
            <a:prstDash val="solid"/>
            <a:round/>
            <a:headEnd type="none" w="med" len="med"/>
            <a:tailEnd type="none" w="med" len="med"/>
          </a:ln>
          <a:effectLst/>
        </p:spPr>
      </p:cxnSp>
      <p:sp>
        <p:nvSpPr>
          <p:cNvPr id="2" name="标题 1"/>
          <p:cNvSpPr>
            <a:spLocks noGrp="1"/>
          </p:cNvSpPr>
          <p:nvPr>
            <p:ph type="title"/>
          </p:nvPr>
        </p:nvSpPr>
        <p:spPr bwMode="gray"/>
        <p:txBody>
          <a:bodyPr/>
          <a:lstStyle/>
          <a:p>
            <a:r>
              <a:rPr lang="zh-CN" altLang="en-US" smtClean="0">
                <a:sym typeface="Huawei Sans" panose="020C0503030203020204" pitchFamily="34" charset="0"/>
              </a:rPr>
              <a:t>防火墙双机热备关键组件</a:t>
            </a:r>
            <a:endParaRPr lang="zh-CN" altLang="en-US">
              <a:sym typeface="Huawei Sans" panose="020C0503030203020204" pitchFamily="34" charset="0"/>
            </a:endParaRPr>
          </a:p>
        </p:txBody>
      </p:sp>
      <p:grpSp>
        <p:nvGrpSpPr>
          <p:cNvPr id="7" name="组合 6"/>
          <p:cNvGrpSpPr/>
          <p:nvPr/>
        </p:nvGrpSpPr>
        <p:grpSpPr bwMode="gray">
          <a:xfrm>
            <a:off x="1111093" y="1682967"/>
            <a:ext cx="2572169" cy="4195900"/>
            <a:chOff x="1163114" y="1682967"/>
            <a:chExt cx="2894093" cy="4195900"/>
          </a:xfrm>
        </p:grpSpPr>
        <p:cxnSp>
          <p:nvCxnSpPr>
            <p:cNvPr id="8" name="直接连接符 3"/>
            <p:cNvCxnSpPr/>
            <p:nvPr/>
          </p:nvCxnSpPr>
          <p:spPr bwMode="gray">
            <a:xfrm flipV="1">
              <a:off x="4057206" y="2466712"/>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9" name="直接连接符 3"/>
            <p:cNvCxnSpPr/>
            <p:nvPr/>
          </p:nvCxnSpPr>
          <p:spPr bwMode="gray">
            <a:xfrm flipV="1">
              <a:off x="1187300" y="2466712"/>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10" name="Group 52"/>
            <p:cNvGrpSpPr/>
            <p:nvPr/>
          </p:nvGrpSpPr>
          <p:grpSpPr bwMode="gray">
            <a:xfrm rot="10800000">
              <a:off x="1187300" y="5026603"/>
              <a:ext cx="2869906" cy="852264"/>
              <a:chOff x="158262" y="1838050"/>
              <a:chExt cx="1565030" cy="1349164"/>
            </a:xfrm>
          </p:grpSpPr>
          <p:cxnSp>
            <p:nvCxnSpPr>
              <p:cNvPr id="16"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7"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grpSp>
          <p:nvGrpSpPr>
            <p:cNvPr id="11" name="Group 49"/>
            <p:cNvGrpSpPr/>
            <p:nvPr/>
          </p:nvGrpSpPr>
          <p:grpSpPr bwMode="gray">
            <a:xfrm>
              <a:off x="1187300" y="1682967"/>
              <a:ext cx="2869906" cy="852264"/>
              <a:chOff x="158262" y="1838050"/>
              <a:chExt cx="1565030" cy="1349164"/>
            </a:xfrm>
          </p:grpSpPr>
          <p:cxnSp>
            <p:nvCxnSpPr>
              <p:cNvPr id="14"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5"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cxnSp>
          <p:nvCxnSpPr>
            <p:cNvPr id="12" name="Straight Connector 6"/>
            <p:cNvCxnSpPr/>
            <p:nvPr/>
          </p:nvCxnSpPr>
          <p:spPr bwMode="gray">
            <a:xfrm>
              <a:off x="1163114" y="5011626"/>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3" name="Straight Connector 18"/>
            <p:cNvCxnSpPr/>
            <p:nvPr/>
          </p:nvCxnSpPr>
          <p:spPr bwMode="gray">
            <a:xfrm>
              <a:off x="1163114" y="2536842"/>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22" name="图片 76" descr="接入交换机.png"/>
          <p:cNvPicPr>
            <a:picLocks noChangeAspect="1"/>
          </p:cNvPicPr>
          <p:nvPr/>
        </p:nvPicPr>
        <p:blipFill>
          <a:blip r:embed="rId3" cstate="print"/>
          <a:stretch>
            <a:fillRect/>
          </a:stretch>
        </p:blipFill>
        <p:spPr bwMode="gray">
          <a:xfrm>
            <a:off x="897923" y="2379699"/>
            <a:ext cx="490909" cy="401653"/>
          </a:xfrm>
          <a:prstGeom prst="rect">
            <a:avLst/>
          </a:prstGeom>
        </p:spPr>
      </p:pic>
      <p:sp>
        <p:nvSpPr>
          <p:cNvPr id="23" name="Freeform 159"/>
          <p:cNvSpPr/>
          <p:nvPr/>
        </p:nvSpPr>
        <p:spPr bwMode="gray">
          <a:xfrm flipH="1">
            <a:off x="1986361" y="54495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内网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Freeform 159"/>
          <p:cNvSpPr/>
          <p:nvPr/>
        </p:nvSpPr>
        <p:spPr bwMode="gray">
          <a:xfrm flipH="1">
            <a:off x="1986361" y="152360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外网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25" name="图片 76" descr="接入交换机.png"/>
          <p:cNvPicPr>
            <a:picLocks noChangeAspect="1"/>
          </p:cNvPicPr>
          <p:nvPr/>
        </p:nvPicPr>
        <p:blipFill>
          <a:blip r:embed="rId3" cstate="print"/>
          <a:stretch>
            <a:fillRect/>
          </a:stretch>
        </p:blipFill>
        <p:spPr bwMode="gray">
          <a:xfrm>
            <a:off x="3436445" y="2379699"/>
            <a:ext cx="490909" cy="401653"/>
          </a:xfrm>
          <a:prstGeom prst="rect">
            <a:avLst/>
          </a:prstGeom>
        </p:spPr>
      </p:pic>
      <p:pic>
        <p:nvPicPr>
          <p:cNvPr id="26" name="图片 76" descr="接入交换机.png"/>
          <p:cNvPicPr>
            <a:picLocks noChangeAspect="1"/>
          </p:cNvPicPr>
          <p:nvPr/>
        </p:nvPicPr>
        <p:blipFill>
          <a:blip r:embed="rId3" cstate="print"/>
          <a:stretch>
            <a:fillRect/>
          </a:stretch>
        </p:blipFill>
        <p:spPr bwMode="gray">
          <a:xfrm>
            <a:off x="897923" y="4771179"/>
            <a:ext cx="490909" cy="401653"/>
          </a:xfrm>
          <a:prstGeom prst="rect">
            <a:avLst/>
          </a:prstGeom>
        </p:spPr>
      </p:pic>
      <p:pic>
        <p:nvPicPr>
          <p:cNvPr id="27" name="图片 76" descr="接入交换机.png"/>
          <p:cNvPicPr>
            <a:picLocks noChangeAspect="1"/>
          </p:cNvPicPr>
          <p:nvPr/>
        </p:nvPicPr>
        <p:blipFill>
          <a:blip r:embed="rId3" cstate="print"/>
          <a:stretch>
            <a:fillRect/>
          </a:stretch>
        </p:blipFill>
        <p:spPr bwMode="gray">
          <a:xfrm>
            <a:off x="3436445" y="4771179"/>
            <a:ext cx="490909" cy="401653"/>
          </a:xfrm>
          <a:prstGeom prst="rect">
            <a:avLst/>
          </a:prstGeom>
        </p:spPr>
      </p:pic>
      <p:pic>
        <p:nvPicPr>
          <p:cNvPr id="28"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436445" y="3561515"/>
            <a:ext cx="490909" cy="401653"/>
          </a:xfrm>
          <a:prstGeom prst="rect">
            <a:avLst/>
          </a:prstGeom>
        </p:spPr>
      </p:pic>
      <p:pic>
        <p:nvPicPr>
          <p:cNvPr id="31"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97923" y="3561515"/>
            <a:ext cx="490909" cy="401653"/>
          </a:xfrm>
          <a:prstGeom prst="rect">
            <a:avLst/>
          </a:prstGeom>
        </p:spPr>
      </p:pic>
      <p:sp>
        <p:nvSpPr>
          <p:cNvPr id="46" name="TextBox 10"/>
          <p:cNvSpPr txBox="1"/>
          <p:nvPr/>
        </p:nvSpPr>
        <p:spPr bwMode="gray">
          <a:xfrm>
            <a:off x="2069324" y="3801701"/>
            <a:ext cx="646332"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心跳线</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8" name="圆角矩形 75"/>
          <p:cNvSpPr/>
          <p:nvPr/>
        </p:nvSpPr>
        <p:spPr bwMode="gray">
          <a:xfrm>
            <a:off x="4635224" y="1537415"/>
            <a:ext cx="7113863" cy="360000"/>
          </a:xfrm>
          <a:prstGeom prst="roundRect">
            <a:avLst>
              <a:gd name="adj" fmla="val 10604"/>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Virtual Router Redundancy Protocol</a:t>
            </a: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59" name="圆角矩形 75"/>
          <p:cNvSpPr/>
          <p:nvPr/>
        </p:nvSpPr>
        <p:spPr bwMode="gray">
          <a:xfrm>
            <a:off x="4635224" y="1941374"/>
            <a:ext cx="7113863" cy="839978"/>
          </a:xfrm>
          <a:prstGeom prst="roundRect">
            <a:avLst>
              <a:gd name="adj" fmla="val 3921"/>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400"/>
              </a:lnSpc>
              <a:spcAft>
                <a:spcPts val="600"/>
              </a:spcAft>
            </a:pPr>
            <a:r>
              <a:rPr lang="en-US" altLang="zh-CN"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VRRP</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是一种容错协议，它保证当主机的下一跳路由器（默认网关）出现故障时</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，备份路由器能自动代替前者完成</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报文转发任务，从而保持网络通信的连续性和可靠性</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a:t>
            </a: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0" name="圆角矩形 75"/>
          <p:cNvSpPr/>
          <p:nvPr/>
        </p:nvSpPr>
        <p:spPr bwMode="gray">
          <a:xfrm>
            <a:off x="4635224" y="3010593"/>
            <a:ext cx="7113863" cy="360000"/>
          </a:xfrm>
          <a:prstGeom prst="roundRect">
            <a:avLst>
              <a:gd name="adj" fmla="val 10604"/>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VGMP</a:t>
            </a: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VRRP Group Management Protocol</a:t>
            </a: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61" name="圆角矩形 75"/>
          <p:cNvSpPr/>
          <p:nvPr/>
        </p:nvSpPr>
        <p:spPr bwMode="gray">
          <a:xfrm>
            <a:off x="4635224" y="3414552"/>
            <a:ext cx="7113863" cy="1101181"/>
          </a:xfrm>
          <a:prstGeom prst="roundRect">
            <a:avLst>
              <a:gd name="adj" fmla="val 3921"/>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400"/>
              </a:lnSpc>
              <a:spcAft>
                <a:spcPts val="600"/>
              </a:spcAft>
            </a:pP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将防火墙上的所有</a:t>
            </a:r>
            <a:r>
              <a:rPr lang="en-US" altLang="zh-CN"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VRRP</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都加入到一个</a:t>
            </a:r>
            <a:r>
              <a:rPr lang="en-US" altLang="zh-CN"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VGMP</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组中，由</a:t>
            </a:r>
            <a:r>
              <a:rPr lang="en-US" altLang="zh-CN"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VGMP</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组来集中监控并管理所有的</a:t>
            </a:r>
            <a:r>
              <a:rPr lang="en-US" altLang="zh-CN"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VRRP</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状态。如果</a:t>
            </a:r>
            <a:r>
              <a:rPr lang="en-US" altLang="zh-CN"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VGMP</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组检测到其中一个</a:t>
            </a:r>
            <a:r>
              <a:rPr lang="en-US" altLang="zh-CN"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VRRP</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的状态变化，则</a:t>
            </a:r>
            <a:r>
              <a:rPr lang="en-US" altLang="zh-CN"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VGMP</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组会控制组中的所有</a:t>
            </a:r>
            <a:r>
              <a:rPr lang="en-US" altLang="zh-CN"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VRRP</a:t>
            </a:r>
            <a:r>
              <a:rPr lang="zh-CN" altLang="en-US" sz="1400" smtClean="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组</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统一进行状态切换，保证各</a:t>
            </a:r>
            <a:r>
              <a:rPr lang="en-US" altLang="zh-CN"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VRRP</a:t>
            </a: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备份组状态的一致性。</a:t>
            </a:r>
          </a:p>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63" name="Freeform 14"/>
          <p:cNvSpPr/>
          <p:nvPr/>
        </p:nvSpPr>
        <p:spPr bwMode="gray">
          <a:xfrm flipH="1" flipV="1">
            <a:off x="2229871" y="3932596"/>
            <a:ext cx="1453390" cy="583137"/>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105696"/>
              <a:gd name="connsiteY0" fmla="*/ 2716537 h 3381721"/>
              <a:gd name="connsiteX1" fmla="*/ 1439273 w 2105696"/>
              <a:gd name="connsiteY1" fmla="*/ 0 h 3381721"/>
              <a:gd name="connsiteX2" fmla="*/ 2105696 w 2105696"/>
              <a:gd name="connsiteY2" fmla="*/ 1883825 h 3381721"/>
              <a:gd name="connsiteX3" fmla="*/ 60884 w 2105696"/>
              <a:gd name="connsiteY3" fmla="*/ 3381721 h 3381721"/>
              <a:gd name="connsiteX0" fmla="*/ 0 w 2081858"/>
              <a:gd name="connsiteY0" fmla="*/ 2716537 h 3381721"/>
              <a:gd name="connsiteX1" fmla="*/ 1439273 w 2081858"/>
              <a:gd name="connsiteY1" fmla="*/ 0 h 3381721"/>
              <a:gd name="connsiteX2" fmla="*/ 2081858 w 2081858"/>
              <a:gd name="connsiteY2" fmla="*/ 754099 h 3381721"/>
              <a:gd name="connsiteX3" fmla="*/ 60884 w 2081858"/>
              <a:gd name="connsiteY3" fmla="*/ 3381721 h 3381721"/>
              <a:gd name="connsiteX0" fmla="*/ 0 w 2081858"/>
              <a:gd name="connsiteY0" fmla="*/ 3727354 h 4392538"/>
              <a:gd name="connsiteX1" fmla="*/ 1522710 w 2081858"/>
              <a:gd name="connsiteY1" fmla="*/ 0 h 4392538"/>
              <a:gd name="connsiteX2" fmla="*/ 2081858 w 2081858"/>
              <a:gd name="connsiteY2" fmla="*/ 1764916 h 4392538"/>
              <a:gd name="connsiteX3" fmla="*/ 60884 w 2081858"/>
              <a:gd name="connsiteY3" fmla="*/ 4392538 h 4392538"/>
              <a:gd name="connsiteX0" fmla="*/ 0 w 2081858"/>
              <a:gd name="connsiteY0" fmla="*/ 3430059 h 4095243"/>
              <a:gd name="connsiteX1" fmla="*/ 1653824 w 2081858"/>
              <a:gd name="connsiteY1" fmla="*/ 0 h 4095243"/>
              <a:gd name="connsiteX2" fmla="*/ 2081858 w 2081858"/>
              <a:gd name="connsiteY2" fmla="*/ 1467621 h 4095243"/>
              <a:gd name="connsiteX3" fmla="*/ 60884 w 2081858"/>
              <a:gd name="connsiteY3" fmla="*/ 4095243 h 4095243"/>
              <a:gd name="connsiteX0" fmla="*/ 0 w 2046100"/>
              <a:gd name="connsiteY0" fmla="*/ 3430059 h 4095243"/>
              <a:gd name="connsiteX1" fmla="*/ 1618066 w 2046100"/>
              <a:gd name="connsiteY1" fmla="*/ 0 h 4095243"/>
              <a:gd name="connsiteX2" fmla="*/ 2046100 w 2046100"/>
              <a:gd name="connsiteY2" fmla="*/ 1467621 h 4095243"/>
              <a:gd name="connsiteX3" fmla="*/ 25126 w 2046100"/>
              <a:gd name="connsiteY3" fmla="*/ 4095243 h 4095243"/>
            </a:gdLst>
            <a:ahLst/>
            <a:cxnLst>
              <a:cxn ang="0">
                <a:pos x="connsiteX0" y="connsiteY0"/>
              </a:cxn>
              <a:cxn ang="0">
                <a:pos x="connsiteX1" y="connsiteY1"/>
              </a:cxn>
              <a:cxn ang="0">
                <a:pos x="connsiteX2" y="connsiteY2"/>
              </a:cxn>
              <a:cxn ang="0">
                <a:pos x="connsiteX3" y="connsiteY3"/>
              </a:cxn>
            </a:cxnLst>
            <a:rect l="l" t="t" r="r" b="b"/>
            <a:pathLst>
              <a:path w="2046100" h="4095243">
                <a:moveTo>
                  <a:pt x="0" y="3430059"/>
                </a:moveTo>
                <a:lnTo>
                  <a:pt x="1618066" y="0"/>
                </a:lnTo>
                <a:lnTo>
                  <a:pt x="2046100" y="1467621"/>
                </a:lnTo>
                <a:lnTo>
                  <a:pt x="25126" y="4095243"/>
                </a:lnTo>
              </a:path>
            </a:pathLst>
          </a:custGeom>
          <a:gradFill flip="none" rotWithShape="0">
            <a:gsLst>
              <a:gs pos="0">
                <a:schemeClr val="bg1">
                  <a:alpha val="0"/>
                </a:schemeClr>
              </a:gs>
              <a:gs pos="100000">
                <a:srgbClr val="FFCC66"/>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4" name="Freeform 21"/>
          <p:cNvSpPr/>
          <p:nvPr/>
        </p:nvSpPr>
        <p:spPr bwMode="gray">
          <a:xfrm flipV="1">
            <a:off x="1121322" y="3932596"/>
            <a:ext cx="1498902" cy="608536"/>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075774"/>
              <a:gd name="connsiteY0" fmla="*/ 2716537 h 3381721"/>
              <a:gd name="connsiteX1" fmla="*/ 1439273 w 2075774"/>
              <a:gd name="connsiteY1" fmla="*/ 0 h 3381721"/>
              <a:gd name="connsiteX2" fmla="*/ 2075774 w 2075774"/>
              <a:gd name="connsiteY2" fmla="*/ 1883832 h 3381721"/>
              <a:gd name="connsiteX3" fmla="*/ 60884 w 2075774"/>
              <a:gd name="connsiteY3" fmla="*/ 3381721 h 3381721"/>
              <a:gd name="connsiteX0" fmla="*/ 0 w 2075774"/>
              <a:gd name="connsiteY0" fmla="*/ 3608430 h 4273614"/>
              <a:gd name="connsiteX1" fmla="*/ 1439273 w 2075774"/>
              <a:gd name="connsiteY1" fmla="*/ 0 h 4273614"/>
              <a:gd name="connsiteX2" fmla="*/ 2075774 w 2075774"/>
              <a:gd name="connsiteY2" fmla="*/ 2775725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121669 w 2075774"/>
              <a:gd name="connsiteY3" fmla="*/ 4273614 h 4273614"/>
              <a:gd name="connsiteX0" fmla="*/ 0 w 2049723"/>
              <a:gd name="connsiteY0" fmla="*/ 3920593 h 4273614"/>
              <a:gd name="connsiteX1" fmla="*/ 1413222 w 2049723"/>
              <a:gd name="connsiteY1" fmla="*/ 0 h 4273614"/>
              <a:gd name="connsiteX2" fmla="*/ 2049723 w 2049723"/>
              <a:gd name="connsiteY2" fmla="*/ 1348697 h 4273614"/>
              <a:gd name="connsiteX3" fmla="*/ 95618 w 2049723"/>
              <a:gd name="connsiteY3" fmla="*/ 4273614 h 4273614"/>
            </a:gdLst>
            <a:ahLst/>
            <a:cxnLst>
              <a:cxn ang="0">
                <a:pos x="connsiteX0" y="connsiteY0"/>
              </a:cxn>
              <a:cxn ang="0">
                <a:pos x="connsiteX1" y="connsiteY1"/>
              </a:cxn>
              <a:cxn ang="0">
                <a:pos x="connsiteX2" y="connsiteY2"/>
              </a:cxn>
              <a:cxn ang="0">
                <a:pos x="connsiteX3" y="connsiteY3"/>
              </a:cxn>
            </a:cxnLst>
            <a:rect l="l" t="t" r="r" b="b"/>
            <a:pathLst>
              <a:path w="2049723" h="4273614">
                <a:moveTo>
                  <a:pt x="0" y="3920593"/>
                </a:moveTo>
                <a:lnTo>
                  <a:pt x="1413222" y="0"/>
                </a:lnTo>
                <a:lnTo>
                  <a:pt x="2049723" y="1348697"/>
                </a:lnTo>
                <a:lnTo>
                  <a:pt x="95618" y="4273614"/>
                </a:lnTo>
              </a:path>
            </a:pathLst>
          </a:custGeom>
          <a:gradFill flip="none" rotWithShape="0">
            <a:gsLst>
              <a:gs pos="0">
                <a:schemeClr val="bg1">
                  <a:alpha val="0"/>
                </a:schemeClr>
              </a:gs>
              <a:gs pos="100000">
                <a:srgbClr val="FFCC66"/>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5" name="Freeform 23"/>
          <p:cNvSpPr/>
          <p:nvPr/>
        </p:nvSpPr>
        <p:spPr bwMode="gray">
          <a:xfrm flipH="1">
            <a:off x="2229871" y="3070219"/>
            <a:ext cx="1453390" cy="492960"/>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105696"/>
              <a:gd name="connsiteY0" fmla="*/ 2716537 h 3381721"/>
              <a:gd name="connsiteX1" fmla="*/ 1439273 w 2105696"/>
              <a:gd name="connsiteY1" fmla="*/ 0 h 3381721"/>
              <a:gd name="connsiteX2" fmla="*/ 2105696 w 2105696"/>
              <a:gd name="connsiteY2" fmla="*/ 1883825 h 3381721"/>
              <a:gd name="connsiteX3" fmla="*/ 60884 w 2105696"/>
              <a:gd name="connsiteY3" fmla="*/ 3381721 h 3381721"/>
              <a:gd name="connsiteX0" fmla="*/ 0 w 2081858"/>
              <a:gd name="connsiteY0" fmla="*/ 2716537 h 3381721"/>
              <a:gd name="connsiteX1" fmla="*/ 1439273 w 2081858"/>
              <a:gd name="connsiteY1" fmla="*/ 0 h 3381721"/>
              <a:gd name="connsiteX2" fmla="*/ 2081858 w 2081858"/>
              <a:gd name="connsiteY2" fmla="*/ 754099 h 3381721"/>
              <a:gd name="connsiteX3" fmla="*/ 60884 w 2081858"/>
              <a:gd name="connsiteY3" fmla="*/ 3381721 h 3381721"/>
              <a:gd name="connsiteX0" fmla="*/ 0 w 2081858"/>
              <a:gd name="connsiteY0" fmla="*/ 3727354 h 4392538"/>
              <a:gd name="connsiteX1" fmla="*/ 1522710 w 2081858"/>
              <a:gd name="connsiteY1" fmla="*/ 0 h 4392538"/>
              <a:gd name="connsiteX2" fmla="*/ 2081858 w 2081858"/>
              <a:gd name="connsiteY2" fmla="*/ 1764916 h 4392538"/>
              <a:gd name="connsiteX3" fmla="*/ 60884 w 2081858"/>
              <a:gd name="connsiteY3" fmla="*/ 4392538 h 4392538"/>
              <a:gd name="connsiteX0" fmla="*/ 0 w 2081858"/>
              <a:gd name="connsiteY0" fmla="*/ 3430059 h 4095243"/>
              <a:gd name="connsiteX1" fmla="*/ 1653824 w 2081858"/>
              <a:gd name="connsiteY1" fmla="*/ 0 h 4095243"/>
              <a:gd name="connsiteX2" fmla="*/ 2081858 w 2081858"/>
              <a:gd name="connsiteY2" fmla="*/ 1467621 h 4095243"/>
              <a:gd name="connsiteX3" fmla="*/ 60884 w 2081858"/>
              <a:gd name="connsiteY3" fmla="*/ 4095243 h 4095243"/>
              <a:gd name="connsiteX0" fmla="*/ 0 w 2046100"/>
              <a:gd name="connsiteY0" fmla="*/ 3430059 h 4095243"/>
              <a:gd name="connsiteX1" fmla="*/ 1618066 w 2046100"/>
              <a:gd name="connsiteY1" fmla="*/ 0 h 4095243"/>
              <a:gd name="connsiteX2" fmla="*/ 2046100 w 2046100"/>
              <a:gd name="connsiteY2" fmla="*/ 1467621 h 4095243"/>
              <a:gd name="connsiteX3" fmla="*/ 25126 w 2046100"/>
              <a:gd name="connsiteY3" fmla="*/ 4095243 h 4095243"/>
              <a:gd name="connsiteX0" fmla="*/ 0 w 2046100"/>
              <a:gd name="connsiteY0" fmla="*/ 3661572 h 4326756"/>
              <a:gd name="connsiteX1" fmla="*/ 1543798 w 2046100"/>
              <a:gd name="connsiteY1" fmla="*/ 0 h 4326756"/>
              <a:gd name="connsiteX2" fmla="*/ 2046100 w 2046100"/>
              <a:gd name="connsiteY2" fmla="*/ 1699134 h 4326756"/>
              <a:gd name="connsiteX3" fmla="*/ 25126 w 2046100"/>
              <a:gd name="connsiteY3" fmla="*/ 4326756 h 4326756"/>
            </a:gdLst>
            <a:ahLst/>
            <a:cxnLst>
              <a:cxn ang="0">
                <a:pos x="connsiteX0" y="connsiteY0"/>
              </a:cxn>
              <a:cxn ang="0">
                <a:pos x="connsiteX1" y="connsiteY1"/>
              </a:cxn>
              <a:cxn ang="0">
                <a:pos x="connsiteX2" y="connsiteY2"/>
              </a:cxn>
              <a:cxn ang="0">
                <a:pos x="connsiteX3" y="connsiteY3"/>
              </a:cxn>
            </a:cxnLst>
            <a:rect l="l" t="t" r="r" b="b"/>
            <a:pathLst>
              <a:path w="2046100" h="4326756">
                <a:moveTo>
                  <a:pt x="0" y="3661572"/>
                </a:moveTo>
                <a:lnTo>
                  <a:pt x="1543798" y="0"/>
                </a:lnTo>
                <a:lnTo>
                  <a:pt x="2046100" y="1699134"/>
                </a:lnTo>
                <a:lnTo>
                  <a:pt x="25126" y="4326756"/>
                </a:lnTo>
              </a:path>
            </a:pathLst>
          </a:custGeom>
          <a:gradFill flip="none" rotWithShape="0">
            <a:gsLst>
              <a:gs pos="0">
                <a:schemeClr val="bg1">
                  <a:alpha val="0"/>
                </a:schemeClr>
              </a:gs>
              <a:gs pos="100000">
                <a:srgbClr val="FFCC6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6" name="Freeform 24"/>
          <p:cNvSpPr/>
          <p:nvPr/>
        </p:nvSpPr>
        <p:spPr bwMode="gray">
          <a:xfrm>
            <a:off x="1121322" y="3076277"/>
            <a:ext cx="1498902" cy="486905"/>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075774"/>
              <a:gd name="connsiteY0" fmla="*/ 2716537 h 3381721"/>
              <a:gd name="connsiteX1" fmla="*/ 1439273 w 2075774"/>
              <a:gd name="connsiteY1" fmla="*/ 0 h 3381721"/>
              <a:gd name="connsiteX2" fmla="*/ 2075774 w 2075774"/>
              <a:gd name="connsiteY2" fmla="*/ 1883832 h 3381721"/>
              <a:gd name="connsiteX3" fmla="*/ 60884 w 2075774"/>
              <a:gd name="connsiteY3" fmla="*/ 3381721 h 3381721"/>
              <a:gd name="connsiteX0" fmla="*/ 0 w 2075774"/>
              <a:gd name="connsiteY0" fmla="*/ 3608430 h 4273614"/>
              <a:gd name="connsiteX1" fmla="*/ 1439273 w 2075774"/>
              <a:gd name="connsiteY1" fmla="*/ 0 h 4273614"/>
              <a:gd name="connsiteX2" fmla="*/ 2075774 w 2075774"/>
              <a:gd name="connsiteY2" fmla="*/ 2775725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121669 w 2075774"/>
              <a:gd name="connsiteY3" fmla="*/ 4273614 h 4273614"/>
              <a:gd name="connsiteX0" fmla="*/ 0 w 2049723"/>
              <a:gd name="connsiteY0" fmla="*/ 3920593 h 4273614"/>
              <a:gd name="connsiteX1" fmla="*/ 1413222 w 2049723"/>
              <a:gd name="connsiteY1" fmla="*/ 0 h 4273614"/>
              <a:gd name="connsiteX2" fmla="*/ 2049723 w 2049723"/>
              <a:gd name="connsiteY2" fmla="*/ 1348697 h 4273614"/>
              <a:gd name="connsiteX3" fmla="*/ 95618 w 2049723"/>
              <a:gd name="connsiteY3" fmla="*/ 4273614 h 4273614"/>
            </a:gdLst>
            <a:ahLst/>
            <a:cxnLst>
              <a:cxn ang="0">
                <a:pos x="connsiteX0" y="connsiteY0"/>
              </a:cxn>
              <a:cxn ang="0">
                <a:pos x="connsiteX1" y="connsiteY1"/>
              </a:cxn>
              <a:cxn ang="0">
                <a:pos x="connsiteX2" y="connsiteY2"/>
              </a:cxn>
              <a:cxn ang="0">
                <a:pos x="connsiteX3" y="connsiteY3"/>
              </a:cxn>
            </a:cxnLst>
            <a:rect l="l" t="t" r="r" b="b"/>
            <a:pathLst>
              <a:path w="2049723" h="4273614">
                <a:moveTo>
                  <a:pt x="0" y="3920593"/>
                </a:moveTo>
                <a:lnTo>
                  <a:pt x="1413222" y="0"/>
                </a:lnTo>
                <a:lnTo>
                  <a:pt x="2049723" y="1348697"/>
                </a:lnTo>
                <a:lnTo>
                  <a:pt x="95618" y="4273614"/>
                </a:lnTo>
              </a:path>
            </a:pathLst>
          </a:custGeom>
          <a:gradFill flip="none" rotWithShape="0">
            <a:gsLst>
              <a:gs pos="0">
                <a:schemeClr val="bg1">
                  <a:alpha val="0"/>
                </a:schemeClr>
              </a:gs>
              <a:gs pos="100000">
                <a:srgbClr val="FFCC66"/>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8"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434151" y="3561515"/>
            <a:ext cx="490909" cy="401653"/>
          </a:xfrm>
          <a:prstGeom prst="rect">
            <a:avLst/>
          </a:prstGeom>
        </p:spPr>
      </p:pic>
      <p:sp>
        <p:nvSpPr>
          <p:cNvPr id="69" name="Oval 15"/>
          <p:cNvSpPr>
            <a:spLocks noChangeAspect="1"/>
          </p:cNvSpPr>
          <p:nvPr/>
        </p:nvSpPr>
        <p:spPr bwMode="gray">
          <a:xfrm>
            <a:off x="3613728" y="3886079"/>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Oval 26"/>
          <p:cNvSpPr>
            <a:spLocks noChangeAspect="1"/>
          </p:cNvSpPr>
          <p:nvPr/>
        </p:nvSpPr>
        <p:spPr bwMode="gray">
          <a:xfrm>
            <a:off x="3613728" y="3490425"/>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Oval 22"/>
          <p:cNvSpPr>
            <a:spLocks noChangeAspect="1"/>
          </p:cNvSpPr>
          <p:nvPr/>
        </p:nvSpPr>
        <p:spPr bwMode="gray">
          <a:xfrm>
            <a:off x="1075206" y="3886079"/>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Oval 27"/>
          <p:cNvSpPr>
            <a:spLocks noChangeAspect="1"/>
          </p:cNvSpPr>
          <p:nvPr/>
        </p:nvSpPr>
        <p:spPr bwMode="gray">
          <a:xfrm>
            <a:off x="1075206" y="3490425"/>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TextBox 179"/>
          <p:cNvSpPr txBox="1"/>
          <p:nvPr/>
        </p:nvSpPr>
        <p:spPr bwMode="gray">
          <a:xfrm>
            <a:off x="3320060" y="5743231"/>
            <a:ext cx="1016484" cy="221182"/>
          </a:xfrm>
          <a:prstGeom prst="roundRect">
            <a:avLst>
              <a:gd name="adj" fmla="val 30550"/>
            </a:avLst>
          </a:prstGeom>
          <a:solidFill>
            <a:srgbClr val="30B5C5"/>
          </a:solidFill>
          <a:ln>
            <a:noFill/>
          </a:ln>
        </p:spPr>
        <p:txBody>
          <a:bodyPr wrap="squar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VGMP</a:t>
            </a:r>
            <a:r>
              <a:rPr lang="zh-CN" altLang="en-US" smtClean="0">
                <a:latin typeface="Huawei Sans" panose="020C0503030203020204" pitchFamily="34" charset="0"/>
                <a:ea typeface="方正兰亭黑简体" panose="02000000000000000000" pitchFamily="2" charset="-122"/>
                <a:sym typeface="Huawei Sans" panose="020C0503030203020204" pitchFamily="34" charset="0"/>
              </a:rPr>
              <a:t>组状态</a:t>
            </a:r>
            <a:endParaRPr lang="en-US" altLang="zh-CN"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TextBox 179"/>
          <p:cNvSpPr txBox="1"/>
          <p:nvPr/>
        </p:nvSpPr>
        <p:spPr bwMode="gray">
          <a:xfrm>
            <a:off x="1110440" y="3643446"/>
            <a:ext cx="631156" cy="221182"/>
          </a:xfrm>
          <a:prstGeom prst="roundRect">
            <a:avLst>
              <a:gd name="adj" fmla="val 30550"/>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Active</a:t>
            </a:r>
          </a:p>
        </p:txBody>
      </p:sp>
      <p:sp>
        <p:nvSpPr>
          <p:cNvPr id="75" name="TextBox 179"/>
          <p:cNvSpPr txBox="1"/>
          <p:nvPr/>
        </p:nvSpPr>
        <p:spPr bwMode="gray">
          <a:xfrm>
            <a:off x="3028290" y="3643446"/>
            <a:ext cx="631156" cy="221182"/>
          </a:xfrm>
          <a:prstGeom prst="roundRect">
            <a:avLst>
              <a:gd name="adj" fmla="val 30550"/>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Standby</a:t>
            </a:r>
          </a:p>
        </p:txBody>
      </p:sp>
      <p:sp>
        <p:nvSpPr>
          <p:cNvPr id="76" name="圆角矩形 75"/>
          <p:cNvSpPr/>
          <p:nvPr/>
        </p:nvSpPr>
        <p:spPr bwMode="gray">
          <a:xfrm>
            <a:off x="4635224" y="4763635"/>
            <a:ext cx="7113863" cy="360000"/>
          </a:xfrm>
          <a:prstGeom prst="roundRect">
            <a:avLst>
              <a:gd name="adj" fmla="val 10604"/>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HRP</a:t>
            </a: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 </a:t>
            </a:r>
            <a:r>
              <a:rPr lang="en-US" altLang="zh-CN"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Huawei Redundancy Protocol</a:t>
            </a: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a:t>
            </a:r>
          </a:p>
        </p:txBody>
      </p:sp>
      <p:sp>
        <p:nvSpPr>
          <p:cNvPr id="77" name="圆角矩形 75"/>
          <p:cNvSpPr/>
          <p:nvPr/>
        </p:nvSpPr>
        <p:spPr bwMode="gray">
          <a:xfrm>
            <a:off x="4635224" y="5167595"/>
            <a:ext cx="7113863" cy="467662"/>
          </a:xfrm>
          <a:prstGeom prst="roundRect">
            <a:avLst>
              <a:gd name="adj" fmla="val 3921"/>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a:lnSpc>
                <a:spcPts val="2400"/>
              </a:lnSpc>
              <a:spcAft>
                <a:spcPts val="600"/>
              </a:spcAft>
            </a:pPr>
            <a:r>
              <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rPr>
              <a:t>实现防火墙双机之间动态状态数据和关键配置命令的备份。</a:t>
            </a:r>
          </a:p>
        </p:txBody>
      </p:sp>
      <p:cxnSp>
        <p:nvCxnSpPr>
          <p:cNvPr id="78" name="Straight Arrow Connector 70"/>
          <p:cNvCxnSpPr/>
          <p:nvPr/>
        </p:nvCxnSpPr>
        <p:spPr bwMode="gray">
          <a:xfrm>
            <a:off x="1831806" y="3572148"/>
            <a:ext cx="1170715" cy="0"/>
          </a:xfrm>
          <a:prstGeom prst="straightConnector1">
            <a:avLst/>
          </a:prstGeom>
          <a:solidFill>
            <a:schemeClr val="accent1"/>
          </a:solidFill>
          <a:ln w="19050" cap="flat" cmpd="sng" algn="ctr">
            <a:solidFill>
              <a:srgbClr val="30B5C5"/>
            </a:solidFill>
            <a:prstDash val="sysDot"/>
            <a:round/>
            <a:headEnd type="triangle" w="med" len="med"/>
            <a:tailEnd type="triangle" w="med" len="med"/>
          </a:ln>
          <a:effectLst/>
        </p:spPr>
      </p:cxnSp>
      <p:sp>
        <p:nvSpPr>
          <p:cNvPr id="79" name="TextBox 10"/>
          <p:cNvSpPr txBox="1"/>
          <p:nvPr/>
        </p:nvSpPr>
        <p:spPr bwMode="gray">
          <a:xfrm>
            <a:off x="2150276" y="3438658"/>
            <a:ext cx="484427" cy="276999"/>
          </a:xfrm>
          <a:prstGeom prst="rect">
            <a:avLst/>
          </a:prstGeom>
          <a:solidFill>
            <a:schemeClr val="bg1"/>
          </a:solidFill>
        </p:spPr>
        <p:txBody>
          <a:bodyPr wrap="none" rtlCol="0">
            <a:spAutoFit/>
          </a:bodyPr>
          <a:lstStyle/>
          <a:p>
            <a:pPr algn="ctr"/>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HRP</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82" name="TextBox 13"/>
          <p:cNvSpPr txBox="1"/>
          <p:nvPr/>
        </p:nvSpPr>
        <p:spPr bwMode="gray">
          <a:xfrm>
            <a:off x="1852931" y="4303243"/>
            <a:ext cx="1103635" cy="461665"/>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VRID1</a:t>
            </a:r>
          </a:p>
          <a:p>
            <a:pPr algn="ctr"/>
            <a:r>
              <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192.168.1.1</a:t>
            </a:r>
          </a:p>
        </p:txBody>
      </p:sp>
      <p:sp>
        <p:nvSpPr>
          <p:cNvPr id="83" name="TextBox 25"/>
          <p:cNvSpPr txBox="1"/>
          <p:nvPr/>
        </p:nvSpPr>
        <p:spPr bwMode="gray">
          <a:xfrm>
            <a:off x="1767972" y="2915443"/>
            <a:ext cx="1273554" cy="461665"/>
          </a:xfrm>
          <a:prstGeom prst="rect">
            <a:avLst/>
          </a:prstGeom>
          <a:noFill/>
        </p:spPr>
        <p:txBody>
          <a:bodyPr wrap="none" rtlCol="0">
            <a:spAutoFit/>
          </a:bodyPr>
          <a:lstStyle/>
          <a:p>
            <a:pPr algn="ctr"/>
            <a:r>
              <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VRID100</a:t>
            </a:r>
          </a:p>
          <a:p>
            <a:pPr algn="ctr"/>
            <a:r>
              <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10.1.1.1</a:t>
            </a:r>
          </a:p>
        </p:txBody>
      </p:sp>
    </p:spTree>
    <p:extLst>
      <p:ext uri="{BB962C8B-B14F-4D97-AF65-F5344CB8AC3E}">
        <p14:creationId xmlns:p14="http://schemas.microsoft.com/office/powerpoint/2010/main" val="258485083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防火墙双机热备关键组件：</a:t>
            </a:r>
            <a:r>
              <a:rPr lang="en-US" altLang="zh-CN" smtClean="0">
                <a:sym typeface="Huawei Sans" panose="020C0503030203020204" pitchFamily="34" charset="0"/>
              </a:rPr>
              <a:t>VRRP</a:t>
            </a:r>
            <a:r>
              <a:rPr lang="zh-CN" altLang="en-US" smtClean="0">
                <a:sym typeface="Huawei Sans" panose="020C0503030203020204" pitchFamily="34" charset="0"/>
              </a:rPr>
              <a:t>与</a:t>
            </a:r>
            <a:r>
              <a:rPr lang="en-US" altLang="zh-CN" smtClean="0">
                <a:sym typeface="Huawei Sans" panose="020C0503030203020204" pitchFamily="34" charset="0"/>
              </a:rPr>
              <a:t>VGMP</a:t>
            </a:r>
            <a:endParaRPr lang="zh-CN" altLang="en-US">
              <a:sym typeface="Huawei Sans" panose="020C0503030203020204" pitchFamily="34" charset="0"/>
            </a:endParaRPr>
          </a:p>
        </p:txBody>
      </p:sp>
      <p:cxnSp>
        <p:nvCxnSpPr>
          <p:cNvPr id="3" name="Straight Connector 18"/>
          <p:cNvCxnSpPr/>
          <p:nvPr/>
        </p:nvCxnSpPr>
        <p:spPr bwMode="gray">
          <a:xfrm>
            <a:off x="1263493" y="3764943"/>
            <a:ext cx="2572169"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nvGrpSpPr>
          <p:cNvPr id="4" name="组合 3"/>
          <p:cNvGrpSpPr/>
          <p:nvPr/>
        </p:nvGrpSpPr>
        <p:grpSpPr bwMode="gray">
          <a:xfrm>
            <a:off x="1111093" y="1682967"/>
            <a:ext cx="2572169" cy="4195900"/>
            <a:chOff x="1163114" y="1682967"/>
            <a:chExt cx="2894093" cy="4195900"/>
          </a:xfrm>
        </p:grpSpPr>
        <p:cxnSp>
          <p:nvCxnSpPr>
            <p:cNvPr id="5" name="直接连接符 3"/>
            <p:cNvCxnSpPr/>
            <p:nvPr/>
          </p:nvCxnSpPr>
          <p:spPr bwMode="gray">
            <a:xfrm flipV="1">
              <a:off x="4057206" y="2466712"/>
              <a:ext cx="0" cy="2400852"/>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直接连接符 3"/>
            <p:cNvCxnSpPr/>
            <p:nvPr/>
          </p:nvCxnSpPr>
          <p:spPr bwMode="gray">
            <a:xfrm flipV="1">
              <a:off x="1187300" y="2466712"/>
              <a:ext cx="0" cy="2474743"/>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7" name="Group 52"/>
            <p:cNvGrpSpPr/>
            <p:nvPr/>
          </p:nvGrpSpPr>
          <p:grpSpPr bwMode="gray">
            <a:xfrm rot="10800000">
              <a:off x="1187300" y="5026603"/>
              <a:ext cx="2869906" cy="852264"/>
              <a:chOff x="158262" y="1838050"/>
              <a:chExt cx="1565030" cy="1349164"/>
            </a:xfrm>
          </p:grpSpPr>
          <p:cxnSp>
            <p:nvCxnSpPr>
              <p:cNvPr id="13"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4"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grpSp>
          <p:nvGrpSpPr>
            <p:cNvPr id="8" name="Group 49"/>
            <p:cNvGrpSpPr/>
            <p:nvPr/>
          </p:nvGrpSpPr>
          <p:grpSpPr bwMode="gray">
            <a:xfrm>
              <a:off x="1187300" y="1682967"/>
              <a:ext cx="2869906" cy="852264"/>
              <a:chOff x="158262" y="1838050"/>
              <a:chExt cx="1565030" cy="1349164"/>
            </a:xfrm>
          </p:grpSpPr>
          <p:cxnSp>
            <p:nvCxnSpPr>
              <p:cNvPr id="11"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2"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cxnSp>
          <p:nvCxnSpPr>
            <p:cNvPr id="9" name="Straight Connector 6"/>
            <p:cNvCxnSpPr/>
            <p:nvPr/>
          </p:nvCxnSpPr>
          <p:spPr bwMode="gray">
            <a:xfrm>
              <a:off x="1163114" y="5011626"/>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 name="Straight Connector 18"/>
            <p:cNvCxnSpPr/>
            <p:nvPr/>
          </p:nvCxnSpPr>
          <p:spPr bwMode="gray">
            <a:xfrm>
              <a:off x="1163114" y="2536842"/>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15" name="图片 76" descr="接入交换机.png"/>
          <p:cNvPicPr>
            <a:picLocks noChangeAspect="1"/>
          </p:cNvPicPr>
          <p:nvPr/>
        </p:nvPicPr>
        <p:blipFill>
          <a:blip r:embed="rId3" cstate="print"/>
          <a:stretch>
            <a:fillRect/>
          </a:stretch>
        </p:blipFill>
        <p:spPr bwMode="gray">
          <a:xfrm>
            <a:off x="897923" y="2379699"/>
            <a:ext cx="490909" cy="401653"/>
          </a:xfrm>
          <a:prstGeom prst="rect">
            <a:avLst/>
          </a:prstGeom>
        </p:spPr>
      </p:pic>
      <p:sp>
        <p:nvSpPr>
          <p:cNvPr id="16" name="Freeform 159"/>
          <p:cNvSpPr/>
          <p:nvPr/>
        </p:nvSpPr>
        <p:spPr bwMode="gray">
          <a:xfrm flipH="1">
            <a:off x="1986361" y="54495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内网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76" descr="接入交换机.png"/>
          <p:cNvPicPr>
            <a:picLocks noChangeAspect="1"/>
          </p:cNvPicPr>
          <p:nvPr/>
        </p:nvPicPr>
        <p:blipFill>
          <a:blip r:embed="rId3" cstate="print"/>
          <a:stretch>
            <a:fillRect/>
          </a:stretch>
        </p:blipFill>
        <p:spPr bwMode="gray">
          <a:xfrm>
            <a:off x="3436445" y="2379699"/>
            <a:ext cx="490909" cy="401653"/>
          </a:xfrm>
          <a:prstGeom prst="rect">
            <a:avLst/>
          </a:prstGeom>
        </p:spPr>
      </p:pic>
      <p:pic>
        <p:nvPicPr>
          <p:cNvPr id="19" name="图片 76" descr="接入交换机.png"/>
          <p:cNvPicPr>
            <a:picLocks noChangeAspect="1"/>
          </p:cNvPicPr>
          <p:nvPr/>
        </p:nvPicPr>
        <p:blipFill>
          <a:blip r:embed="rId3" cstate="print"/>
          <a:stretch>
            <a:fillRect/>
          </a:stretch>
        </p:blipFill>
        <p:spPr bwMode="gray">
          <a:xfrm>
            <a:off x="897923" y="4771179"/>
            <a:ext cx="490909" cy="401653"/>
          </a:xfrm>
          <a:prstGeom prst="rect">
            <a:avLst/>
          </a:prstGeom>
        </p:spPr>
      </p:pic>
      <p:pic>
        <p:nvPicPr>
          <p:cNvPr id="20" name="图片 76" descr="接入交换机.png"/>
          <p:cNvPicPr>
            <a:picLocks noChangeAspect="1"/>
          </p:cNvPicPr>
          <p:nvPr/>
        </p:nvPicPr>
        <p:blipFill>
          <a:blip r:embed="rId3" cstate="print"/>
          <a:stretch>
            <a:fillRect/>
          </a:stretch>
        </p:blipFill>
        <p:spPr bwMode="gray">
          <a:xfrm>
            <a:off x="3436445" y="4771179"/>
            <a:ext cx="490909" cy="401653"/>
          </a:xfrm>
          <a:prstGeom prst="rect">
            <a:avLst/>
          </a:prstGeom>
        </p:spPr>
      </p:pic>
      <p:pic>
        <p:nvPicPr>
          <p:cNvPr id="21"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436445" y="3561515"/>
            <a:ext cx="490909" cy="401653"/>
          </a:xfrm>
          <a:prstGeom prst="rect">
            <a:avLst/>
          </a:prstGeom>
        </p:spPr>
      </p:pic>
      <p:pic>
        <p:nvPicPr>
          <p:cNvPr id="22"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97923" y="3561515"/>
            <a:ext cx="490909" cy="401653"/>
          </a:xfrm>
          <a:prstGeom prst="rect">
            <a:avLst/>
          </a:prstGeom>
        </p:spPr>
      </p:pic>
      <p:pic>
        <p:nvPicPr>
          <p:cNvPr id="3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434151" y="3561515"/>
            <a:ext cx="490909" cy="401653"/>
          </a:xfrm>
          <a:prstGeom prst="rect">
            <a:avLst/>
          </a:prstGeom>
        </p:spPr>
      </p:pic>
      <p:sp>
        <p:nvSpPr>
          <p:cNvPr id="36" name="TextBox 179"/>
          <p:cNvSpPr txBox="1"/>
          <p:nvPr/>
        </p:nvSpPr>
        <p:spPr bwMode="gray">
          <a:xfrm>
            <a:off x="1110440" y="3643446"/>
            <a:ext cx="631156" cy="221182"/>
          </a:xfrm>
          <a:prstGeom prst="roundRect">
            <a:avLst>
              <a:gd name="adj" fmla="val 30550"/>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Active</a:t>
            </a:r>
          </a:p>
        </p:txBody>
      </p:sp>
      <p:sp>
        <p:nvSpPr>
          <p:cNvPr id="37" name="TextBox 179"/>
          <p:cNvSpPr txBox="1"/>
          <p:nvPr/>
        </p:nvSpPr>
        <p:spPr bwMode="gray">
          <a:xfrm>
            <a:off x="3028290" y="3643446"/>
            <a:ext cx="631156" cy="221182"/>
          </a:xfrm>
          <a:prstGeom prst="roundRect">
            <a:avLst>
              <a:gd name="adj" fmla="val 30550"/>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Standby</a:t>
            </a:r>
          </a:p>
        </p:txBody>
      </p:sp>
      <p:sp>
        <p:nvSpPr>
          <p:cNvPr id="41" name="TextBox 179"/>
          <p:cNvSpPr txBox="1"/>
          <p:nvPr/>
        </p:nvSpPr>
        <p:spPr bwMode="gray">
          <a:xfrm>
            <a:off x="4768394" y="5853822"/>
            <a:ext cx="1016484" cy="221182"/>
          </a:xfrm>
          <a:prstGeom prst="roundRect">
            <a:avLst>
              <a:gd name="adj" fmla="val 30550"/>
            </a:avLst>
          </a:prstGeom>
          <a:solidFill>
            <a:srgbClr val="30B5C5"/>
          </a:solidFill>
          <a:ln>
            <a:noFill/>
          </a:ln>
        </p:spPr>
        <p:txBody>
          <a:bodyPr wrap="squar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VGMP</a:t>
            </a:r>
            <a:r>
              <a:rPr lang="zh-CN" altLang="en-US" smtClean="0">
                <a:latin typeface="Huawei Sans" panose="020C0503030203020204" pitchFamily="34" charset="0"/>
                <a:ea typeface="方正兰亭黑简体" panose="02000000000000000000" pitchFamily="2" charset="-122"/>
                <a:sym typeface="Huawei Sans" panose="020C0503030203020204" pitchFamily="34" charset="0"/>
              </a:rPr>
              <a:t>组状态</a:t>
            </a:r>
            <a:endParaRPr lang="en-US" altLang="zh-CN"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3"/>
          <p:cNvSpPr txBox="1"/>
          <p:nvPr/>
        </p:nvSpPr>
        <p:spPr bwMode="gray">
          <a:xfrm>
            <a:off x="506376" y="3972786"/>
            <a:ext cx="641522" cy="461665"/>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a:t>
            </a:r>
          </a:p>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Active</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6" name="TextBox 13"/>
          <p:cNvSpPr txBox="1"/>
          <p:nvPr/>
        </p:nvSpPr>
        <p:spPr bwMode="gray">
          <a:xfrm>
            <a:off x="506376" y="3084561"/>
            <a:ext cx="641522" cy="461665"/>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a:t>
            </a:r>
          </a:p>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Active</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7" name="TextBox 13"/>
          <p:cNvSpPr txBox="1"/>
          <p:nvPr/>
        </p:nvSpPr>
        <p:spPr bwMode="gray">
          <a:xfrm>
            <a:off x="3645804" y="3972786"/>
            <a:ext cx="748923" cy="461665"/>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a:t>
            </a:r>
          </a:p>
          <a:p>
            <a:r>
              <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Standby</a:t>
            </a:r>
          </a:p>
        </p:txBody>
      </p:sp>
      <p:sp>
        <p:nvSpPr>
          <p:cNvPr id="48" name="TextBox 13"/>
          <p:cNvSpPr txBox="1"/>
          <p:nvPr/>
        </p:nvSpPr>
        <p:spPr bwMode="gray">
          <a:xfrm>
            <a:off x="3645804" y="3084561"/>
            <a:ext cx="748923" cy="461665"/>
          </a:xfrm>
          <a:prstGeom prst="rect">
            <a:avLst/>
          </a:prstGeom>
          <a:noFill/>
        </p:spPr>
        <p:txBody>
          <a:bodyPr wrap="none" rtlCol="0">
            <a:spAutoFit/>
          </a:bodyPr>
          <a:lstStyle/>
          <a:p>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a:t>
            </a:r>
          </a:p>
          <a:p>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Standby</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54" name="Straight Arrow Connector 70"/>
          <p:cNvCxnSpPr/>
          <p:nvPr/>
        </p:nvCxnSpPr>
        <p:spPr bwMode="gray">
          <a:xfrm flipH="1" flipV="1">
            <a:off x="1446281" y="5092728"/>
            <a:ext cx="672520" cy="466720"/>
          </a:xfrm>
          <a:prstGeom prst="straightConnector1">
            <a:avLst/>
          </a:prstGeom>
          <a:solidFill>
            <a:schemeClr val="accent1"/>
          </a:solidFill>
          <a:ln w="28575" cap="flat" cmpd="sng" algn="ctr">
            <a:solidFill>
              <a:srgbClr val="62B230"/>
            </a:solidFill>
            <a:prstDash val="sysDot"/>
            <a:round/>
            <a:headEnd type="none" w="med" len="med"/>
            <a:tailEnd type="triangle" w="med" len="med"/>
          </a:ln>
          <a:effectLst/>
        </p:spPr>
      </p:cxnSp>
      <p:cxnSp>
        <p:nvCxnSpPr>
          <p:cNvPr id="55" name="Straight Arrow Connector 70"/>
          <p:cNvCxnSpPr/>
          <p:nvPr/>
        </p:nvCxnSpPr>
        <p:spPr bwMode="gray">
          <a:xfrm flipV="1">
            <a:off x="1219880" y="4109136"/>
            <a:ext cx="0" cy="580061"/>
          </a:xfrm>
          <a:prstGeom prst="straightConnector1">
            <a:avLst/>
          </a:prstGeom>
          <a:solidFill>
            <a:schemeClr val="accent1"/>
          </a:solidFill>
          <a:ln w="28575" cap="flat" cmpd="sng" algn="ctr">
            <a:solidFill>
              <a:srgbClr val="62B230"/>
            </a:solidFill>
            <a:prstDash val="sysDot"/>
            <a:round/>
            <a:headEnd type="none" w="med" len="med"/>
            <a:tailEnd type="triangle" w="med" len="med"/>
          </a:ln>
          <a:effectLst/>
        </p:spPr>
      </p:cxnSp>
      <p:cxnSp>
        <p:nvCxnSpPr>
          <p:cNvPr id="56" name="Straight Arrow Connector 70"/>
          <p:cNvCxnSpPr/>
          <p:nvPr/>
        </p:nvCxnSpPr>
        <p:spPr bwMode="gray">
          <a:xfrm flipV="1">
            <a:off x="1426018" y="2054558"/>
            <a:ext cx="567741" cy="384026"/>
          </a:xfrm>
          <a:prstGeom prst="straightConnector1">
            <a:avLst/>
          </a:prstGeom>
          <a:solidFill>
            <a:schemeClr val="accent1"/>
          </a:solidFill>
          <a:ln w="28575" cap="flat" cmpd="sng" algn="ctr">
            <a:solidFill>
              <a:srgbClr val="62B230"/>
            </a:solidFill>
            <a:prstDash val="sysDot"/>
            <a:round/>
            <a:headEnd type="none" w="med" len="med"/>
            <a:tailEnd type="triangle" w="med" len="med"/>
          </a:ln>
          <a:effectLst/>
        </p:spPr>
      </p:cxnSp>
      <p:cxnSp>
        <p:nvCxnSpPr>
          <p:cNvPr id="57" name="Straight Arrow Connector 70"/>
          <p:cNvCxnSpPr/>
          <p:nvPr/>
        </p:nvCxnSpPr>
        <p:spPr bwMode="gray">
          <a:xfrm flipV="1">
            <a:off x="1219880" y="2885970"/>
            <a:ext cx="0" cy="580061"/>
          </a:xfrm>
          <a:prstGeom prst="straightConnector1">
            <a:avLst/>
          </a:prstGeom>
          <a:solidFill>
            <a:schemeClr val="accent1"/>
          </a:solidFill>
          <a:ln w="28575" cap="flat" cmpd="sng" algn="ctr">
            <a:solidFill>
              <a:srgbClr val="62B230"/>
            </a:solidFill>
            <a:prstDash val="sysDot"/>
            <a:round/>
            <a:headEnd type="none" w="med" len="med"/>
            <a:tailEnd type="triangle" w="med" len="med"/>
          </a:ln>
          <a:effectLst/>
        </p:spPr>
      </p:cxnSp>
      <p:cxnSp>
        <p:nvCxnSpPr>
          <p:cNvPr id="58" name="Straight Arrow Connector 70"/>
          <p:cNvCxnSpPr/>
          <p:nvPr/>
        </p:nvCxnSpPr>
        <p:spPr bwMode="gray">
          <a:xfrm flipV="1">
            <a:off x="1619221" y="2054558"/>
            <a:ext cx="567741" cy="384026"/>
          </a:xfrm>
          <a:prstGeom prst="straightConnector1">
            <a:avLst/>
          </a:prstGeom>
          <a:solidFill>
            <a:schemeClr val="accent1"/>
          </a:solidFill>
          <a:ln w="28575" cap="flat" cmpd="sng" algn="ctr">
            <a:solidFill>
              <a:srgbClr val="30B5C5"/>
            </a:solidFill>
            <a:prstDash val="solid"/>
            <a:round/>
            <a:headEnd type="triangle" w="med" len="med"/>
            <a:tailEnd type="none" w="med" len="med"/>
          </a:ln>
          <a:effectLst/>
        </p:spPr>
      </p:cxnSp>
      <p:cxnSp>
        <p:nvCxnSpPr>
          <p:cNvPr id="59" name="Straight Arrow Connector 70"/>
          <p:cNvCxnSpPr/>
          <p:nvPr/>
        </p:nvCxnSpPr>
        <p:spPr bwMode="gray">
          <a:xfrm flipV="1">
            <a:off x="1359032" y="2861571"/>
            <a:ext cx="0" cy="580061"/>
          </a:xfrm>
          <a:prstGeom prst="straightConnector1">
            <a:avLst/>
          </a:prstGeom>
          <a:solidFill>
            <a:schemeClr val="accent1"/>
          </a:solidFill>
          <a:ln w="28575" cap="flat" cmpd="sng" algn="ctr">
            <a:solidFill>
              <a:srgbClr val="30B5C5"/>
            </a:solidFill>
            <a:prstDash val="solid"/>
            <a:round/>
            <a:headEnd type="triangle" w="med" len="med"/>
            <a:tailEnd type="none" w="med" len="med"/>
          </a:ln>
          <a:effectLst/>
        </p:spPr>
      </p:cxnSp>
      <p:cxnSp>
        <p:nvCxnSpPr>
          <p:cNvPr id="60" name="Straight Arrow Connector 70"/>
          <p:cNvCxnSpPr/>
          <p:nvPr/>
        </p:nvCxnSpPr>
        <p:spPr bwMode="gray">
          <a:xfrm flipV="1">
            <a:off x="1359032" y="4023776"/>
            <a:ext cx="0" cy="580061"/>
          </a:xfrm>
          <a:prstGeom prst="straightConnector1">
            <a:avLst/>
          </a:prstGeom>
          <a:solidFill>
            <a:schemeClr val="accent1"/>
          </a:solidFill>
          <a:ln w="28575" cap="flat" cmpd="sng" algn="ctr">
            <a:solidFill>
              <a:srgbClr val="30B5C5"/>
            </a:solidFill>
            <a:prstDash val="solid"/>
            <a:round/>
            <a:headEnd type="triangle" w="med" len="med"/>
            <a:tailEnd type="none" w="med" len="med"/>
          </a:ln>
          <a:effectLst/>
        </p:spPr>
      </p:cxnSp>
      <p:cxnSp>
        <p:nvCxnSpPr>
          <p:cNvPr id="61" name="Straight Arrow Connector 70"/>
          <p:cNvCxnSpPr/>
          <p:nvPr/>
        </p:nvCxnSpPr>
        <p:spPr bwMode="gray">
          <a:xfrm flipH="1" flipV="1">
            <a:off x="1616620" y="5071562"/>
            <a:ext cx="555802" cy="385719"/>
          </a:xfrm>
          <a:prstGeom prst="straightConnector1">
            <a:avLst/>
          </a:prstGeom>
          <a:solidFill>
            <a:schemeClr val="accent1"/>
          </a:solidFill>
          <a:ln w="28575" cap="flat" cmpd="sng" algn="ctr">
            <a:solidFill>
              <a:srgbClr val="30B5C5"/>
            </a:solidFill>
            <a:prstDash val="solid"/>
            <a:round/>
            <a:headEnd type="triangle" w="med" len="med"/>
            <a:tailEnd type="none" w="med" len="med"/>
          </a:ln>
          <a:effectLst/>
        </p:spPr>
      </p:cxnSp>
      <p:sp>
        <p:nvSpPr>
          <p:cNvPr id="64" name="Rectangle 68"/>
          <p:cNvSpPr/>
          <p:nvPr/>
        </p:nvSpPr>
        <p:spPr bwMode="gray">
          <a:xfrm>
            <a:off x="4161769" y="1606710"/>
            <a:ext cx="1593655" cy="1451679"/>
          </a:xfrm>
          <a:prstGeom prst="rect">
            <a:avLst/>
          </a:prstGeom>
        </p:spPr>
        <p:txBody>
          <a:bodyPr wrap="square">
            <a:spAutoFit/>
          </a:bodyPr>
          <a:lstStyle/>
          <a:p>
            <a:pPr marL="176213" indent="-176213" algn="just">
              <a:lnSpc>
                <a:spcPts val="2000"/>
              </a:lnSpc>
              <a:spcAft>
                <a:spcPts val="6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使用</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VGMP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统一管理</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组。</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gn="just">
              <a:lnSpc>
                <a:spcPts val="2000"/>
              </a:lnSpc>
              <a:spcAft>
                <a:spcPts val="600"/>
              </a:spcAft>
              <a:buFont typeface="Arial" panose="020B0604020202020204" pitchFamily="34" charset="0"/>
              <a:buChar char="•"/>
            </a:pP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VGMP</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组</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的状态决定</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了</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成员接口的</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状态。</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65" name="Straight Connector 18"/>
          <p:cNvCxnSpPr/>
          <p:nvPr/>
        </p:nvCxnSpPr>
        <p:spPr bwMode="gray">
          <a:xfrm>
            <a:off x="7090685" y="3764943"/>
            <a:ext cx="2572169" cy="0"/>
          </a:xfrm>
          <a:prstGeom prst="line">
            <a:avLst/>
          </a:prstGeom>
          <a:solidFill>
            <a:schemeClr val="accent1"/>
          </a:solidFill>
          <a:ln w="19050" cap="flat" cmpd="sng" algn="ctr">
            <a:solidFill>
              <a:srgbClr val="C00000"/>
            </a:solidFill>
            <a:prstDash val="solid"/>
            <a:round/>
            <a:headEnd type="none" w="med" len="med"/>
            <a:tailEnd type="none" w="med" len="med"/>
          </a:ln>
          <a:effectLst/>
        </p:spPr>
      </p:cxnSp>
      <p:grpSp>
        <p:nvGrpSpPr>
          <p:cNvPr id="66" name="组合 65"/>
          <p:cNvGrpSpPr/>
          <p:nvPr/>
        </p:nvGrpSpPr>
        <p:grpSpPr bwMode="gray">
          <a:xfrm>
            <a:off x="6938285" y="1682967"/>
            <a:ext cx="2572169" cy="4195900"/>
            <a:chOff x="1163114" y="1682967"/>
            <a:chExt cx="2894093" cy="4195900"/>
          </a:xfrm>
        </p:grpSpPr>
        <p:cxnSp>
          <p:nvCxnSpPr>
            <p:cNvPr id="67" name="直接连接符 3"/>
            <p:cNvCxnSpPr/>
            <p:nvPr/>
          </p:nvCxnSpPr>
          <p:spPr bwMode="gray">
            <a:xfrm flipV="1">
              <a:off x="4057206" y="2466712"/>
              <a:ext cx="0" cy="2400852"/>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8" name="直接连接符 3"/>
            <p:cNvCxnSpPr/>
            <p:nvPr/>
          </p:nvCxnSpPr>
          <p:spPr bwMode="gray">
            <a:xfrm flipV="1">
              <a:off x="1187300" y="2466712"/>
              <a:ext cx="0" cy="2474743"/>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69" name="Group 52"/>
            <p:cNvGrpSpPr/>
            <p:nvPr/>
          </p:nvGrpSpPr>
          <p:grpSpPr bwMode="gray">
            <a:xfrm rot="10800000">
              <a:off x="1187300" y="5026603"/>
              <a:ext cx="2869906" cy="852264"/>
              <a:chOff x="158262" y="1838050"/>
              <a:chExt cx="1565030" cy="1349164"/>
            </a:xfrm>
          </p:grpSpPr>
          <p:cxnSp>
            <p:nvCxnSpPr>
              <p:cNvPr id="75"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6"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grpSp>
          <p:nvGrpSpPr>
            <p:cNvPr id="70" name="Group 49"/>
            <p:cNvGrpSpPr/>
            <p:nvPr/>
          </p:nvGrpSpPr>
          <p:grpSpPr bwMode="gray">
            <a:xfrm>
              <a:off x="1187300" y="1682967"/>
              <a:ext cx="2869906" cy="852264"/>
              <a:chOff x="158262" y="1838050"/>
              <a:chExt cx="1565030" cy="1349164"/>
            </a:xfrm>
          </p:grpSpPr>
          <p:cxnSp>
            <p:nvCxnSpPr>
              <p:cNvPr id="73"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74"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cxnSp>
          <p:nvCxnSpPr>
            <p:cNvPr id="71" name="Straight Connector 6"/>
            <p:cNvCxnSpPr/>
            <p:nvPr/>
          </p:nvCxnSpPr>
          <p:spPr bwMode="gray">
            <a:xfrm>
              <a:off x="1163114" y="5011626"/>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72" name="Straight Connector 18"/>
            <p:cNvCxnSpPr/>
            <p:nvPr/>
          </p:nvCxnSpPr>
          <p:spPr bwMode="gray">
            <a:xfrm>
              <a:off x="1163114" y="2536842"/>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77" name="图片 76" descr="接入交换机.png"/>
          <p:cNvPicPr>
            <a:picLocks noChangeAspect="1"/>
          </p:cNvPicPr>
          <p:nvPr/>
        </p:nvPicPr>
        <p:blipFill>
          <a:blip r:embed="rId3" cstate="print"/>
          <a:stretch>
            <a:fillRect/>
          </a:stretch>
        </p:blipFill>
        <p:spPr bwMode="gray">
          <a:xfrm>
            <a:off x="6725115" y="2379699"/>
            <a:ext cx="490909" cy="401653"/>
          </a:xfrm>
          <a:prstGeom prst="rect">
            <a:avLst/>
          </a:prstGeom>
        </p:spPr>
      </p:pic>
      <p:sp>
        <p:nvSpPr>
          <p:cNvPr id="78" name="Freeform 159"/>
          <p:cNvSpPr/>
          <p:nvPr/>
        </p:nvSpPr>
        <p:spPr bwMode="gray">
          <a:xfrm flipH="1">
            <a:off x="7813553" y="54495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内网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9" name="Freeform 159"/>
          <p:cNvSpPr/>
          <p:nvPr/>
        </p:nvSpPr>
        <p:spPr bwMode="gray">
          <a:xfrm flipH="1">
            <a:off x="7813553" y="152360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外网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80" name="图片 76" descr="接入交换机.png"/>
          <p:cNvPicPr>
            <a:picLocks noChangeAspect="1"/>
          </p:cNvPicPr>
          <p:nvPr/>
        </p:nvPicPr>
        <p:blipFill>
          <a:blip r:embed="rId3" cstate="print"/>
          <a:stretch>
            <a:fillRect/>
          </a:stretch>
        </p:blipFill>
        <p:spPr bwMode="gray">
          <a:xfrm>
            <a:off x="9263637" y="2379699"/>
            <a:ext cx="490909" cy="401653"/>
          </a:xfrm>
          <a:prstGeom prst="rect">
            <a:avLst/>
          </a:prstGeom>
        </p:spPr>
      </p:pic>
      <p:pic>
        <p:nvPicPr>
          <p:cNvPr id="81" name="图片 76" descr="接入交换机.png"/>
          <p:cNvPicPr>
            <a:picLocks noChangeAspect="1"/>
          </p:cNvPicPr>
          <p:nvPr/>
        </p:nvPicPr>
        <p:blipFill>
          <a:blip r:embed="rId3" cstate="print"/>
          <a:stretch>
            <a:fillRect/>
          </a:stretch>
        </p:blipFill>
        <p:spPr bwMode="gray">
          <a:xfrm>
            <a:off x="6725115" y="4771179"/>
            <a:ext cx="490909" cy="401653"/>
          </a:xfrm>
          <a:prstGeom prst="rect">
            <a:avLst/>
          </a:prstGeom>
        </p:spPr>
      </p:pic>
      <p:pic>
        <p:nvPicPr>
          <p:cNvPr id="82" name="图片 76" descr="接入交换机.png"/>
          <p:cNvPicPr>
            <a:picLocks noChangeAspect="1"/>
          </p:cNvPicPr>
          <p:nvPr/>
        </p:nvPicPr>
        <p:blipFill>
          <a:blip r:embed="rId3" cstate="print"/>
          <a:stretch>
            <a:fillRect/>
          </a:stretch>
        </p:blipFill>
        <p:spPr bwMode="gray">
          <a:xfrm>
            <a:off x="9263637" y="4771179"/>
            <a:ext cx="490909" cy="401653"/>
          </a:xfrm>
          <a:prstGeom prst="rect">
            <a:avLst/>
          </a:prstGeom>
        </p:spPr>
      </p:pic>
      <p:pic>
        <p:nvPicPr>
          <p:cNvPr id="83"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263637" y="3561515"/>
            <a:ext cx="490909" cy="401653"/>
          </a:xfrm>
          <a:prstGeom prst="rect">
            <a:avLst/>
          </a:prstGeom>
        </p:spPr>
      </p:pic>
      <p:pic>
        <p:nvPicPr>
          <p:cNvPr id="84"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6725115" y="3561515"/>
            <a:ext cx="490909" cy="401653"/>
          </a:xfrm>
          <a:prstGeom prst="rect">
            <a:avLst/>
          </a:prstGeom>
        </p:spPr>
      </p:pic>
      <p:pic>
        <p:nvPicPr>
          <p:cNvPr id="85"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261343" y="3561515"/>
            <a:ext cx="490909" cy="401653"/>
          </a:xfrm>
          <a:prstGeom prst="rect">
            <a:avLst/>
          </a:prstGeom>
        </p:spPr>
      </p:pic>
      <p:sp>
        <p:nvSpPr>
          <p:cNvPr id="86" name="TextBox 179"/>
          <p:cNvSpPr txBox="1"/>
          <p:nvPr/>
        </p:nvSpPr>
        <p:spPr bwMode="gray">
          <a:xfrm>
            <a:off x="8906389" y="3643446"/>
            <a:ext cx="631156" cy="221182"/>
          </a:xfrm>
          <a:prstGeom prst="roundRect">
            <a:avLst>
              <a:gd name="adj" fmla="val 30550"/>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Active</a:t>
            </a:r>
          </a:p>
        </p:txBody>
      </p:sp>
      <p:sp>
        <p:nvSpPr>
          <p:cNvPr id="87" name="TextBox 179"/>
          <p:cNvSpPr txBox="1"/>
          <p:nvPr/>
        </p:nvSpPr>
        <p:spPr bwMode="gray">
          <a:xfrm>
            <a:off x="6937632" y="3643446"/>
            <a:ext cx="631156" cy="221182"/>
          </a:xfrm>
          <a:prstGeom prst="roundRect">
            <a:avLst>
              <a:gd name="adj" fmla="val 30550"/>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Standby</a:t>
            </a:r>
          </a:p>
        </p:txBody>
      </p:sp>
      <p:sp>
        <p:nvSpPr>
          <p:cNvPr id="88" name="TextBox 13"/>
          <p:cNvSpPr txBox="1"/>
          <p:nvPr/>
        </p:nvSpPr>
        <p:spPr bwMode="gray">
          <a:xfrm>
            <a:off x="6226167" y="3972786"/>
            <a:ext cx="748923" cy="461665"/>
          </a:xfrm>
          <a:prstGeom prst="rect">
            <a:avLst/>
          </a:prstGeom>
          <a:noFill/>
        </p:spPr>
        <p:txBody>
          <a:bodyPr wrap="none" rtlCol="0">
            <a:spAutoFit/>
          </a:bodyPr>
          <a:lstStyle/>
          <a:p>
            <a:pPr algn="r"/>
            <a:r>
              <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a:t>
            </a:r>
          </a:p>
          <a:p>
            <a:pPr algn="r"/>
            <a:r>
              <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Standby</a:t>
            </a:r>
          </a:p>
        </p:txBody>
      </p:sp>
      <p:sp>
        <p:nvSpPr>
          <p:cNvPr id="90" name="TextBox 13"/>
          <p:cNvSpPr txBox="1"/>
          <p:nvPr/>
        </p:nvSpPr>
        <p:spPr bwMode="gray">
          <a:xfrm>
            <a:off x="9472996" y="3972786"/>
            <a:ext cx="641522" cy="461665"/>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a:t>
            </a:r>
          </a:p>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Active</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91" name="TextBox 13"/>
          <p:cNvSpPr txBox="1"/>
          <p:nvPr/>
        </p:nvSpPr>
        <p:spPr bwMode="gray">
          <a:xfrm>
            <a:off x="9472996" y="3084561"/>
            <a:ext cx="641522" cy="461665"/>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a:t>
            </a:r>
          </a:p>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Active</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93" name="Straight Arrow Connector 70"/>
          <p:cNvCxnSpPr/>
          <p:nvPr/>
        </p:nvCxnSpPr>
        <p:spPr bwMode="gray">
          <a:xfrm flipV="1">
            <a:off x="9251792" y="4109136"/>
            <a:ext cx="0" cy="580061"/>
          </a:xfrm>
          <a:prstGeom prst="straightConnector1">
            <a:avLst/>
          </a:prstGeom>
          <a:solidFill>
            <a:schemeClr val="accent1"/>
          </a:solidFill>
          <a:ln w="28575" cap="flat" cmpd="sng" algn="ctr">
            <a:solidFill>
              <a:srgbClr val="62B230"/>
            </a:solidFill>
            <a:prstDash val="sysDot"/>
            <a:round/>
            <a:headEnd type="none" w="med" len="med"/>
            <a:tailEnd type="triangle" w="med" len="med"/>
          </a:ln>
          <a:effectLst/>
        </p:spPr>
      </p:cxnSp>
      <p:cxnSp>
        <p:nvCxnSpPr>
          <p:cNvPr id="95" name="Straight Arrow Connector 70"/>
          <p:cNvCxnSpPr/>
          <p:nvPr/>
        </p:nvCxnSpPr>
        <p:spPr bwMode="gray">
          <a:xfrm flipV="1">
            <a:off x="9251792" y="2885970"/>
            <a:ext cx="0" cy="580061"/>
          </a:xfrm>
          <a:prstGeom prst="straightConnector1">
            <a:avLst/>
          </a:prstGeom>
          <a:solidFill>
            <a:schemeClr val="accent1"/>
          </a:solidFill>
          <a:ln w="28575" cap="flat" cmpd="sng" algn="ctr">
            <a:solidFill>
              <a:srgbClr val="62B230"/>
            </a:solidFill>
            <a:prstDash val="sysDot"/>
            <a:round/>
            <a:headEnd type="none" w="med" len="med"/>
            <a:tailEnd type="triangle" w="med" len="med"/>
          </a:ln>
          <a:effectLst/>
        </p:spPr>
      </p:cxnSp>
      <p:cxnSp>
        <p:nvCxnSpPr>
          <p:cNvPr id="97" name="Straight Arrow Connector 70"/>
          <p:cNvCxnSpPr/>
          <p:nvPr/>
        </p:nvCxnSpPr>
        <p:spPr bwMode="gray">
          <a:xfrm flipV="1">
            <a:off x="9390944" y="2861571"/>
            <a:ext cx="0" cy="580061"/>
          </a:xfrm>
          <a:prstGeom prst="straightConnector1">
            <a:avLst/>
          </a:prstGeom>
          <a:solidFill>
            <a:schemeClr val="accent1"/>
          </a:solidFill>
          <a:ln w="28575" cap="flat" cmpd="sng" algn="ctr">
            <a:solidFill>
              <a:srgbClr val="30B5C5"/>
            </a:solidFill>
            <a:prstDash val="solid"/>
            <a:round/>
            <a:headEnd type="triangle" w="med" len="med"/>
            <a:tailEnd type="none" w="med" len="med"/>
          </a:ln>
          <a:effectLst/>
        </p:spPr>
      </p:cxnSp>
      <p:cxnSp>
        <p:nvCxnSpPr>
          <p:cNvPr id="98" name="Straight Arrow Connector 70"/>
          <p:cNvCxnSpPr/>
          <p:nvPr/>
        </p:nvCxnSpPr>
        <p:spPr bwMode="gray">
          <a:xfrm flipV="1">
            <a:off x="9390944" y="4023776"/>
            <a:ext cx="0" cy="580061"/>
          </a:xfrm>
          <a:prstGeom prst="straightConnector1">
            <a:avLst/>
          </a:prstGeom>
          <a:solidFill>
            <a:schemeClr val="accent1"/>
          </a:solidFill>
          <a:ln w="28575" cap="flat" cmpd="sng" algn="ctr">
            <a:solidFill>
              <a:srgbClr val="30B5C5"/>
            </a:solidFill>
            <a:prstDash val="solid"/>
            <a:round/>
            <a:headEnd type="triangle" w="med" len="med"/>
            <a:tailEnd type="none" w="med" len="med"/>
          </a:ln>
          <a:effectLst/>
        </p:spPr>
      </p:cxnSp>
      <p:cxnSp>
        <p:nvCxnSpPr>
          <p:cNvPr id="94" name="Straight Arrow Connector 70"/>
          <p:cNvCxnSpPr/>
          <p:nvPr/>
        </p:nvCxnSpPr>
        <p:spPr bwMode="gray">
          <a:xfrm flipH="1" flipV="1">
            <a:off x="8456853" y="2054558"/>
            <a:ext cx="567741" cy="384026"/>
          </a:xfrm>
          <a:prstGeom prst="straightConnector1">
            <a:avLst/>
          </a:prstGeom>
          <a:solidFill>
            <a:schemeClr val="accent1"/>
          </a:solidFill>
          <a:ln w="28575" cap="flat" cmpd="sng" algn="ctr">
            <a:solidFill>
              <a:srgbClr val="62B230"/>
            </a:solidFill>
            <a:prstDash val="sysDot"/>
            <a:round/>
            <a:headEnd type="none" w="med" len="med"/>
            <a:tailEnd type="triangle" w="med" len="med"/>
          </a:ln>
          <a:effectLst/>
        </p:spPr>
      </p:cxnSp>
      <p:cxnSp>
        <p:nvCxnSpPr>
          <p:cNvPr id="96" name="Straight Arrow Connector 70"/>
          <p:cNvCxnSpPr/>
          <p:nvPr/>
        </p:nvCxnSpPr>
        <p:spPr bwMode="gray">
          <a:xfrm flipH="1" flipV="1">
            <a:off x="8629851" y="2054558"/>
            <a:ext cx="567741" cy="384026"/>
          </a:xfrm>
          <a:prstGeom prst="straightConnector1">
            <a:avLst/>
          </a:prstGeom>
          <a:solidFill>
            <a:schemeClr val="accent1"/>
          </a:solidFill>
          <a:ln w="28575" cap="flat" cmpd="sng" algn="ctr">
            <a:solidFill>
              <a:srgbClr val="30B5C5"/>
            </a:solidFill>
            <a:prstDash val="solid"/>
            <a:round/>
            <a:headEnd type="triangle" w="med" len="med"/>
            <a:tailEnd type="none" w="med" len="med"/>
          </a:ln>
          <a:effectLst/>
        </p:spPr>
      </p:cxnSp>
      <p:cxnSp>
        <p:nvCxnSpPr>
          <p:cNvPr id="92" name="Straight Arrow Connector 70"/>
          <p:cNvCxnSpPr/>
          <p:nvPr/>
        </p:nvCxnSpPr>
        <p:spPr bwMode="gray">
          <a:xfrm flipV="1">
            <a:off x="8526698" y="5108484"/>
            <a:ext cx="524764" cy="352513"/>
          </a:xfrm>
          <a:prstGeom prst="straightConnector1">
            <a:avLst/>
          </a:prstGeom>
          <a:solidFill>
            <a:schemeClr val="accent1"/>
          </a:solidFill>
          <a:ln w="28575" cap="flat" cmpd="sng" algn="ctr">
            <a:solidFill>
              <a:srgbClr val="62B230"/>
            </a:solidFill>
            <a:prstDash val="sysDot"/>
            <a:round/>
            <a:headEnd type="none" w="med" len="med"/>
            <a:tailEnd type="triangle" w="med" len="med"/>
          </a:ln>
          <a:effectLst/>
        </p:spPr>
      </p:cxnSp>
      <p:cxnSp>
        <p:nvCxnSpPr>
          <p:cNvPr id="99" name="Straight Arrow Connector 70"/>
          <p:cNvCxnSpPr/>
          <p:nvPr/>
        </p:nvCxnSpPr>
        <p:spPr bwMode="gray">
          <a:xfrm flipV="1">
            <a:off x="8604767" y="5140423"/>
            <a:ext cx="592825" cy="397812"/>
          </a:xfrm>
          <a:prstGeom prst="straightConnector1">
            <a:avLst/>
          </a:prstGeom>
          <a:solidFill>
            <a:schemeClr val="accent1"/>
          </a:solidFill>
          <a:ln w="28575" cap="flat" cmpd="sng" algn="ctr">
            <a:solidFill>
              <a:srgbClr val="30B5C5"/>
            </a:solidFill>
            <a:prstDash val="solid"/>
            <a:round/>
            <a:headEnd type="triangle" w="med" len="med"/>
            <a:tailEnd type="none" w="med" len="med"/>
          </a:ln>
          <a:effectLst/>
        </p:spPr>
      </p:cxnSp>
      <p:sp>
        <p:nvSpPr>
          <p:cNvPr id="103" name="十字形 102"/>
          <p:cNvSpPr/>
          <p:nvPr/>
        </p:nvSpPr>
        <p:spPr bwMode="gray">
          <a:xfrm rot="2785165">
            <a:off x="6801096" y="3034648"/>
            <a:ext cx="314163" cy="314163"/>
          </a:xfrm>
          <a:prstGeom prst="plus">
            <a:avLst>
              <a:gd name="adj" fmla="val 39697"/>
            </a:avLst>
          </a:prstGeom>
          <a:solidFill>
            <a:schemeClr val="tx1"/>
          </a:solidFill>
          <a:ln w="12700" cap="flat" cmpd="sng" algn="ctr">
            <a:no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4" name="Freeform 222"/>
          <p:cNvSpPr/>
          <p:nvPr/>
        </p:nvSpPr>
        <p:spPr bwMode="gray">
          <a:xfrm rot="19785546">
            <a:off x="7485798" y="2833563"/>
            <a:ext cx="1397289" cy="910335"/>
          </a:xfrm>
          <a:custGeom>
            <a:avLst/>
            <a:gdLst>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0 w 2243470"/>
              <a:gd name="connsiteY0" fmla="*/ 0 h 1222744"/>
              <a:gd name="connsiteX1" fmla="*/ 2137144 w 2243470"/>
              <a:gd name="connsiteY1" fmla="*/ 861238 h 1222744"/>
              <a:gd name="connsiteX2" fmla="*/ 2243470 w 2243470"/>
              <a:gd name="connsiteY2" fmla="*/ 701749 h 1222744"/>
              <a:gd name="connsiteX3" fmla="*/ 2232837 w 2243470"/>
              <a:gd name="connsiteY3" fmla="*/ 1169582 h 1222744"/>
              <a:gd name="connsiteX4" fmla="*/ 1903228 w 2243470"/>
              <a:gd name="connsiteY4" fmla="*/ 1222744 h 1222744"/>
              <a:gd name="connsiteX5" fmla="*/ 2041451 w 2243470"/>
              <a:gd name="connsiteY5" fmla="*/ 999461 h 1222744"/>
              <a:gd name="connsiteX6" fmla="*/ 95693 w 2243470"/>
              <a:gd name="connsiteY6" fmla="*/ 712382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10140 w 2253610"/>
              <a:gd name="connsiteY0" fmla="*/ 0 h 1222744"/>
              <a:gd name="connsiteX1" fmla="*/ 2147284 w 2253610"/>
              <a:gd name="connsiteY1" fmla="*/ 861238 h 1222744"/>
              <a:gd name="connsiteX2" fmla="*/ 2253610 w 2253610"/>
              <a:gd name="connsiteY2" fmla="*/ 701749 h 1222744"/>
              <a:gd name="connsiteX3" fmla="*/ 2242977 w 2253610"/>
              <a:gd name="connsiteY3" fmla="*/ 1169582 h 1222744"/>
              <a:gd name="connsiteX4" fmla="*/ 1913368 w 2253610"/>
              <a:gd name="connsiteY4" fmla="*/ 1222744 h 1222744"/>
              <a:gd name="connsiteX5" fmla="*/ 2051591 w 2253610"/>
              <a:gd name="connsiteY5" fmla="*/ 999461 h 1222744"/>
              <a:gd name="connsiteX6" fmla="*/ 0 w 2253610"/>
              <a:gd name="connsiteY6" fmla="*/ 780115 h 1222744"/>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138077"/>
              <a:gd name="connsiteX1" fmla="*/ 2264144 w 2370470"/>
              <a:gd name="connsiteY1" fmla="*/ 776571 h 1138077"/>
              <a:gd name="connsiteX2" fmla="*/ 2370470 w 2370470"/>
              <a:gd name="connsiteY2" fmla="*/ 617082 h 1138077"/>
              <a:gd name="connsiteX3" fmla="*/ 2359837 w 2370470"/>
              <a:gd name="connsiteY3" fmla="*/ 1084915 h 1138077"/>
              <a:gd name="connsiteX4" fmla="*/ 2030228 w 2370470"/>
              <a:gd name="connsiteY4" fmla="*/ 1138077 h 1138077"/>
              <a:gd name="connsiteX5" fmla="*/ 2168451 w 2370470"/>
              <a:gd name="connsiteY5" fmla="*/ 914794 h 1138077"/>
              <a:gd name="connsiteX6" fmla="*/ 116860 w 2370470"/>
              <a:gd name="connsiteY6" fmla="*/ 695448 h 1138077"/>
              <a:gd name="connsiteX0" fmla="*/ 0 w 2370470"/>
              <a:gd name="connsiteY0" fmla="*/ 0 h 1084915"/>
              <a:gd name="connsiteX1" fmla="*/ 2264144 w 2370470"/>
              <a:gd name="connsiteY1" fmla="*/ 776571 h 1084915"/>
              <a:gd name="connsiteX2" fmla="*/ 2370470 w 2370470"/>
              <a:gd name="connsiteY2" fmla="*/ 617082 h 1084915"/>
              <a:gd name="connsiteX3" fmla="*/ 2359837 w 2370470"/>
              <a:gd name="connsiteY3" fmla="*/ 1084915 h 1084915"/>
              <a:gd name="connsiteX4" fmla="*/ 1915928 w 2370470"/>
              <a:gd name="connsiteY4" fmla="*/ 1066110 h 1084915"/>
              <a:gd name="connsiteX5" fmla="*/ 2168451 w 2370470"/>
              <a:gd name="connsiteY5" fmla="*/ 914794 h 1084915"/>
              <a:gd name="connsiteX6" fmla="*/ 116860 w 2370470"/>
              <a:gd name="connsiteY6" fmla="*/ 695448 h 1084915"/>
              <a:gd name="connsiteX0" fmla="*/ 0 w 2370470"/>
              <a:gd name="connsiteY0" fmla="*/ 0 h 1144182"/>
              <a:gd name="connsiteX1" fmla="*/ 2264144 w 2370470"/>
              <a:gd name="connsiteY1" fmla="*/ 776571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70470"/>
              <a:gd name="connsiteY0" fmla="*/ 0 h 1144182"/>
              <a:gd name="connsiteX1" fmla="*/ 2238744 w 2370470"/>
              <a:gd name="connsiteY1" fmla="*/ 835838 h 1144182"/>
              <a:gd name="connsiteX2" fmla="*/ 2370470 w 2370470"/>
              <a:gd name="connsiteY2" fmla="*/ 617082 h 1144182"/>
              <a:gd name="connsiteX3" fmla="*/ 2317504 w 2370470"/>
              <a:gd name="connsiteY3" fmla="*/ 1144182 h 1144182"/>
              <a:gd name="connsiteX4" fmla="*/ 1915928 w 2370470"/>
              <a:gd name="connsiteY4" fmla="*/ 1066110 h 1144182"/>
              <a:gd name="connsiteX5" fmla="*/ 2168451 w 2370470"/>
              <a:gd name="connsiteY5" fmla="*/ 914794 h 1144182"/>
              <a:gd name="connsiteX6" fmla="*/ 116860 w 23704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1915928 w 2332370"/>
              <a:gd name="connsiteY4" fmla="*/ 1066110 h 1144182"/>
              <a:gd name="connsiteX5" fmla="*/ 2168451 w 2332370"/>
              <a:gd name="connsiteY5" fmla="*/ 914794 h 1144182"/>
              <a:gd name="connsiteX6" fmla="*/ 116860 w 2332370"/>
              <a:gd name="connsiteY6" fmla="*/ 695448 h 1144182"/>
              <a:gd name="connsiteX0" fmla="*/ 0 w 2332370"/>
              <a:gd name="connsiteY0" fmla="*/ 0 h 1144182"/>
              <a:gd name="connsiteX1" fmla="*/ 2238744 w 2332370"/>
              <a:gd name="connsiteY1" fmla="*/ 835838 h 1144182"/>
              <a:gd name="connsiteX2" fmla="*/ 2332370 w 2332370"/>
              <a:gd name="connsiteY2" fmla="*/ 710215 h 1144182"/>
              <a:gd name="connsiteX3" fmla="*/ 2317504 w 2332370"/>
              <a:gd name="connsiteY3" fmla="*/ 1144182 h 1144182"/>
              <a:gd name="connsiteX4" fmla="*/ 2025995 w 2332370"/>
              <a:gd name="connsiteY4" fmla="*/ 1040710 h 1144182"/>
              <a:gd name="connsiteX5" fmla="*/ 2168451 w 2332370"/>
              <a:gd name="connsiteY5" fmla="*/ 914794 h 1144182"/>
              <a:gd name="connsiteX6" fmla="*/ 116860 w 2332370"/>
              <a:gd name="connsiteY6" fmla="*/ 695448 h 1144182"/>
              <a:gd name="connsiteX0" fmla="*/ 0 w 2357770"/>
              <a:gd name="connsiteY0" fmla="*/ 0 h 1144182"/>
              <a:gd name="connsiteX1" fmla="*/ 2238744 w 2357770"/>
              <a:gd name="connsiteY1" fmla="*/ 8358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68451 w 2357770"/>
              <a:gd name="connsiteY5" fmla="*/ 914794 h 1144182"/>
              <a:gd name="connsiteX6" fmla="*/ 116860 w 2357770"/>
              <a:gd name="connsiteY6" fmla="*/ 695448 h 1144182"/>
              <a:gd name="connsiteX0" fmla="*/ 0 w 2357770"/>
              <a:gd name="connsiteY0" fmla="*/ 0 h 1144182"/>
              <a:gd name="connsiteX1" fmla="*/ 2238744 w 2357770"/>
              <a:gd name="connsiteY1" fmla="*/ 899338 h 1144182"/>
              <a:gd name="connsiteX2" fmla="*/ 2357770 w 2357770"/>
              <a:gd name="connsiteY2" fmla="*/ 7440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45070"/>
              <a:gd name="connsiteY0" fmla="*/ 0 h 1144182"/>
              <a:gd name="connsiteX1" fmla="*/ 2238744 w 2345070"/>
              <a:gd name="connsiteY1" fmla="*/ 899338 h 1144182"/>
              <a:gd name="connsiteX2" fmla="*/ 2345070 w 2345070"/>
              <a:gd name="connsiteY2" fmla="*/ 744082 h 1144182"/>
              <a:gd name="connsiteX3" fmla="*/ 2317504 w 2345070"/>
              <a:gd name="connsiteY3" fmla="*/ 1144182 h 1144182"/>
              <a:gd name="connsiteX4" fmla="*/ 2025995 w 2345070"/>
              <a:gd name="connsiteY4" fmla="*/ 1040710 h 1144182"/>
              <a:gd name="connsiteX5" fmla="*/ 2172685 w 2345070"/>
              <a:gd name="connsiteY5" fmla="*/ 935960 h 1144182"/>
              <a:gd name="connsiteX6" fmla="*/ 116860 w 2345070"/>
              <a:gd name="connsiteY6" fmla="*/ 695448 h 1144182"/>
              <a:gd name="connsiteX0" fmla="*/ 0 w 2357770"/>
              <a:gd name="connsiteY0" fmla="*/ 0 h 1144182"/>
              <a:gd name="connsiteX1" fmla="*/ 2238744 w 2357770"/>
              <a:gd name="connsiteY1" fmla="*/ 899338 h 1144182"/>
              <a:gd name="connsiteX2" fmla="*/ 2357770 w 2357770"/>
              <a:gd name="connsiteY2" fmla="*/ 756782 h 1144182"/>
              <a:gd name="connsiteX3" fmla="*/ 2317504 w 2357770"/>
              <a:gd name="connsiteY3" fmla="*/ 1144182 h 1144182"/>
              <a:gd name="connsiteX4" fmla="*/ 2025995 w 2357770"/>
              <a:gd name="connsiteY4" fmla="*/ 1040710 h 1144182"/>
              <a:gd name="connsiteX5" fmla="*/ 2172685 w 2357770"/>
              <a:gd name="connsiteY5" fmla="*/ 935960 h 1144182"/>
              <a:gd name="connsiteX6" fmla="*/ 116860 w 2357770"/>
              <a:gd name="connsiteY6" fmla="*/ 695448 h 1144182"/>
              <a:gd name="connsiteX0" fmla="*/ 0 w 2357770"/>
              <a:gd name="connsiteY0" fmla="*/ 0 h 1118782"/>
              <a:gd name="connsiteX1" fmla="*/ 2238744 w 2357770"/>
              <a:gd name="connsiteY1" fmla="*/ 899338 h 1118782"/>
              <a:gd name="connsiteX2" fmla="*/ 2357770 w 2357770"/>
              <a:gd name="connsiteY2" fmla="*/ 756782 h 1118782"/>
              <a:gd name="connsiteX3" fmla="*/ 2355604 w 2357770"/>
              <a:gd name="connsiteY3" fmla="*/ 1118782 h 1118782"/>
              <a:gd name="connsiteX4" fmla="*/ 2025995 w 2357770"/>
              <a:gd name="connsiteY4" fmla="*/ 1040710 h 1118782"/>
              <a:gd name="connsiteX5" fmla="*/ 2172685 w 2357770"/>
              <a:gd name="connsiteY5" fmla="*/ 935960 h 1118782"/>
              <a:gd name="connsiteX6" fmla="*/ 116860 w 2357770"/>
              <a:gd name="connsiteY6" fmla="*/ 695448 h 1118782"/>
              <a:gd name="connsiteX0" fmla="*/ 0 w 2357770"/>
              <a:gd name="connsiteY0" fmla="*/ 0 h 1135715"/>
              <a:gd name="connsiteX1" fmla="*/ 2238744 w 2357770"/>
              <a:gd name="connsiteY1" fmla="*/ 899338 h 1135715"/>
              <a:gd name="connsiteX2" fmla="*/ 2357770 w 2357770"/>
              <a:gd name="connsiteY2" fmla="*/ 756782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773715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135715"/>
              <a:gd name="connsiteX1" fmla="*/ 2238744 w 2357770"/>
              <a:gd name="connsiteY1" fmla="*/ 899338 h 1135715"/>
              <a:gd name="connsiteX2" fmla="*/ 2357770 w 2357770"/>
              <a:gd name="connsiteY2" fmla="*/ 814990 h 1135715"/>
              <a:gd name="connsiteX3" fmla="*/ 2347138 w 2357770"/>
              <a:gd name="connsiteY3" fmla="*/ 1135715 h 1135715"/>
              <a:gd name="connsiteX4" fmla="*/ 2025995 w 2357770"/>
              <a:gd name="connsiteY4" fmla="*/ 1040710 h 1135715"/>
              <a:gd name="connsiteX5" fmla="*/ 2172685 w 2357770"/>
              <a:gd name="connsiteY5" fmla="*/ 935960 h 1135715"/>
              <a:gd name="connsiteX6" fmla="*/ 116860 w 2357770"/>
              <a:gd name="connsiteY6" fmla="*/ 695448 h 1135715"/>
              <a:gd name="connsiteX0" fmla="*/ 0 w 2357770"/>
              <a:gd name="connsiteY0" fmla="*/ 0 h 1094440"/>
              <a:gd name="connsiteX1" fmla="*/ 2238744 w 2357770"/>
              <a:gd name="connsiteY1" fmla="*/ 899338 h 1094440"/>
              <a:gd name="connsiteX2" fmla="*/ 2357770 w 2357770"/>
              <a:gd name="connsiteY2" fmla="*/ 814990 h 1094440"/>
              <a:gd name="connsiteX3" fmla="*/ 2339171 w 2357770"/>
              <a:gd name="connsiteY3" fmla="*/ 1094440 h 1094440"/>
              <a:gd name="connsiteX4" fmla="*/ 2025995 w 2357770"/>
              <a:gd name="connsiteY4" fmla="*/ 1040710 h 1094440"/>
              <a:gd name="connsiteX5" fmla="*/ 2172685 w 2357770"/>
              <a:gd name="connsiteY5" fmla="*/ 935960 h 1094440"/>
              <a:gd name="connsiteX6" fmla="*/ 116860 w 2357770"/>
              <a:gd name="connsiteY6" fmla="*/ 695448 h 10944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25995 w 2430790"/>
              <a:gd name="connsiteY4" fmla="*/ 1040710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57770 w 2430790"/>
              <a:gd name="connsiteY2" fmla="*/ 81499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30790"/>
              <a:gd name="connsiteY0" fmla="*/ 0 h 1132540"/>
              <a:gd name="connsiteX1" fmla="*/ 2238744 w 2430790"/>
              <a:gd name="connsiteY1" fmla="*/ 899338 h 1132540"/>
              <a:gd name="connsiteX2" fmla="*/ 2317936 w 2430790"/>
              <a:gd name="connsiteY2" fmla="*/ 795940 h 1132540"/>
              <a:gd name="connsiteX3" fmla="*/ 2430790 w 2430790"/>
              <a:gd name="connsiteY3" fmla="*/ 1132540 h 1132540"/>
              <a:gd name="connsiteX4" fmla="*/ 2014045 w 2430790"/>
              <a:gd name="connsiteY4" fmla="*/ 1012135 h 1132540"/>
              <a:gd name="connsiteX5" fmla="*/ 2172685 w 2430790"/>
              <a:gd name="connsiteY5" fmla="*/ 935960 h 1132540"/>
              <a:gd name="connsiteX6" fmla="*/ 116860 w 2430790"/>
              <a:gd name="connsiteY6" fmla="*/ 695448 h 1132540"/>
              <a:gd name="connsiteX0" fmla="*/ 0 w 2418840"/>
              <a:gd name="connsiteY0" fmla="*/ 0 h 1119840"/>
              <a:gd name="connsiteX1" fmla="*/ 2238744 w 2418840"/>
              <a:gd name="connsiteY1" fmla="*/ 899338 h 1119840"/>
              <a:gd name="connsiteX2" fmla="*/ 2317936 w 2418840"/>
              <a:gd name="connsiteY2" fmla="*/ 795940 h 1119840"/>
              <a:gd name="connsiteX3" fmla="*/ 2418840 w 2418840"/>
              <a:gd name="connsiteY3" fmla="*/ 1119840 h 1119840"/>
              <a:gd name="connsiteX4" fmla="*/ 2014045 w 2418840"/>
              <a:gd name="connsiteY4" fmla="*/ 1012135 h 1119840"/>
              <a:gd name="connsiteX5" fmla="*/ 2172685 w 2418840"/>
              <a:gd name="connsiteY5" fmla="*/ 935960 h 1119840"/>
              <a:gd name="connsiteX6" fmla="*/ 116860 w 2418840"/>
              <a:gd name="connsiteY6" fmla="*/ 695448 h 1119840"/>
              <a:gd name="connsiteX0" fmla="*/ -1 w 6208470"/>
              <a:gd name="connsiteY0" fmla="*/ 0 h 2276417"/>
              <a:gd name="connsiteX1" fmla="*/ 6028374 w 6208470"/>
              <a:gd name="connsiteY1" fmla="*/ 2055915 h 2276417"/>
              <a:gd name="connsiteX2" fmla="*/ 6107566 w 6208470"/>
              <a:gd name="connsiteY2" fmla="*/ 1952517 h 2276417"/>
              <a:gd name="connsiteX3" fmla="*/ 6208470 w 6208470"/>
              <a:gd name="connsiteY3" fmla="*/ 2276417 h 2276417"/>
              <a:gd name="connsiteX4" fmla="*/ 5803675 w 6208470"/>
              <a:gd name="connsiteY4" fmla="*/ 2168712 h 2276417"/>
              <a:gd name="connsiteX5" fmla="*/ 5962315 w 6208470"/>
              <a:gd name="connsiteY5" fmla="*/ 2092537 h 2276417"/>
              <a:gd name="connsiteX6" fmla="*/ 3906490 w 6208470"/>
              <a:gd name="connsiteY6" fmla="*/ 1852025 h 2276417"/>
              <a:gd name="connsiteX0" fmla="*/ 1 w 6208472"/>
              <a:gd name="connsiteY0" fmla="*/ 0 h 2276417"/>
              <a:gd name="connsiteX1" fmla="*/ 6028376 w 6208472"/>
              <a:gd name="connsiteY1" fmla="*/ 2055915 h 2276417"/>
              <a:gd name="connsiteX2" fmla="*/ 6107568 w 6208472"/>
              <a:gd name="connsiteY2" fmla="*/ 1952517 h 2276417"/>
              <a:gd name="connsiteX3" fmla="*/ 6208472 w 6208472"/>
              <a:gd name="connsiteY3" fmla="*/ 2276417 h 2276417"/>
              <a:gd name="connsiteX4" fmla="*/ 5803677 w 6208472"/>
              <a:gd name="connsiteY4" fmla="*/ 2168712 h 2276417"/>
              <a:gd name="connsiteX5" fmla="*/ 5962317 w 6208472"/>
              <a:gd name="connsiteY5" fmla="*/ 2092537 h 2276417"/>
              <a:gd name="connsiteX6" fmla="*/ 372393 w 6208472"/>
              <a:gd name="connsiteY6" fmla="*/ 620290 h 2276417"/>
              <a:gd name="connsiteX0" fmla="*/ -1 w 6208470"/>
              <a:gd name="connsiteY0" fmla="*/ 0 h 2276417"/>
              <a:gd name="connsiteX1" fmla="*/ 6028374 w 6208470"/>
              <a:gd name="connsiteY1" fmla="*/ 2055915 h 2276417"/>
              <a:gd name="connsiteX2" fmla="*/ 6107566 w 6208470"/>
              <a:gd name="connsiteY2" fmla="*/ 1952517 h 2276417"/>
              <a:gd name="connsiteX3" fmla="*/ 6208470 w 6208470"/>
              <a:gd name="connsiteY3" fmla="*/ 2276417 h 2276417"/>
              <a:gd name="connsiteX4" fmla="*/ 5803675 w 6208470"/>
              <a:gd name="connsiteY4" fmla="*/ 2168712 h 2276417"/>
              <a:gd name="connsiteX5" fmla="*/ 5962315 w 6208470"/>
              <a:gd name="connsiteY5" fmla="*/ 2092537 h 2276417"/>
              <a:gd name="connsiteX6" fmla="*/ 372391 w 6208470"/>
              <a:gd name="connsiteY6" fmla="*/ 620290 h 2276417"/>
              <a:gd name="connsiteX0" fmla="*/ 1 w 6208472"/>
              <a:gd name="connsiteY0" fmla="*/ 0 h 2276417"/>
              <a:gd name="connsiteX1" fmla="*/ 6028376 w 6208472"/>
              <a:gd name="connsiteY1" fmla="*/ 2055915 h 2276417"/>
              <a:gd name="connsiteX2" fmla="*/ 6107568 w 6208472"/>
              <a:gd name="connsiteY2" fmla="*/ 1952517 h 2276417"/>
              <a:gd name="connsiteX3" fmla="*/ 6208472 w 6208472"/>
              <a:gd name="connsiteY3" fmla="*/ 2276417 h 2276417"/>
              <a:gd name="connsiteX4" fmla="*/ 5803677 w 6208472"/>
              <a:gd name="connsiteY4" fmla="*/ 2168712 h 2276417"/>
              <a:gd name="connsiteX5" fmla="*/ 5962317 w 6208472"/>
              <a:gd name="connsiteY5" fmla="*/ 2092537 h 2276417"/>
              <a:gd name="connsiteX6" fmla="*/ 372393 w 6208472"/>
              <a:gd name="connsiteY6" fmla="*/ 620290 h 2276417"/>
              <a:gd name="connsiteX0" fmla="*/ -1 w 6208470"/>
              <a:gd name="connsiteY0" fmla="*/ 0 h 2276417"/>
              <a:gd name="connsiteX1" fmla="*/ 6028374 w 6208470"/>
              <a:gd name="connsiteY1" fmla="*/ 2055915 h 2276417"/>
              <a:gd name="connsiteX2" fmla="*/ 6107566 w 6208470"/>
              <a:gd name="connsiteY2" fmla="*/ 1952517 h 2276417"/>
              <a:gd name="connsiteX3" fmla="*/ 6208470 w 6208470"/>
              <a:gd name="connsiteY3" fmla="*/ 2276417 h 2276417"/>
              <a:gd name="connsiteX4" fmla="*/ 5803675 w 6208470"/>
              <a:gd name="connsiteY4" fmla="*/ 2168712 h 2276417"/>
              <a:gd name="connsiteX5" fmla="*/ 5962315 w 6208470"/>
              <a:gd name="connsiteY5" fmla="*/ 2092537 h 2276417"/>
              <a:gd name="connsiteX6" fmla="*/ 372391 w 6208470"/>
              <a:gd name="connsiteY6" fmla="*/ 620290 h 2276417"/>
              <a:gd name="connsiteX0" fmla="*/ 1 w 6208472"/>
              <a:gd name="connsiteY0" fmla="*/ 0 h 2276417"/>
              <a:gd name="connsiteX1" fmla="*/ 6028376 w 6208472"/>
              <a:gd name="connsiteY1" fmla="*/ 2055915 h 2276417"/>
              <a:gd name="connsiteX2" fmla="*/ 6107568 w 6208472"/>
              <a:gd name="connsiteY2" fmla="*/ 1952517 h 2276417"/>
              <a:gd name="connsiteX3" fmla="*/ 6208472 w 6208472"/>
              <a:gd name="connsiteY3" fmla="*/ 2276417 h 2276417"/>
              <a:gd name="connsiteX4" fmla="*/ 5803677 w 6208472"/>
              <a:gd name="connsiteY4" fmla="*/ 2168712 h 2276417"/>
              <a:gd name="connsiteX5" fmla="*/ 5962317 w 6208472"/>
              <a:gd name="connsiteY5" fmla="*/ 2092537 h 2276417"/>
              <a:gd name="connsiteX6" fmla="*/ 372393 w 6208472"/>
              <a:gd name="connsiteY6" fmla="*/ 620290 h 2276417"/>
              <a:gd name="connsiteX0" fmla="*/ -1 w 6208470"/>
              <a:gd name="connsiteY0" fmla="*/ 0 h 2276417"/>
              <a:gd name="connsiteX1" fmla="*/ 6028374 w 6208470"/>
              <a:gd name="connsiteY1" fmla="*/ 2055915 h 2276417"/>
              <a:gd name="connsiteX2" fmla="*/ 6107566 w 6208470"/>
              <a:gd name="connsiteY2" fmla="*/ 1952517 h 2276417"/>
              <a:gd name="connsiteX3" fmla="*/ 6208470 w 6208470"/>
              <a:gd name="connsiteY3" fmla="*/ 2276417 h 2276417"/>
              <a:gd name="connsiteX4" fmla="*/ 5803675 w 6208470"/>
              <a:gd name="connsiteY4" fmla="*/ 2168712 h 2276417"/>
              <a:gd name="connsiteX5" fmla="*/ 5962315 w 6208470"/>
              <a:gd name="connsiteY5" fmla="*/ 2092537 h 2276417"/>
              <a:gd name="connsiteX6" fmla="*/ 372391 w 6208470"/>
              <a:gd name="connsiteY6" fmla="*/ 620290 h 2276417"/>
              <a:gd name="connsiteX0" fmla="*/ 1 w 6208472"/>
              <a:gd name="connsiteY0" fmla="*/ 0 h 2276417"/>
              <a:gd name="connsiteX1" fmla="*/ 6028376 w 6208472"/>
              <a:gd name="connsiteY1" fmla="*/ 2055915 h 2276417"/>
              <a:gd name="connsiteX2" fmla="*/ 6107568 w 6208472"/>
              <a:gd name="connsiteY2" fmla="*/ 1952517 h 2276417"/>
              <a:gd name="connsiteX3" fmla="*/ 6208472 w 6208472"/>
              <a:gd name="connsiteY3" fmla="*/ 2276417 h 2276417"/>
              <a:gd name="connsiteX4" fmla="*/ 5803677 w 6208472"/>
              <a:gd name="connsiteY4" fmla="*/ 2168712 h 2276417"/>
              <a:gd name="connsiteX5" fmla="*/ 5962317 w 6208472"/>
              <a:gd name="connsiteY5" fmla="*/ 2092537 h 2276417"/>
              <a:gd name="connsiteX6" fmla="*/ 372393 w 6208472"/>
              <a:gd name="connsiteY6" fmla="*/ 620290 h 2276417"/>
              <a:gd name="connsiteX0" fmla="*/ -1 w 6208470"/>
              <a:gd name="connsiteY0" fmla="*/ 0 h 2276417"/>
              <a:gd name="connsiteX1" fmla="*/ 6028374 w 6208470"/>
              <a:gd name="connsiteY1" fmla="*/ 2055915 h 2276417"/>
              <a:gd name="connsiteX2" fmla="*/ 6107566 w 6208470"/>
              <a:gd name="connsiteY2" fmla="*/ 1952517 h 2276417"/>
              <a:gd name="connsiteX3" fmla="*/ 6208470 w 6208470"/>
              <a:gd name="connsiteY3" fmla="*/ 2276417 h 2276417"/>
              <a:gd name="connsiteX4" fmla="*/ 5803675 w 6208470"/>
              <a:gd name="connsiteY4" fmla="*/ 2168712 h 2276417"/>
              <a:gd name="connsiteX5" fmla="*/ 5962315 w 6208470"/>
              <a:gd name="connsiteY5" fmla="*/ 2092537 h 2276417"/>
              <a:gd name="connsiteX6" fmla="*/ 372391 w 6208470"/>
              <a:gd name="connsiteY6" fmla="*/ 620290 h 2276417"/>
              <a:gd name="connsiteX0" fmla="*/ 1 w 6208472"/>
              <a:gd name="connsiteY0" fmla="*/ 0 h 2276417"/>
              <a:gd name="connsiteX1" fmla="*/ 6028376 w 6208472"/>
              <a:gd name="connsiteY1" fmla="*/ 2055915 h 2276417"/>
              <a:gd name="connsiteX2" fmla="*/ 6107568 w 6208472"/>
              <a:gd name="connsiteY2" fmla="*/ 1952517 h 2276417"/>
              <a:gd name="connsiteX3" fmla="*/ 6208472 w 6208472"/>
              <a:gd name="connsiteY3" fmla="*/ 2276417 h 2276417"/>
              <a:gd name="connsiteX4" fmla="*/ 5803677 w 6208472"/>
              <a:gd name="connsiteY4" fmla="*/ 2168712 h 2276417"/>
              <a:gd name="connsiteX5" fmla="*/ 5962317 w 6208472"/>
              <a:gd name="connsiteY5" fmla="*/ 2092537 h 2276417"/>
              <a:gd name="connsiteX6" fmla="*/ 372393 w 6208472"/>
              <a:gd name="connsiteY6" fmla="*/ 620290 h 2276417"/>
              <a:gd name="connsiteX0" fmla="*/ 1 w 6208472"/>
              <a:gd name="connsiteY0" fmla="*/ 0 h 2276417"/>
              <a:gd name="connsiteX1" fmla="*/ 6028376 w 6208472"/>
              <a:gd name="connsiteY1" fmla="*/ 2055915 h 2276417"/>
              <a:gd name="connsiteX2" fmla="*/ 6107568 w 6208472"/>
              <a:gd name="connsiteY2" fmla="*/ 1952517 h 2276417"/>
              <a:gd name="connsiteX3" fmla="*/ 6208472 w 6208472"/>
              <a:gd name="connsiteY3" fmla="*/ 2276417 h 2276417"/>
              <a:gd name="connsiteX4" fmla="*/ 5803677 w 6208472"/>
              <a:gd name="connsiteY4" fmla="*/ 2168712 h 2276417"/>
              <a:gd name="connsiteX5" fmla="*/ 5962317 w 6208472"/>
              <a:gd name="connsiteY5" fmla="*/ 2092537 h 2276417"/>
              <a:gd name="connsiteX6" fmla="*/ 424230 w 6208472"/>
              <a:gd name="connsiteY6" fmla="*/ 932454 h 2276417"/>
              <a:gd name="connsiteX0" fmla="*/ 1 w 6208472"/>
              <a:gd name="connsiteY0" fmla="*/ 0 h 2276417"/>
              <a:gd name="connsiteX1" fmla="*/ 6028376 w 6208472"/>
              <a:gd name="connsiteY1" fmla="*/ 2055915 h 2276417"/>
              <a:gd name="connsiteX2" fmla="*/ 6107568 w 6208472"/>
              <a:gd name="connsiteY2" fmla="*/ 1952517 h 2276417"/>
              <a:gd name="connsiteX3" fmla="*/ 6208472 w 6208472"/>
              <a:gd name="connsiteY3" fmla="*/ 2276417 h 2276417"/>
              <a:gd name="connsiteX4" fmla="*/ 5803677 w 6208472"/>
              <a:gd name="connsiteY4" fmla="*/ 2168712 h 2276417"/>
              <a:gd name="connsiteX5" fmla="*/ 5962317 w 6208472"/>
              <a:gd name="connsiteY5" fmla="*/ 2092537 h 2276417"/>
              <a:gd name="connsiteX6" fmla="*/ 948023 w 6208472"/>
              <a:gd name="connsiteY6" fmla="*/ 1141216 h 2276417"/>
              <a:gd name="connsiteX0" fmla="*/ 1 w 6346370"/>
              <a:gd name="connsiteY0" fmla="*/ 0 h 2410224"/>
              <a:gd name="connsiteX1" fmla="*/ 6028376 w 6346370"/>
              <a:gd name="connsiteY1" fmla="*/ 2055915 h 2410224"/>
              <a:gd name="connsiteX2" fmla="*/ 6107568 w 6346370"/>
              <a:gd name="connsiteY2" fmla="*/ 1952517 h 2410224"/>
              <a:gd name="connsiteX3" fmla="*/ 6346371 w 6346370"/>
              <a:gd name="connsiteY3" fmla="*/ 2410225 h 2410224"/>
              <a:gd name="connsiteX4" fmla="*/ 5803677 w 6346370"/>
              <a:gd name="connsiteY4" fmla="*/ 2168712 h 2410224"/>
              <a:gd name="connsiteX5" fmla="*/ 5962317 w 6346370"/>
              <a:gd name="connsiteY5" fmla="*/ 2092537 h 2410224"/>
              <a:gd name="connsiteX6" fmla="*/ 948023 w 6346370"/>
              <a:gd name="connsiteY6" fmla="*/ 1141216 h 2410224"/>
              <a:gd name="connsiteX0" fmla="*/ 1 w 6346370"/>
              <a:gd name="connsiteY0" fmla="*/ 0 h 2410224"/>
              <a:gd name="connsiteX1" fmla="*/ 6028376 w 6346370"/>
              <a:gd name="connsiteY1" fmla="*/ 2055915 h 2410224"/>
              <a:gd name="connsiteX2" fmla="*/ 6100269 w 6346370"/>
              <a:gd name="connsiteY2" fmla="*/ 1801616 h 2410224"/>
              <a:gd name="connsiteX3" fmla="*/ 6346371 w 6346370"/>
              <a:gd name="connsiteY3" fmla="*/ 2410225 h 2410224"/>
              <a:gd name="connsiteX4" fmla="*/ 5803677 w 6346370"/>
              <a:gd name="connsiteY4" fmla="*/ 2168712 h 2410224"/>
              <a:gd name="connsiteX5" fmla="*/ 5962317 w 6346370"/>
              <a:gd name="connsiteY5" fmla="*/ 2092537 h 2410224"/>
              <a:gd name="connsiteX6" fmla="*/ 948023 w 6346370"/>
              <a:gd name="connsiteY6" fmla="*/ 1141216 h 2410224"/>
              <a:gd name="connsiteX0" fmla="*/ 1 w 6346370"/>
              <a:gd name="connsiteY0" fmla="*/ 0 h 2410224"/>
              <a:gd name="connsiteX1" fmla="*/ 6028376 w 6346370"/>
              <a:gd name="connsiteY1" fmla="*/ 2055915 h 2410224"/>
              <a:gd name="connsiteX2" fmla="*/ 6100269 w 6346370"/>
              <a:gd name="connsiteY2" fmla="*/ 1801616 h 2410224"/>
              <a:gd name="connsiteX3" fmla="*/ 6346371 w 6346370"/>
              <a:gd name="connsiteY3" fmla="*/ 2410225 h 2410224"/>
              <a:gd name="connsiteX4" fmla="*/ 5669805 w 6346370"/>
              <a:gd name="connsiteY4" fmla="*/ 2172965 h 2410224"/>
              <a:gd name="connsiteX5" fmla="*/ 5962317 w 6346370"/>
              <a:gd name="connsiteY5" fmla="*/ 2092537 h 2410224"/>
              <a:gd name="connsiteX6" fmla="*/ 948023 w 6346370"/>
              <a:gd name="connsiteY6" fmla="*/ 1141216 h 2410224"/>
              <a:gd name="connsiteX0" fmla="*/ 1 w 6346370"/>
              <a:gd name="connsiteY0" fmla="*/ 0 h 2410224"/>
              <a:gd name="connsiteX1" fmla="*/ 6028376 w 6346370"/>
              <a:gd name="connsiteY1" fmla="*/ 2055915 h 2410224"/>
              <a:gd name="connsiteX2" fmla="*/ 6100269 w 6346370"/>
              <a:gd name="connsiteY2" fmla="*/ 1801616 h 2410224"/>
              <a:gd name="connsiteX3" fmla="*/ 6346371 w 6346370"/>
              <a:gd name="connsiteY3" fmla="*/ 2410225 h 2410224"/>
              <a:gd name="connsiteX4" fmla="*/ 5669805 w 6346370"/>
              <a:gd name="connsiteY4" fmla="*/ 2172965 h 2410224"/>
              <a:gd name="connsiteX5" fmla="*/ 5884405 w 6346370"/>
              <a:gd name="connsiteY5" fmla="*/ 2092325 h 2410224"/>
              <a:gd name="connsiteX6" fmla="*/ 948023 w 6346370"/>
              <a:gd name="connsiteY6" fmla="*/ 1141216 h 2410224"/>
              <a:gd name="connsiteX0" fmla="*/ 1 w 6346370"/>
              <a:gd name="connsiteY0" fmla="*/ 0 h 2410224"/>
              <a:gd name="connsiteX1" fmla="*/ 5982694 w 6346370"/>
              <a:gd name="connsiteY1" fmla="*/ 1998824 h 2410224"/>
              <a:gd name="connsiteX2" fmla="*/ 6100269 w 6346370"/>
              <a:gd name="connsiteY2" fmla="*/ 1801616 h 2410224"/>
              <a:gd name="connsiteX3" fmla="*/ 6346371 w 6346370"/>
              <a:gd name="connsiteY3" fmla="*/ 2410225 h 2410224"/>
              <a:gd name="connsiteX4" fmla="*/ 5669805 w 6346370"/>
              <a:gd name="connsiteY4" fmla="*/ 2172965 h 2410224"/>
              <a:gd name="connsiteX5" fmla="*/ 5884405 w 6346370"/>
              <a:gd name="connsiteY5" fmla="*/ 2092325 h 2410224"/>
              <a:gd name="connsiteX6" fmla="*/ 948023 w 6346370"/>
              <a:gd name="connsiteY6" fmla="*/ 1141216 h 2410224"/>
              <a:gd name="connsiteX0" fmla="*/ 1 w 6346370"/>
              <a:gd name="connsiteY0" fmla="*/ 0 h 2410224"/>
              <a:gd name="connsiteX1" fmla="*/ 6012590 w 6346370"/>
              <a:gd name="connsiteY1" fmla="*/ 2014301 h 2410224"/>
              <a:gd name="connsiteX2" fmla="*/ 6100269 w 6346370"/>
              <a:gd name="connsiteY2" fmla="*/ 1801616 h 2410224"/>
              <a:gd name="connsiteX3" fmla="*/ 6346371 w 6346370"/>
              <a:gd name="connsiteY3" fmla="*/ 2410225 h 2410224"/>
              <a:gd name="connsiteX4" fmla="*/ 5669805 w 6346370"/>
              <a:gd name="connsiteY4" fmla="*/ 2172965 h 2410224"/>
              <a:gd name="connsiteX5" fmla="*/ 5884405 w 6346370"/>
              <a:gd name="connsiteY5" fmla="*/ 2092325 h 2410224"/>
              <a:gd name="connsiteX6" fmla="*/ 948023 w 6346370"/>
              <a:gd name="connsiteY6" fmla="*/ 1141216 h 2410224"/>
              <a:gd name="connsiteX0" fmla="*/ 1 w 6346370"/>
              <a:gd name="connsiteY0" fmla="*/ 0 h 2410224"/>
              <a:gd name="connsiteX1" fmla="*/ 6012590 w 6346370"/>
              <a:gd name="connsiteY1" fmla="*/ 2014301 h 2410224"/>
              <a:gd name="connsiteX2" fmla="*/ 6100269 w 6346370"/>
              <a:gd name="connsiteY2" fmla="*/ 1801616 h 2410224"/>
              <a:gd name="connsiteX3" fmla="*/ 6346371 w 6346370"/>
              <a:gd name="connsiteY3" fmla="*/ 2410225 h 2410224"/>
              <a:gd name="connsiteX4" fmla="*/ 5669805 w 6346370"/>
              <a:gd name="connsiteY4" fmla="*/ 2172965 h 2410224"/>
              <a:gd name="connsiteX5" fmla="*/ 5884405 w 6346370"/>
              <a:gd name="connsiteY5" fmla="*/ 2092325 h 2410224"/>
              <a:gd name="connsiteX6" fmla="*/ 948023 w 6346370"/>
              <a:gd name="connsiteY6" fmla="*/ 1141216 h 2410224"/>
              <a:gd name="connsiteX0" fmla="*/ 1 w 6346370"/>
              <a:gd name="connsiteY0" fmla="*/ 0 h 2410224"/>
              <a:gd name="connsiteX1" fmla="*/ 6012590 w 6346370"/>
              <a:gd name="connsiteY1" fmla="*/ 2014301 h 2410224"/>
              <a:gd name="connsiteX2" fmla="*/ 6100269 w 6346370"/>
              <a:gd name="connsiteY2" fmla="*/ 1801616 h 2410224"/>
              <a:gd name="connsiteX3" fmla="*/ 6346371 w 6346370"/>
              <a:gd name="connsiteY3" fmla="*/ 2410225 h 2410224"/>
              <a:gd name="connsiteX4" fmla="*/ 5669805 w 6346370"/>
              <a:gd name="connsiteY4" fmla="*/ 2172965 h 2410224"/>
              <a:gd name="connsiteX5" fmla="*/ 5884405 w 6346370"/>
              <a:gd name="connsiteY5" fmla="*/ 2092325 h 2410224"/>
              <a:gd name="connsiteX6" fmla="*/ 1037991 w 6346370"/>
              <a:gd name="connsiteY6" fmla="*/ 1127604 h 2410224"/>
              <a:gd name="connsiteX0" fmla="*/ 1 w 6346370"/>
              <a:gd name="connsiteY0" fmla="*/ 0 h 2410224"/>
              <a:gd name="connsiteX1" fmla="*/ 6012590 w 6346370"/>
              <a:gd name="connsiteY1" fmla="*/ 2014301 h 2410224"/>
              <a:gd name="connsiteX2" fmla="*/ 6100269 w 6346370"/>
              <a:gd name="connsiteY2" fmla="*/ 1801616 h 2410224"/>
              <a:gd name="connsiteX3" fmla="*/ 6346371 w 6346370"/>
              <a:gd name="connsiteY3" fmla="*/ 2410225 h 2410224"/>
              <a:gd name="connsiteX4" fmla="*/ 5669805 w 6346370"/>
              <a:gd name="connsiteY4" fmla="*/ 2172965 h 2410224"/>
              <a:gd name="connsiteX5" fmla="*/ 5884405 w 6346370"/>
              <a:gd name="connsiteY5" fmla="*/ 2092325 h 2410224"/>
              <a:gd name="connsiteX6" fmla="*/ 1037991 w 6346370"/>
              <a:gd name="connsiteY6" fmla="*/ 1127604 h 2410224"/>
              <a:gd name="connsiteX0" fmla="*/ 1 w 6392960"/>
              <a:gd name="connsiteY0" fmla="*/ 0 h 2652648"/>
              <a:gd name="connsiteX1" fmla="*/ 6059180 w 6392960"/>
              <a:gd name="connsiteY1" fmla="*/ 2256725 h 2652648"/>
              <a:gd name="connsiteX2" fmla="*/ 6146859 w 6392960"/>
              <a:gd name="connsiteY2" fmla="*/ 2044040 h 2652648"/>
              <a:gd name="connsiteX3" fmla="*/ 6392961 w 6392960"/>
              <a:gd name="connsiteY3" fmla="*/ 2652649 h 2652648"/>
              <a:gd name="connsiteX4" fmla="*/ 5716395 w 6392960"/>
              <a:gd name="connsiteY4" fmla="*/ 2415389 h 2652648"/>
              <a:gd name="connsiteX5" fmla="*/ 5930995 w 6392960"/>
              <a:gd name="connsiteY5" fmla="*/ 2334749 h 2652648"/>
              <a:gd name="connsiteX6" fmla="*/ 1084581 w 6392960"/>
              <a:gd name="connsiteY6" fmla="*/ 1370028 h 2652648"/>
              <a:gd name="connsiteX0" fmla="*/ 1 w 6392960"/>
              <a:gd name="connsiteY0" fmla="*/ 0 h 2652648"/>
              <a:gd name="connsiteX1" fmla="*/ 6059180 w 6392960"/>
              <a:gd name="connsiteY1" fmla="*/ 2256725 h 2652648"/>
              <a:gd name="connsiteX2" fmla="*/ 6146859 w 6392960"/>
              <a:gd name="connsiteY2" fmla="*/ 2044040 h 2652648"/>
              <a:gd name="connsiteX3" fmla="*/ 6392961 w 6392960"/>
              <a:gd name="connsiteY3" fmla="*/ 2652649 h 2652648"/>
              <a:gd name="connsiteX4" fmla="*/ 5716395 w 6392960"/>
              <a:gd name="connsiteY4" fmla="*/ 2415389 h 2652648"/>
              <a:gd name="connsiteX5" fmla="*/ 5930995 w 6392960"/>
              <a:gd name="connsiteY5" fmla="*/ 2334749 h 2652648"/>
              <a:gd name="connsiteX6" fmla="*/ 784942 w 6392960"/>
              <a:gd name="connsiteY6" fmla="*/ 1533992 h 2652648"/>
              <a:gd name="connsiteX0" fmla="*/ 1 w 6392960"/>
              <a:gd name="connsiteY0" fmla="*/ 0 h 2652648"/>
              <a:gd name="connsiteX1" fmla="*/ 6059180 w 6392960"/>
              <a:gd name="connsiteY1" fmla="*/ 2256725 h 2652648"/>
              <a:gd name="connsiteX2" fmla="*/ 6146859 w 6392960"/>
              <a:gd name="connsiteY2" fmla="*/ 2044040 h 2652648"/>
              <a:gd name="connsiteX3" fmla="*/ 6392961 w 6392960"/>
              <a:gd name="connsiteY3" fmla="*/ 2652649 h 2652648"/>
              <a:gd name="connsiteX4" fmla="*/ 5716395 w 6392960"/>
              <a:gd name="connsiteY4" fmla="*/ 2415389 h 2652648"/>
              <a:gd name="connsiteX5" fmla="*/ 5930995 w 6392960"/>
              <a:gd name="connsiteY5" fmla="*/ 2334749 h 2652648"/>
              <a:gd name="connsiteX6" fmla="*/ 784942 w 6392960"/>
              <a:gd name="connsiteY6" fmla="*/ 1533992 h 2652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92960" h="2652648">
                <a:moveTo>
                  <a:pt x="1" y="0"/>
                </a:moveTo>
                <a:cubicBezTo>
                  <a:pt x="2175770" y="355917"/>
                  <a:pt x="4523364" y="1282405"/>
                  <a:pt x="6059180" y="2256725"/>
                </a:cubicBezTo>
                <a:lnTo>
                  <a:pt x="6146859" y="2044040"/>
                </a:lnTo>
                <a:lnTo>
                  <a:pt x="6392961" y="2652649"/>
                </a:lnTo>
                <a:lnTo>
                  <a:pt x="5716395" y="2415389"/>
                </a:lnTo>
                <a:lnTo>
                  <a:pt x="5930995" y="2334749"/>
                </a:lnTo>
                <a:cubicBezTo>
                  <a:pt x="4504175" y="1485161"/>
                  <a:pt x="2766478" y="1224204"/>
                  <a:pt x="784942" y="1533992"/>
                </a:cubicBezTo>
              </a:path>
            </a:pathLst>
          </a:custGeom>
          <a:gradFill flip="none" rotWithShape="1">
            <a:gsLst>
              <a:gs pos="0">
                <a:schemeClr val="bg1"/>
              </a:gs>
              <a:gs pos="100000">
                <a:schemeClr val="bg1">
                  <a:lumMod val="75000"/>
                </a:schemeClr>
              </a:gs>
            </a:gsLst>
            <a:lin ang="0" scaled="1"/>
            <a:tileRect/>
          </a:gradFill>
          <a:ln w="15875" cap="flat" cmpd="sng" algn="ctr">
            <a:gradFill flip="none" rotWithShape="1">
              <a:gsLst>
                <a:gs pos="0">
                  <a:schemeClr val="bg1"/>
                </a:gs>
                <a:gs pos="100000">
                  <a:schemeClr val="bg1">
                    <a:lumMod val="50000"/>
                  </a:schemeClr>
                </a:gs>
              </a:gsLst>
              <a:lin ang="0" scaled="1"/>
              <a:tileRect/>
            </a:gradFill>
            <a:prstDash val="solid"/>
            <a:miter lim="800000"/>
          </a:ln>
          <a:effectLst/>
        </p:spPr>
        <p:txBody>
          <a:bodyPr rtlCol="0" anchor="ctr"/>
          <a:lstStyle/>
          <a:p>
            <a:pPr algn="ctr"/>
            <a:endParaRPr lang="zh-CN" altLang="en-US" kern="0">
              <a:solidFill>
                <a:prstClr val="white"/>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7" name="圆角矩形 75"/>
          <p:cNvSpPr/>
          <p:nvPr/>
        </p:nvSpPr>
        <p:spPr bwMode="gray">
          <a:xfrm>
            <a:off x="442913" y="1449388"/>
            <a:ext cx="5527243" cy="4751386"/>
          </a:xfrm>
          <a:prstGeom prst="roundRect">
            <a:avLst>
              <a:gd name="adj" fmla="val 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8" name="圆角矩形 75"/>
          <p:cNvSpPr/>
          <p:nvPr/>
        </p:nvSpPr>
        <p:spPr bwMode="gray">
          <a:xfrm>
            <a:off x="6211764" y="1449388"/>
            <a:ext cx="5537324" cy="4751386"/>
          </a:xfrm>
          <a:prstGeom prst="roundRect">
            <a:avLst>
              <a:gd name="adj" fmla="val 0"/>
            </a:avLst>
          </a:prstGeom>
          <a:noFill/>
          <a:ln w="952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109" name="Rectangle 68"/>
          <p:cNvSpPr/>
          <p:nvPr/>
        </p:nvSpPr>
        <p:spPr bwMode="gray">
          <a:xfrm>
            <a:off x="10039397" y="1606710"/>
            <a:ext cx="1593655" cy="2221121"/>
          </a:xfrm>
          <a:prstGeom prst="rect">
            <a:avLst/>
          </a:prstGeom>
        </p:spPr>
        <p:txBody>
          <a:bodyPr wrap="square">
            <a:spAutoFit/>
          </a:bodyPr>
          <a:lstStyle/>
          <a:p>
            <a:pPr marL="176213" indent="-176213" algn="just">
              <a:lnSpc>
                <a:spcPts val="2000"/>
              </a:lnSpc>
              <a:spcAft>
                <a:spcPts val="600"/>
              </a:spcAft>
              <a:buFont typeface="Arial" panose="020B0604020202020204" pitchFamily="34" charset="0"/>
              <a:buChar char="•"/>
            </a:pP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VGMP</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组</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状态切换时，会强制组内所有</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VRRP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组的成员接口统一切换状态</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gn="just">
              <a:lnSpc>
                <a:spcPts val="2000"/>
              </a:lnSpc>
              <a:spcAft>
                <a:spcPts val="600"/>
              </a:spcAft>
              <a:buFont typeface="Arial" panose="020B0604020202020204" pitchFamily="34" charset="0"/>
              <a:buChar char="•"/>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保证业务往返流量转发路径一致。</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1" name="Freeform 159"/>
          <p:cNvSpPr/>
          <p:nvPr/>
        </p:nvSpPr>
        <p:spPr bwMode="gray">
          <a:xfrm flipH="1">
            <a:off x="1986361" y="152360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外网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301000666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防火墙双机热备关键组件：</a:t>
            </a:r>
            <a:r>
              <a:rPr lang="en-US" altLang="zh-CN" smtClean="0">
                <a:sym typeface="Huawei Sans" panose="020C0503030203020204" pitchFamily="34" charset="0"/>
              </a:rPr>
              <a:t>HRP</a:t>
            </a:r>
            <a:r>
              <a:rPr lang="zh-CN" altLang="en-US" smtClean="0">
                <a:sym typeface="Huawei Sans" panose="020C0503030203020204" pitchFamily="34" charset="0"/>
              </a:rPr>
              <a:t>及心跳线</a:t>
            </a:r>
            <a:endParaRPr lang="zh-CN" altLang="en-US">
              <a:sym typeface="Huawei Sans" panose="020C0503030203020204" pitchFamily="34" charset="0"/>
            </a:endParaRPr>
          </a:p>
        </p:txBody>
      </p:sp>
      <p:cxnSp>
        <p:nvCxnSpPr>
          <p:cNvPr id="3" name="Straight Connector 18"/>
          <p:cNvCxnSpPr/>
          <p:nvPr/>
        </p:nvCxnSpPr>
        <p:spPr bwMode="gray">
          <a:xfrm>
            <a:off x="1263493" y="3764943"/>
            <a:ext cx="2572169" cy="0"/>
          </a:xfrm>
          <a:prstGeom prst="line">
            <a:avLst/>
          </a:prstGeom>
          <a:solidFill>
            <a:schemeClr val="accent1"/>
          </a:solidFill>
          <a:ln w="19050" cap="flat" cmpd="sng" algn="ctr">
            <a:solidFill>
              <a:srgbClr val="30B5C5"/>
            </a:solidFill>
            <a:prstDash val="solid"/>
            <a:round/>
            <a:headEnd type="none" w="med" len="med"/>
            <a:tailEnd type="none" w="med" len="med"/>
          </a:ln>
          <a:effectLst/>
        </p:spPr>
      </p:cxnSp>
      <p:grpSp>
        <p:nvGrpSpPr>
          <p:cNvPr id="4" name="组合 3"/>
          <p:cNvGrpSpPr/>
          <p:nvPr/>
        </p:nvGrpSpPr>
        <p:grpSpPr bwMode="gray">
          <a:xfrm>
            <a:off x="1111093" y="1682967"/>
            <a:ext cx="2572169" cy="4195900"/>
            <a:chOff x="1163114" y="1682967"/>
            <a:chExt cx="2894093" cy="4195900"/>
          </a:xfrm>
        </p:grpSpPr>
        <p:cxnSp>
          <p:nvCxnSpPr>
            <p:cNvPr id="5" name="直接连接符 3"/>
            <p:cNvCxnSpPr/>
            <p:nvPr/>
          </p:nvCxnSpPr>
          <p:spPr bwMode="gray">
            <a:xfrm flipV="1">
              <a:off x="4057206" y="2466712"/>
              <a:ext cx="0" cy="2400852"/>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 name="直接连接符 3"/>
            <p:cNvCxnSpPr/>
            <p:nvPr/>
          </p:nvCxnSpPr>
          <p:spPr bwMode="gray">
            <a:xfrm flipV="1">
              <a:off x="1187300" y="2466712"/>
              <a:ext cx="0" cy="2474743"/>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nvGrpSpPr>
            <p:cNvPr id="7" name="Group 52"/>
            <p:cNvGrpSpPr/>
            <p:nvPr/>
          </p:nvGrpSpPr>
          <p:grpSpPr bwMode="gray">
            <a:xfrm rot="10800000">
              <a:off x="1187300" y="5026603"/>
              <a:ext cx="2869906" cy="852264"/>
              <a:chOff x="158262" y="1838050"/>
              <a:chExt cx="1565030" cy="1349164"/>
            </a:xfrm>
          </p:grpSpPr>
          <p:cxnSp>
            <p:nvCxnSpPr>
              <p:cNvPr id="13"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4"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grpSp>
          <p:nvGrpSpPr>
            <p:cNvPr id="8" name="Group 49"/>
            <p:cNvGrpSpPr/>
            <p:nvPr/>
          </p:nvGrpSpPr>
          <p:grpSpPr bwMode="gray">
            <a:xfrm>
              <a:off x="1187300" y="1682967"/>
              <a:ext cx="2869906" cy="852264"/>
              <a:chOff x="158262" y="1838050"/>
              <a:chExt cx="1565030" cy="1349164"/>
            </a:xfrm>
          </p:grpSpPr>
          <p:cxnSp>
            <p:nvCxnSpPr>
              <p:cNvPr id="11" name="直接连接符 3"/>
              <p:cNvCxnSpPr/>
              <p:nvPr/>
            </p:nvCxnSpPr>
            <p:spPr bwMode="gray">
              <a:xfrm flipV="1">
                <a:off x="158262"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12" name="直接连接符 3"/>
              <p:cNvCxnSpPr/>
              <p:nvPr/>
            </p:nvCxnSpPr>
            <p:spPr bwMode="gray">
              <a:xfrm flipH="1" flipV="1">
                <a:off x="940777" y="1838050"/>
                <a:ext cx="782515" cy="134916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grpSp>
        <p:cxnSp>
          <p:nvCxnSpPr>
            <p:cNvPr id="9" name="Straight Connector 6"/>
            <p:cNvCxnSpPr/>
            <p:nvPr/>
          </p:nvCxnSpPr>
          <p:spPr bwMode="gray">
            <a:xfrm>
              <a:off x="1163114" y="5011626"/>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10" name="Straight Connector 18"/>
            <p:cNvCxnSpPr/>
            <p:nvPr/>
          </p:nvCxnSpPr>
          <p:spPr bwMode="gray">
            <a:xfrm>
              <a:off x="1163114" y="2536842"/>
              <a:ext cx="2894093"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grpSp>
      <p:pic>
        <p:nvPicPr>
          <p:cNvPr id="15" name="图片 76" descr="接入交换机.png"/>
          <p:cNvPicPr>
            <a:picLocks noChangeAspect="1"/>
          </p:cNvPicPr>
          <p:nvPr/>
        </p:nvPicPr>
        <p:blipFill>
          <a:blip r:embed="rId3" cstate="print"/>
          <a:stretch>
            <a:fillRect/>
          </a:stretch>
        </p:blipFill>
        <p:spPr bwMode="gray">
          <a:xfrm>
            <a:off x="897923" y="2379699"/>
            <a:ext cx="490909" cy="401653"/>
          </a:xfrm>
          <a:prstGeom prst="rect">
            <a:avLst/>
          </a:prstGeom>
        </p:spPr>
      </p:pic>
      <p:sp>
        <p:nvSpPr>
          <p:cNvPr id="16" name="Freeform 159"/>
          <p:cNvSpPr/>
          <p:nvPr/>
        </p:nvSpPr>
        <p:spPr bwMode="gray">
          <a:xfrm flipH="1">
            <a:off x="1986361" y="5449563"/>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内网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Freeform 159"/>
          <p:cNvSpPr/>
          <p:nvPr/>
        </p:nvSpPr>
        <p:spPr bwMode="gray">
          <a:xfrm flipH="1">
            <a:off x="1953184" y="1546861"/>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4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外网</a:t>
            </a:r>
            <a:endParaRPr lang="en-US" sz="14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8" name="图片 76" descr="接入交换机.png"/>
          <p:cNvPicPr>
            <a:picLocks noChangeAspect="1"/>
          </p:cNvPicPr>
          <p:nvPr/>
        </p:nvPicPr>
        <p:blipFill>
          <a:blip r:embed="rId3" cstate="print"/>
          <a:stretch>
            <a:fillRect/>
          </a:stretch>
        </p:blipFill>
        <p:spPr bwMode="gray">
          <a:xfrm>
            <a:off x="3436445" y="2379699"/>
            <a:ext cx="490909" cy="401653"/>
          </a:xfrm>
          <a:prstGeom prst="rect">
            <a:avLst/>
          </a:prstGeom>
        </p:spPr>
      </p:pic>
      <p:pic>
        <p:nvPicPr>
          <p:cNvPr id="19" name="图片 76" descr="接入交换机.png"/>
          <p:cNvPicPr>
            <a:picLocks noChangeAspect="1"/>
          </p:cNvPicPr>
          <p:nvPr/>
        </p:nvPicPr>
        <p:blipFill>
          <a:blip r:embed="rId3" cstate="print"/>
          <a:stretch>
            <a:fillRect/>
          </a:stretch>
        </p:blipFill>
        <p:spPr bwMode="gray">
          <a:xfrm>
            <a:off x="897923" y="4771179"/>
            <a:ext cx="490909" cy="401653"/>
          </a:xfrm>
          <a:prstGeom prst="rect">
            <a:avLst/>
          </a:prstGeom>
        </p:spPr>
      </p:pic>
      <p:pic>
        <p:nvPicPr>
          <p:cNvPr id="20" name="图片 76" descr="接入交换机.png"/>
          <p:cNvPicPr>
            <a:picLocks noChangeAspect="1"/>
          </p:cNvPicPr>
          <p:nvPr/>
        </p:nvPicPr>
        <p:blipFill>
          <a:blip r:embed="rId3" cstate="print"/>
          <a:stretch>
            <a:fillRect/>
          </a:stretch>
        </p:blipFill>
        <p:spPr bwMode="gray">
          <a:xfrm>
            <a:off x="3436445" y="4771179"/>
            <a:ext cx="490909" cy="401653"/>
          </a:xfrm>
          <a:prstGeom prst="rect">
            <a:avLst/>
          </a:prstGeom>
        </p:spPr>
      </p:pic>
      <p:pic>
        <p:nvPicPr>
          <p:cNvPr id="21"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436445" y="3561515"/>
            <a:ext cx="490909" cy="401653"/>
          </a:xfrm>
          <a:prstGeom prst="rect">
            <a:avLst/>
          </a:prstGeom>
        </p:spPr>
      </p:pic>
      <p:pic>
        <p:nvPicPr>
          <p:cNvPr id="22"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897923" y="3561515"/>
            <a:ext cx="490909" cy="401653"/>
          </a:xfrm>
          <a:prstGeom prst="rect">
            <a:avLst/>
          </a:prstGeom>
        </p:spPr>
      </p:pic>
      <p:pic>
        <p:nvPicPr>
          <p:cNvPr id="3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3434151" y="3561515"/>
            <a:ext cx="490909" cy="401653"/>
          </a:xfrm>
          <a:prstGeom prst="rect">
            <a:avLst/>
          </a:prstGeom>
        </p:spPr>
      </p:pic>
      <p:sp>
        <p:nvSpPr>
          <p:cNvPr id="36" name="TextBox 179"/>
          <p:cNvSpPr txBox="1"/>
          <p:nvPr/>
        </p:nvSpPr>
        <p:spPr bwMode="gray">
          <a:xfrm>
            <a:off x="1110440" y="3643446"/>
            <a:ext cx="631156" cy="221182"/>
          </a:xfrm>
          <a:prstGeom prst="roundRect">
            <a:avLst>
              <a:gd name="adj" fmla="val 30550"/>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Active</a:t>
            </a:r>
          </a:p>
        </p:txBody>
      </p:sp>
      <p:sp>
        <p:nvSpPr>
          <p:cNvPr id="37" name="TextBox 179"/>
          <p:cNvSpPr txBox="1"/>
          <p:nvPr/>
        </p:nvSpPr>
        <p:spPr bwMode="gray">
          <a:xfrm>
            <a:off x="3028290" y="3643446"/>
            <a:ext cx="631156" cy="221182"/>
          </a:xfrm>
          <a:prstGeom prst="roundRect">
            <a:avLst>
              <a:gd name="adj" fmla="val 30550"/>
            </a:avLst>
          </a:prstGeom>
          <a:solidFill>
            <a:srgbClr val="30B5C5"/>
          </a:solidFill>
          <a:ln>
            <a:noFill/>
          </a:ln>
        </p:spPr>
        <p:txBody>
          <a:bodyPr wrap="non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smtClean="0">
                <a:latin typeface="Huawei Sans" panose="020C0503030203020204" pitchFamily="34" charset="0"/>
                <a:ea typeface="方正兰亭黑简体" panose="02000000000000000000" pitchFamily="2" charset="-122"/>
                <a:sym typeface="Huawei Sans" panose="020C0503030203020204" pitchFamily="34" charset="0"/>
              </a:rPr>
              <a:t>Standby</a:t>
            </a:r>
          </a:p>
        </p:txBody>
      </p:sp>
      <p:sp>
        <p:nvSpPr>
          <p:cNvPr id="41" name="TextBox 179"/>
          <p:cNvSpPr txBox="1"/>
          <p:nvPr/>
        </p:nvSpPr>
        <p:spPr bwMode="gray">
          <a:xfrm>
            <a:off x="3512023" y="5853822"/>
            <a:ext cx="1016484" cy="221182"/>
          </a:xfrm>
          <a:prstGeom prst="roundRect">
            <a:avLst>
              <a:gd name="adj" fmla="val 30550"/>
            </a:avLst>
          </a:prstGeom>
          <a:solidFill>
            <a:srgbClr val="30B5C5"/>
          </a:solidFill>
          <a:ln>
            <a:noFill/>
          </a:ln>
        </p:spPr>
        <p:txBody>
          <a:bodyPr wrap="square" lIns="0" tIns="0" rIns="0" bIns="0" anchor="ctr" anchorCtr="0">
            <a:noAutofit/>
          </a:bodyPr>
          <a:lstStyle>
            <a:defPPr>
              <a:defRPr lang="en-US"/>
            </a:defPPr>
            <a:lvl1pPr algn="ctr" defTabSz="914478">
              <a:defRPr sz="1200">
                <a:solidFill>
                  <a:schemeClr val="bg1"/>
                </a:solidFill>
              </a:defRPr>
            </a:lvl1pPr>
            <a:lvl2pPr marL="457240" defTabSz="914478"/>
            <a:lvl3pPr marL="914478" defTabSz="914478"/>
            <a:lvl4pPr marL="1371718" defTabSz="914478"/>
            <a:lvl5pPr marL="1828957" defTabSz="914478"/>
            <a:lvl6pPr marL="2286196" defTabSz="914478"/>
            <a:lvl7pPr marL="2743435" defTabSz="914478"/>
            <a:lvl8pPr marL="3200675" defTabSz="914478"/>
            <a:lvl9pPr marL="3657913" defTabSz="914478"/>
          </a:lstStyle>
          <a:p>
            <a:r>
              <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rPr>
              <a:t>VGMP</a:t>
            </a:r>
            <a:r>
              <a:rPr lang="zh-CN" altLang="en-US" dirty="0" smtClean="0">
                <a:latin typeface="Huawei Sans" panose="020C0503030203020204" pitchFamily="34" charset="0"/>
                <a:ea typeface="方正兰亭黑简体" panose="02000000000000000000" pitchFamily="2" charset="-122"/>
                <a:sym typeface="Huawei Sans" panose="020C0503030203020204" pitchFamily="34" charset="0"/>
              </a:rPr>
              <a:t>组状态</a:t>
            </a:r>
            <a:endParaRPr lang="en-US" altLang="zh-CN" dirty="0" smtClean="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TextBox 13"/>
          <p:cNvSpPr txBox="1"/>
          <p:nvPr/>
        </p:nvSpPr>
        <p:spPr bwMode="gray">
          <a:xfrm>
            <a:off x="506376" y="3972786"/>
            <a:ext cx="641522" cy="461665"/>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a:t>
            </a:r>
          </a:p>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Active</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6" name="TextBox 13"/>
          <p:cNvSpPr txBox="1"/>
          <p:nvPr/>
        </p:nvSpPr>
        <p:spPr bwMode="gray">
          <a:xfrm>
            <a:off x="506376" y="3084561"/>
            <a:ext cx="641522" cy="461665"/>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a:t>
            </a:r>
          </a:p>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Active</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47" name="TextBox 13"/>
          <p:cNvSpPr txBox="1"/>
          <p:nvPr/>
        </p:nvSpPr>
        <p:spPr bwMode="gray">
          <a:xfrm>
            <a:off x="3645804" y="3972786"/>
            <a:ext cx="748923" cy="461665"/>
          </a:xfrm>
          <a:prstGeom prst="rect">
            <a:avLst/>
          </a:prstGeom>
          <a:noFill/>
        </p:spPr>
        <p:txBody>
          <a:bodyPr wrap="none" rtlCol="0">
            <a:spAutoFit/>
          </a:bodyPr>
          <a:lstStyle/>
          <a:p>
            <a:r>
              <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a:t>
            </a:r>
          </a:p>
          <a:p>
            <a:r>
              <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Standby</a:t>
            </a:r>
          </a:p>
        </p:txBody>
      </p:sp>
      <p:sp>
        <p:nvSpPr>
          <p:cNvPr id="48" name="TextBox 13"/>
          <p:cNvSpPr txBox="1"/>
          <p:nvPr/>
        </p:nvSpPr>
        <p:spPr bwMode="gray">
          <a:xfrm>
            <a:off x="3645804" y="3084561"/>
            <a:ext cx="748923" cy="461665"/>
          </a:xfrm>
          <a:prstGeom prst="rect">
            <a:avLst/>
          </a:prstGeom>
          <a:noFill/>
        </p:spPr>
        <p:txBody>
          <a:bodyPr wrap="none" rtlCol="0">
            <a:spAutoFit/>
          </a:bodyPr>
          <a:lstStyle/>
          <a:p>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a:t>
            </a:r>
          </a:p>
          <a:p>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Standby</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4" name="矩形 23"/>
          <p:cNvSpPr/>
          <p:nvPr/>
        </p:nvSpPr>
        <p:spPr bwMode="gray">
          <a:xfrm>
            <a:off x="4814423" y="2109099"/>
            <a:ext cx="6934665" cy="3452227"/>
          </a:xfrm>
          <a:prstGeom prst="rect">
            <a:avLst/>
          </a:prstGeom>
        </p:spPr>
        <p:txBody>
          <a:bodyPr wrap="square">
            <a:spAutoFit/>
          </a:bodyPr>
          <a:lstStyle/>
          <a:p>
            <a:pPr marL="176213" indent="-176213" algn="just">
              <a:lnSpc>
                <a:spcPts val="20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为了实现主用设备出现故障时备用设备能平滑地接替工作，必须在主用和备用设备之间备份关键配置命令</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和状态</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信息</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gn="just">
              <a:lnSpc>
                <a:spcPts val="2000"/>
              </a:lnSpc>
              <a:spcAft>
                <a:spcPts val="600"/>
              </a:spcAft>
              <a:buFont typeface="Arial" panose="020B0604020202020204" pitchFamily="34" charset="0"/>
              <a:buChar char="•"/>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防火墙能够</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备份的配置如下：</a:t>
            </a:r>
          </a:p>
          <a:p>
            <a:pPr marL="742990" lvl="1" indent="-285750" algn="just">
              <a:lnSpc>
                <a:spcPts val="2000"/>
              </a:lnSpc>
              <a:spcAft>
                <a:spcPts val="600"/>
              </a:spcAft>
              <a:buSzPct val="30000"/>
              <a:buFont typeface="Wingdings" panose="05000000000000000000" pitchFamily="2" charset="2"/>
              <a:buChar char="p"/>
            </a:pP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策略</a:t>
            </a: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安全策略、</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策略（包括</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地址池）、</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NAT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Server</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等。</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gn="just">
              <a:lnSpc>
                <a:spcPts val="2000"/>
              </a:lnSpc>
              <a:spcAft>
                <a:spcPts val="600"/>
              </a:spcAft>
              <a:buSzPct val="30000"/>
              <a:buFont typeface="Wingdings" panose="05000000000000000000" pitchFamily="2" charset="2"/>
              <a:buChar char="p"/>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对象：</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地址、地区、服务、应用、</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用户等。</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gn="just">
              <a:lnSpc>
                <a:spcPts val="2000"/>
              </a:lnSpc>
              <a:spcAft>
                <a:spcPts val="600"/>
              </a:spcAft>
              <a:buSzPct val="30000"/>
              <a:buFont typeface="Wingdings" panose="05000000000000000000" pitchFamily="2" charset="2"/>
              <a:buChar char="p"/>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网络</a:t>
            </a:r>
            <a:r>
              <a:rPr lang="zh-CN" altLang="en-US" sz="1400" b="1"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安全</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区域、</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DNS</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IPsec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SSL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VPN</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等。</a:t>
            </a:r>
            <a:endParaRPr lang="en-US" altLang="zh-CN" sz="1400" dirty="0">
              <a:latin typeface="Huawei Sans" panose="020C0503030203020204" pitchFamily="34" charset="0"/>
              <a:ea typeface="方正兰亭黑简体" panose="02000000000000000000" pitchFamily="2" charset="-122"/>
              <a:sym typeface="Huawei Sans" panose="020C0503030203020204" pitchFamily="34" charset="0"/>
            </a:endParaRPr>
          </a:p>
          <a:p>
            <a:pPr marL="742990" lvl="1" indent="-285750" algn="just">
              <a:lnSpc>
                <a:spcPts val="2000"/>
              </a:lnSpc>
              <a:spcAft>
                <a:spcPts val="600"/>
              </a:spcAft>
              <a:buSzPct val="30000"/>
              <a:buFont typeface="Wingdings" panose="05000000000000000000" pitchFamily="2" charset="2"/>
              <a:buChar char="p"/>
            </a:pPr>
            <a:r>
              <a:rPr lang="zh-CN" altLang="en-US" sz="1400" b="1" dirty="0">
                <a:latin typeface="Huawei Sans" panose="020C0503030203020204" pitchFamily="34" charset="0"/>
                <a:ea typeface="方正兰亭黑简体" panose="02000000000000000000" pitchFamily="2" charset="-122"/>
                <a:sym typeface="Huawei Sans" panose="020C0503030203020204" pitchFamily="34" charset="0"/>
              </a:rPr>
              <a:t>系统：</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管理员、</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虚拟系统、</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日志</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配置。</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gn="just">
              <a:lnSpc>
                <a:spcPts val="20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防火墙</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能够</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备份的状态信息如下：</a:t>
            </a:r>
          </a:p>
          <a:p>
            <a:pPr marL="633453" lvl="1" indent="-176213" algn="just">
              <a:lnSpc>
                <a:spcPts val="2000"/>
              </a:lnSpc>
              <a:spcAft>
                <a:spcPts val="600"/>
              </a:spcAft>
              <a:buFont typeface="Arial" panose="020B0604020202020204" pitchFamily="34" charset="0"/>
              <a:buChar char="•"/>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会话表、</a:t>
            </a:r>
            <a:r>
              <a:rPr lang="en-US" altLang="zh-CN" sz="1400" dirty="0" err="1">
                <a:latin typeface="Huawei Sans" panose="020C0503030203020204" pitchFamily="34" charset="0"/>
                <a:ea typeface="方正兰亭黑简体" panose="02000000000000000000" pitchFamily="2" charset="-122"/>
                <a:sym typeface="Huawei Sans" panose="020C0503030203020204" pitchFamily="34" charset="0"/>
              </a:rPr>
              <a:t>SeverMap</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表、黑名单</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白名单、</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方式端口映射表、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NO-PAT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方式地址映射表、二层转发表（静态</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MAC</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备份）、</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AAA</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用户表（缺省用户</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admin</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不备份）、在线用户监控表、</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PKI</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证书</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IPsec</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备份</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等</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9" name="Straight Arrow Connector 70"/>
          <p:cNvCxnSpPr/>
          <p:nvPr/>
        </p:nvCxnSpPr>
        <p:spPr bwMode="gray">
          <a:xfrm>
            <a:off x="1474439" y="3440068"/>
            <a:ext cx="1885449" cy="0"/>
          </a:xfrm>
          <a:prstGeom prst="straightConnector1">
            <a:avLst/>
          </a:prstGeom>
          <a:solidFill>
            <a:schemeClr val="accent1"/>
          </a:solidFill>
          <a:ln w="19050" cap="flat" cmpd="sng" algn="ctr">
            <a:solidFill>
              <a:srgbClr val="30B5C5"/>
            </a:solidFill>
            <a:prstDash val="sysDot"/>
            <a:round/>
            <a:headEnd type="none" w="med" len="med"/>
            <a:tailEnd type="triangle" w="med" len="med"/>
          </a:ln>
          <a:effectLst/>
        </p:spPr>
      </p:cxnSp>
      <p:sp>
        <p:nvSpPr>
          <p:cNvPr id="100" name="TextBox 13"/>
          <p:cNvSpPr txBox="1"/>
          <p:nvPr/>
        </p:nvSpPr>
        <p:spPr bwMode="gray">
          <a:xfrm>
            <a:off x="1625528" y="3128876"/>
            <a:ext cx="1569660" cy="276999"/>
          </a:xfrm>
          <a:prstGeom prst="rect">
            <a:avLst/>
          </a:prstGeom>
          <a:noFill/>
        </p:spPr>
        <p:txBody>
          <a:bodyPr wrap="none" rtlCol="0">
            <a:spAutoFit/>
          </a:bodyPr>
          <a:lstStyle/>
          <a:p>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备份配置及状态信息</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295575834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圆角矩形 75"/>
          <p:cNvSpPr/>
          <p:nvPr/>
        </p:nvSpPr>
        <p:spPr bwMode="gray">
          <a:xfrm>
            <a:off x="6866132" y="3217506"/>
            <a:ext cx="4147308" cy="1495947"/>
          </a:xfrm>
          <a:prstGeom prst="roundRect">
            <a:avLst>
              <a:gd name="adj" fmla="val 11585"/>
            </a:avLst>
          </a:prstGeom>
          <a:solidFill>
            <a:srgbClr val="FEEEC1">
              <a:alpha val="5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4" name="圆角矩形 75"/>
          <p:cNvSpPr/>
          <p:nvPr/>
        </p:nvSpPr>
        <p:spPr bwMode="gray">
          <a:xfrm>
            <a:off x="6866132" y="1643448"/>
            <a:ext cx="4147308" cy="1315510"/>
          </a:xfrm>
          <a:prstGeom prst="roundRect">
            <a:avLst>
              <a:gd name="adj" fmla="val 11585"/>
            </a:avLst>
          </a:prstGeom>
          <a:solidFill>
            <a:srgbClr val="FEEEC1">
              <a:alpha val="5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防火墙双机热备典型组网场景</a:t>
            </a:r>
            <a:endParaRPr lang="zh-CN" altLang="en-US">
              <a:sym typeface="Huawei Sans" panose="020C0503030203020204" pitchFamily="34" charset="0"/>
            </a:endParaRPr>
          </a:p>
        </p:txBody>
      </p:sp>
      <p:sp>
        <p:nvSpPr>
          <p:cNvPr id="3" name="圆角矩形 75"/>
          <p:cNvSpPr/>
          <p:nvPr/>
        </p:nvSpPr>
        <p:spPr bwMode="gray">
          <a:xfrm>
            <a:off x="442913" y="1458134"/>
            <a:ext cx="5527243" cy="4742641"/>
          </a:xfrm>
          <a:prstGeom prst="roundRect">
            <a:avLst>
              <a:gd name="adj" fmla="val 0"/>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 name="圆角矩形 75"/>
          <p:cNvSpPr/>
          <p:nvPr/>
        </p:nvSpPr>
        <p:spPr bwMode="gray">
          <a:xfrm>
            <a:off x="6211764" y="1458134"/>
            <a:ext cx="5537324" cy="4742641"/>
          </a:xfrm>
          <a:prstGeom prst="roundRect">
            <a:avLst>
              <a:gd name="adj" fmla="val 0"/>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28" name="圆角矩形 75"/>
          <p:cNvSpPr/>
          <p:nvPr/>
        </p:nvSpPr>
        <p:spPr bwMode="gray">
          <a:xfrm>
            <a:off x="442913" y="1051258"/>
            <a:ext cx="5527243" cy="373033"/>
          </a:xfrm>
          <a:prstGeom prst="roundRect">
            <a:avLst>
              <a:gd name="adj" fmla="val 0"/>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双机热备直路部署，连接二层设备</a:t>
            </a:r>
          </a:p>
        </p:txBody>
      </p:sp>
      <p:sp>
        <p:nvSpPr>
          <p:cNvPr id="29" name="圆角矩形 75"/>
          <p:cNvSpPr/>
          <p:nvPr/>
        </p:nvSpPr>
        <p:spPr bwMode="gray">
          <a:xfrm>
            <a:off x="6211764" y="1051258"/>
            <a:ext cx="5537324" cy="373033"/>
          </a:xfrm>
          <a:prstGeom prst="roundRect">
            <a:avLst>
              <a:gd name="adj" fmla="val 0"/>
            </a:avLst>
          </a:prstGeom>
          <a:solidFill>
            <a:srgbClr val="30B5C5"/>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双机热备直路部署，连接三层设备</a:t>
            </a:r>
          </a:p>
        </p:txBody>
      </p:sp>
      <p:cxnSp>
        <p:nvCxnSpPr>
          <p:cNvPr id="30" name="Straight Connector 18"/>
          <p:cNvCxnSpPr/>
          <p:nvPr/>
        </p:nvCxnSpPr>
        <p:spPr bwMode="gray">
          <a:xfrm>
            <a:off x="2004076" y="3092960"/>
            <a:ext cx="2572169" cy="0"/>
          </a:xfrm>
          <a:prstGeom prst="line">
            <a:avLst/>
          </a:prstGeom>
          <a:solidFill>
            <a:schemeClr val="accent1"/>
          </a:solidFill>
          <a:ln w="19050" cap="flat" cmpd="sng" algn="ctr">
            <a:solidFill>
              <a:srgbClr val="56C4D2"/>
            </a:solidFill>
            <a:prstDash val="solid"/>
            <a:round/>
            <a:headEnd type="none" w="med" len="med"/>
            <a:tailEnd type="none" w="med" len="med"/>
          </a:ln>
          <a:effectLst/>
        </p:spPr>
      </p:cxnSp>
      <p:cxnSp>
        <p:nvCxnSpPr>
          <p:cNvPr id="32" name="直接连接符 3"/>
          <p:cNvCxnSpPr/>
          <p:nvPr/>
        </p:nvCxnSpPr>
        <p:spPr bwMode="gray">
          <a:xfrm flipV="1">
            <a:off x="4423844" y="1794729"/>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3" name="直接连接符 3"/>
          <p:cNvCxnSpPr/>
          <p:nvPr/>
        </p:nvCxnSpPr>
        <p:spPr bwMode="gray">
          <a:xfrm flipV="1">
            <a:off x="1873172" y="1794729"/>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6" name="Straight Connector 6"/>
          <p:cNvCxnSpPr/>
          <p:nvPr/>
        </p:nvCxnSpPr>
        <p:spPr bwMode="gray">
          <a:xfrm>
            <a:off x="1851676" y="4258363"/>
            <a:ext cx="257216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37" name="Straight Connector 18"/>
          <p:cNvCxnSpPr/>
          <p:nvPr/>
        </p:nvCxnSpPr>
        <p:spPr bwMode="gray">
          <a:xfrm>
            <a:off x="1851676" y="1946139"/>
            <a:ext cx="257216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42" name="图片 76" descr="接入交换机.png"/>
          <p:cNvPicPr>
            <a:picLocks noChangeAspect="1"/>
          </p:cNvPicPr>
          <p:nvPr/>
        </p:nvPicPr>
        <p:blipFill>
          <a:blip r:embed="rId3" cstate="print"/>
          <a:stretch>
            <a:fillRect/>
          </a:stretch>
        </p:blipFill>
        <p:spPr bwMode="gray">
          <a:xfrm>
            <a:off x="1638506" y="1788996"/>
            <a:ext cx="490909" cy="401653"/>
          </a:xfrm>
          <a:prstGeom prst="rect">
            <a:avLst/>
          </a:prstGeom>
        </p:spPr>
      </p:pic>
      <p:pic>
        <p:nvPicPr>
          <p:cNvPr id="45" name="图片 76" descr="接入交换机.png"/>
          <p:cNvPicPr>
            <a:picLocks noChangeAspect="1"/>
          </p:cNvPicPr>
          <p:nvPr/>
        </p:nvPicPr>
        <p:blipFill>
          <a:blip r:embed="rId3" cstate="print"/>
          <a:stretch>
            <a:fillRect/>
          </a:stretch>
        </p:blipFill>
        <p:spPr bwMode="gray">
          <a:xfrm>
            <a:off x="4177028" y="1788996"/>
            <a:ext cx="490909" cy="401653"/>
          </a:xfrm>
          <a:prstGeom prst="rect">
            <a:avLst/>
          </a:prstGeom>
        </p:spPr>
      </p:pic>
      <p:pic>
        <p:nvPicPr>
          <p:cNvPr id="46" name="图片 76" descr="接入交换机.png"/>
          <p:cNvPicPr>
            <a:picLocks noChangeAspect="1"/>
          </p:cNvPicPr>
          <p:nvPr/>
        </p:nvPicPr>
        <p:blipFill>
          <a:blip r:embed="rId3" cstate="print"/>
          <a:stretch>
            <a:fillRect/>
          </a:stretch>
        </p:blipFill>
        <p:spPr bwMode="gray">
          <a:xfrm>
            <a:off x="1638506" y="4017916"/>
            <a:ext cx="490909" cy="401653"/>
          </a:xfrm>
          <a:prstGeom prst="rect">
            <a:avLst/>
          </a:prstGeom>
        </p:spPr>
      </p:pic>
      <p:pic>
        <p:nvPicPr>
          <p:cNvPr id="47" name="图片 76" descr="接入交换机.png"/>
          <p:cNvPicPr>
            <a:picLocks noChangeAspect="1"/>
          </p:cNvPicPr>
          <p:nvPr/>
        </p:nvPicPr>
        <p:blipFill>
          <a:blip r:embed="rId3" cstate="print"/>
          <a:stretch>
            <a:fillRect/>
          </a:stretch>
        </p:blipFill>
        <p:spPr bwMode="gray">
          <a:xfrm>
            <a:off x="4177028" y="4017916"/>
            <a:ext cx="490909" cy="401653"/>
          </a:xfrm>
          <a:prstGeom prst="rect">
            <a:avLst/>
          </a:prstGeom>
        </p:spPr>
      </p:pic>
      <p:pic>
        <p:nvPicPr>
          <p:cNvPr id="48"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177028" y="2889532"/>
            <a:ext cx="490909" cy="401653"/>
          </a:xfrm>
          <a:prstGeom prst="rect">
            <a:avLst/>
          </a:prstGeom>
        </p:spPr>
      </p:pic>
      <p:pic>
        <p:nvPicPr>
          <p:cNvPr id="49"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1638506" y="2889532"/>
            <a:ext cx="490909" cy="401653"/>
          </a:xfrm>
          <a:prstGeom prst="rect">
            <a:avLst/>
          </a:prstGeom>
        </p:spPr>
      </p:pic>
      <p:sp>
        <p:nvSpPr>
          <p:cNvPr id="51" name="TextBox 13"/>
          <p:cNvSpPr txBox="1"/>
          <p:nvPr/>
        </p:nvSpPr>
        <p:spPr bwMode="gray">
          <a:xfrm>
            <a:off x="2602555" y="3631260"/>
            <a:ext cx="108555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a:t>
            </a:r>
            <a:r>
              <a:rPr lang="en-US" altLang="zh-CN" sz="12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VRID1</a:t>
            </a:r>
            <a:endPar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52" name="Freeform 14"/>
          <p:cNvSpPr/>
          <p:nvPr/>
        </p:nvSpPr>
        <p:spPr bwMode="gray">
          <a:xfrm flipH="1" flipV="1">
            <a:off x="2970454" y="3260613"/>
            <a:ext cx="1453390" cy="583137"/>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105696"/>
              <a:gd name="connsiteY0" fmla="*/ 2716537 h 3381721"/>
              <a:gd name="connsiteX1" fmla="*/ 1439273 w 2105696"/>
              <a:gd name="connsiteY1" fmla="*/ 0 h 3381721"/>
              <a:gd name="connsiteX2" fmla="*/ 2105696 w 2105696"/>
              <a:gd name="connsiteY2" fmla="*/ 1883825 h 3381721"/>
              <a:gd name="connsiteX3" fmla="*/ 60884 w 2105696"/>
              <a:gd name="connsiteY3" fmla="*/ 3381721 h 3381721"/>
              <a:gd name="connsiteX0" fmla="*/ 0 w 2081858"/>
              <a:gd name="connsiteY0" fmla="*/ 2716537 h 3381721"/>
              <a:gd name="connsiteX1" fmla="*/ 1439273 w 2081858"/>
              <a:gd name="connsiteY1" fmla="*/ 0 h 3381721"/>
              <a:gd name="connsiteX2" fmla="*/ 2081858 w 2081858"/>
              <a:gd name="connsiteY2" fmla="*/ 754099 h 3381721"/>
              <a:gd name="connsiteX3" fmla="*/ 60884 w 2081858"/>
              <a:gd name="connsiteY3" fmla="*/ 3381721 h 3381721"/>
              <a:gd name="connsiteX0" fmla="*/ 0 w 2081858"/>
              <a:gd name="connsiteY0" fmla="*/ 3727354 h 4392538"/>
              <a:gd name="connsiteX1" fmla="*/ 1522710 w 2081858"/>
              <a:gd name="connsiteY1" fmla="*/ 0 h 4392538"/>
              <a:gd name="connsiteX2" fmla="*/ 2081858 w 2081858"/>
              <a:gd name="connsiteY2" fmla="*/ 1764916 h 4392538"/>
              <a:gd name="connsiteX3" fmla="*/ 60884 w 2081858"/>
              <a:gd name="connsiteY3" fmla="*/ 4392538 h 4392538"/>
              <a:gd name="connsiteX0" fmla="*/ 0 w 2081858"/>
              <a:gd name="connsiteY0" fmla="*/ 3430059 h 4095243"/>
              <a:gd name="connsiteX1" fmla="*/ 1653824 w 2081858"/>
              <a:gd name="connsiteY1" fmla="*/ 0 h 4095243"/>
              <a:gd name="connsiteX2" fmla="*/ 2081858 w 2081858"/>
              <a:gd name="connsiteY2" fmla="*/ 1467621 h 4095243"/>
              <a:gd name="connsiteX3" fmla="*/ 60884 w 2081858"/>
              <a:gd name="connsiteY3" fmla="*/ 4095243 h 4095243"/>
              <a:gd name="connsiteX0" fmla="*/ 0 w 2046100"/>
              <a:gd name="connsiteY0" fmla="*/ 3430059 h 4095243"/>
              <a:gd name="connsiteX1" fmla="*/ 1618066 w 2046100"/>
              <a:gd name="connsiteY1" fmla="*/ 0 h 4095243"/>
              <a:gd name="connsiteX2" fmla="*/ 2046100 w 2046100"/>
              <a:gd name="connsiteY2" fmla="*/ 1467621 h 4095243"/>
              <a:gd name="connsiteX3" fmla="*/ 25126 w 2046100"/>
              <a:gd name="connsiteY3" fmla="*/ 4095243 h 4095243"/>
            </a:gdLst>
            <a:ahLst/>
            <a:cxnLst>
              <a:cxn ang="0">
                <a:pos x="connsiteX0" y="connsiteY0"/>
              </a:cxn>
              <a:cxn ang="0">
                <a:pos x="connsiteX1" y="connsiteY1"/>
              </a:cxn>
              <a:cxn ang="0">
                <a:pos x="connsiteX2" y="connsiteY2"/>
              </a:cxn>
              <a:cxn ang="0">
                <a:pos x="connsiteX3" y="connsiteY3"/>
              </a:cxn>
            </a:cxnLst>
            <a:rect l="l" t="t" r="r" b="b"/>
            <a:pathLst>
              <a:path w="2046100" h="4095243">
                <a:moveTo>
                  <a:pt x="0" y="3430059"/>
                </a:moveTo>
                <a:lnTo>
                  <a:pt x="1618066" y="0"/>
                </a:lnTo>
                <a:lnTo>
                  <a:pt x="2046100" y="1467621"/>
                </a:lnTo>
                <a:lnTo>
                  <a:pt x="25126" y="4095243"/>
                </a:lnTo>
              </a:path>
            </a:pathLst>
          </a:custGeom>
          <a:gradFill flip="none" rotWithShape="0">
            <a:gsLst>
              <a:gs pos="0">
                <a:schemeClr val="bg1">
                  <a:alpha val="0"/>
                </a:schemeClr>
              </a:gs>
              <a:gs pos="100000">
                <a:srgbClr val="FFCC66"/>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21"/>
          <p:cNvSpPr/>
          <p:nvPr/>
        </p:nvSpPr>
        <p:spPr bwMode="gray">
          <a:xfrm flipV="1">
            <a:off x="1861905" y="3260613"/>
            <a:ext cx="1498902" cy="608536"/>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075774"/>
              <a:gd name="connsiteY0" fmla="*/ 2716537 h 3381721"/>
              <a:gd name="connsiteX1" fmla="*/ 1439273 w 2075774"/>
              <a:gd name="connsiteY1" fmla="*/ 0 h 3381721"/>
              <a:gd name="connsiteX2" fmla="*/ 2075774 w 2075774"/>
              <a:gd name="connsiteY2" fmla="*/ 1883832 h 3381721"/>
              <a:gd name="connsiteX3" fmla="*/ 60884 w 2075774"/>
              <a:gd name="connsiteY3" fmla="*/ 3381721 h 3381721"/>
              <a:gd name="connsiteX0" fmla="*/ 0 w 2075774"/>
              <a:gd name="connsiteY0" fmla="*/ 3608430 h 4273614"/>
              <a:gd name="connsiteX1" fmla="*/ 1439273 w 2075774"/>
              <a:gd name="connsiteY1" fmla="*/ 0 h 4273614"/>
              <a:gd name="connsiteX2" fmla="*/ 2075774 w 2075774"/>
              <a:gd name="connsiteY2" fmla="*/ 2775725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121669 w 2075774"/>
              <a:gd name="connsiteY3" fmla="*/ 4273614 h 4273614"/>
              <a:gd name="connsiteX0" fmla="*/ 0 w 2049723"/>
              <a:gd name="connsiteY0" fmla="*/ 3920593 h 4273614"/>
              <a:gd name="connsiteX1" fmla="*/ 1413222 w 2049723"/>
              <a:gd name="connsiteY1" fmla="*/ 0 h 4273614"/>
              <a:gd name="connsiteX2" fmla="*/ 2049723 w 2049723"/>
              <a:gd name="connsiteY2" fmla="*/ 1348697 h 4273614"/>
              <a:gd name="connsiteX3" fmla="*/ 95618 w 2049723"/>
              <a:gd name="connsiteY3" fmla="*/ 4273614 h 4273614"/>
            </a:gdLst>
            <a:ahLst/>
            <a:cxnLst>
              <a:cxn ang="0">
                <a:pos x="connsiteX0" y="connsiteY0"/>
              </a:cxn>
              <a:cxn ang="0">
                <a:pos x="connsiteX1" y="connsiteY1"/>
              </a:cxn>
              <a:cxn ang="0">
                <a:pos x="connsiteX2" y="connsiteY2"/>
              </a:cxn>
              <a:cxn ang="0">
                <a:pos x="connsiteX3" y="connsiteY3"/>
              </a:cxn>
            </a:cxnLst>
            <a:rect l="l" t="t" r="r" b="b"/>
            <a:pathLst>
              <a:path w="2049723" h="4273614">
                <a:moveTo>
                  <a:pt x="0" y="3920593"/>
                </a:moveTo>
                <a:lnTo>
                  <a:pt x="1413222" y="0"/>
                </a:lnTo>
                <a:lnTo>
                  <a:pt x="2049723" y="1348697"/>
                </a:lnTo>
                <a:lnTo>
                  <a:pt x="95618" y="4273614"/>
                </a:lnTo>
              </a:path>
            </a:pathLst>
          </a:custGeom>
          <a:gradFill flip="none" rotWithShape="0">
            <a:gsLst>
              <a:gs pos="0">
                <a:schemeClr val="bg1">
                  <a:alpha val="0"/>
                </a:schemeClr>
              </a:gs>
              <a:gs pos="100000">
                <a:srgbClr val="FFCC66"/>
              </a:gs>
            </a:gsLst>
            <a:lin ang="135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Freeform 23"/>
          <p:cNvSpPr/>
          <p:nvPr/>
        </p:nvSpPr>
        <p:spPr bwMode="gray">
          <a:xfrm flipH="1">
            <a:off x="2970454" y="2398236"/>
            <a:ext cx="1453390" cy="492960"/>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105696"/>
              <a:gd name="connsiteY0" fmla="*/ 2716537 h 3381721"/>
              <a:gd name="connsiteX1" fmla="*/ 1439273 w 2105696"/>
              <a:gd name="connsiteY1" fmla="*/ 0 h 3381721"/>
              <a:gd name="connsiteX2" fmla="*/ 2105696 w 2105696"/>
              <a:gd name="connsiteY2" fmla="*/ 1883825 h 3381721"/>
              <a:gd name="connsiteX3" fmla="*/ 60884 w 2105696"/>
              <a:gd name="connsiteY3" fmla="*/ 3381721 h 3381721"/>
              <a:gd name="connsiteX0" fmla="*/ 0 w 2081858"/>
              <a:gd name="connsiteY0" fmla="*/ 2716537 h 3381721"/>
              <a:gd name="connsiteX1" fmla="*/ 1439273 w 2081858"/>
              <a:gd name="connsiteY1" fmla="*/ 0 h 3381721"/>
              <a:gd name="connsiteX2" fmla="*/ 2081858 w 2081858"/>
              <a:gd name="connsiteY2" fmla="*/ 754099 h 3381721"/>
              <a:gd name="connsiteX3" fmla="*/ 60884 w 2081858"/>
              <a:gd name="connsiteY3" fmla="*/ 3381721 h 3381721"/>
              <a:gd name="connsiteX0" fmla="*/ 0 w 2081858"/>
              <a:gd name="connsiteY0" fmla="*/ 3727354 h 4392538"/>
              <a:gd name="connsiteX1" fmla="*/ 1522710 w 2081858"/>
              <a:gd name="connsiteY1" fmla="*/ 0 h 4392538"/>
              <a:gd name="connsiteX2" fmla="*/ 2081858 w 2081858"/>
              <a:gd name="connsiteY2" fmla="*/ 1764916 h 4392538"/>
              <a:gd name="connsiteX3" fmla="*/ 60884 w 2081858"/>
              <a:gd name="connsiteY3" fmla="*/ 4392538 h 4392538"/>
              <a:gd name="connsiteX0" fmla="*/ 0 w 2081858"/>
              <a:gd name="connsiteY0" fmla="*/ 3430059 h 4095243"/>
              <a:gd name="connsiteX1" fmla="*/ 1653824 w 2081858"/>
              <a:gd name="connsiteY1" fmla="*/ 0 h 4095243"/>
              <a:gd name="connsiteX2" fmla="*/ 2081858 w 2081858"/>
              <a:gd name="connsiteY2" fmla="*/ 1467621 h 4095243"/>
              <a:gd name="connsiteX3" fmla="*/ 60884 w 2081858"/>
              <a:gd name="connsiteY3" fmla="*/ 4095243 h 4095243"/>
              <a:gd name="connsiteX0" fmla="*/ 0 w 2046100"/>
              <a:gd name="connsiteY0" fmla="*/ 3430059 h 4095243"/>
              <a:gd name="connsiteX1" fmla="*/ 1618066 w 2046100"/>
              <a:gd name="connsiteY1" fmla="*/ 0 h 4095243"/>
              <a:gd name="connsiteX2" fmla="*/ 2046100 w 2046100"/>
              <a:gd name="connsiteY2" fmla="*/ 1467621 h 4095243"/>
              <a:gd name="connsiteX3" fmla="*/ 25126 w 2046100"/>
              <a:gd name="connsiteY3" fmla="*/ 4095243 h 4095243"/>
              <a:gd name="connsiteX0" fmla="*/ 0 w 2046100"/>
              <a:gd name="connsiteY0" fmla="*/ 3661572 h 4326756"/>
              <a:gd name="connsiteX1" fmla="*/ 1543798 w 2046100"/>
              <a:gd name="connsiteY1" fmla="*/ 0 h 4326756"/>
              <a:gd name="connsiteX2" fmla="*/ 2046100 w 2046100"/>
              <a:gd name="connsiteY2" fmla="*/ 1699134 h 4326756"/>
              <a:gd name="connsiteX3" fmla="*/ 25126 w 2046100"/>
              <a:gd name="connsiteY3" fmla="*/ 4326756 h 4326756"/>
            </a:gdLst>
            <a:ahLst/>
            <a:cxnLst>
              <a:cxn ang="0">
                <a:pos x="connsiteX0" y="connsiteY0"/>
              </a:cxn>
              <a:cxn ang="0">
                <a:pos x="connsiteX1" y="connsiteY1"/>
              </a:cxn>
              <a:cxn ang="0">
                <a:pos x="connsiteX2" y="connsiteY2"/>
              </a:cxn>
              <a:cxn ang="0">
                <a:pos x="connsiteX3" y="connsiteY3"/>
              </a:cxn>
            </a:cxnLst>
            <a:rect l="l" t="t" r="r" b="b"/>
            <a:pathLst>
              <a:path w="2046100" h="4326756">
                <a:moveTo>
                  <a:pt x="0" y="3661572"/>
                </a:moveTo>
                <a:lnTo>
                  <a:pt x="1543798" y="0"/>
                </a:lnTo>
                <a:lnTo>
                  <a:pt x="2046100" y="1699134"/>
                </a:lnTo>
                <a:lnTo>
                  <a:pt x="25126" y="4326756"/>
                </a:lnTo>
              </a:path>
            </a:pathLst>
          </a:custGeom>
          <a:gradFill flip="none" rotWithShape="0">
            <a:gsLst>
              <a:gs pos="0">
                <a:schemeClr val="bg1">
                  <a:alpha val="0"/>
                </a:schemeClr>
              </a:gs>
              <a:gs pos="100000">
                <a:srgbClr val="FFCC66"/>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Freeform 24"/>
          <p:cNvSpPr/>
          <p:nvPr/>
        </p:nvSpPr>
        <p:spPr bwMode="gray">
          <a:xfrm>
            <a:off x="1861905" y="2404294"/>
            <a:ext cx="1498902" cy="486905"/>
          </a:xfrm>
          <a:custGeom>
            <a:avLst/>
            <a:gdLst>
              <a:gd name="connsiteX0" fmla="*/ 75156 w 1340285"/>
              <a:gd name="connsiteY0" fmla="*/ 0 h 538619"/>
              <a:gd name="connsiteX1" fmla="*/ 1340285 w 1340285"/>
              <a:gd name="connsiteY1" fmla="*/ 162838 h 538619"/>
              <a:gd name="connsiteX2" fmla="*/ 1265129 w 1340285"/>
              <a:gd name="connsiteY2" fmla="*/ 538619 h 538619"/>
              <a:gd name="connsiteX3" fmla="*/ 0 w 1340285"/>
              <a:gd name="connsiteY3" fmla="*/ 112734 h 538619"/>
              <a:gd name="connsiteX0" fmla="*/ 75156 w 1265129"/>
              <a:gd name="connsiteY0" fmla="*/ 1064713 h 1603332"/>
              <a:gd name="connsiteX1" fmla="*/ 1164921 w 1265129"/>
              <a:gd name="connsiteY1" fmla="*/ 0 h 1603332"/>
              <a:gd name="connsiteX2" fmla="*/ 1265129 w 1265129"/>
              <a:gd name="connsiteY2" fmla="*/ 1603332 h 1603332"/>
              <a:gd name="connsiteX3" fmla="*/ 0 w 1265129"/>
              <a:gd name="connsiteY3" fmla="*/ 1177447 h 1603332"/>
              <a:gd name="connsiteX0" fmla="*/ 75156 w 1490597"/>
              <a:gd name="connsiteY0" fmla="*/ 1064713 h 1177447"/>
              <a:gd name="connsiteX1" fmla="*/ 1164921 w 1490597"/>
              <a:gd name="connsiteY1" fmla="*/ 0 h 1177447"/>
              <a:gd name="connsiteX2" fmla="*/ 1490597 w 1490597"/>
              <a:gd name="connsiteY2" fmla="*/ 450937 h 1177447"/>
              <a:gd name="connsiteX3" fmla="*/ 0 w 1490597"/>
              <a:gd name="connsiteY3" fmla="*/ 1177447 h 1177447"/>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75156 w 1490597"/>
              <a:gd name="connsiteY0" fmla="*/ 1064713 h 1344651"/>
              <a:gd name="connsiteX1" fmla="*/ 1164921 w 1490597"/>
              <a:gd name="connsiteY1" fmla="*/ 0 h 1344651"/>
              <a:gd name="connsiteX2" fmla="*/ 1490597 w 1490597"/>
              <a:gd name="connsiteY2" fmla="*/ 450937 h 1344651"/>
              <a:gd name="connsiteX3" fmla="*/ 1343476 w 1490597"/>
              <a:gd name="connsiteY3" fmla="*/ 1280893 h 1344651"/>
              <a:gd name="connsiteX4" fmla="*/ 0 w 1490597"/>
              <a:gd name="connsiteY4" fmla="*/ 1177447 h 1344651"/>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9723"/>
              <a:gd name="connsiteX1" fmla="*/ 1091111 w 1416787"/>
              <a:gd name="connsiteY1" fmla="*/ 0 h 1449723"/>
              <a:gd name="connsiteX2" fmla="*/ 1416787 w 1416787"/>
              <a:gd name="connsiteY2" fmla="*/ 450937 h 1449723"/>
              <a:gd name="connsiteX3" fmla="*/ 1269666 w 1416787"/>
              <a:gd name="connsiteY3" fmla="*/ 1280893 h 1449723"/>
              <a:gd name="connsiteX4" fmla="*/ 0 w 1416787"/>
              <a:gd name="connsiteY4" fmla="*/ 1443144 h 1449723"/>
              <a:gd name="connsiteX0" fmla="*/ 1346 w 1416787"/>
              <a:gd name="connsiteY0" fmla="*/ 1064713 h 1443144"/>
              <a:gd name="connsiteX1" fmla="*/ 1091111 w 1416787"/>
              <a:gd name="connsiteY1" fmla="*/ 0 h 1443144"/>
              <a:gd name="connsiteX2" fmla="*/ 1416787 w 1416787"/>
              <a:gd name="connsiteY2" fmla="*/ 450937 h 1443144"/>
              <a:gd name="connsiteX3" fmla="*/ 1269666 w 1416787"/>
              <a:gd name="connsiteY3" fmla="*/ 1280893 h 1443144"/>
              <a:gd name="connsiteX4" fmla="*/ 0 w 1416787"/>
              <a:gd name="connsiteY4" fmla="*/ 1443144 h 1443144"/>
              <a:gd name="connsiteX0" fmla="*/ 0 w 1502277"/>
              <a:gd name="connsiteY0" fmla="*/ 785397 h 1443144"/>
              <a:gd name="connsiteX1" fmla="*/ 1176601 w 1502277"/>
              <a:gd name="connsiteY1" fmla="*/ 0 h 1443144"/>
              <a:gd name="connsiteX2" fmla="*/ 1502277 w 1502277"/>
              <a:gd name="connsiteY2" fmla="*/ 450937 h 1443144"/>
              <a:gd name="connsiteX3" fmla="*/ 1355156 w 1502277"/>
              <a:gd name="connsiteY3" fmla="*/ 1280893 h 1443144"/>
              <a:gd name="connsiteX4" fmla="*/ 85490 w 1502277"/>
              <a:gd name="connsiteY4" fmla="*/ 1443144 h 1443144"/>
              <a:gd name="connsiteX0" fmla="*/ 0 w 1502277"/>
              <a:gd name="connsiteY0" fmla="*/ 799022 h 1456769"/>
              <a:gd name="connsiteX1" fmla="*/ 981222 w 1502277"/>
              <a:gd name="connsiteY1" fmla="*/ 0 h 1456769"/>
              <a:gd name="connsiteX2" fmla="*/ 1502277 w 1502277"/>
              <a:gd name="connsiteY2" fmla="*/ 464562 h 1456769"/>
              <a:gd name="connsiteX3" fmla="*/ 1355156 w 1502277"/>
              <a:gd name="connsiteY3" fmla="*/ 1294518 h 1456769"/>
              <a:gd name="connsiteX4" fmla="*/ 85490 w 1502277"/>
              <a:gd name="connsiteY4" fmla="*/ 1456769 h 1456769"/>
              <a:gd name="connsiteX0" fmla="*/ 0 w 1355156"/>
              <a:gd name="connsiteY0" fmla="*/ 799022 h 1456769"/>
              <a:gd name="connsiteX1" fmla="*/ 981222 w 1355156"/>
              <a:gd name="connsiteY1" fmla="*/ 0 h 1456769"/>
              <a:gd name="connsiteX2" fmla="*/ 1355156 w 1355156"/>
              <a:gd name="connsiteY2" fmla="*/ 1294518 h 1456769"/>
              <a:gd name="connsiteX3" fmla="*/ 85490 w 1355156"/>
              <a:gd name="connsiteY3" fmla="*/ 1456769 h 1456769"/>
              <a:gd name="connsiteX0" fmla="*/ 0 w 1517971"/>
              <a:gd name="connsiteY0" fmla="*/ 799022 h 1456769"/>
              <a:gd name="connsiteX1" fmla="*/ 981222 w 1517971"/>
              <a:gd name="connsiteY1" fmla="*/ 0 h 1456769"/>
              <a:gd name="connsiteX2" fmla="*/ 1517971 w 1517971"/>
              <a:gd name="connsiteY2" fmla="*/ 1396710 h 1456769"/>
              <a:gd name="connsiteX3" fmla="*/ 85490 w 1517971"/>
              <a:gd name="connsiteY3" fmla="*/ 1456769 h 1456769"/>
              <a:gd name="connsiteX0" fmla="*/ 0 w 1517971"/>
              <a:gd name="connsiteY0" fmla="*/ 1750322 h 2408069"/>
              <a:gd name="connsiteX1" fmla="*/ 981221 w 1517971"/>
              <a:gd name="connsiteY1" fmla="*/ 0 h 2408069"/>
              <a:gd name="connsiteX2" fmla="*/ 1517971 w 1517971"/>
              <a:gd name="connsiteY2" fmla="*/ 2348010 h 2408069"/>
              <a:gd name="connsiteX3" fmla="*/ 85490 w 1517971"/>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2061085"/>
              <a:gd name="connsiteY0" fmla="*/ 1750322 h 2408069"/>
              <a:gd name="connsiteX1" fmla="*/ 981221 w 2061085"/>
              <a:gd name="connsiteY1" fmla="*/ 0 h 2408069"/>
              <a:gd name="connsiteX2" fmla="*/ 2061085 w 2061085"/>
              <a:gd name="connsiteY2" fmla="*/ 1396714 h 2408069"/>
              <a:gd name="connsiteX3" fmla="*/ 85490 w 2061085"/>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0 w 1934779"/>
              <a:gd name="connsiteY0" fmla="*/ 1750322 h 2408069"/>
              <a:gd name="connsiteX1" fmla="*/ 981221 w 1934779"/>
              <a:gd name="connsiteY1" fmla="*/ 0 h 2408069"/>
              <a:gd name="connsiteX2" fmla="*/ 1934779 w 1934779"/>
              <a:gd name="connsiteY2" fmla="*/ 1277802 h 2408069"/>
              <a:gd name="connsiteX3" fmla="*/ 85490 w 1934779"/>
              <a:gd name="connsiteY3" fmla="*/ 2408069 h 2408069"/>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371843 w 2306622"/>
              <a:gd name="connsiteY0" fmla="*/ 1750322 h 5678346"/>
              <a:gd name="connsiteX1" fmla="*/ 1353064 w 2306622"/>
              <a:gd name="connsiteY1" fmla="*/ 0 h 5678346"/>
              <a:gd name="connsiteX2" fmla="*/ 2306622 w 2306622"/>
              <a:gd name="connsiteY2" fmla="*/ 1277802 h 5678346"/>
              <a:gd name="connsiteX3" fmla="*/ 0 w 23066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86322"/>
              <a:gd name="connsiteY0" fmla="*/ 4901676 h 5678346"/>
              <a:gd name="connsiteX1" fmla="*/ 1432764 w 2386322"/>
              <a:gd name="connsiteY1" fmla="*/ 0 h 5678346"/>
              <a:gd name="connsiteX2" fmla="*/ 2386322 w 2386322"/>
              <a:gd name="connsiteY2" fmla="*/ 1277802 h 5678346"/>
              <a:gd name="connsiteX3" fmla="*/ 79700 w 2386322"/>
              <a:gd name="connsiteY3" fmla="*/ 5678346 h 5678346"/>
              <a:gd name="connsiteX0" fmla="*/ 0 w 2316854"/>
              <a:gd name="connsiteY0" fmla="*/ 4901676 h 5678346"/>
              <a:gd name="connsiteX1" fmla="*/ 1432764 w 2316854"/>
              <a:gd name="connsiteY1" fmla="*/ 0 h 5678346"/>
              <a:gd name="connsiteX2" fmla="*/ 2316854 w 2316854"/>
              <a:gd name="connsiteY2" fmla="*/ 4191321 h 5678346"/>
              <a:gd name="connsiteX3" fmla="*/ 79700 w 2316854"/>
              <a:gd name="connsiteY3" fmla="*/ 5678346 h 5678346"/>
              <a:gd name="connsiteX0" fmla="*/ 0 w 2316854"/>
              <a:gd name="connsiteY0" fmla="*/ 2671943 h 3448613"/>
              <a:gd name="connsiteX1" fmla="*/ 1426973 w 2316854"/>
              <a:gd name="connsiteY1" fmla="*/ 0 h 3448613"/>
              <a:gd name="connsiteX2" fmla="*/ 2316854 w 2316854"/>
              <a:gd name="connsiteY2" fmla="*/ 1961588 h 3448613"/>
              <a:gd name="connsiteX3" fmla="*/ 79700 w 2316854"/>
              <a:gd name="connsiteY3" fmla="*/ 3448613 h 3448613"/>
              <a:gd name="connsiteX0" fmla="*/ 0 w 2665531"/>
              <a:gd name="connsiteY0" fmla="*/ 2671943 h 3448613"/>
              <a:gd name="connsiteX1" fmla="*/ 1426973 w 2665531"/>
              <a:gd name="connsiteY1" fmla="*/ 0 h 3448613"/>
              <a:gd name="connsiteX2" fmla="*/ 2665531 w 2665531"/>
              <a:gd name="connsiteY2" fmla="*/ 1467613 h 3448613"/>
              <a:gd name="connsiteX3" fmla="*/ 79700 w 2665531"/>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111539 w 2697370"/>
              <a:gd name="connsiteY3" fmla="*/ 3448613 h 3448613"/>
              <a:gd name="connsiteX0" fmla="*/ 0 w 2697370"/>
              <a:gd name="connsiteY0" fmla="*/ 2671943 h 3448613"/>
              <a:gd name="connsiteX1" fmla="*/ 1458812 w 2697370"/>
              <a:gd name="connsiteY1" fmla="*/ 0 h 3448613"/>
              <a:gd name="connsiteX2" fmla="*/ 2697370 w 2697370"/>
              <a:gd name="connsiteY2" fmla="*/ 1467613 h 3448613"/>
              <a:gd name="connsiteX3" fmla="*/ 91277 w 2697370"/>
              <a:gd name="connsiteY3" fmla="*/ 3448613 h 3448613"/>
              <a:gd name="connsiteX0" fmla="*/ 0 w 2697370"/>
              <a:gd name="connsiteY0" fmla="*/ 2671943 h 3381721"/>
              <a:gd name="connsiteX1" fmla="*/ 1458812 w 2697370"/>
              <a:gd name="connsiteY1" fmla="*/ 0 h 3381721"/>
              <a:gd name="connsiteX2" fmla="*/ 2697370 w 2697370"/>
              <a:gd name="connsiteY2" fmla="*/ 1467613 h 3381721"/>
              <a:gd name="connsiteX3" fmla="*/ 80423 w 2697370"/>
              <a:gd name="connsiteY3" fmla="*/ 3381721 h 3381721"/>
              <a:gd name="connsiteX0" fmla="*/ 12926 w 2616947"/>
              <a:gd name="connsiteY0" fmla="*/ 1456735 h 3381721"/>
              <a:gd name="connsiteX1" fmla="*/ 1378389 w 2616947"/>
              <a:gd name="connsiteY1" fmla="*/ 0 h 3381721"/>
              <a:gd name="connsiteX2" fmla="*/ 2616947 w 2616947"/>
              <a:gd name="connsiteY2" fmla="*/ 1467613 h 3381721"/>
              <a:gd name="connsiteX3" fmla="*/ 0 w 2616947"/>
              <a:gd name="connsiteY3" fmla="*/ 3381721 h 3381721"/>
              <a:gd name="connsiteX0" fmla="*/ 0 w 2677831"/>
              <a:gd name="connsiteY0" fmla="*/ 2716537 h 3381721"/>
              <a:gd name="connsiteX1" fmla="*/ 1439273 w 2677831"/>
              <a:gd name="connsiteY1" fmla="*/ 0 h 3381721"/>
              <a:gd name="connsiteX2" fmla="*/ 2677831 w 2677831"/>
              <a:gd name="connsiteY2" fmla="*/ 1467613 h 3381721"/>
              <a:gd name="connsiteX3" fmla="*/ 60884 w 2677831"/>
              <a:gd name="connsiteY3" fmla="*/ 3381721 h 3381721"/>
              <a:gd name="connsiteX0" fmla="*/ 0 w 2075774"/>
              <a:gd name="connsiteY0" fmla="*/ 2716537 h 3381721"/>
              <a:gd name="connsiteX1" fmla="*/ 1439273 w 2075774"/>
              <a:gd name="connsiteY1" fmla="*/ 0 h 3381721"/>
              <a:gd name="connsiteX2" fmla="*/ 2075774 w 2075774"/>
              <a:gd name="connsiteY2" fmla="*/ 1883832 h 3381721"/>
              <a:gd name="connsiteX3" fmla="*/ 60884 w 2075774"/>
              <a:gd name="connsiteY3" fmla="*/ 3381721 h 3381721"/>
              <a:gd name="connsiteX0" fmla="*/ 0 w 2075774"/>
              <a:gd name="connsiteY0" fmla="*/ 3608430 h 4273614"/>
              <a:gd name="connsiteX1" fmla="*/ 1439273 w 2075774"/>
              <a:gd name="connsiteY1" fmla="*/ 0 h 4273614"/>
              <a:gd name="connsiteX2" fmla="*/ 2075774 w 2075774"/>
              <a:gd name="connsiteY2" fmla="*/ 2775725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60884 w 2075774"/>
              <a:gd name="connsiteY3" fmla="*/ 4273614 h 4273614"/>
              <a:gd name="connsiteX0" fmla="*/ 0 w 2075774"/>
              <a:gd name="connsiteY0" fmla="*/ 3608430 h 4273614"/>
              <a:gd name="connsiteX1" fmla="*/ 1439273 w 2075774"/>
              <a:gd name="connsiteY1" fmla="*/ 0 h 4273614"/>
              <a:gd name="connsiteX2" fmla="*/ 2075774 w 2075774"/>
              <a:gd name="connsiteY2" fmla="*/ 1348697 h 4273614"/>
              <a:gd name="connsiteX3" fmla="*/ 121669 w 2075774"/>
              <a:gd name="connsiteY3" fmla="*/ 4273614 h 4273614"/>
              <a:gd name="connsiteX0" fmla="*/ 0 w 2049723"/>
              <a:gd name="connsiteY0" fmla="*/ 3920593 h 4273614"/>
              <a:gd name="connsiteX1" fmla="*/ 1413222 w 2049723"/>
              <a:gd name="connsiteY1" fmla="*/ 0 h 4273614"/>
              <a:gd name="connsiteX2" fmla="*/ 2049723 w 2049723"/>
              <a:gd name="connsiteY2" fmla="*/ 1348697 h 4273614"/>
              <a:gd name="connsiteX3" fmla="*/ 95618 w 2049723"/>
              <a:gd name="connsiteY3" fmla="*/ 4273614 h 4273614"/>
            </a:gdLst>
            <a:ahLst/>
            <a:cxnLst>
              <a:cxn ang="0">
                <a:pos x="connsiteX0" y="connsiteY0"/>
              </a:cxn>
              <a:cxn ang="0">
                <a:pos x="connsiteX1" y="connsiteY1"/>
              </a:cxn>
              <a:cxn ang="0">
                <a:pos x="connsiteX2" y="connsiteY2"/>
              </a:cxn>
              <a:cxn ang="0">
                <a:pos x="connsiteX3" y="connsiteY3"/>
              </a:cxn>
            </a:cxnLst>
            <a:rect l="l" t="t" r="r" b="b"/>
            <a:pathLst>
              <a:path w="2049723" h="4273614">
                <a:moveTo>
                  <a:pt x="0" y="3920593"/>
                </a:moveTo>
                <a:lnTo>
                  <a:pt x="1413222" y="0"/>
                </a:lnTo>
                <a:lnTo>
                  <a:pt x="2049723" y="1348697"/>
                </a:lnTo>
                <a:lnTo>
                  <a:pt x="95618" y="4273614"/>
                </a:lnTo>
              </a:path>
            </a:pathLst>
          </a:custGeom>
          <a:gradFill flip="none" rotWithShape="0">
            <a:gsLst>
              <a:gs pos="0">
                <a:schemeClr val="bg1">
                  <a:alpha val="0"/>
                </a:schemeClr>
              </a:gs>
              <a:gs pos="100000">
                <a:srgbClr val="FFCC66"/>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TextBox 25"/>
          <p:cNvSpPr txBox="1"/>
          <p:nvPr/>
        </p:nvSpPr>
        <p:spPr bwMode="gray">
          <a:xfrm>
            <a:off x="2514391" y="2243460"/>
            <a:ext cx="1261884" cy="276999"/>
          </a:xfrm>
          <a:prstGeom prst="rect">
            <a:avLst/>
          </a:prstGeom>
          <a:noFill/>
        </p:spPr>
        <p:txBody>
          <a:bodyPr wrap="none" rtlCol="0">
            <a:spAutoFit/>
          </a:bodyPr>
          <a:lstStyle/>
          <a:p>
            <a:pPr algn="ctr"/>
            <a:r>
              <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VRRP </a:t>
            </a:r>
            <a:r>
              <a:rPr lang="en-US" altLang="zh-CN" sz="12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VRID100</a:t>
            </a:r>
            <a:endPar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57"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4174734" y="2889532"/>
            <a:ext cx="490909" cy="401653"/>
          </a:xfrm>
          <a:prstGeom prst="rect">
            <a:avLst/>
          </a:prstGeom>
        </p:spPr>
      </p:pic>
      <p:sp>
        <p:nvSpPr>
          <p:cNvPr id="58" name="Oval 15"/>
          <p:cNvSpPr>
            <a:spLocks noChangeAspect="1"/>
          </p:cNvSpPr>
          <p:nvPr/>
        </p:nvSpPr>
        <p:spPr bwMode="gray">
          <a:xfrm>
            <a:off x="4354311" y="3214096"/>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26"/>
          <p:cNvSpPr>
            <a:spLocks noChangeAspect="1"/>
          </p:cNvSpPr>
          <p:nvPr/>
        </p:nvSpPr>
        <p:spPr bwMode="gray">
          <a:xfrm>
            <a:off x="4354311" y="2818442"/>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Oval 22"/>
          <p:cNvSpPr>
            <a:spLocks noChangeAspect="1"/>
          </p:cNvSpPr>
          <p:nvPr/>
        </p:nvSpPr>
        <p:spPr bwMode="gray">
          <a:xfrm>
            <a:off x="1815789" y="3214096"/>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Oval 27"/>
          <p:cNvSpPr>
            <a:spLocks noChangeAspect="1"/>
          </p:cNvSpPr>
          <p:nvPr/>
        </p:nvSpPr>
        <p:spPr bwMode="gray">
          <a:xfrm>
            <a:off x="1815789" y="2818442"/>
            <a:ext cx="131755" cy="131755"/>
          </a:xfrm>
          <a:prstGeom prst="ellipse">
            <a:avLst/>
          </a:prstGeom>
          <a:solidFill>
            <a:srgbClr val="FFCC66"/>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68" name="图片 79" descr="PC.png">
            <a:extLst>
              <a:ext uri="{FF2B5EF4-FFF2-40B4-BE49-F238E27FC236}">
                <a16:creationId xmlns:a16="http://schemas.microsoft.com/office/drawing/2014/main" xmlns="" id="{4666702E-823D-4236-BF2F-880359158C83}"/>
              </a:ext>
            </a:extLst>
          </p:cNvPr>
          <p:cNvPicPr>
            <a:picLocks noChangeAspect="1"/>
          </p:cNvPicPr>
          <p:nvPr/>
        </p:nvPicPr>
        <p:blipFill>
          <a:blip r:embed="rId5" cstate="print"/>
          <a:stretch>
            <a:fillRect/>
          </a:stretch>
        </p:blipFill>
        <p:spPr bwMode="gray">
          <a:xfrm>
            <a:off x="2911706" y="4458171"/>
            <a:ext cx="445506" cy="342149"/>
          </a:xfrm>
          <a:prstGeom prst="rect">
            <a:avLst/>
          </a:prstGeom>
        </p:spPr>
      </p:pic>
      <p:sp>
        <p:nvSpPr>
          <p:cNvPr id="69" name="Rectangle 68"/>
          <p:cNvSpPr/>
          <p:nvPr/>
        </p:nvSpPr>
        <p:spPr bwMode="gray">
          <a:xfrm>
            <a:off x="516732" y="4949836"/>
            <a:ext cx="5315107" cy="1195199"/>
          </a:xfrm>
          <a:prstGeom prst="rect">
            <a:avLst/>
          </a:prstGeom>
        </p:spPr>
        <p:txBody>
          <a:bodyPr wrap="square">
            <a:spAutoFit/>
          </a:bodyPr>
          <a:lstStyle/>
          <a:p>
            <a:pPr marL="176213" indent="-176213" algn="just">
              <a:lnSpc>
                <a:spcPts val="2000"/>
              </a:lnSpc>
              <a:spcAft>
                <a:spcPts val="600"/>
              </a:spcAft>
              <a:buFont typeface="Arial" panose="020B0604020202020204" pitchFamily="34" charset="0"/>
              <a:buChar char="•"/>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防火墙的</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业务接口工作在三层，上下行连接</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交换机。</a:t>
            </a:r>
            <a:endPar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gn="just">
              <a:lnSpc>
                <a:spcPts val="2000"/>
              </a:lnSpc>
              <a:spcAft>
                <a:spcPts val="600"/>
              </a:spcAft>
              <a:buFont typeface="Arial" panose="020B0604020202020204" pitchFamily="34" charset="0"/>
              <a:buChar char="•"/>
            </a:pP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终端可将默认网关设置为</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VRRP VRID1</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的虚拟</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SW3/SW4</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配置回程路由时，可将下一跳设置为</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VRRP </a:t>
            </a:r>
            <a:r>
              <a:rPr lang="en-US" altLang="zh-CN" sz="1400" dirty="0" smtClean="0">
                <a:latin typeface="Huawei Sans" panose="020C0503030203020204" pitchFamily="34" charset="0"/>
                <a:ea typeface="方正兰亭黑简体" panose="02000000000000000000" pitchFamily="2" charset="-122"/>
                <a:sym typeface="Huawei Sans" panose="020C0503030203020204" pitchFamily="34" charset="0"/>
              </a:rPr>
              <a:t>VRID100</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虚拟</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地址。</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TextBox 13"/>
          <p:cNvSpPr txBox="1"/>
          <p:nvPr/>
        </p:nvSpPr>
        <p:spPr bwMode="gray">
          <a:xfrm>
            <a:off x="1161468" y="2958957"/>
            <a:ext cx="516488" cy="276999"/>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FW1</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2" name="TextBox 13"/>
          <p:cNvSpPr txBox="1"/>
          <p:nvPr/>
        </p:nvSpPr>
        <p:spPr bwMode="gray">
          <a:xfrm>
            <a:off x="1159864" y="1880019"/>
            <a:ext cx="518092" cy="276999"/>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SW3</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5" name="TextBox 13"/>
          <p:cNvSpPr txBox="1"/>
          <p:nvPr/>
        </p:nvSpPr>
        <p:spPr bwMode="gray">
          <a:xfrm>
            <a:off x="1159864" y="4037895"/>
            <a:ext cx="518092" cy="276999"/>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SW1</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6" name="TextBox 13"/>
          <p:cNvSpPr txBox="1"/>
          <p:nvPr/>
        </p:nvSpPr>
        <p:spPr bwMode="gray">
          <a:xfrm>
            <a:off x="4637673" y="2958957"/>
            <a:ext cx="516488"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FW2</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7" name="TextBox 13"/>
          <p:cNvSpPr txBox="1"/>
          <p:nvPr/>
        </p:nvSpPr>
        <p:spPr bwMode="gray">
          <a:xfrm>
            <a:off x="4637673" y="1880019"/>
            <a:ext cx="518091"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SW4</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78" name="TextBox 13"/>
          <p:cNvSpPr txBox="1"/>
          <p:nvPr/>
        </p:nvSpPr>
        <p:spPr bwMode="gray">
          <a:xfrm>
            <a:off x="4637673" y="4037895"/>
            <a:ext cx="518091"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SW2</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79" name="Straight Connector 18"/>
          <p:cNvCxnSpPr/>
          <p:nvPr/>
        </p:nvCxnSpPr>
        <p:spPr bwMode="gray">
          <a:xfrm>
            <a:off x="7796221" y="3092960"/>
            <a:ext cx="2572169" cy="0"/>
          </a:xfrm>
          <a:prstGeom prst="line">
            <a:avLst/>
          </a:prstGeom>
          <a:solidFill>
            <a:schemeClr val="accent1"/>
          </a:solidFill>
          <a:ln w="19050" cap="flat" cmpd="sng" algn="ctr">
            <a:solidFill>
              <a:srgbClr val="56C4D2"/>
            </a:solidFill>
            <a:prstDash val="solid"/>
            <a:round/>
            <a:headEnd type="none" w="med" len="med"/>
            <a:tailEnd type="none" w="med" len="med"/>
          </a:ln>
          <a:effectLst/>
        </p:spPr>
      </p:cxnSp>
      <p:cxnSp>
        <p:nvCxnSpPr>
          <p:cNvPr id="80" name="直接连接符 3"/>
          <p:cNvCxnSpPr/>
          <p:nvPr/>
        </p:nvCxnSpPr>
        <p:spPr bwMode="gray">
          <a:xfrm flipV="1">
            <a:off x="10215989" y="1794729"/>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81" name="直接连接符 3"/>
          <p:cNvCxnSpPr/>
          <p:nvPr/>
        </p:nvCxnSpPr>
        <p:spPr bwMode="gray">
          <a:xfrm flipV="1">
            <a:off x="7665317" y="1794729"/>
            <a:ext cx="0" cy="2544914"/>
          </a:xfrm>
          <a:prstGeom prst="line">
            <a:avLst/>
          </a:prstGeom>
          <a:ln w="19050" cap="flat" cmpd="sng" algn="ctr">
            <a:solidFill>
              <a:schemeClr val="tx1"/>
            </a:solidFill>
            <a:prstDash val="solid"/>
            <a:round/>
            <a:headEnd type="none" w="med" len="med"/>
            <a:tailEnd type="none" w="med" len="med"/>
          </a:ln>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82" name="Straight Connector 6"/>
          <p:cNvCxnSpPr/>
          <p:nvPr/>
        </p:nvCxnSpPr>
        <p:spPr bwMode="gray">
          <a:xfrm>
            <a:off x="7643821" y="4258363"/>
            <a:ext cx="257216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cxnSp>
        <p:nvCxnSpPr>
          <p:cNvPr id="83" name="Straight Connector 18"/>
          <p:cNvCxnSpPr/>
          <p:nvPr/>
        </p:nvCxnSpPr>
        <p:spPr bwMode="gray">
          <a:xfrm>
            <a:off x="7643821" y="1946139"/>
            <a:ext cx="2572169" cy="0"/>
          </a:xfrm>
          <a:prstGeom prst="line">
            <a:avLst/>
          </a:prstGeom>
          <a:solidFill>
            <a:schemeClr val="accent1"/>
          </a:solidFill>
          <a:ln w="19050" cap="flat" cmpd="sng" algn="ctr">
            <a:solidFill>
              <a:schemeClr val="tx1"/>
            </a:solidFill>
            <a:prstDash val="solid"/>
            <a:round/>
            <a:headEnd type="none" w="med" len="med"/>
            <a:tailEnd type="none" w="med" len="med"/>
          </a:ln>
          <a:effectLst/>
        </p:spPr>
      </p:cxnSp>
      <p:pic>
        <p:nvPicPr>
          <p:cNvPr id="88"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969173" y="2889532"/>
            <a:ext cx="490909" cy="401653"/>
          </a:xfrm>
          <a:prstGeom prst="rect">
            <a:avLst/>
          </a:prstGeom>
        </p:spPr>
      </p:pic>
      <p:pic>
        <p:nvPicPr>
          <p:cNvPr id="89"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7430651" y="2889532"/>
            <a:ext cx="490909" cy="401653"/>
          </a:xfrm>
          <a:prstGeom prst="rect">
            <a:avLst/>
          </a:prstGeom>
        </p:spPr>
      </p:pic>
      <p:pic>
        <p:nvPicPr>
          <p:cNvPr id="96"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gray">
          <a:xfrm>
            <a:off x="9966879" y="2889532"/>
            <a:ext cx="490909" cy="401653"/>
          </a:xfrm>
          <a:prstGeom prst="rect">
            <a:avLst/>
          </a:prstGeom>
        </p:spPr>
      </p:pic>
      <p:sp>
        <p:nvSpPr>
          <p:cNvPr id="102" name="Rectangle 68"/>
          <p:cNvSpPr/>
          <p:nvPr/>
        </p:nvSpPr>
        <p:spPr bwMode="gray">
          <a:xfrm>
            <a:off x="6308877" y="4949836"/>
            <a:ext cx="5315107" cy="1195199"/>
          </a:xfrm>
          <a:prstGeom prst="rect">
            <a:avLst/>
          </a:prstGeom>
        </p:spPr>
        <p:txBody>
          <a:bodyPr wrap="square">
            <a:spAutoFit/>
          </a:bodyPr>
          <a:lstStyle/>
          <a:p>
            <a:pPr marL="176213" indent="-176213" algn="just">
              <a:lnSpc>
                <a:spcPts val="2000"/>
              </a:lnSpc>
              <a:spcAft>
                <a:spcPts val="600"/>
              </a:spcAft>
              <a:buFont typeface="Arial" panose="020B0604020202020204" pitchFamily="34" charset="0"/>
              <a:buChar char="•"/>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防火墙的</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业务接口工作在三层</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，上</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下行连接路由器</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endParaRPr>
          </a:p>
          <a:p>
            <a:pPr marL="176213" indent="-176213" algn="just">
              <a:lnSpc>
                <a:spcPts val="2000"/>
              </a:lnSpc>
              <a:spcAft>
                <a:spcPts val="6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防火墙与</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路由器之间运行</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OSPF</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当</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FW1</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业务接口故障时</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，其切换</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成备用设备，</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FW2</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成</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为主用设备</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FW</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发布</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的路由</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Cost</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值自动修改</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为</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65500</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。路由</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重新收敛后，流量通过</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FW2</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转发。</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3" name="TextBox 13"/>
          <p:cNvSpPr txBox="1"/>
          <p:nvPr/>
        </p:nvSpPr>
        <p:spPr bwMode="gray">
          <a:xfrm>
            <a:off x="6953613" y="2958957"/>
            <a:ext cx="516488" cy="276999"/>
          </a:xfrm>
          <a:prstGeom prst="rect">
            <a:avLst/>
          </a:prstGeom>
          <a:noFill/>
        </p:spPr>
        <p:txBody>
          <a:bodyPr wrap="none" rtlCol="0">
            <a:spAutoFit/>
          </a:bodyPr>
          <a:lstStyle/>
          <a:p>
            <a:pPr algn="r"/>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FW1</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4" name="TextBox 13"/>
          <p:cNvSpPr txBox="1"/>
          <p:nvPr/>
        </p:nvSpPr>
        <p:spPr bwMode="gray">
          <a:xfrm>
            <a:off x="7097883" y="1880019"/>
            <a:ext cx="372218"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R3</a:t>
            </a:r>
            <a:endPar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5" name="TextBox 13"/>
          <p:cNvSpPr txBox="1"/>
          <p:nvPr/>
        </p:nvSpPr>
        <p:spPr bwMode="gray">
          <a:xfrm>
            <a:off x="7097883" y="4037895"/>
            <a:ext cx="372218" cy="276999"/>
          </a:xfrm>
          <a:prstGeom prst="rect">
            <a:avLst/>
          </a:prstGeom>
          <a:noFill/>
        </p:spPr>
        <p:txBody>
          <a:bodyPr wrap="none" rtlCol="0">
            <a:spAutoFit/>
          </a:bodyPr>
          <a:lstStyle/>
          <a:p>
            <a:pPr algn="r"/>
            <a:r>
              <a:rPr lang="en-US" altLang="zh-CN" sz="12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R1</a:t>
            </a:r>
            <a:endPar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6" name="TextBox 13"/>
          <p:cNvSpPr txBox="1"/>
          <p:nvPr/>
        </p:nvSpPr>
        <p:spPr bwMode="gray">
          <a:xfrm>
            <a:off x="10429818" y="2958957"/>
            <a:ext cx="516488" cy="276999"/>
          </a:xfrm>
          <a:prstGeom prst="rect">
            <a:avLst/>
          </a:prstGeom>
          <a:noFill/>
        </p:spPr>
        <p:txBody>
          <a:bodyPr wrap="none" rtlCol="0">
            <a:spAutoFit/>
          </a:bodyPr>
          <a:lstStyle/>
          <a:p>
            <a:r>
              <a:rPr lang="en-US" altLang="zh-CN" sz="12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FW2</a:t>
            </a:r>
            <a:endParaRPr lang="en-US" altLang="zh-CN" sz="12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7" name="TextBox 13"/>
          <p:cNvSpPr txBox="1"/>
          <p:nvPr/>
        </p:nvSpPr>
        <p:spPr bwMode="gray">
          <a:xfrm>
            <a:off x="10429818" y="1880019"/>
            <a:ext cx="372218"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R4</a:t>
            </a:r>
            <a:endPar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08" name="TextBox 13"/>
          <p:cNvSpPr txBox="1"/>
          <p:nvPr/>
        </p:nvSpPr>
        <p:spPr bwMode="gray">
          <a:xfrm>
            <a:off x="10429818" y="4037895"/>
            <a:ext cx="372218" cy="276999"/>
          </a:xfrm>
          <a:prstGeom prst="rect">
            <a:avLst/>
          </a:prstGeom>
          <a:noFill/>
        </p:spPr>
        <p:txBody>
          <a:bodyPr wrap="none" rtlCol="0">
            <a:spAutoFit/>
          </a:bodyPr>
          <a:lstStyle/>
          <a:p>
            <a:r>
              <a:rPr lang="en-US" altLang="zh-CN" sz="1200" b="1" dirty="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R2</a:t>
            </a:r>
            <a:endParaRPr lang="en-US" altLang="zh-CN" sz="1200" b="1"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pic>
        <p:nvPicPr>
          <p:cNvPr id="110" name="Picture 2" descr="G:\做的项目\公共\扁平图标切换\更新2015_01_21\oss扁平图标库2015_01_21更新-04.png"/>
          <p:cNvPicPr>
            <a:picLocks noChangeAspect="1" noChangeArrowheads="1"/>
          </p:cNvPicPr>
          <p:nvPr/>
        </p:nvPicPr>
        <p:blipFill>
          <a:blip r:embed="rId6" cstate="print"/>
          <a:stretch>
            <a:fillRect/>
          </a:stretch>
        </p:blipFill>
        <p:spPr bwMode="gray">
          <a:xfrm>
            <a:off x="7419862" y="1788996"/>
            <a:ext cx="490909" cy="401652"/>
          </a:xfrm>
          <a:prstGeom prst="rect">
            <a:avLst/>
          </a:prstGeom>
          <a:noFill/>
        </p:spPr>
      </p:pic>
      <p:pic>
        <p:nvPicPr>
          <p:cNvPr id="111" name="Picture 2" descr="G:\做的项目\公共\扁平图标切换\更新2015_01_21\oss扁平图标库2015_01_21更新-04.png"/>
          <p:cNvPicPr>
            <a:picLocks noChangeAspect="1" noChangeArrowheads="1"/>
          </p:cNvPicPr>
          <p:nvPr/>
        </p:nvPicPr>
        <p:blipFill>
          <a:blip r:embed="rId6" cstate="print"/>
          <a:stretch>
            <a:fillRect/>
          </a:stretch>
        </p:blipFill>
        <p:spPr bwMode="gray">
          <a:xfrm>
            <a:off x="7419862" y="4042680"/>
            <a:ext cx="490909" cy="401652"/>
          </a:xfrm>
          <a:prstGeom prst="rect">
            <a:avLst/>
          </a:prstGeom>
          <a:noFill/>
        </p:spPr>
      </p:pic>
      <p:pic>
        <p:nvPicPr>
          <p:cNvPr id="112" name="Picture 2" descr="G:\做的项目\公共\扁平图标切换\更新2015_01_21\oss扁平图标库2015_01_21更新-04.png"/>
          <p:cNvPicPr>
            <a:picLocks noChangeAspect="1" noChangeArrowheads="1"/>
          </p:cNvPicPr>
          <p:nvPr/>
        </p:nvPicPr>
        <p:blipFill>
          <a:blip r:embed="rId6" cstate="print"/>
          <a:stretch>
            <a:fillRect/>
          </a:stretch>
        </p:blipFill>
        <p:spPr bwMode="gray">
          <a:xfrm>
            <a:off x="9971047" y="1788996"/>
            <a:ext cx="490909" cy="401652"/>
          </a:xfrm>
          <a:prstGeom prst="rect">
            <a:avLst/>
          </a:prstGeom>
          <a:noFill/>
        </p:spPr>
      </p:pic>
      <p:pic>
        <p:nvPicPr>
          <p:cNvPr id="113" name="Picture 2" descr="G:\做的项目\公共\扁平图标切换\更新2015_01_21\oss扁平图标库2015_01_21更新-04.png"/>
          <p:cNvPicPr>
            <a:picLocks noChangeAspect="1" noChangeArrowheads="1"/>
          </p:cNvPicPr>
          <p:nvPr/>
        </p:nvPicPr>
        <p:blipFill>
          <a:blip r:embed="rId6" cstate="print"/>
          <a:stretch>
            <a:fillRect/>
          </a:stretch>
        </p:blipFill>
        <p:spPr bwMode="gray">
          <a:xfrm>
            <a:off x="9971047" y="4042680"/>
            <a:ext cx="490909" cy="401652"/>
          </a:xfrm>
          <a:prstGeom prst="rect">
            <a:avLst/>
          </a:prstGeom>
          <a:noFill/>
        </p:spPr>
      </p:pic>
      <p:sp>
        <p:nvSpPr>
          <p:cNvPr id="116" name="TextBox 13"/>
          <p:cNvSpPr txBox="1"/>
          <p:nvPr/>
        </p:nvSpPr>
        <p:spPr bwMode="gray">
          <a:xfrm>
            <a:off x="8623900" y="2332372"/>
            <a:ext cx="633507" cy="307777"/>
          </a:xfrm>
          <a:prstGeom prst="rect">
            <a:avLst/>
          </a:prstGeom>
          <a:noFill/>
        </p:spPr>
        <p:txBody>
          <a:bodyPr wrap="none" rtlCol="0">
            <a:spAutoFit/>
          </a:bodyPr>
          <a:lstStyle/>
          <a:p>
            <a:pPr algn="ctr"/>
            <a:r>
              <a:rPr lang="en-US" altLang="zh-CN" sz="14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OSPF</a:t>
            </a:r>
            <a:endParaRPr lang="en-US" altLang="zh-CN" sz="14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7" name="TextBox 13"/>
          <p:cNvSpPr txBox="1"/>
          <p:nvPr/>
        </p:nvSpPr>
        <p:spPr bwMode="gray">
          <a:xfrm>
            <a:off x="8623900" y="3592150"/>
            <a:ext cx="633507" cy="307777"/>
          </a:xfrm>
          <a:prstGeom prst="rect">
            <a:avLst/>
          </a:prstGeom>
          <a:noFill/>
        </p:spPr>
        <p:txBody>
          <a:bodyPr wrap="none" rtlCol="0">
            <a:spAutoFit/>
          </a:bodyPr>
          <a:lstStyle/>
          <a:p>
            <a:pPr algn="ctr"/>
            <a:r>
              <a:rPr lang="en-US" altLang="zh-CN" sz="1400" b="1"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OSPF</a:t>
            </a:r>
            <a:endParaRPr lang="en-US" altLang="zh-CN" sz="1400" b="1">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53979812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0"/>
          </p:nvPr>
        </p:nvSpPr>
        <p:spPr bwMode="gray"/>
        <p:txBody>
          <a:bodyPr/>
          <a:lstStyle/>
          <a:p>
            <a:r>
              <a:rPr lang="zh-CN" altLang="en-US" smtClean="0">
                <a:solidFill>
                  <a:schemeClr val="bg1">
                    <a:lumMod val="50000"/>
                  </a:schemeClr>
                </a:solidFill>
                <a:sym typeface="Huawei Sans" panose="020C0503030203020204" pitchFamily="34" charset="0"/>
              </a:rPr>
              <a:t>以太网交换安全</a:t>
            </a:r>
            <a:endParaRPr lang="en-US" altLang="zh-CN" smtClean="0">
              <a:solidFill>
                <a:schemeClr val="bg1">
                  <a:lumMod val="50000"/>
                </a:schemeClr>
              </a:solidFill>
              <a:sym typeface="Huawei Sans" panose="020C0503030203020204" pitchFamily="34" charset="0"/>
            </a:endParaRPr>
          </a:p>
          <a:p>
            <a:r>
              <a:rPr lang="zh-CN" altLang="en-US" b="1" smtClean="0">
                <a:sym typeface="Huawei Sans" panose="020C0503030203020204" pitchFamily="34" charset="0"/>
              </a:rPr>
              <a:t>防火墙高级特性</a:t>
            </a:r>
            <a:endParaRPr lang="en-US" altLang="zh-CN" b="1" smtClean="0">
              <a:sym typeface="Huawei Sans" panose="020C0503030203020204" pitchFamily="34" charset="0"/>
            </a:endParaRPr>
          </a:p>
          <a:p>
            <a:pPr lvl="1"/>
            <a:r>
              <a:rPr lang="zh-CN" altLang="en-US" smtClean="0">
                <a:solidFill>
                  <a:schemeClr val="bg1">
                    <a:lumMod val="50000"/>
                  </a:schemeClr>
                </a:solidFill>
                <a:sym typeface="Huawei Sans" panose="020C0503030203020204" pitchFamily="34" charset="0"/>
              </a:rPr>
              <a:t>双机热备</a:t>
            </a:r>
            <a:endParaRPr lang="en-US" altLang="zh-CN" smtClean="0">
              <a:solidFill>
                <a:schemeClr val="bg1">
                  <a:lumMod val="50000"/>
                </a:schemeClr>
              </a:solidFill>
              <a:sym typeface="Huawei Sans" panose="020C0503030203020204" pitchFamily="34" charset="0"/>
            </a:endParaRPr>
          </a:p>
          <a:p>
            <a:pPr lvl="1">
              <a:buSzPct val="60000"/>
              <a:buFont typeface="Wingdings" panose="05000000000000000000" pitchFamily="2" charset="2"/>
              <a:buChar char="n"/>
            </a:pPr>
            <a:r>
              <a:rPr lang="zh-CN" altLang="en-US" smtClean="0">
                <a:sym typeface="Huawei Sans" panose="020C0503030203020204" pitchFamily="34" charset="0"/>
              </a:rPr>
              <a:t>虚拟系统</a:t>
            </a:r>
            <a:endParaRPr lang="zh-CN" altLang="en-US" dirty="0">
              <a:sym typeface="Huawei Sans" panose="020C0503030203020204" pitchFamily="34" charset="0"/>
            </a:endParaRPr>
          </a:p>
        </p:txBody>
      </p:sp>
    </p:spTree>
    <p:extLst>
      <p:ext uri="{BB962C8B-B14F-4D97-AF65-F5344CB8AC3E}">
        <p14:creationId xmlns:p14="http://schemas.microsoft.com/office/powerpoint/2010/main" val="2753587513"/>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bwMode="gray"/>
        <p:txBody>
          <a:bodyPr/>
          <a:lstStyle/>
          <a:p>
            <a:r>
              <a:rPr lang="zh-CN" altLang="en-US" smtClean="0">
                <a:sym typeface="Huawei Sans" panose="020C0503030203020204" pitchFamily="34" charset="0"/>
              </a:rPr>
              <a:t>防火墙虚拟系统的应用场景</a:t>
            </a:r>
            <a:endParaRPr lang="zh-CN" altLang="en-US">
              <a:sym typeface="Huawei Sans" panose="020C0503030203020204" pitchFamily="34" charset="0"/>
            </a:endParaRPr>
          </a:p>
        </p:txBody>
      </p:sp>
      <p:sp>
        <p:nvSpPr>
          <p:cNvPr id="6" name="圆角矩形 75"/>
          <p:cNvSpPr/>
          <p:nvPr/>
        </p:nvSpPr>
        <p:spPr bwMode="gray">
          <a:xfrm>
            <a:off x="442913" y="1458134"/>
            <a:ext cx="5527243" cy="4742641"/>
          </a:xfrm>
          <a:prstGeom prst="roundRect">
            <a:avLst>
              <a:gd name="adj" fmla="val 0"/>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7" name="圆角矩形 75"/>
          <p:cNvSpPr/>
          <p:nvPr/>
        </p:nvSpPr>
        <p:spPr bwMode="gray">
          <a:xfrm>
            <a:off x="6211764" y="1458134"/>
            <a:ext cx="5537324" cy="4742641"/>
          </a:xfrm>
          <a:prstGeom prst="roundRect">
            <a:avLst>
              <a:gd name="adj" fmla="val 0"/>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8" name="圆角矩形 75"/>
          <p:cNvSpPr/>
          <p:nvPr/>
        </p:nvSpPr>
        <p:spPr bwMode="gray">
          <a:xfrm>
            <a:off x="442913" y="1051258"/>
            <a:ext cx="5527243" cy="373033"/>
          </a:xfrm>
          <a:prstGeom prst="roundRect">
            <a:avLst>
              <a:gd name="adj" fmla="val 0"/>
            </a:avLst>
          </a:prstGeom>
          <a:solidFill>
            <a:srgbClr val="30B5C5"/>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大中型企业的网络隔离</a:t>
            </a:r>
          </a:p>
        </p:txBody>
      </p:sp>
      <p:sp>
        <p:nvSpPr>
          <p:cNvPr id="9" name="圆角矩形 75"/>
          <p:cNvSpPr/>
          <p:nvPr/>
        </p:nvSpPr>
        <p:spPr bwMode="gray">
          <a:xfrm>
            <a:off x="6211764" y="1051258"/>
            <a:ext cx="5537324" cy="373033"/>
          </a:xfrm>
          <a:prstGeom prst="roundRect">
            <a:avLst>
              <a:gd name="adj" fmla="val 0"/>
            </a:avLst>
          </a:prstGeom>
          <a:solidFill>
            <a:srgbClr val="30B5C5"/>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云计算中心的安全网关</a:t>
            </a:r>
          </a:p>
        </p:txBody>
      </p:sp>
      <p:sp>
        <p:nvSpPr>
          <p:cNvPr id="11" name="圆角矩形 75"/>
          <p:cNvSpPr/>
          <p:nvPr/>
        </p:nvSpPr>
        <p:spPr bwMode="gray">
          <a:xfrm>
            <a:off x="662509" y="4964456"/>
            <a:ext cx="5138067" cy="971987"/>
          </a:xfrm>
          <a:prstGeom prst="roundRect">
            <a:avLst>
              <a:gd name="adj" fmla="val 3088"/>
            </a:avLst>
          </a:prstGeom>
          <a:solidFill>
            <a:schemeClr val="bg1">
              <a:lumMod val="85000"/>
              <a:alpha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75"/>
          <p:cNvSpPr/>
          <p:nvPr/>
        </p:nvSpPr>
        <p:spPr bwMode="gray">
          <a:xfrm>
            <a:off x="662509" y="3435063"/>
            <a:ext cx="5138067" cy="1287292"/>
          </a:xfrm>
          <a:prstGeom prst="roundRect">
            <a:avLst>
              <a:gd name="adj" fmla="val 3088"/>
            </a:avLst>
          </a:prstGeom>
          <a:solidFill>
            <a:srgbClr val="FEEEC1">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TextBox 13"/>
          <p:cNvSpPr txBox="1"/>
          <p:nvPr/>
        </p:nvSpPr>
        <p:spPr bwMode="gray">
          <a:xfrm>
            <a:off x="662509" y="3570878"/>
            <a:ext cx="475411" cy="1015663"/>
          </a:xfrm>
          <a:prstGeom prst="rect">
            <a:avLst/>
          </a:prstGeom>
          <a:noFill/>
        </p:spPr>
        <p:txBody>
          <a:bodyPr wrap="square" rtlCol="0">
            <a:spAutoFit/>
          </a:bodyPr>
          <a:lstStyle/>
          <a:p>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物理防火墙</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4" name="TextBox 13"/>
          <p:cNvSpPr txBox="1"/>
          <p:nvPr/>
        </p:nvSpPr>
        <p:spPr bwMode="gray">
          <a:xfrm>
            <a:off x="662509" y="5027927"/>
            <a:ext cx="396551" cy="830997"/>
          </a:xfrm>
          <a:prstGeom prst="rect">
            <a:avLst/>
          </a:prstGeom>
          <a:noFill/>
        </p:spPr>
        <p:txBody>
          <a:bodyPr wrap="square" rtlCol="0">
            <a:spAutoFit/>
          </a:bodyPr>
          <a:lstStyle/>
          <a:p>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企业内部</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2" name="组合 1"/>
          <p:cNvGrpSpPr/>
          <p:nvPr/>
        </p:nvGrpSpPr>
        <p:grpSpPr bwMode="gray">
          <a:xfrm>
            <a:off x="1468543" y="5241553"/>
            <a:ext cx="632201" cy="297570"/>
            <a:chOff x="8734287" y="5199108"/>
            <a:chExt cx="1094557" cy="515196"/>
          </a:xfrm>
        </p:grpSpPr>
        <p:sp>
          <p:nvSpPr>
            <p:cNvPr id="17" name="Freeform 261"/>
            <p:cNvSpPr>
              <a:spLocks noEditPoints="1"/>
            </p:cNvSpPr>
            <p:nvPr/>
          </p:nvSpPr>
          <p:spPr bwMode="gray">
            <a:xfrm>
              <a:off x="8870163"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5" y="291"/>
                    <a:pt x="0" y="226"/>
                    <a:pt x="0" y="145"/>
                  </a:cubicBezTo>
                  <a:cubicBezTo>
                    <a:pt x="0" y="65"/>
                    <a:pt x="65" y="0"/>
                    <a:pt x="146" y="0"/>
                  </a:cubicBezTo>
                  <a:cubicBezTo>
                    <a:pt x="226" y="0"/>
                    <a:pt x="291" y="65"/>
                    <a:pt x="291" y="145"/>
                  </a:cubicBezTo>
                  <a:cubicBezTo>
                    <a:pt x="291"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Freeform 262"/>
            <p:cNvSpPr>
              <a:spLocks noEditPoints="1"/>
            </p:cNvSpPr>
            <p:nvPr/>
          </p:nvSpPr>
          <p:spPr bwMode="gray">
            <a:xfrm>
              <a:off x="8843743"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3" y="67"/>
                  </a:cubicBezTo>
                  <a:cubicBezTo>
                    <a:pt x="135" y="67"/>
                    <a:pt x="86" y="106"/>
                    <a:pt x="71" y="159"/>
                  </a:cubicBezTo>
                  <a:close/>
                  <a:moveTo>
                    <a:pt x="352" y="226"/>
                  </a:moveTo>
                  <a:lnTo>
                    <a:pt x="352" y="226"/>
                  </a:lnTo>
                  <a:lnTo>
                    <a:pt x="33" y="226"/>
                  </a:lnTo>
                  <a:cubicBezTo>
                    <a:pt x="15" y="226"/>
                    <a:pt x="0" y="211"/>
                    <a:pt x="0" y="193"/>
                  </a:cubicBezTo>
                  <a:cubicBezTo>
                    <a:pt x="0" y="86"/>
                    <a:pt x="86"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Freeform 263"/>
            <p:cNvSpPr>
              <a:spLocks noEditPoints="1"/>
            </p:cNvSpPr>
            <p:nvPr/>
          </p:nvSpPr>
          <p:spPr bwMode="gray">
            <a:xfrm>
              <a:off x="8798451" y="5261385"/>
              <a:ext cx="307609" cy="232122"/>
            </a:xfrm>
            <a:custGeom>
              <a:avLst/>
              <a:gdLst>
                <a:gd name="T0" fmla="*/ 2147483646 w 551"/>
                <a:gd name="T1" fmla="*/ 2147483646 h 417"/>
                <a:gd name="T2" fmla="*/ 2147483646 w 551"/>
                <a:gd name="T3" fmla="*/ 2147483646 h 417"/>
                <a:gd name="T4" fmla="*/ 2147483646 w 551"/>
                <a:gd name="T5" fmla="*/ 2147483646 h 417"/>
                <a:gd name="T6" fmla="*/ 2147483646 w 551"/>
                <a:gd name="T7" fmla="*/ 2147483646 h 417"/>
                <a:gd name="T8" fmla="*/ 2147483646 w 551"/>
                <a:gd name="T9" fmla="*/ 2147483646 h 417"/>
                <a:gd name="T10" fmla="*/ 2147483646 w 551"/>
                <a:gd name="T11" fmla="*/ 2147483646 h 417"/>
                <a:gd name="T12" fmla="*/ 2147483646 w 551"/>
                <a:gd name="T13" fmla="*/ 2147483646 h 417"/>
                <a:gd name="T14" fmla="*/ 2147483646 w 551"/>
                <a:gd name="T15" fmla="*/ 2147483646 h 417"/>
                <a:gd name="T16" fmla="*/ 2147483646 w 551"/>
                <a:gd name="T17" fmla="*/ 2147483646 h 417"/>
                <a:gd name="T18" fmla="*/ 0 w 551"/>
                <a:gd name="T19" fmla="*/ 2147483646 h 417"/>
                <a:gd name="T20" fmla="*/ 0 w 551"/>
                <a:gd name="T21" fmla="*/ 2147483646 h 417"/>
                <a:gd name="T22" fmla="*/ 2147483646 w 551"/>
                <a:gd name="T23" fmla="*/ 0 h 417"/>
                <a:gd name="T24" fmla="*/ 2147483646 w 551"/>
                <a:gd name="T25" fmla="*/ 0 h 417"/>
                <a:gd name="T26" fmla="*/ 2147483646 w 551"/>
                <a:gd name="T27" fmla="*/ 2147483646 h 417"/>
                <a:gd name="T28" fmla="*/ 2147483646 w 551"/>
                <a:gd name="T29" fmla="*/ 2147483646 h 417"/>
                <a:gd name="T30" fmla="*/ 2147483646 w 551"/>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1"/>
                <a:gd name="T49" fmla="*/ 0 h 417"/>
                <a:gd name="T50" fmla="*/ 551 w 551"/>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1" h="417">
                  <a:moveTo>
                    <a:pt x="54" y="364"/>
                  </a:moveTo>
                  <a:lnTo>
                    <a:pt x="54" y="364"/>
                  </a:lnTo>
                  <a:lnTo>
                    <a:pt x="497" y="364"/>
                  </a:lnTo>
                  <a:lnTo>
                    <a:pt x="497" y="53"/>
                  </a:lnTo>
                  <a:lnTo>
                    <a:pt x="54" y="53"/>
                  </a:lnTo>
                  <a:lnTo>
                    <a:pt x="54"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9" y="0"/>
                    <a:pt x="551" y="12"/>
                    <a:pt x="551" y="27"/>
                  </a:cubicBezTo>
                  <a:lnTo>
                    <a:pt x="551" y="390"/>
                  </a:lnTo>
                  <a:cubicBezTo>
                    <a:pt x="551" y="405"/>
                    <a:pt x="539"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Freeform 264"/>
            <p:cNvSpPr>
              <a:spLocks noEditPoints="1"/>
            </p:cNvSpPr>
            <p:nvPr/>
          </p:nvSpPr>
          <p:spPr bwMode="gray">
            <a:xfrm>
              <a:off x="9204192"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5" y="66"/>
                  </a:moveTo>
                  <a:lnTo>
                    <a:pt x="145" y="66"/>
                  </a:lnTo>
                  <a:cubicBezTo>
                    <a:pt x="102" y="66"/>
                    <a:pt x="66" y="102"/>
                    <a:pt x="66" y="145"/>
                  </a:cubicBezTo>
                  <a:cubicBezTo>
                    <a:pt x="66" y="189"/>
                    <a:pt x="102" y="224"/>
                    <a:pt x="145" y="224"/>
                  </a:cubicBezTo>
                  <a:cubicBezTo>
                    <a:pt x="189" y="224"/>
                    <a:pt x="224" y="189"/>
                    <a:pt x="224" y="145"/>
                  </a:cubicBezTo>
                  <a:cubicBezTo>
                    <a:pt x="224" y="102"/>
                    <a:pt x="189" y="66"/>
                    <a:pt x="145" y="66"/>
                  </a:cubicBezTo>
                  <a:close/>
                  <a:moveTo>
                    <a:pt x="145" y="291"/>
                  </a:moveTo>
                  <a:lnTo>
                    <a:pt x="145" y="291"/>
                  </a:lnTo>
                  <a:cubicBezTo>
                    <a:pt x="65" y="291"/>
                    <a:pt x="0" y="226"/>
                    <a:pt x="0" y="145"/>
                  </a:cubicBezTo>
                  <a:cubicBezTo>
                    <a:pt x="0" y="65"/>
                    <a:pt x="65" y="0"/>
                    <a:pt x="145" y="0"/>
                  </a:cubicBezTo>
                  <a:cubicBezTo>
                    <a:pt x="226" y="0"/>
                    <a:pt x="291" y="65"/>
                    <a:pt x="291" y="145"/>
                  </a:cubicBezTo>
                  <a:cubicBezTo>
                    <a:pt x="291" y="226"/>
                    <a:pt x="226" y="291"/>
                    <a:pt x="145"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Freeform 265"/>
            <p:cNvSpPr>
              <a:spLocks noEditPoints="1"/>
            </p:cNvSpPr>
            <p:nvPr/>
          </p:nvSpPr>
          <p:spPr bwMode="gray">
            <a:xfrm>
              <a:off x="9177772"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2" y="67"/>
                  </a:cubicBezTo>
                  <a:cubicBezTo>
                    <a:pt x="134" y="67"/>
                    <a:pt x="86" y="106"/>
                    <a:pt x="71" y="159"/>
                  </a:cubicBezTo>
                  <a:close/>
                  <a:moveTo>
                    <a:pt x="351" y="226"/>
                  </a:moveTo>
                  <a:lnTo>
                    <a:pt x="351" y="226"/>
                  </a:lnTo>
                  <a:lnTo>
                    <a:pt x="33" y="226"/>
                  </a:lnTo>
                  <a:cubicBezTo>
                    <a:pt x="15" y="226"/>
                    <a:pt x="0" y="211"/>
                    <a:pt x="0" y="193"/>
                  </a:cubicBezTo>
                  <a:cubicBezTo>
                    <a:pt x="0" y="86"/>
                    <a:pt x="86" y="0"/>
                    <a:pt x="192" y="0"/>
                  </a:cubicBezTo>
                  <a:cubicBezTo>
                    <a:pt x="298" y="0"/>
                    <a:pt x="385" y="86"/>
                    <a:pt x="385" y="193"/>
                  </a:cubicBezTo>
                  <a:cubicBezTo>
                    <a:pt x="385" y="211"/>
                    <a:pt x="370" y="226"/>
                    <a:pt x="351"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Freeform 266"/>
            <p:cNvSpPr>
              <a:spLocks noEditPoints="1"/>
            </p:cNvSpPr>
            <p:nvPr/>
          </p:nvSpPr>
          <p:spPr bwMode="gray">
            <a:xfrm>
              <a:off x="9132480"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8" y="0"/>
                    <a:pt x="550" y="12"/>
                    <a:pt x="550" y="27"/>
                  </a:cubicBezTo>
                  <a:lnTo>
                    <a:pt x="550" y="390"/>
                  </a:lnTo>
                  <a:cubicBezTo>
                    <a:pt x="550" y="405"/>
                    <a:pt x="538"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Freeform 267"/>
            <p:cNvSpPr>
              <a:spLocks noEditPoints="1"/>
            </p:cNvSpPr>
            <p:nvPr/>
          </p:nvSpPr>
          <p:spPr bwMode="gray">
            <a:xfrm>
              <a:off x="9538220" y="5334984"/>
              <a:ext cx="164184" cy="162296"/>
            </a:xfrm>
            <a:custGeom>
              <a:avLst/>
              <a:gdLst>
                <a:gd name="T0" fmla="*/ 2147483646 w 292"/>
                <a:gd name="T1" fmla="*/ 2147483646 h 291"/>
                <a:gd name="T2" fmla="*/ 2147483646 w 292"/>
                <a:gd name="T3" fmla="*/ 2147483646 h 291"/>
                <a:gd name="T4" fmla="*/ 2147483646 w 292"/>
                <a:gd name="T5" fmla="*/ 2147483646 h 291"/>
                <a:gd name="T6" fmla="*/ 2147483646 w 292"/>
                <a:gd name="T7" fmla="*/ 2147483646 h 291"/>
                <a:gd name="T8" fmla="*/ 2147483646 w 292"/>
                <a:gd name="T9" fmla="*/ 2147483646 h 291"/>
                <a:gd name="T10" fmla="*/ 2147483646 w 292"/>
                <a:gd name="T11" fmla="*/ 2147483646 h 291"/>
                <a:gd name="T12" fmla="*/ 2147483646 w 292"/>
                <a:gd name="T13" fmla="*/ 2147483646 h 291"/>
                <a:gd name="T14" fmla="*/ 2147483646 w 292"/>
                <a:gd name="T15" fmla="*/ 2147483646 h 291"/>
                <a:gd name="T16" fmla="*/ 0 w 292"/>
                <a:gd name="T17" fmla="*/ 2147483646 h 291"/>
                <a:gd name="T18" fmla="*/ 2147483646 w 292"/>
                <a:gd name="T19" fmla="*/ 0 h 291"/>
                <a:gd name="T20" fmla="*/ 2147483646 w 292"/>
                <a:gd name="T21" fmla="*/ 2147483646 h 291"/>
                <a:gd name="T22" fmla="*/ 2147483646 w 292"/>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2"/>
                <a:gd name="T37" fmla="*/ 0 h 291"/>
                <a:gd name="T38" fmla="*/ 292 w 292"/>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2"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6" y="291"/>
                    <a:pt x="0" y="226"/>
                    <a:pt x="0" y="145"/>
                  </a:cubicBezTo>
                  <a:cubicBezTo>
                    <a:pt x="0" y="65"/>
                    <a:pt x="66" y="0"/>
                    <a:pt x="146" y="0"/>
                  </a:cubicBezTo>
                  <a:cubicBezTo>
                    <a:pt x="226" y="0"/>
                    <a:pt x="292" y="65"/>
                    <a:pt x="292" y="145"/>
                  </a:cubicBezTo>
                  <a:cubicBezTo>
                    <a:pt x="292"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Freeform 268"/>
            <p:cNvSpPr>
              <a:spLocks noEditPoints="1"/>
            </p:cNvSpPr>
            <p:nvPr/>
          </p:nvSpPr>
          <p:spPr bwMode="gray">
            <a:xfrm>
              <a:off x="9511800"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2" y="159"/>
                  </a:moveTo>
                  <a:lnTo>
                    <a:pt x="72" y="159"/>
                  </a:lnTo>
                  <a:lnTo>
                    <a:pt x="314" y="159"/>
                  </a:lnTo>
                  <a:cubicBezTo>
                    <a:pt x="300" y="106"/>
                    <a:pt x="251" y="67"/>
                    <a:pt x="193" y="67"/>
                  </a:cubicBezTo>
                  <a:cubicBezTo>
                    <a:pt x="135" y="67"/>
                    <a:pt x="86" y="106"/>
                    <a:pt x="72" y="159"/>
                  </a:cubicBezTo>
                  <a:close/>
                  <a:moveTo>
                    <a:pt x="352" y="226"/>
                  </a:moveTo>
                  <a:lnTo>
                    <a:pt x="352" y="226"/>
                  </a:lnTo>
                  <a:lnTo>
                    <a:pt x="34" y="226"/>
                  </a:lnTo>
                  <a:cubicBezTo>
                    <a:pt x="15" y="226"/>
                    <a:pt x="0" y="211"/>
                    <a:pt x="0" y="193"/>
                  </a:cubicBezTo>
                  <a:cubicBezTo>
                    <a:pt x="0" y="86"/>
                    <a:pt x="87"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5" name="Freeform 269"/>
            <p:cNvSpPr>
              <a:spLocks noEditPoints="1"/>
            </p:cNvSpPr>
            <p:nvPr/>
          </p:nvSpPr>
          <p:spPr bwMode="gray">
            <a:xfrm>
              <a:off x="9466508"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3" y="417"/>
                  </a:moveTo>
                  <a:lnTo>
                    <a:pt x="523" y="417"/>
                  </a:lnTo>
                  <a:lnTo>
                    <a:pt x="26" y="417"/>
                  </a:lnTo>
                  <a:cubicBezTo>
                    <a:pt x="12" y="417"/>
                    <a:pt x="0" y="405"/>
                    <a:pt x="0" y="390"/>
                  </a:cubicBezTo>
                  <a:lnTo>
                    <a:pt x="0" y="27"/>
                  </a:lnTo>
                  <a:cubicBezTo>
                    <a:pt x="0" y="12"/>
                    <a:pt x="12" y="0"/>
                    <a:pt x="26" y="0"/>
                  </a:cubicBezTo>
                  <a:lnTo>
                    <a:pt x="523" y="0"/>
                  </a:lnTo>
                  <a:cubicBezTo>
                    <a:pt x="538" y="0"/>
                    <a:pt x="550" y="12"/>
                    <a:pt x="550" y="27"/>
                  </a:cubicBezTo>
                  <a:lnTo>
                    <a:pt x="550" y="390"/>
                  </a:lnTo>
                  <a:cubicBezTo>
                    <a:pt x="550" y="405"/>
                    <a:pt x="538" y="417"/>
                    <a:pt x="523"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Freeform 276"/>
            <p:cNvSpPr>
              <a:spLocks/>
            </p:cNvSpPr>
            <p:nvPr/>
          </p:nvSpPr>
          <p:spPr bwMode="gray">
            <a:xfrm>
              <a:off x="9413667" y="5636930"/>
              <a:ext cx="77374" cy="77374"/>
            </a:xfrm>
            <a:custGeom>
              <a:avLst/>
              <a:gdLst>
                <a:gd name="T0" fmla="*/ 0 w 139"/>
                <a:gd name="T1" fmla="*/ 2147483646 h 139"/>
                <a:gd name="T2" fmla="*/ 0 w 139"/>
                <a:gd name="T3" fmla="*/ 2147483646 h 139"/>
                <a:gd name="T4" fmla="*/ 2147483646 w 139"/>
                <a:gd name="T5" fmla="*/ 0 h 139"/>
                <a:gd name="T6" fmla="*/ 2147483646 w 139"/>
                <a:gd name="T7" fmla="*/ 2147483646 h 139"/>
                <a:gd name="T8" fmla="*/ 2147483646 w 139"/>
                <a:gd name="T9" fmla="*/ 2147483646 h 139"/>
                <a:gd name="T10" fmla="*/ 0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0" y="69"/>
                  </a:moveTo>
                  <a:lnTo>
                    <a:pt x="0" y="69"/>
                  </a:lnTo>
                  <a:cubicBezTo>
                    <a:pt x="0" y="31"/>
                    <a:pt x="31" y="0"/>
                    <a:pt x="69" y="0"/>
                  </a:cubicBezTo>
                  <a:cubicBezTo>
                    <a:pt x="107" y="0"/>
                    <a:pt x="139" y="31"/>
                    <a:pt x="139" y="69"/>
                  </a:cubicBezTo>
                  <a:cubicBezTo>
                    <a:pt x="139"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Freeform 277"/>
            <p:cNvSpPr>
              <a:spLocks/>
            </p:cNvSpPr>
            <p:nvPr/>
          </p:nvSpPr>
          <p:spPr bwMode="gray">
            <a:xfrm>
              <a:off x="9557092" y="5636930"/>
              <a:ext cx="77374" cy="77374"/>
            </a:xfrm>
            <a:custGeom>
              <a:avLst/>
              <a:gdLst>
                <a:gd name="T0" fmla="*/ 0 w 138"/>
                <a:gd name="T1" fmla="*/ 2147483646 h 139"/>
                <a:gd name="T2" fmla="*/ 0 w 138"/>
                <a:gd name="T3" fmla="*/ 2147483646 h 139"/>
                <a:gd name="T4" fmla="*/ 2147483646 w 138"/>
                <a:gd name="T5" fmla="*/ 0 h 139"/>
                <a:gd name="T6" fmla="*/ 2147483646 w 138"/>
                <a:gd name="T7" fmla="*/ 2147483646 h 139"/>
                <a:gd name="T8" fmla="*/ 2147483646 w 138"/>
                <a:gd name="T9" fmla="*/ 2147483646 h 139"/>
                <a:gd name="T10" fmla="*/ 0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0" y="69"/>
                  </a:moveTo>
                  <a:lnTo>
                    <a:pt x="0" y="69"/>
                  </a:lnTo>
                  <a:cubicBezTo>
                    <a:pt x="0" y="31"/>
                    <a:pt x="31" y="0"/>
                    <a:pt x="69" y="0"/>
                  </a:cubicBezTo>
                  <a:cubicBezTo>
                    <a:pt x="107" y="0"/>
                    <a:pt x="138" y="31"/>
                    <a:pt x="138" y="69"/>
                  </a:cubicBezTo>
                  <a:cubicBezTo>
                    <a:pt x="138"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Freeform 278"/>
            <p:cNvSpPr>
              <a:spLocks/>
            </p:cNvSpPr>
            <p:nvPr/>
          </p:nvSpPr>
          <p:spPr bwMode="gray">
            <a:xfrm>
              <a:off x="8734287" y="5199108"/>
              <a:ext cx="1094557" cy="490663"/>
            </a:xfrm>
            <a:custGeom>
              <a:avLst/>
              <a:gdLst>
                <a:gd name="T0" fmla="*/ 2147483646 w 1955"/>
                <a:gd name="T1" fmla="*/ 2147483646 h 879"/>
                <a:gd name="T2" fmla="*/ 2147483646 w 1955"/>
                <a:gd name="T3" fmla="*/ 2147483646 h 879"/>
                <a:gd name="T4" fmla="*/ 2147483646 w 1955"/>
                <a:gd name="T5" fmla="*/ 2147483646 h 879"/>
                <a:gd name="T6" fmla="*/ 2147483646 w 1955"/>
                <a:gd name="T7" fmla="*/ 2147483646 h 879"/>
                <a:gd name="T8" fmla="*/ 2147483646 w 1955"/>
                <a:gd name="T9" fmla="*/ 2147483646 h 879"/>
                <a:gd name="T10" fmla="*/ 2147483646 w 1955"/>
                <a:gd name="T11" fmla="*/ 2147483646 h 879"/>
                <a:gd name="T12" fmla="*/ 2147483646 w 1955"/>
                <a:gd name="T13" fmla="*/ 2147483646 h 879"/>
                <a:gd name="T14" fmla="*/ 2147483646 w 1955"/>
                <a:gd name="T15" fmla="*/ 2147483646 h 879"/>
                <a:gd name="T16" fmla="*/ 2147483646 w 1955"/>
                <a:gd name="T17" fmla="*/ 2147483646 h 879"/>
                <a:gd name="T18" fmla="*/ 2147483646 w 1955"/>
                <a:gd name="T19" fmla="*/ 2147483646 h 879"/>
                <a:gd name="T20" fmla="*/ 2147483646 w 1955"/>
                <a:gd name="T21" fmla="*/ 2147483646 h 879"/>
                <a:gd name="T22" fmla="*/ 0 w 1955"/>
                <a:gd name="T23" fmla="*/ 2147483646 h 879"/>
                <a:gd name="T24" fmla="*/ 0 w 1955"/>
                <a:gd name="T25" fmla="*/ 2147483646 h 879"/>
                <a:gd name="T26" fmla="*/ 2147483646 w 1955"/>
                <a:gd name="T27" fmla="*/ 0 h 879"/>
                <a:gd name="T28" fmla="*/ 2147483646 w 1955"/>
                <a:gd name="T29" fmla="*/ 0 h 879"/>
                <a:gd name="T30" fmla="*/ 2147483646 w 1955"/>
                <a:gd name="T31" fmla="*/ 2147483646 h 879"/>
                <a:gd name="T32" fmla="*/ 2147483646 w 1955"/>
                <a:gd name="T33" fmla="*/ 2147483646 h 879"/>
                <a:gd name="T34" fmla="*/ 2147483646 w 1955"/>
                <a:gd name="T35" fmla="*/ 2147483646 h 8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55"/>
                <a:gd name="T55" fmla="*/ 0 h 879"/>
                <a:gd name="T56" fmla="*/ 1955 w 1955"/>
                <a:gd name="T57" fmla="*/ 879 h 87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55" h="879">
                  <a:moveTo>
                    <a:pt x="1928" y="879"/>
                  </a:moveTo>
                  <a:lnTo>
                    <a:pt x="1928" y="879"/>
                  </a:lnTo>
                  <a:lnTo>
                    <a:pt x="1540" y="879"/>
                  </a:lnTo>
                  <a:lnTo>
                    <a:pt x="1540" y="826"/>
                  </a:lnTo>
                  <a:lnTo>
                    <a:pt x="1902" y="826"/>
                  </a:lnTo>
                  <a:lnTo>
                    <a:pt x="1902" y="54"/>
                  </a:lnTo>
                  <a:lnTo>
                    <a:pt x="53" y="54"/>
                  </a:lnTo>
                  <a:lnTo>
                    <a:pt x="53" y="826"/>
                  </a:lnTo>
                  <a:lnTo>
                    <a:pt x="1258" y="826"/>
                  </a:lnTo>
                  <a:lnTo>
                    <a:pt x="1258" y="879"/>
                  </a:lnTo>
                  <a:lnTo>
                    <a:pt x="26" y="879"/>
                  </a:lnTo>
                  <a:cubicBezTo>
                    <a:pt x="12" y="879"/>
                    <a:pt x="0" y="867"/>
                    <a:pt x="0" y="852"/>
                  </a:cubicBezTo>
                  <a:lnTo>
                    <a:pt x="0" y="27"/>
                  </a:lnTo>
                  <a:cubicBezTo>
                    <a:pt x="0" y="12"/>
                    <a:pt x="12" y="0"/>
                    <a:pt x="26" y="0"/>
                  </a:cubicBezTo>
                  <a:lnTo>
                    <a:pt x="1928" y="0"/>
                  </a:lnTo>
                  <a:cubicBezTo>
                    <a:pt x="1943" y="0"/>
                    <a:pt x="1955" y="12"/>
                    <a:pt x="1955" y="27"/>
                  </a:cubicBezTo>
                  <a:lnTo>
                    <a:pt x="1955" y="852"/>
                  </a:lnTo>
                  <a:cubicBezTo>
                    <a:pt x="1955" y="867"/>
                    <a:pt x="1943" y="879"/>
                    <a:pt x="1928" y="87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8" name="TextBox 13"/>
          <p:cNvSpPr txBox="1"/>
          <p:nvPr/>
        </p:nvSpPr>
        <p:spPr bwMode="gray">
          <a:xfrm>
            <a:off x="1384533" y="5580808"/>
            <a:ext cx="800219"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研发部门</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50" name="组合 49"/>
          <p:cNvGrpSpPr/>
          <p:nvPr/>
        </p:nvGrpSpPr>
        <p:grpSpPr bwMode="gray">
          <a:xfrm>
            <a:off x="3019066" y="5241553"/>
            <a:ext cx="632201" cy="297570"/>
            <a:chOff x="8734287" y="5199108"/>
            <a:chExt cx="1094557" cy="515196"/>
          </a:xfrm>
        </p:grpSpPr>
        <p:sp>
          <p:nvSpPr>
            <p:cNvPr id="52" name="Freeform 261"/>
            <p:cNvSpPr>
              <a:spLocks noEditPoints="1"/>
            </p:cNvSpPr>
            <p:nvPr/>
          </p:nvSpPr>
          <p:spPr bwMode="gray">
            <a:xfrm>
              <a:off x="8870163"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5" y="291"/>
                    <a:pt x="0" y="226"/>
                    <a:pt x="0" y="145"/>
                  </a:cubicBezTo>
                  <a:cubicBezTo>
                    <a:pt x="0" y="65"/>
                    <a:pt x="65" y="0"/>
                    <a:pt x="146" y="0"/>
                  </a:cubicBezTo>
                  <a:cubicBezTo>
                    <a:pt x="226" y="0"/>
                    <a:pt x="291" y="65"/>
                    <a:pt x="291" y="145"/>
                  </a:cubicBezTo>
                  <a:cubicBezTo>
                    <a:pt x="291"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Freeform 262"/>
            <p:cNvSpPr>
              <a:spLocks noEditPoints="1"/>
            </p:cNvSpPr>
            <p:nvPr/>
          </p:nvSpPr>
          <p:spPr bwMode="gray">
            <a:xfrm>
              <a:off x="8843743"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3" y="67"/>
                  </a:cubicBezTo>
                  <a:cubicBezTo>
                    <a:pt x="135" y="67"/>
                    <a:pt x="86" y="106"/>
                    <a:pt x="71" y="159"/>
                  </a:cubicBezTo>
                  <a:close/>
                  <a:moveTo>
                    <a:pt x="352" y="226"/>
                  </a:moveTo>
                  <a:lnTo>
                    <a:pt x="352" y="226"/>
                  </a:lnTo>
                  <a:lnTo>
                    <a:pt x="33" y="226"/>
                  </a:lnTo>
                  <a:cubicBezTo>
                    <a:pt x="15" y="226"/>
                    <a:pt x="0" y="211"/>
                    <a:pt x="0" y="193"/>
                  </a:cubicBezTo>
                  <a:cubicBezTo>
                    <a:pt x="0" y="86"/>
                    <a:pt x="86"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4" name="Freeform 263"/>
            <p:cNvSpPr>
              <a:spLocks noEditPoints="1"/>
            </p:cNvSpPr>
            <p:nvPr/>
          </p:nvSpPr>
          <p:spPr bwMode="gray">
            <a:xfrm>
              <a:off x="8798451" y="5261385"/>
              <a:ext cx="307609" cy="232122"/>
            </a:xfrm>
            <a:custGeom>
              <a:avLst/>
              <a:gdLst>
                <a:gd name="T0" fmla="*/ 2147483646 w 551"/>
                <a:gd name="T1" fmla="*/ 2147483646 h 417"/>
                <a:gd name="T2" fmla="*/ 2147483646 w 551"/>
                <a:gd name="T3" fmla="*/ 2147483646 h 417"/>
                <a:gd name="T4" fmla="*/ 2147483646 w 551"/>
                <a:gd name="T5" fmla="*/ 2147483646 h 417"/>
                <a:gd name="T6" fmla="*/ 2147483646 w 551"/>
                <a:gd name="T7" fmla="*/ 2147483646 h 417"/>
                <a:gd name="T8" fmla="*/ 2147483646 w 551"/>
                <a:gd name="T9" fmla="*/ 2147483646 h 417"/>
                <a:gd name="T10" fmla="*/ 2147483646 w 551"/>
                <a:gd name="T11" fmla="*/ 2147483646 h 417"/>
                <a:gd name="T12" fmla="*/ 2147483646 w 551"/>
                <a:gd name="T13" fmla="*/ 2147483646 h 417"/>
                <a:gd name="T14" fmla="*/ 2147483646 w 551"/>
                <a:gd name="T15" fmla="*/ 2147483646 h 417"/>
                <a:gd name="T16" fmla="*/ 2147483646 w 551"/>
                <a:gd name="T17" fmla="*/ 2147483646 h 417"/>
                <a:gd name="T18" fmla="*/ 0 w 551"/>
                <a:gd name="T19" fmla="*/ 2147483646 h 417"/>
                <a:gd name="T20" fmla="*/ 0 w 551"/>
                <a:gd name="T21" fmla="*/ 2147483646 h 417"/>
                <a:gd name="T22" fmla="*/ 2147483646 w 551"/>
                <a:gd name="T23" fmla="*/ 0 h 417"/>
                <a:gd name="T24" fmla="*/ 2147483646 w 551"/>
                <a:gd name="T25" fmla="*/ 0 h 417"/>
                <a:gd name="T26" fmla="*/ 2147483646 w 551"/>
                <a:gd name="T27" fmla="*/ 2147483646 h 417"/>
                <a:gd name="T28" fmla="*/ 2147483646 w 551"/>
                <a:gd name="T29" fmla="*/ 2147483646 h 417"/>
                <a:gd name="T30" fmla="*/ 2147483646 w 551"/>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1"/>
                <a:gd name="T49" fmla="*/ 0 h 417"/>
                <a:gd name="T50" fmla="*/ 551 w 551"/>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1" h="417">
                  <a:moveTo>
                    <a:pt x="54" y="364"/>
                  </a:moveTo>
                  <a:lnTo>
                    <a:pt x="54" y="364"/>
                  </a:lnTo>
                  <a:lnTo>
                    <a:pt x="497" y="364"/>
                  </a:lnTo>
                  <a:lnTo>
                    <a:pt x="497" y="53"/>
                  </a:lnTo>
                  <a:lnTo>
                    <a:pt x="54" y="53"/>
                  </a:lnTo>
                  <a:lnTo>
                    <a:pt x="54"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9" y="0"/>
                    <a:pt x="551" y="12"/>
                    <a:pt x="551" y="27"/>
                  </a:cubicBezTo>
                  <a:lnTo>
                    <a:pt x="551" y="390"/>
                  </a:lnTo>
                  <a:cubicBezTo>
                    <a:pt x="551" y="405"/>
                    <a:pt x="539"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Freeform 264"/>
            <p:cNvSpPr>
              <a:spLocks noEditPoints="1"/>
            </p:cNvSpPr>
            <p:nvPr/>
          </p:nvSpPr>
          <p:spPr bwMode="gray">
            <a:xfrm>
              <a:off x="9204192"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5" y="66"/>
                  </a:moveTo>
                  <a:lnTo>
                    <a:pt x="145" y="66"/>
                  </a:lnTo>
                  <a:cubicBezTo>
                    <a:pt x="102" y="66"/>
                    <a:pt x="66" y="102"/>
                    <a:pt x="66" y="145"/>
                  </a:cubicBezTo>
                  <a:cubicBezTo>
                    <a:pt x="66" y="189"/>
                    <a:pt x="102" y="224"/>
                    <a:pt x="145" y="224"/>
                  </a:cubicBezTo>
                  <a:cubicBezTo>
                    <a:pt x="189" y="224"/>
                    <a:pt x="224" y="189"/>
                    <a:pt x="224" y="145"/>
                  </a:cubicBezTo>
                  <a:cubicBezTo>
                    <a:pt x="224" y="102"/>
                    <a:pt x="189" y="66"/>
                    <a:pt x="145" y="66"/>
                  </a:cubicBezTo>
                  <a:close/>
                  <a:moveTo>
                    <a:pt x="145" y="291"/>
                  </a:moveTo>
                  <a:lnTo>
                    <a:pt x="145" y="291"/>
                  </a:lnTo>
                  <a:cubicBezTo>
                    <a:pt x="65" y="291"/>
                    <a:pt x="0" y="226"/>
                    <a:pt x="0" y="145"/>
                  </a:cubicBezTo>
                  <a:cubicBezTo>
                    <a:pt x="0" y="65"/>
                    <a:pt x="65" y="0"/>
                    <a:pt x="145" y="0"/>
                  </a:cubicBezTo>
                  <a:cubicBezTo>
                    <a:pt x="226" y="0"/>
                    <a:pt x="291" y="65"/>
                    <a:pt x="291" y="145"/>
                  </a:cubicBezTo>
                  <a:cubicBezTo>
                    <a:pt x="291" y="226"/>
                    <a:pt x="226" y="291"/>
                    <a:pt x="145"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Freeform 265"/>
            <p:cNvSpPr>
              <a:spLocks noEditPoints="1"/>
            </p:cNvSpPr>
            <p:nvPr/>
          </p:nvSpPr>
          <p:spPr bwMode="gray">
            <a:xfrm>
              <a:off x="9177772"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2" y="67"/>
                  </a:cubicBezTo>
                  <a:cubicBezTo>
                    <a:pt x="134" y="67"/>
                    <a:pt x="86" y="106"/>
                    <a:pt x="71" y="159"/>
                  </a:cubicBezTo>
                  <a:close/>
                  <a:moveTo>
                    <a:pt x="351" y="226"/>
                  </a:moveTo>
                  <a:lnTo>
                    <a:pt x="351" y="226"/>
                  </a:lnTo>
                  <a:lnTo>
                    <a:pt x="33" y="226"/>
                  </a:lnTo>
                  <a:cubicBezTo>
                    <a:pt x="15" y="226"/>
                    <a:pt x="0" y="211"/>
                    <a:pt x="0" y="193"/>
                  </a:cubicBezTo>
                  <a:cubicBezTo>
                    <a:pt x="0" y="86"/>
                    <a:pt x="86" y="0"/>
                    <a:pt x="192" y="0"/>
                  </a:cubicBezTo>
                  <a:cubicBezTo>
                    <a:pt x="298" y="0"/>
                    <a:pt x="385" y="86"/>
                    <a:pt x="385" y="193"/>
                  </a:cubicBezTo>
                  <a:cubicBezTo>
                    <a:pt x="385" y="211"/>
                    <a:pt x="370" y="226"/>
                    <a:pt x="351"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Freeform 266"/>
            <p:cNvSpPr>
              <a:spLocks noEditPoints="1"/>
            </p:cNvSpPr>
            <p:nvPr/>
          </p:nvSpPr>
          <p:spPr bwMode="gray">
            <a:xfrm>
              <a:off x="9132480"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8" y="0"/>
                    <a:pt x="550" y="12"/>
                    <a:pt x="550" y="27"/>
                  </a:cubicBezTo>
                  <a:lnTo>
                    <a:pt x="550" y="390"/>
                  </a:lnTo>
                  <a:cubicBezTo>
                    <a:pt x="550" y="405"/>
                    <a:pt x="538"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Freeform 267"/>
            <p:cNvSpPr>
              <a:spLocks noEditPoints="1"/>
            </p:cNvSpPr>
            <p:nvPr/>
          </p:nvSpPr>
          <p:spPr bwMode="gray">
            <a:xfrm>
              <a:off x="9538220" y="5334984"/>
              <a:ext cx="164184" cy="162296"/>
            </a:xfrm>
            <a:custGeom>
              <a:avLst/>
              <a:gdLst>
                <a:gd name="T0" fmla="*/ 2147483646 w 292"/>
                <a:gd name="T1" fmla="*/ 2147483646 h 291"/>
                <a:gd name="T2" fmla="*/ 2147483646 w 292"/>
                <a:gd name="T3" fmla="*/ 2147483646 h 291"/>
                <a:gd name="T4" fmla="*/ 2147483646 w 292"/>
                <a:gd name="T5" fmla="*/ 2147483646 h 291"/>
                <a:gd name="T6" fmla="*/ 2147483646 w 292"/>
                <a:gd name="T7" fmla="*/ 2147483646 h 291"/>
                <a:gd name="T8" fmla="*/ 2147483646 w 292"/>
                <a:gd name="T9" fmla="*/ 2147483646 h 291"/>
                <a:gd name="T10" fmla="*/ 2147483646 w 292"/>
                <a:gd name="T11" fmla="*/ 2147483646 h 291"/>
                <a:gd name="T12" fmla="*/ 2147483646 w 292"/>
                <a:gd name="T13" fmla="*/ 2147483646 h 291"/>
                <a:gd name="T14" fmla="*/ 2147483646 w 292"/>
                <a:gd name="T15" fmla="*/ 2147483646 h 291"/>
                <a:gd name="T16" fmla="*/ 0 w 292"/>
                <a:gd name="T17" fmla="*/ 2147483646 h 291"/>
                <a:gd name="T18" fmla="*/ 2147483646 w 292"/>
                <a:gd name="T19" fmla="*/ 0 h 291"/>
                <a:gd name="T20" fmla="*/ 2147483646 w 292"/>
                <a:gd name="T21" fmla="*/ 2147483646 h 291"/>
                <a:gd name="T22" fmla="*/ 2147483646 w 292"/>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2"/>
                <a:gd name="T37" fmla="*/ 0 h 291"/>
                <a:gd name="T38" fmla="*/ 292 w 292"/>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2"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6" y="291"/>
                    <a:pt x="0" y="226"/>
                    <a:pt x="0" y="145"/>
                  </a:cubicBezTo>
                  <a:cubicBezTo>
                    <a:pt x="0" y="65"/>
                    <a:pt x="66" y="0"/>
                    <a:pt x="146" y="0"/>
                  </a:cubicBezTo>
                  <a:cubicBezTo>
                    <a:pt x="226" y="0"/>
                    <a:pt x="292" y="65"/>
                    <a:pt x="292" y="145"/>
                  </a:cubicBezTo>
                  <a:cubicBezTo>
                    <a:pt x="292"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Freeform 268"/>
            <p:cNvSpPr>
              <a:spLocks noEditPoints="1"/>
            </p:cNvSpPr>
            <p:nvPr/>
          </p:nvSpPr>
          <p:spPr bwMode="gray">
            <a:xfrm>
              <a:off x="9511800"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2" y="159"/>
                  </a:moveTo>
                  <a:lnTo>
                    <a:pt x="72" y="159"/>
                  </a:lnTo>
                  <a:lnTo>
                    <a:pt x="314" y="159"/>
                  </a:lnTo>
                  <a:cubicBezTo>
                    <a:pt x="300" y="106"/>
                    <a:pt x="251" y="67"/>
                    <a:pt x="193" y="67"/>
                  </a:cubicBezTo>
                  <a:cubicBezTo>
                    <a:pt x="135" y="67"/>
                    <a:pt x="86" y="106"/>
                    <a:pt x="72" y="159"/>
                  </a:cubicBezTo>
                  <a:close/>
                  <a:moveTo>
                    <a:pt x="352" y="226"/>
                  </a:moveTo>
                  <a:lnTo>
                    <a:pt x="352" y="226"/>
                  </a:lnTo>
                  <a:lnTo>
                    <a:pt x="34" y="226"/>
                  </a:lnTo>
                  <a:cubicBezTo>
                    <a:pt x="15" y="226"/>
                    <a:pt x="0" y="211"/>
                    <a:pt x="0" y="193"/>
                  </a:cubicBezTo>
                  <a:cubicBezTo>
                    <a:pt x="0" y="86"/>
                    <a:pt x="87"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Freeform 269"/>
            <p:cNvSpPr>
              <a:spLocks noEditPoints="1"/>
            </p:cNvSpPr>
            <p:nvPr/>
          </p:nvSpPr>
          <p:spPr bwMode="gray">
            <a:xfrm>
              <a:off x="9466508"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3" y="417"/>
                  </a:moveTo>
                  <a:lnTo>
                    <a:pt x="523" y="417"/>
                  </a:lnTo>
                  <a:lnTo>
                    <a:pt x="26" y="417"/>
                  </a:lnTo>
                  <a:cubicBezTo>
                    <a:pt x="12" y="417"/>
                    <a:pt x="0" y="405"/>
                    <a:pt x="0" y="390"/>
                  </a:cubicBezTo>
                  <a:lnTo>
                    <a:pt x="0" y="27"/>
                  </a:lnTo>
                  <a:cubicBezTo>
                    <a:pt x="0" y="12"/>
                    <a:pt x="12" y="0"/>
                    <a:pt x="26" y="0"/>
                  </a:cubicBezTo>
                  <a:lnTo>
                    <a:pt x="523" y="0"/>
                  </a:lnTo>
                  <a:cubicBezTo>
                    <a:pt x="538" y="0"/>
                    <a:pt x="550" y="12"/>
                    <a:pt x="550" y="27"/>
                  </a:cubicBezTo>
                  <a:lnTo>
                    <a:pt x="550" y="390"/>
                  </a:lnTo>
                  <a:cubicBezTo>
                    <a:pt x="550" y="405"/>
                    <a:pt x="538" y="417"/>
                    <a:pt x="523"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1" name="Freeform 276"/>
            <p:cNvSpPr>
              <a:spLocks/>
            </p:cNvSpPr>
            <p:nvPr/>
          </p:nvSpPr>
          <p:spPr bwMode="gray">
            <a:xfrm>
              <a:off x="9413667" y="5636930"/>
              <a:ext cx="77374" cy="77374"/>
            </a:xfrm>
            <a:custGeom>
              <a:avLst/>
              <a:gdLst>
                <a:gd name="T0" fmla="*/ 0 w 139"/>
                <a:gd name="T1" fmla="*/ 2147483646 h 139"/>
                <a:gd name="T2" fmla="*/ 0 w 139"/>
                <a:gd name="T3" fmla="*/ 2147483646 h 139"/>
                <a:gd name="T4" fmla="*/ 2147483646 w 139"/>
                <a:gd name="T5" fmla="*/ 0 h 139"/>
                <a:gd name="T6" fmla="*/ 2147483646 w 139"/>
                <a:gd name="T7" fmla="*/ 2147483646 h 139"/>
                <a:gd name="T8" fmla="*/ 2147483646 w 139"/>
                <a:gd name="T9" fmla="*/ 2147483646 h 139"/>
                <a:gd name="T10" fmla="*/ 0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0" y="69"/>
                  </a:moveTo>
                  <a:lnTo>
                    <a:pt x="0" y="69"/>
                  </a:lnTo>
                  <a:cubicBezTo>
                    <a:pt x="0" y="31"/>
                    <a:pt x="31" y="0"/>
                    <a:pt x="69" y="0"/>
                  </a:cubicBezTo>
                  <a:cubicBezTo>
                    <a:pt x="107" y="0"/>
                    <a:pt x="139" y="31"/>
                    <a:pt x="139" y="69"/>
                  </a:cubicBezTo>
                  <a:cubicBezTo>
                    <a:pt x="139"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2" name="Freeform 277"/>
            <p:cNvSpPr>
              <a:spLocks/>
            </p:cNvSpPr>
            <p:nvPr/>
          </p:nvSpPr>
          <p:spPr bwMode="gray">
            <a:xfrm>
              <a:off x="9557092" y="5636930"/>
              <a:ext cx="77374" cy="77374"/>
            </a:xfrm>
            <a:custGeom>
              <a:avLst/>
              <a:gdLst>
                <a:gd name="T0" fmla="*/ 0 w 138"/>
                <a:gd name="T1" fmla="*/ 2147483646 h 139"/>
                <a:gd name="T2" fmla="*/ 0 w 138"/>
                <a:gd name="T3" fmla="*/ 2147483646 h 139"/>
                <a:gd name="T4" fmla="*/ 2147483646 w 138"/>
                <a:gd name="T5" fmla="*/ 0 h 139"/>
                <a:gd name="T6" fmla="*/ 2147483646 w 138"/>
                <a:gd name="T7" fmla="*/ 2147483646 h 139"/>
                <a:gd name="T8" fmla="*/ 2147483646 w 138"/>
                <a:gd name="T9" fmla="*/ 2147483646 h 139"/>
                <a:gd name="T10" fmla="*/ 0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0" y="69"/>
                  </a:moveTo>
                  <a:lnTo>
                    <a:pt x="0" y="69"/>
                  </a:lnTo>
                  <a:cubicBezTo>
                    <a:pt x="0" y="31"/>
                    <a:pt x="31" y="0"/>
                    <a:pt x="69" y="0"/>
                  </a:cubicBezTo>
                  <a:cubicBezTo>
                    <a:pt x="107" y="0"/>
                    <a:pt x="138" y="31"/>
                    <a:pt x="138" y="69"/>
                  </a:cubicBezTo>
                  <a:cubicBezTo>
                    <a:pt x="138"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Freeform 278"/>
            <p:cNvSpPr>
              <a:spLocks/>
            </p:cNvSpPr>
            <p:nvPr/>
          </p:nvSpPr>
          <p:spPr bwMode="gray">
            <a:xfrm>
              <a:off x="8734287" y="5199108"/>
              <a:ext cx="1094557" cy="490663"/>
            </a:xfrm>
            <a:custGeom>
              <a:avLst/>
              <a:gdLst>
                <a:gd name="T0" fmla="*/ 2147483646 w 1955"/>
                <a:gd name="T1" fmla="*/ 2147483646 h 879"/>
                <a:gd name="T2" fmla="*/ 2147483646 w 1955"/>
                <a:gd name="T3" fmla="*/ 2147483646 h 879"/>
                <a:gd name="T4" fmla="*/ 2147483646 w 1955"/>
                <a:gd name="T5" fmla="*/ 2147483646 h 879"/>
                <a:gd name="T6" fmla="*/ 2147483646 w 1955"/>
                <a:gd name="T7" fmla="*/ 2147483646 h 879"/>
                <a:gd name="T8" fmla="*/ 2147483646 w 1955"/>
                <a:gd name="T9" fmla="*/ 2147483646 h 879"/>
                <a:gd name="T10" fmla="*/ 2147483646 w 1955"/>
                <a:gd name="T11" fmla="*/ 2147483646 h 879"/>
                <a:gd name="T12" fmla="*/ 2147483646 w 1955"/>
                <a:gd name="T13" fmla="*/ 2147483646 h 879"/>
                <a:gd name="T14" fmla="*/ 2147483646 w 1955"/>
                <a:gd name="T15" fmla="*/ 2147483646 h 879"/>
                <a:gd name="T16" fmla="*/ 2147483646 w 1955"/>
                <a:gd name="T17" fmla="*/ 2147483646 h 879"/>
                <a:gd name="T18" fmla="*/ 2147483646 w 1955"/>
                <a:gd name="T19" fmla="*/ 2147483646 h 879"/>
                <a:gd name="T20" fmla="*/ 2147483646 w 1955"/>
                <a:gd name="T21" fmla="*/ 2147483646 h 879"/>
                <a:gd name="T22" fmla="*/ 0 w 1955"/>
                <a:gd name="T23" fmla="*/ 2147483646 h 879"/>
                <a:gd name="T24" fmla="*/ 0 w 1955"/>
                <a:gd name="T25" fmla="*/ 2147483646 h 879"/>
                <a:gd name="T26" fmla="*/ 2147483646 w 1955"/>
                <a:gd name="T27" fmla="*/ 0 h 879"/>
                <a:gd name="T28" fmla="*/ 2147483646 w 1955"/>
                <a:gd name="T29" fmla="*/ 0 h 879"/>
                <a:gd name="T30" fmla="*/ 2147483646 w 1955"/>
                <a:gd name="T31" fmla="*/ 2147483646 h 879"/>
                <a:gd name="T32" fmla="*/ 2147483646 w 1955"/>
                <a:gd name="T33" fmla="*/ 2147483646 h 879"/>
                <a:gd name="T34" fmla="*/ 2147483646 w 1955"/>
                <a:gd name="T35" fmla="*/ 2147483646 h 8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55"/>
                <a:gd name="T55" fmla="*/ 0 h 879"/>
                <a:gd name="T56" fmla="*/ 1955 w 1955"/>
                <a:gd name="T57" fmla="*/ 879 h 87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55" h="879">
                  <a:moveTo>
                    <a:pt x="1928" y="879"/>
                  </a:moveTo>
                  <a:lnTo>
                    <a:pt x="1928" y="879"/>
                  </a:lnTo>
                  <a:lnTo>
                    <a:pt x="1540" y="879"/>
                  </a:lnTo>
                  <a:lnTo>
                    <a:pt x="1540" y="826"/>
                  </a:lnTo>
                  <a:lnTo>
                    <a:pt x="1902" y="826"/>
                  </a:lnTo>
                  <a:lnTo>
                    <a:pt x="1902" y="54"/>
                  </a:lnTo>
                  <a:lnTo>
                    <a:pt x="53" y="54"/>
                  </a:lnTo>
                  <a:lnTo>
                    <a:pt x="53" y="826"/>
                  </a:lnTo>
                  <a:lnTo>
                    <a:pt x="1258" y="826"/>
                  </a:lnTo>
                  <a:lnTo>
                    <a:pt x="1258" y="879"/>
                  </a:lnTo>
                  <a:lnTo>
                    <a:pt x="26" y="879"/>
                  </a:lnTo>
                  <a:cubicBezTo>
                    <a:pt x="12" y="879"/>
                    <a:pt x="0" y="867"/>
                    <a:pt x="0" y="852"/>
                  </a:cubicBezTo>
                  <a:lnTo>
                    <a:pt x="0" y="27"/>
                  </a:lnTo>
                  <a:cubicBezTo>
                    <a:pt x="0" y="12"/>
                    <a:pt x="12" y="0"/>
                    <a:pt x="26" y="0"/>
                  </a:cubicBezTo>
                  <a:lnTo>
                    <a:pt x="1928" y="0"/>
                  </a:lnTo>
                  <a:cubicBezTo>
                    <a:pt x="1943" y="0"/>
                    <a:pt x="1955" y="12"/>
                    <a:pt x="1955" y="27"/>
                  </a:cubicBezTo>
                  <a:lnTo>
                    <a:pt x="1955" y="852"/>
                  </a:lnTo>
                  <a:cubicBezTo>
                    <a:pt x="1955" y="867"/>
                    <a:pt x="1943" y="879"/>
                    <a:pt x="1928" y="87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51" name="TextBox 13"/>
          <p:cNvSpPr txBox="1"/>
          <p:nvPr/>
        </p:nvSpPr>
        <p:spPr bwMode="gray">
          <a:xfrm>
            <a:off x="2935056" y="5580808"/>
            <a:ext cx="800220"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财经部门</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65" name="组合 64"/>
          <p:cNvGrpSpPr/>
          <p:nvPr/>
        </p:nvGrpSpPr>
        <p:grpSpPr bwMode="gray">
          <a:xfrm>
            <a:off x="4569587" y="5241553"/>
            <a:ext cx="632201" cy="297570"/>
            <a:chOff x="8734287" y="5199108"/>
            <a:chExt cx="1094557" cy="515196"/>
          </a:xfrm>
        </p:grpSpPr>
        <p:sp>
          <p:nvSpPr>
            <p:cNvPr id="67" name="Freeform 261"/>
            <p:cNvSpPr>
              <a:spLocks noEditPoints="1"/>
            </p:cNvSpPr>
            <p:nvPr/>
          </p:nvSpPr>
          <p:spPr bwMode="gray">
            <a:xfrm>
              <a:off x="8870163"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5" y="291"/>
                    <a:pt x="0" y="226"/>
                    <a:pt x="0" y="145"/>
                  </a:cubicBezTo>
                  <a:cubicBezTo>
                    <a:pt x="0" y="65"/>
                    <a:pt x="65" y="0"/>
                    <a:pt x="146" y="0"/>
                  </a:cubicBezTo>
                  <a:cubicBezTo>
                    <a:pt x="226" y="0"/>
                    <a:pt x="291" y="65"/>
                    <a:pt x="291" y="145"/>
                  </a:cubicBezTo>
                  <a:cubicBezTo>
                    <a:pt x="291"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8" name="Freeform 262"/>
            <p:cNvSpPr>
              <a:spLocks noEditPoints="1"/>
            </p:cNvSpPr>
            <p:nvPr/>
          </p:nvSpPr>
          <p:spPr bwMode="gray">
            <a:xfrm>
              <a:off x="8843743"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3" y="67"/>
                  </a:cubicBezTo>
                  <a:cubicBezTo>
                    <a:pt x="135" y="67"/>
                    <a:pt x="86" y="106"/>
                    <a:pt x="71" y="159"/>
                  </a:cubicBezTo>
                  <a:close/>
                  <a:moveTo>
                    <a:pt x="352" y="226"/>
                  </a:moveTo>
                  <a:lnTo>
                    <a:pt x="352" y="226"/>
                  </a:lnTo>
                  <a:lnTo>
                    <a:pt x="33" y="226"/>
                  </a:lnTo>
                  <a:cubicBezTo>
                    <a:pt x="15" y="226"/>
                    <a:pt x="0" y="211"/>
                    <a:pt x="0" y="193"/>
                  </a:cubicBezTo>
                  <a:cubicBezTo>
                    <a:pt x="0" y="86"/>
                    <a:pt x="86"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9" name="Freeform 263"/>
            <p:cNvSpPr>
              <a:spLocks noEditPoints="1"/>
            </p:cNvSpPr>
            <p:nvPr/>
          </p:nvSpPr>
          <p:spPr bwMode="gray">
            <a:xfrm>
              <a:off x="8798451" y="5261385"/>
              <a:ext cx="307609" cy="232122"/>
            </a:xfrm>
            <a:custGeom>
              <a:avLst/>
              <a:gdLst>
                <a:gd name="T0" fmla="*/ 2147483646 w 551"/>
                <a:gd name="T1" fmla="*/ 2147483646 h 417"/>
                <a:gd name="T2" fmla="*/ 2147483646 w 551"/>
                <a:gd name="T3" fmla="*/ 2147483646 h 417"/>
                <a:gd name="T4" fmla="*/ 2147483646 w 551"/>
                <a:gd name="T5" fmla="*/ 2147483646 h 417"/>
                <a:gd name="T6" fmla="*/ 2147483646 w 551"/>
                <a:gd name="T7" fmla="*/ 2147483646 h 417"/>
                <a:gd name="T8" fmla="*/ 2147483646 w 551"/>
                <a:gd name="T9" fmla="*/ 2147483646 h 417"/>
                <a:gd name="T10" fmla="*/ 2147483646 w 551"/>
                <a:gd name="T11" fmla="*/ 2147483646 h 417"/>
                <a:gd name="T12" fmla="*/ 2147483646 w 551"/>
                <a:gd name="T13" fmla="*/ 2147483646 h 417"/>
                <a:gd name="T14" fmla="*/ 2147483646 w 551"/>
                <a:gd name="T15" fmla="*/ 2147483646 h 417"/>
                <a:gd name="T16" fmla="*/ 2147483646 w 551"/>
                <a:gd name="T17" fmla="*/ 2147483646 h 417"/>
                <a:gd name="T18" fmla="*/ 0 w 551"/>
                <a:gd name="T19" fmla="*/ 2147483646 h 417"/>
                <a:gd name="T20" fmla="*/ 0 w 551"/>
                <a:gd name="T21" fmla="*/ 2147483646 h 417"/>
                <a:gd name="T22" fmla="*/ 2147483646 w 551"/>
                <a:gd name="T23" fmla="*/ 0 h 417"/>
                <a:gd name="T24" fmla="*/ 2147483646 w 551"/>
                <a:gd name="T25" fmla="*/ 0 h 417"/>
                <a:gd name="T26" fmla="*/ 2147483646 w 551"/>
                <a:gd name="T27" fmla="*/ 2147483646 h 417"/>
                <a:gd name="T28" fmla="*/ 2147483646 w 551"/>
                <a:gd name="T29" fmla="*/ 2147483646 h 417"/>
                <a:gd name="T30" fmla="*/ 2147483646 w 551"/>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1"/>
                <a:gd name="T49" fmla="*/ 0 h 417"/>
                <a:gd name="T50" fmla="*/ 551 w 551"/>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1" h="417">
                  <a:moveTo>
                    <a:pt x="54" y="364"/>
                  </a:moveTo>
                  <a:lnTo>
                    <a:pt x="54" y="364"/>
                  </a:lnTo>
                  <a:lnTo>
                    <a:pt x="497" y="364"/>
                  </a:lnTo>
                  <a:lnTo>
                    <a:pt x="497" y="53"/>
                  </a:lnTo>
                  <a:lnTo>
                    <a:pt x="54" y="53"/>
                  </a:lnTo>
                  <a:lnTo>
                    <a:pt x="54"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9" y="0"/>
                    <a:pt x="551" y="12"/>
                    <a:pt x="551" y="27"/>
                  </a:cubicBezTo>
                  <a:lnTo>
                    <a:pt x="551" y="390"/>
                  </a:lnTo>
                  <a:cubicBezTo>
                    <a:pt x="551" y="405"/>
                    <a:pt x="539"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0" name="Freeform 264"/>
            <p:cNvSpPr>
              <a:spLocks noEditPoints="1"/>
            </p:cNvSpPr>
            <p:nvPr/>
          </p:nvSpPr>
          <p:spPr bwMode="gray">
            <a:xfrm>
              <a:off x="9204192"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5" y="66"/>
                  </a:moveTo>
                  <a:lnTo>
                    <a:pt x="145" y="66"/>
                  </a:lnTo>
                  <a:cubicBezTo>
                    <a:pt x="102" y="66"/>
                    <a:pt x="66" y="102"/>
                    <a:pt x="66" y="145"/>
                  </a:cubicBezTo>
                  <a:cubicBezTo>
                    <a:pt x="66" y="189"/>
                    <a:pt x="102" y="224"/>
                    <a:pt x="145" y="224"/>
                  </a:cubicBezTo>
                  <a:cubicBezTo>
                    <a:pt x="189" y="224"/>
                    <a:pt x="224" y="189"/>
                    <a:pt x="224" y="145"/>
                  </a:cubicBezTo>
                  <a:cubicBezTo>
                    <a:pt x="224" y="102"/>
                    <a:pt x="189" y="66"/>
                    <a:pt x="145" y="66"/>
                  </a:cubicBezTo>
                  <a:close/>
                  <a:moveTo>
                    <a:pt x="145" y="291"/>
                  </a:moveTo>
                  <a:lnTo>
                    <a:pt x="145" y="291"/>
                  </a:lnTo>
                  <a:cubicBezTo>
                    <a:pt x="65" y="291"/>
                    <a:pt x="0" y="226"/>
                    <a:pt x="0" y="145"/>
                  </a:cubicBezTo>
                  <a:cubicBezTo>
                    <a:pt x="0" y="65"/>
                    <a:pt x="65" y="0"/>
                    <a:pt x="145" y="0"/>
                  </a:cubicBezTo>
                  <a:cubicBezTo>
                    <a:pt x="226" y="0"/>
                    <a:pt x="291" y="65"/>
                    <a:pt x="291" y="145"/>
                  </a:cubicBezTo>
                  <a:cubicBezTo>
                    <a:pt x="291" y="226"/>
                    <a:pt x="226" y="291"/>
                    <a:pt x="145"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1" name="Freeform 265"/>
            <p:cNvSpPr>
              <a:spLocks noEditPoints="1"/>
            </p:cNvSpPr>
            <p:nvPr/>
          </p:nvSpPr>
          <p:spPr bwMode="gray">
            <a:xfrm>
              <a:off x="9177772"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2" y="67"/>
                  </a:cubicBezTo>
                  <a:cubicBezTo>
                    <a:pt x="134" y="67"/>
                    <a:pt x="86" y="106"/>
                    <a:pt x="71" y="159"/>
                  </a:cubicBezTo>
                  <a:close/>
                  <a:moveTo>
                    <a:pt x="351" y="226"/>
                  </a:moveTo>
                  <a:lnTo>
                    <a:pt x="351" y="226"/>
                  </a:lnTo>
                  <a:lnTo>
                    <a:pt x="33" y="226"/>
                  </a:lnTo>
                  <a:cubicBezTo>
                    <a:pt x="15" y="226"/>
                    <a:pt x="0" y="211"/>
                    <a:pt x="0" y="193"/>
                  </a:cubicBezTo>
                  <a:cubicBezTo>
                    <a:pt x="0" y="86"/>
                    <a:pt x="86" y="0"/>
                    <a:pt x="192" y="0"/>
                  </a:cubicBezTo>
                  <a:cubicBezTo>
                    <a:pt x="298" y="0"/>
                    <a:pt x="385" y="86"/>
                    <a:pt x="385" y="193"/>
                  </a:cubicBezTo>
                  <a:cubicBezTo>
                    <a:pt x="385" y="211"/>
                    <a:pt x="370" y="226"/>
                    <a:pt x="351"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2" name="Freeform 266"/>
            <p:cNvSpPr>
              <a:spLocks noEditPoints="1"/>
            </p:cNvSpPr>
            <p:nvPr/>
          </p:nvSpPr>
          <p:spPr bwMode="gray">
            <a:xfrm>
              <a:off x="9132480"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8" y="0"/>
                    <a:pt x="550" y="12"/>
                    <a:pt x="550" y="27"/>
                  </a:cubicBezTo>
                  <a:lnTo>
                    <a:pt x="550" y="390"/>
                  </a:lnTo>
                  <a:cubicBezTo>
                    <a:pt x="550" y="405"/>
                    <a:pt x="538"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3" name="Freeform 267"/>
            <p:cNvSpPr>
              <a:spLocks noEditPoints="1"/>
            </p:cNvSpPr>
            <p:nvPr/>
          </p:nvSpPr>
          <p:spPr bwMode="gray">
            <a:xfrm>
              <a:off x="9538220" y="5334984"/>
              <a:ext cx="164184" cy="162296"/>
            </a:xfrm>
            <a:custGeom>
              <a:avLst/>
              <a:gdLst>
                <a:gd name="T0" fmla="*/ 2147483646 w 292"/>
                <a:gd name="T1" fmla="*/ 2147483646 h 291"/>
                <a:gd name="T2" fmla="*/ 2147483646 w 292"/>
                <a:gd name="T3" fmla="*/ 2147483646 h 291"/>
                <a:gd name="T4" fmla="*/ 2147483646 w 292"/>
                <a:gd name="T5" fmla="*/ 2147483646 h 291"/>
                <a:gd name="T6" fmla="*/ 2147483646 w 292"/>
                <a:gd name="T7" fmla="*/ 2147483646 h 291"/>
                <a:gd name="T8" fmla="*/ 2147483646 w 292"/>
                <a:gd name="T9" fmla="*/ 2147483646 h 291"/>
                <a:gd name="T10" fmla="*/ 2147483646 w 292"/>
                <a:gd name="T11" fmla="*/ 2147483646 h 291"/>
                <a:gd name="T12" fmla="*/ 2147483646 w 292"/>
                <a:gd name="T13" fmla="*/ 2147483646 h 291"/>
                <a:gd name="T14" fmla="*/ 2147483646 w 292"/>
                <a:gd name="T15" fmla="*/ 2147483646 h 291"/>
                <a:gd name="T16" fmla="*/ 0 w 292"/>
                <a:gd name="T17" fmla="*/ 2147483646 h 291"/>
                <a:gd name="T18" fmla="*/ 2147483646 w 292"/>
                <a:gd name="T19" fmla="*/ 0 h 291"/>
                <a:gd name="T20" fmla="*/ 2147483646 w 292"/>
                <a:gd name="T21" fmla="*/ 2147483646 h 291"/>
                <a:gd name="T22" fmla="*/ 2147483646 w 292"/>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2"/>
                <a:gd name="T37" fmla="*/ 0 h 291"/>
                <a:gd name="T38" fmla="*/ 292 w 292"/>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2"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6" y="291"/>
                    <a:pt x="0" y="226"/>
                    <a:pt x="0" y="145"/>
                  </a:cubicBezTo>
                  <a:cubicBezTo>
                    <a:pt x="0" y="65"/>
                    <a:pt x="66" y="0"/>
                    <a:pt x="146" y="0"/>
                  </a:cubicBezTo>
                  <a:cubicBezTo>
                    <a:pt x="226" y="0"/>
                    <a:pt x="292" y="65"/>
                    <a:pt x="292" y="145"/>
                  </a:cubicBezTo>
                  <a:cubicBezTo>
                    <a:pt x="292"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4" name="Freeform 268"/>
            <p:cNvSpPr>
              <a:spLocks noEditPoints="1"/>
            </p:cNvSpPr>
            <p:nvPr/>
          </p:nvSpPr>
          <p:spPr bwMode="gray">
            <a:xfrm>
              <a:off x="9511800"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2" y="159"/>
                  </a:moveTo>
                  <a:lnTo>
                    <a:pt x="72" y="159"/>
                  </a:lnTo>
                  <a:lnTo>
                    <a:pt x="314" y="159"/>
                  </a:lnTo>
                  <a:cubicBezTo>
                    <a:pt x="300" y="106"/>
                    <a:pt x="251" y="67"/>
                    <a:pt x="193" y="67"/>
                  </a:cubicBezTo>
                  <a:cubicBezTo>
                    <a:pt x="135" y="67"/>
                    <a:pt x="86" y="106"/>
                    <a:pt x="72" y="159"/>
                  </a:cubicBezTo>
                  <a:close/>
                  <a:moveTo>
                    <a:pt x="352" y="226"/>
                  </a:moveTo>
                  <a:lnTo>
                    <a:pt x="352" y="226"/>
                  </a:lnTo>
                  <a:lnTo>
                    <a:pt x="34" y="226"/>
                  </a:lnTo>
                  <a:cubicBezTo>
                    <a:pt x="15" y="226"/>
                    <a:pt x="0" y="211"/>
                    <a:pt x="0" y="193"/>
                  </a:cubicBezTo>
                  <a:cubicBezTo>
                    <a:pt x="0" y="86"/>
                    <a:pt x="87"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5" name="Freeform 269"/>
            <p:cNvSpPr>
              <a:spLocks noEditPoints="1"/>
            </p:cNvSpPr>
            <p:nvPr/>
          </p:nvSpPr>
          <p:spPr bwMode="gray">
            <a:xfrm>
              <a:off x="9466508"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3" y="417"/>
                  </a:moveTo>
                  <a:lnTo>
                    <a:pt x="523" y="417"/>
                  </a:lnTo>
                  <a:lnTo>
                    <a:pt x="26" y="417"/>
                  </a:lnTo>
                  <a:cubicBezTo>
                    <a:pt x="12" y="417"/>
                    <a:pt x="0" y="405"/>
                    <a:pt x="0" y="390"/>
                  </a:cubicBezTo>
                  <a:lnTo>
                    <a:pt x="0" y="27"/>
                  </a:lnTo>
                  <a:cubicBezTo>
                    <a:pt x="0" y="12"/>
                    <a:pt x="12" y="0"/>
                    <a:pt x="26" y="0"/>
                  </a:cubicBezTo>
                  <a:lnTo>
                    <a:pt x="523" y="0"/>
                  </a:lnTo>
                  <a:cubicBezTo>
                    <a:pt x="538" y="0"/>
                    <a:pt x="550" y="12"/>
                    <a:pt x="550" y="27"/>
                  </a:cubicBezTo>
                  <a:lnTo>
                    <a:pt x="550" y="390"/>
                  </a:lnTo>
                  <a:cubicBezTo>
                    <a:pt x="550" y="405"/>
                    <a:pt x="538" y="417"/>
                    <a:pt x="523"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6" name="Freeform 276"/>
            <p:cNvSpPr>
              <a:spLocks/>
            </p:cNvSpPr>
            <p:nvPr/>
          </p:nvSpPr>
          <p:spPr bwMode="gray">
            <a:xfrm>
              <a:off x="9413667" y="5636930"/>
              <a:ext cx="77374" cy="77374"/>
            </a:xfrm>
            <a:custGeom>
              <a:avLst/>
              <a:gdLst>
                <a:gd name="T0" fmla="*/ 0 w 139"/>
                <a:gd name="T1" fmla="*/ 2147483646 h 139"/>
                <a:gd name="T2" fmla="*/ 0 w 139"/>
                <a:gd name="T3" fmla="*/ 2147483646 h 139"/>
                <a:gd name="T4" fmla="*/ 2147483646 w 139"/>
                <a:gd name="T5" fmla="*/ 0 h 139"/>
                <a:gd name="T6" fmla="*/ 2147483646 w 139"/>
                <a:gd name="T7" fmla="*/ 2147483646 h 139"/>
                <a:gd name="T8" fmla="*/ 2147483646 w 139"/>
                <a:gd name="T9" fmla="*/ 2147483646 h 139"/>
                <a:gd name="T10" fmla="*/ 0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0" y="69"/>
                  </a:moveTo>
                  <a:lnTo>
                    <a:pt x="0" y="69"/>
                  </a:lnTo>
                  <a:cubicBezTo>
                    <a:pt x="0" y="31"/>
                    <a:pt x="31" y="0"/>
                    <a:pt x="69" y="0"/>
                  </a:cubicBezTo>
                  <a:cubicBezTo>
                    <a:pt x="107" y="0"/>
                    <a:pt x="139" y="31"/>
                    <a:pt x="139" y="69"/>
                  </a:cubicBezTo>
                  <a:cubicBezTo>
                    <a:pt x="139"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7" name="Freeform 277"/>
            <p:cNvSpPr>
              <a:spLocks/>
            </p:cNvSpPr>
            <p:nvPr/>
          </p:nvSpPr>
          <p:spPr bwMode="gray">
            <a:xfrm>
              <a:off x="9557092" y="5636930"/>
              <a:ext cx="77374" cy="77374"/>
            </a:xfrm>
            <a:custGeom>
              <a:avLst/>
              <a:gdLst>
                <a:gd name="T0" fmla="*/ 0 w 138"/>
                <a:gd name="T1" fmla="*/ 2147483646 h 139"/>
                <a:gd name="T2" fmla="*/ 0 w 138"/>
                <a:gd name="T3" fmla="*/ 2147483646 h 139"/>
                <a:gd name="T4" fmla="*/ 2147483646 w 138"/>
                <a:gd name="T5" fmla="*/ 0 h 139"/>
                <a:gd name="T6" fmla="*/ 2147483646 w 138"/>
                <a:gd name="T7" fmla="*/ 2147483646 h 139"/>
                <a:gd name="T8" fmla="*/ 2147483646 w 138"/>
                <a:gd name="T9" fmla="*/ 2147483646 h 139"/>
                <a:gd name="T10" fmla="*/ 0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0" y="69"/>
                  </a:moveTo>
                  <a:lnTo>
                    <a:pt x="0" y="69"/>
                  </a:lnTo>
                  <a:cubicBezTo>
                    <a:pt x="0" y="31"/>
                    <a:pt x="31" y="0"/>
                    <a:pt x="69" y="0"/>
                  </a:cubicBezTo>
                  <a:cubicBezTo>
                    <a:pt x="107" y="0"/>
                    <a:pt x="138" y="31"/>
                    <a:pt x="138" y="69"/>
                  </a:cubicBezTo>
                  <a:cubicBezTo>
                    <a:pt x="138"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8" name="Freeform 278"/>
            <p:cNvSpPr>
              <a:spLocks/>
            </p:cNvSpPr>
            <p:nvPr/>
          </p:nvSpPr>
          <p:spPr bwMode="gray">
            <a:xfrm>
              <a:off x="8734287" y="5199108"/>
              <a:ext cx="1094557" cy="490663"/>
            </a:xfrm>
            <a:custGeom>
              <a:avLst/>
              <a:gdLst>
                <a:gd name="T0" fmla="*/ 2147483646 w 1955"/>
                <a:gd name="T1" fmla="*/ 2147483646 h 879"/>
                <a:gd name="T2" fmla="*/ 2147483646 w 1955"/>
                <a:gd name="T3" fmla="*/ 2147483646 h 879"/>
                <a:gd name="T4" fmla="*/ 2147483646 w 1955"/>
                <a:gd name="T5" fmla="*/ 2147483646 h 879"/>
                <a:gd name="T6" fmla="*/ 2147483646 w 1955"/>
                <a:gd name="T7" fmla="*/ 2147483646 h 879"/>
                <a:gd name="T8" fmla="*/ 2147483646 w 1955"/>
                <a:gd name="T9" fmla="*/ 2147483646 h 879"/>
                <a:gd name="T10" fmla="*/ 2147483646 w 1955"/>
                <a:gd name="T11" fmla="*/ 2147483646 h 879"/>
                <a:gd name="T12" fmla="*/ 2147483646 w 1955"/>
                <a:gd name="T13" fmla="*/ 2147483646 h 879"/>
                <a:gd name="T14" fmla="*/ 2147483646 w 1955"/>
                <a:gd name="T15" fmla="*/ 2147483646 h 879"/>
                <a:gd name="T16" fmla="*/ 2147483646 w 1955"/>
                <a:gd name="T17" fmla="*/ 2147483646 h 879"/>
                <a:gd name="T18" fmla="*/ 2147483646 w 1955"/>
                <a:gd name="T19" fmla="*/ 2147483646 h 879"/>
                <a:gd name="T20" fmla="*/ 2147483646 w 1955"/>
                <a:gd name="T21" fmla="*/ 2147483646 h 879"/>
                <a:gd name="T22" fmla="*/ 0 w 1955"/>
                <a:gd name="T23" fmla="*/ 2147483646 h 879"/>
                <a:gd name="T24" fmla="*/ 0 w 1955"/>
                <a:gd name="T25" fmla="*/ 2147483646 h 879"/>
                <a:gd name="T26" fmla="*/ 2147483646 w 1955"/>
                <a:gd name="T27" fmla="*/ 0 h 879"/>
                <a:gd name="T28" fmla="*/ 2147483646 w 1955"/>
                <a:gd name="T29" fmla="*/ 0 h 879"/>
                <a:gd name="T30" fmla="*/ 2147483646 w 1955"/>
                <a:gd name="T31" fmla="*/ 2147483646 h 879"/>
                <a:gd name="T32" fmla="*/ 2147483646 w 1955"/>
                <a:gd name="T33" fmla="*/ 2147483646 h 879"/>
                <a:gd name="T34" fmla="*/ 2147483646 w 1955"/>
                <a:gd name="T35" fmla="*/ 2147483646 h 8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55"/>
                <a:gd name="T55" fmla="*/ 0 h 879"/>
                <a:gd name="T56" fmla="*/ 1955 w 1955"/>
                <a:gd name="T57" fmla="*/ 879 h 87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55" h="879">
                  <a:moveTo>
                    <a:pt x="1928" y="879"/>
                  </a:moveTo>
                  <a:lnTo>
                    <a:pt x="1928" y="879"/>
                  </a:lnTo>
                  <a:lnTo>
                    <a:pt x="1540" y="879"/>
                  </a:lnTo>
                  <a:lnTo>
                    <a:pt x="1540" y="826"/>
                  </a:lnTo>
                  <a:lnTo>
                    <a:pt x="1902" y="826"/>
                  </a:lnTo>
                  <a:lnTo>
                    <a:pt x="1902" y="54"/>
                  </a:lnTo>
                  <a:lnTo>
                    <a:pt x="53" y="54"/>
                  </a:lnTo>
                  <a:lnTo>
                    <a:pt x="53" y="826"/>
                  </a:lnTo>
                  <a:lnTo>
                    <a:pt x="1258" y="826"/>
                  </a:lnTo>
                  <a:lnTo>
                    <a:pt x="1258" y="879"/>
                  </a:lnTo>
                  <a:lnTo>
                    <a:pt x="26" y="879"/>
                  </a:lnTo>
                  <a:cubicBezTo>
                    <a:pt x="12" y="879"/>
                    <a:pt x="0" y="867"/>
                    <a:pt x="0" y="852"/>
                  </a:cubicBezTo>
                  <a:lnTo>
                    <a:pt x="0" y="27"/>
                  </a:lnTo>
                  <a:cubicBezTo>
                    <a:pt x="0" y="12"/>
                    <a:pt x="12" y="0"/>
                    <a:pt x="26" y="0"/>
                  </a:cubicBezTo>
                  <a:lnTo>
                    <a:pt x="1928" y="0"/>
                  </a:lnTo>
                  <a:cubicBezTo>
                    <a:pt x="1943" y="0"/>
                    <a:pt x="1955" y="12"/>
                    <a:pt x="1955" y="27"/>
                  </a:cubicBezTo>
                  <a:lnTo>
                    <a:pt x="1955" y="852"/>
                  </a:lnTo>
                  <a:cubicBezTo>
                    <a:pt x="1955" y="867"/>
                    <a:pt x="1943" y="879"/>
                    <a:pt x="1928" y="87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66" name="TextBox 13"/>
          <p:cNvSpPr txBox="1"/>
          <p:nvPr/>
        </p:nvSpPr>
        <p:spPr bwMode="gray">
          <a:xfrm>
            <a:off x="4485579" y="5580808"/>
            <a:ext cx="800219"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行政部门</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0" name="直接连接符 9"/>
          <p:cNvCxnSpPr/>
          <p:nvPr/>
        </p:nvCxnSpPr>
        <p:spPr bwMode="gray">
          <a:xfrm flipV="1">
            <a:off x="1784642" y="4234635"/>
            <a:ext cx="0" cy="100691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bwMode="gray">
          <a:xfrm flipV="1">
            <a:off x="3346951" y="3463402"/>
            <a:ext cx="0" cy="177815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bwMode="gray">
          <a:xfrm flipV="1">
            <a:off x="4852101" y="3764442"/>
            <a:ext cx="0" cy="14771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87" name="图片 58" descr="交换机.png"/>
          <p:cNvPicPr>
            <a:picLocks noChangeAspect="1"/>
          </p:cNvPicPr>
          <p:nvPr/>
        </p:nvPicPr>
        <p:blipFill>
          <a:blip r:embed="rId3" cstate="print"/>
          <a:stretch>
            <a:fillRect/>
          </a:stretch>
        </p:blipFill>
        <p:spPr bwMode="gray">
          <a:xfrm>
            <a:off x="1539190" y="3930418"/>
            <a:ext cx="490909" cy="401652"/>
          </a:xfrm>
          <a:prstGeom prst="rect">
            <a:avLst/>
          </a:prstGeom>
        </p:spPr>
      </p:pic>
      <p:pic>
        <p:nvPicPr>
          <p:cNvPr id="88" name="图片 58" descr="交换机.png"/>
          <p:cNvPicPr>
            <a:picLocks noChangeAspect="1"/>
          </p:cNvPicPr>
          <p:nvPr/>
        </p:nvPicPr>
        <p:blipFill>
          <a:blip r:embed="rId3" cstate="print"/>
          <a:stretch>
            <a:fillRect/>
          </a:stretch>
        </p:blipFill>
        <p:spPr bwMode="gray">
          <a:xfrm>
            <a:off x="3101498" y="3930418"/>
            <a:ext cx="490909" cy="401652"/>
          </a:xfrm>
          <a:prstGeom prst="rect">
            <a:avLst/>
          </a:prstGeom>
        </p:spPr>
      </p:pic>
      <p:pic>
        <p:nvPicPr>
          <p:cNvPr id="89" name="图片 58" descr="交换机.png"/>
          <p:cNvPicPr>
            <a:picLocks noChangeAspect="1"/>
          </p:cNvPicPr>
          <p:nvPr/>
        </p:nvPicPr>
        <p:blipFill>
          <a:blip r:embed="rId3" cstate="print"/>
          <a:stretch>
            <a:fillRect/>
          </a:stretch>
        </p:blipFill>
        <p:spPr bwMode="gray">
          <a:xfrm>
            <a:off x="4606647" y="3930418"/>
            <a:ext cx="490909" cy="401652"/>
          </a:xfrm>
          <a:prstGeom prst="rect">
            <a:avLst/>
          </a:prstGeom>
        </p:spPr>
      </p:pic>
      <p:sp>
        <p:nvSpPr>
          <p:cNvPr id="109" name="TextBox 13"/>
          <p:cNvSpPr txBox="1"/>
          <p:nvPr/>
        </p:nvSpPr>
        <p:spPr bwMode="gray">
          <a:xfrm>
            <a:off x="520270" y="1557453"/>
            <a:ext cx="5372530" cy="1015663"/>
          </a:xfrm>
          <a:prstGeom prst="rect">
            <a:avLst/>
          </a:prstGeom>
          <a:noFill/>
        </p:spPr>
        <p:txBody>
          <a:bodyPr wrap="square" rtlCol="0">
            <a:spAutoFit/>
          </a:bodyPr>
          <a:lstStyle/>
          <a:p>
            <a:pPr>
              <a:lnSpc>
                <a:spcPts val="2400"/>
              </a:lnSpc>
            </a:pPr>
            <a:r>
              <a:rPr lang="zh-CN" altLang="en-US" sz="14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通过防火墙的虚拟系统将网络隔离为研发部门、财经部门和行政部门。各部门之间可以根据权限互相访问，不同部门的管理员权限区分明确。</a:t>
            </a:r>
            <a:endParaRPr lang="en-US" altLang="zh-CN" sz="1400" dirty="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1" name="TextBox 13"/>
          <p:cNvSpPr txBox="1"/>
          <p:nvPr/>
        </p:nvSpPr>
        <p:spPr bwMode="gray">
          <a:xfrm>
            <a:off x="1929950" y="3907733"/>
            <a:ext cx="793898" cy="553998"/>
          </a:xfrm>
          <a:prstGeom prst="rect">
            <a:avLst/>
          </a:prstGeom>
          <a:noFill/>
        </p:spPr>
        <p:txBody>
          <a:bodyPr wrap="square" lIns="0" tIns="0" rIns="0" bIns="0"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虚拟</a:t>
            </a:r>
            <a:endPar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系统</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（研发）</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2" name="TextBox 13"/>
          <p:cNvSpPr txBox="1"/>
          <p:nvPr/>
        </p:nvSpPr>
        <p:spPr bwMode="gray">
          <a:xfrm>
            <a:off x="3475108" y="3907733"/>
            <a:ext cx="793898" cy="553998"/>
          </a:xfrm>
          <a:prstGeom prst="rect">
            <a:avLst/>
          </a:prstGeom>
          <a:noFill/>
        </p:spPr>
        <p:txBody>
          <a:bodyPr wrap="square" lIns="0" tIns="0" rIns="0" bIns="0"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虚拟</a:t>
            </a:r>
            <a:endPar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系统</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（财经）</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3" name="TextBox 13"/>
          <p:cNvSpPr txBox="1"/>
          <p:nvPr/>
        </p:nvSpPr>
        <p:spPr bwMode="gray">
          <a:xfrm>
            <a:off x="5006678" y="3907733"/>
            <a:ext cx="793898" cy="553998"/>
          </a:xfrm>
          <a:prstGeom prst="rect">
            <a:avLst/>
          </a:prstGeom>
          <a:noFill/>
        </p:spPr>
        <p:txBody>
          <a:bodyPr wrap="square" lIns="0" tIns="0" rIns="0" bIns="0"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虚拟</a:t>
            </a:r>
            <a:endPar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系统</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（行政）</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15" name="Can 9"/>
          <p:cNvSpPr/>
          <p:nvPr/>
        </p:nvSpPr>
        <p:spPr bwMode="gray">
          <a:xfrm>
            <a:off x="3035806" y="3137015"/>
            <a:ext cx="621298" cy="430733"/>
          </a:xfrm>
          <a:prstGeom prst="can">
            <a:avLst>
              <a:gd name="adj" fmla="val 34718"/>
            </a:avLst>
          </a:prstGeom>
          <a:solidFill>
            <a:srgbClr val="FFF2CC"/>
          </a:solidFill>
          <a:ln w="12700" cap="flat" cmpd="sng" algn="ctr">
            <a:solidFill>
              <a:srgbClr val="FFD17D"/>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6" name="直接连接符 115"/>
          <p:cNvCxnSpPr/>
          <p:nvPr/>
        </p:nvCxnSpPr>
        <p:spPr bwMode="gray">
          <a:xfrm flipV="1">
            <a:off x="3346454" y="2650448"/>
            <a:ext cx="0" cy="55336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7" name="Freeform 159"/>
          <p:cNvSpPr/>
          <p:nvPr/>
        </p:nvSpPr>
        <p:spPr bwMode="gray">
          <a:xfrm flipH="1">
            <a:off x="2879928" y="2485385"/>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18" name="直接连接符 117"/>
          <p:cNvCxnSpPr/>
          <p:nvPr/>
        </p:nvCxnSpPr>
        <p:spPr bwMode="gray">
          <a:xfrm flipV="1">
            <a:off x="1784642" y="3764441"/>
            <a:ext cx="0" cy="1744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bwMode="gray">
          <a:xfrm flipH="1">
            <a:off x="1784646" y="3764441"/>
            <a:ext cx="306745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2" name="圆角矩形 75"/>
          <p:cNvSpPr/>
          <p:nvPr/>
        </p:nvSpPr>
        <p:spPr bwMode="gray">
          <a:xfrm>
            <a:off x="6414406" y="4964456"/>
            <a:ext cx="5138067" cy="971987"/>
          </a:xfrm>
          <a:prstGeom prst="roundRect">
            <a:avLst>
              <a:gd name="adj" fmla="val 3088"/>
            </a:avLst>
          </a:prstGeom>
          <a:solidFill>
            <a:schemeClr val="bg1">
              <a:lumMod val="85000"/>
              <a:alpha val="4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3" name="圆角矩形 75"/>
          <p:cNvSpPr/>
          <p:nvPr/>
        </p:nvSpPr>
        <p:spPr bwMode="gray">
          <a:xfrm>
            <a:off x="6414406" y="3435063"/>
            <a:ext cx="5138067" cy="1287292"/>
          </a:xfrm>
          <a:prstGeom prst="roundRect">
            <a:avLst>
              <a:gd name="adj" fmla="val 3088"/>
            </a:avLst>
          </a:prstGeom>
          <a:solidFill>
            <a:srgbClr val="FEEEC1">
              <a:alpha val="40000"/>
            </a:srgb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4" name="TextBox 13"/>
          <p:cNvSpPr txBox="1"/>
          <p:nvPr/>
        </p:nvSpPr>
        <p:spPr bwMode="gray">
          <a:xfrm>
            <a:off x="6414406" y="3570878"/>
            <a:ext cx="475411" cy="1015663"/>
          </a:xfrm>
          <a:prstGeom prst="rect">
            <a:avLst/>
          </a:prstGeom>
          <a:noFill/>
        </p:spPr>
        <p:txBody>
          <a:bodyPr wrap="square" rtlCol="0">
            <a:spAutoFit/>
          </a:bodyPr>
          <a:lstStyle/>
          <a:p>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物理防火墙</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35" name="TextBox 13"/>
          <p:cNvSpPr txBox="1"/>
          <p:nvPr/>
        </p:nvSpPr>
        <p:spPr bwMode="gray">
          <a:xfrm>
            <a:off x="6414406" y="4958262"/>
            <a:ext cx="396551" cy="1015663"/>
          </a:xfrm>
          <a:prstGeom prst="rect">
            <a:avLst/>
          </a:prstGeom>
          <a:noFill/>
        </p:spPr>
        <p:txBody>
          <a:bodyPr wrap="square" rtlCol="0">
            <a:spAutoFit/>
          </a:bodyPr>
          <a:lstStyle/>
          <a:p>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云计算中心</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137" name="组合 136"/>
          <p:cNvGrpSpPr/>
          <p:nvPr/>
        </p:nvGrpSpPr>
        <p:grpSpPr bwMode="gray">
          <a:xfrm>
            <a:off x="7220440" y="5241553"/>
            <a:ext cx="632201" cy="297570"/>
            <a:chOff x="8734287" y="5199108"/>
            <a:chExt cx="1094557" cy="515196"/>
          </a:xfrm>
        </p:grpSpPr>
        <p:sp>
          <p:nvSpPr>
            <p:cNvPr id="139" name="Freeform 261"/>
            <p:cNvSpPr>
              <a:spLocks noEditPoints="1"/>
            </p:cNvSpPr>
            <p:nvPr/>
          </p:nvSpPr>
          <p:spPr bwMode="gray">
            <a:xfrm>
              <a:off x="8870163"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5" y="291"/>
                    <a:pt x="0" y="226"/>
                    <a:pt x="0" y="145"/>
                  </a:cubicBezTo>
                  <a:cubicBezTo>
                    <a:pt x="0" y="65"/>
                    <a:pt x="65" y="0"/>
                    <a:pt x="146" y="0"/>
                  </a:cubicBezTo>
                  <a:cubicBezTo>
                    <a:pt x="226" y="0"/>
                    <a:pt x="291" y="65"/>
                    <a:pt x="291" y="145"/>
                  </a:cubicBezTo>
                  <a:cubicBezTo>
                    <a:pt x="291"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0" name="Freeform 262"/>
            <p:cNvSpPr>
              <a:spLocks noEditPoints="1"/>
            </p:cNvSpPr>
            <p:nvPr/>
          </p:nvSpPr>
          <p:spPr bwMode="gray">
            <a:xfrm>
              <a:off x="8843743"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3" y="67"/>
                  </a:cubicBezTo>
                  <a:cubicBezTo>
                    <a:pt x="135" y="67"/>
                    <a:pt x="86" y="106"/>
                    <a:pt x="71" y="159"/>
                  </a:cubicBezTo>
                  <a:close/>
                  <a:moveTo>
                    <a:pt x="352" y="226"/>
                  </a:moveTo>
                  <a:lnTo>
                    <a:pt x="352" y="226"/>
                  </a:lnTo>
                  <a:lnTo>
                    <a:pt x="33" y="226"/>
                  </a:lnTo>
                  <a:cubicBezTo>
                    <a:pt x="15" y="226"/>
                    <a:pt x="0" y="211"/>
                    <a:pt x="0" y="193"/>
                  </a:cubicBezTo>
                  <a:cubicBezTo>
                    <a:pt x="0" y="86"/>
                    <a:pt x="86"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1" name="Freeform 263"/>
            <p:cNvSpPr>
              <a:spLocks noEditPoints="1"/>
            </p:cNvSpPr>
            <p:nvPr/>
          </p:nvSpPr>
          <p:spPr bwMode="gray">
            <a:xfrm>
              <a:off x="8798451" y="5261385"/>
              <a:ext cx="307609" cy="232122"/>
            </a:xfrm>
            <a:custGeom>
              <a:avLst/>
              <a:gdLst>
                <a:gd name="T0" fmla="*/ 2147483646 w 551"/>
                <a:gd name="T1" fmla="*/ 2147483646 h 417"/>
                <a:gd name="T2" fmla="*/ 2147483646 w 551"/>
                <a:gd name="T3" fmla="*/ 2147483646 h 417"/>
                <a:gd name="T4" fmla="*/ 2147483646 w 551"/>
                <a:gd name="T5" fmla="*/ 2147483646 h 417"/>
                <a:gd name="T6" fmla="*/ 2147483646 w 551"/>
                <a:gd name="T7" fmla="*/ 2147483646 h 417"/>
                <a:gd name="T8" fmla="*/ 2147483646 w 551"/>
                <a:gd name="T9" fmla="*/ 2147483646 h 417"/>
                <a:gd name="T10" fmla="*/ 2147483646 w 551"/>
                <a:gd name="T11" fmla="*/ 2147483646 h 417"/>
                <a:gd name="T12" fmla="*/ 2147483646 w 551"/>
                <a:gd name="T13" fmla="*/ 2147483646 h 417"/>
                <a:gd name="T14" fmla="*/ 2147483646 w 551"/>
                <a:gd name="T15" fmla="*/ 2147483646 h 417"/>
                <a:gd name="T16" fmla="*/ 2147483646 w 551"/>
                <a:gd name="T17" fmla="*/ 2147483646 h 417"/>
                <a:gd name="T18" fmla="*/ 0 w 551"/>
                <a:gd name="T19" fmla="*/ 2147483646 h 417"/>
                <a:gd name="T20" fmla="*/ 0 w 551"/>
                <a:gd name="T21" fmla="*/ 2147483646 h 417"/>
                <a:gd name="T22" fmla="*/ 2147483646 w 551"/>
                <a:gd name="T23" fmla="*/ 0 h 417"/>
                <a:gd name="T24" fmla="*/ 2147483646 w 551"/>
                <a:gd name="T25" fmla="*/ 0 h 417"/>
                <a:gd name="T26" fmla="*/ 2147483646 w 551"/>
                <a:gd name="T27" fmla="*/ 2147483646 h 417"/>
                <a:gd name="T28" fmla="*/ 2147483646 w 551"/>
                <a:gd name="T29" fmla="*/ 2147483646 h 417"/>
                <a:gd name="T30" fmla="*/ 2147483646 w 551"/>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1"/>
                <a:gd name="T49" fmla="*/ 0 h 417"/>
                <a:gd name="T50" fmla="*/ 551 w 551"/>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1" h="417">
                  <a:moveTo>
                    <a:pt x="54" y="364"/>
                  </a:moveTo>
                  <a:lnTo>
                    <a:pt x="54" y="364"/>
                  </a:lnTo>
                  <a:lnTo>
                    <a:pt x="497" y="364"/>
                  </a:lnTo>
                  <a:lnTo>
                    <a:pt x="497" y="53"/>
                  </a:lnTo>
                  <a:lnTo>
                    <a:pt x="54" y="53"/>
                  </a:lnTo>
                  <a:lnTo>
                    <a:pt x="54"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9" y="0"/>
                    <a:pt x="551" y="12"/>
                    <a:pt x="551" y="27"/>
                  </a:cubicBezTo>
                  <a:lnTo>
                    <a:pt x="551" y="390"/>
                  </a:lnTo>
                  <a:cubicBezTo>
                    <a:pt x="551" y="405"/>
                    <a:pt x="539"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2" name="Freeform 264"/>
            <p:cNvSpPr>
              <a:spLocks noEditPoints="1"/>
            </p:cNvSpPr>
            <p:nvPr/>
          </p:nvSpPr>
          <p:spPr bwMode="gray">
            <a:xfrm>
              <a:off x="9204192"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5" y="66"/>
                  </a:moveTo>
                  <a:lnTo>
                    <a:pt x="145" y="66"/>
                  </a:lnTo>
                  <a:cubicBezTo>
                    <a:pt x="102" y="66"/>
                    <a:pt x="66" y="102"/>
                    <a:pt x="66" y="145"/>
                  </a:cubicBezTo>
                  <a:cubicBezTo>
                    <a:pt x="66" y="189"/>
                    <a:pt x="102" y="224"/>
                    <a:pt x="145" y="224"/>
                  </a:cubicBezTo>
                  <a:cubicBezTo>
                    <a:pt x="189" y="224"/>
                    <a:pt x="224" y="189"/>
                    <a:pt x="224" y="145"/>
                  </a:cubicBezTo>
                  <a:cubicBezTo>
                    <a:pt x="224" y="102"/>
                    <a:pt x="189" y="66"/>
                    <a:pt x="145" y="66"/>
                  </a:cubicBezTo>
                  <a:close/>
                  <a:moveTo>
                    <a:pt x="145" y="291"/>
                  </a:moveTo>
                  <a:lnTo>
                    <a:pt x="145" y="291"/>
                  </a:lnTo>
                  <a:cubicBezTo>
                    <a:pt x="65" y="291"/>
                    <a:pt x="0" y="226"/>
                    <a:pt x="0" y="145"/>
                  </a:cubicBezTo>
                  <a:cubicBezTo>
                    <a:pt x="0" y="65"/>
                    <a:pt x="65" y="0"/>
                    <a:pt x="145" y="0"/>
                  </a:cubicBezTo>
                  <a:cubicBezTo>
                    <a:pt x="226" y="0"/>
                    <a:pt x="291" y="65"/>
                    <a:pt x="291" y="145"/>
                  </a:cubicBezTo>
                  <a:cubicBezTo>
                    <a:pt x="291" y="226"/>
                    <a:pt x="226" y="291"/>
                    <a:pt x="145"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3" name="Freeform 265"/>
            <p:cNvSpPr>
              <a:spLocks noEditPoints="1"/>
            </p:cNvSpPr>
            <p:nvPr/>
          </p:nvSpPr>
          <p:spPr bwMode="gray">
            <a:xfrm>
              <a:off x="9177772"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2" y="67"/>
                  </a:cubicBezTo>
                  <a:cubicBezTo>
                    <a:pt x="134" y="67"/>
                    <a:pt x="86" y="106"/>
                    <a:pt x="71" y="159"/>
                  </a:cubicBezTo>
                  <a:close/>
                  <a:moveTo>
                    <a:pt x="351" y="226"/>
                  </a:moveTo>
                  <a:lnTo>
                    <a:pt x="351" y="226"/>
                  </a:lnTo>
                  <a:lnTo>
                    <a:pt x="33" y="226"/>
                  </a:lnTo>
                  <a:cubicBezTo>
                    <a:pt x="15" y="226"/>
                    <a:pt x="0" y="211"/>
                    <a:pt x="0" y="193"/>
                  </a:cubicBezTo>
                  <a:cubicBezTo>
                    <a:pt x="0" y="86"/>
                    <a:pt x="86" y="0"/>
                    <a:pt x="192" y="0"/>
                  </a:cubicBezTo>
                  <a:cubicBezTo>
                    <a:pt x="298" y="0"/>
                    <a:pt x="385" y="86"/>
                    <a:pt x="385" y="193"/>
                  </a:cubicBezTo>
                  <a:cubicBezTo>
                    <a:pt x="385" y="211"/>
                    <a:pt x="370" y="226"/>
                    <a:pt x="351"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4" name="Freeform 266"/>
            <p:cNvSpPr>
              <a:spLocks noEditPoints="1"/>
            </p:cNvSpPr>
            <p:nvPr/>
          </p:nvSpPr>
          <p:spPr bwMode="gray">
            <a:xfrm>
              <a:off x="9132480"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8" y="0"/>
                    <a:pt x="550" y="12"/>
                    <a:pt x="550" y="27"/>
                  </a:cubicBezTo>
                  <a:lnTo>
                    <a:pt x="550" y="390"/>
                  </a:lnTo>
                  <a:cubicBezTo>
                    <a:pt x="550" y="405"/>
                    <a:pt x="538"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5" name="Freeform 267"/>
            <p:cNvSpPr>
              <a:spLocks noEditPoints="1"/>
            </p:cNvSpPr>
            <p:nvPr/>
          </p:nvSpPr>
          <p:spPr bwMode="gray">
            <a:xfrm>
              <a:off x="9538220" y="5334984"/>
              <a:ext cx="164184" cy="162296"/>
            </a:xfrm>
            <a:custGeom>
              <a:avLst/>
              <a:gdLst>
                <a:gd name="T0" fmla="*/ 2147483646 w 292"/>
                <a:gd name="T1" fmla="*/ 2147483646 h 291"/>
                <a:gd name="T2" fmla="*/ 2147483646 w 292"/>
                <a:gd name="T3" fmla="*/ 2147483646 h 291"/>
                <a:gd name="T4" fmla="*/ 2147483646 w 292"/>
                <a:gd name="T5" fmla="*/ 2147483646 h 291"/>
                <a:gd name="T6" fmla="*/ 2147483646 w 292"/>
                <a:gd name="T7" fmla="*/ 2147483646 h 291"/>
                <a:gd name="T8" fmla="*/ 2147483646 w 292"/>
                <a:gd name="T9" fmla="*/ 2147483646 h 291"/>
                <a:gd name="T10" fmla="*/ 2147483646 w 292"/>
                <a:gd name="T11" fmla="*/ 2147483646 h 291"/>
                <a:gd name="T12" fmla="*/ 2147483646 w 292"/>
                <a:gd name="T13" fmla="*/ 2147483646 h 291"/>
                <a:gd name="T14" fmla="*/ 2147483646 w 292"/>
                <a:gd name="T15" fmla="*/ 2147483646 h 291"/>
                <a:gd name="T16" fmla="*/ 0 w 292"/>
                <a:gd name="T17" fmla="*/ 2147483646 h 291"/>
                <a:gd name="T18" fmla="*/ 2147483646 w 292"/>
                <a:gd name="T19" fmla="*/ 0 h 291"/>
                <a:gd name="T20" fmla="*/ 2147483646 w 292"/>
                <a:gd name="T21" fmla="*/ 2147483646 h 291"/>
                <a:gd name="T22" fmla="*/ 2147483646 w 292"/>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2"/>
                <a:gd name="T37" fmla="*/ 0 h 291"/>
                <a:gd name="T38" fmla="*/ 292 w 292"/>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2"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6" y="291"/>
                    <a:pt x="0" y="226"/>
                    <a:pt x="0" y="145"/>
                  </a:cubicBezTo>
                  <a:cubicBezTo>
                    <a:pt x="0" y="65"/>
                    <a:pt x="66" y="0"/>
                    <a:pt x="146" y="0"/>
                  </a:cubicBezTo>
                  <a:cubicBezTo>
                    <a:pt x="226" y="0"/>
                    <a:pt x="292" y="65"/>
                    <a:pt x="292" y="145"/>
                  </a:cubicBezTo>
                  <a:cubicBezTo>
                    <a:pt x="292"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6" name="Freeform 268"/>
            <p:cNvSpPr>
              <a:spLocks noEditPoints="1"/>
            </p:cNvSpPr>
            <p:nvPr/>
          </p:nvSpPr>
          <p:spPr bwMode="gray">
            <a:xfrm>
              <a:off x="9511800"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2" y="159"/>
                  </a:moveTo>
                  <a:lnTo>
                    <a:pt x="72" y="159"/>
                  </a:lnTo>
                  <a:lnTo>
                    <a:pt x="314" y="159"/>
                  </a:lnTo>
                  <a:cubicBezTo>
                    <a:pt x="300" y="106"/>
                    <a:pt x="251" y="67"/>
                    <a:pt x="193" y="67"/>
                  </a:cubicBezTo>
                  <a:cubicBezTo>
                    <a:pt x="135" y="67"/>
                    <a:pt x="86" y="106"/>
                    <a:pt x="72" y="159"/>
                  </a:cubicBezTo>
                  <a:close/>
                  <a:moveTo>
                    <a:pt x="352" y="226"/>
                  </a:moveTo>
                  <a:lnTo>
                    <a:pt x="352" y="226"/>
                  </a:lnTo>
                  <a:lnTo>
                    <a:pt x="34" y="226"/>
                  </a:lnTo>
                  <a:cubicBezTo>
                    <a:pt x="15" y="226"/>
                    <a:pt x="0" y="211"/>
                    <a:pt x="0" y="193"/>
                  </a:cubicBezTo>
                  <a:cubicBezTo>
                    <a:pt x="0" y="86"/>
                    <a:pt x="87"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7" name="Freeform 269"/>
            <p:cNvSpPr>
              <a:spLocks noEditPoints="1"/>
            </p:cNvSpPr>
            <p:nvPr/>
          </p:nvSpPr>
          <p:spPr bwMode="gray">
            <a:xfrm>
              <a:off x="9466508"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3" y="417"/>
                  </a:moveTo>
                  <a:lnTo>
                    <a:pt x="523" y="417"/>
                  </a:lnTo>
                  <a:lnTo>
                    <a:pt x="26" y="417"/>
                  </a:lnTo>
                  <a:cubicBezTo>
                    <a:pt x="12" y="417"/>
                    <a:pt x="0" y="405"/>
                    <a:pt x="0" y="390"/>
                  </a:cubicBezTo>
                  <a:lnTo>
                    <a:pt x="0" y="27"/>
                  </a:lnTo>
                  <a:cubicBezTo>
                    <a:pt x="0" y="12"/>
                    <a:pt x="12" y="0"/>
                    <a:pt x="26" y="0"/>
                  </a:cubicBezTo>
                  <a:lnTo>
                    <a:pt x="523" y="0"/>
                  </a:lnTo>
                  <a:cubicBezTo>
                    <a:pt x="538" y="0"/>
                    <a:pt x="550" y="12"/>
                    <a:pt x="550" y="27"/>
                  </a:cubicBezTo>
                  <a:lnTo>
                    <a:pt x="550" y="390"/>
                  </a:lnTo>
                  <a:cubicBezTo>
                    <a:pt x="550" y="405"/>
                    <a:pt x="538" y="417"/>
                    <a:pt x="523"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8" name="Freeform 276"/>
            <p:cNvSpPr>
              <a:spLocks/>
            </p:cNvSpPr>
            <p:nvPr/>
          </p:nvSpPr>
          <p:spPr bwMode="gray">
            <a:xfrm>
              <a:off x="9413667" y="5636930"/>
              <a:ext cx="77374" cy="77374"/>
            </a:xfrm>
            <a:custGeom>
              <a:avLst/>
              <a:gdLst>
                <a:gd name="T0" fmla="*/ 0 w 139"/>
                <a:gd name="T1" fmla="*/ 2147483646 h 139"/>
                <a:gd name="T2" fmla="*/ 0 w 139"/>
                <a:gd name="T3" fmla="*/ 2147483646 h 139"/>
                <a:gd name="T4" fmla="*/ 2147483646 w 139"/>
                <a:gd name="T5" fmla="*/ 0 h 139"/>
                <a:gd name="T6" fmla="*/ 2147483646 w 139"/>
                <a:gd name="T7" fmla="*/ 2147483646 h 139"/>
                <a:gd name="T8" fmla="*/ 2147483646 w 139"/>
                <a:gd name="T9" fmla="*/ 2147483646 h 139"/>
                <a:gd name="T10" fmla="*/ 0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0" y="69"/>
                  </a:moveTo>
                  <a:lnTo>
                    <a:pt x="0" y="69"/>
                  </a:lnTo>
                  <a:cubicBezTo>
                    <a:pt x="0" y="31"/>
                    <a:pt x="31" y="0"/>
                    <a:pt x="69" y="0"/>
                  </a:cubicBezTo>
                  <a:cubicBezTo>
                    <a:pt x="107" y="0"/>
                    <a:pt x="139" y="31"/>
                    <a:pt x="139" y="69"/>
                  </a:cubicBezTo>
                  <a:cubicBezTo>
                    <a:pt x="139"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9" name="Freeform 277"/>
            <p:cNvSpPr>
              <a:spLocks/>
            </p:cNvSpPr>
            <p:nvPr/>
          </p:nvSpPr>
          <p:spPr bwMode="gray">
            <a:xfrm>
              <a:off x="9557092" y="5636930"/>
              <a:ext cx="77374" cy="77374"/>
            </a:xfrm>
            <a:custGeom>
              <a:avLst/>
              <a:gdLst>
                <a:gd name="T0" fmla="*/ 0 w 138"/>
                <a:gd name="T1" fmla="*/ 2147483646 h 139"/>
                <a:gd name="T2" fmla="*/ 0 w 138"/>
                <a:gd name="T3" fmla="*/ 2147483646 h 139"/>
                <a:gd name="T4" fmla="*/ 2147483646 w 138"/>
                <a:gd name="T5" fmla="*/ 0 h 139"/>
                <a:gd name="T6" fmla="*/ 2147483646 w 138"/>
                <a:gd name="T7" fmla="*/ 2147483646 h 139"/>
                <a:gd name="T8" fmla="*/ 2147483646 w 138"/>
                <a:gd name="T9" fmla="*/ 2147483646 h 139"/>
                <a:gd name="T10" fmla="*/ 0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0" y="69"/>
                  </a:moveTo>
                  <a:lnTo>
                    <a:pt x="0" y="69"/>
                  </a:lnTo>
                  <a:cubicBezTo>
                    <a:pt x="0" y="31"/>
                    <a:pt x="31" y="0"/>
                    <a:pt x="69" y="0"/>
                  </a:cubicBezTo>
                  <a:cubicBezTo>
                    <a:pt x="107" y="0"/>
                    <a:pt x="138" y="31"/>
                    <a:pt x="138" y="69"/>
                  </a:cubicBezTo>
                  <a:cubicBezTo>
                    <a:pt x="138"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0" name="Freeform 278"/>
            <p:cNvSpPr>
              <a:spLocks/>
            </p:cNvSpPr>
            <p:nvPr/>
          </p:nvSpPr>
          <p:spPr bwMode="gray">
            <a:xfrm>
              <a:off x="8734287" y="5199108"/>
              <a:ext cx="1094557" cy="490663"/>
            </a:xfrm>
            <a:custGeom>
              <a:avLst/>
              <a:gdLst>
                <a:gd name="T0" fmla="*/ 2147483646 w 1955"/>
                <a:gd name="T1" fmla="*/ 2147483646 h 879"/>
                <a:gd name="T2" fmla="*/ 2147483646 w 1955"/>
                <a:gd name="T3" fmla="*/ 2147483646 h 879"/>
                <a:gd name="T4" fmla="*/ 2147483646 w 1955"/>
                <a:gd name="T5" fmla="*/ 2147483646 h 879"/>
                <a:gd name="T6" fmla="*/ 2147483646 w 1955"/>
                <a:gd name="T7" fmla="*/ 2147483646 h 879"/>
                <a:gd name="T8" fmla="*/ 2147483646 w 1955"/>
                <a:gd name="T9" fmla="*/ 2147483646 h 879"/>
                <a:gd name="T10" fmla="*/ 2147483646 w 1955"/>
                <a:gd name="T11" fmla="*/ 2147483646 h 879"/>
                <a:gd name="T12" fmla="*/ 2147483646 w 1955"/>
                <a:gd name="T13" fmla="*/ 2147483646 h 879"/>
                <a:gd name="T14" fmla="*/ 2147483646 w 1955"/>
                <a:gd name="T15" fmla="*/ 2147483646 h 879"/>
                <a:gd name="T16" fmla="*/ 2147483646 w 1955"/>
                <a:gd name="T17" fmla="*/ 2147483646 h 879"/>
                <a:gd name="T18" fmla="*/ 2147483646 w 1955"/>
                <a:gd name="T19" fmla="*/ 2147483646 h 879"/>
                <a:gd name="T20" fmla="*/ 2147483646 w 1955"/>
                <a:gd name="T21" fmla="*/ 2147483646 h 879"/>
                <a:gd name="T22" fmla="*/ 0 w 1955"/>
                <a:gd name="T23" fmla="*/ 2147483646 h 879"/>
                <a:gd name="T24" fmla="*/ 0 w 1955"/>
                <a:gd name="T25" fmla="*/ 2147483646 h 879"/>
                <a:gd name="T26" fmla="*/ 2147483646 w 1955"/>
                <a:gd name="T27" fmla="*/ 0 h 879"/>
                <a:gd name="T28" fmla="*/ 2147483646 w 1955"/>
                <a:gd name="T29" fmla="*/ 0 h 879"/>
                <a:gd name="T30" fmla="*/ 2147483646 w 1955"/>
                <a:gd name="T31" fmla="*/ 2147483646 h 879"/>
                <a:gd name="T32" fmla="*/ 2147483646 w 1955"/>
                <a:gd name="T33" fmla="*/ 2147483646 h 879"/>
                <a:gd name="T34" fmla="*/ 2147483646 w 1955"/>
                <a:gd name="T35" fmla="*/ 2147483646 h 8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55"/>
                <a:gd name="T55" fmla="*/ 0 h 879"/>
                <a:gd name="T56" fmla="*/ 1955 w 1955"/>
                <a:gd name="T57" fmla="*/ 879 h 87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55" h="879">
                  <a:moveTo>
                    <a:pt x="1928" y="879"/>
                  </a:moveTo>
                  <a:lnTo>
                    <a:pt x="1928" y="879"/>
                  </a:lnTo>
                  <a:lnTo>
                    <a:pt x="1540" y="879"/>
                  </a:lnTo>
                  <a:lnTo>
                    <a:pt x="1540" y="826"/>
                  </a:lnTo>
                  <a:lnTo>
                    <a:pt x="1902" y="826"/>
                  </a:lnTo>
                  <a:lnTo>
                    <a:pt x="1902" y="54"/>
                  </a:lnTo>
                  <a:lnTo>
                    <a:pt x="53" y="54"/>
                  </a:lnTo>
                  <a:lnTo>
                    <a:pt x="53" y="826"/>
                  </a:lnTo>
                  <a:lnTo>
                    <a:pt x="1258" y="826"/>
                  </a:lnTo>
                  <a:lnTo>
                    <a:pt x="1258" y="879"/>
                  </a:lnTo>
                  <a:lnTo>
                    <a:pt x="26" y="879"/>
                  </a:lnTo>
                  <a:cubicBezTo>
                    <a:pt x="12" y="879"/>
                    <a:pt x="0" y="867"/>
                    <a:pt x="0" y="852"/>
                  </a:cubicBezTo>
                  <a:lnTo>
                    <a:pt x="0" y="27"/>
                  </a:lnTo>
                  <a:cubicBezTo>
                    <a:pt x="0" y="12"/>
                    <a:pt x="12" y="0"/>
                    <a:pt x="26" y="0"/>
                  </a:cubicBezTo>
                  <a:lnTo>
                    <a:pt x="1928" y="0"/>
                  </a:lnTo>
                  <a:cubicBezTo>
                    <a:pt x="1943" y="0"/>
                    <a:pt x="1955" y="12"/>
                    <a:pt x="1955" y="27"/>
                  </a:cubicBezTo>
                  <a:lnTo>
                    <a:pt x="1955" y="852"/>
                  </a:lnTo>
                  <a:cubicBezTo>
                    <a:pt x="1955" y="867"/>
                    <a:pt x="1943" y="879"/>
                    <a:pt x="1928" y="87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38" name="TextBox 13"/>
          <p:cNvSpPr txBox="1"/>
          <p:nvPr/>
        </p:nvSpPr>
        <p:spPr bwMode="gray">
          <a:xfrm>
            <a:off x="7237418" y="5580808"/>
            <a:ext cx="598242"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租户</a:t>
            </a:r>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167" name="组合 166"/>
          <p:cNvGrpSpPr/>
          <p:nvPr/>
        </p:nvGrpSpPr>
        <p:grpSpPr bwMode="gray">
          <a:xfrm>
            <a:off x="10321484" y="5241553"/>
            <a:ext cx="632201" cy="297570"/>
            <a:chOff x="8734287" y="5199108"/>
            <a:chExt cx="1094557" cy="515196"/>
          </a:xfrm>
        </p:grpSpPr>
        <p:sp>
          <p:nvSpPr>
            <p:cNvPr id="169" name="Freeform 261"/>
            <p:cNvSpPr>
              <a:spLocks noEditPoints="1"/>
            </p:cNvSpPr>
            <p:nvPr/>
          </p:nvSpPr>
          <p:spPr bwMode="gray">
            <a:xfrm>
              <a:off x="8870163"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5" y="291"/>
                    <a:pt x="0" y="226"/>
                    <a:pt x="0" y="145"/>
                  </a:cubicBezTo>
                  <a:cubicBezTo>
                    <a:pt x="0" y="65"/>
                    <a:pt x="65" y="0"/>
                    <a:pt x="146" y="0"/>
                  </a:cubicBezTo>
                  <a:cubicBezTo>
                    <a:pt x="226" y="0"/>
                    <a:pt x="291" y="65"/>
                    <a:pt x="291" y="145"/>
                  </a:cubicBezTo>
                  <a:cubicBezTo>
                    <a:pt x="291"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0" name="Freeform 262"/>
            <p:cNvSpPr>
              <a:spLocks noEditPoints="1"/>
            </p:cNvSpPr>
            <p:nvPr/>
          </p:nvSpPr>
          <p:spPr bwMode="gray">
            <a:xfrm>
              <a:off x="8843743"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3" y="67"/>
                  </a:cubicBezTo>
                  <a:cubicBezTo>
                    <a:pt x="135" y="67"/>
                    <a:pt x="86" y="106"/>
                    <a:pt x="71" y="159"/>
                  </a:cubicBezTo>
                  <a:close/>
                  <a:moveTo>
                    <a:pt x="352" y="226"/>
                  </a:moveTo>
                  <a:lnTo>
                    <a:pt x="352" y="226"/>
                  </a:lnTo>
                  <a:lnTo>
                    <a:pt x="33" y="226"/>
                  </a:lnTo>
                  <a:cubicBezTo>
                    <a:pt x="15" y="226"/>
                    <a:pt x="0" y="211"/>
                    <a:pt x="0" y="193"/>
                  </a:cubicBezTo>
                  <a:cubicBezTo>
                    <a:pt x="0" y="86"/>
                    <a:pt x="86"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1" name="Freeform 263"/>
            <p:cNvSpPr>
              <a:spLocks noEditPoints="1"/>
            </p:cNvSpPr>
            <p:nvPr/>
          </p:nvSpPr>
          <p:spPr bwMode="gray">
            <a:xfrm>
              <a:off x="8798451" y="5261385"/>
              <a:ext cx="307609" cy="232122"/>
            </a:xfrm>
            <a:custGeom>
              <a:avLst/>
              <a:gdLst>
                <a:gd name="T0" fmla="*/ 2147483646 w 551"/>
                <a:gd name="T1" fmla="*/ 2147483646 h 417"/>
                <a:gd name="T2" fmla="*/ 2147483646 w 551"/>
                <a:gd name="T3" fmla="*/ 2147483646 h 417"/>
                <a:gd name="T4" fmla="*/ 2147483646 w 551"/>
                <a:gd name="T5" fmla="*/ 2147483646 h 417"/>
                <a:gd name="T6" fmla="*/ 2147483646 w 551"/>
                <a:gd name="T7" fmla="*/ 2147483646 h 417"/>
                <a:gd name="T8" fmla="*/ 2147483646 w 551"/>
                <a:gd name="T9" fmla="*/ 2147483646 h 417"/>
                <a:gd name="T10" fmla="*/ 2147483646 w 551"/>
                <a:gd name="T11" fmla="*/ 2147483646 h 417"/>
                <a:gd name="T12" fmla="*/ 2147483646 w 551"/>
                <a:gd name="T13" fmla="*/ 2147483646 h 417"/>
                <a:gd name="T14" fmla="*/ 2147483646 w 551"/>
                <a:gd name="T15" fmla="*/ 2147483646 h 417"/>
                <a:gd name="T16" fmla="*/ 2147483646 w 551"/>
                <a:gd name="T17" fmla="*/ 2147483646 h 417"/>
                <a:gd name="T18" fmla="*/ 0 w 551"/>
                <a:gd name="T19" fmla="*/ 2147483646 h 417"/>
                <a:gd name="T20" fmla="*/ 0 w 551"/>
                <a:gd name="T21" fmla="*/ 2147483646 h 417"/>
                <a:gd name="T22" fmla="*/ 2147483646 w 551"/>
                <a:gd name="T23" fmla="*/ 0 h 417"/>
                <a:gd name="T24" fmla="*/ 2147483646 w 551"/>
                <a:gd name="T25" fmla="*/ 0 h 417"/>
                <a:gd name="T26" fmla="*/ 2147483646 w 551"/>
                <a:gd name="T27" fmla="*/ 2147483646 h 417"/>
                <a:gd name="T28" fmla="*/ 2147483646 w 551"/>
                <a:gd name="T29" fmla="*/ 2147483646 h 417"/>
                <a:gd name="T30" fmla="*/ 2147483646 w 551"/>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1"/>
                <a:gd name="T49" fmla="*/ 0 h 417"/>
                <a:gd name="T50" fmla="*/ 551 w 551"/>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1" h="417">
                  <a:moveTo>
                    <a:pt x="54" y="364"/>
                  </a:moveTo>
                  <a:lnTo>
                    <a:pt x="54" y="364"/>
                  </a:lnTo>
                  <a:lnTo>
                    <a:pt x="497" y="364"/>
                  </a:lnTo>
                  <a:lnTo>
                    <a:pt x="497" y="53"/>
                  </a:lnTo>
                  <a:lnTo>
                    <a:pt x="54" y="53"/>
                  </a:lnTo>
                  <a:lnTo>
                    <a:pt x="54"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9" y="0"/>
                    <a:pt x="551" y="12"/>
                    <a:pt x="551" y="27"/>
                  </a:cubicBezTo>
                  <a:lnTo>
                    <a:pt x="551" y="390"/>
                  </a:lnTo>
                  <a:cubicBezTo>
                    <a:pt x="551" y="405"/>
                    <a:pt x="539"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2" name="Freeform 264"/>
            <p:cNvSpPr>
              <a:spLocks noEditPoints="1"/>
            </p:cNvSpPr>
            <p:nvPr/>
          </p:nvSpPr>
          <p:spPr bwMode="gray">
            <a:xfrm>
              <a:off x="9204192" y="5334984"/>
              <a:ext cx="162296" cy="162296"/>
            </a:xfrm>
            <a:custGeom>
              <a:avLst/>
              <a:gdLst>
                <a:gd name="T0" fmla="*/ 2147483646 w 291"/>
                <a:gd name="T1" fmla="*/ 2147483646 h 291"/>
                <a:gd name="T2" fmla="*/ 2147483646 w 291"/>
                <a:gd name="T3" fmla="*/ 2147483646 h 291"/>
                <a:gd name="T4" fmla="*/ 2147483646 w 291"/>
                <a:gd name="T5" fmla="*/ 2147483646 h 291"/>
                <a:gd name="T6" fmla="*/ 2147483646 w 291"/>
                <a:gd name="T7" fmla="*/ 2147483646 h 291"/>
                <a:gd name="T8" fmla="*/ 2147483646 w 291"/>
                <a:gd name="T9" fmla="*/ 2147483646 h 291"/>
                <a:gd name="T10" fmla="*/ 2147483646 w 291"/>
                <a:gd name="T11" fmla="*/ 2147483646 h 291"/>
                <a:gd name="T12" fmla="*/ 2147483646 w 291"/>
                <a:gd name="T13" fmla="*/ 2147483646 h 291"/>
                <a:gd name="T14" fmla="*/ 2147483646 w 291"/>
                <a:gd name="T15" fmla="*/ 2147483646 h 291"/>
                <a:gd name="T16" fmla="*/ 0 w 291"/>
                <a:gd name="T17" fmla="*/ 2147483646 h 291"/>
                <a:gd name="T18" fmla="*/ 2147483646 w 291"/>
                <a:gd name="T19" fmla="*/ 0 h 291"/>
                <a:gd name="T20" fmla="*/ 2147483646 w 291"/>
                <a:gd name="T21" fmla="*/ 2147483646 h 291"/>
                <a:gd name="T22" fmla="*/ 2147483646 w 291"/>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1"/>
                <a:gd name="T37" fmla="*/ 0 h 291"/>
                <a:gd name="T38" fmla="*/ 291 w 291"/>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1" h="291">
                  <a:moveTo>
                    <a:pt x="145" y="66"/>
                  </a:moveTo>
                  <a:lnTo>
                    <a:pt x="145" y="66"/>
                  </a:lnTo>
                  <a:cubicBezTo>
                    <a:pt x="102" y="66"/>
                    <a:pt x="66" y="102"/>
                    <a:pt x="66" y="145"/>
                  </a:cubicBezTo>
                  <a:cubicBezTo>
                    <a:pt x="66" y="189"/>
                    <a:pt x="102" y="224"/>
                    <a:pt x="145" y="224"/>
                  </a:cubicBezTo>
                  <a:cubicBezTo>
                    <a:pt x="189" y="224"/>
                    <a:pt x="224" y="189"/>
                    <a:pt x="224" y="145"/>
                  </a:cubicBezTo>
                  <a:cubicBezTo>
                    <a:pt x="224" y="102"/>
                    <a:pt x="189" y="66"/>
                    <a:pt x="145" y="66"/>
                  </a:cubicBezTo>
                  <a:close/>
                  <a:moveTo>
                    <a:pt x="145" y="291"/>
                  </a:moveTo>
                  <a:lnTo>
                    <a:pt x="145" y="291"/>
                  </a:lnTo>
                  <a:cubicBezTo>
                    <a:pt x="65" y="291"/>
                    <a:pt x="0" y="226"/>
                    <a:pt x="0" y="145"/>
                  </a:cubicBezTo>
                  <a:cubicBezTo>
                    <a:pt x="0" y="65"/>
                    <a:pt x="65" y="0"/>
                    <a:pt x="145" y="0"/>
                  </a:cubicBezTo>
                  <a:cubicBezTo>
                    <a:pt x="226" y="0"/>
                    <a:pt x="291" y="65"/>
                    <a:pt x="291" y="145"/>
                  </a:cubicBezTo>
                  <a:cubicBezTo>
                    <a:pt x="291" y="226"/>
                    <a:pt x="226" y="291"/>
                    <a:pt x="145"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3" name="Freeform 265"/>
            <p:cNvSpPr>
              <a:spLocks noEditPoints="1"/>
            </p:cNvSpPr>
            <p:nvPr/>
          </p:nvSpPr>
          <p:spPr bwMode="gray">
            <a:xfrm>
              <a:off x="9177772"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1" y="159"/>
                  </a:moveTo>
                  <a:lnTo>
                    <a:pt x="71" y="159"/>
                  </a:lnTo>
                  <a:lnTo>
                    <a:pt x="314" y="159"/>
                  </a:lnTo>
                  <a:cubicBezTo>
                    <a:pt x="299" y="106"/>
                    <a:pt x="250" y="67"/>
                    <a:pt x="192" y="67"/>
                  </a:cubicBezTo>
                  <a:cubicBezTo>
                    <a:pt x="134" y="67"/>
                    <a:pt x="86" y="106"/>
                    <a:pt x="71" y="159"/>
                  </a:cubicBezTo>
                  <a:close/>
                  <a:moveTo>
                    <a:pt x="351" y="226"/>
                  </a:moveTo>
                  <a:lnTo>
                    <a:pt x="351" y="226"/>
                  </a:lnTo>
                  <a:lnTo>
                    <a:pt x="33" y="226"/>
                  </a:lnTo>
                  <a:cubicBezTo>
                    <a:pt x="15" y="226"/>
                    <a:pt x="0" y="211"/>
                    <a:pt x="0" y="193"/>
                  </a:cubicBezTo>
                  <a:cubicBezTo>
                    <a:pt x="0" y="86"/>
                    <a:pt x="86" y="0"/>
                    <a:pt x="192" y="0"/>
                  </a:cubicBezTo>
                  <a:cubicBezTo>
                    <a:pt x="298" y="0"/>
                    <a:pt x="385" y="86"/>
                    <a:pt x="385" y="193"/>
                  </a:cubicBezTo>
                  <a:cubicBezTo>
                    <a:pt x="385" y="211"/>
                    <a:pt x="370" y="226"/>
                    <a:pt x="351"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4" name="Freeform 266"/>
            <p:cNvSpPr>
              <a:spLocks noEditPoints="1"/>
            </p:cNvSpPr>
            <p:nvPr/>
          </p:nvSpPr>
          <p:spPr bwMode="gray">
            <a:xfrm>
              <a:off x="9132480"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4" y="417"/>
                  </a:moveTo>
                  <a:lnTo>
                    <a:pt x="524" y="417"/>
                  </a:lnTo>
                  <a:lnTo>
                    <a:pt x="27" y="417"/>
                  </a:lnTo>
                  <a:cubicBezTo>
                    <a:pt x="12" y="417"/>
                    <a:pt x="0" y="405"/>
                    <a:pt x="0" y="390"/>
                  </a:cubicBezTo>
                  <a:lnTo>
                    <a:pt x="0" y="27"/>
                  </a:lnTo>
                  <a:cubicBezTo>
                    <a:pt x="0" y="12"/>
                    <a:pt x="12" y="0"/>
                    <a:pt x="27" y="0"/>
                  </a:cubicBezTo>
                  <a:lnTo>
                    <a:pt x="524" y="0"/>
                  </a:lnTo>
                  <a:cubicBezTo>
                    <a:pt x="538" y="0"/>
                    <a:pt x="550" y="12"/>
                    <a:pt x="550" y="27"/>
                  </a:cubicBezTo>
                  <a:lnTo>
                    <a:pt x="550" y="390"/>
                  </a:lnTo>
                  <a:cubicBezTo>
                    <a:pt x="550" y="405"/>
                    <a:pt x="538" y="417"/>
                    <a:pt x="524"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5" name="Freeform 267"/>
            <p:cNvSpPr>
              <a:spLocks noEditPoints="1"/>
            </p:cNvSpPr>
            <p:nvPr/>
          </p:nvSpPr>
          <p:spPr bwMode="gray">
            <a:xfrm>
              <a:off x="9538220" y="5334984"/>
              <a:ext cx="164184" cy="162296"/>
            </a:xfrm>
            <a:custGeom>
              <a:avLst/>
              <a:gdLst>
                <a:gd name="T0" fmla="*/ 2147483646 w 292"/>
                <a:gd name="T1" fmla="*/ 2147483646 h 291"/>
                <a:gd name="T2" fmla="*/ 2147483646 w 292"/>
                <a:gd name="T3" fmla="*/ 2147483646 h 291"/>
                <a:gd name="T4" fmla="*/ 2147483646 w 292"/>
                <a:gd name="T5" fmla="*/ 2147483646 h 291"/>
                <a:gd name="T6" fmla="*/ 2147483646 w 292"/>
                <a:gd name="T7" fmla="*/ 2147483646 h 291"/>
                <a:gd name="T8" fmla="*/ 2147483646 w 292"/>
                <a:gd name="T9" fmla="*/ 2147483646 h 291"/>
                <a:gd name="T10" fmla="*/ 2147483646 w 292"/>
                <a:gd name="T11" fmla="*/ 2147483646 h 291"/>
                <a:gd name="T12" fmla="*/ 2147483646 w 292"/>
                <a:gd name="T13" fmla="*/ 2147483646 h 291"/>
                <a:gd name="T14" fmla="*/ 2147483646 w 292"/>
                <a:gd name="T15" fmla="*/ 2147483646 h 291"/>
                <a:gd name="T16" fmla="*/ 0 w 292"/>
                <a:gd name="T17" fmla="*/ 2147483646 h 291"/>
                <a:gd name="T18" fmla="*/ 2147483646 w 292"/>
                <a:gd name="T19" fmla="*/ 0 h 291"/>
                <a:gd name="T20" fmla="*/ 2147483646 w 292"/>
                <a:gd name="T21" fmla="*/ 2147483646 h 291"/>
                <a:gd name="T22" fmla="*/ 2147483646 w 292"/>
                <a:gd name="T23" fmla="*/ 2147483646 h 29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92"/>
                <a:gd name="T37" fmla="*/ 0 h 291"/>
                <a:gd name="T38" fmla="*/ 292 w 292"/>
                <a:gd name="T39" fmla="*/ 291 h 29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92" h="291">
                  <a:moveTo>
                    <a:pt x="146" y="66"/>
                  </a:moveTo>
                  <a:lnTo>
                    <a:pt x="146" y="66"/>
                  </a:lnTo>
                  <a:cubicBezTo>
                    <a:pt x="102" y="66"/>
                    <a:pt x="67" y="102"/>
                    <a:pt x="67" y="145"/>
                  </a:cubicBezTo>
                  <a:cubicBezTo>
                    <a:pt x="67" y="189"/>
                    <a:pt x="102" y="224"/>
                    <a:pt x="146" y="224"/>
                  </a:cubicBezTo>
                  <a:cubicBezTo>
                    <a:pt x="189" y="224"/>
                    <a:pt x="225" y="189"/>
                    <a:pt x="225" y="145"/>
                  </a:cubicBezTo>
                  <a:cubicBezTo>
                    <a:pt x="225" y="102"/>
                    <a:pt x="189" y="66"/>
                    <a:pt x="146" y="66"/>
                  </a:cubicBezTo>
                  <a:close/>
                  <a:moveTo>
                    <a:pt x="146" y="291"/>
                  </a:moveTo>
                  <a:lnTo>
                    <a:pt x="146" y="291"/>
                  </a:lnTo>
                  <a:cubicBezTo>
                    <a:pt x="66" y="291"/>
                    <a:pt x="0" y="226"/>
                    <a:pt x="0" y="145"/>
                  </a:cubicBezTo>
                  <a:cubicBezTo>
                    <a:pt x="0" y="65"/>
                    <a:pt x="66" y="0"/>
                    <a:pt x="146" y="0"/>
                  </a:cubicBezTo>
                  <a:cubicBezTo>
                    <a:pt x="226" y="0"/>
                    <a:pt x="292" y="65"/>
                    <a:pt x="292" y="145"/>
                  </a:cubicBezTo>
                  <a:cubicBezTo>
                    <a:pt x="292" y="226"/>
                    <a:pt x="226" y="291"/>
                    <a:pt x="146" y="291"/>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6" name="Freeform 268"/>
            <p:cNvSpPr>
              <a:spLocks noEditPoints="1"/>
            </p:cNvSpPr>
            <p:nvPr/>
          </p:nvSpPr>
          <p:spPr bwMode="gray">
            <a:xfrm>
              <a:off x="9511800" y="5461424"/>
              <a:ext cx="215137" cy="126441"/>
            </a:xfrm>
            <a:custGeom>
              <a:avLst/>
              <a:gdLst>
                <a:gd name="T0" fmla="*/ 2147483646 w 385"/>
                <a:gd name="T1" fmla="*/ 2147483646 h 226"/>
                <a:gd name="T2" fmla="*/ 2147483646 w 385"/>
                <a:gd name="T3" fmla="*/ 2147483646 h 226"/>
                <a:gd name="T4" fmla="*/ 2147483646 w 385"/>
                <a:gd name="T5" fmla="*/ 2147483646 h 226"/>
                <a:gd name="T6" fmla="*/ 2147483646 w 385"/>
                <a:gd name="T7" fmla="*/ 2147483646 h 226"/>
                <a:gd name="T8" fmla="*/ 2147483646 w 385"/>
                <a:gd name="T9" fmla="*/ 2147483646 h 226"/>
                <a:gd name="T10" fmla="*/ 2147483646 w 385"/>
                <a:gd name="T11" fmla="*/ 2147483646 h 226"/>
                <a:gd name="T12" fmla="*/ 2147483646 w 385"/>
                <a:gd name="T13" fmla="*/ 2147483646 h 226"/>
                <a:gd name="T14" fmla="*/ 2147483646 w 385"/>
                <a:gd name="T15" fmla="*/ 2147483646 h 226"/>
                <a:gd name="T16" fmla="*/ 0 w 385"/>
                <a:gd name="T17" fmla="*/ 2147483646 h 226"/>
                <a:gd name="T18" fmla="*/ 2147483646 w 385"/>
                <a:gd name="T19" fmla="*/ 0 h 226"/>
                <a:gd name="T20" fmla="*/ 2147483646 w 385"/>
                <a:gd name="T21" fmla="*/ 2147483646 h 226"/>
                <a:gd name="T22" fmla="*/ 2147483646 w 385"/>
                <a:gd name="T23" fmla="*/ 2147483646 h 2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85"/>
                <a:gd name="T37" fmla="*/ 0 h 226"/>
                <a:gd name="T38" fmla="*/ 385 w 385"/>
                <a:gd name="T39" fmla="*/ 226 h 22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85" h="226">
                  <a:moveTo>
                    <a:pt x="72" y="159"/>
                  </a:moveTo>
                  <a:lnTo>
                    <a:pt x="72" y="159"/>
                  </a:lnTo>
                  <a:lnTo>
                    <a:pt x="314" y="159"/>
                  </a:lnTo>
                  <a:cubicBezTo>
                    <a:pt x="300" y="106"/>
                    <a:pt x="251" y="67"/>
                    <a:pt x="193" y="67"/>
                  </a:cubicBezTo>
                  <a:cubicBezTo>
                    <a:pt x="135" y="67"/>
                    <a:pt x="86" y="106"/>
                    <a:pt x="72" y="159"/>
                  </a:cubicBezTo>
                  <a:close/>
                  <a:moveTo>
                    <a:pt x="352" y="226"/>
                  </a:moveTo>
                  <a:lnTo>
                    <a:pt x="352" y="226"/>
                  </a:lnTo>
                  <a:lnTo>
                    <a:pt x="34" y="226"/>
                  </a:lnTo>
                  <a:cubicBezTo>
                    <a:pt x="15" y="226"/>
                    <a:pt x="0" y="211"/>
                    <a:pt x="0" y="193"/>
                  </a:cubicBezTo>
                  <a:cubicBezTo>
                    <a:pt x="0" y="86"/>
                    <a:pt x="87" y="0"/>
                    <a:pt x="193" y="0"/>
                  </a:cubicBezTo>
                  <a:cubicBezTo>
                    <a:pt x="299" y="0"/>
                    <a:pt x="385" y="86"/>
                    <a:pt x="385" y="193"/>
                  </a:cubicBezTo>
                  <a:cubicBezTo>
                    <a:pt x="385" y="211"/>
                    <a:pt x="370" y="226"/>
                    <a:pt x="352" y="226"/>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7" name="Freeform 269"/>
            <p:cNvSpPr>
              <a:spLocks noEditPoints="1"/>
            </p:cNvSpPr>
            <p:nvPr/>
          </p:nvSpPr>
          <p:spPr bwMode="gray">
            <a:xfrm>
              <a:off x="9466508" y="5261385"/>
              <a:ext cx="307609" cy="232122"/>
            </a:xfrm>
            <a:custGeom>
              <a:avLst/>
              <a:gdLst>
                <a:gd name="T0" fmla="*/ 2147483646 w 550"/>
                <a:gd name="T1" fmla="*/ 2147483646 h 417"/>
                <a:gd name="T2" fmla="*/ 2147483646 w 550"/>
                <a:gd name="T3" fmla="*/ 2147483646 h 417"/>
                <a:gd name="T4" fmla="*/ 2147483646 w 550"/>
                <a:gd name="T5" fmla="*/ 2147483646 h 417"/>
                <a:gd name="T6" fmla="*/ 2147483646 w 550"/>
                <a:gd name="T7" fmla="*/ 2147483646 h 417"/>
                <a:gd name="T8" fmla="*/ 2147483646 w 550"/>
                <a:gd name="T9" fmla="*/ 2147483646 h 417"/>
                <a:gd name="T10" fmla="*/ 2147483646 w 550"/>
                <a:gd name="T11" fmla="*/ 2147483646 h 417"/>
                <a:gd name="T12" fmla="*/ 2147483646 w 550"/>
                <a:gd name="T13" fmla="*/ 2147483646 h 417"/>
                <a:gd name="T14" fmla="*/ 2147483646 w 550"/>
                <a:gd name="T15" fmla="*/ 2147483646 h 417"/>
                <a:gd name="T16" fmla="*/ 2147483646 w 550"/>
                <a:gd name="T17" fmla="*/ 2147483646 h 417"/>
                <a:gd name="T18" fmla="*/ 0 w 550"/>
                <a:gd name="T19" fmla="*/ 2147483646 h 417"/>
                <a:gd name="T20" fmla="*/ 0 w 550"/>
                <a:gd name="T21" fmla="*/ 2147483646 h 417"/>
                <a:gd name="T22" fmla="*/ 2147483646 w 550"/>
                <a:gd name="T23" fmla="*/ 0 h 417"/>
                <a:gd name="T24" fmla="*/ 2147483646 w 550"/>
                <a:gd name="T25" fmla="*/ 0 h 417"/>
                <a:gd name="T26" fmla="*/ 2147483646 w 550"/>
                <a:gd name="T27" fmla="*/ 2147483646 h 417"/>
                <a:gd name="T28" fmla="*/ 2147483646 w 550"/>
                <a:gd name="T29" fmla="*/ 2147483646 h 417"/>
                <a:gd name="T30" fmla="*/ 2147483646 w 550"/>
                <a:gd name="T31" fmla="*/ 2147483646 h 4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50"/>
                <a:gd name="T49" fmla="*/ 0 h 417"/>
                <a:gd name="T50" fmla="*/ 550 w 550"/>
                <a:gd name="T51" fmla="*/ 417 h 4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50" h="417">
                  <a:moveTo>
                    <a:pt x="53" y="364"/>
                  </a:moveTo>
                  <a:lnTo>
                    <a:pt x="53" y="364"/>
                  </a:lnTo>
                  <a:lnTo>
                    <a:pt x="497" y="364"/>
                  </a:lnTo>
                  <a:lnTo>
                    <a:pt x="497" y="53"/>
                  </a:lnTo>
                  <a:lnTo>
                    <a:pt x="53" y="53"/>
                  </a:lnTo>
                  <a:lnTo>
                    <a:pt x="53" y="364"/>
                  </a:lnTo>
                  <a:close/>
                  <a:moveTo>
                    <a:pt x="523" y="417"/>
                  </a:moveTo>
                  <a:lnTo>
                    <a:pt x="523" y="417"/>
                  </a:lnTo>
                  <a:lnTo>
                    <a:pt x="26" y="417"/>
                  </a:lnTo>
                  <a:cubicBezTo>
                    <a:pt x="12" y="417"/>
                    <a:pt x="0" y="405"/>
                    <a:pt x="0" y="390"/>
                  </a:cubicBezTo>
                  <a:lnTo>
                    <a:pt x="0" y="27"/>
                  </a:lnTo>
                  <a:cubicBezTo>
                    <a:pt x="0" y="12"/>
                    <a:pt x="12" y="0"/>
                    <a:pt x="26" y="0"/>
                  </a:cubicBezTo>
                  <a:lnTo>
                    <a:pt x="523" y="0"/>
                  </a:lnTo>
                  <a:cubicBezTo>
                    <a:pt x="538" y="0"/>
                    <a:pt x="550" y="12"/>
                    <a:pt x="550" y="27"/>
                  </a:cubicBezTo>
                  <a:lnTo>
                    <a:pt x="550" y="390"/>
                  </a:lnTo>
                  <a:cubicBezTo>
                    <a:pt x="550" y="405"/>
                    <a:pt x="538" y="417"/>
                    <a:pt x="523" y="417"/>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8" name="Freeform 276"/>
            <p:cNvSpPr>
              <a:spLocks/>
            </p:cNvSpPr>
            <p:nvPr/>
          </p:nvSpPr>
          <p:spPr bwMode="gray">
            <a:xfrm>
              <a:off x="9413667" y="5636930"/>
              <a:ext cx="77374" cy="77374"/>
            </a:xfrm>
            <a:custGeom>
              <a:avLst/>
              <a:gdLst>
                <a:gd name="T0" fmla="*/ 0 w 139"/>
                <a:gd name="T1" fmla="*/ 2147483646 h 139"/>
                <a:gd name="T2" fmla="*/ 0 w 139"/>
                <a:gd name="T3" fmla="*/ 2147483646 h 139"/>
                <a:gd name="T4" fmla="*/ 2147483646 w 139"/>
                <a:gd name="T5" fmla="*/ 0 h 139"/>
                <a:gd name="T6" fmla="*/ 2147483646 w 139"/>
                <a:gd name="T7" fmla="*/ 2147483646 h 139"/>
                <a:gd name="T8" fmla="*/ 2147483646 w 139"/>
                <a:gd name="T9" fmla="*/ 2147483646 h 139"/>
                <a:gd name="T10" fmla="*/ 0 w 139"/>
                <a:gd name="T11" fmla="*/ 2147483646 h 139"/>
                <a:gd name="T12" fmla="*/ 0 60000 65536"/>
                <a:gd name="T13" fmla="*/ 0 60000 65536"/>
                <a:gd name="T14" fmla="*/ 0 60000 65536"/>
                <a:gd name="T15" fmla="*/ 0 60000 65536"/>
                <a:gd name="T16" fmla="*/ 0 60000 65536"/>
                <a:gd name="T17" fmla="*/ 0 60000 65536"/>
                <a:gd name="T18" fmla="*/ 0 w 139"/>
                <a:gd name="T19" fmla="*/ 0 h 139"/>
                <a:gd name="T20" fmla="*/ 139 w 139"/>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9" h="139">
                  <a:moveTo>
                    <a:pt x="0" y="69"/>
                  </a:moveTo>
                  <a:lnTo>
                    <a:pt x="0" y="69"/>
                  </a:lnTo>
                  <a:cubicBezTo>
                    <a:pt x="0" y="31"/>
                    <a:pt x="31" y="0"/>
                    <a:pt x="69" y="0"/>
                  </a:cubicBezTo>
                  <a:cubicBezTo>
                    <a:pt x="107" y="0"/>
                    <a:pt x="139" y="31"/>
                    <a:pt x="139" y="69"/>
                  </a:cubicBezTo>
                  <a:cubicBezTo>
                    <a:pt x="139"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9" name="Freeform 277"/>
            <p:cNvSpPr>
              <a:spLocks/>
            </p:cNvSpPr>
            <p:nvPr/>
          </p:nvSpPr>
          <p:spPr bwMode="gray">
            <a:xfrm>
              <a:off x="9557092" y="5636930"/>
              <a:ext cx="77374" cy="77374"/>
            </a:xfrm>
            <a:custGeom>
              <a:avLst/>
              <a:gdLst>
                <a:gd name="T0" fmla="*/ 0 w 138"/>
                <a:gd name="T1" fmla="*/ 2147483646 h 139"/>
                <a:gd name="T2" fmla="*/ 0 w 138"/>
                <a:gd name="T3" fmla="*/ 2147483646 h 139"/>
                <a:gd name="T4" fmla="*/ 2147483646 w 138"/>
                <a:gd name="T5" fmla="*/ 0 h 139"/>
                <a:gd name="T6" fmla="*/ 2147483646 w 138"/>
                <a:gd name="T7" fmla="*/ 2147483646 h 139"/>
                <a:gd name="T8" fmla="*/ 2147483646 w 138"/>
                <a:gd name="T9" fmla="*/ 2147483646 h 139"/>
                <a:gd name="T10" fmla="*/ 0 w 138"/>
                <a:gd name="T11" fmla="*/ 2147483646 h 139"/>
                <a:gd name="T12" fmla="*/ 0 60000 65536"/>
                <a:gd name="T13" fmla="*/ 0 60000 65536"/>
                <a:gd name="T14" fmla="*/ 0 60000 65536"/>
                <a:gd name="T15" fmla="*/ 0 60000 65536"/>
                <a:gd name="T16" fmla="*/ 0 60000 65536"/>
                <a:gd name="T17" fmla="*/ 0 60000 65536"/>
                <a:gd name="T18" fmla="*/ 0 w 138"/>
                <a:gd name="T19" fmla="*/ 0 h 139"/>
                <a:gd name="T20" fmla="*/ 138 w 138"/>
                <a:gd name="T21" fmla="*/ 139 h 139"/>
              </a:gdLst>
              <a:ahLst/>
              <a:cxnLst>
                <a:cxn ang="T12">
                  <a:pos x="T0" y="T1"/>
                </a:cxn>
                <a:cxn ang="T13">
                  <a:pos x="T2" y="T3"/>
                </a:cxn>
                <a:cxn ang="T14">
                  <a:pos x="T4" y="T5"/>
                </a:cxn>
                <a:cxn ang="T15">
                  <a:pos x="T6" y="T7"/>
                </a:cxn>
                <a:cxn ang="T16">
                  <a:pos x="T8" y="T9"/>
                </a:cxn>
                <a:cxn ang="T17">
                  <a:pos x="T10" y="T11"/>
                </a:cxn>
              </a:cxnLst>
              <a:rect l="T18" t="T19" r="T20" b="T21"/>
              <a:pathLst>
                <a:path w="138" h="139">
                  <a:moveTo>
                    <a:pt x="0" y="69"/>
                  </a:moveTo>
                  <a:lnTo>
                    <a:pt x="0" y="69"/>
                  </a:lnTo>
                  <a:cubicBezTo>
                    <a:pt x="0" y="31"/>
                    <a:pt x="31" y="0"/>
                    <a:pt x="69" y="0"/>
                  </a:cubicBezTo>
                  <a:cubicBezTo>
                    <a:pt x="107" y="0"/>
                    <a:pt x="138" y="31"/>
                    <a:pt x="138" y="69"/>
                  </a:cubicBezTo>
                  <a:cubicBezTo>
                    <a:pt x="138" y="108"/>
                    <a:pt x="107" y="139"/>
                    <a:pt x="69" y="139"/>
                  </a:cubicBezTo>
                  <a:cubicBezTo>
                    <a:pt x="31" y="139"/>
                    <a:pt x="0" y="108"/>
                    <a:pt x="0" y="6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0" name="Freeform 278"/>
            <p:cNvSpPr>
              <a:spLocks/>
            </p:cNvSpPr>
            <p:nvPr/>
          </p:nvSpPr>
          <p:spPr bwMode="gray">
            <a:xfrm>
              <a:off x="8734287" y="5199108"/>
              <a:ext cx="1094557" cy="490663"/>
            </a:xfrm>
            <a:custGeom>
              <a:avLst/>
              <a:gdLst>
                <a:gd name="T0" fmla="*/ 2147483646 w 1955"/>
                <a:gd name="T1" fmla="*/ 2147483646 h 879"/>
                <a:gd name="T2" fmla="*/ 2147483646 w 1955"/>
                <a:gd name="T3" fmla="*/ 2147483646 h 879"/>
                <a:gd name="T4" fmla="*/ 2147483646 w 1955"/>
                <a:gd name="T5" fmla="*/ 2147483646 h 879"/>
                <a:gd name="T6" fmla="*/ 2147483646 w 1955"/>
                <a:gd name="T7" fmla="*/ 2147483646 h 879"/>
                <a:gd name="T8" fmla="*/ 2147483646 w 1955"/>
                <a:gd name="T9" fmla="*/ 2147483646 h 879"/>
                <a:gd name="T10" fmla="*/ 2147483646 w 1955"/>
                <a:gd name="T11" fmla="*/ 2147483646 h 879"/>
                <a:gd name="T12" fmla="*/ 2147483646 w 1955"/>
                <a:gd name="T13" fmla="*/ 2147483646 h 879"/>
                <a:gd name="T14" fmla="*/ 2147483646 w 1955"/>
                <a:gd name="T15" fmla="*/ 2147483646 h 879"/>
                <a:gd name="T16" fmla="*/ 2147483646 w 1955"/>
                <a:gd name="T17" fmla="*/ 2147483646 h 879"/>
                <a:gd name="T18" fmla="*/ 2147483646 w 1955"/>
                <a:gd name="T19" fmla="*/ 2147483646 h 879"/>
                <a:gd name="T20" fmla="*/ 2147483646 w 1955"/>
                <a:gd name="T21" fmla="*/ 2147483646 h 879"/>
                <a:gd name="T22" fmla="*/ 0 w 1955"/>
                <a:gd name="T23" fmla="*/ 2147483646 h 879"/>
                <a:gd name="T24" fmla="*/ 0 w 1955"/>
                <a:gd name="T25" fmla="*/ 2147483646 h 879"/>
                <a:gd name="T26" fmla="*/ 2147483646 w 1955"/>
                <a:gd name="T27" fmla="*/ 0 h 879"/>
                <a:gd name="T28" fmla="*/ 2147483646 w 1955"/>
                <a:gd name="T29" fmla="*/ 0 h 879"/>
                <a:gd name="T30" fmla="*/ 2147483646 w 1955"/>
                <a:gd name="T31" fmla="*/ 2147483646 h 879"/>
                <a:gd name="T32" fmla="*/ 2147483646 w 1955"/>
                <a:gd name="T33" fmla="*/ 2147483646 h 879"/>
                <a:gd name="T34" fmla="*/ 2147483646 w 1955"/>
                <a:gd name="T35" fmla="*/ 2147483646 h 87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955"/>
                <a:gd name="T55" fmla="*/ 0 h 879"/>
                <a:gd name="T56" fmla="*/ 1955 w 1955"/>
                <a:gd name="T57" fmla="*/ 879 h 879"/>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955" h="879">
                  <a:moveTo>
                    <a:pt x="1928" y="879"/>
                  </a:moveTo>
                  <a:lnTo>
                    <a:pt x="1928" y="879"/>
                  </a:lnTo>
                  <a:lnTo>
                    <a:pt x="1540" y="879"/>
                  </a:lnTo>
                  <a:lnTo>
                    <a:pt x="1540" y="826"/>
                  </a:lnTo>
                  <a:lnTo>
                    <a:pt x="1902" y="826"/>
                  </a:lnTo>
                  <a:lnTo>
                    <a:pt x="1902" y="54"/>
                  </a:lnTo>
                  <a:lnTo>
                    <a:pt x="53" y="54"/>
                  </a:lnTo>
                  <a:lnTo>
                    <a:pt x="53" y="826"/>
                  </a:lnTo>
                  <a:lnTo>
                    <a:pt x="1258" y="826"/>
                  </a:lnTo>
                  <a:lnTo>
                    <a:pt x="1258" y="879"/>
                  </a:lnTo>
                  <a:lnTo>
                    <a:pt x="26" y="879"/>
                  </a:lnTo>
                  <a:cubicBezTo>
                    <a:pt x="12" y="879"/>
                    <a:pt x="0" y="867"/>
                    <a:pt x="0" y="852"/>
                  </a:cubicBezTo>
                  <a:lnTo>
                    <a:pt x="0" y="27"/>
                  </a:lnTo>
                  <a:cubicBezTo>
                    <a:pt x="0" y="12"/>
                    <a:pt x="12" y="0"/>
                    <a:pt x="26" y="0"/>
                  </a:cubicBezTo>
                  <a:lnTo>
                    <a:pt x="1928" y="0"/>
                  </a:lnTo>
                  <a:cubicBezTo>
                    <a:pt x="1943" y="0"/>
                    <a:pt x="1955" y="12"/>
                    <a:pt x="1955" y="27"/>
                  </a:cubicBezTo>
                  <a:lnTo>
                    <a:pt x="1955" y="852"/>
                  </a:lnTo>
                  <a:cubicBezTo>
                    <a:pt x="1955" y="867"/>
                    <a:pt x="1943" y="879"/>
                    <a:pt x="1928" y="879"/>
                  </a:cubicBezTo>
                  <a:close/>
                </a:path>
              </a:pathLst>
            </a:custGeom>
            <a:solidFill>
              <a:srgbClr val="474747"/>
            </a:solidFill>
            <a:ln>
              <a:noFill/>
            </a:ln>
            <a:extLst>
              <a:ext uri="{91240B29-F687-4F45-9708-019B960494DF}">
                <a14:hiddenLine xmlns:a14="http://schemas.microsoft.com/office/drawing/2010/main" w="0">
                  <a:solidFill>
                    <a:srgbClr val="000000"/>
                  </a:solidFill>
                  <a:round/>
                  <a:headEnd/>
                  <a:tailEnd/>
                </a14:hiddenLine>
              </a:ext>
            </a:extLst>
          </p:spPr>
          <p:txBody>
            <a:bodyPr/>
            <a:lstStyle/>
            <a:p>
              <a:endParaRPr lang="zh-CN" altLang="en-US" sz="2140">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68" name="TextBox 13"/>
          <p:cNvSpPr txBox="1"/>
          <p:nvPr/>
        </p:nvSpPr>
        <p:spPr bwMode="gray">
          <a:xfrm>
            <a:off x="10343274" y="5580808"/>
            <a:ext cx="588623"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租户</a:t>
            </a:r>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B</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cxnSp>
        <p:nvCxnSpPr>
          <p:cNvPr id="181" name="直接连接符 180"/>
          <p:cNvCxnSpPr/>
          <p:nvPr/>
        </p:nvCxnSpPr>
        <p:spPr bwMode="gray">
          <a:xfrm flipV="1">
            <a:off x="7536539" y="4234635"/>
            <a:ext cx="0" cy="1006918"/>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bwMode="gray">
          <a:xfrm flipV="1">
            <a:off x="9098848" y="3463403"/>
            <a:ext cx="0" cy="301039"/>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bwMode="gray">
          <a:xfrm flipV="1">
            <a:off x="10603998" y="3764442"/>
            <a:ext cx="0" cy="1477111"/>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pic>
        <p:nvPicPr>
          <p:cNvPr id="184" name="图片 58" descr="交换机.png"/>
          <p:cNvPicPr>
            <a:picLocks noChangeAspect="1"/>
          </p:cNvPicPr>
          <p:nvPr/>
        </p:nvPicPr>
        <p:blipFill>
          <a:blip r:embed="rId3" cstate="print"/>
          <a:stretch>
            <a:fillRect/>
          </a:stretch>
        </p:blipFill>
        <p:spPr bwMode="gray">
          <a:xfrm>
            <a:off x="7291087" y="3930418"/>
            <a:ext cx="490909" cy="401652"/>
          </a:xfrm>
          <a:prstGeom prst="rect">
            <a:avLst/>
          </a:prstGeom>
        </p:spPr>
      </p:pic>
      <p:pic>
        <p:nvPicPr>
          <p:cNvPr id="186" name="图片 58" descr="交换机.png"/>
          <p:cNvPicPr>
            <a:picLocks noChangeAspect="1"/>
          </p:cNvPicPr>
          <p:nvPr/>
        </p:nvPicPr>
        <p:blipFill>
          <a:blip r:embed="rId3" cstate="print"/>
          <a:stretch>
            <a:fillRect/>
          </a:stretch>
        </p:blipFill>
        <p:spPr bwMode="gray">
          <a:xfrm>
            <a:off x="10358544" y="3930418"/>
            <a:ext cx="490909" cy="401652"/>
          </a:xfrm>
          <a:prstGeom prst="rect">
            <a:avLst/>
          </a:prstGeom>
        </p:spPr>
      </p:pic>
      <p:sp>
        <p:nvSpPr>
          <p:cNvPr id="187" name="TextBox 13"/>
          <p:cNvSpPr txBox="1"/>
          <p:nvPr/>
        </p:nvSpPr>
        <p:spPr bwMode="gray">
          <a:xfrm>
            <a:off x="7681847" y="3907733"/>
            <a:ext cx="793898" cy="553998"/>
          </a:xfrm>
          <a:prstGeom prst="rect">
            <a:avLst/>
          </a:prstGeom>
          <a:noFill/>
        </p:spPr>
        <p:txBody>
          <a:bodyPr wrap="square" lIns="0" tIns="0" rIns="0" bIns="0"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虚拟</a:t>
            </a:r>
            <a:endPar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系统</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a:t>
            </a: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89" name="TextBox 13"/>
          <p:cNvSpPr txBox="1"/>
          <p:nvPr/>
        </p:nvSpPr>
        <p:spPr bwMode="gray">
          <a:xfrm>
            <a:off x="10758575" y="3907733"/>
            <a:ext cx="793898" cy="553998"/>
          </a:xfrm>
          <a:prstGeom prst="rect">
            <a:avLst/>
          </a:prstGeom>
          <a:noFill/>
        </p:spPr>
        <p:txBody>
          <a:bodyPr wrap="square" lIns="0" tIns="0" rIns="0" bIns="0"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虚拟</a:t>
            </a:r>
            <a:endPar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系统</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r>
              <a:rPr lang="en-US" altLang="zh-CN"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B</a:t>
            </a: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190" name="Can 9"/>
          <p:cNvSpPr/>
          <p:nvPr/>
        </p:nvSpPr>
        <p:spPr bwMode="gray">
          <a:xfrm>
            <a:off x="8787703" y="3137015"/>
            <a:ext cx="621298" cy="430733"/>
          </a:xfrm>
          <a:prstGeom prst="can">
            <a:avLst>
              <a:gd name="adj" fmla="val 34718"/>
            </a:avLst>
          </a:prstGeom>
          <a:solidFill>
            <a:srgbClr val="FFF2CC"/>
          </a:solidFill>
          <a:ln w="12700" cap="flat" cmpd="sng" algn="ctr">
            <a:solidFill>
              <a:srgbClr val="FFD17D"/>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91" name="直接连接符 190"/>
          <p:cNvCxnSpPr/>
          <p:nvPr/>
        </p:nvCxnSpPr>
        <p:spPr bwMode="gray">
          <a:xfrm flipV="1">
            <a:off x="9098351" y="2650448"/>
            <a:ext cx="0" cy="553362"/>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2" name="Freeform 159"/>
          <p:cNvSpPr/>
          <p:nvPr/>
        </p:nvSpPr>
        <p:spPr bwMode="gray">
          <a:xfrm flipH="1">
            <a:off x="8631825" y="2485385"/>
            <a:ext cx="909482" cy="475412"/>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en-US" sz="1200" smtClean="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rPr>
              <a:t>Internet</a:t>
            </a:r>
            <a:endParaRPr lang="en-US" sz="1200">
              <a:solidFill>
                <a:schemeClr val="bg1">
                  <a:lumMod val="50000"/>
                </a:schemeClr>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93" name="直接连接符 192"/>
          <p:cNvCxnSpPr/>
          <p:nvPr/>
        </p:nvCxnSpPr>
        <p:spPr bwMode="gray">
          <a:xfrm flipV="1">
            <a:off x="7536539" y="3764441"/>
            <a:ext cx="0" cy="174494"/>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bwMode="gray">
          <a:xfrm flipH="1">
            <a:off x="7536543" y="3764441"/>
            <a:ext cx="3067455" cy="0"/>
          </a:xfrm>
          <a:prstGeom prst="line">
            <a:avLst/>
          </a:prstGeom>
          <a:ln w="190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97" name="TextBox 13"/>
          <p:cNvSpPr txBox="1"/>
          <p:nvPr/>
        </p:nvSpPr>
        <p:spPr bwMode="gray">
          <a:xfrm>
            <a:off x="6294161" y="1557453"/>
            <a:ext cx="5372530" cy="678712"/>
          </a:xfrm>
          <a:prstGeom prst="rect">
            <a:avLst/>
          </a:prstGeom>
          <a:noFill/>
        </p:spPr>
        <p:txBody>
          <a:bodyPr wrap="square" rtlCol="0">
            <a:spAutoFit/>
          </a:bodyPr>
          <a:lstStyle/>
          <a:p>
            <a:pPr>
              <a:lnSpc>
                <a:spcPts val="2400"/>
              </a:lnSpc>
            </a:pPr>
            <a:r>
              <a:rPr lang="zh-CN" altLang="en-US" sz="14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通过配置虚拟系统</a:t>
            </a:r>
            <a:r>
              <a:rPr lang="zh-CN" altLang="en-US" sz="14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，可让</a:t>
            </a:r>
            <a:r>
              <a:rPr lang="zh-CN" altLang="en-US" sz="14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部署在云计算中心出口的</a:t>
            </a:r>
            <a:r>
              <a:rPr lang="en-US" altLang="zh-CN" sz="14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FW</a:t>
            </a:r>
            <a:r>
              <a:rPr lang="zh-CN" altLang="en-US" sz="14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具备云计算网关的能力，</a:t>
            </a:r>
            <a:r>
              <a:rPr lang="zh-CN" altLang="en-US" sz="14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对不同租户流量</a:t>
            </a:r>
            <a:r>
              <a:rPr lang="zh-CN" altLang="en-US" sz="14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进行隔离的同时</a:t>
            </a:r>
            <a:r>
              <a:rPr lang="zh-CN" altLang="en-US" sz="14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提供安全</a:t>
            </a:r>
            <a:r>
              <a:rPr lang="zh-CN" altLang="en-US" sz="14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防护能力。</a:t>
            </a:r>
            <a:endParaRPr lang="en-US" altLang="zh-CN" sz="14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Tree>
    <p:extLst>
      <p:ext uri="{BB962C8B-B14F-4D97-AF65-F5344CB8AC3E}">
        <p14:creationId xmlns:p14="http://schemas.microsoft.com/office/powerpoint/2010/main" val="3351179794"/>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任意多边形 7"/>
          <p:cNvSpPr/>
          <p:nvPr/>
        </p:nvSpPr>
        <p:spPr bwMode="gray">
          <a:xfrm rot="16200000">
            <a:off x="1085198" y="2007385"/>
            <a:ext cx="1792285" cy="1205989"/>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Lst>
            <a:ahLst/>
            <a:cxnLst>
              <a:cxn ang="0">
                <a:pos x="connsiteX0" y="connsiteY0"/>
              </a:cxn>
              <a:cxn ang="0">
                <a:pos x="connsiteX1" y="connsiteY1"/>
              </a:cxn>
              <a:cxn ang="0">
                <a:pos x="connsiteX2" y="connsiteY2"/>
              </a:cxn>
              <a:cxn ang="0">
                <a:pos x="connsiteX3" y="connsiteY3"/>
              </a:cxn>
            </a:cxnLst>
            <a:rect l="l" t="t" r="r" b="b"/>
            <a:pathLst>
              <a:path w="1219200" h="659976">
                <a:moveTo>
                  <a:pt x="602404" y="0"/>
                </a:moveTo>
                <a:lnTo>
                  <a:pt x="0" y="659976"/>
                </a:lnTo>
                <a:lnTo>
                  <a:pt x="1219200" y="659976"/>
                </a:lnTo>
                <a:lnTo>
                  <a:pt x="602404" y="0"/>
                </a:lnTo>
                <a:close/>
              </a:path>
            </a:pathLst>
          </a:custGeom>
          <a:gradFill flip="none" rotWithShape="1">
            <a:gsLst>
              <a:gs pos="100000">
                <a:schemeClr val="accent1">
                  <a:lumMod val="5000"/>
                  <a:lumOff val="95000"/>
                  <a:alpha val="0"/>
                </a:schemeClr>
              </a:gs>
              <a:gs pos="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防火墙虚拟系统概述</a:t>
            </a:r>
            <a:endParaRPr lang="zh-CN" altLang="en-US">
              <a:sym typeface="Huawei Sans" panose="020C0503030203020204" pitchFamily="34" charset="0"/>
            </a:endParaRPr>
          </a:p>
        </p:txBody>
      </p:sp>
      <p:sp>
        <p:nvSpPr>
          <p:cNvPr id="3" name="圆角矩形 75"/>
          <p:cNvSpPr/>
          <p:nvPr/>
        </p:nvSpPr>
        <p:spPr bwMode="gray">
          <a:xfrm>
            <a:off x="442913" y="1458134"/>
            <a:ext cx="5527243" cy="4742641"/>
          </a:xfrm>
          <a:prstGeom prst="roundRect">
            <a:avLst>
              <a:gd name="adj" fmla="val 0"/>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4" name="圆角矩形 75"/>
          <p:cNvSpPr/>
          <p:nvPr/>
        </p:nvSpPr>
        <p:spPr bwMode="gray">
          <a:xfrm>
            <a:off x="6211764" y="1458134"/>
            <a:ext cx="5537324" cy="4742641"/>
          </a:xfrm>
          <a:prstGeom prst="roundRect">
            <a:avLst>
              <a:gd name="adj" fmla="val 0"/>
            </a:avLst>
          </a:prstGeom>
          <a:noFill/>
          <a:ln w="9525">
            <a:solidFill>
              <a:srgbClr val="56C4D2"/>
            </a:solidFill>
          </a:ln>
        </p:spPr>
        <p:style>
          <a:lnRef idx="2">
            <a:schemeClr val="accent1">
              <a:shade val="50000"/>
            </a:schemeClr>
          </a:lnRef>
          <a:fillRef idx="1">
            <a:schemeClr val="accent1"/>
          </a:fillRef>
          <a:effectRef idx="0">
            <a:schemeClr val="accent1"/>
          </a:effectRef>
          <a:fontRef idx="minor">
            <a:schemeClr val="lt1"/>
          </a:fontRef>
        </p:style>
        <p:txBody>
          <a:bodyPr wrap="square" lIns="72000" tIns="72000" rIns="72000" bIns="72000" rtlCol="0" anchor="t" anchorCtr="0"/>
          <a:lstStyle/>
          <a:p>
            <a:pPr marL="177800" indent="-177800">
              <a:lnSpc>
                <a:spcPts val="2400"/>
              </a:lnSpc>
              <a:spcAft>
                <a:spcPts val="600"/>
              </a:spcAft>
              <a:buFont typeface="Arial" panose="020B0604020202020204" pitchFamily="34" charset="0"/>
              <a:buChar char="•"/>
            </a:pPr>
            <a:endParaRPr lang="zh-CN" altLang="en-US" sz="1400">
              <a:solidFill>
                <a:schemeClr val="tx1"/>
              </a:solidFill>
              <a:latin typeface="Huawei Sans" panose="020C0503030203020204" pitchFamily="34" charset="0"/>
              <a:ea typeface="方正兰亭黑简体" panose="02000000000000000000" pitchFamily="2" charset="-122"/>
              <a:cs typeface="Arial" panose="020B0604020202020204" pitchFamily="34" charset="0"/>
              <a:sym typeface="Huawei Sans" panose="020C0503030203020204" pitchFamily="34" charset="0"/>
            </a:endParaRPr>
          </a:p>
        </p:txBody>
      </p:sp>
      <p:sp>
        <p:nvSpPr>
          <p:cNvPr id="5" name="圆角矩形 75"/>
          <p:cNvSpPr/>
          <p:nvPr/>
        </p:nvSpPr>
        <p:spPr bwMode="gray">
          <a:xfrm>
            <a:off x="442913" y="1051258"/>
            <a:ext cx="5527243" cy="373033"/>
          </a:xfrm>
          <a:prstGeom prst="roundRect">
            <a:avLst>
              <a:gd name="adj" fmla="val 0"/>
            </a:avLst>
          </a:prstGeom>
          <a:solidFill>
            <a:srgbClr val="30B5C5"/>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什么是虚拟系统</a:t>
            </a:r>
          </a:p>
        </p:txBody>
      </p:sp>
      <p:sp>
        <p:nvSpPr>
          <p:cNvPr id="6" name="圆角矩形 75"/>
          <p:cNvSpPr/>
          <p:nvPr/>
        </p:nvSpPr>
        <p:spPr bwMode="gray">
          <a:xfrm>
            <a:off x="6211764" y="1051258"/>
            <a:ext cx="5537324" cy="373033"/>
          </a:xfrm>
          <a:prstGeom prst="roundRect">
            <a:avLst>
              <a:gd name="adj" fmla="val 0"/>
            </a:avLst>
          </a:prstGeom>
          <a:solidFill>
            <a:srgbClr val="30B5C5"/>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6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虚拟系统与防火墙虚拟化</a:t>
            </a:r>
          </a:p>
        </p:txBody>
      </p:sp>
      <p:pic>
        <p:nvPicPr>
          <p:cNvPr id="7"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1327748" y="2424336"/>
            <a:ext cx="490909" cy="401653"/>
          </a:xfrm>
          <a:prstGeom prst="rect">
            <a:avLst/>
          </a:prstGeom>
        </p:spPr>
      </p:pic>
      <p:sp>
        <p:nvSpPr>
          <p:cNvPr id="9" name="圆角矩形 75"/>
          <p:cNvSpPr/>
          <p:nvPr/>
        </p:nvSpPr>
        <p:spPr bwMode="gray">
          <a:xfrm>
            <a:off x="2584335" y="1714239"/>
            <a:ext cx="2878331" cy="1792285"/>
          </a:xfrm>
          <a:prstGeom prst="roundRect">
            <a:avLst>
              <a:gd name="adj" fmla="val 3088"/>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圆角矩形 75"/>
          <p:cNvSpPr/>
          <p:nvPr/>
        </p:nvSpPr>
        <p:spPr bwMode="gray">
          <a:xfrm>
            <a:off x="2912208" y="2983626"/>
            <a:ext cx="2247833" cy="298358"/>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根系统</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圆角矩形 75"/>
          <p:cNvSpPr/>
          <p:nvPr/>
        </p:nvSpPr>
        <p:spPr bwMode="gray">
          <a:xfrm>
            <a:off x="2912207" y="1857265"/>
            <a:ext cx="391605" cy="1006946"/>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虚拟系统</a:t>
            </a:r>
            <a:endPar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圆角矩形 75"/>
          <p:cNvSpPr/>
          <p:nvPr/>
        </p:nvSpPr>
        <p:spPr bwMode="gray">
          <a:xfrm>
            <a:off x="3574163" y="1857265"/>
            <a:ext cx="391605" cy="1006946"/>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虚拟系统</a:t>
            </a:r>
            <a:endParaRPr lang="en-US" altLang="zh-CN"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圆角矩形 75"/>
          <p:cNvSpPr/>
          <p:nvPr/>
        </p:nvSpPr>
        <p:spPr bwMode="gray">
          <a:xfrm>
            <a:off x="4768436" y="1857265"/>
            <a:ext cx="391605" cy="1006946"/>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虚拟系统</a:t>
            </a:r>
            <a:endParaRPr lang="en-US" altLang="zh-CN"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N</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grpSp>
        <p:nvGrpSpPr>
          <p:cNvPr id="14" name="Group 3"/>
          <p:cNvGrpSpPr/>
          <p:nvPr/>
        </p:nvGrpSpPr>
        <p:grpSpPr bwMode="gray">
          <a:xfrm>
            <a:off x="4236119" y="2530426"/>
            <a:ext cx="261965" cy="61979"/>
            <a:chOff x="559282" y="6488261"/>
            <a:chExt cx="261965" cy="61979"/>
          </a:xfrm>
          <a:solidFill>
            <a:schemeClr val="bg1">
              <a:lumMod val="50000"/>
            </a:schemeClr>
          </a:solidFill>
        </p:grpSpPr>
        <p:sp>
          <p:nvSpPr>
            <p:cNvPr id="15"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19" name="矩形 18"/>
          <p:cNvSpPr/>
          <p:nvPr/>
        </p:nvSpPr>
        <p:spPr bwMode="gray">
          <a:xfrm>
            <a:off x="554038" y="3657327"/>
            <a:ext cx="5338762" cy="2413161"/>
          </a:xfrm>
          <a:prstGeom prst="rect">
            <a:avLst/>
          </a:prstGeom>
        </p:spPr>
        <p:txBody>
          <a:bodyPr wrap="square">
            <a:spAutoFit/>
          </a:bodyPr>
          <a:lstStyle/>
          <a:p>
            <a:pPr>
              <a:lnSpc>
                <a:spcPts val="1900"/>
              </a:lnSpc>
              <a:spcAft>
                <a:spcPts val="600"/>
              </a:spcAft>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防火墙上</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存在两种类型的虚拟系统：</a:t>
            </a:r>
          </a:p>
          <a:p>
            <a:pPr marL="182563" indent="-182563">
              <a:lnSpc>
                <a:spcPts val="1900"/>
              </a:lnSpc>
              <a:spcAft>
                <a:spcPts val="600"/>
              </a:spcAft>
              <a:buFont typeface="Arial" panose="020B0604020202020204" pitchFamily="34" charset="0"/>
              <a:buChar char="•"/>
            </a:pPr>
            <a:r>
              <a:rPr lang="zh-CN" altLang="en-US" sz="1400" b="1" smtClean="0">
                <a:latin typeface="Huawei Sans" panose="020C0503030203020204" pitchFamily="34" charset="0"/>
                <a:ea typeface="方正兰亭黑简体" panose="02000000000000000000" pitchFamily="2" charset="-122"/>
                <a:sym typeface="Huawei Sans" panose="020C0503030203020204" pitchFamily="34" charset="0"/>
              </a:rPr>
              <a:t>根系统（</a:t>
            </a:r>
            <a:r>
              <a:rPr lang="en-US" altLang="zh-CN" sz="1400" b="1" smtClean="0">
                <a:latin typeface="Huawei Sans" panose="020C0503030203020204" pitchFamily="34" charset="0"/>
                <a:ea typeface="方正兰亭黑简体" panose="02000000000000000000" pitchFamily="2" charset="-122"/>
                <a:sym typeface="Huawei Sans" panose="020C0503030203020204" pitchFamily="34" charset="0"/>
              </a:rPr>
              <a:t>Public</a:t>
            </a:r>
            <a:r>
              <a:rPr lang="zh-CN" altLang="en-US" sz="1400" b="1" smtClean="0">
                <a:latin typeface="Huawei Sans" panose="020C0503030203020204" pitchFamily="34" charset="0"/>
                <a:ea typeface="方正兰亭黑简体" panose="02000000000000000000" pitchFamily="2" charset="-122"/>
                <a:sym typeface="Huawei Sans" panose="020C0503030203020204" pitchFamily="34" charset="0"/>
              </a:rPr>
              <a:t>）</a:t>
            </a:r>
          </a:p>
          <a:p>
            <a:pPr marL="182563" lvl="1">
              <a:lnSpc>
                <a:spcPts val="1900"/>
              </a:lnSpc>
              <a:spcAft>
                <a:spcPts val="600"/>
              </a:spcAft>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缺省即存在</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的一个</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特殊虚拟系统。缺省时，管理员对</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防火墙</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进行</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配置等同于对根系统进行配置</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a:p>
            <a:pPr marL="182563" lvl="1">
              <a:lnSpc>
                <a:spcPts val="1900"/>
              </a:lnSpc>
              <a:spcAft>
                <a:spcPts val="600"/>
              </a:spcAft>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在</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虚拟系统这个特性中，根系统的作用是管理其他虚拟系统，并为虚拟系统间的通信提供服务。</a:t>
            </a:r>
          </a:p>
          <a:p>
            <a:pPr marL="182563" indent="-182563">
              <a:lnSpc>
                <a:spcPts val="1900"/>
              </a:lnSpc>
              <a:spcAft>
                <a:spcPts val="600"/>
              </a:spcAft>
              <a:buFont typeface="Arial" panose="020B0604020202020204" pitchFamily="34" charset="0"/>
              <a:buChar char="•"/>
            </a:pP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400" b="1">
                <a:latin typeface="Huawei Sans" panose="020C0503030203020204" pitchFamily="34" charset="0"/>
                <a:ea typeface="方正兰亭黑简体" panose="02000000000000000000" pitchFamily="2" charset="-122"/>
                <a:sym typeface="Huawei Sans" panose="020C0503030203020204" pitchFamily="34" charset="0"/>
              </a:rPr>
              <a:t>VSYS</a:t>
            </a:r>
            <a:r>
              <a:rPr lang="zh-CN" altLang="en-US" sz="1400" b="1">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b="1">
              <a:latin typeface="Huawei Sans" panose="020C0503030203020204" pitchFamily="34" charset="0"/>
              <a:ea typeface="方正兰亭黑简体" panose="02000000000000000000" pitchFamily="2" charset="-122"/>
              <a:sym typeface="Huawei Sans" panose="020C0503030203020204" pitchFamily="34" charset="0"/>
            </a:endParaRPr>
          </a:p>
          <a:p>
            <a:pPr marL="182563" lvl="1">
              <a:lnSpc>
                <a:spcPts val="1900"/>
              </a:lnSpc>
              <a:spcAft>
                <a:spcPts val="600"/>
              </a:spcAft>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虚拟系统是在防火墙上划分出来的、独立运行的逻辑设备。</a:t>
            </a:r>
          </a:p>
        </p:txBody>
      </p:sp>
      <p:sp>
        <p:nvSpPr>
          <p:cNvPr id="20" name="圆角矩形 75"/>
          <p:cNvSpPr/>
          <p:nvPr/>
        </p:nvSpPr>
        <p:spPr bwMode="gray">
          <a:xfrm>
            <a:off x="6421120" y="2123008"/>
            <a:ext cx="5159252" cy="2134032"/>
          </a:xfrm>
          <a:prstGeom prst="roundRect">
            <a:avLst>
              <a:gd name="adj" fmla="val 3088"/>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Can 9"/>
          <p:cNvSpPr/>
          <p:nvPr/>
        </p:nvSpPr>
        <p:spPr bwMode="gray">
          <a:xfrm>
            <a:off x="7409756" y="1987230"/>
            <a:ext cx="424355" cy="430733"/>
          </a:xfrm>
          <a:prstGeom prst="can">
            <a:avLst>
              <a:gd name="adj" fmla="val 34718"/>
            </a:avLst>
          </a:prstGeom>
          <a:solidFill>
            <a:srgbClr val="FAD3BB"/>
          </a:solidFill>
          <a:ln w="12700" cap="flat" cmpd="sng" algn="ctr">
            <a:solidFill>
              <a:srgbClr val="FAD3BB"/>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Can 9"/>
          <p:cNvSpPr/>
          <p:nvPr/>
        </p:nvSpPr>
        <p:spPr bwMode="gray">
          <a:xfrm>
            <a:off x="7409756" y="3994784"/>
            <a:ext cx="424355" cy="430733"/>
          </a:xfrm>
          <a:prstGeom prst="can">
            <a:avLst>
              <a:gd name="adj" fmla="val 34718"/>
            </a:avLst>
          </a:prstGeom>
          <a:solidFill>
            <a:srgbClr val="FAD3BB"/>
          </a:solidFill>
          <a:ln w="12700" cap="flat" cmpd="sng" algn="ctr">
            <a:solidFill>
              <a:srgbClr val="FAD3BB"/>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TextBox 13"/>
          <p:cNvSpPr txBox="1"/>
          <p:nvPr/>
        </p:nvSpPr>
        <p:spPr bwMode="gray">
          <a:xfrm>
            <a:off x="7375712" y="2119831"/>
            <a:ext cx="492443"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接口</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4" name="TextBox 13"/>
          <p:cNvSpPr txBox="1"/>
          <p:nvPr/>
        </p:nvSpPr>
        <p:spPr bwMode="gray">
          <a:xfrm>
            <a:off x="7375712" y="4131773"/>
            <a:ext cx="492443"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接口</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5" name="Can 9"/>
          <p:cNvSpPr/>
          <p:nvPr/>
        </p:nvSpPr>
        <p:spPr bwMode="gray">
          <a:xfrm>
            <a:off x="9369608" y="1987230"/>
            <a:ext cx="424355" cy="430733"/>
          </a:xfrm>
          <a:prstGeom prst="can">
            <a:avLst>
              <a:gd name="adj" fmla="val 34718"/>
            </a:avLst>
          </a:prstGeom>
          <a:solidFill>
            <a:schemeClr val="accent6">
              <a:lumMod val="40000"/>
              <a:lumOff val="60000"/>
            </a:schemeClr>
          </a:solidFill>
          <a:ln w="12700" cap="flat" cmpd="sng" algn="ctr">
            <a:solidFill>
              <a:schemeClr val="accent6">
                <a:lumMod val="60000"/>
                <a:lumOff val="40000"/>
              </a:schemeClr>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6" name="Can 9"/>
          <p:cNvSpPr/>
          <p:nvPr/>
        </p:nvSpPr>
        <p:spPr bwMode="gray">
          <a:xfrm>
            <a:off x="9369608" y="3994784"/>
            <a:ext cx="424355" cy="430733"/>
          </a:xfrm>
          <a:prstGeom prst="can">
            <a:avLst>
              <a:gd name="adj" fmla="val 34718"/>
            </a:avLst>
          </a:prstGeom>
          <a:solidFill>
            <a:schemeClr val="accent6">
              <a:lumMod val="40000"/>
              <a:lumOff val="60000"/>
            </a:schemeClr>
          </a:solidFill>
          <a:ln w="12700" cap="flat" cmpd="sng" algn="ctr">
            <a:solidFill>
              <a:schemeClr val="accent6">
                <a:lumMod val="60000"/>
                <a:lumOff val="40000"/>
              </a:schemeClr>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7" name="TextBox 13"/>
          <p:cNvSpPr txBox="1"/>
          <p:nvPr/>
        </p:nvSpPr>
        <p:spPr bwMode="gray">
          <a:xfrm>
            <a:off x="9335564" y="2119831"/>
            <a:ext cx="492443"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接口</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8" name="TextBox 13"/>
          <p:cNvSpPr txBox="1"/>
          <p:nvPr/>
        </p:nvSpPr>
        <p:spPr bwMode="gray">
          <a:xfrm>
            <a:off x="9335564" y="4131773"/>
            <a:ext cx="492443"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接口</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29" name="Can 9"/>
          <p:cNvSpPr/>
          <p:nvPr/>
        </p:nvSpPr>
        <p:spPr bwMode="gray">
          <a:xfrm>
            <a:off x="10586839" y="1987230"/>
            <a:ext cx="424355" cy="430733"/>
          </a:xfrm>
          <a:prstGeom prst="can">
            <a:avLst>
              <a:gd name="adj" fmla="val 34718"/>
            </a:avLst>
          </a:prstGeom>
          <a:solidFill>
            <a:srgbClr val="BEE9EE"/>
          </a:solidFill>
          <a:ln w="12700" cap="flat" cmpd="sng" algn="ctr">
            <a:solidFill>
              <a:srgbClr val="94DAE2"/>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Can 9"/>
          <p:cNvSpPr/>
          <p:nvPr/>
        </p:nvSpPr>
        <p:spPr bwMode="gray">
          <a:xfrm>
            <a:off x="10586839" y="3994784"/>
            <a:ext cx="424355" cy="430733"/>
          </a:xfrm>
          <a:prstGeom prst="can">
            <a:avLst>
              <a:gd name="adj" fmla="val 34718"/>
            </a:avLst>
          </a:prstGeom>
          <a:solidFill>
            <a:srgbClr val="BEE9EE"/>
          </a:solidFill>
          <a:ln w="12700" cap="flat" cmpd="sng" algn="ctr">
            <a:solidFill>
              <a:srgbClr val="94DAE2"/>
            </a:solidFill>
            <a:prstDash val="solid"/>
            <a:miter lim="800000"/>
          </a:ln>
          <a:effectLst/>
        </p:spPr>
        <p:txBody>
          <a:bodyPr rtlCol="0" anchor="ctr"/>
          <a:lstStyle/>
          <a:p>
            <a:pPr marL="0" marR="0" lvl="0" indent="0" algn="ctr" defTabSz="914478"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white"/>
              </a:solidFill>
              <a:effectLst/>
              <a:uLnTx/>
              <a:uFillTx/>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TextBox 13"/>
          <p:cNvSpPr txBox="1"/>
          <p:nvPr/>
        </p:nvSpPr>
        <p:spPr bwMode="gray">
          <a:xfrm>
            <a:off x="10552795" y="2119831"/>
            <a:ext cx="492443"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接口</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sp>
        <p:nvSpPr>
          <p:cNvPr id="32" name="TextBox 13"/>
          <p:cNvSpPr txBox="1"/>
          <p:nvPr/>
        </p:nvSpPr>
        <p:spPr bwMode="gray">
          <a:xfrm>
            <a:off x="10552795" y="4131773"/>
            <a:ext cx="492443" cy="276999"/>
          </a:xfrm>
          <a:prstGeom prst="rect">
            <a:avLst/>
          </a:prstGeom>
          <a:noFill/>
        </p:spPr>
        <p:txBody>
          <a:bodyPr wrap="none" rtlCol="0">
            <a:spAutoFit/>
          </a:bodyPr>
          <a:lstStyle/>
          <a:p>
            <a:pPr algn="ctr"/>
            <a:r>
              <a:rPr lang="zh-CN" altLang="en-US" sz="1200" smtClean="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rPr>
              <a:t>接口</a:t>
            </a:r>
            <a:endParaRPr lang="en-US" altLang="zh-CN" sz="1200">
              <a:latin typeface="Huawei Sans" panose="020C0503030203020204" pitchFamily="34" charset="0"/>
              <a:ea typeface="方正兰亭黑简体" panose="02000000000000000000" pitchFamily="2" charset="-122"/>
              <a:cs typeface="Arial" pitchFamily="34" charset="0"/>
              <a:sym typeface="Huawei Sans" panose="020C0503030203020204" pitchFamily="34" charset="0"/>
            </a:endParaRPr>
          </a:p>
        </p:txBody>
      </p:sp>
      <p:grpSp>
        <p:nvGrpSpPr>
          <p:cNvPr id="33" name="Group 3"/>
          <p:cNvGrpSpPr/>
          <p:nvPr/>
        </p:nvGrpSpPr>
        <p:grpSpPr bwMode="gray">
          <a:xfrm>
            <a:off x="10083798" y="2058947"/>
            <a:ext cx="261965" cy="61979"/>
            <a:chOff x="559282" y="6488261"/>
            <a:chExt cx="261965" cy="61979"/>
          </a:xfrm>
          <a:solidFill>
            <a:schemeClr val="bg1">
              <a:lumMod val="50000"/>
            </a:schemeClr>
          </a:solidFill>
        </p:grpSpPr>
        <p:sp>
          <p:nvSpPr>
            <p:cNvPr id="34"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grpSp>
        <p:nvGrpSpPr>
          <p:cNvPr id="37" name="Group 3"/>
          <p:cNvGrpSpPr/>
          <p:nvPr/>
        </p:nvGrpSpPr>
        <p:grpSpPr bwMode="gray">
          <a:xfrm>
            <a:off x="10083798" y="4270272"/>
            <a:ext cx="261965" cy="61979"/>
            <a:chOff x="559282" y="6488261"/>
            <a:chExt cx="261965" cy="61979"/>
          </a:xfrm>
          <a:solidFill>
            <a:schemeClr val="bg1">
              <a:lumMod val="50000"/>
            </a:schemeClr>
          </a:solidFill>
        </p:grpSpPr>
        <p:sp>
          <p:nvSpPr>
            <p:cNvPr id="38" name="Oval 1"/>
            <p:cNvSpPr>
              <a:spLocks noChangeAspect="1"/>
            </p:cNvSpPr>
            <p:nvPr/>
          </p:nvSpPr>
          <p:spPr bwMode="gray">
            <a:xfrm>
              <a:off x="759268"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Oval 174"/>
            <p:cNvSpPr>
              <a:spLocks noChangeAspect="1"/>
            </p:cNvSpPr>
            <p:nvPr/>
          </p:nvSpPr>
          <p:spPr bwMode="gray">
            <a:xfrm>
              <a:off x="559282"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Oval 175"/>
            <p:cNvSpPr>
              <a:spLocks noChangeAspect="1"/>
            </p:cNvSpPr>
            <p:nvPr/>
          </p:nvSpPr>
          <p:spPr bwMode="gray">
            <a:xfrm>
              <a:off x="659275" y="6488261"/>
              <a:ext cx="61979" cy="61979"/>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pSp>
      <p:sp>
        <p:nvSpPr>
          <p:cNvPr id="41" name="圆角矩形 75"/>
          <p:cNvSpPr/>
          <p:nvPr/>
        </p:nvSpPr>
        <p:spPr bwMode="gray">
          <a:xfrm>
            <a:off x="6679359" y="2510422"/>
            <a:ext cx="1885148" cy="1382762"/>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圆角矩形 75"/>
          <p:cNvSpPr/>
          <p:nvPr/>
        </p:nvSpPr>
        <p:spPr bwMode="gray">
          <a:xfrm>
            <a:off x="9168065" y="2510422"/>
            <a:ext cx="827441" cy="1382762"/>
          </a:xfrm>
          <a:prstGeom prst="roundRect">
            <a:avLst>
              <a:gd name="adj" fmla="val 3088"/>
            </a:avLst>
          </a:prstGeom>
          <a:solidFill>
            <a:schemeClr val="accent6">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圆角矩形 75"/>
          <p:cNvSpPr/>
          <p:nvPr/>
        </p:nvSpPr>
        <p:spPr bwMode="gray">
          <a:xfrm>
            <a:off x="10385296" y="2510422"/>
            <a:ext cx="827441" cy="1382762"/>
          </a:xfrm>
          <a:prstGeom prst="roundRect">
            <a:avLst>
              <a:gd name="adj" fmla="val 3088"/>
            </a:avLst>
          </a:prstGeom>
          <a:solidFill>
            <a:srgbClr val="BEE9EE"/>
          </a:solidFill>
          <a:ln w="9525">
            <a:solidFill>
              <a:srgbClr val="94DAE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4" name="圆角矩形 75"/>
          <p:cNvSpPr/>
          <p:nvPr/>
        </p:nvSpPr>
        <p:spPr bwMode="gray">
          <a:xfrm>
            <a:off x="6795717" y="2585432"/>
            <a:ext cx="1652433" cy="268758"/>
          </a:xfrm>
          <a:prstGeom prst="roundRect">
            <a:avLst>
              <a:gd name="adj" fmla="val 3088"/>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独立的资源</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圆角矩形 75"/>
          <p:cNvSpPr/>
          <p:nvPr/>
        </p:nvSpPr>
        <p:spPr bwMode="gray">
          <a:xfrm>
            <a:off x="6795717" y="2907873"/>
            <a:ext cx="1652433" cy="268758"/>
          </a:xfrm>
          <a:prstGeom prst="roundRect">
            <a:avLst>
              <a:gd name="adj" fmla="val 3088"/>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独立配置</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圆角矩形 75"/>
          <p:cNvSpPr/>
          <p:nvPr/>
        </p:nvSpPr>
        <p:spPr bwMode="gray">
          <a:xfrm>
            <a:off x="6795717" y="3230314"/>
            <a:ext cx="1652433" cy="268758"/>
          </a:xfrm>
          <a:prstGeom prst="roundRect">
            <a:avLst>
              <a:gd name="adj" fmla="val 3088"/>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独立</a:t>
            </a: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安全功能</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圆角矩形 75"/>
          <p:cNvSpPr/>
          <p:nvPr/>
        </p:nvSpPr>
        <p:spPr bwMode="gray">
          <a:xfrm>
            <a:off x="6795717" y="3552755"/>
            <a:ext cx="1652433" cy="268758"/>
          </a:xfrm>
          <a:prstGeom prst="roundRect">
            <a:avLst>
              <a:gd name="adj" fmla="val 3088"/>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独立的路由表</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6274788" y="4921914"/>
            <a:ext cx="5411276" cy="1015663"/>
          </a:xfrm>
          <a:prstGeom prst="rect">
            <a:avLst/>
          </a:prstGeom>
        </p:spPr>
        <p:txBody>
          <a:bodyPr wrap="square">
            <a:spAutoFit/>
          </a:bodyPr>
          <a:lstStyle/>
          <a:p>
            <a:pPr algn="just">
              <a:lnSpc>
                <a:spcPts val="2400"/>
              </a:lnSpc>
            </a:pP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为了实现每个虚拟系统的业务都能够做到正确转发、独立管理、相互隔离，</a:t>
            </a:r>
            <a:r>
              <a:rPr lang="en-US" altLang="zh-CN" sz="1400" dirty="0">
                <a:latin typeface="Huawei Sans" panose="020C0503030203020204" pitchFamily="34" charset="0"/>
                <a:ea typeface="方正兰亭黑简体" panose="02000000000000000000" pitchFamily="2" charset="-122"/>
                <a:sym typeface="Huawei Sans" panose="020C0503030203020204" pitchFamily="34" charset="0"/>
              </a:rPr>
              <a:t>FW</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主要实现了几个方面的虚拟化：资源虚拟化</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配置</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虚拟</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化、安全功能虚拟化</a:t>
            </a:r>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及路由虚拟</a:t>
            </a:r>
            <a:r>
              <a:rPr lang="zh-CN" altLang="en-US" sz="1400" dirty="0">
                <a:latin typeface="Huawei Sans" panose="020C0503030203020204" pitchFamily="34" charset="0"/>
                <a:ea typeface="方正兰亭黑简体" panose="02000000000000000000" pitchFamily="2" charset="-122"/>
                <a:sym typeface="Huawei Sans" panose="020C0503030203020204" pitchFamily="34" charset="0"/>
              </a:rPr>
              <a:t>化。</a:t>
            </a:r>
          </a:p>
        </p:txBody>
      </p:sp>
      <p:sp>
        <p:nvSpPr>
          <p:cNvPr id="51" name="矩形 50"/>
          <p:cNvSpPr/>
          <p:nvPr/>
        </p:nvSpPr>
        <p:spPr bwMode="gray">
          <a:xfrm>
            <a:off x="6387743" y="3917024"/>
            <a:ext cx="901209" cy="276999"/>
          </a:xfrm>
          <a:prstGeom prst="rect">
            <a:avLst/>
          </a:prstGeom>
        </p:spPr>
        <p:txBody>
          <a:bodyPr wrap="none">
            <a:spAutoFit/>
          </a:bodyPr>
          <a:lstStyle/>
          <a:p>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矩形 51"/>
          <p:cNvSpPr/>
          <p:nvPr/>
        </p:nvSpPr>
        <p:spPr bwMode="gray">
          <a:xfrm>
            <a:off x="9131180" y="3145854"/>
            <a:ext cx="901209" cy="276999"/>
          </a:xfrm>
          <a:prstGeom prst="rect">
            <a:avLst/>
          </a:prstGeom>
        </p:spPr>
        <p:txBody>
          <a:bodyPr wrap="none">
            <a:spAutoFit/>
          </a:bodyPr>
          <a:lstStyle/>
          <a:p>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B</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3" name="矩形 52"/>
          <p:cNvSpPr/>
          <p:nvPr/>
        </p:nvSpPr>
        <p:spPr bwMode="gray">
          <a:xfrm>
            <a:off x="10348411" y="3145854"/>
            <a:ext cx="917239" cy="276999"/>
          </a:xfrm>
          <a:prstGeom prst="rect">
            <a:avLst/>
          </a:prstGeom>
        </p:spPr>
        <p:txBody>
          <a:bodyPr wrap="none">
            <a:spAutoFit/>
          </a:bodyPr>
          <a:lstStyle/>
          <a:p>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N</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335752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圆角矩形 75"/>
          <p:cNvSpPr/>
          <p:nvPr/>
        </p:nvSpPr>
        <p:spPr bwMode="gray">
          <a:xfrm>
            <a:off x="460138" y="1330960"/>
            <a:ext cx="5747362" cy="3439075"/>
          </a:xfrm>
          <a:prstGeom prst="roundRect">
            <a:avLst>
              <a:gd name="adj" fmla="val 3088"/>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圆角矩形 75"/>
          <p:cNvSpPr/>
          <p:nvPr/>
        </p:nvSpPr>
        <p:spPr bwMode="gray">
          <a:xfrm>
            <a:off x="2836166" y="1540032"/>
            <a:ext cx="1259521" cy="583537"/>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虚拟系统</a:t>
            </a:r>
            <a:endPar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C</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虚拟接口</a:t>
            </a:r>
            <a:endParaRPr lang="zh-CN" altLang="en-US">
              <a:sym typeface="Huawei Sans" panose="020C0503030203020204" pitchFamily="34" charset="0"/>
            </a:endParaRPr>
          </a:p>
        </p:txBody>
      </p:sp>
      <p:sp>
        <p:nvSpPr>
          <p:cNvPr id="3" name="任意多边形 2"/>
          <p:cNvSpPr/>
          <p:nvPr/>
        </p:nvSpPr>
        <p:spPr bwMode="gray">
          <a:xfrm rot="10800000">
            <a:off x="568702" y="4770034"/>
            <a:ext cx="5530236" cy="1205989"/>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Lst>
            <a:ahLst/>
            <a:cxnLst>
              <a:cxn ang="0">
                <a:pos x="connsiteX0" y="connsiteY0"/>
              </a:cxn>
              <a:cxn ang="0">
                <a:pos x="connsiteX1" y="connsiteY1"/>
              </a:cxn>
              <a:cxn ang="0">
                <a:pos x="connsiteX2" y="connsiteY2"/>
              </a:cxn>
              <a:cxn ang="0">
                <a:pos x="connsiteX3" y="connsiteY3"/>
              </a:cxn>
            </a:cxnLst>
            <a:rect l="l" t="t" r="r" b="b"/>
            <a:pathLst>
              <a:path w="1219200" h="659976">
                <a:moveTo>
                  <a:pt x="602404" y="0"/>
                </a:moveTo>
                <a:lnTo>
                  <a:pt x="0" y="659976"/>
                </a:lnTo>
                <a:lnTo>
                  <a:pt x="1219200" y="659976"/>
                </a:lnTo>
                <a:lnTo>
                  <a:pt x="602404" y="0"/>
                </a:lnTo>
                <a:close/>
              </a:path>
            </a:pathLst>
          </a:custGeom>
          <a:gradFill flip="none" rotWithShape="1">
            <a:gsLst>
              <a:gs pos="100000">
                <a:schemeClr val="accent1">
                  <a:lumMod val="5000"/>
                  <a:lumOff val="95000"/>
                  <a:alpha val="0"/>
                </a:schemeClr>
              </a:gs>
              <a:gs pos="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4"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088365" y="5574373"/>
            <a:ext cx="490909" cy="401653"/>
          </a:xfrm>
          <a:prstGeom prst="rect">
            <a:avLst/>
          </a:prstGeom>
        </p:spPr>
      </p:pic>
      <p:sp>
        <p:nvSpPr>
          <p:cNvPr id="6" name="圆角矩形 75"/>
          <p:cNvSpPr/>
          <p:nvPr/>
        </p:nvSpPr>
        <p:spPr bwMode="gray">
          <a:xfrm>
            <a:off x="1022606" y="3876148"/>
            <a:ext cx="1259521" cy="583537"/>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虚拟系统</a:t>
            </a:r>
            <a:endPar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圆角矩形 75"/>
          <p:cNvSpPr/>
          <p:nvPr/>
        </p:nvSpPr>
        <p:spPr bwMode="gray">
          <a:xfrm>
            <a:off x="2836166" y="2864884"/>
            <a:ext cx="1259521" cy="583537"/>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8" name="圆角矩形 75"/>
          <p:cNvSpPr/>
          <p:nvPr/>
        </p:nvSpPr>
        <p:spPr bwMode="gray">
          <a:xfrm>
            <a:off x="4603313" y="3876148"/>
            <a:ext cx="1259521" cy="583537"/>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虚拟系统</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Oval 4"/>
          <p:cNvSpPr>
            <a:spLocks noChangeAspect="1"/>
          </p:cNvSpPr>
          <p:nvPr/>
        </p:nvSpPr>
        <p:spPr bwMode="gray">
          <a:xfrm>
            <a:off x="1546377" y="3731084"/>
            <a:ext cx="211977" cy="211977"/>
          </a:xfrm>
          <a:prstGeom prst="ellipse">
            <a:avLst/>
          </a:prstGeom>
          <a:solidFill>
            <a:srgbClr val="FF993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Oval 4"/>
          <p:cNvSpPr>
            <a:spLocks noChangeAspect="1"/>
          </p:cNvSpPr>
          <p:nvPr/>
        </p:nvSpPr>
        <p:spPr bwMode="gray">
          <a:xfrm>
            <a:off x="5127084" y="3731084"/>
            <a:ext cx="211977" cy="211977"/>
          </a:xfrm>
          <a:prstGeom prst="ellipse">
            <a:avLst/>
          </a:prstGeom>
          <a:solidFill>
            <a:srgbClr val="FF993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Oval 4"/>
          <p:cNvSpPr>
            <a:spLocks noChangeAspect="1"/>
          </p:cNvSpPr>
          <p:nvPr/>
        </p:nvSpPr>
        <p:spPr bwMode="gray">
          <a:xfrm>
            <a:off x="3359937" y="3011620"/>
            <a:ext cx="211977" cy="211977"/>
          </a:xfrm>
          <a:prstGeom prst="ellipse">
            <a:avLst/>
          </a:prstGeom>
          <a:solidFill>
            <a:srgbClr val="FF993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4" name="Oval 4"/>
          <p:cNvSpPr>
            <a:spLocks noChangeAspect="1"/>
          </p:cNvSpPr>
          <p:nvPr/>
        </p:nvSpPr>
        <p:spPr bwMode="gray">
          <a:xfrm>
            <a:off x="3359937" y="2057438"/>
            <a:ext cx="211977" cy="211977"/>
          </a:xfrm>
          <a:prstGeom prst="ellipse">
            <a:avLst/>
          </a:prstGeom>
          <a:solidFill>
            <a:srgbClr val="FF993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7" name="直接连接符 16"/>
          <p:cNvCxnSpPr>
            <a:stCxn id="14" idx="4"/>
            <a:endCxn id="11" idx="0"/>
          </p:cNvCxnSpPr>
          <p:nvPr/>
        </p:nvCxnSpPr>
        <p:spPr bwMode="gray">
          <a:xfrm flipH="1">
            <a:off x="1652366" y="2269415"/>
            <a:ext cx="1813560" cy="146166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14" idx="4"/>
            <a:endCxn id="12" idx="0"/>
          </p:cNvCxnSpPr>
          <p:nvPr/>
        </p:nvCxnSpPr>
        <p:spPr bwMode="gray">
          <a:xfrm>
            <a:off x="3465926" y="2269415"/>
            <a:ext cx="1767147" cy="1461669"/>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4" idx="4"/>
            <a:endCxn id="13" idx="0"/>
          </p:cNvCxnSpPr>
          <p:nvPr/>
        </p:nvCxnSpPr>
        <p:spPr bwMode="gray">
          <a:xfrm>
            <a:off x="3465926" y="2269415"/>
            <a:ext cx="0" cy="742205"/>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6" name="直接连接符 25"/>
          <p:cNvCxnSpPr>
            <a:stCxn id="13" idx="3"/>
            <a:endCxn id="11" idx="0"/>
          </p:cNvCxnSpPr>
          <p:nvPr/>
        </p:nvCxnSpPr>
        <p:spPr bwMode="gray">
          <a:xfrm flipH="1">
            <a:off x="1652366" y="3192554"/>
            <a:ext cx="1738614" cy="53853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9" name="直接连接符 28"/>
          <p:cNvCxnSpPr>
            <a:stCxn id="13" idx="5"/>
            <a:endCxn id="12" idx="0"/>
          </p:cNvCxnSpPr>
          <p:nvPr/>
        </p:nvCxnSpPr>
        <p:spPr bwMode="gray">
          <a:xfrm>
            <a:off x="3540871" y="3192554"/>
            <a:ext cx="1692202" cy="53853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11" idx="0"/>
            <a:endCxn id="12" idx="0"/>
          </p:cNvCxnSpPr>
          <p:nvPr/>
        </p:nvCxnSpPr>
        <p:spPr bwMode="gray">
          <a:xfrm>
            <a:off x="1652366" y="3731084"/>
            <a:ext cx="3580707"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36" name="矩形 35"/>
          <p:cNvSpPr/>
          <p:nvPr/>
        </p:nvSpPr>
        <p:spPr bwMode="gray">
          <a:xfrm>
            <a:off x="3120809" y="3411093"/>
            <a:ext cx="646331" cy="276999"/>
          </a:xfrm>
          <a:prstGeom prst="rect">
            <a:avLst/>
          </a:prstGeom>
        </p:spPr>
        <p:txBody>
          <a:bodyPr wrap="none">
            <a:spAutoFit/>
          </a:bodyPr>
          <a:lstStyle/>
          <a:p>
            <a:r>
              <a:rPr lang="zh-CN" altLang="en-US" sz="1200" smtClean="0">
                <a:latin typeface="Huawei Sans" panose="020C0503030203020204" pitchFamily="34" charset="0"/>
                <a:ea typeface="方正兰亭黑简体" panose="02000000000000000000" pitchFamily="2" charset="-122"/>
                <a:sym typeface="Huawei Sans" panose="020C0503030203020204" pitchFamily="34" charset="0"/>
              </a:rPr>
              <a:t>根系统</a:t>
            </a:r>
            <a:endParaRPr lang="en-US" altLang="zh-CN"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a:off x="3520291" y="2963588"/>
            <a:ext cx="891591" cy="276999"/>
          </a:xfrm>
          <a:prstGeom prst="rect">
            <a:avLst/>
          </a:prstGeom>
        </p:spPr>
        <p:txBody>
          <a:bodyPr wrap="none">
            <a:spAutoFit/>
          </a:bodyPr>
          <a:lstStyle/>
          <a:p>
            <a:r>
              <a:rPr lang="en-US" altLang="zh-CN" sz="1200">
                <a:latin typeface="Huawei Sans" panose="020C0503030203020204" pitchFamily="34" charset="0"/>
                <a:ea typeface="方正兰亭黑简体" panose="02000000000000000000" pitchFamily="2" charset="-122"/>
                <a:sym typeface="Huawei Sans" panose="020C0503030203020204" pitchFamily="34" charset="0"/>
              </a:rPr>
              <a:t>Virtual-if0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矩形 38"/>
          <p:cNvSpPr/>
          <p:nvPr/>
        </p:nvSpPr>
        <p:spPr bwMode="gray">
          <a:xfrm>
            <a:off x="838696" y="3461366"/>
            <a:ext cx="891591" cy="276999"/>
          </a:xfrm>
          <a:prstGeom prst="rect">
            <a:avLst/>
          </a:prstGeom>
        </p:spPr>
        <p:txBody>
          <a:bodyPr wrap="none">
            <a:spAutoFit/>
          </a:bodyPr>
          <a:lstStyle/>
          <a:p>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Virtual-if1</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5153383" y="3461366"/>
            <a:ext cx="891591" cy="276999"/>
          </a:xfrm>
          <a:prstGeom prst="rect">
            <a:avLst/>
          </a:prstGeom>
        </p:spPr>
        <p:txBody>
          <a:bodyPr wrap="none">
            <a:spAutoFit/>
          </a:bodyPr>
          <a:lstStyle/>
          <a:p>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Virtual-if2</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矩形 40"/>
          <p:cNvSpPr/>
          <p:nvPr/>
        </p:nvSpPr>
        <p:spPr bwMode="gray">
          <a:xfrm>
            <a:off x="3579274" y="2129233"/>
            <a:ext cx="891591" cy="276999"/>
          </a:xfrm>
          <a:prstGeom prst="rect">
            <a:avLst/>
          </a:prstGeom>
        </p:spPr>
        <p:txBody>
          <a:bodyPr wrap="none">
            <a:spAutoFit/>
          </a:bodyPr>
          <a:lstStyle/>
          <a:p>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Virtual-if3</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6" name="Oval 4"/>
          <p:cNvSpPr>
            <a:spLocks noChangeAspect="1"/>
          </p:cNvSpPr>
          <p:nvPr/>
        </p:nvSpPr>
        <p:spPr bwMode="gray">
          <a:xfrm>
            <a:off x="4985517" y="1581096"/>
            <a:ext cx="211977" cy="211977"/>
          </a:xfrm>
          <a:prstGeom prst="ellipse">
            <a:avLst/>
          </a:prstGeom>
          <a:solidFill>
            <a:srgbClr val="FF993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7" name="矩形 46"/>
          <p:cNvSpPr/>
          <p:nvPr/>
        </p:nvSpPr>
        <p:spPr bwMode="gray">
          <a:xfrm>
            <a:off x="5197494" y="1548584"/>
            <a:ext cx="805029" cy="276999"/>
          </a:xfrm>
          <a:prstGeom prst="rect">
            <a:avLst/>
          </a:prstGeom>
        </p:spPr>
        <p:txBody>
          <a:bodyPr wrap="none">
            <a:spAutoFit/>
          </a:bodyPr>
          <a:lstStyle/>
          <a:p>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Virtual-if</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48" name="直接连接符 47"/>
          <p:cNvCxnSpPr/>
          <p:nvPr/>
        </p:nvCxnSpPr>
        <p:spPr bwMode="gray">
          <a:xfrm flipH="1">
            <a:off x="4990201" y="1990793"/>
            <a:ext cx="221584"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53" name="矩形 52"/>
          <p:cNvSpPr/>
          <p:nvPr/>
        </p:nvSpPr>
        <p:spPr bwMode="gray">
          <a:xfrm>
            <a:off x="5197494" y="1858095"/>
            <a:ext cx="805029" cy="276999"/>
          </a:xfrm>
          <a:prstGeom prst="rect">
            <a:avLst/>
          </a:prstGeom>
        </p:spPr>
        <p:txBody>
          <a:bodyPr wrap="none">
            <a:spAutoFit/>
          </a:bodyPr>
          <a:lstStyle/>
          <a:p>
            <a:r>
              <a:rPr lang="zh-CN" altLang="en-US" sz="1200">
                <a:latin typeface="Huawei Sans" panose="020C0503030203020204" pitchFamily="34" charset="0"/>
                <a:ea typeface="方正兰亭黑简体" panose="02000000000000000000" pitchFamily="2" charset="-122"/>
                <a:sym typeface="Huawei Sans" panose="020C0503030203020204" pitchFamily="34" charset="0"/>
              </a:rPr>
              <a:t>虚拟链路</a:t>
            </a:r>
          </a:p>
        </p:txBody>
      </p:sp>
      <p:sp>
        <p:nvSpPr>
          <p:cNvPr id="54" name="矩形 53"/>
          <p:cNvSpPr/>
          <p:nvPr/>
        </p:nvSpPr>
        <p:spPr bwMode="gray">
          <a:xfrm>
            <a:off x="6416870" y="1968340"/>
            <a:ext cx="5269193" cy="2477601"/>
          </a:xfrm>
          <a:prstGeom prst="rect">
            <a:avLst/>
          </a:prstGeom>
        </p:spPr>
        <p:txBody>
          <a:bodyPr wrap="square">
            <a:spAutoFit/>
          </a:bodyPr>
          <a:lstStyle/>
          <a:p>
            <a:pPr marL="285750" indent="-285750" algn="just">
              <a:lnSpc>
                <a:spcPts val="2400"/>
              </a:lnSpc>
              <a:spcAft>
                <a:spcPts val="600"/>
              </a:spcAft>
              <a:buFont typeface="Arial" panose="020B0604020202020204" pitchFamily="34" charset="0"/>
              <a:buChar char="•"/>
            </a:pP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虚拟系统之间通过虚拟接口实现互访。</a:t>
            </a:r>
          </a:p>
          <a:p>
            <a:pPr marL="285750" indent="-285750" algn="just">
              <a:lnSpc>
                <a:spcPts val="2400"/>
              </a:lnSpc>
              <a:spcAft>
                <a:spcPts val="600"/>
              </a:spcAft>
              <a:buFont typeface="Arial" panose="020B0604020202020204" pitchFamily="34" charset="0"/>
              <a:buChar char="•"/>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虚拟接口</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是创建虚拟系统</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时设备自动</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为其创建的一个逻辑接口，作为虚拟系统自身与其他虚拟系统之间通信的接口</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a:t>
            </a:r>
            <a:endPar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endParaRPr>
          </a:p>
          <a:p>
            <a:pPr marL="285750" indent="-285750" algn="just">
              <a:lnSpc>
                <a:spcPts val="2400"/>
              </a:lnSpc>
              <a:spcAft>
                <a:spcPts val="600"/>
              </a:spcAft>
              <a:buFont typeface="Arial" panose="020B0604020202020204" pitchFamily="34" charset="0"/>
              <a:buChar char="•"/>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虚拟接口</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必须配置</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IP</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地址，并加入安全</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区域才能正常</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工作。</a:t>
            </a:r>
          </a:p>
          <a:p>
            <a:pPr marL="285750" indent="-285750" algn="just">
              <a:lnSpc>
                <a:spcPts val="2400"/>
              </a:lnSpc>
              <a:spcAft>
                <a:spcPts val="600"/>
              </a:spcAft>
              <a:buFont typeface="Arial" panose="020B0604020202020204" pitchFamily="34" charset="0"/>
              <a:buChar char="•"/>
            </a:pP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虚拟接口</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名的格式为“</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Virtual-if+</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接口号”，根系统的虚拟接口名为</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Virtual-if0</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，其他虚拟系统的</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Virtual-if</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接口号从</a:t>
            </a:r>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开始，根据系统中接口号占用情况自动分配</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Tree>
    <p:extLst>
      <p:ext uri="{BB962C8B-B14F-4D97-AF65-F5344CB8AC3E}">
        <p14:creationId xmlns:p14="http://schemas.microsoft.com/office/powerpoint/2010/main" val="4018289393"/>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75"/>
          <p:cNvSpPr/>
          <p:nvPr/>
        </p:nvSpPr>
        <p:spPr bwMode="gray">
          <a:xfrm>
            <a:off x="3198888" y="3946873"/>
            <a:ext cx="5652514" cy="2047326"/>
          </a:xfrm>
          <a:prstGeom prst="roundRect">
            <a:avLst>
              <a:gd name="adj" fmla="val 3088"/>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0" name="任意多边形 49"/>
          <p:cNvSpPr/>
          <p:nvPr/>
        </p:nvSpPr>
        <p:spPr bwMode="gray">
          <a:xfrm rot="10800000">
            <a:off x="3027875" y="3051352"/>
            <a:ext cx="2767643" cy="1205990"/>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64606 w 1219200"/>
              <a:gd name="connsiteY3" fmla="*/ 50040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208458 w 1219200"/>
              <a:gd name="connsiteY0" fmla="*/ 16680 h 509855"/>
              <a:gd name="connsiteX1" fmla="*/ 0 w 1219200"/>
              <a:gd name="connsiteY1" fmla="*/ 509855 h 509855"/>
              <a:gd name="connsiteX2" fmla="*/ 1219200 w 1219200"/>
              <a:gd name="connsiteY2" fmla="*/ 509855 h 509855"/>
              <a:gd name="connsiteX3" fmla="*/ 1044729 w 1219200"/>
              <a:gd name="connsiteY3" fmla="*/ 0 h 509855"/>
              <a:gd name="connsiteX0" fmla="*/ 208458 w 1219200"/>
              <a:gd name="connsiteY0" fmla="*/ 16680 h 509855"/>
              <a:gd name="connsiteX1" fmla="*/ 0 w 1219200"/>
              <a:gd name="connsiteY1" fmla="*/ 509855 h 509855"/>
              <a:gd name="connsiteX2" fmla="*/ 1219200 w 1219200"/>
              <a:gd name="connsiteY2" fmla="*/ 509855 h 509855"/>
              <a:gd name="connsiteX3" fmla="*/ 1023995 w 1219200"/>
              <a:gd name="connsiteY3" fmla="*/ 0 h 509855"/>
              <a:gd name="connsiteX0" fmla="*/ 208458 w 1606234"/>
              <a:gd name="connsiteY0" fmla="*/ 16680 h 765617"/>
              <a:gd name="connsiteX1" fmla="*/ 0 w 1606234"/>
              <a:gd name="connsiteY1" fmla="*/ 509855 h 765617"/>
              <a:gd name="connsiteX2" fmla="*/ 1606234 w 1606234"/>
              <a:gd name="connsiteY2" fmla="*/ 765617 h 765617"/>
              <a:gd name="connsiteX3" fmla="*/ 1023995 w 1606234"/>
              <a:gd name="connsiteY3" fmla="*/ 0 h 765617"/>
              <a:gd name="connsiteX0" fmla="*/ 478000 w 1875776"/>
              <a:gd name="connsiteY0" fmla="*/ 16680 h 765617"/>
              <a:gd name="connsiteX1" fmla="*/ 0 w 1875776"/>
              <a:gd name="connsiteY1" fmla="*/ 765617 h 765617"/>
              <a:gd name="connsiteX2" fmla="*/ 1875776 w 1875776"/>
              <a:gd name="connsiteY2" fmla="*/ 765617 h 765617"/>
              <a:gd name="connsiteX3" fmla="*/ 1293537 w 1875776"/>
              <a:gd name="connsiteY3" fmla="*/ 0 h 765617"/>
              <a:gd name="connsiteX0" fmla="*/ 478000 w 1799751"/>
              <a:gd name="connsiteY0" fmla="*/ 16680 h 765617"/>
              <a:gd name="connsiteX1" fmla="*/ 0 w 1799751"/>
              <a:gd name="connsiteY1" fmla="*/ 765617 h 765617"/>
              <a:gd name="connsiteX2" fmla="*/ 1799751 w 1799751"/>
              <a:gd name="connsiteY2" fmla="*/ 659976 h 765617"/>
              <a:gd name="connsiteX3" fmla="*/ 1293537 w 1799751"/>
              <a:gd name="connsiteY3" fmla="*/ 0 h 765617"/>
              <a:gd name="connsiteX0" fmla="*/ 560936 w 1882687"/>
              <a:gd name="connsiteY0" fmla="*/ 16680 h 659976"/>
              <a:gd name="connsiteX1" fmla="*/ 0 w 1882687"/>
              <a:gd name="connsiteY1" fmla="*/ 654416 h 659976"/>
              <a:gd name="connsiteX2" fmla="*/ 1882687 w 1882687"/>
              <a:gd name="connsiteY2" fmla="*/ 659976 h 659976"/>
              <a:gd name="connsiteX3" fmla="*/ 1376473 w 1882687"/>
              <a:gd name="connsiteY3" fmla="*/ 0 h 659976"/>
            </a:gdLst>
            <a:ahLst/>
            <a:cxnLst>
              <a:cxn ang="0">
                <a:pos x="connsiteX0" y="connsiteY0"/>
              </a:cxn>
              <a:cxn ang="0">
                <a:pos x="connsiteX1" y="connsiteY1"/>
              </a:cxn>
              <a:cxn ang="0">
                <a:pos x="connsiteX2" y="connsiteY2"/>
              </a:cxn>
              <a:cxn ang="0">
                <a:pos x="connsiteX3" y="connsiteY3"/>
              </a:cxn>
            </a:cxnLst>
            <a:rect l="l" t="t" r="r" b="b"/>
            <a:pathLst>
              <a:path w="1882687" h="659976">
                <a:moveTo>
                  <a:pt x="560936" y="16680"/>
                </a:moveTo>
                <a:lnTo>
                  <a:pt x="0" y="654416"/>
                </a:lnTo>
                <a:lnTo>
                  <a:pt x="1882687" y="659976"/>
                </a:lnTo>
                <a:lnTo>
                  <a:pt x="1376473" y="0"/>
                </a:lnTo>
              </a:path>
            </a:pathLst>
          </a:custGeom>
          <a:gradFill flip="none" rotWithShape="1">
            <a:gsLst>
              <a:gs pos="100000">
                <a:schemeClr val="accent1">
                  <a:lumMod val="5000"/>
                  <a:lumOff val="95000"/>
                  <a:alpha val="0"/>
                </a:schemeClr>
              </a:gs>
              <a:gs pos="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 name="标题 1"/>
          <p:cNvSpPr>
            <a:spLocks noGrp="1"/>
          </p:cNvSpPr>
          <p:nvPr>
            <p:ph type="title"/>
          </p:nvPr>
        </p:nvSpPr>
        <p:spPr bwMode="gray"/>
        <p:txBody>
          <a:bodyPr/>
          <a:lstStyle/>
          <a:p>
            <a:r>
              <a:rPr lang="zh-CN" altLang="en-US" smtClean="0">
                <a:sym typeface="Huawei Sans" panose="020C0503030203020204" pitchFamily="34" charset="0"/>
              </a:rPr>
              <a:t>虚拟系统访问根系统</a:t>
            </a:r>
            <a:endParaRPr lang="zh-CN" altLang="en-US">
              <a:sym typeface="Huawei Sans" panose="020C0503030203020204" pitchFamily="34" charset="0"/>
            </a:endParaRPr>
          </a:p>
        </p:txBody>
      </p:sp>
      <p:sp>
        <p:nvSpPr>
          <p:cNvPr id="8" name="圆角矩形 75"/>
          <p:cNvSpPr/>
          <p:nvPr/>
        </p:nvSpPr>
        <p:spPr bwMode="gray">
          <a:xfrm>
            <a:off x="3751456" y="4193336"/>
            <a:ext cx="1259521" cy="1554400"/>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9" name="圆角矩形 75"/>
          <p:cNvSpPr/>
          <p:nvPr/>
        </p:nvSpPr>
        <p:spPr bwMode="gray">
          <a:xfrm>
            <a:off x="7051948" y="4193336"/>
            <a:ext cx="1259521" cy="1554400"/>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矩形 10"/>
          <p:cNvSpPr/>
          <p:nvPr/>
        </p:nvSpPr>
        <p:spPr bwMode="gray">
          <a:xfrm>
            <a:off x="2899941" y="4997946"/>
            <a:ext cx="851515" cy="307777"/>
          </a:xfrm>
          <a:prstGeom prst="rect">
            <a:avLst/>
          </a:prstGeom>
        </p:spPr>
        <p:txBody>
          <a:bodyPr wrap="none">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GE1/0/2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12" name="直接连接符 11"/>
          <p:cNvCxnSpPr/>
          <p:nvPr/>
        </p:nvCxnSpPr>
        <p:spPr bwMode="gray">
          <a:xfrm>
            <a:off x="1734823" y="4950082"/>
            <a:ext cx="1945139"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4" name="Oval 4"/>
          <p:cNvSpPr>
            <a:spLocks noChangeAspect="1"/>
          </p:cNvSpPr>
          <p:nvPr/>
        </p:nvSpPr>
        <p:spPr bwMode="gray">
          <a:xfrm>
            <a:off x="3679962" y="4836654"/>
            <a:ext cx="211977" cy="211977"/>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5" name="Oval 4"/>
          <p:cNvSpPr>
            <a:spLocks noChangeAspect="1"/>
          </p:cNvSpPr>
          <p:nvPr/>
        </p:nvSpPr>
        <p:spPr bwMode="gray">
          <a:xfrm>
            <a:off x="4899511" y="4836654"/>
            <a:ext cx="211977" cy="211977"/>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6" name="Oval 4"/>
          <p:cNvSpPr>
            <a:spLocks noChangeAspect="1"/>
          </p:cNvSpPr>
          <p:nvPr/>
        </p:nvSpPr>
        <p:spPr bwMode="gray">
          <a:xfrm>
            <a:off x="6981972" y="4836654"/>
            <a:ext cx="211977" cy="211977"/>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Oval 4"/>
          <p:cNvSpPr>
            <a:spLocks noChangeAspect="1"/>
          </p:cNvSpPr>
          <p:nvPr/>
        </p:nvSpPr>
        <p:spPr bwMode="gray">
          <a:xfrm>
            <a:off x="8232001" y="4836654"/>
            <a:ext cx="211977" cy="211977"/>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矩形 17"/>
          <p:cNvSpPr/>
          <p:nvPr/>
        </p:nvSpPr>
        <p:spPr bwMode="gray">
          <a:xfrm>
            <a:off x="4960726" y="4997946"/>
            <a:ext cx="1013419"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Virtual-if1</a:t>
            </a:r>
          </a:p>
        </p:txBody>
      </p:sp>
      <p:cxnSp>
        <p:nvCxnSpPr>
          <p:cNvPr id="19" name="直接连接符 18"/>
          <p:cNvCxnSpPr/>
          <p:nvPr/>
        </p:nvCxnSpPr>
        <p:spPr bwMode="gray">
          <a:xfrm>
            <a:off x="5106809" y="4950082"/>
            <a:ext cx="1875163"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bwMode="gray">
          <a:xfrm>
            <a:off x="8443978" y="4950082"/>
            <a:ext cx="1945139"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23" name="矩形 22"/>
          <p:cNvSpPr/>
          <p:nvPr/>
        </p:nvSpPr>
        <p:spPr bwMode="gray">
          <a:xfrm>
            <a:off x="8381445" y="4997946"/>
            <a:ext cx="851515" cy="307777"/>
          </a:xfrm>
          <a:prstGeom prst="rect">
            <a:avLst/>
          </a:prstGeom>
        </p:spPr>
        <p:txBody>
          <a:bodyPr wrap="none">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bwMode="gray">
          <a:xfrm>
            <a:off x="1733336" y="4213656"/>
            <a:ext cx="543739" cy="307777"/>
          </a:xfrm>
          <a:prstGeom prst="rect">
            <a:avLst/>
          </a:prstGeom>
        </p:spPr>
        <p:txBody>
          <a:bodyPr wrap="none">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数据</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1" name="任意多边形 30"/>
          <p:cNvSpPr/>
          <p:nvPr/>
        </p:nvSpPr>
        <p:spPr bwMode="gray">
          <a:xfrm>
            <a:off x="2344732" y="4333348"/>
            <a:ext cx="1335230" cy="502610"/>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Lst>
            <a:ahLst/>
            <a:cxnLst>
              <a:cxn ang="0">
                <a:pos x="connsiteX0" y="connsiteY0"/>
              </a:cxn>
              <a:cxn ang="0">
                <a:pos x="connsiteX1" y="connsiteY1"/>
              </a:cxn>
            </a:cxnLst>
            <a:rect l="l" t="t" r="r" b="b"/>
            <a:pathLst>
              <a:path w="1666240" h="502610">
                <a:moveTo>
                  <a:pt x="0" y="4770"/>
                </a:moveTo>
                <a:cubicBezTo>
                  <a:pt x="626533" y="-17243"/>
                  <a:pt x="1110826" y="19163"/>
                  <a:pt x="1666240" y="502610"/>
                </a:cubicBezTo>
              </a:path>
            </a:pathLst>
          </a:custGeom>
          <a:noFill/>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bwMode="gray">
          <a:xfrm>
            <a:off x="6027187" y="4997946"/>
            <a:ext cx="1013419" cy="307777"/>
          </a:xfrm>
          <a:prstGeom prst="rect">
            <a:avLst/>
          </a:prstGeom>
        </p:spPr>
        <p:txBody>
          <a:bodyPr wrap="none">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Virtual-if0</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Oval 4"/>
          <p:cNvSpPr>
            <a:spLocks noChangeAspect="1"/>
          </p:cNvSpPr>
          <p:nvPr/>
        </p:nvSpPr>
        <p:spPr bwMode="gray">
          <a:xfrm>
            <a:off x="2235720" y="4237080"/>
            <a:ext cx="233175" cy="233175"/>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任意多边形 33"/>
          <p:cNvSpPr/>
          <p:nvPr/>
        </p:nvSpPr>
        <p:spPr bwMode="gray">
          <a:xfrm>
            <a:off x="3856164" y="4459765"/>
            <a:ext cx="1097915" cy="367382"/>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 name="connsiteX0" fmla="*/ 0 w 1085215"/>
              <a:gd name="connsiteY0" fmla="*/ 188039 h 232489"/>
              <a:gd name="connsiteX1" fmla="*/ 1085215 w 1085215"/>
              <a:gd name="connsiteY1" fmla="*/ 232489 h 232489"/>
              <a:gd name="connsiteX0" fmla="*/ 0 w 1097915"/>
              <a:gd name="connsiteY0" fmla="*/ 202408 h 226538"/>
              <a:gd name="connsiteX1" fmla="*/ 1097915 w 1097915"/>
              <a:gd name="connsiteY1" fmla="*/ 226538 h 226538"/>
              <a:gd name="connsiteX0" fmla="*/ 0 w 1097915"/>
              <a:gd name="connsiteY0" fmla="*/ 341368 h 365498"/>
              <a:gd name="connsiteX1" fmla="*/ 1097915 w 1097915"/>
              <a:gd name="connsiteY1" fmla="*/ 365498 h 365498"/>
              <a:gd name="connsiteX0" fmla="*/ 0 w 1097915"/>
              <a:gd name="connsiteY0" fmla="*/ 349885 h 374015"/>
              <a:gd name="connsiteX1" fmla="*/ 1097915 w 1097915"/>
              <a:gd name="connsiteY1" fmla="*/ 374015 h 374015"/>
              <a:gd name="connsiteX0" fmla="*/ 0 w 1097915"/>
              <a:gd name="connsiteY0" fmla="*/ 347035 h 371165"/>
              <a:gd name="connsiteX1" fmla="*/ 1097915 w 1097915"/>
              <a:gd name="connsiteY1" fmla="*/ 371165 h 371165"/>
              <a:gd name="connsiteX0" fmla="*/ 0 w 1097915"/>
              <a:gd name="connsiteY0" fmla="*/ 343252 h 367382"/>
              <a:gd name="connsiteX1" fmla="*/ 1097915 w 1097915"/>
              <a:gd name="connsiteY1" fmla="*/ 367382 h 367382"/>
            </a:gdLst>
            <a:ahLst/>
            <a:cxnLst>
              <a:cxn ang="0">
                <a:pos x="connsiteX0" y="connsiteY0"/>
              </a:cxn>
              <a:cxn ang="0">
                <a:pos x="connsiteX1" y="connsiteY1"/>
              </a:cxn>
            </a:cxnLst>
            <a:rect l="l" t="t" r="r" b="b"/>
            <a:pathLst>
              <a:path w="1097915" h="367382">
                <a:moveTo>
                  <a:pt x="0" y="343252"/>
                </a:moveTo>
                <a:cubicBezTo>
                  <a:pt x="293793" y="-115641"/>
                  <a:pt x="725381" y="-121145"/>
                  <a:pt x="1097915" y="367382"/>
                </a:cubicBezTo>
              </a:path>
            </a:pathLst>
          </a:custGeom>
          <a:noFill/>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6" name="任意多边形 35"/>
          <p:cNvSpPr/>
          <p:nvPr/>
        </p:nvSpPr>
        <p:spPr bwMode="gray">
          <a:xfrm>
            <a:off x="7193949" y="4459765"/>
            <a:ext cx="986267" cy="367382"/>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 name="connsiteX0" fmla="*/ 0 w 1085215"/>
              <a:gd name="connsiteY0" fmla="*/ 188039 h 232489"/>
              <a:gd name="connsiteX1" fmla="*/ 1085215 w 1085215"/>
              <a:gd name="connsiteY1" fmla="*/ 232489 h 232489"/>
              <a:gd name="connsiteX0" fmla="*/ 0 w 1097915"/>
              <a:gd name="connsiteY0" fmla="*/ 202408 h 226538"/>
              <a:gd name="connsiteX1" fmla="*/ 1097915 w 1097915"/>
              <a:gd name="connsiteY1" fmla="*/ 226538 h 226538"/>
              <a:gd name="connsiteX0" fmla="*/ 0 w 1097915"/>
              <a:gd name="connsiteY0" fmla="*/ 341368 h 365498"/>
              <a:gd name="connsiteX1" fmla="*/ 1097915 w 1097915"/>
              <a:gd name="connsiteY1" fmla="*/ 365498 h 365498"/>
              <a:gd name="connsiteX0" fmla="*/ 0 w 1097915"/>
              <a:gd name="connsiteY0" fmla="*/ 349885 h 374015"/>
              <a:gd name="connsiteX1" fmla="*/ 1097915 w 1097915"/>
              <a:gd name="connsiteY1" fmla="*/ 374015 h 374015"/>
              <a:gd name="connsiteX0" fmla="*/ 0 w 1097915"/>
              <a:gd name="connsiteY0" fmla="*/ 347035 h 371165"/>
              <a:gd name="connsiteX1" fmla="*/ 1097915 w 1097915"/>
              <a:gd name="connsiteY1" fmla="*/ 371165 h 371165"/>
              <a:gd name="connsiteX0" fmla="*/ 0 w 1097915"/>
              <a:gd name="connsiteY0" fmla="*/ 343252 h 367382"/>
              <a:gd name="connsiteX1" fmla="*/ 1097915 w 1097915"/>
              <a:gd name="connsiteY1" fmla="*/ 367382 h 367382"/>
            </a:gdLst>
            <a:ahLst/>
            <a:cxnLst>
              <a:cxn ang="0">
                <a:pos x="connsiteX0" y="connsiteY0"/>
              </a:cxn>
              <a:cxn ang="0">
                <a:pos x="connsiteX1" y="connsiteY1"/>
              </a:cxn>
            </a:cxnLst>
            <a:rect l="l" t="t" r="r" b="b"/>
            <a:pathLst>
              <a:path w="1097915" h="367382">
                <a:moveTo>
                  <a:pt x="0" y="343252"/>
                </a:moveTo>
                <a:cubicBezTo>
                  <a:pt x="293793" y="-115641"/>
                  <a:pt x="725381" y="-121145"/>
                  <a:pt x="1097915" y="367382"/>
                </a:cubicBezTo>
              </a:path>
            </a:pathLst>
          </a:custGeom>
          <a:noFill/>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任意多边形 37"/>
          <p:cNvSpPr/>
          <p:nvPr/>
        </p:nvSpPr>
        <p:spPr bwMode="gray">
          <a:xfrm>
            <a:off x="8432245" y="4423952"/>
            <a:ext cx="1750305" cy="352395"/>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 name="connsiteX0" fmla="*/ 0 w 1085215"/>
              <a:gd name="connsiteY0" fmla="*/ 188039 h 232489"/>
              <a:gd name="connsiteX1" fmla="*/ 1085215 w 1085215"/>
              <a:gd name="connsiteY1" fmla="*/ 232489 h 232489"/>
              <a:gd name="connsiteX0" fmla="*/ 0 w 1097915"/>
              <a:gd name="connsiteY0" fmla="*/ 202408 h 226538"/>
              <a:gd name="connsiteX1" fmla="*/ 1097915 w 1097915"/>
              <a:gd name="connsiteY1" fmla="*/ 226538 h 226538"/>
              <a:gd name="connsiteX0" fmla="*/ 0 w 1097915"/>
              <a:gd name="connsiteY0" fmla="*/ 341368 h 365498"/>
              <a:gd name="connsiteX1" fmla="*/ 1097915 w 1097915"/>
              <a:gd name="connsiteY1" fmla="*/ 365498 h 365498"/>
              <a:gd name="connsiteX0" fmla="*/ 0 w 1097915"/>
              <a:gd name="connsiteY0" fmla="*/ 349885 h 374015"/>
              <a:gd name="connsiteX1" fmla="*/ 1097915 w 1097915"/>
              <a:gd name="connsiteY1" fmla="*/ 374015 h 374015"/>
              <a:gd name="connsiteX0" fmla="*/ 0 w 1097915"/>
              <a:gd name="connsiteY0" fmla="*/ 347035 h 371165"/>
              <a:gd name="connsiteX1" fmla="*/ 1097915 w 1097915"/>
              <a:gd name="connsiteY1" fmla="*/ 371165 h 371165"/>
              <a:gd name="connsiteX0" fmla="*/ 0 w 1097915"/>
              <a:gd name="connsiteY0" fmla="*/ 343252 h 367382"/>
              <a:gd name="connsiteX1" fmla="*/ 1097915 w 1097915"/>
              <a:gd name="connsiteY1" fmla="*/ 367382 h 367382"/>
              <a:gd name="connsiteX0" fmla="*/ 0 w 1091394"/>
              <a:gd name="connsiteY0" fmla="*/ 348935 h 361635"/>
              <a:gd name="connsiteX1" fmla="*/ 1091394 w 1091394"/>
              <a:gd name="connsiteY1" fmla="*/ 361635 h 361635"/>
              <a:gd name="connsiteX0" fmla="*/ 0 w 1091394"/>
              <a:gd name="connsiteY0" fmla="*/ 344671 h 357371"/>
              <a:gd name="connsiteX1" fmla="*/ 1091394 w 1091394"/>
              <a:gd name="connsiteY1" fmla="*/ 357371 h 357371"/>
              <a:gd name="connsiteX0" fmla="*/ 0 w 1027629"/>
              <a:gd name="connsiteY0" fmla="*/ 371417 h 371417"/>
              <a:gd name="connsiteX1" fmla="*/ 1027629 w 1027629"/>
              <a:gd name="connsiteY1" fmla="*/ 333317 h 371417"/>
              <a:gd name="connsiteX0" fmla="*/ 0 w 998645"/>
              <a:gd name="connsiteY0" fmla="*/ 349855 h 352395"/>
              <a:gd name="connsiteX1" fmla="*/ 998645 w 998645"/>
              <a:gd name="connsiteY1" fmla="*/ 352395 h 352395"/>
            </a:gdLst>
            <a:ahLst/>
            <a:cxnLst>
              <a:cxn ang="0">
                <a:pos x="connsiteX0" y="connsiteY0"/>
              </a:cxn>
              <a:cxn ang="0">
                <a:pos x="connsiteX1" y="connsiteY1"/>
              </a:cxn>
            </a:cxnLst>
            <a:rect l="l" t="t" r="r" b="b"/>
            <a:pathLst>
              <a:path w="998645" h="352395">
                <a:moveTo>
                  <a:pt x="0" y="349855"/>
                </a:moveTo>
                <a:cubicBezTo>
                  <a:pt x="326400" y="-97608"/>
                  <a:pt x="626111" y="-136132"/>
                  <a:pt x="998645" y="352395"/>
                </a:cubicBezTo>
              </a:path>
            </a:pathLst>
          </a:custGeom>
          <a:noFill/>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任意多边形 38"/>
          <p:cNvSpPr/>
          <p:nvPr/>
        </p:nvSpPr>
        <p:spPr bwMode="gray">
          <a:xfrm>
            <a:off x="5169134" y="4423952"/>
            <a:ext cx="1750305" cy="352395"/>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 name="connsiteX0" fmla="*/ 0 w 1085215"/>
              <a:gd name="connsiteY0" fmla="*/ 188039 h 232489"/>
              <a:gd name="connsiteX1" fmla="*/ 1085215 w 1085215"/>
              <a:gd name="connsiteY1" fmla="*/ 232489 h 232489"/>
              <a:gd name="connsiteX0" fmla="*/ 0 w 1097915"/>
              <a:gd name="connsiteY0" fmla="*/ 202408 h 226538"/>
              <a:gd name="connsiteX1" fmla="*/ 1097915 w 1097915"/>
              <a:gd name="connsiteY1" fmla="*/ 226538 h 226538"/>
              <a:gd name="connsiteX0" fmla="*/ 0 w 1097915"/>
              <a:gd name="connsiteY0" fmla="*/ 341368 h 365498"/>
              <a:gd name="connsiteX1" fmla="*/ 1097915 w 1097915"/>
              <a:gd name="connsiteY1" fmla="*/ 365498 h 365498"/>
              <a:gd name="connsiteX0" fmla="*/ 0 w 1097915"/>
              <a:gd name="connsiteY0" fmla="*/ 349885 h 374015"/>
              <a:gd name="connsiteX1" fmla="*/ 1097915 w 1097915"/>
              <a:gd name="connsiteY1" fmla="*/ 374015 h 374015"/>
              <a:gd name="connsiteX0" fmla="*/ 0 w 1097915"/>
              <a:gd name="connsiteY0" fmla="*/ 347035 h 371165"/>
              <a:gd name="connsiteX1" fmla="*/ 1097915 w 1097915"/>
              <a:gd name="connsiteY1" fmla="*/ 371165 h 371165"/>
              <a:gd name="connsiteX0" fmla="*/ 0 w 1097915"/>
              <a:gd name="connsiteY0" fmla="*/ 343252 h 367382"/>
              <a:gd name="connsiteX1" fmla="*/ 1097915 w 1097915"/>
              <a:gd name="connsiteY1" fmla="*/ 367382 h 367382"/>
              <a:gd name="connsiteX0" fmla="*/ 0 w 1091394"/>
              <a:gd name="connsiteY0" fmla="*/ 348935 h 361635"/>
              <a:gd name="connsiteX1" fmla="*/ 1091394 w 1091394"/>
              <a:gd name="connsiteY1" fmla="*/ 361635 h 361635"/>
              <a:gd name="connsiteX0" fmla="*/ 0 w 1091394"/>
              <a:gd name="connsiteY0" fmla="*/ 344671 h 357371"/>
              <a:gd name="connsiteX1" fmla="*/ 1091394 w 1091394"/>
              <a:gd name="connsiteY1" fmla="*/ 357371 h 357371"/>
              <a:gd name="connsiteX0" fmla="*/ 0 w 1027629"/>
              <a:gd name="connsiteY0" fmla="*/ 371417 h 371417"/>
              <a:gd name="connsiteX1" fmla="*/ 1027629 w 1027629"/>
              <a:gd name="connsiteY1" fmla="*/ 333317 h 371417"/>
              <a:gd name="connsiteX0" fmla="*/ 0 w 998645"/>
              <a:gd name="connsiteY0" fmla="*/ 349855 h 352395"/>
              <a:gd name="connsiteX1" fmla="*/ 998645 w 998645"/>
              <a:gd name="connsiteY1" fmla="*/ 352395 h 352395"/>
            </a:gdLst>
            <a:ahLst/>
            <a:cxnLst>
              <a:cxn ang="0">
                <a:pos x="connsiteX0" y="connsiteY0"/>
              </a:cxn>
              <a:cxn ang="0">
                <a:pos x="connsiteX1" y="connsiteY1"/>
              </a:cxn>
            </a:cxnLst>
            <a:rect l="l" t="t" r="r" b="b"/>
            <a:pathLst>
              <a:path w="998645" h="352395">
                <a:moveTo>
                  <a:pt x="0" y="349855"/>
                </a:moveTo>
                <a:cubicBezTo>
                  <a:pt x="326400" y="-97608"/>
                  <a:pt x="626111" y="-136132"/>
                  <a:pt x="998645" y="352395"/>
                </a:cubicBezTo>
              </a:path>
            </a:pathLst>
          </a:custGeom>
          <a:noFill/>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40" name="表格 39"/>
          <p:cNvGraphicFramePr>
            <a:graphicFrameLocks noGrp="1"/>
          </p:cNvGraphicFramePr>
          <p:nvPr>
            <p:extLst>
              <p:ext uri="{D42A27DB-BD31-4B8C-83A1-F6EECF244321}">
                <p14:modId xmlns:p14="http://schemas.microsoft.com/office/powerpoint/2010/main" val="494312448"/>
              </p:ext>
            </p:extLst>
          </p:nvPr>
        </p:nvGraphicFramePr>
        <p:xfrm>
          <a:off x="3019121" y="1948063"/>
          <a:ext cx="2772000" cy="1127760"/>
        </p:xfrm>
        <a:graphic>
          <a:graphicData uri="http://schemas.openxmlformats.org/drawingml/2006/table">
            <a:tbl>
              <a:tblPr firstRow="1" bandRow="1">
                <a:tableStyleId>{72833802-FEF1-4C79-8D5D-14CF1EAF98D9}</a:tableStyleId>
              </a:tblPr>
              <a:tblGrid>
                <a:gridCol w="972000"/>
                <a:gridCol w="936000"/>
                <a:gridCol w="864000"/>
              </a:tblGrid>
              <a:tr h="0">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目的地址</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出接口</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下一跳</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0.0.0.0/0</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Virtual-if0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0.0.0.0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10.3.0.0/24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GE1/0/2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10.1.1.2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r>
            </a:tbl>
          </a:graphicData>
        </a:graphic>
      </p:graphicFrame>
      <p:pic>
        <p:nvPicPr>
          <p:cNvPr id="41"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348527" y="4754521"/>
            <a:ext cx="490909" cy="401652"/>
          </a:xfrm>
          <a:prstGeom prst="rect">
            <a:avLst/>
          </a:prstGeom>
          <a:noFill/>
        </p:spPr>
      </p:pic>
      <p:pic>
        <p:nvPicPr>
          <p:cNvPr id="42"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0358036" y="4754521"/>
            <a:ext cx="490909" cy="401652"/>
          </a:xfrm>
          <a:prstGeom prst="rect">
            <a:avLst/>
          </a:prstGeom>
          <a:noFill/>
        </p:spPr>
      </p:pic>
      <p:sp>
        <p:nvSpPr>
          <p:cNvPr id="43" name="Freeform 159"/>
          <p:cNvSpPr/>
          <p:nvPr/>
        </p:nvSpPr>
        <p:spPr bwMode="gray">
          <a:xfrm flipH="1">
            <a:off x="627445" y="4026376"/>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源端</a:t>
            </a:r>
          </a:p>
          <a:p>
            <a:pPr algn="ctr"/>
            <a:r>
              <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10.3.0.0/24</a:t>
            </a:r>
          </a:p>
        </p:txBody>
      </p:sp>
      <p:sp>
        <p:nvSpPr>
          <p:cNvPr id="44" name="Freeform 159"/>
          <p:cNvSpPr/>
          <p:nvPr/>
        </p:nvSpPr>
        <p:spPr bwMode="gray">
          <a:xfrm flipH="1">
            <a:off x="10634571" y="4026376"/>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目的端</a:t>
            </a:r>
          </a:p>
          <a:p>
            <a:pPr algn="ctr"/>
            <a:r>
              <a:rPr lang="en-US" altLang="zh-CN"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3.3.3.3/24</a:t>
            </a:r>
            <a:endPar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5" name="矩形 44"/>
          <p:cNvSpPr/>
          <p:nvPr/>
        </p:nvSpPr>
        <p:spPr bwMode="gray">
          <a:xfrm>
            <a:off x="1811862" y="4997946"/>
            <a:ext cx="814647"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10.1.1.2</a:t>
            </a:r>
          </a:p>
        </p:txBody>
      </p:sp>
      <p:sp>
        <p:nvSpPr>
          <p:cNvPr id="48" name="矩形 47"/>
          <p:cNvSpPr/>
          <p:nvPr/>
        </p:nvSpPr>
        <p:spPr bwMode="gray">
          <a:xfrm>
            <a:off x="3878629" y="5408699"/>
            <a:ext cx="1019831" cy="307777"/>
          </a:xfrm>
          <a:prstGeom prst="rect">
            <a:avLst/>
          </a:prstGeom>
        </p:spPr>
        <p:txBody>
          <a:bodyPr wrap="none">
            <a:spAutoFit/>
          </a:bodyPr>
          <a:lstStyle/>
          <a:p>
            <a:pPr algn="ct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9" name="矩形 48"/>
          <p:cNvSpPr/>
          <p:nvPr/>
        </p:nvSpPr>
        <p:spPr bwMode="gray">
          <a:xfrm>
            <a:off x="7320070" y="5408699"/>
            <a:ext cx="723275" cy="307777"/>
          </a:xfrm>
          <a:prstGeom prst="rect">
            <a:avLst/>
          </a:prstGeom>
        </p:spPr>
        <p:txBody>
          <a:bodyPr wrap="none">
            <a:spAutoFit/>
          </a:bodyPr>
          <a:lstStyle/>
          <a:p>
            <a:pPr algn="ct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根系统</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1" name="矩形 50"/>
          <p:cNvSpPr/>
          <p:nvPr/>
        </p:nvSpPr>
        <p:spPr bwMode="gray">
          <a:xfrm>
            <a:off x="3542708" y="3206943"/>
            <a:ext cx="1737976" cy="307777"/>
          </a:xfrm>
          <a:prstGeom prst="rect">
            <a:avLst/>
          </a:prstGeom>
        </p:spPr>
        <p:txBody>
          <a:bodyPr wrap="none">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的路由表</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2" name="任意多边形 51"/>
          <p:cNvSpPr/>
          <p:nvPr/>
        </p:nvSpPr>
        <p:spPr bwMode="gray">
          <a:xfrm rot="10800000">
            <a:off x="6394206" y="3051352"/>
            <a:ext cx="2767643" cy="1205990"/>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64606 w 1219200"/>
              <a:gd name="connsiteY3" fmla="*/ 50040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208458 w 1219200"/>
              <a:gd name="connsiteY0" fmla="*/ 16680 h 509855"/>
              <a:gd name="connsiteX1" fmla="*/ 0 w 1219200"/>
              <a:gd name="connsiteY1" fmla="*/ 509855 h 509855"/>
              <a:gd name="connsiteX2" fmla="*/ 1219200 w 1219200"/>
              <a:gd name="connsiteY2" fmla="*/ 509855 h 509855"/>
              <a:gd name="connsiteX3" fmla="*/ 1044729 w 1219200"/>
              <a:gd name="connsiteY3" fmla="*/ 0 h 509855"/>
              <a:gd name="connsiteX0" fmla="*/ 208458 w 1219200"/>
              <a:gd name="connsiteY0" fmla="*/ 16680 h 509855"/>
              <a:gd name="connsiteX1" fmla="*/ 0 w 1219200"/>
              <a:gd name="connsiteY1" fmla="*/ 509855 h 509855"/>
              <a:gd name="connsiteX2" fmla="*/ 1219200 w 1219200"/>
              <a:gd name="connsiteY2" fmla="*/ 509855 h 509855"/>
              <a:gd name="connsiteX3" fmla="*/ 1023995 w 1219200"/>
              <a:gd name="connsiteY3" fmla="*/ 0 h 509855"/>
              <a:gd name="connsiteX0" fmla="*/ 208458 w 1606234"/>
              <a:gd name="connsiteY0" fmla="*/ 16680 h 765617"/>
              <a:gd name="connsiteX1" fmla="*/ 0 w 1606234"/>
              <a:gd name="connsiteY1" fmla="*/ 509855 h 765617"/>
              <a:gd name="connsiteX2" fmla="*/ 1606234 w 1606234"/>
              <a:gd name="connsiteY2" fmla="*/ 765617 h 765617"/>
              <a:gd name="connsiteX3" fmla="*/ 1023995 w 1606234"/>
              <a:gd name="connsiteY3" fmla="*/ 0 h 765617"/>
              <a:gd name="connsiteX0" fmla="*/ 478000 w 1875776"/>
              <a:gd name="connsiteY0" fmla="*/ 16680 h 765617"/>
              <a:gd name="connsiteX1" fmla="*/ 0 w 1875776"/>
              <a:gd name="connsiteY1" fmla="*/ 765617 h 765617"/>
              <a:gd name="connsiteX2" fmla="*/ 1875776 w 1875776"/>
              <a:gd name="connsiteY2" fmla="*/ 765617 h 765617"/>
              <a:gd name="connsiteX3" fmla="*/ 1293537 w 1875776"/>
              <a:gd name="connsiteY3" fmla="*/ 0 h 765617"/>
              <a:gd name="connsiteX0" fmla="*/ 478000 w 1799751"/>
              <a:gd name="connsiteY0" fmla="*/ 16680 h 765617"/>
              <a:gd name="connsiteX1" fmla="*/ 0 w 1799751"/>
              <a:gd name="connsiteY1" fmla="*/ 765617 h 765617"/>
              <a:gd name="connsiteX2" fmla="*/ 1799751 w 1799751"/>
              <a:gd name="connsiteY2" fmla="*/ 659976 h 765617"/>
              <a:gd name="connsiteX3" fmla="*/ 1293537 w 1799751"/>
              <a:gd name="connsiteY3" fmla="*/ 0 h 765617"/>
              <a:gd name="connsiteX0" fmla="*/ 560936 w 1882687"/>
              <a:gd name="connsiteY0" fmla="*/ 16680 h 659976"/>
              <a:gd name="connsiteX1" fmla="*/ 0 w 1882687"/>
              <a:gd name="connsiteY1" fmla="*/ 654416 h 659976"/>
              <a:gd name="connsiteX2" fmla="*/ 1882687 w 1882687"/>
              <a:gd name="connsiteY2" fmla="*/ 659976 h 659976"/>
              <a:gd name="connsiteX3" fmla="*/ 1376473 w 1882687"/>
              <a:gd name="connsiteY3" fmla="*/ 0 h 659976"/>
            </a:gdLst>
            <a:ahLst/>
            <a:cxnLst>
              <a:cxn ang="0">
                <a:pos x="connsiteX0" y="connsiteY0"/>
              </a:cxn>
              <a:cxn ang="0">
                <a:pos x="connsiteX1" y="connsiteY1"/>
              </a:cxn>
              <a:cxn ang="0">
                <a:pos x="connsiteX2" y="connsiteY2"/>
              </a:cxn>
              <a:cxn ang="0">
                <a:pos x="connsiteX3" y="connsiteY3"/>
              </a:cxn>
            </a:cxnLst>
            <a:rect l="l" t="t" r="r" b="b"/>
            <a:pathLst>
              <a:path w="1882687" h="659976">
                <a:moveTo>
                  <a:pt x="560936" y="16680"/>
                </a:moveTo>
                <a:lnTo>
                  <a:pt x="0" y="654416"/>
                </a:lnTo>
                <a:lnTo>
                  <a:pt x="1882687" y="659976"/>
                </a:lnTo>
                <a:lnTo>
                  <a:pt x="1376473" y="0"/>
                </a:lnTo>
              </a:path>
            </a:pathLst>
          </a:custGeom>
          <a:gradFill flip="none" rotWithShape="1">
            <a:gsLst>
              <a:gs pos="100000">
                <a:schemeClr val="accent1">
                  <a:lumMod val="5000"/>
                  <a:lumOff val="95000"/>
                  <a:alpha val="0"/>
                </a:schemeClr>
              </a:gs>
              <a:gs pos="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53" name="表格 52"/>
          <p:cNvGraphicFramePr>
            <a:graphicFrameLocks noGrp="1"/>
          </p:cNvGraphicFramePr>
          <p:nvPr>
            <p:extLst>
              <p:ext uri="{D42A27DB-BD31-4B8C-83A1-F6EECF244321}">
                <p14:modId xmlns:p14="http://schemas.microsoft.com/office/powerpoint/2010/main" val="845763789"/>
              </p:ext>
            </p:extLst>
          </p:nvPr>
        </p:nvGraphicFramePr>
        <p:xfrm>
          <a:off x="6385452" y="1948063"/>
          <a:ext cx="2772000" cy="1127760"/>
        </p:xfrm>
        <a:graphic>
          <a:graphicData uri="http://schemas.openxmlformats.org/drawingml/2006/table">
            <a:tbl>
              <a:tblPr firstRow="1" bandRow="1">
                <a:tableStyleId>{72833802-FEF1-4C79-8D5D-14CF1EAF98D9}</a:tableStyleId>
              </a:tblPr>
              <a:tblGrid>
                <a:gridCol w="972000"/>
                <a:gridCol w="936000"/>
                <a:gridCol w="864000"/>
              </a:tblGrid>
              <a:tr h="0">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目的地址</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出接口</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下一跳</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0">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0.0.0.0/0</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1.1.1.254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r>
            </a:tbl>
          </a:graphicData>
        </a:graphic>
      </p:graphicFrame>
      <p:sp>
        <p:nvSpPr>
          <p:cNvPr id="54" name="矩形 53"/>
          <p:cNvSpPr/>
          <p:nvPr/>
        </p:nvSpPr>
        <p:spPr bwMode="gray">
          <a:xfrm>
            <a:off x="7087960" y="3206943"/>
            <a:ext cx="1441420" cy="307777"/>
          </a:xfrm>
          <a:prstGeom prst="rect">
            <a:avLst/>
          </a:prstGeom>
        </p:spPr>
        <p:txBody>
          <a:bodyPr wrap="none">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根</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系统的路由表</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5" name="Oval 4"/>
          <p:cNvSpPr>
            <a:spLocks noChangeAspect="1"/>
          </p:cNvSpPr>
          <p:nvPr/>
        </p:nvSpPr>
        <p:spPr bwMode="gray">
          <a:xfrm>
            <a:off x="4295108" y="4082224"/>
            <a:ext cx="233175" cy="233175"/>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6" name="矩形 55"/>
          <p:cNvSpPr/>
          <p:nvPr/>
        </p:nvSpPr>
        <p:spPr bwMode="gray">
          <a:xfrm>
            <a:off x="3547319" y="3716391"/>
            <a:ext cx="1800493" cy="307777"/>
          </a:xfrm>
          <a:prstGeom prst="rect">
            <a:avLst/>
          </a:prstGeom>
        </p:spPr>
        <p:txBody>
          <a:bodyPr wrap="none">
            <a:spAutoFit/>
          </a:bodyPr>
          <a:lstStyle/>
          <a:p>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查表转发，建立会话</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7" name="Oval 4"/>
          <p:cNvSpPr>
            <a:spLocks noChangeAspect="1"/>
          </p:cNvSpPr>
          <p:nvPr/>
        </p:nvSpPr>
        <p:spPr bwMode="gray">
          <a:xfrm>
            <a:off x="7590066" y="4082224"/>
            <a:ext cx="233175" cy="233175"/>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8" name="矩形 57"/>
          <p:cNvSpPr/>
          <p:nvPr/>
        </p:nvSpPr>
        <p:spPr bwMode="gray">
          <a:xfrm>
            <a:off x="6842277" y="3716391"/>
            <a:ext cx="1800493" cy="307777"/>
          </a:xfrm>
          <a:prstGeom prst="rect">
            <a:avLst/>
          </a:prstGeom>
        </p:spPr>
        <p:txBody>
          <a:bodyPr wrap="none">
            <a:spAutoFit/>
          </a:bodyPr>
          <a:lstStyle/>
          <a:p>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查表转发，建立会话</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9" name="Oval 4"/>
          <p:cNvSpPr>
            <a:spLocks noChangeAspect="1"/>
          </p:cNvSpPr>
          <p:nvPr/>
        </p:nvSpPr>
        <p:spPr bwMode="gray">
          <a:xfrm>
            <a:off x="9198640" y="4237080"/>
            <a:ext cx="233175" cy="233175"/>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0" name="矩形 59"/>
          <p:cNvSpPr/>
          <p:nvPr/>
        </p:nvSpPr>
        <p:spPr bwMode="gray">
          <a:xfrm>
            <a:off x="9463696" y="4997946"/>
            <a:ext cx="915635" cy="307777"/>
          </a:xfrm>
          <a:prstGeom prst="rect">
            <a:avLst/>
          </a:prstGeom>
        </p:spPr>
        <p:txBody>
          <a:bodyPr wrap="none">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1.1.1.254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3" name="矩形 62"/>
          <p:cNvSpPr/>
          <p:nvPr/>
        </p:nvSpPr>
        <p:spPr bwMode="gray">
          <a:xfrm>
            <a:off x="2108370" y="1214090"/>
            <a:ext cx="7975260" cy="405432"/>
          </a:xfrm>
          <a:prstGeom prst="rect">
            <a:avLst/>
          </a:prstGeom>
        </p:spPr>
        <p:txBody>
          <a:bodyPr wrap="none">
            <a:spAutoFit/>
          </a:bodyPr>
          <a:lstStyle/>
          <a:p>
            <a:pPr lvl="0" algn="ctr" defTabSz="914034" fontAlgn="base">
              <a:lnSpc>
                <a:spcPct val="140000"/>
              </a:lnSpc>
              <a:spcBef>
                <a:spcPts val="792"/>
              </a:spcBef>
              <a:buSzPct val="50000"/>
            </a:pPr>
            <a:r>
              <a:rPr lang="zh-CN" altLang="en-US"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虚拟系统</a:t>
            </a:r>
            <a:r>
              <a:rPr lang="en-US" altLang="zh-CN"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a:t>
            </a:r>
            <a:r>
              <a:rPr lang="zh-CN" altLang="en-US"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下</a:t>
            </a:r>
            <a:r>
              <a:rPr lang="en-US" altLang="zh-CN"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10.3.0.0/24</a:t>
            </a:r>
            <a:r>
              <a:rPr lang="zh-CN" altLang="en-US"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网段的用户通过根系统的</a:t>
            </a:r>
            <a:r>
              <a:rPr lang="en-US" altLang="zh-CN"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GE1/0/1</a:t>
            </a:r>
            <a:r>
              <a:rPr lang="zh-CN" altLang="en-US"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访问</a:t>
            </a:r>
            <a:r>
              <a:rPr lang="en-US" altLang="zh-CN"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Internet</a:t>
            </a:r>
            <a:r>
              <a:rPr lang="zh-CN" altLang="en-US"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服务器</a:t>
            </a:r>
            <a:r>
              <a:rPr lang="en-US" altLang="zh-CN"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3.3.3.3</a:t>
            </a:r>
            <a:r>
              <a:rPr lang="zh-CN" altLang="en-US" sz="160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p>
        </p:txBody>
      </p:sp>
    </p:spTree>
    <p:extLst>
      <p:ext uri="{BB962C8B-B14F-4D97-AF65-F5344CB8AC3E}">
        <p14:creationId xmlns:p14="http://schemas.microsoft.com/office/powerpoint/2010/main" val="3290696492"/>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sym typeface="Huawei Sans" panose="020C0503030203020204" pitchFamily="34" charset="0"/>
              </a:rPr>
              <a:t>两个虚拟系统之间直接互访</a:t>
            </a:r>
            <a:endParaRPr lang="zh-CN" altLang="en-US">
              <a:sym typeface="Huawei Sans" panose="020C0503030203020204" pitchFamily="34" charset="0"/>
            </a:endParaRPr>
          </a:p>
        </p:txBody>
      </p:sp>
      <p:sp>
        <p:nvSpPr>
          <p:cNvPr id="3" name="圆角矩形 75"/>
          <p:cNvSpPr/>
          <p:nvPr/>
        </p:nvSpPr>
        <p:spPr bwMode="gray">
          <a:xfrm>
            <a:off x="3198888" y="3946873"/>
            <a:ext cx="5652514" cy="2047326"/>
          </a:xfrm>
          <a:prstGeom prst="roundRect">
            <a:avLst>
              <a:gd name="adj" fmla="val 3088"/>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6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 name="任意多边形 3"/>
          <p:cNvSpPr/>
          <p:nvPr/>
        </p:nvSpPr>
        <p:spPr bwMode="gray">
          <a:xfrm rot="10800000">
            <a:off x="3027875" y="3051352"/>
            <a:ext cx="2767643" cy="1205990"/>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64606 w 1219200"/>
              <a:gd name="connsiteY3" fmla="*/ 50040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208458 w 1219200"/>
              <a:gd name="connsiteY0" fmla="*/ 16680 h 509855"/>
              <a:gd name="connsiteX1" fmla="*/ 0 w 1219200"/>
              <a:gd name="connsiteY1" fmla="*/ 509855 h 509855"/>
              <a:gd name="connsiteX2" fmla="*/ 1219200 w 1219200"/>
              <a:gd name="connsiteY2" fmla="*/ 509855 h 509855"/>
              <a:gd name="connsiteX3" fmla="*/ 1044729 w 1219200"/>
              <a:gd name="connsiteY3" fmla="*/ 0 h 509855"/>
              <a:gd name="connsiteX0" fmla="*/ 208458 w 1219200"/>
              <a:gd name="connsiteY0" fmla="*/ 16680 h 509855"/>
              <a:gd name="connsiteX1" fmla="*/ 0 w 1219200"/>
              <a:gd name="connsiteY1" fmla="*/ 509855 h 509855"/>
              <a:gd name="connsiteX2" fmla="*/ 1219200 w 1219200"/>
              <a:gd name="connsiteY2" fmla="*/ 509855 h 509855"/>
              <a:gd name="connsiteX3" fmla="*/ 1023995 w 1219200"/>
              <a:gd name="connsiteY3" fmla="*/ 0 h 509855"/>
              <a:gd name="connsiteX0" fmla="*/ 208458 w 1606234"/>
              <a:gd name="connsiteY0" fmla="*/ 16680 h 765617"/>
              <a:gd name="connsiteX1" fmla="*/ 0 w 1606234"/>
              <a:gd name="connsiteY1" fmla="*/ 509855 h 765617"/>
              <a:gd name="connsiteX2" fmla="*/ 1606234 w 1606234"/>
              <a:gd name="connsiteY2" fmla="*/ 765617 h 765617"/>
              <a:gd name="connsiteX3" fmla="*/ 1023995 w 1606234"/>
              <a:gd name="connsiteY3" fmla="*/ 0 h 765617"/>
              <a:gd name="connsiteX0" fmla="*/ 478000 w 1875776"/>
              <a:gd name="connsiteY0" fmla="*/ 16680 h 765617"/>
              <a:gd name="connsiteX1" fmla="*/ 0 w 1875776"/>
              <a:gd name="connsiteY1" fmla="*/ 765617 h 765617"/>
              <a:gd name="connsiteX2" fmla="*/ 1875776 w 1875776"/>
              <a:gd name="connsiteY2" fmla="*/ 765617 h 765617"/>
              <a:gd name="connsiteX3" fmla="*/ 1293537 w 1875776"/>
              <a:gd name="connsiteY3" fmla="*/ 0 h 765617"/>
              <a:gd name="connsiteX0" fmla="*/ 478000 w 1799751"/>
              <a:gd name="connsiteY0" fmla="*/ 16680 h 765617"/>
              <a:gd name="connsiteX1" fmla="*/ 0 w 1799751"/>
              <a:gd name="connsiteY1" fmla="*/ 765617 h 765617"/>
              <a:gd name="connsiteX2" fmla="*/ 1799751 w 1799751"/>
              <a:gd name="connsiteY2" fmla="*/ 659976 h 765617"/>
              <a:gd name="connsiteX3" fmla="*/ 1293537 w 1799751"/>
              <a:gd name="connsiteY3" fmla="*/ 0 h 765617"/>
              <a:gd name="connsiteX0" fmla="*/ 560936 w 1882687"/>
              <a:gd name="connsiteY0" fmla="*/ 16680 h 659976"/>
              <a:gd name="connsiteX1" fmla="*/ 0 w 1882687"/>
              <a:gd name="connsiteY1" fmla="*/ 654416 h 659976"/>
              <a:gd name="connsiteX2" fmla="*/ 1882687 w 1882687"/>
              <a:gd name="connsiteY2" fmla="*/ 659976 h 659976"/>
              <a:gd name="connsiteX3" fmla="*/ 1376473 w 1882687"/>
              <a:gd name="connsiteY3" fmla="*/ 0 h 659976"/>
            </a:gdLst>
            <a:ahLst/>
            <a:cxnLst>
              <a:cxn ang="0">
                <a:pos x="connsiteX0" y="connsiteY0"/>
              </a:cxn>
              <a:cxn ang="0">
                <a:pos x="connsiteX1" y="connsiteY1"/>
              </a:cxn>
              <a:cxn ang="0">
                <a:pos x="connsiteX2" y="connsiteY2"/>
              </a:cxn>
              <a:cxn ang="0">
                <a:pos x="connsiteX3" y="connsiteY3"/>
              </a:cxn>
            </a:cxnLst>
            <a:rect l="l" t="t" r="r" b="b"/>
            <a:pathLst>
              <a:path w="1882687" h="659976">
                <a:moveTo>
                  <a:pt x="560936" y="16680"/>
                </a:moveTo>
                <a:lnTo>
                  <a:pt x="0" y="654416"/>
                </a:lnTo>
                <a:lnTo>
                  <a:pt x="1882687" y="659976"/>
                </a:lnTo>
                <a:lnTo>
                  <a:pt x="1376473" y="0"/>
                </a:lnTo>
              </a:path>
            </a:pathLst>
          </a:custGeom>
          <a:gradFill flip="none" rotWithShape="1">
            <a:gsLst>
              <a:gs pos="100000">
                <a:schemeClr val="accent1">
                  <a:lumMod val="5000"/>
                  <a:lumOff val="95000"/>
                  <a:alpha val="0"/>
                </a:schemeClr>
              </a:gs>
              <a:gs pos="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5" name="圆角矩形 75"/>
          <p:cNvSpPr/>
          <p:nvPr/>
        </p:nvSpPr>
        <p:spPr bwMode="gray">
          <a:xfrm>
            <a:off x="3751456" y="4193336"/>
            <a:ext cx="1259521" cy="1554400"/>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6" name="圆角矩形 75"/>
          <p:cNvSpPr/>
          <p:nvPr/>
        </p:nvSpPr>
        <p:spPr bwMode="gray">
          <a:xfrm>
            <a:off x="7051948" y="4193336"/>
            <a:ext cx="1259521" cy="1554400"/>
          </a:xfrm>
          <a:prstGeom prst="roundRect">
            <a:avLst>
              <a:gd name="adj" fmla="val 3088"/>
            </a:avLst>
          </a:prstGeom>
          <a:solidFill>
            <a:srgbClr val="FAD3BB"/>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noAutofit/>
          </a:bodyPr>
          <a:lstStyle/>
          <a:p>
            <a:pPr algn="ctr"/>
            <a:endPar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2899941" y="4997946"/>
            <a:ext cx="851515" cy="307777"/>
          </a:xfrm>
          <a:prstGeom prst="rect">
            <a:avLst/>
          </a:prstGeom>
        </p:spPr>
        <p:txBody>
          <a:bodyPr wrap="none">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GE1/0/2</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cxnSp>
        <p:nvCxnSpPr>
          <p:cNvPr id="8" name="直接连接符 7"/>
          <p:cNvCxnSpPr/>
          <p:nvPr/>
        </p:nvCxnSpPr>
        <p:spPr bwMode="gray">
          <a:xfrm>
            <a:off x="1734823" y="4950082"/>
            <a:ext cx="1945139"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9" name="Oval 4"/>
          <p:cNvSpPr>
            <a:spLocks noChangeAspect="1"/>
          </p:cNvSpPr>
          <p:nvPr/>
        </p:nvSpPr>
        <p:spPr bwMode="gray">
          <a:xfrm>
            <a:off x="3679962" y="4836654"/>
            <a:ext cx="211977" cy="211977"/>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0" name="Oval 4"/>
          <p:cNvSpPr>
            <a:spLocks noChangeAspect="1"/>
          </p:cNvSpPr>
          <p:nvPr/>
        </p:nvSpPr>
        <p:spPr bwMode="gray">
          <a:xfrm>
            <a:off x="4899511" y="4836654"/>
            <a:ext cx="211977" cy="211977"/>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1" name="Oval 4"/>
          <p:cNvSpPr>
            <a:spLocks noChangeAspect="1"/>
          </p:cNvSpPr>
          <p:nvPr/>
        </p:nvSpPr>
        <p:spPr bwMode="gray">
          <a:xfrm>
            <a:off x="6981972" y="4836654"/>
            <a:ext cx="211977" cy="211977"/>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2" name="Oval 4"/>
          <p:cNvSpPr>
            <a:spLocks noChangeAspect="1"/>
          </p:cNvSpPr>
          <p:nvPr/>
        </p:nvSpPr>
        <p:spPr bwMode="gray">
          <a:xfrm>
            <a:off x="8232001" y="4836654"/>
            <a:ext cx="211977" cy="211977"/>
          </a:xfrm>
          <a:prstGeom prst="ellipse">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b="1">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3" name="矩形 12"/>
          <p:cNvSpPr/>
          <p:nvPr/>
        </p:nvSpPr>
        <p:spPr bwMode="gray">
          <a:xfrm>
            <a:off x="4960726" y="4997946"/>
            <a:ext cx="1013419"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Virtual-if1</a:t>
            </a:r>
          </a:p>
        </p:txBody>
      </p:sp>
      <p:cxnSp>
        <p:nvCxnSpPr>
          <p:cNvPr id="14" name="直接连接符 13"/>
          <p:cNvCxnSpPr/>
          <p:nvPr/>
        </p:nvCxnSpPr>
        <p:spPr bwMode="gray">
          <a:xfrm>
            <a:off x="5106809" y="4950082"/>
            <a:ext cx="1875163" cy="0"/>
          </a:xfrm>
          <a:prstGeom prst="line">
            <a:avLst/>
          </a:prstGeom>
          <a:ln w="19050">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bwMode="gray">
          <a:xfrm>
            <a:off x="8443978" y="4950082"/>
            <a:ext cx="1945139" cy="0"/>
          </a:xfrm>
          <a:prstGeom prst="line">
            <a:avLst/>
          </a:prstGeom>
          <a:ln w="19050">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6" name="矩形 15"/>
          <p:cNvSpPr/>
          <p:nvPr/>
        </p:nvSpPr>
        <p:spPr bwMode="gray">
          <a:xfrm>
            <a:off x="8381445" y="4997946"/>
            <a:ext cx="851515" cy="307777"/>
          </a:xfrm>
          <a:prstGeom prst="rect">
            <a:avLst/>
          </a:prstGeom>
        </p:spPr>
        <p:txBody>
          <a:bodyPr wrap="none">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GE1/0/1</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7" name="矩形 16"/>
          <p:cNvSpPr/>
          <p:nvPr/>
        </p:nvSpPr>
        <p:spPr bwMode="gray">
          <a:xfrm>
            <a:off x="1733336" y="4213656"/>
            <a:ext cx="543739" cy="307777"/>
          </a:xfrm>
          <a:prstGeom prst="rect">
            <a:avLst/>
          </a:prstGeom>
        </p:spPr>
        <p:txBody>
          <a:bodyPr wrap="none">
            <a:spAutoFit/>
          </a:bodyPr>
          <a:lstStyle/>
          <a:p>
            <a:r>
              <a:rPr lang="zh-CN" altLang="en-US" sz="1400" dirty="0" smtClean="0">
                <a:latin typeface="Huawei Sans" panose="020C0503030203020204" pitchFamily="34" charset="0"/>
                <a:ea typeface="方正兰亭黑简体" panose="02000000000000000000" pitchFamily="2" charset="-122"/>
                <a:sym typeface="Huawei Sans" panose="020C0503030203020204" pitchFamily="34" charset="0"/>
              </a:rPr>
              <a:t>数据</a:t>
            </a:r>
            <a:endParaRPr lang="zh-CN" altLang="en-US" sz="1400" dirty="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8" name="任意多边形 17"/>
          <p:cNvSpPr/>
          <p:nvPr/>
        </p:nvSpPr>
        <p:spPr bwMode="gray">
          <a:xfrm>
            <a:off x="2344732" y="4333348"/>
            <a:ext cx="1335230" cy="502610"/>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Lst>
            <a:ahLst/>
            <a:cxnLst>
              <a:cxn ang="0">
                <a:pos x="connsiteX0" y="connsiteY0"/>
              </a:cxn>
              <a:cxn ang="0">
                <a:pos x="connsiteX1" y="connsiteY1"/>
              </a:cxn>
            </a:cxnLst>
            <a:rect l="l" t="t" r="r" b="b"/>
            <a:pathLst>
              <a:path w="1666240" h="502610">
                <a:moveTo>
                  <a:pt x="0" y="4770"/>
                </a:moveTo>
                <a:cubicBezTo>
                  <a:pt x="626533" y="-17243"/>
                  <a:pt x="1110826" y="19163"/>
                  <a:pt x="1666240" y="502610"/>
                </a:cubicBezTo>
              </a:path>
            </a:pathLst>
          </a:custGeom>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19" name="矩形 18"/>
          <p:cNvSpPr/>
          <p:nvPr/>
        </p:nvSpPr>
        <p:spPr bwMode="gray">
          <a:xfrm>
            <a:off x="6027187" y="4997946"/>
            <a:ext cx="1013419" cy="307777"/>
          </a:xfrm>
          <a:prstGeom prst="rect">
            <a:avLst/>
          </a:prstGeom>
        </p:spPr>
        <p:txBody>
          <a:bodyPr wrap="none">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Virtual-if2</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0" name="Oval 4"/>
          <p:cNvSpPr>
            <a:spLocks noChangeAspect="1"/>
          </p:cNvSpPr>
          <p:nvPr/>
        </p:nvSpPr>
        <p:spPr bwMode="gray">
          <a:xfrm>
            <a:off x="2235720" y="4237080"/>
            <a:ext cx="233175" cy="233175"/>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1</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1" name="任意多边形 20"/>
          <p:cNvSpPr/>
          <p:nvPr/>
        </p:nvSpPr>
        <p:spPr bwMode="gray">
          <a:xfrm>
            <a:off x="3856164" y="4459765"/>
            <a:ext cx="1097915" cy="367382"/>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 name="connsiteX0" fmla="*/ 0 w 1085215"/>
              <a:gd name="connsiteY0" fmla="*/ 188039 h 232489"/>
              <a:gd name="connsiteX1" fmla="*/ 1085215 w 1085215"/>
              <a:gd name="connsiteY1" fmla="*/ 232489 h 232489"/>
              <a:gd name="connsiteX0" fmla="*/ 0 w 1097915"/>
              <a:gd name="connsiteY0" fmla="*/ 202408 h 226538"/>
              <a:gd name="connsiteX1" fmla="*/ 1097915 w 1097915"/>
              <a:gd name="connsiteY1" fmla="*/ 226538 h 226538"/>
              <a:gd name="connsiteX0" fmla="*/ 0 w 1097915"/>
              <a:gd name="connsiteY0" fmla="*/ 341368 h 365498"/>
              <a:gd name="connsiteX1" fmla="*/ 1097915 w 1097915"/>
              <a:gd name="connsiteY1" fmla="*/ 365498 h 365498"/>
              <a:gd name="connsiteX0" fmla="*/ 0 w 1097915"/>
              <a:gd name="connsiteY0" fmla="*/ 349885 h 374015"/>
              <a:gd name="connsiteX1" fmla="*/ 1097915 w 1097915"/>
              <a:gd name="connsiteY1" fmla="*/ 374015 h 374015"/>
              <a:gd name="connsiteX0" fmla="*/ 0 w 1097915"/>
              <a:gd name="connsiteY0" fmla="*/ 347035 h 371165"/>
              <a:gd name="connsiteX1" fmla="*/ 1097915 w 1097915"/>
              <a:gd name="connsiteY1" fmla="*/ 371165 h 371165"/>
              <a:gd name="connsiteX0" fmla="*/ 0 w 1097915"/>
              <a:gd name="connsiteY0" fmla="*/ 343252 h 367382"/>
              <a:gd name="connsiteX1" fmla="*/ 1097915 w 1097915"/>
              <a:gd name="connsiteY1" fmla="*/ 367382 h 367382"/>
            </a:gdLst>
            <a:ahLst/>
            <a:cxnLst>
              <a:cxn ang="0">
                <a:pos x="connsiteX0" y="connsiteY0"/>
              </a:cxn>
              <a:cxn ang="0">
                <a:pos x="connsiteX1" y="connsiteY1"/>
              </a:cxn>
            </a:cxnLst>
            <a:rect l="l" t="t" r="r" b="b"/>
            <a:pathLst>
              <a:path w="1097915" h="367382">
                <a:moveTo>
                  <a:pt x="0" y="343252"/>
                </a:moveTo>
                <a:cubicBezTo>
                  <a:pt x="293793" y="-115641"/>
                  <a:pt x="725381" y="-121145"/>
                  <a:pt x="1097915" y="367382"/>
                </a:cubicBezTo>
              </a:path>
            </a:pathLst>
          </a:custGeom>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2" name="任意多边形 21"/>
          <p:cNvSpPr/>
          <p:nvPr/>
        </p:nvSpPr>
        <p:spPr bwMode="gray">
          <a:xfrm>
            <a:off x="7193949" y="4459765"/>
            <a:ext cx="986267" cy="367382"/>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 name="connsiteX0" fmla="*/ 0 w 1085215"/>
              <a:gd name="connsiteY0" fmla="*/ 188039 h 232489"/>
              <a:gd name="connsiteX1" fmla="*/ 1085215 w 1085215"/>
              <a:gd name="connsiteY1" fmla="*/ 232489 h 232489"/>
              <a:gd name="connsiteX0" fmla="*/ 0 w 1097915"/>
              <a:gd name="connsiteY0" fmla="*/ 202408 h 226538"/>
              <a:gd name="connsiteX1" fmla="*/ 1097915 w 1097915"/>
              <a:gd name="connsiteY1" fmla="*/ 226538 h 226538"/>
              <a:gd name="connsiteX0" fmla="*/ 0 w 1097915"/>
              <a:gd name="connsiteY0" fmla="*/ 341368 h 365498"/>
              <a:gd name="connsiteX1" fmla="*/ 1097915 w 1097915"/>
              <a:gd name="connsiteY1" fmla="*/ 365498 h 365498"/>
              <a:gd name="connsiteX0" fmla="*/ 0 w 1097915"/>
              <a:gd name="connsiteY0" fmla="*/ 349885 h 374015"/>
              <a:gd name="connsiteX1" fmla="*/ 1097915 w 1097915"/>
              <a:gd name="connsiteY1" fmla="*/ 374015 h 374015"/>
              <a:gd name="connsiteX0" fmla="*/ 0 w 1097915"/>
              <a:gd name="connsiteY0" fmla="*/ 347035 h 371165"/>
              <a:gd name="connsiteX1" fmla="*/ 1097915 w 1097915"/>
              <a:gd name="connsiteY1" fmla="*/ 371165 h 371165"/>
              <a:gd name="connsiteX0" fmla="*/ 0 w 1097915"/>
              <a:gd name="connsiteY0" fmla="*/ 343252 h 367382"/>
              <a:gd name="connsiteX1" fmla="*/ 1097915 w 1097915"/>
              <a:gd name="connsiteY1" fmla="*/ 367382 h 367382"/>
            </a:gdLst>
            <a:ahLst/>
            <a:cxnLst>
              <a:cxn ang="0">
                <a:pos x="connsiteX0" y="connsiteY0"/>
              </a:cxn>
              <a:cxn ang="0">
                <a:pos x="connsiteX1" y="connsiteY1"/>
              </a:cxn>
            </a:cxnLst>
            <a:rect l="l" t="t" r="r" b="b"/>
            <a:pathLst>
              <a:path w="1097915" h="367382">
                <a:moveTo>
                  <a:pt x="0" y="343252"/>
                </a:moveTo>
                <a:cubicBezTo>
                  <a:pt x="293793" y="-115641"/>
                  <a:pt x="725381" y="-121145"/>
                  <a:pt x="1097915" y="367382"/>
                </a:cubicBezTo>
              </a:path>
            </a:pathLst>
          </a:custGeom>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3" name="任意多边形 22"/>
          <p:cNvSpPr/>
          <p:nvPr/>
        </p:nvSpPr>
        <p:spPr bwMode="gray">
          <a:xfrm>
            <a:off x="8432245" y="4423952"/>
            <a:ext cx="1750305" cy="352395"/>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 name="connsiteX0" fmla="*/ 0 w 1085215"/>
              <a:gd name="connsiteY0" fmla="*/ 188039 h 232489"/>
              <a:gd name="connsiteX1" fmla="*/ 1085215 w 1085215"/>
              <a:gd name="connsiteY1" fmla="*/ 232489 h 232489"/>
              <a:gd name="connsiteX0" fmla="*/ 0 w 1097915"/>
              <a:gd name="connsiteY0" fmla="*/ 202408 h 226538"/>
              <a:gd name="connsiteX1" fmla="*/ 1097915 w 1097915"/>
              <a:gd name="connsiteY1" fmla="*/ 226538 h 226538"/>
              <a:gd name="connsiteX0" fmla="*/ 0 w 1097915"/>
              <a:gd name="connsiteY0" fmla="*/ 341368 h 365498"/>
              <a:gd name="connsiteX1" fmla="*/ 1097915 w 1097915"/>
              <a:gd name="connsiteY1" fmla="*/ 365498 h 365498"/>
              <a:gd name="connsiteX0" fmla="*/ 0 w 1097915"/>
              <a:gd name="connsiteY0" fmla="*/ 349885 h 374015"/>
              <a:gd name="connsiteX1" fmla="*/ 1097915 w 1097915"/>
              <a:gd name="connsiteY1" fmla="*/ 374015 h 374015"/>
              <a:gd name="connsiteX0" fmla="*/ 0 w 1097915"/>
              <a:gd name="connsiteY0" fmla="*/ 347035 h 371165"/>
              <a:gd name="connsiteX1" fmla="*/ 1097915 w 1097915"/>
              <a:gd name="connsiteY1" fmla="*/ 371165 h 371165"/>
              <a:gd name="connsiteX0" fmla="*/ 0 w 1097915"/>
              <a:gd name="connsiteY0" fmla="*/ 343252 h 367382"/>
              <a:gd name="connsiteX1" fmla="*/ 1097915 w 1097915"/>
              <a:gd name="connsiteY1" fmla="*/ 367382 h 367382"/>
              <a:gd name="connsiteX0" fmla="*/ 0 w 1091394"/>
              <a:gd name="connsiteY0" fmla="*/ 348935 h 361635"/>
              <a:gd name="connsiteX1" fmla="*/ 1091394 w 1091394"/>
              <a:gd name="connsiteY1" fmla="*/ 361635 h 361635"/>
              <a:gd name="connsiteX0" fmla="*/ 0 w 1091394"/>
              <a:gd name="connsiteY0" fmla="*/ 344671 h 357371"/>
              <a:gd name="connsiteX1" fmla="*/ 1091394 w 1091394"/>
              <a:gd name="connsiteY1" fmla="*/ 357371 h 357371"/>
              <a:gd name="connsiteX0" fmla="*/ 0 w 1027629"/>
              <a:gd name="connsiteY0" fmla="*/ 371417 h 371417"/>
              <a:gd name="connsiteX1" fmla="*/ 1027629 w 1027629"/>
              <a:gd name="connsiteY1" fmla="*/ 333317 h 371417"/>
              <a:gd name="connsiteX0" fmla="*/ 0 w 998645"/>
              <a:gd name="connsiteY0" fmla="*/ 349855 h 352395"/>
              <a:gd name="connsiteX1" fmla="*/ 998645 w 998645"/>
              <a:gd name="connsiteY1" fmla="*/ 352395 h 352395"/>
            </a:gdLst>
            <a:ahLst/>
            <a:cxnLst>
              <a:cxn ang="0">
                <a:pos x="connsiteX0" y="connsiteY0"/>
              </a:cxn>
              <a:cxn ang="0">
                <a:pos x="connsiteX1" y="connsiteY1"/>
              </a:cxn>
            </a:cxnLst>
            <a:rect l="l" t="t" r="r" b="b"/>
            <a:pathLst>
              <a:path w="998645" h="352395">
                <a:moveTo>
                  <a:pt x="0" y="349855"/>
                </a:moveTo>
                <a:cubicBezTo>
                  <a:pt x="326400" y="-97608"/>
                  <a:pt x="626111" y="-136132"/>
                  <a:pt x="998645" y="352395"/>
                </a:cubicBezTo>
              </a:path>
            </a:pathLst>
          </a:custGeom>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24" name="任意多边形 23"/>
          <p:cNvSpPr/>
          <p:nvPr/>
        </p:nvSpPr>
        <p:spPr bwMode="gray">
          <a:xfrm>
            <a:off x="5169134" y="4423952"/>
            <a:ext cx="1750305" cy="352395"/>
          </a:xfrm>
          <a:custGeom>
            <a:avLst/>
            <a:gdLst>
              <a:gd name="connsiteX0" fmla="*/ 83832 w 1648472"/>
              <a:gd name="connsiteY0" fmla="*/ 34217 h 389817"/>
              <a:gd name="connsiteX1" fmla="*/ 175272 w 1648472"/>
              <a:gd name="connsiteY1" fmla="*/ 34217 h 389817"/>
              <a:gd name="connsiteX2" fmla="*/ 1648472 w 1648472"/>
              <a:gd name="connsiteY2" fmla="*/ 389817 h 389817"/>
              <a:gd name="connsiteX0" fmla="*/ 501028 w 2065668"/>
              <a:gd name="connsiteY0" fmla="*/ 2083 h 357683"/>
              <a:gd name="connsiteX1" fmla="*/ 64148 w 2065668"/>
              <a:gd name="connsiteY1" fmla="*/ 327203 h 357683"/>
              <a:gd name="connsiteX2" fmla="*/ 2065668 w 2065668"/>
              <a:gd name="connsiteY2" fmla="*/ 357683 h 357683"/>
              <a:gd name="connsiteX0" fmla="*/ 0 w 2001520"/>
              <a:gd name="connsiteY0" fmla="*/ 30308 h 60788"/>
              <a:gd name="connsiteX1" fmla="*/ 2001520 w 2001520"/>
              <a:gd name="connsiteY1" fmla="*/ 60788 h 60788"/>
              <a:gd name="connsiteX0" fmla="*/ 0 w 3302000"/>
              <a:gd name="connsiteY0" fmla="*/ 0 h 2275840"/>
              <a:gd name="connsiteX1" fmla="*/ 3302000 w 3302000"/>
              <a:gd name="connsiteY1" fmla="*/ 2275840 h 2275840"/>
              <a:gd name="connsiteX0" fmla="*/ 0 w 3302000"/>
              <a:gd name="connsiteY0" fmla="*/ 4164 h 2280004"/>
              <a:gd name="connsiteX1" fmla="*/ 3302000 w 3302000"/>
              <a:gd name="connsiteY1" fmla="*/ 2280004 h 2280004"/>
              <a:gd name="connsiteX0" fmla="*/ 0 w 1828800"/>
              <a:gd name="connsiteY0" fmla="*/ 22178 h 408258"/>
              <a:gd name="connsiteX1" fmla="*/ 1828800 w 1828800"/>
              <a:gd name="connsiteY1" fmla="*/ 408258 h 408258"/>
              <a:gd name="connsiteX0" fmla="*/ 0 w 1828800"/>
              <a:gd name="connsiteY0" fmla="*/ 45613 h 431693"/>
              <a:gd name="connsiteX1" fmla="*/ 1828800 w 1828800"/>
              <a:gd name="connsiteY1" fmla="*/ 431693 h 431693"/>
              <a:gd name="connsiteX0" fmla="*/ 0 w 1595120"/>
              <a:gd name="connsiteY0" fmla="*/ 35683 h 492883"/>
              <a:gd name="connsiteX1" fmla="*/ 1595120 w 1595120"/>
              <a:gd name="connsiteY1" fmla="*/ 492883 h 492883"/>
              <a:gd name="connsiteX0" fmla="*/ 0 w 1666240"/>
              <a:gd name="connsiteY0" fmla="*/ 31519 h 529359"/>
              <a:gd name="connsiteX1" fmla="*/ 1666240 w 1666240"/>
              <a:gd name="connsiteY1" fmla="*/ 529359 h 529359"/>
              <a:gd name="connsiteX0" fmla="*/ 0 w 1666240"/>
              <a:gd name="connsiteY0" fmla="*/ 2707 h 500547"/>
              <a:gd name="connsiteX1" fmla="*/ 1666240 w 1666240"/>
              <a:gd name="connsiteY1" fmla="*/ 500547 h 500547"/>
              <a:gd name="connsiteX0" fmla="*/ 0 w 1666240"/>
              <a:gd name="connsiteY0" fmla="*/ 5258 h 503098"/>
              <a:gd name="connsiteX1" fmla="*/ 1666240 w 1666240"/>
              <a:gd name="connsiteY1" fmla="*/ 503098 h 503098"/>
              <a:gd name="connsiteX0" fmla="*/ 0 w 1666240"/>
              <a:gd name="connsiteY0" fmla="*/ 4770 h 502610"/>
              <a:gd name="connsiteX1" fmla="*/ 1666240 w 1666240"/>
              <a:gd name="connsiteY1" fmla="*/ 502610 h 502610"/>
              <a:gd name="connsiteX0" fmla="*/ 0 w 1085215"/>
              <a:gd name="connsiteY0" fmla="*/ 188039 h 232489"/>
              <a:gd name="connsiteX1" fmla="*/ 1085215 w 1085215"/>
              <a:gd name="connsiteY1" fmla="*/ 232489 h 232489"/>
              <a:gd name="connsiteX0" fmla="*/ 0 w 1097915"/>
              <a:gd name="connsiteY0" fmla="*/ 202408 h 226538"/>
              <a:gd name="connsiteX1" fmla="*/ 1097915 w 1097915"/>
              <a:gd name="connsiteY1" fmla="*/ 226538 h 226538"/>
              <a:gd name="connsiteX0" fmla="*/ 0 w 1097915"/>
              <a:gd name="connsiteY0" fmla="*/ 341368 h 365498"/>
              <a:gd name="connsiteX1" fmla="*/ 1097915 w 1097915"/>
              <a:gd name="connsiteY1" fmla="*/ 365498 h 365498"/>
              <a:gd name="connsiteX0" fmla="*/ 0 w 1097915"/>
              <a:gd name="connsiteY0" fmla="*/ 349885 h 374015"/>
              <a:gd name="connsiteX1" fmla="*/ 1097915 w 1097915"/>
              <a:gd name="connsiteY1" fmla="*/ 374015 h 374015"/>
              <a:gd name="connsiteX0" fmla="*/ 0 w 1097915"/>
              <a:gd name="connsiteY0" fmla="*/ 347035 h 371165"/>
              <a:gd name="connsiteX1" fmla="*/ 1097915 w 1097915"/>
              <a:gd name="connsiteY1" fmla="*/ 371165 h 371165"/>
              <a:gd name="connsiteX0" fmla="*/ 0 w 1097915"/>
              <a:gd name="connsiteY0" fmla="*/ 343252 h 367382"/>
              <a:gd name="connsiteX1" fmla="*/ 1097915 w 1097915"/>
              <a:gd name="connsiteY1" fmla="*/ 367382 h 367382"/>
              <a:gd name="connsiteX0" fmla="*/ 0 w 1091394"/>
              <a:gd name="connsiteY0" fmla="*/ 348935 h 361635"/>
              <a:gd name="connsiteX1" fmla="*/ 1091394 w 1091394"/>
              <a:gd name="connsiteY1" fmla="*/ 361635 h 361635"/>
              <a:gd name="connsiteX0" fmla="*/ 0 w 1091394"/>
              <a:gd name="connsiteY0" fmla="*/ 344671 h 357371"/>
              <a:gd name="connsiteX1" fmla="*/ 1091394 w 1091394"/>
              <a:gd name="connsiteY1" fmla="*/ 357371 h 357371"/>
              <a:gd name="connsiteX0" fmla="*/ 0 w 1027629"/>
              <a:gd name="connsiteY0" fmla="*/ 371417 h 371417"/>
              <a:gd name="connsiteX1" fmla="*/ 1027629 w 1027629"/>
              <a:gd name="connsiteY1" fmla="*/ 333317 h 371417"/>
              <a:gd name="connsiteX0" fmla="*/ 0 w 998645"/>
              <a:gd name="connsiteY0" fmla="*/ 349855 h 352395"/>
              <a:gd name="connsiteX1" fmla="*/ 998645 w 998645"/>
              <a:gd name="connsiteY1" fmla="*/ 352395 h 352395"/>
            </a:gdLst>
            <a:ahLst/>
            <a:cxnLst>
              <a:cxn ang="0">
                <a:pos x="connsiteX0" y="connsiteY0"/>
              </a:cxn>
              <a:cxn ang="0">
                <a:pos x="connsiteX1" y="connsiteY1"/>
              </a:cxn>
            </a:cxnLst>
            <a:rect l="l" t="t" r="r" b="b"/>
            <a:pathLst>
              <a:path w="998645" h="352395">
                <a:moveTo>
                  <a:pt x="0" y="349855"/>
                </a:moveTo>
                <a:cubicBezTo>
                  <a:pt x="326400" y="-97608"/>
                  <a:pt x="626111" y="-136132"/>
                  <a:pt x="998645" y="352395"/>
                </a:cubicBezTo>
              </a:path>
            </a:pathLst>
          </a:custGeom>
          <a:ln w="28575">
            <a:solidFill>
              <a:srgbClr val="56C4D2"/>
            </a:solidFill>
            <a:prstDash val="solid"/>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25" name="表格 24"/>
          <p:cNvGraphicFramePr>
            <a:graphicFrameLocks noGrp="1"/>
          </p:cNvGraphicFramePr>
          <p:nvPr>
            <p:extLst>
              <p:ext uri="{D42A27DB-BD31-4B8C-83A1-F6EECF244321}">
                <p14:modId xmlns:p14="http://schemas.microsoft.com/office/powerpoint/2010/main" val="2505873072"/>
              </p:ext>
            </p:extLst>
          </p:nvPr>
        </p:nvGraphicFramePr>
        <p:xfrm>
          <a:off x="3019121" y="1948063"/>
          <a:ext cx="2772000" cy="1127760"/>
        </p:xfrm>
        <a:graphic>
          <a:graphicData uri="http://schemas.openxmlformats.org/drawingml/2006/table">
            <a:tbl>
              <a:tblPr firstRow="1" bandRow="1">
                <a:tableStyleId>{72833802-FEF1-4C79-8D5D-14CF1EAF98D9}</a:tableStyleId>
              </a:tblPr>
              <a:tblGrid>
                <a:gridCol w="972000"/>
                <a:gridCol w="936000"/>
                <a:gridCol w="864000"/>
              </a:tblGrid>
              <a:tr h="0">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目的地址</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出接口</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下一跳</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3.3.3.3/24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Virtual-if2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0.0.0.0</a:t>
                      </a:r>
                      <a:endParaRPr lang="zh-CN" altLang="en-US" sz="1200" dirty="0" smtClean="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10.3.0.0/24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GE1/0/2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10.1.1.2</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r>
            </a:tbl>
          </a:graphicData>
        </a:graphic>
      </p:graphicFrame>
      <p:pic>
        <p:nvPicPr>
          <p:cNvPr id="26"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348527" y="4754521"/>
            <a:ext cx="490909" cy="401652"/>
          </a:xfrm>
          <a:prstGeom prst="rect">
            <a:avLst/>
          </a:prstGeom>
          <a:noFill/>
        </p:spPr>
      </p:pic>
      <p:pic>
        <p:nvPicPr>
          <p:cNvPr id="27" name="Picture 2" descr="G:\做的项目\公共\扁平图标切换\更新2015_01_21\oss扁平图标库2015_01_21更新-04.png"/>
          <p:cNvPicPr>
            <a:picLocks noChangeAspect="1" noChangeArrowheads="1"/>
          </p:cNvPicPr>
          <p:nvPr/>
        </p:nvPicPr>
        <p:blipFill>
          <a:blip r:embed="rId3" cstate="print"/>
          <a:stretch>
            <a:fillRect/>
          </a:stretch>
        </p:blipFill>
        <p:spPr bwMode="gray">
          <a:xfrm>
            <a:off x="10358036" y="4754521"/>
            <a:ext cx="490909" cy="401652"/>
          </a:xfrm>
          <a:prstGeom prst="rect">
            <a:avLst/>
          </a:prstGeom>
          <a:noFill/>
        </p:spPr>
      </p:pic>
      <p:sp>
        <p:nvSpPr>
          <p:cNvPr id="28" name="Freeform 159"/>
          <p:cNvSpPr/>
          <p:nvPr/>
        </p:nvSpPr>
        <p:spPr bwMode="gray">
          <a:xfrm flipH="1">
            <a:off x="627445" y="4026376"/>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源端</a:t>
            </a:r>
          </a:p>
          <a:p>
            <a:pPr algn="ctr"/>
            <a:r>
              <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10.3.0.0/24</a:t>
            </a:r>
          </a:p>
        </p:txBody>
      </p:sp>
      <p:sp>
        <p:nvSpPr>
          <p:cNvPr id="29" name="Freeform 159"/>
          <p:cNvSpPr/>
          <p:nvPr/>
        </p:nvSpPr>
        <p:spPr bwMode="gray">
          <a:xfrm flipH="1">
            <a:off x="10634571" y="4026376"/>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r>
              <a:rPr lang="zh-CN" altLang="en-US"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目的端</a:t>
            </a:r>
          </a:p>
          <a:p>
            <a:pPr algn="ctr"/>
            <a:r>
              <a:rPr lang="en-US" altLang="zh-CN" sz="120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3.3.3.3/24</a:t>
            </a:r>
            <a:endParaRPr lang="en-US" altLang="zh-CN" sz="120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0" name="矩形 29"/>
          <p:cNvSpPr/>
          <p:nvPr/>
        </p:nvSpPr>
        <p:spPr bwMode="gray">
          <a:xfrm>
            <a:off x="1811862" y="4997946"/>
            <a:ext cx="814647" cy="307777"/>
          </a:xfrm>
          <a:prstGeom prst="rect">
            <a:avLst/>
          </a:prstGeom>
        </p:spPr>
        <p:txBody>
          <a:bodyPr wrap="none">
            <a:spAutoFit/>
          </a:bodyPr>
          <a:lstStyle/>
          <a:p>
            <a:r>
              <a:rPr lang="en-US" altLang="zh-CN" sz="1400">
                <a:latin typeface="Huawei Sans" panose="020C0503030203020204" pitchFamily="34" charset="0"/>
                <a:ea typeface="方正兰亭黑简体" panose="02000000000000000000" pitchFamily="2" charset="-122"/>
                <a:sym typeface="Huawei Sans" panose="020C0503030203020204" pitchFamily="34" charset="0"/>
              </a:rPr>
              <a:t>10.1.1.2</a:t>
            </a:r>
          </a:p>
        </p:txBody>
      </p:sp>
      <p:sp>
        <p:nvSpPr>
          <p:cNvPr id="31" name="矩形 30"/>
          <p:cNvSpPr/>
          <p:nvPr/>
        </p:nvSpPr>
        <p:spPr bwMode="gray">
          <a:xfrm>
            <a:off x="3878629" y="5408699"/>
            <a:ext cx="1019831" cy="307777"/>
          </a:xfrm>
          <a:prstGeom prst="rect">
            <a:avLst/>
          </a:prstGeom>
        </p:spPr>
        <p:txBody>
          <a:bodyPr wrap="none">
            <a:spAutoFit/>
          </a:bodyPr>
          <a:lstStyle/>
          <a:p>
            <a:pPr algn="ct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A</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2" name="矩形 31"/>
          <p:cNvSpPr/>
          <p:nvPr/>
        </p:nvSpPr>
        <p:spPr bwMode="gray">
          <a:xfrm>
            <a:off x="7176601" y="5408699"/>
            <a:ext cx="1010213" cy="307777"/>
          </a:xfrm>
          <a:prstGeom prst="rect">
            <a:avLst/>
          </a:prstGeom>
        </p:spPr>
        <p:txBody>
          <a:bodyPr wrap="none">
            <a:spAutoFit/>
          </a:bodyPr>
          <a:lstStyle/>
          <a:p>
            <a:pPr algn="ct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B</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3" name="矩形 32"/>
          <p:cNvSpPr/>
          <p:nvPr/>
        </p:nvSpPr>
        <p:spPr bwMode="gray">
          <a:xfrm>
            <a:off x="3542708" y="3206943"/>
            <a:ext cx="1737976" cy="307777"/>
          </a:xfrm>
          <a:prstGeom prst="rect">
            <a:avLst/>
          </a:prstGeom>
        </p:spPr>
        <p:txBody>
          <a:bodyPr wrap="none">
            <a:spAutoFit/>
          </a:bodyPr>
          <a:lstStyle/>
          <a:p>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A</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的路由表</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任意多边形 33"/>
          <p:cNvSpPr/>
          <p:nvPr/>
        </p:nvSpPr>
        <p:spPr bwMode="gray">
          <a:xfrm rot="10800000">
            <a:off x="6394206" y="3051352"/>
            <a:ext cx="2767643" cy="1205990"/>
          </a:xfrm>
          <a:custGeom>
            <a:avLst/>
            <a:gdLst>
              <a:gd name="connsiteX0" fmla="*/ 406400 w 1219200"/>
              <a:gd name="connsiteY0" fmla="*/ 42333 h 618066"/>
              <a:gd name="connsiteX1" fmla="*/ 0 w 1219200"/>
              <a:gd name="connsiteY1" fmla="*/ 618066 h 618066"/>
              <a:gd name="connsiteX2" fmla="*/ 1219200 w 1219200"/>
              <a:gd name="connsiteY2" fmla="*/ 618066 h 618066"/>
              <a:gd name="connsiteX3" fmla="*/ 812800 w 1219200"/>
              <a:gd name="connsiteY3" fmla="*/ 0 h 618066"/>
              <a:gd name="connsiteX0" fmla="*/ 425450 w 1219200"/>
              <a:gd name="connsiteY0" fmla="*/ 1566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423 h 618066"/>
              <a:gd name="connsiteX1" fmla="*/ 0 w 1219200"/>
              <a:gd name="connsiteY1" fmla="*/ 618066 h 618066"/>
              <a:gd name="connsiteX2" fmla="*/ 1219200 w 1219200"/>
              <a:gd name="connsiteY2" fmla="*/ 618066 h 618066"/>
              <a:gd name="connsiteX3" fmla="*/ 812800 w 1219200"/>
              <a:gd name="connsiteY3" fmla="*/ 0 h 618066"/>
              <a:gd name="connsiteX0" fmla="*/ 433070 w 1219200"/>
              <a:gd name="connsiteY0" fmla="*/ 0 h 617643"/>
              <a:gd name="connsiteX1" fmla="*/ 0 w 1219200"/>
              <a:gd name="connsiteY1" fmla="*/ 617643 h 617643"/>
              <a:gd name="connsiteX2" fmla="*/ 1219200 w 1219200"/>
              <a:gd name="connsiteY2" fmla="*/ 617643 h 617643"/>
              <a:gd name="connsiteX0" fmla="*/ 534670 w 1219200"/>
              <a:gd name="connsiteY0" fmla="*/ 0 h 643043"/>
              <a:gd name="connsiteX1" fmla="*/ 0 w 1219200"/>
              <a:gd name="connsiteY1" fmla="*/ 643043 h 643043"/>
              <a:gd name="connsiteX2" fmla="*/ 1219200 w 1219200"/>
              <a:gd name="connsiteY2" fmla="*/ 643043 h 643043"/>
              <a:gd name="connsiteX0" fmla="*/ 560070 w 1219200"/>
              <a:gd name="connsiteY0" fmla="*/ 0 h 659976"/>
              <a:gd name="connsiteX1" fmla="*/ 0 w 1219200"/>
              <a:gd name="connsiteY1" fmla="*/ 659976 h 659976"/>
              <a:gd name="connsiteX2" fmla="*/ 1219200 w 1219200"/>
              <a:gd name="connsiteY2" fmla="*/ 659976 h 659976"/>
              <a:gd name="connsiteX0" fmla="*/ 560070 w 1219200"/>
              <a:gd name="connsiteY0" fmla="*/ 0 h 659976"/>
              <a:gd name="connsiteX1" fmla="*/ 0 w 1219200"/>
              <a:gd name="connsiteY1" fmla="*/ 659976 h 659976"/>
              <a:gd name="connsiteX2" fmla="*/ 1219200 w 1219200"/>
              <a:gd name="connsiteY2" fmla="*/ 659976 h 659976"/>
              <a:gd name="connsiteX3" fmla="*/ 560070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02404 w 1219200"/>
              <a:gd name="connsiteY3" fmla="*/ 0 h 659976"/>
              <a:gd name="connsiteX0" fmla="*/ 602404 w 1219200"/>
              <a:gd name="connsiteY0" fmla="*/ 0 h 659976"/>
              <a:gd name="connsiteX1" fmla="*/ 0 w 1219200"/>
              <a:gd name="connsiteY1" fmla="*/ 659976 h 659976"/>
              <a:gd name="connsiteX2" fmla="*/ 1219200 w 1219200"/>
              <a:gd name="connsiteY2" fmla="*/ 659976 h 659976"/>
              <a:gd name="connsiteX3" fmla="*/ 664606 w 1219200"/>
              <a:gd name="connsiteY3" fmla="*/ 50040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602404 w 1219200"/>
              <a:gd name="connsiteY0" fmla="*/ 0 h 659976"/>
              <a:gd name="connsiteX1" fmla="*/ 0 w 1219200"/>
              <a:gd name="connsiteY1" fmla="*/ 659976 h 659976"/>
              <a:gd name="connsiteX2" fmla="*/ 1219200 w 1219200"/>
              <a:gd name="connsiteY2" fmla="*/ 659976 h 659976"/>
              <a:gd name="connsiteX3" fmla="*/ 1044729 w 1219200"/>
              <a:gd name="connsiteY3" fmla="*/ 150121 h 659976"/>
              <a:gd name="connsiteX0" fmla="*/ 208458 w 1219200"/>
              <a:gd name="connsiteY0" fmla="*/ 16680 h 509855"/>
              <a:gd name="connsiteX1" fmla="*/ 0 w 1219200"/>
              <a:gd name="connsiteY1" fmla="*/ 509855 h 509855"/>
              <a:gd name="connsiteX2" fmla="*/ 1219200 w 1219200"/>
              <a:gd name="connsiteY2" fmla="*/ 509855 h 509855"/>
              <a:gd name="connsiteX3" fmla="*/ 1044729 w 1219200"/>
              <a:gd name="connsiteY3" fmla="*/ 0 h 509855"/>
              <a:gd name="connsiteX0" fmla="*/ 208458 w 1219200"/>
              <a:gd name="connsiteY0" fmla="*/ 16680 h 509855"/>
              <a:gd name="connsiteX1" fmla="*/ 0 w 1219200"/>
              <a:gd name="connsiteY1" fmla="*/ 509855 h 509855"/>
              <a:gd name="connsiteX2" fmla="*/ 1219200 w 1219200"/>
              <a:gd name="connsiteY2" fmla="*/ 509855 h 509855"/>
              <a:gd name="connsiteX3" fmla="*/ 1023995 w 1219200"/>
              <a:gd name="connsiteY3" fmla="*/ 0 h 509855"/>
              <a:gd name="connsiteX0" fmla="*/ 208458 w 1606234"/>
              <a:gd name="connsiteY0" fmla="*/ 16680 h 765617"/>
              <a:gd name="connsiteX1" fmla="*/ 0 w 1606234"/>
              <a:gd name="connsiteY1" fmla="*/ 509855 h 765617"/>
              <a:gd name="connsiteX2" fmla="*/ 1606234 w 1606234"/>
              <a:gd name="connsiteY2" fmla="*/ 765617 h 765617"/>
              <a:gd name="connsiteX3" fmla="*/ 1023995 w 1606234"/>
              <a:gd name="connsiteY3" fmla="*/ 0 h 765617"/>
              <a:gd name="connsiteX0" fmla="*/ 478000 w 1875776"/>
              <a:gd name="connsiteY0" fmla="*/ 16680 h 765617"/>
              <a:gd name="connsiteX1" fmla="*/ 0 w 1875776"/>
              <a:gd name="connsiteY1" fmla="*/ 765617 h 765617"/>
              <a:gd name="connsiteX2" fmla="*/ 1875776 w 1875776"/>
              <a:gd name="connsiteY2" fmla="*/ 765617 h 765617"/>
              <a:gd name="connsiteX3" fmla="*/ 1293537 w 1875776"/>
              <a:gd name="connsiteY3" fmla="*/ 0 h 765617"/>
              <a:gd name="connsiteX0" fmla="*/ 478000 w 1799751"/>
              <a:gd name="connsiteY0" fmla="*/ 16680 h 765617"/>
              <a:gd name="connsiteX1" fmla="*/ 0 w 1799751"/>
              <a:gd name="connsiteY1" fmla="*/ 765617 h 765617"/>
              <a:gd name="connsiteX2" fmla="*/ 1799751 w 1799751"/>
              <a:gd name="connsiteY2" fmla="*/ 659976 h 765617"/>
              <a:gd name="connsiteX3" fmla="*/ 1293537 w 1799751"/>
              <a:gd name="connsiteY3" fmla="*/ 0 h 765617"/>
              <a:gd name="connsiteX0" fmla="*/ 560936 w 1882687"/>
              <a:gd name="connsiteY0" fmla="*/ 16680 h 659976"/>
              <a:gd name="connsiteX1" fmla="*/ 0 w 1882687"/>
              <a:gd name="connsiteY1" fmla="*/ 654416 h 659976"/>
              <a:gd name="connsiteX2" fmla="*/ 1882687 w 1882687"/>
              <a:gd name="connsiteY2" fmla="*/ 659976 h 659976"/>
              <a:gd name="connsiteX3" fmla="*/ 1376473 w 1882687"/>
              <a:gd name="connsiteY3" fmla="*/ 0 h 659976"/>
            </a:gdLst>
            <a:ahLst/>
            <a:cxnLst>
              <a:cxn ang="0">
                <a:pos x="connsiteX0" y="connsiteY0"/>
              </a:cxn>
              <a:cxn ang="0">
                <a:pos x="connsiteX1" y="connsiteY1"/>
              </a:cxn>
              <a:cxn ang="0">
                <a:pos x="connsiteX2" y="connsiteY2"/>
              </a:cxn>
              <a:cxn ang="0">
                <a:pos x="connsiteX3" y="connsiteY3"/>
              </a:cxn>
            </a:cxnLst>
            <a:rect l="l" t="t" r="r" b="b"/>
            <a:pathLst>
              <a:path w="1882687" h="659976">
                <a:moveTo>
                  <a:pt x="560936" y="16680"/>
                </a:moveTo>
                <a:lnTo>
                  <a:pt x="0" y="654416"/>
                </a:lnTo>
                <a:lnTo>
                  <a:pt x="1882687" y="659976"/>
                </a:lnTo>
                <a:lnTo>
                  <a:pt x="1376473" y="0"/>
                </a:lnTo>
              </a:path>
            </a:pathLst>
          </a:custGeom>
          <a:gradFill flip="none" rotWithShape="1">
            <a:gsLst>
              <a:gs pos="100000">
                <a:schemeClr val="accent1">
                  <a:lumMod val="5000"/>
                  <a:lumOff val="95000"/>
                  <a:alpha val="0"/>
                </a:schemeClr>
              </a:gs>
              <a:gs pos="0">
                <a:schemeClr val="bg1">
                  <a:lumMod val="8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Huawei Sans" panose="020C0503030203020204" pitchFamily="34" charset="0"/>
              <a:ea typeface="方正兰亭黑简体" panose="02000000000000000000" pitchFamily="2" charset="-122"/>
              <a:sym typeface="Huawei Sans" panose="020C0503030203020204" pitchFamily="34" charset="0"/>
            </a:endParaRPr>
          </a:p>
        </p:txBody>
      </p:sp>
      <p:graphicFrame>
        <p:nvGraphicFramePr>
          <p:cNvPr id="35" name="表格 34"/>
          <p:cNvGraphicFramePr>
            <a:graphicFrameLocks noGrp="1"/>
          </p:cNvGraphicFramePr>
          <p:nvPr>
            <p:extLst>
              <p:ext uri="{D42A27DB-BD31-4B8C-83A1-F6EECF244321}">
                <p14:modId xmlns:p14="http://schemas.microsoft.com/office/powerpoint/2010/main" val="4176894056"/>
              </p:ext>
            </p:extLst>
          </p:nvPr>
        </p:nvGraphicFramePr>
        <p:xfrm>
          <a:off x="6385452" y="1948063"/>
          <a:ext cx="2772000" cy="1127760"/>
        </p:xfrm>
        <a:graphic>
          <a:graphicData uri="http://schemas.openxmlformats.org/drawingml/2006/table">
            <a:tbl>
              <a:tblPr firstRow="1" bandRow="1">
                <a:tableStyleId>{72833802-FEF1-4C79-8D5D-14CF1EAF98D9}</a:tableStyleId>
              </a:tblPr>
              <a:tblGrid>
                <a:gridCol w="972000"/>
                <a:gridCol w="936000"/>
                <a:gridCol w="864000"/>
              </a:tblGrid>
              <a:tr h="0">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目的地址</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出接口</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r>
                        <a:rPr lang="zh-CN" altLang="en-US" sz="1400" b="1"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下一跳</a:t>
                      </a:r>
                      <a:endParaRPr lang="zh-CN" altLang="en-US" sz="1400" b="1"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r>
              <a:tr h="0">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3.3.3.3/24</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GE1/0/1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1.1.1.254</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0">
                <a:tc>
                  <a:txBody>
                    <a:bodyPr/>
                    <a:lstStyle/>
                    <a:p>
                      <a:pPr algn="ctr"/>
                      <a:r>
                        <a:rPr lang="en-US" altLang="zh-CN" sz="120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034" rtl="0" eaLnBrk="1" fontAlgn="auto" latinLnBrk="0" hangingPunct="1">
                        <a:lnSpc>
                          <a:spcPct val="100000"/>
                        </a:lnSpc>
                        <a:spcBef>
                          <a:spcPts val="0"/>
                        </a:spcBef>
                        <a:spcAft>
                          <a:spcPts val="0"/>
                        </a:spcAft>
                        <a:buClrTx/>
                        <a:buSzTx/>
                        <a:buFontTx/>
                        <a:buNone/>
                        <a:tabLst/>
                        <a:defRPr/>
                      </a:pP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200" dirty="0" smtClean="0">
                          <a:latin typeface="Huawei Sans" panose="020C0503030203020204" pitchFamily="34" charset="0"/>
                          <a:ea typeface="方正兰亭黑简体" panose="02000000000000000000" pitchFamily="2" charset="-122"/>
                          <a:sym typeface="Huawei Sans" panose="020C0503030203020204" pitchFamily="34" charset="0"/>
                        </a:rPr>
                        <a:t>…</a:t>
                      </a:r>
                      <a:endParaRPr lang="zh-CN" altLang="en-US" sz="1200" dirty="0">
                        <a:latin typeface="Huawei Sans" panose="020C0503030203020204" pitchFamily="34" charset="0"/>
                        <a:ea typeface="方正兰亭黑简体" panose="02000000000000000000" pitchFamily="2" charset="-122"/>
                        <a:sym typeface="Huawei Sans" panose="020C0503030203020204" pitchFamily="34" charset="0"/>
                      </a:endParaRPr>
                    </a:p>
                  </a:txBody>
                  <a:tcPr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solidFill>
                      <a:schemeClr val="bg1"/>
                    </a:solidFill>
                  </a:tcPr>
                </a:tc>
              </a:tr>
            </a:tbl>
          </a:graphicData>
        </a:graphic>
      </p:graphicFrame>
      <p:sp>
        <p:nvSpPr>
          <p:cNvPr id="36" name="矩形 35"/>
          <p:cNvSpPr/>
          <p:nvPr/>
        </p:nvSpPr>
        <p:spPr bwMode="gray">
          <a:xfrm>
            <a:off x="6919439" y="3206943"/>
            <a:ext cx="1737976" cy="307777"/>
          </a:xfrm>
          <a:prstGeom prst="rect">
            <a:avLst/>
          </a:prstGeom>
        </p:spPr>
        <p:txBody>
          <a:bodyPr wrap="none">
            <a:spAutoFit/>
          </a:bodyPr>
          <a:lstStyle/>
          <a:p>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虚拟系统</a:t>
            </a:r>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B</a:t>
            </a:r>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的</a:t>
            </a:r>
            <a:r>
              <a:rPr lang="zh-CN" altLang="en-US" sz="1400">
                <a:latin typeface="Huawei Sans" panose="020C0503030203020204" pitchFamily="34" charset="0"/>
                <a:ea typeface="方正兰亭黑简体" panose="02000000000000000000" pitchFamily="2" charset="-122"/>
                <a:sym typeface="Huawei Sans" panose="020C0503030203020204" pitchFamily="34" charset="0"/>
              </a:rPr>
              <a:t>路由表</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7" name="Oval 4"/>
          <p:cNvSpPr>
            <a:spLocks noChangeAspect="1"/>
          </p:cNvSpPr>
          <p:nvPr/>
        </p:nvSpPr>
        <p:spPr bwMode="gray">
          <a:xfrm>
            <a:off x="4295108" y="4082224"/>
            <a:ext cx="233175" cy="233175"/>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2</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8" name="矩形 37"/>
          <p:cNvSpPr/>
          <p:nvPr/>
        </p:nvSpPr>
        <p:spPr bwMode="gray">
          <a:xfrm>
            <a:off x="3547319" y="3716391"/>
            <a:ext cx="1800493" cy="307777"/>
          </a:xfrm>
          <a:prstGeom prst="rect">
            <a:avLst/>
          </a:prstGeom>
        </p:spPr>
        <p:txBody>
          <a:bodyPr wrap="none">
            <a:spAutoFit/>
          </a:bodyPr>
          <a:lstStyle/>
          <a:p>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查表转发，建立会话</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9" name="Oval 4"/>
          <p:cNvSpPr>
            <a:spLocks noChangeAspect="1"/>
          </p:cNvSpPr>
          <p:nvPr/>
        </p:nvSpPr>
        <p:spPr bwMode="gray">
          <a:xfrm>
            <a:off x="7590066" y="4082224"/>
            <a:ext cx="233175" cy="233175"/>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3</a:t>
            </a:r>
            <a:endParaRPr lang="zh-CN" altLang="en-US" sz="1400" b="1">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0" name="矩形 39"/>
          <p:cNvSpPr/>
          <p:nvPr/>
        </p:nvSpPr>
        <p:spPr bwMode="gray">
          <a:xfrm>
            <a:off x="6842277" y="3716391"/>
            <a:ext cx="1800493" cy="307777"/>
          </a:xfrm>
          <a:prstGeom prst="rect">
            <a:avLst/>
          </a:prstGeom>
        </p:spPr>
        <p:txBody>
          <a:bodyPr wrap="none">
            <a:spAutoFit/>
          </a:bodyPr>
          <a:lstStyle/>
          <a:p>
            <a:r>
              <a:rPr lang="zh-CN" altLang="en-US" sz="1400" smtClean="0">
                <a:latin typeface="Huawei Sans" panose="020C0503030203020204" pitchFamily="34" charset="0"/>
                <a:ea typeface="方正兰亭黑简体" panose="02000000000000000000" pitchFamily="2" charset="-122"/>
                <a:sym typeface="Huawei Sans" panose="020C0503030203020204" pitchFamily="34" charset="0"/>
              </a:rPr>
              <a:t>查表转发，建立会话</a:t>
            </a:r>
            <a:endParaRPr lang="en-US" altLang="zh-CN"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1" name="Oval 4"/>
          <p:cNvSpPr>
            <a:spLocks noChangeAspect="1"/>
          </p:cNvSpPr>
          <p:nvPr/>
        </p:nvSpPr>
        <p:spPr bwMode="gray">
          <a:xfrm>
            <a:off x="9198640" y="4237080"/>
            <a:ext cx="233175" cy="233175"/>
          </a:xfrm>
          <a:prstGeom prst="ellipse">
            <a:avLst/>
          </a:prstGeom>
          <a:solidFill>
            <a:srgbClr val="30B5C5"/>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rPr>
              <a:t>4</a:t>
            </a:r>
            <a:endParaRPr lang="zh-CN" altLang="en-US" sz="1400" b="1" dirty="0">
              <a:solidFill>
                <a:schemeClr val="bg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2" name="矩形 41"/>
          <p:cNvSpPr/>
          <p:nvPr/>
        </p:nvSpPr>
        <p:spPr bwMode="gray">
          <a:xfrm>
            <a:off x="9463696" y="4997946"/>
            <a:ext cx="915635" cy="307777"/>
          </a:xfrm>
          <a:prstGeom prst="rect">
            <a:avLst/>
          </a:prstGeom>
        </p:spPr>
        <p:txBody>
          <a:bodyPr wrap="none">
            <a:spAutoFit/>
          </a:bodyPr>
          <a:lstStyle/>
          <a:p>
            <a:r>
              <a:rPr lang="en-US" altLang="zh-CN" sz="1400" smtClean="0">
                <a:latin typeface="Huawei Sans" panose="020C0503030203020204" pitchFamily="34" charset="0"/>
                <a:ea typeface="方正兰亭黑简体" panose="02000000000000000000" pitchFamily="2" charset="-122"/>
                <a:sym typeface="Huawei Sans" panose="020C0503030203020204" pitchFamily="34" charset="0"/>
              </a:rPr>
              <a:t>1.1.1.254</a:t>
            </a:r>
            <a:endParaRPr lang="zh-CN" altLang="en-US" sz="1400">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43" name="矩形 42"/>
          <p:cNvSpPr/>
          <p:nvPr/>
        </p:nvSpPr>
        <p:spPr bwMode="gray">
          <a:xfrm>
            <a:off x="2901858" y="1214090"/>
            <a:ext cx="6388288" cy="437043"/>
          </a:xfrm>
          <a:prstGeom prst="rect">
            <a:avLst/>
          </a:prstGeom>
        </p:spPr>
        <p:txBody>
          <a:bodyPr wrap="none">
            <a:spAutoFit/>
          </a:bodyPr>
          <a:lstStyle/>
          <a:p>
            <a:pPr lvl="0" algn="ctr" defTabSz="914034" fontAlgn="base">
              <a:lnSpc>
                <a:spcPct val="140000"/>
              </a:lnSpc>
              <a:spcBef>
                <a:spcPts val="792"/>
              </a:spcBef>
              <a:buSzPct val="50000"/>
            </a:pPr>
            <a:r>
              <a:rPr lang="zh-CN" altLang="en-US" sz="16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虚拟系统</a:t>
            </a:r>
            <a:r>
              <a:rPr lang="en-US" altLang="zh-CN" sz="16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a:t>
            </a:r>
            <a:r>
              <a:rPr lang="zh-CN" altLang="en-US" sz="16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下</a:t>
            </a:r>
            <a:r>
              <a:rPr lang="en-US" altLang="zh-CN" sz="16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10.3.0.0/24</a:t>
            </a:r>
            <a:r>
              <a:rPr lang="zh-CN" altLang="en-US" sz="16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网段的</a:t>
            </a:r>
            <a:r>
              <a:rPr lang="zh-CN" altLang="en-US" sz="1600" dirty="0" smtClean="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用户访问虚拟系统</a:t>
            </a:r>
            <a:r>
              <a:rPr lang="en-US" altLang="zh-CN" sz="1600" dirty="0" smtClean="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B</a:t>
            </a:r>
            <a:r>
              <a:rPr lang="zh-CN" altLang="en-US" sz="1600" dirty="0" smtClean="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下服务器</a:t>
            </a:r>
            <a:r>
              <a:rPr lang="en-US" altLang="zh-CN" sz="16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3.3.3.3</a:t>
            </a:r>
            <a:r>
              <a:rPr lang="zh-CN" altLang="en-US" sz="1600" dirty="0">
                <a:solidFill>
                  <a:prstClr val="black"/>
                </a:solidFill>
                <a:latin typeface="Huawei Sans" panose="020C0503030203020204" pitchFamily="34" charset="0"/>
                <a:ea typeface="方正兰亭黑简体" panose="02000000000000000000" pitchFamily="2" charset="-122"/>
                <a:cs typeface="Huawei Sans" panose="020C0503030203020204" pitchFamily="34" charset="0"/>
                <a:sym typeface="Huawei Sans" panose="020C0503030203020204" pitchFamily="34" charset="0"/>
              </a:rPr>
              <a:t>。</a:t>
            </a:r>
          </a:p>
        </p:txBody>
      </p:sp>
    </p:spTree>
    <p:extLst>
      <p:ext uri="{BB962C8B-B14F-4D97-AF65-F5344CB8AC3E}">
        <p14:creationId xmlns:p14="http://schemas.microsoft.com/office/powerpoint/2010/main" val="235794989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bwMode="gray"/>
        <p:txBody>
          <a:bodyPr/>
          <a:lstStyle/>
          <a:p>
            <a:r>
              <a:rPr lang="zh-CN" altLang="en-US" smtClean="0"/>
              <a:t>配置举例：虚拟系统间互访 </a:t>
            </a:r>
            <a:r>
              <a:rPr lang="en-US" altLang="zh-CN" smtClean="0"/>
              <a:t>(1)</a:t>
            </a:r>
            <a:endParaRPr lang="zh-CN" altLang="en-US" dirty="0"/>
          </a:p>
        </p:txBody>
      </p:sp>
      <p:sp>
        <p:nvSpPr>
          <p:cNvPr id="48" name="文本占位符 47"/>
          <p:cNvSpPr>
            <a:spLocks noGrp="1"/>
          </p:cNvSpPr>
          <p:nvPr>
            <p:ph type="body" sz="quarter" idx="4294967295"/>
          </p:nvPr>
        </p:nvSpPr>
        <p:spPr bwMode="gray">
          <a:xfrm>
            <a:off x="455612" y="3556000"/>
            <a:ext cx="5640388" cy="2211388"/>
          </a:xfrm>
        </p:spPr>
        <p:txBody>
          <a:bodyPr/>
          <a:lstStyle/>
          <a:p>
            <a:r>
              <a:rPr lang="zh-CN" altLang="en-US" sz="1400" dirty="0"/>
              <a:t>如</a:t>
            </a:r>
            <a:r>
              <a:rPr lang="zh-CN" altLang="en-US" sz="1400" dirty="0" smtClean="0"/>
              <a:t>图所</a:t>
            </a:r>
            <a:r>
              <a:rPr lang="zh-CN" altLang="en-US" sz="1400" dirty="0"/>
              <a:t>示，</a:t>
            </a:r>
            <a:r>
              <a:rPr lang="en-US" altLang="zh-CN" sz="1400" dirty="0" err="1"/>
              <a:t>vsysa</a:t>
            </a:r>
            <a:r>
              <a:rPr lang="zh-CN" altLang="en-US" sz="1400" dirty="0"/>
              <a:t>中的用户要访问</a:t>
            </a:r>
            <a:r>
              <a:rPr lang="en-US" altLang="zh-CN" sz="1400" dirty="0" err="1"/>
              <a:t>vsysb</a:t>
            </a:r>
            <a:r>
              <a:rPr lang="zh-CN" altLang="en-US" sz="1400" dirty="0"/>
              <a:t>中的</a:t>
            </a:r>
            <a:r>
              <a:rPr lang="en-US" altLang="zh-CN" sz="1400" dirty="0" smtClean="0"/>
              <a:t>Server</a:t>
            </a:r>
            <a:r>
              <a:rPr lang="zh-CN" altLang="en-US" sz="1400" dirty="0" smtClean="0"/>
              <a:t>。</a:t>
            </a:r>
            <a:endParaRPr lang="en-US" altLang="zh-CN" sz="1400" dirty="0" smtClean="0"/>
          </a:p>
          <a:p>
            <a:r>
              <a:rPr lang="zh-CN" altLang="en-US" sz="1400" dirty="0" smtClean="0"/>
              <a:t>配置步骤如下：</a:t>
            </a:r>
            <a:endParaRPr lang="en-US" altLang="zh-CN" sz="1400" dirty="0" smtClean="0"/>
          </a:p>
          <a:p>
            <a:pPr lvl="1"/>
            <a:r>
              <a:rPr lang="zh-CN" altLang="en-US" sz="1200" b="1" dirty="0"/>
              <a:t>在根系统中配置</a:t>
            </a:r>
            <a:r>
              <a:rPr lang="en-US" altLang="zh-CN" sz="1200" b="1" dirty="0" err="1"/>
              <a:t>vsysa</a:t>
            </a:r>
            <a:r>
              <a:rPr lang="zh-CN" altLang="en-US" sz="1200" b="1" dirty="0"/>
              <a:t>和</a:t>
            </a:r>
            <a:r>
              <a:rPr lang="en-US" altLang="zh-CN" sz="1200" b="1" dirty="0" err="1"/>
              <a:t>vsysb</a:t>
            </a:r>
            <a:r>
              <a:rPr lang="zh-CN" altLang="en-US" sz="1200" b="1" dirty="0"/>
              <a:t>互访的路由</a:t>
            </a:r>
            <a:r>
              <a:rPr lang="zh-CN" altLang="en-US" sz="1200" b="1" dirty="0" smtClean="0"/>
              <a:t>。</a:t>
            </a:r>
            <a:endParaRPr lang="en-US" altLang="zh-CN" sz="1200" b="1" dirty="0" smtClean="0"/>
          </a:p>
          <a:p>
            <a:pPr lvl="1"/>
            <a:r>
              <a:rPr lang="zh-CN" altLang="en-US" sz="1200" dirty="0">
                <a:solidFill>
                  <a:schemeClr val="bg1">
                    <a:lumMod val="50000"/>
                  </a:schemeClr>
                </a:solidFill>
              </a:rPr>
              <a:t>在</a:t>
            </a:r>
            <a:r>
              <a:rPr lang="en-US" altLang="zh-CN" sz="1200" dirty="0" err="1">
                <a:solidFill>
                  <a:schemeClr val="bg1">
                    <a:lumMod val="50000"/>
                  </a:schemeClr>
                </a:solidFill>
              </a:rPr>
              <a:t>vsysa</a:t>
            </a:r>
            <a:r>
              <a:rPr lang="zh-CN" altLang="en-US" sz="1200" dirty="0">
                <a:solidFill>
                  <a:schemeClr val="bg1">
                    <a:lumMod val="50000"/>
                  </a:schemeClr>
                </a:solidFill>
              </a:rPr>
              <a:t>中配置安全策略</a:t>
            </a:r>
            <a:r>
              <a:rPr lang="zh-CN" altLang="en-US" sz="1200" dirty="0" smtClean="0">
                <a:solidFill>
                  <a:schemeClr val="bg1">
                    <a:lumMod val="50000"/>
                  </a:schemeClr>
                </a:solidFill>
              </a:rPr>
              <a:t>。</a:t>
            </a:r>
            <a:endParaRPr lang="en-US" altLang="zh-CN" sz="1200" dirty="0" smtClean="0">
              <a:solidFill>
                <a:schemeClr val="bg1">
                  <a:lumMod val="50000"/>
                </a:schemeClr>
              </a:solidFill>
            </a:endParaRPr>
          </a:p>
          <a:p>
            <a:pPr lvl="1"/>
            <a:r>
              <a:rPr lang="zh-CN" altLang="en-US" sz="1200" dirty="0">
                <a:solidFill>
                  <a:schemeClr val="bg1">
                    <a:lumMod val="50000"/>
                  </a:schemeClr>
                </a:solidFill>
              </a:rPr>
              <a:t>在</a:t>
            </a:r>
            <a:r>
              <a:rPr lang="en-US" altLang="zh-CN" sz="1200" dirty="0" err="1">
                <a:solidFill>
                  <a:schemeClr val="bg1">
                    <a:lumMod val="50000"/>
                  </a:schemeClr>
                </a:solidFill>
              </a:rPr>
              <a:t>vsysb</a:t>
            </a:r>
            <a:r>
              <a:rPr lang="zh-CN" altLang="en-US" sz="1200" dirty="0">
                <a:solidFill>
                  <a:schemeClr val="bg1">
                    <a:lumMod val="50000"/>
                  </a:schemeClr>
                </a:solidFill>
              </a:rPr>
              <a:t>中配置安全策略。</a:t>
            </a:r>
            <a:endParaRPr lang="en-US" altLang="zh-CN" sz="1200" dirty="0" smtClean="0">
              <a:solidFill>
                <a:schemeClr val="bg1">
                  <a:lumMod val="50000"/>
                </a:schemeClr>
              </a:solidFill>
            </a:endParaRPr>
          </a:p>
          <a:p>
            <a:pPr lvl="1"/>
            <a:endParaRPr lang="zh-CN" altLang="en-US" sz="1000" dirty="0"/>
          </a:p>
        </p:txBody>
      </p:sp>
      <p:grpSp>
        <p:nvGrpSpPr>
          <p:cNvPr id="62" name="组合 61"/>
          <p:cNvGrpSpPr/>
          <p:nvPr/>
        </p:nvGrpSpPr>
        <p:grpSpPr bwMode="gray">
          <a:xfrm>
            <a:off x="545448" y="1882881"/>
            <a:ext cx="5419461" cy="1280552"/>
            <a:chOff x="474198" y="1300990"/>
            <a:chExt cx="5419461" cy="1280552"/>
          </a:xfrm>
        </p:grpSpPr>
        <p:pic>
          <p:nvPicPr>
            <p:cNvPr id="3"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349028" y="1785859"/>
              <a:ext cx="490909" cy="401653"/>
            </a:xfrm>
            <a:prstGeom prst="rect">
              <a:avLst/>
            </a:prstGeom>
          </p:spPr>
        </p:pic>
        <p:sp>
          <p:nvSpPr>
            <p:cNvPr id="4" name="Freeform 159"/>
            <p:cNvSpPr/>
            <p:nvPr/>
          </p:nvSpPr>
          <p:spPr bwMode="gray">
            <a:xfrm flipH="1">
              <a:off x="474198" y="1611024"/>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10.3.0.0/24</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7" name="矩形 6"/>
            <p:cNvSpPr/>
            <p:nvPr/>
          </p:nvSpPr>
          <p:spPr bwMode="gray">
            <a:xfrm>
              <a:off x="2319873" y="1300990"/>
              <a:ext cx="1682299" cy="1161285"/>
            </a:xfrm>
            <a:prstGeom prst="rect">
              <a:avLst/>
            </a:prstGeom>
            <a:no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8" name="Freeform 159"/>
            <p:cNvSpPr/>
            <p:nvPr/>
          </p:nvSpPr>
          <p:spPr bwMode="gray">
            <a:xfrm flipH="1">
              <a:off x="4786487" y="1605006"/>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10.3.1.0/24</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483672" y="1785859"/>
              <a:ext cx="490909" cy="401653"/>
            </a:xfrm>
            <a:prstGeom prst="rect">
              <a:avLst/>
            </a:prstGeom>
          </p:spPr>
        </p:pic>
        <p:cxnSp>
          <p:nvCxnSpPr>
            <p:cNvPr id="12" name="直接连接符 11"/>
            <p:cNvCxnSpPr>
              <a:stCxn id="4" idx="8"/>
              <a:endCxn id="3" idx="1"/>
            </p:cNvCxnSpPr>
            <p:nvPr/>
          </p:nvCxnSpPr>
          <p:spPr bwMode="gray">
            <a:xfrm>
              <a:off x="1523862" y="1985722"/>
              <a:ext cx="825166" cy="9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a:stCxn id="3" idx="3"/>
              <a:endCxn id="10" idx="1"/>
            </p:cNvCxnSpPr>
            <p:nvPr/>
          </p:nvCxnSpPr>
          <p:spPr bwMode="gray">
            <a:xfrm>
              <a:off x="2839937" y="1986686"/>
              <a:ext cx="643735"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a:stCxn id="10" idx="3"/>
              <a:endCxn id="8" idx="21"/>
            </p:cNvCxnSpPr>
            <p:nvPr/>
          </p:nvCxnSpPr>
          <p:spPr bwMode="gray">
            <a:xfrm>
              <a:off x="3974581" y="1986686"/>
              <a:ext cx="811906" cy="30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文本框 32"/>
            <p:cNvSpPr txBox="1"/>
            <p:nvPr/>
          </p:nvSpPr>
          <p:spPr bwMode="gray">
            <a:xfrm>
              <a:off x="1440817" y="1567629"/>
              <a:ext cx="955711" cy="461665"/>
            </a:xfrm>
            <a:prstGeom prst="rect">
              <a:avLst/>
            </a:prstGeom>
            <a:noFill/>
          </p:spPr>
          <p:txBody>
            <a:bodyPr wrap="none" rtlCol="0">
              <a:spAutoFit/>
            </a:bodyPr>
            <a:lstStyle/>
            <a:p>
              <a:r>
                <a:rPr lang="en-US" altLang="zh-CN" sz="1200" dirty="0" smtClean="0"/>
                <a:t>GE1/0/3</a:t>
              </a:r>
            </a:p>
            <a:p>
              <a:r>
                <a:rPr lang="en-US" altLang="zh-CN" sz="1200" dirty="0" smtClean="0"/>
                <a:t>10.3.0.1/24</a:t>
              </a:r>
              <a:endParaRPr lang="zh-CN" altLang="en-US" sz="1200" dirty="0"/>
            </a:p>
          </p:txBody>
        </p:sp>
        <p:sp>
          <p:nvSpPr>
            <p:cNvPr id="34" name="文本框 33"/>
            <p:cNvSpPr txBox="1"/>
            <p:nvPr/>
          </p:nvSpPr>
          <p:spPr bwMode="gray">
            <a:xfrm>
              <a:off x="3946989" y="1758858"/>
              <a:ext cx="955711" cy="461665"/>
            </a:xfrm>
            <a:prstGeom prst="rect">
              <a:avLst/>
            </a:prstGeom>
            <a:noFill/>
          </p:spPr>
          <p:txBody>
            <a:bodyPr wrap="none" rtlCol="0">
              <a:spAutoFit/>
            </a:bodyPr>
            <a:lstStyle/>
            <a:p>
              <a:r>
                <a:rPr lang="en-US" altLang="zh-CN" sz="1200" dirty="0" smtClean="0"/>
                <a:t>GE1/0/4</a:t>
              </a:r>
            </a:p>
            <a:p>
              <a:r>
                <a:rPr lang="en-US" altLang="zh-CN" sz="1200" dirty="0" smtClean="0"/>
                <a:t>10.3.1.1/24</a:t>
              </a:r>
              <a:endParaRPr lang="zh-CN" altLang="en-US" sz="1200" dirty="0"/>
            </a:p>
          </p:txBody>
        </p:sp>
        <p:sp>
          <p:nvSpPr>
            <p:cNvPr id="35" name="文本框 34"/>
            <p:cNvSpPr txBox="1"/>
            <p:nvPr/>
          </p:nvSpPr>
          <p:spPr bwMode="gray">
            <a:xfrm>
              <a:off x="2353907" y="2129561"/>
              <a:ext cx="486030" cy="276999"/>
            </a:xfrm>
            <a:prstGeom prst="rect">
              <a:avLst/>
            </a:prstGeom>
            <a:noFill/>
          </p:spPr>
          <p:txBody>
            <a:bodyPr wrap="none" rtlCol="0">
              <a:spAutoFit/>
            </a:bodyPr>
            <a:lstStyle/>
            <a:p>
              <a:r>
                <a:rPr lang="en-US" altLang="zh-CN" sz="1200" dirty="0" err="1" smtClean="0"/>
                <a:t>vsya</a:t>
              </a:r>
              <a:endParaRPr lang="zh-CN" altLang="en-US" sz="1200" dirty="0"/>
            </a:p>
          </p:txBody>
        </p:sp>
        <p:sp>
          <p:nvSpPr>
            <p:cNvPr id="36" name="文本框 35"/>
            <p:cNvSpPr txBox="1"/>
            <p:nvPr/>
          </p:nvSpPr>
          <p:spPr bwMode="gray">
            <a:xfrm>
              <a:off x="3483672" y="2111630"/>
              <a:ext cx="489236" cy="276999"/>
            </a:xfrm>
            <a:prstGeom prst="rect">
              <a:avLst/>
            </a:prstGeom>
            <a:noFill/>
          </p:spPr>
          <p:txBody>
            <a:bodyPr wrap="none" rtlCol="0">
              <a:spAutoFit/>
            </a:bodyPr>
            <a:lstStyle/>
            <a:p>
              <a:r>
                <a:rPr lang="en-US" altLang="zh-CN" sz="1200" dirty="0" err="1" smtClean="0"/>
                <a:t>vsyb</a:t>
              </a:r>
              <a:endParaRPr lang="zh-CN" altLang="en-US" sz="1200" dirty="0"/>
            </a:p>
          </p:txBody>
        </p:sp>
        <p:sp>
          <p:nvSpPr>
            <p:cNvPr id="45" name="文本框 44"/>
            <p:cNvSpPr txBox="1"/>
            <p:nvPr/>
          </p:nvSpPr>
          <p:spPr bwMode="gray">
            <a:xfrm>
              <a:off x="967435" y="1449388"/>
              <a:ext cx="540533" cy="276999"/>
            </a:xfrm>
            <a:prstGeom prst="rect">
              <a:avLst/>
            </a:prstGeom>
            <a:noFill/>
          </p:spPr>
          <p:txBody>
            <a:bodyPr wrap="none" rtlCol="0">
              <a:spAutoFit/>
            </a:bodyPr>
            <a:lstStyle/>
            <a:p>
              <a:r>
                <a:rPr lang="en-US" altLang="zh-CN" sz="1200" dirty="0" smtClean="0"/>
                <a:t>Trust</a:t>
              </a:r>
              <a:endParaRPr lang="zh-CN" altLang="en-US" sz="1200" dirty="0"/>
            </a:p>
          </p:txBody>
        </p:sp>
        <p:sp>
          <p:nvSpPr>
            <p:cNvPr id="47" name="文本框 46"/>
            <p:cNvSpPr txBox="1"/>
            <p:nvPr/>
          </p:nvSpPr>
          <p:spPr bwMode="gray">
            <a:xfrm>
              <a:off x="2934322" y="1461605"/>
              <a:ext cx="415498" cy="276999"/>
            </a:xfrm>
            <a:prstGeom prst="rect">
              <a:avLst/>
            </a:prstGeom>
            <a:noFill/>
          </p:spPr>
          <p:txBody>
            <a:bodyPr wrap="none" rtlCol="0">
              <a:spAutoFit/>
            </a:bodyPr>
            <a:lstStyle/>
            <a:p>
              <a:r>
                <a:rPr lang="en-US" altLang="zh-CN" sz="1200" dirty="0" smtClean="0"/>
                <a:t>FW</a:t>
              </a:r>
              <a:endParaRPr lang="zh-CN" altLang="en-US" sz="1200" dirty="0"/>
            </a:p>
          </p:txBody>
        </p:sp>
        <p:sp>
          <p:nvSpPr>
            <p:cNvPr id="59" name="文本框 58"/>
            <p:cNvSpPr txBox="1"/>
            <p:nvPr/>
          </p:nvSpPr>
          <p:spPr bwMode="gray">
            <a:xfrm>
              <a:off x="5353126" y="1449388"/>
              <a:ext cx="540533" cy="276999"/>
            </a:xfrm>
            <a:prstGeom prst="rect">
              <a:avLst/>
            </a:prstGeom>
            <a:noFill/>
          </p:spPr>
          <p:txBody>
            <a:bodyPr wrap="none" rtlCol="0">
              <a:spAutoFit/>
            </a:bodyPr>
            <a:lstStyle/>
            <a:p>
              <a:r>
                <a:rPr lang="en-US" altLang="zh-CN" sz="1200" dirty="0" smtClean="0"/>
                <a:t>Trust</a:t>
              </a:r>
              <a:endParaRPr lang="zh-CN" altLang="en-US" sz="1200" dirty="0"/>
            </a:p>
          </p:txBody>
        </p:sp>
        <p:sp>
          <p:nvSpPr>
            <p:cNvPr id="60" name="椭圆 59"/>
            <p:cNvSpPr/>
            <p:nvPr/>
          </p:nvSpPr>
          <p:spPr bwMode="gray">
            <a:xfrm>
              <a:off x="2817303" y="1908012"/>
              <a:ext cx="150112" cy="15011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椭圆 60"/>
            <p:cNvSpPr/>
            <p:nvPr/>
          </p:nvSpPr>
          <p:spPr bwMode="gray">
            <a:xfrm>
              <a:off x="3340492" y="1908012"/>
              <a:ext cx="150112" cy="15011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文本框 63"/>
            <p:cNvSpPr txBox="1"/>
            <p:nvPr/>
          </p:nvSpPr>
          <p:spPr bwMode="gray">
            <a:xfrm>
              <a:off x="4654922" y="2304543"/>
              <a:ext cx="955711" cy="276999"/>
            </a:xfrm>
            <a:prstGeom prst="rect">
              <a:avLst/>
            </a:prstGeom>
            <a:noFill/>
          </p:spPr>
          <p:txBody>
            <a:bodyPr wrap="none" rtlCol="0">
              <a:spAutoFit/>
            </a:bodyPr>
            <a:lstStyle/>
            <a:p>
              <a:r>
                <a:rPr lang="en-US" altLang="zh-CN" sz="1200" dirty="0" smtClean="0"/>
                <a:t>10.3.1.3/24</a:t>
              </a:r>
              <a:endParaRPr lang="zh-CN" altLang="en-US" sz="1200" dirty="0"/>
            </a:p>
          </p:txBody>
        </p:sp>
        <p:sp>
          <p:nvSpPr>
            <p:cNvPr id="72" name="文本框 71"/>
            <p:cNvSpPr txBox="1"/>
            <p:nvPr/>
          </p:nvSpPr>
          <p:spPr bwMode="gray">
            <a:xfrm>
              <a:off x="1076328" y="2304543"/>
              <a:ext cx="955711" cy="276999"/>
            </a:xfrm>
            <a:prstGeom prst="rect">
              <a:avLst/>
            </a:prstGeom>
            <a:noFill/>
          </p:spPr>
          <p:txBody>
            <a:bodyPr wrap="none" rtlCol="0">
              <a:spAutoFit/>
            </a:bodyPr>
            <a:lstStyle/>
            <a:p>
              <a:r>
                <a:rPr lang="en-US" altLang="zh-CN" sz="1200" dirty="0" smtClean="0"/>
                <a:t>10.3.0.3/24</a:t>
              </a:r>
              <a:endParaRPr lang="zh-CN" altLang="en-US" sz="1200" dirty="0"/>
            </a:p>
          </p:txBody>
        </p:sp>
      </p:grpSp>
      <p:pic>
        <p:nvPicPr>
          <p:cNvPr id="63" name="图片 62"/>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973950" y="2665067"/>
            <a:ext cx="310569" cy="254667"/>
          </a:xfrm>
          <a:prstGeom prst="rect">
            <a:avLst/>
          </a:prstGeom>
        </p:spPr>
      </p:pic>
      <p:sp>
        <p:nvSpPr>
          <p:cNvPr id="65" name="文本框 64"/>
          <p:cNvSpPr txBox="1"/>
          <p:nvPr/>
        </p:nvSpPr>
        <p:spPr bwMode="gray">
          <a:xfrm>
            <a:off x="6081002" y="1966606"/>
            <a:ext cx="3610284" cy="307777"/>
          </a:xfrm>
          <a:prstGeom prst="rect">
            <a:avLst/>
          </a:prstGeom>
          <a:noFill/>
        </p:spPr>
        <p:txBody>
          <a:bodyPr wrap="none" rtlCol="0">
            <a:spAutoFit/>
          </a:bodyPr>
          <a:lstStyle/>
          <a:p>
            <a:r>
              <a:rPr lang="zh-CN" altLang="en-US" sz="1400" dirty="0"/>
              <a:t>在根系统中配置</a:t>
            </a:r>
            <a:r>
              <a:rPr lang="en-US" altLang="zh-CN" sz="1400" dirty="0" err="1"/>
              <a:t>vsysa</a:t>
            </a:r>
            <a:r>
              <a:rPr lang="zh-CN" altLang="en-US" sz="1400" dirty="0"/>
              <a:t>和</a:t>
            </a:r>
            <a:r>
              <a:rPr lang="en-US" altLang="zh-CN" sz="1400" dirty="0" err="1"/>
              <a:t>vsysb</a:t>
            </a:r>
            <a:r>
              <a:rPr lang="zh-CN" altLang="en-US" sz="1400" dirty="0"/>
              <a:t>互访的路由。 </a:t>
            </a:r>
          </a:p>
        </p:txBody>
      </p:sp>
      <p:sp>
        <p:nvSpPr>
          <p:cNvPr id="66" name="文本框 65"/>
          <p:cNvSpPr txBox="1"/>
          <p:nvPr/>
        </p:nvSpPr>
        <p:spPr bwMode="gray">
          <a:xfrm>
            <a:off x="6159320" y="2427620"/>
            <a:ext cx="5197631" cy="461665"/>
          </a:xfrm>
          <a:prstGeom prst="rect">
            <a:avLst/>
          </a:prstGeom>
          <a:solidFill>
            <a:schemeClr val="bg1">
              <a:lumMod val="85000"/>
            </a:schemeClr>
          </a:solidFill>
        </p:spPr>
        <p:txBody>
          <a:bodyPr wrap="square" rtlCol="0">
            <a:spAutoFit/>
          </a:bodyPr>
          <a:lstStyle/>
          <a:p>
            <a:r>
              <a:rPr lang="en-US" altLang="zh-CN" sz="1200" dirty="0"/>
              <a:t>&lt;FW&gt; system-view</a:t>
            </a:r>
          </a:p>
          <a:p>
            <a:r>
              <a:rPr lang="en-US" altLang="zh-CN" sz="1200" dirty="0"/>
              <a:t>[FW] </a:t>
            </a:r>
            <a:r>
              <a:rPr lang="en-US" altLang="zh-CN" sz="1200" dirty="0" err="1"/>
              <a:t>ip</a:t>
            </a:r>
            <a:r>
              <a:rPr lang="en-US" altLang="zh-CN" sz="1200" dirty="0"/>
              <a:t> route-static </a:t>
            </a:r>
            <a:r>
              <a:rPr lang="en-US" altLang="zh-CN" sz="1200" dirty="0" err="1"/>
              <a:t>vpn</a:t>
            </a:r>
            <a:r>
              <a:rPr lang="en-US" altLang="zh-CN" sz="1200" dirty="0"/>
              <a:t>-instance </a:t>
            </a:r>
            <a:r>
              <a:rPr lang="en-US" altLang="zh-CN" sz="1200" dirty="0" err="1"/>
              <a:t>vsysa</a:t>
            </a:r>
            <a:r>
              <a:rPr lang="en-US" altLang="zh-CN" sz="1200" dirty="0"/>
              <a:t> 10.3.1.0 24 </a:t>
            </a:r>
            <a:r>
              <a:rPr lang="en-US" altLang="zh-CN" sz="1200" dirty="0" err="1"/>
              <a:t>vpn</a:t>
            </a:r>
            <a:r>
              <a:rPr lang="en-US" altLang="zh-CN" sz="1200" dirty="0"/>
              <a:t>-instance </a:t>
            </a:r>
            <a:r>
              <a:rPr lang="en-US" altLang="zh-CN" sz="1200" dirty="0" err="1"/>
              <a:t>vsysb</a:t>
            </a:r>
            <a:endParaRPr lang="zh-CN" altLang="en-US" sz="1200" dirty="0"/>
          </a:p>
        </p:txBody>
      </p:sp>
      <p:sp>
        <p:nvSpPr>
          <p:cNvPr id="67" name="文本框 66"/>
          <p:cNvSpPr txBox="1"/>
          <p:nvPr/>
        </p:nvSpPr>
        <p:spPr bwMode="gray">
          <a:xfrm>
            <a:off x="6106728" y="2944375"/>
            <a:ext cx="5642359" cy="738664"/>
          </a:xfrm>
          <a:prstGeom prst="rect">
            <a:avLst/>
          </a:prstGeom>
          <a:noFill/>
        </p:spPr>
        <p:txBody>
          <a:bodyPr wrap="square" rtlCol="0">
            <a:spAutoFit/>
          </a:bodyPr>
          <a:lstStyle/>
          <a:p>
            <a:r>
              <a:rPr lang="zh-CN" altLang="en-US" sz="1400" dirty="0"/>
              <a:t>为根系统的虚拟接口</a:t>
            </a:r>
            <a:r>
              <a:rPr lang="en-US" altLang="zh-CN" sz="1400" dirty="0"/>
              <a:t>Virtual-if0</a:t>
            </a:r>
            <a:r>
              <a:rPr lang="zh-CN" altLang="en-US" sz="1400" dirty="0"/>
              <a:t>配置</a:t>
            </a:r>
            <a:r>
              <a:rPr lang="en-US" altLang="zh-CN" sz="1400" dirty="0"/>
              <a:t>IP</a:t>
            </a:r>
            <a:r>
              <a:rPr lang="zh-CN" altLang="en-US" sz="1400" dirty="0"/>
              <a:t>地址，并将加入</a:t>
            </a:r>
            <a:r>
              <a:rPr lang="en-US" altLang="zh-CN" sz="1400" dirty="0"/>
              <a:t>Trust</a:t>
            </a:r>
            <a:r>
              <a:rPr lang="zh-CN" altLang="en-US" sz="1400" dirty="0"/>
              <a:t>区域。</a:t>
            </a:r>
            <a:r>
              <a:rPr lang="en-US" altLang="zh-CN" sz="1400" dirty="0"/>
              <a:t>Virtual-if0</a:t>
            </a:r>
            <a:r>
              <a:rPr lang="zh-CN" altLang="en-US" sz="1400" dirty="0"/>
              <a:t>接口上的</a:t>
            </a:r>
            <a:r>
              <a:rPr lang="en-US" altLang="zh-CN" sz="1400" dirty="0"/>
              <a:t>IP</a:t>
            </a:r>
            <a:r>
              <a:rPr lang="zh-CN" altLang="en-US" sz="1400" dirty="0"/>
              <a:t>地址可设置为任意值，保证不与其他接口上的</a:t>
            </a:r>
            <a:r>
              <a:rPr lang="en-US" altLang="zh-CN" sz="1400" dirty="0"/>
              <a:t>IP</a:t>
            </a:r>
            <a:r>
              <a:rPr lang="zh-CN" altLang="en-US" sz="1400" dirty="0"/>
              <a:t>地址冲突即可。</a:t>
            </a:r>
          </a:p>
        </p:txBody>
      </p:sp>
      <p:sp>
        <p:nvSpPr>
          <p:cNvPr id="68" name="文本框 67"/>
          <p:cNvSpPr txBox="1"/>
          <p:nvPr/>
        </p:nvSpPr>
        <p:spPr bwMode="gray">
          <a:xfrm>
            <a:off x="6159320" y="3734045"/>
            <a:ext cx="5197631" cy="1200329"/>
          </a:xfrm>
          <a:prstGeom prst="rect">
            <a:avLst/>
          </a:prstGeom>
          <a:solidFill>
            <a:schemeClr val="bg1">
              <a:lumMod val="85000"/>
            </a:schemeClr>
          </a:solidFill>
        </p:spPr>
        <p:txBody>
          <a:bodyPr wrap="square" rtlCol="0">
            <a:spAutoFit/>
          </a:bodyPr>
          <a:lstStyle/>
          <a:p>
            <a:r>
              <a:rPr lang="en-US" altLang="zh-CN" sz="1200" dirty="0"/>
              <a:t>[FW] interface Virtual-if 0</a:t>
            </a:r>
          </a:p>
          <a:p>
            <a:r>
              <a:rPr lang="en-US" altLang="zh-CN" sz="1200" dirty="0"/>
              <a:t>[FW-Virtual-if0] </a:t>
            </a:r>
            <a:r>
              <a:rPr lang="en-US" altLang="zh-CN" sz="1200" dirty="0" err="1"/>
              <a:t>ip</a:t>
            </a:r>
            <a:r>
              <a:rPr lang="en-US" altLang="zh-CN" sz="1200" dirty="0"/>
              <a:t> address 172.16.0.1 24</a:t>
            </a:r>
          </a:p>
          <a:p>
            <a:r>
              <a:rPr lang="en-US" altLang="zh-CN" sz="1200" dirty="0"/>
              <a:t>[FW-Virtual-if0] quit</a:t>
            </a:r>
          </a:p>
          <a:p>
            <a:r>
              <a:rPr lang="en-US" altLang="zh-CN" sz="1200" dirty="0"/>
              <a:t>[FW] firewall zone trust</a:t>
            </a:r>
          </a:p>
          <a:p>
            <a:r>
              <a:rPr lang="en-US" altLang="zh-CN" sz="1200" dirty="0"/>
              <a:t>[FW-zone-trust] add interface Virtual-if0</a:t>
            </a:r>
          </a:p>
          <a:p>
            <a:r>
              <a:rPr lang="en-US" altLang="zh-CN" sz="1200" dirty="0"/>
              <a:t>[FW-zone-trust] quit</a:t>
            </a:r>
            <a:endParaRPr lang="zh-CN" altLang="en-US" sz="1200" dirty="0"/>
          </a:p>
        </p:txBody>
      </p:sp>
      <p:pic>
        <p:nvPicPr>
          <p:cNvPr id="71" name="图片 70" descr="PC.png"/>
          <p:cNvPicPr>
            <a:picLocks noChangeAspect="1"/>
          </p:cNvPicPr>
          <p:nvPr/>
        </p:nvPicPr>
        <p:blipFill>
          <a:blip r:embed="rId5" cstate="print"/>
          <a:stretch>
            <a:fillRect/>
          </a:stretch>
        </p:blipFill>
        <p:spPr bwMode="gray">
          <a:xfrm>
            <a:off x="1434690" y="2681962"/>
            <a:ext cx="309600" cy="237772"/>
          </a:xfrm>
          <a:prstGeom prst="rect">
            <a:avLst/>
          </a:prstGeom>
        </p:spPr>
      </p:pic>
    </p:spTree>
    <p:extLst>
      <p:ext uri="{BB962C8B-B14F-4D97-AF65-F5344CB8AC3E}">
        <p14:creationId xmlns:p14="http://schemas.microsoft.com/office/powerpoint/2010/main" val="301910514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t>配置举例：虚拟系统间互访 </a:t>
            </a:r>
            <a:r>
              <a:rPr lang="en-US" altLang="zh-CN" smtClean="0"/>
              <a:t>(2)</a:t>
            </a:r>
            <a:endParaRPr lang="zh-CN" altLang="en-US" dirty="0"/>
          </a:p>
        </p:txBody>
      </p:sp>
      <p:sp>
        <p:nvSpPr>
          <p:cNvPr id="5" name="文本占位符 47"/>
          <p:cNvSpPr txBox="1">
            <a:spLocks/>
          </p:cNvSpPr>
          <p:nvPr/>
        </p:nvSpPr>
        <p:spPr bwMode="gray">
          <a:xfrm>
            <a:off x="466341" y="3555874"/>
            <a:ext cx="5640388" cy="2211217"/>
          </a:xfrm>
          <a:prstGeom prst="rect">
            <a:avLst/>
          </a:prstGeom>
        </p:spPr>
        <p:txBody>
          <a:bodyPr/>
          <a:lst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smtClean="0"/>
              <a:t>如图所示，</a:t>
            </a:r>
            <a:r>
              <a:rPr lang="en-US" altLang="zh-CN" sz="1400" dirty="0" err="1" smtClean="0"/>
              <a:t>vsysa</a:t>
            </a:r>
            <a:r>
              <a:rPr lang="zh-CN" altLang="en-US" sz="1400" dirty="0" smtClean="0"/>
              <a:t>中的用户要访问</a:t>
            </a:r>
            <a:r>
              <a:rPr lang="en-US" altLang="zh-CN" sz="1400" dirty="0" err="1" smtClean="0"/>
              <a:t>vsysb</a:t>
            </a:r>
            <a:r>
              <a:rPr lang="zh-CN" altLang="en-US" sz="1400" dirty="0" smtClean="0"/>
              <a:t>中的</a:t>
            </a:r>
            <a:r>
              <a:rPr lang="en-US" altLang="zh-CN" sz="1400" dirty="0" smtClean="0"/>
              <a:t>Server</a:t>
            </a:r>
            <a:r>
              <a:rPr lang="zh-CN" altLang="en-US" sz="1400" dirty="0" smtClean="0"/>
              <a:t>。</a:t>
            </a:r>
            <a:endParaRPr lang="en-US" altLang="zh-CN" sz="1400" dirty="0" smtClean="0"/>
          </a:p>
          <a:p>
            <a:r>
              <a:rPr lang="zh-CN" altLang="en-US" sz="1400" dirty="0" smtClean="0"/>
              <a:t>配置步骤如下：</a:t>
            </a:r>
            <a:endParaRPr lang="en-US" altLang="zh-CN" sz="1400" dirty="0" smtClean="0"/>
          </a:p>
          <a:p>
            <a:pPr lvl="1"/>
            <a:r>
              <a:rPr lang="zh-CN" altLang="en-US" sz="1200" dirty="0" smtClean="0">
                <a:solidFill>
                  <a:schemeClr val="bg1">
                    <a:lumMod val="50000"/>
                  </a:schemeClr>
                </a:solidFill>
              </a:rPr>
              <a:t>在根系统中配置</a:t>
            </a:r>
            <a:r>
              <a:rPr lang="en-US" altLang="zh-CN" sz="1200" dirty="0" err="1" smtClean="0">
                <a:solidFill>
                  <a:schemeClr val="bg1">
                    <a:lumMod val="50000"/>
                  </a:schemeClr>
                </a:solidFill>
              </a:rPr>
              <a:t>vsysa</a:t>
            </a:r>
            <a:r>
              <a:rPr lang="zh-CN" altLang="en-US" sz="1200" dirty="0" smtClean="0">
                <a:solidFill>
                  <a:schemeClr val="bg1">
                    <a:lumMod val="50000"/>
                  </a:schemeClr>
                </a:solidFill>
              </a:rPr>
              <a:t>和</a:t>
            </a:r>
            <a:r>
              <a:rPr lang="en-US" altLang="zh-CN" sz="1200" dirty="0" err="1" smtClean="0">
                <a:solidFill>
                  <a:schemeClr val="bg1">
                    <a:lumMod val="50000"/>
                  </a:schemeClr>
                </a:solidFill>
              </a:rPr>
              <a:t>vsysb</a:t>
            </a:r>
            <a:r>
              <a:rPr lang="zh-CN" altLang="en-US" sz="1200" dirty="0" smtClean="0">
                <a:solidFill>
                  <a:schemeClr val="bg1">
                    <a:lumMod val="50000"/>
                  </a:schemeClr>
                </a:solidFill>
              </a:rPr>
              <a:t>互访的路由。</a:t>
            </a:r>
            <a:endParaRPr lang="en-US" altLang="zh-CN" sz="1200" dirty="0" smtClean="0">
              <a:solidFill>
                <a:schemeClr val="bg1">
                  <a:lumMod val="50000"/>
                </a:schemeClr>
              </a:solidFill>
            </a:endParaRPr>
          </a:p>
          <a:p>
            <a:pPr lvl="1"/>
            <a:r>
              <a:rPr lang="zh-CN" altLang="en-US" sz="1200" b="1" dirty="0" smtClean="0"/>
              <a:t>在</a:t>
            </a:r>
            <a:r>
              <a:rPr lang="en-US" altLang="zh-CN" sz="1200" b="1" dirty="0" err="1" smtClean="0"/>
              <a:t>vsysa</a:t>
            </a:r>
            <a:r>
              <a:rPr lang="zh-CN" altLang="en-US" sz="1200" b="1" dirty="0" smtClean="0"/>
              <a:t>中配置安全策略。</a:t>
            </a:r>
            <a:endParaRPr lang="en-US" altLang="zh-CN" sz="1200" b="1" dirty="0" smtClean="0"/>
          </a:p>
          <a:p>
            <a:pPr lvl="1"/>
            <a:r>
              <a:rPr lang="zh-CN" altLang="en-US" sz="1200" dirty="0" smtClean="0">
                <a:solidFill>
                  <a:schemeClr val="bg1">
                    <a:lumMod val="50000"/>
                  </a:schemeClr>
                </a:solidFill>
              </a:rPr>
              <a:t>在</a:t>
            </a:r>
            <a:r>
              <a:rPr lang="en-US" altLang="zh-CN" sz="1200" dirty="0" err="1" smtClean="0">
                <a:solidFill>
                  <a:schemeClr val="bg1">
                    <a:lumMod val="50000"/>
                  </a:schemeClr>
                </a:solidFill>
              </a:rPr>
              <a:t>vsysb</a:t>
            </a:r>
            <a:r>
              <a:rPr lang="zh-CN" altLang="en-US" sz="1200" dirty="0" smtClean="0">
                <a:solidFill>
                  <a:schemeClr val="bg1">
                    <a:lumMod val="50000"/>
                  </a:schemeClr>
                </a:solidFill>
              </a:rPr>
              <a:t>中配置安全策略。</a:t>
            </a:r>
            <a:endParaRPr lang="en-US" altLang="zh-CN" sz="1200" dirty="0" smtClean="0">
              <a:solidFill>
                <a:schemeClr val="bg1">
                  <a:lumMod val="50000"/>
                </a:schemeClr>
              </a:solidFill>
            </a:endParaRPr>
          </a:p>
          <a:p>
            <a:pPr lvl="1"/>
            <a:endParaRPr lang="zh-CN" altLang="en-US" sz="1000" dirty="0"/>
          </a:p>
        </p:txBody>
      </p:sp>
      <p:sp>
        <p:nvSpPr>
          <p:cNvPr id="26" name="文本框 25"/>
          <p:cNvSpPr txBox="1"/>
          <p:nvPr/>
        </p:nvSpPr>
        <p:spPr bwMode="gray">
          <a:xfrm>
            <a:off x="6081001" y="1626908"/>
            <a:ext cx="5668086" cy="738664"/>
          </a:xfrm>
          <a:prstGeom prst="rect">
            <a:avLst/>
          </a:prstGeom>
          <a:noFill/>
        </p:spPr>
        <p:txBody>
          <a:bodyPr wrap="square" rtlCol="0">
            <a:spAutoFit/>
          </a:bodyPr>
          <a:lstStyle/>
          <a:p>
            <a:r>
              <a:rPr lang="zh-CN" altLang="en-US" sz="1400" dirty="0" smtClean="0"/>
              <a:t>为</a:t>
            </a:r>
            <a:r>
              <a:rPr lang="en-US" altLang="zh-CN" sz="1400" dirty="0" err="1" smtClean="0"/>
              <a:t>vsysa</a:t>
            </a:r>
            <a:r>
              <a:rPr lang="zh-CN" altLang="en-US" sz="1400" dirty="0" smtClean="0"/>
              <a:t>的虚拟接口</a:t>
            </a:r>
            <a:r>
              <a:rPr lang="en-US" altLang="zh-CN" sz="1400" dirty="0" smtClean="0"/>
              <a:t>Virtual-if1</a:t>
            </a:r>
            <a:r>
              <a:rPr lang="zh-CN" altLang="en-US" sz="1400" dirty="0" smtClean="0"/>
              <a:t>配置</a:t>
            </a:r>
            <a:r>
              <a:rPr lang="en-US" altLang="zh-CN" sz="1400" dirty="0" smtClean="0"/>
              <a:t>IP</a:t>
            </a:r>
            <a:r>
              <a:rPr lang="zh-CN" altLang="en-US" sz="1400" dirty="0" smtClean="0"/>
              <a:t>地址，并将接口加入</a:t>
            </a:r>
            <a:r>
              <a:rPr lang="en-US" altLang="zh-CN" sz="1400" dirty="0" err="1" smtClean="0"/>
              <a:t>Untrust</a:t>
            </a:r>
            <a:r>
              <a:rPr lang="zh-CN" altLang="en-US" sz="1400" dirty="0" smtClean="0"/>
              <a:t>区域。</a:t>
            </a:r>
            <a:r>
              <a:rPr lang="en-US" altLang="zh-CN" sz="1400" dirty="0" smtClean="0"/>
              <a:t>Virtual-if1</a:t>
            </a:r>
            <a:r>
              <a:rPr lang="zh-CN" altLang="en-US" sz="1400" dirty="0" smtClean="0"/>
              <a:t>接口上的</a:t>
            </a:r>
            <a:r>
              <a:rPr lang="en-US" altLang="zh-CN" sz="1400" dirty="0" smtClean="0"/>
              <a:t>IP</a:t>
            </a:r>
            <a:r>
              <a:rPr lang="zh-CN" altLang="en-US" sz="1400" dirty="0" smtClean="0"/>
              <a:t>地址可设置为任意值，保证不与其他接口上的</a:t>
            </a:r>
            <a:r>
              <a:rPr lang="en-US" altLang="zh-CN" sz="1400" dirty="0" smtClean="0"/>
              <a:t>IP</a:t>
            </a:r>
            <a:r>
              <a:rPr lang="zh-CN" altLang="en-US" sz="1400" dirty="0" smtClean="0"/>
              <a:t>地址冲突即可。</a:t>
            </a:r>
            <a:endParaRPr lang="zh-CN" altLang="en-US" sz="1400" dirty="0"/>
          </a:p>
        </p:txBody>
      </p:sp>
      <p:sp>
        <p:nvSpPr>
          <p:cNvPr id="27" name="文本框 26"/>
          <p:cNvSpPr txBox="1"/>
          <p:nvPr/>
        </p:nvSpPr>
        <p:spPr bwMode="gray">
          <a:xfrm>
            <a:off x="6155179" y="2319569"/>
            <a:ext cx="5375761" cy="1200329"/>
          </a:xfrm>
          <a:prstGeom prst="rect">
            <a:avLst/>
          </a:prstGeom>
          <a:solidFill>
            <a:schemeClr val="bg1">
              <a:lumMod val="85000"/>
            </a:schemeClr>
          </a:solidFill>
        </p:spPr>
        <p:txBody>
          <a:bodyPr wrap="square" rtlCol="0">
            <a:spAutoFit/>
          </a:bodyPr>
          <a:lstStyle/>
          <a:p>
            <a:r>
              <a:rPr lang="en-US" altLang="zh-CN" sz="1200" dirty="0"/>
              <a:t>[FW-</a:t>
            </a:r>
            <a:r>
              <a:rPr lang="en-US" altLang="zh-CN" sz="1200" dirty="0" err="1"/>
              <a:t>vsysa</a:t>
            </a:r>
            <a:r>
              <a:rPr lang="en-US" altLang="zh-CN" sz="1200" dirty="0"/>
              <a:t>] interface Virtual-if 1</a:t>
            </a:r>
          </a:p>
          <a:p>
            <a:r>
              <a:rPr lang="en-US" altLang="zh-CN" sz="1200" dirty="0"/>
              <a:t>[FW-vsysa-Virtual-if1] </a:t>
            </a:r>
            <a:r>
              <a:rPr lang="en-US" altLang="zh-CN" sz="1200" dirty="0" err="1"/>
              <a:t>ip</a:t>
            </a:r>
            <a:r>
              <a:rPr lang="en-US" altLang="zh-CN" sz="1200" dirty="0"/>
              <a:t> address 172.16.1.1 24</a:t>
            </a:r>
          </a:p>
          <a:p>
            <a:r>
              <a:rPr lang="en-US" altLang="zh-CN" sz="1200" dirty="0"/>
              <a:t>[FW-vsysa-Virtual-if1] quit</a:t>
            </a:r>
          </a:p>
          <a:p>
            <a:r>
              <a:rPr lang="en-US" altLang="zh-CN" sz="1200" dirty="0"/>
              <a:t>[FW-</a:t>
            </a:r>
            <a:r>
              <a:rPr lang="en-US" altLang="zh-CN" sz="1200" dirty="0" err="1"/>
              <a:t>vsysa</a:t>
            </a:r>
            <a:r>
              <a:rPr lang="en-US" altLang="zh-CN" sz="1200" dirty="0"/>
              <a:t>] firewall zone </a:t>
            </a:r>
            <a:r>
              <a:rPr lang="en-US" altLang="zh-CN" sz="1200" dirty="0" err="1"/>
              <a:t>untrust</a:t>
            </a:r>
            <a:endParaRPr lang="en-US" altLang="zh-CN" sz="1200" dirty="0"/>
          </a:p>
          <a:p>
            <a:r>
              <a:rPr lang="en-US" altLang="zh-CN" sz="1200" dirty="0"/>
              <a:t>[FW-</a:t>
            </a:r>
            <a:r>
              <a:rPr lang="en-US" altLang="zh-CN" sz="1200" dirty="0" err="1"/>
              <a:t>vsysa</a:t>
            </a:r>
            <a:r>
              <a:rPr lang="en-US" altLang="zh-CN" sz="1200" dirty="0"/>
              <a:t>-zone-</a:t>
            </a:r>
            <a:r>
              <a:rPr lang="en-US" altLang="zh-CN" sz="1200" dirty="0" err="1"/>
              <a:t>untrust</a:t>
            </a:r>
            <a:r>
              <a:rPr lang="en-US" altLang="zh-CN" sz="1200" dirty="0"/>
              <a:t>] add interface Virtual-if1</a:t>
            </a:r>
          </a:p>
          <a:p>
            <a:r>
              <a:rPr lang="en-US" altLang="zh-CN" sz="1200" dirty="0"/>
              <a:t>[FW-</a:t>
            </a:r>
            <a:r>
              <a:rPr lang="en-US" altLang="zh-CN" sz="1200" dirty="0" err="1"/>
              <a:t>vsysa</a:t>
            </a:r>
            <a:r>
              <a:rPr lang="en-US" altLang="zh-CN" sz="1200" dirty="0"/>
              <a:t>-zone-</a:t>
            </a:r>
            <a:r>
              <a:rPr lang="en-US" altLang="zh-CN" sz="1200" dirty="0" err="1"/>
              <a:t>untrust</a:t>
            </a:r>
            <a:r>
              <a:rPr lang="en-US" altLang="zh-CN" sz="1200" dirty="0"/>
              <a:t>] quit</a:t>
            </a:r>
            <a:endParaRPr lang="zh-CN" altLang="en-US" sz="1200" dirty="0"/>
          </a:p>
        </p:txBody>
      </p:sp>
      <p:sp>
        <p:nvSpPr>
          <p:cNvPr id="28" name="文本框 27"/>
          <p:cNvSpPr txBox="1"/>
          <p:nvPr/>
        </p:nvSpPr>
        <p:spPr bwMode="gray">
          <a:xfrm>
            <a:off x="6081001" y="3519898"/>
            <a:ext cx="5668086" cy="307777"/>
          </a:xfrm>
          <a:prstGeom prst="rect">
            <a:avLst/>
          </a:prstGeom>
          <a:noFill/>
        </p:spPr>
        <p:txBody>
          <a:bodyPr wrap="square" rtlCol="0">
            <a:spAutoFit/>
          </a:bodyPr>
          <a:lstStyle/>
          <a:p>
            <a:r>
              <a:rPr lang="zh-CN" altLang="en-US" sz="1400" dirty="0"/>
              <a:t>配置允许</a:t>
            </a:r>
            <a:r>
              <a:rPr lang="en-US" altLang="zh-CN" sz="1400" dirty="0" err="1"/>
              <a:t>vsysa</a:t>
            </a:r>
            <a:r>
              <a:rPr lang="zh-CN" altLang="en-US" sz="1400" dirty="0"/>
              <a:t>内用户访问</a:t>
            </a:r>
            <a:r>
              <a:rPr lang="en-US" altLang="zh-CN" sz="1400" dirty="0" err="1"/>
              <a:t>vsysb</a:t>
            </a:r>
            <a:r>
              <a:rPr lang="zh-CN" altLang="en-US" sz="1400" dirty="0"/>
              <a:t>内服务器的策略。</a:t>
            </a:r>
          </a:p>
        </p:txBody>
      </p:sp>
      <p:sp>
        <p:nvSpPr>
          <p:cNvPr id="29" name="文本框 28"/>
          <p:cNvSpPr txBox="1"/>
          <p:nvPr/>
        </p:nvSpPr>
        <p:spPr bwMode="gray">
          <a:xfrm>
            <a:off x="6155179" y="3832551"/>
            <a:ext cx="5375761" cy="1754326"/>
          </a:xfrm>
          <a:prstGeom prst="rect">
            <a:avLst/>
          </a:prstGeom>
          <a:solidFill>
            <a:schemeClr val="bg1">
              <a:lumMod val="85000"/>
            </a:schemeClr>
          </a:solidFill>
        </p:spPr>
        <p:txBody>
          <a:bodyPr wrap="square" rtlCol="0">
            <a:spAutoFit/>
          </a:bodyPr>
          <a:lstStyle/>
          <a:p>
            <a:r>
              <a:rPr lang="en-US" altLang="zh-CN" sz="1200" dirty="0"/>
              <a:t>[FW-</a:t>
            </a:r>
            <a:r>
              <a:rPr lang="en-US" altLang="zh-CN" sz="1200" dirty="0" err="1"/>
              <a:t>vsysa</a:t>
            </a:r>
            <a:r>
              <a:rPr lang="en-US" altLang="zh-CN" sz="1200" dirty="0"/>
              <a:t>] security-policy</a:t>
            </a:r>
          </a:p>
          <a:p>
            <a:r>
              <a:rPr lang="en-US" altLang="zh-CN" sz="1200" dirty="0"/>
              <a:t>[FW-</a:t>
            </a:r>
            <a:r>
              <a:rPr lang="en-US" altLang="zh-CN" sz="1200" dirty="0" err="1"/>
              <a:t>vsysa</a:t>
            </a:r>
            <a:r>
              <a:rPr lang="en-US" altLang="zh-CN" sz="1200" dirty="0"/>
              <a:t>-policy-security] rule name </a:t>
            </a:r>
            <a:r>
              <a:rPr lang="en-US" altLang="zh-CN" sz="1200" dirty="0" err="1"/>
              <a:t>to_server</a:t>
            </a:r>
            <a:endParaRPr lang="en-US" altLang="zh-CN" sz="1200" dirty="0"/>
          </a:p>
          <a:p>
            <a:r>
              <a:rPr lang="en-US" altLang="zh-CN" sz="1200" dirty="0"/>
              <a:t>[FW-</a:t>
            </a:r>
            <a:r>
              <a:rPr lang="en-US" altLang="zh-CN" sz="1200" dirty="0" err="1"/>
              <a:t>vsysa</a:t>
            </a:r>
            <a:r>
              <a:rPr lang="en-US" altLang="zh-CN" sz="1200" dirty="0"/>
              <a:t>-policy-security-rule-</a:t>
            </a:r>
            <a:r>
              <a:rPr lang="en-US" altLang="zh-CN" sz="1200" dirty="0" err="1"/>
              <a:t>to_internet</a:t>
            </a:r>
            <a:r>
              <a:rPr lang="en-US" altLang="zh-CN" sz="1200" dirty="0"/>
              <a:t>] source-zone trust</a:t>
            </a:r>
          </a:p>
          <a:p>
            <a:r>
              <a:rPr lang="en-US" altLang="zh-CN" sz="1200" dirty="0"/>
              <a:t>[FW-</a:t>
            </a:r>
            <a:r>
              <a:rPr lang="en-US" altLang="zh-CN" sz="1200" dirty="0" err="1"/>
              <a:t>vsysa</a:t>
            </a:r>
            <a:r>
              <a:rPr lang="en-US" altLang="zh-CN" sz="1200" dirty="0"/>
              <a:t>-policy-security-rule-</a:t>
            </a:r>
            <a:r>
              <a:rPr lang="en-US" altLang="zh-CN" sz="1200" dirty="0" err="1"/>
              <a:t>to_internet</a:t>
            </a:r>
            <a:r>
              <a:rPr lang="en-US" altLang="zh-CN" sz="1200" dirty="0"/>
              <a:t>] destination-zone </a:t>
            </a:r>
            <a:r>
              <a:rPr lang="en-US" altLang="zh-CN" sz="1200" dirty="0" err="1"/>
              <a:t>untrust</a:t>
            </a:r>
            <a:endParaRPr lang="en-US" altLang="zh-CN" sz="1200" dirty="0"/>
          </a:p>
          <a:p>
            <a:r>
              <a:rPr lang="en-US" altLang="zh-CN" sz="1200" dirty="0"/>
              <a:t>[FW-</a:t>
            </a:r>
            <a:r>
              <a:rPr lang="en-US" altLang="zh-CN" sz="1200" dirty="0" err="1"/>
              <a:t>vsysa</a:t>
            </a:r>
            <a:r>
              <a:rPr lang="en-US" altLang="zh-CN" sz="1200" dirty="0"/>
              <a:t>-policy-security-rule-</a:t>
            </a:r>
            <a:r>
              <a:rPr lang="en-US" altLang="zh-CN" sz="1200" dirty="0" err="1"/>
              <a:t>to_internet</a:t>
            </a:r>
            <a:r>
              <a:rPr lang="en-US" altLang="zh-CN" sz="1200" dirty="0"/>
              <a:t>] source-address 10.3.0.0 24</a:t>
            </a:r>
          </a:p>
          <a:p>
            <a:r>
              <a:rPr lang="en-US" altLang="zh-CN" sz="1200" dirty="0"/>
              <a:t>[FW-</a:t>
            </a:r>
            <a:r>
              <a:rPr lang="en-US" altLang="zh-CN" sz="1200" dirty="0" err="1"/>
              <a:t>vsysa</a:t>
            </a:r>
            <a:r>
              <a:rPr lang="en-US" altLang="zh-CN" sz="1200" dirty="0"/>
              <a:t>-policy-security-rule-</a:t>
            </a:r>
            <a:r>
              <a:rPr lang="en-US" altLang="zh-CN" sz="1200" dirty="0" err="1"/>
              <a:t>to_internet</a:t>
            </a:r>
            <a:r>
              <a:rPr lang="en-US" altLang="zh-CN" sz="1200" dirty="0"/>
              <a:t>] destination-address 10.3.1.3 32</a:t>
            </a:r>
          </a:p>
          <a:p>
            <a:r>
              <a:rPr lang="en-US" altLang="zh-CN" sz="1200" dirty="0"/>
              <a:t>[FW-</a:t>
            </a:r>
            <a:r>
              <a:rPr lang="en-US" altLang="zh-CN" sz="1200" dirty="0" err="1"/>
              <a:t>vsysa</a:t>
            </a:r>
            <a:r>
              <a:rPr lang="en-US" altLang="zh-CN" sz="1200" dirty="0"/>
              <a:t>-policy-security-rule-</a:t>
            </a:r>
            <a:r>
              <a:rPr lang="en-US" altLang="zh-CN" sz="1200" dirty="0" err="1"/>
              <a:t>to_internet</a:t>
            </a:r>
            <a:r>
              <a:rPr lang="en-US" altLang="zh-CN" sz="1200" dirty="0"/>
              <a:t>] action permit</a:t>
            </a:r>
          </a:p>
          <a:p>
            <a:r>
              <a:rPr lang="en-US" altLang="zh-CN" sz="1200" dirty="0"/>
              <a:t>[FW-</a:t>
            </a:r>
            <a:r>
              <a:rPr lang="en-US" altLang="zh-CN" sz="1200" dirty="0" err="1"/>
              <a:t>vsysa</a:t>
            </a:r>
            <a:r>
              <a:rPr lang="en-US" altLang="zh-CN" sz="1200" dirty="0"/>
              <a:t>-policy-security-rule-</a:t>
            </a:r>
            <a:r>
              <a:rPr lang="en-US" altLang="zh-CN" sz="1200" dirty="0" err="1"/>
              <a:t>to_internet</a:t>
            </a:r>
            <a:r>
              <a:rPr lang="en-US" altLang="zh-CN" sz="1200" dirty="0"/>
              <a:t>] quit</a:t>
            </a:r>
          </a:p>
          <a:p>
            <a:r>
              <a:rPr lang="en-US" altLang="zh-CN" sz="1200" dirty="0"/>
              <a:t>[FW-</a:t>
            </a:r>
            <a:r>
              <a:rPr lang="en-US" altLang="zh-CN" sz="1200" dirty="0" err="1"/>
              <a:t>vsysa</a:t>
            </a:r>
            <a:r>
              <a:rPr lang="en-US" altLang="zh-CN" sz="1200" dirty="0"/>
              <a:t>-policy-security] quit</a:t>
            </a:r>
            <a:endParaRPr lang="zh-CN" altLang="en-US" sz="1200" dirty="0"/>
          </a:p>
        </p:txBody>
      </p:sp>
      <p:grpSp>
        <p:nvGrpSpPr>
          <p:cNvPr id="32" name="组合 31"/>
          <p:cNvGrpSpPr/>
          <p:nvPr/>
        </p:nvGrpSpPr>
        <p:grpSpPr bwMode="gray">
          <a:xfrm>
            <a:off x="545448" y="1882881"/>
            <a:ext cx="5419461" cy="1280552"/>
            <a:chOff x="474198" y="1300990"/>
            <a:chExt cx="5419461" cy="1280552"/>
          </a:xfrm>
        </p:grpSpPr>
        <p:pic>
          <p:nvPicPr>
            <p:cNvPr id="33"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349028" y="1785859"/>
              <a:ext cx="490909" cy="401653"/>
            </a:xfrm>
            <a:prstGeom prst="rect">
              <a:avLst/>
            </a:prstGeom>
          </p:spPr>
        </p:pic>
        <p:sp>
          <p:nvSpPr>
            <p:cNvPr id="34" name="Freeform 159"/>
            <p:cNvSpPr/>
            <p:nvPr/>
          </p:nvSpPr>
          <p:spPr bwMode="gray">
            <a:xfrm flipH="1">
              <a:off x="474198" y="1611024"/>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10.3.0.0/24</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5" name="矩形 34"/>
            <p:cNvSpPr/>
            <p:nvPr/>
          </p:nvSpPr>
          <p:spPr bwMode="gray">
            <a:xfrm>
              <a:off x="2319873" y="1300990"/>
              <a:ext cx="1682299" cy="1161285"/>
            </a:xfrm>
            <a:prstGeom prst="rect">
              <a:avLst/>
            </a:prstGeom>
            <a:no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36" name="Freeform 159"/>
            <p:cNvSpPr/>
            <p:nvPr/>
          </p:nvSpPr>
          <p:spPr bwMode="gray">
            <a:xfrm flipH="1">
              <a:off x="4786487" y="1605006"/>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10.3.1.0/24</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7" name="图片 3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483672" y="1785859"/>
              <a:ext cx="490909" cy="401653"/>
            </a:xfrm>
            <a:prstGeom prst="rect">
              <a:avLst/>
            </a:prstGeom>
          </p:spPr>
        </p:pic>
        <p:cxnSp>
          <p:nvCxnSpPr>
            <p:cNvPr id="38" name="直接连接符 37"/>
            <p:cNvCxnSpPr>
              <a:stCxn id="34" idx="8"/>
              <a:endCxn id="33" idx="1"/>
            </p:cNvCxnSpPr>
            <p:nvPr/>
          </p:nvCxnSpPr>
          <p:spPr bwMode="gray">
            <a:xfrm>
              <a:off x="1523862" y="1985722"/>
              <a:ext cx="825166" cy="9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3" idx="3"/>
              <a:endCxn id="37" idx="1"/>
            </p:cNvCxnSpPr>
            <p:nvPr/>
          </p:nvCxnSpPr>
          <p:spPr bwMode="gray">
            <a:xfrm>
              <a:off x="2839937" y="1986686"/>
              <a:ext cx="643735"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a:stCxn id="37" idx="3"/>
              <a:endCxn id="36" idx="21"/>
            </p:cNvCxnSpPr>
            <p:nvPr/>
          </p:nvCxnSpPr>
          <p:spPr bwMode="gray">
            <a:xfrm>
              <a:off x="3974581" y="1986686"/>
              <a:ext cx="811906" cy="30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bwMode="gray">
            <a:xfrm>
              <a:off x="1440817" y="1567629"/>
              <a:ext cx="955711" cy="461665"/>
            </a:xfrm>
            <a:prstGeom prst="rect">
              <a:avLst/>
            </a:prstGeom>
            <a:noFill/>
          </p:spPr>
          <p:txBody>
            <a:bodyPr wrap="none" rtlCol="0">
              <a:spAutoFit/>
            </a:bodyPr>
            <a:lstStyle/>
            <a:p>
              <a:r>
                <a:rPr lang="en-US" altLang="zh-CN" sz="1200" dirty="0" smtClean="0"/>
                <a:t>GE1/0/3</a:t>
              </a:r>
            </a:p>
            <a:p>
              <a:r>
                <a:rPr lang="en-US" altLang="zh-CN" sz="1200" dirty="0" smtClean="0"/>
                <a:t>10.3.0.1/24</a:t>
              </a:r>
              <a:endParaRPr lang="zh-CN" altLang="en-US" sz="1200" dirty="0"/>
            </a:p>
          </p:txBody>
        </p:sp>
        <p:sp>
          <p:nvSpPr>
            <p:cNvPr id="42" name="文本框 41"/>
            <p:cNvSpPr txBox="1"/>
            <p:nvPr/>
          </p:nvSpPr>
          <p:spPr bwMode="gray">
            <a:xfrm>
              <a:off x="3946989" y="1758858"/>
              <a:ext cx="955711" cy="461665"/>
            </a:xfrm>
            <a:prstGeom prst="rect">
              <a:avLst/>
            </a:prstGeom>
            <a:noFill/>
          </p:spPr>
          <p:txBody>
            <a:bodyPr wrap="none" rtlCol="0">
              <a:spAutoFit/>
            </a:bodyPr>
            <a:lstStyle/>
            <a:p>
              <a:r>
                <a:rPr lang="en-US" altLang="zh-CN" sz="1200" dirty="0" smtClean="0"/>
                <a:t>GE1/0/4</a:t>
              </a:r>
            </a:p>
            <a:p>
              <a:r>
                <a:rPr lang="en-US" altLang="zh-CN" sz="1200" dirty="0" smtClean="0"/>
                <a:t>10.3.1.1/24</a:t>
              </a:r>
              <a:endParaRPr lang="zh-CN" altLang="en-US" sz="1200" dirty="0"/>
            </a:p>
          </p:txBody>
        </p:sp>
        <p:sp>
          <p:nvSpPr>
            <p:cNvPr id="43" name="文本框 42"/>
            <p:cNvSpPr txBox="1"/>
            <p:nvPr/>
          </p:nvSpPr>
          <p:spPr bwMode="gray">
            <a:xfrm>
              <a:off x="2353907" y="2129561"/>
              <a:ext cx="486030" cy="276999"/>
            </a:xfrm>
            <a:prstGeom prst="rect">
              <a:avLst/>
            </a:prstGeom>
            <a:noFill/>
          </p:spPr>
          <p:txBody>
            <a:bodyPr wrap="none" rtlCol="0">
              <a:spAutoFit/>
            </a:bodyPr>
            <a:lstStyle/>
            <a:p>
              <a:r>
                <a:rPr lang="en-US" altLang="zh-CN" sz="1200" dirty="0" err="1" smtClean="0"/>
                <a:t>vsya</a:t>
              </a:r>
              <a:endParaRPr lang="zh-CN" altLang="en-US" sz="1200" dirty="0"/>
            </a:p>
          </p:txBody>
        </p:sp>
        <p:sp>
          <p:nvSpPr>
            <p:cNvPr id="44" name="文本框 43"/>
            <p:cNvSpPr txBox="1"/>
            <p:nvPr/>
          </p:nvSpPr>
          <p:spPr bwMode="gray">
            <a:xfrm>
              <a:off x="3483672" y="2111630"/>
              <a:ext cx="489236" cy="276999"/>
            </a:xfrm>
            <a:prstGeom prst="rect">
              <a:avLst/>
            </a:prstGeom>
            <a:noFill/>
          </p:spPr>
          <p:txBody>
            <a:bodyPr wrap="none" rtlCol="0">
              <a:spAutoFit/>
            </a:bodyPr>
            <a:lstStyle/>
            <a:p>
              <a:r>
                <a:rPr lang="en-US" altLang="zh-CN" sz="1200" dirty="0" err="1" smtClean="0"/>
                <a:t>vsyb</a:t>
              </a:r>
              <a:endParaRPr lang="zh-CN" altLang="en-US" sz="1200" dirty="0"/>
            </a:p>
          </p:txBody>
        </p:sp>
        <p:sp>
          <p:nvSpPr>
            <p:cNvPr id="45" name="文本框 44"/>
            <p:cNvSpPr txBox="1"/>
            <p:nvPr/>
          </p:nvSpPr>
          <p:spPr bwMode="gray">
            <a:xfrm>
              <a:off x="967435" y="1449388"/>
              <a:ext cx="540533" cy="276999"/>
            </a:xfrm>
            <a:prstGeom prst="rect">
              <a:avLst/>
            </a:prstGeom>
            <a:noFill/>
          </p:spPr>
          <p:txBody>
            <a:bodyPr wrap="none" rtlCol="0">
              <a:spAutoFit/>
            </a:bodyPr>
            <a:lstStyle/>
            <a:p>
              <a:r>
                <a:rPr lang="en-US" altLang="zh-CN" sz="1200" dirty="0" smtClean="0"/>
                <a:t>Trust</a:t>
              </a:r>
              <a:endParaRPr lang="zh-CN" altLang="en-US" sz="1200" dirty="0"/>
            </a:p>
          </p:txBody>
        </p:sp>
        <p:sp>
          <p:nvSpPr>
            <p:cNvPr id="46" name="文本框 45"/>
            <p:cNvSpPr txBox="1"/>
            <p:nvPr/>
          </p:nvSpPr>
          <p:spPr bwMode="gray">
            <a:xfrm>
              <a:off x="2934322" y="1461605"/>
              <a:ext cx="415498" cy="276999"/>
            </a:xfrm>
            <a:prstGeom prst="rect">
              <a:avLst/>
            </a:prstGeom>
            <a:noFill/>
          </p:spPr>
          <p:txBody>
            <a:bodyPr wrap="none" rtlCol="0">
              <a:spAutoFit/>
            </a:bodyPr>
            <a:lstStyle/>
            <a:p>
              <a:r>
                <a:rPr lang="en-US" altLang="zh-CN" sz="1200" dirty="0" smtClean="0"/>
                <a:t>FW</a:t>
              </a:r>
              <a:endParaRPr lang="zh-CN" altLang="en-US" sz="1200" dirty="0"/>
            </a:p>
          </p:txBody>
        </p:sp>
        <p:sp>
          <p:nvSpPr>
            <p:cNvPr id="47" name="文本框 46"/>
            <p:cNvSpPr txBox="1"/>
            <p:nvPr/>
          </p:nvSpPr>
          <p:spPr bwMode="gray">
            <a:xfrm>
              <a:off x="5353126" y="1449388"/>
              <a:ext cx="540533" cy="276999"/>
            </a:xfrm>
            <a:prstGeom prst="rect">
              <a:avLst/>
            </a:prstGeom>
            <a:noFill/>
          </p:spPr>
          <p:txBody>
            <a:bodyPr wrap="none" rtlCol="0">
              <a:spAutoFit/>
            </a:bodyPr>
            <a:lstStyle/>
            <a:p>
              <a:r>
                <a:rPr lang="en-US" altLang="zh-CN" sz="1200" dirty="0" smtClean="0"/>
                <a:t>Trust</a:t>
              </a:r>
              <a:endParaRPr lang="zh-CN" altLang="en-US" sz="1200" dirty="0"/>
            </a:p>
          </p:txBody>
        </p:sp>
        <p:sp>
          <p:nvSpPr>
            <p:cNvPr id="48" name="椭圆 47"/>
            <p:cNvSpPr/>
            <p:nvPr/>
          </p:nvSpPr>
          <p:spPr bwMode="gray">
            <a:xfrm>
              <a:off x="2817303" y="1908012"/>
              <a:ext cx="150112" cy="15011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bwMode="gray">
            <a:xfrm>
              <a:off x="3340492" y="1908012"/>
              <a:ext cx="150112" cy="15011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p:cNvSpPr txBox="1"/>
            <p:nvPr/>
          </p:nvSpPr>
          <p:spPr bwMode="gray">
            <a:xfrm>
              <a:off x="4654922" y="2304543"/>
              <a:ext cx="955711" cy="276999"/>
            </a:xfrm>
            <a:prstGeom prst="rect">
              <a:avLst/>
            </a:prstGeom>
            <a:noFill/>
          </p:spPr>
          <p:txBody>
            <a:bodyPr wrap="none" rtlCol="0">
              <a:spAutoFit/>
            </a:bodyPr>
            <a:lstStyle/>
            <a:p>
              <a:r>
                <a:rPr lang="en-US" altLang="zh-CN" sz="1200" dirty="0" smtClean="0"/>
                <a:t>10.3.1.3/24</a:t>
              </a:r>
              <a:endParaRPr lang="zh-CN" altLang="en-US" sz="1200" dirty="0"/>
            </a:p>
          </p:txBody>
        </p:sp>
        <p:sp>
          <p:nvSpPr>
            <p:cNvPr id="51" name="文本框 50"/>
            <p:cNvSpPr txBox="1"/>
            <p:nvPr/>
          </p:nvSpPr>
          <p:spPr bwMode="gray">
            <a:xfrm>
              <a:off x="1076328" y="2304543"/>
              <a:ext cx="955711" cy="276999"/>
            </a:xfrm>
            <a:prstGeom prst="rect">
              <a:avLst/>
            </a:prstGeom>
            <a:noFill/>
          </p:spPr>
          <p:txBody>
            <a:bodyPr wrap="none" rtlCol="0">
              <a:spAutoFit/>
            </a:bodyPr>
            <a:lstStyle/>
            <a:p>
              <a:r>
                <a:rPr lang="en-US" altLang="zh-CN" sz="1200" dirty="0" smtClean="0"/>
                <a:t>10.3.0.3/24</a:t>
              </a:r>
              <a:endParaRPr lang="zh-CN" altLang="en-US" sz="1200" dirty="0"/>
            </a:p>
          </p:txBody>
        </p:sp>
      </p:grpSp>
      <p:pic>
        <p:nvPicPr>
          <p:cNvPr id="52" name="图片 51"/>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973950" y="2665067"/>
            <a:ext cx="310569" cy="254667"/>
          </a:xfrm>
          <a:prstGeom prst="rect">
            <a:avLst/>
          </a:prstGeom>
        </p:spPr>
      </p:pic>
      <p:pic>
        <p:nvPicPr>
          <p:cNvPr id="53" name="图片 52" descr="PC.png"/>
          <p:cNvPicPr>
            <a:picLocks noChangeAspect="1"/>
          </p:cNvPicPr>
          <p:nvPr/>
        </p:nvPicPr>
        <p:blipFill>
          <a:blip r:embed="rId5" cstate="print"/>
          <a:stretch>
            <a:fillRect/>
          </a:stretch>
        </p:blipFill>
        <p:spPr bwMode="gray">
          <a:xfrm>
            <a:off x="1434690" y="2681962"/>
            <a:ext cx="309600" cy="237772"/>
          </a:xfrm>
          <a:prstGeom prst="rect">
            <a:avLst/>
          </a:prstGeom>
        </p:spPr>
      </p:pic>
    </p:spTree>
    <p:extLst>
      <p:ext uri="{BB962C8B-B14F-4D97-AF65-F5344CB8AC3E}">
        <p14:creationId xmlns:p14="http://schemas.microsoft.com/office/powerpoint/2010/main" val="110242299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bwMode="gray"/>
        <p:txBody>
          <a:bodyPr/>
          <a:lstStyle/>
          <a:p>
            <a:r>
              <a:rPr lang="zh-CN" altLang="en-US" smtClean="0"/>
              <a:t>配置举例：虚拟系统间互访 </a:t>
            </a:r>
            <a:r>
              <a:rPr lang="en-US" altLang="zh-CN" smtClean="0"/>
              <a:t>(3)</a:t>
            </a:r>
            <a:endParaRPr lang="zh-CN" altLang="en-US" dirty="0"/>
          </a:p>
        </p:txBody>
      </p:sp>
      <p:sp>
        <p:nvSpPr>
          <p:cNvPr id="5" name="文本占位符 47"/>
          <p:cNvSpPr txBox="1">
            <a:spLocks/>
          </p:cNvSpPr>
          <p:nvPr/>
        </p:nvSpPr>
        <p:spPr bwMode="gray">
          <a:xfrm>
            <a:off x="466341" y="3555874"/>
            <a:ext cx="5640388" cy="2211217"/>
          </a:xfrm>
          <a:prstGeom prst="rect">
            <a:avLst/>
          </a:prstGeom>
        </p:spPr>
        <p:txBody>
          <a:bodyPr/>
          <a:lstStyle>
            <a:lvl1pPr marL="302279" indent="-302279" algn="l" defTabSz="914034" rtl="0" eaLnBrk="1" fontAlgn="base" latinLnBrk="0" hangingPunct="1">
              <a:lnSpc>
                <a:spcPct val="140000"/>
              </a:lnSpc>
              <a:spcBef>
                <a:spcPts val="792"/>
              </a:spcBef>
              <a:buSzPct val="50000"/>
              <a:buFont typeface="Wingdings" panose="05000000000000000000" pitchFamily="2" charset="2"/>
              <a:buChar char="l"/>
              <a:defRPr sz="2199" kern="1200" baseline="0">
                <a:solidFill>
                  <a:schemeClr val="tx1"/>
                </a:solidFill>
                <a:latin typeface="Huawei Sans" panose="020C0503030203020204" pitchFamily="34" charset="0"/>
                <a:ea typeface="方正兰亭黑简体" panose="02000000000000000000" pitchFamily="2" charset="-122"/>
                <a:cs typeface="+mn-cs"/>
              </a:defRPr>
            </a:lvl1pPr>
            <a:lvl2pPr marL="654938" indent="-251899" algn="l" defTabSz="914034" rtl="0" eaLnBrk="1" fontAlgn="base" latinLnBrk="0" hangingPunct="1">
              <a:lnSpc>
                <a:spcPct val="140000"/>
              </a:lnSpc>
              <a:spcBef>
                <a:spcPts val="720"/>
              </a:spcBef>
              <a:buClrTx/>
              <a:buSzPct val="50000"/>
              <a:buFont typeface="Wingdings" panose="05000000000000000000" pitchFamily="2" charset="2"/>
              <a:buChar char="p"/>
              <a:defRPr sz="1999" kern="1200" baseline="0">
                <a:solidFill>
                  <a:schemeClr val="tx1"/>
                </a:solidFill>
                <a:latin typeface="Huawei Sans" panose="020C0503030203020204" pitchFamily="34" charset="0"/>
                <a:ea typeface="方正兰亭黑简体" panose="02000000000000000000" pitchFamily="2" charset="-122"/>
                <a:cs typeface="+mn-cs"/>
              </a:defRPr>
            </a:lvl2pPr>
            <a:lvl3pPr marL="1003998" indent="-201519" algn="l" defTabSz="914034" rtl="0" eaLnBrk="1" fontAlgn="base" latinLnBrk="0" hangingPunct="1">
              <a:lnSpc>
                <a:spcPct val="140000"/>
              </a:lnSpc>
              <a:spcBef>
                <a:spcPts val="648"/>
              </a:spcBef>
              <a:buClrTx/>
              <a:buSzPct val="50000"/>
              <a:buFont typeface="Wingdings" panose="05000000000000000000" pitchFamily="2" charset="2"/>
              <a:buChar char="n"/>
              <a:defRPr sz="1799" kern="1200" baseline="0">
                <a:solidFill>
                  <a:schemeClr val="tx1"/>
                </a:solidFill>
                <a:latin typeface="Huawei Sans" panose="020C0503030203020204" pitchFamily="34" charset="0"/>
                <a:ea typeface="方正兰亭黑简体" panose="02000000000000000000" pitchFamily="2" charset="-122"/>
                <a:cs typeface="+mn-cs"/>
              </a:defRPr>
            </a:lvl3pPr>
            <a:lvl4pPr marL="1399840" indent="-197921" algn="l" defTabSz="914034" rtl="0" eaLnBrk="1" fontAlgn="base" latinLnBrk="0" hangingPunct="1">
              <a:lnSpc>
                <a:spcPct val="140000"/>
              </a:lnSpc>
              <a:spcBef>
                <a:spcPts val="576"/>
              </a:spcBef>
              <a:buFont typeface="Huawei Sans" panose="020C0503030203020204" pitchFamily="34" charset="0"/>
              <a:buChar char="−"/>
              <a:defRPr sz="1599" kern="1200" baseline="0">
                <a:solidFill>
                  <a:schemeClr val="tx1"/>
                </a:solidFill>
                <a:latin typeface="Huawei Sans" panose="020C0503030203020204" pitchFamily="34" charset="0"/>
                <a:ea typeface="方正兰亭黑简体" panose="02000000000000000000" pitchFamily="2" charset="-122"/>
                <a:cs typeface="+mn-cs"/>
              </a:defRPr>
            </a:lvl4pPr>
            <a:lvl5pPr marL="1802879" indent="-201519" algn="l" defTabSz="914034" rtl="0" eaLnBrk="1" fontAlgn="base" latinLnBrk="0" hangingPunct="1">
              <a:lnSpc>
                <a:spcPct val="140000"/>
              </a:lnSpc>
              <a:spcBef>
                <a:spcPts val="576"/>
              </a:spcBef>
              <a:buFont typeface="Huawei Sans" panose="020C0503030203020204" pitchFamily="34" charset="0"/>
              <a:buChar char="~"/>
              <a:defRPr sz="1399" kern="1200" baseline="0">
                <a:solidFill>
                  <a:schemeClr val="tx1"/>
                </a:solidFill>
                <a:latin typeface="Huawei Sans" panose="020C0503030203020204" pitchFamily="34" charset="0"/>
                <a:ea typeface="方正兰亭黑简体" panose="02000000000000000000" pitchFamily="2" charset="-122"/>
                <a:cs typeface="+mn-cs"/>
              </a:defRPr>
            </a:lvl5pPr>
            <a:lvl6pPr marL="2513594"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611"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628"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646" indent="-228509" algn="l" defTabSz="914034"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zh-CN" altLang="en-US" sz="1400" dirty="0" smtClean="0"/>
              <a:t>如图所示，</a:t>
            </a:r>
            <a:r>
              <a:rPr lang="en-US" altLang="zh-CN" sz="1400" dirty="0" err="1" smtClean="0"/>
              <a:t>vsysa</a:t>
            </a:r>
            <a:r>
              <a:rPr lang="zh-CN" altLang="en-US" sz="1400" dirty="0" smtClean="0"/>
              <a:t>中的用户要访问</a:t>
            </a:r>
            <a:r>
              <a:rPr lang="en-US" altLang="zh-CN" sz="1400" dirty="0" err="1" smtClean="0"/>
              <a:t>vsysb</a:t>
            </a:r>
            <a:r>
              <a:rPr lang="zh-CN" altLang="en-US" sz="1400" dirty="0" smtClean="0"/>
              <a:t>中的</a:t>
            </a:r>
            <a:r>
              <a:rPr lang="en-US" altLang="zh-CN" sz="1400" dirty="0" smtClean="0"/>
              <a:t>Server</a:t>
            </a:r>
            <a:r>
              <a:rPr lang="zh-CN" altLang="en-US" sz="1400" dirty="0" smtClean="0"/>
              <a:t>。</a:t>
            </a:r>
            <a:endParaRPr lang="en-US" altLang="zh-CN" sz="1400" dirty="0" smtClean="0"/>
          </a:p>
          <a:p>
            <a:r>
              <a:rPr lang="zh-CN" altLang="en-US" sz="1400" dirty="0" smtClean="0"/>
              <a:t>配置步骤如下：</a:t>
            </a:r>
            <a:endParaRPr lang="en-US" altLang="zh-CN" sz="1400" dirty="0" smtClean="0"/>
          </a:p>
          <a:p>
            <a:pPr lvl="1"/>
            <a:r>
              <a:rPr lang="zh-CN" altLang="en-US" sz="1200" dirty="0" smtClean="0">
                <a:solidFill>
                  <a:schemeClr val="bg1">
                    <a:lumMod val="50000"/>
                  </a:schemeClr>
                </a:solidFill>
              </a:rPr>
              <a:t>在根系统中配置</a:t>
            </a:r>
            <a:r>
              <a:rPr lang="en-US" altLang="zh-CN" sz="1200" dirty="0" err="1" smtClean="0">
                <a:solidFill>
                  <a:schemeClr val="bg1">
                    <a:lumMod val="50000"/>
                  </a:schemeClr>
                </a:solidFill>
              </a:rPr>
              <a:t>vsysa</a:t>
            </a:r>
            <a:r>
              <a:rPr lang="zh-CN" altLang="en-US" sz="1200" dirty="0" smtClean="0">
                <a:solidFill>
                  <a:schemeClr val="bg1">
                    <a:lumMod val="50000"/>
                  </a:schemeClr>
                </a:solidFill>
              </a:rPr>
              <a:t>和</a:t>
            </a:r>
            <a:r>
              <a:rPr lang="en-US" altLang="zh-CN" sz="1200" dirty="0" err="1" smtClean="0">
                <a:solidFill>
                  <a:schemeClr val="bg1">
                    <a:lumMod val="50000"/>
                  </a:schemeClr>
                </a:solidFill>
              </a:rPr>
              <a:t>vsysb</a:t>
            </a:r>
            <a:r>
              <a:rPr lang="zh-CN" altLang="en-US" sz="1200" dirty="0" smtClean="0">
                <a:solidFill>
                  <a:schemeClr val="bg1">
                    <a:lumMod val="50000"/>
                  </a:schemeClr>
                </a:solidFill>
              </a:rPr>
              <a:t>互访的路由。</a:t>
            </a:r>
            <a:endParaRPr lang="en-US" altLang="zh-CN" sz="1200" dirty="0" smtClean="0">
              <a:solidFill>
                <a:schemeClr val="bg1">
                  <a:lumMod val="50000"/>
                </a:schemeClr>
              </a:solidFill>
            </a:endParaRPr>
          </a:p>
          <a:p>
            <a:pPr lvl="1"/>
            <a:r>
              <a:rPr lang="zh-CN" altLang="en-US" sz="1200" dirty="0">
                <a:solidFill>
                  <a:schemeClr val="bg1">
                    <a:lumMod val="50000"/>
                  </a:schemeClr>
                </a:solidFill>
              </a:rPr>
              <a:t>在</a:t>
            </a:r>
            <a:r>
              <a:rPr lang="en-US" altLang="zh-CN" sz="1200" dirty="0" err="1">
                <a:solidFill>
                  <a:schemeClr val="bg1">
                    <a:lumMod val="50000"/>
                  </a:schemeClr>
                </a:solidFill>
              </a:rPr>
              <a:t>vsysa</a:t>
            </a:r>
            <a:r>
              <a:rPr lang="zh-CN" altLang="en-US" sz="1200" dirty="0">
                <a:solidFill>
                  <a:schemeClr val="bg1">
                    <a:lumMod val="50000"/>
                  </a:schemeClr>
                </a:solidFill>
              </a:rPr>
              <a:t>中配置安全策略。</a:t>
            </a:r>
            <a:endParaRPr lang="en-US" altLang="zh-CN" sz="1200" dirty="0">
              <a:solidFill>
                <a:schemeClr val="bg1">
                  <a:lumMod val="50000"/>
                </a:schemeClr>
              </a:solidFill>
            </a:endParaRPr>
          </a:p>
          <a:p>
            <a:pPr lvl="1"/>
            <a:r>
              <a:rPr lang="zh-CN" altLang="en-US" sz="1200" b="1" dirty="0"/>
              <a:t>在</a:t>
            </a:r>
            <a:r>
              <a:rPr lang="en-US" altLang="zh-CN" sz="1200" b="1" dirty="0" err="1"/>
              <a:t>vsysb</a:t>
            </a:r>
            <a:r>
              <a:rPr lang="zh-CN" altLang="en-US" sz="1200" b="1" dirty="0"/>
              <a:t>中配置安全策略。</a:t>
            </a:r>
            <a:endParaRPr lang="en-US" altLang="zh-CN" sz="1200" b="1" dirty="0"/>
          </a:p>
          <a:p>
            <a:pPr lvl="1"/>
            <a:endParaRPr lang="zh-CN" altLang="en-US" sz="1000" dirty="0"/>
          </a:p>
        </p:txBody>
      </p:sp>
      <p:sp>
        <p:nvSpPr>
          <p:cNvPr id="26" name="文本框 25"/>
          <p:cNvSpPr txBox="1"/>
          <p:nvPr/>
        </p:nvSpPr>
        <p:spPr bwMode="gray">
          <a:xfrm>
            <a:off x="6081001" y="973767"/>
            <a:ext cx="5668086" cy="738664"/>
          </a:xfrm>
          <a:prstGeom prst="rect">
            <a:avLst/>
          </a:prstGeom>
          <a:noFill/>
        </p:spPr>
        <p:txBody>
          <a:bodyPr wrap="square" rtlCol="0">
            <a:spAutoFit/>
          </a:bodyPr>
          <a:lstStyle/>
          <a:p>
            <a:r>
              <a:rPr lang="zh-CN" altLang="en-US" sz="1400" dirty="0"/>
              <a:t>为</a:t>
            </a:r>
            <a:r>
              <a:rPr lang="en-US" altLang="zh-CN" sz="1400" dirty="0" err="1"/>
              <a:t>vsysb</a:t>
            </a:r>
            <a:r>
              <a:rPr lang="zh-CN" altLang="en-US" sz="1400" dirty="0"/>
              <a:t>的虚拟接口</a:t>
            </a:r>
            <a:r>
              <a:rPr lang="en-US" altLang="zh-CN" sz="1400" dirty="0"/>
              <a:t>Virtual-if2</a:t>
            </a:r>
            <a:r>
              <a:rPr lang="zh-CN" altLang="en-US" sz="1400" dirty="0"/>
              <a:t>配置</a:t>
            </a:r>
            <a:r>
              <a:rPr lang="en-US" altLang="zh-CN" sz="1400" dirty="0"/>
              <a:t>IP</a:t>
            </a:r>
            <a:r>
              <a:rPr lang="zh-CN" altLang="en-US" sz="1400" dirty="0"/>
              <a:t>地址，并将接口加入</a:t>
            </a:r>
            <a:r>
              <a:rPr lang="en-US" altLang="zh-CN" sz="1400" dirty="0" err="1"/>
              <a:t>Untrust</a:t>
            </a:r>
            <a:r>
              <a:rPr lang="zh-CN" altLang="en-US" sz="1400" dirty="0"/>
              <a:t>区域。</a:t>
            </a:r>
            <a:r>
              <a:rPr lang="en-US" altLang="zh-CN" sz="1400" dirty="0"/>
              <a:t>Virtual-if2</a:t>
            </a:r>
            <a:r>
              <a:rPr lang="zh-CN" altLang="en-US" sz="1400" dirty="0"/>
              <a:t>接口上的</a:t>
            </a:r>
            <a:r>
              <a:rPr lang="en-US" altLang="zh-CN" sz="1400" dirty="0"/>
              <a:t>IP</a:t>
            </a:r>
            <a:r>
              <a:rPr lang="zh-CN" altLang="en-US" sz="1400" dirty="0"/>
              <a:t>地址可设置为任意值，保证不与其他接口上的</a:t>
            </a:r>
            <a:r>
              <a:rPr lang="en-US" altLang="zh-CN" sz="1400" dirty="0"/>
              <a:t>IP</a:t>
            </a:r>
            <a:r>
              <a:rPr lang="zh-CN" altLang="en-US" sz="1400" dirty="0"/>
              <a:t>地址冲突即可。</a:t>
            </a:r>
          </a:p>
        </p:txBody>
      </p:sp>
      <p:sp>
        <p:nvSpPr>
          <p:cNvPr id="27" name="文本框 26"/>
          <p:cNvSpPr txBox="1"/>
          <p:nvPr/>
        </p:nvSpPr>
        <p:spPr bwMode="gray">
          <a:xfrm>
            <a:off x="6155179" y="1666428"/>
            <a:ext cx="5375761" cy="1200329"/>
          </a:xfrm>
          <a:prstGeom prst="rect">
            <a:avLst/>
          </a:prstGeom>
          <a:solidFill>
            <a:schemeClr val="bg1">
              <a:lumMod val="85000"/>
            </a:schemeClr>
          </a:solidFill>
        </p:spPr>
        <p:txBody>
          <a:bodyPr wrap="square" rtlCol="0">
            <a:spAutoFit/>
          </a:bodyPr>
          <a:lstStyle/>
          <a:p>
            <a:r>
              <a:rPr lang="en-US" altLang="zh-CN" sz="1200" dirty="0"/>
              <a:t>[FW-</a:t>
            </a:r>
            <a:r>
              <a:rPr lang="en-US" altLang="zh-CN" sz="1200" dirty="0" err="1"/>
              <a:t>vsysb</a:t>
            </a:r>
            <a:r>
              <a:rPr lang="en-US" altLang="zh-CN" sz="1200" dirty="0"/>
              <a:t>] interface Virtual-if 2</a:t>
            </a:r>
          </a:p>
          <a:p>
            <a:r>
              <a:rPr lang="en-US" altLang="zh-CN" sz="1200" dirty="0"/>
              <a:t>[FW-vsysb-Virtual-if1] </a:t>
            </a:r>
            <a:r>
              <a:rPr lang="en-US" altLang="zh-CN" sz="1200" dirty="0" err="1"/>
              <a:t>ip</a:t>
            </a:r>
            <a:r>
              <a:rPr lang="en-US" altLang="zh-CN" sz="1200" dirty="0"/>
              <a:t> address 172.16.2.1 24</a:t>
            </a:r>
          </a:p>
          <a:p>
            <a:r>
              <a:rPr lang="en-US" altLang="zh-CN" sz="1200" dirty="0"/>
              <a:t>[FW-vsysb-Virtual-if1] quit</a:t>
            </a:r>
          </a:p>
          <a:p>
            <a:r>
              <a:rPr lang="en-US" altLang="zh-CN" sz="1200" dirty="0"/>
              <a:t>[FW-</a:t>
            </a:r>
            <a:r>
              <a:rPr lang="en-US" altLang="zh-CN" sz="1200" dirty="0" err="1"/>
              <a:t>vsysb</a:t>
            </a:r>
            <a:r>
              <a:rPr lang="en-US" altLang="zh-CN" sz="1200" dirty="0"/>
              <a:t>] firewall zone </a:t>
            </a:r>
            <a:r>
              <a:rPr lang="en-US" altLang="zh-CN" sz="1200" dirty="0" err="1"/>
              <a:t>untrust</a:t>
            </a:r>
            <a:endParaRPr lang="en-US" altLang="zh-CN" sz="1200" dirty="0"/>
          </a:p>
          <a:p>
            <a:r>
              <a:rPr lang="en-US" altLang="zh-CN" sz="1200" dirty="0"/>
              <a:t>[FW-</a:t>
            </a:r>
            <a:r>
              <a:rPr lang="en-US" altLang="zh-CN" sz="1200" dirty="0" err="1"/>
              <a:t>vsysb</a:t>
            </a:r>
            <a:r>
              <a:rPr lang="en-US" altLang="zh-CN" sz="1200" dirty="0"/>
              <a:t>-zone-</a:t>
            </a:r>
            <a:r>
              <a:rPr lang="en-US" altLang="zh-CN" sz="1200" dirty="0" err="1"/>
              <a:t>untrust</a:t>
            </a:r>
            <a:r>
              <a:rPr lang="en-US" altLang="zh-CN" sz="1200" dirty="0"/>
              <a:t>] add interface Virtual-if2</a:t>
            </a:r>
          </a:p>
          <a:p>
            <a:r>
              <a:rPr lang="en-US" altLang="zh-CN" sz="1200" dirty="0"/>
              <a:t>[FW-</a:t>
            </a:r>
            <a:r>
              <a:rPr lang="en-US" altLang="zh-CN" sz="1200" dirty="0" err="1"/>
              <a:t>vsysb</a:t>
            </a:r>
            <a:r>
              <a:rPr lang="en-US" altLang="zh-CN" sz="1200" dirty="0"/>
              <a:t>-zone-</a:t>
            </a:r>
            <a:r>
              <a:rPr lang="en-US" altLang="zh-CN" sz="1200" dirty="0" err="1"/>
              <a:t>untrust</a:t>
            </a:r>
            <a:r>
              <a:rPr lang="en-US" altLang="zh-CN" sz="1200" dirty="0"/>
              <a:t>] quit</a:t>
            </a:r>
            <a:endParaRPr lang="zh-CN" altLang="en-US" sz="1200" dirty="0"/>
          </a:p>
        </p:txBody>
      </p:sp>
      <p:sp>
        <p:nvSpPr>
          <p:cNvPr id="28" name="文本框 27"/>
          <p:cNvSpPr txBox="1"/>
          <p:nvPr/>
        </p:nvSpPr>
        <p:spPr bwMode="gray">
          <a:xfrm>
            <a:off x="6081001" y="2866757"/>
            <a:ext cx="5668086" cy="307777"/>
          </a:xfrm>
          <a:prstGeom prst="rect">
            <a:avLst/>
          </a:prstGeom>
          <a:noFill/>
        </p:spPr>
        <p:txBody>
          <a:bodyPr wrap="square" rtlCol="0">
            <a:spAutoFit/>
          </a:bodyPr>
          <a:lstStyle/>
          <a:p>
            <a:r>
              <a:rPr lang="zh-CN" altLang="en-US" sz="1400" dirty="0"/>
              <a:t>配置允许</a:t>
            </a:r>
            <a:r>
              <a:rPr lang="en-US" altLang="zh-CN" sz="1400" dirty="0" err="1"/>
              <a:t>vsysa</a:t>
            </a:r>
            <a:r>
              <a:rPr lang="zh-CN" altLang="en-US" sz="1400" dirty="0"/>
              <a:t>内用户访问</a:t>
            </a:r>
            <a:r>
              <a:rPr lang="en-US" altLang="zh-CN" sz="1400" dirty="0" err="1"/>
              <a:t>vsysb</a:t>
            </a:r>
            <a:r>
              <a:rPr lang="zh-CN" altLang="en-US" sz="1400" dirty="0"/>
              <a:t>内服务器的策略。</a:t>
            </a:r>
          </a:p>
        </p:txBody>
      </p:sp>
      <p:sp>
        <p:nvSpPr>
          <p:cNvPr id="29" name="文本框 28"/>
          <p:cNvSpPr txBox="1"/>
          <p:nvPr/>
        </p:nvSpPr>
        <p:spPr bwMode="gray">
          <a:xfrm>
            <a:off x="6155179" y="3179410"/>
            <a:ext cx="5375761" cy="1938992"/>
          </a:xfrm>
          <a:prstGeom prst="rect">
            <a:avLst/>
          </a:prstGeom>
          <a:solidFill>
            <a:schemeClr val="bg1">
              <a:lumMod val="85000"/>
            </a:schemeClr>
          </a:solidFill>
        </p:spPr>
        <p:txBody>
          <a:bodyPr wrap="square" rtlCol="0">
            <a:spAutoFit/>
          </a:bodyPr>
          <a:lstStyle/>
          <a:p>
            <a:r>
              <a:rPr lang="en-US" altLang="zh-CN" sz="1200" dirty="0"/>
              <a:t>[FW-</a:t>
            </a:r>
            <a:r>
              <a:rPr lang="en-US" altLang="zh-CN" sz="1200" dirty="0" err="1"/>
              <a:t>vsysb</a:t>
            </a:r>
            <a:r>
              <a:rPr lang="en-US" altLang="zh-CN" sz="1200" dirty="0"/>
              <a:t>] security-policy</a:t>
            </a:r>
          </a:p>
          <a:p>
            <a:r>
              <a:rPr lang="en-US" altLang="zh-CN" sz="1200" dirty="0"/>
              <a:t>[FW-</a:t>
            </a:r>
            <a:r>
              <a:rPr lang="en-US" altLang="zh-CN" sz="1200" dirty="0" err="1"/>
              <a:t>vsysb</a:t>
            </a:r>
            <a:r>
              <a:rPr lang="en-US" altLang="zh-CN" sz="1200" dirty="0"/>
              <a:t>-policy-security] rule name </a:t>
            </a:r>
            <a:r>
              <a:rPr lang="en-US" altLang="zh-CN" sz="1200" dirty="0" err="1"/>
              <a:t>vsysa_to_server</a:t>
            </a:r>
            <a:endParaRPr lang="en-US" altLang="zh-CN" sz="1200" dirty="0"/>
          </a:p>
          <a:p>
            <a:r>
              <a:rPr lang="en-US" altLang="zh-CN" sz="1200" dirty="0"/>
              <a:t>[FW-</a:t>
            </a:r>
            <a:r>
              <a:rPr lang="en-US" altLang="zh-CN" sz="1200" dirty="0" err="1"/>
              <a:t>vsysb</a:t>
            </a:r>
            <a:r>
              <a:rPr lang="en-US" altLang="zh-CN" sz="1200" dirty="0"/>
              <a:t>-policy-security-rule-</a:t>
            </a:r>
            <a:r>
              <a:rPr lang="en-US" altLang="zh-CN" sz="1200" dirty="0" err="1"/>
              <a:t>vsysa_to_vsysb</a:t>
            </a:r>
            <a:r>
              <a:rPr lang="en-US" altLang="zh-CN" sz="1200" dirty="0"/>
              <a:t>] source-zone </a:t>
            </a:r>
            <a:r>
              <a:rPr lang="en-US" altLang="zh-CN" sz="1200" dirty="0" err="1"/>
              <a:t>untrust</a:t>
            </a:r>
            <a:endParaRPr lang="en-US" altLang="zh-CN" sz="1200" dirty="0"/>
          </a:p>
          <a:p>
            <a:r>
              <a:rPr lang="en-US" altLang="zh-CN" sz="1200" dirty="0"/>
              <a:t>[FW-</a:t>
            </a:r>
            <a:r>
              <a:rPr lang="en-US" altLang="zh-CN" sz="1200" dirty="0" err="1"/>
              <a:t>vsysb</a:t>
            </a:r>
            <a:r>
              <a:rPr lang="en-US" altLang="zh-CN" sz="1200" dirty="0"/>
              <a:t>-policy-security-rule-</a:t>
            </a:r>
            <a:r>
              <a:rPr lang="en-US" altLang="zh-CN" sz="1200" dirty="0" err="1"/>
              <a:t>vsysa_to_vsysb</a:t>
            </a:r>
            <a:r>
              <a:rPr lang="en-US" altLang="zh-CN" sz="1200" dirty="0"/>
              <a:t>] destination-zone trust</a:t>
            </a:r>
          </a:p>
          <a:p>
            <a:r>
              <a:rPr lang="en-US" altLang="zh-CN" sz="1200" dirty="0"/>
              <a:t>[FW-</a:t>
            </a:r>
            <a:r>
              <a:rPr lang="en-US" altLang="zh-CN" sz="1200" dirty="0" err="1"/>
              <a:t>vsysb</a:t>
            </a:r>
            <a:r>
              <a:rPr lang="en-US" altLang="zh-CN" sz="1200" dirty="0"/>
              <a:t>-policy-security-rule-</a:t>
            </a:r>
            <a:r>
              <a:rPr lang="en-US" altLang="zh-CN" sz="1200" dirty="0" err="1"/>
              <a:t>vsysa_to_vsysb</a:t>
            </a:r>
            <a:r>
              <a:rPr lang="en-US" altLang="zh-CN" sz="1200" dirty="0"/>
              <a:t>] source-address 10.3.0.0 24</a:t>
            </a:r>
          </a:p>
          <a:p>
            <a:r>
              <a:rPr lang="en-US" altLang="zh-CN" sz="1200" dirty="0"/>
              <a:t>[FW-</a:t>
            </a:r>
            <a:r>
              <a:rPr lang="en-US" altLang="zh-CN" sz="1200" dirty="0" err="1"/>
              <a:t>vsysb</a:t>
            </a:r>
            <a:r>
              <a:rPr lang="en-US" altLang="zh-CN" sz="1200" dirty="0"/>
              <a:t>-policy-security-rule-</a:t>
            </a:r>
            <a:r>
              <a:rPr lang="en-US" altLang="zh-CN" sz="1200" dirty="0" err="1"/>
              <a:t>vsysa_to_vsysb</a:t>
            </a:r>
            <a:r>
              <a:rPr lang="en-US" altLang="zh-CN" sz="1200" dirty="0"/>
              <a:t>] destination-address 10.3.1.3 32</a:t>
            </a:r>
          </a:p>
          <a:p>
            <a:r>
              <a:rPr lang="en-US" altLang="zh-CN" sz="1200" dirty="0"/>
              <a:t>[FW-</a:t>
            </a:r>
            <a:r>
              <a:rPr lang="en-US" altLang="zh-CN" sz="1200" dirty="0" err="1"/>
              <a:t>vsysb</a:t>
            </a:r>
            <a:r>
              <a:rPr lang="en-US" altLang="zh-CN" sz="1200" dirty="0"/>
              <a:t>-policy-security-rule-</a:t>
            </a:r>
            <a:r>
              <a:rPr lang="en-US" altLang="zh-CN" sz="1200" dirty="0" err="1"/>
              <a:t>vsysa_to_vsysb</a:t>
            </a:r>
            <a:r>
              <a:rPr lang="en-US" altLang="zh-CN" sz="1200" dirty="0"/>
              <a:t>] action permit</a:t>
            </a:r>
          </a:p>
          <a:p>
            <a:r>
              <a:rPr lang="en-US" altLang="zh-CN" sz="1200" dirty="0"/>
              <a:t>[FW-</a:t>
            </a:r>
            <a:r>
              <a:rPr lang="en-US" altLang="zh-CN" sz="1200" dirty="0" err="1"/>
              <a:t>vsysb</a:t>
            </a:r>
            <a:r>
              <a:rPr lang="en-US" altLang="zh-CN" sz="1200" dirty="0"/>
              <a:t>-policy-security-rule-</a:t>
            </a:r>
            <a:r>
              <a:rPr lang="en-US" altLang="zh-CN" sz="1200" dirty="0" err="1"/>
              <a:t>vsysa_to_vsysb</a:t>
            </a:r>
            <a:r>
              <a:rPr lang="en-US" altLang="zh-CN" sz="1200" dirty="0"/>
              <a:t>] quit</a:t>
            </a:r>
          </a:p>
          <a:p>
            <a:r>
              <a:rPr lang="en-US" altLang="zh-CN" sz="1200" dirty="0"/>
              <a:t>[FW-</a:t>
            </a:r>
            <a:r>
              <a:rPr lang="en-US" altLang="zh-CN" sz="1200" dirty="0" err="1"/>
              <a:t>vsysb</a:t>
            </a:r>
            <a:r>
              <a:rPr lang="en-US" altLang="zh-CN" sz="1200" dirty="0"/>
              <a:t>-policy-security] quit</a:t>
            </a:r>
            <a:endParaRPr lang="zh-CN" altLang="en-US" sz="1200" dirty="0"/>
          </a:p>
        </p:txBody>
      </p:sp>
      <p:sp>
        <p:nvSpPr>
          <p:cNvPr id="30" name="文本框 29"/>
          <p:cNvSpPr txBox="1"/>
          <p:nvPr/>
        </p:nvSpPr>
        <p:spPr bwMode="gray">
          <a:xfrm>
            <a:off x="6081001" y="5170291"/>
            <a:ext cx="5668086" cy="307777"/>
          </a:xfrm>
          <a:prstGeom prst="rect">
            <a:avLst/>
          </a:prstGeom>
          <a:noFill/>
        </p:spPr>
        <p:txBody>
          <a:bodyPr wrap="square" rtlCol="0">
            <a:spAutoFit/>
          </a:bodyPr>
          <a:lstStyle/>
          <a:p>
            <a:r>
              <a:rPr lang="zh-CN" altLang="en-US" sz="1400" dirty="0" smtClean="0"/>
              <a:t>配置验证。</a:t>
            </a:r>
            <a:endParaRPr lang="zh-CN" altLang="en-US" sz="1400" dirty="0"/>
          </a:p>
        </p:txBody>
      </p:sp>
      <p:grpSp>
        <p:nvGrpSpPr>
          <p:cNvPr id="31" name="组合 30"/>
          <p:cNvGrpSpPr/>
          <p:nvPr/>
        </p:nvGrpSpPr>
        <p:grpSpPr bwMode="gray">
          <a:xfrm>
            <a:off x="545448" y="1882881"/>
            <a:ext cx="5419461" cy="1280552"/>
            <a:chOff x="474198" y="1300990"/>
            <a:chExt cx="5419461" cy="1280552"/>
          </a:xfrm>
        </p:grpSpPr>
        <p:pic>
          <p:nvPicPr>
            <p:cNvPr id="32"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2349028" y="1785859"/>
              <a:ext cx="490909" cy="401653"/>
            </a:xfrm>
            <a:prstGeom prst="rect">
              <a:avLst/>
            </a:prstGeom>
          </p:spPr>
        </p:pic>
        <p:sp>
          <p:nvSpPr>
            <p:cNvPr id="33" name="Freeform 159"/>
            <p:cNvSpPr/>
            <p:nvPr/>
          </p:nvSpPr>
          <p:spPr bwMode="gray">
            <a:xfrm flipH="1">
              <a:off x="474198" y="1611024"/>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10.3.0.0/24</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sp>
          <p:nvSpPr>
            <p:cNvPr id="34" name="矩形 33"/>
            <p:cNvSpPr/>
            <p:nvPr/>
          </p:nvSpPr>
          <p:spPr bwMode="gray">
            <a:xfrm>
              <a:off x="2319873" y="1300990"/>
              <a:ext cx="1682299" cy="1161285"/>
            </a:xfrm>
            <a:prstGeom prst="rect">
              <a:avLst/>
            </a:prstGeom>
            <a:noFill/>
            <a:ln w="12700" cap="flat" cmpd="sng" algn="ctr">
              <a:solidFill>
                <a:srgbClr val="99DFF9"/>
              </a:solidFill>
              <a:prstDash val="sysDash"/>
              <a:miter lim="800000"/>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a:endParaRPr lang="zh-CN" altLang="en-US" sz="1600" kern="0">
                <a:solidFill>
                  <a:srgbClr val="1D1D1A"/>
                </a:solidFill>
                <a:latin typeface="Huawei Sans" panose="020C0503030203020204" pitchFamily="34" charset="0"/>
                <a:ea typeface="方正兰亭黑简体" panose="02000000000000000000" pitchFamily="2" charset="-122"/>
              </a:endParaRPr>
            </a:p>
          </p:txBody>
        </p:sp>
        <p:sp>
          <p:nvSpPr>
            <p:cNvPr id="35" name="Freeform 159"/>
            <p:cNvSpPr/>
            <p:nvPr/>
          </p:nvSpPr>
          <p:spPr bwMode="gray">
            <a:xfrm flipH="1">
              <a:off x="4786487" y="1605006"/>
              <a:ext cx="1049664" cy="548690"/>
            </a:xfrm>
            <a:custGeom>
              <a:avLst/>
              <a:gdLst>
                <a:gd name="connsiteX0" fmla="*/ 2693983 w 4431601"/>
                <a:gd name="connsiteY0" fmla="*/ 0 h 2316519"/>
                <a:gd name="connsiteX1" fmla="*/ 1918242 w 4431601"/>
                <a:gd name="connsiteY1" fmla="*/ 324162 h 2316519"/>
                <a:gd name="connsiteX2" fmla="*/ 1859647 w 4431601"/>
                <a:gd name="connsiteY2" fmla="*/ 395807 h 2316519"/>
                <a:gd name="connsiteX3" fmla="*/ 1815580 w 4431601"/>
                <a:gd name="connsiteY3" fmla="*/ 362462 h 2316519"/>
                <a:gd name="connsiteX4" fmla="*/ 1347603 w 4431601"/>
                <a:gd name="connsiteY4" fmla="*/ 231362 h 2316519"/>
                <a:gd name="connsiteX5" fmla="*/ 527605 w 4431601"/>
                <a:gd name="connsiteY5" fmla="*/ 844290 h 2316519"/>
                <a:gd name="connsiteX6" fmla="*/ 523639 w 4431601"/>
                <a:gd name="connsiteY6" fmla="*/ 880372 h 2316519"/>
                <a:gd name="connsiteX7" fmla="*/ 444716 w 4431601"/>
                <a:gd name="connsiteY7" fmla="*/ 905088 h 2316519"/>
                <a:gd name="connsiteX8" fmla="*/ 0 w 4431601"/>
                <a:gd name="connsiteY8" fmla="*/ 1581940 h 2316519"/>
                <a:gd name="connsiteX9" fmla="*/ 653694 w 4431601"/>
                <a:gd name="connsiteY9" fmla="*/ 2312727 h 2316519"/>
                <a:gd name="connsiteX10" fmla="*/ 653931 w 4431601"/>
                <a:gd name="connsiteY10" fmla="*/ 2312739 h 2316519"/>
                <a:gd name="connsiteX11" fmla="*/ 653931 w 4431601"/>
                <a:gd name="connsiteY11" fmla="*/ 2316518 h 2316519"/>
                <a:gd name="connsiteX12" fmla="*/ 728123 w 4431601"/>
                <a:gd name="connsiteY12" fmla="*/ 2316518 h 2316519"/>
                <a:gd name="connsiteX13" fmla="*/ 728142 w 4431601"/>
                <a:gd name="connsiteY13" fmla="*/ 2316519 h 2316519"/>
                <a:gd name="connsiteX14" fmla="*/ 728162 w 4431601"/>
                <a:gd name="connsiteY14" fmla="*/ 2316518 h 2316519"/>
                <a:gd name="connsiteX15" fmla="*/ 3745239 w 4431601"/>
                <a:gd name="connsiteY15" fmla="*/ 2316518 h 2316519"/>
                <a:gd name="connsiteX16" fmla="*/ 3745249 w 4431601"/>
                <a:gd name="connsiteY16" fmla="*/ 2316519 h 2316519"/>
                <a:gd name="connsiteX17" fmla="*/ 3745259 w 4431601"/>
                <a:gd name="connsiteY17" fmla="*/ 2316518 h 2316519"/>
                <a:gd name="connsiteX18" fmla="*/ 3788771 w 4431601"/>
                <a:gd name="connsiteY18" fmla="*/ 2316518 h 2316519"/>
                <a:gd name="connsiteX19" fmla="*/ 3788771 w 4431601"/>
                <a:gd name="connsiteY19" fmla="*/ 2312093 h 2316519"/>
                <a:gd name="connsiteX20" fmla="*/ 3883573 w 4431601"/>
                <a:gd name="connsiteY20" fmla="*/ 2302452 h 2316519"/>
                <a:gd name="connsiteX21" fmla="*/ 4431601 w 4431601"/>
                <a:gd name="connsiteY21" fmla="*/ 1624103 h 2316519"/>
                <a:gd name="connsiteX22" fmla="*/ 3883573 w 4431601"/>
                <a:gd name="connsiteY22" fmla="*/ 945754 h 2316519"/>
                <a:gd name="connsiteX23" fmla="*/ 3773844 w 4431601"/>
                <a:gd name="connsiteY23" fmla="*/ 934595 h 2316519"/>
                <a:gd name="connsiteX24" fmla="*/ 3768759 w 4431601"/>
                <a:gd name="connsiteY24" fmla="*/ 883707 h 2316519"/>
                <a:gd name="connsiteX25" fmla="*/ 2693983 w 4431601"/>
                <a:gd name="connsiteY25" fmla="*/ 0 h 2316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431601" h="2316519">
                  <a:moveTo>
                    <a:pt x="2693983" y="0"/>
                  </a:moveTo>
                  <a:cubicBezTo>
                    <a:pt x="2391037" y="0"/>
                    <a:pt x="2116771" y="123878"/>
                    <a:pt x="1918242" y="324162"/>
                  </a:cubicBezTo>
                  <a:lnTo>
                    <a:pt x="1859647" y="395807"/>
                  </a:lnTo>
                  <a:lnTo>
                    <a:pt x="1815580" y="362462"/>
                  </a:lnTo>
                  <a:cubicBezTo>
                    <a:pt x="1681993" y="279692"/>
                    <a:pt x="1520952" y="231362"/>
                    <a:pt x="1347603" y="231362"/>
                  </a:cubicBezTo>
                  <a:cubicBezTo>
                    <a:pt x="943122" y="231362"/>
                    <a:pt x="605652" y="494493"/>
                    <a:pt x="527605" y="844290"/>
                  </a:cubicBezTo>
                  <a:lnTo>
                    <a:pt x="523639" y="880372"/>
                  </a:lnTo>
                  <a:lnTo>
                    <a:pt x="444716" y="905088"/>
                  </a:lnTo>
                  <a:cubicBezTo>
                    <a:pt x="183375" y="1016603"/>
                    <a:pt x="0" y="1277667"/>
                    <a:pt x="0" y="1581940"/>
                  </a:cubicBezTo>
                  <a:cubicBezTo>
                    <a:pt x="0" y="1962281"/>
                    <a:pt x="286523" y="2275109"/>
                    <a:pt x="653694" y="2312727"/>
                  </a:cubicBezTo>
                  <a:lnTo>
                    <a:pt x="653931" y="2312739"/>
                  </a:lnTo>
                  <a:lnTo>
                    <a:pt x="653931" y="2316518"/>
                  </a:lnTo>
                  <a:lnTo>
                    <a:pt x="728123" y="2316518"/>
                  </a:lnTo>
                  <a:lnTo>
                    <a:pt x="728142" y="2316519"/>
                  </a:lnTo>
                  <a:lnTo>
                    <a:pt x="728162" y="2316518"/>
                  </a:lnTo>
                  <a:lnTo>
                    <a:pt x="3745239" y="2316518"/>
                  </a:lnTo>
                  <a:lnTo>
                    <a:pt x="3745249" y="2316519"/>
                  </a:lnTo>
                  <a:lnTo>
                    <a:pt x="3745259" y="2316518"/>
                  </a:lnTo>
                  <a:lnTo>
                    <a:pt x="3788771" y="2316518"/>
                  </a:lnTo>
                  <a:lnTo>
                    <a:pt x="3788771" y="2312093"/>
                  </a:lnTo>
                  <a:lnTo>
                    <a:pt x="3883573" y="2302452"/>
                  </a:lnTo>
                  <a:cubicBezTo>
                    <a:pt x="4196332" y="2237887"/>
                    <a:pt x="4431601" y="1958713"/>
                    <a:pt x="4431601" y="1624103"/>
                  </a:cubicBezTo>
                  <a:cubicBezTo>
                    <a:pt x="4431601" y="1289493"/>
                    <a:pt x="4196332" y="1010319"/>
                    <a:pt x="3883573" y="945754"/>
                  </a:cubicBezTo>
                  <a:lnTo>
                    <a:pt x="3773844" y="934595"/>
                  </a:lnTo>
                  <a:lnTo>
                    <a:pt x="3768759" y="883707"/>
                  </a:lnTo>
                  <a:cubicBezTo>
                    <a:pt x="3666462" y="379376"/>
                    <a:pt x="3224139" y="0"/>
                    <a:pt x="2693983" y="0"/>
                  </a:cubicBezTo>
                  <a:close/>
                </a:path>
              </a:pathLst>
            </a:custGeom>
            <a:solidFill>
              <a:schemeClr val="bg1"/>
            </a:solid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tIns="108000" rtlCol="0" anchor="ctr">
              <a:noAutofit/>
            </a:bodyPr>
            <a:lstStyle/>
            <a:p>
              <a:pPr algn="ctr"/>
              <a:endPar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a:p>
              <a:pPr algn="ctr"/>
              <a:r>
                <a:rPr lang="en-US" altLang="zh-CN" sz="1200" dirty="0" smtClean="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rPr>
                <a:t>10.3.1.0/24</a:t>
              </a:r>
              <a:endParaRPr lang="en-US" altLang="zh-CN" sz="1200" dirty="0">
                <a:solidFill>
                  <a:schemeClr val="tx1"/>
                </a:solidFill>
                <a:latin typeface="Huawei Sans" panose="020C0503030203020204" pitchFamily="34" charset="0"/>
                <a:ea typeface="方正兰亭黑简体" panose="02000000000000000000" pitchFamily="2" charset="-122"/>
                <a:sym typeface="Huawei Sans" panose="020C0503030203020204" pitchFamily="34" charset="0"/>
              </a:endParaRPr>
            </a:p>
          </p:txBody>
        </p:sp>
        <p:pic>
          <p:nvPicPr>
            <p:cNvPr id="36" name="图片 3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gray">
            <a:xfrm>
              <a:off x="3483672" y="1785859"/>
              <a:ext cx="490909" cy="401653"/>
            </a:xfrm>
            <a:prstGeom prst="rect">
              <a:avLst/>
            </a:prstGeom>
          </p:spPr>
        </p:pic>
        <p:cxnSp>
          <p:nvCxnSpPr>
            <p:cNvPr id="37" name="直接连接符 36"/>
            <p:cNvCxnSpPr>
              <a:stCxn id="33" idx="8"/>
              <a:endCxn id="32" idx="1"/>
            </p:cNvCxnSpPr>
            <p:nvPr/>
          </p:nvCxnSpPr>
          <p:spPr bwMode="gray">
            <a:xfrm>
              <a:off x="1523862" y="1985722"/>
              <a:ext cx="825166" cy="9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32" idx="3"/>
              <a:endCxn id="36" idx="1"/>
            </p:cNvCxnSpPr>
            <p:nvPr/>
          </p:nvCxnSpPr>
          <p:spPr bwMode="gray">
            <a:xfrm>
              <a:off x="2839937" y="1986686"/>
              <a:ext cx="643735" cy="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a:stCxn id="36" idx="3"/>
              <a:endCxn id="35" idx="21"/>
            </p:cNvCxnSpPr>
            <p:nvPr/>
          </p:nvCxnSpPr>
          <p:spPr bwMode="gray">
            <a:xfrm>
              <a:off x="3974581" y="1986686"/>
              <a:ext cx="811906" cy="300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bwMode="gray">
            <a:xfrm>
              <a:off x="1440817" y="1567629"/>
              <a:ext cx="955711" cy="461665"/>
            </a:xfrm>
            <a:prstGeom prst="rect">
              <a:avLst/>
            </a:prstGeom>
            <a:noFill/>
          </p:spPr>
          <p:txBody>
            <a:bodyPr wrap="none" rtlCol="0">
              <a:spAutoFit/>
            </a:bodyPr>
            <a:lstStyle/>
            <a:p>
              <a:r>
                <a:rPr lang="en-US" altLang="zh-CN" sz="1200" dirty="0" smtClean="0"/>
                <a:t>GE1/0/3</a:t>
              </a:r>
            </a:p>
            <a:p>
              <a:r>
                <a:rPr lang="en-US" altLang="zh-CN" sz="1200" dirty="0" smtClean="0"/>
                <a:t>10.3.0.1/24</a:t>
              </a:r>
              <a:endParaRPr lang="zh-CN" altLang="en-US" sz="1200" dirty="0"/>
            </a:p>
          </p:txBody>
        </p:sp>
        <p:sp>
          <p:nvSpPr>
            <p:cNvPr id="41" name="文本框 40"/>
            <p:cNvSpPr txBox="1"/>
            <p:nvPr/>
          </p:nvSpPr>
          <p:spPr bwMode="gray">
            <a:xfrm>
              <a:off x="3946989" y="1758858"/>
              <a:ext cx="955711" cy="461665"/>
            </a:xfrm>
            <a:prstGeom prst="rect">
              <a:avLst/>
            </a:prstGeom>
            <a:noFill/>
          </p:spPr>
          <p:txBody>
            <a:bodyPr wrap="none" rtlCol="0">
              <a:spAutoFit/>
            </a:bodyPr>
            <a:lstStyle/>
            <a:p>
              <a:r>
                <a:rPr lang="en-US" altLang="zh-CN" sz="1200" dirty="0" smtClean="0"/>
                <a:t>GE1/0/4</a:t>
              </a:r>
            </a:p>
            <a:p>
              <a:r>
                <a:rPr lang="en-US" altLang="zh-CN" sz="1200" dirty="0" smtClean="0"/>
                <a:t>10.3.1.1/24</a:t>
              </a:r>
              <a:endParaRPr lang="zh-CN" altLang="en-US" sz="1200" dirty="0"/>
            </a:p>
          </p:txBody>
        </p:sp>
        <p:sp>
          <p:nvSpPr>
            <p:cNvPr id="42" name="文本框 41"/>
            <p:cNvSpPr txBox="1"/>
            <p:nvPr/>
          </p:nvSpPr>
          <p:spPr bwMode="gray">
            <a:xfrm>
              <a:off x="2353907" y="2129561"/>
              <a:ext cx="486030" cy="276999"/>
            </a:xfrm>
            <a:prstGeom prst="rect">
              <a:avLst/>
            </a:prstGeom>
            <a:noFill/>
          </p:spPr>
          <p:txBody>
            <a:bodyPr wrap="none" rtlCol="0">
              <a:spAutoFit/>
            </a:bodyPr>
            <a:lstStyle/>
            <a:p>
              <a:r>
                <a:rPr lang="en-US" altLang="zh-CN" sz="1200" dirty="0" err="1" smtClean="0"/>
                <a:t>vsya</a:t>
              </a:r>
              <a:endParaRPr lang="zh-CN" altLang="en-US" sz="1200" dirty="0"/>
            </a:p>
          </p:txBody>
        </p:sp>
        <p:sp>
          <p:nvSpPr>
            <p:cNvPr id="43" name="文本框 42"/>
            <p:cNvSpPr txBox="1"/>
            <p:nvPr/>
          </p:nvSpPr>
          <p:spPr bwMode="gray">
            <a:xfrm>
              <a:off x="3483672" y="2111630"/>
              <a:ext cx="489236" cy="276999"/>
            </a:xfrm>
            <a:prstGeom prst="rect">
              <a:avLst/>
            </a:prstGeom>
            <a:noFill/>
          </p:spPr>
          <p:txBody>
            <a:bodyPr wrap="none" rtlCol="0">
              <a:spAutoFit/>
            </a:bodyPr>
            <a:lstStyle/>
            <a:p>
              <a:r>
                <a:rPr lang="en-US" altLang="zh-CN" sz="1200" dirty="0" err="1" smtClean="0"/>
                <a:t>vsyb</a:t>
              </a:r>
              <a:endParaRPr lang="zh-CN" altLang="en-US" sz="1200" dirty="0"/>
            </a:p>
          </p:txBody>
        </p:sp>
        <p:sp>
          <p:nvSpPr>
            <p:cNvPr id="44" name="文本框 43"/>
            <p:cNvSpPr txBox="1"/>
            <p:nvPr/>
          </p:nvSpPr>
          <p:spPr bwMode="gray">
            <a:xfrm>
              <a:off x="967435" y="1449388"/>
              <a:ext cx="540533" cy="276999"/>
            </a:xfrm>
            <a:prstGeom prst="rect">
              <a:avLst/>
            </a:prstGeom>
            <a:noFill/>
          </p:spPr>
          <p:txBody>
            <a:bodyPr wrap="none" rtlCol="0">
              <a:spAutoFit/>
            </a:bodyPr>
            <a:lstStyle/>
            <a:p>
              <a:r>
                <a:rPr lang="en-US" altLang="zh-CN" sz="1200" dirty="0" smtClean="0"/>
                <a:t>Trust</a:t>
              </a:r>
              <a:endParaRPr lang="zh-CN" altLang="en-US" sz="1200" dirty="0"/>
            </a:p>
          </p:txBody>
        </p:sp>
        <p:sp>
          <p:nvSpPr>
            <p:cNvPr id="45" name="文本框 44"/>
            <p:cNvSpPr txBox="1"/>
            <p:nvPr/>
          </p:nvSpPr>
          <p:spPr bwMode="gray">
            <a:xfrm>
              <a:off x="2934322" y="1461605"/>
              <a:ext cx="415498" cy="276999"/>
            </a:xfrm>
            <a:prstGeom prst="rect">
              <a:avLst/>
            </a:prstGeom>
            <a:noFill/>
          </p:spPr>
          <p:txBody>
            <a:bodyPr wrap="none" rtlCol="0">
              <a:spAutoFit/>
            </a:bodyPr>
            <a:lstStyle/>
            <a:p>
              <a:r>
                <a:rPr lang="en-US" altLang="zh-CN" sz="1200" dirty="0" smtClean="0"/>
                <a:t>FW</a:t>
              </a:r>
              <a:endParaRPr lang="zh-CN" altLang="en-US" sz="1200" dirty="0"/>
            </a:p>
          </p:txBody>
        </p:sp>
        <p:sp>
          <p:nvSpPr>
            <p:cNvPr id="46" name="文本框 45"/>
            <p:cNvSpPr txBox="1"/>
            <p:nvPr/>
          </p:nvSpPr>
          <p:spPr bwMode="gray">
            <a:xfrm>
              <a:off x="5353126" y="1449388"/>
              <a:ext cx="540533" cy="276999"/>
            </a:xfrm>
            <a:prstGeom prst="rect">
              <a:avLst/>
            </a:prstGeom>
            <a:noFill/>
          </p:spPr>
          <p:txBody>
            <a:bodyPr wrap="none" rtlCol="0">
              <a:spAutoFit/>
            </a:bodyPr>
            <a:lstStyle/>
            <a:p>
              <a:r>
                <a:rPr lang="en-US" altLang="zh-CN" sz="1200" dirty="0" smtClean="0"/>
                <a:t>Trust</a:t>
              </a:r>
              <a:endParaRPr lang="zh-CN" altLang="en-US" sz="1200" dirty="0"/>
            </a:p>
          </p:txBody>
        </p:sp>
        <p:sp>
          <p:nvSpPr>
            <p:cNvPr id="47" name="椭圆 46"/>
            <p:cNvSpPr/>
            <p:nvPr/>
          </p:nvSpPr>
          <p:spPr bwMode="gray">
            <a:xfrm>
              <a:off x="2817303" y="1908012"/>
              <a:ext cx="150112" cy="15011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p:cNvSpPr/>
            <p:nvPr/>
          </p:nvSpPr>
          <p:spPr bwMode="gray">
            <a:xfrm>
              <a:off x="3340492" y="1908012"/>
              <a:ext cx="150112" cy="150112"/>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p:cNvSpPr txBox="1"/>
            <p:nvPr/>
          </p:nvSpPr>
          <p:spPr bwMode="gray">
            <a:xfrm>
              <a:off x="4654922" y="2304543"/>
              <a:ext cx="955711" cy="276999"/>
            </a:xfrm>
            <a:prstGeom prst="rect">
              <a:avLst/>
            </a:prstGeom>
            <a:noFill/>
          </p:spPr>
          <p:txBody>
            <a:bodyPr wrap="none" rtlCol="0">
              <a:spAutoFit/>
            </a:bodyPr>
            <a:lstStyle/>
            <a:p>
              <a:r>
                <a:rPr lang="en-US" altLang="zh-CN" sz="1200" dirty="0" smtClean="0"/>
                <a:t>10.3.1.3/24</a:t>
              </a:r>
              <a:endParaRPr lang="zh-CN" altLang="en-US" sz="1200" dirty="0"/>
            </a:p>
          </p:txBody>
        </p:sp>
        <p:sp>
          <p:nvSpPr>
            <p:cNvPr id="50" name="文本框 49"/>
            <p:cNvSpPr txBox="1"/>
            <p:nvPr/>
          </p:nvSpPr>
          <p:spPr bwMode="gray">
            <a:xfrm>
              <a:off x="1076328" y="2304543"/>
              <a:ext cx="955711" cy="276999"/>
            </a:xfrm>
            <a:prstGeom prst="rect">
              <a:avLst/>
            </a:prstGeom>
            <a:noFill/>
          </p:spPr>
          <p:txBody>
            <a:bodyPr wrap="none" rtlCol="0">
              <a:spAutoFit/>
            </a:bodyPr>
            <a:lstStyle/>
            <a:p>
              <a:r>
                <a:rPr lang="en-US" altLang="zh-CN" sz="1200" dirty="0" smtClean="0"/>
                <a:t>10.3.0.3/24</a:t>
              </a:r>
              <a:endParaRPr lang="zh-CN" altLang="en-US" sz="1200" dirty="0"/>
            </a:p>
          </p:txBody>
        </p:sp>
      </p:grpSp>
      <p:pic>
        <p:nvPicPr>
          <p:cNvPr id="51" name="图片 50"/>
          <p:cNvPicPr>
            <a:picLocks/>
          </p:cNvPicPr>
          <p:nvPr/>
        </p:nvPicPr>
        <p:blipFill>
          <a:blip r:embed="rId4" cstate="print">
            <a:extLst>
              <a:ext uri="{28A0092B-C50C-407E-A947-70E740481C1C}">
                <a14:useLocalDpi xmlns:a14="http://schemas.microsoft.com/office/drawing/2010/main" val="0"/>
              </a:ext>
            </a:extLst>
          </a:blip>
          <a:stretch>
            <a:fillRect/>
          </a:stretch>
        </p:blipFill>
        <p:spPr bwMode="gray">
          <a:xfrm>
            <a:off x="4973950" y="2665067"/>
            <a:ext cx="310569" cy="254667"/>
          </a:xfrm>
          <a:prstGeom prst="rect">
            <a:avLst/>
          </a:prstGeom>
        </p:spPr>
      </p:pic>
      <p:pic>
        <p:nvPicPr>
          <p:cNvPr id="52" name="图片 51" descr="PC.png"/>
          <p:cNvPicPr>
            <a:picLocks noChangeAspect="1"/>
          </p:cNvPicPr>
          <p:nvPr/>
        </p:nvPicPr>
        <p:blipFill>
          <a:blip r:embed="rId5" cstate="print"/>
          <a:stretch>
            <a:fillRect/>
          </a:stretch>
        </p:blipFill>
        <p:spPr bwMode="gray">
          <a:xfrm>
            <a:off x="1434690" y="2681962"/>
            <a:ext cx="309600" cy="237772"/>
          </a:xfrm>
          <a:prstGeom prst="rect">
            <a:avLst/>
          </a:prstGeom>
        </p:spPr>
      </p:pic>
      <p:sp>
        <p:nvSpPr>
          <p:cNvPr id="53" name="文本框 52"/>
          <p:cNvSpPr txBox="1"/>
          <p:nvPr/>
        </p:nvSpPr>
        <p:spPr bwMode="gray">
          <a:xfrm>
            <a:off x="6155179" y="5478068"/>
            <a:ext cx="5375761" cy="646331"/>
          </a:xfrm>
          <a:prstGeom prst="rect">
            <a:avLst/>
          </a:prstGeom>
          <a:solidFill>
            <a:schemeClr val="bg1">
              <a:lumMod val="85000"/>
            </a:schemeClr>
          </a:solidFill>
        </p:spPr>
        <p:txBody>
          <a:bodyPr wrap="square" rtlCol="0">
            <a:spAutoFit/>
          </a:bodyPr>
          <a:lstStyle/>
          <a:p>
            <a:r>
              <a:rPr lang="en-US" altLang="zh-CN" sz="1200" dirty="0"/>
              <a:t>PC&gt;ping </a:t>
            </a:r>
            <a:r>
              <a:rPr lang="en-US" altLang="zh-CN" sz="1200" dirty="0" smtClean="0"/>
              <a:t>10.3.1.3</a:t>
            </a:r>
            <a:endParaRPr lang="zh-CN" altLang="en-US" sz="1200" dirty="0"/>
          </a:p>
          <a:p>
            <a:r>
              <a:rPr lang="en-US" altLang="zh-CN" sz="1200" dirty="0"/>
              <a:t>Ping 10.3.1.3: 32 data bytes, Press </a:t>
            </a:r>
            <a:r>
              <a:rPr lang="en-US" altLang="zh-CN" sz="1200" dirty="0" err="1"/>
              <a:t>Ctrl_C</a:t>
            </a:r>
            <a:r>
              <a:rPr lang="en-US" altLang="zh-CN" sz="1200" dirty="0"/>
              <a:t> to break</a:t>
            </a:r>
            <a:endParaRPr lang="zh-CN" altLang="en-US" sz="1200" dirty="0"/>
          </a:p>
          <a:p>
            <a:r>
              <a:rPr lang="en-US" altLang="zh-CN" sz="1200" dirty="0"/>
              <a:t>From 10.3.1.3: bytes=32 </a:t>
            </a:r>
            <a:r>
              <a:rPr lang="en-US" altLang="zh-CN" sz="1200" dirty="0" err="1"/>
              <a:t>seq</a:t>
            </a:r>
            <a:r>
              <a:rPr lang="en-US" altLang="zh-CN" sz="1200" dirty="0"/>
              <a:t>=1 </a:t>
            </a:r>
            <a:r>
              <a:rPr lang="en-US" altLang="zh-CN" sz="1200" dirty="0" err="1"/>
              <a:t>ttl</a:t>
            </a:r>
            <a:r>
              <a:rPr lang="en-US" altLang="zh-CN" sz="1200" dirty="0"/>
              <a:t>=127 time=79 </a:t>
            </a:r>
            <a:r>
              <a:rPr lang="en-US" altLang="zh-CN" sz="1200" dirty="0" err="1" smtClean="0"/>
              <a:t>ms</a:t>
            </a:r>
            <a:endParaRPr lang="zh-CN" altLang="en-US" sz="1200" dirty="0"/>
          </a:p>
        </p:txBody>
      </p:sp>
    </p:spTree>
    <p:extLst>
      <p:ext uri="{BB962C8B-B14F-4D97-AF65-F5344CB8AC3E}">
        <p14:creationId xmlns:p14="http://schemas.microsoft.com/office/powerpoint/2010/main" val="3586526177"/>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bwMode="gray"/>
        <p:txBody>
          <a:bodyPr/>
          <a:lstStyle/>
          <a:p>
            <a:r>
              <a:rPr lang="en-US" altLang="zh-CN" sz="1800" dirty="0" smtClean="0">
                <a:sym typeface="Huawei Sans" panose="020C0503030203020204" pitchFamily="34" charset="0"/>
              </a:rPr>
              <a:t>(</a:t>
            </a:r>
            <a:r>
              <a:rPr lang="zh-CN" altLang="en-US" sz="1800" dirty="0" smtClean="0">
                <a:sym typeface="Huawei Sans" panose="020C0503030203020204" pitchFamily="34" charset="0"/>
              </a:rPr>
              <a:t>多选题</a:t>
            </a:r>
            <a:r>
              <a:rPr lang="en-US" altLang="zh-CN" sz="1800" dirty="0" smtClean="0">
                <a:sym typeface="Huawei Sans" panose="020C0503030203020204" pitchFamily="34" charset="0"/>
              </a:rPr>
              <a:t>)DHCP Snooping</a:t>
            </a:r>
            <a:r>
              <a:rPr lang="zh-CN" altLang="en-US" sz="1800" dirty="0" smtClean="0">
                <a:sym typeface="Huawei Sans" panose="020C0503030203020204" pitchFamily="34" charset="0"/>
              </a:rPr>
              <a:t>是一种</a:t>
            </a:r>
            <a:r>
              <a:rPr lang="en-US" altLang="zh-CN" sz="1800" dirty="0" smtClean="0">
                <a:sym typeface="Huawei Sans" panose="020C0503030203020204" pitchFamily="34" charset="0"/>
              </a:rPr>
              <a:t>DHCP</a:t>
            </a:r>
            <a:r>
              <a:rPr lang="zh-CN" altLang="en-US" sz="1800" dirty="0" smtClean="0">
                <a:sym typeface="Huawei Sans" panose="020C0503030203020204" pitchFamily="34" charset="0"/>
              </a:rPr>
              <a:t>安全特性，可以用于防御以下哪些攻击类型？</a:t>
            </a:r>
            <a:r>
              <a:rPr lang="en-US" altLang="zh-CN" sz="1800" dirty="0" smtClean="0">
                <a:sym typeface="Huawei Sans" panose="020C0503030203020204" pitchFamily="34" charset="0"/>
              </a:rPr>
              <a:t>(     )</a:t>
            </a:r>
          </a:p>
          <a:p>
            <a:pPr lvl="1"/>
            <a:r>
              <a:rPr lang="zh-CN" altLang="en-US" sz="1600" dirty="0" smtClean="0">
                <a:sym typeface="Huawei Sans" panose="020C0503030203020204" pitchFamily="34" charset="0"/>
              </a:rPr>
              <a:t>防御改变</a:t>
            </a:r>
            <a:r>
              <a:rPr lang="en-US" altLang="zh-CN" sz="1600" dirty="0" smtClean="0">
                <a:sym typeface="Huawei Sans" panose="020C0503030203020204" pitchFamily="34" charset="0"/>
              </a:rPr>
              <a:t>CHADDR</a:t>
            </a:r>
            <a:r>
              <a:rPr lang="zh-CN" altLang="en-US" sz="1600" dirty="0" smtClean="0">
                <a:sym typeface="Huawei Sans" panose="020C0503030203020204" pitchFamily="34" charset="0"/>
              </a:rPr>
              <a:t>值的饿死攻击</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防御</a:t>
            </a:r>
            <a:r>
              <a:rPr lang="en-US" altLang="zh-CN" sz="1600" dirty="0" smtClean="0">
                <a:sym typeface="Huawei Sans" panose="020C0503030203020204" pitchFamily="34" charset="0"/>
              </a:rPr>
              <a:t>DHCP</a:t>
            </a:r>
            <a:r>
              <a:rPr lang="zh-CN" altLang="en-US" sz="1600" dirty="0" smtClean="0">
                <a:sym typeface="Huawei Sans" panose="020C0503030203020204" pitchFamily="34" charset="0"/>
              </a:rPr>
              <a:t>仿冒者攻击</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防御</a:t>
            </a:r>
            <a:r>
              <a:rPr lang="en-US" altLang="zh-CN" sz="1600" dirty="0" smtClean="0">
                <a:sym typeface="Huawei Sans" panose="020C0503030203020204" pitchFamily="34" charset="0"/>
              </a:rPr>
              <a:t>TCP flag</a:t>
            </a:r>
            <a:r>
              <a:rPr lang="zh-CN" altLang="en-US" sz="1600" dirty="0" smtClean="0">
                <a:sym typeface="Huawei Sans" panose="020C0503030203020204" pitchFamily="34" charset="0"/>
              </a:rPr>
              <a:t>攻击</a:t>
            </a:r>
            <a:endParaRPr lang="en-US" altLang="zh-CN" sz="1600" dirty="0" smtClean="0">
              <a:sym typeface="Huawei Sans" panose="020C0503030203020204" pitchFamily="34" charset="0"/>
            </a:endParaRPr>
          </a:p>
          <a:p>
            <a:pPr lvl="1"/>
            <a:r>
              <a:rPr lang="zh-CN" altLang="en-US" sz="1600" dirty="0" smtClean="0">
                <a:sym typeface="Huawei Sans" panose="020C0503030203020204" pitchFamily="34" charset="0"/>
              </a:rPr>
              <a:t>防御中间人攻击和</a:t>
            </a:r>
            <a:r>
              <a:rPr lang="en-US" altLang="zh-CN" sz="1600" dirty="0" smtClean="0">
                <a:sym typeface="Huawei Sans" panose="020C0503030203020204" pitchFamily="34" charset="0"/>
              </a:rPr>
              <a:t>IP/MAC Spoofing</a:t>
            </a:r>
            <a:r>
              <a:rPr lang="zh-CN" altLang="en-US" sz="1600" dirty="0" smtClean="0">
                <a:sym typeface="Huawei Sans" panose="020C0503030203020204" pitchFamily="34" charset="0"/>
              </a:rPr>
              <a:t>攻击</a:t>
            </a:r>
            <a:endParaRPr lang="en-US" altLang="zh-CN" sz="1600" dirty="0" smtClean="0">
              <a:sym typeface="Huawei Sans" panose="020C0503030203020204" pitchFamily="34" charset="0"/>
            </a:endParaRPr>
          </a:p>
          <a:p>
            <a:r>
              <a:rPr lang="en-US" altLang="zh-CN" sz="1800" dirty="0" smtClean="0">
                <a:sym typeface="Huawei Sans" panose="020C0503030203020204" pitchFamily="34" charset="0"/>
              </a:rPr>
              <a:t>(</a:t>
            </a:r>
            <a:r>
              <a:rPr lang="zh-CN" altLang="en-US" sz="1800" dirty="0" smtClean="0">
                <a:sym typeface="Huawei Sans" panose="020C0503030203020204" pitchFamily="34" charset="0"/>
              </a:rPr>
              <a:t>判断题</a:t>
            </a:r>
            <a:r>
              <a:rPr lang="en-US" altLang="zh-CN" sz="1800" dirty="0" smtClean="0">
                <a:sym typeface="Huawei Sans" panose="020C0503030203020204" pitchFamily="34" charset="0"/>
              </a:rPr>
              <a:t>)FW</a:t>
            </a:r>
            <a:r>
              <a:rPr lang="zh-CN" altLang="en-US" sz="1800" dirty="0" smtClean="0">
                <a:sym typeface="Huawei Sans" panose="020C0503030203020204" pitchFamily="34" charset="0"/>
              </a:rPr>
              <a:t>的虚拟系统之间默认是互相隔离的，不同虚拟系统下的主机不能通信。</a:t>
            </a:r>
            <a:r>
              <a:rPr lang="en-US" altLang="zh-CN" sz="1800" dirty="0" smtClean="0">
                <a:sym typeface="Huawei Sans" panose="020C0503030203020204" pitchFamily="34" charset="0"/>
              </a:rPr>
              <a:t>(     )</a:t>
            </a:r>
          </a:p>
          <a:p>
            <a:pPr lvl="1"/>
            <a:r>
              <a:rPr lang="zh-CN" altLang="en-US" sz="1600" dirty="0">
                <a:sym typeface="Huawei Sans" panose="020C0503030203020204" pitchFamily="34" charset="0"/>
              </a:rPr>
              <a:t>正确</a:t>
            </a:r>
            <a:endParaRPr lang="en-US" altLang="zh-CN" sz="1600" dirty="0" smtClean="0">
              <a:sym typeface="Huawei Sans" panose="020C0503030203020204" pitchFamily="34" charset="0"/>
            </a:endParaRPr>
          </a:p>
          <a:p>
            <a:pPr lvl="1"/>
            <a:r>
              <a:rPr lang="zh-CN" altLang="en-US" sz="1600" dirty="0">
                <a:sym typeface="Huawei Sans" panose="020C0503030203020204" pitchFamily="34" charset="0"/>
              </a:rPr>
              <a:t>错误</a:t>
            </a:r>
          </a:p>
        </p:txBody>
      </p:sp>
    </p:spTree>
    <p:extLst>
      <p:ext uri="{BB962C8B-B14F-4D97-AF65-F5344CB8AC3E}">
        <p14:creationId xmlns:p14="http://schemas.microsoft.com/office/powerpoint/2010/main" val="426065647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bwMode="gray"/>
        <p:txBody>
          <a:bodyPr/>
          <a:lstStyle/>
          <a:p>
            <a:r>
              <a:rPr lang="zh-CN" altLang="en-US" sz="1400" dirty="0" smtClean="0">
                <a:sym typeface="Huawei Sans" panose="020C0503030203020204" pitchFamily="34" charset="0"/>
              </a:rPr>
              <a:t>端口隔离实现同一</a:t>
            </a:r>
            <a:r>
              <a:rPr lang="en-US" altLang="zh-CN" sz="1400" dirty="0" smtClean="0">
                <a:sym typeface="Huawei Sans" panose="020C0503030203020204" pitchFamily="34" charset="0"/>
              </a:rPr>
              <a:t>VLAN</a:t>
            </a:r>
            <a:r>
              <a:rPr lang="zh-CN" altLang="en-US" sz="1400" dirty="0" smtClean="0">
                <a:sym typeface="Huawei Sans" panose="020C0503030203020204" pitchFamily="34" charset="0"/>
              </a:rPr>
              <a:t>内端口之间的隔离。端口隔离模式分别为二层隔离三层互通、二层三层都隔离。</a:t>
            </a:r>
          </a:p>
          <a:p>
            <a:r>
              <a:rPr lang="zh-CN" altLang="en-US" sz="1400" dirty="0" smtClean="0">
                <a:sym typeface="Huawei Sans" panose="020C0503030203020204" pitchFamily="34" charset="0"/>
              </a:rPr>
              <a:t>交换机</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地址表可以分为静态</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地址表、黑洞</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地址表、动态</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地址表。</a:t>
            </a:r>
          </a:p>
          <a:p>
            <a:r>
              <a:rPr lang="zh-CN" altLang="en-US" sz="1400" dirty="0" smtClean="0">
                <a:sym typeface="Huawei Sans" panose="020C0503030203020204" pitchFamily="34" charset="0"/>
              </a:rPr>
              <a:t>端口安全通过将接口学习到的动态</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地址转换为安全</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地址，安全</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地址通常与安全保护动作结合使用。</a:t>
            </a:r>
          </a:p>
          <a:p>
            <a:r>
              <a:rPr lang="zh-CN" altLang="en-US" sz="1400" dirty="0" smtClean="0">
                <a:sym typeface="Huawei Sans" panose="020C0503030203020204" pitchFamily="34" charset="0"/>
              </a:rPr>
              <a:t>交换机开启</a:t>
            </a:r>
            <a:r>
              <a:rPr lang="en-US" altLang="zh-CN" sz="1400" dirty="0" smtClean="0">
                <a:sym typeface="Huawei Sans" panose="020C0503030203020204" pitchFamily="34" charset="0"/>
              </a:rPr>
              <a:t>MAC</a:t>
            </a:r>
            <a:r>
              <a:rPr lang="zh-CN" altLang="en-US" sz="1400" dirty="0" smtClean="0">
                <a:sym typeface="Huawei Sans" panose="020C0503030203020204" pitchFamily="34" charset="0"/>
              </a:rPr>
              <a:t>地址漂移检测有助于工程师快速处理交换机环路故障。</a:t>
            </a:r>
          </a:p>
          <a:p>
            <a:r>
              <a:rPr lang="en-US" altLang="zh-CN" sz="1400" dirty="0" err="1" smtClean="0">
                <a:sym typeface="Huawei Sans" panose="020C0503030203020204" pitchFamily="34" charset="0"/>
              </a:rPr>
              <a:t>MACsec</a:t>
            </a:r>
            <a:r>
              <a:rPr lang="zh-CN" altLang="en-US" sz="1400" dirty="0" smtClean="0">
                <a:sym typeface="Huawei Sans" panose="020C0503030203020204" pitchFamily="34" charset="0"/>
              </a:rPr>
              <a:t>定义了基于以太网的数据安全通信的方法，通过逐跳设备之间数据加密，保证数据传输安全性。</a:t>
            </a:r>
          </a:p>
          <a:p>
            <a:r>
              <a:rPr lang="zh-CN" altLang="en-US" sz="1400" dirty="0" smtClean="0">
                <a:sym typeface="Huawei Sans" panose="020C0503030203020204" pitchFamily="34" charset="0"/>
              </a:rPr>
              <a:t>流量抑制与风暴控制主要区别在于流量控制仅仅是对各种报文进行限速处理，超过阈值之后就丢弃，而风暴控制能够根据报文速率的大小采取不同的惩罚动作，包括关闭端口或者阻塞报文。</a:t>
            </a:r>
          </a:p>
          <a:p>
            <a:r>
              <a:rPr lang="en-US" altLang="zh-CN" sz="1400" dirty="0" smtClean="0">
                <a:sym typeface="Huawei Sans" panose="020C0503030203020204" pitchFamily="34" charset="0"/>
              </a:rPr>
              <a:t>DHCP Snooping</a:t>
            </a:r>
            <a:r>
              <a:rPr lang="zh-CN" altLang="en-US" sz="1400" dirty="0" smtClean="0">
                <a:sym typeface="Huawei Sans" panose="020C0503030203020204" pitchFamily="34" charset="0"/>
              </a:rPr>
              <a:t>技术对于防御以太网中关于终端设备自动获取</a:t>
            </a:r>
            <a:r>
              <a:rPr lang="en-US" altLang="zh-CN" sz="1400" dirty="0" smtClean="0">
                <a:sym typeface="Huawei Sans" panose="020C0503030203020204" pitchFamily="34" charset="0"/>
              </a:rPr>
              <a:t>IP</a:t>
            </a:r>
            <a:r>
              <a:rPr lang="zh-CN" altLang="en-US" sz="1400" dirty="0" smtClean="0">
                <a:sym typeface="Huawei Sans" panose="020C0503030203020204" pitchFamily="34" charset="0"/>
              </a:rPr>
              <a:t>的网络攻击有很大的作用，通过配置</a:t>
            </a:r>
            <a:r>
              <a:rPr lang="en-US" altLang="zh-CN" sz="1400" dirty="0" smtClean="0">
                <a:sym typeface="Huawei Sans" panose="020C0503030203020204" pitchFamily="34" charset="0"/>
              </a:rPr>
              <a:t>DHCP Snooping</a:t>
            </a:r>
            <a:r>
              <a:rPr lang="zh-CN" altLang="en-US" sz="1400" dirty="0" smtClean="0">
                <a:sym typeface="Huawei Sans" panose="020C0503030203020204" pitchFamily="34" charset="0"/>
              </a:rPr>
              <a:t>信任端口功能和</a:t>
            </a:r>
            <a:r>
              <a:rPr lang="en-US" altLang="zh-CN" sz="1400" dirty="0" smtClean="0">
                <a:sym typeface="Huawei Sans" panose="020C0503030203020204" pitchFamily="34" charset="0"/>
              </a:rPr>
              <a:t>DHCP Snooping</a:t>
            </a:r>
            <a:r>
              <a:rPr lang="zh-CN" altLang="en-US" sz="1400" dirty="0" smtClean="0">
                <a:sym typeface="Huawei Sans" panose="020C0503030203020204" pitchFamily="34" charset="0"/>
              </a:rPr>
              <a:t>绑定表，可以很好的防范针对</a:t>
            </a:r>
            <a:r>
              <a:rPr lang="en-US" altLang="zh-CN" sz="1400" dirty="0" smtClean="0">
                <a:sym typeface="Huawei Sans" panose="020C0503030203020204" pitchFamily="34" charset="0"/>
              </a:rPr>
              <a:t>DHCP</a:t>
            </a:r>
            <a:r>
              <a:rPr lang="zh-CN" altLang="en-US" sz="1400" dirty="0" smtClean="0">
                <a:sym typeface="Huawei Sans" panose="020C0503030203020204" pitchFamily="34" charset="0"/>
              </a:rPr>
              <a:t>的网络攻击。</a:t>
            </a:r>
          </a:p>
          <a:p>
            <a:r>
              <a:rPr lang="en-US" altLang="zh-CN" sz="1400" dirty="0" smtClean="0">
                <a:sym typeface="Huawei Sans" panose="020C0503030203020204" pitchFamily="34" charset="0"/>
              </a:rPr>
              <a:t>IPSG</a:t>
            </a:r>
            <a:r>
              <a:rPr lang="zh-CN" altLang="en-US" sz="1400" dirty="0" smtClean="0">
                <a:sym typeface="Huawei Sans" panose="020C0503030203020204" pitchFamily="34" charset="0"/>
              </a:rPr>
              <a:t>通过查看交换机绑定表，阻止</a:t>
            </a:r>
            <a:r>
              <a:rPr lang="en-US" altLang="zh-CN" sz="1400" dirty="0" smtClean="0">
                <a:sym typeface="Huawei Sans" panose="020C0503030203020204" pitchFamily="34" charset="0"/>
              </a:rPr>
              <a:t>IP</a:t>
            </a:r>
            <a:r>
              <a:rPr lang="zh-CN" altLang="en-US" sz="1400" dirty="0" smtClean="0">
                <a:sym typeface="Huawei Sans" panose="020C0503030203020204" pitchFamily="34" charset="0"/>
              </a:rPr>
              <a:t>地址欺骗攻击，杜绝非法用户盗用合法</a:t>
            </a:r>
            <a:r>
              <a:rPr lang="en-US" altLang="zh-CN" sz="1400" dirty="0" smtClean="0">
                <a:sym typeface="Huawei Sans" panose="020C0503030203020204" pitchFamily="34" charset="0"/>
              </a:rPr>
              <a:t>IP</a:t>
            </a:r>
            <a:r>
              <a:rPr lang="zh-CN" altLang="en-US" sz="1400" dirty="0" smtClean="0">
                <a:sym typeface="Huawei Sans" panose="020C0503030203020204" pitchFamily="34" charset="0"/>
              </a:rPr>
              <a:t>地址对网络发起攻击。</a:t>
            </a:r>
            <a:endParaRPr lang="en-US" altLang="zh-CN" sz="1400" dirty="0" smtClean="0">
              <a:sym typeface="Huawei Sans" panose="020C0503030203020204" pitchFamily="34" charset="0"/>
            </a:endParaRPr>
          </a:p>
          <a:p>
            <a:r>
              <a:rPr lang="zh-CN" altLang="en-US" sz="1400" dirty="0" smtClean="0">
                <a:sym typeface="Huawei Sans" panose="020C0503030203020204" pitchFamily="34" charset="0"/>
              </a:rPr>
              <a:t>部署防火墙双机热备可提升网络可靠性，部署防火墙虚拟系统可实现对物理设备的逻辑划分，提升资源利用率。</a:t>
            </a:r>
            <a:endParaRPr lang="zh-CN" altLang="en-US" sz="1400" dirty="0">
              <a:sym typeface="Huawei Sans" panose="020C0503030203020204" pitchFamily="34" charset="0"/>
            </a:endParaRPr>
          </a:p>
        </p:txBody>
      </p:sp>
    </p:spTree>
    <p:extLst>
      <p:ext uri="{BB962C8B-B14F-4D97-AF65-F5344CB8AC3E}">
        <p14:creationId xmlns:p14="http://schemas.microsoft.com/office/powerpoint/2010/main" val="175949990"/>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5116010"/>
      </p:ext>
    </p:extLst>
  </p:cSld>
  <p:clrMapOvr>
    <a:masterClrMapping/>
  </p:clrMapOvr>
  <p:timing>
    <p:tnLst>
      <p:par>
        <p:cTn id="1" dur="indefinite" restart="never" nodeType="tmRoot"/>
      </p:par>
    </p:tnLst>
  </p:timing>
</p:sld>
</file>

<file path=ppt/theme/theme1.xml><?xml version="1.0" encoding="utf-8"?>
<a:theme xmlns:a="http://schemas.openxmlformats.org/drawingml/2006/main" name="2_标题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功能页模板">
  <a:themeElements>
    <a:clrScheme name="自定义 2">
      <a:dk1>
        <a:sysClr val="windowText" lastClr="000000"/>
      </a:dk1>
      <a:lt1>
        <a:sysClr val="window" lastClr="FFFFFF"/>
      </a:lt1>
      <a:dk2>
        <a:srgbClr val="44546A"/>
      </a:dk2>
      <a:lt2>
        <a:srgbClr val="E7E6E6"/>
      </a:lt2>
      <a:accent1>
        <a:srgbClr val="C7000B"/>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4_内容页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感谢页模板">
  <a:themeElements>
    <a:clrScheme name="2210">
      <a:dk1>
        <a:srgbClr val="1D1D1A"/>
      </a:dk1>
      <a:lt1>
        <a:srgbClr val="1D1D1A"/>
      </a:lt1>
      <a:dk2>
        <a:srgbClr val="FFFFFF"/>
      </a:dk2>
      <a:lt2>
        <a:srgbClr val="FFFFFF"/>
      </a:lt2>
      <a:accent1>
        <a:srgbClr val="C7000A"/>
      </a:accent1>
      <a:accent2>
        <a:srgbClr val="E9002F"/>
      </a:accent2>
      <a:accent3>
        <a:srgbClr val="F4A100"/>
      </a:accent3>
      <a:accent4>
        <a:srgbClr val="FFFF00"/>
      </a:accent4>
      <a:accent5>
        <a:srgbClr val="232323"/>
      </a:accent5>
      <a:accent6>
        <a:srgbClr val="666666"/>
      </a:accent6>
      <a:hlink>
        <a:srgbClr val="919191"/>
      </a:hlink>
      <a:folHlink>
        <a:srgbClr val="C4C4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EA002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a:defPPr>
      </a:lstStyle>
    </a:txDef>
  </a:objectDefaults>
  <a:extraClrSchemeLst/>
  <a:extLst>
    <a:ext uri="{05A4C25C-085E-4340-85A3-A5531E510DB2}">
      <thm15:themeFamily xmlns:thm15="http://schemas.microsoft.com/office/thememl/2012/main" name="演示文稿1" id="{5D7106B4-FD24-471A-B326-8B58E27A973B}" vid="{1AA013AF-7C2E-4A39-9796-86760F640C1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方正+Huawei">
      <a:majorFont>
        <a:latin typeface="Huawei Sans"/>
        <a:ea typeface="方正兰亭黑简体"/>
        <a:cs typeface=""/>
      </a:majorFont>
      <a:minorFont>
        <a:latin typeface="Huawei Sans"/>
        <a:ea typeface="方正兰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2C5B4B712841F4C8A7AAEE2CD191271" ma:contentTypeVersion="1" ma:contentTypeDescription="Create a new document." ma:contentTypeScope="" ma:versionID="fd4f534fc22f1d982cc2e0e62ad2af45">
  <xsd:schema xmlns:xsd="http://www.w3.org/2001/XMLSchema" xmlns:xs="http://www.w3.org/2001/XMLSchema" xmlns:p="http://schemas.microsoft.com/office/2006/metadata/properties" xmlns:ns2="475f1e55-3009-46d8-9566-5d569a2b3a98" targetNamespace="http://schemas.microsoft.com/office/2006/metadata/properties" ma:root="true" ma:fieldsID="1d095aabec1d15598815726bd4b054a7" ns2:_="">
    <xsd:import namespace="475f1e55-3009-46d8-9566-5d569a2b3a98"/>
    <xsd:element name="properties">
      <xsd:complexType>
        <xsd:sequence>
          <xsd:element name="documentManagement">
            <xsd:complexType>
              <xsd:all>
                <xsd:element ref="ns2: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5f1e55-3009-46d8-9566-5d569a2b3a98"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DE263F-0510-4442-823E-69B63ECB61E1}">
  <ds:schemaRefs>
    <ds:schemaRef ds:uri="http://schemas.microsoft.com/sharepoint/v3/contenttype/forms"/>
  </ds:schemaRefs>
</ds:datastoreItem>
</file>

<file path=customXml/itemProps2.xml><?xml version="1.0" encoding="utf-8"?>
<ds:datastoreItem xmlns:ds="http://schemas.openxmlformats.org/officeDocument/2006/customXml" ds:itemID="{DA5960F2-6186-408B-A0DC-5CA5E58B604F}">
  <ds:schemaRefs>
    <ds:schemaRef ds:uri="http://www.w3.org/XML/1998/namespace"/>
    <ds:schemaRef ds:uri="http://purl.org/dc/dcmitype/"/>
    <ds:schemaRef ds:uri="http://schemas.openxmlformats.org/package/2006/metadata/core-properties"/>
    <ds:schemaRef ds:uri="http://purl.org/dc/elements/1.1/"/>
    <ds:schemaRef ds:uri="http://purl.org/dc/terms/"/>
    <ds:schemaRef ds:uri="http://schemas.microsoft.com/office/2006/documentManagement/types"/>
    <ds:schemaRef ds:uri="http://schemas.microsoft.com/office/infopath/2007/PartnerControls"/>
    <ds:schemaRef ds:uri="475f1e55-3009-46d8-9566-5d569a2b3a98"/>
    <ds:schemaRef ds:uri="http://schemas.microsoft.com/office/2006/metadata/properties"/>
  </ds:schemaRefs>
</ds:datastoreItem>
</file>

<file path=customXml/itemProps3.xml><?xml version="1.0" encoding="utf-8"?>
<ds:datastoreItem xmlns:ds="http://schemas.openxmlformats.org/officeDocument/2006/customXml" ds:itemID="{B60FE824-0945-4976-A22E-23E48C971BB6}"/>
</file>

<file path=docProps/app.xml><?xml version="1.0" encoding="utf-8"?>
<Properties xmlns="http://schemas.openxmlformats.org/officeDocument/2006/extended-properties" xmlns:vt="http://schemas.openxmlformats.org/officeDocument/2006/docPropsVTypes">
  <Template/>
  <TotalTime>5716</TotalTime>
  <Words>17111</Words>
  <Application>Microsoft Office PowerPoint</Application>
  <PresentationFormat>宽屏</PresentationFormat>
  <Paragraphs>1821</Paragraphs>
  <Slides>99</Slides>
  <Notes>99</Notes>
  <HiddenSlides>2</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99</vt:i4>
      </vt:variant>
    </vt:vector>
  </HeadingPairs>
  <TitlesOfParts>
    <vt:vector size="110" baseType="lpstr">
      <vt:lpstr>方正兰亭黑简体</vt:lpstr>
      <vt:lpstr>Microsoft YaHei</vt:lpstr>
      <vt:lpstr>Microsoft YaHei</vt:lpstr>
      <vt:lpstr>Arial</vt:lpstr>
      <vt:lpstr>Courier New</vt:lpstr>
      <vt:lpstr>Huawei Sans</vt:lpstr>
      <vt:lpstr>Wingdings</vt:lpstr>
      <vt:lpstr>2_标题页模板</vt:lpstr>
      <vt:lpstr>3_功能页模板</vt:lpstr>
      <vt:lpstr>4_内容页模板</vt:lpstr>
      <vt:lpstr>5_感谢页模板</vt:lpstr>
      <vt:lpstr>PowerPoint 演示文稿</vt:lpstr>
      <vt:lpstr>网络安全技术</vt:lpstr>
      <vt:lpstr>PowerPoint 演示文稿</vt:lpstr>
      <vt:lpstr>PowerPoint 演示文稿</vt:lpstr>
      <vt:lpstr>PowerPoint 演示文稿</vt:lpstr>
      <vt:lpstr>端口隔离技术背景</vt:lpstr>
      <vt:lpstr>端口隔离技术概述</vt:lpstr>
      <vt:lpstr>端口隔离技术原理</vt:lpstr>
      <vt:lpstr>端口隔离配置命令</vt:lpstr>
      <vt:lpstr>端口隔离配置举例</vt:lpstr>
      <vt:lpstr>端口隔离配置验证</vt:lpstr>
      <vt:lpstr>PowerPoint 演示文稿</vt:lpstr>
      <vt:lpstr>MAC地址表项类型</vt:lpstr>
      <vt:lpstr>MAC地址表安全功能</vt:lpstr>
      <vt:lpstr>MAC地址表项配置</vt:lpstr>
      <vt:lpstr>禁止MAC地址学习功能</vt:lpstr>
      <vt:lpstr>限制MAC地址学习数量</vt:lpstr>
      <vt:lpstr>MAC地址表安全配置举例</vt:lpstr>
      <vt:lpstr>配置验证</vt:lpstr>
      <vt:lpstr>PowerPoint 演示文稿</vt:lpstr>
      <vt:lpstr>端口安全技术背景</vt:lpstr>
      <vt:lpstr>端口安全概述</vt:lpstr>
      <vt:lpstr>端口安全技术原理</vt:lpstr>
      <vt:lpstr>端口安全技术应用</vt:lpstr>
      <vt:lpstr>端口安全配置命令 (1)</vt:lpstr>
      <vt:lpstr>端口安全配置命令 (2)</vt:lpstr>
      <vt:lpstr>端口安全配置举例：安全动态MAC</vt:lpstr>
      <vt:lpstr>配置验证</vt:lpstr>
      <vt:lpstr>端口安全配置举例：Sticky MAC</vt:lpstr>
      <vt:lpstr>配置验证</vt:lpstr>
      <vt:lpstr>PowerPoint 演示文稿</vt:lpstr>
      <vt:lpstr>MAC地址漂移概述</vt:lpstr>
      <vt:lpstr>防止MAC地址漂移</vt:lpstr>
      <vt:lpstr>MAC地址漂移检测</vt:lpstr>
      <vt:lpstr>基于VLAN的MAC地址漂移检测</vt:lpstr>
      <vt:lpstr>全局MAC地址漂移检测</vt:lpstr>
      <vt:lpstr>MAC地址漂移配置命令介绍 (1)</vt:lpstr>
      <vt:lpstr>MAC地址漂移配置命令介绍 (2)</vt:lpstr>
      <vt:lpstr>MAC地址漂移配置举例</vt:lpstr>
      <vt:lpstr>配置验证</vt:lpstr>
      <vt:lpstr>PowerPoint 演示文稿</vt:lpstr>
      <vt:lpstr>MACsec，提供二层数据安全传输</vt:lpstr>
      <vt:lpstr>MACsec工作机制</vt:lpstr>
      <vt:lpstr>PowerPoint 演示文稿</vt:lpstr>
      <vt:lpstr>流量抑制概述</vt:lpstr>
      <vt:lpstr>流量抑制工作原理 (1)</vt:lpstr>
      <vt:lpstr>流量抑制工作原理 (2)</vt:lpstr>
      <vt:lpstr>流量抑制的应用</vt:lpstr>
      <vt:lpstr>流量抑制配置命令介绍</vt:lpstr>
      <vt:lpstr>流量抑制配置举例</vt:lpstr>
      <vt:lpstr>配置验证</vt:lpstr>
      <vt:lpstr>风暴控制概述</vt:lpstr>
      <vt:lpstr>风暴控制工作原理</vt:lpstr>
      <vt:lpstr>风暴控制的应用</vt:lpstr>
      <vt:lpstr>风暴控制配置命令介绍</vt:lpstr>
      <vt:lpstr>风暴控制配置举例</vt:lpstr>
      <vt:lpstr>配置验证</vt:lpstr>
      <vt:lpstr>PowerPoint 演示文稿</vt:lpstr>
      <vt:lpstr>DHCP工作原理概述</vt:lpstr>
      <vt:lpstr>PowerPoint 演示文稿</vt:lpstr>
      <vt:lpstr>DHCP Snooping概述</vt:lpstr>
      <vt:lpstr>DHCP Snooping信任功能</vt:lpstr>
      <vt:lpstr>DHCP Snooping绑定表</vt:lpstr>
      <vt:lpstr>DHCP饿死攻击</vt:lpstr>
      <vt:lpstr>DHCP Snooping防饿死攻击</vt:lpstr>
      <vt:lpstr>改变CHADDR值的DoS攻击</vt:lpstr>
      <vt:lpstr>DHCP Snooping防改变CHADDR值的DoS攻击</vt:lpstr>
      <vt:lpstr>DHCP中间人攻击</vt:lpstr>
      <vt:lpstr>DHCP Snooping防DHCP中间人攻击</vt:lpstr>
      <vt:lpstr>DHCP Snooping配置命令介绍 (1)</vt:lpstr>
      <vt:lpstr>DHCP Snooping配置命令介绍 (2)</vt:lpstr>
      <vt:lpstr>DHCP Snooping配置举例</vt:lpstr>
      <vt:lpstr>配置验证</vt:lpstr>
      <vt:lpstr>PowerPoint 演示文稿</vt:lpstr>
      <vt:lpstr>IPSG技术概述</vt:lpstr>
      <vt:lpstr>IPSG工作原理</vt:lpstr>
      <vt:lpstr>IPSG应用场景</vt:lpstr>
      <vt:lpstr>IPSG配置命令介绍</vt:lpstr>
      <vt:lpstr>IPSG配置举例</vt:lpstr>
      <vt:lpstr>配置验证</vt:lpstr>
      <vt:lpstr>PowerPoint 演示文稿</vt:lpstr>
      <vt:lpstr>在网络中部署防火墙双机时面临的问题</vt:lpstr>
      <vt:lpstr>防火墙双机热备简介</vt:lpstr>
      <vt:lpstr>防火墙双机热备关键组件</vt:lpstr>
      <vt:lpstr>防火墙双机热备关键组件：VRRP与VGMP</vt:lpstr>
      <vt:lpstr>防火墙双机热备关键组件：HRP及心跳线</vt:lpstr>
      <vt:lpstr>防火墙双机热备典型组网场景</vt:lpstr>
      <vt:lpstr>PowerPoint 演示文稿</vt:lpstr>
      <vt:lpstr>防火墙虚拟系统的应用场景</vt:lpstr>
      <vt:lpstr>防火墙虚拟系统概述</vt:lpstr>
      <vt:lpstr>虚拟接口</vt:lpstr>
      <vt:lpstr>虚拟系统访问根系统</vt:lpstr>
      <vt:lpstr>两个虚拟系统之间直接互访</vt:lpstr>
      <vt:lpstr>配置举例：虚拟系统间互访 (1)</vt:lpstr>
      <vt:lpstr>配置举例：虚拟系统间互访 (2)</vt:lpstr>
      <vt:lpstr>配置举例：虚拟系统间互访 (3)</vt:lpstr>
      <vt:lpstr>PowerPoint 演示文稿</vt:lpstr>
      <vt:lpstr>PowerPoint 演示文稿</vt:lpstr>
      <vt:lpstr>PowerPoint 演示文稿</vt:lpstr>
    </vt:vector>
  </TitlesOfParts>
  <Company>Huawei Technologies Co.,Ltd.</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fanyan (A)</dc:creator>
  <cp:lastModifiedBy>hejunjianzjhw</cp:lastModifiedBy>
  <cp:revision>928</cp:revision>
  <cp:lastPrinted>2020-07-31T09:33:18Z</cp:lastPrinted>
  <dcterms:created xsi:type="dcterms:W3CDTF">2018-11-29T10:16:29Z</dcterms:created>
  <dcterms:modified xsi:type="dcterms:W3CDTF">2021-11-15T00:39:01Z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(3)zS879b5bVz9GVdd1k9ss4hu2chPCrPaZY+8hLF2PsPHn67+syUGL5opdeY8DL0I7qHT0OcD5
J3Rfv7IIHU701gY9W66BppKi5psojZT/BkX1kJN4slXh5T2XxT84kLS2JoxpNp5yCSpTqe2l
LARIgTU9+yyPVH6Ws1ns1I37TyrJoMtjI4TZk3PFFU5ug6nZ2J4hBZk0Rj7rrh7j9LAZEsur
+KlA2oSXBQq7rFrBmz</vt:lpwstr>
  </property>
  <property fmtid="{D5CDD505-2E9C-101B-9397-08002B2CF9AE}" pid="3" name="_2015_ms_pID_7253431">
    <vt:lpwstr>/WZCdpyL+T1IGb7hX8bvTYSNMxSecNDVtH2n1TOifqbSwciC8ZSZT/
jKo44KTPVxDB2PnvFHuc54utWda3z59xOFqeTPva7mbv+j4WAkUNdNHH33ODQTGQAxw2CHvb
MrQbRubodlDw8UBehdkp1o3mnWkOn2ef0HFczvBHj2mF8dhWgbCA8+vFx1cljswdyad/y+5h
sleCJ78hlgV2/Ym+G8IPCe0joHrEgV5gFuc8</vt:lpwstr>
  </property>
  <property fmtid="{D5CDD505-2E9C-101B-9397-08002B2CF9AE}" pid="4" name="_2015_ms_pID_7253432">
    <vt:lpwstr>g0+xwZYl3LsmHvwHeyhvcAk=</vt:lpwstr>
  </property>
  <property fmtid="{D5CDD505-2E9C-101B-9397-08002B2CF9AE}" pid="5" name="ContentTypeId">
    <vt:lpwstr>0x01010002C5B4B712841F4C8A7AAEE2CD191271</vt:lpwstr>
  </property>
  <property fmtid="{D5CDD505-2E9C-101B-9397-08002B2CF9AE}" pid="6" name="_readonly">
    <vt:lpwstr/>
  </property>
  <property fmtid="{D5CDD505-2E9C-101B-9397-08002B2CF9AE}" pid="7" name="_change">
    <vt:lpwstr/>
  </property>
  <property fmtid="{D5CDD505-2E9C-101B-9397-08002B2CF9AE}" pid="8" name="_full-control">
    <vt:lpwstr/>
  </property>
  <property fmtid="{D5CDD505-2E9C-101B-9397-08002B2CF9AE}" pid="9" name="sflag">
    <vt:lpwstr>1636935772</vt:lpwstr>
  </property>
</Properties>
</file>