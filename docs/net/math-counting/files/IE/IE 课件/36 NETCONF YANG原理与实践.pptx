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3"/>
    <p:sldMasterId id="2147483661" r:id="rId4"/>
    <p:sldMasterId id="2147483667" r:id="rId5"/>
  </p:sldMasterIdLst>
  <p:notesMasterIdLst>
    <p:notesMasterId r:id="rId7"/>
  </p:notesMasterIdLst>
  <p:handoutMasterIdLst>
    <p:handoutMasterId r:id="rId56"/>
  </p:handoutMasterIdLst>
  <p:sldIdLst>
    <p:sldId id="257" r:id="rId6"/>
    <p:sldId id="258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284" r:id="rId55"/>
  </p:sldIdLst>
  <p:sldSz cx="12192000" cy="6858000"/>
  <p:notesSz cx="7010400" cy="9296400"/>
  <p:custDataLst>
    <p:tags r:id="rId6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269" userDrawn="1">
          <p15:clr>
            <a:srgbClr val="A4A3A4"/>
          </p15:clr>
        </p15:guide>
        <p15:guide id="4" orient="horz" pos="23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junjianzjhw" initials="h" lastIdx="12" clrIdx="0"/>
  <p:cmAuthor id="2" name="Lixianzhi (Nick)" initials="L(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AE2"/>
    <a:srgbClr val="56C4D2"/>
    <a:srgbClr val="30B5C5"/>
    <a:srgbClr val="BEE9EE"/>
    <a:srgbClr val="FEEEC1"/>
    <a:srgbClr val="D0E8C4"/>
    <a:srgbClr val="D9D9D9"/>
    <a:srgbClr val="C7000B"/>
    <a:srgbClr val="CB3778"/>
    <a:srgbClr val="FAD3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30" autoAdjust="0"/>
  </p:normalViewPr>
  <p:slideViewPr>
    <p:cSldViewPr snapToGrid="0" snapToObjects="1" showGuides="1">
      <p:cViewPr varScale="1">
        <p:scale>
          <a:sx n="64" d="100"/>
          <a:sy n="64" d="100"/>
        </p:scale>
        <p:origin x="48" y="72"/>
      </p:cViewPr>
      <p:guideLst>
        <p:guide pos="5269"/>
        <p:guide orient="horz" pos="23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00" d="100"/>
          <a:sy n="100" d="100"/>
        </p:scale>
        <p:origin x="5028" y="-306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4" Type="http://schemas.openxmlformats.org/officeDocument/2006/relationships/tags" Target="tags/tag4.xml"/><Relationship Id="rId63" Type="http://schemas.openxmlformats.org/officeDocument/2006/relationships/customXml" Target="../customXml/item3.xml"/><Relationship Id="rId62" Type="http://schemas.openxmlformats.org/officeDocument/2006/relationships/customXml" Target="../customXml/item2.xml"/><Relationship Id="rId61" Type="http://schemas.openxmlformats.org/officeDocument/2006/relationships/customXml" Target="../customXml/item1.xml"/><Relationship Id="rId60" Type="http://schemas.openxmlformats.org/officeDocument/2006/relationships/commentAuthors" Target="commentAuthors.xml"/><Relationship Id="rId6" Type="http://schemas.openxmlformats.org/officeDocument/2006/relationships/slide" Target="slides/slide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</a:fld>
            <a:endParaRPr lang="en-US" dirty="0">
              <a:latin typeface="Huawei Sans" panose="020C05030302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39750" indent="-179705" algn="l" defTabSz="1219200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899795" indent="-179705" algn="l" defTabSz="1219200" rtl="0" eaLnBrk="1" fontAlgn="ctr" latinLnBrk="0" hangingPunct="1">
      <a:lnSpc>
        <a:spcPct val="125000"/>
      </a:lnSpc>
      <a:spcAft>
        <a:spcPts val="600"/>
      </a:spcAft>
      <a:buFont typeface="微软雅黑" panose="020B050302020402020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59840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19885" indent="-179705" algn="l" defTabSz="1219200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SNMP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UDP</a:t>
            </a:r>
            <a:r>
              <a:rPr lang="zh-CN" altLang="en-US" dirty="0" smtClean="0"/>
              <a:t>，对于配置管理来说无状态、无序、不可靠。</a:t>
            </a:r>
            <a:endParaRPr lang="en-US" altLang="zh-CN" dirty="0" smtClean="0"/>
          </a:p>
          <a:p>
            <a:r>
              <a:rPr lang="en-US" altLang="zh-CN" dirty="0" smtClean="0"/>
              <a:t>SNMP</a:t>
            </a:r>
            <a:r>
              <a:rPr lang="zh-CN" altLang="en-US" dirty="0" smtClean="0"/>
              <a:t>只能对一个对象单独配置，而不是面向一个业务。多个对象同时配置时，如果有些成功有些失败，会对网络造成未知影响。</a:t>
            </a:r>
            <a:endParaRPr lang="zh-CN" altLang="en-US" dirty="0" smtClean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IETF</a:t>
            </a:r>
            <a:r>
              <a:rPr lang="zh-CN" altLang="en-US" smtClean="0"/>
              <a:t>逐步落实</a:t>
            </a:r>
            <a:r>
              <a:rPr lang="en-US" altLang="zh-CN" smtClean="0"/>
              <a:t>IAB</a:t>
            </a:r>
            <a:r>
              <a:rPr lang="zh-CN" altLang="en-US" smtClean="0"/>
              <a:t>会议结论。不同的工作组逐步完善</a:t>
            </a:r>
            <a:r>
              <a:rPr lang="en-US" altLang="zh-CN" smtClean="0"/>
              <a:t>14</a:t>
            </a:r>
            <a:r>
              <a:rPr lang="zh-CN" altLang="en-US" smtClean="0"/>
              <a:t>大诉求。</a:t>
            </a:r>
            <a:endParaRPr lang="en-US" altLang="zh-CN" smtClean="0"/>
          </a:p>
          <a:p>
            <a:r>
              <a:rPr lang="en-US" altLang="zh-CN" smtClean="0"/>
              <a:t>NETCONF 1.0</a:t>
            </a:r>
            <a:r>
              <a:rPr lang="zh-CN" altLang="en-US" smtClean="0"/>
              <a:t>对模型语言没有要求。</a:t>
            </a:r>
            <a:r>
              <a:rPr lang="en-US" altLang="zh-CN" smtClean="0"/>
              <a:t>NETCONF1.1</a:t>
            </a:r>
            <a:r>
              <a:rPr lang="zh-CN" altLang="en-US" smtClean="0"/>
              <a:t>确定与</a:t>
            </a:r>
            <a:r>
              <a:rPr lang="en-US" altLang="zh-CN" smtClean="0"/>
              <a:t>YANG</a:t>
            </a:r>
            <a:r>
              <a:rPr lang="zh-CN" altLang="en-US" smtClean="0"/>
              <a:t>结合。</a:t>
            </a:r>
            <a:endParaRPr lang="en-US" altLang="zh-CN" smtClean="0"/>
          </a:p>
          <a:p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本例为非真实示例，</a:t>
            </a:r>
            <a:r>
              <a:rPr lang="en-US" altLang="zh-CN" smtClean="0"/>
              <a:t>YANG</a:t>
            </a:r>
            <a:r>
              <a:rPr lang="zh-CN" altLang="en-US" smtClean="0"/>
              <a:t>模型不会将整个设备做成一个</a:t>
            </a:r>
            <a:r>
              <a:rPr lang="en-US" altLang="zh-CN" smtClean="0"/>
              <a:t>YANG</a:t>
            </a:r>
            <a:r>
              <a:rPr lang="zh-CN" altLang="en-US" smtClean="0"/>
              <a:t>文件，而是根据功能拆分成多个</a:t>
            </a:r>
            <a:r>
              <a:rPr lang="en-US" altLang="zh-CN" smtClean="0"/>
              <a:t>YANG</a:t>
            </a:r>
            <a:r>
              <a:rPr lang="zh-CN" altLang="en-US" smtClean="0"/>
              <a:t>文件。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更多详细信息请参考</a:t>
            </a:r>
            <a:r>
              <a:rPr lang="en-US" altLang="zh-CN" dirty="0" smtClean="0"/>
              <a:t>RFC6241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&lt;</a:t>
            </a:r>
            <a:r>
              <a:rPr lang="en-US" altLang="zh-CN" dirty="0" err="1" smtClean="0"/>
              <a:t>config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中可能包含可选的“</a:t>
            </a:r>
            <a:r>
              <a:rPr lang="en-US" altLang="zh-CN" dirty="0" smtClean="0"/>
              <a:t>operation</a:t>
            </a:r>
            <a:r>
              <a:rPr lang="zh-CN" altLang="en-US" dirty="0" smtClean="0"/>
              <a:t>”属性，用来给配置数据指定操作类型。如果未携带“</a:t>
            </a:r>
            <a:r>
              <a:rPr lang="en-US" altLang="zh-CN" dirty="0" smtClean="0"/>
              <a:t>operation</a:t>
            </a:r>
            <a:r>
              <a:rPr lang="zh-CN" altLang="en-US" dirty="0" smtClean="0"/>
              <a:t>”属性，则默认为</a:t>
            </a:r>
            <a:r>
              <a:rPr lang="en-US" altLang="zh-CN" dirty="0" smtClean="0"/>
              <a:t>merge</a:t>
            </a:r>
            <a:r>
              <a:rPr lang="zh-CN" altLang="en-US" dirty="0" smtClean="0"/>
              <a:t>操作。</a:t>
            </a:r>
            <a:r>
              <a:rPr lang="en-US" altLang="zh-CN" dirty="0" smtClean="0"/>
              <a:t>Operation</a:t>
            </a:r>
            <a:r>
              <a:rPr lang="zh-CN" altLang="en-US" dirty="0" smtClean="0"/>
              <a:t>取值如下：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merge</a:t>
            </a:r>
            <a:r>
              <a:rPr lang="zh-CN" altLang="en-US" dirty="0" smtClean="0"/>
              <a:t>：在数据库中修改存在或不存在的目标数据，如果目标数据不存在则创建，如果目标数据存在则修改。这是默认操作。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create</a:t>
            </a:r>
            <a:r>
              <a:rPr lang="zh-CN" altLang="en-US" dirty="0" smtClean="0"/>
              <a:t>：当且仅当配置数据库中不存在待创建的配置数据时，才能成功添加到配置数据库。如果配置数据存在，则会返回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rpc</a:t>
            </a:r>
            <a:r>
              <a:rPr lang="en-US" altLang="zh-CN" dirty="0" smtClean="0"/>
              <a:t>-error&gt;</a:t>
            </a:r>
            <a:r>
              <a:rPr lang="zh-CN" altLang="en-US" dirty="0" smtClean="0"/>
              <a:t>，其中包含一个</a:t>
            </a:r>
            <a:r>
              <a:rPr lang="en-US" altLang="zh-CN" dirty="0" smtClean="0"/>
              <a:t>&lt;error-tag&gt;</a:t>
            </a:r>
            <a:r>
              <a:rPr lang="zh-CN" altLang="en-US" dirty="0" smtClean="0"/>
              <a:t>值“</a:t>
            </a:r>
            <a:r>
              <a:rPr lang="en-US" altLang="zh-CN" dirty="0" smtClean="0"/>
              <a:t>data-exists”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delete</a:t>
            </a:r>
            <a:r>
              <a:rPr lang="zh-CN" altLang="en-US" dirty="0" smtClean="0"/>
              <a:t>：删除配置数据库中指定的配置数据记录。如果数据存在，则删除该数据，如果数据不存在，则返回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rpc</a:t>
            </a:r>
            <a:r>
              <a:rPr lang="en-US" altLang="zh-CN" dirty="0" smtClean="0"/>
              <a:t>-error&gt;</a:t>
            </a:r>
            <a:r>
              <a:rPr lang="zh-CN" altLang="en-US" dirty="0" smtClean="0"/>
              <a:t>，其中包含一个</a:t>
            </a:r>
            <a:r>
              <a:rPr lang="en-US" altLang="zh-CN" dirty="0" smtClean="0"/>
              <a:t>&lt;error-tag&gt;</a:t>
            </a:r>
            <a:r>
              <a:rPr lang="zh-CN" altLang="en-US" dirty="0" smtClean="0"/>
              <a:t>值“</a:t>
            </a:r>
            <a:r>
              <a:rPr lang="en-US" altLang="zh-CN" dirty="0" smtClean="0"/>
              <a:t>data-missing</a:t>
            </a:r>
            <a:r>
              <a:rPr lang="zh-CN" altLang="en-US" dirty="0" smtClean="0"/>
              <a:t>”。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remove</a:t>
            </a:r>
            <a:r>
              <a:rPr lang="zh-CN" altLang="en-US" dirty="0" smtClean="0"/>
              <a:t>：删除配置数据库中指定的配置数据记录。如果数据存在，则删除该数据，如果数据不存在，则返回成功。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Schema</a:t>
            </a:r>
            <a:r>
              <a:rPr lang="zh-CN" altLang="en-US" smtClean="0"/>
              <a:t>是华为基于</a:t>
            </a:r>
            <a:r>
              <a:rPr lang="en-US" altLang="zh-CN" smtClean="0"/>
              <a:t>W3C XML</a:t>
            </a:r>
            <a:r>
              <a:rPr lang="zh-CN" altLang="en-US" smtClean="0"/>
              <a:t>标准，又扩展了私有语法的一种语言，在</a:t>
            </a:r>
            <a:r>
              <a:rPr lang="en-US" altLang="zh-CN" smtClean="0"/>
              <a:t>NETCONF</a:t>
            </a:r>
            <a:r>
              <a:rPr lang="zh-CN" altLang="en-US" smtClean="0"/>
              <a:t>标准没有确定和</a:t>
            </a:r>
            <a:r>
              <a:rPr lang="en-US" altLang="zh-CN" smtClean="0"/>
              <a:t>YANG</a:t>
            </a:r>
            <a:r>
              <a:rPr lang="zh-CN" altLang="en-US" smtClean="0"/>
              <a:t>模型绑定前，</a:t>
            </a:r>
            <a:r>
              <a:rPr lang="en-US" altLang="zh-CN" smtClean="0"/>
              <a:t>VRPV8</a:t>
            </a:r>
            <a:r>
              <a:rPr lang="zh-CN" altLang="en-US" smtClean="0"/>
              <a:t>已经实现了</a:t>
            </a:r>
            <a:r>
              <a:rPr lang="en-US" altLang="zh-CN" smtClean="0"/>
              <a:t>Schema</a:t>
            </a:r>
            <a:r>
              <a:rPr lang="zh-CN" altLang="en-US" smtClean="0"/>
              <a:t>。</a:t>
            </a:r>
            <a:endParaRPr lang="en-US" altLang="zh-CN" smtClean="0"/>
          </a:p>
          <a:p>
            <a:r>
              <a:rPr lang="zh-CN" altLang="en-US" smtClean="0"/>
              <a:t>内容最丰富的是</a:t>
            </a:r>
            <a:r>
              <a:rPr lang="en-US" altLang="zh-CN" smtClean="0"/>
              <a:t>Huawei-YANG</a:t>
            </a:r>
            <a:r>
              <a:rPr lang="zh-CN" altLang="en-US" smtClean="0"/>
              <a:t>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更多详细信息，请参考官网发布</a:t>
            </a:r>
            <a:r>
              <a:rPr lang="en-US" altLang="zh-CN" smtClean="0"/>
              <a:t>《NETCONF YANG API</a:t>
            </a:r>
            <a:r>
              <a:rPr lang="zh-CN" altLang="en-US" smtClean="0"/>
              <a:t>参考</a:t>
            </a:r>
            <a:r>
              <a:rPr lang="en-US" altLang="zh-CN" smtClean="0"/>
              <a:t>》</a:t>
            </a:r>
            <a:r>
              <a:rPr lang="zh-CN" altLang="en-US" smtClean="0"/>
              <a:t>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YANG</a:t>
            </a:r>
            <a:r>
              <a:rPr lang="zh-CN" altLang="en-US" dirty="0" smtClean="0"/>
              <a:t>起源于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，但不仅用于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。虽然统一了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建模语言，但是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文件没有统一。</a:t>
            </a:r>
            <a:endParaRPr lang="en-US" altLang="zh-CN" dirty="0" smtClean="0"/>
          </a:p>
          <a:p>
            <a:r>
              <a:rPr lang="en-US" altLang="zh-CN" dirty="0" smtClean="0"/>
              <a:t>YANG</a:t>
            </a:r>
            <a:r>
              <a:rPr lang="zh-CN" altLang="en-US" dirty="0" smtClean="0"/>
              <a:t>文件可以简单分为三类：厂家私有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文件，</a:t>
            </a:r>
            <a:r>
              <a:rPr lang="en-US" altLang="zh-CN" dirty="0" smtClean="0"/>
              <a:t>IETF</a:t>
            </a:r>
            <a:r>
              <a:rPr lang="zh-CN" altLang="en-US" dirty="0" smtClean="0"/>
              <a:t>标准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OpenConfig</a:t>
            </a:r>
            <a:r>
              <a:rPr lang="en-US" altLang="zh-CN" dirty="0" smtClean="0"/>
              <a:t> YANG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NETCONF</a:t>
            </a:r>
            <a:r>
              <a:rPr lang="zh-CN" altLang="en-US" dirty="0" smtClean="0"/>
              <a:t>协议中的</a:t>
            </a:r>
            <a:r>
              <a:rPr lang="en-US" altLang="zh-CN" dirty="0" err="1" smtClean="0"/>
              <a:t>Config&amp;Status</a:t>
            </a:r>
            <a:r>
              <a:rPr lang="en-US" altLang="zh-CN" dirty="0" smtClean="0"/>
              <a:t> Data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Notification Data</a:t>
            </a:r>
            <a:r>
              <a:rPr lang="zh-CN" altLang="en-US" dirty="0" smtClean="0"/>
              <a:t>和底层的</a:t>
            </a:r>
            <a:r>
              <a:rPr lang="en-US" altLang="zh-CN" dirty="0" smtClean="0"/>
              <a:t>RPC</a:t>
            </a:r>
            <a:r>
              <a:rPr lang="zh-CN" altLang="en-US" dirty="0" smtClean="0"/>
              <a:t>的消息都可以通过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模型来建模实现。</a:t>
            </a:r>
            <a:r>
              <a:rPr lang="en-US" altLang="zh-CN" dirty="0" smtClean="0"/>
              <a:t>YANG</a:t>
            </a:r>
            <a:r>
              <a:rPr lang="zh-CN" altLang="en-US" dirty="0" smtClean="0"/>
              <a:t>的模型文件可以通过工具转换到对应格式的</a:t>
            </a:r>
            <a:r>
              <a:rPr lang="en-US" altLang="zh-CN" dirty="0" smtClean="0"/>
              <a:t>XML/JSON</a:t>
            </a:r>
            <a:r>
              <a:rPr lang="zh-CN" altLang="en-US" dirty="0" smtClean="0"/>
              <a:t>文件，被最终的</a:t>
            </a:r>
            <a:r>
              <a:rPr lang="en-US" altLang="zh-CN" dirty="0" smtClean="0"/>
              <a:t>NETCONF/RESTCONF</a:t>
            </a:r>
            <a:r>
              <a:rPr lang="zh-CN" altLang="en-US" dirty="0" smtClean="0"/>
              <a:t>消息封装。</a:t>
            </a:r>
            <a:endParaRPr lang="en-US" altLang="zh-CN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更多细节请参考</a:t>
            </a:r>
            <a:r>
              <a:rPr lang="en-US" altLang="zh-CN" smtClean="0"/>
              <a:t>RFC7950</a:t>
            </a:r>
            <a:r>
              <a:rPr lang="zh-CN" altLang="en-US" smtClean="0"/>
              <a:t>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smtClean="0">
                <a:sym typeface="Huawei Sans" panose="020C0503030203020204" pitchFamily="34" charset="0"/>
              </a:rPr>
              <a:t>2017</a:t>
            </a:r>
            <a:r>
              <a:rPr lang="zh-CN" altLang="en-US" smtClean="0">
                <a:sym typeface="Huawei Sans" panose="020C0503030203020204" pitchFamily="34" charset="0"/>
              </a:rPr>
              <a:t>年，</a:t>
            </a:r>
            <a:r>
              <a:rPr lang="en-US" altLang="zh-CN" smtClean="0">
                <a:sym typeface="Huawei Sans" panose="020C0503030203020204" pitchFamily="34" charset="0"/>
              </a:rPr>
              <a:t>IETF</a:t>
            </a:r>
            <a:r>
              <a:rPr lang="zh-CN" altLang="en-US" smtClean="0">
                <a:sym typeface="Huawei Sans" panose="020C0503030203020204" pitchFamily="34" charset="0"/>
              </a:rPr>
              <a:t>发布</a:t>
            </a:r>
            <a:r>
              <a:rPr lang="en-US" altLang="zh-CN" smtClean="0">
                <a:sym typeface="Huawei Sans" panose="020C0503030203020204" pitchFamily="34" charset="0"/>
              </a:rPr>
              <a:t>RFC8040</a:t>
            </a:r>
            <a:r>
              <a:rPr lang="zh-CN" altLang="en-US" smtClean="0">
                <a:sym typeface="Huawei Sans" panose="020C0503030203020204" pitchFamily="34" charset="0"/>
              </a:rPr>
              <a:t> </a:t>
            </a:r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协议规范。</a:t>
            </a:r>
            <a:endParaRPr lang="zh-CN" altLang="en-US" smtClean="0">
              <a:sym typeface="Huawei Sans" panose="020C0503030203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NETCONF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RESTCONF</a:t>
            </a:r>
            <a:r>
              <a:rPr lang="zh-CN" altLang="en-US" dirty="0" smtClean="0"/>
              <a:t>支持共存。</a:t>
            </a:r>
            <a:endParaRPr lang="en-US" altLang="zh-CN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NETCONF</a:t>
            </a:r>
            <a:r>
              <a:rPr lang="zh-CN" altLang="en-US" smtClean="0"/>
              <a:t>和</a:t>
            </a:r>
            <a:r>
              <a:rPr lang="en-US" altLang="zh-CN" smtClean="0"/>
              <a:t>RESTCONF</a:t>
            </a:r>
            <a:r>
              <a:rPr lang="zh-CN" altLang="en-US" smtClean="0"/>
              <a:t>支持共存。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请求报文头部可以包含多个字段，例如</a:t>
            </a:r>
            <a:r>
              <a:rPr lang="en-US" altLang="zh-CN" smtClean="0"/>
              <a:t>Accept</a:t>
            </a:r>
            <a:r>
              <a:rPr lang="zh-CN" altLang="en-US" smtClean="0"/>
              <a:t>、</a:t>
            </a:r>
            <a:r>
              <a:rPr lang="en-US" altLang="zh-CN" smtClean="0"/>
              <a:t>Authorization</a:t>
            </a:r>
            <a:r>
              <a:rPr lang="zh-CN" altLang="en-US" smtClean="0"/>
              <a:t>、</a:t>
            </a:r>
            <a:r>
              <a:rPr lang="en-US" altLang="zh-CN" smtClean="0"/>
              <a:t>Host</a:t>
            </a:r>
            <a:r>
              <a:rPr lang="zh-CN" altLang="en-US" smtClean="0"/>
              <a:t>、</a:t>
            </a:r>
            <a:r>
              <a:rPr lang="en-US" altLang="zh-CN" smtClean="0"/>
              <a:t>From</a:t>
            </a:r>
            <a:r>
              <a:rPr lang="zh-CN" altLang="en-US" smtClean="0"/>
              <a:t>等等参数。具体可查阅</a:t>
            </a:r>
            <a:r>
              <a:rPr lang="en-US" altLang="zh-CN" smtClean="0"/>
              <a:t>RFC2916</a:t>
            </a:r>
            <a:r>
              <a:rPr lang="zh-CN" altLang="en-US" smtClean="0"/>
              <a:t>。</a:t>
            </a:r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Header</a:t>
            </a:r>
            <a:r>
              <a:rPr lang="zh-CN" altLang="en-US" dirty="0" smtClean="0"/>
              <a:t>信息包含的</a:t>
            </a:r>
            <a:r>
              <a:rPr lang="en-US" altLang="zh-CN" dirty="0" smtClean="0"/>
              <a:t>Response Header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Entity Header</a:t>
            </a:r>
            <a:r>
              <a:rPr lang="zh-CN" altLang="en-US" dirty="0" smtClean="0"/>
              <a:t>详细，具体字段可以参考</a:t>
            </a:r>
            <a:r>
              <a:rPr lang="en-US" altLang="zh-CN" smtClean="0"/>
              <a:t>RFC2916 </a:t>
            </a:r>
            <a:r>
              <a:rPr lang="en-US" altLang="zh-CN" dirty="0" smtClean="0"/>
              <a:t>6.2</a:t>
            </a:r>
            <a:r>
              <a:rPr lang="zh-CN" altLang="en-US" dirty="0" smtClean="0"/>
              <a:t>和</a:t>
            </a:r>
            <a:r>
              <a:rPr lang="en-US" altLang="zh-CN" dirty="0" smtClean="0"/>
              <a:t>7.1</a:t>
            </a:r>
            <a:r>
              <a:rPr lang="zh-CN" altLang="en-US" dirty="0" smtClean="0"/>
              <a:t>章节。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更多参考</a:t>
            </a:r>
            <a:r>
              <a:rPr lang="en-US" altLang="zh-CN" smtClean="0"/>
              <a:t>RFC7231</a:t>
            </a:r>
            <a:r>
              <a:rPr lang="zh-CN" altLang="en-US" smtClean="0"/>
              <a:t>中</a:t>
            </a:r>
            <a:r>
              <a:rPr lang="en-US" altLang="zh-CN" smtClean="0"/>
              <a:t>6. Response status code</a:t>
            </a:r>
            <a:r>
              <a:rPr lang="zh-CN" altLang="en-US" smtClean="0"/>
              <a:t>章节。</a:t>
            </a:r>
            <a:endParaRPr lang="zh-CN" altLang="en-US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zh-CN" altLang="en-US" dirty="0" smtClean="0"/>
              <a:t>华为使用</a:t>
            </a:r>
            <a:r>
              <a:rPr lang="en-US" altLang="zh-CN" dirty="0" smtClean="0"/>
              <a:t>SSH</a:t>
            </a:r>
            <a:r>
              <a:rPr lang="zh-CN" altLang="en-US" dirty="0" smtClean="0"/>
              <a:t>作为传输层协议。在开启设备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功能时候，需要创建</a:t>
            </a:r>
            <a:r>
              <a:rPr lang="en-US" altLang="zh-CN" dirty="0" smtClean="0"/>
              <a:t>SSH</a:t>
            </a:r>
            <a:r>
              <a:rPr lang="zh-CN" altLang="en-US" dirty="0" smtClean="0"/>
              <a:t>用户作为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用户登陆。</a:t>
            </a:r>
            <a:endParaRPr lang="en-US" altLang="zh-CN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zh-CN" dirty="0" smtClean="0"/>
              <a:t>YANG</a:t>
            </a:r>
            <a:r>
              <a:rPr lang="zh-CN" altLang="en-US" dirty="0" smtClean="0"/>
              <a:t>是建模语言用于描述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RESTCONF</a:t>
            </a:r>
            <a:r>
              <a:rPr lang="zh-CN" altLang="en-US" dirty="0" smtClean="0"/>
              <a:t>的内容层。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RESTCONF</a:t>
            </a:r>
            <a:r>
              <a:rPr lang="zh-CN" altLang="en-US" dirty="0" smtClean="0"/>
              <a:t>区别在于</a:t>
            </a:r>
            <a:r>
              <a:rPr lang="en-US" altLang="zh-CN" dirty="0" smtClean="0"/>
              <a:t>RESTCONF</a:t>
            </a:r>
            <a:r>
              <a:rPr lang="zh-CN" altLang="en-US" dirty="0" smtClean="0"/>
              <a:t>基于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构建传输层、消息层和操作层，而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SSH</a:t>
            </a:r>
            <a:r>
              <a:rPr lang="zh-CN" altLang="en-US" dirty="0" smtClean="0"/>
              <a:t>为传输层、</a:t>
            </a:r>
            <a:r>
              <a:rPr lang="en-US" altLang="zh-CN" dirty="0" smtClean="0"/>
              <a:t>RPC</a:t>
            </a:r>
            <a:r>
              <a:rPr lang="zh-CN" altLang="en-US" dirty="0" smtClean="0"/>
              <a:t>为消息层和</a:t>
            </a:r>
            <a:r>
              <a:rPr lang="en-US" altLang="zh-CN" dirty="0" smtClean="0"/>
              <a:t>NETCONF</a:t>
            </a:r>
            <a:r>
              <a:rPr lang="zh-CN" altLang="en-US" dirty="0" smtClean="0"/>
              <a:t>定义的操作层。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3765">
              <a:lnSpc>
                <a:spcPts val="3440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/>
                <a:gridCol w="1967450"/>
                <a:gridCol w="3023155"/>
                <a:gridCol w="2084624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/>
                <a:gridCol w="1967450"/>
                <a:gridCol w="3023155"/>
                <a:gridCol w="2067692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  <a:endParaRPr lang="zh-CN" altLang="en-US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8227" tIns="39112" rIns="78227" bIns="39112" anchor="ctr"/>
          <a:lstStyle/>
          <a:p>
            <a:pPr algn="l" defTabSz="1001395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  <a:endParaRPr lang="zh-CN" altLang="en-US" sz="3500" b="0" kern="120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4000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  <a:endParaRPr lang="zh-CN" altLang="en-US" sz="4000" i="0" baseline="0" dirty="0">
              <a:solidFill>
                <a:schemeClr val="bg2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600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6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en-US" altLang="zh-CN" dirty="0"/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前言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4050" lvl="1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395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60" indent="-302260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35" indent="-201295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765" indent="-201295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/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395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220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/>
          <p:cNvCxnSpPr/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/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思考题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11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本节小结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cxnSp>
        <p:nvCxnSpPr>
          <p:cNvPr id="9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本章总结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  <a:endParaRPr lang="zh-CN" altLang="en-US" dirty="0"/>
          </a:p>
        </p:txBody>
      </p:sp>
      <p:cxnSp>
        <p:nvCxnSpPr>
          <p:cNvPr id="12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更多信息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/>
          <p:cNvCxnSpPr/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/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anose="020B0503020204020204" charset="-122"/>
              </a:rPr>
              <a:t>学习推荐</a:t>
            </a:r>
            <a:endParaRPr kumimoji="1" lang="zh-CN" altLang="en-US" sz="3635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6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6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7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4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29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0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iming>
    <p:tnLst>
      <p:par>
        <p:cTn id="1" dur="indefinite" restart="never" nodeType="tmRoot"/>
      </p:par>
    </p:tnLst>
  </p:timing>
  <p:txStyles>
    <p:titleStyle>
      <a:lvl1pPr algn="l" defTabSz="913765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ctr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ctr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ctr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sp>
        <p:nvSpPr>
          <p:cNvPr id="2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</a:fld>
            <a:endParaRPr lang="en-US" sz="975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6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7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  <p:sp>
          <p:nvSpPr>
            <p:cNvPr id="8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panose="020B0604020202020204" pitchFamily="34" charset="0"/>
                  <a:cs typeface="Huawei Sans" panose="020C0503030203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panose="020B0604020202020204" pitchFamily="34" charset="0"/>
                <a:cs typeface="Huawei Sans" panose="020C0503030203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iming>
    <p:tnLst>
      <p:par>
        <p:cTn id="1" dur="indefinite" restart="never" nodeType="tmRoot"/>
      </p:par>
    </p:tnLst>
  </p:timing>
  <p:txStyles>
    <p:titleStyle>
      <a:lvl1pPr algn="l" defTabSz="913765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60" indent="-302260" algn="l" defTabSz="913765" rtl="0" eaLnBrk="1" fontAlgn="base" latinLnBrk="0" hangingPunct="1">
        <a:lnSpc>
          <a:spcPct val="140000"/>
        </a:lnSpc>
        <a:spcBef>
          <a:spcPts val="790"/>
        </a:spcBef>
        <a:buSzPct val="50000"/>
        <a:buFont typeface="Wingdings" panose="05000000000000000000" pitchFamily="2" charset="2"/>
        <a:buChar char="l"/>
        <a:defRPr sz="22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685" indent="-252095" algn="l" defTabSz="913765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20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35" indent="-201295" algn="l" defTabSz="913765" rtl="0" eaLnBrk="1" fontAlgn="base" latinLnBrk="0" hangingPunct="1">
        <a:lnSpc>
          <a:spcPct val="140000"/>
        </a:lnSpc>
        <a:spcBef>
          <a:spcPts val="650"/>
        </a:spcBef>
        <a:buClrTx/>
        <a:buSzPct val="50000"/>
        <a:buFont typeface="Wingdings" panose="05000000000000000000" pitchFamily="2" charset="2"/>
        <a:buChar char="n"/>
        <a:defRPr sz="1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540" indent="-198120" algn="l" defTabSz="913765" rtl="0" eaLnBrk="1" fontAlgn="base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765" indent="-201295" algn="l" defTabSz="913765" rtl="0" eaLnBrk="1" fontAlgn="base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/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0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1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hyperlink" Target="../11%20&#35268;&#33539;&#20462;&#25913;/VRPV8%20NETCONF%20&#32593;&#31649;&#25509;&#21475;&#25991;&#26723;%20V1.6.doc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通用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V1.0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万倡利</a:t>
            </a:r>
            <a:r>
              <a:rPr lang="en-US" altLang="zh-CN" dirty="0" smtClean="0">
                <a:sym typeface="Huawei Sans" panose="020C0503030203020204" pitchFamily="34" charset="0"/>
              </a:rPr>
              <a:t>/WX408647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75" name="文本占位符 7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2020.12.29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刘斌</a:t>
            </a:r>
            <a:r>
              <a:rPr lang="en-US" altLang="zh-CN" dirty="0" smtClean="0">
                <a:sym typeface="Huawei Sans" panose="020C0503030203020204" pitchFamily="34" charset="0"/>
              </a:rPr>
              <a:t>/00483614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新开发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何军建</a:t>
            </a:r>
            <a:r>
              <a:rPr lang="en-US" altLang="zh-CN" dirty="0" smtClean="0">
                <a:sym typeface="Huawei Sans" panose="020C0503030203020204" pitchFamily="34" charset="0"/>
              </a:rPr>
              <a:t>/WX580230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2021.08.19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李先</a:t>
            </a:r>
            <a:r>
              <a:rPr lang="zh-CN" altLang="en-US" dirty="0" smtClean="0">
                <a:sym typeface="Huawei Sans" panose="020C0503030203020204" pitchFamily="34" charset="0"/>
              </a:rPr>
              <a:t>之</a:t>
            </a:r>
            <a:r>
              <a:rPr lang="en-US" altLang="zh-CN" smtClean="0">
                <a:sym typeface="Huawei Sans" panose="020C0503030203020204" pitchFamily="34" charset="0"/>
              </a:rPr>
              <a:t>/00354681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优化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NETCONF YANG</a:t>
            </a:r>
            <a:r>
              <a:rPr lang="zh-CN" altLang="en-US" dirty="0">
                <a:sym typeface="Huawei Sans" panose="020C0503030203020204" pitchFamily="34" charset="0"/>
              </a:rPr>
              <a:t>原理与实践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smtClean="0">
                <a:sym typeface="Huawei Sans" panose="020C0503030203020204" pitchFamily="34" charset="0"/>
              </a:rPr>
              <a:t>对于设备的配置管理，工程师更习惯使用</a:t>
            </a:r>
            <a:r>
              <a:rPr lang="en-US" altLang="zh-CN" sz="1800" smtClean="0">
                <a:sym typeface="Huawei Sans" panose="020C0503030203020204" pitchFamily="34" charset="0"/>
              </a:rPr>
              <a:t>CLI</a:t>
            </a:r>
            <a:r>
              <a:rPr lang="zh-CN" altLang="en-US" sz="1800" smtClean="0">
                <a:sym typeface="Huawei Sans" panose="020C0503030203020204" pitchFamily="34" charset="0"/>
              </a:rPr>
              <a:t>命令行的方式与设备交互。该方式简单直接，便于理解。但是在网络自动化领域，</a:t>
            </a:r>
            <a:r>
              <a:rPr lang="en-US" altLang="zh-CN" sz="1800" smtClean="0">
                <a:sym typeface="Huawei Sans" panose="020C0503030203020204" pitchFamily="34" charset="0"/>
              </a:rPr>
              <a:t>CLI</a:t>
            </a:r>
            <a:r>
              <a:rPr lang="zh-CN" altLang="en-US" sz="1800" smtClean="0">
                <a:sym typeface="Huawei Sans" panose="020C0503030203020204" pitchFamily="34" charset="0"/>
              </a:rPr>
              <a:t>方式与设备交互存在效率较低、机器不容易理解命令等问题。</a:t>
            </a:r>
            <a:endParaRPr lang="en-US" altLang="zh-CN" sz="1800" smtClean="0">
              <a:sym typeface="Huawei Sans" panose="020C0503030203020204" pitchFamily="34" charset="0"/>
            </a:endParaRPr>
          </a:p>
          <a:p>
            <a:r>
              <a:rPr lang="en-US" altLang="zh-CN" sz="1800" smtClean="0">
                <a:sym typeface="Huawei Sans" panose="020C0503030203020204" pitchFamily="34" charset="0"/>
              </a:rPr>
              <a:t>IETF</a:t>
            </a:r>
            <a:r>
              <a:rPr lang="zh-CN" altLang="en-US" sz="1800" smtClean="0">
                <a:sym typeface="Huawei Sans" panose="020C0503030203020204" pitchFamily="34" charset="0"/>
              </a:rPr>
              <a:t>为了解决设备配置管理复杂的问题，先后成立工作组，发布了</a:t>
            </a:r>
            <a:r>
              <a:rPr lang="en-US" altLang="zh-CN" sz="1800" smtClean="0">
                <a:sym typeface="Huawei Sans" panose="020C0503030203020204" pitchFamily="34" charset="0"/>
              </a:rPr>
              <a:t>NETCONF</a:t>
            </a:r>
            <a:r>
              <a:rPr lang="zh-CN" altLang="en-US" sz="1800" smtClean="0">
                <a:sym typeface="Huawei Sans" panose="020C0503030203020204" pitchFamily="34" charset="0"/>
              </a:rPr>
              <a:t>、</a:t>
            </a:r>
            <a:r>
              <a:rPr lang="en-US" altLang="zh-CN" sz="1800" smtClean="0">
                <a:sym typeface="Huawei Sans" panose="020C0503030203020204" pitchFamily="34" charset="0"/>
              </a:rPr>
              <a:t>YANG</a:t>
            </a:r>
            <a:r>
              <a:rPr lang="zh-CN" altLang="en-US" sz="1800" smtClean="0">
                <a:sym typeface="Huawei Sans" panose="020C0503030203020204" pitchFamily="34" charset="0"/>
              </a:rPr>
              <a:t>和</a:t>
            </a:r>
            <a:r>
              <a:rPr lang="en-US" altLang="zh-CN" sz="1800" smtClean="0">
                <a:sym typeface="Huawei Sans" panose="020C0503030203020204" pitchFamily="34" charset="0"/>
              </a:rPr>
              <a:t>RESTCONF</a:t>
            </a:r>
            <a:r>
              <a:rPr lang="zh-CN" altLang="en-US" sz="1800" smtClean="0">
                <a:sym typeface="Huawei Sans" panose="020C0503030203020204" pitchFamily="34" charset="0"/>
              </a:rPr>
              <a:t>相关标准。</a:t>
            </a:r>
            <a:endParaRPr lang="en-US" altLang="zh-CN" sz="1800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学完本课程后，您将能够：</a:t>
            </a:r>
            <a:endParaRPr lang="zh-CN" altLang="en-US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 smtClean="0">
                <a:sym typeface="Huawei Sans" panose="020C0503030203020204" pitchFamily="34" charset="0"/>
              </a:rPr>
              <a:t>描述传统网络配置管理的问题与挑战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 smtClean="0">
                <a:sym typeface="Huawei Sans" panose="020C0503030203020204" pitchFamily="34" charset="0"/>
              </a:rPr>
              <a:t>描述</a:t>
            </a:r>
            <a:r>
              <a:rPr lang="en-US" altLang="zh-CN" dirty="0" smtClean="0"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ym typeface="Huawei Sans" panose="020C0503030203020204" pitchFamily="34" charset="0"/>
              </a:rPr>
              <a:t>、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和</a:t>
            </a:r>
            <a:r>
              <a:rPr lang="en-US" altLang="zh-CN" dirty="0" smtClean="0"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ym typeface="Huawei Sans" panose="020C0503030203020204" pitchFamily="34" charset="0"/>
              </a:rPr>
              <a:t>的基本原理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 smtClean="0">
                <a:sym typeface="Huawei Sans" panose="020C0503030203020204" pitchFamily="34" charset="0"/>
              </a:rPr>
              <a:t>描述</a:t>
            </a:r>
            <a:r>
              <a:rPr lang="en-US" altLang="zh-CN" dirty="0" smtClean="0"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ym typeface="Huawei Sans" panose="020C0503030203020204" pitchFamily="34" charset="0"/>
              </a:rPr>
              <a:t>、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和</a:t>
            </a:r>
            <a:r>
              <a:rPr lang="en-US" altLang="zh-CN" dirty="0" smtClean="0"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ym typeface="Huawei Sans" panose="020C0503030203020204" pitchFamily="34" charset="0"/>
              </a:rPr>
              <a:t>之间的区别和关系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 smtClean="0">
                <a:sym typeface="Huawei Sans" panose="020C0503030203020204" pitchFamily="34" charset="0"/>
              </a:rPr>
              <a:t>了解</a:t>
            </a:r>
            <a:r>
              <a:rPr lang="en-US" altLang="zh-CN" dirty="0" smtClean="0"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ym typeface="Huawei Sans" panose="020C0503030203020204" pitchFamily="34" charset="0"/>
              </a:rPr>
              <a:t>和</a:t>
            </a:r>
            <a:r>
              <a:rPr lang="en-US" altLang="zh-CN" dirty="0" smtClean="0"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ym typeface="Huawei Sans" panose="020C0503030203020204" pitchFamily="34" charset="0"/>
              </a:rPr>
              <a:t>的</a:t>
            </a:r>
            <a:r>
              <a:rPr lang="zh-CN" altLang="en-US" smtClean="0">
                <a:sym typeface="Huawei Sans" panose="020C0503030203020204" pitchFamily="34" charset="0"/>
              </a:rPr>
              <a:t>工作原理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b="1" dirty="0" smtClean="0">
                <a:sym typeface="Huawei Sans" panose="020C0503030203020204" pitchFamily="34" charset="0"/>
              </a:rPr>
              <a:t>网络管理技术背景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建模语言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设备数据简介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 bwMode="gray">
          <a:xfrm>
            <a:off x="624521" y="1177932"/>
            <a:ext cx="5364634" cy="4937512"/>
            <a:chOff x="3413683" y="1303645"/>
            <a:chExt cx="5364634" cy="4937512"/>
          </a:xfrm>
        </p:grpSpPr>
        <p:sp>
          <p:nvSpPr>
            <p:cNvPr id="15" name="椭圆 14"/>
            <p:cNvSpPr/>
            <p:nvPr/>
          </p:nvSpPr>
          <p:spPr bwMode="gray">
            <a:xfrm>
              <a:off x="3413683" y="1303645"/>
              <a:ext cx="5364634" cy="4937512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椭圆 5"/>
            <p:cNvSpPr/>
            <p:nvPr/>
          </p:nvSpPr>
          <p:spPr bwMode="gray">
            <a:xfrm>
              <a:off x="4481746" y="2209879"/>
              <a:ext cx="3228508" cy="2971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" name="圆角矩形 75"/>
            <p:cNvSpPr/>
            <p:nvPr/>
          </p:nvSpPr>
          <p:spPr bwMode="gray">
            <a:xfrm>
              <a:off x="4810389" y="3101473"/>
              <a:ext cx="1166858" cy="394020"/>
            </a:xfrm>
            <a:prstGeom prst="roundRect">
              <a:avLst>
                <a:gd name="adj" fmla="val 10604"/>
              </a:avLst>
            </a:prstGeom>
            <a:solidFill>
              <a:srgbClr val="56C4D2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配置数据</a:t>
              </a:r>
              <a:endPara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" name="圆角矩形 75"/>
            <p:cNvSpPr/>
            <p:nvPr/>
          </p:nvSpPr>
          <p:spPr bwMode="gray">
            <a:xfrm>
              <a:off x="6271053" y="3101473"/>
              <a:ext cx="1166858" cy="394020"/>
            </a:xfrm>
            <a:prstGeom prst="roundRect">
              <a:avLst>
                <a:gd name="adj" fmla="val 10604"/>
              </a:avLst>
            </a:prstGeom>
            <a:solidFill>
              <a:srgbClr val="FFD17D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状态数据</a:t>
              </a:r>
              <a:endParaRPr lang="zh-CN" altLang="en-US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" name="图片 2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5826000" y="4315951"/>
              <a:ext cx="540000" cy="441818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 bwMode="gray">
            <a:xfrm>
              <a:off x="4443988" y="1802294"/>
              <a:ext cx="1020025" cy="478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20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</a:t>
              </a:r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 bwMode="gray">
            <a:xfrm>
              <a:off x="4174720" y="5029714"/>
              <a:ext cx="1503217" cy="478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20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zh-CN" altLang="en-US" sz="20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 bwMode="gray">
            <a:xfrm>
              <a:off x="6625282" y="5048124"/>
              <a:ext cx="1503217" cy="478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20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RESTCONF</a:t>
              </a:r>
              <a:endParaRPr lang="zh-CN" altLang="en-US" sz="20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 bwMode="gray">
            <a:xfrm>
              <a:off x="6508057" y="1765055"/>
              <a:ext cx="1503217" cy="478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20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Telemetry</a:t>
              </a:r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3661366" y="3416004"/>
              <a:ext cx="904321" cy="478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20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CLI</a:t>
              </a:r>
              <a:endParaRPr lang="zh-CN" altLang="en-US" sz="20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8" name="文本框 17"/>
          <p:cNvSpPr txBox="1"/>
          <p:nvPr/>
        </p:nvSpPr>
        <p:spPr bwMode="gray">
          <a:xfrm>
            <a:off x="6168122" y="1413049"/>
            <a:ext cx="5364632" cy="2426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数据是信息的载体。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运行设备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上可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获取的信息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被分为两类：</a:t>
            </a:r>
            <a:r>
              <a:rPr lang="zh-CN" altLang="en-US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配置数据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zh-CN" altLang="en-US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状态数据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>
              <a:lnSpc>
                <a:spcPct val="140000"/>
              </a:lnSpc>
              <a:spcBef>
                <a:spcPts val="720"/>
              </a:spcBef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配置数据是一类可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写（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writable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数据。它可以改变系统的状态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，例如从初始状态变为当前状态。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54685" lvl="1" indent="-252095" defTabSz="913765">
              <a:lnSpc>
                <a:spcPct val="140000"/>
              </a:lnSpc>
              <a:spcBef>
                <a:spcPts val="720"/>
              </a:spcBef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状态数据是系统上的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只读（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read-only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非配置数据，例如表示状态信息和统计信息。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6662765" y="4490426"/>
            <a:ext cx="4600372" cy="1255728"/>
          </a:xfrm>
          <a:prstGeom prst="rect">
            <a:avLst/>
          </a:prstGeom>
          <a:noFill/>
          <a:ln>
            <a:solidFill>
              <a:srgbClr val="56C4D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更改设备数据有多种方法，可以基于命令行也可以基于特定协议</a:t>
            </a:r>
            <a:r>
              <a:rPr lang="zh-CN" altLang="en-US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r>
              <a:rPr lang="zh-CN" altLang="en-US" smtClean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命令行</a:t>
            </a:r>
            <a:r>
              <a:rPr lang="zh-CN" altLang="en-US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r>
              <a:rPr lang="zh-CN" altLang="en-US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是最经典的获取设备数据的方法。</a:t>
            </a:r>
            <a:endParaRPr lang="zh-CN" altLang="en-US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如何配置一台网络设备？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设备的配置管理有多种方法，可以用</a:t>
            </a:r>
            <a:r>
              <a:rPr lang="en-US" altLang="zh-CN" sz="1800" dirty="0">
                <a:sym typeface="Huawei Sans" panose="020C0503030203020204" pitchFamily="34" charset="0"/>
              </a:rPr>
              <a:t>Console</a:t>
            </a:r>
            <a:r>
              <a:rPr lang="zh-CN" altLang="en-US" sz="1800" dirty="0">
                <a:sym typeface="Huawei Sans" panose="020C0503030203020204" pitchFamily="34" charset="0"/>
              </a:rPr>
              <a:t>线直连或者</a:t>
            </a:r>
            <a:r>
              <a:rPr lang="en-US" altLang="zh-CN" sz="1800" dirty="0">
                <a:sym typeface="Huawei Sans" panose="020C0503030203020204" pitchFamily="34" charset="0"/>
              </a:rPr>
              <a:t>SSH</a:t>
            </a:r>
            <a:r>
              <a:rPr lang="zh-CN" altLang="en-US" sz="1800" dirty="0">
                <a:sym typeface="Huawei Sans" panose="020C0503030203020204" pitchFamily="34" charset="0"/>
              </a:rPr>
              <a:t>等方式远程登录设备并使用</a:t>
            </a:r>
            <a:r>
              <a:rPr lang="en-US" altLang="zh-CN" sz="1800" dirty="0">
                <a:sym typeface="Huawei Sans" panose="020C0503030203020204" pitchFamily="34" charset="0"/>
              </a:rPr>
              <a:t>CLI</a:t>
            </a:r>
            <a:r>
              <a:rPr lang="zh-CN" altLang="en-US" sz="1800" dirty="0">
                <a:sym typeface="Huawei Sans" panose="020C0503030203020204" pitchFamily="34" charset="0"/>
              </a:rPr>
              <a:t>配置，也可以借助网管服务器使用</a:t>
            </a:r>
            <a:r>
              <a:rPr lang="en-US" altLang="zh-CN" sz="1800" dirty="0">
                <a:sym typeface="Huawei Sans" panose="020C0503030203020204" pitchFamily="34" charset="0"/>
              </a:rPr>
              <a:t>SNMP Set</a:t>
            </a:r>
            <a:r>
              <a:rPr lang="zh-CN" altLang="en-US" sz="1800" dirty="0">
                <a:sym typeface="Huawei Sans" panose="020C0503030203020204" pitchFamily="34" charset="0"/>
              </a:rPr>
              <a:t>配置设备</a:t>
            </a:r>
            <a:r>
              <a:rPr lang="en-US" altLang="zh-CN" sz="1800" dirty="0">
                <a:sym typeface="Huawei Sans" panose="020C0503030203020204" pitchFamily="34" charset="0"/>
              </a:rPr>
              <a:t>MIB</a:t>
            </a:r>
            <a:r>
              <a:rPr lang="zh-CN" altLang="en-US" sz="1800" dirty="0">
                <a:sym typeface="Huawei Sans" panose="020C0503030203020204" pitchFamily="34" charset="0"/>
              </a:rPr>
              <a:t>节点中的参数。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随着网络规模的增大、复杂性的增加，以上两种方式已经不能满足配置管理的需求。为了解决这样的问题，基于可扩展标记语言</a:t>
            </a:r>
            <a:r>
              <a:rPr lang="en-US" altLang="zh-CN" sz="1800" dirty="0">
                <a:sym typeface="Huawei Sans" panose="020C0503030203020204" pitchFamily="34" charset="0"/>
              </a:rPr>
              <a:t>XML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Extensible Markup Language</a:t>
            </a:r>
            <a:r>
              <a:rPr lang="zh-CN" altLang="en-US" sz="1800" dirty="0">
                <a:sym typeface="Huawei Sans" panose="020C0503030203020204" pitchFamily="34" charset="0"/>
              </a:rPr>
              <a:t>）的</a:t>
            </a:r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协议应运而生。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 bwMode="gray">
          <a:xfrm>
            <a:off x="729206" y="3911307"/>
            <a:ext cx="10284082" cy="1845932"/>
            <a:chOff x="729206" y="3265665"/>
            <a:chExt cx="10284082" cy="1845932"/>
          </a:xfrm>
        </p:grpSpPr>
        <p:sp>
          <p:nvSpPr>
            <p:cNvPr id="58" name="矩形: 圆角 57"/>
            <p:cNvSpPr/>
            <p:nvPr/>
          </p:nvSpPr>
          <p:spPr bwMode="gray">
            <a:xfrm>
              <a:off x="7702939" y="3265665"/>
              <a:ext cx="3310349" cy="1845932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矩形: 圆角 56"/>
            <p:cNvSpPr/>
            <p:nvPr/>
          </p:nvSpPr>
          <p:spPr bwMode="gray">
            <a:xfrm>
              <a:off x="729206" y="3265665"/>
              <a:ext cx="5389944" cy="1845932"/>
            </a:xfrm>
            <a:prstGeom prst="roundRect">
              <a:avLst/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5" name="图片 4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3336486" y="3760672"/>
              <a:ext cx="540000" cy="441818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10186" y="3757065"/>
              <a:ext cx="540000" cy="442800"/>
            </a:xfrm>
            <a:prstGeom prst="rect">
              <a:avLst/>
            </a:prstGeom>
          </p:spPr>
        </p:pic>
        <p:cxnSp>
          <p:nvCxnSpPr>
            <p:cNvPr id="8" name="直接连接符 7"/>
            <p:cNvCxnSpPr>
              <a:stCxn id="7" idx="3"/>
              <a:endCxn id="5" idx="1"/>
            </p:cNvCxnSpPr>
            <p:nvPr/>
          </p:nvCxnSpPr>
          <p:spPr bwMode="gray">
            <a:xfrm>
              <a:off x="1450186" y="3978465"/>
              <a:ext cx="1886300" cy="31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 bwMode="gray">
            <a:xfrm>
              <a:off x="1859120" y="4045485"/>
              <a:ext cx="10078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Console</a:t>
              </a:r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 bwMode="gray">
            <a:xfrm>
              <a:off x="1726070" y="3559988"/>
              <a:ext cx="13326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Telnet/SSH</a:t>
              </a:r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5" name="直接连接符 14"/>
            <p:cNvCxnSpPr>
              <a:stCxn id="5" idx="3"/>
              <a:endCxn id="23" idx="1"/>
            </p:cNvCxnSpPr>
            <p:nvPr/>
          </p:nvCxnSpPr>
          <p:spPr bwMode="gray">
            <a:xfrm flipV="1">
              <a:off x="3876486" y="3981090"/>
              <a:ext cx="1608502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 bwMode="gray">
            <a:xfrm>
              <a:off x="3988084" y="3584070"/>
              <a:ext cx="18627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 Set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操作</a:t>
              </a:r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圆角矩形 75"/>
            <p:cNvSpPr/>
            <p:nvPr/>
          </p:nvSpPr>
          <p:spPr bwMode="gray">
            <a:xfrm>
              <a:off x="1617327" y="4493303"/>
              <a:ext cx="1484689" cy="394020"/>
            </a:xfrm>
            <a:prstGeom prst="roundRect">
              <a:avLst>
                <a:gd name="adj" fmla="val 10604"/>
              </a:avLst>
            </a:prstGeom>
            <a:solidFill>
              <a:srgbClr val="56C4D2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命令行</a:t>
              </a:r>
              <a:endParaRPr lang="zh-CN" altLang="en-US" sz="18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23" name="图片 22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5484988" y="3759690"/>
              <a:ext cx="540000" cy="442800"/>
            </a:xfrm>
            <a:prstGeom prst="rect">
              <a:avLst/>
            </a:prstGeom>
          </p:spPr>
        </p:pic>
        <p:sp>
          <p:nvSpPr>
            <p:cNvPr id="32" name="圆角矩形 75"/>
            <p:cNvSpPr/>
            <p:nvPr/>
          </p:nvSpPr>
          <p:spPr bwMode="gray">
            <a:xfrm>
              <a:off x="4132544" y="4493303"/>
              <a:ext cx="1238110" cy="394020"/>
            </a:xfrm>
            <a:prstGeom prst="roundRect">
              <a:avLst>
                <a:gd name="adj" fmla="val 10604"/>
              </a:avLst>
            </a:prstGeom>
            <a:solidFill>
              <a:srgbClr val="56C4D2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 </a:t>
              </a:r>
              <a:endPara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35" name="图片 34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8006979" y="3760672"/>
              <a:ext cx="540000" cy="441818"/>
            </a:xfrm>
            <a:prstGeom prst="rect">
              <a:avLst/>
            </a:prstGeom>
          </p:spPr>
        </p:pic>
        <p:cxnSp>
          <p:nvCxnSpPr>
            <p:cNvPr id="50" name="直接连接符 49"/>
            <p:cNvCxnSpPr>
              <a:endCxn id="51" idx="1"/>
            </p:cNvCxnSpPr>
            <p:nvPr/>
          </p:nvCxnSpPr>
          <p:spPr bwMode="gray">
            <a:xfrm flipV="1">
              <a:off x="8546979" y="3978465"/>
              <a:ext cx="1747401" cy="4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图片 50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294380" y="3757065"/>
              <a:ext cx="540000" cy="442800"/>
            </a:xfrm>
            <a:prstGeom prst="rect">
              <a:avLst/>
            </a:prstGeom>
          </p:spPr>
        </p:pic>
        <p:sp>
          <p:nvSpPr>
            <p:cNvPr id="53" name="文本框 52"/>
            <p:cNvSpPr txBox="1"/>
            <p:nvPr/>
          </p:nvSpPr>
          <p:spPr bwMode="gray">
            <a:xfrm>
              <a:off x="8825225" y="3590426"/>
              <a:ext cx="11993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endPara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RESTCONF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4" name="圆角矩形 75"/>
            <p:cNvSpPr/>
            <p:nvPr/>
          </p:nvSpPr>
          <p:spPr bwMode="gray">
            <a:xfrm>
              <a:off x="8021137" y="4493303"/>
              <a:ext cx="2847967" cy="394020"/>
            </a:xfrm>
            <a:prstGeom prst="roundRect">
              <a:avLst>
                <a:gd name="adj" fmla="val 10604"/>
              </a:avLst>
            </a:prstGeom>
            <a:solidFill>
              <a:srgbClr val="56C4D2"/>
            </a:solidFill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NETCONF/RESTCONF</a:t>
              </a:r>
              <a:endPara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5" name="下箭头 63"/>
          <p:cNvSpPr/>
          <p:nvPr/>
        </p:nvSpPr>
        <p:spPr bwMode="gray">
          <a:xfrm rot="5400000" flipV="1">
            <a:off x="6285543" y="4258642"/>
            <a:ext cx="1133202" cy="1056478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-1" fmla="*/ 258884 w 1035535"/>
              <a:gd name="connsiteY0-2" fmla="*/ 0 h 794114"/>
              <a:gd name="connsiteX1-3" fmla="*/ 776651 w 1035535"/>
              <a:gd name="connsiteY1-4" fmla="*/ 0 h 794114"/>
              <a:gd name="connsiteX2-5" fmla="*/ 776651 w 1035535"/>
              <a:gd name="connsiteY2-6" fmla="*/ 468495 h 794114"/>
              <a:gd name="connsiteX3-7" fmla="*/ 1035535 w 1035535"/>
              <a:gd name="connsiteY3-8" fmla="*/ 468495 h 794114"/>
              <a:gd name="connsiteX4-9" fmla="*/ 517768 w 1035535"/>
              <a:gd name="connsiteY4-10" fmla="*/ 794114 h 794114"/>
              <a:gd name="connsiteX5-11" fmla="*/ 0 w 1035535"/>
              <a:gd name="connsiteY5-12" fmla="*/ 468495 h 794114"/>
              <a:gd name="connsiteX6-13" fmla="*/ 258884 w 1035535"/>
              <a:gd name="connsiteY6-14" fmla="*/ 468495 h 794114"/>
              <a:gd name="connsiteX7-15" fmla="*/ 350324 w 1035535"/>
              <a:gd name="connsiteY7-16" fmla="*/ 91440 h 794114"/>
              <a:gd name="connsiteX0-17" fmla="*/ 258884 w 1035535"/>
              <a:gd name="connsiteY0-18" fmla="*/ 0 h 794114"/>
              <a:gd name="connsiteX1-19" fmla="*/ 776651 w 1035535"/>
              <a:gd name="connsiteY1-20" fmla="*/ 468495 h 794114"/>
              <a:gd name="connsiteX2-21" fmla="*/ 1035535 w 1035535"/>
              <a:gd name="connsiteY2-22" fmla="*/ 468495 h 794114"/>
              <a:gd name="connsiteX3-23" fmla="*/ 517768 w 1035535"/>
              <a:gd name="connsiteY3-24" fmla="*/ 794114 h 794114"/>
              <a:gd name="connsiteX4-25" fmla="*/ 0 w 1035535"/>
              <a:gd name="connsiteY4-26" fmla="*/ 468495 h 794114"/>
              <a:gd name="connsiteX5-27" fmla="*/ 258884 w 1035535"/>
              <a:gd name="connsiteY5-28" fmla="*/ 468495 h 794114"/>
              <a:gd name="connsiteX6-29" fmla="*/ 350324 w 1035535"/>
              <a:gd name="connsiteY6-30" fmla="*/ 91440 h 794114"/>
              <a:gd name="connsiteX0-31" fmla="*/ 1016121 w 1035535"/>
              <a:gd name="connsiteY0-32" fmla="*/ 0 h 794114"/>
              <a:gd name="connsiteX1-33" fmla="*/ 776651 w 1035535"/>
              <a:gd name="connsiteY1-34" fmla="*/ 468495 h 794114"/>
              <a:gd name="connsiteX2-35" fmla="*/ 1035535 w 1035535"/>
              <a:gd name="connsiteY2-36" fmla="*/ 468495 h 794114"/>
              <a:gd name="connsiteX3-37" fmla="*/ 517768 w 1035535"/>
              <a:gd name="connsiteY3-38" fmla="*/ 794114 h 794114"/>
              <a:gd name="connsiteX4-39" fmla="*/ 0 w 1035535"/>
              <a:gd name="connsiteY4-40" fmla="*/ 468495 h 794114"/>
              <a:gd name="connsiteX5-41" fmla="*/ 258884 w 1035535"/>
              <a:gd name="connsiteY5-42" fmla="*/ 468495 h 794114"/>
              <a:gd name="connsiteX6-43" fmla="*/ 350324 w 1035535"/>
              <a:gd name="connsiteY6-44" fmla="*/ 91440 h 794114"/>
              <a:gd name="connsiteX0-45" fmla="*/ 1018222 w 1037636"/>
              <a:gd name="connsiteY0-46" fmla="*/ 0 h 794114"/>
              <a:gd name="connsiteX1-47" fmla="*/ 778752 w 1037636"/>
              <a:gd name="connsiteY1-48" fmla="*/ 468495 h 794114"/>
              <a:gd name="connsiteX2-49" fmla="*/ 1037636 w 1037636"/>
              <a:gd name="connsiteY2-50" fmla="*/ 468495 h 794114"/>
              <a:gd name="connsiteX3-51" fmla="*/ 519869 w 1037636"/>
              <a:gd name="connsiteY3-52" fmla="*/ 794114 h 794114"/>
              <a:gd name="connsiteX4-53" fmla="*/ 2101 w 1037636"/>
              <a:gd name="connsiteY4-54" fmla="*/ 468495 h 794114"/>
              <a:gd name="connsiteX5-55" fmla="*/ 260985 w 1037636"/>
              <a:gd name="connsiteY5-56" fmla="*/ 468495 h 794114"/>
              <a:gd name="connsiteX6-57" fmla="*/ 0 w 1037636"/>
              <a:gd name="connsiteY6-58" fmla="*/ 86678 h 794114"/>
              <a:gd name="connsiteX0-59" fmla="*/ 1027747 w 1047161"/>
              <a:gd name="connsiteY0-60" fmla="*/ 0 h 794114"/>
              <a:gd name="connsiteX1-61" fmla="*/ 788277 w 1047161"/>
              <a:gd name="connsiteY1-62" fmla="*/ 468495 h 794114"/>
              <a:gd name="connsiteX2-63" fmla="*/ 1047161 w 1047161"/>
              <a:gd name="connsiteY2-64" fmla="*/ 468495 h 794114"/>
              <a:gd name="connsiteX3-65" fmla="*/ 529394 w 1047161"/>
              <a:gd name="connsiteY3-66" fmla="*/ 794114 h 794114"/>
              <a:gd name="connsiteX4-67" fmla="*/ 11626 w 1047161"/>
              <a:gd name="connsiteY4-68" fmla="*/ 468495 h 794114"/>
              <a:gd name="connsiteX5-69" fmla="*/ 270510 w 1047161"/>
              <a:gd name="connsiteY5-70" fmla="*/ 468495 h 794114"/>
              <a:gd name="connsiteX6-71" fmla="*/ 0 w 1047161"/>
              <a:gd name="connsiteY6-72" fmla="*/ 10478 h 794114"/>
              <a:gd name="connsiteX0-73" fmla="*/ 1016121 w 1035535"/>
              <a:gd name="connsiteY0-74" fmla="*/ 13335 h 807449"/>
              <a:gd name="connsiteX1-75" fmla="*/ 776651 w 1035535"/>
              <a:gd name="connsiteY1-76" fmla="*/ 481830 h 807449"/>
              <a:gd name="connsiteX2-77" fmla="*/ 1035535 w 1035535"/>
              <a:gd name="connsiteY2-78" fmla="*/ 481830 h 807449"/>
              <a:gd name="connsiteX3-79" fmla="*/ 517768 w 1035535"/>
              <a:gd name="connsiteY3-80" fmla="*/ 807449 h 807449"/>
              <a:gd name="connsiteX4-81" fmla="*/ 0 w 1035535"/>
              <a:gd name="connsiteY4-82" fmla="*/ 481830 h 807449"/>
              <a:gd name="connsiteX5-83" fmla="*/ 258884 w 1035535"/>
              <a:gd name="connsiteY5-84" fmla="*/ 481830 h 807449"/>
              <a:gd name="connsiteX6-85" fmla="*/ 12187 w 1035535"/>
              <a:gd name="connsiteY6-86" fmla="*/ 0 h 807449"/>
              <a:gd name="connsiteX0-87" fmla="*/ 1016121 w 1035535"/>
              <a:gd name="connsiteY0-88" fmla="*/ 13335 h 807449"/>
              <a:gd name="connsiteX1-89" fmla="*/ 776651 w 1035535"/>
              <a:gd name="connsiteY1-90" fmla="*/ 481830 h 807449"/>
              <a:gd name="connsiteX2-91" fmla="*/ 1035535 w 1035535"/>
              <a:gd name="connsiteY2-92" fmla="*/ 481830 h 807449"/>
              <a:gd name="connsiteX3-93" fmla="*/ 517768 w 1035535"/>
              <a:gd name="connsiteY3-94" fmla="*/ 807449 h 807449"/>
              <a:gd name="connsiteX4-95" fmla="*/ 0 w 1035535"/>
              <a:gd name="connsiteY4-96" fmla="*/ 481830 h 807449"/>
              <a:gd name="connsiteX5-97" fmla="*/ 392234 w 1035535"/>
              <a:gd name="connsiteY5-98" fmla="*/ 486592 h 807449"/>
              <a:gd name="connsiteX6-99" fmla="*/ 12187 w 1035535"/>
              <a:gd name="connsiteY6-100" fmla="*/ 0 h 807449"/>
              <a:gd name="connsiteX0-101" fmla="*/ 1016121 w 1035535"/>
              <a:gd name="connsiteY0-102" fmla="*/ 13335 h 807449"/>
              <a:gd name="connsiteX1-103" fmla="*/ 619488 w 1035535"/>
              <a:gd name="connsiteY1-104" fmla="*/ 481830 h 807449"/>
              <a:gd name="connsiteX2-105" fmla="*/ 1035535 w 1035535"/>
              <a:gd name="connsiteY2-106" fmla="*/ 481830 h 807449"/>
              <a:gd name="connsiteX3-107" fmla="*/ 517768 w 1035535"/>
              <a:gd name="connsiteY3-108" fmla="*/ 807449 h 807449"/>
              <a:gd name="connsiteX4-109" fmla="*/ 0 w 1035535"/>
              <a:gd name="connsiteY4-110" fmla="*/ 481830 h 807449"/>
              <a:gd name="connsiteX5-111" fmla="*/ 392234 w 1035535"/>
              <a:gd name="connsiteY5-112" fmla="*/ 486592 h 807449"/>
              <a:gd name="connsiteX6-113" fmla="*/ 12187 w 1035535"/>
              <a:gd name="connsiteY6-114" fmla="*/ 0 h 807449"/>
              <a:gd name="connsiteX0-115" fmla="*/ 1016121 w 1035535"/>
              <a:gd name="connsiteY0-116" fmla="*/ 13335 h 807449"/>
              <a:gd name="connsiteX1-117" fmla="*/ 619488 w 1035535"/>
              <a:gd name="connsiteY1-118" fmla="*/ 481830 h 807449"/>
              <a:gd name="connsiteX2-119" fmla="*/ 1035535 w 1035535"/>
              <a:gd name="connsiteY2-120" fmla="*/ 481830 h 807449"/>
              <a:gd name="connsiteX3-121" fmla="*/ 517768 w 1035535"/>
              <a:gd name="connsiteY3-122" fmla="*/ 807449 h 807449"/>
              <a:gd name="connsiteX4-123" fmla="*/ 0 w 1035535"/>
              <a:gd name="connsiteY4-124" fmla="*/ 481830 h 807449"/>
              <a:gd name="connsiteX5-125" fmla="*/ 392234 w 1035535"/>
              <a:gd name="connsiteY5-126" fmla="*/ 486592 h 807449"/>
              <a:gd name="connsiteX6-127" fmla="*/ 12187 w 1035535"/>
              <a:gd name="connsiteY6-128" fmla="*/ 0 h 807449"/>
              <a:gd name="connsiteX0-129" fmla="*/ 1016121 w 1035535"/>
              <a:gd name="connsiteY0-130" fmla="*/ 13335 h 807449"/>
              <a:gd name="connsiteX1-131" fmla="*/ 619488 w 1035535"/>
              <a:gd name="connsiteY1-132" fmla="*/ 481830 h 807449"/>
              <a:gd name="connsiteX2-133" fmla="*/ 1035535 w 1035535"/>
              <a:gd name="connsiteY2-134" fmla="*/ 481830 h 807449"/>
              <a:gd name="connsiteX3-135" fmla="*/ 517768 w 1035535"/>
              <a:gd name="connsiteY3-136" fmla="*/ 807449 h 807449"/>
              <a:gd name="connsiteX4-137" fmla="*/ 0 w 1035535"/>
              <a:gd name="connsiteY4-138" fmla="*/ 481830 h 807449"/>
              <a:gd name="connsiteX5-139" fmla="*/ 392234 w 1035535"/>
              <a:gd name="connsiteY5-140" fmla="*/ 486592 h 807449"/>
              <a:gd name="connsiteX6-141" fmla="*/ 12187 w 1035535"/>
              <a:gd name="connsiteY6-142" fmla="*/ 0 h 807449"/>
              <a:gd name="connsiteX0-143" fmla="*/ 1044696 w 1044696"/>
              <a:gd name="connsiteY0-144" fmla="*/ 0 h 832214"/>
              <a:gd name="connsiteX1-145" fmla="*/ 619488 w 1044696"/>
              <a:gd name="connsiteY1-146" fmla="*/ 506595 h 832214"/>
              <a:gd name="connsiteX2-147" fmla="*/ 1035535 w 1044696"/>
              <a:gd name="connsiteY2-148" fmla="*/ 506595 h 832214"/>
              <a:gd name="connsiteX3-149" fmla="*/ 517768 w 1044696"/>
              <a:gd name="connsiteY3-150" fmla="*/ 832214 h 832214"/>
              <a:gd name="connsiteX4-151" fmla="*/ 0 w 1044696"/>
              <a:gd name="connsiteY4-152" fmla="*/ 506595 h 832214"/>
              <a:gd name="connsiteX5-153" fmla="*/ 392234 w 1044696"/>
              <a:gd name="connsiteY5-154" fmla="*/ 511357 h 832214"/>
              <a:gd name="connsiteX6-155" fmla="*/ 12187 w 1044696"/>
              <a:gd name="connsiteY6-156" fmla="*/ 24765 h 832214"/>
              <a:gd name="connsiteX0-157" fmla="*/ 1032509 w 1032509"/>
              <a:gd name="connsiteY0-158" fmla="*/ 0 h 832214"/>
              <a:gd name="connsiteX1-159" fmla="*/ 607301 w 1032509"/>
              <a:gd name="connsiteY1-160" fmla="*/ 506595 h 832214"/>
              <a:gd name="connsiteX2-161" fmla="*/ 1023348 w 1032509"/>
              <a:gd name="connsiteY2-162" fmla="*/ 506595 h 832214"/>
              <a:gd name="connsiteX3-163" fmla="*/ 505581 w 1032509"/>
              <a:gd name="connsiteY3-164" fmla="*/ 832214 h 832214"/>
              <a:gd name="connsiteX4-165" fmla="*/ 237844 w 1032509"/>
              <a:gd name="connsiteY4-166" fmla="*/ 508976 h 832214"/>
              <a:gd name="connsiteX5-167" fmla="*/ 380047 w 1032509"/>
              <a:gd name="connsiteY5-168" fmla="*/ 511357 h 832214"/>
              <a:gd name="connsiteX6-169" fmla="*/ 0 w 1032509"/>
              <a:gd name="connsiteY6-170" fmla="*/ 24765 h 832214"/>
              <a:gd name="connsiteX0-171" fmla="*/ 1032509 w 1032509"/>
              <a:gd name="connsiteY0-172" fmla="*/ 0 h 832214"/>
              <a:gd name="connsiteX1-173" fmla="*/ 607301 w 1032509"/>
              <a:gd name="connsiteY1-174" fmla="*/ 506595 h 832214"/>
              <a:gd name="connsiteX2-175" fmla="*/ 804276 w 1032509"/>
              <a:gd name="connsiteY2-176" fmla="*/ 513741 h 832214"/>
              <a:gd name="connsiteX3-177" fmla="*/ 505581 w 1032509"/>
              <a:gd name="connsiteY3-178" fmla="*/ 832214 h 832214"/>
              <a:gd name="connsiteX4-179" fmla="*/ 237844 w 1032509"/>
              <a:gd name="connsiteY4-180" fmla="*/ 508976 h 832214"/>
              <a:gd name="connsiteX5-181" fmla="*/ 380047 w 1032509"/>
              <a:gd name="connsiteY5-182" fmla="*/ 511357 h 832214"/>
              <a:gd name="connsiteX6-183" fmla="*/ 0 w 1032509"/>
              <a:gd name="connsiteY6-184" fmla="*/ 24765 h 832214"/>
              <a:gd name="connsiteX0-185" fmla="*/ 1032509 w 1032509"/>
              <a:gd name="connsiteY0-186" fmla="*/ 0 h 722679"/>
              <a:gd name="connsiteX1-187" fmla="*/ 607301 w 1032509"/>
              <a:gd name="connsiteY1-188" fmla="*/ 506595 h 722679"/>
              <a:gd name="connsiteX2-189" fmla="*/ 804276 w 1032509"/>
              <a:gd name="connsiteY2-190" fmla="*/ 513741 h 722679"/>
              <a:gd name="connsiteX3-191" fmla="*/ 507965 w 1032509"/>
              <a:gd name="connsiteY3-192" fmla="*/ 722679 h 722679"/>
              <a:gd name="connsiteX4-193" fmla="*/ 237844 w 1032509"/>
              <a:gd name="connsiteY4-194" fmla="*/ 508976 h 722679"/>
              <a:gd name="connsiteX5-195" fmla="*/ 380047 w 1032509"/>
              <a:gd name="connsiteY5-196" fmla="*/ 511357 h 722679"/>
              <a:gd name="connsiteX6-197" fmla="*/ 0 w 1032509"/>
              <a:gd name="connsiteY6-198" fmla="*/ 24765 h 722679"/>
              <a:gd name="connsiteX0-199" fmla="*/ 1032509 w 1032509"/>
              <a:gd name="connsiteY0-200" fmla="*/ 0 h 722679"/>
              <a:gd name="connsiteX1-201" fmla="*/ 607301 w 1032509"/>
              <a:gd name="connsiteY1-202" fmla="*/ 506595 h 722679"/>
              <a:gd name="connsiteX2-203" fmla="*/ 804276 w 1032509"/>
              <a:gd name="connsiteY2-204" fmla="*/ 513741 h 722679"/>
              <a:gd name="connsiteX3-205" fmla="*/ 498440 w 1032509"/>
              <a:gd name="connsiteY3-206" fmla="*/ 722679 h 722679"/>
              <a:gd name="connsiteX4-207" fmla="*/ 237844 w 1032509"/>
              <a:gd name="connsiteY4-208" fmla="*/ 508976 h 722679"/>
              <a:gd name="connsiteX5-209" fmla="*/ 380047 w 1032509"/>
              <a:gd name="connsiteY5-210" fmla="*/ 511357 h 722679"/>
              <a:gd name="connsiteX6-211" fmla="*/ 0 w 1032509"/>
              <a:gd name="connsiteY6-212" fmla="*/ 24765 h 722679"/>
              <a:gd name="connsiteX0-213" fmla="*/ 1032509 w 1032509"/>
              <a:gd name="connsiteY0-214" fmla="*/ 0 h 722679"/>
              <a:gd name="connsiteX1-215" fmla="*/ 607301 w 1032509"/>
              <a:gd name="connsiteY1-216" fmla="*/ 506595 h 722679"/>
              <a:gd name="connsiteX2-217" fmla="*/ 792369 w 1032509"/>
              <a:gd name="connsiteY2-218" fmla="*/ 515732 h 722679"/>
              <a:gd name="connsiteX3-219" fmla="*/ 498440 w 1032509"/>
              <a:gd name="connsiteY3-220" fmla="*/ 722679 h 722679"/>
              <a:gd name="connsiteX4-221" fmla="*/ 237844 w 1032509"/>
              <a:gd name="connsiteY4-222" fmla="*/ 508976 h 722679"/>
              <a:gd name="connsiteX5-223" fmla="*/ 380047 w 1032509"/>
              <a:gd name="connsiteY5-224" fmla="*/ 511357 h 722679"/>
              <a:gd name="connsiteX6-225" fmla="*/ 0 w 1032509"/>
              <a:gd name="connsiteY6-226" fmla="*/ 24765 h 722679"/>
              <a:gd name="connsiteX0-227" fmla="*/ 1032509 w 1032509"/>
              <a:gd name="connsiteY0-228" fmla="*/ 0 h 720688"/>
              <a:gd name="connsiteX1-229" fmla="*/ 607301 w 1032509"/>
              <a:gd name="connsiteY1-230" fmla="*/ 506595 h 720688"/>
              <a:gd name="connsiteX2-231" fmla="*/ 792369 w 1032509"/>
              <a:gd name="connsiteY2-232" fmla="*/ 515732 h 720688"/>
              <a:gd name="connsiteX3-233" fmla="*/ 503202 w 1032509"/>
              <a:gd name="connsiteY3-234" fmla="*/ 720688 h 720688"/>
              <a:gd name="connsiteX4-235" fmla="*/ 237844 w 1032509"/>
              <a:gd name="connsiteY4-236" fmla="*/ 508976 h 720688"/>
              <a:gd name="connsiteX5-237" fmla="*/ 380047 w 1032509"/>
              <a:gd name="connsiteY5-238" fmla="*/ 511357 h 720688"/>
              <a:gd name="connsiteX6-239" fmla="*/ 0 w 1032509"/>
              <a:gd name="connsiteY6-240" fmla="*/ 24765 h 720688"/>
              <a:gd name="connsiteX0-241" fmla="*/ 1044414 w 1044414"/>
              <a:gd name="connsiteY0-242" fmla="*/ 0 h 720688"/>
              <a:gd name="connsiteX1-243" fmla="*/ 619206 w 1044414"/>
              <a:gd name="connsiteY1-244" fmla="*/ 506595 h 720688"/>
              <a:gd name="connsiteX2-245" fmla="*/ 804274 w 1044414"/>
              <a:gd name="connsiteY2-246" fmla="*/ 515732 h 720688"/>
              <a:gd name="connsiteX3-247" fmla="*/ 515107 w 1044414"/>
              <a:gd name="connsiteY3-248" fmla="*/ 720688 h 720688"/>
              <a:gd name="connsiteX4-249" fmla="*/ 249749 w 1044414"/>
              <a:gd name="connsiteY4-250" fmla="*/ 508976 h 720688"/>
              <a:gd name="connsiteX5-251" fmla="*/ 391952 w 1044414"/>
              <a:gd name="connsiteY5-252" fmla="*/ 511357 h 720688"/>
              <a:gd name="connsiteX6-253" fmla="*/ 0 w 1044414"/>
              <a:gd name="connsiteY6-254" fmla="*/ 4852 h 720688"/>
              <a:gd name="connsiteX0-255" fmla="*/ 1082514 w 1082514"/>
              <a:gd name="connsiteY0-256" fmla="*/ 0 h 722679"/>
              <a:gd name="connsiteX1-257" fmla="*/ 619206 w 1082514"/>
              <a:gd name="connsiteY1-258" fmla="*/ 508586 h 722679"/>
              <a:gd name="connsiteX2-259" fmla="*/ 804274 w 1082514"/>
              <a:gd name="connsiteY2-260" fmla="*/ 517723 h 722679"/>
              <a:gd name="connsiteX3-261" fmla="*/ 515107 w 1082514"/>
              <a:gd name="connsiteY3-262" fmla="*/ 722679 h 722679"/>
              <a:gd name="connsiteX4-263" fmla="*/ 249749 w 1082514"/>
              <a:gd name="connsiteY4-264" fmla="*/ 510967 h 722679"/>
              <a:gd name="connsiteX5-265" fmla="*/ 391952 w 1082514"/>
              <a:gd name="connsiteY5-266" fmla="*/ 513348 h 722679"/>
              <a:gd name="connsiteX6-267" fmla="*/ 0 w 1082514"/>
              <a:gd name="connsiteY6-268" fmla="*/ 6843 h 722679"/>
              <a:gd name="connsiteX0-269" fmla="*/ 1082514 w 1082514"/>
              <a:gd name="connsiteY0-270" fmla="*/ 0 h 724672"/>
              <a:gd name="connsiteX1-271" fmla="*/ 619206 w 1082514"/>
              <a:gd name="connsiteY1-272" fmla="*/ 508586 h 724672"/>
              <a:gd name="connsiteX2-273" fmla="*/ 804274 w 1082514"/>
              <a:gd name="connsiteY2-274" fmla="*/ 517723 h 724672"/>
              <a:gd name="connsiteX3-275" fmla="*/ 534160 w 1082514"/>
              <a:gd name="connsiteY3-276" fmla="*/ 724672 h 724672"/>
              <a:gd name="connsiteX4-277" fmla="*/ 249749 w 1082514"/>
              <a:gd name="connsiteY4-278" fmla="*/ 510967 h 724672"/>
              <a:gd name="connsiteX5-279" fmla="*/ 391952 w 1082514"/>
              <a:gd name="connsiteY5-280" fmla="*/ 513348 h 724672"/>
              <a:gd name="connsiteX6-281" fmla="*/ 0 w 1082514"/>
              <a:gd name="connsiteY6-282" fmla="*/ 6843 h 724672"/>
              <a:gd name="connsiteX0-283" fmla="*/ 1082514 w 1082514"/>
              <a:gd name="connsiteY0-284" fmla="*/ 0 h 724672"/>
              <a:gd name="connsiteX1-285" fmla="*/ 619206 w 1082514"/>
              <a:gd name="connsiteY1-286" fmla="*/ 508586 h 724672"/>
              <a:gd name="connsiteX2-287" fmla="*/ 804274 w 1082514"/>
              <a:gd name="connsiteY2-288" fmla="*/ 517723 h 724672"/>
              <a:gd name="connsiteX3-289" fmla="*/ 534160 w 1082514"/>
              <a:gd name="connsiteY3-290" fmla="*/ 724672 h 724672"/>
              <a:gd name="connsiteX4-291" fmla="*/ 249749 w 1082514"/>
              <a:gd name="connsiteY4-292" fmla="*/ 510967 h 724672"/>
              <a:gd name="connsiteX5-293" fmla="*/ 380046 w 1082514"/>
              <a:gd name="connsiteY5-294" fmla="*/ 533263 h 724672"/>
              <a:gd name="connsiteX6-295" fmla="*/ 0 w 1082514"/>
              <a:gd name="connsiteY6-296" fmla="*/ 6843 h 724672"/>
              <a:gd name="connsiteX0-297" fmla="*/ 1082514 w 1082514"/>
              <a:gd name="connsiteY0-298" fmla="*/ 0 h 724672"/>
              <a:gd name="connsiteX1-299" fmla="*/ 619206 w 1082514"/>
              <a:gd name="connsiteY1-300" fmla="*/ 508586 h 724672"/>
              <a:gd name="connsiteX2-301" fmla="*/ 804274 w 1082514"/>
              <a:gd name="connsiteY2-302" fmla="*/ 517723 h 724672"/>
              <a:gd name="connsiteX3-303" fmla="*/ 534160 w 1082514"/>
              <a:gd name="connsiteY3-304" fmla="*/ 724672 h 724672"/>
              <a:gd name="connsiteX4-305" fmla="*/ 249749 w 1082514"/>
              <a:gd name="connsiteY4-306" fmla="*/ 510967 h 724672"/>
              <a:gd name="connsiteX5-307" fmla="*/ 380046 w 1082514"/>
              <a:gd name="connsiteY5-308" fmla="*/ 533263 h 724672"/>
              <a:gd name="connsiteX6-309" fmla="*/ 0 w 1082514"/>
              <a:gd name="connsiteY6-310" fmla="*/ 6843 h 724672"/>
              <a:gd name="connsiteX0-311" fmla="*/ 1082514 w 1082514"/>
              <a:gd name="connsiteY0-312" fmla="*/ 0 h 724672"/>
              <a:gd name="connsiteX1-313" fmla="*/ 619206 w 1082514"/>
              <a:gd name="connsiteY1-314" fmla="*/ 508586 h 724672"/>
              <a:gd name="connsiteX2-315" fmla="*/ 804274 w 1082514"/>
              <a:gd name="connsiteY2-316" fmla="*/ 517723 h 724672"/>
              <a:gd name="connsiteX3-317" fmla="*/ 534160 w 1082514"/>
              <a:gd name="connsiteY3-318" fmla="*/ 724672 h 724672"/>
              <a:gd name="connsiteX4-319" fmla="*/ 249749 w 1082514"/>
              <a:gd name="connsiteY4-320" fmla="*/ 510967 h 724672"/>
              <a:gd name="connsiteX5-321" fmla="*/ 380046 w 1082514"/>
              <a:gd name="connsiteY5-322" fmla="*/ 533263 h 724672"/>
              <a:gd name="connsiteX6-323" fmla="*/ 0 w 1082514"/>
              <a:gd name="connsiteY6-324" fmla="*/ 6843 h 724672"/>
              <a:gd name="connsiteX0-325" fmla="*/ 1082514 w 1082514"/>
              <a:gd name="connsiteY0-326" fmla="*/ 0 h 724672"/>
              <a:gd name="connsiteX1-327" fmla="*/ 619206 w 1082514"/>
              <a:gd name="connsiteY1-328" fmla="*/ 508586 h 724672"/>
              <a:gd name="connsiteX2-329" fmla="*/ 804274 w 1082514"/>
              <a:gd name="connsiteY2-330" fmla="*/ 517723 h 724672"/>
              <a:gd name="connsiteX3-331" fmla="*/ 534160 w 1082514"/>
              <a:gd name="connsiteY3-332" fmla="*/ 724672 h 724672"/>
              <a:gd name="connsiteX4-333" fmla="*/ 233080 w 1082514"/>
              <a:gd name="connsiteY4-334" fmla="*/ 526899 h 724672"/>
              <a:gd name="connsiteX5-335" fmla="*/ 380046 w 1082514"/>
              <a:gd name="connsiteY5-336" fmla="*/ 533263 h 724672"/>
              <a:gd name="connsiteX6-337" fmla="*/ 0 w 1082514"/>
              <a:gd name="connsiteY6-338" fmla="*/ 6843 h 724672"/>
              <a:gd name="connsiteX0-339" fmla="*/ 1082514 w 1082514"/>
              <a:gd name="connsiteY0-340" fmla="*/ 0 h 724672"/>
              <a:gd name="connsiteX1-341" fmla="*/ 619206 w 1082514"/>
              <a:gd name="connsiteY1-342" fmla="*/ 508586 h 724672"/>
              <a:gd name="connsiteX2-343" fmla="*/ 804274 w 1082514"/>
              <a:gd name="connsiteY2-344" fmla="*/ 517723 h 724672"/>
              <a:gd name="connsiteX3-345" fmla="*/ 534160 w 1082514"/>
              <a:gd name="connsiteY3-346" fmla="*/ 724672 h 724672"/>
              <a:gd name="connsiteX4-347" fmla="*/ 237842 w 1082514"/>
              <a:gd name="connsiteY4-348" fmla="*/ 532873 h 724672"/>
              <a:gd name="connsiteX5-349" fmla="*/ 380046 w 1082514"/>
              <a:gd name="connsiteY5-350" fmla="*/ 533263 h 724672"/>
              <a:gd name="connsiteX6-351" fmla="*/ 0 w 1082514"/>
              <a:gd name="connsiteY6-352" fmla="*/ 6843 h 724672"/>
              <a:gd name="connsiteX0-353" fmla="*/ 1082514 w 1082514"/>
              <a:gd name="connsiteY0-354" fmla="*/ 0 h 724672"/>
              <a:gd name="connsiteX1-355" fmla="*/ 690644 w 1082514"/>
              <a:gd name="connsiteY1-356" fmla="*/ 532484 h 724672"/>
              <a:gd name="connsiteX2-357" fmla="*/ 804274 w 1082514"/>
              <a:gd name="connsiteY2-358" fmla="*/ 517723 h 724672"/>
              <a:gd name="connsiteX3-359" fmla="*/ 534160 w 1082514"/>
              <a:gd name="connsiteY3-360" fmla="*/ 724672 h 724672"/>
              <a:gd name="connsiteX4-361" fmla="*/ 237842 w 1082514"/>
              <a:gd name="connsiteY4-362" fmla="*/ 532873 h 724672"/>
              <a:gd name="connsiteX5-363" fmla="*/ 380046 w 1082514"/>
              <a:gd name="connsiteY5-364" fmla="*/ 533263 h 724672"/>
              <a:gd name="connsiteX6-365" fmla="*/ 0 w 1082514"/>
              <a:gd name="connsiteY6-366" fmla="*/ 6843 h 724672"/>
              <a:gd name="connsiteX0-367" fmla="*/ 1082514 w 1082514"/>
              <a:gd name="connsiteY0-368" fmla="*/ 0 h 724672"/>
              <a:gd name="connsiteX1-369" fmla="*/ 690644 w 1082514"/>
              <a:gd name="connsiteY1-370" fmla="*/ 532484 h 724672"/>
              <a:gd name="connsiteX2-371" fmla="*/ 804274 w 1082514"/>
              <a:gd name="connsiteY2-372" fmla="*/ 517723 h 724672"/>
              <a:gd name="connsiteX3-373" fmla="*/ 534160 w 1082514"/>
              <a:gd name="connsiteY3-374" fmla="*/ 724672 h 724672"/>
              <a:gd name="connsiteX4-375" fmla="*/ 237842 w 1082514"/>
              <a:gd name="connsiteY4-376" fmla="*/ 532873 h 724672"/>
              <a:gd name="connsiteX5-377" fmla="*/ 380046 w 1082514"/>
              <a:gd name="connsiteY5-378" fmla="*/ 533263 h 724672"/>
              <a:gd name="connsiteX6-379" fmla="*/ 0 w 1082514"/>
              <a:gd name="connsiteY6-380" fmla="*/ 6843 h 724672"/>
              <a:gd name="connsiteX0-381" fmla="*/ 1082514 w 1082514"/>
              <a:gd name="connsiteY0-382" fmla="*/ 0 h 724672"/>
              <a:gd name="connsiteX1-383" fmla="*/ 690644 w 1082514"/>
              <a:gd name="connsiteY1-384" fmla="*/ 532484 h 724672"/>
              <a:gd name="connsiteX2-385" fmla="*/ 830468 w 1082514"/>
              <a:gd name="connsiteY2-386" fmla="*/ 531664 h 724672"/>
              <a:gd name="connsiteX3-387" fmla="*/ 534160 w 1082514"/>
              <a:gd name="connsiteY3-388" fmla="*/ 724672 h 724672"/>
              <a:gd name="connsiteX4-389" fmla="*/ 237842 w 1082514"/>
              <a:gd name="connsiteY4-390" fmla="*/ 532873 h 724672"/>
              <a:gd name="connsiteX5-391" fmla="*/ 380046 w 1082514"/>
              <a:gd name="connsiteY5-392" fmla="*/ 533263 h 724672"/>
              <a:gd name="connsiteX6-393" fmla="*/ 0 w 1082514"/>
              <a:gd name="connsiteY6-394" fmla="*/ 6843 h 724672"/>
              <a:gd name="connsiteX0-395" fmla="*/ 1082514 w 1082514"/>
              <a:gd name="connsiteY0-396" fmla="*/ 0 h 724672"/>
              <a:gd name="connsiteX1-397" fmla="*/ 690644 w 1082514"/>
              <a:gd name="connsiteY1-398" fmla="*/ 532484 h 724672"/>
              <a:gd name="connsiteX2-399" fmla="*/ 830468 w 1082514"/>
              <a:gd name="connsiteY2-400" fmla="*/ 531664 h 724672"/>
              <a:gd name="connsiteX3-401" fmla="*/ 534160 w 1082514"/>
              <a:gd name="connsiteY3-402" fmla="*/ 724672 h 724672"/>
              <a:gd name="connsiteX4-403" fmla="*/ 237842 w 1082514"/>
              <a:gd name="connsiteY4-404" fmla="*/ 532873 h 724672"/>
              <a:gd name="connsiteX5-405" fmla="*/ 434815 w 1082514"/>
              <a:gd name="connsiteY5-406" fmla="*/ 533263 h 724672"/>
              <a:gd name="connsiteX6-407" fmla="*/ 0 w 1082514"/>
              <a:gd name="connsiteY6-408" fmla="*/ 6843 h 724672"/>
              <a:gd name="connsiteX0-409" fmla="*/ 1082514 w 1082514"/>
              <a:gd name="connsiteY0-410" fmla="*/ 0 h 724672"/>
              <a:gd name="connsiteX1-411" fmla="*/ 690644 w 1082514"/>
              <a:gd name="connsiteY1-412" fmla="*/ 532484 h 724672"/>
              <a:gd name="connsiteX2-413" fmla="*/ 830468 w 1082514"/>
              <a:gd name="connsiteY2-414" fmla="*/ 531664 h 724672"/>
              <a:gd name="connsiteX3-415" fmla="*/ 534160 w 1082514"/>
              <a:gd name="connsiteY3-416" fmla="*/ 724672 h 724672"/>
              <a:gd name="connsiteX4-417" fmla="*/ 297373 w 1082514"/>
              <a:gd name="connsiteY4-418" fmla="*/ 532873 h 724672"/>
              <a:gd name="connsiteX5-419" fmla="*/ 434815 w 1082514"/>
              <a:gd name="connsiteY5-420" fmla="*/ 533263 h 724672"/>
              <a:gd name="connsiteX6-421" fmla="*/ 0 w 1082514"/>
              <a:gd name="connsiteY6-422" fmla="*/ 6843 h 724672"/>
              <a:gd name="connsiteX0-423" fmla="*/ 1082514 w 1082514"/>
              <a:gd name="connsiteY0-424" fmla="*/ 0 h 724672"/>
              <a:gd name="connsiteX1-425" fmla="*/ 690644 w 1082514"/>
              <a:gd name="connsiteY1-426" fmla="*/ 532484 h 724672"/>
              <a:gd name="connsiteX2-427" fmla="*/ 768555 w 1082514"/>
              <a:gd name="connsiteY2-428" fmla="*/ 531664 h 724672"/>
              <a:gd name="connsiteX3-429" fmla="*/ 534160 w 1082514"/>
              <a:gd name="connsiteY3-430" fmla="*/ 724672 h 724672"/>
              <a:gd name="connsiteX4-431" fmla="*/ 297373 w 1082514"/>
              <a:gd name="connsiteY4-432" fmla="*/ 532873 h 724672"/>
              <a:gd name="connsiteX5-433" fmla="*/ 434815 w 1082514"/>
              <a:gd name="connsiteY5-434" fmla="*/ 533263 h 724672"/>
              <a:gd name="connsiteX6-435" fmla="*/ 0 w 1082514"/>
              <a:gd name="connsiteY6-436" fmla="*/ 6843 h 724672"/>
              <a:gd name="connsiteX0-437" fmla="*/ 1082514 w 1082514"/>
              <a:gd name="connsiteY0-438" fmla="*/ 0 h 724672"/>
              <a:gd name="connsiteX1-439" fmla="*/ 638256 w 1082514"/>
              <a:gd name="connsiteY1-440" fmla="*/ 534476 h 724672"/>
              <a:gd name="connsiteX2-441" fmla="*/ 768555 w 1082514"/>
              <a:gd name="connsiteY2-442" fmla="*/ 531664 h 724672"/>
              <a:gd name="connsiteX3-443" fmla="*/ 534160 w 1082514"/>
              <a:gd name="connsiteY3-444" fmla="*/ 724672 h 724672"/>
              <a:gd name="connsiteX4-445" fmla="*/ 297373 w 1082514"/>
              <a:gd name="connsiteY4-446" fmla="*/ 532873 h 724672"/>
              <a:gd name="connsiteX5-447" fmla="*/ 434815 w 1082514"/>
              <a:gd name="connsiteY5-448" fmla="*/ 533263 h 724672"/>
              <a:gd name="connsiteX6-449" fmla="*/ 0 w 1082514"/>
              <a:gd name="connsiteY6-450" fmla="*/ 6843 h 7246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 bwMode="gray">
          <a:xfrm>
            <a:off x="5077087" y="3138634"/>
            <a:ext cx="664342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 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协议，无状态、无序、不可靠。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只能对一个一个对象单独配置，而不是面向一个业务。多个对象同时配置时，如果有些成功有些失败，会对网络造成未知影响。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3. SNMP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只是单个设备的管理，不支持网络级的配置和多设备配置协同。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4. 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不安全。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经典配置管理的方法问题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圆角矩形 75"/>
          <p:cNvSpPr/>
          <p:nvPr/>
        </p:nvSpPr>
        <p:spPr bwMode="gray">
          <a:xfrm>
            <a:off x="1974852" y="1154047"/>
            <a:ext cx="2888924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优势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75"/>
          <p:cNvSpPr/>
          <p:nvPr/>
        </p:nvSpPr>
        <p:spPr bwMode="gray">
          <a:xfrm>
            <a:off x="1974851" y="1585552"/>
            <a:ext cx="2888924" cy="1416444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5000561" y="1154047"/>
            <a:ext cx="6643426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劣势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5000561" y="1585552"/>
            <a:ext cx="6643426" cy="1416444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75"/>
          <p:cNvSpPr/>
          <p:nvPr/>
        </p:nvSpPr>
        <p:spPr bwMode="gray">
          <a:xfrm>
            <a:off x="584360" y="1617318"/>
            <a:ext cx="1307615" cy="1416445"/>
          </a:xfrm>
          <a:prstGeom prst="roundRect">
            <a:avLst>
              <a:gd name="adj" fmla="val 10604"/>
            </a:avLst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75"/>
          <p:cNvSpPr/>
          <p:nvPr/>
        </p:nvSpPr>
        <p:spPr bwMode="gray">
          <a:xfrm>
            <a:off x="584359" y="3173445"/>
            <a:ext cx="1307615" cy="1666126"/>
          </a:xfrm>
          <a:prstGeom prst="roundRect">
            <a:avLst>
              <a:gd name="adj" fmla="val 10604"/>
            </a:avLst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圆角矩形 75"/>
          <p:cNvSpPr/>
          <p:nvPr/>
        </p:nvSpPr>
        <p:spPr bwMode="gray">
          <a:xfrm>
            <a:off x="1974851" y="3064880"/>
            <a:ext cx="2888924" cy="1962005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16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圆角矩形 75"/>
          <p:cNvSpPr/>
          <p:nvPr/>
        </p:nvSpPr>
        <p:spPr bwMode="gray">
          <a:xfrm>
            <a:off x="5000560" y="3051564"/>
            <a:ext cx="6643427" cy="1975321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5077087" y="1597635"/>
            <a:ext cx="6566900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 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各厂商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定义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不相同，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运营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商和企业需要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针对各厂商分别学习和开发适配脚本。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配置脚本有非结构化、不可预测、容易变化等特性，导致解析复杂，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脚本维护困难，很难实现自动化解析。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2006601" y="1632633"/>
            <a:ext cx="26793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 </a:t>
            </a:r>
            <a:r>
              <a:rPr lang="zh-CN" altLang="en-US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文本接口，人类容易理解。</a:t>
            </a:r>
            <a:endParaRPr lang="zh-CN" altLang="en-US" sz="16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</a:t>
            </a:r>
            <a:r>
              <a:rPr lang="zh-CN" altLang="en-US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</a:t>
            </a:r>
            <a:r>
              <a:rPr lang="en-US" altLang="zh-CN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Telnet/SSH</a:t>
            </a:r>
            <a:r>
              <a:rPr lang="zh-CN" altLang="en-US" sz="16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，使用便利。</a:t>
            </a:r>
            <a:endParaRPr lang="zh-CN" altLang="en-US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2032001" y="3182127"/>
            <a:ext cx="26539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 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机器与机器的接口。有数据模型文件（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MIB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just">
              <a:lnSpc>
                <a:spcPts val="2600"/>
              </a:lnSpc>
              <a:spcAft>
                <a:spcPts val="600"/>
              </a:spcAft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2. 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主要用于网络监控。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 bwMode="gray">
          <a:xfrm>
            <a:off x="3280903" y="5123545"/>
            <a:ext cx="5317001" cy="1011460"/>
            <a:chOff x="3175000" y="5206477"/>
            <a:chExt cx="5317001" cy="1011460"/>
          </a:xfrm>
        </p:grpSpPr>
        <p:sp>
          <p:nvSpPr>
            <p:cNvPr id="4" name="矩形 3"/>
            <p:cNvSpPr/>
            <p:nvPr/>
          </p:nvSpPr>
          <p:spPr bwMode="gray">
            <a:xfrm>
              <a:off x="3175000" y="5206477"/>
              <a:ext cx="5054600" cy="468316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 bwMode="gray">
            <a:xfrm>
              <a:off x="3280901" y="5218421"/>
              <a:ext cx="5211100" cy="405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无论配置自动化技术如何发展，本质仍然是使用</a:t>
              </a:r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CLI</a:t>
              </a:r>
              <a:r>
                <a:rPr lang="zh-CN" altLang="en-US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。</a:t>
              </a:r>
              <a:endPara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 bwMode="gray">
            <a:xfrm>
              <a:off x="3175000" y="5749621"/>
              <a:ext cx="5054600" cy="468316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 bwMode="gray">
            <a:xfrm>
              <a:off x="4440535" y="5746626"/>
              <a:ext cx="3149924" cy="405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SNMP</a:t>
              </a:r>
              <a:r>
                <a:rPr lang="zh-CN" altLang="en-US" sz="16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不适合配置管理。</a:t>
              </a:r>
              <a:endPara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网络管理的本质诉求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2002</a:t>
            </a:r>
            <a:r>
              <a:rPr lang="zh-CN" altLang="en-US" sz="1800" dirty="0">
                <a:sym typeface="Huawei Sans" panose="020C0503030203020204" pitchFamily="34" charset="0"/>
              </a:rPr>
              <a:t>年</a:t>
            </a:r>
            <a:r>
              <a:rPr lang="en-US" altLang="zh-CN" sz="1800" dirty="0" smtClean="0">
                <a:sym typeface="Huawei Sans" panose="020C0503030203020204" pitchFamily="34" charset="0"/>
              </a:rPr>
              <a:t>IAB</a:t>
            </a:r>
            <a:r>
              <a:rPr lang="zh-CN" altLang="en-US" sz="1800" dirty="0" smtClean="0">
                <a:sym typeface="Huawei Sans" panose="020C0503030203020204" pitchFamily="34" charset="0"/>
              </a:rPr>
              <a:t>（</a:t>
            </a:r>
            <a:r>
              <a:rPr lang="en-US" altLang="zh-CN" sz="1800" dirty="0" smtClean="0">
                <a:sym typeface="Huawei Sans" panose="020C0503030203020204" pitchFamily="34" charset="0"/>
              </a:rPr>
              <a:t>Internet </a:t>
            </a:r>
            <a:r>
              <a:rPr lang="en-US" altLang="zh-CN" sz="1800" dirty="0">
                <a:sym typeface="Huawei Sans" panose="020C0503030203020204" pitchFamily="34" charset="0"/>
              </a:rPr>
              <a:t>Architecture </a:t>
            </a:r>
            <a:r>
              <a:rPr lang="en-US" altLang="zh-CN" sz="1800" dirty="0" smtClean="0">
                <a:sym typeface="Huawei Sans" panose="020C0503030203020204" pitchFamily="34" charset="0"/>
              </a:rPr>
              <a:t>Board</a:t>
            </a:r>
            <a:r>
              <a:rPr lang="zh-CN" altLang="en-US" sz="1800" dirty="0" smtClean="0">
                <a:sym typeface="Huawei Sans" panose="020C0503030203020204" pitchFamily="34" charset="0"/>
              </a:rPr>
              <a:t>，因特网</a:t>
            </a:r>
            <a:r>
              <a:rPr lang="zh-CN" altLang="en-US" sz="1800" dirty="0">
                <a:sym typeface="Huawei Sans" panose="020C0503030203020204" pitchFamily="34" charset="0"/>
              </a:rPr>
              <a:t>体系委员会）网络管理大会上提出</a:t>
            </a:r>
            <a:r>
              <a:rPr lang="en-US" altLang="zh-CN" sz="1800" dirty="0">
                <a:sym typeface="Huawei Sans" panose="020C0503030203020204" pitchFamily="34" charset="0"/>
              </a:rPr>
              <a:t>14</a:t>
            </a:r>
            <a:r>
              <a:rPr lang="zh-CN" altLang="en-US" sz="1800" dirty="0">
                <a:sym typeface="Huawei Sans" panose="020C0503030203020204" pitchFamily="34" charset="0"/>
              </a:rPr>
              <a:t>项网络管理本质诉求，具体如下：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5" name="MH_SubTitle_1"/>
          <p:cNvSpPr/>
          <p:nvPr/>
        </p:nvSpPr>
        <p:spPr bwMode="gray">
          <a:xfrm>
            <a:off x="572064" y="4510911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C050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558186" y="4612541"/>
            <a:ext cx="616286" cy="463891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04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MH_SubTitle_1"/>
          <p:cNvSpPr/>
          <p:nvPr/>
        </p:nvSpPr>
        <p:spPr bwMode="gray">
          <a:xfrm>
            <a:off x="572064" y="5335702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C050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558186" y="5437332"/>
            <a:ext cx="616286" cy="463891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05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MH_SubTitle_1"/>
          <p:cNvSpPr/>
          <p:nvPr/>
        </p:nvSpPr>
        <p:spPr bwMode="gray">
          <a:xfrm>
            <a:off x="582064" y="2048263"/>
            <a:ext cx="3408069" cy="641114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pPr>
              <a:defRPr/>
            </a:pPr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                        </a:t>
            </a:r>
            <a:r>
              <a:rPr lang="zh-CN" altLang="en-US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易用</a:t>
            </a:r>
            <a:endParaRPr lang="zh-CN" altLang="en-US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MH_SubTitle_1"/>
          <p:cNvSpPr/>
          <p:nvPr/>
        </p:nvSpPr>
        <p:spPr bwMode="gray">
          <a:xfrm>
            <a:off x="4396283" y="2041495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矩形 56"/>
          <p:cNvSpPr/>
          <p:nvPr/>
        </p:nvSpPr>
        <p:spPr bwMode="gray">
          <a:xfrm>
            <a:off x="616490" y="2143125"/>
            <a:ext cx="616286" cy="46389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01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5089535" y="2093272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设备解决内部的配置次序， 避免不必要的变化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矩形 63"/>
          <p:cNvSpPr/>
          <p:nvPr/>
        </p:nvSpPr>
        <p:spPr bwMode="gray">
          <a:xfrm>
            <a:off x="4382405" y="2143125"/>
            <a:ext cx="616286" cy="46389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06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MH_SubTitle_1"/>
          <p:cNvSpPr/>
          <p:nvPr/>
        </p:nvSpPr>
        <p:spPr bwMode="gray">
          <a:xfrm>
            <a:off x="4384708" y="2836264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 bwMode="gray">
          <a:xfrm>
            <a:off x="5112685" y="2992216"/>
            <a:ext cx="2699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支持配置备份和恢复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矩形 66"/>
          <p:cNvSpPr/>
          <p:nvPr/>
        </p:nvSpPr>
        <p:spPr bwMode="gray">
          <a:xfrm>
            <a:off x="4370830" y="2937894"/>
            <a:ext cx="616286" cy="463891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07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MH_SubTitle_1"/>
          <p:cNvSpPr/>
          <p:nvPr/>
        </p:nvSpPr>
        <p:spPr bwMode="gray">
          <a:xfrm>
            <a:off x="572064" y="2838904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 bwMode="gray">
          <a:xfrm>
            <a:off x="1265316" y="2994856"/>
            <a:ext cx="2699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区分配置数据和状态数据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cs typeface="Verdana" panose="020B0604030504040204" pitchFamily="34" charset="0"/>
              <a:sym typeface="Huawei Sans" panose="020C0503030203020204" pitchFamily="34" charset="0"/>
            </a:endParaRPr>
          </a:p>
        </p:txBody>
      </p:sp>
      <p:sp>
        <p:nvSpPr>
          <p:cNvPr id="72" name="矩形 71"/>
          <p:cNvSpPr/>
          <p:nvPr/>
        </p:nvSpPr>
        <p:spPr bwMode="gray">
          <a:xfrm>
            <a:off x="558186" y="2940534"/>
            <a:ext cx="616286" cy="463891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02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MH_SubTitle_1"/>
          <p:cNvSpPr/>
          <p:nvPr/>
        </p:nvSpPr>
        <p:spPr bwMode="gray">
          <a:xfrm>
            <a:off x="582065" y="3672785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9BBB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文本框 73"/>
          <p:cNvSpPr txBox="1"/>
          <p:nvPr/>
        </p:nvSpPr>
        <p:spPr bwMode="gray">
          <a:xfrm>
            <a:off x="1263742" y="3747712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能够分别获取配置数据和状态数据，并且可以跨设备的比较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cs typeface="Verdana" panose="020B0604030504040204" pitchFamily="34" charset="0"/>
              <a:sym typeface="Huawei Sans" panose="020C0503030203020204" pitchFamily="34" charset="0"/>
            </a:endParaRPr>
          </a:p>
        </p:txBody>
      </p:sp>
      <p:sp>
        <p:nvSpPr>
          <p:cNvPr id="75" name="矩形 74"/>
          <p:cNvSpPr/>
          <p:nvPr/>
        </p:nvSpPr>
        <p:spPr bwMode="gray">
          <a:xfrm>
            <a:off x="568187" y="3774415"/>
            <a:ext cx="616286" cy="463891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03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1265316" y="4666863"/>
            <a:ext cx="2699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网络级的业务配置能力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cs typeface="Verdana" panose="020B0604030504040204" pitchFamily="34" charset="0"/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1265316" y="5491654"/>
            <a:ext cx="2699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cs typeface="Verdana" panose="020B0604030504040204" pitchFamily="34" charset="0"/>
                <a:sym typeface="Huawei Sans" panose="020C0503030203020204" pitchFamily="34" charset="0"/>
              </a:rPr>
              <a:t>支持网络级配置事务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cs typeface="Verdana" panose="020B0604030504040204" pitchFamily="34" charset="0"/>
              <a:sym typeface="Huawei Sans" panose="020C0503030203020204" pitchFamily="34" charset="0"/>
            </a:endParaRPr>
          </a:p>
        </p:txBody>
      </p:sp>
      <p:sp>
        <p:nvSpPr>
          <p:cNvPr id="82" name="MH_SubTitle_1"/>
          <p:cNvSpPr/>
          <p:nvPr/>
        </p:nvSpPr>
        <p:spPr bwMode="gray">
          <a:xfrm>
            <a:off x="4396283" y="3695935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5089535" y="3747712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支持配置校验，包括网络级的配置校验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矩形 83"/>
          <p:cNvSpPr/>
          <p:nvPr/>
        </p:nvSpPr>
        <p:spPr bwMode="gray">
          <a:xfrm>
            <a:off x="4382405" y="3797565"/>
            <a:ext cx="616286" cy="46389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08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MH_SubTitle_1"/>
          <p:cNvSpPr/>
          <p:nvPr/>
        </p:nvSpPr>
        <p:spPr bwMode="gray">
          <a:xfrm>
            <a:off x="4396283" y="5327990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gray">
          <a:xfrm>
            <a:off x="5101110" y="5507091"/>
            <a:ext cx="26996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基于文本的配置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4382405" y="5429620"/>
            <a:ext cx="616286" cy="46389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MH_SubTitle_1"/>
          <p:cNvSpPr/>
          <p:nvPr/>
        </p:nvSpPr>
        <p:spPr bwMode="gray">
          <a:xfrm>
            <a:off x="4396283" y="4518172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F7A6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文本框 88"/>
          <p:cNvSpPr txBox="1"/>
          <p:nvPr/>
        </p:nvSpPr>
        <p:spPr bwMode="gray">
          <a:xfrm>
            <a:off x="5089535" y="4569949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要有标准的数据模型，统一数据格式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矩形 89"/>
          <p:cNvSpPr/>
          <p:nvPr/>
        </p:nvSpPr>
        <p:spPr bwMode="gray">
          <a:xfrm>
            <a:off x="4382405" y="4619802"/>
            <a:ext cx="616286" cy="463891"/>
          </a:xfrm>
          <a:prstGeom prst="rect">
            <a:avLst/>
          </a:prstGeom>
          <a:solidFill>
            <a:srgbClr val="F7A6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09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MH_SubTitle_1"/>
          <p:cNvSpPr/>
          <p:nvPr/>
        </p:nvSpPr>
        <p:spPr bwMode="gray">
          <a:xfrm>
            <a:off x="8225746" y="2041495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84D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8918998" y="2093272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基于角色的访问控制和最小授权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矩形 92"/>
          <p:cNvSpPr/>
          <p:nvPr/>
        </p:nvSpPr>
        <p:spPr bwMode="gray">
          <a:xfrm>
            <a:off x="8211868" y="2143125"/>
            <a:ext cx="616286" cy="463891"/>
          </a:xfrm>
          <a:prstGeom prst="rect">
            <a:avLst/>
          </a:prstGeom>
          <a:solidFill>
            <a:srgbClr val="84D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11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MH_SubTitle_1"/>
          <p:cNvSpPr/>
          <p:nvPr/>
        </p:nvSpPr>
        <p:spPr bwMode="gray">
          <a:xfrm>
            <a:off x="8225746" y="2862982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84D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8918998" y="2914759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可以跨设备对访问控制列表进行一致性检查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8211868" y="2964612"/>
            <a:ext cx="616286" cy="463891"/>
          </a:xfrm>
          <a:prstGeom prst="rect">
            <a:avLst/>
          </a:prstGeom>
          <a:solidFill>
            <a:srgbClr val="84D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MH_SubTitle_1"/>
          <p:cNvSpPr/>
          <p:nvPr/>
        </p:nvSpPr>
        <p:spPr bwMode="gray">
          <a:xfrm>
            <a:off x="8225746" y="4525619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84D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 bwMode="gray">
          <a:xfrm>
            <a:off x="8918998" y="4577396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支持面向数据的和面向任务的访问控制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8211868" y="4627249"/>
            <a:ext cx="616286" cy="463891"/>
          </a:xfrm>
          <a:prstGeom prst="rect">
            <a:avLst/>
          </a:prstGeom>
          <a:solidFill>
            <a:srgbClr val="84D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14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MH_SubTitle_1"/>
          <p:cNvSpPr/>
          <p:nvPr/>
        </p:nvSpPr>
        <p:spPr bwMode="gray">
          <a:xfrm>
            <a:off x="8225746" y="3705379"/>
            <a:ext cx="3408068" cy="640800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 w="76200">
            <a:solidFill>
              <a:srgbClr val="F66F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432000" bIns="0" anchor="ctr"/>
          <a:lstStyle/>
          <a:p>
            <a:r>
              <a:rPr lang="zh-CN" altLang="en-US" sz="1600">
                <a:solidFill>
                  <a:schemeClr val="accent2">
                    <a:lumMod val="7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8918998" y="3757156"/>
            <a:ext cx="26996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支持多个配置集，区分配置和激活</a:t>
            </a:r>
            <a:endParaRPr lang="zh-CN" altLang="en-US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矩形 111"/>
          <p:cNvSpPr/>
          <p:nvPr/>
        </p:nvSpPr>
        <p:spPr bwMode="gray">
          <a:xfrm>
            <a:off x="8211868" y="3807009"/>
            <a:ext cx="616286" cy="463891"/>
          </a:xfrm>
          <a:prstGeom prst="rect">
            <a:avLst/>
          </a:prstGeom>
          <a:solidFill>
            <a:srgbClr val="F66F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13</a:t>
            </a:r>
            <a:endParaRPr lang="zh-CN" altLang="en-US" b="1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IETF</a:t>
            </a:r>
            <a:r>
              <a:rPr lang="zh-CN" altLang="en-US" smtClean="0">
                <a:sym typeface="Huawei Sans" panose="020C0503030203020204" pitchFamily="34" charset="0"/>
              </a:rPr>
              <a:t>工作组逐步落实会议结论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Line 15"/>
          <p:cNvSpPr>
            <a:spLocks noChangeShapeType="1"/>
          </p:cNvSpPr>
          <p:nvPr/>
        </p:nvSpPr>
        <p:spPr bwMode="gray">
          <a:xfrm flipV="1">
            <a:off x="431231" y="3840624"/>
            <a:ext cx="11314682" cy="0"/>
          </a:xfrm>
          <a:prstGeom prst="line">
            <a:avLst/>
          </a:prstGeom>
          <a:noFill/>
          <a:ln w="57150">
            <a:solidFill>
              <a:srgbClr val="EC7061"/>
            </a:solidFill>
            <a:round/>
            <a:tailEnd type="stealth" w="lg" len="lg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78169" tIns="39084" rIns="78169" bIns="39084"/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800" b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gray">
          <a:xfrm>
            <a:off x="3052803" y="3487309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2008</a:t>
            </a:r>
            <a:endParaRPr lang="en-US" altLang="zh-CN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Text Box 64"/>
          <p:cNvSpPr txBox="1">
            <a:spLocks noChangeArrowheads="1"/>
          </p:cNvSpPr>
          <p:nvPr/>
        </p:nvSpPr>
        <p:spPr bwMode="gray">
          <a:xfrm>
            <a:off x="8027197" y="3473228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2014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64"/>
          <p:cNvSpPr txBox="1">
            <a:spLocks noChangeArrowheads="1"/>
          </p:cNvSpPr>
          <p:nvPr/>
        </p:nvSpPr>
        <p:spPr bwMode="gray">
          <a:xfrm>
            <a:off x="4743490" y="3482853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2010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Text Box 64"/>
          <p:cNvSpPr txBox="1">
            <a:spLocks noChangeArrowheads="1"/>
          </p:cNvSpPr>
          <p:nvPr/>
        </p:nvSpPr>
        <p:spPr bwMode="gray">
          <a:xfrm>
            <a:off x="9133326" y="3473228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2016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gray">
          <a:xfrm>
            <a:off x="1997601" y="3487144"/>
            <a:ext cx="745864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2006</a:t>
            </a:r>
            <a:endParaRPr lang="en-US" altLang="zh-CN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Text Box 64"/>
          <p:cNvSpPr txBox="1">
            <a:spLocks noChangeArrowheads="1"/>
          </p:cNvSpPr>
          <p:nvPr/>
        </p:nvSpPr>
        <p:spPr bwMode="gray">
          <a:xfrm>
            <a:off x="5817407" y="3473228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2011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1695767" y="2158070"/>
            <a:ext cx="1542065" cy="1122070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RFC4741, 4742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1.0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，对模型语言未做约束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4329002" y="4130560"/>
            <a:ext cx="1569941" cy="1122070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RFC6020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，定义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了和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结合方法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 bwMode="gray">
          <a:xfrm>
            <a:off x="5102820" y="3904562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矩形 19"/>
          <p:cNvSpPr/>
          <p:nvPr/>
        </p:nvSpPr>
        <p:spPr bwMode="gray">
          <a:xfrm>
            <a:off x="7445291" y="4108942"/>
            <a:ext cx="1861654" cy="1639134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RFC7223, 7224, 7277, 7317, 7407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个标准</a:t>
            </a: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Interface, IP, System Management, </a:t>
            </a: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SNMP Config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 bwMode="gray">
          <a:xfrm flipV="1">
            <a:off x="2393113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矩形 21"/>
          <p:cNvSpPr/>
          <p:nvPr/>
        </p:nvSpPr>
        <p:spPr bwMode="gray">
          <a:xfrm>
            <a:off x="2813931" y="4113151"/>
            <a:ext cx="1199714" cy="1122070"/>
          </a:xfrm>
          <a:prstGeom prst="rect">
            <a:avLst/>
          </a:prstGeom>
          <a:solidFill>
            <a:srgbClr val="BEE9EE"/>
          </a:solidFill>
          <a:ln w="12700" cap="flat" cmpd="dbl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RFC5277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 Event Notification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8842427" y="2654162"/>
            <a:ext cx="1393835" cy="605005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RFC7950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 1.1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4" name="直接箭头连接符 23"/>
          <p:cNvCxnSpPr/>
          <p:nvPr/>
        </p:nvCxnSpPr>
        <p:spPr bwMode="gray">
          <a:xfrm flipV="1">
            <a:off x="9450961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矩形 24"/>
          <p:cNvSpPr/>
          <p:nvPr/>
        </p:nvSpPr>
        <p:spPr bwMode="gray">
          <a:xfrm>
            <a:off x="534872" y="2420567"/>
            <a:ext cx="982925" cy="863537"/>
          </a:xfrm>
          <a:prstGeom prst="rect">
            <a:avLst/>
          </a:prstGeom>
          <a:solidFill>
            <a:srgbClr val="BEE9EE"/>
          </a:solidFill>
          <a:ln w="12700" cap="flat" cmpd="dbl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RFC3535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IAB</a:t>
            </a:r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网络管理大会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gray">
          <a:xfrm>
            <a:off x="653403" y="3483299"/>
            <a:ext cx="745864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2002</a:t>
            </a:r>
            <a:endParaRPr lang="en-US" altLang="zh-CN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8" name="直接箭头连接符 27"/>
          <p:cNvCxnSpPr/>
          <p:nvPr/>
        </p:nvCxnSpPr>
        <p:spPr bwMode="gray">
          <a:xfrm flipV="1">
            <a:off x="1048915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直接箭头连接符 29"/>
          <p:cNvCxnSpPr/>
          <p:nvPr/>
        </p:nvCxnSpPr>
        <p:spPr bwMode="gray">
          <a:xfrm>
            <a:off x="8370841" y="3904562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直接箭头连接符 30"/>
          <p:cNvCxnSpPr/>
          <p:nvPr/>
        </p:nvCxnSpPr>
        <p:spPr bwMode="gray">
          <a:xfrm flipV="1">
            <a:off x="6134912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直接箭头连接符 33"/>
          <p:cNvCxnSpPr/>
          <p:nvPr/>
        </p:nvCxnSpPr>
        <p:spPr bwMode="gray">
          <a:xfrm>
            <a:off x="3410461" y="3904562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 Box 64"/>
          <p:cNvSpPr txBox="1">
            <a:spLocks noChangeArrowheads="1"/>
          </p:cNvSpPr>
          <p:nvPr/>
        </p:nvSpPr>
        <p:spPr bwMode="gray">
          <a:xfrm>
            <a:off x="6924260" y="3473228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2012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8" name="直接箭头连接符 37"/>
          <p:cNvCxnSpPr/>
          <p:nvPr/>
        </p:nvCxnSpPr>
        <p:spPr bwMode="gray">
          <a:xfrm flipV="1">
            <a:off x="7275629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Text Box 64"/>
          <p:cNvSpPr txBox="1">
            <a:spLocks noChangeArrowheads="1"/>
          </p:cNvSpPr>
          <p:nvPr/>
        </p:nvSpPr>
        <p:spPr bwMode="gray">
          <a:xfrm>
            <a:off x="10236263" y="3473228"/>
            <a:ext cx="673883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2017</a:t>
            </a:r>
            <a:endParaRPr lang="zh-CN" altLang="en-US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矩形 40"/>
          <p:cNvSpPr/>
          <p:nvPr/>
        </p:nvSpPr>
        <p:spPr bwMode="gray">
          <a:xfrm>
            <a:off x="9961058" y="4126573"/>
            <a:ext cx="1205406" cy="863537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RFC8040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1.0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2" name="直接箭头连接符 41"/>
          <p:cNvCxnSpPr/>
          <p:nvPr/>
        </p:nvCxnSpPr>
        <p:spPr bwMode="gray">
          <a:xfrm>
            <a:off x="10563761" y="3904562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Text Box 10"/>
          <p:cNvSpPr txBox="1">
            <a:spLocks noChangeArrowheads="1"/>
          </p:cNvSpPr>
          <p:nvPr/>
        </p:nvSpPr>
        <p:spPr bwMode="gray">
          <a:xfrm>
            <a:off x="3895385" y="3487144"/>
            <a:ext cx="745864" cy="344635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66983" tIns="33491" rIns="66983" bIns="33491">
            <a:spAutoFit/>
          </a:bodyPr>
          <a:lstStyle/>
          <a:p>
            <a:pPr algn="ctr" defTabSz="670560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2009</a:t>
            </a:r>
            <a:endParaRPr lang="en-US" altLang="zh-CN" sz="18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44"/>
          <p:cNvSpPr/>
          <p:nvPr/>
        </p:nvSpPr>
        <p:spPr bwMode="gray">
          <a:xfrm>
            <a:off x="3707243" y="2656812"/>
            <a:ext cx="1180824" cy="605005"/>
          </a:xfrm>
          <a:prstGeom prst="rect">
            <a:avLst/>
          </a:prstGeom>
          <a:solidFill>
            <a:srgbClr val="BEE9EE"/>
          </a:solidFill>
          <a:ln w="12700" cap="flat" cmpd="dbl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RFC5717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Partial Lock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箭头连接符 45"/>
          <p:cNvCxnSpPr/>
          <p:nvPr/>
        </p:nvCxnSpPr>
        <p:spPr bwMode="gray">
          <a:xfrm flipV="1">
            <a:off x="4290897" y="3277561"/>
            <a:ext cx="0" cy="205785"/>
          </a:xfrm>
          <a:prstGeom prst="straightConnector1">
            <a:avLst/>
          </a:prstGeom>
          <a:noFill/>
          <a:ln w="19050" cap="flat" cmpd="sng" algn="ctr">
            <a:solidFill>
              <a:srgbClr val="EC706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矩形 47"/>
          <p:cNvSpPr/>
          <p:nvPr/>
        </p:nvSpPr>
        <p:spPr bwMode="gray">
          <a:xfrm>
            <a:off x="4329003" y="5297205"/>
            <a:ext cx="1569940" cy="863537"/>
          </a:xfrm>
          <a:prstGeom prst="rect">
            <a:avLst/>
          </a:prstGeom>
          <a:solidFill>
            <a:srgbClr val="BEE9EE"/>
          </a:solidFill>
          <a:ln w="12700" cap="flat" cmpd="dbl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RFC6022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 Monitoring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矩形 50"/>
          <p:cNvSpPr/>
          <p:nvPr/>
        </p:nvSpPr>
        <p:spPr bwMode="gray">
          <a:xfrm>
            <a:off x="8828683" y="1974719"/>
            <a:ext cx="1407579" cy="605005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RFC7895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 Library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矩形 51"/>
          <p:cNvSpPr/>
          <p:nvPr/>
        </p:nvSpPr>
        <p:spPr bwMode="gray">
          <a:xfrm>
            <a:off x="8832036" y="1048191"/>
            <a:ext cx="1404226" cy="863537"/>
          </a:xfrm>
          <a:prstGeom prst="rect">
            <a:avLst/>
          </a:prstGeom>
          <a:solidFill>
            <a:srgbClr val="FFFFCC"/>
          </a:solidFill>
          <a:ln w="12700" cap="flat" cmpd="dbl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7092" tIns="43545" rIns="87092" bIns="43545" numCol="1" rtlCol="0" anchor="ctr" anchorCtr="0" compatLnSpc="1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RFC7951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4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建模</a:t>
            </a:r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数据的</a:t>
            </a:r>
            <a:r>
              <a:rPr lang="en-US" altLang="zh-CN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JSON</a:t>
            </a:r>
            <a:r>
              <a:rPr lang="zh-CN" altLang="en-US" sz="140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编码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矩形 39"/>
          <p:cNvSpPr/>
          <p:nvPr/>
        </p:nvSpPr>
        <p:spPr bwMode="gray">
          <a:xfrm>
            <a:off x="5283580" y="1386920"/>
            <a:ext cx="1457306" cy="620749"/>
          </a:xfrm>
          <a:prstGeom prst="rect">
            <a:avLst/>
          </a:prstGeom>
          <a:solidFill>
            <a:srgbClr val="BEE9EE"/>
          </a:solidFill>
          <a:ln w="12700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RFC6243</a:t>
            </a:r>
            <a:endParaRPr lang="en-US" altLang="zh-CN" sz="14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With-defaults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5279917" y="2139855"/>
            <a:ext cx="1460970" cy="1126462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RFC6241, 6242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版本，确定与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的结合</a:t>
            </a:r>
            <a:endParaRPr lang="en-US" altLang="zh-CN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46"/>
          <p:cNvSpPr/>
          <p:nvPr/>
        </p:nvSpPr>
        <p:spPr bwMode="gray">
          <a:xfrm>
            <a:off x="6818274" y="1720181"/>
            <a:ext cx="1645776" cy="611870"/>
          </a:xfrm>
          <a:prstGeom prst="rect">
            <a:avLst/>
          </a:prstGeom>
          <a:solidFill>
            <a:srgbClr val="BEE9EE"/>
          </a:solidFill>
          <a:ln w="12700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RFC6470</a:t>
            </a:r>
            <a:endParaRPr lang="en-US" altLang="zh-CN" sz="14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Base Notification</a:t>
            </a:r>
            <a:endParaRPr lang="en-US" altLang="zh-CN" sz="14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矩形 52"/>
          <p:cNvSpPr/>
          <p:nvPr/>
        </p:nvSpPr>
        <p:spPr bwMode="gray">
          <a:xfrm>
            <a:off x="6813735" y="2423588"/>
            <a:ext cx="1696419" cy="831212"/>
          </a:xfrm>
          <a:prstGeom prst="rect">
            <a:avLst/>
          </a:prstGeom>
          <a:solidFill>
            <a:srgbClr val="BEE9EE"/>
          </a:solidFill>
          <a:ln w="12700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RFC6536</a:t>
            </a:r>
            <a:endParaRPr lang="en-US" altLang="zh-CN" sz="140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defTabSz="669925">
              <a:lnSpc>
                <a:spcPct val="120000"/>
              </a:lnSpc>
              <a:spcBef>
                <a:spcPct val="0"/>
              </a:spcBef>
            </a:pPr>
            <a:r>
              <a:rPr lang="en-US" altLang="zh-CN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NETCONF </a:t>
            </a:r>
            <a:r>
              <a:rPr lang="zh-CN" altLang="en-US" sz="1400" smtClea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访问控制</a:t>
            </a:r>
            <a:endParaRPr lang="en-US" altLang="zh-CN" sz="1400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工程师配置设备流程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命令行是人类与设备的交互语言。工程师查询产品文档，使用命令行方式配置设备。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命令行采用了嵌套的方式实现设备配置。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5293770" y="3503661"/>
            <a:ext cx="3703700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[Router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]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GE 1/0/0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[Router-GE1/0/1]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mtu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1500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圆角矩形 75"/>
          <p:cNvSpPr/>
          <p:nvPr/>
        </p:nvSpPr>
        <p:spPr bwMode="gray">
          <a:xfrm>
            <a:off x="6188650" y="2757275"/>
            <a:ext cx="1484689" cy="297652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8997470" y="2954285"/>
            <a:ext cx="1518364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SSH/Console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3" name="图片 22" descr="接入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10363846" y="3603286"/>
            <a:ext cx="540000" cy="441818"/>
          </a:xfrm>
          <a:prstGeom prst="rect">
            <a:avLst/>
          </a:prstGeom>
        </p:spPr>
      </p:pic>
      <p:sp>
        <p:nvSpPr>
          <p:cNvPr id="26" name="下箭头 63"/>
          <p:cNvSpPr/>
          <p:nvPr/>
        </p:nvSpPr>
        <p:spPr bwMode="gray">
          <a:xfrm rot="5400000" flipV="1">
            <a:off x="9101412" y="3310131"/>
            <a:ext cx="1133202" cy="1056478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-1" fmla="*/ 258884 w 1035535"/>
              <a:gd name="connsiteY0-2" fmla="*/ 0 h 794114"/>
              <a:gd name="connsiteX1-3" fmla="*/ 776651 w 1035535"/>
              <a:gd name="connsiteY1-4" fmla="*/ 0 h 794114"/>
              <a:gd name="connsiteX2-5" fmla="*/ 776651 w 1035535"/>
              <a:gd name="connsiteY2-6" fmla="*/ 468495 h 794114"/>
              <a:gd name="connsiteX3-7" fmla="*/ 1035535 w 1035535"/>
              <a:gd name="connsiteY3-8" fmla="*/ 468495 h 794114"/>
              <a:gd name="connsiteX4-9" fmla="*/ 517768 w 1035535"/>
              <a:gd name="connsiteY4-10" fmla="*/ 794114 h 794114"/>
              <a:gd name="connsiteX5-11" fmla="*/ 0 w 1035535"/>
              <a:gd name="connsiteY5-12" fmla="*/ 468495 h 794114"/>
              <a:gd name="connsiteX6-13" fmla="*/ 258884 w 1035535"/>
              <a:gd name="connsiteY6-14" fmla="*/ 468495 h 794114"/>
              <a:gd name="connsiteX7-15" fmla="*/ 350324 w 1035535"/>
              <a:gd name="connsiteY7-16" fmla="*/ 91440 h 794114"/>
              <a:gd name="connsiteX0-17" fmla="*/ 258884 w 1035535"/>
              <a:gd name="connsiteY0-18" fmla="*/ 0 h 794114"/>
              <a:gd name="connsiteX1-19" fmla="*/ 776651 w 1035535"/>
              <a:gd name="connsiteY1-20" fmla="*/ 468495 h 794114"/>
              <a:gd name="connsiteX2-21" fmla="*/ 1035535 w 1035535"/>
              <a:gd name="connsiteY2-22" fmla="*/ 468495 h 794114"/>
              <a:gd name="connsiteX3-23" fmla="*/ 517768 w 1035535"/>
              <a:gd name="connsiteY3-24" fmla="*/ 794114 h 794114"/>
              <a:gd name="connsiteX4-25" fmla="*/ 0 w 1035535"/>
              <a:gd name="connsiteY4-26" fmla="*/ 468495 h 794114"/>
              <a:gd name="connsiteX5-27" fmla="*/ 258884 w 1035535"/>
              <a:gd name="connsiteY5-28" fmla="*/ 468495 h 794114"/>
              <a:gd name="connsiteX6-29" fmla="*/ 350324 w 1035535"/>
              <a:gd name="connsiteY6-30" fmla="*/ 91440 h 794114"/>
              <a:gd name="connsiteX0-31" fmla="*/ 1016121 w 1035535"/>
              <a:gd name="connsiteY0-32" fmla="*/ 0 h 794114"/>
              <a:gd name="connsiteX1-33" fmla="*/ 776651 w 1035535"/>
              <a:gd name="connsiteY1-34" fmla="*/ 468495 h 794114"/>
              <a:gd name="connsiteX2-35" fmla="*/ 1035535 w 1035535"/>
              <a:gd name="connsiteY2-36" fmla="*/ 468495 h 794114"/>
              <a:gd name="connsiteX3-37" fmla="*/ 517768 w 1035535"/>
              <a:gd name="connsiteY3-38" fmla="*/ 794114 h 794114"/>
              <a:gd name="connsiteX4-39" fmla="*/ 0 w 1035535"/>
              <a:gd name="connsiteY4-40" fmla="*/ 468495 h 794114"/>
              <a:gd name="connsiteX5-41" fmla="*/ 258884 w 1035535"/>
              <a:gd name="connsiteY5-42" fmla="*/ 468495 h 794114"/>
              <a:gd name="connsiteX6-43" fmla="*/ 350324 w 1035535"/>
              <a:gd name="connsiteY6-44" fmla="*/ 91440 h 794114"/>
              <a:gd name="connsiteX0-45" fmla="*/ 1018222 w 1037636"/>
              <a:gd name="connsiteY0-46" fmla="*/ 0 h 794114"/>
              <a:gd name="connsiteX1-47" fmla="*/ 778752 w 1037636"/>
              <a:gd name="connsiteY1-48" fmla="*/ 468495 h 794114"/>
              <a:gd name="connsiteX2-49" fmla="*/ 1037636 w 1037636"/>
              <a:gd name="connsiteY2-50" fmla="*/ 468495 h 794114"/>
              <a:gd name="connsiteX3-51" fmla="*/ 519869 w 1037636"/>
              <a:gd name="connsiteY3-52" fmla="*/ 794114 h 794114"/>
              <a:gd name="connsiteX4-53" fmla="*/ 2101 w 1037636"/>
              <a:gd name="connsiteY4-54" fmla="*/ 468495 h 794114"/>
              <a:gd name="connsiteX5-55" fmla="*/ 260985 w 1037636"/>
              <a:gd name="connsiteY5-56" fmla="*/ 468495 h 794114"/>
              <a:gd name="connsiteX6-57" fmla="*/ 0 w 1037636"/>
              <a:gd name="connsiteY6-58" fmla="*/ 86678 h 794114"/>
              <a:gd name="connsiteX0-59" fmla="*/ 1027747 w 1047161"/>
              <a:gd name="connsiteY0-60" fmla="*/ 0 h 794114"/>
              <a:gd name="connsiteX1-61" fmla="*/ 788277 w 1047161"/>
              <a:gd name="connsiteY1-62" fmla="*/ 468495 h 794114"/>
              <a:gd name="connsiteX2-63" fmla="*/ 1047161 w 1047161"/>
              <a:gd name="connsiteY2-64" fmla="*/ 468495 h 794114"/>
              <a:gd name="connsiteX3-65" fmla="*/ 529394 w 1047161"/>
              <a:gd name="connsiteY3-66" fmla="*/ 794114 h 794114"/>
              <a:gd name="connsiteX4-67" fmla="*/ 11626 w 1047161"/>
              <a:gd name="connsiteY4-68" fmla="*/ 468495 h 794114"/>
              <a:gd name="connsiteX5-69" fmla="*/ 270510 w 1047161"/>
              <a:gd name="connsiteY5-70" fmla="*/ 468495 h 794114"/>
              <a:gd name="connsiteX6-71" fmla="*/ 0 w 1047161"/>
              <a:gd name="connsiteY6-72" fmla="*/ 10478 h 794114"/>
              <a:gd name="connsiteX0-73" fmla="*/ 1016121 w 1035535"/>
              <a:gd name="connsiteY0-74" fmla="*/ 13335 h 807449"/>
              <a:gd name="connsiteX1-75" fmla="*/ 776651 w 1035535"/>
              <a:gd name="connsiteY1-76" fmla="*/ 481830 h 807449"/>
              <a:gd name="connsiteX2-77" fmla="*/ 1035535 w 1035535"/>
              <a:gd name="connsiteY2-78" fmla="*/ 481830 h 807449"/>
              <a:gd name="connsiteX3-79" fmla="*/ 517768 w 1035535"/>
              <a:gd name="connsiteY3-80" fmla="*/ 807449 h 807449"/>
              <a:gd name="connsiteX4-81" fmla="*/ 0 w 1035535"/>
              <a:gd name="connsiteY4-82" fmla="*/ 481830 h 807449"/>
              <a:gd name="connsiteX5-83" fmla="*/ 258884 w 1035535"/>
              <a:gd name="connsiteY5-84" fmla="*/ 481830 h 807449"/>
              <a:gd name="connsiteX6-85" fmla="*/ 12187 w 1035535"/>
              <a:gd name="connsiteY6-86" fmla="*/ 0 h 807449"/>
              <a:gd name="connsiteX0-87" fmla="*/ 1016121 w 1035535"/>
              <a:gd name="connsiteY0-88" fmla="*/ 13335 h 807449"/>
              <a:gd name="connsiteX1-89" fmla="*/ 776651 w 1035535"/>
              <a:gd name="connsiteY1-90" fmla="*/ 481830 h 807449"/>
              <a:gd name="connsiteX2-91" fmla="*/ 1035535 w 1035535"/>
              <a:gd name="connsiteY2-92" fmla="*/ 481830 h 807449"/>
              <a:gd name="connsiteX3-93" fmla="*/ 517768 w 1035535"/>
              <a:gd name="connsiteY3-94" fmla="*/ 807449 h 807449"/>
              <a:gd name="connsiteX4-95" fmla="*/ 0 w 1035535"/>
              <a:gd name="connsiteY4-96" fmla="*/ 481830 h 807449"/>
              <a:gd name="connsiteX5-97" fmla="*/ 392234 w 1035535"/>
              <a:gd name="connsiteY5-98" fmla="*/ 486592 h 807449"/>
              <a:gd name="connsiteX6-99" fmla="*/ 12187 w 1035535"/>
              <a:gd name="connsiteY6-100" fmla="*/ 0 h 807449"/>
              <a:gd name="connsiteX0-101" fmla="*/ 1016121 w 1035535"/>
              <a:gd name="connsiteY0-102" fmla="*/ 13335 h 807449"/>
              <a:gd name="connsiteX1-103" fmla="*/ 619488 w 1035535"/>
              <a:gd name="connsiteY1-104" fmla="*/ 481830 h 807449"/>
              <a:gd name="connsiteX2-105" fmla="*/ 1035535 w 1035535"/>
              <a:gd name="connsiteY2-106" fmla="*/ 481830 h 807449"/>
              <a:gd name="connsiteX3-107" fmla="*/ 517768 w 1035535"/>
              <a:gd name="connsiteY3-108" fmla="*/ 807449 h 807449"/>
              <a:gd name="connsiteX4-109" fmla="*/ 0 w 1035535"/>
              <a:gd name="connsiteY4-110" fmla="*/ 481830 h 807449"/>
              <a:gd name="connsiteX5-111" fmla="*/ 392234 w 1035535"/>
              <a:gd name="connsiteY5-112" fmla="*/ 486592 h 807449"/>
              <a:gd name="connsiteX6-113" fmla="*/ 12187 w 1035535"/>
              <a:gd name="connsiteY6-114" fmla="*/ 0 h 807449"/>
              <a:gd name="connsiteX0-115" fmla="*/ 1016121 w 1035535"/>
              <a:gd name="connsiteY0-116" fmla="*/ 13335 h 807449"/>
              <a:gd name="connsiteX1-117" fmla="*/ 619488 w 1035535"/>
              <a:gd name="connsiteY1-118" fmla="*/ 481830 h 807449"/>
              <a:gd name="connsiteX2-119" fmla="*/ 1035535 w 1035535"/>
              <a:gd name="connsiteY2-120" fmla="*/ 481830 h 807449"/>
              <a:gd name="connsiteX3-121" fmla="*/ 517768 w 1035535"/>
              <a:gd name="connsiteY3-122" fmla="*/ 807449 h 807449"/>
              <a:gd name="connsiteX4-123" fmla="*/ 0 w 1035535"/>
              <a:gd name="connsiteY4-124" fmla="*/ 481830 h 807449"/>
              <a:gd name="connsiteX5-125" fmla="*/ 392234 w 1035535"/>
              <a:gd name="connsiteY5-126" fmla="*/ 486592 h 807449"/>
              <a:gd name="connsiteX6-127" fmla="*/ 12187 w 1035535"/>
              <a:gd name="connsiteY6-128" fmla="*/ 0 h 807449"/>
              <a:gd name="connsiteX0-129" fmla="*/ 1016121 w 1035535"/>
              <a:gd name="connsiteY0-130" fmla="*/ 13335 h 807449"/>
              <a:gd name="connsiteX1-131" fmla="*/ 619488 w 1035535"/>
              <a:gd name="connsiteY1-132" fmla="*/ 481830 h 807449"/>
              <a:gd name="connsiteX2-133" fmla="*/ 1035535 w 1035535"/>
              <a:gd name="connsiteY2-134" fmla="*/ 481830 h 807449"/>
              <a:gd name="connsiteX3-135" fmla="*/ 517768 w 1035535"/>
              <a:gd name="connsiteY3-136" fmla="*/ 807449 h 807449"/>
              <a:gd name="connsiteX4-137" fmla="*/ 0 w 1035535"/>
              <a:gd name="connsiteY4-138" fmla="*/ 481830 h 807449"/>
              <a:gd name="connsiteX5-139" fmla="*/ 392234 w 1035535"/>
              <a:gd name="connsiteY5-140" fmla="*/ 486592 h 807449"/>
              <a:gd name="connsiteX6-141" fmla="*/ 12187 w 1035535"/>
              <a:gd name="connsiteY6-142" fmla="*/ 0 h 807449"/>
              <a:gd name="connsiteX0-143" fmla="*/ 1044696 w 1044696"/>
              <a:gd name="connsiteY0-144" fmla="*/ 0 h 832214"/>
              <a:gd name="connsiteX1-145" fmla="*/ 619488 w 1044696"/>
              <a:gd name="connsiteY1-146" fmla="*/ 506595 h 832214"/>
              <a:gd name="connsiteX2-147" fmla="*/ 1035535 w 1044696"/>
              <a:gd name="connsiteY2-148" fmla="*/ 506595 h 832214"/>
              <a:gd name="connsiteX3-149" fmla="*/ 517768 w 1044696"/>
              <a:gd name="connsiteY3-150" fmla="*/ 832214 h 832214"/>
              <a:gd name="connsiteX4-151" fmla="*/ 0 w 1044696"/>
              <a:gd name="connsiteY4-152" fmla="*/ 506595 h 832214"/>
              <a:gd name="connsiteX5-153" fmla="*/ 392234 w 1044696"/>
              <a:gd name="connsiteY5-154" fmla="*/ 511357 h 832214"/>
              <a:gd name="connsiteX6-155" fmla="*/ 12187 w 1044696"/>
              <a:gd name="connsiteY6-156" fmla="*/ 24765 h 832214"/>
              <a:gd name="connsiteX0-157" fmla="*/ 1032509 w 1032509"/>
              <a:gd name="connsiteY0-158" fmla="*/ 0 h 832214"/>
              <a:gd name="connsiteX1-159" fmla="*/ 607301 w 1032509"/>
              <a:gd name="connsiteY1-160" fmla="*/ 506595 h 832214"/>
              <a:gd name="connsiteX2-161" fmla="*/ 1023348 w 1032509"/>
              <a:gd name="connsiteY2-162" fmla="*/ 506595 h 832214"/>
              <a:gd name="connsiteX3-163" fmla="*/ 505581 w 1032509"/>
              <a:gd name="connsiteY3-164" fmla="*/ 832214 h 832214"/>
              <a:gd name="connsiteX4-165" fmla="*/ 237844 w 1032509"/>
              <a:gd name="connsiteY4-166" fmla="*/ 508976 h 832214"/>
              <a:gd name="connsiteX5-167" fmla="*/ 380047 w 1032509"/>
              <a:gd name="connsiteY5-168" fmla="*/ 511357 h 832214"/>
              <a:gd name="connsiteX6-169" fmla="*/ 0 w 1032509"/>
              <a:gd name="connsiteY6-170" fmla="*/ 24765 h 832214"/>
              <a:gd name="connsiteX0-171" fmla="*/ 1032509 w 1032509"/>
              <a:gd name="connsiteY0-172" fmla="*/ 0 h 832214"/>
              <a:gd name="connsiteX1-173" fmla="*/ 607301 w 1032509"/>
              <a:gd name="connsiteY1-174" fmla="*/ 506595 h 832214"/>
              <a:gd name="connsiteX2-175" fmla="*/ 804276 w 1032509"/>
              <a:gd name="connsiteY2-176" fmla="*/ 513741 h 832214"/>
              <a:gd name="connsiteX3-177" fmla="*/ 505581 w 1032509"/>
              <a:gd name="connsiteY3-178" fmla="*/ 832214 h 832214"/>
              <a:gd name="connsiteX4-179" fmla="*/ 237844 w 1032509"/>
              <a:gd name="connsiteY4-180" fmla="*/ 508976 h 832214"/>
              <a:gd name="connsiteX5-181" fmla="*/ 380047 w 1032509"/>
              <a:gd name="connsiteY5-182" fmla="*/ 511357 h 832214"/>
              <a:gd name="connsiteX6-183" fmla="*/ 0 w 1032509"/>
              <a:gd name="connsiteY6-184" fmla="*/ 24765 h 832214"/>
              <a:gd name="connsiteX0-185" fmla="*/ 1032509 w 1032509"/>
              <a:gd name="connsiteY0-186" fmla="*/ 0 h 722679"/>
              <a:gd name="connsiteX1-187" fmla="*/ 607301 w 1032509"/>
              <a:gd name="connsiteY1-188" fmla="*/ 506595 h 722679"/>
              <a:gd name="connsiteX2-189" fmla="*/ 804276 w 1032509"/>
              <a:gd name="connsiteY2-190" fmla="*/ 513741 h 722679"/>
              <a:gd name="connsiteX3-191" fmla="*/ 507965 w 1032509"/>
              <a:gd name="connsiteY3-192" fmla="*/ 722679 h 722679"/>
              <a:gd name="connsiteX4-193" fmla="*/ 237844 w 1032509"/>
              <a:gd name="connsiteY4-194" fmla="*/ 508976 h 722679"/>
              <a:gd name="connsiteX5-195" fmla="*/ 380047 w 1032509"/>
              <a:gd name="connsiteY5-196" fmla="*/ 511357 h 722679"/>
              <a:gd name="connsiteX6-197" fmla="*/ 0 w 1032509"/>
              <a:gd name="connsiteY6-198" fmla="*/ 24765 h 722679"/>
              <a:gd name="connsiteX0-199" fmla="*/ 1032509 w 1032509"/>
              <a:gd name="connsiteY0-200" fmla="*/ 0 h 722679"/>
              <a:gd name="connsiteX1-201" fmla="*/ 607301 w 1032509"/>
              <a:gd name="connsiteY1-202" fmla="*/ 506595 h 722679"/>
              <a:gd name="connsiteX2-203" fmla="*/ 804276 w 1032509"/>
              <a:gd name="connsiteY2-204" fmla="*/ 513741 h 722679"/>
              <a:gd name="connsiteX3-205" fmla="*/ 498440 w 1032509"/>
              <a:gd name="connsiteY3-206" fmla="*/ 722679 h 722679"/>
              <a:gd name="connsiteX4-207" fmla="*/ 237844 w 1032509"/>
              <a:gd name="connsiteY4-208" fmla="*/ 508976 h 722679"/>
              <a:gd name="connsiteX5-209" fmla="*/ 380047 w 1032509"/>
              <a:gd name="connsiteY5-210" fmla="*/ 511357 h 722679"/>
              <a:gd name="connsiteX6-211" fmla="*/ 0 w 1032509"/>
              <a:gd name="connsiteY6-212" fmla="*/ 24765 h 722679"/>
              <a:gd name="connsiteX0-213" fmla="*/ 1032509 w 1032509"/>
              <a:gd name="connsiteY0-214" fmla="*/ 0 h 722679"/>
              <a:gd name="connsiteX1-215" fmla="*/ 607301 w 1032509"/>
              <a:gd name="connsiteY1-216" fmla="*/ 506595 h 722679"/>
              <a:gd name="connsiteX2-217" fmla="*/ 792369 w 1032509"/>
              <a:gd name="connsiteY2-218" fmla="*/ 515732 h 722679"/>
              <a:gd name="connsiteX3-219" fmla="*/ 498440 w 1032509"/>
              <a:gd name="connsiteY3-220" fmla="*/ 722679 h 722679"/>
              <a:gd name="connsiteX4-221" fmla="*/ 237844 w 1032509"/>
              <a:gd name="connsiteY4-222" fmla="*/ 508976 h 722679"/>
              <a:gd name="connsiteX5-223" fmla="*/ 380047 w 1032509"/>
              <a:gd name="connsiteY5-224" fmla="*/ 511357 h 722679"/>
              <a:gd name="connsiteX6-225" fmla="*/ 0 w 1032509"/>
              <a:gd name="connsiteY6-226" fmla="*/ 24765 h 722679"/>
              <a:gd name="connsiteX0-227" fmla="*/ 1032509 w 1032509"/>
              <a:gd name="connsiteY0-228" fmla="*/ 0 h 720688"/>
              <a:gd name="connsiteX1-229" fmla="*/ 607301 w 1032509"/>
              <a:gd name="connsiteY1-230" fmla="*/ 506595 h 720688"/>
              <a:gd name="connsiteX2-231" fmla="*/ 792369 w 1032509"/>
              <a:gd name="connsiteY2-232" fmla="*/ 515732 h 720688"/>
              <a:gd name="connsiteX3-233" fmla="*/ 503202 w 1032509"/>
              <a:gd name="connsiteY3-234" fmla="*/ 720688 h 720688"/>
              <a:gd name="connsiteX4-235" fmla="*/ 237844 w 1032509"/>
              <a:gd name="connsiteY4-236" fmla="*/ 508976 h 720688"/>
              <a:gd name="connsiteX5-237" fmla="*/ 380047 w 1032509"/>
              <a:gd name="connsiteY5-238" fmla="*/ 511357 h 720688"/>
              <a:gd name="connsiteX6-239" fmla="*/ 0 w 1032509"/>
              <a:gd name="connsiteY6-240" fmla="*/ 24765 h 720688"/>
              <a:gd name="connsiteX0-241" fmla="*/ 1044414 w 1044414"/>
              <a:gd name="connsiteY0-242" fmla="*/ 0 h 720688"/>
              <a:gd name="connsiteX1-243" fmla="*/ 619206 w 1044414"/>
              <a:gd name="connsiteY1-244" fmla="*/ 506595 h 720688"/>
              <a:gd name="connsiteX2-245" fmla="*/ 804274 w 1044414"/>
              <a:gd name="connsiteY2-246" fmla="*/ 515732 h 720688"/>
              <a:gd name="connsiteX3-247" fmla="*/ 515107 w 1044414"/>
              <a:gd name="connsiteY3-248" fmla="*/ 720688 h 720688"/>
              <a:gd name="connsiteX4-249" fmla="*/ 249749 w 1044414"/>
              <a:gd name="connsiteY4-250" fmla="*/ 508976 h 720688"/>
              <a:gd name="connsiteX5-251" fmla="*/ 391952 w 1044414"/>
              <a:gd name="connsiteY5-252" fmla="*/ 511357 h 720688"/>
              <a:gd name="connsiteX6-253" fmla="*/ 0 w 1044414"/>
              <a:gd name="connsiteY6-254" fmla="*/ 4852 h 720688"/>
              <a:gd name="connsiteX0-255" fmla="*/ 1082514 w 1082514"/>
              <a:gd name="connsiteY0-256" fmla="*/ 0 h 722679"/>
              <a:gd name="connsiteX1-257" fmla="*/ 619206 w 1082514"/>
              <a:gd name="connsiteY1-258" fmla="*/ 508586 h 722679"/>
              <a:gd name="connsiteX2-259" fmla="*/ 804274 w 1082514"/>
              <a:gd name="connsiteY2-260" fmla="*/ 517723 h 722679"/>
              <a:gd name="connsiteX3-261" fmla="*/ 515107 w 1082514"/>
              <a:gd name="connsiteY3-262" fmla="*/ 722679 h 722679"/>
              <a:gd name="connsiteX4-263" fmla="*/ 249749 w 1082514"/>
              <a:gd name="connsiteY4-264" fmla="*/ 510967 h 722679"/>
              <a:gd name="connsiteX5-265" fmla="*/ 391952 w 1082514"/>
              <a:gd name="connsiteY5-266" fmla="*/ 513348 h 722679"/>
              <a:gd name="connsiteX6-267" fmla="*/ 0 w 1082514"/>
              <a:gd name="connsiteY6-268" fmla="*/ 6843 h 722679"/>
              <a:gd name="connsiteX0-269" fmla="*/ 1082514 w 1082514"/>
              <a:gd name="connsiteY0-270" fmla="*/ 0 h 724672"/>
              <a:gd name="connsiteX1-271" fmla="*/ 619206 w 1082514"/>
              <a:gd name="connsiteY1-272" fmla="*/ 508586 h 724672"/>
              <a:gd name="connsiteX2-273" fmla="*/ 804274 w 1082514"/>
              <a:gd name="connsiteY2-274" fmla="*/ 517723 h 724672"/>
              <a:gd name="connsiteX3-275" fmla="*/ 534160 w 1082514"/>
              <a:gd name="connsiteY3-276" fmla="*/ 724672 h 724672"/>
              <a:gd name="connsiteX4-277" fmla="*/ 249749 w 1082514"/>
              <a:gd name="connsiteY4-278" fmla="*/ 510967 h 724672"/>
              <a:gd name="connsiteX5-279" fmla="*/ 391952 w 1082514"/>
              <a:gd name="connsiteY5-280" fmla="*/ 513348 h 724672"/>
              <a:gd name="connsiteX6-281" fmla="*/ 0 w 1082514"/>
              <a:gd name="connsiteY6-282" fmla="*/ 6843 h 724672"/>
              <a:gd name="connsiteX0-283" fmla="*/ 1082514 w 1082514"/>
              <a:gd name="connsiteY0-284" fmla="*/ 0 h 724672"/>
              <a:gd name="connsiteX1-285" fmla="*/ 619206 w 1082514"/>
              <a:gd name="connsiteY1-286" fmla="*/ 508586 h 724672"/>
              <a:gd name="connsiteX2-287" fmla="*/ 804274 w 1082514"/>
              <a:gd name="connsiteY2-288" fmla="*/ 517723 h 724672"/>
              <a:gd name="connsiteX3-289" fmla="*/ 534160 w 1082514"/>
              <a:gd name="connsiteY3-290" fmla="*/ 724672 h 724672"/>
              <a:gd name="connsiteX4-291" fmla="*/ 249749 w 1082514"/>
              <a:gd name="connsiteY4-292" fmla="*/ 510967 h 724672"/>
              <a:gd name="connsiteX5-293" fmla="*/ 380046 w 1082514"/>
              <a:gd name="connsiteY5-294" fmla="*/ 533263 h 724672"/>
              <a:gd name="connsiteX6-295" fmla="*/ 0 w 1082514"/>
              <a:gd name="connsiteY6-296" fmla="*/ 6843 h 724672"/>
              <a:gd name="connsiteX0-297" fmla="*/ 1082514 w 1082514"/>
              <a:gd name="connsiteY0-298" fmla="*/ 0 h 724672"/>
              <a:gd name="connsiteX1-299" fmla="*/ 619206 w 1082514"/>
              <a:gd name="connsiteY1-300" fmla="*/ 508586 h 724672"/>
              <a:gd name="connsiteX2-301" fmla="*/ 804274 w 1082514"/>
              <a:gd name="connsiteY2-302" fmla="*/ 517723 h 724672"/>
              <a:gd name="connsiteX3-303" fmla="*/ 534160 w 1082514"/>
              <a:gd name="connsiteY3-304" fmla="*/ 724672 h 724672"/>
              <a:gd name="connsiteX4-305" fmla="*/ 249749 w 1082514"/>
              <a:gd name="connsiteY4-306" fmla="*/ 510967 h 724672"/>
              <a:gd name="connsiteX5-307" fmla="*/ 380046 w 1082514"/>
              <a:gd name="connsiteY5-308" fmla="*/ 533263 h 724672"/>
              <a:gd name="connsiteX6-309" fmla="*/ 0 w 1082514"/>
              <a:gd name="connsiteY6-310" fmla="*/ 6843 h 724672"/>
              <a:gd name="connsiteX0-311" fmla="*/ 1082514 w 1082514"/>
              <a:gd name="connsiteY0-312" fmla="*/ 0 h 724672"/>
              <a:gd name="connsiteX1-313" fmla="*/ 619206 w 1082514"/>
              <a:gd name="connsiteY1-314" fmla="*/ 508586 h 724672"/>
              <a:gd name="connsiteX2-315" fmla="*/ 804274 w 1082514"/>
              <a:gd name="connsiteY2-316" fmla="*/ 517723 h 724672"/>
              <a:gd name="connsiteX3-317" fmla="*/ 534160 w 1082514"/>
              <a:gd name="connsiteY3-318" fmla="*/ 724672 h 724672"/>
              <a:gd name="connsiteX4-319" fmla="*/ 249749 w 1082514"/>
              <a:gd name="connsiteY4-320" fmla="*/ 510967 h 724672"/>
              <a:gd name="connsiteX5-321" fmla="*/ 380046 w 1082514"/>
              <a:gd name="connsiteY5-322" fmla="*/ 533263 h 724672"/>
              <a:gd name="connsiteX6-323" fmla="*/ 0 w 1082514"/>
              <a:gd name="connsiteY6-324" fmla="*/ 6843 h 724672"/>
              <a:gd name="connsiteX0-325" fmla="*/ 1082514 w 1082514"/>
              <a:gd name="connsiteY0-326" fmla="*/ 0 h 724672"/>
              <a:gd name="connsiteX1-327" fmla="*/ 619206 w 1082514"/>
              <a:gd name="connsiteY1-328" fmla="*/ 508586 h 724672"/>
              <a:gd name="connsiteX2-329" fmla="*/ 804274 w 1082514"/>
              <a:gd name="connsiteY2-330" fmla="*/ 517723 h 724672"/>
              <a:gd name="connsiteX3-331" fmla="*/ 534160 w 1082514"/>
              <a:gd name="connsiteY3-332" fmla="*/ 724672 h 724672"/>
              <a:gd name="connsiteX4-333" fmla="*/ 233080 w 1082514"/>
              <a:gd name="connsiteY4-334" fmla="*/ 526899 h 724672"/>
              <a:gd name="connsiteX5-335" fmla="*/ 380046 w 1082514"/>
              <a:gd name="connsiteY5-336" fmla="*/ 533263 h 724672"/>
              <a:gd name="connsiteX6-337" fmla="*/ 0 w 1082514"/>
              <a:gd name="connsiteY6-338" fmla="*/ 6843 h 724672"/>
              <a:gd name="connsiteX0-339" fmla="*/ 1082514 w 1082514"/>
              <a:gd name="connsiteY0-340" fmla="*/ 0 h 724672"/>
              <a:gd name="connsiteX1-341" fmla="*/ 619206 w 1082514"/>
              <a:gd name="connsiteY1-342" fmla="*/ 508586 h 724672"/>
              <a:gd name="connsiteX2-343" fmla="*/ 804274 w 1082514"/>
              <a:gd name="connsiteY2-344" fmla="*/ 517723 h 724672"/>
              <a:gd name="connsiteX3-345" fmla="*/ 534160 w 1082514"/>
              <a:gd name="connsiteY3-346" fmla="*/ 724672 h 724672"/>
              <a:gd name="connsiteX4-347" fmla="*/ 237842 w 1082514"/>
              <a:gd name="connsiteY4-348" fmla="*/ 532873 h 724672"/>
              <a:gd name="connsiteX5-349" fmla="*/ 380046 w 1082514"/>
              <a:gd name="connsiteY5-350" fmla="*/ 533263 h 724672"/>
              <a:gd name="connsiteX6-351" fmla="*/ 0 w 1082514"/>
              <a:gd name="connsiteY6-352" fmla="*/ 6843 h 724672"/>
              <a:gd name="connsiteX0-353" fmla="*/ 1082514 w 1082514"/>
              <a:gd name="connsiteY0-354" fmla="*/ 0 h 724672"/>
              <a:gd name="connsiteX1-355" fmla="*/ 690644 w 1082514"/>
              <a:gd name="connsiteY1-356" fmla="*/ 532484 h 724672"/>
              <a:gd name="connsiteX2-357" fmla="*/ 804274 w 1082514"/>
              <a:gd name="connsiteY2-358" fmla="*/ 517723 h 724672"/>
              <a:gd name="connsiteX3-359" fmla="*/ 534160 w 1082514"/>
              <a:gd name="connsiteY3-360" fmla="*/ 724672 h 724672"/>
              <a:gd name="connsiteX4-361" fmla="*/ 237842 w 1082514"/>
              <a:gd name="connsiteY4-362" fmla="*/ 532873 h 724672"/>
              <a:gd name="connsiteX5-363" fmla="*/ 380046 w 1082514"/>
              <a:gd name="connsiteY5-364" fmla="*/ 533263 h 724672"/>
              <a:gd name="connsiteX6-365" fmla="*/ 0 w 1082514"/>
              <a:gd name="connsiteY6-366" fmla="*/ 6843 h 724672"/>
              <a:gd name="connsiteX0-367" fmla="*/ 1082514 w 1082514"/>
              <a:gd name="connsiteY0-368" fmla="*/ 0 h 724672"/>
              <a:gd name="connsiteX1-369" fmla="*/ 690644 w 1082514"/>
              <a:gd name="connsiteY1-370" fmla="*/ 532484 h 724672"/>
              <a:gd name="connsiteX2-371" fmla="*/ 804274 w 1082514"/>
              <a:gd name="connsiteY2-372" fmla="*/ 517723 h 724672"/>
              <a:gd name="connsiteX3-373" fmla="*/ 534160 w 1082514"/>
              <a:gd name="connsiteY3-374" fmla="*/ 724672 h 724672"/>
              <a:gd name="connsiteX4-375" fmla="*/ 237842 w 1082514"/>
              <a:gd name="connsiteY4-376" fmla="*/ 532873 h 724672"/>
              <a:gd name="connsiteX5-377" fmla="*/ 380046 w 1082514"/>
              <a:gd name="connsiteY5-378" fmla="*/ 533263 h 724672"/>
              <a:gd name="connsiteX6-379" fmla="*/ 0 w 1082514"/>
              <a:gd name="connsiteY6-380" fmla="*/ 6843 h 724672"/>
              <a:gd name="connsiteX0-381" fmla="*/ 1082514 w 1082514"/>
              <a:gd name="connsiteY0-382" fmla="*/ 0 h 724672"/>
              <a:gd name="connsiteX1-383" fmla="*/ 690644 w 1082514"/>
              <a:gd name="connsiteY1-384" fmla="*/ 532484 h 724672"/>
              <a:gd name="connsiteX2-385" fmla="*/ 830468 w 1082514"/>
              <a:gd name="connsiteY2-386" fmla="*/ 531664 h 724672"/>
              <a:gd name="connsiteX3-387" fmla="*/ 534160 w 1082514"/>
              <a:gd name="connsiteY3-388" fmla="*/ 724672 h 724672"/>
              <a:gd name="connsiteX4-389" fmla="*/ 237842 w 1082514"/>
              <a:gd name="connsiteY4-390" fmla="*/ 532873 h 724672"/>
              <a:gd name="connsiteX5-391" fmla="*/ 380046 w 1082514"/>
              <a:gd name="connsiteY5-392" fmla="*/ 533263 h 724672"/>
              <a:gd name="connsiteX6-393" fmla="*/ 0 w 1082514"/>
              <a:gd name="connsiteY6-394" fmla="*/ 6843 h 724672"/>
              <a:gd name="connsiteX0-395" fmla="*/ 1082514 w 1082514"/>
              <a:gd name="connsiteY0-396" fmla="*/ 0 h 724672"/>
              <a:gd name="connsiteX1-397" fmla="*/ 690644 w 1082514"/>
              <a:gd name="connsiteY1-398" fmla="*/ 532484 h 724672"/>
              <a:gd name="connsiteX2-399" fmla="*/ 830468 w 1082514"/>
              <a:gd name="connsiteY2-400" fmla="*/ 531664 h 724672"/>
              <a:gd name="connsiteX3-401" fmla="*/ 534160 w 1082514"/>
              <a:gd name="connsiteY3-402" fmla="*/ 724672 h 724672"/>
              <a:gd name="connsiteX4-403" fmla="*/ 237842 w 1082514"/>
              <a:gd name="connsiteY4-404" fmla="*/ 532873 h 724672"/>
              <a:gd name="connsiteX5-405" fmla="*/ 434815 w 1082514"/>
              <a:gd name="connsiteY5-406" fmla="*/ 533263 h 724672"/>
              <a:gd name="connsiteX6-407" fmla="*/ 0 w 1082514"/>
              <a:gd name="connsiteY6-408" fmla="*/ 6843 h 724672"/>
              <a:gd name="connsiteX0-409" fmla="*/ 1082514 w 1082514"/>
              <a:gd name="connsiteY0-410" fmla="*/ 0 h 724672"/>
              <a:gd name="connsiteX1-411" fmla="*/ 690644 w 1082514"/>
              <a:gd name="connsiteY1-412" fmla="*/ 532484 h 724672"/>
              <a:gd name="connsiteX2-413" fmla="*/ 830468 w 1082514"/>
              <a:gd name="connsiteY2-414" fmla="*/ 531664 h 724672"/>
              <a:gd name="connsiteX3-415" fmla="*/ 534160 w 1082514"/>
              <a:gd name="connsiteY3-416" fmla="*/ 724672 h 724672"/>
              <a:gd name="connsiteX4-417" fmla="*/ 297373 w 1082514"/>
              <a:gd name="connsiteY4-418" fmla="*/ 532873 h 724672"/>
              <a:gd name="connsiteX5-419" fmla="*/ 434815 w 1082514"/>
              <a:gd name="connsiteY5-420" fmla="*/ 533263 h 724672"/>
              <a:gd name="connsiteX6-421" fmla="*/ 0 w 1082514"/>
              <a:gd name="connsiteY6-422" fmla="*/ 6843 h 724672"/>
              <a:gd name="connsiteX0-423" fmla="*/ 1082514 w 1082514"/>
              <a:gd name="connsiteY0-424" fmla="*/ 0 h 724672"/>
              <a:gd name="connsiteX1-425" fmla="*/ 690644 w 1082514"/>
              <a:gd name="connsiteY1-426" fmla="*/ 532484 h 724672"/>
              <a:gd name="connsiteX2-427" fmla="*/ 768555 w 1082514"/>
              <a:gd name="connsiteY2-428" fmla="*/ 531664 h 724672"/>
              <a:gd name="connsiteX3-429" fmla="*/ 534160 w 1082514"/>
              <a:gd name="connsiteY3-430" fmla="*/ 724672 h 724672"/>
              <a:gd name="connsiteX4-431" fmla="*/ 297373 w 1082514"/>
              <a:gd name="connsiteY4-432" fmla="*/ 532873 h 724672"/>
              <a:gd name="connsiteX5-433" fmla="*/ 434815 w 1082514"/>
              <a:gd name="connsiteY5-434" fmla="*/ 533263 h 724672"/>
              <a:gd name="connsiteX6-435" fmla="*/ 0 w 1082514"/>
              <a:gd name="connsiteY6-436" fmla="*/ 6843 h 724672"/>
              <a:gd name="connsiteX0-437" fmla="*/ 1082514 w 1082514"/>
              <a:gd name="connsiteY0-438" fmla="*/ 0 h 724672"/>
              <a:gd name="connsiteX1-439" fmla="*/ 638256 w 1082514"/>
              <a:gd name="connsiteY1-440" fmla="*/ 534476 h 724672"/>
              <a:gd name="connsiteX2-441" fmla="*/ 768555 w 1082514"/>
              <a:gd name="connsiteY2-442" fmla="*/ 531664 h 724672"/>
              <a:gd name="connsiteX3-443" fmla="*/ 534160 w 1082514"/>
              <a:gd name="connsiteY3-444" fmla="*/ 724672 h 724672"/>
              <a:gd name="connsiteX4-445" fmla="*/ 297373 w 1082514"/>
              <a:gd name="connsiteY4-446" fmla="*/ 532873 h 724672"/>
              <a:gd name="connsiteX5-447" fmla="*/ 434815 w 1082514"/>
              <a:gd name="connsiteY5-448" fmla="*/ 533263 h 724672"/>
              <a:gd name="connsiteX6-449" fmla="*/ 0 w 1082514"/>
              <a:gd name="connsiteY6-450" fmla="*/ 6843 h 7246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圆角矩形 75"/>
          <p:cNvSpPr/>
          <p:nvPr/>
        </p:nvSpPr>
        <p:spPr bwMode="gray">
          <a:xfrm>
            <a:off x="1713240" y="2479063"/>
            <a:ext cx="1381227" cy="335132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设备的描述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 bwMode="gray">
          <a:xfrm>
            <a:off x="747176" y="2843346"/>
            <a:ext cx="3540917" cy="2375451"/>
            <a:chOff x="601703" y="2147571"/>
            <a:chExt cx="3540917" cy="2375451"/>
          </a:xfrm>
        </p:grpSpPr>
        <p:sp>
          <p:nvSpPr>
            <p:cNvPr id="30" name="圆角矩形 75"/>
            <p:cNvSpPr/>
            <p:nvPr/>
          </p:nvSpPr>
          <p:spPr bwMode="gray">
            <a:xfrm>
              <a:off x="601703" y="2147571"/>
              <a:ext cx="3540917" cy="2375451"/>
            </a:xfrm>
            <a:prstGeom prst="roundRect">
              <a:avLst>
                <a:gd name="adj" fmla="val 874"/>
              </a:avLst>
            </a:prstGeom>
            <a:solidFill>
              <a:srgbClr val="FFFFCC"/>
            </a:solidFill>
            <a:ln w="95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t" anchorCtr="0">
              <a:noAutofit/>
            </a:bodyPr>
            <a:lstStyle/>
            <a:p>
              <a:pPr algn="just" fontAlgn="auto">
                <a:lnSpc>
                  <a:spcPts val="2600"/>
                </a:lnSpc>
                <a:spcBef>
                  <a:spcPts val="0"/>
                </a:spcBef>
                <a:spcAft>
                  <a:spcPts val="600"/>
                </a:spcAft>
              </a:pPr>
              <a:endPara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左大括号 32"/>
            <p:cNvSpPr/>
            <p:nvPr/>
          </p:nvSpPr>
          <p:spPr bwMode="gray">
            <a:xfrm>
              <a:off x="1619731" y="2870531"/>
              <a:ext cx="255888" cy="124848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 bwMode="gray">
            <a:xfrm>
              <a:off x="1901750" y="3420212"/>
              <a:ext cx="646331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属性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 bwMode="gray">
            <a:xfrm>
              <a:off x="1898411" y="2567409"/>
              <a:ext cx="649537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接口</a:t>
              </a:r>
              <a:endParaRPr lang="zh-CN" altLang="en-US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左大括号 36"/>
            <p:cNvSpPr/>
            <p:nvPr/>
          </p:nvSpPr>
          <p:spPr bwMode="gray">
            <a:xfrm>
              <a:off x="2653054" y="2544760"/>
              <a:ext cx="152737" cy="47492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gray">
            <a:xfrm>
              <a:off x="2869352" y="2273840"/>
              <a:ext cx="1107996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接口名称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2911071" y="2767208"/>
              <a:ext cx="715260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MTU</a:t>
              </a:r>
              <a:endPara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 bwMode="gray">
            <a:xfrm>
              <a:off x="714438" y="3239102"/>
              <a:ext cx="877163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路由器</a:t>
              </a:r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gray">
            <a:xfrm>
              <a:off x="1951854" y="3831806"/>
              <a:ext cx="344966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左大括号 41"/>
            <p:cNvSpPr/>
            <p:nvPr/>
          </p:nvSpPr>
          <p:spPr bwMode="gray">
            <a:xfrm>
              <a:off x="2641479" y="3472598"/>
              <a:ext cx="152737" cy="47492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 bwMode="gray">
            <a:xfrm>
              <a:off x="2857777" y="3224828"/>
              <a:ext cx="1107996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系统名称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 bwMode="gray">
            <a:xfrm>
              <a:off x="2941797" y="3623462"/>
              <a:ext cx="344966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5" name="下箭头 63"/>
          <p:cNvSpPr/>
          <p:nvPr/>
        </p:nvSpPr>
        <p:spPr bwMode="gray">
          <a:xfrm rot="5400000" flipV="1">
            <a:off x="4168479" y="3302447"/>
            <a:ext cx="1133202" cy="1056478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-1" fmla="*/ 258884 w 1035535"/>
              <a:gd name="connsiteY0-2" fmla="*/ 0 h 794114"/>
              <a:gd name="connsiteX1-3" fmla="*/ 776651 w 1035535"/>
              <a:gd name="connsiteY1-4" fmla="*/ 0 h 794114"/>
              <a:gd name="connsiteX2-5" fmla="*/ 776651 w 1035535"/>
              <a:gd name="connsiteY2-6" fmla="*/ 468495 h 794114"/>
              <a:gd name="connsiteX3-7" fmla="*/ 1035535 w 1035535"/>
              <a:gd name="connsiteY3-8" fmla="*/ 468495 h 794114"/>
              <a:gd name="connsiteX4-9" fmla="*/ 517768 w 1035535"/>
              <a:gd name="connsiteY4-10" fmla="*/ 794114 h 794114"/>
              <a:gd name="connsiteX5-11" fmla="*/ 0 w 1035535"/>
              <a:gd name="connsiteY5-12" fmla="*/ 468495 h 794114"/>
              <a:gd name="connsiteX6-13" fmla="*/ 258884 w 1035535"/>
              <a:gd name="connsiteY6-14" fmla="*/ 468495 h 794114"/>
              <a:gd name="connsiteX7-15" fmla="*/ 350324 w 1035535"/>
              <a:gd name="connsiteY7-16" fmla="*/ 91440 h 794114"/>
              <a:gd name="connsiteX0-17" fmla="*/ 258884 w 1035535"/>
              <a:gd name="connsiteY0-18" fmla="*/ 0 h 794114"/>
              <a:gd name="connsiteX1-19" fmla="*/ 776651 w 1035535"/>
              <a:gd name="connsiteY1-20" fmla="*/ 468495 h 794114"/>
              <a:gd name="connsiteX2-21" fmla="*/ 1035535 w 1035535"/>
              <a:gd name="connsiteY2-22" fmla="*/ 468495 h 794114"/>
              <a:gd name="connsiteX3-23" fmla="*/ 517768 w 1035535"/>
              <a:gd name="connsiteY3-24" fmla="*/ 794114 h 794114"/>
              <a:gd name="connsiteX4-25" fmla="*/ 0 w 1035535"/>
              <a:gd name="connsiteY4-26" fmla="*/ 468495 h 794114"/>
              <a:gd name="connsiteX5-27" fmla="*/ 258884 w 1035535"/>
              <a:gd name="connsiteY5-28" fmla="*/ 468495 h 794114"/>
              <a:gd name="connsiteX6-29" fmla="*/ 350324 w 1035535"/>
              <a:gd name="connsiteY6-30" fmla="*/ 91440 h 794114"/>
              <a:gd name="connsiteX0-31" fmla="*/ 1016121 w 1035535"/>
              <a:gd name="connsiteY0-32" fmla="*/ 0 h 794114"/>
              <a:gd name="connsiteX1-33" fmla="*/ 776651 w 1035535"/>
              <a:gd name="connsiteY1-34" fmla="*/ 468495 h 794114"/>
              <a:gd name="connsiteX2-35" fmla="*/ 1035535 w 1035535"/>
              <a:gd name="connsiteY2-36" fmla="*/ 468495 h 794114"/>
              <a:gd name="connsiteX3-37" fmla="*/ 517768 w 1035535"/>
              <a:gd name="connsiteY3-38" fmla="*/ 794114 h 794114"/>
              <a:gd name="connsiteX4-39" fmla="*/ 0 w 1035535"/>
              <a:gd name="connsiteY4-40" fmla="*/ 468495 h 794114"/>
              <a:gd name="connsiteX5-41" fmla="*/ 258884 w 1035535"/>
              <a:gd name="connsiteY5-42" fmla="*/ 468495 h 794114"/>
              <a:gd name="connsiteX6-43" fmla="*/ 350324 w 1035535"/>
              <a:gd name="connsiteY6-44" fmla="*/ 91440 h 794114"/>
              <a:gd name="connsiteX0-45" fmla="*/ 1018222 w 1037636"/>
              <a:gd name="connsiteY0-46" fmla="*/ 0 h 794114"/>
              <a:gd name="connsiteX1-47" fmla="*/ 778752 w 1037636"/>
              <a:gd name="connsiteY1-48" fmla="*/ 468495 h 794114"/>
              <a:gd name="connsiteX2-49" fmla="*/ 1037636 w 1037636"/>
              <a:gd name="connsiteY2-50" fmla="*/ 468495 h 794114"/>
              <a:gd name="connsiteX3-51" fmla="*/ 519869 w 1037636"/>
              <a:gd name="connsiteY3-52" fmla="*/ 794114 h 794114"/>
              <a:gd name="connsiteX4-53" fmla="*/ 2101 w 1037636"/>
              <a:gd name="connsiteY4-54" fmla="*/ 468495 h 794114"/>
              <a:gd name="connsiteX5-55" fmla="*/ 260985 w 1037636"/>
              <a:gd name="connsiteY5-56" fmla="*/ 468495 h 794114"/>
              <a:gd name="connsiteX6-57" fmla="*/ 0 w 1037636"/>
              <a:gd name="connsiteY6-58" fmla="*/ 86678 h 794114"/>
              <a:gd name="connsiteX0-59" fmla="*/ 1027747 w 1047161"/>
              <a:gd name="connsiteY0-60" fmla="*/ 0 h 794114"/>
              <a:gd name="connsiteX1-61" fmla="*/ 788277 w 1047161"/>
              <a:gd name="connsiteY1-62" fmla="*/ 468495 h 794114"/>
              <a:gd name="connsiteX2-63" fmla="*/ 1047161 w 1047161"/>
              <a:gd name="connsiteY2-64" fmla="*/ 468495 h 794114"/>
              <a:gd name="connsiteX3-65" fmla="*/ 529394 w 1047161"/>
              <a:gd name="connsiteY3-66" fmla="*/ 794114 h 794114"/>
              <a:gd name="connsiteX4-67" fmla="*/ 11626 w 1047161"/>
              <a:gd name="connsiteY4-68" fmla="*/ 468495 h 794114"/>
              <a:gd name="connsiteX5-69" fmla="*/ 270510 w 1047161"/>
              <a:gd name="connsiteY5-70" fmla="*/ 468495 h 794114"/>
              <a:gd name="connsiteX6-71" fmla="*/ 0 w 1047161"/>
              <a:gd name="connsiteY6-72" fmla="*/ 10478 h 794114"/>
              <a:gd name="connsiteX0-73" fmla="*/ 1016121 w 1035535"/>
              <a:gd name="connsiteY0-74" fmla="*/ 13335 h 807449"/>
              <a:gd name="connsiteX1-75" fmla="*/ 776651 w 1035535"/>
              <a:gd name="connsiteY1-76" fmla="*/ 481830 h 807449"/>
              <a:gd name="connsiteX2-77" fmla="*/ 1035535 w 1035535"/>
              <a:gd name="connsiteY2-78" fmla="*/ 481830 h 807449"/>
              <a:gd name="connsiteX3-79" fmla="*/ 517768 w 1035535"/>
              <a:gd name="connsiteY3-80" fmla="*/ 807449 h 807449"/>
              <a:gd name="connsiteX4-81" fmla="*/ 0 w 1035535"/>
              <a:gd name="connsiteY4-82" fmla="*/ 481830 h 807449"/>
              <a:gd name="connsiteX5-83" fmla="*/ 258884 w 1035535"/>
              <a:gd name="connsiteY5-84" fmla="*/ 481830 h 807449"/>
              <a:gd name="connsiteX6-85" fmla="*/ 12187 w 1035535"/>
              <a:gd name="connsiteY6-86" fmla="*/ 0 h 807449"/>
              <a:gd name="connsiteX0-87" fmla="*/ 1016121 w 1035535"/>
              <a:gd name="connsiteY0-88" fmla="*/ 13335 h 807449"/>
              <a:gd name="connsiteX1-89" fmla="*/ 776651 w 1035535"/>
              <a:gd name="connsiteY1-90" fmla="*/ 481830 h 807449"/>
              <a:gd name="connsiteX2-91" fmla="*/ 1035535 w 1035535"/>
              <a:gd name="connsiteY2-92" fmla="*/ 481830 h 807449"/>
              <a:gd name="connsiteX3-93" fmla="*/ 517768 w 1035535"/>
              <a:gd name="connsiteY3-94" fmla="*/ 807449 h 807449"/>
              <a:gd name="connsiteX4-95" fmla="*/ 0 w 1035535"/>
              <a:gd name="connsiteY4-96" fmla="*/ 481830 h 807449"/>
              <a:gd name="connsiteX5-97" fmla="*/ 392234 w 1035535"/>
              <a:gd name="connsiteY5-98" fmla="*/ 486592 h 807449"/>
              <a:gd name="connsiteX6-99" fmla="*/ 12187 w 1035535"/>
              <a:gd name="connsiteY6-100" fmla="*/ 0 h 807449"/>
              <a:gd name="connsiteX0-101" fmla="*/ 1016121 w 1035535"/>
              <a:gd name="connsiteY0-102" fmla="*/ 13335 h 807449"/>
              <a:gd name="connsiteX1-103" fmla="*/ 619488 w 1035535"/>
              <a:gd name="connsiteY1-104" fmla="*/ 481830 h 807449"/>
              <a:gd name="connsiteX2-105" fmla="*/ 1035535 w 1035535"/>
              <a:gd name="connsiteY2-106" fmla="*/ 481830 h 807449"/>
              <a:gd name="connsiteX3-107" fmla="*/ 517768 w 1035535"/>
              <a:gd name="connsiteY3-108" fmla="*/ 807449 h 807449"/>
              <a:gd name="connsiteX4-109" fmla="*/ 0 w 1035535"/>
              <a:gd name="connsiteY4-110" fmla="*/ 481830 h 807449"/>
              <a:gd name="connsiteX5-111" fmla="*/ 392234 w 1035535"/>
              <a:gd name="connsiteY5-112" fmla="*/ 486592 h 807449"/>
              <a:gd name="connsiteX6-113" fmla="*/ 12187 w 1035535"/>
              <a:gd name="connsiteY6-114" fmla="*/ 0 h 807449"/>
              <a:gd name="connsiteX0-115" fmla="*/ 1016121 w 1035535"/>
              <a:gd name="connsiteY0-116" fmla="*/ 13335 h 807449"/>
              <a:gd name="connsiteX1-117" fmla="*/ 619488 w 1035535"/>
              <a:gd name="connsiteY1-118" fmla="*/ 481830 h 807449"/>
              <a:gd name="connsiteX2-119" fmla="*/ 1035535 w 1035535"/>
              <a:gd name="connsiteY2-120" fmla="*/ 481830 h 807449"/>
              <a:gd name="connsiteX3-121" fmla="*/ 517768 w 1035535"/>
              <a:gd name="connsiteY3-122" fmla="*/ 807449 h 807449"/>
              <a:gd name="connsiteX4-123" fmla="*/ 0 w 1035535"/>
              <a:gd name="connsiteY4-124" fmla="*/ 481830 h 807449"/>
              <a:gd name="connsiteX5-125" fmla="*/ 392234 w 1035535"/>
              <a:gd name="connsiteY5-126" fmla="*/ 486592 h 807449"/>
              <a:gd name="connsiteX6-127" fmla="*/ 12187 w 1035535"/>
              <a:gd name="connsiteY6-128" fmla="*/ 0 h 807449"/>
              <a:gd name="connsiteX0-129" fmla="*/ 1016121 w 1035535"/>
              <a:gd name="connsiteY0-130" fmla="*/ 13335 h 807449"/>
              <a:gd name="connsiteX1-131" fmla="*/ 619488 w 1035535"/>
              <a:gd name="connsiteY1-132" fmla="*/ 481830 h 807449"/>
              <a:gd name="connsiteX2-133" fmla="*/ 1035535 w 1035535"/>
              <a:gd name="connsiteY2-134" fmla="*/ 481830 h 807449"/>
              <a:gd name="connsiteX3-135" fmla="*/ 517768 w 1035535"/>
              <a:gd name="connsiteY3-136" fmla="*/ 807449 h 807449"/>
              <a:gd name="connsiteX4-137" fmla="*/ 0 w 1035535"/>
              <a:gd name="connsiteY4-138" fmla="*/ 481830 h 807449"/>
              <a:gd name="connsiteX5-139" fmla="*/ 392234 w 1035535"/>
              <a:gd name="connsiteY5-140" fmla="*/ 486592 h 807449"/>
              <a:gd name="connsiteX6-141" fmla="*/ 12187 w 1035535"/>
              <a:gd name="connsiteY6-142" fmla="*/ 0 h 807449"/>
              <a:gd name="connsiteX0-143" fmla="*/ 1044696 w 1044696"/>
              <a:gd name="connsiteY0-144" fmla="*/ 0 h 832214"/>
              <a:gd name="connsiteX1-145" fmla="*/ 619488 w 1044696"/>
              <a:gd name="connsiteY1-146" fmla="*/ 506595 h 832214"/>
              <a:gd name="connsiteX2-147" fmla="*/ 1035535 w 1044696"/>
              <a:gd name="connsiteY2-148" fmla="*/ 506595 h 832214"/>
              <a:gd name="connsiteX3-149" fmla="*/ 517768 w 1044696"/>
              <a:gd name="connsiteY3-150" fmla="*/ 832214 h 832214"/>
              <a:gd name="connsiteX4-151" fmla="*/ 0 w 1044696"/>
              <a:gd name="connsiteY4-152" fmla="*/ 506595 h 832214"/>
              <a:gd name="connsiteX5-153" fmla="*/ 392234 w 1044696"/>
              <a:gd name="connsiteY5-154" fmla="*/ 511357 h 832214"/>
              <a:gd name="connsiteX6-155" fmla="*/ 12187 w 1044696"/>
              <a:gd name="connsiteY6-156" fmla="*/ 24765 h 832214"/>
              <a:gd name="connsiteX0-157" fmla="*/ 1032509 w 1032509"/>
              <a:gd name="connsiteY0-158" fmla="*/ 0 h 832214"/>
              <a:gd name="connsiteX1-159" fmla="*/ 607301 w 1032509"/>
              <a:gd name="connsiteY1-160" fmla="*/ 506595 h 832214"/>
              <a:gd name="connsiteX2-161" fmla="*/ 1023348 w 1032509"/>
              <a:gd name="connsiteY2-162" fmla="*/ 506595 h 832214"/>
              <a:gd name="connsiteX3-163" fmla="*/ 505581 w 1032509"/>
              <a:gd name="connsiteY3-164" fmla="*/ 832214 h 832214"/>
              <a:gd name="connsiteX4-165" fmla="*/ 237844 w 1032509"/>
              <a:gd name="connsiteY4-166" fmla="*/ 508976 h 832214"/>
              <a:gd name="connsiteX5-167" fmla="*/ 380047 w 1032509"/>
              <a:gd name="connsiteY5-168" fmla="*/ 511357 h 832214"/>
              <a:gd name="connsiteX6-169" fmla="*/ 0 w 1032509"/>
              <a:gd name="connsiteY6-170" fmla="*/ 24765 h 832214"/>
              <a:gd name="connsiteX0-171" fmla="*/ 1032509 w 1032509"/>
              <a:gd name="connsiteY0-172" fmla="*/ 0 h 832214"/>
              <a:gd name="connsiteX1-173" fmla="*/ 607301 w 1032509"/>
              <a:gd name="connsiteY1-174" fmla="*/ 506595 h 832214"/>
              <a:gd name="connsiteX2-175" fmla="*/ 804276 w 1032509"/>
              <a:gd name="connsiteY2-176" fmla="*/ 513741 h 832214"/>
              <a:gd name="connsiteX3-177" fmla="*/ 505581 w 1032509"/>
              <a:gd name="connsiteY3-178" fmla="*/ 832214 h 832214"/>
              <a:gd name="connsiteX4-179" fmla="*/ 237844 w 1032509"/>
              <a:gd name="connsiteY4-180" fmla="*/ 508976 h 832214"/>
              <a:gd name="connsiteX5-181" fmla="*/ 380047 w 1032509"/>
              <a:gd name="connsiteY5-182" fmla="*/ 511357 h 832214"/>
              <a:gd name="connsiteX6-183" fmla="*/ 0 w 1032509"/>
              <a:gd name="connsiteY6-184" fmla="*/ 24765 h 832214"/>
              <a:gd name="connsiteX0-185" fmla="*/ 1032509 w 1032509"/>
              <a:gd name="connsiteY0-186" fmla="*/ 0 h 722679"/>
              <a:gd name="connsiteX1-187" fmla="*/ 607301 w 1032509"/>
              <a:gd name="connsiteY1-188" fmla="*/ 506595 h 722679"/>
              <a:gd name="connsiteX2-189" fmla="*/ 804276 w 1032509"/>
              <a:gd name="connsiteY2-190" fmla="*/ 513741 h 722679"/>
              <a:gd name="connsiteX3-191" fmla="*/ 507965 w 1032509"/>
              <a:gd name="connsiteY3-192" fmla="*/ 722679 h 722679"/>
              <a:gd name="connsiteX4-193" fmla="*/ 237844 w 1032509"/>
              <a:gd name="connsiteY4-194" fmla="*/ 508976 h 722679"/>
              <a:gd name="connsiteX5-195" fmla="*/ 380047 w 1032509"/>
              <a:gd name="connsiteY5-196" fmla="*/ 511357 h 722679"/>
              <a:gd name="connsiteX6-197" fmla="*/ 0 w 1032509"/>
              <a:gd name="connsiteY6-198" fmla="*/ 24765 h 722679"/>
              <a:gd name="connsiteX0-199" fmla="*/ 1032509 w 1032509"/>
              <a:gd name="connsiteY0-200" fmla="*/ 0 h 722679"/>
              <a:gd name="connsiteX1-201" fmla="*/ 607301 w 1032509"/>
              <a:gd name="connsiteY1-202" fmla="*/ 506595 h 722679"/>
              <a:gd name="connsiteX2-203" fmla="*/ 804276 w 1032509"/>
              <a:gd name="connsiteY2-204" fmla="*/ 513741 h 722679"/>
              <a:gd name="connsiteX3-205" fmla="*/ 498440 w 1032509"/>
              <a:gd name="connsiteY3-206" fmla="*/ 722679 h 722679"/>
              <a:gd name="connsiteX4-207" fmla="*/ 237844 w 1032509"/>
              <a:gd name="connsiteY4-208" fmla="*/ 508976 h 722679"/>
              <a:gd name="connsiteX5-209" fmla="*/ 380047 w 1032509"/>
              <a:gd name="connsiteY5-210" fmla="*/ 511357 h 722679"/>
              <a:gd name="connsiteX6-211" fmla="*/ 0 w 1032509"/>
              <a:gd name="connsiteY6-212" fmla="*/ 24765 h 722679"/>
              <a:gd name="connsiteX0-213" fmla="*/ 1032509 w 1032509"/>
              <a:gd name="connsiteY0-214" fmla="*/ 0 h 722679"/>
              <a:gd name="connsiteX1-215" fmla="*/ 607301 w 1032509"/>
              <a:gd name="connsiteY1-216" fmla="*/ 506595 h 722679"/>
              <a:gd name="connsiteX2-217" fmla="*/ 792369 w 1032509"/>
              <a:gd name="connsiteY2-218" fmla="*/ 515732 h 722679"/>
              <a:gd name="connsiteX3-219" fmla="*/ 498440 w 1032509"/>
              <a:gd name="connsiteY3-220" fmla="*/ 722679 h 722679"/>
              <a:gd name="connsiteX4-221" fmla="*/ 237844 w 1032509"/>
              <a:gd name="connsiteY4-222" fmla="*/ 508976 h 722679"/>
              <a:gd name="connsiteX5-223" fmla="*/ 380047 w 1032509"/>
              <a:gd name="connsiteY5-224" fmla="*/ 511357 h 722679"/>
              <a:gd name="connsiteX6-225" fmla="*/ 0 w 1032509"/>
              <a:gd name="connsiteY6-226" fmla="*/ 24765 h 722679"/>
              <a:gd name="connsiteX0-227" fmla="*/ 1032509 w 1032509"/>
              <a:gd name="connsiteY0-228" fmla="*/ 0 h 720688"/>
              <a:gd name="connsiteX1-229" fmla="*/ 607301 w 1032509"/>
              <a:gd name="connsiteY1-230" fmla="*/ 506595 h 720688"/>
              <a:gd name="connsiteX2-231" fmla="*/ 792369 w 1032509"/>
              <a:gd name="connsiteY2-232" fmla="*/ 515732 h 720688"/>
              <a:gd name="connsiteX3-233" fmla="*/ 503202 w 1032509"/>
              <a:gd name="connsiteY3-234" fmla="*/ 720688 h 720688"/>
              <a:gd name="connsiteX4-235" fmla="*/ 237844 w 1032509"/>
              <a:gd name="connsiteY4-236" fmla="*/ 508976 h 720688"/>
              <a:gd name="connsiteX5-237" fmla="*/ 380047 w 1032509"/>
              <a:gd name="connsiteY5-238" fmla="*/ 511357 h 720688"/>
              <a:gd name="connsiteX6-239" fmla="*/ 0 w 1032509"/>
              <a:gd name="connsiteY6-240" fmla="*/ 24765 h 720688"/>
              <a:gd name="connsiteX0-241" fmla="*/ 1044414 w 1044414"/>
              <a:gd name="connsiteY0-242" fmla="*/ 0 h 720688"/>
              <a:gd name="connsiteX1-243" fmla="*/ 619206 w 1044414"/>
              <a:gd name="connsiteY1-244" fmla="*/ 506595 h 720688"/>
              <a:gd name="connsiteX2-245" fmla="*/ 804274 w 1044414"/>
              <a:gd name="connsiteY2-246" fmla="*/ 515732 h 720688"/>
              <a:gd name="connsiteX3-247" fmla="*/ 515107 w 1044414"/>
              <a:gd name="connsiteY3-248" fmla="*/ 720688 h 720688"/>
              <a:gd name="connsiteX4-249" fmla="*/ 249749 w 1044414"/>
              <a:gd name="connsiteY4-250" fmla="*/ 508976 h 720688"/>
              <a:gd name="connsiteX5-251" fmla="*/ 391952 w 1044414"/>
              <a:gd name="connsiteY5-252" fmla="*/ 511357 h 720688"/>
              <a:gd name="connsiteX6-253" fmla="*/ 0 w 1044414"/>
              <a:gd name="connsiteY6-254" fmla="*/ 4852 h 720688"/>
              <a:gd name="connsiteX0-255" fmla="*/ 1082514 w 1082514"/>
              <a:gd name="connsiteY0-256" fmla="*/ 0 h 722679"/>
              <a:gd name="connsiteX1-257" fmla="*/ 619206 w 1082514"/>
              <a:gd name="connsiteY1-258" fmla="*/ 508586 h 722679"/>
              <a:gd name="connsiteX2-259" fmla="*/ 804274 w 1082514"/>
              <a:gd name="connsiteY2-260" fmla="*/ 517723 h 722679"/>
              <a:gd name="connsiteX3-261" fmla="*/ 515107 w 1082514"/>
              <a:gd name="connsiteY3-262" fmla="*/ 722679 h 722679"/>
              <a:gd name="connsiteX4-263" fmla="*/ 249749 w 1082514"/>
              <a:gd name="connsiteY4-264" fmla="*/ 510967 h 722679"/>
              <a:gd name="connsiteX5-265" fmla="*/ 391952 w 1082514"/>
              <a:gd name="connsiteY5-266" fmla="*/ 513348 h 722679"/>
              <a:gd name="connsiteX6-267" fmla="*/ 0 w 1082514"/>
              <a:gd name="connsiteY6-268" fmla="*/ 6843 h 722679"/>
              <a:gd name="connsiteX0-269" fmla="*/ 1082514 w 1082514"/>
              <a:gd name="connsiteY0-270" fmla="*/ 0 h 724672"/>
              <a:gd name="connsiteX1-271" fmla="*/ 619206 w 1082514"/>
              <a:gd name="connsiteY1-272" fmla="*/ 508586 h 724672"/>
              <a:gd name="connsiteX2-273" fmla="*/ 804274 w 1082514"/>
              <a:gd name="connsiteY2-274" fmla="*/ 517723 h 724672"/>
              <a:gd name="connsiteX3-275" fmla="*/ 534160 w 1082514"/>
              <a:gd name="connsiteY3-276" fmla="*/ 724672 h 724672"/>
              <a:gd name="connsiteX4-277" fmla="*/ 249749 w 1082514"/>
              <a:gd name="connsiteY4-278" fmla="*/ 510967 h 724672"/>
              <a:gd name="connsiteX5-279" fmla="*/ 391952 w 1082514"/>
              <a:gd name="connsiteY5-280" fmla="*/ 513348 h 724672"/>
              <a:gd name="connsiteX6-281" fmla="*/ 0 w 1082514"/>
              <a:gd name="connsiteY6-282" fmla="*/ 6843 h 724672"/>
              <a:gd name="connsiteX0-283" fmla="*/ 1082514 w 1082514"/>
              <a:gd name="connsiteY0-284" fmla="*/ 0 h 724672"/>
              <a:gd name="connsiteX1-285" fmla="*/ 619206 w 1082514"/>
              <a:gd name="connsiteY1-286" fmla="*/ 508586 h 724672"/>
              <a:gd name="connsiteX2-287" fmla="*/ 804274 w 1082514"/>
              <a:gd name="connsiteY2-288" fmla="*/ 517723 h 724672"/>
              <a:gd name="connsiteX3-289" fmla="*/ 534160 w 1082514"/>
              <a:gd name="connsiteY3-290" fmla="*/ 724672 h 724672"/>
              <a:gd name="connsiteX4-291" fmla="*/ 249749 w 1082514"/>
              <a:gd name="connsiteY4-292" fmla="*/ 510967 h 724672"/>
              <a:gd name="connsiteX5-293" fmla="*/ 380046 w 1082514"/>
              <a:gd name="connsiteY5-294" fmla="*/ 533263 h 724672"/>
              <a:gd name="connsiteX6-295" fmla="*/ 0 w 1082514"/>
              <a:gd name="connsiteY6-296" fmla="*/ 6843 h 724672"/>
              <a:gd name="connsiteX0-297" fmla="*/ 1082514 w 1082514"/>
              <a:gd name="connsiteY0-298" fmla="*/ 0 h 724672"/>
              <a:gd name="connsiteX1-299" fmla="*/ 619206 w 1082514"/>
              <a:gd name="connsiteY1-300" fmla="*/ 508586 h 724672"/>
              <a:gd name="connsiteX2-301" fmla="*/ 804274 w 1082514"/>
              <a:gd name="connsiteY2-302" fmla="*/ 517723 h 724672"/>
              <a:gd name="connsiteX3-303" fmla="*/ 534160 w 1082514"/>
              <a:gd name="connsiteY3-304" fmla="*/ 724672 h 724672"/>
              <a:gd name="connsiteX4-305" fmla="*/ 249749 w 1082514"/>
              <a:gd name="connsiteY4-306" fmla="*/ 510967 h 724672"/>
              <a:gd name="connsiteX5-307" fmla="*/ 380046 w 1082514"/>
              <a:gd name="connsiteY5-308" fmla="*/ 533263 h 724672"/>
              <a:gd name="connsiteX6-309" fmla="*/ 0 w 1082514"/>
              <a:gd name="connsiteY6-310" fmla="*/ 6843 h 724672"/>
              <a:gd name="connsiteX0-311" fmla="*/ 1082514 w 1082514"/>
              <a:gd name="connsiteY0-312" fmla="*/ 0 h 724672"/>
              <a:gd name="connsiteX1-313" fmla="*/ 619206 w 1082514"/>
              <a:gd name="connsiteY1-314" fmla="*/ 508586 h 724672"/>
              <a:gd name="connsiteX2-315" fmla="*/ 804274 w 1082514"/>
              <a:gd name="connsiteY2-316" fmla="*/ 517723 h 724672"/>
              <a:gd name="connsiteX3-317" fmla="*/ 534160 w 1082514"/>
              <a:gd name="connsiteY3-318" fmla="*/ 724672 h 724672"/>
              <a:gd name="connsiteX4-319" fmla="*/ 249749 w 1082514"/>
              <a:gd name="connsiteY4-320" fmla="*/ 510967 h 724672"/>
              <a:gd name="connsiteX5-321" fmla="*/ 380046 w 1082514"/>
              <a:gd name="connsiteY5-322" fmla="*/ 533263 h 724672"/>
              <a:gd name="connsiteX6-323" fmla="*/ 0 w 1082514"/>
              <a:gd name="connsiteY6-324" fmla="*/ 6843 h 724672"/>
              <a:gd name="connsiteX0-325" fmla="*/ 1082514 w 1082514"/>
              <a:gd name="connsiteY0-326" fmla="*/ 0 h 724672"/>
              <a:gd name="connsiteX1-327" fmla="*/ 619206 w 1082514"/>
              <a:gd name="connsiteY1-328" fmla="*/ 508586 h 724672"/>
              <a:gd name="connsiteX2-329" fmla="*/ 804274 w 1082514"/>
              <a:gd name="connsiteY2-330" fmla="*/ 517723 h 724672"/>
              <a:gd name="connsiteX3-331" fmla="*/ 534160 w 1082514"/>
              <a:gd name="connsiteY3-332" fmla="*/ 724672 h 724672"/>
              <a:gd name="connsiteX4-333" fmla="*/ 233080 w 1082514"/>
              <a:gd name="connsiteY4-334" fmla="*/ 526899 h 724672"/>
              <a:gd name="connsiteX5-335" fmla="*/ 380046 w 1082514"/>
              <a:gd name="connsiteY5-336" fmla="*/ 533263 h 724672"/>
              <a:gd name="connsiteX6-337" fmla="*/ 0 w 1082514"/>
              <a:gd name="connsiteY6-338" fmla="*/ 6843 h 724672"/>
              <a:gd name="connsiteX0-339" fmla="*/ 1082514 w 1082514"/>
              <a:gd name="connsiteY0-340" fmla="*/ 0 h 724672"/>
              <a:gd name="connsiteX1-341" fmla="*/ 619206 w 1082514"/>
              <a:gd name="connsiteY1-342" fmla="*/ 508586 h 724672"/>
              <a:gd name="connsiteX2-343" fmla="*/ 804274 w 1082514"/>
              <a:gd name="connsiteY2-344" fmla="*/ 517723 h 724672"/>
              <a:gd name="connsiteX3-345" fmla="*/ 534160 w 1082514"/>
              <a:gd name="connsiteY3-346" fmla="*/ 724672 h 724672"/>
              <a:gd name="connsiteX4-347" fmla="*/ 237842 w 1082514"/>
              <a:gd name="connsiteY4-348" fmla="*/ 532873 h 724672"/>
              <a:gd name="connsiteX5-349" fmla="*/ 380046 w 1082514"/>
              <a:gd name="connsiteY5-350" fmla="*/ 533263 h 724672"/>
              <a:gd name="connsiteX6-351" fmla="*/ 0 w 1082514"/>
              <a:gd name="connsiteY6-352" fmla="*/ 6843 h 724672"/>
              <a:gd name="connsiteX0-353" fmla="*/ 1082514 w 1082514"/>
              <a:gd name="connsiteY0-354" fmla="*/ 0 h 724672"/>
              <a:gd name="connsiteX1-355" fmla="*/ 690644 w 1082514"/>
              <a:gd name="connsiteY1-356" fmla="*/ 532484 h 724672"/>
              <a:gd name="connsiteX2-357" fmla="*/ 804274 w 1082514"/>
              <a:gd name="connsiteY2-358" fmla="*/ 517723 h 724672"/>
              <a:gd name="connsiteX3-359" fmla="*/ 534160 w 1082514"/>
              <a:gd name="connsiteY3-360" fmla="*/ 724672 h 724672"/>
              <a:gd name="connsiteX4-361" fmla="*/ 237842 w 1082514"/>
              <a:gd name="connsiteY4-362" fmla="*/ 532873 h 724672"/>
              <a:gd name="connsiteX5-363" fmla="*/ 380046 w 1082514"/>
              <a:gd name="connsiteY5-364" fmla="*/ 533263 h 724672"/>
              <a:gd name="connsiteX6-365" fmla="*/ 0 w 1082514"/>
              <a:gd name="connsiteY6-366" fmla="*/ 6843 h 724672"/>
              <a:gd name="connsiteX0-367" fmla="*/ 1082514 w 1082514"/>
              <a:gd name="connsiteY0-368" fmla="*/ 0 h 724672"/>
              <a:gd name="connsiteX1-369" fmla="*/ 690644 w 1082514"/>
              <a:gd name="connsiteY1-370" fmla="*/ 532484 h 724672"/>
              <a:gd name="connsiteX2-371" fmla="*/ 804274 w 1082514"/>
              <a:gd name="connsiteY2-372" fmla="*/ 517723 h 724672"/>
              <a:gd name="connsiteX3-373" fmla="*/ 534160 w 1082514"/>
              <a:gd name="connsiteY3-374" fmla="*/ 724672 h 724672"/>
              <a:gd name="connsiteX4-375" fmla="*/ 237842 w 1082514"/>
              <a:gd name="connsiteY4-376" fmla="*/ 532873 h 724672"/>
              <a:gd name="connsiteX5-377" fmla="*/ 380046 w 1082514"/>
              <a:gd name="connsiteY5-378" fmla="*/ 533263 h 724672"/>
              <a:gd name="connsiteX6-379" fmla="*/ 0 w 1082514"/>
              <a:gd name="connsiteY6-380" fmla="*/ 6843 h 724672"/>
              <a:gd name="connsiteX0-381" fmla="*/ 1082514 w 1082514"/>
              <a:gd name="connsiteY0-382" fmla="*/ 0 h 724672"/>
              <a:gd name="connsiteX1-383" fmla="*/ 690644 w 1082514"/>
              <a:gd name="connsiteY1-384" fmla="*/ 532484 h 724672"/>
              <a:gd name="connsiteX2-385" fmla="*/ 830468 w 1082514"/>
              <a:gd name="connsiteY2-386" fmla="*/ 531664 h 724672"/>
              <a:gd name="connsiteX3-387" fmla="*/ 534160 w 1082514"/>
              <a:gd name="connsiteY3-388" fmla="*/ 724672 h 724672"/>
              <a:gd name="connsiteX4-389" fmla="*/ 237842 w 1082514"/>
              <a:gd name="connsiteY4-390" fmla="*/ 532873 h 724672"/>
              <a:gd name="connsiteX5-391" fmla="*/ 380046 w 1082514"/>
              <a:gd name="connsiteY5-392" fmla="*/ 533263 h 724672"/>
              <a:gd name="connsiteX6-393" fmla="*/ 0 w 1082514"/>
              <a:gd name="connsiteY6-394" fmla="*/ 6843 h 724672"/>
              <a:gd name="connsiteX0-395" fmla="*/ 1082514 w 1082514"/>
              <a:gd name="connsiteY0-396" fmla="*/ 0 h 724672"/>
              <a:gd name="connsiteX1-397" fmla="*/ 690644 w 1082514"/>
              <a:gd name="connsiteY1-398" fmla="*/ 532484 h 724672"/>
              <a:gd name="connsiteX2-399" fmla="*/ 830468 w 1082514"/>
              <a:gd name="connsiteY2-400" fmla="*/ 531664 h 724672"/>
              <a:gd name="connsiteX3-401" fmla="*/ 534160 w 1082514"/>
              <a:gd name="connsiteY3-402" fmla="*/ 724672 h 724672"/>
              <a:gd name="connsiteX4-403" fmla="*/ 237842 w 1082514"/>
              <a:gd name="connsiteY4-404" fmla="*/ 532873 h 724672"/>
              <a:gd name="connsiteX5-405" fmla="*/ 434815 w 1082514"/>
              <a:gd name="connsiteY5-406" fmla="*/ 533263 h 724672"/>
              <a:gd name="connsiteX6-407" fmla="*/ 0 w 1082514"/>
              <a:gd name="connsiteY6-408" fmla="*/ 6843 h 724672"/>
              <a:gd name="connsiteX0-409" fmla="*/ 1082514 w 1082514"/>
              <a:gd name="connsiteY0-410" fmla="*/ 0 h 724672"/>
              <a:gd name="connsiteX1-411" fmla="*/ 690644 w 1082514"/>
              <a:gd name="connsiteY1-412" fmla="*/ 532484 h 724672"/>
              <a:gd name="connsiteX2-413" fmla="*/ 830468 w 1082514"/>
              <a:gd name="connsiteY2-414" fmla="*/ 531664 h 724672"/>
              <a:gd name="connsiteX3-415" fmla="*/ 534160 w 1082514"/>
              <a:gd name="connsiteY3-416" fmla="*/ 724672 h 724672"/>
              <a:gd name="connsiteX4-417" fmla="*/ 297373 w 1082514"/>
              <a:gd name="connsiteY4-418" fmla="*/ 532873 h 724672"/>
              <a:gd name="connsiteX5-419" fmla="*/ 434815 w 1082514"/>
              <a:gd name="connsiteY5-420" fmla="*/ 533263 h 724672"/>
              <a:gd name="connsiteX6-421" fmla="*/ 0 w 1082514"/>
              <a:gd name="connsiteY6-422" fmla="*/ 6843 h 724672"/>
              <a:gd name="connsiteX0-423" fmla="*/ 1082514 w 1082514"/>
              <a:gd name="connsiteY0-424" fmla="*/ 0 h 724672"/>
              <a:gd name="connsiteX1-425" fmla="*/ 690644 w 1082514"/>
              <a:gd name="connsiteY1-426" fmla="*/ 532484 h 724672"/>
              <a:gd name="connsiteX2-427" fmla="*/ 768555 w 1082514"/>
              <a:gd name="connsiteY2-428" fmla="*/ 531664 h 724672"/>
              <a:gd name="connsiteX3-429" fmla="*/ 534160 w 1082514"/>
              <a:gd name="connsiteY3-430" fmla="*/ 724672 h 724672"/>
              <a:gd name="connsiteX4-431" fmla="*/ 297373 w 1082514"/>
              <a:gd name="connsiteY4-432" fmla="*/ 532873 h 724672"/>
              <a:gd name="connsiteX5-433" fmla="*/ 434815 w 1082514"/>
              <a:gd name="connsiteY5-434" fmla="*/ 533263 h 724672"/>
              <a:gd name="connsiteX6-435" fmla="*/ 0 w 1082514"/>
              <a:gd name="connsiteY6-436" fmla="*/ 6843 h 724672"/>
              <a:gd name="connsiteX0-437" fmla="*/ 1082514 w 1082514"/>
              <a:gd name="connsiteY0-438" fmla="*/ 0 h 724672"/>
              <a:gd name="connsiteX1-439" fmla="*/ 638256 w 1082514"/>
              <a:gd name="connsiteY1-440" fmla="*/ 534476 h 724672"/>
              <a:gd name="connsiteX2-441" fmla="*/ 768555 w 1082514"/>
              <a:gd name="connsiteY2-442" fmla="*/ 531664 h 724672"/>
              <a:gd name="connsiteX3-443" fmla="*/ 534160 w 1082514"/>
              <a:gd name="connsiteY3-444" fmla="*/ 724672 h 724672"/>
              <a:gd name="connsiteX4-445" fmla="*/ 297373 w 1082514"/>
              <a:gd name="connsiteY4-446" fmla="*/ 532873 h 724672"/>
              <a:gd name="connsiteX5-447" fmla="*/ 434815 w 1082514"/>
              <a:gd name="connsiteY5-448" fmla="*/ 533263 h 724672"/>
              <a:gd name="connsiteX6-449" fmla="*/ 0 w 1082514"/>
              <a:gd name="connsiteY6-450" fmla="*/ 6843 h 7246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配置设备流程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sym typeface="Huawei Sans" panose="020C0503030203020204" pitchFamily="34" charset="0"/>
              </a:rPr>
              <a:t>文件是另</a:t>
            </a:r>
            <a:r>
              <a:rPr lang="zh-CN" altLang="en-US" sz="1600">
                <a:sym typeface="Huawei Sans" panose="020C0503030203020204" pitchFamily="34" charset="0"/>
              </a:rPr>
              <a:t>一</a:t>
            </a:r>
            <a:r>
              <a:rPr lang="zh-CN" altLang="en-US" sz="1600" smtClean="0">
                <a:sym typeface="Huawei Sans" panose="020C0503030203020204" pitchFamily="34" charset="0"/>
              </a:rPr>
              <a:t>种对</a:t>
            </a:r>
            <a:r>
              <a:rPr lang="zh-CN" altLang="en-US" sz="1600" dirty="0">
                <a:sym typeface="Huawei Sans" panose="020C0503030203020204" pitchFamily="34" charset="0"/>
              </a:rPr>
              <a:t>设备数据</a:t>
            </a:r>
            <a:r>
              <a:rPr lang="zh-CN" altLang="en-US" sz="1600">
                <a:sym typeface="Huawei Sans" panose="020C0503030203020204" pitchFamily="34" charset="0"/>
              </a:rPr>
              <a:t>的</a:t>
            </a:r>
            <a:r>
              <a:rPr lang="zh-CN" altLang="en-US" sz="1600" smtClean="0">
                <a:sym typeface="Huawei Sans" panose="020C0503030203020204" pitchFamily="34" charset="0"/>
              </a:rPr>
              <a:t>描述方式。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sym typeface="Huawei Sans" panose="020C0503030203020204" pitchFamily="34" charset="0"/>
              </a:rPr>
              <a:t>模型使用</a:t>
            </a:r>
            <a:r>
              <a:rPr lang="en-US" altLang="zh-CN" sz="1600" dirty="0">
                <a:sym typeface="Huawei Sans" panose="020C0503030203020204" pitchFamily="34" charset="0"/>
              </a:rPr>
              <a:t>module-container-leaf</a:t>
            </a:r>
            <a:r>
              <a:rPr lang="zh-CN" altLang="en-US" sz="1600" dirty="0">
                <a:sym typeface="Huawei Sans" panose="020C0503030203020204" pitchFamily="34" charset="0"/>
              </a:rPr>
              <a:t>结构，描述设备。例如路由器的接口、属性等信息，</a:t>
            </a:r>
            <a:r>
              <a:rPr lang="en-US" altLang="zh-CN" sz="1600" dirty="0"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sym typeface="Huawei Sans" panose="020C0503030203020204" pitchFamily="34" charset="0"/>
              </a:rPr>
              <a:t>模型详细定义了字段类型和规范。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3" name="圆角矩形 75"/>
          <p:cNvSpPr/>
          <p:nvPr/>
        </p:nvSpPr>
        <p:spPr bwMode="gray">
          <a:xfrm>
            <a:off x="1713240" y="2238431"/>
            <a:ext cx="1381227" cy="335132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设备的描述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75"/>
          <p:cNvSpPr/>
          <p:nvPr/>
        </p:nvSpPr>
        <p:spPr bwMode="gray">
          <a:xfrm>
            <a:off x="5996447" y="2238431"/>
            <a:ext cx="1484689" cy="334204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8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8956035" y="2731402"/>
            <a:ext cx="1237839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3" name="图片 22" descr="接入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10225185" y="3431581"/>
            <a:ext cx="540000" cy="441818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 bwMode="gray">
          <a:xfrm>
            <a:off x="747176" y="2602714"/>
            <a:ext cx="3540917" cy="2375451"/>
            <a:chOff x="601703" y="2147571"/>
            <a:chExt cx="3540917" cy="2375451"/>
          </a:xfrm>
        </p:grpSpPr>
        <p:sp>
          <p:nvSpPr>
            <p:cNvPr id="37" name="圆角矩形 75"/>
            <p:cNvSpPr/>
            <p:nvPr/>
          </p:nvSpPr>
          <p:spPr bwMode="gray">
            <a:xfrm>
              <a:off x="601703" y="2147571"/>
              <a:ext cx="3540917" cy="2375451"/>
            </a:xfrm>
            <a:prstGeom prst="roundRect">
              <a:avLst>
                <a:gd name="adj" fmla="val 874"/>
              </a:avLst>
            </a:prstGeom>
            <a:solidFill>
              <a:srgbClr val="FFFFCC"/>
            </a:solidFill>
            <a:ln w="95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36000" rtlCol="0" anchor="t" anchorCtr="0">
              <a:noAutofit/>
            </a:bodyPr>
            <a:lstStyle/>
            <a:p>
              <a:pPr algn="just" fontAlgn="auto">
                <a:lnSpc>
                  <a:spcPts val="2600"/>
                </a:lnSpc>
                <a:spcBef>
                  <a:spcPts val="0"/>
                </a:spcBef>
                <a:spcAft>
                  <a:spcPts val="600"/>
                </a:spcAft>
              </a:pPr>
              <a:endPara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左大括号 37"/>
            <p:cNvSpPr/>
            <p:nvPr/>
          </p:nvSpPr>
          <p:spPr bwMode="gray">
            <a:xfrm>
              <a:off x="1619731" y="2870531"/>
              <a:ext cx="255888" cy="124848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 bwMode="gray">
            <a:xfrm>
              <a:off x="1901750" y="3420212"/>
              <a:ext cx="646331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属性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 bwMode="gray">
            <a:xfrm>
              <a:off x="1898411" y="2567409"/>
              <a:ext cx="649537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接口</a:t>
              </a:r>
              <a:endParaRPr lang="zh-CN" altLang="en-US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左大括号 40"/>
            <p:cNvSpPr/>
            <p:nvPr/>
          </p:nvSpPr>
          <p:spPr bwMode="gray">
            <a:xfrm>
              <a:off x="2653054" y="2544760"/>
              <a:ext cx="152737" cy="47492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 bwMode="gray">
            <a:xfrm>
              <a:off x="2869352" y="2273840"/>
              <a:ext cx="1107996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接口名称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 bwMode="gray">
            <a:xfrm>
              <a:off x="2911071" y="2767208"/>
              <a:ext cx="715260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MTU</a:t>
              </a:r>
              <a:endPara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 bwMode="gray">
            <a:xfrm>
              <a:off x="714438" y="3239102"/>
              <a:ext cx="877163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路由器</a:t>
              </a:r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 bwMode="gray">
            <a:xfrm>
              <a:off x="1951854" y="3831806"/>
              <a:ext cx="344966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左大括号 45"/>
            <p:cNvSpPr/>
            <p:nvPr/>
          </p:nvSpPr>
          <p:spPr bwMode="gray">
            <a:xfrm>
              <a:off x="2641479" y="3472598"/>
              <a:ext cx="152737" cy="47492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 bwMode="gray">
            <a:xfrm>
              <a:off x="2857777" y="3224828"/>
              <a:ext cx="1107996" cy="444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系统名称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 bwMode="gray">
            <a:xfrm>
              <a:off x="2941797" y="3623462"/>
              <a:ext cx="344966" cy="440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…</a:t>
              </a:r>
              <a:endPara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6" name="矩形 25"/>
          <p:cNvSpPr/>
          <p:nvPr/>
        </p:nvSpPr>
        <p:spPr bwMode="gray">
          <a:xfrm>
            <a:off x="5496824" y="2601688"/>
            <a:ext cx="2910280" cy="3557897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module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HuaweiRouter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 interface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leaf name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{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type string;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leaf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mtu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type uint16;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 properties {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sysname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 string;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leaf …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indent="-457200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}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 bwMode="gray">
          <a:xfrm>
            <a:off x="8511658" y="4319964"/>
            <a:ext cx="3234255" cy="584775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 indent="-457200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客户端通过将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消息配置设备。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下箭头 63"/>
          <p:cNvSpPr/>
          <p:nvPr/>
        </p:nvSpPr>
        <p:spPr bwMode="gray">
          <a:xfrm rot="5400000" flipV="1">
            <a:off x="4168479" y="3061815"/>
            <a:ext cx="1133202" cy="1056478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-1" fmla="*/ 258884 w 1035535"/>
              <a:gd name="connsiteY0-2" fmla="*/ 0 h 794114"/>
              <a:gd name="connsiteX1-3" fmla="*/ 776651 w 1035535"/>
              <a:gd name="connsiteY1-4" fmla="*/ 0 h 794114"/>
              <a:gd name="connsiteX2-5" fmla="*/ 776651 w 1035535"/>
              <a:gd name="connsiteY2-6" fmla="*/ 468495 h 794114"/>
              <a:gd name="connsiteX3-7" fmla="*/ 1035535 w 1035535"/>
              <a:gd name="connsiteY3-8" fmla="*/ 468495 h 794114"/>
              <a:gd name="connsiteX4-9" fmla="*/ 517768 w 1035535"/>
              <a:gd name="connsiteY4-10" fmla="*/ 794114 h 794114"/>
              <a:gd name="connsiteX5-11" fmla="*/ 0 w 1035535"/>
              <a:gd name="connsiteY5-12" fmla="*/ 468495 h 794114"/>
              <a:gd name="connsiteX6-13" fmla="*/ 258884 w 1035535"/>
              <a:gd name="connsiteY6-14" fmla="*/ 468495 h 794114"/>
              <a:gd name="connsiteX7-15" fmla="*/ 350324 w 1035535"/>
              <a:gd name="connsiteY7-16" fmla="*/ 91440 h 794114"/>
              <a:gd name="connsiteX0-17" fmla="*/ 258884 w 1035535"/>
              <a:gd name="connsiteY0-18" fmla="*/ 0 h 794114"/>
              <a:gd name="connsiteX1-19" fmla="*/ 776651 w 1035535"/>
              <a:gd name="connsiteY1-20" fmla="*/ 468495 h 794114"/>
              <a:gd name="connsiteX2-21" fmla="*/ 1035535 w 1035535"/>
              <a:gd name="connsiteY2-22" fmla="*/ 468495 h 794114"/>
              <a:gd name="connsiteX3-23" fmla="*/ 517768 w 1035535"/>
              <a:gd name="connsiteY3-24" fmla="*/ 794114 h 794114"/>
              <a:gd name="connsiteX4-25" fmla="*/ 0 w 1035535"/>
              <a:gd name="connsiteY4-26" fmla="*/ 468495 h 794114"/>
              <a:gd name="connsiteX5-27" fmla="*/ 258884 w 1035535"/>
              <a:gd name="connsiteY5-28" fmla="*/ 468495 h 794114"/>
              <a:gd name="connsiteX6-29" fmla="*/ 350324 w 1035535"/>
              <a:gd name="connsiteY6-30" fmla="*/ 91440 h 794114"/>
              <a:gd name="connsiteX0-31" fmla="*/ 1016121 w 1035535"/>
              <a:gd name="connsiteY0-32" fmla="*/ 0 h 794114"/>
              <a:gd name="connsiteX1-33" fmla="*/ 776651 w 1035535"/>
              <a:gd name="connsiteY1-34" fmla="*/ 468495 h 794114"/>
              <a:gd name="connsiteX2-35" fmla="*/ 1035535 w 1035535"/>
              <a:gd name="connsiteY2-36" fmla="*/ 468495 h 794114"/>
              <a:gd name="connsiteX3-37" fmla="*/ 517768 w 1035535"/>
              <a:gd name="connsiteY3-38" fmla="*/ 794114 h 794114"/>
              <a:gd name="connsiteX4-39" fmla="*/ 0 w 1035535"/>
              <a:gd name="connsiteY4-40" fmla="*/ 468495 h 794114"/>
              <a:gd name="connsiteX5-41" fmla="*/ 258884 w 1035535"/>
              <a:gd name="connsiteY5-42" fmla="*/ 468495 h 794114"/>
              <a:gd name="connsiteX6-43" fmla="*/ 350324 w 1035535"/>
              <a:gd name="connsiteY6-44" fmla="*/ 91440 h 794114"/>
              <a:gd name="connsiteX0-45" fmla="*/ 1018222 w 1037636"/>
              <a:gd name="connsiteY0-46" fmla="*/ 0 h 794114"/>
              <a:gd name="connsiteX1-47" fmla="*/ 778752 w 1037636"/>
              <a:gd name="connsiteY1-48" fmla="*/ 468495 h 794114"/>
              <a:gd name="connsiteX2-49" fmla="*/ 1037636 w 1037636"/>
              <a:gd name="connsiteY2-50" fmla="*/ 468495 h 794114"/>
              <a:gd name="connsiteX3-51" fmla="*/ 519869 w 1037636"/>
              <a:gd name="connsiteY3-52" fmla="*/ 794114 h 794114"/>
              <a:gd name="connsiteX4-53" fmla="*/ 2101 w 1037636"/>
              <a:gd name="connsiteY4-54" fmla="*/ 468495 h 794114"/>
              <a:gd name="connsiteX5-55" fmla="*/ 260985 w 1037636"/>
              <a:gd name="connsiteY5-56" fmla="*/ 468495 h 794114"/>
              <a:gd name="connsiteX6-57" fmla="*/ 0 w 1037636"/>
              <a:gd name="connsiteY6-58" fmla="*/ 86678 h 794114"/>
              <a:gd name="connsiteX0-59" fmla="*/ 1027747 w 1047161"/>
              <a:gd name="connsiteY0-60" fmla="*/ 0 h 794114"/>
              <a:gd name="connsiteX1-61" fmla="*/ 788277 w 1047161"/>
              <a:gd name="connsiteY1-62" fmla="*/ 468495 h 794114"/>
              <a:gd name="connsiteX2-63" fmla="*/ 1047161 w 1047161"/>
              <a:gd name="connsiteY2-64" fmla="*/ 468495 h 794114"/>
              <a:gd name="connsiteX3-65" fmla="*/ 529394 w 1047161"/>
              <a:gd name="connsiteY3-66" fmla="*/ 794114 h 794114"/>
              <a:gd name="connsiteX4-67" fmla="*/ 11626 w 1047161"/>
              <a:gd name="connsiteY4-68" fmla="*/ 468495 h 794114"/>
              <a:gd name="connsiteX5-69" fmla="*/ 270510 w 1047161"/>
              <a:gd name="connsiteY5-70" fmla="*/ 468495 h 794114"/>
              <a:gd name="connsiteX6-71" fmla="*/ 0 w 1047161"/>
              <a:gd name="connsiteY6-72" fmla="*/ 10478 h 794114"/>
              <a:gd name="connsiteX0-73" fmla="*/ 1016121 w 1035535"/>
              <a:gd name="connsiteY0-74" fmla="*/ 13335 h 807449"/>
              <a:gd name="connsiteX1-75" fmla="*/ 776651 w 1035535"/>
              <a:gd name="connsiteY1-76" fmla="*/ 481830 h 807449"/>
              <a:gd name="connsiteX2-77" fmla="*/ 1035535 w 1035535"/>
              <a:gd name="connsiteY2-78" fmla="*/ 481830 h 807449"/>
              <a:gd name="connsiteX3-79" fmla="*/ 517768 w 1035535"/>
              <a:gd name="connsiteY3-80" fmla="*/ 807449 h 807449"/>
              <a:gd name="connsiteX4-81" fmla="*/ 0 w 1035535"/>
              <a:gd name="connsiteY4-82" fmla="*/ 481830 h 807449"/>
              <a:gd name="connsiteX5-83" fmla="*/ 258884 w 1035535"/>
              <a:gd name="connsiteY5-84" fmla="*/ 481830 h 807449"/>
              <a:gd name="connsiteX6-85" fmla="*/ 12187 w 1035535"/>
              <a:gd name="connsiteY6-86" fmla="*/ 0 h 807449"/>
              <a:gd name="connsiteX0-87" fmla="*/ 1016121 w 1035535"/>
              <a:gd name="connsiteY0-88" fmla="*/ 13335 h 807449"/>
              <a:gd name="connsiteX1-89" fmla="*/ 776651 w 1035535"/>
              <a:gd name="connsiteY1-90" fmla="*/ 481830 h 807449"/>
              <a:gd name="connsiteX2-91" fmla="*/ 1035535 w 1035535"/>
              <a:gd name="connsiteY2-92" fmla="*/ 481830 h 807449"/>
              <a:gd name="connsiteX3-93" fmla="*/ 517768 w 1035535"/>
              <a:gd name="connsiteY3-94" fmla="*/ 807449 h 807449"/>
              <a:gd name="connsiteX4-95" fmla="*/ 0 w 1035535"/>
              <a:gd name="connsiteY4-96" fmla="*/ 481830 h 807449"/>
              <a:gd name="connsiteX5-97" fmla="*/ 392234 w 1035535"/>
              <a:gd name="connsiteY5-98" fmla="*/ 486592 h 807449"/>
              <a:gd name="connsiteX6-99" fmla="*/ 12187 w 1035535"/>
              <a:gd name="connsiteY6-100" fmla="*/ 0 h 807449"/>
              <a:gd name="connsiteX0-101" fmla="*/ 1016121 w 1035535"/>
              <a:gd name="connsiteY0-102" fmla="*/ 13335 h 807449"/>
              <a:gd name="connsiteX1-103" fmla="*/ 619488 w 1035535"/>
              <a:gd name="connsiteY1-104" fmla="*/ 481830 h 807449"/>
              <a:gd name="connsiteX2-105" fmla="*/ 1035535 w 1035535"/>
              <a:gd name="connsiteY2-106" fmla="*/ 481830 h 807449"/>
              <a:gd name="connsiteX3-107" fmla="*/ 517768 w 1035535"/>
              <a:gd name="connsiteY3-108" fmla="*/ 807449 h 807449"/>
              <a:gd name="connsiteX4-109" fmla="*/ 0 w 1035535"/>
              <a:gd name="connsiteY4-110" fmla="*/ 481830 h 807449"/>
              <a:gd name="connsiteX5-111" fmla="*/ 392234 w 1035535"/>
              <a:gd name="connsiteY5-112" fmla="*/ 486592 h 807449"/>
              <a:gd name="connsiteX6-113" fmla="*/ 12187 w 1035535"/>
              <a:gd name="connsiteY6-114" fmla="*/ 0 h 807449"/>
              <a:gd name="connsiteX0-115" fmla="*/ 1016121 w 1035535"/>
              <a:gd name="connsiteY0-116" fmla="*/ 13335 h 807449"/>
              <a:gd name="connsiteX1-117" fmla="*/ 619488 w 1035535"/>
              <a:gd name="connsiteY1-118" fmla="*/ 481830 h 807449"/>
              <a:gd name="connsiteX2-119" fmla="*/ 1035535 w 1035535"/>
              <a:gd name="connsiteY2-120" fmla="*/ 481830 h 807449"/>
              <a:gd name="connsiteX3-121" fmla="*/ 517768 w 1035535"/>
              <a:gd name="connsiteY3-122" fmla="*/ 807449 h 807449"/>
              <a:gd name="connsiteX4-123" fmla="*/ 0 w 1035535"/>
              <a:gd name="connsiteY4-124" fmla="*/ 481830 h 807449"/>
              <a:gd name="connsiteX5-125" fmla="*/ 392234 w 1035535"/>
              <a:gd name="connsiteY5-126" fmla="*/ 486592 h 807449"/>
              <a:gd name="connsiteX6-127" fmla="*/ 12187 w 1035535"/>
              <a:gd name="connsiteY6-128" fmla="*/ 0 h 807449"/>
              <a:gd name="connsiteX0-129" fmla="*/ 1016121 w 1035535"/>
              <a:gd name="connsiteY0-130" fmla="*/ 13335 h 807449"/>
              <a:gd name="connsiteX1-131" fmla="*/ 619488 w 1035535"/>
              <a:gd name="connsiteY1-132" fmla="*/ 481830 h 807449"/>
              <a:gd name="connsiteX2-133" fmla="*/ 1035535 w 1035535"/>
              <a:gd name="connsiteY2-134" fmla="*/ 481830 h 807449"/>
              <a:gd name="connsiteX3-135" fmla="*/ 517768 w 1035535"/>
              <a:gd name="connsiteY3-136" fmla="*/ 807449 h 807449"/>
              <a:gd name="connsiteX4-137" fmla="*/ 0 w 1035535"/>
              <a:gd name="connsiteY4-138" fmla="*/ 481830 h 807449"/>
              <a:gd name="connsiteX5-139" fmla="*/ 392234 w 1035535"/>
              <a:gd name="connsiteY5-140" fmla="*/ 486592 h 807449"/>
              <a:gd name="connsiteX6-141" fmla="*/ 12187 w 1035535"/>
              <a:gd name="connsiteY6-142" fmla="*/ 0 h 807449"/>
              <a:gd name="connsiteX0-143" fmla="*/ 1044696 w 1044696"/>
              <a:gd name="connsiteY0-144" fmla="*/ 0 h 832214"/>
              <a:gd name="connsiteX1-145" fmla="*/ 619488 w 1044696"/>
              <a:gd name="connsiteY1-146" fmla="*/ 506595 h 832214"/>
              <a:gd name="connsiteX2-147" fmla="*/ 1035535 w 1044696"/>
              <a:gd name="connsiteY2-148" fmla="*/ 506595 h 832214"/>
              <a:gd name="connsiteX3-149" fmla="*/ 517768 w 1044696"/>
              <a:gd name="connsiteY3-150" fmla="*/ 832214 h 832214"/>
              <a:gd name="connsiteX4-151" fmla="*/ 0 w 1044696"/>
              <a:gd name="connsiteY4-152" fmla="*/ 506595 h 832214"/>
              <a:gd name="connsiteX5-153" fmla="*/ 392234 w 1044696"/>
              <a:gd name="connsiteY5-154" fmla="*/ 511357 h 832214"/>
              <a:gd name="connsiteX6-155" fmla="*/ 12187 w 1044696"/>
              <a:gd name="connsiteY6-156" fmla="*/ 24765 h 832214"/>
              <a:gd name="connsiteX0-157" fmla="*/ 1032509 w 1032509"/>
              <a:gd name="connsiteY0-158" fmla="*/ 0 h 832214"/>
              <a:gd name="connsiteX1-159" fmla="*/ 607301 w 1032509"/>
              <a:gd name="connsiteY1-160" fmla="*/ 506595 h 832214"/>
              <a:gd name="connsiteX2-161" fmla="*/ 1023348 w 1032509"/>
              <a:gd name="connsiteY2-162" fmla="*/ 506595 h 832214"/>
              <a:gd name="connsiteX3-163" fmla="*/ 505581 w 1032509"/>
              <a:gd name="connsiteY3-164" fmla="*/ 832214 h 832214"/>
              <a:gd name="connsiteX4-165" fmla="*/ 237844 w 1032509"/>
              <a:gd name="connsiteY4-166" fmla="*/ 508976 h 832214"/>
              <a:gd name="connsiteX5-167" fmla="*/ 380047 w 1032509"/>
              <a:gd name="connsiteY5-168" fmla="*/ 511357 h 832214"/>
              <a:gd name="connsiteX6-169" fmla="*/ 0 w 1032509"/>
              <a:gd name="connsiteY6-170" fmla="*/ 24765 h 832214"/>
              <a:gd name="connsiteX0-171" fmla="*/ 1032509 w 1032509"/>
              <a:gd name="connsiteY0-172" fmla="*/ 0 h 832214"/>
              <a:gd name="connsiteX1-173" fmla="*/ 607301 w 1032509"/>
              <a:gd name="connsiteY1-174" fmla="*/ 506595 h 832214"/>
              <a:gd name="connsiteX2-175" fmla="*/ 804276 w 1032509"/>
              <a:gd name="connsiteY2-176" fmla="*/ 513741 h 832214"/>
              <a:gd name="connsiteX3-177" fmla="*/ 505581 w 1032509"/>
              <a:gd name="connsiteY3-178" fmla="*/ 832214 h 832214"/>
              <a:gd name="connsiteX4-179" fmla="*/ 237844 w 1032509"/>
              <a:gd name="connsiteY4-180" fmla="*/ 508976 h 832214"/>
              <a:gd name="connsiteX5-181" fmla="*/ 380047 w 1032509"/>
              <a:gd name="connsiteY5-182" fmla="*/ 511357 h 832214"/>
              <a:gd name="connsiteX6-183" fmla="*/ 0 w 1032509"/>
              <a:gd name="connsiteY6-184" fmla="*/ 24765 h 832214"/>
              <a:gd name="connsiteX0-185" fmla="*/ 1032509 w 1032509"/>
              <a:gd name="connsiteY0-186" fmla="*/ 0 h 722679"/>
              <a:gd name="connsiteX1-187" fmla="*/ 607301 w 1032509"/>
              <a:gd name="connsiteY1-188" fmla="*/ 506595 h 722679"/>
              <a:gd name="connsiteX2-189" fmla="*/ 804276 w 1032509"/>
              <a:gd name="connsiteY2-190" fmla="*/ 513741 h 722679"/>
              <a:gd name="connsiteX3-191" fmla="*/ 507965 w 1032509"/>
              <a:gd name="connsiteY3-192" fmla="*/ 722679 h 722679"/>
              <a:gd name="connsiteX4-193" fmla="*/ 237844 w 1032509"/>
              <a:gd name="connsiteY4-194" fmla="*/ 508976 h 722679"/>
              <a:gd name="connsiteX5-195" fmla="*/ 380047 w 1032509"/>
              <a:gd name="connsiteY5-196" fmla="*/ 511357 h 722679"/>
              <a:gd name="connsiteX6-197" fmla="*/ 0 w 1032509"/>
              <a:gd name="connsiteY6-198" fmla="*/ 24765 h 722679"/>
              <a:gd name="connsiteX0-199" fmla="*/ 1032509 w 1032509"/>
              <a:gd name="connsiteY0-200" fmla="*/ 0 h 722679"/>
              <a:gd name="connsiteX1-201" fmla="*/ 607301 w 1032509"/>
              <a:gd name="connsiteY1-202" fmla="*/ 506595 h 722679"/>
              <a:gd name="connsiteX2-203" fmla="*/ 804276 w 1032509"/>
              <a:gd name="connsiteY2-204" fmla="*/ 513741 h 722679"/>
              <a:gd name="connsiteX3-205" fmla="*/ 498440 w 1032509"/>
              <a:gd name="connsiteY3-206" fmla="*/ 722679 h 722679"/>
              <a:gd name="connsiteX4-207" fmla="*/ 237844 w 1032509"/>
              <a:gd name="connsiteY4-208" fmla="*/ 508976 h 722679"/>
              <a:gd name="connsiteX5-209" fmla="*/ 380047 w 1032509"/>
              <a:gd name="connsiteY5-210" fmla="*/ 511357 h 722679"/>
              <a:gd name="connsiteX6-211" fmla="*/ 0 w 1032509"/>
              <a:gd name="connsiteY6-212" fmla="*/ 24765 h 722679"/>
              <a:gd name="connsiteX0-213" fmla="*/ 1032509 w 1032509"/>
              <a:gd name="connsiteY0-214" fmla="*/ 0 h 722679"/>
              <a:gd name="connsiteX1-215" fmla="*/ 607301 w 1032509"/>
              <a:gd name="connsiteY1-216" fmla="*/ 506595 h 722679"/>
              <a:gd name="connsiteX2-217" fmla="*/ 792369 w 1032509"/>
              <a:gd name="connsiteY2-218" fmla="*/ 515732 h 722679"/>
              <a:gd name="connsiteX3-219" fmla="*/ 498440 w 1032509"/>
              <a:gd name="connsiteY3-220" fmla="*/ 722679 h 722679"/>
              <a:gd name="connsiteX4-221" fmla="*/ 237844 w 1032509"/>
              <a:gd name="connsiteY4-222" fmla="*/ 508976 h 722679"/>
              <a:gd name="connsiteX5-223" fmla="*/ 380047 w 1032509"/>
              <a:gd name="connsiteY5-224" fmla="*/ 511357 h 722679"/>
              <a:gd name="connsiteX6-225" fmla="*/ 0 w 1032509"/>
              <a:gd name="connsiteY6-226" fmla="*/ 24765 h 722679"/>
              <a:gd name="connsiteX0-227" fmla="*/ 1032509 w 1032509"/>
              <a:gd name="connsiteY0-228" fmla="*/ 0 h 720688"/>
              <a:gd name="connsiteX1-229" fmla="*/ 607301 w 1032509"/>
              <a:gd name="connsiteY1-230" fmla="*/ 506595 h 720688"/>
              <a:gd name="connsiteX2-231" fmla="*/ 792369 w 1032509"/>
              <a:gd name="connsiteY2-232" fmla="*/ 515732 h 720688"/>
              <a:gd name="connsiteX3-233" fmla="*/ 503202 w 1032509"/>
              <a:gd name="connsiteY3-234" fmla="*/ 720688 h 720688"/>
              <a:gd name="connsiteX4-235" fmla="*/ 237844 w 1032509"/>
              <a:gd name="connsiteY4-236" fmla="*/ 508976 h 720688"/>
              <a:gd name="connsiteX5-237" fmla="*/ 380047 w 1032509"/>
              <a:gd name="connsiteY5-238" fmla="*/ 511357 h 720688"/>
              <a:gd name="connsiteX6-239" fmla="*/ 0 w 1032509"/>
              <a:gd name="connsiteY6-240" fmla="*/ 24765 h 720688"/>
              <a:gd name="connsiteX0-241" fmla="*/ 1044414 w 1044414"/>
              <a:gd name="connsiteY0-242" fmla="*/ 0 h 720688"/>
              <a:gd name="connsiteX1-243" fmla="*/ 619206 w 1044414"/>
              <a:gd name="connsiteY1-244" fmla="*/ 506595 h 720688"/>
              <a:gd name="connsiteX2-245" fmla="*/ 804274 w 1044414"/>
              <a:gd name="connsiteY2-246" fmla="*/ 515732 h 720688"/>
              <a:gd name="connsiteX3-247" fmla="*/ 515107 w 1044414"/>
              <a:gd name="connsiteY3-248" fmla="*/ 720688 h 720688"/>
              <a:gd name="connsiteX4-249" fmla="*/ 249749 w 1044414"/>
              <a:gd name="connsiteY4-250" fmla="*/ 508976 h 720688"/>
              <a:gd name="connsiteX5-251" fmla="*/ 391952 w 1044414"/>
              <a:gd name="connsiteY5-252" fmla="*/ 511357 h 720688"/>
              <a:gd name="connsiteX6-253" fmla="*/ 0 w 1044414"/>
              <a:gd name="connsiteY6-254" fmla="*/ 4852 h 720688"/>
              <a:gd name="connsiteX0-255" fmla="*/ 1082514 w 1082514"/>
              <a:gd name="connsiteY0-256" fmla="*/ 0 h 722679"/>
              <a:gd name="connsiteX1-257" fmla="*/ 619206 w 1082514"/>
              <a:gd name="connsiteY1-258" fmla="*/ 508586 h 722679"/>
              <a:gd name="connsiteX2-259" fmla="*/ 804274 w 1082514"/>
              <a:gd name="connsiteY2-260" fmla="*/ 517723 h 722679"/>
              <a:gd name="connsiteX3-261" fmla="*/ 515107 w 1082514"/>
              <a:gd name="connsiteY3-262" fmla="*/ 722679 h 722679"/>
              <a:gd name="connsiteX4-263" fmla="*/ 249749 w 1082514"/>
              <a:gd name="connsiteY4-264" fmla="*/ 510967 h 722679"/>
              <a:gd name="connsiteX5-265" fmla="*/ 391952 w 1082514"/>
              <a:gd name="connsiteY5-266" fmla="*/ 513348 h 722679"/>
              <a:gd name="connsiteX6-267" fmla="*/ 0 w 1082514"/>
              <a:gd name="connsiteY6-268" fmla="*/ 6843 h 722679"/>
              <a:gd name="connsiteX0-269" fmla="*/ 1082514 w 1082514"/>
              <a:gd name="connsiteY0-270" fmla="*/ 0 h 724672"/>
              <a:gd name="connsiteX1-271" fmla="*/ 619206 w 1082514"/>
              <a:gd name="connsiteY1-272" fmla="*/ 508586 h 724672"/>
              <a:gd name="connsiteX2-273" fmla="*/ 804274 w 1082514"/>
              <a:gd name="connsiteY2-274" fmla="*/ 517723 h 724672"/>
              <a:gd name="connsiteX3-275" fmla="*/ 534160 w 1082514"/>
              <a:gd name="connsiteY3-276" fmla="*/ 724672 h 724672"/>
              <a:gd name="connsiteX4-277" fmla="*/ 249749 w 1082514"/>
              <a:gd name="connsiteY4-278" fmla="*/ 510967 h 724672"/>
              <a:gd name="connsiteX5-279" fmla="*/ 391952 w 1082514"/>
              <a:gd name="connsiteY5-280" fmla="*/ 513348 h 724672"/>
              <a:gd name="connsiteX6-281" fmla="*/ 0 w 1082514"/>
              <a:gd name="connsiteY6-282" fmla="*/ 6843 h 724672"/>
              <a:gd name="connsiteX0-283" fmla="*/ 1082514 w 1082514"/>
              <a:gd name="connsiteY0-284" fmla="*/ 0 h 724672"/>
              <a:gd name="connsiteX1-285" fmla="*/ 619206 w 1082514"/>
              <a:gd name="connsiteY1-286" fmla="*/ 508586 h 724672"/>
              <a:gd name="connsiteX2-287" fmla="*/ 804274 w 1082514"/>
              <a:gd name="connsiteY2-288" fmla="*/ 517723 h 724672"/>
              <a:gd name="connsiteX3-289" fmla="*/ 534160 w 1082514"/>
              <a:gd name="connsiteY3-290" fmla="*/ 724672 h 724672"/>
              <a:gd name="connsiteX4-291" fmla="*/ 249749 w 1082514"/>
              <a:gd name="connsiteY4-292" fmla="*/ 510967 h 724672"/>
              <a:gd name="connsiteX5-293" fmla="*/ 380046 w 1082514"/>
              <a:gd name="connsiteY5-294" fmla="*/ 533263 h 724672"/>
              <a:gd name="connsiteX6-295" fmla="*/ 0 w 1082514"/>
              <a:gd name="connsiteY6-296" fmla="*/ 6843 h 724672"/>
              <a:gd name="connsiteX0-297" fmla="*/ 1082514 w 1082514"/>
              <a:gd name="connsiteY0-298" fmla="*/ 0 h 724672"/>
              <a:gd name="connsiteX1-299" fmla="*/ 619206 w 1082514"/>
              <a:gd name="connsiteY1-300" fmla="*/ 508586 h 724672"/>
              <a:gd name="connsiteX2-301" fmla="*/ 804274 w 1082514"/>
              <a:gd name="connsiteY2-302" fmla="*/ 517723 h 724672"/>
              <a:gd name="connsiteX3-303" fmla="*/ 534160 w 1082514"/>
              <a:gd name="connsiteY3-304" fmla="*/ 724672 h 724672"/>
              <a:gd name="connsiteX4-305" fmla="*/ 249749 w 1082514"/>
              <a:gd name="connsiteY4-306" fmla="*/ 510967 h 724672"/>
              <a:gd name="connsiteX5-307" fmla="*/ 380046 w 1082514"/>
              <a:gd name="connsiteY5-308" fmla="*/ 533263 h 724672"/>
              <a:gd name="connsiteX6-309" fmla="*/ 0 w 1082514"/>
              <a:gd name="connsiteY6-310" fmla="*/ 6843 h 724672"/>
              <a:gd name="connsiteX0-311" fmla="*/ 1082514 w 1082514"/>
              <a:gd name="connsiteY0-312" fmla="*/ 0 h 724672"/>
              <a:gd name="connsiteX1-313" fmla="*/ 619206 w 1082514"/>
              <a:gd name="connsiteY1-314" fmla="*/ 508586 h 724672"/>
              <a:gd name="connsiteX2-315" fmla="*/ 804274 w 1082514"/>
              <a:gd name="connsiteY2-316" fmla="*/ 517723 h 724672"/>
              <a:gd name="connsiteX3-317" fmla="*/ 534160 w 1082514"/>
              <a:gd name="connsiteY3-318" fmla="*/ 724672 h 724672"/>
              <a:gd name="connsiteX4-319" fmla="*/ 249749 w 1082514"/>
              <a:gd name="connsiteY4-320" fmla="*/ 510967 h 724672"/>
              <a:gd name="connsiteX5-321" fmla="*/ 380046 w 1082514"/>
              <a:gd name="connsiteY5-322" fmla="*/ 533263 h 724672"/>
              <a:gd name="connsiteX6-323" fmla="*/ 0 w 1082514"/>
              <a:gd name="connsiteY6-324" fmla="*/ 6843 h 724672"/>
              <a:gd name="connsiteX0-325" fmla="*/ 1082514 w 1082514"/>
              <a:gd name="connsiteY0-326" fmla="*/ 0 h 724672"/>
              <a:gd name="connsiteX1-327" fmla="*/ 619206 w 1082514"/>
              <a:gd name="connsiteY1-328" fmla="*/ 508586 h 724672"/>
              <a:gd name="connsiteX2-329" fmla="*/ 804274 w 1082514"/>
              <a:gd name="connsiteY2-330" fmla="*/ 517723 h 724672"/>
              <a:gd name="connsiteX3-331" fmla="*/ 534160 w 1082514"/>
              <a:gd name="connsiteY3-332" fmla="*/ 724672 h 724672"/>
              <a:gd name="connsiteX4-333" fmla="*/ 233080 w 1082514"/>
              <a:gd name="connsiteY4-334" fmla="*/ 526899 h 724672"/>
              <a:gd name="connsiteX5-335" fmla="*/ 380046 w 1082514"/>
              <a:gd name="connsiteY5-336" fmla="*/ 533263 h 724672"/>
              <a:gd name="connsiteX6-337" fmla="*/ 0 w 1082514"/>
              <a:gd name="connsiteY6-338" fmla="*/ 6843 h 724672"/>
              <a:gd name="connsiteX0-339" fmla="*/ 1082514 w 1082514"/>
              <a:gd name="connsiteY0-340" fmla="*/ 0 h 724672"/>
              <a:gd name="connsiteX1-341" fmla="*/ 619206 w 1082514"/>
              <a:gd name="connsiteY1-342" fmla="*/ 508586 h 724672"/>
              <a:gd name="connsiteX2-343" fmla="*/ 804274 w 1082514"/>
              <a:gd name="connsiteY2-344" fmla="*/ 517723 h 724672"/>
              <a:gd name="connsiteX3-345" fmla="*/ 534160 w 1082514"/>
              <a:gd name="connsiteY3-346" fmla="*/ 724672 h 724672"/>
              <a:gd name="connsiteX4-347" fmla="*/ 237842 w 1082514"/>
              <a:gd name="connsiteY4-348" fmla="*/ 532873 h 724672"/>
              <a:gd name="connsiteX5-349" fmla="*/ 380046 w 1082514"/>
              <a:gd name="connsiteY5-350" fmla="*/ 533263 h 724672"/>
              <a:gd name="connsiteX6-351" fmla="*/ 0 w 1082514"/>
              <a:gd name="connsiteY6-352" fmla="*/ 6843 h 724672"/>
              <a:gd name="connsiteX0-353" fmla="*/ 1082514 w 1082514"/>
              <a:gd name="connsiteY0-354" fmla="*/ 0 h 724672"/>
              <a:gd name="connsiteX1-355" fmla="*/ 690644 w 1082514"/>
              <a:gd name="connsiteY1-356" fmla="*/ 532484 h 724672"/>
              <a:gd name="connsiteX2-357" fmla="*/ 804274 w 1082514"/>
              <a:gd name="connsiteY2-358" fmla="*/ 517723 h 724672"/>
              <a:gd name="connsiteX3-359" fmla="*/ 534160 w 1082514"/>
              <a:gd name="connsiteY3-360" fmla="*/ 724672 h 724672"/>
              <a:gd name="connsiteX4-361" fmla="*/ 237842 w 1082514"/>
              <a:gd name="connsiteY4-362" fmla="*/ 532873 h 724672"/>
              <a:gd name="connsiteX5-363" fmla="*/ 380046 w 1082514"/>
              <a:gd name="connsiteY5-364" fmla="*/ 533263 h 724672"/>
              <a:gd name="connsiteX6-365" fmla="*/ 0 w 1082514"/>
              <a:gd name="connsiteY6-366" fmla="*/ 6843 h 724672"/>
              <a:gd name="connsiteX0-367" fmla="*/ 1082514 w 1082514"/>
              <a:gd name="connsiteY0-368" fmla="*/ 0 h 724672"/>
              <a:gd name="connsiteX1-369" fmla="*/ 690644 w 1082514"/>
              <a:gd name="connsiteY1-370" fmla="*/ 532484 h 724672"/>
              <a:gd name="connsiteX2-371" fmla="*/ 804274 w 1082514"/>
              <a:gd name="connsiteY2-372" fmla="*/ 517723 h 724672"/>
              <a:gd name="connsiteX3-373" fmla="*/ 534160 w 1082514"/>
              <a:gd name="connsiteY3-374" fmla="*/ 724672 h 724672"/>
              <a:gd name="connsiteX4-375" fmla="*/ 237842 w 1082514"/>
              <a:gd name="connsiteY4-376" fmla="*/ 532873 h 724672"/>
              <a:gd name="connsiteX5-377" fmla="*/ 380046 w 1082514"/>
              <a:gd name="connsiteY5-378" fmla="*/ 533263 h 724672"/>
              <a:gd name="connsiteX6-379" fmla="*/ 0 w 1082514"/>
              <a:gd name="connsiteY6-380" fmla="*/ 6843 h 724672"/>
              <a:gd name="connsiteX0-381" fmla="*/ 1082514 w 1082514"/>
              <a:gd name="connsiteY0-382" fmla="*/ 0 h 724672"/>
              <a:gd name="connsiteX1-383" fmla="*/ 690644 w 1082514"/>
              <a:gd name="connsiteY1-384" fmla="*/ 532484 h 724672"/>
              <a:gd name="connsiteX2-385" fmla="*/ 830468 w 1082514"/>
              <a:gd name="connsiteY2-386" fmla="*/ 531664 h 724672"/>
              <a:gd name="connsiteX3-387" fmla="*/ 534160 w 1082514"/>
              <a:gd name="connsiteY3-388" fmla="*/ 724672 h 724672"/>
              <a:gd name="connsiteX4-389" fmla="*/ 237842 w 1082514"/>
              <a:gd name="connsiteY4-390" fmla="*/ 532873 h 724672"/>
              <a:gd name="connsiteX5-391" fmla="*/ 380046 w 1082514"/>
              <a:gd name="connsiteY5-392" fmla="*/ 533263 h 724672"/>
              <a:gd name="connsiteX6-393" fmla="*/ 0 w 1082514"/>
              <a:gd name="connsiteY6-394" fmla="*/ 6843 h 724672"/>
              <a:gd name="connsiteX0-395" fmla="*/ 1082514 w 1082514"/>
              <a:gd name="connsiteY0-396" fmla="*/ 0 h 724672"/>
              <a:gd name="connsiteX1-397" fmla="*/ 690644 w 1082514"/>
              <a:gd name="connsiteY1-398" fmla="*/ 532484 h 724672"/>
              <a:gd name="connsiteX2-399" fmla="*/ 830468 w 1082514"/>
              <a:gd name="connsiteY2-400" fmla="*/ 531664 h 724672"/>
              <a:gd name="connsiteX3-401" fmla="*/ 534160 w 1082514"/>
              <a:gd name="connsiteY3-402" fmla="*/ 724672 h 724672"/>
              <a:gd name="connsiteX4-403" fmla="*/ 237842 w 1082514"/>
              <a:gd name="connsiteY4-404" fmla="*/ 532873 h 724672"/>
              <a:gd name="connsiteX5-405" fmla="*/ 434815 w 1082514"/>
              <a:gd name="connsiteY5-406" fmla="*/ 533263 h 724672"/>
              <a:gd name="connsiteX6-407" fmla="*/ 0 w 1082514"/>
              <a:gd name="connsiteY6-408" fmla="*/ 6843 h 724672"/>
              <a:gd name="connsiteX0-409" fmla="*/ 1082514 w 1082514"/>
              <a:gd name="connsiteY0-410" fmla="*/ 0 h 724672"/>
              <a:gd name="connsiteX1-411" fmla="*/ 690644 w 1082514"/>
              <a:gd name="connsiteY1-412" fmla="*/ 532484 h 724672"/>
              <a:gd name="connsiteX2-413" fmla="*/ 830468 w 1082514"/>
              <a:gd name="connsiteY2-414" fmla="*/ 531664 h 724672"/>
              <a:gd name="connsiteX3-415" fmla="*/ 534160 w 1082514"/>
              <a:gd name="connsiteY3-416" fmla="*/ 724672 h 724672"/>
              <a:gd name="connsiteX4-417" fmla="*/ 297373 w 1082514"/>
              <a:gd name="connsiteY4-418" fmla="*/ 532873 h 724672"/>
              <a:gd name="connsiteX5-419" fmla="*/ 434815 w 1082514"/>
              <a:gd name="connsiteY5-420" fmla="*/ 533263 h 724672"/>
              <a:gd name="connsiteX6-421" fmla="*/ 0 w 1082514"/>
              <a:gd name="connsiteY6-422" fmla="*/ 6843 h 724672"/>
              <a:gd name="connsiteX0-423" fmla="*/ 1082514 w 1082514"/>
              <a:gd name="connsiteY0-424" fmla="*/ 0 h 724672"/>
              <a:gd name="connsiteX1-425" fmla="*/ 690644 w 1082514"/>
              <a:gd name="connsiteY1-426" fmla="*/ 532484 h 724672"/>
              <a:gd name="connsiteX2-427" fmla="*/ 768555 w 1082514"/>
              <a:gd name="connsiteY2-428" fmla="*/ 531664 h 724672"/>
              <a:gd name="connsiteX3-429" fmla="*/ 534160 w 1082514"/>
              <a:gd name="connsiteY3-430" fmla="*/ 724672 h 724672"/>
              <a:gd name="connsiteX4-431" fmla="*/ 297373 w 1082514"/>
              <a:gd name="connsiteY4-432" fmla="*/ 532873 h 724672"/>
              <a:gd name="connsiteX5-433" fmla="*/ 434815 w 1082514"/>
              <a:gd name="connsiteY5-434" fmla="*/ 533263 h 724672"/>
              <a:gd name="connsiteX6-435" fmla="*/ 0 w 1082514"/>
              <a:gd name="connsiteY6-436" fmla="*/ 6843 h 724672"/>
              <a:gd name="connsiteX0-437" fmla="*/ 1082514 w 1082514"/>
              <a:gd name="connsiteY0-438" fmla="*/ 0 h 724672"/>
              <a:gd name="connsiteX1-439" fmla="*/ 638256 w 1082514"/>
              <a:gd name="connsiteY1-440" fmla="*/ 534476 h 724672"/>
              <a:gd name="connsiteX2-441" fmla="*/ 768555 w 1082514"/>
              <a:gd name="connsiteY2-442" fmla="*/ 531664 h 724672"/>
              <a:gd name="connsiteX3-443" fmla="*/ 534160 w 1082514"/>
              <a:gd name="connsiteY3-444" fmla="*/ 724672 h 724672"/>
              <a:gd name="connsiteX4-445" fmla="*/ 297373 w 1082514"/>
              <a:gd name="connsiteY4-446" fmla="*/ 532873 h 724672"/>
              <a:gd name="connsiteX5-447" fmla="*/ 434815 w 1082514"/>
              <a:gd name="connsiteY5-448" fmla="*/ 533263 h 724672"/>
              <a:gd name="connsiteX6-449" fmla="*/ 0 w 1082514"/>
              <a:gd name="connsiteY6-450" fmla="*/ 6843 h 7246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下箭头 63"/>
          <p:cNvSpPr/>
          <p:nvPr/>
        </p:nvSpPr>
        <p:spPr bwMode="gray">
          <a:xfrm rot="5400000" flipV="1">
            <a:off x="8733888" y="3076641"/>
            <a:ext cx="1133202" cy="1056478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-1" fmla="*/ 258884 w 1035535"/>
              <a:gd name="connsiteY0-2" fmla="*/ 0 h 794114"/>
              <a:gd name="connsiteX1-3" fmla="*/ 776651 w 1035535"/>
              <a:gd name="connsiteY1-4" fmla="*/ 0 h 794114"/>
              <a:gd name="connsiteX2-5" fmla="*/ 776651 w 1035535"/>
              <a:gd name="connsiteY2-6" fmla="*/ 468495 h 794114"/>
              <a:gd name="connsiteX3-7" fmla="*/ 1035535 w 1035535"/>
              <a:gd name="connsiteY3-8" fmla="*/ 468495 h 794114"/>
              <a:gd name="connsiteX4-9" fmla="*/ 517768 w 1035535"/>
              <a:gd name="connsiteY4-10" fmla="*/ 794114 h 794114"/>
              <a:gd name="connsiteX5-11" fmla="*/ 0 w 1035535"/>
              <a:gd name="connsiteY5-12" fmla="*/ 468495 h 794114"/>
              <a:gd name="connsiteX6-13" fmla="*/ 258884 w 1035535"/>
              <a:gd name="connsiteY6-14" fmla="*/ 468495 h 794114"/>
              <a:gd name="connsiteX7-15" fmla="*/ 350324 w 1035535"/>
              <a:gd name="connsiteY7-16" fmla="*/ 91440 h 794114"/>
              <a:gd name="connsiteX0-17" fmla="*/ 258884 w 1035535"/>
              <a:gd name="connsiteY0-18" fmla="*/ 0 h 794114"/>
              <a:gd name="connsiteX1-19" fmla="*/ 776651 w 1035535"/>
              <a:gd name="connsiteY1-20" fmla="*/ 468495 h 794114"/>
              <a:gd name="connsiteX2-21" fmla="*/ 1035535 w 1035535"/>
              <a:gd name="connsiteY2-22" fmla="*/ 468495 h 794114"/>
              <a:gd name="connsiteX3-23" fmla="*/ 517768 w 1035535"/>
              <a:gd name="connsiteY3-24" fmla="*/ 794114 h 794114"/>
              <a:gd name="connsiteX4-25" fmla="*/ 0 w 1035535"/>
              <a:gd name="connsiteY4-26" fmla="*/ 468495 h 794114"/>
              <a:gd name="connsiteX5-27" fmla="*/ 258884 w 1035535"/>
              <a:gd name="connsiteY5-28" fmla="*/ 468495 h 794114"/>
              <a:gd name="connsiteX6-29" fmla="*/ 350324 w 1035535"/>
              <a:gd name="connsiteY6-30" fmla="*/ 91440 h 794114"/>
              <a:gd name="connsiteX0-31" fmla="*/ 1016121 w 1035535"/>
              <a:gd name="connsiteY0-32" fmla="*/ 0 h 794114"/>
              <a:gd name="connsiteX1-33" fmla="*/ 776651 w 1035535"/>
              <a:gd name="connsiteY1-34" fmla="*/ 468495 h 794114"/>
              <a:gd name="connsiteX2-35" fmla="*/ 1035535 w 1035535"/>
              <a:gd name="connsiteY2-36" fmla="*/ 468495 h 794114"/>
              <a:gd name="connsiteX3-37" fmla="*/ 517768 w 1035535"/>
              <a:gd name="connsiteY3-38" fmla="*/ 794114 h 794114"/>
              <a:gd name="connsiteX4-39" fmla="*/ 0 w 1035535"/>
              <a:gd name="connsiteY4-40" fmla="*/ 468495 h 794114"/>
              <a:gd name="connsiteX5-41" fmla="*/ 258884 w 1035535"/>
              <a:gd name="connsiteY5-42" fmla="*/ 468495 h 794114"/>
              <a:gd name="connsiteX6-43" fmla="*/ 350324 w 1035535"/>
              <a:gd name="connsiteY6-44" fmla="*/ 91440 h 794114"/>
              <a:gd name="connsiteX0-45" fmla="*/ 1018222 w 1037636"/>
              <a:gd name="connsiteY0-46" fmla="*/ 0 h 794114"/>
              <a:gd name="connsiteX1-47" fmla="*/ 778752 w 1037636"/>
              <a:gd name="connsiteY1-48" fmla="*/ 468495 h 794114"/>
              <a:gd name="connsiteX2-49" fmla="*/ 1037636 w 1037636"/>
              <a:gd name="connsiteY2-50" fmla="*/ 468495 h 794114"/>
              <a:gd name="connsiteX3-51" fmla="*/ 519869 w 1037636"/>
              <a:gd name="connsiteY3-52" fmla="*/ 794114 h 794114"/>
              <a:gd name="connsiteX4-53" fmla="*/ 2101 w 1037636"/>
              <a:gd name="connsiteY4-54" fmla="*/ 468495 h 794114"/>
              <a:gd name="connsiteX5-55" fmla="*/ 260985 w 1037636"/>
              <a:gd name="connsiteY5-56" fmla="*/ 468495 h 794114"/>
              <a:gd name="connsiteX6-57" fmla="*/ 0 w 1037636"/>
              <a:gd name="connsiteY6-58" fmla="*/ 86678 h 794114"/>
              <a:gd name="connsiteX0-59" fmla="*/ 1027747 w 1047161"/>
              <a:gd name="connsiteY0-60" fmla="*/ 0 h 794114"/>
              <a:gd name="connsiteX1-61" fmla="*/ 788277 w 1047161"/>
              <a:gd name="connsiteY1-62" fmla="*/ 468495 h 794114"/>
              <a:gd name="connsiteX2-63" fmla="*/ 1047161 w 1047161"/>
              <a:gd name="connsiteY2-64" fmla="*/ 468495 h 794114"/>
              <a:gd name="connsiteX3-65" fmla="*/ 529394 w 1047161"/>
              <a:gd name="connsiteY3-66" fmla="*/ 794114 h 794114"/>
              <a:gd name="connsiteX4-67" fmla="*/ 11626 w 1047161"/>
              <a:gd name="connsiteY4-68" fmla="*/ 468495 h 794114"/>
              <a:gd name="connsiteX5-69" fmla="*/ 270510 w 1047161"/>
              <a:gd name="connsiteY5-70" fmla="*/ 468495 h 794114"/>
              <a:gd name="connsiteX6-71" fmla="*/ 0 w 1047161"/>
              <a:gd name="connsiteY6-72" fmla="*/ 10478 h 794114"/>
              <a:gd name="connsiteX0-73" fmla="*/ 1016121 w 1035535"/>
              <a:gd name="connsiteY0-74" fmla="*/ 13335 h 807449"/>
              <a:gd name="connsiteX1-75" fmla="*/ 776651 w 1035535"/>
              <a:gd name="connsiteY1-76" fmla="*/ 481830 h 807449"/>
              <a:gd name="connsiteX2-77" fmla="*/ 1035535 w 1035535"/>
              <a:gd name="connsiteY2-78" fmla="*/ 481830 h 807449"/>
              <a:gd name="connsiteX3-79" fmla="*/ 517768 w 1035535"/>
              <a:gd name="connsiteY3-80" fmla="*/ 807449 h 807449"/>
              <a:gd name="connsiteX4-81" fmla="*/ 0 w 1035535"/>
              <a:gd name="connsiteY4-82" fmla="*/ 481830 h 807449"/>
              <a:gd name="connsiteX5-83" fmla="*/ 258884 w 1035535"/>
              <a:gd name="connsiteY5-84" fmla="*/ 481830 h 807449"/>
              <a:gd name="connsiteX6-85" fmla="*/ 12187 w 1035535"/>
              <a:gd name="connsiteY6-86" fmla="*/ 0 h 807449"/>
              <a:gd name="connsiteX0-87" fmla="*/ 1016121 w 1035535"/>
              <a:gd name="connsiteY0-88" fmla="*/ 13335 h 807449"/>
              <a:gd name="connsiteX1-89" fmla="*/ 776651 w 1035535"/>
              <a:gd name="connsiteY1-90" fmla="*/ 481830 h 807449"/>
              <a:gd name="connsiteX2-91" fmla="*/ 1035535 w 1035535"/>
              <a:gd name="connsiteY2-92" fmla="*/ 481830 h 807449"/>
              <a:gd name="connsiteX3-93" fmla="*/ 517768 w 1035535"/>
              <a:gd name="connsiteY3-94" fmla="*/ 807449 h 807449"/>
              <a:gd name="connsiteX4-95" fmla="*/ 0 w 1035535"/>
              <a:gd name="connsiteY4-96" fmla="*/ 481830 h 807449"/>
              <a:gd name="connsiteX5-97" fmla="*/ 392234 w 1035535"/>
              <a:gd name="connsiteY5-98" fmla="*/ 486592 h 807449"/>
              <a:gd name="connsiteX6-99" fmla="*/ 12187 w 1035535"/>
              <a:gd name="connsiteY6-100" fmla="*/ 0 h 807449"/>
              <a:gd name="connsiteX0-101" fmla="*/ 1016121 w 1035535"/>
              <a:gd name="connsiteY0-102" fmla="*/ 13335 h 807449"/>
              <a:gd name="connsiteX1-103" fmla="*/ 619488 w 1035535"/>
              <a:gd name="connsiteY1-104" fmla="*/ 481830 h 807449"/>
              <a:gd name="connsiteX2-105" fmla="*/ 1035535 w 1035535"/>
              <a:gd name="connsiteY2-106" fmla="*/ 481830 h 807449"/>
              <a:gd name="connsiteX3-107" fmla="*/ 517768 w 1035535"/>
              <a:gd name="connsiteY3-108" fmla="*/ 807449 h 807449"/>
              <a:gd name="connsiteX4-109" fmla="*/ 0 w 1035535"/>
              <a:gd name="connsiteY4-110" fmla="*/ 481830 h 807449"/>
              <a:gd name="connsiteX5-111" fmla="*/ 392234 w 1035535"/>
              <a:gd name="connsiteY5-112" fmla="*/ 486592 h 807449"/>
              <a:gd name="connsiteX6-113" fmla="*/ 12187 w 1035535"/>
              <a:gd name="connsiteY6-114" fmla="*/ 0 h 807449"/>
              <a:gd name="connsiteX0-115" fmla="*/ 1016121 w 1035535"/>
              <a:gd name="connsiteY0-116" fmla="*/ 13335 h 807449"/>
              <a:gd name="connsiteX1-117" fmla="*/ 619488 w 1035535"/>
              <a:gd name="connsiteY1-118" fmla="*/ 481830 h 807449"/>
              <a:gd name="connsiteX2-119" fmla="*/ 1035535 w 1035535"/>
              <a:gd name="connsiteY2-120" fmla="*/ 481830 h 807449"/>
              <a:gd name="connsiteX3-121" fmla="*/ 517768 w 1035535"/>
              <a:gd name="connsiteY3-122" fmla="*/ 807449 h 807449"/>
              <a:gd name="connsiteX4-123" fmla="*/ 0 w 1035535"/>
              <a:gd name="connsiteY4-124" fmla="*/ 481830 h 807449"/>
              <a:gd name="connsiteX5-125" fmla="*/ 392234 w 1035535"/>
              <a:gd name="connsiteY5-126" fmla="*/ 486592 h 807449"/>
              <a:gd name="connsiteX6-127" fmla="*/ 12187 w 1035535"/>
              <a:gd name="connsiteY6-128" fmla="*/ 0 h 807449"/>
              <a:gd name="connsiteX0-129" fmla="*/ 1016121 w 1035535"/>
              <a:gd name="connsiteY0-130" fmla="*/ 13335 h 807449"/>
              <a:gd name="connsiteX1-131" fmla="*/ 619488 w 1035535"/>
              <a:gd name="connsiteY1-132" fmla="*/ 481830 h 807449"/>
              <a:gd name="connsiteX2-133" fmla="*/ 1035535 w 1035535"/>
              <a:gd name="connsiteY2-134" fmla="*/ 481830 h 807449"/>
              <a:gd name="connsiteX3-135" fmla="*/ 517768 w 1035535"/>
              <a:gd name="connsiteY3-136" fmla="*/ 807449 h 807449"/>
              <a:gd name="connsiteX4-137" fmla="*/ 0 w 1035535"/>
              <a:gd name="connsiteY4-138" fmla="*/ 481830 h 807449"/>
              <a:gd name="connsiteX5-139" fmla="*/ 392234 w 1035535"/>
              <a:gd name="connsiteY5-140" fmla="*/ 486592 h 807449"/>
              <a:gd name="connsiteX6-141" fmla="*/ 12187 w 1035535"/>
              <a:gd name="connsiteY6-142" fmla="*/ 0 h 807449"/>
              <a:gd name="connsiteX0-143" fmla="*/ 1044696 w 1044696"/>
              <a:gd name="connsiteY0-144" fmla="*/ 0 h 832214"/>
              <a:gd name="connsiteX1-145" fmla="*/ 619488 w 1044696"/>
              <a:gd name="connsiteY1-146" fmla="*/ 506595 h 832214"/>
              <a:gd name="connsiteX2-147" fmla="*/ 1035535 w 1044696"/>
              <a:gd name="connsiteY2-148" fmla="*/ 506595 h 832214"/>
              <a:gd name="connsiteX3-149" fmla="*/ 517768 w 1044696"/>
              <a:gd name="connsiteY3-150" fmla="*/ 832214 h 832214"/>
              <a:gd name="connsiteX4-151" fmla="*/ 0 w 1044696"/>
              <a:gd name="connsiteY4-152" fmla="*/ 506595 h 832214"/>
              <a:gd name="connsiteX5-153" fmla="*/ 392234 w 1044696"/>
              <a:gd name="connsiteY5-154" fmla="*/ 511357 h 832214"/>
              <a:gd name="connsiteX6-155" fmla="*/ 12187 w 1044696"/>
              <a:gd name="connsiteY6-156" fmla="*/ 24765 h 832214"/>
              <a:gd name="connsiteX0-157" fmla="*/ 1032509 w 1032509"/>
              <a:gd name="connsiteY0-158" fmla="*/ 0 h 832214"/>
              <a:gd name="connsiteX1-159" fmla="*/ 607301 w 1032509"/>
              <a:gd name="connsiteY1-160" fmla="*/ 506595 h 832214"/>
              <a:gd name="connsiteX2-161" fmla="*/ 1023348 w 1032509"/>
              <a:gd name="connsiteY2-162" fmla="*/ 506595 h 832214"/>
              <a:gd name="connsiteX3-163" fmla="*/ 505581 w 1032509"/>
              <a:gd name="connsiteY3-164" fmla="*/ 832214 h 832214"/>
              <a:gd name="connsiteX4-165" fmla="*/ 237844 w 1032509"/>
              <a:gd name="connsiteY4-166" fmla="*/ 508976 h 832214"/>
              <a:gd name="connsiteX5-167" fmla="*/ 380047 w 1032509"/>
              <a:gd name="connsiteY5-168" fmla="*/ 511357 h 832214"/>
              <a:gd name="connsiteX6-169" fmla="*/ 0 w 1032509"/>
              <a:gd name="connsiteY6-170" fmla="*/ 24765 h 832214"/>
              <a:gd name="connsiteX0-171" fmla="*/ 1032509 w 1032509"/>
              <a:gd name="connsiteY0-172" fmla="*/ 0 h 832214"/>
              <a:gd name="connsiteX1-173" fmla="*/ 607301 w 1032509"/>
              <a:gd name="connsiteY1-174" fmla="*/ 506595 h 832214"/>
              <a:gd name="connsiteX2-175" fmla="*/ 804276 w 1032509"/>
              <a:gd name="connsiteY2-176" fmla="*/ 513741 h 832214"/>
              <a:gd name="connsiteX3-177" fmla="*/ 505581 w 1032509"/>
              <a:gd name="connsiteY3-178" fmla="*/ 832214 h 832214"/>
              <a:gd name="connsiteX4-179" fmla="*/ 237844 w 1032509"/>
              <a:gd name="connsiteY4-180" fmla="*/ 508976 h 832214"/>
              <a:gd name="connsiteX5-181" fmla="*/ 380047 w 1032509"/>
              <a:gd name="connsiteY5-182" fmla="*/ 511357 h 832214"/>
              <a:gd name="connsiteX6-183" fmla="*/ 0 w 1032509"/>
              <a:gd name="connsiteY6-184" fmla="*/ 24765 h 832214"/>
              <a:gd name="connsiteX0-185" fmla="*/ 1032509 w 1032509"/>
              <a:gd name="connsiteY0-186" fmla="*/ 0 h 722679"/>
              <a:gd name="connsiteX1-187" fmla="*/ 607301 w 1032509"/>
              <a:gd name="connsiteY1-188" fmla="*/ 506595 h 722679"/>
              <a:gd name="connsiteX2-189" fmla="*/ 804276 w 1032509"/>
              <a:gd name="connsiteY2-190" fmla="*/ 513741 h 722679"/>
              <a:gd name="connsiteX3-191" fmla="*/ 507965 w 1032509"/>
              <a:gd name="connsiteY3-192" fmla="*/ 722679 h 722679"/>
              <a:gd name="connsiteX4-193" fmla="*/ 237844 w 1032509"/>
              <a:gd name="connsiteY4-194" fmla="*/ 508976 h 722679"/>
              <a:gd name="connsiteX5-195" fmla="*/ 380047 w 1032509"/>
              <a:gd name="connsiteY5-196" fmla="*/ 511357 h 722679"/>
              <a:gd name="connsiteX6-197" fmla="*/ 0 w 1032509"/>
              <a:gd name="connsiteY6-198" fmla="*/ 24765 h 722679"/>
              <a:gd name="connsiteX0-199" fmla="*/ 1032509 w 1032509"/>
              <a:gd name="connsiteY0-200" fmla="*/ 0 h 722679"/>
              <a:gd name="connsiteX1-201" fmla="*/ 607301 w 1032509"/>
              <a:gd name="connsiteY1-202" fmla="*/ 506595 h 722679"/>
              <a:gd name="connsiteX2-203" fmla="*/ 804276 w 1032509"/>
              <a:gd name="connsiteY2-204" fmla="*/ 513741 h 722679"/>
              <a:gd name="connsiteX3-205" fmla="*/ 498440 w 1032509"/>
              <a:gd name="connsiteY3-206" fmla="*/ 722679 h 722679"/>
              <a:gd name="connsiteX4-207" fmla="*/ 237844 w 1032509"/>
              <a:gd name="connsiteY4-208" fmla="*/ 508976 h 722679"/>
              <a:gd name="connsiteX5-209" fmla="*/ 380047 w 1032509"/>
              <a:gd name="connsiteY5-210" fmla="*/ 511357 h 722679"/>
              <a:gd name="connsiteX6-211" fmla="*/ 0 w 1032509"/>
              <a:gd name="connsiteY6-212" fmla="*/ 24765 h 722679"/>
              <a:gd name="connsiteX0-213" fmla="*/ 1032509 w 1032509"/>
              <a:gd name="connsiteY0-214" fmla="*/ 0 h 722679"/>
              <a:gd name="connsiteX1-215" fmla="*/ 607301 w 1032509"/>
              <a:gd name="connsiteY1-216" fmla="*/ 506595 h 722679"/>
              <a:gd name="connsiteX2-217" fmla="*/ 792369 w 1032509"/>
              <a:gd name="connsiteY2-218" fmla="*/ 515732 h 722679"/>
              <a:gd name="connsiteX3-219" fmla="*/ 498440 w 1032509"/>
              <a:gd name="connsiteY3-220" fmla="*/ 722679 h 722679"/>
              <a:gd name="connsiteX4-221" fmla="*/ 237844 w 1032509"/>
              <a:gd name="connsiteY4-222" fmla="*/ 508976 h 722679"/>
              <a:gd name="connsiteX5-223" fmla="*/ 380047 w 1032509"/>
              <a:gd name="connsiteY5-224" fmla="*/ 511357 h 722679"/>
              <a:gd name="connsiteX6-225" fmla="*/ 0 w 1032509"/>
              <a:gd name="connsiteY6-226" fmla="*/ 24765 h 722679"/>
              <a:gd name="connsiteX0-227" fmla="*/ 1032509 w 1032509"/>
              <a:gd name="connsiteY0-228" fmla="*/ 0 h 720688"/>
              <a:gd name="connsiteX1-229" fmla="*/ 607301 w 1032509"/>
              <a:gd name="connsiteY1-230" fmla="*/ 506595 h 720688"/>
              <a:gd name="connsiteX2-231" fmla="*/ 792369 w 1032509"/>
              <a:gd name="connsiteY2-232" fmla="*/ 515732 h 720688"/>
              <a:gd name="connsiteX3-233" fmla="*/ 503202 w 1032509"/>
              <a:gd name="connsiteY3-234" fmla="*/ 720688 h 720688"/>
              <a:gd name="connsiteX4-235" fmla="*/ 237844 w 1032509"/>
              <a:gd name="connsiteY4-236" fmla="*/ 508976 h 720688"/>
              <a:gd name="connsiteX5-237" fmla="*/ 380047 w 1032509"/>
              <a:gd name="connsiteY5-238" fmla="*/ 511357 h 720688"/>
              <a:gd name="connsiteX6-239" fmla="*/ 0 w 1032509"/>
              <a:gd name="connsiteY6-240" fmla="*/ 24765 h 720688"/>
              <a:gd name="connsiteX0-241" fmla="*/ 1044414 w 1044414"/>
              <a:gd name="connsiteY0-242" fmla="*/ 0 h 720688"/>
              <a:gd name="connsiteX1-243" fmla="*/ 619206 w 1044414"/>
              <a:gd name="connsiteY1-244" fmla="*/ 506595 h 720688"/>
              <a:gd name="connsiteX2-245" fmla="*/ 804274 w 1044414"/>
              <a:gd name="connsiteY2-246" fmla="*/ 515732 h 720688"/>
              <a:gd name="connsiteX3-247" fmla="*/ 515107 w 1044414"/>
              <a:gd name="connsiteY3-248" fmla="*/ 720688 h 720688"/>
              <a:gd name="connsiteX4-249" fmla="*/ 249749 w 1044414"/>
              <a:gd name="connsiteY4-250" fmla="*/ 508976 h 720688"/>
              <a:gd name="connsiteX5-251" fmla="*/ 391952 w 1044414"/>
              <a:gd name="connsiteY5-252" fmla="*/ 511357 h 720688"/>
              <a:gd name="connsiteX6-253" fmla="*/ 0 w 1044414"/>
              <a:gd name="connsiteY6-254" fmla="*/ 4852 h 720688"/>
              <a:gd name="connsiteX0-255" fmla="*/ 1082514 w 1082514"/>
              <a:gd name="connsiteY0-256" fmla="*/ 0 h 722679"/>
              <a:gd name="connsiteX1-257" fmla="*/ 619206 w 1082514"/>
              <a:gd name="connsiteY1-258" fmla="*/ 508586 h 722679"/>
              <a:gd name="connsiteX2-259" fmla="*/ 804274 w 1082514"/>
              <a:gd name="connsiteY2-260" fmla="*/ 517723 h 722679"/>
              <a:gd name="connsiteX3-261" fmla="*/ 515107 w 1082514"/>
              <a:gd name="connsiteY3-262" fmla="*/ 722679 h 722679"/>
              <a:gd name="connsiteX4-263" fmla="*/ 249749 w 1082514"/>
              <a:gd name="connsiteY4-264" fmla="*/ 510967 h 722679"/>
              <a:gd name="connsiteX5-265" fmla="*/ 391952 w 1082514"/>
              <a:gd name="connsiteY5-266" fmla="*/ 513348 h 722679"/>
              <a:gd name="connsiteX6-267" fmla="*/ 0 w 1082514"/>
              <a:gd name="connsiteY6-268" fmla="*/ 6843 h 722679"/>
              <a:gd name="connsiteX0-269" fmla="*/ 1082514 w 1082514"/>
              <a:gd name="connsiteY0-270" fmla="*/ 0 h 724672"/>
              <a:gd name="connsiteX1-271" fmla="*/ 619206 w 1082514"/>
              <a:gd name="connsiteY1-272" fmla="*/ 508586 h 724672"/>
              <a:gd name="connsiteX2-273" fmla="*/ 804274 w 1082514"/>
              <a:gd name="connsiteY2-274" fmla="*/ 517723 h 724672"/>
              <a:gd name="connsiteX3-275" fmla="*/ 534160 w 1082514"/>
              <a:gd name="connsiteY3-276" fmla="*/ 724672 h 724672"/>
              <a:gd name="connsiteX4-277" fmla="*/ 249749 w 1082514"/>
              <a:gd name="connsiteY4-278" fmla="*/ 510967 h 724672"/>
              <a:gd name="connsiteX5-279" fmla="*/ 391952 w 1082514"/>
              <a:gd name="connsiteY5-280" fmla="*/ 513348 h 724672"/>
              <a:gd name="connsiteX6-281" fmla="*/ 0 w 1082514"/>
              <a:gd name="connsiteY6-282" fmla="*/ 6843 h 724672"/>
              <a:gd name="connsiteX0-283" fmla="*/ 1082514 w 1082514"/>
              <a:gd name="connsiteY0-284" fmla="*/ 0 h 724672"/>
              <a:gd name="connsiteX1-285" fmla="*/ 619206 w 1082514"/>
              <a:gd name="connsiteY1-286" fmla="*/ 508586 h 724672"/>
              <a:gd name="connsiteX2-287" fmla="*/ 804274 w 1082514"/>
              <a:gd name="connsiteY2-288" fmla="*/ 517723 h 724672"/>
              <a:gd name="connsiteX3-289" fmla="*/ 534160 w 1082514"/>
              <a:gd name="connsiteY3-290" fmla="*/ 724672 h 724672"/>
              <a:gd name="connsiteX4-291" fmla="*/ 249749 w 1082514"/>
              <a:gd name="connsiteY4-292" fmla="*/ 510967 h 724672"/>
              <a:gd name="connsiteX5-293" fmla="*/ 380046 w 1082514"/>
              <a:gd name="connsiteY5-294" fmla="*/ 533263 h 724672"/>
              <a:gd name="connsiteX6-295" fmla="*/ 0 w 1082514"/>
              <a:gd name="connsiteY6-296" fmla="*/ 6843 h 724672"/>
              <a:gd name="connsiteX0-297" fmla="*/ 1082514 w 1082514"/>
              <a:gd name="connsiteY0-298" fmla="*/ 0 h 724672"/>
              <a:gd name="connsiteX1-299" fmla="*/ 619206 w 1082514"/>
              <a:gd name="connsiteY1-300" fmla="*/ 508586 h 724672"/>
              <a:gd name="connsiteX2-301" fmla="*/ 804274 w 1082514"/>
              <a:gd name="connsiteY2-302" fmla="*/ 517723 h 724672"/>
              <a:gd name="connsiteX3-303" fmla="*/ 534160 w 1082514"/>
              <a:gd name="connsiteY3-304" fmla="*/ 724672 h 724672"/>
              <a:gd name="connsiteX4-305" fmla="*/ 249749 w 1082514"/>
              <a:gd name="connsiteY4-306" fmla="*/ 510967 h 724672"/>
              <a:gd name="connsiteX5-307" fmla="*/ 380046 w 1082514"/>
              <a:gd name="connsiteY5-308" fmla="*/ 533263 h 724672"/>
              <a:gd name="connsiteX6-309" fmla="*/ 0 w 1082514"/>
              <a:gd name="connsiteY6-310" fmla="*/ 6843 h 724672"/>
              <a:gd name="connsiteX0-311" fmla="*/ 1082514 w 1082514"/>
              <a:gd name="connsiteY0-312" fmla="*/ 0 h 724672"/>
              <a:gd name="connsiteX1-313" fmla="*/ 619206 w 1082514"/>
              <a:gd name="connsiteY1-314" fmla="*/ 508586 h 724672"/>
              <a:gd name="connsiteX2-315" fmla="*/ 804274 w 1082514"/>
              <a:gd name="connsiteY2-316" fmla="*/ 517723 h 724672"/>
              <a:gd name="connsiteX3-317" fmla="*/ 534160 w 1082514"/>
              <a:gd name="connsiteY3-318" fmla="*/ 724672 h 724672"/>
              <a:gd name="connsiteX4-319" fmla="*/ 249749 w 1082514"/>
              <a:gd name="connsiteY4-320" fmla="*/ 510967 h 724672"/>
              <a:gd name="connsiteX5-321" fmla="*/ 380046 w 1082514"/>
              <a:gd name="connsiteY5-322" fmla="*/ 533263 h 724672"/>
              <a:gd name="connsiteX6-323" fmla="*/ 0 w 1082514"/>
              <a:gd name="connsiteY6-324" fmla="*/ 6843 h 724672"/>
              <a:gd name="connsiteX0-325" fmla="*/ 1082514 w 1082514"/>
              <a:gd name="connsiteY0-326" fmla="*/ 0 h 724672"/>
              <a:gd name="connsiteX1-327" fmla="*/ 619206 w 1082514"/>
              <a:gd name="connsiteY1-328" fmla="*/ 508586 h 724672"/>
              <a:gd name="connsiteX2-329" fmla="*/ 804274 w 1082514"/>
              <a:gd name="connsiteY2-330" fmla="*/ 517723 h 724672"/>
              <a:gd name="connsiteX3-331" fmla="*/ 534160 w 1082514"/>
              <a:gd name="connsiteY3-332" fmla="*/ 724672 h 724672"/>
              <a:gd name="connsiteX4-333" fmla="*/ 233080 w 1082514"/>
              <a:gd name="connsiteY4-334" fmla="*/ 526899 h 724672"/>
              <a:gd name="connsiteX5-335" fmla="*/ 380046 w 1082514"/>
              <a:gd name="connsiteY5-336" fmla="*/ 533263 h 724672"/>
              <a:gd name="connsiteX6-337" fmla="*/ 0 w 1082514"/>
              <a:gd name="connsiteY6-338" fmla="*/ 6843 h 724672"/>
              <a:gd name="connsiteX0-339" fmla="*/ 1082514 w 1082514"/>
              <a:gd name="connsiteY0-340" fmla="*/ 0 h 724672"/>
              <a:gd name="connsiteX1-341" fmla="*/ 619206 w 1082514"/>
              <a:gd name="connsiteY1-342" fmla="*/ 508586 h 724672"/>
              <a:gd name="connsiteX2-343" fmla="*/ 804274 w 1082514"/>
              <a:gd name="connsiteY2-344" fmla="*/ 517723 h 724672"/>
              <a:gd name="connsiteX3-345" fmla="*/ 534160 w 1082514"/>
              <a:gd name="connsiteY3-346" fmla="*/ 724672 h 724672"/>
              <a:gd name="connsiteX4-347" fmla="*/ 237842 w 1082514"/>
              <a:gd name="connsiteY4-348" fmla="*/ 532873 h 724672"/>
              <a:gd name="connsiteX5-349" fmla="*/ 380046 w 1082514"/>
              <a:gd name="connsiteY5-350" fmla="*/ 533263 h 724672"/>
              <a:gd name="connsiteX6-351" fmla="*/ 0 w 1082514"/>
              <a:gd name="connsiteY6-352" fmla="*/ 6843 h 724672"/>
              <a:gd name="connsiteX0-353" fmla="*/ 1082514 w 1082514"/>
              <a:gd name="connsiteY0-354" fmla="*/ 0 h 724672"/>
              <a:gd name="connsiteX1-355" fmla="*/ 690644 w 1082514"/>
              <a:gd name="connsiteY1-356" fmla="*/ 532484 h 724672"/>
              <a:gd name="connsiteX2-357" fmla="*/ 804274 w 1082514"/>
              <a:gd name="connsiteY2-358" fmla="*/ 517723 h 724672"/>
              <a:gd name="connsiteX3-359" fmla="*/ 534160 w 1082514"/>
              <a:gd name="connsiteY3-360" fmla="*/ 724672 h 724672"/>
              <a:gd name="connsiteX4-361" fmla="*/ 237842 w 1082514"/>
              <a:gd name="connsiteY4-362" fmla="*/ 532873 h 724672"/>
              <a:gd name="connsiteX5-363" fmla="*/ 380046 w 1082514"/>
              <a:gd name="connsiteY5-364" fmla="*/ 533263 h 724672"/>
              <a:gd name="connsiteX6-365" fmla="*/ 0 w 1082514"/>
              <a:gd name="connsiteY6-366" fmla="*/ 6843 h 724672"/>
              <a:gd name="connsiteX0-367" fmla="*/ 1082514 w 1082514"/>
              <a:gd name="connsiteY0-368" fmla="*/ 0 h 724672"/>
              <a:gd name="connsiteX1-369" fmla="*/ 690644 w 1082514"/>
              <a:gd name="connsiteY1-370" fmla="*/ 532484 h 724672"/>
              <a:gd name="connsiteX2-371" fmla="*/ 804274 w 1082514"/>
              <a:gd name="connsiteY2-372" fmla="*/ 517723 h 724672"/>
              <a:gd name="connsiteX3-373" fmla="*/ 534160 w 1082514"/>
              <a:gd name="connsiteY3-374" fmla="*/ 724672 h 724672"/>
              <a:gd name="connsiteX4-375" fmla="*/ 237842 w 1082514"/>
              <a:gd name="connsiteY4-376" fmla="*/ 532873 h 724672"/>
              <a:gd name="connsiteX5-377" fmla="*/ 380046 w 1082514"/>
              <a:gd name="connsiteY5-378" fmla="*/ 533263 h 724672"/>
              <a:gd name="connsiteX6-379" fmla="*/ 0 w 1082514"/>
              <a:gd name="connsiteY6-380" fmla="*/ 6843 h 724672"/>
              <a:gd name="connsiteX0-381" fmla="*/ 1082514 w 1082514"/>
              <a:gd name="connsiteY0-382" fmla="*/ 0 h 724672"/>
              <a:gd name="connsiteX1-383" fmla="*/ 690644 w 1082514"/>
              <a:gd name="connsiteY1-384" fmla="*/ 532484 h 724672"/>
              <a:gd name="connsiteX2-385" fmla="*/ 830468 w 1082514"/>
              <a:gd name="connsiteY2-386" fmla="*/ 531664 h 724672"/>
              <a:gd name="connsiteX3-387" fmla="*/ 534160 w 1082514"/>
              <a:gd name="connsiteY3-388" fmla="*/ 724672 h 724672"/>
              <a:gd name="connsiteX4-389" fmla="*/ 237842 w 1082514"/>
              <a:gd name="connsiteY4-390" fmla="*/ 532873 h 724672"/>
              <a:gd name="connsiteX5-391" fmla="*/ 380046 w 1082514"/>
              <a:gd name="connsiteY5-392" fmla="*/ 533263 h 724672"/>
              <a:gd name="connsiteX6-393" fmla="*/ 0 w 1082514"/>
              <a:gd name="connsiteY6-394" fmla="*/ 6843 h 724672"/>
              <a:gd name="connsiteX0-395" fmla="*/ 1082514 w 1082514"/>
              <a:gd name="connsiteY0-396" fmla="*/ 0 h 724672"/>
              <a:gd name="connsiteX1-397" fmla="*/ 690644 w 1082514"/>
              <a:gd name="connsiteY1-398" fmla="*/ 532484 h 724672"/>
              <a:gd name="connsiteX2-399" fmla="*/ 830468 w 1082514"/>
              <a:gd name="connsiteY2-400" fmla="*/ 531664 h 724672"/>
              <a:gd name="connsiteX3-401" fmla="*/ 534160 w 1082514"/>
              <a:gd name="connsiteY3-402" fmla="*/ 724672 h 724672"/>
              <a:gd name="connsiteX4-403" fmla="*/ 237842 w 1082514"/>
              <a:gd name="connsiteY4-404" fmla="*/ 532873 h 724672"/>
              <a:gd name="connsiteX5-405" fmla="*/ 434815 w 1082514"/>
              <a:gd name="connsiteY5-406" fmla="*/ 533263 h 724672"/>
              <a:gd name="connsiteX6-407" fmla="*/ 0 w 1082514"/>
              <a:gd name="connsiteY6-408" fmla="*/ 6843 h 724672"/>
              <a:gd name="connsiteX0-409" fmla="*/ 1082514 w 1082514"/>
              <a:gd name="connsiteY0-410" fmla="*/ 0 h 724672"/>
              <a:gd name="connsiteX1-411" fmla="*/ 690644 w 1082514"/>
              <a:gd name="connsiteY1-412" fmla="*/ 532484 h 724672"/>
              <a:gd name="connsiteX2-413" fmla="*/ 830468 w 1082514"/>
              <a:gd name="connsiteY2-414" fmla="*/ 531664 h 724672"/>
              <a:gd name="connsiteX3-415" fmla="*/ 534160 w 1082514"/>
              <a:gd name="connsiteY3-416" fmla="*/ 724672 h 724672"/>
              <a:gd name="connsiteX4-417" fmla="*/ 297373 w 1082514"/>
              <a:gd name="connsiteY4-418" fmla="*/ 532873 h 724672"/>
              <a:gd name="connsiteX5-419" fmla="*/ 434815 w 1082514"/>
              <a:gd name="connsiteY5-420" fmla="*/ 533263 h 724672"/>
              <a:gd name="connsiteX6-421" fmla="*/ 0 w 1082514"/>
              <a:gd name="connsiteY6-422" fmla="*/ 6843 h 724672"/>
              <a:gd name="connsiteX0-423" fmla="*/ 1082514 w 1082514"/>
              <a:gd name="connsiteY0-424" fmla="*/ 0 h 724672"/>
              <a:gd name="connsiteX1-425" fmla="*/ 690644 w 1082514"/>
              <a:gd name="connsiteY1-426" fmla="*/ 532484 h 724672"/>
              <a:gd name="connsiteX2-427" fmla="*/ 768555 w 1082514"/>
              <a:gd name="connsiteY2-428" fmla="*/ 531664 h 724672"/>
              <a:gd name="connsiteX3-429" fmla="*/ 534160 w 1082514"/>
              <a:gd name="connsiteY3-430" fmla="*/ 724672 h 724672"/>
              <a:gd name="connsiteX4-431" fmla="*/ 297373 w 1082514"/>
              <a:gd name="connsiteY4-432" fmla="*/ 532873 h 724672"/>
              <a:gd name="connsiteX5-433" fmla="*/ 434815 w 1082514"/>
              <a:gd name="connsiteY5-434" fmla="*/ 533263 h 724672"/>
              <a:gd name="connsiteX6-435" fmla="*/ 0 w 1082514"/>
              <a:gd name="connsiteY6-436" fmla="*/ 6843 h 724672"/>
              <a:gd name="connsiteX0-437" fmla="*/ 1082514 w 1082514"/>
              <a:gd name="connsiteY0-438" fmla="*/ 0 h 724672"/>
              <a:gd name="connsiteX1-439" fmla="*/ 638256 w 1082514"/>
              <a:gd name="connsiteY1-440" fmla="*/ 534476 h 724672"/>
              <a:gd name="connsiteX2-441" fmla="*/ 768555 w 1082514"/>
              <a:gd name="connsiteY2-442" fmla="*/ 531664 h 724672"/>
              <a:gd name="connsiteX3-443" fmla="*/ 534160 w 1082514"/>
              <a:gd name="connsiteY3-444" fmla="*/ 724672 h 724672"/>
              <a:gd name="connsiteX4-445" fmla="*/ 297373 w 1082514"/>
              <a:gd name="connsiteY4-446" fmla="*/ 532873 h 724672"/>
              <a:gd name="connsiteX5-447" fmla="*/ 434815 w 1082514"/>
              <a:gd name="connsiteY5-448" fmla="*/ 533263 h 724672"/>
              <a:gd name="connsiteX6-449" fmla="*/ 0 w 1082514"/>
              <a:gd name="connsiteY6-450" fmla="*/ 6843 h 7246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FFF2CC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FFD17D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网络管理技术背景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NETCONF</a:t>
            </a:r>
            <a:r>
              <a:rPr lang="zh-CN" altLang="en-US" b="1" dirty="0" smtClean="0">
                <a:sym typeface="Huawei Sans" panose="020C0503030203020204" pitchFamily="34" charset="0"/>
              </a:rPr>
              <a:t>协议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建模语言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2"/>
          <p:cNvSpPr/>
          <p:nvPr/>
        </p:nvSpPr>
        <p:spPr bwMode="gray">
          <a:xfrm>
            <a:off x="4155440" y="4661586"/>
            <a:ext cx="5892800" cy="1371331"/>
          </a:xfrm>
          <a:prstGeom prst="roundRect">
            <a:avLst>
              <a:gd name="adj" fmla="val 10000"/>
            </a:avLst>
          </a:prstGeom>
          <a:solidFill>
            <a:srgbClr val="BEE9EE"/>
          </a:solidFill>
          <a:ln w="19050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Rounded Rectangle 2"/>
          <p:cNvSpPr/>
          <p:nvPr/>
        </p:nvSpPr>
        <p:spPr bwMode="gray">
          <a:xfrm>
            <a:off x="5424762" y="2132218"/>
            <a:ext cx="3264083" cy="1020147"/>
          </a:xfrm>
          <a:prstGeom prst="roundRect">
            <a:avLst>
              <a:gd name="adj" fmla="val 10000"/>
            </a:avLst>
          </a:prstGeom>
          <a:solidFill>
            <a:srgbClr val="BEE9EE"/>
          </a:solidFill>
          <a:ln w="19050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简介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sym typeface="Huawei Sans" panose="020C0503030203020204" pitchFamily="34" charset="0"/>
              </a:rPr>
              <a:t>Network Configuration Protocol</a:t>
            </a:r>
            <a:r>
              <a:rPr lang="zh-CN" altLang="en-US" sz="1800" dirty="0">
                <a:sym typeface="Huawei Sans" panose="020C0503030203020204" pitchFamily="34" charset="0"/>
              </a:rPr>
              <a:t>）网络配置协议，提供一套管理网络设备的机制。用户可以使用这套机制增加、修改、删除网络设备的配置，获取网络设备的配置和状态信息。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 bwMode="gray">
          <a:xfrm>
            <a:off x="4398649" y="2283324"/>
            <a:ext cx="5478328" cy="3516937"/>
            <a:chOff x="3391845" y="2644250"/>
            <a:chExt cx="5478328" cy="3516937"/>
          </a:xfrm>
        </p:grpSpPr>
        <p:grpSp>
          <p:nvGrpSpPr>
            <p:cNvPr id="4" name="组合 3"/>
            <p:cNvGrpSpPr/>
            <p:nvPr/>
          </p:nvGrpSpPr>
          <p:grpSpPr bwMode="gray">
            <a:xfrm>
              <a:off x="3391845" y="5296409"/>
              <a:ext cx="2052228" cy="756084"/>
              <a:chOff x="5029012" y="5445224"/>
              <a:chExt cx="2076372" cy="756084"/>
            </a:xfrm>
          </p:grpSpPr>
          <p:sp>
            <p:nvSpPr>
              <p:cNvPr id="5" name="矩形 4"/>
              <p:cNvSpPr/>
              <p:nvPr/>
            </p:nvSpPr>
            <p:spPr bwMode="gray">
              <a:xfrm>
                <a:off x="5029012" y="5445224"/>
                <a:ext cx="2076372" cy="756084"/>
              </a:xfrm>
              <a:prstGeom prst="rect">
                <a:avLst/>
              </a:prstGeom>
              <a:solidFill>
                <a:srgbClr val="56C4D2"/>
              </a:solidFill>
              <a:ln w="9525" cap="flat" cmpd="sng" algn="ctr">
                <a:solidFill>
                  <a:srgbClr val="99DFF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" name="矩形: 圆角 5"/>
              <p:cNvSpPr/>
              <p:nvPr/>
            </p:nvSpPr>
            <p:spPr bwMode="gray">
              <a:xfrm>
                <a:off x="5195902" y="5517232"/>
                <a:ext cx="1800200" cy="360040"/>
              </a:xfrm>
              <a:prstGeom prst="roundRect">
                <a:avLst/>
              </a:prstGeom>
              <a:solidFill>
                <a:srgbClr val="FFFFCC"/>
              </a:solidFill>
              <a:ln w="9525" cap="flat" cmpd="sng" algn="ctr">
                <a:solidFill>
                  <a:srgbClr val="FFD17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NETCONF Server</a:t>
                </a: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 bwMode="gray">
              <a:xfrm>
                <a:off x="5757564" y="5889972"/>
                <a:ext cx="721107" cy="3041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Device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pic>
          <p:nvPicPr>
            <p:cNvPr id="8" name="图片 7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5804173" y="5358647"/>
              <a:ext cx="540000" cy="441818"/>
            </a:xfrm>
            <a:prstGeom prst="rect">
              <a:avLst/>
            </a:prstGeom>
          </p:spPr>
        </p:pic>
        <p:pic>
          <p:nvPicPr>
            <p:cNvPr id="9" name="图片 8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6920297" y="5351409"/>
              <a:ext cx="540000" cy="441818"/>
            </a:xfrm>
            <a:prstGeom prst="rect">
              <a:avLst/>
            </a:prstGeom>
          </p:spPr>
        </p:pic>
        <p:pic>
          <p:nvPicPr>
            <p:cNvPr id="10" name="图片 9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8108429" y="5351409"/>
              <a:ext cx="540000" cy="441818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 bwMode="gray">
            <a:xfrm>
              <a:off x="5696101" y="5857084"/>
              <a:ext cx="869816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Device 1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 bwMode="gray">
            <a:xfrm>
              <a:off x="6812225" y="5857084"/>
              <a:ext cx="869816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Device 2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 bwMode="gray">
            <a:xfrm>
              <a:off x="8000357" y="5857084"/>
              <a:ext cx="869816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Device 3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5" name="直接连接符 14"/>
            <p:cNvCxnSpPr>
              <a:endCxn id="8" idx="0"/>
            </p:cNvCxnSpPr>
            <p:nvPr/>
          </p:nvCxnSpPr>
          <p:spPr bwMode="gray">
            <a:xfrm>
              <a:off x="5934042" y="4917257"/>
              <a:ext cx="140131" cy="4413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>
              <a:endCxn id="9" idx="0"/>
            </p:cNvCxnSpPr>
            <p:nvPr/>
          </p:nvCxnSpPr>
          <p:spPr bwMode="gray">
            <a:xfrm>
              <a:off x="5912125" y="4576329"/>
              <a:ext cx="1278172" cy="7750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>
              <a:endCxn id="10" idx="0"/>
            </p:cNvCxnSpPr>
            <p:nvPr/>
          </p:nvCxnSpPr>
          <p:spPr bwMode="gray">
            <a:xfrm>
              <a:off x="6438098" y="4676957"/>
              <a:ext cx="1940331" cy="6744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8" name="组合 17"/>
            <p:cNvGrpSpPr/>
            <p:nvPr/>
          </p:nvGrpSpPr>
          <p:grpSpPr bwMode="gray">
            <a:xfrm>
              <a:off x="5429986" y="4244706"/>
              <a:ext cx="1008112" cy="633001"/>
              <a:chOff x="8508268" y="3933056"/>
              <a:chExt cx="1008112" cy="633001"/>
            </a:xfrm>
          </p:grpSpPr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8508268" y="3933056"/>
                <a:ext cx="1008112" cy="633001"/>
              </a:xfrm>
              <a:prstGeom prst="rect">
                <a:avLst/>
              </a:prstGeom>
              <a:ln>
                <a:solidFill>
                  <a:srgbClr val="F4FBFE"/>
                </a:solidFill>
              </a:ln>
            </p:spPr>
          </p:pic>
          <p:sp>
            <p:nvSpPr>
              <p:cNvPr id="20" name="文本框 19"/>
              <p:cNvSpPr txBox="1"/>
              <p:nvPr/>
            </p:nvSpPr>
            <p:spPr bwMode="gray">
              <a:xfrm>
                <a:off x="8592921" y="4109137"/>
                <a:ext cx="882640" cy="3041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Network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pic>
          <p:nvPicPr>
            <p:cNvPr id="21" name="图片 20" descr="大型网管-蓝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156041" y="2644250"/>
              <a:ext cx="540000" cy="441818"/>
            </a:xfrm>
            <a:prstGeom prst="rect">
              <a:avLst/>
            </a:prstGeom>
          </p:spPr>
        </p:pic>
        <p:pic>
          <p:nvPicPr>
            <p:cNvPr id="22" name="图片 21" descr="交换机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 bwMode="gray">
            <a:xfrm>
              <a:off x="6272165" y="2644250"/>
              <a:ext cx="539997" cy="441815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 bwMode="gray">
            <a:xfrm>
              <a:off x="5047245" y="3108909"/>
              <a:ext cx="895464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管理平台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 bwMode="gray">
            <a:xfrm>
              <a:off x="6092145" y="3108909"/>
              <a:ext cx="1079810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SDN</a:t>
              </a:r>
              <a:r>
                <a:rPr lang="zh-CN" altLang="en-US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控制器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2" name="组合 31"/>
            <p:cNvGrpSpPr/>
            <p:nvPr/>
          </p:nvGrpSpPr>
          <p:grpSpPr bwMode="gray">
            <a:xfrm>
              <a:off x="5606091" y="3944987"/>
              <a:ext cx="612068" cy="301651"/>
              <a:chOff x="5762452" y="3789834"/>
              <a:chExt cx="612068" cy="396044"/>
            </a:xfrm>
          </p:grpSpPr>
          <p:sp>
            <p:nvSpPr>
              <p:cNvPr id="25" name="箭头: 下 24"/>
              <p:cNvSpPr/>
              <p:nvPr/>
            </p:nvSpPr>
            <p:spPr bwMode="gray">
              <a:xfrm>
                <a:off x="5762452" y="3825838"/>
                <a:ext cx="216024" cy="360040"/>
              </a:xfrm>
              <a:prstGeom prst="downArrow">
                <a:avLst/>
              </a:prstGeom>
              <a:solidFill>
                <a:srgbClr val="94DAE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6" name="箭头: 上 25"/>
              <p:cNvSpPr/>
              <p:nvPr/>
            </p:nvSpPr>
            <p:spPr bwMode="gray">
              <a:xfrm>
                <a:off x="6158496" y="3789834"/>
                <a:ext cx="216024" cy="360040"/>
              </a:xfrm>
              <a:prstGeom prst="upArrow">
                <a:avLst/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27" name="直接连接符 26"/>
            <p:cNvCxnSpPr>
              <a:endCxn id="5" idx="0"/>
            </p:cNvCxnSpPr>
            <p:nvPr/>
          </p:nvCxnSpPr>
          <p:spPr bwMode="gray">
            <a:xfrm flipH="1">
              <a:off x="4417959" y="4676957"/>
              <a:ext cx="1012027" cy="6194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矩形: 圆角 27"/>
            <p:cNvSpPr/>
            <p:nvPr/>
          </p:nvSpPr>
          <p:spPr bwMode="gray">
            <a:xfrm>
              <a:off x="5281904" y="3563876"/>
              <a:ext cx="1392177" cy="331897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solidFill>
                <a:srgbClr val="FFD1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2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 Client</a:t>
              </a:r>
              <a:endParaRPr kumimoji="0" lang="zh-CN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 bwMode="gray">
            <a:xfrm>
              <a:off x="4273943" y="4344947"/>
              <a:ext cx="1156043" cy="30410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squar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4" name="文本框 33"/>
          <p:cNvSpPr txBox="1"/>
          <p:nvPr/>
        </p:nvSpPr>
        <p:spPr bwMode="gray">
          <a:xfrm>
            <a:off x="788865" y="2048152"/>
            <a:ext cx="2742540" cy="16681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6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有三个对象：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60000"/>
              </a:lnSpc>
              <a:buFont typeface="Huawei Sans" panose="020C0503030203020204" pitchFamily="34" charset="0"/>
              <a:buChar char="▫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60000"/>
              </a:lnSpc>
              <a:buFont typeface="Huawei Sans" panose="020C0503030203020204" pitchFamily="34" charset="0"/>
              <a:buChar char="▫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60000"/>
              </a:lnSpc>
              <a:buFont typeface="Huawei Sans" panose="020C0503030203020204" pitchFamily="34" charset="0"/>
              <a:buChar char="▫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协议框架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协议在概念上可以划分为</a:t>
            </a:r>
            <a:r>
              <a:rPr lang="en-US" altLang="zh-CN" sz="1800" dirty="0">
                <a:sym typeface="Huawei Sans" panose="020C0503030203020204" pitchFamily="34" charset="0"/>
              </a:rPr>
              <a:t>4</a:t>
            </a:r>
            <a:r>
              <a:rPr lang="zh-CN" altLang="en-US" sz="1800" dirty="0">
                <a:sym typeface="Huawei Sans" panose="020C0503030203020204" pitchFamily="34" charset="0"/>
              </a:rPr>
              <a:t>层：安全传输层、消息层、操作层、内容层。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620266" y="1784171"/>
            <a:ext cx="5204844" cy="3592229"/>
            <a:chOff x="587449" y="2428875"/>
            <a:chExt cx="5204844" cy="3592229"/>
          </a:xfrm>
        </p:grpSpPr>
        <p:sp>
          <p:nvSpPr>
            <p:cNvPr id="95" name="矩形 1049"/>
            <p:cNvSpPr/>
            <p:nvPr/>
          </p:nvSpPr>
          <p:spPr bwMode="gray">
            <a:xfrm>
              <a:off x="587449" y="2648671"/>
              <a:ext cx="5204844" cy="522783"/>
            </a:xfrm>
            <a:custGeom>
              <a:avLst/>
              <a:gdLst>
                <a:gd name="connsiteX0" fmla="*/ 0 w 4340506"/>
                <a:gd name="connsiteY0" fmla="*/ 0 h 499923"/>
                <a:gd name="connsiteX1" fmla="*/ 4340506 w 4340506"/>
                <a:gd name="connsiteY1" fmla="*/ 0 h 499923"/>
                <a:gd name="connsiteX2" fmla="*/ 4340506 w 4340506"/>
                <a:gd name="connsiteY2" fmla="*/ 499923 h 499923"/>
                <a:gd name="connsiteX3" fmla="*/ 0 w 4340506"/>
                <a:gd name="connsiteY3" fmla="*/ 499923 h 499923"/>
                <a:gd name="connsiteX4" fmla="*/ 0 w 4340506"/>
                <a:gd name="connsiteY4" fmla="*/ 0 h 499923"/>
                <a:gd name="connsiteX0-1" fmla="*/ 167640 w 4340506"/>
                <a:gd name="connsiteY0-2" fmla="*/ 15240 h 499923"/>
                <a:gd name="connsiteX1-3" fmla="*/ 4340506 w 4340506"/>
                <a:gd name="connsiteY1-4" fmla="*/ 0 h 499923"/>
                <a:gd name="connsiteX2-5" fmla="*/ 4340506 w 4340506"/>
                <a:gd name="connsiteY2-6" fmla="*/ 499923 h 499923"/>
                <a:gd name="connsiteX3-7" fmla="*/ 0 w 4340506"/>
                <a:gd name="connsiteY3-8" fmla="*/ 499923 h 499923"/>
                <a:gd name="connsiteX4-9" fmla="*/ 167640 w 4340506"/>
                <a:gd name="connsiteY4-10" fmla="*/ 15240 h 499923"/>
                <a:gd name="connsiteX0-11" fmla="*/ 617220 w 4790086"/>
                <a:gd name="connsiteY0-12" fmla="*/ 15240 h 515163"/>
                <a:gd name="connsiteX1-13" fmla="*/ 4790086 w 4790086"/>
                <a:gd name="connsiteY1-14" fmla="*/ 0 h 515163"/>
                <a:gd name="connsiteX2-15" fmla="*/ 4790086 w 4790086"/>
                <a:gd name="connsiteY2-16" fmla="*/ 499923 h 515163"/>
                <a:gd name="connsiteX3-17" fmla="*/ 0 w 4790086"/>
                <a:gd name="connsiteY3-18" fmla="*/ 515163 h 515163"/>
                <a:gd name="connsiteX4-19" fmla="*/ 617220 w 4790086"/>
                <a:gd name="connsiteY4-20" fmla="*/ 15240 h 515163"/>
                <a:gd name="connsiteX0-21" fmla="*/ 617220 w 4957726"/>
                <a:gd name="connsiteY0-22" fmla="*/ 22860 h 522783"/>
                <a:gd name="connsiteX1-23" fmla="*/ 4957726 w 4957726"/>
                <a:gd name="connsiteY1-24" fmla="*/ 0 h 522783"/>
                <a:gd name="connsiteX2-25" fmla="*/ 4790086 w 4957726"/>
                <a:gd name="connsiteY2-26" fmla="*/ 507543 h 522783"/>
                <a:gd name="connsiteX3-27" fmla="*/ 0 w 4957726"/>
                <a:gd name="connsiteY3-28" fmla="*/ 522783 h 522783"/>
                <a:gd name="connsiteX4-29" fmla="*/ 617220 w 4957726"/>
                <a:gd name="connsiteY4-30" fmla="*/ 22860 h 522783"/>
                <a:gd name="connsiteX0-31" fmla="*/ 617220 w 4957726"/>
                <a:gd name="connsiteY0-32" fmla="*/ 22860 h 522783"/>
                <a:gd name="connsiteX1-33" fmla="*/ 4957726 w 4957726"/>
                <a:gd name="connsiteY1-34" fmla="*/ 0 h 522783"/>
                <a:gd name="connsiteX2-35" fmla="*/ 4340506 w 4957726"/>
                <a:gd name="connsiteY2-36" fmla="*/ 507543 h 522783"/>
                <a:gd name="connsiteX3-37" fmla="*/ 0 w 4957726"/>
                <a:gd name="connsiteY3-38" fmla="*/ 522783 h 522783"/>
                <a:gd name="connsiteX4-39" fmla="*/ 617220 w 4957726"/>
                <a:gd name="connsiteY4-40" fmla="*/ 22860 h 522783"/>
                <a:gd name="connsiteX0-41" fmla="*/ 712470 w 4957726"/>
                <a:gd name="connsiteY0-42" fmla="*/ 22860 h 522783"/>
                <a:gd name="connsiteX1-43" fmla="*/ 4957726 w 4957726"/>
                <a:gd name="connsiteY1-44" fmla="*/ 0 h 522783"/>
                <a:gd name="connsiteX2-45" fmla="*/ 4340506 w 4957726"/>
                <a:gd name="connsiteY2-46" fmla="*/ 507543 h 522783"/>
                <a:gd name="connsiteX3-47" fmla="*/ 0 w 4957726"/>
                <a:gd name="connsiteY3-48" fmla="*/ 522783 h 522783"/>
                <a:gd name="connsiteX4-49" fmla="*/ 712470 w 4957726"/>
                <a:gd name="connsiteY4-50" fmla="*/ 22860 h 5227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957726" h="522783">
                  <a:moveTo>
                    <a:pt x="712470" y="22860"/>
                  </a:moveTo>
                  <a:lnTo>
                    <a:pt x="4957726" y="0"/>
                  </a:lnTo>
                  <a:lnTo>
                    <a:pt x="4340506" y="507543"/>
                  </a:lnTo>
                  <a:lnTo>
                    <a:pt x="0" y="522783"/>
                  </a:lnTo>
                  <a:lnTo>
                    <a:pt x="712470" y="2286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4" name="矩形 1049"/>
            <p:cNvSpPr/>
            <p:nvPr/>
          </p:nvSpPr>
          <p:spPr bwMode="gray">
            <a:xfrm>
              <a:off x="587449" y="3506540"/>
              <a:ext cx="5204844" cy="522783"/>
            </a:xfrm>
            <a:custGeom>
              <a:avLst/>
              <a:gdLst>
                <a:gd name="connsiteX0" fmla="*/ 0 w 4340506"/>
                <a:gd name="connsiteY0" fmla="*/ 0 h 499923"/>
                <a:gd name="connsiteX1" fmla="*/ 4340506 w 4340506"/>
                <a:gd name="connsiteY1" fmla="*/ 0 h 499923"/>
                <a:gd name="connsiteX2" fmla="*/ 4340506 w 4340506"/>
                <a:gd name="connsiteY2" fmla="*/ 499923 h 499923"/>
                <a:gd name="connsiteX3" fmla="*/ 0 w 4340506"/>
                <a:gd name="connsiteY3" fmla="*/ 499923 h 499923"/>
                <a:gd name="connsiteX4" fmla="*/ 0 w 4340506"/>
                <a:gd name="connsiteY4" fmla="*/ 0 h 499923"/>
                <a:gd name="connsiteX0-1" fmla="*/ 167640 w 4340506"/>
                <a:gd name="connsiteY0-2" fmla="*/ 15240 h 499923"/>
                <a:gd name="connsiteX1-3" fmla="*/ 4340506 w 4340506"/>
                <a:gd name="connsiteY1-4" fmla="*/ 0 h 499923"/>
                <a:gd name="connsiteX2-5" fmla="*/ 4340506 w 4340506"/>
                <a:gd name="connsiteY2-6" fmla="*/ 499923 h 499923"/>
                <a:gd name="connsiteX3-7" fmla="*/ 0 w 4340506"/>
                <a:gd name="connsiteY3-8" fmla="*/ 499923 h 499923"/>
                <a:gd name="connsiteX4-9" fmla="*/ 167640 w 4340506"/>
                <a:gd name="connsiteY4-10" fmla="*/ 15240 h 499923"/>
                <a:gd name="connsiteX0-11" fmla="*/ 617220 w 4790086"/>
                <a:gd name="connsiteY0-12" fmla="*/ 15240 h 515163"/>
                <a:gd name="connsiteX1-13" fmla="*/ 4790086 w 4790086"/>
                <a:gd name="connsiteY1-14" fmla="*/ 0 h 515163"/>
                <a:gd name="connsiteX2-15" fmla="*/ 4790086 w 4790086"/>
                <a:gd name="connsiteY2-16" fmla="*/ 499923 h 515163"/>
                <a:gd name="connsiteX3-17" fmla="*/ 0 w 4790086"/>
                <a:gd name="connsiteY3-18" fmla="*/ 515163 h 515163"/>
                <a:gd name="connsiteX4-19" fmla="*/ 617220 w 4790086"/>
                <a:gd name="connsiteY4-20" fmla="*/ 15240 h 515163"/>
                <a:gd name="connsiteX0-21" fmla="*/ 617220 w 4957726"/>
                <a:gd name="connsiteY0-22" fmla="*/ 22860 h 522783"/>
                <a:gd name="connsiteX1-23" fmla="*/ 4957726 w 4957726"/>
                <a:gd name="connsiteY1-24" fmla="*/ 0 h 522783"/>
                <a:gd name="connsiteX2-25" fmla="*/ 4790086 w 4957726"/>
                <a:gd name="connsiteY2-26" fmla="*/ 507543 h 522783"/>
                <a:gd name="connsiteX3-27" fmla="*/ 0 w 4957726"/>
                <a:gd name="connsiteY3-28" fmla="*/ 522783 h 522783"/>
                <a:gd name="connsiteX4-29" fmla="*/ 617220 w 4957726"/>
                <a:gd name="connsiteY4-30" fmla="*/ 22860 h 522783"/>
                <a:gd name="connsiteX0-31" fmla="*/ 617220 w 4957726"/>
                <a:gd name="connsiteY0-32" fmla="*/ 22860 h 522783"/>
                <a:gd name="connsiteX1-33" fmla="*/ 4957726 w 4957726"/>
                <a:gd name="connsiteY1-34" fmla="*/ 0 h 522783"/>
                <a:gd name="connsiteX2-35" fmla="*/ 4340506 w 4957726"/>
                <a:gd name="connsiteY2-36" fmla="*/ 507543 h 522783"/>
                <a:gd name="connsiteX3-37" fmla="*/ 0 w 4957726"/>
                <a:gd name="connsiteY3-38" fmla="*/ 522783 h 522783"/>
                <a:gd name="connsiteX4-39" fmla="*/ 617220 w 4957726"/>
                <a:gd name="connsiteY4-40" fmla="*/ 22860 h 522783"/>
                <a:gd name="connsiteX0-41" fmla="*/ 712470 w 4957726"/>
                <a:gd name="connsiteY0-42" fmla="*/ 22860 h 522783"/>
                <a:gd name="connsiteX1-43" fmla="*/ 4957726 w 4957726"/>
                <a:gd name="connsiteY1-44" fmla="*/ 0 h 522783"/>
                <a:gd name="connsiteX2-45" fmla="*/ 4340506 w 4957726"/>
                <a:gd name="connsiteY2-46" fmla="*/ 507543 h 522783"/>
                <a:gd name="connsiteX3-47" fmla="*/ 0 w 4957726"/>
                <a:gd name="connsiteY3-48" fmla="*/ 522783 h 522783"/>
                <a:gd name="connsiteX4-49" fmla="*/ 712470 w 4957726"/>
                <a:gd name="connsiteY4-50" fmla="*/ 22860 h 5227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957726" h="522783">
                  <a:moveTo>
                    <a:pt x="712470" y="22860"/>
                  </a:moveTo>
                  <a:lnTo>
                    <a:pt x="4957726" y="0"/>
                  </a:lnTo>
                  <a:lnTo>
                    <a:pt x="4340506" y="507543"/>
                  </a:lnTo>
                  <a:lnTo>
                    <a:pt x="0" y="522783"/>
                  </a:lnTo>
                  <a:lnTo>
                    <a:pt x="712470" y="2286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1" name="矩形 1049"/>
            <p:cNvSpPr/>
            <p:nvPr/>
          </p:nvSpPr>
          <p:spPr bwMode="gray">
            <a:xfrm>
              <a:off x="587449" y="4277678"/>
              <a:ext cx="5204844" cy="522783"/>
            </a:xfrm>
            <a:custGeom>
              <a:avLst/>
              <a:gdLst>
                <a:gd name="connsiteX0" fmla="*/ 0 w 4340506"/>
                <a:gd name="connsiteY0" fmla="*/ 0 h 499923"/>
                <a:gd name="connsiteX1" fmla="*/ 4340506 w 4340506"/>
                <a:gd name="connsiteY1" fmla="*/ 0 h 499923"/>
                <a:gd name="connsiteX2" fmla="*/ 4340506 w 4340506"/>
                <a:gd name="connsiteY2" fmla="*/ 499923 h 499923"/>
                <a:gd name="connsiteX3" fmla="*/ 0 w 4340506"/>
                <a:gd name="connsiteY3" fmla="*/ 499923 h 499923"/>
                <a:gd name="connsiteX4" fmla="*/ 0 w 4340506"/>
                <a:gd name="connsiteY4" fmla="*/ 0 h 499923"/>
                <a:gd name="connsiteX0-1" fmla="*/ 167640 w 4340506"/>
                <a:gd name="connsiteY0-2" fmla="*/ 15240 h 499923"/>
                <a:gd name="connsiteX1-3" fmla="*/ 4340506 w 4340506"/>
                <a:gd name="connsiteY1-4" fmla="*/ 0 h 499923"/>
                <a:gd name="connsiteX2-5" fmla="*/ 4340506 w 4340506"/>
                <a:gd name="connsiteY2-6" fmla="*/ 499923 h 499923"/>
                <a:gd name="connsiteX3-7" fmla="*/ 0 w 4340506"/>
                <a:gd name="connsiteY3-8" fmla="*/ 499923 h 499923"/>
                <a:gd name="connsiteX4-9" fmla="*/ 167640 w 4340506"/>
                <a:gd name="connsiteY4-10" fmla="*/ 15240 h 499923"/>
                <a:gd name="connsiteX0-11" fmla="*/ 617220 w 4790086"/>
                <a:gd name="connsiteY0-12" fmla="*/ 15240 h 515163"/>
                <a:gd name="connsiteX1-13" fmla="*/ 4790086 w 4790086"/>
                <a:gd name="connsiteY1-14" fmla="*/ 0 h 515163"/>
                <a:gd name="connsiteX2-15" fmla="*/ 4790086 w 4790086"/>
                <a:gd name="connsiteY2-16" fmla="*/ 499923 h 515163"/>
                <a:gd name="connsiteX3-17" fmla="*/ 0 w 4790086"/>
                <a:gd name="connsiteY3-18" fmla="*/ 515163 h 515163"/>
                <a:gd name="connsiteX4-19" fmla="*/ 617220 w 4790086"/>
                <a:gd name="connsiteY4-20" fmla="*/ 15240 h 515163"/>
                <a:gd name="connsiteX0-21" fmla="*/ 617220 w 4957726"/>
                <a:gd name="connsiteY0-22" fmla="*/ 22860 h 522783"/>
                <a:gd name="connsiteX1-23" fmla="*/ 4957726 w 4957726"/>
                <a:gd name="connsiteY1-24" fmla="*/ 0 h 522783"/>
                <a:gd name="connsiteX2-25" fmla="*/ 4790086 w 4957726"/>
                <a:gd name="connsiteY2-26" fmla="*/ 507543 h 522783"/>
                <a:gd name="connsiteX3-27" fmla="*/ 0 w 4957726"/>
                <a:gd name="connsiteY3-28" fmla="*/ 522783 h 522783"/>
                <a:gd name="connsiteX4-29" fmla="*/ 617220 w 4957726"/>
                <a:gd name="connsiteY4-30" fmla="*/ 22860 h 522783"/>
                <a:gd name="connsiteX0-31" fmla="*/ 617220 w 4957726"/>
                <a:gd name="connsiteY0-32" fmla="*/ 22860 h 522783"/>
                <a:gd name="connsiteX1-33" fmla="*/ 4957726 w 4957726"/>
                <a:gd name="connsiteY1-34" fmla="*/ 0 h 522783"/>
                <a:gd name="connsiteX2-35" fmla="*/ 4340506 w 4957726"/>
                <a:gd name="connsiteY2-36" fmla="*/ 507543 h 522783"/>
                <a:gd name="connsiteX3-37" fmla="*/ 0 w 4957726"/>
                <a:gd name="connsiteY3-38" fmla="*/ 522783 h 522783"/>
                <a:gd name="connsiteX4-39" fmla="*/ 617220 w 4957726"/>
                <a:gd name="connsiteY4-40" fmla="*/ 22860 h 522783"/>
                <a:gd name="connsiteX0-41" fmla="*/ 712470 w 4957726"/>
                <a:gd name="connsiteY0-42" fmla="*/ 22860 h 522783"/>
                <a:gd name="connsiteX1-43" fmla="*/ 4957726 w 4957726"/>
                <a:gd name="connsiteY1-44" fmla="*/ 0 h 522783"/>
                <a:gd name="connsiteX2-45" fmla="*/ 4340506 w 4957726"/>
                <a:gd name="connsiteY2-46" fmla="*/ 507543 h 522783"/>
                <a:gd name="connsiteX3-47" fmla="*/ 0 w 4957726"/>
                <a:gd name="connsiteY3-48" fmla="*/ 522783 h 522783"/>
                <a:gd name="connsiteX4-49" fmla="*/ 712470 w 4957726"/>
                <a:gd name="connsiteY4-50" fmla="*/ 22860 h 5227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957726" h="522783">
                  <a:moveTo>
                    <a:pt x="712470" y="22860"/>
                  </a:moveTo>
                  <a:lnTo>
                    <a:pt x="4957726" y="0"/>
                  </a:lnTo>
                  <a:lnTo>
                    <a:pt x="4340506" y="507543"/>
                  </a:lnTo>
                  <a:lnTo>
                    <a:pt x="0" y="522783"/>
                  </a:lnTo>
                  <a:lnTo>
                    <a:pt x="712470" y="2286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50" name="矩形 1049"/>
            <p:cNvSpPr/>
            <p:nvPr/>
          </p:nvSpPr>
          <p:spPr bwMode="gray">
            <a:xfrm>
              <a:off x="587449" y="5049202"/>
              <a:ext cx="5204844" cy="522783"/>
            </a:xfrm>
            <a:custGeom>
              <a:avLst/>
              <a:gdLst>
                <a:gd name="connsiteX0" fmla="*/ 0 w 4340506"/>
                <a:gd name="connsiteY0" fmla="*/ 0 h 499923"/>
                <a:gd name="connsiteX1" fmla="*/ 4340506 w 4340506"/>
                <a:gd name="connsiteY1" fmla="*/ 0 h 499923"/>
                <a:gd name="connsiteX2" fmla="*/ 4340506 w 4340506"/>
                <a:gd name="connsiteY2" fmla="*/ 499923 h 499923"/>
                <a:gd name="connsiteX3" fmla="*/ 0 w 4340506"/>
                <a:gd name="connsiteY3" fmla="*/ 499923 h 499923"/>
                <a:gd name="connsiteX4" fmla="*/ 0 w 4340506"/>
                <a:gd name="connsiteY4" fmla="*/ 0 h 499923"/>
                <a:gd name="connsiteX0-1" fmla="*/ 167640 w 4340506"/>
                <a:gd name="connsiteY0-2" fmla="*/ 15240 h 499923"/>
                <a:gd name="connsiteX1-3" fmla="*/ 4340506 w 4340506"/>
                <a:gd name="connsiteY1-4" fmla="*/ 0 h 499923"/>
                <a:gd name="connsiteX2-5" fmla="*/ 4340506 w 4340506"/>
                <a:gd name="connsiteY2-6" fmla="*/ 499923 h 499923"/>
                <a:gd name="connsiteX3-7" fmla="*/ 0 w 4340506"/>
                <a:gd name="connsiteY3-8" fmla="*/ 499923 h 499923"/>
                <a:gd name="connsiteX4-9" fmla="*/ 167640 w 4340506"/>
                <a:gd name="connsiteY4-10" fmla="*/ 15240 h 499923"/>
                <a:gd name="connsiteX0-11" fmla="*/ 617220 w 4790086"/>
                <a:gd name="connsiteY0-12" fmla="*/ 15240 h 515163"/>
                <a:gd name="connsiteX1-13" fmla="*/ 4790086 w 4790086"/>
                <a:gd name="connsiteY1-14" fmla="*/ 0 h 515163"/>
                <a:gd name="connsiteX2-15" fmla="*/ 4790086 w 4790086"/>
                <a:gd name="connsiteY2-16" fmla="*/ 499923 h 515163"/>
                <a:gd name="connsiteX3-17" fmla="*/ 0 w 4790086"/>
                <a:gd name="connsiteY3-18" fmla="*/ 515163 h 515163"/>
                <a:gd name="connsiteX4-19" fmla="*/ 617220 w 4790086"/>
                <a:gd name="connsiteY4-20" fmla="*/ 15240 h 515163"/>
                <a:gd name="connsiteX0-21" fmla="*/ 617220 w 4957726"/>
                <a:gd name="connsiteY0-22" fmla="*/ 22860 h 522783"/>
                <a:gd name="connsiteX1-23" fmla="*/ 4957726 w 4957726"/>
                <a:gd name="connsiteY1-24" fmla="*/ 0 h 522783"/>
                <a:gd name="connsiteX2-25" fmla="*/ 4790086 w 4957726"/>
                <a:gd name="connsiteY2-26" fmla="*/ 507543 h 522783"/>
                <a:gd name="connsiteX3-27" fmla="*/ 0 w 4957726"/>
                <a:gd name="connsiteY3-28" fmla="*/ 522783 h 522783"/>
                <a:gd name="connsiteX4-29" fmla="*/ 617220 w 4957726"/>
                <a:gd name="connsiteY4-30" fmla="*/ 22860 h 522783"/>
                <a:gd name="connsiteX0-31" fmla="*/ 617220 w 4957726"/>
                <a:gd name="connsiteY0-32" fmla="*/ 22860 h 522783"/>
                <a:gd name="connsiteX1-33" fmla="*/ 4957726 w 4957726"/>
                <a:gd name="connsiteY1-34" fmla="*/ 0 h 522783"/>
                <a:gd name="connsiteX2-35" fmla="*/ 4340506 w 4957726"/>
                <a:gd name="connsiteY2-36" fmla="*/ 507543 h 522783"/>
                <a:gd name="connsiteX3-37" fmla="*/ 0 w 4957726"/>
                <a:gd name="connsiteY3-38" fmla="*/ 522783 h 522783"/>
                <a:gd name="connsiteX4-39" fmla="*/ 617220 w 4957726"/>
                <a:gd name="connsiteY4-40" fmla="*/ 22860 h 522783"/>
                <a:gd name="connsiteX0-41" fmla="*/ 712470 w 4957726"/>
                <a:gd name="connsiteY0-42" fmla="*/ 22860 h 522783"/>
                <a:gd name="connsiteX1-43" fmla="*/ 4957726 w 4957726"/>
                <a:gd name="connsiteY1-44" fmla="*/ 0 h 522783"/>
                <a:gd name="connsiteX2-45" fmla="*/ 4340506 w 4957726"/>
                <a:gd name="connsiteY2-46" fmla="*/ 507543 h 522783"/>
                <a:gd name="connsiteX3-47" fmla="*/ 0 w 4957726"/>
                <a:gd name="connsiteY3-48" fmla="*/ 522783 h 522783"/>
                <a:gd name="connsiteX4-49" fmla="*/ 712470 w 4957726"/>
                <a:gd name="connsiteY4-50" fmla="*/ 22860 h 5227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957726" h="522783">
                  <a:moveTo>
                    <a:pt x="712470" y="22860"/>
                  </a:moveTo>
                  <a:lnTo>
                    <a:pt x="4957726" y="0"/>
                  </a:lnTo>
                  <a:lnTo>
                    <a:pt x="4340506" y="507543"/>
                  </a:lnTo>
                  <a:lnTo>
                    <a:pt x="0" y="522783"/>
                  </a:lnTo>
                  <a:lnTo>
                    <a:pt x="712470" y="2286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圆角矩形 75"/>
            <p:cNvSpPr/>
            <p:nvPr/>
          </p:nvSpPr>
          <p:spPr bwMode="gray">
            <a:xfrm>
              <a:off x="2436813" y="5703112"/>
              <a:ext cx="1913205" cy="317992"/>
            </a:xfrm>
            <a:prstGeom prst="roundRect">
              <a:avLst>
                <a:gd name="adj" fmla="val 10604"/>
              </a:avLst>
            </a:prstGeom>
            <a:solidFill>
              <a:srgbClr val="FFFFCC"/>
            </a:solidFill>
            <a:ln>
              <a:solidFill>
                <a:srgbClr val="FFC000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NETCONF</a:t>
              </a:r>
              <a:endPara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gray">
            <a:xfrm>
              <a:off x="1428750" y="2767013"/>
              <a:ext cx="61595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1" i="1" u="none" strike="noStrike" cap="none" normalizeH="0" baseline="0">
                  <a:ln>
                    <a:noFill/>
                  </a:ln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内容层</a:t>
              </a:r>
              <a:endParaRPr kumimoji="0" lang="zh-CN" altLang="zh-CN" sz="1800" b="1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gray">
            <a:xfrm>
              <a:off x="1352550" y="3640138"/>
              <a:ext cx="61595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1" i="1" u="none" strike="noStrike" cap="none" normalizeH="0" baseline="0">
                  <a:ln>
                    <a:noFill/>
                  </a:ln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操作层</a:t>
              </a:r>
              <a:endParaRPr kumimoji="0" lang="zh-CN" altLang="zh-CN" sz="1800" b="1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gray">
            <a:xfrm>
              <a:off x="1365250" y="4360862"/>
              <a:ext cx="615950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1" i="1" u="none" strike="noStrike" cap="none" normalizeH="0" baseline="0">
                  <a:ln>
                    <a:noFill/>
                  </a:ln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消息层</a:t>
              </a:r>
              <a:endParaRPr kumimoji="0" lang="zh-CN" altLang="zh-CN" sz="1800" b="1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gray">
            <a:xfrm>
              <a:off x="1268413" y="5210853"/>
              <a:ext cx="1025525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1" i="1" u="none" strike="noStrike" cap="none" normalizeH="0" baseline="0">
                  <a:ln>
                    <a:noFill/>
                  </a:ln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安全传输层</a:t>
              </a:r>
              <a:endParaRPr kumimoji="0" lang="zh-CN" altLang="zh-CN" sz="1800" b="1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Freeform 17"/>
            <p:cNvSpPr/>
            <p:nvPr/>
          </p:nvSpPr>
          <p:spPr bwMode="gray">
            <a:xfrm>
              <a:off x="2305050" y="2441575"/>
              <a:ext cx="1149350" cy="608012"/>
            </a:xfrm>
            <a:custGeom>
              <a:avLst/>
              <a:gdLst>
                <a:gd name="T0" fmla="*/ 0 w 2176"/>
                <a:gd name="T1" fmla="*/ 192 h 1152"/>
                <a:gd name="T2" fmla="*/ 1088 w 2176"/>
                <a:gd name="T3" fmla="*/ 0 h 1152"/>
                <a:gd name="T4" fmla="*/ 2176 w 2176"/>
                <a:gd name="T5" fmla="*/ 192 h 1152"/>
                <a:gd name="T6" fmla="*/ 2176 w 2176"/>
                <a:gd name="T7" fmla="*/ 192 h 1152"/>
                <a:gd name="T8" fmla="*/ 2176 w 2176"/>
                <a:gd name="T9" fmla="*/ 192 h 1152"/>
                <a:gd name="T10" fmla="*/ 2176 w 2176"/>
                <a:gd name="T11" fmla="*/ 960 h 1152"/>
                <a:gd name="T12" fmla="*/ 2176 w 2176"/>
                <a:gd name="T13" fmla="*/ 960 h 1152"/>
                <a:gd name="T14" fmla="*/ 1088 w 2176"/>
                <a:gd name="T15" fmla="*/ 1152 h 1152"/>
                <a:gd name="T16" fmla="*/ 0 w 2176"/>
                <a:gd name="T17" fmla="*/ 960 h 1152"/>
                <a:gd name="T18" fmla="*/ 0 w 2176"/>
                <a:gd name="T19" fmla="*/ 960 h 1152"/>
                <a:gd name="T20" fmla="*/ 0 w 2176"/>
                <a:gd name="T21" fmla="*/ 19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76" h="1152">
                  <a:moveTo>
                    <a:pt x="0" y="192"/>
                  </a:moveTo>
                  <a:cubicBezTo>
                    <a:pt x="0" y="86"/>
                    <a:pt x="488" y="0"/>
                    <a:pt x="1088" y="0"/>
                  </a:cubicBezTo>
                  <a:cubicBezTo>
                    <a:pt x="1689" y="0"/>
                    <a:pt x="2176" y="86"/>
                    <a:pt x="2176" y="192"/>
                  </a:cubicBezTo>
                  <a:cubicBezTo>
                    <a:pt x="2176" y="192"/>
                    <a:pt x="2176" y="192"/>
                    <a:pt x="2176" y="192"/>
                  </a:cubicBezTo>
                  <a:lnTo>
                    <a:pt x="2176" y="192"/>
                  </a:lnTo>
                  <a:lnTo>
                    <a:pt x="2176" y="960"/>
                  </a:lnTo>
                  <a:lnTo>
                    <a:pt x="2176" y="960"/>
                  </a:lnTo>
                  <a:cubicBezTo>
                    <a:pt x="2176" y="1067"/>
                    <a:pt x="1689" y="1152"/>
                    <a:pt x="1088" y="1152"/>
                  </a:cubicBezTo>
                  <a:cubicBezTo>
                    <a:pt x="488" y="1152"/>
                    <a:pt x="0" y="1067"/>
                    <a:pt x="0" y="96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0" y="192"/>
                  </a:lnTo>
                  <a:close/>
                </a:path>
              </a:pathLst>
            </a:custGeom>
            <a:solidFill>
              <a:srgbClr val="FFCC66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Freeform 18"/>
            <p:cNvSpPr/>
            <p:nvPr/>
          </p:nvSpPr>
          <p:spPr bwMode="gray">
            <a:xfrm>
              <a:off x="2293938" y="2538413"/>
              <a:ext cx="1173163" cy="117475"/>
            </a:xfrm>
            <a:custGeom>
              <a:avLst/>
              <a:gdLst>
                <a:gd name="T0" fmla="*/ 2222 w 2222"/>
                <a:gd name="T1" fmla="*/ 13 h 222"/>
                <a:gd name="T2" fmla="*/ 2216 w 2222"/>
                <a:gd name="T3" fmla="*/ 33 h 222"/>
                <a:gd name="T4" fmla="*/ 2212 w 2222"/>
                <a:gd name="T5" fmla="*/ 42 h 222"/>
                <a:gd name="T6" fmla="*/ 2196 w 2222"/>
                <a:gd name="T7" fmla="*/ 61 h 222"/>
                <a:gd name="T8" fmla="*/ 2191 w 2222"/>
                <a:gd name="T9" fmla="*/ 65 h 222"/>
                <a:gd name="T10" fmla="*/ 2164 w 2222"/>
                <a:gd name="T11" fmla="*/ 83 h 222"/>
                <a:gd name="T12" fmla="*/ 2125 w 2222"/>
                <a:gd name="T13" fmla="*/ 103 h 222"/>
                <a:gd name="T14" fmla="*/ 2077 w 2222"/>
                <a:gd name="T15" fmla="*/ 121 h 222"/>
                <a:gd name="T16" fmla="*/ 2020 w 2222"/>
                <a:gd name="T17" fmla="*/ 138 h 222"/>
                <a:gd name="T18" fmla="*/ 1957 w 2222"/>
                <a:gd name="T19" fmla="*/ 153 h 222"/>
                <a:gd name="T20" fmla="*/ 1885 w 2222"/>
                <a:gd name="T21" fmla="*/ 166 h 222"/>
                <a:gd name="T22" fmla="*/ 1807 w 2222"/>
                <a:gd name="T23" fmla="*/ 178 h 222"/>
                <a:gd name="T24" fmla="*/ 1723 w 2222"/>
                <a:gd name="T25" fmla="*/ 189 h 222"/>
                <a:gd name="T26" fmla="*/ 1538 w 2222"/>
                <a:gd name="T27" fmla="*/ 207 h 222"/>
                <a:gd name="T28" fmla="*/ 1332 w 2222"/>
                <a:gd name="T29" fmla="*/ 218 h 222"/>
                <a:gd name="T30" fmla="*/ 1112 w 2222"/>
                <a:gd name="T31" fmla="*/ 222 h 222"/>
                <a:gd name="T32" fmla="*/ 892 w 2222"/>
                <a:gd name="T33" fmla="*/ 218 h 222"/>
                <a:gd name="T34" fmla="*/ 687 w 2222"/>
                <a:gd name="T35" fmla="*/ 207 h 222"/>
                <a:gd name="T36" fmla="*/ 501 w 2222"/>
                <a:gd name="T37" fmla="*/ 189 h 222"/>
                <a:gd name="T38" fmla="*/ 416 w 2222"/>
                <a:gd name="T39" fmla="*/ 178 h 222"/>
                <a:gd name="T40" fmla="*/ 339 w 2222"/>
                <a:gd name="T41" fmla="*/ 166 h 222"/>
                <a:gd name="T42" fmla="*/ 268 w 2222"/>
                <a:gd name="T43" fmla="*/ 153 h 222"/>
                <a:gd name="T44" fmla="*/ 204 w 2222"/>
                <a:gd name="T45" fmla="*/ 138 h 222"/>
                <a:gd name="T46" fmla="*/ 148 w 2222"/>
                <a:gd name="T47" fmla="*/ 122 h 222"/>
                <a:gd name="T48" fmla="*/ 101 w 2222"/>
                <a:gd name="T49" fmla="*/ 104 h 222"/>
                <a:gd name="T50" fmla="*/ 62 w 2222"/>
                <a:gd name="T51" fmla="*/ 85 h 222"/>
                <a:gd name="T52" fmla="*/ 32 w 2222"/>
                <a:gd name="T53" fmla="*/ 65 h 222"/>
                <a:gd name="T54" fmla="*/ 27 w 2222"/>
                <a:gd name="T55" fmla="*/ 61 h 222"/>
                <a:gd name="T56" fmla="*/ 11 w 2222"/>
                <a:gd name="T57" fmla="*/ 42 h 222"/>
                <a:gd name="T58" fmla="*/ 6 w 2222"/>
                <a:gd name="T59" fmla="*/ 33 h 222"/>
                <a:gd name="T60" fmla="*/ 0 w 2222"/>
                <a:gd name="T61" fmla="*/ 13 h 222"/>
                <a:gd name="T62" fmla="*/ 46 w 2222"/>
                <a:gd name="T63" fmla="*/ 0 h 222"/>
                <a:gd name="T64" fmla="*/ 52 w 2222"/>
                <a:gd name="T65" fmla="*/ 20 h 222"/>
                <a:gd name="T66" fmla="*/ 48 w 2222"/>
                <a:gd name="T67" fmla="*/ 11 h 222"/>
                <a:gd name="T68" fmla="*/ 64 w 2222"/>
                <a:gd name="T69" fmla="*/ 30 h 222"/>
                <a:gd name="T70" fmla="*/ 59 w 2222"/>
                <a:gd name="T71" fmla="*/ 25 h 222"/>
                <a:gd name="T72" fmla="*/ 83 w 2222"/>
                <a:gd name="T73" fmla="*/ 42 h 222"/>
                <a:gd name="T74" fmla="*/ 118 w 2222"/>
                <a:gd name="T75" fmla="*/ 59 h 222"/>
                <a:gd name="T76" fmla="*/ 161 w 2222"/>
                <a:gd name="T77" fmla="*/ 75 h 222"/>
                <a:gd name="T78" fmla="*/ 215 w 2222"/>
                <a:gd name="T79" fmla="*/ 91 h 222"/>
                <a:gd name="T80" fmla="*/ 277 w 2222"/>
                <a:gd name="T81" fmla="*/ 106 h 222"/>
                <a:gd name="T82" fmla="*/ 346 w 2222"/>
                <a:gd name="T83" fmla="*/ 119 h 222"/>
                <a:gd name="T84" fmla="*/ 423 w 2222"/>
                <a:gd name="T85" fmla="*/ 131 h 222"/>
                <a:gd name="T86" fmla="*/ 506 w 2222"/>
                <a:gd name="T87" fmla="*/ 142 h 222"/>
                <a:gd name="T88" fmla="*/ 690 w 2222"/>
                <a:gd name="T89" fmla="*/ 160 h 222"/>
                <a:gd name="T90" fmla="*/ 893 w 2222"/>
                <a:gd name="T91" fmla="*/ 170 h 222"/>
                <a:gd name="T92" fmla="*/ 1111 w 2222"/>
                <a:gd name="T93" fmla="*/ 174 h 222"/>
                <a:gd name="T94" fmla="*/ 1329 w 2222"/>
                <a:gd name="T95" fmla="*/ 171 h 222"/>
                <a:gd name="T96" fmla="*/ 1533 w 2222"/>
                <a:gd name="T97" fmla="*/ 160 h 222"/>
                <a:gd name="T98" fmla="*/ 1716 w 2222"/>
                <a:gd name="T99" fmla="*/ 142 h 222"/>
                <a:gd name="T100" fmla="*/ 1800 w 2222"/>
                <a:gd name="T101" fmla="*/ 131 h 222"/>
                <a:gd name="T102" fmla="*/ 1876 w 2222"/>
                <a:gd name="T103" fmla="*/ 119 h 222"/>
                <a:gd name="T104" fmla="*/ 1946 w 2222"/>
                <a:gd name="T105" fmla="*/ 106 h 222"/>
                <a:gd name="T106" fmla="*/ 2007 w 2222"/>
                <a:gd name="T107" fmla="*/ 91 h 222"/>
                <a:gd name="T108" fmla="*/ 2060 w 2222"/>
                <a:gd name="T109" fmla="*/ 76 h 222"/>
                <a:gd name="T110" fmla="*/ 2104 w 2222"/>
                <a:gd name="T111" fmla="*/ 60 h 222"/>
                <a:gd name="T112" fmla="*/ 2137 w 2222"/>
                <a:gd name="T113" fmla="*/ 43 h 222"/>
                <a:gd name="T114" fmla="*/ 2164 w 2222"/>
                <a:gd name="T115" fmla="*/ 25 h 222"/>
                <a:gd name="T116" fmla="*/ 2159 w 2222"/>
                <a:gd name="T117" fmla="*/ 30 h 222"/>
                <a:gd name="T118" fmla="*/ 2175 w 2222"/>
                <a:gd name="T119" fmla="*/ 11 h 222"/>
                <a:gd name="T120" fmla="*/ 2170 w 2222"/>
                <a:gd name="T121" fmla="*/ 20 h 222"/>
                <a:gd name="T122" fmla="*/ 2176 w 2222"/>
                <a:gd name="T123" fmla="*/ 0 h 222"/>
                <a:gd name="T124" fmla="*/ 2222 w 2222"/>
                <a:gd name="T125" fmla="*/ 13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22" h="222">
                  <a:moveTo>
                    <a:pt x="2222" y="13"/>
                  </a:moveTo>
                  <a:lnTo>
                    <a:pt x="2216" y="33"/>
                  </a:lnTo>
                  <a:cubicBezTo>
                    <a:pt x="2216" y="37"/>
                    <a:pt x="2214" y="39"/>
                    <a:pt x="2212" y="42"/>
                  </a:cubicBezTo>
                  <a:lnTo>
                    <a:pt x="2196" y="61"/>
                  </a:lnTo>
                  <a:cubicBezTo>
                    <a:pt x="2194" y="63"/>
                    <a:pt x="2193" y="64"/>
                    <a:pt x="2191" y="65"/>
                  </a:cubicBezTo>
                  <a:lnTo>
                    <a:pt x="2164" y="83"/>
                  </a:lnTo>
                  <a:lnTo>
                    <a:pt x="2125" y="103"/>
                  </a:lnTo>
                  <a:lnTo>
                    <a:pt x="2077" y="121"/>
                  </a:lnTo>
                  <a:lnTo>
                    <a:pt x="2020" y="138"/>
                  </a:lnTo>
                  <a:lnTo>
                    <a:pt x="1957" y="153"/>
                  </a:lnTo>
                  <a:lnTo>
                    <a:pt x="1885" y="166"/>
                  </a:lnTo>
                  <a:lnTo>
                    <a:pt x="1807" y="178"/>
                  </a:lnTo>
                  <a:lnTo>
                    <a:pt x="1723" y="189"/>
                  </a:lnTo>
                  <a:lnTo>
                    <a:pt x="1538" y="207"/>
                  </a:lnTo>
                  <a:lnTo>
                    <a:pt x="1332" y="218"/>
                  </a:lnTo>
                  <a:lnTo>
                    <a:pt x="1112" y="222"/>
                  </a:lnTo>
                  <a:lnTo>
                    <a:pt x="892" y="218"/>
                  </a:lnTo>
                  <a:lnTo>
                    <a:pt x="687" y="207"/>
                  </a:lnTo>
                  <a:lnTo>
                    <a:pt x="501" y="189"/>
                  </a:lnTo>
                  <a:lnTo>
                    <a:pt x="416" y="178"/>
                  </a:lnTo>
                  <a:lnTo>
                    <a:pt x="339" y="166"/>
                  </a:lnTo>
                  <a:lnTo>
                    <a:pt x="268" y="153"/>
                  </a:lnTo>
                  <a:lnTo>
                    <a:pt x="204" y="138"/>
                  </a:lnTo>
                  <a:lnTo>
                    <a:pt x="148" y="122"/>
                  </a:lnTo>
                  <a:lnTo>
                    <a:pt x="101" y="104"/>
                  </a:lnTo>
                  <a:lnTo>
                    <a:pt x="62" y="85"/>
                  </a:lnTo>
                  <a:lnTo>
                    <a:pt x="32" y="65"/>
                  </a:lnTo>
                  <a:cubicBezTo>
                    <a:pt x="30" y="64"/>
                    <a:pt x="29" y="63"/>
                    <a:pt x="27" y="61"/>
                  </a:cubicBezTo>
                  <a:lnTo>
                    <a:pt x="11" y="42"/>
                  </a:lnTo>
                  <a:cubicBezTo>
                    <a:pt x="9" y="39"/>
                    <a:pt x="7" y="37"/>
                    <a:pt x="6" y="33"/>
                  </a:cubicBezTo>
                  <a:lnTo>
                    <a:pt x="0" y="13"/>
                  </a:lnTo>
                  <a:lnTo>
                    <a:pt x="46" y="0"/>
                  </a:lnTo>
                  <a:lnTo>
                    <a:pt x="52" y="20"/>
                  </a:lnTo>
                  <a:lnTo>
                    <a:pt x="48" y="11"/>
                  </a:lnTo>
                  <a:lnTo>
                    <a:pt x="64" y="30"/>
                  </a:lnTo>
                  <a:lnTo>
                    <a:pt x="59" y="25"/>
                  </a:lnTo>
                  <a:lnTo>
                    <a:pt x="83" y="42"/>
                  </a:lnTo>
                  <a:lnTo>
                    <a:pt x="118" y="59"/>
                  </a:lnTo>
                  <a:lnTo>
                    <a:pt x="161" y="75"/>
                  </a:lnTo>
                  <a:lnTo>
                    <a:pt x="215" y="91"/>
                  </a:lnTo>
                  <a:lnTo>
                    <a:pt x="277" y="106"/>
                  </a:lnTo>
                  <a:lnTo>
                    <a:pt x="346" y="119"/>
                  </a:lnTo>
                  <a:lnTo>
                    <a:pt x="423" y="131"/>
                  </a:lnTo>
                  <a:lnTo>
                    <a:pt x="506" y="142"/>
                  </a:lnTo>
                  <a:lnTo>
                    <a:pt x="690" y="160"/>
                  </a:lnTo>
                  <a:lnTo>
                    <a:pt x="893" y="170"/>
                  </a:lnTo>
                  <a:lnTo>
                    <a:pt x="1111" y="174"/>
                  </a:lnTo>
                  <a:lnTo>
                    <a:pt x="1329" y="171"/>
                  </a:lnTo>
                  <a:lnTo>
                    <a:pt x="1533" y="160"/>
                  </a:lnTo>
                  <a:lnTo>
                    <a:pt x="1716" y="142"/>
                  </a:lnTo>
                  <a:lnTo>
                    <a:pt x="1800" y="131"/>
                  </a:lnTo>
                  <a:lnTo>
                    <a:pt x="1876" y="119"/>
                  </a:lnTo>
                  <a:lnTo>
                    <a:pt x="1946" y="106"/>
                  </a:lnTo>
                  <a:lnTo>
                    <a:pt x="2007" y="91"/>
                  </a:lnTo>
                  <a:lnTo>
                    <a:pt x="2060" y="76"/>
                  </a:lnTo>
                  <a:lnTo>
                    <a:pt x="2104" y="60"/>
                  </a:lnTo>
                  <a:lnTo>
                    <a:pt x="2137" y="43"/>
                  </a:lnTo>
                  <a:lnTo>
                    <a:pt x="2164" y="25"/>
                  </a:lnTo>
                  <a:lnTo>
                    <a:pt x="2159" y="30"/>
                  </a:lnTo>
                  <a:lnTo>
                    <a:pt x="2175" y="11"/>
                  </a:lnTo>
                  <a:lnTo>
                    <a:pt x="2170" y="20"/>
                  </a:lnTo>
                  <a:lnTo>
                    <a:pt x="2176" y="0"/>
                  </a:lnTo>
                  <a:lnTo>
                    <a:pt x="2222" y="13"/>
                  </a:lnTo>
                  <a:close/>
                </a:path>
              </a:pathLst>
            </a:custGeom>
            <a:solidFill>
              <a:srgbClr val="BC9549"/>
            </a:solidFill>
            <a:ln w="0" cap="flat">
              <a:solidFill>
                <a:srgbClr val="BC954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Freeform 19"/>
            <p:cNvSpPr>
              <a:spLocks noEditPoints="1"/>
            </p:cNvSpPr>
            <p:nvPr/>
          </p:nvSpPr>
          <p:spPr bwMode="gray">
            <a:xfrm>
              <a:off x="2292350" y="2428875"/>
              <a:ext cx="1174750" cy="631825"/>
            </a:xfrm>
            <a:custGeom>
              <a:avLst/>
              <a:gdLst>
                <a:gd name="T0" fmla="*/ 7 w 2224"/>
                <a:gd name="T1" fmla="*/ 190 h 1200"/>
                <a:gd name="T2" fmla="*/ 33 w 2224"/>
                <a:gd name="T3" fmla="*/ 157 h 1200"/>
                <a:gd name="T4" fmla="*/ 147 w 2224"/>
                <a:gd name="T5" fmla="*/ 102 h 1200"/>
                <a:gd name="T6" fmla="*/ 339 w 2224"/>
                <a:gd name="T7" fmla="*/ 57 h 1200"/>
                <a:gd name="T8" fmla="*/ 687 w 2224"/>
                <a:gd name="T9" fmla="*/ 16 h 1200"/>
                <a:gd name="T10" fmla="*/ 1332 w 2224"/>
                <a:gd name="T11" fmla="*/ 4 h 1200"/>
                <a:gd name="T12" fmla="*/ 1808 w 2224"/>
                <a:gd name="T13" fmla="*/ 45 h 1200"/>
                <a:gd name="T14" fmla="*/ 2020 w 2224"/>
                <a:gd name="T15" fmla="*/ 86 h 1200"/>
                <a:gd name="T16" fmla="*/ 2162 w 2224"/>
                <a:gd name="T17" fmla="*/ 138 h 1200"/>
                <a:gd name="T18" fmla="*/ 2213 w 2224"/>
                <a:gd name="T19" fmla="*/ 181 h 1200"/>
                <a:gd name="T20" fmla="*/ 2224 w 2224"/>
                <a:gd name="T21" fmla="*/ 216 h 1200"/>
                <a:gd name="T22" fmla="*/ 2217 w 2224"/>
                <a:gd name="T23" fmla="*/ 1011 h 1200"/>
                <a:gd name="T24" fmla="*/ 2192 w 2224"/>
                <a:gd name="T25" fmla="*/ 1043 h 1200"/>
                <a:gd name="T26" fmla="*/ 2078 w 2224"/>
                <a:gd name="T27" fmla="*/ 1099 h 1200"/>
                <a:gd name="T28" fmla="*/ 1886 w 2224"/>
                <a:gd name="T29" fmla="*/ 1144 h 1200"/>
                <a:gd name="T30" fmla="*/ 1539 w 2224"/>
                <a:gd name="T31" fmla="*/ 1185 h 1200"/>
                <a:gd name="T32" fmla="*/ 893 w 2224"/>
                <a:gd name="T33" fmla="*/ 1196 h 1200"/>
                <a:gd name="T34" fmla="*/ 417 w 2224"/>
                <a:gd name="T35" fmla="*/ 1156 h 1200"/>
                <a:gd name="T36" fmla="*/ 205 w 2224"/>
                <a:gd name="T37" fmla="*/ 1116 h 1200"/>
                <a:gd name="T38" fmla="*/ 63 w 2224"/>
                <a:gd name="T39" fmla="*/ 1063 h 1200"/>
                <a:gd name="T40" fmla="*/ 12 w 2224"/>
                <a:gd name="T41" fmla="*/ 1020 h 1200"/>
                <a:gd name="T42" fmla="*/ 0 w 2224"/>
                <a:gd name="T43" fmla="*/ 984 h 1200"/>
                <a:gd name="T44" fmla="*/ 47 w 2224"/>
                <a:gd name="T45" fmla="*/ 978 h 1200"/>
                <a:gd name="T46" fmla="*/ 65 w 2224"/>
                <a:gd name="T47" fmla="*/ 1008 h 1200"/>
                <a:gd name="T48" fmla="*/ 119 w 2224"/>
                <a:gd name="T49" fmla="*/ 1037 h 1200"/>
                <a:gd name="T50" fmla="*/ 278 w 2224"/>
                <a:gd name="T51" fmla="*/ 1084 h 1200"/>
                <a:gd name="T52" fmla="*/ 507 w 2224"/>
                <a:gd name="T53" fmla="*/ 1120 h 1200"/>
                <a:gd name="T54" fmla="*/ 1112 w 2224"/>
                <a:gd name="T55" fmla="*/ 1152 h 1200"/>
                <a:gd name="T56" fmla="*/ 1717 w 2224"/>
                <a:gd name="T57" fmla="*/ 1120 h 1200"/>
                <a:gd name="T58" fmla="*/ 1947 w 2224"/>
                <a:gd name="T59" fmla="*/ 1084 h 1200"/>
                <a:gd name="T60" fmla="*/ 2105 w 2224"/>
                <a:gd name="T61" fmla="*/ 1038 h 1200"/>
                <a:gd name="T62" fmla="*/ 2160 w 2224"/>
                <a:gd name="T63" fmla="*/ 1008 h 1200"/>
                <a:gd name="T64" fmla="*/ 2177 w 2224"/>
                <a:gd name="T65" fmla="*/ 978 h 1200"/>
                <a:gd name="T66" fmla="*/ 2177 w 2224"/>
                <a:gd name="T67" fmla="*/ 223 h 1200"/>
                <a:gd name="T68" fmla="*/ 2160 w 2224"/>
                <a:gd name="T69" fmla="*/ 193 h 1200"/>
                <a:gd name="T70" fmla="*/ 2107 w 2224"/>
                <a:gd name="T71" fmla="*/ 164 h 1200"/>
                <a:gd name="T72" fmla="*/ 1948 w 2224"/>
                <a:gd name="T73" fmla="*/ 118 h 1200"/>
                <a:gd name="T74" fmla="*/ 1718 w 2224"/>
                <a:gd name="T75" fmla="*/ 81 h 1200"/>
                <a:gd name="T76" fmla="*/ 1113 w 2224"/>
                <a:gd name="T77" fmla="*/ 48 h 1200"/>
                <a:gd name="T78" fmla="*/ 508 w 2224"/>
                <a:gd name="T79" fmla="*/ 81 h 1200"/>
                <a:gd name="T80" fmla="*/ 279 w 2224"/>
                <a:gd name="T81" fmla="*/ 118 h 1200"/>
                <a:gd name="T82" fmla="*/ 121 w 2224"/>
                <a:gd name="T83" fmla="*/ 163 h 1200"/>
                <a:gd name="T84" fmla="*/ 65 w 2224"/>
                <a:gd name="T85" fmla="*/ 193 h 1200"/>
                <a:gd name="T86" fmla="*/ 47 w 2224"/>
                <a:gd name="T87" fmla="*/ 223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24" h="1200">
                  <a:moveTo>
                    <a:pt x="0" y="216"/>
                  </a:moveTo>
                  <a:cubicBezTo>
                    <a:pt x="0" y="214"/>
                    <a:pt x="1" y="212"/>
                    <a:pt x="1" y="210"/>
                  </a:cubicBezTo>
                  <a:lnTo>
                    <a:pt x="7" y="190"/>
                  </a:lnTo>
                  <a:cubicBezTo>
                    <a:pt x="8" y="186"/>
                    <a:pt x="10" y="184"/>
                    <a:pt x="12" y="181"/>
                  </a:cubicBezTo>
                  <a:lnTo>
                    <a:pt x="28" y="162"/>
                  </a:lnTo>
                  <a:cubicBezTo>
                    <a:pt x="30" y="160"/>
                    <a:pt x="31" y="159"/>
                    <a:pt x="33" y="157"/>
                  </a:cubicBezTo>
                  <a:lnTo>
                    <a:pt x="60" y="139"/>
                  </a:lnTo>
                  <a:lnTo>
                    <a:pt x="100" y="120"/>
                  </a:lnTo>
                  <a:lnTo>
                    <a:pt x="147" y="102"/>
                  </a:lnTo>
                  <a:lnTo>
                    <a:pt x="204" y="86"/>
                  </a:lnTo>
                  <a:lnTo>
                    <a:pt x="268" y="71"/>
                  </a:lnTo>
                  <a:lnTo>
                    <a:pt x="339" y="57"/>
                  </a:lnTo>
                  <a:lnTo>
                    <a:pt x="417" y="45"/>
                  </a:lnTo>
                  <a:lnTo>
                    <a:pt x="501" y="34"/>
                  </a:lnTo>
                  <a:lnTo>
                    <a:pt x="687" y="16"/>
                  </a:lnTo>
                  <a:lnTo>
                    <a:pt x="892" y="5"/>
                  </a:lnTo>
                  <a:lnTo>
                    <a:pt x="1112" y="0"/>
                  </a:lnTo>
                  <a:lnTo>
                    <a:pt x="1332" y="4"/>
                  </a:lnTo>
                  <a:lnTo>
                    <a:pt x="1538" y="16"/>
                  </a:lnTo>
                  <a:lnTo>
                    <a:pt x="1723" y="34"/>
                  </a:lnTo>
                  <a:lnTo>
                    <a:pt x="1808" y="45"/>
                  </a:lnTo>
                  <a:lnTo>
                    <a:pt x="1885" y="57"/>
                  </a:lnTo>
                  <a:lnTo>
                    <a:pt x="1957" y="71"/>
                  </a:lnTo>
                  <a:lnTo>
                    <a:pt x="2020" y="86"/>
                  </a:lnTo>
                  <a:lnTo>
                    <a:pt x="2076" y="101"/>
                  </a:lnTo>
                  <a:lnTo>
                    <a:pt x="2124" y="119"/>
                  </a:lnTo>
                  <a:lnTo>
                    <a:pt x="2162" y="138"/>
                  </a:lnTo>
                  <a:lnTo>
                    <a:pt x="2192" y="157"/>
                  </a:lnTo>
                  <a:cubicBezTo>
                    <a:pt x="2194" y="159"/>
                    <a:pt x="2195" y="160"/>
                    <a:pt x="2197" y="162"/>
                  </a:cubicBezTo>
                  <a:lnTo>
                    <a:pt x="2213" y="181"/>
                  </a:lnTo>
                  <a:cubicBezTo>
                    <a:pt x="2215" y="184"/>
                    <a:pt x="2217" y="186"/>
                    <a:pt x="2217" y="190"/>
                  </a:cubicBezTo>
                  <a:lnTo>
                    <a:pt x="2223" y="210"/>
                  </a:lnTo>
                  <a:cubicBezTo>
                    <a:pt x="2224" y="212"/>
                    <a:pt x="2224" y="214"/>
                    <a:pt x="2224" y="216"/>
                  </a:cubicBezTo>
                  <a:lnTo>
                    <a:pt x="2224" y="984"/>
                  </a:lnTo>
                  <a:cubicBezTo>
                    <a:pt x="2224" y="987"/>
                    <a:pt x="2224" y="989"/>
                    <a:pt x="2223" y="991"/>
                  </a:cubicBezTo>
                  <a:lnTo>
                    <a:pt x="2217" y="1011"/>
                  </a:lnTo>
                  <a:cubicBezTo>
                    <a:pt x="2217" y="1015"/>
                    <a:pt x="2215" y="1017"/>
                    <a:pt x="2213" y="1020"/>
                  </a:cubicBezTo>
                  <a:lnTo>
                    <a:pt x="2197" y="1039"/>
                  </a:lnTo>
                  <a:cubicBezTo>
                    <a:pt x="2195" y="1041"/>
                    <a:pt x="2194" y="1042"/>
                    <a:pt x="2192" y="1043"/>
                  </a:cubicBezTo>
                  <a:lnTo>
                    <a:pt x="2165" y="1061"/>
                  </a:lnTo>
                  <a:lnTo>
                    <a:pt x="2126" y="1081"/>
                  </a:lnTo>
                  <a:lnTo>
                    <a:pt x="2078" y="1099"/>
                  </a:lnTo>
                  <a:lnTo>
                    <a:pt x="2021" y="1116"/>
                  </a:lnTo>
                  <a:lnTo>
                    <a:pt x="1958" y="1131"/>
                  </a:lnTo>
                  <a:lnTo>
                    <a:pt x="1886" y="1144"/>
                  </a:lnTo>
                  <a:lnTo>
                    <a:pt x="1808" y="1156"/>
                  </a:lnTo>
                  <a:lnTo>
                    <a:pt x="1724" y="1167"/>
                  </a:lnTo>
                  <a:lnTo>
                    <a:pt x="1539" y="1185"/>
                  </a:lnTo>
                  <a:lnTo>
                    <a:pt x="1333" y="1196"/>
                  </a:lnTo>
                  <a:lnTo>
                    <a:pt x="1113" y="1200"/>
                  </a:lnTo>
                  <a:lnTo>
                    <a:pt x="893" y="1196"/>
                  </a:lnTo>
                  <a:lnTo>
                    <a:pt x="688" y="1185"/>
                  </a:lnTo>
                  <a:lnTo>
                    <a:pt x="502" y="1167"/>
                  </a:lnTo>
                  <a:lnTo>
                    <a:pt x="417" y="1156"/>
                  </a:lnTo>
                  <a:lnTo>
                    <a:pt x="340" y="1144"/>
                  </a:lnTo>
                  <a:lnTo>
                    <a:pt x="269" y="1131"/>
                  </a:lnTo>
                  <a:lnTo>
                    <a:pt x="205" y="1116"/>
                  </a:lnTo>
                  <a:lnTo>
                    <a:pt x="149" y="1100"/>
                  </a:lnTo>
                  <a:lnTo>
                    <a:pt x="102" y="1082"/>
                  </a:lnTo>
                  <a:lnTo>
                    <a:pt x="63" y="1063"/>
                  </a:lnTo>
                  <a:lnTo>
                    <a:pt x="33" y="1043"/>
                  </a:lnTo>
                  <a:cubicBezTo>
                    <a:pt x="31" y="1042"/>
                    <a:pt x="30" y="1041"/>
                    <a:pt x="28" y="1039"/>
                  </a:cubicBezTo>
                  <a:lnTo>
                    <a:pt x="12" y="1020"/>
                  </a:lnTo>
                  <a:cubicBezTo>
                    <a:pt x="10" y="1017"/>
                    <a:pt x="8" y="1015"/>
                    <a:pt x="7" y="1011"/>
                  </a:cubicBezTo>
                  <a:lnTo>
                    <a:pt x="1" y="991"/>
                  </a:lnTo>
                  <a:cubicBezTo>
                    <a:pt x="1" y="989"/>
                    <a:pt x="0" y="987"/>
                    <a:pt x="0" y="984"/>
                  </a:cubicBezTo>
                  <a:lnTo>
                    <a:pt x="0" y="216"/>
                  </a:lnTo>
                  <a:close/>
                  <a:moveTo>
                    <a:pt x="48" y="984"/>
                  </a:moveTo>
                  <a:lnTo>
                    <a:pt x="47" y="978"/>
                  </a:lnTo>
                  <a:lnTo>
                    <a:pt x="53" y="998"/>
                  </a:lnTo>
                  <a:lnTo>
                    <a:pt x="49" y="989"/>
                  </a:lnTo>
                  <a:lnTo>
                    <a:pt x="65" y="1008"/>
                  </a:lnTo>
                  <a:lnTo>
                    <a:pt x="60" y="1003"/>
                  </a:lnTo>
                  <a:lnTo>
                    <a:pt x="84" y="1020"/>
                  </a:lnTo>
                  <a:lnTo>
                    <a:pt x="119" y="1037"/>
                  </a:lnTo>
                  <a:lnTo>
                    <a:pt x="162" y="1053"/>
                  </a:lnTo>
                  <a:lnTo>
                    <a:pt x="216" y="1069"/>
                  </a:lnTo>
                  <a:lnTo>
                    <a:pt x="278" y="1084"/>
                  </a:lnTo>
                  <a:lnTo>
                    <a:pt x="347" y="1097"/>
                  </a:lnTo>
                  <a:lnTo>
                    <a:pt x="424" y="1109"/>
                  </a:lnTo>
                  <a:lnTo>
                    <a:pt x="507" y="1120"/>
                  </a:lnTo>
                  <a:lnTo>
                    <a:pt x="691" y="1138"/>
                  </a:lnTo>
                  <a:lnTo>
                    <a:pt x="894" y="1148"/>
                  </a:lnTo>
                  <a:lnTo>
                    <a:pt x="1112" y="1152"/>
                  </a:lnTo>
                  <a:lnTo>
                    <a:pt x="1330" y="1149"/>
                  </a:lnTo>
                  <a:lnTo>
                    <a:pt x="1534" y="1138"/>
                  </a:lnTo>
                  <a:lnTo>
                    <a:pt x="1717" y="1120"/>
                  </a:lnTo>
                  <a:lnTo>
                    <a:pt x="1801" y="1109"/>
                  </a:lnTo>
                  <a:lnTo>
                    <a:pt x="1877" y="1097"/>
                  </a:lnTo>
                  <a:lnTo>
                    <a:pt x="1947" y="1084"/>
                  </a:lnTo>
                  <a:lnTo>
                    <a:pt x="2008" y="1069"/>
                  </a:lnTo>
                  <a:lnTo>
                    <a:pt x="2061" y="1054"/>
                  </a:lnTo>
                  <a:lnTo>
                    <a:pt x="2105" y="1038"/>
                  </a:lnTo>
                  <a:lnTo>
                    <a:pt x="2138" y="1021"/>
                  </a:lnTo>
                  <a:lnTo>
                    <a:pt x="2165" y="1003"/>
                  </a:lnTo>
                  <a:lnTo>
                    <a:pt x="2160" y="1008"/>
                  </a:lnTo>
                  <a:lnTo>
                    <a:pt x="2176" y="989"/>
                  </a:lnTo>
                  <a:lnTo>
                    <a:pt x="2171" y="998"/>
                  </a:lnTo>
                  <a:lnTo>
                    <a:pt x="2177" y="978"/>
                  </a:lnTo>
                  <a:lnTo>
                    <a:pt x="2176" y="984"/>
                  </a:lnTo>
                  <a:lnTo>
                    <a:pt x="2176" y="216"/>
                  </a:lnTo>
                  <a:lnTo>
                    <a:pt x="2177" y="223"/>
                  </a:lnTo>
                  <a:lnTo>
                    <a:pt x="2171" y="203"/>
                  </a:lnTo>
                  <a:lnTo>
                    <a:pt x="2176" y="212"/>
                  </a:lnTo>
                  <a:lnTo>
                    <a:pt x="2160" y="193"/>
                  </a:lnTo>
                  <a:lnTo>
                    <a:pt x="2165" y="197"/>
                  </a:lnTo>
                  <a:lnTo>
                    <a:pt x="2141" y="181"/>
                  </a:lnTo>
                  <a:lnTo>
                    <a:pt x="2107" y="164"/>
                  </a:lnTo>
                  <a:lnTo>
                    <a:pt x="2063" y="148"/>
                  </a:lnTo>
                  <a:lnTo>
                    <a:pt x="2009" y="133"/>
                  </a:lnTo>
                  <a:lnTo>
                    <a:pt x="1948" y="118"/>
                  </a:lnTo>
                  <a:lnTo>
                    <a:pt x="1878" y="104"/>
                  </a:lnTo>
                  <a:lnTo>
                    <a:pt x="1801" y="92"/>
                  </a:lnTo>
                  <a:lnTo>
                    <a:pt x="1718" y="81"/>
                  </a:lnTo>
                  <a:lnTo>
                    <a:pt x="1535" y="63"/>
                  </a:lnTo>
                  <a:lnTo>
                    <a:pt x="1331" y="52"/>
                  </a:lnTo>
                  <a:lnTo>
                    <a:pt x="1113" y="48"/>
                  </a:lnTo>
                  <a:lnTo>
                    <a:pt x="895" y="52"/>
                  </a:lnTo>
                  <a:lnTo>
                    <a:pt x="692" y="63"/>
                  </a:lnTo>
                  <a:lnTo>
                    <a:pt x="508" y="81"/>
                  </a:lnTo>
                  <a:lnTo>
                    <a:pt x="424" y="92"/>
                  </a:lnTo>
                  <a:lnTo>
                    <a:pt x="348" y="104"/>
                  </a:lnTo>
                  <a:lnTo>
                    <a:pt x="279" y="118"/>
                  </a:lnTo>
                  <a:lnTo>
                    <a:pt x="217" y="133"/>
                  </a:lnTo>
                  <a:lnTo>
                    <a:pt x="164" y="147"/>
                  </a:lnTo>
                  <a:lnTo>
                    <a:pt x="121" y="163"/>
                  </a:lnTo>
                  <a:lnTo>
                    <a:pt x="87" y="179"/>
                  </a:lnTo>
                  <a:lnTo>
                    <a:pt x="60" y="197"/>
                  </a:lnTo>
                  <a:lnTo>
                    <a:pt x="65" y="193"/>
                  </a:lnTo>
                  <a:lnTo>
                    <a:pt x="49" y="212"/>
                  </a:lnTo>
                  <a:lnTo>
                    <a:pt x="53" y="203"/>
                  </a:lnTo>
                  <a:lnTo>
                    <a:pt x="47" y="223"/>
                  </a:lnTo>
                  <a:lnTo>
                    <a:pt x="48" y="216"/>
                  </a:lnTo>
                  <a:lnTo>
                    <a:pt x="48" y="984"/>
                  </a:lnTo>
                  <a:close/>
                </a:path>
              </a:pathLst>
            </a:custGeom>
            <a:solidFill>
              <a:srgbClr val="BC9549"/>
            </a:solidFill>
            <a:ln w="0" cap="flat">
              <a:solidFill>
                <a:srgbClr val="BC954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gray">
            <a:xfrm>
              <a:off x="2436813" y="2692400"/>
              <a:ext cx="998671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Config&amp;Status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gray">
            <a:xfrm>
              <a:off x="2732088" y="2862263"/>
              <a:ext cx="33823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Freeform 22"/>
            <p:cNvSpPr/>
            <p:nvPr/>
          </p:nvSpPr>
          <p:spPr bwMode="gray">
            <a:xfrm>
              <a:off x="3968750" y="2441575"/>
              <a:ext cx="1208088" cy="608012"/>
            </a:xfrm>
            <a:custGeom>
              <a:avLst/>
              <a:gdLst>
                <a:gd name="T0" fmla="*/ 0 w 2288"/>
                <a:gd name="T1" fmla="*/ 192 h 1152"/>
                <a:gd name="T2" fmla="*/ 1144 w 2288"/>
                <a:gd name="T3" fmla="*/ 0 h 1152"/>
                <a:gd name="T4" fmla="*/ 2288 w 2288"/>
                <a:gd name="T5" fmla="*/ 192 h 1152"/>
                <a:gd name="T6" fmla="*/ 2288 w 2288"/>
                <a:gd name="T7" fmla="*/ 192 h 1152"/>
                <a:gd name="T8" fmla="*/ 2288 w 2288"/>
                <a:gd name="T9" fmla="*/ 192 h 1152"/>
                <a:gd name="T10" fmla="*/ 2288 w 2288"/>
                <a:gd name="T11" fmla="*/ 960 h 1152"/>
                <a:gd name="T12" fmla="*/ 2288 w 2288"/>
                <a:gd name="T13" fmla="*/ 960 h 1152"/>
                <a:gd name="T14" fmla="*/ 1144 w 2288"/>
                <a:gd name="T15" fmla="*/ 1152 h 1152"/>
                <a:gd name="T16" fmla="*/ 0 w 2288"/>
                <a:gd name="T17" fmla="*/ 960 h 1152"/>
                <a:gd name="T18" fmla="*/ 0 w 2288"/>
                <a:gd name="T19" fmla="*/ 960 h 1152"/>
                <a:gd name="T20" fmla="*/ 0 w 2288"/>
                <a:gd name="T21" fmla="*/ 19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8" h="1152">
                  <a:moveTo>
                    <a:pt x="0" y="192"/>
                  </a:moveTo>
                  <a:cubicBezTo>
                    <a:pt x="0" y="86"/>
                    <a:pt x="513" y="0"/>
                    <a:pt x="1144" y="0"/>
                  </a:cubicBezTo>
                  <a:cubicBezTo>
                    <a:pt x="1776" y="0"/>
                    <a:pt x="2288" y="86"/>
                    <a:pt x="2288" y="192"/>
                  </a:cubicBezTo>
                  <a:cubicBezTo>
                    <a:pt x="2288" y="192"/>
                    <a:pt x="2288" y="192"/>
                    <a:pt x="2288" y="192"/>
                  </a:cubicBezTo>
                  <a:lnTo>
                    <a:pt x="2288" y="192"/>
                  </a:lnTo>
                  <a:lnTo>
                    <a:pt x="2288" y="960"/>
                  </a:lnTo>
                  <a:lnTo>
                    <a:pt x="2288" y="960"/>
                  </a:lnTo>
                  <a:cubicBezTo>
                    <a:pt x="2288" y="1067"/>
                    <a:pt x="1776" y="1152"/>
                    <a:pt x="1144" y="1152"/>
                  </a:cubicBezTo>
                  <a:cubicBezTo>
                    <a:pt x="513" y="1152"/>
                    <a:pt x="0" y="1067"/>
                    <a:pt x="0" y="96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0" y="192"/>
                  </a:lnTo>
                  <a:close/>
                </a:path>
              </a:pathLst>
            </a:custGeom>
            <a:solidFill>
              <a:srgbClr val="FFCC66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Freeform 23"/>
            <p:cNvSpPr/>
            <p:nvPr/>
          </p:nvSpPr>
          <p:spPr bwMode="gray">
            <a:xfrm>
              <a:off x="3957638" y="2538413"/>
              <a:ext cx="1231900" cy="117475"/>
            </a:xfrm>
            <a:custGeom>
              <a:avLst/>
              <a:gdLst>
                <a:gd name="T0" fmla="*/ 2328 w 2334"/>
                <a:gd name="T1" fmla="*/ 33 h 222"/>
                <a:gd name="T2" fmla="*/ 2306 w 2334"/>
                <a:gd name="T3" fmla="*/ 61 h 222"/>
                <a:gd name="T4" fmla="*/ 2273 w 2334"/>
                <a:gd name="T5" fmla="*/ 84 h 222"/>
                <a:gd name="T6" fmla="*/ 2181 w 2334"/>
                <a:gd name="T7" fmla="*/ 121 h 222"/>
                <a:gd name="T8" fmla="*/ 2056 w 2334"/>
                <a:gd name="T9" fmla="*/ 153 h 222"/>
                <a:gd name="T10" fmla="*/ 1899 w 2334"/>
                <a:gd name="T11" fmla="*/ 178 h 222"/>
                <a:gd name="T12" fmla="*/ 1715 w 2334"/>
                <a:gd name="T13" fmla="*/ 199 h 222"/>
                <a:gd name="T14" fmla="*/ 1400 w 2334"/>
                <a:gd name="T15" fmla="*/ 218 h 222"/>
                <a:gd name="T16" fmla="*/ 937 w 2334"/>
                <a:gd name="T17" fmla="*/ 218 h 222"/>
                <a:gd name="T18" fmla="*/ 621 w 2334"/>
                <a:gd name="T19" fmla="*/ 199 h 222"/>
                <a:gd name="T20" fmla="*/ 437 w 2334"/>
                <a:gd name="T21" fmla="*/ 178 h 222"/>
                <a:gd name="T22" fmla="*/ 280 w 2334"/>
                <a:gd name="T23" fmla="*/ 153 h 222"/>
                <a:gd name="T24" fmla="*/ 155 w 2334"/>
                <a:gd name="T25" fmla="*/ 122 h 222"/>
                <a:gd name="T26" fmla="*/ 65 w 2334"/>
                <a:gd name="T27" fmla="*/ 85 h 222"/>
                <a:gd name="T28" fmla="*/ 29 w 2334"/>
                <a:gd name="T29" fmla="*/ 61 h 222"/>
                <a:gd name="T30" fmla="*/ 6 w 2334"/>
                <a:gd name="T31" fmla="*/ 33 h 222"/>
                <a:gd name="T32" fmla="*/ 46 w 2334"/>
                <a:gd name="T33" fmla="*/ 0 h 222"/>
                <a:gd name="T34" fmla="*/ 47 w 2334"/>
                <a:gd name="T35" fmla="*/ 10 h 222"/>
                <a:gd name="T36" fmla="*/ 59 w 2334"/>
                <a:gd name="T37" fmla="*/ 25 h 222"/>
                <a:gd name="T38" fmla="*/ 121 w 2334"/>
                <a:gd name="T39" fmla="*/ 59 h 222"/>
                <a:gd name="T40" fmla="*/ 225 w 2334"/>
                <a:gd name="T41" fmla="*/ 91 h 222"/>
                <a:gd name="T42" fmla="*/ 362 w 2334"/>
                <a:gd name="T43" fmla="*/ 119 h 222"/>
                <a:gd name="T44" fmla="*/ 531 w 2334"/>
                <a:gd name="T45" fmla="*/ 142 h 222"/>
                <a:gd name="T46" fmla="*/ 724 w 2334"/>
                <a:gd name="T47" fmla="*/ 159 h 222"/>
                <a:gd name="T48" fmla="*/ 1167 w 2334"/>
                <a:gd name="T49" fmla="*/ 174 h 222"/>
                <a:gd name="T50" fmla="*/ 1611 w 2334"/>
                <a:gd name="T51" fmla="*/ 160 h 222"/>
                <a:gd name="T52" fmla="*/ 1804 w 2334"/>
                <a:gd name="T53" fmla="*/ 142 h 222"/>
                <a:gd name="T54" fmla="*/ 1972 w 2334"/>
                <a:gd name="T55" fmla="*/ 119 h 222"/>
                <a:gd name="T56" fmla="*/ 2110 w 2334"/>
                <a:gd name="T57" fmla="*/ 91 h 222"/>
                <a:gd name="T58" fmla="*/ 2211 w 2334"/>
                <a:gd name="T59" fmla="*/ 60 h 222"/>
                <a:gd name="T60" fmla="*/ 2275 w 2334"/>
                <a:gd name="T61" fmla="*/ 25 h 222"/>
                <a:gd name="T62" fmla="*/ 2288 w 2334"/>
                <a:gd name="T63" fmla="*/ 10 h 222"/>
                <a:gd name="T64" fmla="*/ 2288 w 2334"/>
                <a:gd name="T6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34" h="222">
                  <a:moveTo>
                    <a:pt x="2334" y="13"/>
                  </a:moveTo>
                  <a:lnTo>
                    <a:pt x="2328" y="33"/>
                  </a:lnTo>
                  <a:cubicBezTo>
                    <a:pt x="2327" y="37"/>
                    <a:pt x="2326" y="40"/>
                    <a:pt x="2323" y="42"/>
                  </a:cubicBezTo>
                  <a:lnTo>
                    <a:pt x="2306" y="61"/>
                  </a:lnTo>
                  <a:cubicBezTo>
                    <a:pt x="2305" y="63"/>
                    <a:pt x="2303" y="64"/>
                    <a:pt x="2301" y="66"/>
                  </a:cubicBezTo>
                  <a:lnTo>
                    <a:pt x="2273" y="84"/>
                  </a:lnTo>
                  <a:lnTo>
                    <a:pt x="2232" y="103"/>
                  </a:lnTo>
                  <a:lnTo>
                    <a:pt x="2181" y="121"/>
                  </a:lnTo>
                  <a:lnTo>
                    <a:pt x="2123" y="138"/>
                  </a:lnTo>
                  <a:lnTo>
                    <a:pt x="2056" y="153"/>
                  </a:lnTo>
                  <a:lnTo>
                    <a:pt x="1981" y="166"/>
                  </a:lnTo>
                  <a:lnTo>
                    <a:pt x="1899" y="178"/>
                  </a:lnTo>
                  <a:lnTo>
                    <a:pt x="1810" y="189"/>
                  </a:lnTo>
                  <a:lnTo>
                    <a:pt x="1715" y="199"/>
                  </a:lnTo>
                  <a:lnTo>
                    <a:pt x="1614" y="207"/>
                  </a:lnTo>
                  <a:lnTo>
                    <a:pt x="1400" y="218"/>
                  </a:lnTo>
                  <a:lnTo>
                    <a:pt x="1168" y="222"/>
                  </a:lnTo>
                  <a:lnTo>
                    <a:pt x="937" y="218"/>
                  </a:lnTo>
                  <a:lnTo>
                    <a:pt x="721" y="207"/>
                  </a:lnTo>
                  <a:lnTo>
                    <a:pt x="621" y="199"/>
                  </a:lnTo>
                  <a:lnTo>
                    <a:pt x="526" y="189"/>
                  </a:lnTo>
                  <a:lnTo>
                    <a:pt x="437" y="178"/>
                  </a:lnTo>
                  <a:lnTo>
                    <a:pt x="355" y="166"/>
                  </a:lnTo>
                  <a:lnTo>
                    <a:pt x="280" y="153"/>
                  </a:lnTo>
                  <a:lnTo>
                    <a:pt x="214" y="138"/>
                  </a:lnTo>
                  <a:lnTo>
                    <a:pt x="155" y="122"/>
                  </a:lnTo>
                  <a:lnTo>
                    <a:pt x="105" y="104"/>
                  </a:lnTo>
                  <a:lnTo>
                    <a:pt x="65" y="85"/>
                  </a:lnTo>
                  <a:lnTo>
                    <a:pt x="34" y="66"/>
                  </a:lnTo>
                  <a:cubicBezTo>
                    <a:pt x="32" y="65"/>
                    <a:pt x="30" y="63"/>
                    <a:pt x="29" y="61"/>
                  </a:cubicBezTo>
                  <a:lnTo>
                    <a:pt x="12" y="42"/>
                  </a:lnTo>
                  <a:cubicBezTo>
                    <a:pt x="9" y="40"/>
                    <a:pt x="7" y="37"/>
                    <a:pt x="6" y="33"/>
                  </a:cubicBezTo>
                  <a:lnTo>
                    <a:pt x="0" y="13"/>
                  </a:lnTo>
                  <a:lnTo>
                    <a:pt x="46" y="0"/>
                  </a:lnTo>
                  <a:lnTo>
                    <a:pt x="52" y="20"/>
                  </a:lnTo>
                  <a:lnTo>
                    <a:pt x="47" y="10"/>
                  </a:lnTo>
                  <a:lnTo>
                    <a:pt x="64" y="29"/>
                  </a:lnTo>
                  <a:lnTo>
                    <a:pt x="59" y="25"/>
                  </a:lnTo>
                  <a:lnTo>
                    <a:pt x="86" y="42"/>
                  </a:lnTo>
                  <a:lnTo>
                    <a:pt x="121" y="59"/>
                  </a:lnTo>
                  <a:lnTo>
                    <a:pt x="168" y="75"/>
                  </a:lnTo>
                  <a:lnTo>
                    <a:pt x="225" y="91"/>
                  </a:lnTo>
                  <a:lnTo>
                    <a:pt x="289" y="106"/>
                  </a:lnTo>
                  <a:lnTo>
                    <a:pt x="362" y="119"/>
                  </a:lnTo>
                  <a:lnTo>
                    <a:pt x="443" y="131"/>
                  </a:lnTo>
                  <a:lnTo>
                    <a:pt x="531" y="142"/>
                  </a:lnTo>
                  <a:lnTo>
                    <a:pt x="624" y="152"/>
                  </a:lnTo>
                  <a:lnTo>
                    <a:pt x="724" y="159"/>
                  </a:lnTo>
                  <a:lnTo>
                    <a:pt x="938" y="170"/>
                  </a:lnTo>
                  <a:lnTo>
                    <a:pt x="1167" y="174"/>
                  </a:lnTo>
                  <a:lnTo>
                    <a:pt x="1397" y="170"/>
                  </a:lnTo>
                  <a:lnTo>
                    <a:pt x="1611" y="160"/>
                  </a:lnTo>
                  <a:lnTo>
                    <a:pt x="1710" y="152"/>
                  </a:lnTo>
                  <a:lnTo>
                    <a:pt x="1804" y="142"/>
                  </a:lnTo>
                  <a:lnTo>
                    <a:pt x="1892" y="131"/>
                  </a:lnTo>
                  <a:lnTo>
                    <a:pt x="1972" y="119"/>
                  </a:lnTo>
                  <a:lnTo>
                    <a:pt x="2045" y="106"/>
                  </a:lnTo>
                  <a:lnTo>
                    <a:pt x="2110" y="91"/>
                  </a:lnTo>
                  <a:lnTo>
                    <a:pt x="2165" y="76"/>
                  </a:lnTo>
                  <a:lnTo>
                    <a:pt x="2211" y="60"/>
                  </a:lnTo>
                  <a:lnTo>
                    <a:pt x="2247" y="43"/>
                  </a:lnTo>
                  <a:lnTo>
                    <a:pt x="2275" y="25"/>
                  </a:lnTo>
                  <a:lnTo>
                    <a:pt x="2271" y="29"/>
                  </a:lnTo>
                  <a:lnTo>
                    <a:pt x="2288" y="10"/>
                  </a:lnTo>
                  <a:lnTo>
                    <a:pt x="2282" y="20"/>
                  </a:lnTo>
                  <a:lnTo>
                    <a:pt x="2288" y="0"/>
                  </a:lnTo>
                  <a:lnTo>
                    <a:pt x="2334" y="13"/>
                  </a:lnTo>
                  <a:close/>
                </a:path>
              </a:pathLst>
            </a:custGeom>
            <a:solidFill>
              <a:srgbClr val="BC9549"/>
            </a:solidFill>
            <a:ln w="0" cap="flat">
              <a:solidFill>
                <a:srgbClr val="BC954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Freeform 24"/>
            <p:cNvSpPr>
              <a:spLocks noEditPoints="1"/>
            </p:cNvSpPr>
            <p:nvPr/>
          </p:nvSpPr>
          <p:spPr bwMode="gray">
            <a:xfrm>
              <a:off x="3956050" y="2428875"/>
              <a:ext cx="1233488" cy="631825"/>
            </a:xfrm>
            <a:custGeom>
              <a:avLst/>
              <a:gdLst>
                <a:gd name="T0" fmla="*/ 7 w 2336"/>
                <a:gd name="T1" fmla="*/ 190 h 1200"/>
                <a:gd name="T2" fmla="*/ 35 w 2336"/>
                <a:gd name="T3" fmla="*/ 157 h 1200"/>
                <a:gd name="T4" fmla="*/ 154 w 2336"/>
                <a:gd name="T5" fmla="*/ 102 h 1200"/>
                <a:gd name="T6" fmla="*/ 355 w 2336"/>
                <a:gd name="T7" fmla="*/ 57 h 1200"/>
                <a:gd name="T8" fmla="*/ 621 w 2336"/>
                <a:gd name="T9" fmla="*/ 24 h 1200"/>
                <a:gd name="T10" fmla="*/ 1168 w 2336"/>
                <a:gd name="T11" fmla="*/ 0 h 1200"/>
                <a:gd name="T12" fmla="*/ 1715 w 2336"/>
                <a:gd name="T13" fmla="*/ 24 h 1200"/>
                <a:gd name="T14" fmla="*/ 1981 w 2336"/>
                <a:gd name="T15" fmla="*/ 57 h 1200"/>
                <a:gd name="T16" fmla="*/ 2181 w 2336"/>
                <a:gd name="T17" fmla="*/ 101 h 1200"/>
                <a:gd name="T18" fmla="*/ 2302 w 2336"/>
                <a:gd name="T19" fmla="*/ 157 h 1200"/>
                <a:gd name="T20" fmla="*/ 2329 w 2336"/>
                <a:gd name="T21" fmla="*/ 190 h 1200"/>
                <a:gd name="T22" fmla="*/ 2336 w 2336"/>
                <a:gd name="T23" fmla="*/ 984 h 1200"/>
                <a:gd name="T24" fmla="*/ 2324 w 2336"/>
                <a:gd name="T25" fmla="*/ 1020 h 1200"/>
                <a:gd name="T26" fmla="*/ 2274 w 2336"/>
                <a:gd name="T27" fmla="*/ 1062 h 1200"/>
                <a:gd name="T28" fmla="*/ 2124 w 2336"/>
                <a:gd name="T29" fmla="*/ 1116 h 1200"/>
                <a:gd name="T30" fmla="*/ 1900 w 2336"/>
                <a:gd name="T31" fmla="*/ 1156 h 1200"/>
                <a:gd name="T32" fmla="*/ 1615 w 2336"/>
                <a:gd name="T33" fmla="*/ 1185 h 1200"/>
                <a:gd name="T34" fmla="*/ 938 w 2336"/>
                <a:gd name="T35" fmla="*/ 1196 h 1200"/>
                <a:gd name="T36" fmla="*/ 527 w 2336"/>
                <a:gd name="T37" fmla="*/ 1167 h 1200"/>
                <a:gd name="T38" fmla="*/ 281 w 2336"/>
                <a:gd name="T39" fmla="*/ 1131 h 1200"/>
                <a:gd name="T40" fmla="*/ 106 w 2336"/>
                <a:gd name="T41" fmla="*/ 1082 h 1200"/>
                <a:gd name="T42" fmla="*/ 30 w 2336"/>
                <a:gd name="T43" fmla="*/ 1039 h 1200"/>
                <a:gd name="T44" fmla="*/ 1 w 2336"/>
                <a:gd name="T45" fmla="*/ 991 h 1200"/>
                <a:gd name="T46" fmla="*/ 48 w 2336"/>
                <a:gd name="T47" fmla="*/ 984 h 1200"/>
                <a:gd name="T48" fmla="*/ 48 w 2336"/>
                <a:gd name="T49" fmla="*/ 988 h 1200"/>
                <a:gd name="T50" fmla="*/ 87 w 2336"/>
                <a:gd name="T51" fmla="*/ 1020 h 1200"/>
                <a:gd name="T52" fmla="*/ 226 w 2336"/>
                <a:gd name="T53" fmla="*/ 1069 h 1200"/>
                <a:gd name="T54" fmla="*/ 444 w 2336"/>
                <a:gd name="T55" fmla="*/ 1109 h 1200"/>
                <a:gd name="T56" fmla="*/ 725 w 2336"/>
                <a:gd name="T57" fmla="*/ 1137 h 1200"/>
                <a:gd name="T58" fmla="*/ 1398 w 2336"/>
                <a:gd name="T59" fmla="*/ 1148 h 1200"/>
                <a:gd name="T60" fmla="*/ 1805 w 2336"/>
                <a:gd name="T61" fmla="*/ 1120 h 1200"/>
                <a:gd name="T62" fmla="*/ 2046 w 2336"/>
                <a:gd name="T63" fmla="*/ 1084 h 1200"/>
                <a:gd name="T64" fmla="*/ 2212 w 2336"/>
                <a:gd name="T65" fmla="*/ 1038 h 1200"/>
                <a:gd name="T66" fmla="*/ 2272 w 2336"/>
                <a:gd name="T67" fmla="*/ 1007 h 1200"/>
                <a:gd name="T68" fmla="*/ 2289 w 2336"/>
                <a:gd name="T69" fmla="*/ 978 h 1200"/>
                <a:gd name="T70" fmla="*/ 2289 w 2336"/>
                <a:gd name="T71" fmla="*/ 223 h 1200"/>
                <a:gd name="T72" fmla="*/ 2272 w 2336"/>
                <a:gd name="T73" fmla="*/ 193 h 1200"/>
                <a:gd name="T74" fmla="*/ 2214 w 2336"/>
                <a:gd name="T75" fmla="*/ 164 h 1200"/>
                <a:gd name="T76" fmla="*/ 2047 w 2336"/>
                <a:gd name="T77" fmla="*/ 118 h 1200"/>
                <a:gd name="T78" fmla="*/ 1806 w 2336"/>
                <a:gd name="T79" fmla="*/ 81 h 1200"/>
                <a:gd name="T80" fmla="*/ 1399 w 2336"/>
                <a:gd name="T81" fmla="*/ 52 h 1200"/>
                <a:gd name="T82" fmla="*/ 725 w 2336"/>
                <a:gd name="T83" fmla="*/ 63 h 1200"/>
                <a:gd name="T84" fmla="*/ 445 w 2336"/>
                <a:gd name="T85" fmla="*/ 92 h 1200"/>
                <a:gd name="T86" fmla="*/ 226 w 2336"/>
                <a:gd name="T87" fmla="*/ 133 h 1200"/>
                <a:gd name="T88" fmla="*/ 89 w 2336"/>
                <a:gd name="T89" fmla="*/ 180 h 1200"/>
                <a:gd name="T90" fmla="*/ 48 w 2336"/>
                <a:gd name="T91" fmla="*/ 212 h 1200"/>
                <a:gd name="T92" fmla="*/ 48 w 2336"/>
                <a:gd name="T93" fmla="*/ 216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336" h="1200">
                  <a:moveTo>
                    <a:pt x="0" y="216"/>
                  </a:moveTo>
                  <a:cubicBezTo>
                    <a:pt x="0" y="214"/>
                    <a:pt x="1" y="212"/>
                    <a:pt x="1" y="210"/>
                  </a:cubicBezTo>
                  <a:lnTo>
                    <a:pt x="7" y="190"/>
                  </a:lnTo>
                  <a:cubicBezTo>
                    <a:pt x="8" y="186"/>
                    <a:pt x="10" y="183"/>
                    <a:pt x="13" y="180"/>
                  </a:cubicBezTo>
                  <a:lnTo>
                    <a:pt x="30" y="161"/>
                  </a:lnTo>
                  <a:cubicBezTo>
                    <a:pt x="31" y="160"/>
                    <a:pt x="33" y="158"/>
                    <a:pt x="35" y="157"/>
                  </a:cubicBezTo>
                  <a:lnTo>
                    <a:pt x="64" y="139"/>
                  </a:lnTo>
                  <a:lnTo>
                    <a:pt x="104" y="120"/>
                  </a:lnTo>
                  <a:lnTo>
                    <a:pt x="154" y="102"/>
                  </a:lnTo>
                  <a:lnTo>
                    <a:pt x="214" y="86"/>
                  </a:lnTo>
                  <a:lnTo>
                    <a:pt x="280" y="71"/>
                  </a:lnTo>
                  <a:lnTo>
                    <a:pt x="355" y="57"/>
                  </a:lnTo>
                  <a:lnTo>
                    <a:pt x="438" y="45"/>
                  </a:lnTo>
                  <a:lnTo>
                    <a:pt x="526" y="34"/>
                  </a:lnTo>
                  <a:lnTo>
                    <a:pt x="621" y="24"/>
                  </a:lnTo>
                  <a:lnTo>
                    <a:pt x="722" y="16"/>
                  </a:lnTo>
                  <a:lnTo>
                    <a:pt x="937" y="4"/>
                  </a:lnTo>
                  <a:lnTo>
                    <a:pt x="1168" y="0"/>
                  </a:lnTo>
                  <a:lnTo>
                    <a:pt x="1400" y="4"/>
                  </a:lnTo>
                  <a:lnTo>
                    <a:pt x="1615" y="15"/>
                  </a:lnTo>
                  <a:lnTo>
                    <a:pt x="1715" y="24"/>
                  </a:lnTo>
                  <a:lnTo>
                    <a:pt x="1811" y="34"/>
                  </a:lnTo>
                  <a:lnTo>
                    <a:pt x="1899" y="45"/>
                  </a:lnTo>
                  <a:lnTo>
                    <a:pt x="1981" y="57"/>
                  </a:lnTo>
                  <a:lnTo>
                    <a:pt x="2056" y="71"/>
                  </a:lnTo>
                  <a:lnTo>
                    <a:pt x="2123" y="86"/>
                  </a:lnTo>
                  <a:lnTo>
                    <a:pt x="2181" y="101"/>
                  </a:lnTo>
                  <a:lnTo>
                    <a:pt x="2230" y="119"/>
                  </a:lnTo>
                  <a:lnTo>
                    <a:pt x="2272" y="138"/>
                  </a:lnTo>
                  <a:lnTo>
                    <a:pt x="2302" y="157"/>
                  </a:lnTo>
                  <a:cubicBezTo>
                    <a:pt x="2304" y="158"/>
                    <a:pt x="2306" y="160"/>
                    <a:pt x="2307" y="161"/>
                  </a:cubicBezTo>
                  <a:lnTo>
                    <a:pt x="2324" y="180"/>
                  </a:lnTo>
                  <a:cubicBezTo>
                    <a:pt x="2327" y="183"/>
                    <a:pt x="2328" y="186"/>
                    <a:pt x="2329" y="190"/>
                  </a:cubicBezTo>
                  <a:lnTo>
                    <a:pt x="2335" y="210"/>
                  </a:lnTo>
                  <a:cubicBezTo>
                    <a:pt x="2336" y="212"/>
                    <a:pt x="2336" y="214"/>
                    <a:pt x="2336" y="216"/>
                  </a:cubicBezTo>
                  <a:lnTo>
                    <a:pt x="2336" y="984"/>
                  </a:lnTo>
                  <a:cubicBezTo>
                    <a:pt x="2336" y="987"/>
                    <a:pt x="2336" y="989"/>
                    <a:pt x="2335" y="991"/>
                  </a:cubicBezTo>
                  <a:lnTo>
                    <a:pt x="2329" y="1011"/>
                  </a:lnTo>
                  <a:cubicBezTo>
                    <a:pt x="2328" y="1015"/>
                    <a:pt x="2327" y="1018"/>
                    <a:pt x="2324" y="1020"/>
                  </a:cubicBezTo>
                  <a:lnTo>
                    <a:pt x="2307" y="1039"/>
                  </a:lnTo>
                  <a:cubicBezTo>
                    <a:pt x="2306" y="1041"/>
                    <a:pt x="2304" y="1042"/>
                    <a:pt x="2302" y="1044"/>
                  </a:cubicBezTo>
                  <a:lnTo>
                    <a:pt x="2274" y="1062"/>
                  </a:lnTo>
                  <a:lnTo>
                    <a:pt x="2233" y="1081"/>
                  </a:lnTo>
                  <a:lnTo>
                    <a:pt x="2182" y="1099"/>
                  </a:lnTo>
                  <a:lnTo>
                    <a:pt x="2124" y="1116"/>
                  </a:lnTo>
                  <a:lnTo>
                    <a:pt x="2057" y="1131"/>
                  </a:lnTo>
                  <a:lnTo>
                    <a:pt x="1982" y="1144"/>
                  </a:lnTo>
                  <a:lnTo>
                    <a:pt x="1900" y="1156"/>
                  </a:lnTo>
                  <a:lnTo>
                    <a:pt x="1811" y="1167"/>
                  </a:lnTo>
                  <a:lnTo>
                    <a:pt x="1716" y="1177"/>
                  </a:lnTo>
                  <a:lnTo>
                    <a:pt x="1615" y="1185"/>
                  </a:lnTo>
                  <a:lnTo>
                    <a:pt x="1401" y="1196"/>
                  </a:lnTo>
                  <a:lnTo>
                    <a:pt x="1169" y="1200"/>
                  </a:lnTo>
                  <a:lnTo>
                    <a:pt x="938" y="1196"/>
                  </a:lnTo>
                  <a:lnTo>
                    <a:pt x="722" y="1185"/>
                  </a:lnTo>
                  <a:lnTo>
                    <a:pt x="622" y="1177"/>
                  </a:lnTo>
                  <a:lnTo>
                    <a:pt x="527" y="1167"/>
                  </a:lnTo>
                  <a:lnTo>
                    <a:pt x="438" y="1156"/>
                  </a:lnTo>
                  <a:lnTo>
                    <a:pt x="356" y="1144"/>
                  </a:lnTo>
                  <a:lnTo>
                    <a:pt x="281" y="1131"/>
                  </a:lnTo>
                  <a:lnTo>
                    <a:pt x="215" y="1116"/>
                  </a:lnTo>
                  <a:lnTo>
                    <a:pt x="156" y="1100"/>
                  </a:lnTo>
                  <a:lnTo>
                    <a:pt x="106" y="1082"/>
                  </a:lnTo>
                  <a:lnTo>
                    <a:pt x="66" y="1063"/>
                  </a:lnTo>
                  <a:lnTo>
                    <a:pt x="35" y="1044"/>
                  </a:lnTo>
                  <a:cubicBezTo>
                    <a:pt x="33" y="1043"/>
                    <a:pt x="31" y="1041"/>
                    <a:pt x="30" y="1039"/>
                  </a:cubicBezTo>
                  <a:lnTo>
                    <a:pt x="13" y="1020"/>
                  </a:lnTo>
                  <a:cubicBezTo>
                    <a:pt x="10" y="1018"/>
                    <a:pt x="8" y="1015"/>
                    <a:pt x="7" y="1011"/>
                  </a:cubicBezTo>
                  <a:lnTo>
                    <a:pt x="1" y="991"/>
                  </a:lnTo>
                  <a:cubicBezTo>
                    <a:pt x="1" y="989"/>
                    <a:pt x="0" y="987"/>
                    <a:pt x="0" y="984"/>
                  </a:cubicBezTo>
                  <a:lnTo>
                    <a:pt x="0" y="216"/>
                  </a:lnTo>
                  <a:close/>
                  <a:moveTo>
                    <a:pt x="48" y="984"/>
                  </a:moveTo>
                  <a:lnTo>
                    <a:pt x="47" y="978"/>
                  </a:lnTo>
                  <a:lnTo>
                    <a:pt x="53" y="998"/>
                  </a:lnTo>
                  <a:lnTo>
                    <a:pt x="48" y="988"/>
                  </a:lnTo>
                  <a:lnTo>
                    <a:pt x="65" y="1007"/>
                  </a:lnTo>
                  <a:lnTo>
                    <a:pt x="60" y="1003"/>
                  </a:lnTo>
                  <a:lnTo>
                    <a:pt x="87" y="1020"/>
                  </a:lnTo>
                  <a:lnTo>
                    <a:pt x="122" y="1037"/>
                  </a:lnTo>
                  <a:lnTo>
                    <a:pt x="169" y="1053"/>
                  </a:lnTo>
                  <a:lnTo>
                    <a:pt x="226" y="1069"/>
                  </a:lnTo>
                  <a:lnTo>
                    <a:pt x="290" y="1084"/>
                  </a:lnTo>
                  <a:lnTo>
                    <a:pt x="363" y="1097"/>
                  </a:lnTo>
                  <a:lnTo>
                    <a:pt x="444" y="1109"/>
                  </a:lnTo>
                  <a:lnTo>
                    <a:pt x="532" y="1120"/>
                  </a:lnTo>
                  <a:lnTo>
                    <a:pt x="625" y="1130"/>
                  </a:lnTo>
                  <a:lnTo>
                    <a:pt x="725" y="1137"/>
                  </a:lnTo>
                  <a:lnTo>
                    <a:pt x="939" y="1148"/>
                  </a:lnTo>
                  <a:lnTo>
                    <a:pt x="1168" y="1152"/>
                  </a:lnTo>
                  <a:lnTo>
                    <a:pt x="1398" y="1148"/>
                  </a:lnTo>
                  <a:lnTo>
                    <a:pt x="1612" y="1138"/>
                  </a:lnTo>
                  <a:lnTo>
                    <a:pt x="1711" y="1130"/>
                  </a:lnTo>
                  <a:lnTo>
                    <a:pt x="1805" y="1120"/>
                  </a:lnTo>
                  <a:lnTo>
                    <a:pt x="1893" y="1109"/>
                  </a:lnTo>
                  <a:lnTo>
                    <a:pt x="1973" y="1097"/>
                  </a:lnTo>
                  <a:lnTo>
                    <a:pt x="2046" y="1084"/>
                  </a:lnTo>
                  <a:lnTo>
                    <a:pt x="2111" y="1069"/>
                  </a:lnTo>
                  <a:lnTo>
                    <a:pt x="2166" y="1054"/>
                  </a:lnTo>
                  <a:lnTo>
                    <a:pt x="2212" y="1038"/>
                  </a:lnTo>
                  <a:lnTo>
                    <a:pt x="2248" y="1021"/>
                  </a:lnTo>
                  <a:lnTo>
                    <a:pt x="2276" y="1003"/>
                  </a:lnTo>
                  <a:lnTo>
                    <a:pt x="2272" y="1007"/>
                  </a:lnTo>
                  <a:lnTo>
                    <a:pt x="2289" y="988"/>
                  </a:lnTo>
                  <a:lnTo>
                    <a:pt x="2283" y="998"/>
                  </a:lnTo>
                  <a:lnTo>
                    <a:pt x="2289" y="978"/>
                  </a:lnTo>
                  <a:lnTo>
                    <a:pt x="2288" y="984"/>
                  </a:lnTo>
                  <a:lnTo>
                    <a:pt x="2288" y="216"/>
                  </a:lnTo>
                  <a:lnTo>
                    <a:pt x="2289" y="223"/>
                  </a:lnTo>
                  <a:lnTo>
                    <a:pt x="2283" y="203"/>
                  </a:lnTo>
                  <a:lnTo>
                    <a:pt x="2289" y="212"/>
                  </a:lnTo>
                  <a:lnTo>
                    <a:pt x="2272" y="193"/>
                  </a:lnTo>
                  <a:lnTo>
                    <a:pt x="2276" y="198"/>
                  </a:lnTo>
                  <a:lnTo>
                    <a:pt x="2251" y="181"/>
                  </a:lnTo>
                  <a:lnTo>
                    <a:pt x="2214" y="164"/>
                  </a:lnTo>
                  <a:lnTo>
                    <a:pt x="2168" y="148"/>
                  </a:lnTo>
                  <a:lnTo>
                    <a:pt x="2112" y="133"/>
                  </a:lnTo>
                  <a:lnTo>
                    <a:pt x="2047" y="118"/>
                  </a:lnTo>
                  <a:lnTo>
                    <a:pt x="1974" y="104"/>
                  </a:lnTo>
                  <a:lnTo>
                    <a:pt x="1893" y="92"/>
                  </a:lnTo>
                  <a:lnTo>
                    <a:pt x="1806" y="81"/>
                  </a:lnTo>
                  <a:lnTo>
                    <a:pt x="1712" y="71"/>
                  </a:lnTo>
                  <a:lnTo>
                    <a:pt x="1612" y="63"/>
                  </a:lnTo>
                  <a:lnTo>
                    <a:pt x="1399" y="52"/>
                  </a:lnTo>
                  <a:lnTo>
                    <a:pt x="1169" y="48"/>
                  </a:lnTo>
                  <a:lnTo>
                    <a:pt x="940" y="52"/>
                  </a:lnTo>
                  <a:lnTo>
                    <a:pt x="725" y="63"/>
                  </a:lnTo>
                  <a:lnTo>
                    <a:pt x="626" y="71"/>
                  </a:lnTo>
                  <a:lnTo>
                    <a:pt x="532" y="81"/>
                  </a:lnTo>
                  <a:lnTo>
                    <a:pt x="445" y="92"/>
                  </a:lnTo>
                  <a:lnTo>
                    <a:pt x="364" y="104"/>
                  </a:lnTo>
                  <a:lnTo>
                    <a:pt x="291" y="118"/>
                  </a:lnTo>
                  <a:lnTo>
                    <a:pt x="226" y="133"/>
                  </a:lnTo>
                  <a:lnTo>
                    <a:pt x="170" y="147"/>
                  </a:lnTo>
                  <a:lnTo>
                    <a:pt x="125" y="163"/>
                  </a:lnTo>
                  <a:lnTo>
                    <a:pt x="89" y="180"/>
                  </a:lnTo>
                  <a:lnTo>
                    <a:pt x="60" y="198"/>
                  </a:lnTo>
                  <a:lnTo>
                    <a:pt x="65" y="193"/>
                  </a:lnTo>
                  <a:lnTo>
                    <a:pt x="48" y="212"/>
                  </a:lnTo>
                  <a:lnTo>
                    <a:pt x="53" y="203"/>
                  </a:lnTo>
                  <a:lnTo>
                    <a:pt x="47" y="223"/>
                  </a:lnTo>
                  <a:lnTo>
                    <a:pt x="48" y="216"/>
                  </a:lnTo>
                  <a:lnTo>
                    <a:pt x="48" y="984"/>
                  </a:lnTo>
                  <a:close/>
                </a:path>
              </a:pathLst>
            </a:custGeom>
            <a:solidFill>
              <a:srgbClr val="BC9549"/>
            </a:solidFill>
            <a:ln w="0" cap="flat">
              <a:solidFill>
                <a:srgbClr val="BC9549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gray">
            <a:xfrm>
              <a:off x="4232275" y="2701925"/>
              <a:ext cx="8976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gray">
            <a:xfrm>
              <a:off x="4318000" y="2701925"/>
              <a:ext cx="703719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otification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gray">
            <a:xfrm>
              <a:off x="4427538" y="2862263"/>
              <a:ext cx="338234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Freeform 28"/>
            <p:cNvSpPr/>
            <p:nvPr/>
          </p:nvSpPr>
          <p:spPr bwMode="gray">
            <a:xfrm>
              <a:off x="2238375" y="3268663"/>
              <a:ext cx="1282700" cy="608012"/>
            </a:xfrm>
            <a:custGeom>
              <a:avLst/>
              <a:gdLst>
                <a:gd name="T0" fmla="*/ 0 w 2432"/>
                <a:gd name="T1" fmla="*/ 192 h 1152"/>
                <a:gd name="T2" fmla="*/ 1216 w 2432"/>
                <a:gd name="T3" fmla="*/ 0 h 1152"/>
                <a:gd name="T4" fmla="*/ 2432 w 2432"/>
                <a:gd name="T5" fmla="*/ 192 h 1152"/>
                <a:gd name="T6" fmla="*/ 2432 w 2432"/>
                <a:gd name="T7" fmla="*/ 192 h 1152"/>
                <a:gd name="T8" fmla="*/ 2432 w 2432"/>
                <a:gd name="T9" fmla="*/ 192 h 1152"/>
                <a:gd name="T10" fmla="*/ 2432 w 2432"/>
                <a:gd name="T11" fmla="*/ 960 h 1152"/>
                <a:gd name="T12" fmla="*/ 2432 w 2432"/>
                <a:gd name="T13" fmla="*/ 960 h 1152"/>
                <a:gd name="T14" fmla="*/ 1216 w 2432"/>
                <a:gd name="T15" fmla="*/ 1152 h 1152"/>
                <a:gd name="T16" fmla="*/ 0 w 2432"/>
                <a:gd name="T17" fmla="*/ 960 h 1152"/>
                <a:gd name="T18" fmla="*/ 0 w 2432"/>
                <a:gd name="T19" fmla="*/ 960 h 1152"/>
                <a:gd name="T20" fmla="*/ 0 w 2432"/>
                <a:gd name="T21" fmla="*/ 19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32" h="1152">
                  <a:moveTo>
                    <a:pt x="0" y="192"/>
                  </a:moveTo>
                  <a:cubicBezTo>
                    <a:pt x="0" y="86"/>
                    <a:pt x="545" y="0"/>
                    <a:pt x="1216" y="0"/>
                  </a:cubicBezTo>
                  <a:cubicBezTo>
                    <a:pt x="1888" y="0"/>
                    <a:pt x="2432" y="86"/>
                    <a:pt x="2432" y="192"/>
                  </a:cubicBezTo>
                  <a:cubicBezTo>
                    <a:pt x="2432" y="192"/>
                    <a:pt x="2432" y="192"/>
                    <a:pt x="2432" y="192"/>
                  </a:cubicBezTo>
                  <a:lnTo>
                    <a:pt x="2432" y="192"/>
                  </a:lnTo>
                  <a:lnTo>
                    <a:pt x="2432" y="960"/>
                  </a:lnTo>
                  <a:lnTo>
                    <a:pt x="2432" y="960"/>
                  </a:lnTo>
                  <a:cubicBezTo>
                    <a:pt x="2432" y="1067"/>
                    <a:pt x="1888" y="1152"/>
                    <a:pt x="1216" y="1152"/>
                  </a:cubicBezTo>
                  <a:cubicBezTo>
                    <a:pt x="545" y="1152"/>
                    <a:pt x="0" y="1067"/>
                    <a:pt x="0" y="96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0" y="192"/>
                  </a:lnTo>
                  <a:close/>
                </a:path>
              </a:pathLst>
            </a:custGeom>
            <a:solidFill>
              <a:srgbClr val="FFE2B8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Freeform 29"/>
            <p:cNvSpPr/>
            <p:nvPr/>
          </p:nvSpPr>
          <p:spPr bwMode="gray">
            <a:xfrm>
              <a:off x="2225675" y="3367088"/>
              <a:ext cx="1308100" cy="115887"/>
            </a:xfrm>
            <a:custGeom>
              <a:avLst/>
              <a:gdLst>
                <a:gd name="T0" fmla="*/ 2472 w 2478"/>
                <a:gd name="T1" fmla="*/ 33 h 222"/>
                <a:gd name="T2" fmla="*/ 2447 w 2478"/>
                <a:gd name="T3" fmla="*/ 62 h 222"/>
                <a:gd name="T4" fmla="*/ 2413 w 2478"/>
                <a:gd name="T5" fmla="*/ 84 h 222"/>
                <a:gd name="T6" fmla="*/ 2316 w 2478"/>
                <a:gd name="T7" fmla="*/ 121 h 222"/>
                <a:gd name="T8" fmla="*/ 2182 w 2478"/>
                <a:gd name="T9" fmla="*/ 153 h 222"/>
                <a:gd name="T10" fmla="*/ 2017 w 2478"/>
                <a:gd name="T11" fmla="*/ 178 h 222"/>
                <a:gd name="T12" fmla="*/ 1822 w 2478"/>
                <a:gd name="T13" fmla="*/ 199 h 222"/>
                <a:gd name="T14" fmla="*/ 1486 w 2478"/>
                <a:gd name="T15" fmla="*/ 218 h 222"/>
                <a:gd name="T16" fmla="*/ 994 w 2478"/>
                <a:gd name="T17" fmla="*/ 218 h 222"/>
                <a:gd name="T18" fmla="*/ 659 w 2478"/>
                <a:gd name="T19" fmla="*/ 199 h 222"/>
                <a:gd name="T20" fmla="*/ 464 w 2478"/>
                <a:gd name="T21" fmla="*/ 178 h 222"/>
                <a:gd name="T22" fmla="*/ 298 w 2478"/>
                <a:gd name="T23" fmla="*/ 153 h 222"/>
                <a:gd name="T24" fmla="*/ 164 w 2478"/>
                <a:gd name="T25" fmla="*/ 122 h 222"/>
                <a:gd name="T26" fmla="*/ 69 w 2478"/>
                <a:gd name="T27" fmla="*/ 85 h 222"/>
                <a:gd name="T28" fmla="*/ 31 w 2478"/>
                <a:gd name="T29" fmla="*/ 62 h 222"/>
                <a:gd name="T30" fmla="*/ 6 w 2478"/>
                <a:gd name="T31" fmla="*/ 33 h 222"/>
                <a:gd name="T32" fmla="*/ 46 w 2478"/>
                <a:gd name="T33" fmla="*/ 0 h 222"/>
                <a:gd name="T34" fmla="*/ 46 w 2478"/>
                <a:gd name="T35" fmla="*/ 9 h 222"/>
                <a:gd name="T36" fmla="*/ 61 w 2478"/>
                <a:gd name="T37" fmla="*/ 25 h 222"/>
                <a:gd name="T38" fmla="*/ 127 w 2478"/>
                <a:gd name="T39" fmla="*/ 59 h 222"/>
                <a:gd name="T40" fmla="*/ 236 w 2478"/>
                <a:gd name="T41" fmla="*/ 91 h 222"/>
                <a:gd name="T42" fmla="*/ 383 w 2478"/>
                <a:gd name="T43" fmla="*/ 119 h 222"/>
                <a:gd name="T44" fmla="*/ 562 w 2478"/>
                <a:gd name="T45" fmla="*/ 142 h 222"/>
                <a:gd name="T46" fmla="*/ 768 w 2478"/>
                <a:gd name="T47" fmla="*/ 159 h 222"/>
                <a:gd name="T48" fmla="*/ 1239 w 2478"/>
                <a:gd name="T49" fmla="*/ 174 h 222"/>
                <a:gd name="T50" fmla="*/ 1712 w 2478"/>
                <a:gd name="T51" fmla="*/ 160 h 222"/>
                <a:gd name="T52" fmla="*/ 1917 w 2478"/>
                <a:gd name="T53" fmla="*/ 142 h 222"/>
                <a:gd name="T54" fmla="*/ 2096 w 2478"/>
                <a:gd name="T55" fmla="*/ 119 h 222"/>
                <a:gd name="T56" fmla="*/ 2241 w 2478"/>
                <a:gd name="T57" fmla="*/ 91 h 222"/>
                <a:gd name="T58" fmla="*/ 2351 w 2478"/>
                <a:gd name="T59" fmla="*/ 60 h 222"/>
                <a:gd name="T60" fmla="*/ 2418 w 2478"/>
                <a:gd name="T61" fmla="*/ 25 h 222"/>
                <a:gd name="T62" fmla="*/ 2432 w 2478"/>
                <a:gd name="T63" fmla="*/ 9 h 222"/>
                <a:gd name="T64" fmla="*/ 2432 w 2478"/>
                <a:gd name="T6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78" h="222">
                  <a:moveTo>
                    <a:pt x="2478" y="13"/>
                  </a:moveTo>
                  <a:lnTo>
                    <a:pt x="2472" y="33"/>
                  </a:lnTo>
                  <a:cubicBezTo>
                    <a:pt x="2471" y="37"/>
                    <a:pt x="2469" y="41"/>
                    <a:pt x="2466" y="43"/>
                  </a:cubicBezTo>
                  <a:lnTo>
                    <a:pt x="2447" y="62"/>
                  </a:lnTo>
                  <a:cubicBezTo>
                    <a:pt x="2446" y="64"/>
                    <a:pt x="2444" y="65"/>
                    <a:pt x="2443" y="66"/>
                  </a:cubicBezTo>
                  <a:lnTo>
                    <a:pt x="2413" y="84"/>
                  </a:lnTo>
                  <a:lnTo>
                    <a:pt x="2370" y="103"/>
                  </a:lnTo>
                  <a:lnTo>
                    <a:pt x="2316" y="121"/>
                  </a:lnTo>
                  <a:lnTo>
                    <a:pt x="2254" y="138"/>
                  </a:lnTo>
                  <a:lnTo>
                    <a:pt x="2182" y="153"/>
                  </a:lnTo>
                  <a:lnTo>
                    <a:pt x="2103" y="166"/>
                  </a:lnTo>
                  <a:lnTo>
                    <a:pt x="2017" y="178"/>
                  </a:lnTo>
                  <a:lnTo>
                    <a:pt x="1922" y="189"/>
                  </a:lnTo>
                  <a:lnTo>
                    <a:pt x="1822" y="199"/>
                  </a:lnTo>
                  <a:lnTo>
                    <a:pt x="1715" y="207"/>
                  </a:lnTo>
                  <a:lnTo>
                    <a:pt x="1486" y="218"/>
                  </a:lnTo>
                  <a:lnTo>
                    <a:pt x="1240" y="222"/>
                  </a:lnTo>
                  <a:lnTo>
                    <a:pt x="994" y="218"/>
                  </a:lnTo>
                  <a:lnTo>
                    <a:pt x="765" y="207"/>
                  </a:lnTo>
                  <a:lnTo>
                    <a:pt x="659" y="199"/>
                  </a:lnTo>
                  <a:lnTo>
                    <a:pt x="557" y="189"/>
                  </a:lnTo>
                  <a:lnTo>
                    <a:pt x="464" y="178"/>
                  </a:lnTo>
                  <a:lnTo>
                    <a:pt x="376" y="166"/>
                  </a:lnTo>
                  <a:lnTo>
                    <a:pt x="298" y="153"/>
                  </a:lnTo>
                  <a:lnTo>
                    <a:pt x="226" y="138"/>
                  </a:lnTo>
                  <a:lnTo>
                    <a:pt x="164" y="122"/>
                  </a:lnTo>
                  <a:lnTo>
                    <a:pt x="112" y="104"/>
                  </a:lnTo>
                  <a:lnTo>
                    <a:pt x="69" y="85"/>
                  </a:lnTo>
                  <a:lnTo>
                    <a:pt x="36" y="66"/>
                  </a:lnTo>
                  <a:cubicBezTo>
                    <a:pt x="34" y="65"/>
                    <a:pt x="33" y="64"/>
                    <a:pt x="31" y="62"/>
                  </a:cubicBezTo>
                  <a:lnTo>
                    <a:pt x="12" y="43"/>
                  </a:lnTo>
                  <a:cubicBezTo>
                    <a:pt x="10" y="41"/>
                    <a:pt x="8" y="37"/>
                    <a:pt x="6" y="33"/>
                  </a:cubicBezTo>
                  <a:lnTo>
                    <a:pt x="0" y="13"/>
                  </a:lnTo>
                  <a:lnTo>
                    <a:pt x="46" y="0"/>
                  </a:lnTo>
                  <a:lnTo>
                    <a:pt x="52" y="20"/>
                  </a:lnTo>
                  <a:lnTo>
                    <a:pt x="46" y="9"/>
                  </a:lnTo>
                  <a:lnTo>
                    <a:pt x="65" y="28"/>
                  </a:lnTo>
                  <a:lnTo>
                    <a:pt x="61" y="25"/>
                  </a:lnTo>
                  <a:lnTo>
                    <a:pt x="88" y="41"/>
                  </a:lnTo>
                  <a:lnTo>
                    <a:pt x="127" y="59"/>
                  </a:lnTo>
                  <a:lnTo>
                    <a:pt x="177" y="75"/>
                  </a:lnTo>
                  <a:lnTo>
                    <a:pt x="236" y="91"/>
                  </a:lnTo>
                  <a:lnTo>
                    <a:pt x="305" y="106"/>
                  </a:lnTo>
                  <a:lnTo>
                    <a:pt x="383" y="119"/>
                  </a:lnTo>
                  <a:lnTo>
                    <a:pt x="469" y="131"/>
                  </a:lnTo>
                  <a:lnTo>
                    <a:pt x="562" y="142"/>
                  </a:lnTo>
                  <a:lnTo>
                    <a:pt x="662" y="152"/>
                  </a:lnTo>
                  <a:lnTo>
                    <a:pt x="768" y="159"/>
                  </a:lnTo>
                  <a:lnTo>
                    <a:pt x="995" y="170"/>
                  </a:lnTo>
                  <a:lnTo>
                    <a:pt x="1239" y="174"/>
                  </a:lnTo>
                  <a:lnTo>
                    <a:pt x="1483" y="170"/>
                  </a:lnTo>
                  <a:lnTo>
                    <a:pt x="1712" y="160"/>
                  </a:lnTo>
                  <a:lnTo>
                    <a:pt x="1817" y="152"/>
                  </a:lnTo>
                  <a:lnTo>
                    <a:pt x="1917" y="142"/>
                  </a:lnTo>
                  <a:lnTo>
                    <a:pt x="2010" y="131"/>
                  </a:lnTo>
                  <a:lnTo>
                    <a:pt x="2096" y="119"/>
                  </a:lnTo>
                  <a:lnTo>
                    <a:pt x="2172" y="106"/>
                  </a:lnTo>
                  <a:lnTo>
                    <a:pt x="2241" y="91"/>
                  </a:lnTo>
                  <a:lnTo>
                    <a:pt x="2301" y="76"/>
                  </a:lnTo>
                  <a:lnTo>
                    <a:pt x="2351" y="60"/>
                  </a:lnTo>
                  <a:lnTo>
                    <a:pt x="2388" y="43"/>
                  </a:lnTo>
                  <a:lnTo>
                    <a:pt x="2418" y="25"/>
                  </a:lnTo>
                  <a:lnTo>
                    <a:pt x="2413" y="28"/>
                  </a:lnTo>
                  <a:lnTo>
                    <a:pt x="2432" y="9"/>
                  </a:lnTo>
                  <a:lnTo>
                    <a:pt x="2426" y="20"/>
                  </a:lnTo>
                  <a:lnTo>
                    <a:pt x="2432" y="0"/>
                  </a:lnTo>
                  <a:lnTo>
                    <a:pt x="2478" y="13"/>
                  </a:lnTo>
                  <a:close/>
                </a:path>
              </a:pathLst>
            </a:custGeom>
            <a:solidFill>
              <a:srgbClr val="BCA686"/>
            </a:solidFill>
            <a:ln w="0" cap="flat">
              <a:solidFill>
                <a:srgbClr val="BCA686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Freeform 30"/>
            <p:cNvSpPr>
              <a:spLocks noEditPoints="1"/>
            </p:cNvSpPr>
            <p:nvPr/>
          </p:nvSpPr>
          <p:spPr bwMode="gray">
            <a:xfrm>
              <a:off x="2225675" y="3255963"/>
              <a:ext cx="1308100" cy="633412"/>
            </a:xfrm>
            <a:custGeom>
              <a:avLst/>
              <a:gdLst>
                <a:gd name="T0" fmla="*/ 7 w 2480"/>
                <a:gd name="T1" fmla="*/ 190 h 1200"/>
                <a:gd name="T2" fmla="*/ 37 w 2480"/>
                <a:gd name="T3" fmla="*/ 157 h 1200"/>
                <a:gd name="T4" fmla="*/ 164 w 2480"/>
                <a:gd name="T5" fmla="*/ 102 h 1200"/>
                <a:gd name="T6" fmla="*/ 376 w 2480"/>
                <a:gd name="T7" fmla="*/ 57 h 1200"/>
                <a:gd name="T8" fmla="*/ 659 w 2480"/>
                <a:gd name="T9" fmla="*/ 24 h 1200"/>
                <a:gd name="T10" fmla="*/ 1240 w 2480"/>
                <a:gd name="T11" fmla="*/ 0 h 1200"/>
                <a:gd name="T12" fmla="*/ 1822 w 2480"/>
                <a:gd name="T13" fmla="*/ 24 h 1200"/>
                <a:gd name="T14" fmla="*/ 2104 w 2480"/>
                <a:gd name="T15" fmla="*/ 57 h 1200"/>
                <a:gd name="T16" fmla="*/ 2315 w 2480"/>
                <a:gd name="T17" fmla="*/ 101 h 1200"/>
                <a:gd name="T18" fmla="*/ 2444 w 2480"/>
                <a:gd name="T19" fmla="*/ 157 h 1200"/>
                <a:gd name="T20" fmla="*/ 2473 w 2480"/>
                <a:gd name="T21" fmla="*/ 190 h 1200"/>
                <a:gd name="T22" fmla="*/ 2480 w 2480"/>
                <a:gd name="T23" fmla="*/ 984 h 1200"/>
                <a:gd name="T24" fmla="*/ 2467 w 2480"/>
                <a:gd name="T25" fmla="*/ 1021 h 1200"/>
                <a:gd name="T26" fmla="*/ 2414 w 2480"/>
                <a:gd name="T27" fmla="*/ 1062 h 1200"/>
                <a:gd name="T28" fmla="*/ 2255 w 2480"/>
                <a:gd name="T29" fmla="*/ 1116 h 1200"/>
                <a:gd name="T30" fmla="*/ 2018 w 2480"/>
                <a:gd name="T31" fmla="*/ 1156 h 1200"/>
                <a:gd name="T32" fmla="*/ 1716 w 2480"/>
                <a:gd name="T33" fmla="*/ 1185 h 1200"/>
                <a:gd name="T34" fmla="*/ 995 w 2480"/>
                <a:gd name="T35" fmla="*/ 1196 h 1200"/>
                <a:gd name="T36" fmla="*/ 558 w 2480"/>
                <a:gd name="T37" fmla="*/ 1167 h 1200"/>
                <a:gd name="T38" fmla="*/ 299 w 2480"/>
                <a:gd name="T39" fmla="*/ 1131 h 1200"/>
                <a:gd name="T40" fmla="*/ 113 w 2480"/>
                <a:gd name="T41" fmla="*/ 1082 h 1200"/>
                <a:gd name="T42" fmla="*/ 32 w 2480"/>
                <a:gd name="T43" fmla="*/ 1040 h 1200"/>
                <a:gd name="T44" fmla="*/ 1 w 2480"/>
                <a:gd name="T45" fmla="*/ 991 h 1200"/>
                <a:gd name="T46" fmla="*/ 48 w 2480"/>
                <a:gd name="T47" fmla="*/ 984 h 1200"/>
                <a:gd name="T48" fmla="*/ 47 w 2480"/>
                <a:gd name="T49" fmla="*/ 987 h 1200"/>
                <a:gd name="T50" fmla="*/ 89 w 2480"/>
                <a:gd name="T51" fmla="*/ 1019 h 1200"/>
                <a:gd name="T52" fmla="*/ 237 w 2480"/>
                <a:gd name="T53" fmla="*/ 1069 h 1200"/>
                <a:gd name="T54" fmla="*/ 470 w 2480"/>
                <a:gd name="T55" fmla="*/ 1109 h 1200"/>
                <a:gd name="T56" fmla="*/ 769 w 2480"/>
                <a:gd name="T57" fmla="*/ 1137 h 1200"/>
                <a:gd name="T58" fmla="*/ 1484 w 2480"/>
                <a:gd name="T59" fmla="*/ 1148 h 1200"/>
                <a:gd name="T60" fmla="*/ 1918 w 2480"/>
                <a:gd name="T61" fmla="*/ 1120 h 1200"/>
                <a:gd name="T62" fmla="*/ 2173 w 2480"/>
                <a:gd name="T63" fmla="*/ 1084 h 1200"/>
                <a:gd name="T64" fmla="*/ 2352 w 2480"/>
                <a:gd name="T65" fmla="*/ 1038 h 1200"/>
                <a:gd name="T66" fmla="*/ 2414 w 2480"/>
                <a:gd name="T67" fmla="*/ 1006 h 1200"/>
                <a:gd name="T68" fmla="*/ 2433 w 2480"/>
                <a:gd name="T69" fmla="*/ 978 h 1200"/>
                <a:gd name="T70" fmla="*/ 2433 w 2480"/>
                <a:gd name="T71" fmla="*/ 223 h 1200"/>
                <a:gd name="T72" fmla="*/ 2414 w 2480"/>
                <a:gd name="T73" fmla="*/ 194 h 1200"/>
                <a:gd name="T74" fmla="*/ 2354 w 2480"/>
                <a:gd name="T75" fmla="*/ 164 h 1200"/>
                <a:gd name="T76" fmla="*/ 2174 w 2480"/>
                <a:gd name="T77" fmla="*/ 118 h 1200"/>
                <a:gd name="T78" fmla="*/ 1918 w 2480"/>
                <a:gd name="T79" fmla="*/ 81 h 1200"/>
                <a:gd name="T80" fmla="*/ 1485 w 2480"/>
                <a:gd name="T81" fmla="*/ 52 h 1200"/>
                <a:gd name="T82" fmla="*/ 769 w 2480"/>
                <a:gd name="T83" fmla="*/ 63 h 1200"/>
                <a:gd name="T84" fmla="*/ 471 w 2480"/>
                <a:gd name="T85" fmla="*/ 92 h 1200"/>
                <a:gd name="T86" fmla="*/ 238 w 2480"/>
                <a:gd name="T87" fmla="*/ 133 h 1200"/>
                <a:gd name="T88" fmla="*/ 92 w 2480"/>
                <a:gd name="T89" fmla="*/ 180 h 1200"/>
                <a:gd name="T90" fmla="*/ 47 w 2480"/>
                <a:gd name="T91" fmla="*/ 213 h 1200"/>
                <a:gd name="T92" fmla="*/ 48 w 2480"/>
                <a:gd name="T93" fmla="*/ 216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80" h="1200">
                  <a:moveTo>
                    <a:pt x="0" y="216"/>
                  </a:moveTo>
                  <a:cubicBezTo>
                    <a:pt x="0" y="214"/>
                    <a:pt x="1" y="212"/>
                    <a:pt x="1" y="210"/>
                  </a:cubicBezTo>
                  <a:lnTo>
                    <a:pt x="7" y="190"/>
                  </a:lnTo>
                  <a:cubicBezTo>
                    <a:pt x="9" y="186"/>
                    <a:pt x="11" y="182"/>
                    <a:pt x="13" y="179"/>
                  </a:cubicBezTo>
                  <a:lnTo>
                    <a:pt x="32" y="160"/>
                  </a:lnTo>
                  <a:cubicBezTo>
                    <a:pt x="34" y="159"/>
                    <a:pt x="35" y="158"/>
                    <a:pt x="37" y="157"/>
                  </a:cubicBezTo>
                  <a:lnTo>
                    <a:pt x="67" y="139"/>
                  </a:lnTo>
                  <a:lnTo>
                    <a:pt x="111" y="119"/>
                  </a:lnTo>
                  <a:lnTo>
                    <a:pt x="164" y="102"/>
                  </a:lnTo>
                  <a:lnTo>
                    <a:pt x="227" y="86"/>
                  </a:lnTo>
                  <a:lnTo>
                    <a:pt x="297" y="71"/>
                  </a:lnTo>
                  <a:lnTo>
                    <a:pt x="376" y="57"/>
                  </a:lnTo>
                  <a:lnTo>
                    <a:pt x="464" y="45"/>
                  </a:lnTo>
                  <a:lnTo>
                    <a:pt x="558" y="34"/>
                  </a:lnTo>
                  <a:lnTo>
                    <a:pt x="659" y="24"/>
                  </a:lnTo>
                  <a:lnTo>
                    <a:pt x="766" y="16"/>
                  </a:lnTo>
                  <a:lnTo>
                    <a:pt x="994" y="4"/>
                  </a:lnTo>
                  <a:lnTo>
                    <a:pt x="1240" y="0"/>
                  </a:lnTo>
                  <a:lnTo>
                    <a:pt x="1486" y="4"/>
                  </a:lnTo>
                  <a:lnTo>
                    <a:pt x="1716" y="15"/>
                  </a:lnTo>
                  <a:lnTo>
                    <a:pt x="1822" y="24"/>
                  </a:lnTo>
                  <a:lnTo>
                    <a:pt x="1923" y="34"/>
                  </a:lnTo>
                  <a:lnTo>
                    <a:pt x="2017" y="45"/>
                  </a:lnTo>
                  <a:lnTo>
                    <a:pt x="2104" y="57"/>
                  </a:lnTo>
                  <a:lnTo>
                    <a:pt x="2183" y="71"/>
                  </a:lnTo>
                  <a:lnTo>
                    <a:pt x="2253" y="86"/>
                  </a:lnTo>
                  <a:lnTo>
                    <a:pt x="2315" y="101"/>
                  </a:lnTo>
                  <a:lnTo>
                    <a:pt x="2369" y="119"/>
                  </a:lnTo>
                  <a:lnTo>
                    <a:pt x="2411" y="138"/>
                  </a:lnTo>
                  <a:lnTo>
                    <a:pt x="2444" y="157"/>
                  </a:lnTo>
                  <a:cubicBezTo>
                    <a:pt x="2445" y="158"/>
                    <a:pt x="2447" y="159"/>
                    <a:pt x="2448" y="160"/>
                  </a:cubicBezTo>
                  <a:lnTo>
                    <a:pt x="2467" y="179"/>
                  </a:lnTo>
                  <a:cubicBezTo>
                    <a:pt x="2470" y="182"/>
                    <a:pt x="2472" y="186"/>
                    <a:pt x="2473" y="190"/>
                  </a:cubicBezTo>
                  <a:lnTo>
                    <a:pt x="2479" y="210"/>
                  </a:lnTo>
                  <a:cubicBezTo>
                    <a:pt x="2480" y="212"/>
                    <a:pt x="2480" y="214"/>
                    <a:pt x="2480" y="216"/>
                  </a:cubicBezTo>
                  <a:lnTo>
                    <a:pt x="2480" y="984"/>
                  </a:lnTo>
                  <a:cubicBezTo>
                    <a:pt x="2480" y="987"/>
                    <a:pt x="2480" y="989"/>
                    <a:pt x="2479" y="991"/>
                  </a:cubicBezTo>
                  <a:lnTo>
                    <a:pt x="2473" y="1011"/>
                  </a:lnTo>
                  <a:cubicBezTo>
                    <a:pt x="2472" y="1015"/>
                    <a:pt x="2470" y="1019"/>
                    <a:pt x="2467" y="1021"/>
                  </a:cubicBezTo>
                  <a:lnTo>
                    <a:pt x="2448" y="1040"/>
                  </a:lnTo>
                  <a:cubicBezTo>
                    <a:pt x="2447" y="1042"/>
                    <a:pt x="2445" y="1043"/>
                    <a:pt x="2444" y="1044"/>
                  </a:cubicBezTo>
                  <a:lnTo>
                    <a:pt x="2414" y="1062"/>
                  </a:lnTo>
                  <a:lnTo>
                    <a:pt x="2371" y="1081"/>
                  </a:lnTo>
                  <a:lnTo>
                    <a:pt x="2317" y="1099"/>
                  </a:lnTo>
                  <a:lnTo>
                    <a:pt x="2255" y="1116"/>
                  </a:lnTo>
                  <a:lnTo>
                    <a:pt x="2183" y="1131"/>
                  </a:lnTo>
                  <a:lnTo>
                    <a:pt x="2104" y="1144"/>
                  </a:lnTo>
                  <a:lnTo>
                    <a:pt x="2018" y="1156"/>
                  </a:lnTo>
                  <a:lnTo>
                    <a:pt x="1923" y="1167"/>
                  </a:lnTo>
                  <a:lnTo>
                    <a:pt x="1823" y="1177"/>
                  </a:lnTo>
                  <a:lnTo>
                    <a:pt x="1716" y="1185"/>
                  </a:lnTo>
                  <a:lnTo>
                    <a:pt x="1487" y="1196"/>
                  </a:lnTo>
                  <a:lnTo>
                    <a:pt x="1241" y="1200"/>
                  </a:lnTo>
                  <a:lnTo>
                    <a:pt x="995" y="1196"/>
                  </a:lnTo>
                  <a:lnTo>
                    <a:pt x="766" y="1185"/>
                  </a:lnTo>
                  <a:lnTo>
                    <a:pt x="660" y="1177"/>
                  </a:lnTo>
                  <a:lnTo>
                    <a:pt x="558" y="1167"/>
                  </a:lnTo>
                  <a:lnTo>
                    <a:pt x="465" y="1156"/>
                  </a:lnTo>
                  <a:lnTo>
                    <a:pt x="377" y="1144"/>
                  </a:lnTo>
                  <a:lnTo>
                    <a:pt x="299" y="1131"/>
                  </a:lnTo>
                  <a:lnTo>
                    <a:pt x="227" y="1116"/>
                  </a:lnTo>
                  <a:lnTo>
                    <a:pt x="165" y="1100"/>
                  </a:lnTo>
                  <a:lnTo>
                    <a:pt x="113" y="1082"/>
                  </a:lnTo>
                  <a:lnTo>
                    <a:pt x="70" y="1063"/>
                  </a:lnTo>
                  <a:lnTo>
                    <a:pt x="37" y="1044"/>
                  </a:lnTo>
                  <a:cubicBezTo>
                    <a:pt x="35" y="1043"/>
                    <a:pt x="34" y="1042"/>
                    <a:pt x="32" y="1040"/>
                  </a:cubicBezTo>
                  <a:lnTo>
                    <a:pt x="13" y="1021"/>
                  </a:lnTo>
                  <a:cubicBezTo>
                    <a:pt x="11" y="1019"/>
                    <a:pt x="9" y="1015"/>
                    <a:pt x="7" y="1011"/>
                  </a:cubicBezTo>
                  <a:lnTo>
                    <a:pt x="1" y="991"/>
                  </a:lnTo>
                  <a:cubicBezTo>
                    <a:pt x="1" y="989"/>
                    <a:pt x="0" y="987"/>
                    <a:pt x="0" y="984"/>
                  </a:cubicBezTo>
                  <a:lnTo>
                    <a:pt x="0" y="216"/>
                  </a:lnTo>
                  <a:close/>
                  <a:moveTo>
                    <a:pt x="48" y="984"/>
                  </a:moveTo>
                  <a:lnTo>
                    <a:pt x="47" y="978"/>
                  </a:lnTo>
                  <a:lnTo>
                    <a:pt x="53" y="998"/>
                  </a:lnTo>
                  <a:lnTo>
                    <a:pt x="47" y="987"/>
                  </a:lnTo>
                  <a:lnTo>
                    <a:pt x="66" y="1006"/>
                  </a:lnTo>
                  <a:lnTo>
                    <a:pt x="62" y="1003"/>
                  </a:lnTo>
                  <a:lnTo>
                    <a:pt x="89" y="1019"/>
                  </a:lnTo>
                  <a:lnTo>
                    <a:pt x="128" y="1037"/>
                  </a:lnTo>
                  <a:lnTo>
                    <a:pt x="178" y="1053"/>
                  </a:lnTo>
                  <a:lnTo>
                    <a:pt x="237" y="1069"/>
                  </a:lnTo>
                  <a:lnTo>
                    <a:pt x="306" y="1084"/>
                  </a:lnTo>
                  <a:lnTo>
                    <a:pt x="384" y="1097"/>
                  </a:lnTo>
                  <a:lnTo>
                    <a:pt x="470" y="1109"/>
                  </a:lnTo>
                  <a:lnTo>
                    <a:pt x="563" y="1120"/>
                  </a:lnTo>
                  <a:lnTo>
                    <a:pt x="663" y="1130"/>
                  </a:lnTo>
                  <a:lnTo>
                    <a:pt x="769" y="1137"/>
                  </a:lnTo>
                  <a:lnTo>
                    <a:pt x="996" y="1148"/>
                  </a:lnTo>
                  <a:lnTo>
                    <a:pt x="1240" y="1152"/>
                  </a:lnTo>
                  <a:lnTo>
                    <a:pt x="1484" y="1148"/>
                  </a:lnTo>
                  <a:lnTo>
                    <a:pt x="1713" y="1138"/>
                  </a:lnTo>
                  <a:lnTo>
                    <a:pt x="1818" y="1130"/>
                  </a:lnTo>
                  <a:lnTo>
                    <a:pt x="1918" y="1120"/>
                  </a:lnTo>
                  <a:lnTo>
                    <a:pt x="2011" y="1109"/>
                  </a:lnTo>
                  <a:lnTo>
                    <a:pt x="2097" y="1097"/>
                  </a:lnTo>
                  <a:lnTo>
                    <a:pt x="2173" y="1084"/>
                  </a:lnTo>
                  <a:lnTo>
                    <a:pt x="2242" y="1069"/>
                  </a:lnTo>
                  <a:lnTo>
                    <a:pt x="2302" y="1054"/>
                  </a:lnTo>
                  <a:lnTo>
                    <a:pt x="2352" y="1038"/>
                  </a:lnTo>
                  <a:lnTo>
                    <a:pt x="2389" y="1021"/>
                  </a:lnTo>
                  <a:lnTo>
                    <a:pt x="2419" y="1003"/>
                  </a:lnTo>
                  <a:lnTo>
                    <a:pt x="2414" y="1006"/>
                  </a:lnTo>
                  <a:lnTo>
                    <a:pt x="2433" y="987"/>
                  </a:lnTo>
                  <a:lnTo>
                    <a:pt x="2427" y="998"/>
                  </a:lnTo>
                  <a:lnTo>
                    <a:pt x="2433" y="978"/>
                  </a:lnTo>
                  <a:lnTo>
                    <a:pt x="2432" y="984"/>
                  </a:lnTo>
                  <a:lnTo>
                    <a:pt x="2432" y="216"/>
                  </a:lnTo>
                  <a:lnTo>
                    <a:pt x="2433" y="223"/>
                  </a:lnTo>
                  <a:lnTo>
                    <a:pt x="2427" y="203"/>
                  </a:lnTo>
                  <a:lnTo>
                    <a:pt x="2433" y="213"/>
                  </a:lnTo>
                  <a:lnTo>
                    <a:pt x="2414" y="194"/>
                  </a:lnTo>
                  <a:lnTo>
                    <a:pt x="2419" y="198"/>
                  </a:lnTo>
                  <a:lnTo>
                    <a:pt x="2392" y="181"/>
                  </a:lnTo>
                  <a:lnTo>
                    <a:pt x="2354" y="164"/>
                  </a:lnTo>
                  <a:lnTo>
                    <a:pt x="2304" y="148"/>
                  </a:lnTo>
                  <a:lnTo>
                    <a:pt x="2243" y="133"/>
                  </a:lnTo>
                  <a:lnTo>
                    <a:pt x="2174" y="118"/>
                  </a:lnTo>
                  <a:lnTo>
                    <a:pt x="2097" y="104"/>
                  </a:lnTo>
                  <a:lnTo>
                    <a:pt x="2012" y="92"/>
                  </a:lnTo>
                  <a:lnTo>
                    <a:pt x="1918" y="81"/>
                  </a:lnTo>
                  <a:lnTo>
                    <a:pt x="1819" y="71"/>
                  </a:lnTo>
                  <a:lnTo>
                    <a:pt x="1713" y="63"/>
                  </a:lnTo>
                  <a:lnTo>
                    <a:pt x="1485" y="52"/>
                  </a:lnTo>
                  <a:lnTo>
                    <a:pt x="1241" y="48"/>
                  </a:lnTo>
                  <a:lnTo>
                    <a:pt x="997" y="52"/>
                  </a:lnTo>
                  <a:lnTo>
                    <a:pt x="769" y="63"/>
                  </a:lnTo>
                  <a:lnTo>
                    <a:pt x="664" y="71"/>
                  </a:lnTo>
                  <a:lnTo>
                    <a:pt x="563" y="81"/>
                  </a:lnTo>
                  <a:lnTo>
                    <a:pt x="471" y="92"/>
                  </a:lnTo>
                  <a:lnTo>
                    <a:pt x="385" y="104"/>
                  </a:lnTo>
                  <a:lnTo>
                    <a:pt x="307" y="118"/>
                  </a:lnTo>
                  <a:lnTo>
                    <a:pt x="238" y="133"/>
                  </a:lnTo>
                  <a:lnTo>
                    <a:pt x="179" y="147"/>
                  </a:lnTo>
                  <a:lnTo>
                    <a:pt x="130" y="163"/>
                  </a:lnTo>
                  <a:lnTo>
                    <a:pt x="92" y="180"/>
                  </a:lnTo>
                  <a:lnTo>
                    <a:pt x="62" y="198"/>
                  </a:lnTo>
                  <a:lnTo>
                    <a:pt x="66" y="194"/>
                  </a:lnTo>
                  <a:lnTo>
                    <a:pt x="47" y="213"/>
                  </a:lnTo>
                  <a:lnTo>
                    <a:pt x="53" y="203"/>
                  </a:lnTo>
                  <a:lnTo>
                    <a:pt x="47" y="223"/>
                  </a:lnTo>
                  <a:lnTo>
                    <a:pt x="48" y="216"/>
                  </a:lnTo>
                  <a:lnTo>
                    <a:pt x="48" y="984"/>
                  </a:lnTo>
                  <a:close/>
                </a:path>
              </a:pathLst>
            </a:custGeom>
            <a:solidFill>
              <a:srgbClr val="BCA686"/>
            </a:solidFill>
            <a:ln w="0" cap="flat">
              <a:solidFill>
                <a:srgbClr val="BCA686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gray">
            <a:xfrm>
              <a:off x="2399030" y="3459508"/>
              <a:ext cx="93134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&lt;e</a:t>
              </a:r>
              <a:r>
                <a:rPr kumimoji="0" lang="en-US" altLang="zh-CN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dit-config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gray">
            <a:xfrm>
              <a:off x="2329815" y="3642705"/>
              <a:ext cx="89287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&lt;get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</a:t>
              </a:r>
              <a:r>
                <a:rPr kumimoji="0" lang="en-US" altLang="zh-CN" sz="12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gray">
            <a:xfrm>
              <a:off x="3128328" y="3642705"/>
              <a:ext cx="331822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&gt;.etc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Freeform 40"/>
            <p:cNvSpPr/>
            <p:nvPr/>
          </p:nvSpPr>
          <p:spPr bwMode="gray">
            <a:xfrm>
              <a:off x="2305050" y="4103687"/>
              <a:ext cx="1149350" cy="539750"/>
            </a:xfrm>
            <a:custGeom>
              <a:avLst/>
              <a:gdLst>
                <a:gd name="T0" fmla="*/ 0 w 2176"/>
                <a:gd name="T1" fmla="*/ 171 h 1024"/>
                <a:gd name="T2" fmla="*/ 1088 w 2176"/>
                <a:gd name="T3" fmla="*/ 0 h 1024"/>
                <a:gd name="T4" fmla="*/ 2176 w 2176"/>
                <a:gd name="T5" fmla="*/ 171 h 1024"/>
                <a:gd name="T6" fmla="*/ 2176 w 2176"/>
                <a:gd name="T7" fmla="*/ 171 h 1024"/>
                <a:gd name="T8" fmla="*/ 2176 w 2176"/>
                <a:gd name="T9" fmla="*/ 171 h 1024"/>
                <a:gd name="T10" fmla="*/ 2176 w 2176"/>
                <a:gd name="T11" fmla="*/ 854 h 1024"/>
                <a:gd name="T12" fmla="*/ 2176 w 2176"/>
                <a:gd name="T13" fmla="*/ 854 h 1024"/>
                <a:gd name="T14" fmla="*/ 1088 w 2176"/>
                <a:gd name="T15" fmla="*/ 1024 h 1024"/>
                <a:gd name="T16" fmla="*/ 0 w 2176"/>
                <a:gd name="T17" fmla="*/ 854 h 1024"/>
                <a:gd name="T18" fmla="*/ 0 w 2176"/>
                <a:gd name="T19" fmla="*/ 854 h 1024"/>
                <a:gd name="T20" fmla="*/ 0 w 2176"/>
                <a:gd name="T21" fmla="*/ 17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76" h="1024">
                  <a:moveTo>
                    <a:pt x="0" y="171"/>
                  </a:moveTo>
                  <a:cubicBezTo>
                    <a:pt x="0" y="77"/>
                    <a:pt x="488" y="0"/>
                    <a:pt x="1088" y="0"/>
                  </a:cubicBezTo>
                  <a:cubicBezTo>
                    <a:pt x="1689" y="0"/>
                    <a:pt x="2176" y="77"/>
                    <a:pt x="2176" y="171"/>
                  </a:cubicBezTo>
                  <a:cubicBezTo>
                    <a:pt x="2176" y="171"/>
                    <a:pt x="2176" y="171"/>
                    <a:pt x="2176" y="171"/>
                  </a:cubicBezTo>
                  <a:lnTo>
                    <a:pt x="2176" y="171"/>
                  </a:lnTo>
                  <a:lnTo>
                    <a:pt x="2176" y="854"/>
                  </a:lnTo>
                  <a:lnTo>
                    <a:pt x="2176" y="854"/>
                  </a:lnTo>
                  <a:cubicBezTo>
                    <a:pt x="2176" y="948"/>
                    <a:pt x="1689" y="1024"/>
                    <a:pt x="1088" y="1024"/>
                  </a:cubicBezTo>
                  <a:cubicBezTo>
                    <a:pt x="488" y="1024"/>
                    <a:pt x="0" y="948"/>
                    <a:pt x="0" y="854"/>
                  </a:cubicBezTo>
                  <a:cubicBezTo>
                    <a:pt x="0" y="854"/>
                    <a:pt x="0" y="854"/>
                    <a:pt x="0" y="854"/>
                  </a:cubicBezTo>
                  <a:lnTo>
                    <a:pt x="0" y="171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" name="Freeform 41"/>
            <p:cNvSpPr/>
            <p:nvPr/>
          </p:nvSpPr>
          <p:spPr bwMode="gray">
            <a:xfrm>
              <a:off x="2293938" y="4189412"/>
              <a:ext cx="1173163" cy="107950"/>
            </a:xfrm>
            <a:custGeom>
              <a:avLst/>
              <a:gdLst>
                <a:gd name="T0" fmla="*/ 2215 w 2221"/>
                <a:gd name="T1" fmla="*/ 33 h 203"/>
                <a:gd name="T2" fmla="*/ 2194 w 2221"/>
                <a:gd name="T3" fmla="*/ 59 h 203"/>
                <a:gd name="T4" fmla="*/ 2162 w 2221"/>
                <a:gd name="T5" fmla="*/ 80 h 203"/>
                <a:gd name="T6" fmla="*/ 2123 w 2221"/>
                <a:gd name="T7" fmla="*/ 97 h 203"/>
                <a:gd name="T8" fmla="*/ 2018 w 2221"/>
                <a:gd name="T9" fmla="*/ 127 h 203"/>
                <a:gd name="T10" fmla="*/ 1883 w 2221"/>
                <a:gd name="T11" fmla="*/ 153 h 203"/>
                <a:gd name="T12" fmla="*/ 1721 w 2221"/>
                <a:gd name="T13" fmla="*/ 174 h 203"/>
                <a:gd name="T14" fmla="*/ 1331 w 2221"/>
                <a:gd name="T15" fmla="*/ 200 h 203"/>
                <a:gd name="T16" fmla="*/ 891 w 2221"/>
                <a:gd name="T17" fmla="*/ 200 h 203"/>
                <a:gd name="T18" fmla="*/ 500 w 2221"/>
                <a:gd name="T19" fmla="*/ 174 h 203"/>
                <a:gd name="T20" fmla="*/ 338 w 2221"/>
                <a:gd name="T21" fmla="*/ 153 h 203"/>
                <a:gd name="T22" fmla="*/ 203 w 2221"/>
                <a:gd name="T23" fmla="*/ 127 h 203"/>
                <a:gd name="T24" fmla="*/ 101 w 2221"/>
                <a:gd name="T25" fmla="*/ 97 h 203"/>
                <a:gd name="T26" fmla="*/ 59 w 2221"/>
                <a:gd name="T27" fmla="*/ 80 h 203"/>
                <a:gd name="T28" fmla="*/ 27 w 2221"/>
                <a:gd name="T29" fmla="*/ 59 h 203"/>
                <a:gd name="T30" fmla="*/ 6 w 2221"/>
                <a:gd name="T31" fmla="*/ 33 h 203"/>
                <a:gd name="T32" fmla="*/ 45 w 2221"/>
                <a:gd name="T33" fmla="*/ 0 h 203"/>
                <a:gd name="T34" fmla="*/ 46 w 2221"/>
                <a:gd name="T35" fmla="*/ 9 h 203"/>
                <a:gd name="T36" fmla="*/ 57 w 2221"/>
                <a:gd name="T37" fmla="*/ 22 h 203"/>
                <a:gd name="T38" fmla="*/ 80 w 2221"/>
                <a:gd name="T39" fmla="*/ 37 h 203"/>
                <a:gd name="T40" fmla="*/ 159 w 2221"/>
                <a:gd name="T41" fmla="*/ 66 h 203"/>
                <a:gd name="T42" fmla="*/ 276 w 2221"/>
                <a:gd name="T43" fmla="*/ 94 h 203"/>
                <a:gd name="T44" fmla="*/ 421 w 2221"/>
                <a:gd name="T45" fmla="*/ 117 h 203"/>
                <a:gd name="T46" fmla="*/ 689 w 2221"/>
                <a:gd name="T47" fmla="*/ 142 h 203"/>
                <a:gd name="T48" fmla="*/ 1110 w 2221"/>
                <a:gd name="T49" fmla="*/ 155 h 203"/>
                <a:gd name="T50" fmla="*/ 1532 w 2221"/>
                <a:gd name="T51" fmla="*/ 143 h 203"/>
                <a:gd name="T52" fmla="*/ 1799 w 2221"/>
                <a:gd name="T53" fmla="*/ 117 h 203"/>
                <a:gd name="T54" fmla="*/ 1945 w 2221"/>
                <a:gd name="T55" fmla="*/ 94 h 203"/>
                <a:gd name="T56" fmla="*/ 2060 w 2221"/>
                <a:gd name="T57" fmla="*/ 67 h 203"/>
                <a:gd name="T58" fmla="*/ 2140 w 2221"/>
                <a:gd name="T59" fmla="*/ 37 h 203"/>
                <a:gd name="T60" fmla="*/ 2164 w 2221"/>
                <a:gd name="T61" fmla="*/ 22 h 203"/>
                <a:gd name="T62" fmla="*/ 2175 w 2221"/>
                <a:gd name="T63" fmla="*/ 9 h 203"/>
                <a:gd name="T64" fmla="*/ 2176 w 2221"/>
                <a:gd name="T6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21" h="203">
                  <a:moveTo>
                    <a:pt x="2221" y="16"/>
                  </a:moveTo>
                  <a:lnTo>
                    <a:pt x="2215" y="33"/>
                  </a:lnTo>
                  <a:cubicBezTo>
                    <a:pt x="2214" y="37"/>
                    <a:pt x="2212" y="39"/>
                    <a:pt x="2210" y="42"/>
                  </a:cubicBezTo>
                  <a:lnTo>
                    <a:pt x="2194" y="59"/>
                  </a:lnTo>
                  <a:cubicBezTo>
                    <a:pt x="2193" y="60"/>
                    <a:pt x="2191" y="62"/>
                    <a:pt x="2189" y="63"/>
                  </a:cubicBezTo>
                  <a:lnTo>
                    <a:pt x="2162" y="80"/>
                  </a:lnTo>
                  <a:cubicBezTo>
                    <a:pt x="2161" y="80"/>
                    <a:pt x="2160" y="81"/>
                    <a:pt x="2159" y="82"/>
                  </a:cubicBezTo>
                  <a:lnTo>
                    <a:pt x="2123" y="97"/>
                  </a:lnTo>
                  <a:lnTo>
                    <a:pt x="2075" y="112"/>
                  </a:lnTo>
                  <a:lnTo>
                    <a:pt x="2018" y="127"/>
                  </a:lnTo>
                  <a:lnTo>
                    <a:pt x="1956" y="141"/>
                  </a:lnTo>
                  <a:lnTo>
                    <a:pt x="1883" y="153"/>
                  </a:lnTo>
                  <a:lnTo>
                    <a:pt x="1806" y="164"/>
                  </a:lnTo>
                  <a:lnTo>
                    <a:pt x="1721" y="174"/>
                  </a:lnTo>
                  <a:lnTo>
                    <a:pt x="1537" y="190"/>
                  </a:lnTo>
                  <a:lnTo>
                    <a:pt x="1331" y="200"/>
                  </a:lnTo>
                  <a:lnTo>
                    <a:pt x="1111" y="203"/>
                  </a:lnTo>
                  <a:lnTo>
                    <a:pt x="891" y="200"/>
                  </a:lnTo>
                  <a:lnTo>
                    <a:pt x="686" y="190"/>
                  </a:lnTo>
                  <a:lnTo>
                    <a:pt x="500" y="174"/>
                  </a:lnTo>
                  <a:lnTo>
                    <a:pt x="416" y="164"/>
                  </a:lnTo>
                  <a:lnTo>
                    <a:pt x="338" y="153"/>
                  </a:lnTo>
                  <a:lnTo>
                    <a:pt x="267" y="141"/>
                  </a:lnTo>
                  <a:lnTo>
                    <a:pt x="203" y="127"/>
                  </a:lnTo>
                  <a:lnTo>
                    <a:pt x="148" y="113"/>
                  </a:lnTo>
                  <a:lnTo>
                    <a:pt x="101" y="97"/>
                  </a:lnTo>
                  <a:lnTo>
                    <a:pt x="62" y="82"/>
                  </a:lnTo>
                  <a:cubicBezTo>
                    <a:pt x="61" y="81"/>
                    <a:pt x="60" y="81"/>
                    <a:pt x="59" y="80"/>
                  </a:cubicBezTo>
                  <a:lnTo>
                    <a:pt x="32" y="63"/>
                  </a:lnTo>
                  <a:cubicBezTo>
                    <a:pt x="30" y="62"/>
                    <a:pt x="28" y="60"/>
                    <a:pt x="27" y="59"/>
                  </a:cubicBezTo>
                  <a:lnTo>
                    <a:pt x="11" y="42"/>
                  </a:lnTo>
                  <a:cubicBezTo>
                    <a:pt x="9" y="39"/>
                    <a:pt x="7" y="37"/>
                    <a:pt x="6" y="33"/>
                  </a:cubicBezTo>
                  <a:lnTo>
                    <a:pt x="0" y="16"/>
                  </a:lnTo>
                  <a:lnTo>
                    <a:pt x="45" y="0"/>
                  </a:lnTo>
                  <a:lnTo>
                    <a:pt x="51" y="17"/>
                  </a:lnTo>
                  <a:lnTo>
                    <a:pt x="46" y="9"/>
                  </a:lnTo>
                  <a:lnTo>
                    <a:pt x="62" y="26"/>
                  </a:lnTo>
                  <a:lnTo>
                    <a:pt x="57" y="22"/>
                  </a:lnTo>
                  <a:lnTo>
                    <a:pt x="84" y="39"/>
                  </a:lnTo>
                  <a:lnTo>
                    <a:pt x="80" y="37"/>
                  </a:lnTo>
                  <a:lnTo>
                    <a:pt x="116" y="52"/>
                  </a:lnTo>
                  <a:lnTo>
                    <a:pt x="159" y="66"/>
                  </a:lnTo>
                  <a:lnTo>
                    <a:pt x="214" y="80"/>
                  </a:lnTo>
                  <a:lnTo>
                    <a:pt x="276" y="94"/>
                  </a:lnTo>
                  <a:lnTo>
                    <a:pt x="345" y="106"/>
                  </a:lnTo>
                  <a:lnTo>
                    <a:pt x="421" y="117"/>
                  </a:lnTo>
                  <a:lnTo>
                    <a:pt x="505" y="127"/>
                  </a:lnTo>
                  <a:lnTo>
                    <a:pt x="689" y="142"/>
                  </a:lnTo>
                  <a:lnTo>
                    <a:pt x="892" y="152"/>
                  </a:lnTo>
                  <a:lnTo>
                    <a:pt x="1110" y="155"/>
                  </a:lnTo>
                  <a:lnTo>
                    <a:pt x="1328" y="152"/>
                  </a:lnTo>
                  <a:lnTo>
                    <a:pt x="1532" y="143"/>
                  </a:lnTo>
                  <a:lnTo>
                    <a:pt x="1716" y="127"/>
                  </a:lnTo>
                  <a:lnTo>
                    <a:pt x="1799" y="117"/>
                  </a:lnTo>
                  <a:lnTo>
                    <a:pt x="1875" y="106"/>
                  </a:lnTo>
                  <a:lnTo>
                    <a:pt x="1945" y="94"/>
                  </a:lnTo>
                  <a:lnTo>
                    <a:pt x="2007" y="80"/>
                  </a:lnTo>
                  <a:lnTo>
                    <a:pt x="2060" y="67"/>
                  </a:lnTo>
                  <a:lnTo>
                    <a:pt x="2104" y="52"/>
                  </a:lnTo>
                  <a:lnTo>
                    <a:pt x="2140" y="37"/>
                  </a:lnTo>
                  <a:lnTo>
                    <a:pt x="2137" y="39"/>
                  </a:lnTo>
                  <a:lnTo>
                    <a:pt x="2164" y="22"/>
                  </a:lnTo>
                  <a:lnTo>
                    <a:pt x="2159" y="26"/>
                  </a:lnTo>
                  <a:lnTo>
                    <a:pt x="2175" y="9"/>
                  </a:lnTo>
                  <a:lnTo>
                    <a:pt x="2170" y="17"/>
                  </a:lnTo>
                  <a:lnTo>
                    <a:pt x="2176" y="0"/>
                  </a:lnTo>
                  <a:lnTo>
                    <a:pt x="2221" y="16"/>
                  </a:lnTo>
                  <a:close/>
                </a:path>
              </a:pathLst>
            </a:custGeom>
            <a:solidFill>
              <a:srgbClr val="BC956F"/>
            </a:solidFill>
            <a:ln w="0" cap="flat">
              <a:solidFill>
                <a:srgbClr val="BC956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" name="Freeform 42"/>
            <p:cNvSpPr>
              <a:spLocks noEditPoints="1"/>
            </p:cNvSpPr>
            <p:nvPr/>
          </p:nvSpPr>
          <p:spPr bwMode="gray">
            <a:xfrm>
              <a:off x="2292350" y="4090987"/>
              <a:ext cx="1174750" cy="565150"/>
            </a:xfrm>
            <a:custGeom>
              <a:avLst/>
              <a:gdLst>
                <a:gd name="T0" fmla="*/ 8 w 2224"/>
                <a:gd name="T1" fmla="*/ 170 h 1072"/>
                <a:gd name="T2" fmla="*/ 34 w 2224"/>
                <a:gd name="T3" fmla="*/ 141 h 1072"/>
                <a:gd name="T4" fmla="*/ 101 w 2224"/>
                <a:gd name="T5" fmla="*/ 107 h 1072"/>
                <a:gd name="T6" fmla="*/ 268 w 2224"/>
                <a:gd name="T7" fmla="*/ 63 h 1072"/>
                <a:gd name="T8" fmla="*/ 502 w 2224"/>
                <a:gd name="T9" fmla="*/ 30 h 1072"/>
                <a:gd name="T10" fmla="*/ 1112 w 2224"/>
                <a:gd name="T11" fmla="*/ 0 h 1072"/>
                <a:gd name="T12" fmla="*/ 1722 w 2224"/>
                <a:gd name="T13" fmla="*/ 30 h 1072"/>
                <a:gd name="T14" fmla="*/ 1956 w 2224"/>
                <a:gd name="T15" fmla="*/ 63 h 1072"/>
                <a:gd name="T16" fmla="*/ 2123 w 2224"/>
                <a:gd name="T17" fmla="*/ 107 h 1072"/>
                <a:gd name="T18" fmla="*/ 2191 w 2224"/>
                <a:gd name="T19" fmla="*/ 141 h 1072"/>
                <a:gd name="T20" fmla="*/ 2217 w 2224"/>
                <a:gd name="T21" fmla="*/ 170 h 1072"/>
                <a:gd name="T22" fmla="*/ 2224 w 2224"/>
                <a:gd name="T23" fmla="*/ 878 h 1072"/>
                <a:gd name="T24" fmla="*/ 2212 w 2224"/>
                <a:gd name="T25" fmla="*/ 912 h 1072"/>
                <a:gd name="T26" fmla="*/ 2164 w 2224"/>
                <a:gd name="T27" fmla="*/ 950 h 1072"/>
                <a:gd name="T28" fmla="*/ 2077 w 2224"/>
                <a:gd name="T29" fmla="*/ 982 h 1072"/>
                <a:gd name="T30" fmla="*/ 1885 w 2224"/>
                <a:gd name="T31" fmla="*/ 1022 h 1072"/>
                <a:gd name="T32" fmla="*/ 1539 w 2224"/>
                <a:gd name="T33" fmla="*/ 1059 h 1072"/>
                <a:gd name="T34" fmla="*/ 893 w 2224"/>
                <a:gd name="T35" fmla="*/ 1069 h 1072"/>
                <a:gd name="T36" fmla="*/ 418 w 2224"/>
                <a:gd name="T37" fmla="*/ 1033 h 1072"/>
                <a:gd name="T38" fmla="*/ 206 w 2224"/>
                <a:gd name="T39" fmla="*/ 997 h 1072"/>
                <a:gd name="T40" fmla="*/ 64 w 2224"/>
                <a:gd name="T41" fmla="*/ 952 h 1072"/>
                <a:gd name="T42" fmla="*/ 29 w 2224"/>
                <a:gd name="T43" fmla="*/ 929 h 1072"/>
                <a:gd name="T44" fmla="*/ 2 w 2224"/>
                <a:gd name="T45" fmla="*/ 886 h 1072"/>
                <a:gd name="T46" fmla="*/ 48 w 2224"/>
                <a:gd name="T47" fmla="*/ 878 h 1072"/>
                <a:gd name="T48" fmla="*/ 48 w 2224"/>
                <a:gd name="T49" fmla="*/ 879 h 1072"/>
                <a:gd name="T50" fmla="*/ 86 w 2224"/>
                <a:gd name="T51" fmla="*/ 909 h 1072"/>
                <a:gd name="T52" fmla="*/ 161 w 2224"/>
                <a:gd name="T53" fmla="*/ 936 h 1072"/>
                <a:gd name="T54" fmla="*/ 347 w 2224"/>
                <a:gd name="T55" fmla="*/ 975 h 1072"/>
                <a:gd name="T56" fmla="*/ 691 w 2224"/>
                <a:gd name="T57" fmla="*/ 1011 h 1072"/>
                <a:gd name="T58" fmla="*/ 1330 w 2224"/>
                <a:gd name="T59" fmla="*/ 1021 h 1072"/>
                <a:gd name="T60" fmla="*/ 1801 w 2224"/>
                <a:gd name="T61" fmla="*/ 986 h 1072"/>
                <a:gd name="T62" fmla="*/ 2009 w 2224"/>
                <a:gd name="T63" fmla="*/ 950 h 1072"/>
                <a:gd name="T64" fmla="*/ 2142 w 2224"/>
                <a:gd name="T65" fmla="*/ 907 h 1072"/>
                <a:gd name="T66" fmla="*/ 2161 w 2224"/>
                <a:gd name="T67" fmla="*/ 896 h 1072"/>
                <a:gd name="T68" fmla="*/ 2178 w 2224"/>
                <a:gd name="T69" fmla="*/ 870 h 1072"/>
                <a:gd name="T70" fmla="*/ 2178 w 2224"/>
                <a:gd name="T71" fmla="*/ 203 h 1072"/>
                <a:gd name="T72" fmla="*/ 2161 w 2224"/>
                <a:gd name="T73" fmla="*/ 178 h 1072"/>
                <a:gd name="T74" fmla="*/ 2142 w 2224"/>
                <a:gd name="T75" fmla="*/ 167 h 1072"/>
                <a:gd name="T76" fmla="*/ 2009 w 2224"/>
                <a:gd name="T77" fmla="*/ 124 h 1072"/>
                <a:gd name="T78" fmla="*/ 1802 w 2224"/>
                <a:gd name="T79" fmla="*/ 87 h 1072"/>
                <a:gd name="T80" fmla="*/ 1331 w 2224"/>
                <a:gd name="T81" fmla="*/ 51 h 1072"/>
                <a:gd name="T82" fmla="*/ 691 w 2224"/>
                <a:gd name="T83" fmla="*/ 62 h 1072"/>
                <a:gd name="T84" fmla="*/ 348 w 2224"/>
                <a:gd name="T85" fmla="*/ 98 h 1072"/>
                <a:gd name="T86" fmla="*/ 163 w 2224"/>
                <a:gd name="T87" fmla="*/ 137 h 1072"/>
                <a:gd name="T88" fmla="*/ 86 w 2224"/>
                <a:gd name="T89" fmla="*/ 165 h 1072"/>
                <a:gd name="T90" fmla="*/ 48 w 2224"/>
                <a:gd name="T91" fmla="*/ 195 h 1072"/>
                <a:gd name="T92" fmla="*/ 48 w 2224"/>
                <a:gd name="T93" fmla="*/ 195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4" h="1072">
                  <a:moveTo>
                    <a:pt x="0" y="195"/>
                  </a:moveTo>
                  <a:cubicBezTo>
                    <a:pt x="0" y="193"/>
                    <a:pt x="1" y="190"/>
                    <a:pt x="2" y="187"/>
                  </a:cubicBezTo>
                  <a:lnTo>
                    <a:pt x="8" y="170"/>
                  </a:lnTo>
                  <a:cubicBezTo>
                    <a:pt x="9" y="167"/>
                    <a:pt x="11" y="164"/>
                    <a:pt x="13" y="162"/>
                  </a:cubicBezTo>
                  <a:lnTo>
                    <a:pt x="29" y="145"/>
                  </a:lnTo>
                  <a:cubicBezTo>
                    <a:pt x="30" y="144"/>
                    <a:pt x="32" y="142"/>
                    <a:pt x="34" y="141"/>
                  </a:cubicBezTo>
                  <a:lnTo>
                    <a:pt x="61" y="124"/>
                  </a:lnTo>
                  <a:cubicBezTo>
                    <a:pt x="62" y="123"/>
                    <a:pt x="63" y="123"/>
                    <a:pt x="64" y="122"/>
                  </a:cubicBezTo>
                  <a:lnTo>
                    <a:pt x="101" y="107"/>
                  </a:lnTo>
                  <a:lnTo>
                    <a:pt x="148" y="92"/>
                  </a:lnTo>
                  <a:lnTo>
                    <a:pt x="205" y="77"/>
                  </a:lnTo>
                  <a:lnTo>
                    <a:pt x="268" y="63"/>
                  </a:lnTo>
                  <a:lnTo>
                    <a:pt x="339" y="51"/>
                  </a:lnTo>
                  <a:lnTo>
                    <a:pt x="417" y="40"/>
                  </a:lnTo>
                  <a:lnTo>
                    <a:pt x="502" y="30"/>
                  </a:lnTo>
                  <a:lnTo>
                    <a:pt x="688" y="15"/>
                  </a:lnTo>
                  <a:lnTo>
                    <a:pt x="892" y="3"/>
                  </a:lnTo>
                  <a:lnTo>
                    <a:pt x="1112" y="0"/>
                  </a:lnTo>
                  <a:lnTo>
                    <a:pt x="1332" y="3"/>
                  </a:lnTo>
                  <a:lnTo>
                    <a:pt x="1538" y="14"/>
                  </a:lnTo>
                  <a:lnTo>
                    <a:pt x="1722" y="30"/>
                  </a:lnTo>
                  <a:lnTo>
                    <a:pt x="1807" y="40"/>
                  </a:lnTo>
                  <a:lnTo>
                    <a:pt x="1885" y="51"/>
                  </a:lnTo>
                  <a:lnTo>
                    <a:pt x="1956" y="63"/>
                  </a:lnTo>
                  <a:lnTo>
                    <a:pt x="2020" y="77"/>
                  </a:lnTo>
                  <a:lnTo>
                    <a:pt x="2075" y="91"/>
                  </a:lnTo>
                  <a:lnTo>
                    <a:pt x="2123" y="107"/>
                  </a:lnTo>
                  <a:lnTo>
                    <a:pt x="2161" y="122"/>
                  </a:lnTo>
                  <a:cubicBezTo>
                    <a:pt x="2162" y="123"/>
                    <a:pt x="2163" y="123"/>
                    <a:pt x="2164" y="124"/>
                  </a:cubicBezTo>
                  <a:lnTo>
                    <a:pt x="2191" y="141"/>
                  </a:lnTo>
                  <a:cubicBezTo>
                    <a:pt x="2193" y="142"/>
                    <a:pt x="2195" y="144"/>
                    <a:pt x="2196" y="145"/>
                  </a:cubicBezTo>
                  <a:lnTo>
                    <a:pt x="2212" y="162"/>
                  </a:lnTo>
                  <a:cubicBezTo>
                    <a:pt x="2214" y="164"/>
                    <a:pt x="2216" y="167"/>
                    <a:pt x="2217" y="170"/>
                  </a:cubicBezTo>
                  <a:lnTo>
                    <a:pt x="2223" y="187"/>
                  </a:lnTo>
                  <a:cubicBezTo>
                    <a:pt x="2224" y="190"/>
                    <a:pt x="2224" y="193"/>
                    <a:pt x="2224" y="195"/>
                  </a:cubicBezTo>
                  <a:lnTo>
                    <a:pt x="2224" y="878"/>
                  </a:lnTo>
                  <a:cubicBezTo>
                    <a:pt x="2224" y="881"/>
                    <a:pt x="2224" y="884"/>
                    <a:pt x="2223" y="886"/>
                  </a:cubicBezTo>
                  <a:lnTo>
                    <a:pt x="2217" y="903"/>
                  </a:lnTo>
                  <a:cubicBezTo>
                    <a:pt x="2216" y="907"/>
                    <a:pt x="2214" y="909"/>
                    <a:pt x="2212" y="912"/>
                  </a:cubicBezTo>
                  <a:lnTo>
                    <a:pt x="2196" y="929"/>
                  </a:lnTo>
                  <a:cubicBezTo>
                    <a:pt x="2195" y="930"/>
                    <a:pt x="2193" y="932"/>
                    <a:pt x="2191" y="933"/>
                  </a:cubicBezTo>
                  <a:lnTo>
                    <a:pt x="2164" y="950"/>
                  </a:lnTo>
                  <a:cubicBezTo>
                    <a:pt x="2163" y="950"/>
                    <a:pt x="2162" y="951"/>
                    <a:pt x="2161" y="952"/>
                  </a:cubicBezTo>
                  <a:lnTo>
                    <a:pt x="2125" y="967"/>
                  </a:lnTo>
                  <a:lnTo>
                    <a:pt x="2077" y="982"/>
                  </a:lnTo>
                  <a:lnTo>
                    <a:pt x="2020" y="997"/>
                  </a:lnTo>
                  <a:lnTo>
                    <a:pt x="1957" y="1010"/>
                  </a:lnTo>
                  <a:lnTo>
                    <a:pt x="1885" y="1022"/>
                  </a:lnTo>
                  <a:lnTo>
                    <a:pt x="1808" y="1033"/>
                  </a:lnTo>
                  <a:lnTo>
                    <a:pt x="1723" y="1043"/>
                  </a:lnTo>
                  <a:lnTo>
                    <a:pt x="1539" y="1059"/>
                  </a:lnTo>
                  <a:lnTo>
                    <a:pt x="1333" y="1069"/>
                  </a:lnTo>
                  <a:lnTo>
                    <a:pt x="1113" y="1072"/>
                  </a:lnTo>
                  <a:lnTo>
                    <a:pt x="893" y="1069"/>
                  </a:lnTo>
                  <a:lnTo>
                    <a:pt x="688" y="1059"/>
                  </a:lnTo>
                  <a:lnTo>
                    <a:pt x="502" y="1043"/>
                  </a:lnTo>
                  <a:lnTo>
                    <a:pt x="418" y="1033"/>
                  </a:lnTo>
                  <a:lnTo>
                    <a:pt x="340" y="1022"/>
                  </a:lnTo>
                  <a:lnTo>
                    <a:pt x="269" y="1010"/>
                  </a:lnTo>
                  <a:lnTo>
                    <a:pt x="206" y="997"/>
                  </a:lnTo>
                  <a:lnTo>
                    <a:pt x="150" y="983"/>
                  </a:lnTo>
                  <a:lnTo>
                    <a:pt x="103" y="967"/>
                  </a:lnTo>
                  <a:lnTo>
                    <a:pt x="64" y="952"/>
                  </a:lnTo>
                  <a:cubicBezTo>
                    <a:pt x="63" y="951"/>
                    <a:pt x="62" y="951"/>
                    <a:pt x="61" y="950"/>
                  </a:cubicBezTo>
                  <a:lnTo>
                    <a:pt x="34" y="933"/>
                  </a:lnTo>
                  <a:cubicBezTo>
                    <a:pt x="32" y="932"/>
                    <a:pt x="30" y="930"/>
                    <a:pt x="29" y="929"/>
                  </a:cubicBezTo>
                  <a:lnTo>
                    <a:pt x="13" y="912"/>
                  </a:lnTo>
                  <a:cubicBezTo>
                    <a:pt x="11" y="909"/>
                    <a:pt x="9" y="907"/>
                    <a:pt x="8" y="903"/>
                  </a:cubicBezTo>
                  <a:lnTo>
                    <a:pt x="2" y="886"/>
                  </a:lnTo>
                  <a:cubicBezTo>
                    <a:pt x="1" y="884"/>
                    <a:pt x="0" y="881"/>
                    <a:pt x="0" y="878"/>
                  </a:cubicBezTo>
                  <a:lnTo>
                    <a:pt x="0" y="195"/>
                  </a:lnTo>
                  <a:close/>
                  <a:moveTo>
                    <a:pt x="48" y="878"/>
                  </a:moveTo>
                  <a:lnTo>
                    <a:pt x="47" y="870"/>
                  </a:lnTo>
                  <a:lnTo>
                    <a:pt x="53" y="887"/>
                  </a:lnTo>
                  <a:lnTo>
                    <a:pt x="48" y="879"/>
                  </a:lnTo>
                  <a:lnTo>
                    <a:pt x="64" y="896"/>
                  </a:lnTo>
                  <a:lnTo>
                    <a:pt x="59" y="892"/>
                  </a:lnTo>
                  <a:lnTo>
                    <a:pt x="86" y="909"/>
                  </a:lnTo>
                  <a:lnTo>
                    <a:pt x="82" y="907"/>
                  </a:lnTo>
                  <a:lnTo>
                    <a:pt x="118" y="922"/>
                  </a:lnTo>
                  <a:lnTo>
                    <a:pt x="161" y="936"/>
                  </a:lnTo>
                  <a:lnTo>
                    <a:pt x="215" y="950"/>
                  </a:lnTo>
                  <a:lnTo>
                    <a:pt x="278" y="963"/>
                  </a:lnTo>
                  <a:lnTo>
                    <a:pt x="347" y="975"/>
                  </a:lnTo>
                  <a:lnTo>
                    <a:pt x="423" y="986"/>
                  </a:lnTo>
                  <a:lnTo>
                    <a:pt x="507" y="996"/>
                  </a:lnTo>
                  <a:lnTo>
                    <a:pt x="691" y="1011"/>
                  </a:lnTo>
                  <a:lnTo>
                    <a:pt x="894" y="1021"/>
                  </a:lnTo>
                  <a:lnTo>
                    <a:pt x="1112" y="1024"/>
                  </a:lnTo>
                  <a:lnTo>
                    <a:pt x="1330" y="1021"/>
                  </a:lnTo>
                  <a:lnTo>
                    <a:pt x="1534" y="1012"/>
                  </a:lnTo>
                  <a:lnTo>
                    <a:pt x="1718" y="996"/>
                  </a:lnTo>
                  <a:lnTo>
                    <a:pt x="1801" y="986"/>
                  </a:lnTo>
                  <a:lnTo>
                    <a:pt x="1877" y="975"/>
                  </a:lnTo>
                  <a:lnTo>
                    <a:pt x="1948" y="963"/>
                  </a:lnTo>
                  <a:lnTo>
                    <a:pt x="2009" y="950"/>
                  </a:lnTo>
                  <a:lnTo>
                    <a:pt x="2062" y="937"/>
                  </a:lnTo>
                  <a:lnTo>
                    <a:pt x="2106" y="922"/>
                  </a:lnTo>
                  <a:lnTo>
                    <a:pt x="2142" y="907"/>
                  </a:lnTo>
                  <a:lnTo>
                    <a:pt x="2139" y="909"/>
                  </a:lnTo>
                  <a:lnTo>
                    <a:pt x="2166" y="892"/>
                  </a:lnTo>
                  <a:lnTo>
                    <a:pt x="2161" y="896"/>
                  </a:lnTo>
                  <a:lnTo>
                    <a:pt x="2177" y="879"/>
                  </a:lnTo>
                  <a:lnTo>
                    <a:pt x="2172" y="887"/>
                  </a:lnTo>
                  <a:lnTo>
                    <a:pt x="2178" y="870"/>
                  </a:lnTo>
                  <a:lnTo>
                    <a:pt x="2176" y="878"/>
                  </a:lnTo>
                  <a:lnTo>
                    <a:pt x="2176" y="195"/>
                  </a:lnTo>
                  <a:lnTo>
                    <a:pt x="2178" y="203"/>
                  </a:lnTo>
                  <a:lnTo>
                    <a:pt x="2172" y="186"/>
                  </a:lnTo>
                  <a:lnTo>
                    <a:pt x="2177" y="195"/>
                  </a:lnTo>
                  <a:lnTo>
                    <a:pt x="2161" y="178"/>
                  </a:lnTo>
                  <a:lnTo>
                    <a:pt x="2166" y="182"/>
                  </a:lnTo>
                  <a:lnTo>
                    <a:pt x="2139" y="165"/>
                  </a:lnTo>
                  <a:lnTo>
                    <a:pt x="2142" y="167"/>
                  </a:lnTo>
                  <a:lnTo>
                    <a:pt x="2108" y="152"/>
                  </a:lnTo>
                  <a:lnTo>
                    <a:pt x="2064" y="138"/>
                  </a:lnTo>
                  <a:lnTo>
                    <a:pt x="2009" y="124"/>
                  </a:lnTo>
                  <a:lnTo>
                    <a:pt x="1948" y="110"/>
                  </a:lnTo>
                  <a:lnTo>
                    <a:pt x="1878" y="98"/>
                  </a:lnTo>
                  <a:lnTo>
                    <a:pt x="1802" y="87"/>
                  </a:lnTo>
                  <a:lnTo>
                    <a:pt x="1719" y="77"/>
                  </a:lnTo>
                  <a:lnTo>
                    <a:pt x="1535" y="62"/>
                  </a:lnTo>
                  <a:lnTo>
                    <a:pt x="1331" y="51"/>
                  </a:lnTo>
                  <a:lnTo>
                    <a:pt x="1113" y="48"/>
                  </a:lnTo>
                  <a:lnTo>
                    <a:pt x="895" y="51"/>
                  </a:lnTo>
                  <a:lnTo>
                    <a:pt x="691" y="62"/>
                  </a:lnTo>
                  <a:lnTo>
                    <a:pt x="507" y="77"/>
                  </a:lnTo>
                  <a:lnTo>
                    <a:pt x="424" y="87"/>
                  </a:lnTo>
                  <a:lnTo>
                    <a:pt x="348" y="98"/>
                  </a:lnTo>
                  <a:lnTo>
                    <a:pt x="279" y="110"/>
                  </a:lnTo>
                  <a:lnTo>
                    <a:pt x="216" y="124"/>
                  </a:lnTo>
                  <a:lnTo>
                    <a:pt x="163" y="137"/>
                  </a:lnTo>
                  <a:lnTo>
                    <a:pt x="119" y="152"/>
                  </a:lnTo>
                  <a:lnTo>
                    <a:pt x="82" y="167"/>
                  </a:lnTo>
                  <a:lnTo>
                    <a:pt x="86" y="165"/>
                  </a:lnTo>
                  <a:lnTo>
                    <a:pt x="59" y="182"/>
                  </a:lnTo>
                  <a:lnTo>
                    <a:pt x="64" y="178"/>
                  </a:lnTo>
                  <a:lnTo>
                    <a:pt x="48" y="195"/>
                  </a:lnTo>
                  <a:lnTo>
                    <a:pt x="53" y="186"/>
                  </a:lnTo>
                  <a:lnTo>
                    <a:pt x="47" y="203"/>
                  </a:lnTo>
                  <a:lnTo>
                    <a:pt x="48" y="195"/>
                  </a:lnTo>
                  <a:lnTo>
                    <a:pt x="48" y="878"/>
                  </a:lnTo>
                  <a:close/>
                </a:path>
              </a:pathLst>
            </a:custGeom>
            <a:solidFill>
              <a:srgbClr val="BC956F"/>
            </a:solidFill>
            <a:ln w="0" cap="flat">
              <a:solidFill>
                <a:srgbClr val="BC956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gray">
            <a:xfrm>
              <a:off x="2706688" y="4271962"/>
              <a:ext cx="8816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gray">
            <a:xfrm>
              <a:off x="2782888" y="4271962"/>
              <a:ext cx="21640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rpc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gray">
            <a:xfrm>
              <a:off x="2968625" y="4271962"/>
              <a:ext cx="8816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gray">
            <a:xfrm>
              <a:off x="2492375" y="4433510"/>
              <a:ext cx="79829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&lt;rpc-reply&gt;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Freeform 51"/>
            <p:cNvSpPr/>
            <p:nvPr/>
          </p:nvSpPr>
          <p:spPr bwMode="gray">
            <a:xfrm>
              <a:off x="3994150" y="4103687"/>
              <a:ext cx="1149350" cy="539750"/>
            </a:xfrm>
            <a:custGeom>
              <a:avLst/>
              <a:gdLst>
                <a:gd name="T0" fmla="*/ 0 w 2176"/>
                <a:gd name="T1" fmla="*/ 171 h 1024"/>
                <a:gd name="T2" fmla="*/ 1088 w 2176"/>
                <a:gd name="T3" fmla="*/ 0 h 1024"/>
                <a:gd name="T4" fmla="*/ 2176 w 2176"/>
                <a:gd name="T5" fmla="*/ 171 h 1024"/>
                <a:gd name="T6" fmla="*/ 2176 w 2176"/>
                <a:gd name="T7" fmla="*/ 171 h 1024"/>
                <a:gd name="T8" fmla="*/ 2176 w 2176"/>
                <a:gd name="T9" fmla="*/ 171 h 1024"/>
                <a:gd name="T10" fmla="*/ 2176 w 2176"/>
                <a:gd name="T11" fmla="*/ 854 h 1024"/>
                <a:gd name="T12" fmla="*/ 2176 w 2176"/>
                <a:gd name="T13" fmla="*/ 854 h 1024"/>
                <a:gd name="T14" fmla="*/ 1088 w 2176"/>
                <a:gd name="T15" fmla="*/ 1024 h 1024"/>
                <a:gd name="T16" fmla="*/ 0 w 2176"/>
                <a:gd name="T17" fmla="*/ 854 h 1024"/>
                <a:gd name="T18" fmla="*/ 0 w 2176"/>
                <a:gd name="T19" fmla="*/ 854 h 1024"/>
                <a:gd name="T20" fmla="*/ 0 w 2176"/>
                <a:gd name="T21" fmla="*/ 17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76" h="1024">
                  <a:moveTo>
                    <a:pt x="0" y="171"/>
                  </a:moveTo>
                  <a:cubicBezTo>
                    <a:pt x="0" y="77"/>
                    <a:pt x="488" y="0"/>
                    <a:pt x="1088" y="0"/>
                  </a:cubicBezTo>
                  <a:cubicBezTo>
                    <a:pt x="1689" y="0"/>
                    <a:pt x="2176" y="77"/>
                    <a:pt x="2176" y="171"/>
                  </a:cubicBezTo>
                  <a:cubicBezTo>
                    <a:pt x="2176" y="171"/>
                    <a:pt x="2176" y="171"/>
                    <a:pt x="2176" y="171"/>
                  </a:cubicBezTo>
                  <a:lnTo>
                    <a:pt x="2176" y="171"/>
                  </a:lnTo>
                  <a:lnTo>
                    <a:pt x="2176" y="854"/>
                  </a:lnTo>
                  <a:lnTo>
                    <a:pt x="2176" y="854"/>
                  </a:lnTo>
                  <a:cubicBezTo>
                    <a:pt x="2176" y="948"/>
                    <a:pt x="1689" y="1024"/>
                    <a:pt x="1088" y="1024"/>
                  </a:cubicBezTo>
                  <a:cubicBezTo>
                    <a:pt x="488" y="1024"/>
                    <a:pt x="0" y="948"/>
                    <a:pt x="0" y="854"/>
                  </a:cubicBezTo>
                  <a:cubicBezTo>
                    <a:pt x="0" y="854"/>
                    <a:pt x="0" y="854"/>
                    <a:pt x="0" y="854"/>
                  </a:cubicBezTo>
                  <a:lnTo>
                    <a:pt x="0" y="171"/>
                  </a:lnTo>
                  <a:close/>
                </a:path>
              </a:pathLst>
            </a:custGeom>
            <a:solidFill>
              <a:srgbClr val="FFCC99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Freeform 52"/>
            <p:cNvSpPr/>
            <p:nvPr/>
          </p:nvSpPr>
          <p:spPr bwMode="gray">
            <a:xfrm>
              <a:off x="3983038" y="4189412"/>
              <a:ext cx="1173163" cy="107950"/>
            </a:xfrm>
            <a:custGeom>
              <a:avLst/>
              <a:gdLst>
                <a:gd name="T0" fmla="*/ 2215 w 2221"/>
                <a:gd name="T1" fmla="*/ 33 h 203"/>
                <a:gd name="T2" fmla="*/ 2194 w 2221"/>
                <a:gd name="T3" fmla="*/ 59 h 203"/>
                <a:gd name="T4" fmla="*/ 2162 w 2221"/>
                <a:gd name="T5" fmla="*/ 80 h 203"/>
                <a:gd name="T6" fmla="*/ 2123 w 2221"/>
                <a:gd name="T7" fmla="*/ 97 h 203"/>
                <a:gd name="T8" fmla="*/ 2018 w 2221"/>
                <a:gd name="T9" fmla="*/ 127 h 203"/>
                <a:gd name="T10" fmla="*/ 1883 w 2221"/>
                <a:gd name="T11" fmla="*/ 153 h 203"/>
                <a:gd name="T12" fmla="*/ 1721 w 2221"/>
                <a:gd name="T13" fmla="*/ 174 h 203"/>
                <a:gd name="T14" fmla="*/ 1331 w 2221"/>
                <a:gd name="T15" fmla="*/ 200 h 203"/>
                <a:gd name="T16" fmla="*/ 891 w 2221"/>
                <a:gd name="T17" fmla="*/ 200 h 203"/>
                <a:gd name="T18" fmla="*/ 500 w 2221"/>
                <a:gd name="T19" fmla="*/ 174 h 203"/>
                <a:gd name="T20" fmla="*/ 338 w 2221"/>
                <a:gd name="T21" fmla="*/ 153 h 203"/>
                <a:gd name="T22" fmla="*/ 203 w 2221"/>
                <a:gd name="T23" fmla="*/ 127 h 203"/>
                <a:gd name="T24" fmla="*/ 101 w 2221"/>
                <a:gd name="T25" fmla="*/ 97 h 203"/>
                <a:gd name="T26" fmla="*/ 59 w 2221"/>
                <a:gd name="T27" fmla="*/ 80 h 203"/>
                <a:gd name="T28" fmla="*/ 27 w 2221"/>
                <a:gd name="T29" fmla="*/ 59 h 203"/>
                <a:gd name="T30" fmla="*/ 6 w 2221"/>
                <a:gd name="T31" fmla="*/ 33 h 203"/>
                <a:gd name="T32" fmla="*/ 45 w 2221"/>
                <a:gd name="T33" fmla="*/ 0 h 203"/>
                <a:gd name="T34" fmla="*/ 46 w 2221"/>
                <a:gd name="T35" fmla="*/ 9 h 203"/>
                <a:gd name="T36" fmla="*/ 57 w 2221"/>
                <a:gd name="T37" fmla="*/ 22 h 203"/>
                <a:gd name="T38" fmla="*/ 80 w 2221"/>
                <a:gd name="T39" fmla="*/ 37 h 203"/>
                <a:gd name="T40" fmla="*/ 159 w 2221"/>
                <a:gd name="T41" fmla="*/ 66 h 203"/>
                <a:gd name="T42" fmla="*/ 276 w 2221"/>
                <a:gd name="T43" fmla="*/ 94 h 203"/>
                <a:gd name="T44" fmla="*/ 421 w 2221"/>
                <a:gd name="T45" fmla="*/ 117 h 203"/>
                <a:gd name="T46" fmla="*/ 689 w 2221"/>
                <a:gd name="T47" fmla="*/ 142 h 203"/>
                <a:gd name="T48" fmla="*/ 1110 w 2221"/>
                <a:gd name="T49" fmla="*/ 155 h 203"/>
                <a:gd name="T50" fmla="*/ 1532 w 2221"/>
                <a:gd name="T51" fmla="*/ 143 h 203"/>
                <a:gd name="T52" fmla="*/ 1799 w 2221"/>
                <a:gd name="T53" fmla="*/ 117 h 203"/>
                <a:gd name="T54" fmla="*/ 1945 w 2221"/>
                <a:gd name="T55" fmla="*/ 94 h 203"/>
                <a:gd name="T56" fmla="*/ 2060 w 2221"/>
                <a:gd name="T57" fmla="*/ 67 h 203"/>
                <a:gd name="T58" fmla="*/ 2140 w 2221"/>
                <a:gd name="T59" fmla="*/ 37 h 203"/>
                <a:gd name="T60" fmla="*/ 2164 w 2221"/>
                <a:gd name="T61" fmla="*/ 22 h 203"/>
                <a:gd name="T62" fmla="*/ 2175 w 2221"/>
                <a:gd name="T63" fmla="*/ 9 h 203"/>
                <a:gd name="T64" fmla="*/ 2176 w 2221"/>
                <a:gd name="T65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221" h="203">
                  <a:moveTo>
                    <a:pt x="2221" y="16"/>
                  </a:moveTo>
                  <a:lnTo>
                    <a:pt x="2215" y="33"/>
                  </a:lnTo>
                  <a:cubicBezTo>
                    <a:pt x="2214" y="37"/>
                    <a:pt x="2212" y="39"/>
                    <a:pt x="2210" y="42"/>
                  </a:cubicBezTo>
                  <a:lnTo>
                    <a:pt x="2194" y="59"/>
                  </a:lnTo>
                  <a:cubicBezTo>
                    <a:pt x="2193" y="60"/>
                    <a:pt x="2191" y="62"/>
                    <a:pt x="2189" y="63"/>
                  </a:cubicBezTo>
                  <a:lnTo>
                    <a:pt x="2162" y="80"/>
                  </a:lnTo>
                  <a:cubicBezTo>
                    <a:pt x="2161" y="80"/>
                    <a:pt x="2160" y="81"/>
                    <a:pt x="2159" y="82"/>
                  </a:cubicBezTo>
                  <a:lnTo>
                    <a:pt x="2123" y="97"/>
                  </a:lnTo>
                  <a:lnTo>
                    <a:pt x="2075" y="112"/>
                  </a:lnTo>
                  <a:lnTo>
                    <a:pt x="2018" y="127"/>
                  </a:lnTo>
                  <a:lnTo>
                    <a:pt x="1956" y="141"/>
                  </a:lnTo>
                  <a:lnTo>
                    <a:pt x="1883" y="153"/>
                  </a:lnTo>
                  <a:lnTo>
                    <a:pt x="1806" y="164"/>
                  </a:lnTo>
                  <a:lnTo>
                    <a:pt x="1721" y="174"/>
                  </a:lnTo>
                  <a:lnTo>
                    <a:pt x="1537" y="190"/>
                  </a:lnTo>
                  <a:lnTo>
                    <a:pt x="1331" y="200"/>
                  </a:lnTo>
                  <a:lnTo>
                    <a:pt x="1111" y="203"/>
                  </a:lnTo>
                  <a:lnTo>
                    <a:pt x="891" y="200"/>
                  </a:lnTo>
                  <a:lnTo>
                    <a:pt x="686" y="190"/>
                  </a:lnTo>
                  <a:lnTo>
                    <a:pt x="500" y="174"/>
                  </a:lnTo>
                  <a:lnTo>
                    <a:pt x="416" y="164"/>
                  </a:lnTo>
                  <a:lnTo>
                    <a:pt x="338" y="153"/>
                  </a:lnTo>
                  <a:lnTo>
                    <a:pt x="267" y="141"/>
                  </a:lnTo>
                  <a:lnTo>
                    <a:pt x="203" y="127"/>
                  </a:lnTo>
                  <a:lnTo>
                    <a:pt x="148" y="113"/>
                  </a:lnTo>
                  <a:lnTo>
                    <a:pt x="101" y="97"/>
                  </a:lnTo>
                  <a:lnTo>
                    <a:pt x="62" y="82"/>
                  </a:lnTo>
                  <a:cubicBezTo>
                    <a:pt x="61" y="81"/>
                    <a:pt x="60" y="81"/>
                    <a:pt x="59" y="80"/>
                  </a:cubicBezTo>
                  <a:lnTo>
                    <a:pt x="32" y="63"/>
                  </a:lnTo>
                  <a:cubicBezTo>
                    <a:pt x="30" y="62"/>
                    <a:pt x="28" y="60"/>
                    <a:pt x="27" y="59"/>
                  </a:cubicBezTo>
                  <a:lnTo>
                    <a:pt x="11" y="42"/>
                  </a:lnTo>
                  <a:cubicBezTo>
                    <a:pt x="9" y="39"/>
                    <a:pt x="7" y="37"/>
                    <a:pt x="6" y="33"/>
                  </a:cubicBezTo>
                  <a:lnTo>
                    <a:pt x="0" y="16"/>
                  </a:lnTo>
                  <a:lnTo>
                    <a:pt x="45" y="0"/>
                  </a:lnTo>
                  <a:lnTo>
                    <a:pt x="51" y="17"/>
                  </a:lnTo>
                  <a:lnTo>
                    <a:pt x="46" y="9"/>
                  </a:lnTo>
                  <a:lnTo>
                    <a:pt x="62" y="26"/>
                  </a:lnTo>
                  <a:lnTo>
                    <a:pt x="57" y="22"/>
                  </a:lnTo>
                  <a:lnTo>
                    <a:pt x="84" y="39"/>
                  </a:lnTo>
                  <a:lnTo>
                    <a:pt x="80" y="37"/>
                  </a:lnTo>
                  <a:lnTo>
                    <a:pt x="116" y="52"/>
                  </a:lnTo>
                  <a:lnTo>
                    <a:pt x="159" y="66"/>
                  </a:lnTo>
                  <a:lnTo>
                    <a:pt x="214" y="80"/>
                  </a:lnTo>
                  <a:lnTo>
                    <a:pt x="276" y="94"/>
                  </a:lnTo>
                  <a:lnTo>
                    <a:pt x="345" y="106"/>
                  </a:lnTo>
                  <a:lnTo>
                    <a:pt x="421" y="117"/>
                  </a:lnTo>
                  <a:lnTo>
                    <a:pt x="505" y="127"/>
                  </a:lnTo>
                  <a:lnTo>
                    <a:pt x="689" y="142"/>
                  </a:lnTo>
                  <a:lnTo>
                    <a:pt x="892" y="152"/>
                  </a:lnTo>
                  <a:lnTo>
                    <a:pt x="1110" y="155"/>
                  </a:lnTo>
                  <a:lnTo>
                    <a:pt x="1328" y="152"/>
                  </a:lnTo>
                  <a:lnTo>
                    <a:pt x="1532" y="143"/>
                  </a:lnTo>
                  <a:lnTo>
                    <a:pt x="1716" y="127"/>
                  </a:lnTo>
                  <a:lnTo>
                    <a:pt x="1799" y="117"/>
                  </a:lnTo>
                  <a:lnTo>
                    <a:pt x="1875" y="106"/>
                  </a:lnTo>
                  <a:lnTo>
                    <a:pt x="1945" y="94"/>
                  </a:lnTo>
                  <a:lnTo>
                    <a:pt x="2007" y="80"/>
                  </a:lnTo>
                  <a:lnTo>
                    <a:pt x="2060" y="67"/>
                  </a:lnTo>
                  <a:lnTo>
                    <a:pt x="2104" y="52"/>
                  </a:lnTo>
                  <a:lnTo>
                    <a:pt x="2140" y="37"/>
                  </a:lnTo>
                  <a:lnTo>
                    <a:pt x="2137" y="39"/>
                  </a:lnTo>
                  <a:lnTo>
                    <a:pt x="2164" y="22"/>
                  </a:lnTo>
                  <a:lnTo>
                    <a:pt x="2159" y="26"/>
                  </a:lnTo>
                  <a:lnTo>
                    <a:pt x="2175" y="9"/>
                  </a:lnTo>
                  <a:lnTo>
                    <a:pt x="2170" y="17"/>
                  </a:lnTo>
                  <a:lnTo>
                    <a:pt x="2176" y="0"/>
                  </a:lnTo>
                  <a:lnTo>
                    <a:pt x="2221" y="16"/>
                  </a:lnTo>
                  <a:close/>
                </a:path>
              </a:pathLst>
            </a:custGeom>
            <a:solidFill>
              <a:srgbClr val="BC956F"/>
            </a:solidFill>
            <a:ln w="0" cap="flat">
              <a:solidFill>
                <a:srgbClr val="BC956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Freeform 53"/>
            <p:cNvSpPr>
              <a:spLocks noEditPoints="1"/>
            </p:cNvSpPr>
            <p:nvPr/>
          </p:nvSpPr>
          <p:spPr bwMode="gray">
            <a:xfrm>
              <a:off x="3981450" y="4090987"/>
              <a:ext cx="1174750" cy="565150"/>
            </a:xfrm>
            <a:custGeom>
              <a:avLst/>
              <a:gdLst>
                <a:gd name="T0" fmla="*/ 8 w 2224"/>
                <a:gd name="T1" fmla="*/ 170 h 1072"/>
                <a:gd name="T2" fmla="*/ 34 w 2224"/>
                <a:gd name="T3" fmla="*/ 141 h 1072"/>
                <a:gd name="T4" fmla="*/ 101 w 2224"/>
                <a:gd name="T5" fmla="*/ 107 h 1072"/>
                <a:gd name="T6" fmla="*/ 268 w 2224"/>
                <a:gd name="T7" fmla="*/ 63 h 1072"/>
                <a:gd name="T8" fmla="*/ 502 w 2224"/>
                <a:gd name="T9" fmla="*/ 30 h 1072"/>
                <a:gd name="T10" fmla="*/ 1112 w 2224"/>
                <a:gd name="T11" fmla="*/ 0 h 1072"/>
                <a:gd name="T12" fmla="*/ 1722 w 2224"/>
                <a:gd name="T13" fmla="*/ 30 h 1072"/>
                <a:gd name="T14" fmla="*/ 1956 w 2224"/>
                <a:gd name="T15" fmla="*/ 63 h 1072"/>
                <a:gd name="T16" fmla="*/ 2123 w 2224"/>
                <a:gd name="T17" fmla="*/ 107 h 1072"/>
                <a:gd name="T18" fmla="*/ 2191 w 2224"/>
                <a:gd name="T19" fmla="*/ 141 h 1072"/>
                <a:gd name="T20" fmla="*/ 2217 w 2224"/>
                <a:gd name="T21" fmla="*/ 170 h 1072"/>
                <a:gd name="T22" fmla="*/ 2224 w 2224"/>
                <a:gd name="T23" fmla="*/ 878 h 1072"/>
                <a:gd name="T24" fmla="*/ 2212 w 2224"/>
                <a:gd name="T25" fmla="*/ 912 h 1072"/>
                <a:gd name="T26" fmla="*/ 2164 w 2224"/>
                <a:gd name="T27" fmla="*/ 950 h 1072"/>
                <a:gd name="T28" fmla="*/ 2077 w 2224"/>
                <a:gd name="T29" fmla="*/ 982 h 1072"/>
                <a:gd name="T30" fmla="*/ 1885 w 2224"/>
                <a:gd name="T31" fmla="*/ 1022 h 1072"/>
                <a:gd name="T32" fmla="*/ 1539 w 2224"/>
                <a:gd name="T33" fmla="*/ 1059 h 1072"/>
                <a:gd name="T34" fmla="*/ 893 w 2224"/>
                <a:gd name="T35" fmla="*/ 1069 h 1072"/>
                <a:gd name="T36" fmla="*/ 418 w 2224"/>
                <a:gd name="T37" fmla="*/ 1033 h 1072"/>
                <a:gd name="T38" fmla="*/ 206 w 2224"/>
                <a:gd name="T39" fmla="*/ 997 h 1072"/>
                <a:gd name="T40" fmla="*/ 64 w 2224"/>
                <a:gd name="T41" fmla="*/ 952 h 1072"/>
                <a:gd name="T42" fmla="*/ 29 w 2224"/>
                <a:gd name="T43" fmla="*/ 929 h 1072"/>
                <a:gd name="T44" fmla="*/ 2 w 2224"/>
                <a:gd name="T45" fmla="*/ 886 h 1072"/>
                <a:gd name="T46" fmla="*/ 48 w 2224"/>
                <a:gd name="T47" fmla="*/ 878 h 1072"/>
                <a:gd name="T48" fmla="*/ 48 w 2224"/>
                <a:gd name="T49" fmla="*/ 879 h 1072"/>
                <a:gd name="T50" fmla="*/ 86 w 2224"/>
                <a:gd name="T51" fmla="*/ 909 h 1072"/>
                <a:gd name="T52" fmla="*/ 161 w 2224"/>
                <a:gd name="T53" fmla="*/ 936 h 1072"/>
                <a:gd name="T54" fmla="*/ 347 w 2224"/>
                <a:gd name="T55" fmla="*/ 975 h 1072"/>
                <a:gd name="T56" fmla="*/ 691 w 2224"/>
                <a:gd name="T57" fmla="*/ 1011 h 1072"/>
                <a:gd name="T58" fmla="*/ 1330 w 2224"/>
                <a:gd name="T59" fmla="*/ 1021 h 1072"/>
                <a:gd name="T60" fmla="*/ 1801 w 2224"/>
                <a:gd name="T61" fmla="*/ 986 h 1072"/>
                <a:gd name="T62" fmla="*/ 2009 w 2224"/>
                <a:gd name="T63" fmla="*/ 950 h 1072"/>
                <a:gd name="T64" fmla="*/ 2142 w 2224"/>
                <a:gd name="T65" fmla="*/ 907 h 1072"/>
                <a:gd name="T66" fmla="*/ 2161 w 2224"/>
                <a:gd name="T67" fmla="*/ 896 h 1072"/>
                <a:gd name="T68" fmla="*/ 2178 w 2224"/>
                <a:gd name="T69" fmla="*/ 870 h 1072"/>
                <a:gd name="T70" fmla="*/ 2178 w 2224"/>
                <a:gd name="T71" fmla="*/ 203 h 1072"/>
                <a:gd name="T72" fmla="*/ 2161 w 2224"/>
                <a:gd name="T73" fmla="*/ 178 h 1072"/>
                <a:gd name="T74" fmla="*/ 2142 w 2224"/>
                <a:gd name="T75" fmla="*/ 167 h 1072"/>
                <a:gd name="T76" fmla="*/ 2009 w 2224"/>
                <a:gd name="T77" fmla="*/ 124 h 1072"/>
                <a:gd name="T78" fmla="*/ 1802 w 2224"/>
                <a:gd name="T79" fmla="*/ 87 h 1072"/>
                <a:gd name="T80" fmla="*/ 1331 w 2224"/>
                <a:gd name="T81" fmla="*/ 51 h 1072"/>
                <a:gd name="T82" fmla="*/ 691 w 2224"/>
                <a:gd name="T83" fmla="*/ 62 h 1072"/>
                <a:gd name="T84" fmla="*/ 348 w 2224"/>
                <a:gd name="T85" fmla="*/ 98 h 1072"/>
                <a:gd name="T86" fmla="*/ 163 w 2224"/>
                <a:gd name="T87" fmla="*/ 137 h 1072"/>
                <a:gd name="T88" fmla="*/ 86 w 2224"/>
                <a:gd name="T89" fmla="*/ 165 h 1072"/>
                <a:gd name="T90" fmla="*/ 48 w 2224"/>
                <a:gd name="T91" fmla="*/ 195 h 1072"/>
                <a:gd name="T92" fmla="*/ 48 w 2224"/>
                <a:gd name="T93" fmla="*/ 195 h 1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4" h="1072">
                  <a:moveTo>
                    <a:pt x="0" y="195"/>
                  </a:moveTo>
                  <a:cubicBezTo>
                    <a:pt x="0" y="193"/>
                    <a:pt x="1" y="190"/>
                    <a:pt x="2" y="187"/>
                  </a:cubicBezTo>
                  <a:lnTo>
                    <a:pt x="8" y="170"/>
                  </a:lnTo>
                  <a:cubicBezTo>
                    <a:pt x="9" y="167"/>
                    <a:pt x="11" y="164"/>
                    <a:pt x="13" y="162"/>
                  </a:cubicBezTo>
                  <a:lnTo>
                    <a:pt x="29" y="145"/>
                  </a:lnTo>
                  <a:cubicBezTo>
                    <a:pt x="30" y="144"/>
                    <a:pt x="32" y="142"/>
                    <a:pt x="34" y="141"/>
                  </a:cubicBezTo>
                  <a:lnTo>
                    <a:pt x="61" y="124"/>
                  </a:lnTo>
                  <a:cubicBezTo>
                    <a:pt x="62" y="123"/>
                    <a:pt x="63" y="123"/>
                    <a:pt x="64" y="122"/>
                  </a:cubicBezTo>
                  <a:lnTo>
                    <a:pt x="101" y="107"/>
                  </a:lnTo>
                  <a:lnTo>
                    <a:pt x="148" y="92"/>
                  </a:lnTo>
                  <a:lnTo>
                    <a:pt x="205" y="77"/>
                  </a:lnTo>
                  <a:lnTo>
                    <a:pt x="268" y="63"/>
                  </a:lnTo>
                  <a:lnTo>
                    <a:pt x="339" y="51"/>
                  </a:lnTo>
                  <a:lnTo>
                    <a:pt x="417" y="40"/>
                  </a:lnTo>
                  <a:lnTo>
                    <a:pt x="502" y="30"/>
                  </a:lnTo>
                  <a:lnTo>
                    <a:pt x="688" y="15"/>
                  </a:lnTo>
                  <a:lnTo>
                    <a:pt x="892" y="3"/>
                  </a:lnTo>
                  <a:lnTo>
                    <a:pt x="1112" y="0"/>
                  </a:lnTo>
                  <a:lnTo>
                    <a:pt x="1332" y="3"/>
                  </a:lnTo>
                  <a:lnTo>
                    <a:pt x="1538" y="14"/>
                  </a:lnTo>
                  <a:lnTo>
                    <a:pt x="1722" y="30"/>
                  </a:lnTo>
                  <a:lnTo>
                    <a:pt x="1807" y="40"/>
                  </a:lnTo>
                  <a:lnTo>
                    <a:pt x="1885" y="51"/>
                  </a:lnTo>
                  <a:lnTo>
                    <a:pt x="1956" y="63"/>
                  </a:lnTo>
                  <a:lnTo>
                    <a:pt x="2020" y="77"/>
                  </a:lnTo>
                  <a:lnTo>
                    <a:pt x="2075" y="91"/>
                  </a:lnTo>
                  <a:lnTo>
                    <a:pt x="2123" y="107"/>
                  </a:lnTo>
                  <a:lnTo>
                    <a:pt x="2161" y="122"/>
                  </a:lnTo>
                  <a:cubicBezTo>
                    <a:pt x="2162" y="123"/>
                    <a:pt x="2163" y="123"/>
                    <a:pt x="2164" y="124"/>
                  </a:cubicBezTo>
                  <a:lnTo>
                    <a:pt x="2191" y="141"/>
                  </a:lnTo>
                  <a:cubicBezTo>
                    <a:pt x="2193" y="142"/>
                    <a:pt x="2195" y="144"/>
                    <a:pt x="2196" y="145"/>
                  </a:cubicBezTo>
                  <a:lnTo>
                    <a:pt x="2212" y="162"/>
                  </a:lnTo>
                  <a:cubicBezTo>
                    <a:pt x="2214" y="164"/>
                    <a:pt x="2216" y="167"/>
                    <a:pt x="2217" y="170"/>
                  </a:cubicBezTo>
                  <a:lnTo>
                    <a:pt x="2223" y="187"/>
                  </a:lnTo>
                  <a:cubicBezTo>
                    <a:pt x="2224" y="190"/>
                    <a:pt x="2224" y="193"/>
                    <a:pt x="2224" y="195"/>
                  </a:cubicBezTo>
                  <a:lnTo>
                    <a:pt x="2224" y="878"/>
                  </a:lnTo>
                  <a:cubicBezTo>
                    <a:pt x="2224" y="881"/>
                    <a:pt x="2224" y="884"/>
                    <a:pt x="2223" y="886"/>
                  </a:cubicBezTo>
                  <a:lnTo>
                    <a:pt x="2217" y="903"/>
                  </a:lnTo>
                  <a:cubicBezTo>
                    <a:pt x="2216" y="907"/>
                    <a:pt x="2214" y="909"/>
                    <a:pt x="2212" y="912"/>
                  </a:cubicBezTo>
                  <a:lnTo>
                    <a:pt x="2196" y="929"/>
                  </a:lnTo>
                  <a:cubicBezTo>
                    <a:pt x="2195" y="930"/>
                    <a:pt x="2193" y="932"/>
                    <a:pt x="2191" y="933"/>
                  </a:cubicBezTo>
                  <a:lnTo>
                    <a:pt x="2164" y="950"/>
                  </a:lnTo>
                  <a:cubicBezTo>
                    <a:pt x="2163" y="950"/>
                    <a:pt x="2162" y="951"/>
                    <a:pt x="2161" y="952"/>
                  </a:cubicBezTo>
                  <a:lnTo>
                    <a:pt x="2125" y="967"/>
                  </a:lnTo>
                  <a:lnTo>
                    <a:pt x="2077" y="982"/>
                  </a:lnTo>
                  <a:lnTo>
                    <a:pt x="2020" y="997"/>
                  </a:lnTo>
                  <a:lnTo>
                    <a:pt x="1957" y="1010"/>
                  </a:lnTo>
                  <a:lnTo>
                    <a:pt x="1885" y="1022"/>
                  </a:lnTo>
                  <a:lnTo>
                    <a:pt x="1808" y="1033"/>
                  </a:lnTo>
                  <a:lnTo>
                    <a:pt x="1723" y="1043"/>
                  </a:lnTo>
                  <a:lnTo>
                    <a:pt x="1539" y="1059"/>
                  </a:lnTo>
                  <a:lnTo>
                    <a:pt x="1333" y="1069"/>
                  </a:lnTo>
                  <a:lnTo>
                    <a:pt x="1113" y="1072"/>
                  </a:lnTo>
                  <a:lnTo>
                    <a:pt x="893" y="1069"/>
                  </a:lnTo>
                  <a:lnTo>
                    <a:pt x="688" y="1059"/>
                  </a:lnTo>
                  <a:lnTo>
                    <a:pt x="502" y="1043"/>
                  </a:lnTo>
                  <a:lnTo>
                    <a:pt x="418" y="1033"/>
                  </a:lnTo>
                  <a:lnTo>
                    <a:pt x="340" y="1022"/>
                  </a:lnTo>
                  <a:lnTo>
                    <a:pt x="269" y="1010"/>
                  </a:lnTo>
                  <a:lnTo>
                    <a:pt x="206" y="997"/>
                  </a:lnTo>
                  <a:lnTo>
                    <a:pt x="150" y="983"/>
                  </a:lnTo>
                  <a:lnTo>
                    <a:pt x="103" y="967"/>
                  </a:lnTo>
                  <a:lnTo>
                    <a:pt x="64" y="952"/>
                  </a:lnTo>
                  <a:cubicBezTo>
                    <a:pt x="63" y="951"/>
                    <a:pt x="62" y="951"/>
                    <a:pt x="61" y="950"/>
                  </a:cubicBezTo>
                  <a:lnTo>
                    <a:pt x="34" y="933"/>
                  </a:lnTo>
                  <a:cubicBezTo>
                    <a:pt x="32" y="932"/>
                    <a:pt x="30" y="930"/>
                    <a:pt x="29" y="929"/>
                  </a:cubicBezTo>
                  <a:lnTo>
                    <a:pt x="13" y="912"/>
                  </a:lnTo>
                  <a:cubicBezTo>
                    <a:pt x="11" y="909"/>
                    <a:pt x="9" y="907"/>
                    <a:pt x="8" y="903"/>
                  </a:cubicBezTo>
                  <a:lnTo>
                    <a:pt x="2" y="886"/>
                  </a:lnTo>
                  <a:cubicBezTo>
                    <a:pt x="1" y="884"/>
                    <a:pt x="0" y="881"/>
                    <a:pt x="0" y="878"/>
                  </a:cubicBezTo>
                  <a:lnTo>
                    <a:pt x="0" y="195"/>
                  </a:lnTo>
                  <a:close/>
                  <a:moveTo>
                    <a:pt x="48" y="878"/>
                  </a:moveTo>
                  <a:lnTo>
                    <a:pt x="47" y="870"/>
                  </a:lnTo>
                  <a:lnTo>
                    <a:pt x="53" y="887"/>
                  </a:lnTo>
                  <a:lnTo>
                    <a:pt x="48" y="879"/>
                  </a:lnTo>
                  <a:lnTo>
                    <a:pt x="64" y="896"/>
                  </a:lnTo>
                  <a:lnTo>
                    <a:pt x="59" y="892"/>
                  </a:lnTo>
                  <a:lnTo>
                    <a:pt x="86" y="909"/>
                  </a:lnTo>
                  <a:lnTo>
                    <a:pt x="82" y="907"/>
                  </a:lnTo>
                  <a:lnTo>
                    <a:pt x="118" y="922"/>
                  </a:lnTo>
                  <a:lnTo>
                    <a:pt x="161" y="936"/>
                  </a:lnTo>
                  <a:lnTo>
                    <a:pt x="215" y="950"/>
                  </a:lnTo>
                  <a:lnTo>
                    <a:pt x="278" y="963"/>
                  </a:lnTo>
                  <a:lnTo>
                    <a:pt x="347" y="975"/>
                  </a:lnTo>
                  <a:lnTo>
                    <a:pt x="423" y="986"/>
                  </a:lnTo>
                  <a:lnTo>
                    <a:pt x="507" y="996"/>
                  </a:lnTo>
                  <a:lnTo>
                    <a:pt x="691" y="1011"/>
                  </a:lnTo>
                  <a:lnTo>
                    <a:pt x="894" y="1021"/>
                  </a:lnTo>
                  <a:lnTo>
                    <a:pt x="1112" y="1024"/>
                  </a:lnTo>
                  <a:lnTo>
                    <a:pt x="1330" y="1021"/>
                  </a:lnTo>
                  <a:lnTo>
                    <a:pt x="1534" y="1012"/>
                  </a:lnTo>
                  <a:lnTo>
                    <a:pt x="1718" y="996"/>
                  </a:lnTo>
                  <a:lnTo>
                    <a:pt x="1801" y="986"/>
                  </a:lnTo>
                  <a:lnTo>
                    <a:pt x="1877" y="975"/>
                  </a:lnTo>
                  <a:lnTo>
                    <a:pt x="1948" y="963"/>
                  </a:lnTo>
                  <a:lnTo>
                    <a:pt x="2009" y="950"/>
                  </a:lnTo>
                  <a:lnTo>
                    <a:pt x="2062" y="937"/>
                  </a:lnTo>
                  <a:lnTo>
                    <a:pt x="2106" y="922"/>
                  </a:lnTo>
                  <a:lnTo>
                    <a:pt x="2142" y="907"/>
                  </a:lnTo>
                  <a:lnTo>
                    <a:pt x="2139" y="909"/>
                  </a:lnTo>
                  <a:lnTo>
                    <a:pt x="2166" y="892"/>
                  </a:lnTo>
                  <a:lnTo>
                    <a:pt x="2161" y="896"/>
                  </a:lnTo>
                  <a:lnTo>
                    <a:pt x="2177" y="879"/>
                  </a:lnTo>
                  <a:lnTo>
                    <a:pt x="2172" y="887"/>
                  </a:lnTo>
                  <a:lnTo>
                    <a:pt x="2178" y="870"/>
                  </a:lnTo>
                  <a:lnTo>
                    <a:pt x="2176" y="878"/>
                  </a:lnTo>
                  <a:lnTo>
                    <a:pt x="2176" y="195"/>
                  </a:lnTo>
                  <a:lnTo>
                    <a:pt x="2178" y="203"/>
                  </a:lnTo>
                  <a:lnTo>
                    <a:pt x="2172" y="186"/>
                  </a:lnTo>
                  <a:lnTo>
                    <a:pt x="2177" y="195"/>
                  </a:lnTo>
                  <a:lnTo>
                    <a:pt x="2161" y="178"/>
                  </a:lnTo>
                  <a:lnTo>
                    <a:pt x="2166" y="182"/>
                  </a:lnTo>
                  <a:lnTo>
                    <a:pt x="2139" y="165"/>
                  </a:lnTo>
                  <a:lnTo>
                    <a:pt x="2142" y="167"/>
                  </a:lnTo>
                  <a:lnTo>
                    <a:pt x="2108" y="152"/>
                  </a:lnTo>
                  <a:lnTo>
                    <a:pt x="2064" y="138"/>
                  </a:lnTo>
                  <a:lnTo>
                    <a:pt x="2009" y="124"/>
                  </a:lnTo>
                  <a:lnTo>
                    <a:pt x="1948" y="110"/>
                  </a:lnTo>
                  <a:lnTo>
                    <a:pt x="1878" y="98"/>
                  </a:lnTo>
                  <a:lnTo>
                    <a:pt x="1802" y="87"/>
                  </a:lnTo>
                  <a:lnTo>
                    <a:pt x="1719" y="77"/>
                  </a:lnTo>
                  <a:lnTo>
                    <a:pt x="1535" y="62"/>
                  </a:lnTo>
                  <a:lnTo>
                    <a:pt x="1331" y="51"/>
                  </a:lnTo>
                  <a:lnTo>
                    <a:pt x="1113" y="48"/>
                  </a:lnTo>
                  <a:lnTo>
                    <a:pt x="895" y="51"/>
                  </a:lnTo>
                  <a:lnTo>
                    <a:pt x="691" y="62"/>
                  </a:lnTo>
                  <a:lnTo>
                    <a:pt x="507" y="77"/>
                  </a:lnTo>
                  <a:lnTo>
                    <a:pt x="424" y="87"/>
                  </a:lnTo>
                  <a:lnTo>
                    <a:pt x="348" y="98"/>
                  </a:lnTo>
                  <a:lnTo>
                    <a:pt x="279" y="110"/>
                  </a:lnTo>
                  <a:lnTo>
                    <a:pt x="216" y="124"/>
                  </a:lnTo>
                  <a:lnTo>
                    <a:pt x="163" y="137"/>
                  </a:lnTo>
                  <a:lnTo>
                    <a:pt x="119" y="152"/>
                  </a:lnTo>
                  <a:lnTo>
                    <a:pt x="82" y="167"/>
                  </a:lnTo>
                  <a:lnTo>
                    <a:pt x="86" y="165"/>
                  </a:lnTo>
                  <a:lnTo>
                    <a:pt x="59" y="182"/>
                  </a:lnTo>
                  <a:lnTo>
                    <a:pt x="64" y="178"/>
                  </a:lnTo>
                  <a:lnTo>
                    <a:pt x="48" y="195"/>
                  </a:lnTo>
                  <a:lnTo>
                    <a:pt x="53" y="186"/>
                  </a:lnTo>
                  <a:lnTo>
                    <a:pt x="47" y="203"/>
                  </a:lnTo>
                  <a:lnTo>
                    <a:pt x="48" y="195"/>
                  </a:lnTo>
                  <a:lnTo>
                    <a:pt x="48" y="878"/>
                  </a:lnTo>
                  <a:close/>
                </a:path>
              </a:pathLst>
            </a:custGeom>
            <a:solidFill>
              <a:srgbClr val="BC956F"/>
            </a:solidFill>
            <a:ln w="0" cap="flat">
              <a:solidFill>
                <a:srgbClr val="BC956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gray">
            <a:xfrm>
              <a:off x="4133850" y="4357687"/>
              <a:ext cx="969817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&lt;notification</a:t>
              </a:r>
              <a:r>
                <a:rPr kumimoji="0" lang="en-US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" name="Freeform 56"/>
            <p:cNvSpPr/>
            <p:nvPr/>
          </p:nvSpPr>
          <p:spPr bwMode="gray">
            <a:xfrm>
              <a:off x="2500313" y="4930775"/>
              <a:ext cx="573088" cy="320675"/>
            </a:xfrm>
            <a:custGeom>
              <a:avLst/>
              <a:gdLst>
                <a:gd name="T0" fmla="*/ 0 w 1088"/>
                <a:gd name="T1" fmla="*/ 102 h 608"/>
                <a:gd name="T2" fmla="*/ 544 w 1088"/>
                <a:gd name="T3" fmla="*/ 0 h 608"/>
                <a:gd name="T4" fmla="*/ 1088 w 1088"/>
                <a:gd name="T5" fmla="*/ 102 h 608"/>
                <a:gd name="T6" fmla="*/ 1088 w 1088"/>
                <a:gd name="T7" fmla="*/ 102 h 608"/>
                <a:gd name="T8" fmla="*/ 1088 w 1088"/>
                <a:gd name="T9" fmla="*/ 102 h 608"/>
                <a:gd name="T10" fmla="*/ 1088 w 1088"/>
                <a:gd name="T11" fmla="*/ 507 h 608"/>
                <a:gd name="T12" fmla="*/ 1088 w 1088"/>
                <a:gd name="T13" fmla="*/ 507 h 608"/>
                <a:gd name="T14" fmla="*/ 544 w 1088"/>
                <a:gd name="T15" fmla="*/ 608 h 608"/>
                <a:gd name="T16" fmla="*/ 0 w 1088"/>
                <a:gd name="T17" fmla="*/ 507 h 608"/>
                <a:gd name="T18" fmla="*/ 0 w 1088"/>
                <a:gd name="T19" fmla="*/ 507 h 608"/>
                <a:gd name="T20" fmla="*/ 0 w 1088"/>
                <a:gd name="T21" fmla="*/ 10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8" h="608">
                  <a:moveTo>
                    <a:pt x="0" y="102"/>
                  </a:moveTo>
                  <a:cubicBezTo>
                    <a:pt x="0" y="46"/>
                    <a:pt x="244" y="0"/>
                    <a:pt x="544" y="0"/>
                  </a:cubicBezTo>
                  <a:cubicBezTo>
                    <a:pt x="845" y="0"/>
                    <a:pt x="1088" y="46"/>
                    <a:pt x="1088" y="102"/>
                  </a:cubicBezTo>
                  <a:cubicBezTo>
                    <a:pt x="1088" y="102"/>
                    <a:pt x="1088" y="102"/>
                    <a:pt x="1088" y="102"/>
                  </a:cubicBezTo>
                  <a:lnTo>
                    <a:pt x="1088" y="102"/>
                  </a:lnTo>
                  <a:lnTo>
                    <a:pt x="1088" y="507"/>
                  </a:lnTo>
                  <a:lnTo>
                    <a:pt x="1088" y="507"/>
                  </a:lnTo>
                  <a:cubicBezTo>
                    <a:pt x="1088" y="563"/>
                    <a:pt x="845" y="608"/>
                    <a:pt x="544" y="608"/>
                  </a:cubicBezTo>
                  <a:cubicBezTo>
                    <a:pt x="244" y="608"/>
                    <a:pt x="0" y="563"/>
                    <a:pt x="0" y="507"/>
                  </a:cubicBezTo>
                  <a:cubicBezTo>
                    <a:pt x="0" y="507"/>
                    <a:pt x="0" y="507"/>
                    <a:pt x="0" y="507"/>
                  </a:cubicBezTo>
                  <a:lnTo>
                    <a:pt x="0" y="102"/>
                  </a:lnTo>
                  <a:close/>
                </a:path>
              </a:pathLst>
            </a:custGeom>
            <a:solidFill>
              <a:srgbClr val="E7B98A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" name="Freeform 57"/>
            <p:cNvSpPr/>
            <p:nvPr/>
          </p:nvSpPr>
          <p:spPr bwMode="gray">
            <a:xfrm>
              <a:off x="2489200" y="4979987"/>
              <a:ext cx="595313" cy="71437"/>
            </a:xfrm>
            <a:custGeom>
              <a:avLst/>
              <a:gdLst>
                <a:gd name="T0" fmla="*/ 1130 w 1130"/>
                <a:gd name="T1" fmla="*/ 23 h 136"/>
                <a:gd name="T2" fmla="*/ 1119 w 1130"/>
                <a:gd name="T3" fmla="*/ 43 h 136"/>
                <a:gd name="T4" fmla="*/ 1111 w 1130"/>
                <a:gd name="T5" fmla="*/ 52 h 136"/>
                <a:gd name="T6" fmla="*/ 1079 w 1130"/>
                <a:gd name="T7" fmla="*/ 71 h 136"/>
                <a:gd name="T8" fmla="*/ 1075 w 1130"/>
                <a:gd name="T9" fmla="*/ 73 h 136"/>
                <a:gd name="T10" fmla="*/ 1025 w 1130"/>
                <a:gd name="T11" fmla="*/ 91 h 136"/>
                <a:gd name="T12" fmla="*/ 956 w 1130"/>
                <a:gd name="T13" fmla="*/ 107 h 136"/>
                <a:gd name="T14" fmla="*/ 873 w 1130"/>
                <a:gd name="T15" fmla="*/ 119 h 136"/>
                <a:gd name="T16" fmla="*/ 780 w 1130"/>
                <a:gd name="T17" fmla="*/ 128 h 136"/>
                <a:gd name="T18" fmla="*/ 677 w 1130"/>
                <a:gd name="T19" fmla="*/ 134 h 136"/>
                <a:gd name="T20" fmla="*/ 566 w 1130"/>
                <a:gd name="T21" fmla="*/ 136 h 136"/>
                <a:gd name="T22" fmla="*/ 455 w 1130"/>
                <a:gd name="T23" fmla="*/ 134 h 136"/>
                <a:gd name="T24" fmla="*/ 352 w 1130"/>
                <a:gd name="T25" fmla="*/ 128 h 136"/>
                <a:gd name="T26" fmla="*/ 259 w 1130"/>
                <a:gd name="T27" fmla="*/ 119 h 136"/>
                <a:gd name="T28" fmla="*/ 178 w 1130"/>
                <a:gd name="T29" fmla="*/ 107 h 136"/>
                <a:gd name="T30" fmla="*/ 109 w 1130"/>
                <a:gd name="T31" fmla="*/ 92 h 136"/>
                <a:gd name="T32" fmla="*/ 56 w 1130"/>
                <a:gd name="T33" fmla="*/ 73 h 136"/>
                <a:gd name="T34" fmla="*/ 52 w 1130"/>
                <a:gd name="T35" fmla="*/ 71 h 136"/>
                <a:gd name="T36" fmla="*/ 20 w 1130"/>
                <a:gd name="T37" fmla="*/ 52 h 136"/>
                <a:gd name="T38" fmla="*/ 11 w 1130"/>
                <a:gd name="T39" fmla="*/ 43 h 136"/>
                <a:gd name="T40" fmla="*/ 0 w 1130"/>
                <a:gd name="T41" fmla="*/ 23 h 136"/>
                <a:gd name="T42" fmla="*/ 42 w 1130"/>
                <a:gd name="T43" fmla="*/ 0 h 136"/>
                <a:gd name="T44" fmla="*/ 53 w 1130"/>
                <a:gd name="T45" fmla="*/ 20 h 136"/>
                <a:gd name="T46" fmla="*/ 45 w 1130"/>
                <a:gd name="T47" fmla="*/ 11 h 136"/>
                <a:gd name="T48" fmla="*/ 77 w 1130"/>
                <a:gd name="T49" fmla="*/ 30 h 136"/>
                <a:gd name="T50" fmla="*/ 73 w 1130"/>
                <a:gd name="T51" fmla="*/ 28 h 136"/>
                <a:gd name="T52" fmla="*/ 120 w 1130"/>
                <a:gd name="T53" fmla="*/ 45 h 136"/>
                <a:gd name="T54" fmla="*/ 185 w 1130"/>
                <a:gd name="T55" fmla="*/ 60 h 136"/>
                <a:gd name="T56" fmla="*/ 264 w 1130"/>
                <a:gd name="T57" fmla="*/ 72 h 136"/>
                <a:gd name="T58" fmla="*/ 355 w 1130"/>
                <a:gd name="T59" fmla="*/ 81 h 136"/>
                <a:gd name="T60" fmla="*/ 456 w 1130"/>
                <a:gd name="T61" fmla="*/ 86 h 136"/>
                <a:gd name="T62" fmla="*/ 565 w 1130"/>
                <a:gd name="T63" fmla="*/ 88 h 136"/>
                <a:gd name="T64" fmla="*/ 674 w 1130"/>
                <a:gd name="T65" fmla="*/ 87 h 136"/>
                <a:gd name="T66" fmla="*/ 775 w 1130"/>
                <a:gd name="T67" fmla="*/ 81 h 136"/>
                <a:gd name="T68" fmla="*/ 866 w 1130"/>
                <a:gd name="T69" fmla="*/ 72 h 136"/>
                <a:gd name="T70" fmla="*/ 945 w 1130"/>
                <a:gd name="T71" fmla="*/ 60 h 136"/>
                <a:gd name="T72" fmla="*/ 1008 w 1130"/>
                <a:gd name="T73" fmla="*/ 46 h 136"/>
                <a:gd name="T74" fmla="*/ 1058 w 1130"/>
                <a:gd name="T75" fmla="*/ 28 h 136"/>
                <a:gd name="T76" fmla="*/ 1054 w 1130"/>
                <a:gd name="T77" fmla="*/ 30 h 136"/>
                <a:gd name="T78" fmla="*/ 1086 w 1130"/>
                <a:gd name="T79" fmla="*/ 11 h 136"/>
                <a:gd name="T80" fmla="*/ 1077 w 1130"/>
                <a:gd name="T81" fmla="*/ 20 h 136"/>
                <a:gd name="T82" fmla="*/ 1088 w 1130"/>
                <a:gd name="T83" fmla="*/ 0 h 136"/>
                <a:gd name="T84" fmla="*/ 1130 w 1130"/>
                <a:gd name="T85" fmla="*/ 2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0" h="136">
                  <a:moveTo>
                    <a:pt x="1130" y="23"/>
                  </a:moveTo>
                  <a:lnTo>
                    <a:pt x="1119" y="43"/>
                  </a:lnTo>
                  <a:cubicBezTo>
                    <a:pt x="1117" y="47"/>
                    <a:pt x="1114" y="50"/>
                    <a:pt x="1111" y="52"/>
                  </a:cubicBezTo>
                  <a:lnTo>
                    <a:pt x="1079" y="71"/>
                  </a:lnTo>
                  <a:cubicBezTo>
                    <a:pt x="1077" y="72"/>
                    <a:pt x="1076" y="73"/>
                    <a:pt x="1075" y="73"/>
                  </a:cubicBezTo>
                  <a:lnTo>
                    <a:pt x="1025" y="91"/>
                  </a:lnTo>
                  <a:lnTo>
                    <a:pt x="956" y="107"/>
                  </a:lnTo>
                  <a:lnTo>
                    <a:pt x="873" y="119"/>
                  </a:lnTo>
                  <a:lnTo>
                    <a:pt x="780" y="128"/>
                  </a:lnTo>
                  <a:lnTo>
                    <a:pt x="677" y="134"/>
                  </a:lnTo>
                  <a:lnTo>
                    <a:pt x="566" y="136"/>
                  </a:lnTo>
                  <a:lnTo>
                    <a:pt x="455" y="134"/>
                  </a:lnTo>
                  <a:lnTo>
                    <a:pt x="352" y="128"/>
                  </a:lnTo>
                  <a:lnTo>
                    <a:pt x="259" y="119"/>
                  </a:lnTo>
                  <a:lnTo>
                    <a:pt x="178" y="107"/>
                  </a:lnTo>
                  <a:lnTo>
                    <a:pt x="109" y="92"/>
                  </a:lnTo>
                  <a:lnTo>
                    <a:pt x="56" y="73"/>
                  </a:lnTo>
                  <a:cubicBezTo>
                    <a:pt x="55" y="73"/>
                    <a:pt x="54" y="72"/>
                    <a:pt x="52" y="71"/>
                  </a:cubicBezTo>
                  <a:lnTo>
                    <a:pt x="20" y="52"/>
                  </a:lnTo>
                  <a:cubicBezTo>
                    <a:pt x="17" y="50"/>
                    <a:pt x="14" y="47"/>
                    <a:pt x="11" y="43"/>
                  </a:cubicBezTo>
                  <a:lnTo>
                    <a:pt x="0" y="23"/>
                  </a:lnTo>
                  <a:lnTo>
                    <a:pt x="42" y="0"/>
                  </a:lnTo>
                  <a:lnTo>
                    <a:pt x="53" y="20"/>
                  </a:lnTo>
                  <a:lnTo>
                    <a:pt x="45" y="11"/>
                  </a:lnTo>
                  <a:lnTo>
                    <a:pt x="77" y="30"/>
                  </a:lnTo>
                  <a:lnTo>
                    <a:pt x="73" y="28"/>
                  </a:lnTo>
                  <a:lnTo>
                    <a:pt x="120" y="45"/>
                  </a:lnTo>
                  <a:lnTo>
                    <a:pt x="185" y="60"/>
                  </a:lnTo>
                  <a:lnTo>
                    <a:pt x="264" y="72"/>
                  </a:lnTo>
                  <a:lnTo>
                    <a:pt x="355" y="81"/>
                  </a:lnTo>
                  <a:lnTo>
                    <a:pt x="456" y="86"/>
                  </a:lnTo>
                  <a:lnTo>
                    <a:pt x="565" y="88"/>
                  </a:lnTo>
                  <a:lnTo>
                    <a:pt x="674" y="87"/>
                  </a:lnTo>
                  <a:lnTo>
                    <a:pt x="775" y="81"/>
                  </a:lnTo>
                  <a:lnTo>
                    <a:pt x="866" y="72"/>
                  </a:lnTo>
                  <a:lnTo>
                    <a:pt x="945" y="60"/>
                  </a:lnTo>
                  <a:lnTo>
                    <a:pt x="1008" y="46"/>
                  </a:lnTo>
                  <a:lnTo>
                    <a:pt x="1058" y="28"/>
                  </a:lnTo>
                  <a:lnTo>
                    <a:pt x="1054" y="30"/>
                  </a:lnTo>
                  <a:lnTo>
                    <a:pt x="1086" y="11"/>
                  </a:lnTo>
                  <a:lnTo>
                    <a:pt x="1077" y="20"/>
                  </a:lnTo>
                  <a:lnTo>
                    <a:pt x="1088" y="0"/>
                  </a:lnTo>
                  <a:lnTo>
                    <a:pt x="1130" y="23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4" name="Freeform 58"/>
            <p:cNvSpPr>
              <a:spLocks noEditPoints="1"/>
            </p:cNvSpPr>
            <p:nvPr/>
          </p:nvSpPr>
          <p:spPr bwMode="gray">
            <a:xfrm>
              <a:off x="2487613" y="4918075"/>
              <a:ext cx="598488" cy="346075"/>
            </a:xfrm>
            <a:custGeom>
              <a:avLst/>
              <a:gdLst>
                <a:gd name="T0" fmla="*/ 3 w 1136"/>
                <a:gd name="T1" fmla="*/ 115 h 656"/>
                <a:gd name="T2" fmla="*/ 23 w 1136"/>
                <a:gd name="T3" fmla="*/ 86 h 656"/>
                <a:gd name="T4" fmla="*/ 60 w 1136"/>
                <a:gd name="T5" fmla="*/ 64 h 656"/>
                <a:gd name="T6" fmla="*/ 179 w 1136"/>
                <a:gd name="T7" fmla="*/ 31 h 656"/>
                <a:gd name="T8" fmla="*/ 354 w 1136"/>
                <a:gd name="T9" fmla="*/ 9 h 656"/>
                <a:gd name="T10" fmla="*/ 568 w 1136"/>
                <a:gd name="T11" fmla="*/ 0 h 656"/>
                <a:gd name="T12" fmla="*/ 782 w 1136"/>
                <a:gd name="T13" fmla="*/ 9 h 656"/>
                <a:gd name="T14" fmla="*/ 957 w 1136"/>
                <a:gd name="T15" fmla="*/ 31 h 656"/>
                <a:gd name="T16" fmla="*/ 1077 w 1136"/>
                <a:gd name="T17" fmla="*/ 64 h 656"/>
                <a:gd name="T18" fmla="*/ 1114 w 1136"/>
                <a:gd name="T19" fmla="*/ 86 h 656"/>
                <a:gd name="T20" fmla="*/ 1133 w 1136"/>
                <a:gd name="T21" fmla="*/ 115 h 656"/>
                <a:gd name="T22" fmla="*/ 1136 w 1136"/>
                <a:gd name="T23" fmla="*/ 531 h 656"/>
                <a:gd name="T24" fmla="*/ 1122 w 1136"/>
                <a:gd name="T25" fmla="*/ 563 h 656"/>
                <a:gd name="T26" fmla="*/ 1082 w 1136"/>
                <a:gd name="T27" fmla="*/ 591 h 656"/>
                <a:gd name="T28" fmla="*/ 1028 w 1136"/>
                <a:gd name="T29" fmla="*/ 611 h 656"/>
                <a:gd name="T30" fmla="*/ 876 w 1136"/>
                <a:gd name="T31" fmla="*/ 639 h 656"/>
                <a:gd name="T32" fmla="*/ 680 w 1136"/>
                <a:gd name="T33" fmla="*/ 654 h 656"/>
                <a:gd name="T34" fmla="*/ 458 w 1136"/>
                <a:gd name="T35" fmla="*/ 654 h 656"/>
                <a:gd name="T36" fmla="*/ 262 w 1136"/>
                <a:gd name="T37" fmla="*/ 639 h 656"/>
                <a:gd name="T38" fmla="*/ 112 w 1136"/>
                <a:gd name="T39" fmla="*/ 612 h 656"/>
                <a:gd name="T40" fmla="*/ 55 w 1136"/>
                <a:gd name="T41" fmla="*/ 591 h 656"/>
                <a:gd name="T42" fmla="*/ 14 w 1136"/>
                <a:gd name="T43" fmla="*/ 563 h 656"/>
                <a:gd name="T44" fmla="*/ 0 w 1136"/>
                <a:gd name="T45" fmla="*/ 531 h 656"/>
                <a:gd name="T46" fmla="*/ 48 w 1136"/>
                <a:gd name="T47" fmla="*/ 531 h 656"/>
                <a:gd name="T48" fmla="*/ 56 w 1136"/>
                <a:gd name="T49" fmla="*/ 540 h 656"/>
                <a:gd name="T50" fmla="*/ 80 w 1136"/>
                <a:gd name="T51" fmla="*/ 550 h 656"/>
                <a:gd name="T52" fmla="*/ 123 w 1136"/>
                <a:gd name="T53" fmla="*/ 565 h 656"/>
                <a:gd name="T54" fmla="*/ 267 w 1136"/>
                <a:gd name="T55" fmla="*/ 592 h 656"/>
                <a:gd name="T56" fmla="*/ 459 w 1136"/>
                <a:gd name="T57" fmla="*/ 606 h 656"/>
                <a:gd name="T58" fmla="*/ 677 w 1136"/>
                <a:gd name="T59" fmla="*/ 607 h 656"/>
                <a:gd name="T60" fmla="*/ 869 w 1136"/>
                <a:gd name="T61" fmla="*/ 592 h 656"/>
                <a:gd name="T62" fmla="*/ 1011 w 1136"/>
                <a:gd name="T63" fmla="*/ 566 h 656"/>
                <a:gd name="T64" fmla="*/ 1057 w 1136"/>
                <a:gd name="T65" fmla="*/ 550 h 656"/>
                <a:gd name="T66" fmla="*/ 1080 w 1136"/>
                <a:gd name="T67" fmla="*/ 540 h 656"/>
                <a:gd name="T68" fmla="*/ 1088 w 1136"/>
                <a:gd name="T69" fmla="*/ 531 h 656"/>
                <a:gd name="T70" fmla="*/ 1091 w 1136"/>
                <a:gd name="T71" fmla="*/ 138 h 656"/>
                <a:gd name="T72" fmla="*/ 1089 w 1136"/>
                <a:gd name="T73" fmla="*/ 127 h 656"/>
                <a:gd name="T74" fmla="*/ 1062 w 1136"/>
                <a:gd name="T75" fmla="*/ 109 h 656"/>
                <a:gd name="T76" fmla="*/ 950 w 1136"/>
                <a:gd name="T77" fmla="*/ 78 h 656"/>
                <a:gd name="T78" fmla="*/ 779 w 1136"/>
                <a:gd name="T79" fmla="*/ 56 h 656"/>
                <a:gd name="T80" fmla="*/ 569 w 1136"/>
                <a:gd name="T81" fmla="*/ 48 h 656"/>
                <a:gd name="T82" fmla="*/ 359 w 1136"/>
                <a:gd name="T83" fmla="*/ 56 h 656"/>
                <a:gd name="T84" fmla="*/ 190 w 1136"/>
                <a:gd name="T85" fmla="*/ 78 h 656"/>
                <a:gd name="T86" fmla="*/ 75 w 1136"/>
                <a:gd name="T87" fmla="*/ 109 h 656"/>
                <a:gd name="T88" fmla="*/ 48 w 1136"/>
                <a:gd name="T89" fmla="*/ 127 h 656"/>
                <a:gd name="T90" fmla="*/ 45 w 1136"/>
                <a:gd name="T91" fmla="*/ 138 h 656"/>
                <a:gd name="T92" fmla="*/ 48 w 1136"/>
                <a:gd name="T93" fmla="*/ 531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36" h="656">
                  <a:moveTo>
                    <a:pt x="0" y="126"/>
                  </a:moveTo>
                  <a:cubicBezTo>
                    <a:pt x="0" y="122"/>
                    <a:pt x="1" y="118"/>
                    <a:pt x="3" y="115"/>
                  </a:cubicBezTo>
                  <a:lnTo>
                    <a:pt x="14" y="95"/>
                  </a:lnTo>
                  <a:cubicBezTo>
                    <a:pt x="16" y="91"/>
                    <a:pt x="19" y="88"/>
                    <a:pt x="23" y="86"/>
                  </a:cubicBezTo>
                  <a:lnTo>
                    <a:pt x="55" y="66"/>
                  </a:lnTo>
                  <a:cubicBezTo>
                    <a:pt x="56" y="65"/>
                    <a:pt x="58" y="64"/>
                    <a:pt x="60" y="64"/>
                  </a:cubicBezTo>
                  <a:lnTo>
                    <a:pt x="110" y="47"/>
                  </a:lnTo>
                  <a:lnTo>
                    <a:pt x="179" y="31"/>
                  </a:lnTo>
                  <a:lnTo>
                    <a:pt x="261" y="19"/>
                  </a:lnTo>
                  <a:lnTo>
                    <a:pt x="354" y="9"/>
                  </a:lnTo>
                  <a:lnTo>
                    <a:pt x="457" y="3"/>
                  </a:lnTo>
                  <a:lnTo>
                    <a:pt x="568" y="0"/>
                  </a:lnTo>
                  <a:lnTo>
                    <a:pt x="679" y="2"/>
                  </a:lnTo>
                  <a:lnTo>
                    <a:pt x="782" y="9"/>
                  </a:lnTo>
                  <a:lnTo>
                    <a:pt x="875" y="19"/>
                  </a:lnTo>
                  <a:lnTo>
                    <a:pt x="957" y="31"/>
                  </a:lnTo>
                  <a:lnTo>
                    <a:pt x="1025" y="46"/>
                  </a:lnTo>
                  <a:lnTo>
                    <a:pt x="1077" y="64"/>
                  </a:lnTo>
                  <a:cubicBezTo>
                    <a:pt x="1079" y="64"/>
                    <a:pt x="1081" y="65"/>
                    <a:pt x="1082" y="66"/>
                  </a:cubicBezTo>
                  <a:lnTo>
                    <a:pt x="1114" y="86"/>
                  </a:lnTo>
                  <a:cubicBezTo>
                    <a:pt x="1118" y="88"/>
                    <a:pt x="1121" y="91"/>
                    <a:pt x="1122" y="95"/>
                  </a:cubicBezTo>
                  <a:lnTo>
                    <a:pt x="1133" y="115"/>
                  </a:lnTo>
                  <a:cubicBezTo>
                    <a:pt x="1135" y="118"/>
                    <a:pt x="1136" y="122"/>
                    <a:pt x="1136" y="126"/>
                  </a:cubicBezTo>
                  <a:lnTo>
                    <a:pt x="1136" y="531"/>
                  </a:lnTo>
                  <a:cubicBezTo>
                    <a:pt x="1136" y="536"/>
                    <a:pt x="1135" y="539"/>
                    <a:pt x="1133" y="543"/>
                  </a:cubicBezTo>
                  <a:lnTo>
                    <a:pt x="1122" y="563"/>
                  </a:lnTo>
                  <a:cubicBezTo>
                    <a:pt x="1120" y="567"/>
                    <a:pt x="1117" y="570"/>
                    <a:pt x="1114" y="572"/>
                  </a:cubicBezTo>
                  <a:lnTo>
                    <a:pt x="1082" y="591"/>
                  </a:lnTo>
                  <a:cubicBezTo>
                    <a:pt x="1080" y="592"/>
                    <a:pt x="1079" y="593"/>
                    <a:pt x="1078" y="593"/>
                  </a:cubicBezTo>
                  <a:lnTo>
                    <a:pt x="1028" y="611"/>
                  </a:lnTo>
                  <a:lnTo>
                    <a:pt x="959" y="627"/>
                  </a:lnTo>
                  <a:lnTo>
                    <a:pt x="876" y="639"/>
                  </a:lnTo>
                  <a:lnTo>
                    <a:pt x="783" y="648"/>
                  </a:lnTo>
                  <a:lnTo>
                    <a:pt x="680" y="654"/>
                  </a:lnTo>
                  <a:lnTo>
                    <a:pt x="569" y="656"/>
                  </a:lnTo>
                  <a:lnTo>
                    <a:pt x="458" y="654"/>
                  </a:lnTo>
                  <a:lnTo>
                    <a:pt x="355" y="648"/>
                  </a:lnTo>
                  <a:lnTo>
                    <a:pt x="262" y="639"/>
                  </a:lnTo>
                  <a:lnTo>
                    <a:pt x="181" y="627"/>
                  </a:lnTo>
                  <a:lnTo>
                    <a:pt x="112" y="612"/>
                  </a:lnTo>
                  <a:lnTo>
                    <a:pt x="59" y="593"/>
                  </a:lnTo>
                  <a:cubicBezTo>
                    <a:pt x="58" y="593"/>
                    <a:pt x="57" y="592"/>
                    <a:pt x="55" y="591"/>
                  </a:cubicBezTo>
                  <a:lnTo>
                    <a:pt x="23" y="572"/>
                  </a:lnTo>
                  <a:cubicBezTo>
                    <a:pt x="20" y="570"/>
                    <a:pt x="17" y="567"/>
                    <a:pt x="14" y="563"/>
                  </a:cubicBezTo>
                  <a:lnTo>
                    <a:pt x="3" y="543"/>
                  </a:lnTo>
                  <a:cubicBezTo>
                    <a:pt x="1" y="539"/>
                    <a:pt x="0" y="536"/>
                    <a:pt x="0" y="531"/>
                  </a:cubicBezTo>
                  <a:lnTo>
                    <a:pt x="0" y="126"/>
                  </a:lnTo>
                  <a:close/>
                  <a:moveTo>
                    <a:pt x="48" y="531"/>
                  </a:moveTo>
                  <a:lnTo>
                    <a:pt x="45" y="520"/>
                  </a:lnTo>
                  <a:lnTo>
                    <a:pt x="56" y="540"/>
                  </a:lnTo>
                  <a:lnTo>
                    <a:pt x="48" y="531"/>
                  </a:lnTo>
                  <a:lnTo>
                    <a:pt x="80" y="550"/>
                  </a:lnTo>
                  <a:lnTo>
                    <a:pt x="76" y="548"/>
                  </a:lnTo>
                  <a:lnTo>
                    <a:pt x="123" y="565"/>
                  </a:lnTo>
                  <a:lnTo>
                    <a:pt x="188" y="580"/>
                  </a:lnTo>
                  <a:lnTo>
                    <a:pt x="267" y="592"/>
                  </a:lnTo>
                  <a:lnTo>
                    <a:pt x="358" y="601"/>
                  </a:lnTo>
                  <a:lnTo>
                    <a:pt x="459" y="606"/>
                  </a:lnTo>
                  <a:lnTo>
                    <a:pt x="568" y="608"/>
                  </a:lnTo>
                  <a:lnTo>
                    <a:pt x="677" y="607"/>
                  </a:lnTo>
                  <a:lnTo>
                    <a:pt x="778" y="601"/>
                  </a:lnTo>
                  <a:lnTo>
                    <a:pt x="869" y="592"/>
                  </a:lnTo>
                  <a:lnTo>
                    <a:pt x="948" y="580"/>
                  </a:lnTo>
                  <a:lnTo>
                    <a:pt x="1011" y="566"/>
                  </a:lnTo>
                  <a:lnTo>
                    <a:pt x="1061" y="548"/>
                  </a:lnTo>
                  <a:lnTo>
                    <a:pt x="1057" y="550"/>
                  </a:lnTo>
                  <a:lnTo>
                    <a:pt x="1089" y="531"/>
                  </a:lnTo>
                  <a:lnTo>
                    <a:pt x="1080" y="540"/>
                  </a:lnTo>
                  <a:lnTo>
                    <a:pt x="1091" y="520"/>
                  </a:lnTo>
                  <a:lnTo>
                    <a:pt x="1088" y="531"/>
                  </a:lnTo>
                  <a:lnTo>
                    <a:pt x="1088" y="126"/>
                  </a:lnTo>
                  <a:lnTo>
                    <a:pt x="1091" y="138"/>
                  </a:lnTo>
                  <a:lnTo>
                    <a:pt x="1080" y="118"/>
                  </a:lnTo>
                  <a:lnTo>
                    <a:pt x="1089" y="127"/>
                  </a:lnTo>
                  <a:lnTo>
                    <a:pt x="1057" y="107"/>
                  </a:lnTo>
                  <a:lnTo>
                    <a:pt x="1062" y="109"/>
                  </a:lnTo>
                  <a:lnTo>
                    <a:pt x="1014" y="93"/>
                  </a:lnTo>
                  <a:lnTo>
                    <a:pt x="950" y="78"/>
                  </a:lnTo>
                  <a:lnTo>
                    <a:pt x="870" y="66"/>
                  </a:lnTo>
                  <a:lnTo>
                    <a:pt x="779" y="56"/>
                  </a:lnTo>
                  <a:lnTo>
                    <a:pt x="678" y="50"/>
                  </a:lnTo>
                  <a:lnTo>
                    <a:pt x="569" y="48"/>
                  </a:lnTo>
                  <a:lnTo>
                    <a:pt x="460" y="50"/>
                  </a:lnTo>
                  <a:lnTo>
                    <a:pt x="359" y="56"/>
                  </a:lnTo>
                  <a:lnTo>
                    <a:pt x="268" y="66"/>
                  </a:lnTo>
                  <a:lnTo>
                    <a:pt x="190" y="78"/>
                  </a:lnTo>
                  <a:lnTo>
                    <a:pt x="125" y="92"/>
                  </a:lnTo>
                  <a:lnTo>
                    <a:pt x="75" y="109"/>
                  </a:lnTo>
                  <a:lnTo>
                    <a:pt x="80" y="107"/>
                  </a:lnTo>
                  <a:lnTo>
                    <a:pt x="48" y="127"/>
                  </a:lnTo>
                  <a:lnTo>
                    <a:pt x="56" y="118"/>
                  </a:lnTo>
                  <a:lnTo>
                    <a:pt x="45" y="138"/>
                  </a:lnTo>
                  <a:lnTo>
                    <a:pt x="48" y="126"/>
                  </a:lnTo>
                  <a:lnTo>
                    <a:pt x="48" y="531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5" name="Rectangle 59"/>
            <p:cNvSpPr>
              <a:spLocks noChangeArrowheads="1"/>
            </p:cNvSpPr>
            <p:nvPr/>
          </p:nvSpPr>
          <p:spPr bwMode="gray">
            <a:xfrm>
              <a:off x="2636838" y="5065395"/>
              <a:ext cx="2805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SSH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6" name="Freeform 60"/>
            <p:cNvSpPr/>
            <p:nvPr/>
          </p:nvSpPr>
          <p:spPr bwMode="gray">
            <a:xfrm>
              <a:off x="3200400" y="4930775"/>
              <a:ext cx="574675" cy="320675"/>
            </a:xfrm>
            <a:custGeom>
              <a:avLst/>
              <a:gdLst>
                <a:gd name="T0" fmla="*/ 0 w 1088"/>
                <a:gd name="T1" fmla="*/ 102 h 608"/>
                <a:gd name="T2" fmla="*/ 544 w 1088"/>
                <a:gd name="T3" fmla="*/ 0 h 608"/>
                <a:gd name="T4" fmla="*/ 1088 w 1088"/>
                <a:gd name="T5" fmla="*/ 102 h 608"/>
                <a:gd name="T6" fmla="*/ 1088 w 1088"/>
                <a:gd name="T7" fmla="*/ 102 h 608"/>
                <a:gd name="T8" fmla="*/ 1088 w 1088"/>
                <a:gd name="T9" fmla="*/ 102 h 608"/>
                <a:gd name="T10" fmla="*/ 1088 w 1088"/>
                <a:gd name="T11" fmla="*/ 507 h 608"/>
                <a:gd name="T12" fmla="*/ 1088 w 1088"/>
                <a:gd name="T13" fmla="*/ 507 h 608"/>
                <a:gd name="T14" fmla="*/ 544 w 1088"/>
                <a:gd name="T15" fmla="*/ 608 h 608"/>
                <a:gd name="T16" fmla="*/ 0 w 1088"/>
                <a:gd name="T17" fmla="*/ 507 h 608"/>
                <a:gd name="T18" fmla="*/ 0 w 1088"/>
                <a:gd name="T19" fmla="*/ 507 h 608"/>
                <a:gd name="T20" fmla="*/ 0 w 1088"/>
                <a:gd name="T21" fmla="*/ 10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8" h="608">
                  <a:moveTo>
                    <a:pt x="0" y="102"/>
                  </a:moveTo>
                  <a:cubicBezTo>
                    <a:pt x="0" y="46"/>
                    <a:pt x="244" y="0"/>
                    <a:pt x="544" y="0"/>
                  </a:cubicBezTo>
                  <a:cubicBezTo>
                    <a:pt x="845" y="0"/>
                    <a:pt x="1088" y="46"/>
                    <a:pt x="1088" y="102"/>
                  </a:cubicBezTo>
                  <a:cubicBezTo>
                    <a:pt x="1088" y="102"/>
                    <a:pt x="1088" y="102"/>
                    <a:pt x="1088" y="102"/>
                  </a:cubicBezTo>
                  <a:lnTo>
                    <a:pt x="1088" y="102"/>
                  </a:lnTo>
                  <a:lnTo>
                    <a:pt x="1088" y="507"/>
                  </a:lnTo>
                  <a:lnTo>
                    <a:pt x="1088" y="507"/>
                  </a:lnTo>
                  <a:cubicBezTo>
                    <a:pt x="1088" y="563"/>
                    <a:pt x="845" y="608"/>
                    <a:pt x="544" y="608"/>
                  </a:cubicBezTo>
                  <a:cubicBezTo>
                    <a:pt x="244" y="608"/>
                    <a:pt x="0" y="563"/>
                    <a:pt x="0" y="507"/>
                  </a:cubicBezTo>
                  <a:cubicBezTo>
                    <a:pt x="0" y="507"/>
                    <a:pt x="0" y="507"/>
                    <a:pt x="0" y="507"/>
                  </a:cubicBezTo>
                  <a:lnTo>
                    <a:pt x="0" y="102"/>
                  </a:lnTo>
                  <a:close/>
                </a:path>
              </a:pathLst>
            </a:custGeom>
            <a:solidFill>
              <a:srgbClr val="E7B98A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7" name="Freeform 61"/>
            <p:cNvSpPr/>
            <p:nvPr/>
          </p:nvSpPr>
          <p:spPr bwMode="gray">
            <a:xfrm>
              <a:off x="3189288" y="4979987"/>
              <a:ext cx="596900" cy="71437"/>
            </a:xfrm>
            <a:custGeom>
              <a:avLst/>
              <a:gdLst>
                <a:gd name="T0" fmla="*/ 1130 w 1130"/>
                <a:gd name="T1" fmla="*/ 23 h 136"/>
                <a:gd name="T2" fmla="*/ 1119 w 1130"/>
                <a:gd name="T3" fmla="*/ 43 h 136"/>
                <a:gd name="T4" fmla="*/ 1111 w 1130"/>
                <a:gd name="T5" fmla="*/ 52 h 136"/>
                <a:gd name="T6" fmla="*/ 1079 w 1130"/>
                <a:gd name="T7" fmla="*/ 71 h 136"/>
                <a:gd name="T8" fmla="*/ 1075 w 1130"/>
                <a:gd name="T9" fmla="*/ 73 h 136"/>
                <a:gd name="T10" fmla="*/ 1025 w 1130"/>
                <a:gd name="T11" fmla="*/ 91 h 136"/>
                <a:gd name="T12" fmla="*/ 956 w 1130"/>
                <a:gd name="T13" fmla="*/ 107 h 136"/>
                <a:gd name="T14" fmla="*/ 873 w 1130"/>
                <a:gd name="T15" fmla="*/ 119 h 136"/>
                <a:gd name="T16" fmla="*/ 780 w 1130"/>
                <a:gd name="T17" fmla="*/ 128 h 136"/>
                <a:gd name="T18" fmla="*/ 677 w 1130"/>
                <a:gd name="T19" fmla="*/ 134 h 136"/>
                <a:gd name="T20" fmla="*/ 566 w 1130"/>
                <a:gd name="T21" fmla="*/ 136 h 136"/>
                <a:gd name="T22" fmla="*/ 455 w 1130"/>
                <a:gd name="T23" fmla="*/ 134 h 136"/>
                <a:gd name="T24" fmla="*/ 352 w 1130"/>
                <a:gd name="T25" fmla="*/ 128 h 136"/>
                <a:gd name="T26" fmla="*/ 259 w 1130"/>
                <a:gd name="T27" fmla="*/ 119 h 136"/>
                <a:gd name="T28" fmla="*/ 178 w 1130"/>
                <a:gd name="T29" fmla="*/ 107 h 136"/>
                <a:gd name="T30" fmla="*/ 109 w 1130"/>
                <a:gd name="T31" fmla="*/ 92 h 136"/>
                <a:gd name="T32" fmla="*/ 56 w 1130"/>
                <a:gd name="T33" fmla="*/ 73 h 136"/>
                <a:gd name="T34" fmla="*/ 52 w 1130"/>
                <a:gd name="T35" fmla="*/ 71 h 136"/>
                <a:gd name="T36" fmla="*/ 20 w 1130"/>
                <a:gd name="T37" fmla="*/ 52 h 136"/>
                <a:gd name="T38" fmla="*/ 11 w 1130"/>
                <a:gd name="T39" fmla="*/ 43 h 136"/>
                <a:gd name="T40" fmla="*/ 0 w 1130"/>
                <a:gd name="T41" fmla="*/ 23 h 136"/>
                <a:gd name="T42" fmla="*/ 42 w 1130"/>
                <a:gd name="T43" fmla="*/ 0 h 136"/>
                <a:gd name="T44" fmla="*/ 53 w 1130"/>
                <a:gd name="T45" fmla="*/ 20 h 136"/>
                <a:gd name="T46" fmla="*/ 45 w 1130"/>
                <a:gd name="T47" fmla="*/ 11 h 136"/>
                <a:gd name="T48" fmla="*/ 77 w 1130"/>
                <a:gd name="T49" fmla="*/ 30 h 136"/>
                <a:gd name="T50" fmla="*/ 73 w 1130"/>
                <a:gd name="T51" fmla="*/ 28 h 136"/>
                <a:gd name="T52" fmla="*/ 120 w 1130"/>
                <a:gd name="T53" fmla="*/ 45 h 136"/>
                <a:gd name="T54" fmla="*/ 185 w 1130"/>
                <a:gd name="T55" fmla="*/ 60 h 136"/>
                <a:gd name="T56" fmla="*/ 264 w 1130"/>
                <a:gd name="T57" fmla="*/ 72 h 136"/>
                <a:gd name="T58" fmla="*/ 355 w 1130"/>
                <a:gd name="T59" fmla="*/ 81 h 136"/>
                <a:gd name="T60" fmla="*/ 456 w 1130"/>
                <a:gd name="T61" fmla="*/ 86 h 136"/>
                <a:gd name="T62" fmla="*/ 565 w 1130"/>
                <a:gd name="T63" fmla="*/ 88 h 136"/>
                <a:gd name="T64" fmla="*/ 674 w 1130"/>
                <a:gd name="T65" fmla="*/ 87 h 136"/>
                <a:gd name="T66" fmla="*/ 775 w 1130"/>
                <a:gd name="T67" fmla="*/ 81 h 136"/>
                <a:gd name="T68" fmla="*/ 866 w 1130"/>
                <a:gd name="T69" fmla="*/ 72 h 136"/>
                <a:gd name="T70" fmla="*/ 945 w 1130"/>
                <a:gd name="T71" fmla="*/ 60 h 136"/>
                <a:gd name="T72" fmla="*/ 1008 w 1130"/>
                <a:gd name="T73" fmla="*/ 46 h 136"/>
                <a:gd name="T74" fmla="*/ 1058 w 1130"/>
                <a:gd name="T75" fmla="*/ 28 h 136"/>
                <a:gd name="T76" fmla="*/ 1054 w 1130"/>
                <a:gd name="T77" fmla="*/ 30 h 136"/>
                <a:gd name="T78" fmla="*/ 1086 w 1130"/>
                <a:gd name="T79" fmla="*/ 11 h 136"/>
                <a:gd name="T80" fmla="*/ 1077 w 1130"/>
                <a:gd name="T81" fmla="*/ 20 h 136"/>
                <a:gd name="T82" fmla="*/ 1088 w 1130"/>
                <a:gd name="T83" fmla="*/ 0 h 136"/>
                <a:gd name="T84" fmla="*/ 1130 w 1130"/>
                <a:gd name="T85" fmla="*/ 2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0" h="136">
                  <a:moveTo>
                    <a:pt x="1130" y="23"/>
                  </a:moveTo>
                  <a:lnTo>
                    <a:pt x="1119" y="43"/>
                  </a:lnTo>
                  <a:cubicBezTo>
                    <a:pt x="1117" y="47"/>
                    <a:pt x="1114" y="50"/>
                    <a:pt x="1111" y="52"/>
                  </a:cubicBezTo>
                  <a:lnTo>
                    <a:pt x="1079" y="71"/>
                  </a:lnTo>
                  <a:cubicBezTo>
                    <a:pt x="1077" y="72"/>
                    <a:pt x="1076" y="73"/>
                    <a:pt x="1075" y="73"/>
                  </a:cubicBezTo>
                  <a:lnTo>
                    <a:pt x="1025" y="91"/>
                  </a:lnTo>
                  <a:lnTo>
                    <a:pt x="956" y="107"/>
                  </a:lnTo>
                  <a:lnTo>
                    <a:pt x="873" y="119"/>
                  </a:lnTo>
                  <a:lnTo>
                    <a:pt x="780" y="128"/>
                  </a:lnTo>
                  <a:lnTo>
                    <a:pt x="677" y="134"/>
                  </a:lnTo>
                  <a:lnTo>
                    <a:pt x="566" y="136"/>
                  </a:lnTo>
                  <a:lnTo>
                    <a:pt x="455" y="134"/>
                  </a:lnTo>
                  <a:lnTo>
                    <a:pt x="352" y="128"/>
                  </a:lnTo>
                  <a:lnTo>
                    <a:pt x="259" y="119"/>
                  </a:lnTo>
                  <a:lnTo>
                    <a:pt x="178" y="107"/>
                  </a:lnTo>
                  <a:lnTo>
                    <a:pt x="109" y="92"/>
                  </a:lnTo>
                  <a:lnTo>
                    <a:pt x="56" y="73"/>
                  </a:lnTo>
                  <a:cubicBezTo>
                    <a:pt x="55" y="73"/>
                    <a:pt x="54" y="72"/>
                    <a:pt x="52" y="71"/>
                  </a:cubicBezTo>
                  <a:lnTo>
                    <a:pt x="20" y="52"/>
                  </a:lnTo>
                  <a:cubicBezTo>
                    <a:pt x="17" y="50"/>
                    <a:pt x="14" y="47"/>
                    <a:pt x="11" y="43"/>
                  </a:cubicBezTo>
                  <a:lnTo>
                    <a:pt x="0" y="23"/>
                  </a:lnTo>
                  <a:lnTo>
                    <a:pt x="42" y="0"/>
                  </a:lnTo>
                  <a:lnTo>
                    <a:pt x="53" y="20"/>
                  </a:lnTo>
                  <a:lnTo>
                    <a:pt x="45" y="11"/>
                  </a:lnTo>
                  <a:lnTo>
                    <a:pt x="77" y="30"/>
                  </a:lnTo>
                  <a:lnTo>
                    <a:pt x="73" y="28"/>
                  </a:lnTo>
                  <a:lnTo>
                    <a:pt x="120" y="45"/>
                  </a:lnTo>
                  <a:lnTo>
                    <a:pt x="185" y="60"/>
                  </a:lnTo>
                  <a:lnTo>
                    <a:pt x="264" y="72"/>
                  </a:lnTo>
                  <a:lnTo>
                    <a:pt x="355" y="81"/>
                  </a:lnTo>
                  <a:lnTo>
                    <a:pt x="456" y="86"/>
                  </a:lnTo>
                  <a:lnTo>
                    <a:pt x="565" y="88"/>
                  </a:lnTo>
                  <a:lnTo>
                    <a:pt x="674" y="87"/>
                  </a:lnTo>
                  <a:lnTo>
                    <a:pt x="775" y="81"/>
                  </a:lnTo>
                  <a:lnTo>
                    <a:pt x="866" y="72"/>
                  </a:lnTo>
                  <a:lnTo>
                    <a:pt x="945" y="60"/>
                  </a:lnTo>
                  <a:lnTo>
                    <a:pt x="1008" y="46"/>
                  </a:lnTo>
                  <a:lnTo>
                    <a:pt x="1058" y="28"/>
                  </a:lnTo>
                  <a:lnTo>
                    <a:pt x="1054" y="30"/>
                  </a:lnTo>
                  <a:lnTo>
                    <a:pt x="1086" y="11"/>
                  </a:lnTo>
                  <a:lnTo>
                    <a:pt x="1077" y="20"/>
                  </a:lnTo>
                  <a:lnTo>
                    <a:pt x="1088" y="0"/>
                  </a:lnTo>
                  <a:lnTo>
                    <a:pt x="1130" y="23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8" name="Freeform 62"/>
            <p:cNvSpPr>
              <a:spLocks noEditPoints="1"/>
            </p:cNvSpPr>
            <p:nvPr/>
          </p:nvSpPr>
          <p:spPr bwMode="gray">
            <a:xfrm>
              <a:off x="3187700" y="4918075"/>
              <a:ext cx="600075" cy="346075"/>
            </a:xfrm>
            <a:custGeom>
              <a:avLst/>
              <a:gdLst>
                <a:gd name="T0" fmla="*/ 3 w 1136"/>
                <a:gd name="T1" fmla="*/ 115 h 656"/>
                <a:gd name="T2" fmla="*/ 23 w 1136"/>
                <a:gd name="T3" fmla="*/ 86 h 656"/>
                <a:gd name="T4" fmla="*/ 60 w 1136"/>
                <a:gd name="T5" fmla="*/ 64 h 656"/>
                <a:gd name="T6" fmla="*/ 179 w 1136"/>
                <a:gd name="T7" fmla="*/ 31 h 656"/>
                <a:gd name="T8" fmla="*/ 354 w 1136"/>
                <a:gd name="T9" fmla="*/ 9 h 656"/>
                <a:gd name="T10" fmla="*/ 568 w 1136"/>
                <a:gd name="T11" fmla="*/ 0 h 656"/>
                <a:gd name="T12" fmla="*/ 782 w 1136"/>
                <a:gd name="T13" fmla="*/ 9 h 656"/>
                <a:gd name="T14" fmla="*/ 957 w 1136"/>
                <a:gd name="T15" fmla="*/ 31 h 656"/>
                <a:gd name="T16" fmla="*/ 1077 w 1136"/>
                <a:gd name="T17" fmla="*/ 64 h 656"/>
                <a:gd name="T18" fmla="*/ 1114 w 1136"/>
                <a:gd name="T19" fmla="*/ 86 h 656"/>
                <a:gd name="T20" fmla="*/ 1133 w 1136"/>
                <a:gd name="T21" fmla="*/ 115 h 656"/>
                <a:gd name="T22" fmla="*/ 1136 w 1136"/>
                <a:gd name="T23" fmla="*/ 531 h 656"/>
                <a:gd name="T24" fmla="*/ 1122 w 1136"/>
                <a:gd name="T25" fmla="*/ 563 h 656"/>
                <a:gd name="T26" fmla="*/ 1082 w 1136"/>
                <a:gd name="T27" fmla="*/ 591 h 656"/>
                <a:gd name="T28" fmla="*/ 1028 w 1136"/>
                <a:gd name="T29" fmla="*/ 611 h 656"/>
                <a:gd name="T30" fmla="*/ 876 w 1136"/>
                <a:gd name="T31" fmla="*/ 639 h 656"/>
                <a:gd name="T32" fmla="*/ 680 w 1136"/>
                <a:gd name="T33" fmla="*/ 654 h 656"/>
                <a:gd name="T34" fmla="*/ 458 w 1136"/>
                <a:gd name="T35" fmla="*/ 654 h 656"/>
                <a:gd name="T36" fmla="*/ 262 w 1136"/>
                <a:gd name="T37" fmla="*/ 639 h 656"/>
                <a:gd name="T38" fmla="*/ 112 w 1136"/>
                <a:gd name="T39" fmla="*/ 612 h 656"/>
                <a:gd name="T40" fmla="*/ 55 w 1136"/>
                <a:gd name="T41" fmla="*/ 591 h 656"/>
                <a:gd name="T42" fmla="*/ 14 w 1136"/>
                <a:gd name="T43" fmla="*/ 563 h 656"/>
                <a:gd name="T44" fmla="*/ 0 w 1136"/>
                <a:gd name="T45" fmla="*/ 531 h 656"/>
                <a:gd name="T46" fmla="*/ 48 w 1136"/>
                <a:gd name="T47" fmla="*/ 531 h 656"/>
                <a:gd name="T48" fmla="*/ 56 w 1136"/>
                <a:gd name="T49" fmla="*/ 540 h 656"/>
                <a:gd name="T50" fmla="*/ 80 w 1136"/>
                <a:gd name="T51" fmla="*/ 550 h 656"/>
                <a:gd name="T52" fmla="*/ 123 w 1136"/>
                <a:gd name="T53" fmla="*/ 565 h 656"/>
                <a:gd name="T54" fmla="*/ 267 w 1136"/>
                <a:gd name="T55" fmla="*/ 592 h 656"/>
                <a:gd name="T56" fmla="*/ 459 w 1136"/>
                <a:gd name="T57" fmla="*/ 606 h 656"/>
                <a:gd name="T58" fmla="*/ 677 w 1136"/>
                <a:gd name="T59" fmla="*/ 607 h 656"/>
                <a:gd name="T60" fmla="*/ 869 w 1136"/>
                <a:gd name="T61" fmla="*/ 592 h 656"/>
                <a:gd name="T62" fmla="*/ 1011 w 1136"/>
                <a:gd name="T63" fmla="*/ 566 h 656"/>
                <a:gd name="T64" fmla="*/ 1057 w 1136"/>
                <a:gd name="T65" fmla="*/ 550 h 656"/>
                <a:gd name="T66" fmla="*/ 1080 w 1136"/>
                <a:gd name="T67" fmla="*/ 540 h 656"/>
                <a:gd name="T68" fmla="*/ 1088 w 1136"/>
                <a:gd name="T69" fmla="*/ 531 h 656"/>
                <a:gd name="T70" fmla="*/ 1091 w 1136"/>
                <a:gd name="T71" fmla="*/ 138 h 656"/>
                <a:gd name="T72" fmla="*/ 1089 w 1136"/>
                <a:gd name="T73" fmla="*/ 127 h 656"/>
                <a:gd name="T74" fmla="*/ 1062 w 1136"/>
                <a:gd name="T75" fmla="*/ 109 h 656"/>
                <a:gd name="T76" fmla="*/ 950 w 1136"/>
                <a:gd name="T77" fmla="*/ 78 h 656"/>
                <a:gd name="T78" fmla="*/ 779 w 1136"/>
                <a:gd name="T79" fmla="*/ 56 h 656"/>
                <a:gd name="T80" fmla="*/ 569 w 1136"/>
                <a:gd name="T81" fmla="*/ 48 h 656"/>
                <a:gd name="T82" fmla="*/ 359 w 1136"/>
                <a:gd name="T83" fmla="*/ 56 h 656"/>
                <a:gd name="T84" fmla="*/ 190 w 1136"/>
                <a:gd name="T85" fmla="*/ 78 h 656"/>
                <a:gd name="T86" fmla="*/ 75 w 1136"/>
                <a:gd name="T87" fmla="*/ 109 h 656"/>
                <a:gd name="T88" fmla="*/ 48 w 1136"/>
                <a:gd name="T89" fmla="*/ 127 h 656"/>
                <a:gd name="T90" fmla="*/ 45 w 1136"/>
                <a:gd name="T91" fmla="*/ 138 h 656"/>
                <a:gd name="T92" fmla="*/ 48 w 1136"/>
                <a:gd name="T93" fmla="*/ 531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36" h="656">
                  <a:moveTo>
                    <a:pt x="0" y="126"/>
                  </a:moveTo>
                  <a:cubicBezTo>
                    <a:pt x="0" y="122"/>
                    <a:pt x="1" y="118"/>
                    <a:pt x="3" y="115"/>
                  </a:cubicBezTo>
                  <a:lnTo>
                    <a:pt x="14" y="95"/>
                  </a:lnTo>
                  <a:cubicBezTo>
                    <a:pt x="16" y="91"/>
                    <a:pt x="19" y="88"/>
                    <a:pt x="23" y="86"/>
                  </a:cubicBezTo>
                  <a:lnTo>
                    <a:pt x="55" y="66"/>
                  </a:lnTo>
                  <a:cubicBezTo>
                    <a:pt x="56" y="65"/>
                    <a:pt x="58" y="64"/>
                    <a:pt x="60" y="64"/>
                  </a:cubicBezTo>
                  <a:lnTo>
                    <a:pt x="110" y="47"/>
                  </a:lnTo>
                  <a:lnTo>
                    <a:pt x="179" y="31"/>
                  </a:lnTo>
                  <a:lnTo>
                    <a:pt x="261" y="19"/>
                  </a:lnTo>
                  <a:lnTo>
                    <a:pt x="354" y="9"/>
                  </a:lnTo>
                  <a:lnTo>
                    <a:pt x="457" y="3"/>
                  </a:lnTo>
                  <a:lnTo>
                    <a:pt x="568" y="0"/>
                  </a:lnTo>
                  <a:lnTo>
                    <a:pt x="679" y="2"/>
                  </a:lnTo>
                  <a:lnTo>
                    <a:pt x="782" y="9"/>
                  </a:lnTo>
                  <a:lnTo>
                    <a:pt x="875" y="19"/>
                  </a:lnTo>
                  <a:lnTo>
                    <a:pt x="957" y="31"/>
                  </a:lnTo>
                  <a:lnTo>
                    <a:pt x="1025" y="46"/>
                  </a:lnTo>
                  <a:lnTo>
                    <a:pt x="1077" y="64"/>
                  </a:lnTo>
                  <a:cubicBezTo>
                    <a:pt x="1079" y="64"/>
                    <a:pt x="1081" y="65"/>
                    <a:pt x="1082" y="66"/>
                  </a:cubicBezTo>
                  <a:lnTo>
                    <a:pt x="1114" y="86"/>
                  </a:lnTo>
                  <a:cubicBezTo>
                    <a:pt x="1118" y="88"/>
                    <a:pt x="1121" y="91"/>
                    <a:pt x="1122" y="95"/>
                  </a:cubicBezTo>
                  <a:lnTo>
                    <a:pt x="1133" y="115"/>
                  </a:lnTo>
                  <a:cubicBezTo>
                    <a:pt x="1135" y="118"/>
                    <a:pt x="1136" y="122"/>
                    <a:pt x="1136" y="126"/>
                  </a:cubicBezTo>
                  <a:lnTo>
                    <a:pt x="1136" y="531"/>
                  </a:lnTo>
                  <a:cubicBezTo>
                    <a:pt x="1136" y="536"/>
                    <a:pt x="1135" y="539"/>
                    <a:pt x="1133" y="543"/>
                  </a:cubicBezTo>
                  <a:lnTo>
                    <a:pt x="1122" y="563"/>
                  </a:lnTo>
                  <a:cubicBezTo>
                    <a:pt x="1120" y="567"/>
                    <a:pt x="1117" y="570"/>
                    <a:pt x="1114" y="572"/>
                  </a:cubicBezTo>
                  <a:lnTo>
                    <a:pt x="1082" y="591"/>
                  </a:lnTo>
                  <a:cubicBezTo>
                    <a:pt x="1080" y="592"/>
                    <a:pt x="1079" y="593"/>
                    <a:pt x="1078" y="593"/>
                  </a:cubicBezTo>
                  <a:lnTo>
                    <a:pt x="1028" y="611"/>
                  </a:lnTo>
                  <a:lnTo>
                    <a:pt x="959" y="627"/>
                  </a:lnTo>
                  <a:lnTo>
                    <a:pt x="876" y="639"/>
                  </a:lnTo>
                  <a:lnTo>
                    <a:pt x="783" y="648"/>
                  </a:lnTo>
                  <a:lnTo>
                    <a:pt x="680" y="654"/>
                  </a:lnTo>
                  <a:lnTo>
                    <a:pt x="569" y="656"/>
                  </a:lnTo>
                  <a:lnTo>
                    <a:pt x="458" y="654"/>
                  </a:lnTo>
                  <a:lnTo>
                    <a:pt x="355" y="648"/>
                  </a:lnTo>
                  <a:lnTo>
                    <a:pt x="262" y="639"/>
                  </a:lnTo>
                  <a:lnTo>
                    <a:pt x="181" y="627"/>
                  </a:lnTo>
                  <a:lnTo>
                    <a:pt x="112" y="612"/>
                  </a:lnTo>
                  <a:lnTo>
                    <a:pt x="59" y="593"/>
                  </a:lnTo>
                  <a:cubicBezTo>
                    <a:pt x="58" y="593"/>
                    <a:pt x="57" y="592"/>
                    <a:pt x="55" y="591"/>
                  </a:cubicBezTo>
                  <a:lnTo>
                    <a:pt x="23" y="572"/>
                  </a:lnTo>
                  <a:cubicBezTo>
                    <a:pt x="20" y="570"/>
                    <a:pt x="17" y="567"/>
                    <a:pt x="14" y="563"/>
                  </a:cubicBezTo>
                  <a:lnTo>
                    <a:pt x="3" y="543"/>
                  </a:lnTo>
                  <a:cubicBezTo>
                    <a:pt x="1" y="539"/>
                    <a:pt x="0" y="536"/>
                    <a:pt x="0" y="531"/>
                  </a:cubicBezTo>
                  <a:lnTo>
                    <a:pt x="0" y="126"/>
                  </a:lnTo>
                  <a:close/>
                  <a:moveTo>
                    <a:pt x="48" y="531"/>
                  </a:moveTo>
                  <a:lnTo>
                    <a:pt x="45" y="520"/>
                  </a:lnTo>
                  <a:lnTo>
                    <a:pt x="56" y="540"/>
                  </a:lnTo>
                  <a:lnTo>
                    <a:pt x="48" y="531"/>
                  </a:lnTo>
                  <a:lnTo>
                    <a:pt x="80" y="550"/>
                  </a:lnTo>
                  <a:lnTo>
                    <a:pt x="76" y="548"/>
                  </a:lnTo>
                  <a:lnTo>
                    <a:pt x="123" y="565"/>
                  </a:lnTo>
                  <a:lnTo>
                    <a:pt x="188" y="580"/>
                  </a:lnTo>
                  <a:lnTo>
                    <a:pt x="267" y="592"/>
                  </a:lnTo>
                  <a:lnTo>
                    <a:pt x="358" y="601"/>
                  </a:lnTo>
                  <a:lnTo>
                    <a:pt x="459" y="606"/>
                  </a:lnTo>
                  <a:lnTo>
                    <a:pt x="568" y="608"/>
                  </a:lnTo>
                  <a:lnTo>
                    <a:pt x="677" y="607"/>
                  </a:lnTo>
                  <a:lnTo>
                    <a:pt x="778" y="601"/>
                  </a:lnTo>
                  <a:lnTo>
                    <a:pt x="869" y="592"/>
                  </a:lnTo>
                  <a:lnTo>
                    <a:pt x="948" y="580"/>
                  </a:lnTo>
                  <a:lnTo>
                    <a:pt x="1011" y="566"/>
                  </a:lnTo>
                  <a:lnTo>
                    <a:pt x="1061" y="548"/>
                  </a:lnTo>
                  <a:lnTo>
                    <a:pt x="1057" y="550"/>
                  </a:lnTo>
                  <a:lnTo>
                    <a:pt x="1089" y="531"/>
                  </a:lnTo>
                  <a:lnTo>
                    <a:pt x="1080" y="540"/>
                  </a:lnTo>
                  <a:lnTo>
                    <a:pt x="1091" y="520"/>
                  </a:lnTo>
                  <a:lnTo>
                    <a:pt x="1088" y="531"/>
                  </a:lnTo>
                  <a:lnTo>
                    <a:pt x="1088" y="126"/>
                  </a:lnTo>
                  <a:lnTo>
                    <a:pt x="1091" y="138"/>
                  </a:lnTo>
                  <a:lnTo>
                    <a:pt x="1080" y="118"/>
                  </a:lnTo>
                  <a:lnTo>
                    <a:pt x="1089" y="127"/>
                  </a:lnTo>
                  <a:lnTo>
                    <a:pt x="1057" y="107"/>
                  </a:lnTo>
                  <a:lnTo>
                    <a:pt x="1062" y="109"/>
                  </a:lnTo>
                  <a:lnTo>
                    <a:pt x="1014" y="93"/>
                  </a:lnTo>
                  <a:lnTo>
                    <a:pt x="950" y="78"/>
                  </a:lnTo>
                  <a:lnTo>
                    <a:pt x="870" y="66"/>
                  </a:lnTo>
                  <a:lnTo>
                    <a:pt x="779" y="56"/>
                  </a:lnTo>
                  <a:lnTo>
                    <a:pt x="678" y="50"/>
                  </a:lnTo>
                  <a:lnTo>
                    <a:pt x="569" y="48"/>
                  </a:lnTo>
                  <a:lnTo>
                    <a:pt x="460" y="50"/>
                  </a:lnTo>
                  <a:lnTo>
                    <a:pt x="359" y="56"/>
                  </a:lnTo>
                  <a:lnTo>
                    <a:pt x="268" y="66"/>
                  </a:lnTo>
                  <a:lnTo>
                    <a:pt x="190" y="78"/>
                  </a:lnTo>
                  <a:lnTo>
                    <a:pt x="125" y="92"/>
                  </a:lnTo>
                  <a:lnTo>
                    <a:pt x="75" y="109"/>
                  </a:lnTo>
                  <a:lnTo>
                    <a:pt x="80" y="107"/>
                  </a:lnTo>
                  <a:lnTo>
                    <a:pt x="48" y="127"/>
                  </a:lnTo>
                  <a:lnTo>
                    <a:pt x="56" y="118"/>
                  </a:lnTo>
                  <a:lnTo>
                    <a:pt x="45" y="138"/>
                  </a:lnTo>
                  <a:lnTo>
                    <a:pt x="48" y="126"/>
                  </a:lnTo>
                  <a:lnTo>
                    <a:pt x="48" y="531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35" name="Rectangle 63"/>
            <p:cNvSpPr>
              <a:spLocks noChangeArrowheads="1"/>
            </p:cNvSpPr>
            <p:nvPr/>
          </p:nvSpPr>
          <p:spPr bwMode="gray">
            <a:xfrm>
              <a:off x="3312478" y="5065395"/>
              <a:ext cx="35105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BEEP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36" name="Freeform 64"/>
            <p:cNvSpPr/>
            <p:nvPr/>
          </p:nvSpPr>
          <p:spPr bwMode="gray">
            <a:xfrm>
              <a:off x="3902075" y="4930775"/>
              <a:ext cx="641350" cy="320675"/>
            </a:xfrm>
            <a:custGeom>
              <a:avLst/>
              <a:gdLst>
                <a:gd name="T0" fmla="*/ 0 w 1216"/>
                <a:gd name="T1" fmla="*/ 102 h 608"/>
                <a:gd name="T2" fmla="*/ 608 w 1216"/>
                <a:gd name="T3" fmla="*/ 0 h 608"/>
                <a:gd name="T4" fmla="*/ 1216 w 1216"/>
                <a:gd name="T5" fmla="*/ 102 h 608"/>
                <a:gd name="T6" fmla="*/ 1216 w 1216"/>
                <a:gd name="T7" fmla="*/ 102 h 608"/>
                <a:gd name="T8" fmla="*/ 1216 w 1216"/>
                <a:gd name="T9" fmla="*/ 102 h 608"/>
                <a:gd name="T10" fmla="*/ 1216 w 1216"/>
                <a:gd name="T11" fmla="*/ 507 h 608"/>
                <a:gd name="T12" fmla="*/ 1216 w 1216"/>
                <a:gd name="T13" fmla="*/ 507 h 608"/>
                <a:gd name="T14" fmla="*/ 608 w 1216"/>
                <a:gd name="T15" fmla="*/ 608 h 608"/>
                <a:gd name="T16" fmla="*/ 0 w 1216"/>
                <a:gd name="T17" fmla="*/ 507 h 608"/>
                <a:gd name="T18" fmla="*/ 0 w 1216"/>
                <a:gd name="T19" fmla="*/ 507 h 608"/>
                <a:gd name="T20" fmla="*/ 0 w 1216"/>
                <a:gd name="T21" fmla="*/ 10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6" h="608">
                  <a:moveTo>
                    <a:pt x="0" y="102"/>
                  </a:moveTo>
                  <a:cubicBezTo>
                    <a:pt x="0" y="46"/>
                    <a:pt x="273" y="0"/>
                    <a:pt x="608" y="0"/>
                  </a:cubicBezTo>
                  <a:cubicBezTo>
                    <a:pt x="944" y="0"/>
                    <a:pt x="1216" y="46"/>
                    <a:pt x="1216" y="102"/>
                  </a:cubicBezTo>
                  <a:cubicBezTo>
                    <a:pt x="1216" y="102"/>
                    <a:pt x="1216" y="102"/>
                    <a:pt x="1216" y="102"/>
                  </a:cubicBezTo>
                  <a:lnTo>
                    <a:pt x="1216" y="102"/>
                  </a:lnTo>
                  <a:lnTo>
                    <a:pt x="1216" y="507"/>
                  </a:lnTo>
                  <a:lnTo>
                    <a:pt x="1216" y="507"/>
                  </a:lnTo>
                  <a:cubicBezTo>
                    <a:pt x="1216" y="563"/>
                    <a:pt x="944" y="608"/>
                    <a:pt x="608" y="608"/>
                  </a:cubicBezTo>
                  <a:cubicBezTo>
                    <a:pt x="273" y="608"/>
                    <a:pt x="0" y="563"/>
                    <a:pt x="0" y="507"/>
                  </a:cubicBezTo>
                  <a:cubicBezTo>
                    <a:pt x="0" y="507"/>
                    <a:pt x="0" y="507"/>
                    <a:pt x="0" y="507"/>
                  </a:cubicBezTo>
                  <a:lnTo>
                    <a:pt x="0" y="102"/>
                  </a:lnTo>
                  <a:close/>
                </a:path>
              </a:pathLst>
            </a:custGeom>
            <a:solidFill>
              <a:srgbClr val="E7B98A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37" name="Freeform 65"/>
            <p:cNvSpPr/>
            <p:nvPr/>
          </p:nvSpPr>
          <p:spPr bwMode="gray">
            <a:xfrm>
              <a:off x="3889375" y="4981575"/>
              <a:ext cx="666750" cy="69850"/>
            </a:xfrm>
            <a:custGeom>
              <a:avLst/>
              <a:gdLst>
                <a:gd name="T0" fmla="*/ 1262 w 1262"/>
                <a:gd name="T1" fmla="*/ 13 h 131"/>
                <a:gd name="T2" fmla="*/ 1259 w 1262"/>
                <a:gd name="T3" fmla="*/ 23 h 131"/>
                <a:gd name="T4" fmla="*/ 1254 w 1262"/>
                <a:gd name="T5" fmla="*/ 33 h 131"/>
                <a:gd name="T6" fmla="*/ 1245 w 1262"/>
                <a:gd name="T7" fmla="*/ 43 h 131"/>
                <a:gd name="T8" fmla="*/ 1239 w 1262"/>
                <a:gd name="T9" fmla="*/ 48 h 131"/>
                <a:gd name="T10" fmla="*/ 1203 w 1262"/>
                <a:gd name="T11" fmla="*/ 67 h 131"/>
                <a:gd name="T12" fmla="*/ 1199 w 1262"/>
                <a:gd name="T13" fmla="*/ 68 h 131"/>
                <a:gd name="T14" fmla="*/ 1143 w 1262"/>
                <a:gd name="T15" fmla="*/ 86 h 131"/>
                <a:gd name="T16" fmla="*/ 1066 w 1262"/>
                <a:gd name="T17" fmla="*/ 101 h 131"/>
                <a:gd name="T18" fmla="*/ 975 w 1262"/>
                <a:gd name="T19" fmla="*/ 114 h 131"/>
                <a:gd name="T20" fmla="*/ 871 w 1262"/>
                <a:gd name="T21" fmla="*/ 123 h 131"/>
                <a:gd name="T22" fmla="*/ 756 w 1262"/>
                <a:gd name="T23" fmla="*/ 129 h 131"/>
                <a:gd name="T24" fmla="*/ 632 w 1262"/>
                <a:gd name="T25" fmla="*/ 131 h 131"/>
                <a:gd name="T26" fmla="*/ 509 w 1262"/>
                <a:gd name="T27" fmla="*/ 129 h 131"/>
                <a:gd name="T28" fmla="*/ 394 w 1262"/>
                <a:gd name="T29" fmla="*/ 123 h 131"/>
                <a:gd name="T30" fmla="*/ 289 w 1262"/>
                <a:gd name="T31" fmla="*/ 114 h 131"/>
                <a:gd name="T32" fmla="*/ 198 w 1262"/>
                <a:gd name="T33" fmla="*/ 102 h 131"/>
                <a:gd name="T34" fmla="*/ 123 w 1262"/>
                <a:gd name="T35" fmla="*/ 87 h 131"/>
                <a:gd name="T36" fmla="*/ 64 w 1262"/>
                <a:gd name="T37" fmla="*/ 68 h 131"/>
                <a:gd name="T38" fmla="*/ 60 w 1262"/>
                <a:gd name="T39" fmla="*/ 67 h 131"/>
                <a:gd name="T40" fmla="*/ 24 w 1262"/>
                <a:gd name="T41" fmla="*/ 48 h 131"/>
                <a:gd name="T42" fmla="*/ 18 w 1262"/>
                <a:gd name="T43" fmla="*/ 43 h 131"/>
                <a:gd name="T44" fmla="*/ 9 w 1262"/>
                <a:gd name="T45" fmla="*/ 33 h 131"/>
                <a:gd name="T46" fmla="*/ 3 w 1262"/>
                <a:gd name="T47" fmla="*/ 23 h 131"/>
                <a:gd name="T48" fmla="*/ 0 w 1262"/>
                <a:gd name="T49" fmla="*/ 13 h 131"/>
                <a:gd name="T50" fmla="*/ 46 w 1262"/>
                <a:gd name="T51" fmla="*/ 0 h 131"/>
                <a:gd name="T52" fmla="*/ 49 w 1262"/>
                <a:gd name="T53" fmla="*/ 10 h 131"/>
                <a:gd name="T54" fmla="*/ 44 w 1262"/>
                <a:gd name="T55" fmla="*/ 0 h 131"/>
                <a:gd name="T56" fmla="*/ 53 w 1262"/>
                <a:gd name="T57" fmla="*/ 10 h 131"/>
                <a:gd name="T58" fmla="*/ 47 w 1262"/>
                <a:gd name="T59" fmla="*/ 5 h 131"/>
                <a:gd name="T60" fmla="*/ 83 w 1262"/>
                <a:gd name="T61" fmla="*/ 24 h 131"/>
                <a:gd name="T62" fmla="*/ 79 w 1262"/>
                <a:gd name="T63" fmla="*/ 23 h 131"/>
                <a:gd name="T64" fmla="*/ 132 w 1262"/>
                <a:gd name="T65" fmla="*/ 40 h 131"/>
                <a:gd name="T66" fmla="*/ 205 w 1262"/>
                <a:gd name="T67" fmla="*/ 55 h 131"/>
                <a:gd name="T68" fmla="*/ 294 w 1262"/>
                <a:gd name="T69" fmla="*/ 67 h 131"/>
                <a:gd name="T70" fmla="*/ 397 w 1262"/>
                <a:gd name="T71" fmla="*/ 75 h 131"/>
                <a:gd name="T72" fmla="*/ 510 w 1262"/>
                <a:gd name="T73" fmla="*/ 81 h 131"/>
                <a:gd name="T74" fmla="*/ 631 w 1262"/>
                <a:gd name="T75" fmla="*/ 83 h 131"/>
                <a:gd name="T76" fmla="*/ 753 w 1262"/>
                <a:gd name="T77" fmla="*/ 81 h 131"/>
                <a:gd name="T78" fmla="*/ 866 w 1262"/>
                <a:gd name="T79" fmla="*/ 76 h 131"/>
                <a:gd name="T80" fmla="*/ 968 w 1262"/>
                <a:gd name="T81" fmla="*/ 67 h 131"/>
                <a:gd name="T82" fmla="*/ 1057 w 1262"/>
                <a:gd name="T83" fmla="*/ 54 h 131"/>
                <a:gd name="T84" fmla="*/ 1128 w 1262"/>
                <a:gd name="T85" fmla="*/ 41 h 131"/>
                <a:gd name="T86" fmla="*/ 1184 w 1262"/>
                <a:gd name="T87" fmla="*/ 23 h 131"/>
                <a:gd name="T88" fmla="*/ 1180 w 1262"/>
                <a:gd name="T89" fmla="*/ 24 h 131"/>
                <a:gd name="T90" fmla="*/ 1216 w 1262"/>
                <a:gd name="T91" fmla="*/ 5 h 131"/>
                <a:gd name="T92" fmla="*/ 1210 w 1262"/>
                <a:gd name="T93" fmla="*/ 10 h 131"/>
                <a:gd name="T94" fmla="*/ 1219 w 1262"/>
                <a:gd name="T95" fmla="*/ 0 h 131"/>
                <a:gd name="T96" fmla="*/ 1213 w 1262"/>
                <a:gd name="T97" fmla="*/ 10 h 131"/>
                <a:gd name="T98" fmla="*/ 1216 w 1262"/>
                <a:gd name="T99" fmla="*/ 0 h 131"/>
                <a:gd name="T100" fmla="*/ 1262 w 1262"/>
                <a:gd name="T101" fmla="*/ 13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62" h="131">
                  <a:moveTo>
                    <a:pt x="1262" y="13"/>
                  </a:moveTo>
                  <a:lnTo>
                    <a:pt x="1259" y="23"/>
                  </a:lnTo>
                  <a:cubicBezTo>
                    <a:pt x="1258" y="27"/>
                    <a:pt x="1257" y="30"/>
                    <a:pt x="1254" y="33"/>
                  </a:cubicBezTo>
                  <a:lnTo>
                    <a:pt x="1245" y="43"/>
                  </a:lnTo>
                  <a:cubicBezTo>
                    <a:pt x="1243" y="45"/>
                    <a:pt x="1241" y="46"/>
                    <a:pt x="1239" y="48"/>
                  </a:cubicBezTo>
                  <a:lnTo>
                    <a:pt x="1203" y="67"/>
                  </a:lnTo>
                  <a:cubicBezTo>
                    <a:pt x="1201" y="67"/>
                    <a:pt x="1200" y="68"/>
                    <a:pt x="1199" y="68"/>
                  </a:cubicBezTo>
                  <a:lnTo>
                    <a:pt x="1143" y="86"/>
                  </a:lnTo>
                  <a:lnTo>
                    <a:pt x="1066" y="101"/>
                  </a:lnTo>
                  <a:lnTo>
                    <a:pt x="975" y="114"/>
                  </a:lnTo>
                  <a:lnTo>
                    <a:pt x="871" y="123"/>
                  </a:lnTo>
                  <a:lnTo>
                    <a:pt x="756" y="129"/>
                  </a:lnTo>
                  <a:lnTo>
                    <a:pt x="632" y="131"/>
                  </a:lnTo>
                  <a:lnTo>
                    <a:pt x="509" y="129"/>
                  </a:lnTo>
                  <a:lnTo>
                    <a:pt x="394" y="123"/>
                  </a:lnTo>
                  <a:lnTo>
                    <a:pt x="289" y="114"/>
                  </a:lnTo>
                  <a:lnTo>
                    <a:pt x="198" y="102"/>
                  </a:lnTo>
                  <a:lnTo>
                    <a:pt x="123" y="87"/>
                  </a:lnTo>
                  <a:lnTo>
                    <a:pt x="64" y="68"/>
                  </a:lnTo>
                  <a:cubicBezTo>
                    <a:pt x="63" y="68"/>
                    <a:pt x="61" y="67"/>
                    <a:pt x="60" y="67"/>
                  </a:cubicBezTo>
                  <a:lnTo>
                    <a:pt x="24" y="48"/>
                  </a:lnTo>
                  <a:cubicBezTo>
                    <a:pt x="22" y="46"/>
                    <a:pt x="20" y="45"/>
                    <a:pt x="18" y="43"/>
                  </a:cubicBezTo>
                  <a:lnTo>
                    <a:pt x="9" y="33"/>
                  </a:lnTo>
                  <a:cubicBezTo>
                    <a:pt x="6" y="30"/>
                    <a:pt x="4" y="27"/>
                    <a:pt x="3" y="23"/>
                  </a:cubicBezTo>
                  <a:lnTo>
                    <a:pt x="0" y="13"/>
                  </a:lnTo>
                  <a:lnTo>
                    <a:pt x="46" y="0"/>
                  </a:lnTo>
                  <a:lnTo>
                    <a:pt x="49" y="10"/>
                  </a:lnTo>
                  <a:lnTo>
                    <a:pt x="44" y="0"/>
                  </a:lnTo>
                  <a:lnTo>
                    <a:pt x="53" y="10"/>
                  </a:lnTo>
                  <a:lnTo>
                    <a:pt x="47" y="5"/>
                  </a:lnTo>
                  <a:lnTo>
                    <a:pt x="83" y="24"/>
                  </a:lnTo>
                  <a:lnTo>
                    <a:pt x="79" y="23"/>
                  </a:lnTo>
                  <a:lnTo>
                    <a:pt x="132" y="40"/>
                  </a:lnTo>
                  <a:lnTo>
                    <a:pt x="205" y="55"/>
                  </a:lnTo>
                  <a:lnTo>
                    <a:pt x="294" y="67"/>
                  </a:lnTo>
                  <a:lnTo>
                    <a:pt x="397" y="75"/>
                  </a:lnTo>
                  <a:lnTo>
                    <a:pt x="510" y="81"/>
                  </a:lnTo>
                  <a:lnTo>
                    <a:pt x="631" y="83"/>
                  </a:lnTo>
                  <a:lnTo>
                    <a:pt x="753" y="81"/>
                  </a:lnTo>
                  <a:lnTo>
                    <a:pt x="866" y="76"/>
                  </a:lnTo>
                  <a:lnTo>
                    <a:pt x="968" y="67"/>
                  </a:lnTo>
                  <a:lnTo>
                    <a:pt x="1057" y="54"/>
                  </a:lnTo>
                  <a:lnTo>
                    <a:pt x="1128" y="41"/>
                  </a:lnTo>
                  <a:lnTo>
                    <a:pt x="1184" y="23"/>
                  </a:lnTo>
                  <a:lnTo>
                    <a:pt x="1180" y="24"/>
                  </a:lnTo>
                  <a:lnTo>
                    <a:pt x="1216" y="5"/>
                  </a:lnTo>
                  <a:lnTo>
                    <a:pt x="1210" y="10"/>
                  </a:lnTo>
                  <a:lnTo>
                    <a:pt x="1219" y="0"/>
                  </a:lnTo>
                  <a:lnTo>
                    <a:pt x="1213" y="10"/>
                  </a:lnTo>
                  <a:lnTo>
                    <a:pt x="1216" y="0"/>
                  </a:lnTo>
                  <a:lnTo>
                    <a:pt x="1262" y="13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0" name="Freeform 66"/>
            <p:cNvSpPr>
              <a:spLocks noEditPoints="1"/>
            </p:cNvSpPr>
            <p:nvPr/>
          </p:nvSpPr>
          <p:spPr bwMode="gray">
            <a:xfrm>
              <a:off x="3889375" y="4918075"/>
              <a:ext cx="666750" cy="346075"/>
            </a:xfrm>
            <a:custGeom>
              <a:avLst/>
              <a:gdLst>
                <a:gd name="T0" fmla="*/ 1 w 1264"/>
                <a:gd name="T1" fmla="*/ 120 h 656"/>
                <a:gd name="T2" fmla="*/ 10 w 1264"/>
                <a:gd name="T3" fmla="*/ 100 h 656"/>
                <a:gd name="T4" fmla="*/ 25 w 1264"/>
                <a:gd name="T5" fmla="*/ 85 h 656"/>
                <a:gd name="T6" fmla="*/ 65 w 1264"/>
                <a:gd name="T7" fmla="*/ 64 h 656"/>
                <a:gd name="T8" fmla="*/ 198 w 1264"/>
                <a:gd name="T9" fmla="*/ 31 h 656"/>
                <a:gd name="T10" fmla="*/ 394 w 1264"/>
                <a:gd name="T11" fmla="*/ 9 h 656"/>
                <a:gd name="T12" fmla="*/ 632 w 1264"/>
                <a:gd name="T13" fmla="*/ 0 h 656"/>
                <a:gd name="T14" fmla="*/ 871 w 1264"/>
                <a:gd name="T15" fmla="*/ 8 h 656"/>
                <a:gd name="T16" fmla="*/ 1066 w 1264"/>
                <a:gd name="T17" fmla="*/ 31 h 656"/>
                <a:gd name="T18" fmla="*/ 1199 w 1264"/>
                <a:gd name="T19" fmla="*/ 64 h 656"/>
                <a:gd name="T20" fmla="*/ 1240 w 1264"/>
                <a:gd name="T21" fmla="*/ 85 h 656"/>
                <a:gd name="T22" fmla="*/ 1255 w 1264"/>
                <a:gd name="T23" fmla="*/ 100 h 656"/>
                <a:gd name="T24" fmla="*/ 1263 w 1264"/>
                <a:gd name="T25" fmla="*/ 120 h 656"/>
                <a:gd name="T26" fmla="*/ 1264 w 1264"/>
                <a:gd name="T27" fmla="*/ 531 h 656"/>
                <a:gd name="T28" fmla="*/ 1260 w 1264"/>
                <a:gd name="T29" fmla="*/ 548 h 656"/>
                <a:gd name="T30" fmla="*/ 1246 w 1264"/>
                <a:gd name="T31" fmla="*/ 568 h 656"/>
                <a:gd name="T32" fmla="*/ 1204 w 1264"/>
                <a:gd name="T33" fmla="*/ 592 h 656"/>
                <a:gd name="T34" fmla="*/ 1144 w 1264"/>
                <a:gd name="T35" fmla="*/ 611 h 656"/>
                <a:gd name="T36" fmla="*/ 976 w 1264"/>
                <a:gd name="T37" fmla="*/ 639 h 656"/>
                <a:gd name="T38" fmla="*/ 757 w 1264"/>
                <a:gd name="T39" fmla="*/ 654 h 656"/>
                <a:gd name="T40" fmla="*/ 510 w 1264"/>
                <a:gd name="T41" fmla="*/ 654 h 656"/>
                <a:gd name="T42" fmla="*/ 290 w 1264"/>
                <a:gd name="T43" fmla="*/ 639 h 656"/>
                <a:gd name="T44" fmla="*/ 124 w 1264"/>
                <a:gd name="T45" fmla="*/ 612 h 656"/>
                <a:gd name="T46" fmla="*/ 61 w 1264"/>
                <a:gd name="T47" fmla="*/ 592 h 656"/>
                <a:gd name="T48" fmla="*/ 19 w 1264"/>
                <a:gd name="T49" fmla="*/ 568 h 656"/>
                <a:gd name="T50" fmla="*/ 4 w 1264"/>
                <a:gd name="T51" fmla="*/ 548 h 656"/>
                <a:gd name="T52" fmla="*/ 0 w 1264"/>
                <a:gd name="T53" fmla="*/ 531 h 656"/>
                <a:gd name="T54" fmla="*/ 48 w 1264"/>
                <a:gd name="T55" fmla="*/ 531 h 656"/>
                <a:gd name="T56" fmla="*/ 50 w 1264"/>
                <a:gd name="T57" fmla="*/ 535 h 656"/>
                <a:gd name="T58" fmla="*/ 54 w 1264"/>
                <a:gd name="T59" fmla="*/ 535 h 656"/>
                <a:gd name="T60" fmla="*/ 84 w 1264"/>
                <a:gd name="T61" fmla="*/ 549 h 656"/>
                <a:gd name="T62" fmla="*/ 133 w 1264"/>
                <a:gd name="T63" fmla="*/ 565 h 656"/>
                <a:gd name="T64" fmla="*/ 295 w 1264"/>
                <a:gd name="T65" fmla="*/ 592 h 656"/>
                <a:gd name="T66" fmla="*/ 511 w 1264"/>
                <a:gd name="T67" fmla="*/ 606 h 656"/>
                <a:gd name="T68" fmla="*/ 754 w 1264"/>
                <a:gd name="T69" fmla="*/ 606 h 656"/>
                <a:gd name="T70" fmla="*/ 969 w 1264"/>
                <a:gd name="T71" fmla="*/ 592 h 656"/>
                <a:gd name="T72" fmla="*/ 1129 w 1264"/>
                <a:gd name="T73" fmla="*/ 566 h 656"/>
                <a:gd name="T74" fmla="*/ 1181 w 1264"/>
                <a:gd name="T75" fmla="*/ 549 h 656"/>
                <a:gd name="T76" fmla="*/ 1211 w 1264"/>
                <a:gd name="T77" fmla="*/ 535 h 656"/>
                <a:gd name="T78" fmla="*/ 1214 w 1264"/>
                <a:gd name="T79" fmla="*/ 535 h 656"/>
                <a:gd name="T80" fmla="*/ 1216 w 1264"/>
                <a:gd name="T81" fmla="*/ 531 h 656"/>
                <a:gd name="T82" fmla="*/ 1217 w 1264"/>
                <a:gd name="T83" fmla="*/ 133 h 656"/>
                <a:gd name="T84" fmla="*/ 1220 w 1264"/>
                <a:gd name="T85" fmla="*/ 133 h 656"/>
                <a:gd name="T86" fmla="*/ 1217 w 1264"/>
                <a:gd name="T87" fmla="*/ 127 h 656"/>
                <a:gd name="T88" fmla="*/ 1185 w 1264"/>
                <a:gd name="T89" fmla="*/ 109 h 656"/>
                <a:gd name="T90" fmla="*/ 1059 w 1264"/>
                <a:gd name="T91" fmla="*/ 78 h 656"/>
                <a:gd name="T92" fmla="*/ 868 w 1264"/>
                <a:gd name="T93" fmla="*/ 56 h 656"/>
                <a:gd name="T94" fmla="*/ 633 w 1264"/>
                <a:gd name="T95" fmla="*/ 48 h 656"/>
                <a:gd name="T96" fmla="*/ 399 w 1264"/>
                <a:gd name="T97" fmla="*/ 56 h 656"/>
                <a:gd name="T98" fmla="*/ 207 w 1264"/>
                <a:gd name="T99" fmla="*/ 78 h 656"/>
                <a:gd name="T100" fmla="*/ 79 w 1264"/>
                <a:gd name="T101" fmla="*/ 109 h 656"/>
                <a:gd name="T102" fmla="*/ 48 w 1264"/>
                <a:gd name="T103" fmla="*/ 127 h 656"/>
                <a:gd name="T104" fmla="*/ 45 w 1264"/>
                <a:gd name="T105" fmla="*/ 133 h 656"/>
                <a:gd name="T106" fmla="*/ 47 w 1264"/>
                <a:gd name="T107" fmla="*/ 133 h 656"/>
                <a:gd name="T108" fmla="*/ 48 w 1264"/>
                <a:gd name="T109" fmla="*/ 531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64" h="656">
                  <a:moveTo>
                    <a:pt x="0" y="126"/>
                  </a:moveTo>
                  <a:cubicBezTo>
                    <a:pt x="0" y="124"/>
                    <a:pt x="1" y="122"/>
                    <a:pt x="1" y="120"/>
                  </a:cubicBezTo>
                  <a:lnTo>
                    <a:pt x="4" y="110"/>
                  </a:lnTo>
                  <a:cubicBezTo>
                    <a:pt x="5" y="106"/>
                    <a:pt x="7" y="103"/>
                    <a:pt x="10" y="100"/>
                  </a:cubicBezTo>
                  <a:lnTo>
                    <a:pt x="19" y="90"/>
                  </a:lnTo>
                  <a:cubicBezTo>
                    <a:pt x="20" y="88"/>
                    <a:pt x="22" y="87"/>
                    <a:pt x="25" y="85"/>
                  </a:cubicBezTo>
                  <a:lnTo>
                    <a:pt x="61" y="65"/>
                  </a:lnTo>
                  <a:cubicBezTo>
                    <a:pt x="62" y="65"/>
                    <a:pt x="64" y="64"/>
                    <a:pt x="65" y="64"/>
                  </a:cubicBezTo>
                  <a:lnTo>
                    <a:pt x="121" y="47"/>
                  </a:lnTo>
                  <a:lnTo>
                    <a:pt x="198" y="31"/>
                  </a:lnTo>
                  <a:lnTo>
                    <a:pt x="289" y="19"/>
                  </a:lnTo>
                  <a:lnTo>
                    <a:pt x="394" y="9"/>
                  </a:lnTo>
                  <a:lnTo>
                    <a:pt x="509" y="2"/>
                  </a:lnTo>
                  <a:lnTo>
                    <a:pt x="632" y="0"/>
                  </a:lnTo>
                  <a:lnTo>
                    <a:pt x="756" y="2"/>
                  </a:lnTo>
                  <a:lnTo>
                    <a:pt x="871" y="8"/>
                  </a:lnTo>
                  <a:lnTo>
                    <a:pt x="975" y="19"/>
                  </a:lnTo>
                  <a:lnTo>
                    <a:pt x="1066" y="31"/>
                  </a:lnTo>
                  <a:lnTo>
                    <a:pt x="1141" y="46"/>
                  </a:lnTo>
                  <a:lnTo>
                    <a:pt x="1199" y="64"/>
                  </a:lnTo>
                  <a:cubicBezTo>
                    <a:pt x="1201" y="64"/>
                    <a:pt x="1203" y="65"/>
                    <a:pt x="1204" y="65"/>
                  </a:cubicBezTo>
                  <a:lnTo>
                    <a:pt x="1240" y="85"/>
                  </a:lnTo>
                  <a:cubicBezTo>
                    <a:pt x="1242" y="87"/>
                    <a:pt x="1245" y="88"/>
                    <a:pt x="1246" y="90"/>
                  </a:cubicBezTo>
                  <a:lnTo>
                    <a:pt x="1255" y="100"/>
                  </a:lnTo>
                  <a:cubicBezTo>
                    <a:pt x="1258" y="103"/>
                    <a:pt x="1259" y="106"/>
                    <a:pt x="1260" y="110"/>
                  </a:cubicBezTo>
                  <a:lnTo>
                    <a:pt x="1263" y="120"/>
                  </a:lnTo>
                  <a:cubicBezTo>
                    <a:pt x="1264" y="122"/>
                    <a:pt x="1264" y="124"/>
                    <a:pt x="1264" y="126"/>
                  </a:cubicBezTo>
                  <a:lnTo>
                    <a:pt x="1264" y="531"/>
                  </a:lnTo>
                  <a:cubicBezTo>
                    <a:pt x="1264" y="534"/>
                    <a:pt x="1264" y="536"/>
                    <a:pt x="1263" y="538"/>
                  </a:cubicBezTo>
                  <a:lnTo>
                    <a:pt x="1260" y="548"/>
                  </a:lnTo>
                  <a:cubicBezTo>
                    <a:pt x="1259" y="552"/>
                    <a:pt x="1258" y="555"/>
                    <a:pt x="1255" y="558"/>
                  </a:cubicBezTo>
                  <a:lnTo>
                    <a:pt x="1246" y="568"/>
                  </a:lnTo>
                  <a:cubicBezTo>
                    <a:pt x="1244" y="570"/>
                    <a:pt x="1242" y="571"/>
                    <a:pt x="1240" y="573"/>
                  </a:cubicBezTo>
                  <a:lnTo>
                    <a:pt x="1204" y="592"/>
                  </a:lnTo>
                  <a:cubicBezTo>
                    <a:pt x="1202" y="592"/>
                    <a:pt x="1201" y="593"/>
                    <a:pt x="1200" y="593"/>
                  </a:cubicBezTo>
                  <a:lnTo>
                    <a:pt x="1144" y="611"/>
                  </a:lnTo>
                  <a:lnTo>
                    <a:pt x="1067" y="626"/>
                  </a:lnTo>
                  <a:lnTo>
                    <a:pt x="976" y="639"/>
                  </a:lnTo>
                  <a:lnTo>
                    <a:pt x="872" y="648"/>
                  </a:lnTo>
                  <a:lnTo>
                    <a:pt x="757" y="654"/>
                  </a:lnTo>
                  <a:lnTo>
                    <a:pt x="633" y="656"/>
                  </a:lnTo>
                  <a:lnTo>
                    <a:pt x="510" y="654"/>
                  </a:lnTo>
                  <a:lnTo>
                    <a:pt x="395" y="648"/>
                  </a:lnTo>
                  <a:lnTo>
                    <a:pt x="290" y="639"/>
                  </a:lnTo>
                  <a:lnTo>
                    <a:pt x="199" y="627"/>
                  </a:lnTo>
                  <a:lnTo>
                    <a:pt x="124" y="612"/>
                  </a:lnTo>
                  <a:lnTo>
                    <a:pt x="65" y="593"/>
                  </a:lnTo>
                  <a:cubicBezTo>
                    <a:pt x="64" y="593"/>
                    <a:pt x="62" y="592"/>
                    <a:pt x="61" y="592"/>
                  </a:cubicBezTo>
                  <a:lnTo>
                    <a:pt x="25" y="573"/>
                  </a:lnTo>
                  <a:cubicBezTo>
                    <a:pt x="23" y="571"/>
                    <a:pt x="21" y="570"/>
                    <a:pt x="19" y="568"/>
                  </a:cubicBezTo>
                  <a:lnTo>
                    <a:pt x="10" y="558"/>
                  </a:lnTo>
                  <a:cubicBezTo>
                    <a:pt x="7" y="555"/>
                    <a:pt x="5" y="552"/>
                    <a:pt x="4" y="548"/>
                  </a:cubicBezTo>
                  <a:lnTo>
                    <a:pt x="1" y="538"/>
                  </a:lnTo>
                  <a:cubicBezTo>
                    <a:pt x="1" y="536"/>
                    <a:pt x="0" y="534"/>
                    <a:pt x="0" y="531"/>
                  </a:cubicBezTo>
                  <a:lnTo>
                    <a:pt x="0" y="126"/>
                  </a:lnTo>
                  <a:close/>
                  <a:moveTo>
                    <a:pt x="48" y="531"/>
                  </a:moveTo>
                  <a:lnTo>
                    <a:pt x="47" y="525"/>
                  </a:lnTo>
                  <a:lnTo>
                    <a:pt x="50" y="535"/>
                  </a:lnTo>
                  <a:lnTo>
                    <a:pt x="45" y="525"/>
                  </a:lnTo>
                  <a:lnTo>
                    <a:pt x="54" y="535"/>
                  </a:lnTo>
                  <a:lnTo>
                    <a:pt x="48" y="530"/>
                  </a:lnTo>
                  <a:lnTo>
                    <a:pt x="84" y="549"/>
                  </a:lnTo>
                  <a:lnTo>
                    <a:pt x="80" y="548"/>
                  </a:lnTo>
                  <a:lnTo>
                    <a:pt x="133" y="565"/>
                  </a:lnTo>
                  <a:lnTo>
                    <a:pt x="206" y="580"/>
                  </a:lnTo>
                  <a:lnTo>
                    <a:pt x="295" y="592"/>
                  </a:lnTo>
                  <a:lnTo>
                    <a:pt x="398" y="600"/>
                  </a:lnTo>
                  <a:lnTo>
                    <a:pt x="511" y="606"/>
                  </a:lnTo>
                  <a:lnTo>
                    <a:pt x="632" y="608"/>
                  </a:lnTo>
                  <a:lnTo>
                    <a:pt x="754" y="606"/>
                  </a:lnTo>
                  <a:lnTo>
                    <a:pt x="867" y="601"/>
                  </a:lnTo>
                  <a:lnTo>
                    <a:pt x="969" y="592"/>
                  </a:lnTo>
                  <a:lnTo>
                    <a:pt x="1058" y="579"/>
                  </a:lnTo>
                  <a:lnTo>
                    <a:pt x="1129" y="566"/>
                  </a:lnTo>
                  <a:lnTo>
                    <a:pt x="1185" y="548"/>
                  </a:lnTo>
                  <a:lnTo>
                    <a:pt x="1181" y="549"/>
                  </a:lnTo>
                  <a:lnTo>
                    <a:pt x="1217" y="530"/>
                  </a:lnTo>
                  <a:lnTo>
                    <a:pt x="1211" y="535"/>
                  </a:lnTo>
                  <a:lnTo>
                    <a:pt x="1220" y="525"/>
                  </a:lnTo>
                  <a:lnTo>
                    <a:pt x="1214" y="535"/>
                  </a:lnTo>
                  <a:lnTo>
                    <a:pt x="1217" y="525"/>
                  </a:lnTo>
                  <a:lnTo>
                    <a:pt x="1216" y="531"/>
                  </a:lnTo>
                  <a:lnTo>
                    <a:pt x="1216" y="126"/>
                  </a:lnTo>
                  <a:lnTo>
                    <a:pt x="1217" y="133"/>
                  </a:lnTo>
                  <a:lnTo>
                    <a:pt x="1214" y="123"/>
                  </a:lnTo>
                  <a:lnTo>
                    <a:pt x="1220" y="133"/>
                  </a:lnTo>
                  <a:lnTo>
                    <a:pt x="1211" y="123"/>
                  </a:lnTo>
                  <a:lnTo>
                    <a:pt x="1217" y="127"/>
                  </a:lnTo>
                  <a:lnTo>
                    <a:pt x="1181" y="107"/>
                  </a:lnTo>
                  <a:lnTo>
                    <a:pt x="1185" y="109"/>
                  </a:lnTo>
                  <a:lnTo>
                    <a:pt x="1132" y="93"/>
                  </a:lnTo>
                  <a:lnTo>
                    <a:pt x="1059" y="78"/>
                  </a:lnTo>
                  <a:lnTo>
                    <a:pt x="970" y="66"/>
                  </a:lnTo>
                  <a:lnTo>
                    <a:pt x="868" y="56"/>
                  </a:lnTo>
                  <a:lnTo>
                    <a:pt x="755" y="50"/>
                  </a:lnTo>
                  <a:lnTo>
                    <a:pt x="633" y="48"/>
                  </a:lnTo>
                  <a:lnTo>
                    <a:pt x="512" y="50"/>
                  </a:lnTo>
                  <a:lnTo>
                    <a:pt x="399" y="56"/>
                  </a:lnTo>
                  <a:lnTo>
                    <a:pt x="296" y="66"/>
                  </a:lnTo>
                  <a:lnTo>
                    <a:pt x="207" y="78"/>
                  </a:lnTo>
                  <a:lnTo>
                    <a:pt x="135" y="92"/>
                  </a:lnTo>
                  <a:lnTo>
                    <a:pt x="79" y="109"/>
                  </a:lnTo>
                  <a:lnTo>
                    <a:pt x="84" y="107"/>
                  </a:lnTo>
                  <a:lnTo>
                    <a:pt x="48" y="127"/>
                  </a:lnTo>
                  <a:lnTo>
                    <a:pt x="54" y="123"/>
                  </a:lnTo>
                  <a:lnTo>
                    <a:pt x="45" y="133"/>
                  </a:lnTo>
                  <a:lnTo>
                    <a:pt x="50" y="123"/>
                  </a:lnTo>
                  <a:lnTo>
                    <a:pt x="47" y="133"/>
                  </a:lnTo>
                  <a:lnTo>
                    <a:pt x="48" y="126"/>
                  </a:lnTo>
                  <a:lnTo>
                    <a:pt x="48" y="531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1" name="Rectangle 67"/>
            <p:cNvSpPr>
              <a:spLocks noChangeArrowheads="1"/>
            </p:cNvSpPr>
            <p:nvPr/>
          </p:nvSpPr>
          <p:spPr bwMode="gray">
            <a:xfrm>
              <a:off x="4025900" y="5065395"/>
              <a:ext cx="39113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SOA</a:t>
              </a:r>
              <a:r>
                <a:rPr lang="en-US" altLang="zh-CN" sz="1200">
                  <a:solidFill>
                    <a:srgbClr val="00000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3" name="Freeform 69"/>
            <p:cNvSpPr/>
            <p:nvPr/>
          </p:nvSpPr>
          <p:spPr bwMode="gray">
            <a:xfrm>
              <a:off x="4670425" y="4930775"/>
              <a:ext cx="506413" cy="320675"/>
            </a:xfrm>
            <a:custGeom>
              <a:avLst/>
              <a:gdLst>
                <a:gd name="T0" fmla="*/ 0 w 960"/>
                <a:gd name="T1" fmla="*/ 102 h 608"/>
                <a:gd name="T2" fmla="*/ 480 w 960"/>
                <a:gd name="T3" fmla="*/ 0 h 608"/>
                <a:gd name="T4" fmla="*/ 960 w 960"/>
                <a:gd name="T5" fmla="*/ 102 h 608"/>
                <a:gd name="T6" fmla="*/ 960 w 960"/>
                <a:gd name="T7" fmla="*/ 102 h 608"/>
                <a:gd name="T8" fmla="*/ 960 w 960"/>
                <a:gd name="T9" fmla="*/ 102 h 608"/>
                <a:gd name="T10" fmla="*/ 960 w 960"/>
                <a:gd name="T11" fmla="*/ 507 h 608"/>
                <a:gd name="T12" fmla="*/ 960 w 960"/>
                <a:gd name="T13" fmla="*/ 507 h 608"/>
                <a:gd name="T14" fmla="*/ 480 w 960"/>
                <a:gd name="T15" fmla="*/ 608 h 608"/>
                <a:gd name="T16" fmla="*/ 0 w 960"/>
                <a:gd name="T17" fmla="*/ 507 h 608"/>
                <a:gd name="T18" fmla="*/ 0 w 960"/>
                <a:gd name="T19" fmla="*/ 507 h 608"/>
                <a:gd name="T20" fmla="*/ 0 w 960"/>
                <a:gd name="T21" fmla="*/ 10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60" h="608">
                  <a:moveTo>
                    <a:pt x="0" y="102"/>
                  </a:moveTo>
                  <a:cubicBezTo>
                    <a:pt x="0" y="46"/>
                    <a:pt x="215" y="0"/>
                    <a:pt x="480" y="0"/>
                  </a:cubicBezTo>
                  <a:cubicBezTo>
                    <a:pt x="746" y="0"/>
                    <a:pt x="960" y="46"/>
                    <a:pt x="960" y="102"/>
                  </a:cubicBezTo>
                  <a:cubicBezTo>
                    <a:pt x="960" y="102"/>
                    <a:pt x="960" y="102"/>
                    <a:pt x="960" y="102"/>
                  </a:cubicBezTo>
                  <a:lnTo>
                    <a:pt x="960" y="102"/>
                  </a:lnTo>
                  <a:lnTo>
                    <a:pt x="960" y="507"/>
                  </a:lnTo>
                  <a:lnTo>
                    <a:pt x="960" y="507"/>
                  </a:lnTo>
                  <a:cubicBezTo>
                    <a:pt x="960" y="563"/>
                    <a:pt x="746" y="608"/>
                    <a:pt x="480" y="608"/>
                  </a:cubicBezTo>
                  <a:cubicBezTo>
                    <a:pt x="215" y="608"/>
                    <a:pt x="0" y="563"/>
                    <a:pt x="0" y="507"/>
                  </a:cubicBezTo>
                  <a:cubicBezTo>
                    <a:pt x="0" y="507"/>
                    <a:pt x="0" y="507"/>
                    <a:pt x="0" y="507"/>
                  </a:cubicBezTo>
                  <a:lnTo>
                    <a:pt x="0" y="102"/>
                  </a:lnTo>
                  <a:close/>
                </a:path>
              </a:pathLst>
            </a:custGeom>
            <a:solidFill>
              <a:srgbClr val="E7B98A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4" name="Freeform 70"/>
            <p:cNvSpPr/>
            <p:nvPr/>
          </p:nvSpPr>
          <p:spPr bwMode="gray">
            <a:xfrm>
              <a:off x="4659313" y="4979987"/>
              <a:ext cx="530225" cy="71437"/>
            </a:xfrm>
            <a:custGeom>
              <a:avLst/>
              <a:gdLst>
                <a:gd name="T0" fmla="*/ 1003 w 1003"/>
                <a:gd name="T1" fmla="*/ 21 h 135"/>
                <a:gd name="T2" fmla="*/ 993 w 1003"/>
                <a:gd name="T3" fmla="*/ 41 h 135"/>
                <a:gd name="T4" fmla="*/ 985 w 1003"/>
                <a:gd name="T5" fmla="*/ 50 h 135"/>
                <a:gd name="T6" fmla="*/ 957 w 1003"/>
                <a:gd name="T7" fmla="*/ 69 h 135"/>
                <a:gd name="T8" fmla="*/ 953 w 1003"/>
                <a:gd name="T9" fmla="*/ 72 h 135"/>
                <a:gd name="T10" fmla="*/ 909 w 1003"/>
                <a:gd name="T11" fmla="*/ 90 h 135"/>
                <a:gd name="T12" fmla="*/ 847 w 1003"/>
                <a:gd name="T13" fmla="*/ 106 h 135"/>
                <a:gd name="T14" fmla="*/ 774 w 1003"/>
                <a:gd name="T15" fmla="*/ 118 h 135"/>
                <a:gd name="T16" fmla="*/ 691 w 1003"/>
                <a:gd name="T17" fmla="*/ 127 h 135"/>
                <a:gd name="T18" fmla="*/ 600 w 1003"/>
                <a:gd name="T19" fmla="*/ 133 h 135"/>
                <a:gd name="T20" fmla="*/ 502 w 1003"/>
                <a:gd name="T21" fmla="*/ 135 h 135"/>
                <a:gd name="T22" fmla="*/ 404 w 1003"/>
                <a:gd name="T23" fmla="*/ 133 h 135"/>
                <a:gd name="T24" fmla="*/ 313 w 1003"/>
                <a:gd name="T25" fmla="*/ 127 h 135"/>
                <a:gd name="T26" fmla="*/ 231 w 1003"/>
                <a:gd name="T27" fmla="*/ 118 h 135"/>
                <a:gd name="T28" fmla="*/ 158 w 1003"/>
                <a:gd name="T29" fmla="*/ 106 h 135"/>
                <a:gd name="T30" fmla="*/ 98 w 1003"/>
                <a:gd name="T31" fmla="*/ 91 h 135"/>
                <a:gd name="T32" fmla="*/ 50 w 1003"/>
                <a:gd name="T33" fmla="*/ 72 h 135"/>
                <a:gd name="T34" fmla="*/ 46 w 1003"/>
                <a:gd name="T35" fmla="*/ 69 h 135"/>
                <a:gd name="T36" fmla="*/ 18 w 1003"/>
                <a:gd name="T37" fmla="*/ 50 h 135"/>
                <a:gd name="T38" fmla="*/ 10 w 1003"/>
                <a:gd name="T39" fmla="*/ 41 h 135"/>
                <a:gd name="T40" fmla="*/ 0 w 1003"/>
                <a:gd name="T41" fmla="*/ 21 h 135"/>
                <a:gd name="T42" fmla="*/ 43 w 1003"/>
                <a:gd name="T43" fmla="*/ 0 h 135"/>
                <a:gd name="T44" fmla="*/ 53 w 1003"/>
                <a:gd name="T45" fmla="*/ 20 h 135"/>
                <a:gd name="T46" fmla="*/ 45 w 1003"/>
                <a:gd name="T47" fmla="*/ 11 h 135"/>
                <a:gd name="T48" fmla="*/ 73 w 1003"/>
                <a:gd name="T49" fmla="*/ 30 h 135"/>
                <a:gd name="T50" fmla="*/ 69 w 1003"/>
                <a:gd name="T51" fmla="*/ 27 h 135"/>
                <a:gd name="T52" fmla="*/ 109 w 1003"/>
                <a:gd name="T53" fmla="*/ 44 h 135"/>
                <a:gd name="T54" fmla="*/ 166 w 1003"/>
                <a:gd name="T55" fmla="*/ 59 h 135"/>
                <a:gd name="T56" fmla="*/ 236 w 1003"/>
                <a:gd name="T57" fmla="*/ 71 h 135"/>
                <a:gd name="T58" fmla="*/ 316 w 1003"/>
                <a:gd name="T59" fmla="*/ 80 h 135"/>
                <a:gd name="T60" fmla="*/ 405 w 1003"/>
                <a:gd name="T61" fmla="*/ 85 h 135"/>
                <a:gd name="T62" fmla="*/ 501 w 1003"/>
                <a:gd name="T63" fmla="*/ 87 h 135"/>
                <a:gd name="T64" fmla="*/ 597 w 1003"/>
                <a:gd name="T65" fmla="*/ 86 h 135"/>
                <a:gd name="T66" fmla="*/ 686 w 1003"/>
                <a:gd name="T67" fmla="*/ 80 h 135"/>
                <a:gd name="T68" fmla="*/ 766 w 1003"/>
                <a:gd name="T69" fmla="*/ 71 h 135"/>
                <a:gd name="T70" fmla="*/ 835 w 1003"/>
                <a:gd name="T71" fmla="*/ 59 h 135"/>
                <a:gd name="T72" fmla="*/ 890 w 1003"/>
                <a:gd name="T73" fmla="*/ 45 h 135"/>
                <a:gd name="T74" fmla="*/ 934 w 1003"/>
                <a:gd name="T75" fmla="*/ 27 h 135"/>
                <a:gd name="T76" fmla="*/ 930 w 1003"/>
                <a:gd name="T77" fmla="*/ 30 h 135"/>
                <a:gd name="T78" fmla="*/ 958 w 1003"/>
                <a:gd name="T79" fmla="*/ 11 h 135"/>
                <a:gd name="T80" fmla="*/ 950 w 1003"/>
                <a:gd name="T81" fmla="*/ 20 h 135"/>
                <a:gd name="T82" fmla="*/ 960 w 1003"/>
                <a:gd name="T83" fmla="*/ 0 h 135"/>
                <a:gd name="T84" fmla="*/ 1003 w 1003"/>
                <a:gd name="T85" fmla="*/ 2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3" h="135">
                  <a:moveTo>
                    <a:pt x="1003" y="21"/>
                  </a:moveTo>
                  <a:lnTo>
                    <a:pt x="993" y="41"/>
                  </a:lnTo>
                  <a:cubicBezTo>
                    <a:pt x="991" y="45"/>
                    <a:pt x="988" y="48"/>
                    <a:pt x="985" y="50"/>
                  </a:cubicBezTo>
                  <a:lnTo>
                    <a:pt x="957" y="69"/>
                  </a:lnTo>
                  <a:cubicBezTo>
                    <a:pt x="956" y="70"/>
                    <a:pt x="954" y="71"/>
                    <a:pt x="953" y="72"/>
                  </a:cubicBezTo>
                  <a:lnTo>
                    <a:pt x="909" y="90"/>
                  </a:lnTo>
                  <a:lnTo>
                    <a:pt x="847" y="106"/>
                  </a:lnTo>
                  <a:lnTo>
                    <a:pt x="774" y="118"/>
                  </a:lnTo>
                  <a:lnTo>
                    <a:pt x="691" y="127"/>
                  </a:lnTo>
                  <a:lnTo>
                    <a:pt x="600" y="133"/>
                  </a:lnTo>
                  <a:lnTo>
                    <a:pt x="502" y="135"/>
                  </a:lnTo>
                  <a:lnTo>
                    <a:pt x="404" y="133"/>
                  </a:lnTo>
                  <a:lnTo>
                    <a:pt x="313" y="127"/>
                  </a:lnTo>
                  <a:lnTo>
                    <a:pt x="231" y="118"/>
                  </a:lnTo>
                  <a:lnTo>
                    <a:pt x="158" y="106"/>
                  </a:lnTo>
                  <a:lnTo>
                    <a:pt x="98" y="91"/>
                  </a:lnTo>
                  <a:lnTo>
                    <a:pt x="50" y="72"/>
                  </a:lnTo>
                  <a:cubicBezTo>
                    <a:pt x="49" y="71"/>
                    <a:pt x="47" y="70"/>
                    <a:pt x="46" y="69"/>
                  </a:cubicBezTo>
                  <a:lnTo>
                    <a:pt x="18" y="50"/>
                  </a:lnTo>
                  <a:cubicBezTo>
                    <a:pt x="15" y="48"/>
                    <a:pt x="12" y="45"/>
                    <a:pt x="10" y="41"/>
                  </a:cubicBezTo>
                  <a:lnTo>
                    <a:pt x="0" y="21"/>
                  </a:lnTo>
                  <a:lnTo>
                    <a:pt x="43" y="0"/>
                  </a:lnTo>
                  <a:lnTo>
                    <a:pt x="53" y="20"/>
                  </a:lnTo>
                  <a:lnTo>
                    <a:pt x="45" y="11"/>
                  </a:lnTo>
                  <a:lnTo>
                    <a:pt x="73" y="30"/>
                  </a:lnTo>
                  <a:lnTo>
                    <a:pt x="69" y="27"/>
                  </a:lnTo>
                  <a:lnTo>
                    <a:pt x="109" y="44"/>
                  </a:lnTo>
                  <a:lnTo>
                    <a:pt x="166" y="59"/>
                  </a:lnTo>
                  <a:lnTo>
                    <a:pt x="236" y="71"/>
                  </a:lnTo>
                  <a:lnTo>
                    <a:pt x="316" y="80"/>
                  </a:lnTo>
                  <a:lnTo>
                    <a:pt x="405" y="85"/>
                  </a:lnTo>
                  <a:lnTo>
                    <a:pt x="501" y="87"/>
                  </a:lnTo>
                  <a:lnTo>
                    <a:pt x="597" y="86"/>
                  </a:lnTo>
                  <a:lnTo>
                    <a:pt x="686" y="80"/>
                  </a:lnTo>
                  <a:lnTo>
                    <a:pt x="766" y="71"/>
                  </a:lnTo>
                  <a:lnTo>
                    <a:pt x="835" y="59"/>
                  </a:lnTo>
                  <a:lnTo>
                    <a:pt x="890" y="45"/>
                  </a:lnTo>
                  <a:lnTo>
                    <a:pt x="934" y="27"/>
                  </a:lnTo>
                  <a:lnTo>
                    <a:pt x="930" y="30"/>
                  </a:lnTo>
                  <a:lnTo>
                    <a:pt x="958" y="11"/>
                  </a:lnTo>
                  <a:lnTo>
                    <a:pt x="950" y="20"/>
                  </a:lnTo>
                  <a:lnTo>
                    <a:pt x="960" y="0"/>
                  </a:lnTo>
                  <a:lnTo>
                    <a:pt x="1003" y="21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5" name="Freeform 71"/>
            <p:cNvSpPr>
              <a:spLocks noEditPoints="1"/>
            </p:cNvSpPr>
            <p:nvPr/>
          </p:nvSpPr>
          <p:spPr bwMode="gray">
            <a:xfrm>
              <a:off x="4657725" y="4918075"/>
              <a:ext cx="531813" cy="346075"/>
            </a:xfrm>
            <a:custGeom>
              <a:avLst/>
              <a:gdLst>
                <a:gd name="T0" fmla="*/ 3 w 1008"/>
                <a:gd name="T1" fmla="*/ 116 h 656"/>
                <a:gd name="T2" fmla="*/ 21 w 1008"/>
                <a:gd name="T3" fmla="*/ 87 h 656"/>
                <a:gd name="T4" fmla="*/ 54 w 1008"/>
                <a:gd name="T5" fmla="*/ 64 h 656"/>
                <a:gd name="T6" fmla="*/ 160 w 1008"/>
                <a:gd name="T7" fmla="*/ 31 h 656"/>
                <a:gd name="T8" fmla="*/ 315 w 1008"/>
                <a:gd name="T9" fmla="*/ 9 h 656"/>
                <a:gd name="T10" fmla="*/ 504 w 1008"/>
                <a:gd name="T11" fmla="*/ 0 h 656"/>
                <a:gd name="T12" fmla="*/ 693 w 1008"/>
                <a:gd name="T13" fmla="*/ 9 h 656"/>
                <a:gd name="T14" fmla="*/ 848 w 1008"/>
                <a:gd name="T15" fmla="*/ 31 h 656"/>
                <a:gd name="T16" fmla="*/ 955 w 1008"/>
                <a:gd name="T17" fmla="*/ 64 h 656"/>
                <a:gd name="T18" fmla="*/ 988 w 1008"/>
                <a:gd name="T19" fmla="*/ 87 h 656"/>
                <a:gd name="T20" fmla="*/ 1006 w 1008"/>
                <a:gd name="T21" fmla="*/ 116 h 656"/>
                <a:gd name="T22" fmla="*/ 1008 w 1008"/>
                <a:gd name="T23" fmla="*/ 531 h 656"/>
                <a:gd name="T24" fmla="*/ 996 w 1008"/>
                <a:gd name="T25" fmla="*/ 562 h 656"/>
                <a:gd name="T26" fmla="*/ 960 w 1008"/>
                <a:gd name="T27" fmla="*/ 590 h 656"/>
                <a:gd name="T28" fmla="*/ 912 w 1008"/>
                <a:gd name="T29" fmla="*/ 611 h 656"/>
                <a:gd name="T30" fmla="*/ 777 w 1008"/>
                <a:gd name="T31" fmla="*/ 639 h 656"/>
                <a:gd name="T32" fmla="*/ 603 w 1008"/>
                <a:gd name="T33" fmla="*/ 654 h 656"/>
                <a:gd name="T34" fmla="*/ 407 w 1008"/>
                <a:gd name="T35" fmla="*/ 654 h 656"/>
                <a:gd name="T36" fmla="*/ 234 w 1008"/>
                <a:gd name="T37" fmla="*/ 639 h 656"/>
                <a:gd name="T38" fmla="*/ 101 w 1008"/>
                <a:gd name="T39" fmla="*/ 612 h 656"/>
                <a:gd name="T40" fmla="*/ 49 w 1008"/>
                <a:gd name="T41" fmla="*/ 590 h 656"/>
                <a:gd name="T42" fmla="*/ 13 w 1008"/>
                <a:gd name="T43" fmla="*/ 562 h 656"/>
                <a:gd name="T44" fmla="*/ 0 w 1008"/>
                <a:gd name="T45" fmla="*/ 531 h 656"/>
                <a:gd name="T46" fmla="*/ 48 w 1008"/>
                <a:gd name="T47" fmla="*/ 531 h 656"/>
                <a:gd name="T48" fmla="*/ 56 w 1008"/>
                <a:gd name="T49" fmla="*/ 541 h 656"/>
                <a:gd name="T50" fmla="*/ 76 w 1008"/>
                <a:gd name="T51" fmla="*/ 551 h 656"/>
                <a:gd name="T52" fmla="*/ 112 w 1008"/>
                <a:gd name="T53" fmla="*/ 565 h 656"/>
                <a:gd name="T54" fmla="*/ 239 w 1008"/>
                <a:gd name="T55" fmla="*/ 592 h 656"/>
                <a:gd name="T56" fmla="*/ 408 w 1008"/>
                <a:gd name="T57" fmla="*/ 606 h 656"/>
                <a:gd name="T58" fmla="*/ 600 w 1008"/>
                <a:gd name="T59" fmla="*/ 607 h 656"/>
                <a:gd name="T60" fmla="*/ 769 w 1008"/>
                <a:gd name="T61" fmla="*/ 592 h 656"/>
                <a:gd name="T62" fmla="*/ 893 w 1008"/>
                <a:gd name="T63" fmla="*/ 566 h 656"/>
                <a:gd name="T64" fmla="*/ 933 w 1008"/>
                <a:gd name="T65" fmla="*/ 551 h 656"/>
                <a:gd name="T66" fmla="*/ 953 w 1008"/>
                <a:gd name="T67" fmla="*/ 541 h 656"/>
                <a:gd name="T68" fmla="*/ 960 w 1008"/>
                <a:gd name="T69" fmla="*/ 531 h 656"/>
                <a:gd name="T70" fmla="*/ 963 w 1008"/>
                <a:gd name="T71" fmla="*/ 137 h 656"/>
                <a:gd name="T72" fmla="*/ 961 w 1008"/>
                <a:gd name="T73" fmla="*/ 126 h 656"/>
                <a:gd name="T74" fmla="*/ 938 w 1008"/>
                <a:gd name="T75" fmla="*/ 109 h 656"/>
                <a:gd name="T76" fmla="*/ 840 w 1008"/>
                <a:gd name="T77" fmla="*/ 78 h 656"/>
                <a:gd name="T78" fmla="*/ 690 w 1008"/>
                <a:gd name="T79" fmla="*/ 56 h 656"/>
                <a:gd name="T80" fmla="*/ 505 w 1008"/>
                <a:gd name="T81" fmla="*/ 48 h 656"/>
                <a:gd name="T82" fmla="*/ 320 w 1008"/>
                <a:gd name="T83" fmla="*/ 56 h 656"/>
                <a:gd name="T84" fmla="*/ 171 w 1008"/>
                <a:gd name="T85" fmla="*/ 78 h 656"/>
                <a:gd name="T86" fmla="*/ 71 w 1008"/>
                <a:gd name="T87" fmla="*/ 109 h 656"/>
                <a:gd name="T88" fmla="*/ 48 w 1008"/>
                <a:gd name="T89" fmla="*/ 126 h 656"/>
                <a:gd name="T90" fmla="*/ 46 w 1008"/>
                <a:gd name="T91" fmla="*/ 137 h 656"/>
                <a:gd name="T92" fmla="*/ 48 w 1008"/>
                <a:gd name="T93" fmla="*/ 531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08" h="656">
                  <a:moveTo>
                    <a:pt x="0" y="126"/>
                  </a:moveTo>
                  <a:cubicBezTo>
                    <a:pt x="0" y="123"/>
                    <a:pt x="1" y="119"/>
                    <a:pt x="3" y="116"/>
                  </a:cubicBezTo>
                  <a:lnTo>
                    <a:pt x="13" y="96"/>
                  </a:lnTo>
                  <a:cubicBezTo>
                    <a:pt x="15" y="92"/>
                    <a:pt x="17" y="89"/>
                    <a:pt x="21" y="87"/>
                  </a:cubicBezTo>
                  <a:lnTo>
                    <a:pt x="49" y="67"/>
                  </a:lnTo>
                  <a:cubicBezTo>
                    <a:pt x="50" y="66"/>
                    <a:pt x="52" y="65"/>
                    <a:pt x="54" y="64"/>
                  </a:cubicBezTo>
                  <a:lnTo>
                    <a:pt x="98" y="47"/>
                  </a:lnTo>
                  <a:lnTo>
                    <a:pt x="160" y="31"/>
                  </a:lnTo>
                  <a:lnTo>
                    <a:pt x="232" y="19"/>
                  </a:lnTo>
                  <a:lnTo>
                    <a:pt x="315" y="9"/>
                  </a:lnTo>
                  <a:lnTo>
                    <a:pt x="406" y="3"/>
                  </a:lnTo>
                  <a:lnTo>
                    <a:pt x="504" y="0"/>
                  </a:lnTo>
                  <a:lnTo>
                    <a:pt x="602" y="2"/>
                  </a:lnTo>
                  <a:lnTo>
                    <a:pt x="693" y="9"/>
                  </a:lnTo>
                  <a:lnTo>
                    <a:pt x="776" y="19"/>
                  </a:lnTo>
                  <a:lnTo>
                    <a:pt x="848" y="31"/>
                  </a:lnTo>
                  <a:lnTo>
                    <a:pt x="908" y="46"/>
                  </a:lnTo>
                  <a:lnTo>
                    <a:pt x="955" y="64"/>
                  </a:lnTo>
                  <a:cubicBezTo>
                    <a:pt x="957" y="65"/>
                    <a:pt x="959" y="66"/>
                    <a:pt x="960" y="67"/>
                  </a:cubicBezTo>
                  <a:lnTo>
                    <a:pt x="988" y="87"/>
                  </a:lnTo>
                  <a:cubicBezTo>
                    <a:pt x="992" y="89"/>
                    <a:pt x="994" y="92"/>
                    <a:pt x="996" y="96"/>
                  </a:cubicBezTo>
                  <a:lnTo>
                    <a:pt x="1006" y="116"/>
                  </a:lnTo>
                  <a:cubicBezTo>
                    <a:pt x="1008" y="119"/>
                    <a:pt x="1008" y="123"/>
                    <a:pt x="1008" y="126"/>
                  </a:cubicBezTo>
                  <a:lnTo>
                    <a:pt x="1008" y="531"/>
                  </a:lnTo>
                  <a:cubicBezTo>
                    <a:pt x="1008" y="535"/>
                    <a:pt x="1008" y="539"/>
                    <a:pt x="1006" y="542"/>
                  </a:cubicBezTo>
                  <a:lnTo>
                    <a:pt x="996" y="562"/>
                  </a:lnTo>
                  <a:cubicBezTo>
                    <a:pt x="994" y="566"/>
                    <a:pt x="991" y="569"/>
                    <a:pt x="988" y="571"/>
                  </a:cubicBezTo>
                  <a:lnTo>
                    <a:pt x="960" y="590"/>
                  </a:lnTo>
                  <a:cubicBezTo>
                    <a:pt x="959" y="591"/>
                    <a:pt x="957" y="592"/>
                    <a:pt x="956" y="593"/>
                  </a:cubicBezTo>
                  <a:lnTo>
                    <a:pt x="912" y="611"/>
                  </a:lnTo>
                  <a:lnTo>
                    <a:pt x="850" y="627"/>
                  </a:lnTo>
                  <a:lnTo>
                    <a:pt x="777" y="639"/>
                  </a:lnTo>
                  <a:lnTo>
                    <a:pt x="694" y="648"/>
                  </a:lnTo>
                  <a:lnTo>
                    <a:pt x="603" y="654"/>
                  </a:lnTo>
                  <a:lnTo>
                    <a:pt x="505" y="656"/>
                  </a:lnTo>
                  <a:lnTo>
                    <a:pt x="407" y="654"/>
                  </a:lnTo>
                  <a:lnTo>
                    <a:pt x="316" y="648"/>
                  </a:lnTo>
                  <a:lnTo>
                    <a:pt x="234" y="639"/>
                  </a:lnTo>
                  <a:lnTo>
                    <a:pt x="161" y="627"/>
                  </a:lnTo>
                  <a:lnTo>
                    <a:pt x="101" y="612"/>
                  </a:lnTo>
                  <a:lnTo>
                    <a:pt x="53" y="593"/>
                  </a:lnTo>
                  <a:cubicBezTo>
                    <a:pt x="52" y="592"/>
                    <a:pt x="50" y="591"/>
                    <a:pt x="49" y="590"/>
                  </a:cubicBezTo>
                  <a:lnTo>
                    <a:pt x="21" y="571"/>
                  </a:lnTo>
                  <a:cubicBezTo>
                    <a:pt x="18" y="569"/>
                    <a:pt x="15" y="566"/>
                    <a:pt x="13" y="562"/>
                  </a:cubicBezTo>
                  <a:lnTo>
                    <a:pt x="3" y="542"/>
                  </a:lnTo>
                  <a:cubicBezTo>
                    <a:pt x="1" y="539"/>
                    <a:pt x="0" y="535"/>
                    <a:pt x="0" y="531"/>
                  </a:cubicBezTo>
                  <a:lnTo>
                    <a:pt x="0" y="126"/>
                  </a:lnTo>
                  <a:close/>
                  <a:moveTo>
                    <a:pt x="48" y="531"/>
                  </a:moveTo>
                  <a:lnTo>
                    <a:pt x="46" y="521"/>
                  </a:lnTo>
                  <a:lnTo>
                    <a:pt x="56" y="541"/>
                  </a:lnTo>
                  <a:lnTo>
                    <a:pt x="48" y="532"/>
                  </a:lnTo>
                  <a:lnTo>
                    <a:pt x="76" y="551"/>
                  </a:lnTo>
                  <a:lnTo>
                    <a:pt x="72" y="548"/>
                  </a:lnTo>
                  <a:lnTo>
                    <a:pt x="112" y="565"/>
                  </a:lnTo>
                  <a:lnTo>
                    <a:pt x="169" y="580"/>
                  </a:lnTo>
                  <a:lnTo>
                    <a:pt x="239" y="592"/>
                  </a:lnTo>
                  <a:lnTo>
                    <a:pt x="319" y="601"/>
                  </a:lnTo>
                  <a:lnTo>
                    <a:pt x="408" y="606"/>
                  </a:lnTo>
                  <a:lnTo>
                    <a:pt x="504" y="608"/>
                  </a:lnTo>
                  <a:lnTo>
                    <a:pt x="600" y="607"/>
                  </a:lnTo>
                  <a:lnTo>
                    <a:pt x="689" y="601"/>
                  </a:lnTo>
                  <a:lnTo>
                    <a:pt x="769" y="592"/>
                  </a:lnTo>
                  <a:lnTo>
                    <a:pt x="838" y="580"/>
                  </a:lnTo>
                  <a:lnTo>
                    <a:pt x="893" y="566"/>
                  </a:lnTo>
                  <a:lnTo>
                    <a:pt x="937" y="548"/>
                  </a:lnTo>
                  <a:lnTo>
                    <a:pt x="933" y="551"/>
                  </a:lnTo>
                  <a:lnTo>
                    <a:pt x="961" y="532"/>
                  </a:lnTo>
                  <a:lnTo>
                    <a:pt x="953" y="541"/>
                  </a:lnTo>
                  <a:lnTo>
                    <a:pt x="963" y="521"/>
                  </a:lnTo>
                  <a:lnTo>
                    <a:pt x="960" y="531"/>
                  </a:lnTo>
                  <a:lnTo>
                    <a:pt x="960" y="126"/>
                  </a:lnTo>
                  <a:lnTo>
                    <a:pt x="963" y="137"/>
                  </a:lnTo>
                  <a:lnTo>
                    <a:pt x="953" y="117"/>
                  </a:lnTo>
                  <a:lnTo>
                    <a:pt x="961" y="126"/>
                  </a:lnTo>
                  <a:lnTo>
                    <a:pt x="933" y="106"/>
                  </a:lnTo>
                  <a:lnTo>
                    <a:pt x="938" y="109"/>
                  </a:lnTo>
                  <a:lnTo>
                    <a:pt x="896" y="93"/>
                  </a:lnTo>
                  <a:lnTo>
                    <a:pt x="840" y="78"/>
                  </a:lnTo>
                  <a:lnTo>
                    <a:pt x="771" y="66"/>
                  </a:lnTo>
                  <a:lnTo>
                    <a:pt x="690" y="56"/>
                  </a:lnTo>
                  <a:lnTo>
                    <a:pt x="601" y="50"/>
                  </a:lnTo>
                  <a:lnTo>
                    <a:pt x="505" y="48"/>
                  </a:lnTo>
                  <a:lnTo>
                    <a:pt x="409" y="50"/>
                  </a:lnTo>
                  <a:lnTo>
                    <a:pt x="320" y="56"/>
                  </a:lnTo>
                  <a:lnTo>
                    <a:pt x="240" y="66"/>
                  </a:lnTo>
                  <a:lnTo>
                    <a:pt x="171" y="78"/>
                  </a:lnTo>
                  <a:lnTo>
                    <a:pt x="115" y="92"/>
                  </a:lnTo>
                  <a:lnTo>
                    <a:pt x="71" y="109"/>
                  </a:lnTo>
                  <a:lnTo>
                    <a:pt x="76" y="106"/>
                  </a:lnTo>
                  <a:lnTo>
                    <a:pt x="48" y="126"/>
                  </a:lnTo>
                  <a:lnTo>
                    <a:pt x="56" y="117"/>
                  </a:lnTo>
                  <a:lnTo>
                    <a:pt x="46" y="137"/>
                  </a:lnTo>
                  <a:lnTo>
                    <a:pt x="48" y="126"/>
                  </a:lnTo>
                  <a:lnTo>
                    <a:pt x="48" y="531"/>
                  </a:lnTo>
                  <a:close/>
                </a:path>
              </a:pathLst>
            </a:custGeom>
            <a:solidFill>
              <a:srgbClr val="AA8764"/>
            </a:solidFill>
            <a:ln w="0" cap="flat">
              <a:solidFill>
                <a:srgbClr val="AA8764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6" name="Rectangle 72"/>
            <p:cNvSpPr>
              <a:spLocks noChangeArrowheads="1"/>
            </p:cNvSpPr>
            <p:nvPr/>
          </p:nvSpPr>
          <p:spPr bwMode="gray">
            <a:xfrm>
              <a:off x="4800600" y="5065395"/>
              <a:ext cx="246862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TLS</a:t>
              </a:r>
              <a:endPara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7" name="Freeform 73"/>
            <p:cNvSpPr>
              <a:spLocks noEditPoints="1"/>
            </p:cNvSpPr>
            <p:nvPr/>
          </p:nvSpPr>
          <p:spPr bwMode="gray">
            <a:xfrm>
              <a:off x="2835275" y="3049588"/>
              <a:ext cx="88900" cy="222250"/>
            </a:xfrm>
            <a:custGeom>
              <a:avLst/>
              <a:gdLst>
                <a:gd name="T0" fmla="*/ 91 w 167"/>
                <a:gd name="T1" fmla="*/ 16 h 423"/>
                <a:gd name="T2" fmla="*/ 91 w 167"/>
                <a:gd name="T3" fmla="*/ 407 h 423"/>
                <a:gd name="T4" fmla="*/ 75 w 167"/>
                <a:gd name="T5" fmla="*/ 407 h 423"/>
                <a:gd name="T6" fmla="*/ 75 w 167"/>
                <a:gd name="T7" fmla="*/ 16 h 423"/>
                <a:gd name="T8" fmla="*/ 91 w 167"/>
                <a:gd name="T9" fmla="*/ 16 h 423"/>
                <a:gd name="T10" fmla="*/ 2 w 167"/>
                <a:gd name="T11" fmla="*/ 140 h 423"/>
                <a:gd name="T12" fmla="*/ 83 w 167"/>
                <a:gd name="T13" fmla="*/ 0 h 423"/>
                <a:gd name="T14" fmla="*/ 165 w 167"/>
                <a:gd name="T15" fmla="*/ 140 h 423"/>
                <a:gd name="T16" fmla="*/ 162 w 167"/>
                <a:gd name="T17" fmla="*/ 151 h 423"/>
                <a:gd name="T18" fmla="*/ 151 w 167"/>
                <a:gd name="T19" fmla="*/ 148 h 423"/>
                <a:gd name="T20" fmla="*/ 77 w 167"/>
                <a:gd name="T21" fmla="*/ 20 h 423"/>
                <a:gd name="T22" fmla="*/ 90 w 167"/>
                <a:gd name="T23" fmla="*/ 20 h 423"/>
                <a:gd name="T24" fmla="*/ 16 w 167"/>
                <a:gd name="T25" fmla="*/ 148 h 423"/>
                <a:gd name="T26" fmla="*/ 5 w 167"/>
                <a:gd name="T27" fmla="*/ 151 h 423"/>
                <a:gd name="T28" fmla="*/ 2 w 167"/>
                <a:gd name="T29" fmla="*/ 140 h 423"/>
                <a:gd name="T30" fmla="*/ 165 w 167"/>
                <a:gd name="T31" fmla="*/ 283 h 423"/>
                <a:gd name="T32" fmla="*/ 83 w 167"/>
                <a:gd name="T33" fmla="*/ 423 h 423"/>
                <a:gd name="T34" fmla="*/ 2 w 167"/>
                <a:gd name="T35" fmla="*/ 283 h 423"/>
                <a:gd name="T36" fmla="*/ 5 w 167"/>
                <a:gd name="T37" fmla="*/ 272 h 423"/>
                <a:gd name="T38" fmla="*/ 16 w 167"/>
                <a:gd name="T39" fmla="*/ 275 h 423"/>
                <a:gd name="T40" fmla="*/ 90 w 167"/>
                <a:gd name="T41" fmla="*/ 403 h 423"/>
                <a:gd name="T42" fmla="*/ 77 w 167"/>
                <a:gd name="T43" fmla="*/ 403 h 423"/>
                <a:gd name="T44" fmla="*/ 151 w 167"/>
                <a:gd name="T45" fmla="*/ 275 h 423"/>
                <a:gd name="T46" fmla="*/ 162 w 167"/>
                <a:gd name="T47" fmla="*/ 272 h 423"/>
                <a:gd name="T48" fmla="*/ 165 w 167"/>
                <a:gd name="T49" fmla="*/ 28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7" h="423">
                  <a:moveTo>
                    <a:pt x="91" y="16"/>
                  </a:moveTo>
                  <a:lnTo>
                    <a:pt x="91" y="407"/>
                  </a:lnTo>
                  <a:lnTo>
                    <a:pt x="75" y="407"/>
                  </a:lnTo>
                  <a:lnTo>
                    <a:pt x="75" y="16"/>
                  </a:lnTo>
                  <a:lnTo>
                    <a:pt x="91" y="16"/>
                  </a:lnTo>
                  <a:close/>
                  <a:moveTo>
                    <a:pt x="2" y="140"/>
                  </a:moveTo>
                  <a:lnTo>
                    <a:pt x="83" y="0"/>
                  </a:lnTo>
                  <a:lnTo>
                    <a:pt x="165" y="140"/>
                  </a:lnTo>
                  <a:cubicBezTo>
                    <a:pt x="167" y="144"/>
                    <a:pt x="166" y="149"/>
                    <a:pt x="162" y="151"/>
                  </a:cubicBezTo>
                  <a:cubicBezTo>
                    <a:pt x="158" y="154"/>
                    <a:pt x="154" y="152"/>
                    <a:pt x="151" y="148"/>
                  </a:cubicBezTo>
                  <a:lnTo>
                    <a:pt x="77" y="20"/>
                  </a:lnTo>
                  <a:lnTo>
                    <a:pt x="90" y="20"/>
                  </a:lnTo>
                  <a:lnTo>
                    <a:pt x="16" y="148"/>
                  </a:lnTo>
                  <a:cubicBezTo>
                    <a:pt x="13" y="152"/>
                    <a:pt x="9" y="154"/>
                    <a:pt x="5" y="151"/>
                  </a:cubicBezTo>
                  <a:cubicBezTo>
                    <a:pt x="1" y="149"/>
                    <a:pt x="0" y="144"/>
                    <a:pt x="2" y="140"/>
                  </a:cubicBezTo>
                  <a:close/>
                  <a:moveTo>
                    <a:pt x="165" y="283"/>
                  </a:moveTo>
                  <a:lnTo>
                    <a:pt x="83" y="423"/>
                  </a:lnTo>
                  <a:lnTo>
                    <a:pt x="2" y="283"/>
                  </a:lnTo>
                  <a:cubicBezTo>
                    <a:pt x="0" y="279"/>
                    <a:pt x="1" y="274"/>
                    <a:pt x="5" y="272"/>
                  </a:cubicBezTo>
                  <a:cubicBezTo>
                    <a:pt x="9" y="270"/>
                    <a:pt x="13" y="271"/>
                    <a:pt x="16" y="275"/>
                  </a:cubicBezTo>
                  <a:lnTo>
                    <a:pt x="90" y="403"/>
                  </a:lnTo>
                  <a:lnTo>
                    <a:pt x="77" y="403"/>
                  </a:lnTo>
                  <a:lnTo>
                    <a:pt x="151" y="275"/>
                  </a:lnTo>
                  <a:cubicBezTo>
                    <a:pt x="154" y="271"/>
                    <a:pt x="158" y="270"/>
                    <a:pt x="162" y="272"/>
                  </a:cubicBezTo>
                  <a:cubicBezTo>
                    <a:pt x="166" y="274"/>
                    <a:pt x="167" y="279"/>
                    <a:pt x="165" y="2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8" name="Freeform 74"/>
            <p:cNvSpPr>
              <a:spLocks noEditPoints="1"/>
            </p:cNvSpPr>
            <p:nvPr/>
          </p:nvSpPr>
          <p:spPr bwMode="gray">
            <a:xfrm>
              <a:off x="2835275" y="3876675"/>
              <a:ext cx="88900" cy="222250"/>
            </a:xfrm>
            <a:custGeom>
              <a:avLst/>
              <a:gdLst>
                <a:gd name="T0" fmla="*/ 91 w 167"/>
                <a:gd name="T1" fmla="*/ 16 h 423"/>
                <a:gd name="T2" fmla="*/ 91 w 167"/>
                <a:gd name="T3" fmla="*/ 407 h 423"/>
                <a:gd name="T4" fmla="*/ 75 w 167"/>
                <a:gd name="T5" fmla="*/ 407 h 423"/>
                <a:gd name="T6" fmla="*/ 75 w 167"/>
                <a:gd name="T7" fmla="*/ 16 h 423"/>
                <a:gd name="T8" fmla="*/ 91 w 167"/>
                <a:gd name="T9" fmla="*/ 16 h 423"/>
                <a:gd name="T10" fmla="*/ 2 w 167"/>
                <a:gd name="T11" fmla="*/ 140 h 423"/>
                <a:gd name="T12" fmla="*/ 83 w 167"/>
                <a:gd name="T13" fmla="*/ 0 h 423"/>
                <a:gd name="T14" fmla="*/ 165 w 167"/>
                <a:gd name="T15" fmla="*/ 140 h 423"/>
                <a:gd name="T16" fmla="*/ 162 w 167"/>
                <a:gd name="T17" fmla="*/ 151 h 423"/>
                <a:gd name="T18" fmla="*/ 151 w 167"/>
                <a:gd name="T19" fmla="*/ 148 h 423"/>
                <a:gd name="T20" fmla="*/ 77 w 167"/>
                <a:gd name="T21" fmla="*/ 20 h 423"/>
                <a:gd name="T22" fmla="*/ 90 w 167"/>
                <a:gd name="T23" fmla="*/ 20 h 423"/>
                <a:gd name="T24" fmla="*/ 16 w 167"/>
                <a:gd name="T25" fmla="*/ 148 h 423"/>
                <a:gd name="T26" fmla="*/ 5 w 167"/>
                <a:gd name="T27" fmla="*/ 151 h 423"/>
                <a:gd name="T28" fmla="*/ 2 w 167"/>
                <a:gd name="T29" fmla="*/ 140 h 423"/>
                <a:gd name="T30" fmla="*/ 165 w 167"/>
                <a:gd name="T31" fmla="*/ 283 h 423"/>
                <a:gd name="T32" fmla="*/ 83 w 167"/>
                <a:gd name="T33" fmla="*/ 423 h 423"/>
                <a:gd name="T34" fmla="*/ 2 w 167"/>
                <a:gd name="T35" fmla="*/ 283 h 423"/>
                <a:gd name="T36" fmla="*/ 5 w 167"/>
                <a:gd name="T37" fmla="*/ 272 h 423"/>
                <a:gd name="T38" fmla="*/ 16 w 167"/>
                <a:gd name="T39" fmla="*/ 275 h 423"/>
                <a:gd name="T40" fmla="*/ 90 w 167"/>
                <a:gd name="T41" fmla="*/ 403 h 423"/>
                <a:gd name="T42" fmla="*/ 77 w 167"/>
                <a:gd name="T43" fmla="*/ 403 h 423"/>
                <a:gd name="T44" fmla="*/ 151 w 167"/>
                <a:gd name="T45" fmla="*/ 275 h 423"/>
                <a:gd name="T46" fmla="*/ 162 w 167"/>
                <a:gd name="T47" fmla="*/ 272 h 423"/>
                <a:gd name="T48" fmla="*/ 165 w 167"/>
                <a:gd name="T49" fmla="*/ 28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7" h="423">
                  <a:moveTo>
                    <a:pt x="91" y="16"/>
                  </a:moveTo>
                  <a:lnTo>
                    <a:pt x="91" y="407"/>
                  </a:lnTo>
                  <a:lnTo>
                    <a:pt x="75" y="407"/>
                  </a:lnTo>
                  <a:lnTo>
                    <a:pt x="75" y="16"/>
                  </a:lnTo>
                  <a:lnTo>
                    <a:pt x="91" y="16"/>
                  </a:lnTo>
                  <a:close/>
                  <a:moveTo>
                    <a:pt x="2" y="140"/>
                  </a:moveTo>
                  <a:lnTo>
                    <a:pt x="83" y="0"/>
                  </a:lnTo>
                  <a:lnTo>
                    <a:pt x="165" y="140"/>
                  </a:lnTo>
                  <a:cubicBezTo>
                    <a:pt x="167" y="144"/>
                    <a:pt x="166" y="149"/>
                    <a:pt x="162" y="151"/>
                  </a:cubicBezTo>
                  <a:cubicBezTo>
                    <a:pt x="158" y="154"/>
                    <a:pt x="154" y="152"/>
                    <a:pt x="151" y="148"/>
                  </a:cubicBezTo>
                  <a:lnTo>
                    <a:pt x="77" y="20"/>
                  </a:lnTo>
                  <a:lnTo>
                    <a:pt x="90" y="20"/>
                  </a:lnTo>
                  <a:lnTo>
                    <a:pt x="16" y="148"/>
                  </a:lnTo>
                  <a:cubicBezTo>
                    <a:pt x="13" y="152"/>
                    <a:pt x="9" y="154"/>
                    <a:pt x="5" y="151"/>
                  </a:cubicBezTo>
                  <a:cubicBezTo>
                    <a:pt x="1" y="149"/>
                    <a:pt x="0" y="144"/>
                    <a:pt x="2" y="140"/>
                  </a:cubicBezTo>
                  <a:close/>
                  <a:moveTo>
                    <a:pt x="165" y="283"/>
                  </a:moveTo>
                  <a:lnTo>
                    <a:pt x="83" y="423"/>
                  </a:lnTo>
                  <a:lnTo>
                    <a:pt x="2" y="283"/>
                  </a:lnTo>
                  <a:cubicBezTo>
                    <a:pt x="0" y="279"/>
                    <a:pt x="1" y="274"/>
                    <a:pt x="5" y="272"/>
                  </a:cubicBezTo>
                  <a:cubicBezTo>
                    <a:pt x="9" y="270"/>
                    <a:pt x="13" y="271"/>
                    <a:pt x="16" y="275"/>
                  </a:cubicBezTo>
                  <a:lnTo>
                    <a:pt x="90" y="403"/>
                  </a:lnTo>
                  <a:lnTo>
                    <a:pt x="77" y="403"/>
                  </a:lnTo>
                  <a:lnTo>
                    <a:pt x="151" y="275"/>
                  </a:lnTo>
                  <a:cubicBezTo>
                    <a:pt x="154" y="271"/>
                    <a:pt x="158" y="270"/>
                    <a:pt x="162" y="272"/>
                  </a:cubicBezTo>
                  <a:cubicBezTo>
                    <a:pt x="166" y="274"/>
                    <a:pt x="167" y="279"/>
                    <a:pt x="165" y="2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9" name="Freeform 75"/>
            <p:cNvSpPr>
              <a:spLocks noEditPoints="1"/>
            </p:cNvSpPr>
            <p:nvPr/>
          </p:nvSpPr>
          <p:spPr bwMode="gray">
            <a:xfrm>
              <a:off x="4525963" y="3049588"/>
              <a:ext cx="87313" cy="1052512"/>
            </a:xfrm>
            <a:custGeom>
              <a:avLst/>
              <a:gdLst>
                <a:gd name="T0" fmla="*/ 91 w 167"/>
                <a:gd name="T1" fmla="*/ 16 h 1995"/>
                <a:gd name="T2" fmla="*/ 91 w 167"/>
                <a:gd name="T3" fmla="*/ 1979 h 1995"/>
                <a:gd name="T4" fmla="*/ 75 w 167"/>
                <a:gd name="T5" fmla="*/ 1979 h 1995"/>
                <a:gd name="T6" fmla="*/ 75 w 167"/>
                <a:gd name="T7" fmla="*/ 16 h 1995"/>
                <a:gd name="T8" fmla="*/ 91 w 167"/>
                <a:gd name="T9" fmla="*/ 16 h 1995"/>
                <a:gd name="T10" fmla="*/ 2 w 167"/>
                <a:gd name="T11" fmla="*/ 140 h 1995"/>
                <a:gd name="T12" fmla="*/ 83 w 167"/>
                <a:gd name="T13" fmla="*/ 0 h 1995"/>
                <a:gd name="T14" fmla="*/ 165 w 167"/>
                <a:gd name="T15" fmla="*/ 140 h 1995"/>
                <a:gd name="T16" fmla="*/ 162 w 167"/>
                <a:gd name="T17" fmla="*/ 151 h 1995"/>
                <a:gd name="T18" fmla="*/ 151 w 167"/>
                <a:gd name="T19" fmla="*/ 148 h 1995"/>
                <a:gd name="T20" fmla="*/ 77 w 167"/>
                <a:gd name="T21" fmla="*/ 20 h 1995"/>
                <a:gd name="T22" fmla="*/ 90 w 167"/>
                <a:gd name="T23" fmla="*/ 20 h 1995"/>
                <a:gd name="T24" fmla="*/ 16 w 167"/>
                <a:gd name="T25" fmla="*/ 148 h 1995"/>
                <a:gd name="T26" fmla="*/ 5 w 167"/>
                <a:gd name="T27" fmla="*/ 151 h 1995"/>
                <a:gd name="T28" fmla="*/ 2 w 167"/>
                <a:gd name="T29" fmla="*/ 140 h 1995"/>
                <a:gd name="T30" fmla="*/ 165 w 167"/>
                <a:gd name="T31" fmla="*/ 1855 h 1995"/>
                <a:gd name="T32" fmla="*/ 83 w 167"/>
                <a:gd name="T33" fmla="*/ 1995 h 1995"/>
                <a:gd name="T34" fmla="*/ 2 w 167"/>
                <a:gd name="T35" fmla="*/ 1855 h 1995"/>
                <a:gd name="T36" fmla="*/ 5 w 167"/>
                <a:gd name="T37" fmla="*/ 1844 h 1995"/>
                <a:gd name="T38" fmla="*/ 16 w 167"/>
                <a:gd name="T39" fmla="*/ 1847 h 1995"/>
                <a:gd name="T40" fmla="*/ 90 w 167"/>
                <a:gd name="T41" fmla="*/ 1975 h 1995"/>
                <a:gd name="T42" fmla="*/ 77 w 167"/>
                <a:gd name="T43" fmla="*/ 1975 h 1995"/>
                <a:gd name="T44" fmla="*/ 151 w 167"/>
                <a:gd name="T45" fmla="*/ 1847 h 1995"/>
                <a:gd name="T46" fmla="*/ 162 w 167"/>
                <a:gd name="T47" fmla="*/ 1844 h 1995"/>
                <a:gd name="T48" fmla="*/ 165 w 167"/>
                <a:gd name="T49" fmla="*/ 1855 h 1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7" h="1995">
                  <a:moveTo>
                    <a:pt x="91" y="16"/>
                  </a:moveTo>
                  <a:lnTo>
                    <a:pt x="91" y="1979"/>
                  </a:lnTo>
                  <a:lnTo>
                    <a:pt x="75" y="1979"/>
                  </a:lnTo>
                  <a:lnTo>
                    <a:pt x="75" y="16"/>
                  </a:lnTo>
                  <a:lnTo>
                    <a:pt x="91" y="16"/>
                  </a:lnTo>
                  <a:close/>
                  <a:moveTo>
                    <a:pt x="2" y="140"/>
                  </a:moveTo>
                  <a:lnTo>
                    <a:pt x="83" y="0"/>
                  </a:lnTo>
                  <a:lnTo>
                    <a:pt x="165" y="140"/>
                  </a:lnTo>
                  <a:cubicBezTo>
                    <a:pt x="167" y="144"/>
                    <a:pt x="166" y="149"/>
                    <a:pt x="162" y="151"/>
                  </a:cubicBezTo>
                  <a:cubicBezTo>
                    <a:pt x="158" y="154"/>
                    <a:pt x="154" y="152"/>
                    <a:pt x="151" y="148"/>
                  </a:cubicBezTo>
                  <a:lnTo>
                    <a:pt x="77" y="20"/>
                  </a:lnTo>
                  <a:lnTo>
                    <a:pt x="90" y="20"/>
                  </a:lnTo>
                  <a:lnTo>
                    <a:pt x="16" y="148"/>
                  </a:lnTo>
                  <a:cubicBezTo>
                    <a:pt x="13" y="152"/>
                    <a:pt x="9" y="154"/>
                    <a:pt x="5" y="151"/>
                  </a:cubicBezTo>
                  <a:cubicBezTo>
                    <a:pt x="1" y="149"/>
                    <a:pt x="0" y="144"/>
                    <a:pt x="2" y="140"/>
                  </a:cubicBezTo>
                  <a:close/>
                  <a:moveTo>
                    <a:pt x="165" y="1855"/>
                  </a:moveTo>
                  <a:lnTo>
                    <a:pt x="83" y="1995"/>
                  </a:lnTo>
                  <a:lnTo>
                    <a:pt x="2" y="1855"/>
                  </a:lnTo>
                  <a:cubicBezTo>
                    <a:pt x="0" y="1852"/>
                    <a:pt x="1" y="1847"/>
                    <a:pt x="5" y="1844"/>
                  </a:cubicBezTo>
                  <a:cubicBezTo>
                    <a:pt x="9" y="1842"/>
                    <a:pt x="13" y="1843"/>
                    <a:pt x="16" y="1847"/>
                  </a:cubicBezTo>
                  <a:lnTo>
                    <a:pt x="90" y="1975"/>
                  </a:lnTo>
                  <a:lnTo>
                    <a:pt x="77" y="1975"/>
                  </a:lnTo>
                  <a:lnTo>
                    <a:pt x="151" y="1847"/>
                  </a:lnTo>
                  <a:cubicBezTo>
                    <a:pt x="154" y="1843"/>
                    <a:pt x="158" y="1842"/>
                    <a:pt x="162" y="1844"/>
                  </a:cubicBezTo>
                  <a:cubicBezTo>
                    <a:pt x="166" y="1847"/>
                    <a:pt x="167" y="1852"/>
                    <a:pt x="165" y="1855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1" name="文本占位符 2"/>
          <p:cNvSpPr txBox="1"/>
          <p:nvPr/>
        </p:nvSpPr>
        <p:spPr bwMode="gray">
          <a:xfrm>
            <a:off x="6113399" y="1602954"/>
            <a:ext cx="5472030" cy="4556370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16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安全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传输（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Secure Transport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）层：为客户端和服务器之间交互提供</a:t>
            </a:r>
            <a:r>
              <a:rPr lang="zh-CN" altLang="en-US" sz="16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通讯路径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。当前华为使用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协议作为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协议的承载协议。</a:t>
            </a:r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消息（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Messages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）层：提供一种简单的不依赖传输协议层的</a:t>
            </a:r>
            <a:r>
              <a:rPr lang="en-US" altLang="zh-CN" sz="16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zh-CN" altLang="en-US" sz="16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回应机制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请求内容封装在一个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元素内，发送给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把请求处理结果封装在一个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元素内，回应给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操作（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Operations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）层：定义一组</a:t>
            </a:r>
            <a:r>
              <a:rPr lang="zh-CN" altLang="en-US" sz="16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基本的操作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，作为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的调用方法，这些操作组成了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基本能力。</a:t>
            </a:r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30000"/>
              </a:lnSpc>
              <a:buClr>
                <a:schemeClr val="tx1"/>
              </a:buClr>
            </a:pP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内容（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Content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）层：描述了网络管理所涉及的配置数据，而这些数据依赖于各制造商设备。目前主流的数据模型有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Schema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模型，</a:t>
            </a:r>
            <a:r>
              <a:rPr lang="en-US" altLang="zh-CN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模型等。</a:t>
            </a:r>
            <a:endParaRPr lang="zh-CN" altLang="en-US" sz="16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XML</a:t>
            </a:r>
            <a:r>
              <a:rPr lang="zh-CN" altLang="en-US" smtClean="0">
                <a:sym typeface="Huawei Sans" panose="020C0503030203020204" pitchFamily="34" charset="0"/>
              </a:rPr>
              <a:t>编码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XML</a:t>
            </a:r>
            <a:r>
              <a:rPr lang="zh-CN" altLang="en-US" sz="1800" dirty="0">
                <a:sym typeface="Huawei Sans" panose="020C0503030203020204" pitchFamily="34" charset="0"/>
              </a:rPr>
              <a:t>是</a:t>
            </a:r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协议的编码格式。</a:t>
            </a:r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用文本文件表示复杂的层次化数据。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文本占位符 3"/>
          <p:cNvSpPr txBox="1"/>
          <p:nvPr/>
        </p:nvSpPr>
        <p:spPr bwMode="gray">
          <a:xfrm>
            <a:off x="807442" y="1880225"/>
            <a:ext cx="3852428" cy="2930098"/>
          </a:xfrm>
          <a:prstGeom prst="rect">
            <a:avLst/>
          </a:prstGeom>
          <a:solidFill>
            <a:srgbClr val="FFFFCC"/>
          </a:solidFill>
          <a:ln w="9525">
            <a:solidFill>
              <a:srgbClr val="FFC000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&lt;?xml version="1.0" encoding="UTF-8"?&gt;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&lt;note&gt;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&lt;to&gt;Learners&lt;/to&gt;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&lt;from&gt;Huawei&lt;/from&gt;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&lt;heading&gt;Reminder&lt;/heading&gt;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&lt;body&gt;Don't forget Reading!&lt;/body&gt;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&lt;/note&gt;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5073824" y="1880225"/>
            <a:ext cx="6109056" cy="2930098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编码格式文件头为：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&lt;?xml version="1.0" encoding="UTF-8"?&gt;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其中：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marL="352425" lvl="1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&lt;?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：表示一条指令的开始。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marL="352425" lvl="1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：表示此文件是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文件。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marL="352425" lvl="1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version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：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版本号。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"1.0"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表示使用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XML1.0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标准版本。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marL="352425" lvl="1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encoding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：字符集编码格式，当前仅支持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UTF-8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编码。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marL="352425" lvl="1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?&gt;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：表示一条指令的结束。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 bwMode="gray">
          <a:xfrm>
            <a:off x="798514" y="5021542"/>
            <a:ext cx="10384366" cy="1126462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 algn="just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文档形成了一种树结构，从根开始展开。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just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&lt;note&gt;&lt;to&gt;&lt;from&gt;&lt;heading&gt;&lt;body&gt;</a:t>
            </a:r>
            <a:r>
              <a:rPr lang="zh-CN" altLang="en-US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标签为私有。</a:t>
            </a: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XML</a:t>
            </a:r>
            <a:r>
              <a:rPr lang="zh-CN" altLang="en-US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语言没有预定义的标签，允许使用者自定义标签和文档结构。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  <a:p>
            <a:pPr algn="just" defTabSz="802005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</a:pPr>
            <a:r>
              <a:rPr lang="zh-CN" altLang="en-US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标签格式嵌套内容。“</a:t>
            </a: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400" kern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”表示结束当前标签。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传输层与消息层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SSH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实现安全传输</a:t>
            </a:r>
            <a:r>
              <a:rPr lang="zh-CN" altLang="en-US" sz="1800" dirty="0">
                <a:sym typeface="Huawei Sans" panose="020C0503030203020204" pitchFamily="34" charset="0"/>
              </a:rPr>
              <a:t>，使用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RPC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highlight>
                  <a:srgbClr val="FFFF00"/>
                </a:highlight>
                <a:sym typeface="Huawei Sans" panose="020C0503030203020204" pitchFamily="34" charset="0"/>
              </a:rPr>
              <a:t>Remote Procedure Call</a:t>
            </a:r>
            <a:r>
              <a:rPr lang="zh-CN" altLang="en-US" sz="1800" dirty="0">
                <a:highlight>
                  <a:srgbClr val="FFFF00"/>
                </a:highlight>
                <a:sym typeface="Huawei Sans" panose="020C0503030203020204" pitchFamily="34" charset="0"/>
              </a:rPr>
              <a:t>）远程调用</a:t>
            </a:r>
            <a:r>
              <a:rPr lang="zh-CN" altLang="en-US" sz="1800" dirty="0">
                <a:sym typeface="Huawei Sans" panose="020C0503030203020204" pitchFamily="34" charset="0"/>
              </a:rPr>
              <a:t>的机制实现客户端和服务端的通信。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3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</a:pPr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</a:pPr>
            <a:r>
              <a:rPr lang="zh-CN" altLang="en-US" sz="12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  <a:defRPr/>
            </a:pP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 bwMode="gray">
          <a:xfrm>
            <a:off x="1912940" y="2304683"/>
            <a:ext cx="7982551" cy="1166311"/>
            <a:chOff x="1731099" y="2486295"/>
            <a:chExt cx="7982551" cy="1166311"/>
          </a:xfrm>
        </p:grpSpPr>
        <p:sp>
          <p:nvSpPr>
            <p:cNvPr id="7" name="文本框 6"/>
            <p:cNvSpPr txBox="1"/>
            <p:nvPr/>
          </p:nvSpPr>
          <p:spPr bwMode="gray">
            <a:xfrm>
              <a:off x="4413599" y="2630005"/>
              <a:ext cx="710451" cy="401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&lt;rpc&gt;</a:t>
              </a:r>
              <a:endPara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矩形: 圆角 9"/>
            <p:cNvSpPr/>
            <p:nvPr/>
          </p:nvSpPr>
          <p:spPr bwMode="gray">
            <a:xfrm>
              <a:off x="1731099" y="2521020"/>
              <a:ext cx="1779267" cy="309714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solidFill>
                <a:srgbClr val="FFD1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NETCONF Client</a:t>
              </a:r>
              <a:endParaRPr kumimoji="0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矩形: 圆角 11"/>
            <p:cNvSpPr/>
            <p:nvPr/>
          </p:nvSpPr>
          <p:spPr bwMode="gray">
            <a:xfrm>
              <a:off x="7934383" y="2486295"/>
              <a:ext cx="1779267" cy="309714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solidFill>
                <a:srgbClr val="FFD17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NETCONF Server</a:t>
              </a:r>
              <a:endParaRPr kumimoji="0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3" name="图片 12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8554016" y="3031317"/>
              <a:ext cx="540000" cy="441818"/>
            </a:xfrm>
            <a:prstGeom prst="rect">
              <a:avLst/>
            </a:prstGeom>
          </p:spPr>
        </p:pic>
        <p:pic>
          <p:nvPicPr>
            <p:cNvPr id="14" name="图片 13" descr="大型网管-蓝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 bwMode="gray">
            <a:xfrm>
              <a:off x="2350732" y="3031317"/>
              <a:ext cx="540000" cy="441818"/>
            </a:xfrm>
            <a:prstGeom prst="rect">
              <a:avLst/>
            </a:prstGeom>
          </p:spPr>
        </p:pic>
        <p:sp>
          <p:nvSpPr>
            <p:cNvPr id="15" name="箭头: 左右 14"/>
            <p:cNvSpPr/>
            <p:nvPr/>
          </p:nvSpPr>
          <p:spPr bwMode="gray">
            <a:xfrm>
              <a:off x="3588312" y="3046682"/>
              <a:ext cx="4648818" cy="309715"/>
            </a:xfrm>
            <a:prstGeom prst="leftRightArrow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5473517" y="3251149"/>
              <a:ext cx="2922056" cy="40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SSH</a:t>
              </a:r>
              <a:endPara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 bwMode="gray">
            <a:xfrm>
              <a:off x="5876159" y="2630005"/>
              <a:ext cx="1250663" cy="401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</a:t>
              </a:r>
              <a:r>
                <a:rPr lang="en-US" altLang="zh-CN" sz="16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rpc</a:t>
              </a:r>
              <a:r>
                <a:rPr lang="en-US" altLang="zh-CN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-reply&gt;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 bwMode="gray">
          <a:xfrm>
            <a:off x="1186444" y="4436736"/>
            <a:ext cx="83375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用于封装从客户端到服务端的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请求。头部定义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message-id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标示序列。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用户服务端回复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response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消息。头部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message-id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保持一致。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-error&gt;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中被发送。一个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可以包含多个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-error&gt; 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&lt;ok&gt;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中被发送，表示没有错误和没有数据返回。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gray">
          <a:xfrm>
            <a:off x="752354" y="3922124"/>
            <a:ext cx="6442789" cy="40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的框架与传输层独立，用于表示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requests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response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基本操作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定义了一系列操作：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graphicFrame>
        <p:nvGraphicFramePr>
          <p:cNvPr id="10" name="表格 9">
            <a:hlinkClick r:id="rId1"/>
          </p:cNvPr>
          <p:cNvGraphicFramePr>
            <a:graphicFrameLocks noGrp="1"/>
          </p:cNvGraphicFramePr>
          <p:nvPr/>
        </p:nvGraphicFramePr>
        <p:xfrm>
          <a:off x="1671655" y="1611328"/>
          <a:ext cx="8848689" cy="4316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89"/>
                <a:gridCol w="2142505"/>
                <a:gridCol w="5143995"/>
              </a:tblGrid>
              <a:tr h="3094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场景分类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操作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功能描述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81282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查询数据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&lt;get-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查询配置数据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&lt;get&gt;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查询设备当前运行的配置和状态数据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编辑数据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&lt;edit-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修改，创建，删除配置数据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备份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恢复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&lt;copy-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导出配置，或用一套配置数据整体替换另一套配置数据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&lt;delete-</a:t>
                      </a:r>
                      <a:r>
                        <a:rPr lang="en-US" altLang="zh-CN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删除配置数据集，清空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startup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8128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锁定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解锁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&lt;lock&gt;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加锁，独占配置数据集的修改权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&lt;unlock&gt;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解锁，放弃对配置数据集修改权的独占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3347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事务操作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&lt;commit&gt;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提交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&lt;candidate&gt;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数据集中的配置数据成为当前运行的配置数据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&lt;cancel-commit&gt;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放弃配置提交试运行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&lt;discard-changes&gt;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放弃</a:t>
                      </a:r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&lt;candidate&gt;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中还未提交的配置数据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&lt;validate&gt;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检查指定配置数据的语法语义是否正确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会话操作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&lt;close-session&gt;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smtClean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正常地结束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本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NETCONF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会话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282">
                <a:tc vMerge="1">
                  <a:tcPr marL="109753" marR="109753" marT="45731" marB="45731">
                    <a:lnL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D2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&lt;kill-session&gt; 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强制结束其他的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NETCONF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会话，需管理员权限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+mn-cs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  <a:defRPr/>
            </a:pP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操作对象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操作对象有三个配置库。可以灵活读取和编辑配置库、候选库与运行库，实现整体配置的下发、验证和回滚。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11" name="圆柱形 7"/>
          <p:cNvSpPr/>
          <p:nvPr/>
        </p:nvSpPr>
        <p:spPr bwMode="gray">
          <a:xfrm>
            <a:off x="8788628" y="2853197"/>
            <a:ext cx="1448091" cy="1096427"/>
          </a:xfrm>
          <a:prstGeom prst="can">
            <a:avLst/>
          </a:prstGeom>
          <a:solidFill>
            <a:srgbClr val="FFC000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圆柱形 8"/>
          <p:cNvSpPr/>
          <p:nvPr/>
        </p:nvSpPr>
        <p:spPr bwMode="gray">
          <a:xfrm>
            <a:off x="5088847" y="2876929"/>
            <a:ext cx="2069360" cy="1281996"/>
          </a:xfrm>
          <a:prstGeom prst="can">
            <a:avLst/>
          </a:prstGeom>
          <a:solidFill>
            <a:srgbClr val="FFC000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5542933" y="3371628"/>
            <a:ext cx="1343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运行配置库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&lt;running&gt;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8963854" y="3219711"/>
            <a:ext cx="1244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启动配置库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&lt;startup&gt;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圆柱形 11"/>
          <p:cNvSpPr/>
          <p:nvPr/>
        </p:nvSpPr>
        <p:spPr bwMode="gray">
          <a:xfrm>
            <a:off x="2191278" y="3016726"/>
            <a:ext cx="1448091" cy="1096427"/>
          </a:xfrm>
          <a:prstGeom prst="can">
            <a:avLst/>
          </a:prstGeom>
          <a:solidFill>
            <a:srgbClr val="FFC000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gray">
          <a:xfrm>
            <a:off x="2303907" y="3415891"/>
            <a:ext cx="1525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候选配置库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&lt;candidate&gt;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 bwMode="gray">
          <a:xfrm>
            <a:off x="2652380" y="1898507"/>
            <a:ext cx="1673652" cy="451818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edit-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 bwMode="gray">
          <a:xfrm>
            <a:off x="3659690" y="2964944"/>
            <a:ext cx="1429158" cy="415103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/>
            </a:lvl1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&lt;copy-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 bwMode="gray">
          <a:xfrm>
            <a:off x="3692789" y="3640099"/>
            <a:ext cx="1351780" cy="454161"/>
          </a:xfrm>
          <a:prstGeom prst="rect">
            <a:avLst/>
          </a:prstGeom>
          <a:solidFill>
            <a:srgbClr val="EC70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&lt;commit&gt;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7188686" y="3642668"/>
            <a:ext cx="1579267" cy="415106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&lt;copy-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 bwMode="gray">
          <a:xfrm>
            <a:off x="3737065" y="3564939"/>
            <a:ext cx="1278055" cy="0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gray">
          <a:xfrm rot="10800000">
            <a:off x="3722236" y="3468547"/>
            <a:ext cx="1278055" cy="0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 bwMode="gray">
          <a:xfrm>
            <a:off x="7340807" y="3570955"/>
            <a:ext cx="1278055" cy="0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 bwMode="gray">
          <a:xfrm rot="10800000">
            <a:off x="7325978" y="3474564"/>
            <a:ext cx="1278055" cy="0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 bwMode="gray">
          <a:xfrm flipH="1">
            <a:off x="2800763" y="2350325"/>
            <a:ext cx="553562" cy="666401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7" idx="2"/>
          </p:cNvCxnSpPr>
          <p:nvPr/>
        </p:nvCxnSpPr>
        <p:spPr bwMode="gray">
          <a:xfrm>
            <a:off x="3489206" y="2350325"/>
            <a:ext cx="2249760" cy="514939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5"/>
          <p:cNvSpPr/>
          <p:nvPr/>
        </p:nvSpPr>
        <p:spPr bwMode="gray">
          <a:xfrm>
            <a:off x="1133730" y="1680315"/>
            <a:ext cx="9540822" cy="4058511"/>
          </a:xfrm>
          <a:prstGeom prst="roundRect">
            <a:avLst>
              <a:gd name="adj" fmla="val 908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1366786" y="1762774"/>
            <a:ext cx="1041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交换机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3437985" y="5254873"/>
            <a:ext cx="2047827" cy="45181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&lt;lock&gt; / &lt;unlock&gt;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 bwMode="gray">
          <a:xfrm>
            <a:off x="8737473" y="4692048"/>
            <a:ext cx="1685288" cy="45181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&lt;delete-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" name="直接箭头连接符 30"/>
          <p:cNvCxnSpPr>
            <a:stCxn id="30" idx="0"/>
            <a:endCxn id="11" idx="3"/>
          </p:cNvCxnSpPr>
          <p:nvPr/>
        </p:nvCxnSpPr>
        <p:spPr bwMode="gray">
          <a:xfrm flipH="1" flipV="1">
            <a:off x="9512674" y="3949624"/>
            <a:ext cx="67443" cy="742424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9" idx="0"/>
            <a:endCxn id="12" idx="3"/>
          </p:cNvCxnSpPr>
          <p:nvPr/>
        </p:nvCxnSpPr>
        <p:spPr bwMode="gray">
          <a:xfrm flipV="1">
            <a:off x="4461899" y="4158925"/>
            <a:ext cx="1661628" cy="1095948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 bwMode="gray">
          <a:xfrm flipH="1" flipV="1">
            <a:off x="3097468" y="4123137"/>
            <a:ext cx="1178454" cy="1082851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 bwMode="gray">
          <a:xfrm>
            <a:off x="1608974" y="4692048"/>
            <a:ext cx="1927083" cy="451817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&lt;discard-changes&gt;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5" name="直接箭头连接符 34"/>
          <p:cNvCxnSpPr>
            <a:stCxn id="34" idx="0"/>
            <a:endCxn id="15" idx="3"/>
          </p:cNvCxnSpPr>
          <p:nvPr/>
        </p:nvCxnSpPr>
        <p:spPr bwMode="gray">
          <a:xfrm flipV="1">
            <a:off x="2572516" y="4113153"/>
            <a:ext cx="342808" cy="578895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圆柱形 53"/>
          <p:cNvSpPr/>
          <p:nvPr/>
        </p:nvSpPr>
        <p:spPr bwMode="gray">
          <a:xfrm>
            <a:off x="6914485" y="4948395"/>
            <a:ext cx="1348036" cy="742189"/>
          </a:xfrm>
          <a:prstGeom prst="can">
            <a:avLst/>
          </a:prstGeom>
          <a:solidFill>
            <a:srgbClr val="FFC000"/>
          </a:solidFill>
          <a:ln>
            <a:solidFill>
              <a:srgbClr val="FFF2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7" name="直接箭头连接符 36"/>
          <p:cNvCxnSpPr/>
          <p:nvPr/>
        </p:nvCxnSpPr>
        <p:spPr bwMode="gray">
          <a:xfrm flipH="1" flipV="1">
            <a:off x="3354328" y="4129488"/>
            <a:ext cx="3892435" cy="836168"/>
          </a:xfrm>
          <a:prstGeom prst="straightConnector1">
            <a:avLst/>
          </a:prstGeom>
          <a:ln w="28575">
            <a:solidFill>
              <a:srgbClr val="56C4D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 bwMode="gray">
          <a:xfrm>
            <a:off x="7367057" y="3001941"/>
            <a:ext cx="1077830" cy="415106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重启恢复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" name="直接箭头连接符 38"/>
          <p:cNvCxnSpPr>
            <a:endCxn id="36" idx="1"/>
          </p:cNvCxnSpPr>
          <p:nvPr/>
        </p:nvCxnSpPr>
        <p:spPr bwMode="gray">
          <a:xfrm>
            <a:off x="6282549" y="4184987"/>
            <a:ext cx="1305954" cy="763408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 bwMode="gray">
          <a:xfrm flipH="1" flipV="1">
            <a:off x="3332440" y="4224874"/>
            <a:ext cx="3603086" cy="766845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 bwMode="gray">
          <a:xfrm>
            <a:off x="5837376" y="4483391"/>
            <a:ext cx="1556828" cy="415106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&lt;copy-</a:t>
            </a:r>
            <a:r>
              <a:rPr lang="en-US" altLang="zh-CN" sz="15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1185667" y="2463874"/>
            <a:ext cx="1320514" cy="451818"/>
          </a:xfrm>
          <a:prstGeom prst="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8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&lt;validate&gt;</a:t>
            </a:r>
            <a:endParaRPr lang="zh-CN" altLang="en-US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直接箭头连接符 42"/>
          <p:cNvCxnSpPr>
            <a:stCxn id="42" idx="2"/>
            <a:endCxn id="15" idx="2"/>
          </p:cNvCxnSpPr>
          <p:nvPr/>
        </p:nvCxnSpPr>
        <p:spPr bwMode="gray">
          <a:xfrm>
            <a:off x="1845924" y="2915692"/>
            <a:ext cx="345354" cy="649248"/>
          </a:xfrm>
          <a:prstGeom prst="straightConnector1">
            <a:avLst/>
          </a:prstGeom>
          <a:ln w="28575">
            <a:solidFill>
              <a:srgbClr val="56C4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 bwMode="gray">
          <a:xfrm>
            <a:off x="7320642" y="5127410"/>
            <a:ext cx="936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&lt;URL&gt;</a:t>
            </a:r>
            <a:endParaRPr lang="en-US" altLang="zh-CN" sz="16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  <a:defRPr/>
            </a:pP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gray">
          <a:xfrm>
            <a:off x="465711" y="1021738"/>
            <a:ext cx="7553913" cy="5150834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&lt;?xml version="1.0" encoding="UTF-8"?&gt;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="urn:ietf:params:xml:ns:netconf:base:1.0" message-id="801"&gt;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edit-</a:t>
            </a:r>
            <a:r>
              <a:rPr lang="en-US" altLang="zh-CN" sz="1200" b="1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&lt;target&gt;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&lt;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running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&lt;/target&gt;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&lt;default-operation&gt;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merge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&lt;/default-operation&gt;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&lt;error-option&gt;rollback-on-error&lt;/error-option&gt;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xmlns:xc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="urn:ietf:params:xml:ns:netconf:base:1.0"&gt;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="http://www.huawei.com/netconf/vrp/huawei-vlan"&gt;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vlanId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en-US" altLang="zh-CN" sz="1200" kern="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vlanId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xc:operation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="merge"&gt;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protocolIndex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&gt;0&lt;/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protocolIndex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…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案例：下发</a:t>
            </a:r>
            <a:r>
              <a:rPr lang="en-US" altLang="zh-CN" smtClean="0">
                <a:sym typeface="Huawei Sans" panose="020C0503030203020204" pitchFamily="34" charset="0"/>
              </a:rPr>
              <a:t>VLAN</a:t>
            </a:r>
            <a:r>
              <a:rPr lang="zh-CN" altLang="en-US" smtClean="0">
                <a:sym typeface="Huawei Sans" panose="020C0503030203020204" pitchFamily="34" charset="0"/>
              </a:rPr>
              <a:t>配置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2" name="圆角矩形 11"/>
          <p:cNvSpPr/>
          <p:nvPr/>
        </p:nvSpPr>
        <p:spPr bwMode="gray">
          <a:xfrm>
            <a:off x="4239205" y="4421580"/>
            <a:ext cx="3652629" cy="318615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请求：创建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ID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的普通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占位符 3"/>
          <p:cNvSpPr txBox="1"/>
          <p:nvPr/>
        </p:nvSpPr>
        <p:spPr bwMode="gray">
          <a:xfrm>
            <a:off x="8141916" y="1047671"/>
            <a:ext cx="3603997" cy="3668712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本例中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edit-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操作可以把数据加载到运行数据库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&lt;running/&gt;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下发创建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的信息。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operation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merge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，其他操作包括：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merge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create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delete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remove 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>
              <a:spcBef>
                <a:spcPts val="0"/>
              </a:spcBef>
              <a:defRPr/>
            </a:pPr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内容层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内容层为设备配置数据。配置数据需要有建模语言，依赖各厂家的实现，并未完全统一。</a:t>
            </a:r>
            <a:r>
              <a:rPr lang="en-US" altLang="zh-CN" sz="1800" dirty="0">
                <a:sym typeface="Huawei Sans" panose="020C0503030203020204" pitchFamily="34" charset="0"/>
              </a:rPr>
              <a:t>NETCONF 1.0</a:t>
            </a:r>
            <a:r>
              <a:rPr lang="zh-CN" altLang="en-US" sz="1800" dirty="0">
                <a:sym typeface="Huawei Sans" panose="020C0503030203020204" pitchFamily="34" charset="0"/>
              </a:rPr>
              <a:t>对模型语言没有要求。</a:t>
            </a:r>
            <a:r>
              <a:rPr lang="en-US" altLang="zh-CN" sz="1800" dirty="0" smtClean="0">
                <a:sym typeface="Huawei Sans" panose="020C0503030203020204" pitchFamily="34" charset="0"/>
              </a:rPr>
              <a:t>NETCONF1.1</a:t>
            </a:r>
            <a:r>
              <a:rPr lang="zh-CN" altLang="en-US" sz="1800" dirty="0" smtClean="0">
                <a:sym typeface="Huawei Sans" panose="020C0503030203020204" pitchFamily="34" charset="0"/>
              </a:rPr>
              <a:t>明确</a:t>
            </a:r>
            <a:r>
              <a:rPr lang="zh-CN" altLang="en-US" sz="1800" dirty="0">
                <a:sym typeface="Huawei Sans" panose="020C0503030203020204" pitchFamily="34" charset="0"/>
              </a:rPr>
              <a:t>了与</a:t>
            </a:r>
            <a:r>
              <a:rPr lang="en-US" altLang="zh-CN" sz="1800" dirty="0">
                <a:sym typeface="Huawei Sans" panose="020C0503030203020204" pitchFamily="34" charset="0"/>
              </a:rPr>
              <a:t>YANG</a:t>
            </a:r>
            <a:r>
              <a:rPr lang="zh-CN" altLang="en-US" sz="1800" dirty="0">
                <a:sym typeface="Huawei Sans" panose="020C0503030203020204" pitchFamily="34" charset="0"/>
              </a:rPr>
              <a:t>结合，开始规范</a:t>
            </a:r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内容格式。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724395" y="4082241"/>
            <a:ext cx="7878299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当前华为设备支持的内容层有：</a:t>
            </a:r>
            <a:endParaRPr lang="en-US" altLang="zh-CN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Huawei-YANG</a:t>
            </a:r>
            <a:endParaRPr lang="en-US" altLang="zh-CN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 Schema</a:t>
            </a:r>
            <a:endParaRPr lang="en-US" altLang="zh-CN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IETF-YANG</a:t>
            </a:r>
            <a:endParaRPr lang="en-US" altLang="zh-CN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OpenConfig-YANG</a:t>
            </a:r>
            <a:endParaRPr lang="en-US" altLang="zh-CN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 bwMode="gray">
          <a:xfrm>
            <a:off x="724395" y="2057998"/>
            <a:ext cx="10618531" cy="1945148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当前有两种建模语言，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Schema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Schema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是为了描述</a:t>
            </a: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文档而定义的一套规则。</a:t>
            </a: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Schema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文件中定义了设备所有管理对象，以及管理对象的层次关系、读写属性和约束条件。</a:t>
            </a:r>
            <a:endParaRPr lang="zh-CN" altLang="en-US" sz="17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是专门为</a:t>
            </a: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协议设计的数据建模语言，用来为</a:t>
            </a: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协议设计可操作的配置数据、状态数据模型、远程调用（</a:t>
            </a:r>
            <a:r>
              <a:rPr lang="en-US" altLang="zh-CN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RPCs</a:t>
            </a:r>
            <a:r>
              <a:rPr lang="zh-CN" altLang="en-US" sz="17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）模型和通知机制等。</a:t>
            </a:r>
            <a:endParaRPr lang="zh-CN" altLang="en-US" sz="17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案例：下发</a:t>
            </a:r>
            <a:r>
              <a:rPr lang="en-US" altLang="zh-CN" dirty="0" smtClean="0">
                <a:sym typeface="Huawei Sans" panose="020C0503030203020204" pitchFamily="34" charset="0"/>
              </a:rPr>
              <a:t>VLAN</a:t>
            </a:r>
            <a:r>
              <a:rPr lang="zh-CN" altLang="en-US" dirty="0" smtClean="0">
                <a:sym typeface="Huawei Sans" panose="020C0503030203020204" pitchFamily="34" charset="0"/>
              </a:rPr>
              <a:t>配置 </a:t>
            </a:r>
            <a:r>
              <a:rPr lang="en-US" altLang="zh-CN" dirty="0" smtClean="0">
                <a:sym typeface="Huawei Sans" panose="020C0503030203020204" pitchFamily="34" charset="0"/>
              </a:rPr>
              <a:t>(HUAWEI-YANG)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446088" y="1020257"/>
            <a:ext cx="7553913" cy="5150834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&lt;?xml version="1.0" encoding="UTF-8"?&gt;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="urn:ietf:params:xml:ns:netconf:base:1.0" message-id="801"&gt;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edit-</a:t>
            </a:r>
            <a:r>
              <a:rPr lang="en-US" altLang="zh-CN" sz="1200" b="1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&lt;target&gt;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&lt;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running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&lt;/target&gt;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&lt;default-operation&gt;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merge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&lt;/default-operation&gt;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&lt;error-option&gt;rollback-on-error&lt;/error-option&gt;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xmlns:xc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="urn:ietf:params:xml:ns:netconf:base:1.0"&gt;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b="1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xmlns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="http://www.huawei.com/netconf/vrp/huawei-vlan"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vlanId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&gt;10&lt;/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vlanId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xc:operation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="merge"&gt;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&lt;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protocolIndex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&gt;0&lt;/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protocolIndex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…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494215" y="2889993"/>
            <a:ext cx="7433049" cy="3020992"/>
          </a:xfrm>
          <a:prstGeom prst="rect">
            <a:avLst/>
          </a:prstGeom>
          <a:noFill/>
          <a:ln w="28575">
            <a:solidFill>
              <a:srgbClr val="30B5C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圆角矩形 20"/>
          <p:cNvSpPr/>
          <p:nvPr/>
        </p:nvSpPr>
        <p:spPr bwMode="gray">
          <a:xfrm>
            <a:off x="4239205" y="4411947"/>
            <a:ext cx="3652629" cy="318615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请求：创建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ID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的普通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占位符 3"/>
          <p:cNvSpPr txBox="1"/>
          <p:nvPr/>
        </p:nvSpPr>
        <p:spPr bwMode="gray">
          <a:xfrm>
            <a:off x="8140994" y="1056233"/>
            <a:ext cx="3603997" cy="3805015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本例中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edit-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操作可以把数据加载到运行数据库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&lt;running/&gt;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&gt;&lt;/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内容为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内容层信息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内容层的命名空间为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http://www.huawei.com/netconf/vrp/huawei-vlan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内容层结构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为：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包含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包含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vlanId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protocalVlans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案例：下发</a:t>
            </a:r>
            <a:r>
              <a:rPr lang="en-US" altLang="zh-CN" dirty="0" smtClean="0">
                <a:sym typeface="Huawei Sans" panose="020C0503030203020204" pitchFamily="34" charset="0"/>
              </a:rPr>
              <a:t>VLAN</a:t>
            </a:r>
            <a:r>
              <a:rPr lang="zh-CN" altLang="en-US" dirty="0" smtClean="0">
                <a:sym typeface="Huawei Sans" panose="020C0503030203020204" pitchFamily="34" charset="0"/>
              </a:rPr>
              <a:t>配置 </a:t>
            </a:r>
            <a:r>
              <a:rPr lang="en-US" altLang="zh-CN" dirty="0" smtClean="0">
                <a:sym typeface="Huawei Sans" panose="020C0503030203020204" pitchFamily="34" charset="0"/>
              </a:rPr>
              <a:t>(Schema)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446088" y="1259462"/>
            <a:ext cx="7450025" cy="4708981"/>
            <a:chOff x="446088" y="1259462"/>
            <a:chExt cx="7450025" cy="4708981"/>
          </a:xfrm>
        </p:grpSpPr>
        <p:sp>
          <p:nvSpPr>
            <p:cNvPr id="19" name="矩形 18"/>
            <p:cNvSpPr/>
            <p:nvPr/>
          </p:nvSpPr>
          <p:spPr bwMode="gray">
            <a:xfrm>
              <a:off x="446088" y="1259462"/>
              <a:ext cx="7450025" cy="4708981"/>
            </a:xfrm>
            <a:prstGeom prst="rect">
              <a:avLst/>
            </a:prstGeom>
            <a:noFill/>
            <a:ln>
              <a:solidFill>
                <a:srgbClr val="94DAE2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&lt;?xml version="1.0" encoding="UTF-8"?&gt;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rpc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xmlns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="urn:ietf:params:xml:ns:netconf:base:1.0" message-id="801"&gt;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&lt;edit-</a:t>
              </a:r>
              <a:r>
                <a:rPr lang="en-US" altLang="zh-CN" sz="1200" b="1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</a:t>
              </a:r>
              <a:r>
                <a:rPr lang="en-US" altLang="zh-CN" sz="12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&lt;target&gt;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&lt;</a:t>
              </a:r>
              <a:r>
                <a:rPr lang="en-US" altLang="zh-CN" sz="12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running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/&gt;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&lt;/target&gt;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&lt;default-operation&gt;</a:t>
              </a:r>
              <a:r>
                <a:rPr lang="en-US" altLang="zh-CN" sz="12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merge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&lt;/default-operation&gt;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&lt;error-option&gt;rollback-on-error&lt;/error-option&gt;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  <a:r>
                <a:rPr lang="en-US" altLang="zh-CN" sz="1200" b="1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xmlns</a:t>
              </a:r>
              <a:r>
                <a:rPr lang="en-US" altLang="zh-CN" sz="1200" b="1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="http://www.huawei.com/netconf/vrp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" content-version="1.0" format-version="1.0"&gt;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vlans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operation="merge"&gt;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vlanId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&gt;10&lt;/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vlanId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    &lt;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vlanType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&gt;common&lt;/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vlanType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  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  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vlans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  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vlan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  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&lt;/edit-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config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&lt;/</a:t>
              </a:r>
              <a:r>
                <a:rPr lang="en-US" altLang="zh-CN" sz="1200" kern="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rpc</a:t>
              </a:r>
              <a:r>
                <a:rPr lang="en-US" altLang="zh-CN" sz="1200" kern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&gt;</a:t>
              </a:r>
              <a:endPara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 bwMode="gray">
            <a:xfrm>
              <a:off x="570155" y="3142620"/>
              <a:ext cx="7229140" cy="2268479"/>
            </a:xfrm>
            <a:prstGeom prst="rect">
              <a:avLst/>
            </a:prstGeom>
            <a:noFill/>
            <a:ln w="28575">
              <a:solidFill>
                <a:srgbClr val="30B5C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1" name="圆角矩形 20"/>
          <p:cNvSpPr/>
          <p:nvPr/>
        </p:nvSpPr>
        <p:spPr bwMode="gray">
          <a:xfrm>
            <a:off x="4099505" y="4633330"/>
            <a:ext cx="3652629" cy="318615"/>
          </a:xfrm>
          <a:prstGeom prst="roundRect">
            <a:avLst>
              <a:gd name="adj" fmla="val 15000"/>
            </a:avLst>
          </a:prstGeom>
          <a:solidFill>
            <a:srgbClr val="56C4D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请求：创建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ID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的普通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占位符 3"/>
          <p:cNvSpPr txBox="1"/>
          <p:nvPr/>
        </p:nvSpPr>
        <p:spPr bwMode="gray">
          <a:xfrm>
            <a:off x="8140994" y="1277617"/>
            <a:ext cx="3603997" cy="3668712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本例中同样为创建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VLAN 10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的例子，但是内容为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Sechma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方式。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更推荐使用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HUAWEI-YANG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。其具有更完整的支持特性。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五边形 24"/>
          <p:cNvSpPr/>
          <p:nvPr/>
        </p:nvSpPr>
        <p:spPr bwMode="gray">
          <a:xfrm>
            <a:off x="8841344" y="124239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燕尾形 25"/>
          <p:cNvSpPr/>
          <p:nvPr/>
        </p:nvSpPr>
        <p:spPr bwMode="gray">
          <a:xfrm>
            <a:off x="954966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燕尾形 26"/>
          <p:cNvSpPr/>
          <p:nvPr/>
        </p:nvSpPr>
        <p:spPr bwMode="gray">
          <a:xfrm>
            <a:off x="10257982" y="124239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燕尾形 27"/>
          <p:cNvSpPr/>
          <p:nvPr/>
        </p:nvSpPr>
        <p:spPr bwMode="gray">
          <a:xfrm>
            <a:off x="10966300" y="124239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配置介绍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551384" y="1228151"/>
            <a:ext cx="11089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进入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视图。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gray">
          <a:xfrm>
            <a:off x="1031917" y="2068249"/>
            <a:ext cx="10608699" cy="377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系统视图下输入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，进入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视图。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gray">
          <a:xfrm>
            <a:off x="551384" y="2569687"/>
            <a:ext cx="11089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服务端口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号。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1031917" y="3386338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830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端口号上使能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 bwMode="gray">
          <a:xfrm>
            <a:off x="551384" y="3923853"/>
            <a:ext cx="11089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使能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功能。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1031917" y="4741845"/>
            <a:ext cx="106086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 22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端口号上使能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fontAlgn="auto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snetconf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server enable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 inbound 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port 830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都可以使能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功能。如果这两个命令都配置，表示客户端可以使用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端口号或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830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端口号与服务器建立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fontAlgn="auto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NETCONF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SSH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作为承载协议。在使用前必须配置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SSH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1031916" y="1672330"/>
            <a:ext cx="1060869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[Huawei]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1031917" y="3016236"/>
            <a:ext cx="1060869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-netconf</a:t>
            </a:r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]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protocol inbound ssh port 830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1031915" y="4325956"/>
            <a:ext cx="1060869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[Huawei] </a:t>
            </a:r>
            <a:r>
              <a:rPr lang="en-US" altLang="zh-CN" sz="1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snetconf server enable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网络管理技术背景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YANG</a:t>
            </a:r>
            <a:r>
              <a:rPr lang="zh-CN" altLang="en-US" b="1" dirty="0" smtClean="0">
                <a:sym typeface="Huawei Sans" panose="020C0503030203020204" pitchFamily="34" charset="0"/>
              </a:rPr>
              <a:t>建模语言</a:t>
            </a:r>
            <a:endParaRPr lang="en-US" altLang="zh-CN" b="1" dirty="0" smtClean="0"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RESTCONF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的起源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/>
              <a:t>虽然</a:t>
            </a:r>
            <a:r>
              <a:rPr lang="en-US" altLang="zh-CN" sz="1800" dirty="0"/>
              <a:t>NETCONF</a:t>
            </a:r>
            <a:r>
              <a:rPr lang="zh-CN" altLang="en-US" sz="1800" dirty="0"/>
              <a:t>协议标准化，但是却没有对数据内容标准化。如何描述一个数据？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5" name="圆角矩形 75"/>
          <p:cNvSpPr/>
          <p:nvPr/>
        </p:nvSpPr>
        <p:spPr bwMode="gray">
          <a:xfrm>
            <a:off x="7602865" y="1596681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EC7061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endParaRPr lang="zh-CN" altLang="en-US" sz="18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2626725" y="1596681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30B5C5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会话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75"/>
          <p:cNvSpPr/>
          <p:nvPr/>
        </p:nvSpPr>
        <p:spPr bwMode="gray">
          <a:xfrm>
            <a:off x="5114795" y="1596681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30B5C5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流程图: 联系 14"/>
          <p:cNvSpPr/>
          <p:nvPr/>
        </p:nvSpPr>
        <p:spPr bwMode="gray">
          <a:xfrm>
            <a:off x="5139299" y="4053588"/>
            <a:ext cx="1151311" cy="1151311"/>
          </a:xfrm>
          <a:prstGeom prst="flowChartConnector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圆角矩形 10"/>
          <p:cNvSpPr/>
          <p:nvPr/>
        </p:nvSpPr>
        <p:spPr bwMode="gray">
          <a:xfrm>
            <a:off x="6939499" y="3822351"/>
            <a:ext cx="2043304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数据结构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圆角矩形 12"/>
          <p:cNvSpPr/>
          <p:nvPr/>
        </p:nvSpPr>
        <p:spPr bwMode="gray">
          <a:xfrm>
            <a:off x="6939499" y="4405613"/>
            <a:ext cx="2065768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数据完整性约束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圆角矩形 13"/>
          <p:cNvSpPr/>
          <p:nvPr/>
        </p:nvSpPr>
        <p:spPr bwMode="gray">
          <a:xfrm>
            <a:off x="6939499" y="4988875"/>
            <a:ext cx="2065768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数据操作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梯形 16"/>
          <p:cNvSpPr/>
          <p:nvPr/>
        </p:nvSpPr>
        <p:spPr bwMode="gray">
          <a:xfrm rot="16200000">
            <a:off x="5786043" y="4403464"/>
            <a:ext cx="1635482" cy="473254"/>
          </a:xfrm>
          <a:prstGeom prst="trapezoid">
            <a:avLst>
              <a:gd name="adj" fmla="val 95750"/>
            </a:avLst>
          </a:prstGeom>
          <a:gradFill flip="none" rotWithShape="1">
            <a:gsLst>
              <a:gs pos="0">
                <a:srgbClr val="94DAE2"/>
              </a:gs>
              <a:gs pos="100000">
                <a:schemeClr val="bg1"/>
              </a:gs>
              <a:gs pos="67000">
                <a:srgbClr val="BEE9E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7407153" y="5555477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三要素</a:t>
            </a:r>
            <a:endParaRPr lang="zh-CN" altLang="en-US" sz="1600" b="0" i="0" dirty="0">
              <a:solidFill>
                <a:srgbClr val="00000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圆角矩形 27"/>
          <p:cNvSpPr/>
          <p:nvPr/>
        </p:nvSpPr>
        <p:spPr bwMode="gray">
          <a:xfrm>
            <a:off x="1380266" y="3822351"/>
            <a:ext cx="3051416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比较直观地模拟现实世界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圆角矩形 28"/>
          <p:cNvSpPr/>
          <p:nvPr/>
        </p:nvSpPr>
        <p:spPr bwMode="gray">
          <a:xfrm>
            <a:off x="1380266" y="4405613"/>
            <a:ext cx="3073880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容易人类理解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圆角矩形 29"/>
          <p:cNvSpPr/>
          <p:nvPr/>
        </p:nvSpPr>
        <p:spPr bwMode="gray">
          <a:xfrm>
            <a:off x="1380266" y="4988875"/>
            <a:ext cx="3073880" cy="468957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便于计算机实现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2604402" y="5555477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要求</a:t>
            </a:r>
            <a:endParaRPr lang="zh-CN" altLang="en-US" sz="1600" b="0" i="0" dirty="0">
              <a:solidFill>
                <a:srgbClr val="000000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 bwMode="gray">
          <a:xfrm>
            <a:off x="9725347" y="4193833"/>
            <a:ext cx="19876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描述数据模型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需要一门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语言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！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右大括号 24"/>
          <p:cNvSpPr/>
          <p:nvPr/>
        </p:nvSpPr>
        <p:spPr bwMode="gray">
          <a:xfrm>
            <a:off x="9221291" y="3902096"/>
            <a:ext cx="504056" cy="1491466"/>
          </a:xfrm>
          <a:prstGeom prst="rightBrace">
            <a:avLst/>
          </a:prstGeom>
          <a:ln>
            <a:solidFill>
              <a:srgbClr val="EC706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25"/>
          <p:cNvSpPr/>
          <p:nvPr/>
        </p:nvSpPr>
        <p:spPr bwMode="gray">
          <a:xfrm>
            <a:off x="2800921" y="2953283"/>
            <a:ext cx="6357257" cy="353943"/>
          </a:xfrm>
          <a:prstGeom prst="rect">
            <a:avLst/>
          </a:prstGeom>
          <a:solidFill>
            <a:srgbClr val="EC7061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7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数据模型（</a:t>
            </a:r>
            <a:r>
              <a:rPr lang="en-US" altLang="zh-CN" sz="17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 Model</a:t>
            </a:r>
            <a:r>
              <a:rPr lang="zh-CN" altLang="en-US" sz="17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）是对数据特征的抽象和表达。</a:t>
            </a:r>
            <a:endParaRPr lang="en-US" altLang="zh-CN" sz="17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梯形 29"/>
          <p:cNvSpPr/>
          <p:nvPr/>
        </p:nvSpPr>
        <p:spPr bwMode="gray">
          <a:xfrm rot="5400000">
            <a:off x="3976919" y="4460616"/>
            <a:ext cx="1635482" cy="473254"/>
          </a:xfrm>
          <a:prstGeom prst="trapezoid">
            <a:avLst>
              <a:gd name="adj" fmla="val 95750"/>
            </a:avLst>
          </a:prstGeom>
          <a:gradFill flip="none" rotWithShape="1">
            <a:gsLst>
              <a:gs pos="0">
                <a:srgbClr val="94DAE2"/>
              </a:gs>
              <a:gs pos="100000">
                <a:schemeClr val="bg1"/>
              </a:gs>
              <a:gs pos="67000">
                <a:srgbClr val="BEE9EE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3199437" y="1996215"/>
            <a:ext cx="406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√</a:t>
            </a:r>
            <a:endParaRPr lang="zh-CN" altLang="en-US" sz="2800" b="1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 bwMode="gray">
          <a:xfrm>
            <a:off x="8302760" y="1963253"/>
            <a:ext cx="406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mtClean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×</a:t>
            </a:r>
            <a:endParaRPr lang="zh-CN" altLang="en-US" sz="2800" b="1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 bwMode="gray">
          <a:xfrm>
            <a:off x="5842762" y="1963280"/>
            <a:ext cx="406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√</a:t>
            </a:r>
            <a:endParaRPr lang="zh-CN" altLang="en-US" sz="2800" b="1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占位符 3"/>
          <p:cNvSpPr txBox="1"/>
          <p:nvPr/>
        </p:nvSpPr>
        <p:spPr bwMode="gray">
          <a:xfrm>
            <a:off x="454982" y="933333"/>
            <a:ext cx="11276183" cy="4680000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语言概述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YANG</a:t>
            </a:r>
            <a:r>
              <a:rPr lang="zh-CN" altLang="en-US" sz="1800" dirty="0"/>
              <a:t>（</a:t>
            </a:r>
            <a:r>
              <a:rPr lang="en-US" altLang="zh-CN" sz="1800" dirty="0"/>
              <a:t>Yet Another Next Generation</a:t>
            </a:r>
            <a:r>
              <a:rPr lang="zh-CN" altLang="en-US" sz="1800" dirty="0"/>
              <a:t>）是一种数据建模语言。</a:t>
            </a:r>
            <a:endParaRPr lang="zh-CN" altLang="en-US" sz="1800" dirty="0"/>
          </a:p>
          <a:p>
            <a:r>
              <a:rPr lang="en-US" altLang="zh-CN" sz="1800" dirty="0"/>
              <a:t>YANG</a:t>
            </a:r>
            <a:r>
              <a:rPr lang="zh-CN" altLang="en-US" sz="1800" dirty="0"/>
              <a:t>模型定义了数据的层次化结构，可用于基于</a:t>
            </a:r>
            <a:r>
              <a:rPr lang="en-US" altLang="zh-CN" sz="1800" dirty="0"/>
              <a:t>NETCONF</a:t>
            </a:r>
            <a:r>
              <a:rPr lang="zh-CN" altLang="en-US" sz="1800" dirty="0"/>
              <a:t>的操作。建模对象包括配置、状态数据、远程过程调用和通知。它可以对</a:t>
            </a:r>
            <a:r>
              <a:rPr lang="en-US" altLang="zh-CN" sz="1800" dirty="0"/>
              <a:t>NETCONF</a:t>
            </a:r>
            <a:r>
              <a:rPr lang="zh-CN" altLang="en-US" sz="1800" dirty="0"/>
              <a:t>客户端和服务器端之间发送的所有数据进行一个完整的</a:t>
            </a:r>
            <a:r>
              <a:rPr lang="zh-CN" altLang="en-US" sz="1800"/>
              <a:t>描述</a:t>
            </a:r>
            <a:r>
              <a:rPr lang="zh-CN" altLang="en-US" sz="1800" smtClean="0"/>
              <a:t>。</a:t>
            </a:r>
            <a:r>
              <a:rPr lang="en-US" altLang="zh-CN" sz="1800" smtClean="0"/>
              <a:t>YANG</a:t>
            </a:r>
            <a:r>
              <a:rPr lang="zh-CN" altLang="en-US" sz="1800" smtClean="0"/>
              <a:t>有</a:t>
            </a:r>
            <a:r>
              <a:rPr lang="zh-CN" altLang="en-US" sz="1800" dirty="0"/>
              <a:t>以下特点：</a:t>
            </a:r>
            <a:endParaRPr lang="zh-CN" altLang="en-US" sz="1800" dirty="0"/>
          </a:p>
          <a:p>
            <a:pPr lvl="1"/>
            <a:r>
              <a:rPr lang="zh-CN" altLang="en-US" sz="1600" dirty="0"/>
              <a:t>基于层次化的树状结构建模。</a:t>
            </a:r>
            <a:endParaRPr lang="zh-CN" altLang="en-US" sz="1600" dirty="0"/>
          </a:p>
          <a:p>
            <a:pPr lvl="1"/>
            <a:r>
              <a:rPr lang="zh-CN" altLang="en-US" sz="1600" dirty="0"/>
              <a:t>数据模型以模块和子模块呈现。</a:t>
            </a:r>
            <a:endParaRPr lang="zh-CN" altLang="en-US" sz="1600" dirty="0"/>
          </a:p>
          <a:p>
            <a:pPr lvl="1"/>
            <a:r>
              <a:rPr lang="zh-CN" altLang="en-US" sz="1600" dirty="0"/>
              <a:t>可以和基于</a:t>
            </a:r>
            <a:r>
              <a:rPr lang="en-US" altLang="zh-CN" sz="1600" dirty="0"/>
              <a:t>XML</a:t>
            </a:r>
            <a:r>
              <a:rPr lang="zh-CN" altLang="en-US" sz="1600" dirty="0"/>
              <a:t>的语法的</a:t>
            </a:r>
            <a:r>
              <a:rPr lang="en-US" altLang="zh-CN" sz="1600" dirty="0"/>
              <a:t>YIN</a:t>
            </a:r>
            <a:r>
              <a:rPr lang="zh-CN" altLang="en-US" sz="1600" dirty="0"/>
              <a:t>（</a:t>
            </a:r>
            <a:r>
              <a:rPr lang="en-US" altLang="zh-CN" sz="1600" dirty="0"/>
              <a:t>YANG </a:t>
            </a:r>
            <a:r>
              <a:rPr lang="en-US" altLang="zh-CN" sz="1600" dirty="0" err="1"/>
              <a:t>Indepent</a:t>
            </a:r>
            <a:r>
              <a:rPr lang="en-US" altLang="zh-CN" sz="1600" dirty="0"/>
              <a:t> Notation</a:t>
            </a:r>
            <a:r>
              <a:rPr lang="zh-CN" altLang="en-US" sz="1600" dirty="0"/>
              <a:t>）模型无损转换。</a:t>
            </a:r>
            <a:endParaRPr lang="zh-CN" altLang="en-US" sz="1600" dirty="0"/>
          </a:p>
          <a:p>
            <a:pPr lvl="1"/>
            <a:r>
              <a:rPr lang="zh-CN" altLang="en-US" sz="1600" dirty="0"/>
              <a:t>定义内置的数据类型和允许可扩展类型。</a:t>
            </a:r>
            <a:endParaRPr lang="zh-CN" altLang="en-US" sz="1600" dirty="0"/>
          </a:p>
          <a:p>
            <a:endParaRPr lang="zh-CN" altLang="en-US" sz="1800" dirty="0"/>
          </a:p>
        </p:txBody>
      </p:sp>
      <p:sp>
        <p:nvSpPr>
          <p:cNvPr id="6" name="文本框 5"/>
          <p:cNvSpPr txBox="1"/>
          <p:nvPr/>
        </p:nvSpPr>
        <p:spPr bwMode="gray">
          <a:xfrm>
            <a:off x="842010" y="5167630"/>
            <a:ext cx="5170170" cy="478155"/>
          </a:xfrm>
          <a:prstGeom prst="rect">
            <a:avLst/>
          </a:prstGeom>
          <a:solidFill>
            <a:srgbClr val="BEE9EE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模型的最终呈现是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.yang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为后缀的文件。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Module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1805651"/>
            <a:ext cx="47320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702198" y="1319008"/>
            <a:ext cx="5393802" cy="4830126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module example-system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yang-version 1.1;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namespace "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urn:example:system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prefix "sys";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organization "Example Inc.";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contact "joe@example.com";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description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"The module for entities implementing the Example system.";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revision 2007-06-09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description "Initial revision.";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container system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leaf host-name {…}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contrainer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login{…}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container X {…}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gray">
          <a:xfrm>
            <a:off x="6096000" y="1339492"/>
            <a:ext cx="5653087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文件通常可以定义为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一个模块（</a:t>
            </a:r>
            <a:r>
              <a:rPr lang="en-US" altLang="zh-CN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module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或者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子模块（</a:t>
            </a:r>
            <a:r>
              <a:rPr lang="en-US" altLang="zh-CN" sz="1600" dirty="0" err="1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submodule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。模块和子模块都可以引用其他的模块模型文件，</a:t>
            </a:r>
            <a:r>
              <a:rPr lang="zh-CN" altLang="en-US" sz="1600" dirty="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通过该引用能够使用其他模块定义的数据类型和结构。</a:t>
            </a:r>
            <a:endParaRPr lang="en-US" altLang="zh-CN" sz="1600" dirty="0">
              <a:highlight>
                <a:srgbClr val="FFFF00"/>
              </a:highligh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模块包含多个申明，包括：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的版本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1.0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1.1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的命名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空间，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IETF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</a:t>
            </a:r>
            <a:r>
              <a:rPr lang="en-US" altLang="zh-CN" sz="160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Openconfig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YANG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机构信息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联系人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文件描述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2950" lvl="1" indent="-285750">
              <a:lnSpc>
                <a:spcPct val="140000"/>
              </a:lnSpc>
              <a:buFont typeface="Huawei Sans" panose="020C0503030203020204" pitchFamily="34" charset="0"/>
              <a:buChar char="▫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修订信息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Leaf Node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Leaf</a:t>
            </a:r>
            <a:r>
              <a:rPr lang="zh-CN" altLang="en-US" sz="1800" dirty="0"/>
              <a:t>节点用于定义</a:t>
            </a:r>
            <a:r>
              <a:rPr lang="zh-CN" altLang="en-US" sz="1800" dirty="0">
                <a:highlight>
                  <a:srgbClr val="FFFF00"/>
                </a:highlight>
              </a:rPr>
              <a:t>一个简单指定类型的变量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使用“</a:t>
            </a:r>
            <a:r>
              <a:rPr lang="en-US" altLang="zh-CN" sz="1800" dirty="0" smtClean="0"/>
              <a:t>leaf</a:t>
            </a:r>
            <a:r>
              <a:rPr lang="zh-CN" altLang="en-US" sz="1800" dirty="0" smtClean="0"/>
              <a:t>”关键字</a:t>
            </a:r>
            <a:r>
              <a:rPr lang="zh-CN" altLang="en-US" sz="1800" dirty="0"/>
              <a:t>申明。</a:t>
            </a:r>
            <a:endParaRPr lang="zh-CN" altLang="en-US" sz="1800" dirty="0"/>
          </a:p>
          <a:p>
            <a:r>
              <a:rPr lang="zh-CN" altLang="en-US" sz="1800" dirty="0"/>
              <a:t>在</a:t>
            </a:r>
            <a:r>
              <a:rPr lang="en-US" altLang="zh-CN" sz="1800" dirty="0"/>
              <a:t>Leaf</a:t>
            </a:r>
            <a:r>
              <a:rPr lang="zh-CN" altLang="en-US" sz="1800" dirty="0"/>
              <a:t>节点内有子声明和值，没有子节点。本例</a:t>
            </a:r>
            <a:r>
              <a:rPr lang="zh-CN" altLang="en-US" sz="1800" dirty="0" smtClean="0"/>
              <a:t>中“</a:t>
            </a:r>
            <a:r>
              <a:rPr lang="en-US" altLang="zh-CN" sz="1800" dirty="0" smtClean="0"/>
              <a:t>host-name</a:t>
            </a:r>
            <a:r>
              <a:rPr lang="zh-CN" altLang="en-US" sz="1800" dirty="0" smtClean="0"/>
              <a:t>”内</a:t>
            </a:r>
            <a:r>
              <a:rPr lang="zh-CN" altLang="en-US" sz="1800" dirty="0"/>
              <a:t>有两个子声明</a:t>
            </a:r>
            <a:r>
              <a:rPr lang="zh-CN" altLang="en-US" sz="1800" dirty="0" smtClean="0"/>
              <a:t>，“</a:t>
            </a:r>
            <a:r>
              <a:rPr lang="en-US" altLang="zh-CN" sz="1800" dirty="0" smtClean="0"/>
              <a:t>type</a:t>
            </a:r>
            <a:r>
              <a:rPr lang="zh-CN" altLang="en-US" sz="1800" dirty="0" smtClean="0"/>
              <a:t>”和“</a:t>
            </a:r>
            <a:r>
              <a:rPr lang="en-US" altLang="zh-CN" sz="1800" dirty="0" smtClean="0"/>
              <a:t>description</a:t>
            </a:r>
            <a:r>
              <a:rPr lang="zh-CN" altLang="en-US" sz="1800" dirty="0" smtClean="0"/>
              <a:t>”。</a:t>
            </a:r>
            <a:endParaRPr lang="zh-CN" altLang="en-US" sz="1800" dirty="0"/>
          </a:p>
          <a:p>
            <a:pPr lvl="1"/>
            <a:r>
              <a:rPr lang="zh-CN" altLang="en-US" sz="1600" dirty="0" smtClean="0"/>
              <a:t>“</a:t>
            </a:r>
            <a:r>
              <a:rPr lang="en-US" altLang="zh-CN" sz="1600" dirty="0" smtClean="0"/>
              <a:t>type</a:t>
            </a:r>
            <a:r>
              <a:rPr lang="zh-CN" altLang="en-US" sz="1600" dirty="0" smtClean="0"/>
              <a:t>”含义</a:t>
            </a:r>
            <a:r>
              <a:rPr lang="zh-CN" altLang="en-US" sz="1600" dirty="0"/>
              <a:t>为取值的类型，本例</a:t>
            </a:r>
            <a:r>
              <a:rPr lang="zh-CN" altLang="en-US" sz="1600" dirty="0" smtClean="0"/>
              <a:t>为“</a:t>
            </a:r>
            <a:r>
              <a:rPr lang="en-US" altLang="zh-CN" sz="1600" dirty="0" smtClean="0"/>
              <a:t>string</a:t>
            </a:r>
            <a:r>
              <a:rPr lang="zh-CN" altLang="en-US" sz="1600" dirty="0" smtClean="0"/>
              <a:t>”字符串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lvl="1"/>
            <a:r>
              <a:rPr lang="zh-CN" altLang="en-US" sz="1600" dirty="0" smtClean="0"/>
              <a:t>“</a:t>
            </a:r>
            <a:r>
              <a:rPr lang="en-US" altLang="zh-CN" sz="1600" dirty="0" smtClean="0"/>
              <a:t>description</a:t>
            </a:r>
            <a:r>
              <a:rPr lang="zh-CN" altLang="en-US" sz="1600" dirty="0" smtClean="0"/>
              <a:t>”含义</a:t>
            </a:r>
            <a:r>
              <a:rPr lang="zh-CN" altLang="en-US" sz="1600" dirty="0"/>
              <a:t>为描述。</a:t>
            </a:r>
            <a:endParaRPr lang="zh-CN" altLang="en-US" sz="1600" dirty="0"/>
          </a:p>
          <a:p>
            <a:endParaRPr lang="zh-CN" altLang="en-US" sz="1800" dirty="0"/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3928348"/>
            <a:ext cx="47320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1369553" y="4014929"/>
            <a:ext cx="3449255" cy="1527818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b="1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 </a:t>
            </a: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host-name {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type string;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description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"Hostname for this system.";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/>
          <p:nvPr/>
        </p:nvSpPr>
        <p:spPr bwMode="gray">
          <a:xfrm>
            <a:off x="6096000" y="4041844"/>
            <a:ext cx="4310330" cy="350544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&lt;host-name&gt;my.example.com&lt;/host-name&gt;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2163110" y="3495305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7209619" y="3495305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编码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占位符 3"/>
          <p:cNvSpPr txBox="1"/>
          <p:nvPr/>
        </p:nvSpPr>
        <p:spPr bwMode="gray">
          <a:xfrm>
            <a:off x="469900" y="1233488"/>
            <a:ext cx="10926233" cy="125940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Leaf List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Leaf List</a:t>
            </a:r>
            <a:r>
              <a:rPr lang="zh-CN" altLang="en-US" sz="1800" dirty="0"/>
              <a:t>用于定义</a:t>
            </a:r>
            <a:r>
              <a:rPr lang="zh-CN" altLang="en-US" sz="1800" dirty="0">
                <a:highlight>
                  <a:srgbClr val="FFFF00"/>
                </a:highlight>
              </a:rPr>
              <a:t>一个数组类型变量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使用“</a:t>
            </a:r>
            <a:r>
              <a:rPr lang="en-US" altLang="zh-CN" sz="1800" dirty="0" smtClean="0"/>
              <a:t>leaf-list</a:t>
            </a:r>
            <a:r>
              <a:rPr lang="zh-CN" altLang="en-US" sz="1800" dirty="0" smtClean="0"/>
              <a:t>”关键字</a:t>
            </a:r>
            <a:r>
              <a:rPr lang="zh-CN" altLang="en-US" sz="1800" dirty="0"/>
              <a:t>申明。</a:t>
            </a:r>
            <a:endParaRPr lang="zh-CN" altLang="en-US" sz="1800" dirty="0"/>
          </a:p>
          <a:p>
            <a:r>
              <a:rPr lang="zh-CN" altLang="en-US" sz="1800" dirty="0"/>
              <a:t>本例</a:t>
            </a:r>
            <a:r>
              <a:rPr lang="zh-CN" altLang="en-US" sz="1800" dirty="0" smtClean="0"/>
              <a:t>中“</a:t>
            </a:r>
            <a:r>
              <a:rPr lang="en-US" altLang="zh-CN" sz="1800" dirty="0" smtClean="0"/>
              <a:t>domain-search</a:t>
            </a:r>
            <a:r>
              <a:rPr lang="zh-CN" altLang="en-US" sz="1800" dirty="0" smtClean="0"/>
              <a:t>”内</a:t>
            </a:r>
            <a:r>
              <a:rPr lang="zh-CN" altLang="en-US" sz="1800" dirty="0"/>
              <a:t>有两个子声明</a:t>
            </a:r>
            <a:r>
              <a:rPr lang="zh-CN" altLang="en-US" sz="1800" dirty="0" smtClean="0"/>
              <a:t>，“</a:t>
            </a:r>
            <a:r>
              <a:rPr lang="en-US" altLang="zh-CN" sz="1800" dirty="0" smtClean="0"/>
              <a:t>type</a:t>
            </a:r>
            <a:r>
              <a:rPr lang="zh-CN" altLang="en-US" sz="1800" dirty="0" smtClean="0"/>
              <a:t>”和“</a:t>
            </a:r>
            <a:r>
              <a:rPr lang="en-US" altLang="zh-CN" sz="1800" dirty="0" smtClean="0"/>
              <a:t>description</a:t>
            </a:r>
            <a:r>
              <a:rPr lang="zh-CN" altLang="en-US" sz="1800" dirty="0" smtClean="0"/>
              <a:t>”。</a:t>
            </a:r>
            <a:endParaRPr lang="zh-CN" altLang="en-US" sz="1800" dirty="0"/>
          </a:p>
          <a:p>
            <a:pPr lvl="1"/>
            <a:r>
              <a:rPr lang="zh-CN" altLang="en-US" sz="1600" dirty="0" smtClean="0"/>
              <a:t>“</a:t>
            </a:r>
            <a:r>
              <a:rPr lang="en-US" altLang="zh-CN" sz="1600" dirty="0" smtClean="0"/>
              <a:t>type</a:t>
            </a:r>
            <a:r>
              <a:rPr lang="zh-CN" altLang="en-US" sz="1600" dirty="0" smtClean="0"/>
              <a:t>”含义</a:t>
            </a:r>
            <a:r>
              <a:rPr lang="zh-CN" altLang="en-US" sz="1600" dirty="0"/>
              <a:t>为取值的类型，本例</a:t>
            </a:r>
            <a:r>
              <a:rPr lang="zh-CN" altLang="en-US" sz="1600" dirty="0" smtClean="0"/>
              <a:t>为“</a:t>
            </a:r>
            <a:r>
              <a:rPr lang="en-US" altLang="zh-CN" sz="1600" dirty="0" smtClean="0"/>
              <a:t>string</a:t>
            </a:r>
            <a:r>
              <a:rPr lang="zh-CN" altLang="en-US" sz="1600" dirty="0" smtClean="0"/>
              <a:t>”字符串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lvl="1"/>
            <a:r>
              <a:rPr lang="zh-CN" altLang="en-US" sz="1600" dirty="0" smtClean="0"/>
              <a:t>“</a:t>
            </a:r>
            <a:r>
              <a:rPr lang="en-US" altLang="zh-CN" sz="1600" dirty="0" smtClean="0"/>
              <a:t>description</a:t>
            </a:r>
            <a:r>
              <a:rPr lang="zh-CN" altLang="en-US" sz="1600" dirty="0" smtClean="0"/>
              <a:t>”含义</a:t>
            </a:r>
            <a:r>
              <a:rPr lang="zh-CN" altLang="en-US" sz="1600" dirty="0"/>
              <a:t>为描述。</a:t>
            </a:r>
            <a:endParaRPr lang="zh-CN" altLang="en-US" sz="1600" dirty="0"/>
          </a:p>
          <a:p>
            <a:endParaRPr lang="zh-CN" altLang="en-US" sz="1800" dirty="0"/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3616621"/>
            <a:ext cx="473206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1308294" y="3825904"/>
            <a:ext cx="4201453" cy="1481519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leaf-list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domain-search {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type string;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description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"List of domain names to search.";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/>
          <p:nvPr/>
        </p:nvSpPr>
        <p:spPr bwMode="gray">
          <a:xfrm>
            <a:off x="6247160" y="3836681"/>
            <a:ext cx="5148973" cy="813039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&lt;domain-search&gt;high.example.com&lt;/domain-search&gt;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&lt;domain-search&gt;low.example.com&lt;/domain-search&gt;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&lt;domain-search&gt;everywhere.example.com&lt;/domain-search&gt;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2163110" y="3183578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7209619" y="3183578"/>
            <a:ext cx="1862142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编码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占位符 3"/>
          <p:cNvSpPr txBox="1"/>
          <p:nvPr/>
        </p:nvSpPr>
        <p:spPr bwMode="gray">
          <a:xfrm>
            <a:off x="469900" y="1233488"/>
            <a:ext cx="10926233" cy="125940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List Nodes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List</a:t>
            </a:r>
            <a:r>
              <a:rPr lang="zh-CN" altLang="en-US" sz="1800" dirty="0"/>
              <a:t>节点用于定义一个</a:t>
            </a:r>
            <a:r>
              <a:rPr lang="zh-CN" altLang="en-US" sz="1800" dirty="0">
                <a:highlight>
                  <a:srgbClr val="FFFF00"/>
                </a:highlight>
              </a:rPr>
              <a:t>更高层次的数据节点</a:t>
            </a:r>
            <a:r>
              <a:rPr lang="zh-CN" altLang="en-US" sz="1800" dirty="0"/>
              <a:t>。一个</a:t>
            </a:r>
            <a:r>
              <a:rPr lang="en-US" altLang="zh-CN" sz="1800" dirty="0"/>
              <a:t>List</a:t>
            </a:r>
            <a:r>
              <a:rPr lang="zh-CN" altLang="en-US" sz="1800" dirty="0"/>
              <a:t>节点</a:t>
            </a:r>
            <a:r>
              <a:rPr lang="zh-CN" altLang="en-US" sz="1800" dirty="0" smtClean="0"/>
              <a:t>使用“</a:t>
            </a:r>
            <a:r>
              <a:rPr lang="en-US" altLang="zh-CN" sz="1800" dirty="0" smtClean="0"/>
              <a:t>key</a:t>
            </a:r>
            <a:r>
              <a:rPr lang="zh-CN" altLang="en-US" sz="1800" dirty="0" smtClean="0"/>
              <a:t>”唯一</a:t>
            </a:r>
            <a:r>
              <a:rPr lang="zh-CN" altLang="en-US" sz="1800" dirty="0"/>
              <a:t>标识，可以包含多个</a:t>
            </a:r>
            <a:r>
              <a:rPr lang="en-US" altLang="zh-CN" sz="1800" dirty="0"/>
              <a:t>leaf</a:t>
            </a:r>
            <a:r>
              <a:rPr lang="zh-CN" altLang="en-US" sz="1800" dirty="0"/>
              <a:t>节点。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1948721"/>
            <a:ext cx="473206" cy="44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1516280" y="1948757"/>
            <a:ext cx="3367937" cy="3336308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b="1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list</a:t>
            </a: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user {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key "name";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name {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string;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full-name {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string;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class {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string;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/>
          <p:nvPr/>
        </p:nvSpPr>
        <p:spPr bwMode="gray">
          <a:xfrm>
            <a:off x="6631781" y="1949542"/>
            <a:ext cx="3750710" cy="4166065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&lt;user&gt;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&lt;name&gt;glocks&lt;/name&gt;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&lt;full-name&gt;Goldie Locks&lt;/full-name&gt;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&lt;class&gt;intruder&lt;/class&gt;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&lt;/user&gt;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&lt;user&gt;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&lt;name&gt;snowey&lt;/name&gt;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&lt;full-name&gt;Snow White&lt;/full-name&gt;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&lt;class&gt;free-loader&lt;/class&gt;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&lt;/user&gt;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&lt;user&gt;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&lt;name&gt;rzell&lt;/name&gt;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&lt;full-name&gt;Rapun Zell&lt;/full-name&gt;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&lt;class&gt;tower&lt;/class&gt;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&lt;/user&gt;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2163110" y="1557242"/>
            <a:ext cx="1862142" cy="300328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7209619" y="1557242"/>
            <a:ext cx="1862142" cy="300328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编码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占位符 3"/>
          <p:cNvSpPr txBox="1"/>
          <p:nvPr/>
        </p:nvSpPr>
        <p:spPr bwMode="gray">
          <a:xfrm>
            <a:off x="469900" y="1233488"/>
            <a:ext cx="10926233" cy="1259408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Container Nodes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1574645"/>
            <a:ext cx="47320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/>
          <p:nvPr/>
        </p:nvSpPr>
        <p:spPr bwMode="gray">
          <a:xfrm>
            <a:off x="6654930" y="1385453"/>
            <a:ext cx="3739136" cy="1357867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&lt;system&gt;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&lt;login&gt;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&lt;message&gt;Good morning&lt;/message&gt;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&lt;/login&gt;</a:t>
            </a:r>
            <a:endParaRPr lang="en-US" altLang="zh-CN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ker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&lt;/system&gt;</a:t>
            </a:r>
            <a:endParaRPr lang="zh-CN" altLang="en-US" sz="1400" ker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5"/>
          <p:cNvSpPr/>
          <p:nvPr/>
        </p:nvSpPr>
        <p:spPr bwMode="gray">
          <a:xfrm>
            <a:off x="2278857" y="1054040"/>
            <a:ext cx="1862142" cy="273591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模型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7292485" y="1057601"/>
            <a:ext cx="1862142" cy="27003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XML</a:t>
            </a:r>
            <a:r>
              <a:rPr lang="zh-CN" altLang="en-US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编码</a:t>
            </a:r>
            <a:endParaRPr lang="zh-CN" altLang="en-US" sz="18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983848" y="1385453"/>
            <a:ext cx="4780344" cy="4761691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system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container login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leaf message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type string;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description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"Message given at start of login session.";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list user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key "name";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leaf name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type string;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leaf full-name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type string;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leaf class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type string;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</a:t>
            </a:r>
            <a:r>
              <a:rPr lang="en-US" altLang="zh-CN" sz="12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}}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}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 bwMode="gray">
          <a:xfrm>
            <a:off x="6472990" y="3489603"/>
            <a:ext cx="4596064" cy="173469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40000"/>
              </a:lnSpc>
            </a:pP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587290" y="3637167"/>
            <a:ext cx="4367463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节点用于</a:t>
            </a:r>
            <a:r>
              <a:rPr lang="zh-CN" altLang="en-US" sz="1600">
                <a:highlight>
                  <a:srgbClr val="FFFF00"/>
                </a:highligh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定义更大范围的数据集合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                  </a:t>
            </a:r>
            <a:endParaRPr lang="en-US" altLang="zh-CN" sz="160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Contrainer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节点没有值，只有不同的子节点。这些子节点可以是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container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leaf-list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list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等节点。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</a:t>
            </a:r>
            <a:r>
              <a:rPr lang="en-US" altLang="zh-CN" dirty="0" smtClean="0">
                <a:sym typeface="Huawei Sans" panose="020C0503030203020204" pitchFamily="34" charset="0"/>
              </a:rPr>
              <a:t>Grouping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Grouping</a:t>
            </a:r>
            <a:r>
              <a:rPr lang="zh-CN" altLang="en-US" sz="1800" dirty="0"/>
              <a:t>用于定义可以重复使用的节点，一般和</a:t>
            </a:r>
            <a:r>
              <a:rPr lang="en-US" altLang="zh-CN" sz="1800" dirty="0"/>
              <a:t>uses</a:t>
            </a:r>
            <a:r>
              <a:rPr lang="zh-CN" altLang="en-US" sz="1800" dirty="0"/>
              <a:t>一起使用。本例中</a:t>
            </a:r>
            <a:r>
              <a:rPr lang="en-US" altLang="zh-CN" sz="1800" dirty="0"/>
              <a:t>target</a:t>
            </a:r>
            <a:r>
              <a:rPr lang="zh-CN" altLang="en-US" sz="1800" dirty="0"/>
              <a:t>定义了</a:t>
            </a:r>
            <a:r>
              <a:rPr lang="en-US" altLang="zh-CN" sz="1800" dirty="0"/>
              <a:t>leaf address</a:t>
            </a:r>
            <a:r>
              <a:rPr lang="zh-CN" altLang="en-US" sz="1800" dirty="0"/>
              <a:t>和</a:t>
            </a:r>
            <a:r>
              <a:rPr lang="en-US" altLang="zh-CN" sz="1800" dirty="0"/>
              <a:t>port</a:t>
            </a:r>
            <a:r>
              <a:rPr lang="zh-CN" altLang="en-US" sz="1800" dirty="0"/>
              <a:t>。</a:t>
            </a:r>
            <a:r>
              <a:rPr lang="en-US" altLang="zh-CN" sz="1800" dirty="0"/>
              <a:t>Container peer</a:t>
            </a:r>
            <a:r>
              <a:rPr lang="zh-CN" altLang="en-US" sz="1800" dirty="0"/>
              <a:t>中声明</a:t>
            </a:r>
            <a:r>
              <a:rPr lang="en-US" altLang="zh-CN" sz="1800" dirty="0"/>
              <a:t>use target</a:t>
            </a:r>
            <a:r>
              <a:rPr lang="zh-CN" altLang="en-US" sz="1800" dirty="0"/>
              <a:t>，表示复用此</a:t>
            </a:r>
            <a:r>
              <a:rPr lang="en-US" altLang="zh-CN" sz="1800" dirty="0"/>
              <a:t>leaf</a:t>
            </a:r>
            <a:r>
              <a:rPr lang="zh-CN" altLang="en-US" sz="1800" dirty="0"/>
              <a:t>模型。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3" name="文本占位符 3"/>
          <p:cNvSpPr txBox="1"/>
          <p:nvPr/>
        </p:nvSpPr>
        <p:spPr bwMode="gray">
          <a:xfrm>
            <a:off x="1906139" y="1992480"/>
            <a:ext cx="5153170" cy="3801132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grouping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target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address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inet:ip-address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description "Target IP address.";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port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inet:port-number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description "Target port number.";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container </a:t>
            </a:r>
            <a:r>
              <a:rPr lang="fr-FR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</a:t>
            </a: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{</a:t>
            </a:r>
            <a:endParaRPr lang="fr-FR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container destination {</a:t>
            </a:r>
            <a:endParaRPr lang="fr-FR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</a:t>
            </a:r>
            <a:r>
              <a:rPr lang="fr-FR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uses</a:t>
            </a: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fr-FR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target</a:t>
            </a: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  <a:endParaRPr lang="fr-FR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fr-FR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fr-FR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文件：配置数据和状态数据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YANG</a:t>
            </a:r>
            <a:r>
              <a:rPr lang="zh-CN" altLang="en-US" sz="1800" dirty="0"/>
              <a:t>文件可以申明数据类型。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4" name="文本框 3"/>
          <p:cNvSpPr txBox="1"/>
          <p:nvPr/>
        </p:nvSpPr>
        <p:spPr bwMode="gray">
          <a:xfrm>
            <a:off x="1689904" y="1574645"/>
            <a:ext cx="473206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470152" y="1493781"/>
            <a:ext cx="5393802" cy="4644931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list interface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key "name";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</a:t>
            </a:r>
            <a:r>
              <a:rPr lang="en-US" altLang="zh-CN" sz="1200" b="1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true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name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string;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speed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enumeration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enum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10m;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enum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100m;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enum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auto;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leaf observed-speed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type uint32;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</a:t>
            </a:r>
            <a:r>
              <a:rPr lang="en-US" altLang="zh-CN" sz="1200" b="1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false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}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 bwMode="gray">
          <a:xfrm>
            <a:off x="6244389" y="1493781"/>
            <a:ext cx="4508397" cy="173469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6C4D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1">
              <a:lnSpc>
                <a:spcPct val="140000"/>
              </a:lnSpc>
            </a:pP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5863954" y="1697354"/>
            <a:ext cx="4888832" cy="1327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40000"/>
              </a:lnSpc>
            </a:pPr>
            <a:r>
              <a:rPr lang="en-US" altLang="zh-CN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“config”</a:t>
            </a:r>
            <a:r>
              <a:rPr lang="zh-CN" altLang="en-US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声明用于区分配置数据</a:t>
            </a:r>
            <a:r>
              <a:rPr lang="zh-CN" altLang="en-US" sz="17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和状态</a:t>
            </a:r>
            <a:r>
              <a:rPr lang="zh-CN" altLang="en-US" sz="17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数据：</a:t>
            </a:r>
            <a:endParaRPr lang="zh-CN" altLang="en-US" sz="17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095375" lvl="2" indent="-285750" defTabSz="913765">
              <a:lnSpc>
                <a:spcPct val="140000"/>
              </a:lnSpc>
              <a:spcBef>
                <a:spcPts val="720"/>
              </a:spcBef>
              <a:buFont typeface="Huawei Sans" panose="020C0503030203020204" pitchFamily="34" charset="0"/>
              <a:buChar char="▫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 true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表示配置数据。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095375" lvl="2" indent="-285750" defTabSz="913765">
              <a:lnSpc>
                <a:spcPct val="140000"/>
              </a:lnSpc>
              <a:spcBef>
                <a:spcPts val="720"/>
              </a:spcBef>
              <a:buFont typeface="Huawei Sans" panose="020C0503030203020204" pitchFamily="34" charset="0"/>
              <a:buChar char="▫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 false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表示状态数据。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认识</a:t>
            </a:r>
            <a:r>
              <a:rPr lang="en-US" altLang="zh-CN" dirty="0" smtClean="0"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ym typeface="Huawei Sans" panose="020C0503030203020204" pitchFamily="34" charset="0"/>
              </a:rPr>
              <a:t>文件：数据类型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YANG</a:t>
            </a:r>
            <a:r>
              <a:rPr lang="zh-CN" altLang="en-US" sz="1800" dirty="0"/>
              <a:t>模型支持内置默认的数据类型和扩展的数据类型</a:t>
            </a:r>
            <a:r>
              <a:rPr lang="zh-CN" altLang="en-US" sz="1800" dirty="0" smtClean="0"/>
              <a:t>。“</a:t>
            </a:r>
            <a:r>
              <a:rPr lang="en-US" altLang="zh-CN" sz="1800" dirty="0" err="1" smtClean="0"/>
              <a:t>typedef</a:t>
            </a:r>
            <a:r>
              <a:rPr lang="zh-CN" altLang="en-US" sz="1800" dirty="0" smtClean="0"/>
              <a:t>”申明</a:t>
            </a:r>
            <a:r>
              <a:rPr lang="zh-CN" altLang="en-US" sz="1800" dirty="0"/>
              <a:t>用于新定义扩展数据类型。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5" name="文本占位符 3"/>
          <p:cNvSpPr txBox="1"/>
          <p:nvPr/>
        </p:nvSpPr>
        <p:spPr bwMode="gray">
          <a:xfrm>
            <a:off x="7468025" y="1857713"/>
            <a:ext cx="2925310" cy="2314717"/>
          </a:xfrm>
          <a:prstGeom prst="rect">
            <a:avLst/>
          </a:prstGeom>
          <a:noFill/>
          <a:ln w="9525">
            <a:solidFill>
              <a:srgbClr val="94DAE2"/>
            </a:solidFill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1625" indent="-301625" algn="just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  <a:lvl2pPr marL="654050" indent="-2527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755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2130" indent="-201930" algn="l" defTabSz="802005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3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5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7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930" indent="-201930" algn="l" defTabSz="802005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200" kern="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typedef</a:t>
            </a: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percent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type uint8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range "0 .. 100";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leaf completed {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type percent;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}</a:t>
            </a:r>
            <a:endParaRPr lang="zh-CN" altLang="en-US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344217" y="1834770"/>
          <a:ext cx="5056584" cy="3937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15001"/>
                <a:gridCol w="30415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 Name 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 Description 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/>
                        <a:t> binary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bits 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</a:t>
                      </a:r>
                      <a:r>
                        <a:rPr lang="en-US" altLang="zh-CN" sz="1200" dirty="0" err="1" smtClean="0"/>
                        <a:t>boolean</a:t>
                      </a:r>
                      <a:r>
                        <a:rPr lang="en-US" altLang="zh-CN" sz="1200" dirty="0" smtClean="0"/>
                        <a:t>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decimal64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empty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enumeration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</a:t>
                      </a:r>
                      <a:r>
                        <a:rPr lang="en-US" altLang="zh-CN" sz="1200" dirty="0" err="1" smtClean="0"/>
                        <a:t>identityref</a:t>
                      </a:r>
                      <a:r>
                        <a:rPr lang="en-US" altLang="zh-CN" sz="1200" dirty="0" smtClean="0"/>
                        <a:t>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instance-identifier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int8 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int16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int32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int64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</a:t>
                      </a:r>
                      <a:r>
                        <a:rPr lang="en-US" altLang="zh-CN" sz="1200" dirty="0" err="1" smtClean="0"/>
                        <a:t>leafref</a:t>
                      </a:r>
                      <a:r>
                        <a:rPr lang="en-US" altLang="zh-CN" sz="1200" dirty="0" smtClean="0"/>
                        <a:t>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string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uint8 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uint16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uint32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uint64              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en-US" altLang="zh-CN" sz="1200" dirty="0" smtClean="0"/>
                        <a:t> union </a:t>
                      </a:r>
                      <a:endParaRPr lang="zh-CN" altLang="en-US" sz="12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/>
                        <a:t> Any binary data      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A set of bits or flags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"true" or "false"    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64-bit signed decimal number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A leaf that does not have any value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Enumerated strings   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A reference to an abstract identity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References a data tree node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8-bit signed integer 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16-bit signed integer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32-bit signed integer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64-bit signed integer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A reference to a leaf instance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Human-readable string 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8-bit unsigned integer 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16-bit unsigned integer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32-bit unsigned integer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64-bit unsigned integer             </a:t>
                      </a:r>
                      <a:endParaRPr lang="en-US" altLang="zh-CN" sz="1200" dirty="0" smtClean="0"/>
                    </a:p>
                    <a:p>
                      <a:pPr algn="l"/>
                      <a:r>
                        <a:rPr lang="en-US" altLang="zh-CN" sz="1200" dirty="0" smtClean="0"/>
                        <a:t> Choice of member types 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FAQ</a:t>
            </a:r>
            <a:r>
              <a:rPr lang="zh-CN" altLang="en-US" smtClean="0">
                <a:sym typeface="Huawei Sans" panose="020C0503030203020204" pitchFamily="34" charset="0"/>
              </a:rPr>
              <a:t>：如何加载</a:t>
            </a:r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模型？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/>
              <a:t>在</a:t>
            </a:r>
            <a:r>
              <a:rPr lang="en-US" altLang="zh-CN" sz="1800" dirty="0"/>
              <a:t>NETCONF</a:t>
            </a:r>
            <a:r>
              <a:rPr lang="zh-CN" altLang="en-US" sz="1800" dirty="0"/>
              <a:t>客户端（例如网管平台</a:t>
            </a:r>
            <a:r>
              <a:rPr lang="en-US" altLang="zh-CN" sz="1800" dirty="0"/>
              <a:t>/SDN</a:t>
            </a:r>
            <a:r>
              <a:rPr lang="zh-CN" altLang="en-US" sz="1800" dirty="0"/>
              <a:t>控制器）加载</a:t>
            </a:r>
            <a:r>
              <a:rPr lang="en-US" altLang="zh-CN" sz="1800" dirty="0"/>
              <a:t>YANG</a:t>
            </a:r>
            <a:r>
              <a:rPr lang="zh-CN" altLang="en-US" sz="1800" dirty="0"/>
              <a:t>文件。通过工具实现</a:t>
            </a:r>
            <a:r>
              <a:rPr lang="en-US" altLang="zh-CN" sz="1800" dirty="0"/>
              <a:t>YANG</a:t>
            </a:r>
            <a:r>
              <a:rPr lang="zh-CN" altLang="en-US" sz="1800" dirty="0"/>
              <a:t>文件转换为</a:t>
            </a:r>
            <a:r>
              <a:rPr lang="en-US" altLang="zh-CN" sz="1800" dirty="0"/>
              <a:t>NETCONF</a:t>
            </a:r>
            <a:r>
              <a:rPr lang="zh-CN" altLang="en-US" sz="1800" dirty="0"/>
              <a:t>消息下发到设备。</a:t>
            </a: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90" name="矩形 89"/>
          <p:cNvSpPr/>
          <p:nvPr/>
        </p:nvSpPr>
        <p:spPr bwMode="gray">
          <a:xfrm>
            <a:off x="6435095" y="3113737"/>
            <a:ext cx="10038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TextBox 187"/>
          <p:cNvSpPr txBox="1">
            <a:spLocks noChangeArrowheads="1"/>
          </p:cNvSpPr>
          <p:nvPr/>
        </p:nvSpPr>
        <p:spPr bwMode="gray">
          <a:xfrm>
            <a:off x="1488174" y="2152517"/>
            <a:ext cx="4307691" cy="3749708"/>
          </a:xfrm>
          <a:prstGeom prst="rect">
            <a:avLst/>
          </a:prstGeom>
          <a:noFill/>
          <a:ln w="12700">
            <a:solidFill>
              <a:srgbClr val="30B5C5"/>
            </a:solidFill>
            <a:miter lim="800000"/>
          </a:ln>
        </p:spPr>
        <p:txBody>
          <a:bodyPr wrap="square" lIns="121944" tIns="60972" rIns="121944" bIns="60972">
            <a:no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圆柱形 9"/>
          <p:cNvSpPr/>
          <p:nvPr/>
        </p:nvSpPr>
        <p:spPr bwMode="gray">
          <a:xfrm>
            <a:off x="1718757" y="4633099"/>
            <a:ext cx="3846526" cy="1138293"/>
          </a:xfrm>
          <a:prstGeom prst="can">
            <a:avLst/>
          </a:prstGeom>
          <a:solidFill>
            <a:srgbClr val="FFC000"/>
          </a:solidFill>
          <a:ln>
            <a:solidFill>
              <a:srgbClr val="FFF2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圆角矩形 75"/>
          <p:cNvSpPr/>
          <p:nvPr/>
        </p:nvSpPr>
        <p:spPr bwMode="gray">
          <a:xfrm>
            <a:off x="2478440" y="2414373"/>
            <a:ext cx="2274033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 YANG</a:t>
            </a:r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圆角矩形 75"/>
          <p:cNvSpPr/>
          <p:nvPr/>
        </p:nvSpPr>
        <p:spPr bwMode="gray">
          <a:xfrm>
            <a:off x="2478440" y="2970871"/>
            <a:ext cx="2274033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IETF YANG</a:t>
            </a:r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圆角矩形 75"/>
          <p:cNvSpPr/>
          <p:nvPr/>
        </p:nvSpPr>
        <p:spPr bwMode="gray">
          <a:xfrm>
            <a:off x="2478440" y="3527369"/>
            <a:ext cx="2274033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OpenConfig YANG</a:t>
            </a:r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圆角矩形 75"/>
          <p:cNvSpPr/>
          <p:nvPr/>
        </p:nvSpPr>
        <p:spPr bwMode="gray">
          <a:xfrm>
            <a:off x="2478440" y="4083867"/>
            <a:ext cx="2274033" cy="394020"/>
          </a:xfrm>
          <a:prstGeom prst="roundRect">
            <a:avLst>
              <a:gd name="adj" fmla="val 10604"/>
            </a:avLst>
          </a:prstGeom>
          <a:solidFill>
            <a:srgbClr val="56C4D2"/>
          </a:solidFill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 Schema</a:t>
            </a:r>
            <a:endParaRPr lang="zh-CN" altLang="en-US" sz="16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7471069" y="3040658"/>
            <a:ext cx="2804680" cy="1631579"/>
            <a:chOff x="8196815" y="2472649"/>
            <a:chExt cx="2804680" cy="1631579"/>
          </a:xfrm>
        </p:grpSpPr>
        <p:sp>
          <p:nvSpPr>
            <p:cNvPr id="55" name="竖卷形 127"/>
            <p:cNvSpPr/>
            <p:nvPr/>
          </p:nvSpPr>
          <p:spPr bwMode="gray">
            <a:xfrm>
              <a:off x="8803873" y="2472649"/>
              <a:ext cx="859767" cy="564026"/>
            </a:xfrm>
            <a:prstGeom prst="verticalScroll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8BC9A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YANG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矩形 43"/>
            <p:cNvSpPr/>
            <p:nvPr/>
          </p:nvSpPr>
          <p:spPr bwMode="gray">
            <a:xfrm>
              <a:off x="9233756" y="3120808"/>
              <a:ext cx="17677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YANG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文件翻译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94" name="图片 93" descr="PC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8336957" y="2938323"/>
              <a:ext cx="734410" cy="564026"/>
            </a:xfrm>
            <a:prstGeom prst="rect">
              <a:avLst/>
            </a:prstGeom>
          </p:spPr>
        </p:pic>
        <p:sp>
          <p:nvSpPr>
            <p:cNvPr id="98" name="矩形 97"/>
            <p:cNvSpPr/>
            <p:nvPr/>
          </p:nvSpPr>
          <p:spPr bwMode="gray">
            <a:xfrm>
              <a:off x="8196815" y="3765674"/>
              <a:ext cx="24878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管理平台</a:t>
              </a:r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/SDN</a:t>
              </a:r>
              <a:r>
                <a:rPr lang="zh-CN" altLang="en-US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控制器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2" name="矩形 21"/>
          <p:cNvSpPr/>
          <p:nvPr/>
        </p:nvSpPr>
        <p:spPr bwMode="gray">
          <a:xfrm>
            <a:off x="1918999" y="5051325"/>
            <a:ext cx="934578" cy="530599"/>
          </a:xfrm>
          <a:prstGeom prst="rect">
            <a:avLst/>
          </a:prstGeom>
          <a:solidFill>
            <a:srgbClr val="FFD17D"/>
          </a:solidFill>
          <a:ln w="12700" cap="flat" cmpd="sng" algn="ctr">
            <a:solidFill>
              <a:srgbClr val="FFF2C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table1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3084160" y="5066012"/>
            <a:ext cx="934578" cy="530599"/>
          </a:xfrm>
          <a:prstGeom prst="rect">
            <a:avLst/>
          </a:prstGeom>
          <a:solidFill>
            <a:srgbClr val="FFD17D"/>
          </a:solidFill>
          <a:ln w="12700" cap="flat" cmpd="sng" algn="ctr">
            <a:solidFill>
              <a:srgbClr val="FFF2C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table2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 bwMode="gray">
          <a:xfrm>
            <a:off x="4298075" y="5051325"/>
            <a:ext cx="934578" cy="530599"/>
          </a:xfrm>
          <a:prstGeom prst="rect">
            <a:avLst/>
          </a:prstGeom>
          <a:solidFill>
            <a:srgbClr val="FFD17D"/>
          </a:solidFill>
          <a:ln w="12700" cap="flat" cmpd="sng" algn="ctr">
            <a:solidFill>
              <a:srgbClr val="FFF2C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tableN…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Right Arrow 157"/>
          <p:cNvSpPr/>
          <p:nvPr/>
        </p:nvSpPr>
        <p:spPr bwMode="gray">
          <a:xfrm rot="10800000">
            <a:off x="6248874" y="3503615"/>
            <a:ext cx="1091433" cy="600631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94DAE2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56C4D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网络管理技术背景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NETCONF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协议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YANG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建模语言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smtClean="0">
                <a:sym typeface="Huawei Sans" panose="020C0503030203020204" pitchFamily="34" charset="0"/>
              </a:rPr>
              <a:t>RESTCONF</a:t>
            </a:r>
            <a:r>
              <a:rPr lang="zh-CN" altLang="en-US" b="1" dirty="0" smtClean="0">
                <a:sym typeface="Huawei Sans" panose="020C0503030203020204" pitchFamily="34" charset="0"/>
              </a:rPr>
              <a:t>协议</a:t>
            </a:r>
            <a:endParaRPr lang="en-US" altLang="zh-CN" b="1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起源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/>
              <a:t>2000</a:t>
            </a:r>
            <a:r>
              <a:rPr lang="zh-CN" altLang="en-US" sz="1800" dirty="0"/>
              <a:t>年，</a:t>
            </a:r>
            <a:r>
              <a:rPr lang="en-US" altLang="zh-CN" sz="1800" dirty="0"/>
              <a:t>Roy Thomas Fielding</a:t>
            </a:r>
            <a:r>
              <a:rPr lang="zh-CN" altLang="en-US" sz="1800" dirty="0"/>
              <a:t>发布的博士论文（</a:t>
            </a:r>
            <a:r>
              <a:rPr lang="en-US" altLang="zh-CN" sz="1800" dirty="0"/>
              <a:t>"Architectural Styles and the Design of Network-based Software Architectures"</a:t>
            </a:r>
            <a:r>
              <a:rPr lang="zh-CN" altLang="en-US" sz="1800" dirty="0"/>
              <a:t>）定义</a:t>
            </a:r>
            <a:r>
              <a:rPr lang="en-US" altLang="zh-CN" sz="1800" dirty="0"/>
              <a:t>REST</a:t>
            </a:r>
            <a:r>
              <a:rPr lang="zh-CN" altLang="en-US" sz="1800" dirty="0"/>
              <a:t>风格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r>
              <a:rPr lang="en-US" altLang="zh-CN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REST</a:t>
            </a:r>
            <a:r>
              <a:rPr lang="zh-CN" altLang="en-US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Representational State </a:t>
            </a:r>
            <a:r>
              <a:rPr lang="en-US" altLang="zh-CN" sz="1800" kern="0" dirty="0" smtClean="0">
                <a:cs typeface="宋体" panose="02010600030101010101" pitchFamily="2" charset="-122"/>
                <a:sym typeface="Huawei Sans" panose="020C0503030203020204" pitchFamily="34" charset="0"/>
              </a:rPr>
              <a:t>Transfer</a:t>
            </a:r>
            <a:r>
              <a:rPr lang="zh-CN" altLang="en-US" sz="1800" kern="0" dirty="0" smtClean="0">
                <a:cs typeface="宋体" panose="02010600030101010101" pitchFamily="2" charset="-122"/>
                <a:sym typeface="Huawei Sans" panose="020C0503030203020204" pitchFamily="34" charset="0"/>
              </a:rPr>
              <a:t>，</a:t>
            </a:r>
            <a:r>
              <a:rPr lang="zh-CN" altLang="en-US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表述性状态转化）</a:t>
            </a:r>
            <a:r>
              <a:rPr lang="zh-CN" altLang="zh-CN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资源在网络中以某种表现形式进行状态转</a:t>
            </a:r>
            <a:r>
              <a:rPr lang="zh-CN" altLang="en-US" sz="1800" kern="0" dirty="0">
                <a:cs typeface="宋体" panose="02010600030101010101" pitchFamily="2" charset="-122"/>
                <a:sym typeface="Huawei Sans" panose="020C0503030203020204" pitchFamily="34" charset="0"/>
              </a:rPr>
              <a:t>化</a:t>
            </a:r>
            <a:endParaRPr lang="en-US" altLang="zh-CN" sz="1800" kern="0" dirty="0">
              <a:cs typeface="宋体" panose="02010600030101010101" pitchFamily="2" charset="-122"/>
              <a:sym typeface="Huawei Sans" panose="020C0503030203020204" pitchFamily="34" charset="0"/>
            </a:endParaRPr>
          </a:p>
          <a:p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7" name="矩形 6"/>
          <p:cNvSpPr/>
          <p:nvPr/>
        </p:nvSpPr>
        <p:spPr bwMode="gray">
          <a:xfrm>
            <a:off x="446088" y="1268892"/>
            <a:ext cx="5649912" cy="574968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+mj-cs"/>
              <a:sym typeface="Huawei Sans" panose="020C0503030203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 bwMode="gray">
          <a:xfrm>
            <a:off x="4278637" y="3668094"/>
            <a:ext cx="4418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：客户端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交互框架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3487658" y="2962214"/>
            <a:ext cx="1087238" cy="338554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资源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5267075" y="2976077"/>
            <a:ext cx="1220842" cy="338554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表现层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 bwMode="gray">
          <a:xfrm>
            <a:off x="7083008" y="2962214"/>
            <a:ext cx="1410240" cy="338554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</a:t>
            </a:r>
            <a:r>
              <a:rPr lang="zh-CN" altLang="en-US" sz="16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转化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6487917" y="1532328"/>
            <a:ext cx="5131751" cy="574968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</a:pP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 bwMode="gray">
          <a:xfrm>
            <a:off x="3699025" y="4284326"/>
            <a:ext cx="4215997" cy="760585"/>
            <a:chOff x="3418511" y="5152419"/>
            <a:chExt cx="5054044" cy="911773"/>
          </a:xfrm>
        </p:grpSpPr>
        <p:pic>
          <p:nvPicPr>
            <p:cNvPr id="31" name="图片 30" descr="PC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7664449" y="5443567"/>
              <a:ext cx="808106" cy="620625"/>
            </a:xfrm>
            <a:prstGeom prst="rect">
              <a:avLst/>
            </a:prstGeom>
          </p:spPr>
        </p:pic>
        <p:cxnSp>
          <p:nvCxnSpPr>
            <p:cNvPr id="32" name="直接箭头连接符 31"/>
            <p:cNvCxnSpPr/>
            <p:nvPr/>
          </p:nvCxnSpPr>
          <p:spPr bwMode="gray">
            <a:xfrm flipH="1">
              <a:off x="5176179" y="5753880"/>
              <a:ext cx="2365609" cy="0"/>
            </a:xfrm>
            <a:prstGeom prst="straightConnector1">
              <a:avLst/>
            </a:prstGeom>
            <a:ln w="57150">
              <a:solidFill>
                <a:srgbClr val="56C4D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 bwMode="gray">
            <a:xfrm>
              <a:off x="5130345" y="5152419"/>
              <a:ext cx="3137961" cy="498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GET/POST/PUT/DELETE</a:t>
              </a:r>
              <a:endPara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Freeform 159"/>
            <p:cNvSpPr/>
            <p:nvPr/>
          </p:nvSpPr>
          <p:spPr bwMode="gray">
            <a:xfrm flipH="1">
              <a:off x="3418511" y="5248649"/>
              <a:ext cx="1541357" cy="80571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 bwMode="gray">
            <a:xfrm>
              <a:off x="3801379" y="5495104"/>
              <a:ext cx="2305029" cy="55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API</a:t>
              </a:r>
              <a:endParaRPr lang="en-US" altLang="zh-CN" sz="2400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概述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285750" indent="-285750"/>
            <a:r>
              <a:rPr lang="en-US" altLang="zh-CN" sz="1600" dirty="0">
                <a:sym typeface="Huawei Sans" panose="020C0503030203020204" pitchFamily="34" charset="0"/>
              </a:rPr>
              <a:t>RESTCONF</a:t>
            </a:r>
            <a:r>
              <a:rPr lang="zh-CN" altLang="en-US" sz="1600" dirty="0">
                <a:sym typeface="Huawei Sans" panose="020C0503030203020204" pitchFamily="34" charset="0"/>
              </a:rPr>
              <a:t>允许</a:t>
            </a:r>
            <a:r>
              <a:rPr lang="en-US" altLang="zh-CN" sz="1600" dirty="0">
                <a:sym typeface="Huawei Sans" panose="020C0503030203020204" pitchFamily="34" charset="0"/>
              </a:rPr>
              <a:t>Web</a:t>
            </a:r>
            <a:r>
              <a:rPr lang="zh-CN" altLang="en-US" sz="1600" dirty="0">
                <a:sym typeface="Huawei Sans" panose="020C0503030203020204" pitchFamily="34" charset="0"/>
              </a:rPr>
              <a:t>应用以一种模块化、可扩展的方式访问网络设备的配置数据、状态数据和事件通知。有以下特点：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742950" lvl="1" indent="-285750"/>
            <a:r>
              <a:rPr lang="en-US" altLang="zh-CN" sz="1400" dirty="0">
                <a:sym typeface="Huawei Sans" panose="020C0503030203020204" pitchFamily="34" charset="0"/>
              </a:rPr>
              <a:t>RESTCONF</a:t>
            </a:r>
            <a:r>
              <a:rPr lang="zh-CN" altLang="en-US" sz="1400" dirty="0">
                <a:sym typeface="Huawei Sans" panose="020C0503030203020204" pitchFamily="34" charset="0"/>
              </a:rPr>
              <a:t>使用</a:t>
            </a:r>
            <a:r>
              <a:rPr lang="en-US" altLang="zh-CN" sz="1400" dirty="0">
                <a:sym typeface="Huawei Sans" panose="020C0503030203020204" pitchFamily="34" charset="0"/>
              </a:rPr>
              <a:t>HTTP</a:t>
            </a:r>
            <a:r>
              <a:rPr lang="zh-CN" altLang="en-US" sz="1400" dirty="0">
                <a:sym typeface="Huawei Sans" panose="020C0503030203020204" pitchFamily="34" charset="0"/>
              </a:rPr>
              <a:t>的方法对设备</a:t>
            </a:r>
            <a:r>
              <a:rPr lang="en-US" altLang="zh-CN" sz="1400" dirty="0">
                <a:sym typeface="Huawei Sans" panose="020C0503030203020204" pitchFamily="34" charset="0"/>
              </a:rPr>
              <a:t>YANG</a:t>
            </a:r>
            <a:r>
              <a:rPr lang="zh-CN" altLang="en-US" sz="1400" dirty="0">
                <a:sym typeface="Huawei Sans" panose="020C0503030203020204" pitchFamily="34" charset="0"/>
              </a:rPr>
              <a:t>定义的数据进行操作（</a:t>
            </a:r>
            <a:r>
              <a:rPr lang="en-US" altLang="zh-CN" sz="1400" dirty="0">
                <a:sym typeface="Huawei Sans" panose="020C0503030203020204" pitchFamily="34" charset="0"/>
              </a:rPr>
              <a:t>CRUD</a:t>
            </a:r>
            <a:r>
              <a:rPr lang="zh-CN" altLang="en-US" sz="1400" dirty="0">
                <a:sym typeface="Huawei Sans" panose="020C0503030203020204" pitchFamily="34" charset="0"/>
              </a:rPr>
              <a:t>）。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742950" lvl="1" indent="-285750"/>
            <a:r>
              <a:rPr lang="zh-CN" altLang="en-US" sz="1400" dirty="0">
                <a:sym typeface="Huawei Sans" panose="020C0503030203020204" pitchFamily="34" charset="0"/>
              </a:rPr>
              <a:t>设备</a:t>
            </a:r>
            <a:r>
              <a:rPr lang="en-US" altLang="zh-CN" sz="1400" dirty="0">
                <a:sym typeface="Huawei Sans" panose="020C0503030203020204" pitchFamily="34" charset="0"/>
              </a:rPr>
              <a:t>NETCONF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RESTCONF</a:t>
            </a:r>
            <a:r>
              <a:rPr lang="zh-CN" altLang="en-US" sz="1400" dirty="0">
                <a:sym typeface="Huawei Sans" panose="020C0503030203020204" pitchFamily="34" charset="0"/>
              </a:rPr>
              <a:t>可以</a:t>
            </a:r>
            <a:r>
              <a:rPr lang="zh-CN" altLang="en-US" sz="1400" dirty="0" smtClean="0">
                <a:sym typeface="Huawei Sans" panose="020C0503030203020204" pitchFamily="34" charset="0"/>
              </a:rPr>
              <a:t>共享</a:t>
            </a:r>
            <a:r>
              <a:rPr lang="en-US" altLang="zh-CN" sz="1400" dirty="0" smtClean="0">
                <a:sym typeface="Huawei Sans" panose="020C0503030203020204" pitchFamily="34" charset="0"/>
              </a:rPr>
              <a:t>YANG</a:t>
            </a:r>
            <a:r>
              <a:rPr lang="zh-CN" altLang="en-US" sz="1400" dirty="0">
                <a:sym typeface="Huawei Sans" panose="020C0503030203020204" pitchFamily="34" charset="0"/>
              </a:rPr>
              <a:t>文件。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742950" lvl="1" indent="-285750"/>
            <a:r>
              <a:rPr lang="zh-CN" altLang="en-US" sz="1400" dirty="0">
                <a:sym typeface="Huawei Sans" panose="020C0503030203020204" pitchFamily="34" charset="0"/>
              </a:rPr>
              <a:t>数据编码格式支持</a:t>
            </a:r>
            <a:r>
              <a:rPr lang="en-US" altLang="zh-CN" sz="1400" dirty="0">
                <a:sym typeface="Huawei Sans" panose="020C0503030203020204" pitchFamily="34" charset="0"/>
              </a:rPr>
              <a:t>XML</a:t>
            </a:r>
            <a:r>
              <a:rPr lang="zh-CN" altLang="en-US" sz="1400" dirty="0">
                <a:sym typeface="Huawei Sans" panose="020C0503030203020204" pitchFamily="34" charset="0"/>
              </a:rPr>
              <a:t>或者</a:t>
            </a:r>
            <a:r>
              <a:rPr lang="en-US" altLang="zh-CN" sz="1400" dirty="0">
                <a:sym typeface="Huawei Sans" panose="020C0503030203020204" pitchFamily="34" charset="0"/>
              </a:rPr>
              <a:t>JSON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endParaRPr lang="zh-CN" altLang="en-US" sz="2000" dirty="0"/>
          </a:p>
        </p:txBody>
      </p:sp>
      <p:grpSp>
        <p:nvGrpSpPr>
          <p:cNvPr id="37" name="组合 36"/>
          <p:cNvGrpSpPr/>
          <p:nvPr/>
        </p:nvGrpSpPr>
        <p:grpSpPr bwMode="gray">
          <a:xfrm>
            <a:off x="1048331" y="3133424"/>
            <a:ext cx="2955680" cy="1314056"/>
            <a:chOff x="1334725" y="2081648"/>
            <a:chExt cx="2955680" cy="1314056"/>
          </a:xfrm>
        </p:grpSpPr>
        <p:grpSp>
          <p:nvGrpSpPr>
            <p:cNvPr id="5" name="组合 4"/>
            <p:cNvGrpSpPr/>
            <p:nvPr/>
          </p:nvGrpSpPr>
          <p:grpSpPr bwMode="gray">
            <a:xfrm>
              <a:off x="2550040" y="2081648"/>
              <a:ext cx="1740365" cy="1314056"/>
              <a:chOff x="5029012" y="5445224"/>
              <a:chExt cx="1760841" cy="1314056"/>
            </a:xfrm>
          </p:grpSpPr>
          <p:sp>
            <p:nvSpPr>
              <p:cNvPr id="29" name="矩形 28"/>
              <p:cNvSpPr/>
              <p:nvPr/>
            </p:nvSpPr>
            <p:spPr bwMode="gray">
              <a:xfrm>
                <a:off x="5029012" y="5445224"/>
                <a:ext cx="1760841" cy="1314056"/>
              </a:xfrm>
              <a:prstGeom prst="rect">
                <a:avLst/>
              </a:prstGeom>
              <a:solidFill>
                <a:srgbClr val="BEE9E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 bwMode="gray">
              <a:xfrm>
                <a:off x="5189354" y="5604940"/>
                <a:ext cx="1511727" cy="36004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56C4D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YANG</a:t>
                </a:r>
                <a:endParaRPr kumimoji="0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 bwMode="gray">
              <a:xfrm>
                <a:off x="5279385" y="6124697"/>
                <a:ext cx="1308222" cy="365658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r>
                  <a:rPr lang="en-US" altLang="zh-CN" b="1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DataStore</a:t>
                </a:r>
                <a:endParaRPr lang="zh-CN" altLang="en-US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pic>
          <p:nvPicPr>
            <p:cNvPr id="6" name="图片 5" descr="接入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 bwMode="gray">
            <a:xfrm>
              <a:off x="2136783" y="2459690"/>
              <a:ext cx="540000" cy="441818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 bwMode="gray">
            <a:xfrm>
              <a:off x="1334725" y="2513158"/>
              <a:ext cx="856992" cy="334881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sz="16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Device </a:t>
              </a:r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4" name="文本框 23"/>
          <p:cNvSpPr txBox="1"/>
          <p:nvPr/>
        </p:nvSpPr>
        <p:spPr bwMode="gray">
          <a:xfrm>
            <a:off x="4766751" y="3004411"/>
            <a:ext cx="1411626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 bwMode="gray">
          <a:xfrm>
            <a:off x="6754827" y="3133425"/>
            <a:ext cx="3929214" cy="1314056"/>
            <a:chOff x="6229634" y="2481978"/>
            <a:chExt cx="3929214" cy="1314056"/>
          </a:xfrm>
        </p:grpSpPr>
        <p:grpSp>
          <p:nvGrpSpPr>
            <p:cNvPr id="33" name="组合 32"/>
            <p:cNvGrpSpPr/>
            <p:nvPr/>
          </p:nvGrpSpPr>
          <p:grpSpPr bwMode="gray">
            <a:xfrm>
              <a:off x="7697942" y="2481978"/>
              <a:ext cx="2460906" cy="1314056"/>
              <a:chOff x="5659396" y="1580603"/>
              <a:chExt cx="2460906" cy="1314056"/>
            </a:xfrm>
          </p:grpSpPr>
          <p:sp>
            <p:nvSpPr>
              <p:cNvPr id="12" name="矩形 11"/>
              <p:cNvSpPr/>
              <p:nvPr/>
            </p:nvSpPr>
            <p:spPr bwMode="gray">
              <a:xfrm>
                <a:off x="5659396" y="1580603"/>
                <a:ext cx="2460906" cy="1314056"/>
              </a:xfrm>
              <a:prstGeom prst="rect">
                <a:avLst/>
              </a:prstGeom>
              <a:solidFill>
                <a:srgbClr val="BEE9EE"/>
              </a:solidFill>
              <a:ln w="9525" cap="flat" cmpd="sng" algn="ctr">
                <a:solidFill>
                  <a:srgbClr val="94DAE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defTabSz="914400" fontAlgn="t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0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7" name="图片 16" descr="大型网管-蓝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 bwMode="gray">
              <a:xfrm>
                <a:off x="6104387" y="1964399"/>
                <a:ext cx="540000" cy="441818"/>
              </a:xfrm>
              <a:prstGeom prst="rect">
                <a:avLst/>
              </a:prstGeom>
            </p:spPr>
          </p:pic>
          <p:pic>
            <p:nvPicPr>
              <p:cNvPr id="18" name="图片 17" descr="交换机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 bwMode="gray">
              <a:xfrm>
                <a:off x="7134012" y="1964399"/>
                <a:ext cx="539997" cy="441815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 bwMode="gray">
              <a:xfrm>
                <a:off x="5995591" y="2489070"/>
                <a:ext cx="895464" cy="3041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管理平台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 bwMode="gray">
              <a:xfrm>
                <a:off x="6953992" y="2489070"/>
                <a:ext cx="1079810" cy="304103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r>
                  <a:rPr lang="en-US" altLang="zh-CN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SDN</a:t>
                </a:r>
                <a:r>
                  <a:rPr lang="zh-CN" altLang="en-US" sz="140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控制器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23" name="矩形: 圆角 22"/>
            <p:cNvSpPr/>
            <p:nvPr/>
          </p:nvSpPr>
          <p:spPr bwMode="gray">
            <a:xfrm>
              <a:off x="6229634" y="2684204"/>
              <a:ext cx="1740366" cy="324036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rgbClr val="56C4D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NETCONF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Client</a:t>
              </a:r>
              <a:endPara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矩形: 圆角 33"/>
            <p:cNvSpPr/>
            <p:nvPr/>
          </p:nvSpPr>
          <p:spPr bwMode="gray">
            <a:xfrm>
              <a:off x="6229634" y="3276480"/>
              <a:ext cx="1740366" cy="324036"/>
            </a:xfrm>
            <a:prstGeom prst="roundRect">
              <a:avLst/>
            </a:prstGeom>
            <a:solidFill>
              <a:srgbClr val="FFF2CC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Web APP</a:t>
              </a:r>
              <a:endParaRPr kumimoji="0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8" name="箭头: 左右 37"/>
          <p:cNvSpPr/>
          <p:nvPr/>
        </p:nvSpPr>
        <p:spPr bwMode="gray">
          <a:xfrm>
            <a:off x="4330959" y="3363276"/>
            <a:ext cx="2107240" cy="324036"/>
          </a:xfrm>
          <a:prstGeom prst="leftRightArrow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箭头: 左右 38"/>
          <p:cNvSpPr/>
          <p:nvPr/>
        </p:nvSpPr>
        <p:spPr bwMode="gray">
          <a:xfrm>
            <a:off x="4330959" y="3922108"/>
            <a:ext cx="2064074" cy="281161"/>
          </a:xfrm>
          <a:prstGeom prst="leftRightArrow">
            <a:avLst/>
          </a:prstGeom>
          <a:solidFill>
            <a:srgbClr val="FFF2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4742037" y="4214538"/>
            <a:ext cx="3456384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2422123" y="4991256"/>
            <a:ext cx="6695002" cy="444609"/>
          </a:xfrm>
          <a:prstGeom prst="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较于</a:t>
            </a:r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，使用了不同的操作方法和数据编码。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ight Arrow 157"/>
          <p:cNvSpPr/>
          <p:nvPr/>
        </p:nvSpPr>
        <p:spPr bwMode="gray">
          <a:xfrm rot="10800000">
            <a:off x="6140221" y="3483626"/>
            <a:ext cx="647343" cy="35624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94DAE2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与</a:t>
            </a:r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对比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285750" indent="-285750"/>
            <a:r>
              <a:rPr lang="en-US" altLang="zh-CN" sz="1800" dirty="0">
                <a:sym typeface="Huawei Sans" panose="020C0503030203020204" pitchFamily="34" charset="0"/>
              </a:rPr>
              <a:t>NETCONF</a:t>
            </a:r>
            <a:r>
              <a:rPr lang="zh-CN" altLang="en-US" sz="1800" dirty="0">
                <a:sym typeface="Huawei Sans" panose="020C0503030203020204" pitchFamily="34" charset="0"/>
              </a:rPr>
              <a:t>操作设备多个配置库，有事务机制，有回滚。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marL="285750" indent="-285750"/>
            <a:r>
              <a:rPr lang="en-US" altLang="zh-CN" sz="1800" dirty="0">
                <a:sym typeface="Huawei Sans" panose="020C0503030203020204" pitchFamily="34" charset="0"/>
              </a:rPr>
              <a:t>RESTCONF</a:t>
            </a:r>
            <a:r>
              <a:rPr lang="zh-CN" altLang="en-US" sz="1800" dirty="0">
                <a:sym typeface="Huawei Sans" panose="020C0503030203020204" pitchFamily="34" charset="0"/>
              </a:rPr>
              <a:t>使用</a:t>
            </a:r>
            <a:r>
              <a:rPr lang="en-US" altLang="zh-CN" sz="1800" dirty="0">
                <a:sym typeface="Huawei Sans" panose="020C0503030203020204" pitchFamily="34" charset="0"/>
              </a:rPr>
              <a:t>HTTP</a:t>
            </a:r>
            <a:r>
              <a:rPr lang="zh-CN" altLang="en-US" sz="1800" dirty="0">
                <a:sym typeface="Huawei Sans" panose="020C0503030203020204" pitchFamily="34" charset="0"/>
              </a:rPr>
              <a:t>的操作，无状态，无事务机制，无回滚。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/>
          </a:p>
        </p:txBody>
      </p:sp>
      <p:sp>
        <p:nvSpPr>
          <p:cNvPr id="3" name="圆角矩形 18"/>
          <p:cNvSpPr/>
          <p:nvPr/>
        </p:nvSpPr>
        <p:spPr bwMode="gray">
          <a:xfrm>
            <a:off x="1546858" y="2833530"/>
            <a:ext cx="2094608" cy="465334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(XML)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19"/>
          <p:cNvSpPr/>
          <p:nvPr/>
        </p:nvSpPr>
        <p:spPr bwMode="gray">
          <a:xfrm>
            <a:off x="542559" y="2831587"/>
            <a:ext cx="931090" cy="459526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内容层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20"/>
          <p:cNvSpPr/>
          <p:nvPr/>
        </p:nvSpPr>
        <p:spPr bwMode="gray">
          <a:xfrm>
            <a:off x="3690990" y="3429524"/>
            <a:ext cx="2306153" cy="465334"/>
          </a:xfrm>
          <a:prstGeom prst="roundRect">
            <a:avLst/>
          </a:prstGeom>
          <a:solidFill>
            <a:srgbClr val="8BC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GET, POST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PUT, PATCH, DELETE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21"/>
          <p:cNvSpPr/>
          <p:nvPr/>
        </p:nvSpPr>
        <p:spPr bwMode="gray">
          <a:xfrm>
            <a:off x="561199" y="3431984"/>
            <a:ext cx="931090" cy="459526"/>
          </a:xfrm>
          <a:prstGeom prst="roundRect">
            <a:avLst/>
          </a:prstGeom>
          <a:solidFill>
            <a:srgbClr val="8BC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操作层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23"/>
          <p:cNvSpPr/>
          <p:nvPr/>
        </p:nvSpPr>
        <p:spPr bwMode="gray">
          <a:xfrm>
            <a:off x="560511" y="4032381"/>
            <a:ext cx="931090" cy="459526"/>
          </a:xfrm>
          <a:prstGeom prst="roundRect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消息层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25"/>
          <p:cNvSpPr/>
          <p:nvPr/>
        </p:nvSpPr>
        <p:spPr bwMode="gray">
          <a:xfrm>
            <a:off x="563953" y="4598910"/>
            <a:ext cx="931090" cy="459526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传输层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26"/>
          <p:cNvSpPr/>
          <p:nvPr/>
        </p:nvSpPr>
        <p:spPr bwMode="gray">
          <a:xfrm>
            <a:off x="3709837" y="2830450"/>
            <a:ext cx="2306153" cy="465334"/>
          </a:xfrm>
          <a:prstGeom prst="roundRect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(XML/JSON)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圆角矩形 27"/>
          <p:cNvSpPr/>
          <p:nvPr/>
        </p:nvSpPr>
        <p:spPr bwMode="gray">
          <a:xfrm>
            <a:off x="1546858" y="3429524"/>
            <a:ext cx="2094608" cy="465334"/>
          </a:xfrm>
          <a:prstGeom prst="roundRect">
            <a:avLst/>
          </a:prstGeom>
          <a:solidFill>
            <a:srgbClr val="8BC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&lt;get&gt;, &lt;get-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&lt;edit-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config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28"/>
          <p:cNvSpPr/>
          <p:nvPr/>
        </p:nvSpPr>
        <p:spPr bwMode="gray">
          <a:xfrm>
            <a:off x="1546858" y="4036033"/>
            <a:ext cx="2094608" cy="465334"/>
          </a:xfrm>
          <a:prstGeom prst="roundRect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&gt;,&lt;</a:t>
            </a:r>
            <a:r>
              <a:rPr lang="en-US" altLang="zh-CN" sz="16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rpc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-reply&gt;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圆角矩形 29"/>
          <p:cNvSpPr/>
          <p:nvPr/>
        </p:nvSpPr>
        <p:spPr bwMode="gray">
          <a:xfrm>
            <a:off x="1546858" y="4595102"/>
            <a:ext cx="2094608" cy="465334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SSH over TCP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圆角矩形 30"/>
          <p:cNvSpPr/>
          <p:nvPr/>
        </p:nvSpPr>
        <p:spPr bwMode="gray">
          <a:xfrm>
            <a:off x="465025" y="3363808"/>
            <a:ext cx="5606261" cy="553437"/>
          </a:xfrm>
          <a:prstGeom prst="roundRect">
            <a:avLst/>
          </a:prstGeom>
          <a:noFill/>
          <a:ln>
            <a:solidFill>
              <a:srgbClr val="EC70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538037" y="2484458"/>
          <a:ext cx="5171036" cy="3169920"/>
        </p:xfrm>
        <a:graphic>
          <a:graphicData uri="http://schemas.openxmlformats.org/drawingml/2006/table">
            <a:tbl>
              <a:tblPr firstRow="1" bandRow="1"/>
              <a:tblGrid>
                <a:gridCol w="1303031"/>
                <a:gridCol w="3868005"/>
              </a:tblGrid>
              <a:tr h="30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RESTCONF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对应的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NETCONF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操作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GET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&lt;get-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&gt;, &lt;get&gt;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POST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&lt;edit-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(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nc:operation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="create")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invoke an RPC operation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PUT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&lt;edit-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(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nc:operation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="create/replace")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&lt;copy-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(PUT on 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datastore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)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PATCH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&lt;edit-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(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nc:operation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 depends on PATCH content)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0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DELETE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&lt;edit-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config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&gt; (</a:t>
                      </a:r>
                      <a:r>
                        <a:rPr lang="en-US" altLang="zh-CN" sz="16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nc:operation</a:t>
                      </a:r>
                      <a:r>
                        <a:rPr lang="en-US" altLang="zh-CN" sz="16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="delete")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 bwMode="gray">
          <a:xfrm>
            <a:off x="2034910" y="2442614"/>
            <a:ext cx="11528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4189617" y="2442614"/>
            <a:ext cx="1237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CONF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圆角矩形 24"/>
          <p:cNvSpPr/>
          <p:nvPr/>
        </p:nvSpPr>
        <p:spPr bwMode="gray">
          <a:xfrm>
            <a:off x="3690990" y="4053863"/>
            <a:ext cx="2306153" cy="1010381"/>
          </a:xfrm>
          <a:prstGeom prst="roundRect">
            <a:avLst/>
          </a:prstGeom>
          <a:solidFill>
            <a:srgbClr val="BEE9EE"/>
          </a:solidFill>
          <a:ln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TLS over TCP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smtClean="0">
                <a:sym typeface="Huawei Sans" panose="020C0503030203020204" pitchFamily="34" charset="0"/>
              </a:rPr>
              <a:t>一次典型的</a:t>
            </a:r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交互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marL="285750" indent="-285750"/>
            <a:r>
              <a:rPr lang="zh-CN" altLang="en-US" sz="1800" dirty="0">
                <a:sym typeface="Huawei Sans" panose="020C0503030203020204" pitchFamily="34" charset="0"/>
              </a:rPr>
              <a:t>一次完整的</a:t>
            </a:r>
            <a:r>
              <a:rPr lang="en-US" altLang="zh-CN" sz="1800" dirty="0">
                <a:sym typeface="Huawei Sans" panose="020C0503030203020204" pitchFamily="34" charset="0"/>
              </a:rPr>
              <a:t>RESTCONF</a:t>
            </a:r>
            <a:r>
              <a:rPr lang="zh-CN" altLang="en-US" sz="1800" dirty="0">
                <a:sym typeface="Huawei Sans" panose="020C0503030203020204" pitchFamily="34" charset="0"/>
              </a:rPr>
              <a:t>交互包含请求和响应。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marL="285750" indent="-285750"/>
            <a:r>
              <a:rPr lang="zh-CN" altLang="en-US" sz="1800" dirty="0">
                <a:sym typeface="Huawei Sans" panose="020C0503030203020204" pitchFamily="34" charset="0"/>
              </a:rPr>
              <a:t>本例客户端通过</a:t>
            </a:r>
            <a:r>
              <a:rPr lang="en-US" altLang="zh-CN" sz="1800" dirty="0"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sym typeface="Huawei Sans" panose="020C0503030203020204" pitchFamily="34" charset="0"/>
              </a:rPr>
              <a:t>方法获取设备支持的操作方法。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marL="285750" indent="-285750"/>
            <a:r>
              <a:rPr lang="zh-CN" altLang="en-US" sz="1800" dirty="0">
                <a:sym typeface="Huawei Sans" panose="020C0503030203020204" pitchFamily="34" charset="0"/>
              </a:rPr>
              <a:t>设备回复支持操作有：</a:t>
            </a:r>
            <a:r>
              <a:rPr lang="en-US" altLang="zh-CN" sz="1800" dirty="0" smtClean="0">
                <a:sym typeface="Huawei Sans" panose="020C0503030203020204" pitchFamily="34" charset="0"/>
              </a:rPr>
              <a:t>POST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DELETE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GET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HEAD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PATCH</a:t>
            </a:r>
            <a:r>
              <a:rPr lang="zh-CN" altLang="en-US" sz="1800" dirty="0" smtClean="0">
                <a:sym typeface="Huawei Sans" panose="020C0503030203020204" pitchFamily="34" charset="0"/>
              </a:rPr>
              <a:t>、</a:t>
            </a:r>
            <a:r>
              <a:rPr lang="en-US" altLang="zh-CN" sz="1800" dirty="0" smtClean="0"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/>
          </a:p>
        </p:txBody>
      </p:sp>
      <p:sp>
        <p:nvSpPr>
          <p:cNvPr id="25" name="文本框 24"/>
          <p:cNvSpPr txBox="1"/>
          <p:nvPr/>
        </p:nvSpPr>
        <p:spPr bwMode="gray">
          <a:xfrm>
            <a:off x="2614796" y="2929253"/>
            <a:ext cx="6695002" cy="437043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 /restconf/data/huawei-aaa:aaa/domains/domain HTTP/1.1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 bwMode="gray">
          <a:xfrm>
            <a:off x="2614796" y="4059420"/>
            <a:ext cx="6695002" cy="1471172"/>
          </a:xfrm>
          <a:prstGeom prst="rect">
            <a:avLst/>
          </a:prstGeom>
          <a:noFill/>
          <a:ln>
            <a:solidFill>
              <a:srgbClr val="94DAE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40000"/>
              </a:lnSpc>
              <a:defRPr sz="1600"/>
            </a:lvl1pPr>
          </a:lstStyle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HTTP/1.1 200 OK</a:t>
            </a:r>
            <a:endParaRPr lang="en-US" altLang="zh-CN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Accept-Patch: application/yang-data+xml, application/yang-data+json</a:t>
            </a:r>
            <a:endParaRPr lang="en-US" altLang="zh-CN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Allow: POST, DELETE, GET, HEAD, PATCH, OPTIONS</a:t>
            </a:r>
            <a:endParaRPr lang="en-US" altLang="zh-CN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Content-Length:0</a:t>
            </a:r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gray">
          <a:xfrm>
            <a:off x="4690736" y="2697164"/>
            <a:ext cx="1154019" cy="0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 bwMode="gray">
          <a:xfrm>
            <a:off x="6015756" y="2510324"/>
            <a:ext cx="1828412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6" name="直接箭头连接符 35"/>
          <p:cNvCxnSpPr/>
          <p:nvPr/>
        </p:nvCxnSpPr>
        <p:spPr bwMode="gray">
          <a:xfrm flipH="1">
            <a:off x="4628952" y="5674343"/>
            <a:ext cx="1213816" cy="4011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 bwMode="gray">
          <a:xfrm>
            <a:off x="6089908" y="5491514"/>
            <a:ext cx="1828412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901608" y="3678660"/>
            <a:ext cx="1203241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Web App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矩形: 圆角 9"/>
          <p:cNvSpPr/>
          <p:nvPr/>
        </p:nvSpPr>
        <p:spPr bwMode="gray">
          <a:xfrm>
            <a:off x="656800" y="3172149"/>
            <a:ext cx="1740366" cy="115888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 bwMode="gray">
          <a:xfrm>
            <a:off x="931977" y="3532456"/>
            <a:ext cx="1203241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Web App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23"/>
          <p:cNvSpPr/>
          <p:nvPr/>
        </p:nvSpPr>
        <p:spPr bwMode="gray">
          <a:xfrm>
            <a:off x="9639137" y="3111020"/>
            <a:ext cx="1740365" cy="1314056"/>
          </a:xfrm>
          <a:prstGeom prst="rect">
            <a:avLst/>
          </a:prstGeom>
          <a:solidFill>
            <a:srgbClr val="BEE9EE"/>
          </a:solidFill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: 圆角 29"/>
          <p:cNvSpPr/>
          <p:nvPr/>
        </p:nvSpPr>
        <p:spPr bwMode="gray">
          <a:xfrm>
            <a:off x="9777294" y="3270736"/>
            <a:ext cx="1494148" cy="36004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30B5C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defTabSz="914400" fontAlgn="t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9848438" y="3697451"/>
            <a:ext cx="1423004" cy="42506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30B5C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>
            <a:defPPr>
              <a:defRPr lang="en-US"/>
            </a:defPPr>
            <a:lvl1pPr marR="0" indent="0" algn="ctr" defTabSz="914400" fontAlgn="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400" b="0" i="0" u="none" strike="noStrike" cap="none" normalizeH="0" baseline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sz="1800" b="1" dirty="0" err="1">
                <a:sym typeface="Huawei Sans" panose="020C0503030203020204" pitchFamily="34" charset="0"/>
              </a:rPr>
              <a:t>DataStore</a:t>
            </a:r>
            <a:endParaRPr lang="zh-CN" altLang="en-US" sz="1800" b="1" dirty="0">
              <a:sym typeface="Huawei Sans" panose="020C0503030203020204" pitchFamily="34" charset="0"/>
            </a:endParaRPr>
          </a:p>
        </p:txBody>
      </p:sp>
      <p:pic>
        <p:nvPicPr>
          <p:cNvPr id="23" name="图片 22" descr="接入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10274688" y="4170140"/>
            <a:ext cx="540000" cy="441818"/>
          </a:xfrm>
          <a:prstGeom prst="rect">
            <a:avLst/>
          </a:prstGeom>
          <a:solidFill>
            <a:srgbClr val="BEE9EE"/>
          </a:solidFill>
          <a:ln>
            <a:noFill/>
          </a:ln>
        </p:spPr>
      </p:pic>
      <p:sp>
        <p:nvSpPr>
          <p:cNvPr id="29" name="文本占位符 3"/>
          <p:cNvSpPr txBox="1"/>
          <p:nvPr/>
        </p:nvSpPr>
        <p:spPr bwMode="gray">
          <a:xfrm>
            <a:off x="468317" y="1233488"/>
            <a:ext cx="11276183" cy="3561571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请求报文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10" name="矩形: 圆角 9"/>
          <p:cNvSpPr/>
          <p:nvPr/>
        </p:nvSpPr>
        <p:spPr bwMode="gray">
          <a:xfrm>
            <a:off x="918748" y="1886931"/>
            <a:ext cx="1740366" cy="115888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2" name="直接箭头连接符 11"/>
          <p:cNvCxnSpPr/>
          <p:nvPr/>
        </p:nvCxnSpPr>
        <p:spPr bwMode="gray">
          <a:xfrm>
            <a:off x="4690736" y="1423959"/>
            <a:ext cx="1154019" cy="0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 bwMode="gray">
          <a:xfrm>
            <a:off x="5978685" y="1237119"/>
            <a:ext cx="1828412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 bwMode="gray">
          <a:xfrm>
            <a:off x="1193925" y="2247238"/>
            <a:ext cx="1203241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Web App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3875238" y="1739861"/>
            <a:ext cx="1070903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Method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4946141" y="1739861"/>
            <a:ext cx="1070903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URI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6014466" y="1739861"/>
            <a:ext cx="1381846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HTTP/Version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3875238" y="2099900"/>
            <a:ext cx="3521074" cy="804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Header </a:t>
            </a:r>
            <a:r>
              <a:rPr lang="en-US" altLang="zh-CN" sz="15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 </a:t>
            </a:r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endParaRPr lang="en-US" altLang="zh-CN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Header </a:t>
            </a:r>
            <a:r>
              <a:rPr lang="en-US" altLang="zh-CN" sz="15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2: </a:t>
            </a:r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endParaRPr lang="en-US" altLang="zh-CN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…</a:t>
            </a:r>
            <a:endParaRPr lang="zh-CN" altLang="en-US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3875238" y="2904440"/>
            <a:ext cx="3521074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(Optional) request body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443864" y="3844490"/>
          <a:ext cx="7654532" cy="1937280"/>
        </p:xfrm>
        <a:graphic>
          <a:graphicData uri="http://schemas.openxmlformats.org/drawingml/2006/table">
            <a:tbl>
              <a:tblPr/>
              <a:tblGrid>
                <a:gridCol w="2132632"/>
                <a:gridCol w="5521900"/>
              </a:tblGrid>
              <a:tr h="3204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 marL="23295" marR="23295" marT="23295" marB="2329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Method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操作方法，作用于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中指定的目标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资源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统一资源标识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HTTP/Version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协议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版本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Header : value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请求报文的头部，有特定字段要求。格式为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header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字段和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Request body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（可选）请求消息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体。有些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方法不携带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body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信息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/>
        </p:nvSpPr>
        <p:spPr bwMode="gray">
          <a:xfrm>
            <a:off x="9162961" y="1743768"/>
            <a:ext cx="1740365" cy="1314056"/>
          </a:xfrm>
          <a:prstGeom prst="rect">
            <a:avLst/>
          </a:prstGeom>
          <a:solidFill>
            <a:srgbClr val="BEE9EE"/>
          </a:solidFill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: 圆角 29"/>
          <p:cNvSpPr/>
          <p:nvPr/>
        </p:nvSpPr>
        <p:spPr bwMode="gray">
          <a:xfrm>
            <a:off x="9321438" y="1903484"/>
            <a:ext cx="1494148" cy="36004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30B5C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 bwMode="gray">
          <a:xfrm>
            <a:off x="9410423" y="2423241"/>
            <a:ext cx="1293009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DataStore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2" name="图片 21" descr="接入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9798512" y="2802888"/>
            <a:ext cx="540000" cy="441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请求案例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RESTCONF</a:t>
            </a:r>
            <a:r>
              <a:rPr lang="zh-CN" altLang="en-US" sz="1800" dirty="0">
                <a:sym typeface="Huawei Sans" panose="020C0503030203020204" pitchFamily="34" charset="0"/>
              </a:rPr>
              <a:t>请求对象地址为</a:t>
            </a:r>
            <a:r>
              <a:rPr lang="en-US" altLang="zh-CN" sz="1800" dirty="0">
                <a:sym typeface="Huawei Sans" panose="020C0503030203020204" pitchFamily="34" charset="0"/>
              </a:rPr>
              <a:t>192.168.56.100</a:t>
            </a:r>
            <a:r>
              <a:rPr lang="zh-CN" altLang="en-US" sz="1800" dirty="0">
                <a:sym typeface="Huawei Sans" panose="020C0503030203020204" pitchFamily="34" charset="0"/>
              </a:rPr>
              <a:t>。修改数据配置数据</a:t>
            </a:r>
            <a:r>
              <a:rPr lang="en-US" altLang="zh-CN" sz="1800" dirty="0" err="1">
                <a:sym typeface="Huawei Sans" panose="020C0503030203020204" pitchFamily="34" charset="0"/>
              </a:rPr>
              <a:t>domainName</a:t>
            </a:r>
            <a:r>
              <a:rPr lang="zh-CN" altLang="en-US" sz="1800" dirty="0">
                <a:sym typeface="Huawei Sans" panose="020C0503030203020204" pitchFamily="34" charset="0"/>
              </a:rPr>
              <a:t>为</a:t>
            </a:r>
            <a:r>
              <a:rPr lang="en-US" altLang="zh-CN" sz="1800" dirty="0" err="1">
                <a:sym typeface="Huawei Sans" panose="020C0503030203020204" pitchFamily="34" charset="0"/>
              </a:rPr>
              <a:t>abc</a:t>
            </a:r>
            <a:r>
              <a:rPr lang="zh-CN" altLang="en-US" sz="1800" dirty="0">
                <a:sym typeface="Huawei Sans" panose="020C0503030203020204" pitchFamily="34" charset="0"/>
              </a:rPr>
              <a:t>，修改</a:t>
            </a:r>
            <a:r>
              <a:rPr lang="en-US" altLang="zh-CN" sz="1800" dirty="0" err="1">
                <a:sym typeface="Huawei Sans" panose="020C0503030203020204" pitchFamily="34" charset="0"/>
              </a:rPr>
              <a:t>accessLimit</a:t>
            </a:r>
            <a:r>
              <a:rPr lang="zh-CN" altLang="en-US" sz="1800" dirty="0">
                <a:sym typeface="Huawei Sans" panose="020C0503030203020204" pitchFamily="34" charset="0"/>
              </a:rPr>
              <a:t>值为</a:t>
            </a:r>
            <a:r>
              <a:rPr lang="en-US" altLang="zh-CN" sz="1800" dirty="0">
                <a:sym typeface="Huawei Sans" panose="020C0503030203020204" pitchFamily="34" charset="0"/>
              </a:rPr>
              <a:t>10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/>
          </a:p>
        </p:txBody>
      </p:sp>
      <p:sp>
        <p:nvSpPr>
          <p:cNvPr id="20" name="文本框 19"/>
          <p:cNvSpPr txBox="1"/>
          <p:nvPr/>
        </p:nvSpPr>
        <p:spPr bwMode="gray">
          <a:xfrm>
            <a:off x="2849573" y="2472235"/>
            <a:ext cx="6695002" cy="28500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POST /restconf/data/huawei-aaa:aaa/domains HTTP/1.1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Host: 192.168.56.100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Content-Type: application/yang-data+xml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&lt;domain xmlns="http://www.huawei.com/netconf/vrp/huawei-aaa"&gt;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&lt;domainName&gt;abc&lt;/domainName&gt;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&lt;accessLimit&gt;10&lt;/accessLimit&gt;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&lt;/domain&gt;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 bwMode="gray">
          <a:xfrm>
            <a:off x="2849573" y="2326645"/>
            <a:ext cx="6695002" cy="0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/>
        </p:nvSpPr>
        <p:spPr bwMode="gray">
          <a:xfrm>
            <a:off x="2601574" y="3924493"/>
            <a:ext cx="7210407" cy="1288674"/>
          </a:xfrm>
          <a:prstGeom prst="roundRect">
            <a:avLst/>
          </a:prstGeom>
          <a:noFill/>
          <a:ln w="2857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箭头: 下 25"/>
          <p:cNvSpPr/>
          <p:nvPr/>
        </p:nvSpPr>
        <p:spPr bwMode="gray">
          <a:xfrm>
            <a:off x="5498755" y="5213167"/>
            <a:ext cx="333633" cy="453191"/>
          </a:xfrm>
          <a:prstGeom prst="downArrow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 bwMode="gray">
          <a:xfrm>
            <a:off x="4806778" y="5669801"/>
            <a:ext cx="1671337" cy="365658"/>
          </a:xfrm>
          <a:prstGeom prst="rect">
            <a:avLst/>
          </a:prstGeom>
          <a:solidFill>
            <a:srgbClr val="30B5C5"/>
          </a:solidFill>
          <a:ln w="19050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Request </a:t>
            </a:r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body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 bwMode="gray">
          <a:xfrm>
            <a:off x="2601574" y="2914263"/>
            <a:ext cx="7210407" cy="644572"/>
          </a:xfrm>
          <a:prstGeom prst="roundRect">
            <a:avLst/>
          </a:prstGeom>
          <a:noFill/>
          <a:ln w="28575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 bwMode="gray">
          <a:xfrm>
            <a:off x="2601574" y="2503343"/>
            <a:ext cx="7210407" cy="362231"/>
          </a:xfrm>
          <a:prstGeom prst="roundRect">
            <a:avLst/>
          </a:prstGeom>
          <a:noFill/>
          <a:ln w="28575">
            <a:solidFill>
              <a:srgbClr val="8BC9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箭头: 下 29"/>
          <p:cNvSpPr/>
          <p:nvPr/>
        </p:nvSpPr>
        <p:spPr bwMode="gray">
          <a:xfrm flipV="1">
            <a:off x="5510593" y="2099524"/>
            <a:ext cx="333633" cy="402032"/>
          </a:xfrm>
          <a:prstGeom prst="downArrow">
            <a:avLst/>
          </a:prstGeom>
          <a:solidFill>
            <a:srgbClr val="8BC9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981029" y="3088633"/>
            <a:ext cx="985232" cy="365658"/>
          </a:xfrm>
          <a:prstGeom prst="rect">
            <a:avLst/>
          </a:prstGeom>
          <a:solidFill>
            <a:srgbClr val="FFD17D"/>
          </a:solidFill>
          <a:ln w="19050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箭头: 下 31"/>
          <p:cNvSpPr/>
          <p:nvPr/>
        </p:nvSpPr>
        <p:spPr bwMode="gray">
          <a:xfrm rot="5400000">
            <a:off x="2122509" y="2943203"/>
            <a:ext cx="333633" cy="624496"/>
          </a:xfrm>
          <a:prstGeom prst="downArrow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299829" y="1726732"/>
            <a:ext cx="2941230" cy="365658"/>
          </a:xfrm>
          <a:prstGeom prst="rect">
            <a:avLst/>
          </a:prstGeom>
          <a:solidFill>
            <a:srgbClr val="8BC9A0"/>
          </a:solidFill>
          <a:ln w="19050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</a:t>
            </a:r>
            <a:r>
              <a:rPr lang="zh-CN" altLang="en-US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方法</a:t>
            </a:r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URI HTTP/</a:t>
            </a:r>
            <a:r>
              <a:rPr lang="zh-CN" altLang="en-US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占位符 3"/>
          <p:cNvSpPr txBox="1"/>
          <p:nvPr/>
        </p:nvSpPr>
        <p:spPr bwMode="gray">
          <a:xfrm>
            <a:off x="468317" y="1233488"/>
            <a:ext cx="11276183" cy="81589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响应报文</a:t>
            </a:r>
            <a:endParaRPr lang="zh-CN" altLang="en-US">
              <a:sym typeface="Huawei Sans" panose="020C0503030203020204" pitchFamily="34" charset="0"/>
            </a:endParaRPr>
          </a:p>
        </p:txBody>
      </p:sp>
      <p:cxnSp>
        <p:nvCxnSpPr>
          <p:cNvPr id="12" name="直接箭头连接符 11"/>
          <p:cNvCxnSpPr/>
          <p:nvPr/>
        </p:nvCxnSpPr>
        <p:spPr bwMode="gray">
          <a:xfrm flipH="1">
            <a:off x="4551218" y="1318077"/>
            <a:ext cx="1268814" cy="0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 bwMode="gray">
          <a:xfrm>
            <a:off x="5978685" y="1131237"/>
            <a:ext cx="1828412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 bwMode="gray">
          <a:xfrm>
            <a:off x="3768811" y="1633979"/>
            <a:ext cx="1433385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HTTP/Version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 bwMode="gray">
          <a:xfrm>
            <a:off x="5202196" y="1633979"/>
            <a:ext cx="1245632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Status Code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 bwMode="gray">
          <a:xfrm>
            <a:off x="6443696" y="1633979"/>
            <a:ext cx="94173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Message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 bwMode="gray">
          <a:xfrm>
            <a:off x="3768811" y="1994018"/>
            <a:ext cx="3616615" cy="804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Header </a:t>
            </a:r>
            <a:r>
              <a:rPr lang="en-US" altLang="zh-CN" sz="15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1: </a:t>
            </a:r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endParaRPr lang="en-US" altLang="zh-CN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Header </a:t>
            </a:r>
            <a:r>
              <a:rPr lang="en-US" altLang="zh-CN" sz="150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2: </a:t>
            </a:r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endParaRPr lang="en-US" altLang="zh-CN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5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…</a:t>
            </a:r>
            <a:endParaRPr lang="zh-CN" altLang="en-US" sz="15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22"/>
          <p:cNvSpPr/>
          <p:nvPr/>
        </p:nvSpPr>
        <p:spPr bwMode="gray">
          <a:xfrm>
            <a:off x="3768811" y="2798558"/>
            <a:ext cx="3616615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(Optional) request body</a:t>
            </a:r>
            <a:endParaRPr lang="zh-CN" altLang="en-US" sz="15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2366797" y="3684216"/>
          <a:ext cx="7654532" cy="1937280"/>
        </p:xfrm>
        <a:graphic>
          <a:graphicData uri="http://schemas.openxmlformats.org/drawingml/2006/table">
            <a:tbl>
              <a:tblPr/>
              <a:tblGrid>
                <a:gridCol w="2132632"/>
                <a:gridCol w="5521900"/>
              </a:tblGrid>
              <a:tr h="3204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 marL="23295" marR="23295" marT="23295" marB="2329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HTTP/Version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操作方法，作用于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中指定的目标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资源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Status code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状态码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Message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HTTP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状态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消息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Header : value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响应报文的头部，有特定字段要求。格式为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header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字段和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值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Request body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（可选）响应消息体。有些方法不携带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body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信息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 bwMode="gray">
          <a:xfrm>
            <a:off x="918748" y="1781049"/>
            <a:ext cx="1740366" cy="1158880"/>
            <a:chOff x="918748" y="2040932"/>
            <a:chExt cx="1740366" cy="1158880"/>
          </a:xfrm>
        </p:grpSpPr>
        <p:sp>
          <p:nvSpPr>
            <p:cNvPr id="20" name="矩形: 圆角 9"/>
            <p:cNvSpPr/>
            <p:nvPr/>
          </p:nvSpPr>
          <p:spPr bwMode="gray">
            <a:xfrm>
              <a:off x="918748" y="2040932"/>
              <a:ext cx="1740366" cy="115888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 bwMode="gray">
            <a:xfrm>
              <a:off x="1193925" y="2401239"/>
              <a:ext cx="120324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r>
                <a:rPr lang="en-US" altLang="zh-CN" b="1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Web App</a:t>
              </a:r>
              <a:endParaRPr lang="zh-CN" altLang="en-US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7" name="矩形 26"/>
          <p:cNvSpPr/>
          <p:nvPr/>
        </p:nvSpPr>
        <p:spPr bwMode="gray">
          <a:xfrm>
            <a:off x="9162961" y="1637886"/>
            <a:ext cx="1740365" cy="1314056"/>
          </a:xfrm>
          <a:prstGeom prst="rect">
            <a:avLst/>
          </a:prstGeom>
          <a:solidFill>
            <a:srgbClr val="BEE9EE"/>
          </a:solidFill>
          <a:ln w="9525" cap="flat" cmpd="sng" algn="ctr">
            <a:solidFill>
              <a:srgbClr val="94DAE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: 圆角 29"/>
          <p:cNvSpPr/>
          <p:nvPr/>
        </p:nvSpPr>
        <p:spPr bwMode="gray">
          <a:xfrm>
            <a:off x="9321438" y="1797602"/>
            <a:ext cx="1494148" cy="36004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56C4D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 bwMode="gray">
          <a:xfrm>
            <a:off x="9410423" y="2317359"/>
            <a:ext cx="1293009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DataStore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6" name="图片 25" descr="接入交换机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gray">
          <a:xfrm>
            <a:off x="9798512" y="2697006"/>
            <a:ext cx="540000" cy="441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HTTP</a:t>
            </a:r>
            <a:r>
              <a:rPr lang="zh-CN" altLang="en-US" smtClean="0">
                <a:sym typeface="Huawei Sans" panose="020C0503030203020204" pitchFamily="34" charset="0"/>
              </a:rPr>
              <a:t>状态码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HTTP</a:t>
            </a:r>
            <a:r>
              <a:rPr lang="zh-CN" altLang="en-US" sz="1800" dirty="0">
                <a:sym typeface="Huawei Sans" panose="020C0503030203020204" pitchFamily="34" charset="0"/>
              </a:rPr>
              <a:t>状态码（</a:t>
            </a:r>
            <a:r>
              <a:rPr lang="en-US" altLang="zh-CN" sz="1800" dirty="0">
                <a:sym typeface="Huawei Sans" panose="020C0503030203020204" pitchFamily="34" charset="0"/>
              </a:rPr>
              <a:t>HTTP Status Code</a:t>
            </a:r>
            <a:r>
              <a:rPr lang="zh-CN" altLang="en-US" sz="1800" dirty="0">
                <a:sym typeface="Huawei Sans" panose="020C0503030203020204" pitchFamily="34" charset="0"/>
              </a:rPr>
              <a:t>）是服务器响应状态的</a:t>
            </a:r>
            <a:r>
              <a:rPr lang="en-US" altLang="zh-CN" sz="1800" dirty="0">
                <a:sym typeface="Huawei Sans" panose="020C0503030203020204" pitchFamily="34" charset="0"/>
              </a:rPr>
              <a:t>3</a:t>
            </a:r>
            <a:r>
              <a:rPr lang="zh-CN" altLang="en-US" sz="1800" dirty="0">
                <a:sym typeface="Huawei Sans" panose="020C0503030203020204" pitchFamily="34" charset="0"/>
              </a:rPr>
              <a:t>位数字码，用于向客户端返回操作结果。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0078" y="1804877"/>
          <a:ext cx="10911844" cy="4114800"/>
        </p:xfrm>
        <a:graphic>
          <a:graphicData uri="http://schemas.openxmlformats.org/drawingml/2006/table">
            <a:tbl>
              <a:tblPr firstRow="1" bandRow="1"/>
              <a:tblGrid>
                <a:gridCol w="836835"/>
                <a:gridCol w="2391238"/>
                <a:gridCol w="2491368"/>
                <a:gridCol w="5192403"/>
              </a:tblGrid>
              <a:tr h="30002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状态码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 marL="109753" marR="109753" marT="45731" marB="45731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状态码说明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 marL="109753" marR="109753" marT="45731" marB="45731"/>
                </a:tc>
              </a:tr>
              <a:tr h="30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1XX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(Informational)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请求被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接收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 Continue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请求被接收，继续执行。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2XX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(Successful)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成功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 OK</a:t>
                      </a:r>
                      <a:endParaRPr lang="en-US" altLang="zh-CN" sz="14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成功，有响应消息体。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201 Created</a:t>
                      </a:r>
                      <a:endParaRPr lang="en-US" altLang="zh-CN" sz="14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资源创建成功，在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location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域中包含有新建资源的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920"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204 No Content</a:t>
                      </a:r>
                      <a:endParaRPr lang="en-US" altLang="zh-CN" sz="14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成功，无应答消息体。</a:t>
                      </a:r>
                      <a:endParaRPr lang="zh-CN" alt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3XX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(Redirection)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进一步操作需要被</a:t>
                      </a:r>
                      <a:r>
                        <a:rPr lang="zh-CN" altLang="en-US" sz="14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执行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301 Moved Permanently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目标资源被分配了新的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，且未来的资源都会关联到新的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URI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4XX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(Client Error)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请求错误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400 Bad Request</a:t>
                      </a:r>
                      <a:endParaRPr lang="en-US" altLang="zh-CN" sz="14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请求消息体错误，消息体中携带有错误描述。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401 Unauthorized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授权失败，例如证书不匹配。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403 Forbidden</a:t>
                      </a:r>
                      <a:endParaRPr lang="en-US" altLang="zh-CN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禁止访问，可能的原因是：用户试图执行权限之外的操作或登录用户名密码错误。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404 Not Found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找不到请求的资源。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5XX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(Server Error)</a:t>
                      </a:r>
                      <a:r>
                        <a:rPr lang="zh-CN" altLang="en-US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服务端错误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500 Internal Server Error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服务器内部错误，不能执行此请求，用户需要稍后重新发送请求。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28"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 vMerge="1">
                  <a:tcPr marL="109753" marR="109753" marT="45731" marB="45731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501 Not Implemented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功能未实现。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文本占位符 3"/>
          <p:cNvSpPr txBox="1"/>
          <p:nvPr/>
        </p:nvSpPr>
        <p:spPr bwMode="gray">
          <a:xfrm>
            <a:off x="468317" y="1233488"/>
            <a:ext cx="11276183" cy="81589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响应案例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RESTCONF</a:t>
            </a:r>
            <a:r>
              <a:rPr lang="zh-CN" altLang="en-US" sz="1800" dirty="0">
                <a:sym typeface="Huawei Sans" panose="020C0503030203020204" pitchFamily="34" charset="0"/>
              </a:rPr>
              <a:t>响应报文：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marL="638175" lvl="1" indent="-285750"/>
            <a:r>
              <a:rPr lang="zh-CN" altLang="en-US" sz="1600" dirty="0">
                <a:sym typeface="Huawei Sans" panose="020C0503030203020204" pitchFamily="34" charset="0"/>
              </a:rPr>
              <a:t>返回状态码</a:t>
            </a:r>
            <a:r>
              <a:rPr lang="en-US" altLang="zh-CN" sz="1600" dirty="0">
                <a:sym typeface="Huawei Sans" panose="020C0503030203020204" pitchFamily="34" charset="0"/>
              </a:rPr>
              <a:t>201</a:t>
            </a:r>
            <a:r>
              <a:rPr lang="zh-CN" altLang="en-US" sz="1600" dirty="0">
                <a:sym typeface="Huawei Sans" panose="020C0503030203020204" pitchFamily="34" charset="0"/>
              </a:rPr>
              <a:t>，表示资源创建成功。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638175" lvl="1" indent="-285750"/>
            <a:r>
              <a:rPr lang="zh-CN" altLang="en-US" sz="1600" dirty="0">
                <a:sym typeface="Huawei Sans" panose="020C0503030203020204" pitchFamily="34" charset="0"/>
              </a:rPr>
              <a:t>头部信息</a:t>
            </a:r>
            <a:r>
              <a:rPr lang="en-US" altLang="zh-CN" sz="1600" dirty="0">
                <a:sym typeface="Huawei Sans" panose="020C0503030203020204" pitchFamily="34" charset="0"/>
              </a:rPr>
              <a:t>Content-Type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Content-Length</a:t>
            </a:r>
            <a:r>
              <a:rPr lang="zh-CN" altLang="en-US" sz="1600" dirty="0">
                <a:sym typeface="Huawei Sans" panose="020C0503030203020204" pitchFamily="34" charset="0"/>
              </a:rPr>
              <a:t>，描述</a:t>
            </a:r>
            <a:r>
              <a:rPr lang="en-US" altLang="zh-CN" sz="1600" dirty="0">
                <a:sym typeface="Huawei Sans" panose="020C0503030203020204" pitchFamily="34" charset="0"/>
              </a:rPr>
              <a:t>Body</a:t>
            </a:r>
            <a:r>
              <a:rPr lang="zh-CN" altLang="en-US" sz="1600" dirty="0">
                <a:sym typeface="Huawei Sans" panose="020C0503030203020204" pitchFamily="34" charset="0"/>
              </a:rPr>
              <a:t>信息。</a:t>
            </a:r>
            <a:r>
              <a:rPr lang="en-US" altLang="zh-CN" sz="1600" dirty="0">
                <a:sym typeface="Huawei Sans" panose="020C0503030203020204" pitchFamily="34" charset="0"/>
              </a:rPr>
              <a:t>Body</a:t>
            </a:r>
            <a:r>
              <a:rPr lang="zh-CN" altLang="en-US" sz="1600" dirty="0">
                <a:sym typeface="Huawei Sans" panose="020C0503030203020204" pitchFamily="34" charset="0"/>
              </a:rPr>
              <a:t>数据类型为</a:t>
            </a:r>
            <a:r>
              <a:rPr lang="en-US" altLang="zh-CN" sz="1600" dirty="0">
                <a:sym typeface="Huawei Sans" panose="020C0503030203020204" pitchFamily="34" charset="0"/>
              </a:rPr>
              <a:t>XML</a:t>
            </a:r>
            <a:r>
              <a:rPr lang="zh-CN" altLang="en-US" sz="1600" dirty="0">
                <a:sym typeface="Huawei Sans" panose="020C0503030203020204" pitchFamily="34" charset="0"/>
              </a:rPr>
              <a:t>，内容长度为</a:t>
            </a:r>
            <a:r>
              <a:rPr lang="en-US" altLang="zh-CN" sz="1600" dirty="0">
                <a:sym typeface="Huawei Sans" panose="020C0503030203020204" pitchFamily="34" charset="0"/>
              </a:rPr>
              <a:t>0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 bwMode="gray">
          <a:xfrm>
            <a:off x="2849573" y="3874412"/>
            <a:ext cx="6695002" cy="14971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HTTP/1.1 201 Created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Content-Type:application/yang-data+xml</a:t>
            </a:r>
            <a:endParaRPr lang="en-US" altLang="zh-CN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Content-Length:0</a:t>
            </a:r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1" name="直接箭头连接符 20"/>
          <p:cNvCxnSpPr/>
          <p:nvPr/>
        </p:nvCxnSpPr>
        <p:spPr bwMode="gray">
          <a:xfrm flipH="1">
            <a:off x="2849573" y="3728822"/>
            <a:ext cx="6695002" cy="0"/>
          </a:xfrm>
          <a:prstGeom prst="straightConnector1">
            <a:avLst/>
          </a:prstGeom>
          <a:ln w="57150">
            <a:solidFill>
              <a:srgbClr val="EC70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/>
          <p:cNvSpPr/>
          <p:nvPr/>
        </p:nvSpPr>
        <p:spPr bwMode="gray">
          <a:xfrm>
            <a:off x="2601574" y="4551222"/>
            <a:ext cx="7210407" cy="818388"/>
          </a:xfrm>
          <a:prstGeom prst="roundRect">
            <a:avLst/>
          </a:prstGeom>
          <a:noFill/>
          <a:ln w="28575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 bwMode="gray">
          <a:xfrm>
            <a:off x="2601574" y="4029090"/>
            <a:ext cx="7210407" cy="362231"/>
          </a:xfrm>
          <a:prstGeom prst="roundRect">
            <a:avLst/>
          </a:prstGeom>
          <a:noFill/>
          <a:ln w="28575">
            <a:solidFill>
              <a:srgbClr val="30B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箭头: 下 29"/>
          <p:cNvSpPr/>
          <p:nvPr/>
        </p:nvSpPr>
        <p:spPr bwMode="gray">
          <a:xfrm flipV="1">
            <a:off x="5510593" y="3501700"/>
            <a:ext cx="333633" cy="525445"/>
          </a:xfrm>
          <a:prstGeom prst="downArrow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 bwMode="gray">
          <a:xfrm>
            <a:off x="981029" y="4775018"/>
            <a:ext cx="985232" cy="365658"/>
          </a:xfrm>
          <a:prstGeom prst="rect">
            <a:avLst/>
          </a:prstGeom>
          <a:solidFill>
            <a:srgbClr val="FFD17D"/>
          </a:solidFill>
          <a:ln w="19050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Header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箭头: 下 31"/>
          <p:cNvSpPr/>
          <p:nvPr/>
        </p:nvSpPr>
        <p:spPr bwMode="gray">
          <a:xfrm rot="5400000">
            <a:off x="2122509" y="4629588"/>
            <a:ext cx="333633" cy="624496"/>
          </a:xfrm>
          <a:prstGeom prst="downArrow">
            <a:avLst/>
          </a:prstGeom>
          <a:solidFill>
            <a:srgbClr val="FFD1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 bwMode="gray">
          <a:xfrm>
            <a:off x="4077730" y="3128909"/>
            <a:ext cx="3719383" cy="365658"/>
          </a:xfrm>
          <a:prstGeom prst="rect">
            <a:avLst/>
          </a:prstGeom>
          <a:solidFill>
            <a:srgbClr val="30B5C5"/>
          </a:solidFill>
          <a:ln w="19050" algn="ctr">
            <a:noFill/>
            <a:miter lim="800000"/>
          </a:ln>
        </p:spPr>
        <p:txBody>
          <a:bodyPr vert="horz" wrap="square" lIns="87802" tIns="43901" rIns="87802" bIns="43901" numCol="1" rtlCol="0" anchor="ctr" anchorCtr="0" compatLnSpc="1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HTTP/</a:t>
            </a:r>
            <a:r>
              <a:rPr lang="zh-CN" altLang="en-US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 状态码</a:t>
            </a:r>
            <a:r>
              <a:rPr lang="en-US" altLang="zh-CN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HTTP</a:t>
            </a:r>
            <a:r>
              <a:rPr lang="zh-CN" altLang="en-US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状态消息</a:t>
            </a:r>
            <a:endParaRPr lang="zh-CN" altLang="en-US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占位符 3"/>
          <p:cNvSpPr txBox="1"/>
          <p:nvPr/>
        </p:nvSpPr>
        <p:spPr bwMode="gray">
          <a:xfrm>
            <a:off x="468317" y="1233488"/>
            <a:ext cx="11276183" cy="815897"/>
          </a:xfrm>
          <a:prstGeom prst="rect">
            <a:avLst/>
          </a:prstGeom>
        </p:spPr>
        <p:txBody>
          <a:bodyPr/>
          <a:lstStyle>
            <a:lvl1pPr marL="302260" indent="-302260" algn="l" defTabSz="913765" rtl="0" eaLnBrk="1" latinLnBrk="0" hangingPunct="1">
              <a:lnSpc>
                <a:spcPct val="140000"/>
              </a:lnSpc>
              <a:spcBef>
                <a:spcPts val="79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简答题</a:t>
            </a: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华为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NETCONF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的传输层使用什么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</a:t>
            </a:r>
            <a:r>
              <a:rPr lang="zh-CN" altLang="en-US" dirty="0" smtClean="0">
                <a:sym typeface="Huawei Sans" panose="020C0503030203020204" pitchFamily="34" charset="0"/>
              </a:rPr>
              <a:t>？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</a:t>
            </a:r>
            <a:r>
              <a:rPr lang="zh-CN" altLang="en-US" dirty="0">
                <a:sym typeface="Huawei Sans" panose="020C0503030203020204" pitchFamily="34" charset="0"/>
              </a:rPr>
              <a:t>简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答题</a:t>
            </a:r>
            <a:r>
              <a:rPr lang="en-US" altLang="zh-CN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)NETCONF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RESTCONF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YANG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是之间什么</a:t>
            </a:r>
            <a:r>
              <a:rPr lang="zh-CN" altLang="en-US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关系</a:t>
            </a:r>
            <a:r>
              <a:rPr lang="zh-CN" altLang="en-US" dirty="0" smtClean="0">
                <a:sym typeface="Huawei Sans" panose="020C0503030203020204" pitchFamily="34" charset="0"/>
              </a:rPr>
              <a:t>？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是网络配置协议，提供一套管理网络设备的机制。用户可以使用这套机制增加、修改、删除网络设备的配置，获取网络设备的配置和状态信息。</a:t>
            </a:r>
            <a:endParaRPr lang="en-US" altLang="zh-CN" smtClean="0">
              <a:sym typeface="Huawei Sans" panose="020C0503030203020204" pitchFamily="34" charset="0"/>
            </a:endParaRPr>
          </a:p>
          <a:p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是一种数据建模语言，</a:t>
            </a:r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模型定义了数据的层次化结构，可用于基于</a:t>
            </a:r>
            <a:r>
              <a:rPr lang="en-US" altLang="zh-CN" smtClean="0">
                <a:sym typeface="Huawei Sans" panose="020C0503030203020204" pitchFamily="34" charset="0"/>
              </a:rPr>
              <a:t>NETCONF</a:t>
            </a:r>
            <a:r>
              <a:rPr lang="zh-CN" altLang="en-US" smtClean="0">
                <a:sym typeface="Huawei Sans" panose="020C0503030203020204" pitchFamily="34" charset="0"/>
              </a:rPr>
              <a:t>的操作。</a:t>
            </a:r>
            <a:endParaRPr lang="en-US" altLang="zh-CN" smtClean="0">
              <a:sym typeface="Huawei Sans" panose="020C0503030203020204" pitchFamily="34" charset="0"/>
            </a:endParaRPr>
          </a:p>
          <a:p>
            <a:r>
              <a:rPr lang="en-US" altLang="zh-CN" smtClean="0">
                <a:sym typeface="Huawei Sans" panose="020C0503030203020204" pitchFamily="34" charset="0"/>
              </a:rPr>
              <a:t>RESTCONF</a:t>
            </a:r>
            <a:r>
              <a:rPr lang="zh-CN" altLang="en-US" smtClean="0">
                <a:sym typeface="Huawei Sans" panose="020C0503030203020204" pitchFamily="34" charset="0"/>
              </a:rPr>
              <a:t>使用</a:t>
            </a:r>
            <a:r>
              <a:rPr lang="en-US" altLang="zh-CN" smtClean="0">
                <a:sym typeface="Huawei Sans" panose="020C0503030203020204" pitchFamily="34" charset="0"/>
              </a:rPr>
              <a:t>HTTP</a:t>
            </a:r>
            <a:r>
              <a:rPr lang="zh-CN" altLang="en-US" smtClean="0">
                <a:sym typeface="Huawei Sans" panose="020C0503030203020204" pitchFamily="34" charset="0"/>
              </a:rPr>
              <a:t>的方法对设备</a:t>
            </a:r>
            <a:r>
              <a:rPr lang="en-US" altLang="zh-CN" smtClean="0">
                <a:sym typeface="Huawei Sans" panose="020C0503030203020204" pitchFamily="34" charset="0"/>
              </a:rPr>
              <a:t>YANG</a:t>
            </a:r>
            <a:r>
              <a:rPr lang="zh-CN" altLang="en-US" smtClean="0">
                <a:sym typeface="Huawei Sans" panose="020C0503030203020204" pitchFamily="34" charset="0"/>
              </a:rPr>
              <a:t>定义的数据进行操作。</a:t>
            </a:r>
            <a:endParaRPr lang="zh-CN" altLang="en-US" smtClean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4.xml><?xml version="1.0" encoding="utf-8"?>
<p:tagLst xmlns:p="http://schemas.openxmlformats.org/presentationml/2006/main">
  <p:tag name="commondata" val="eyJoZGlkIjoiNjc0ZmI2NjkxZWUzNmMzMGQwY2FmZGU3M2U2NTgzMTEifQ=="/>
</p:tagLst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FEDE263F-0510-4442-823E-69B63ECB61E1}">
  <ds:schemaRefs/>
</ds:datastoreItem>
</file>

<file path=customXml/itemProps2.xml><?xml version="1.0" encoding="utf-8"?>
<ds:datastoreItem xmlns:ds="http://schemas.openxmlformats.org/officeDocument/2006/customXml" ds:itemID="{DA5960F2-6186-408B-A0DC-5CA5E58B604F}">
  <ds:schemaRefs/>
</ds:datastoreItem>
</file>

<file path=customXml/itemProps3.xml><?xml version="1.0" encoding="utf-8"?>
<ds:datastoreItem xmlns:ds="http://schemas.openxmlformats.org/officeDocument/2006/customXml" ds:itemID="{3376CCD1-E3D7-41F7-BB08-F7FC5914F31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17027</Words>
  <Application>WPS 演示</Application>
  <PresentationFormat>宽屏</PresentationFormat>
  <Paragraphs>1524</Paragraphs>
  <Slides>49</Slides>
  <Notes>49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67" baseType="lpstr">
      <vt:lpstr>Arial</vt:lpstr>
      <vt:lpstr>宋体</vt:lpstr>
      <vt:lpstr>Wingdings</vt:lpstr>
      <vt:lpstr>Huawei Sans</vt:lpstr>
      <vt:lpstr>DejaVu Math TeX Gyre</vt:lpstr>
      <vt:lpstr>方正兰亭黑简体</vt:lpstr>
      <vt:lpstr>黑体</vt:lpstr>
      <vt:lpstr>微软雅黑</vt:lpstr>
      <vt:lpstr>Verdana</vt:lpstr>
      <vt:lpstr>Arial Unicode MS</vt:lpstr>
      <vt:lpstr>Courier New</vt:lpstr>
      <vt:lpstr>FrutigerNext LT Light</vt:lpstr>
      <vt:lpstr>FrutigerNext LT Medium</vt:lpstr>
      <vt:lpstr>Segoe Print</vt:lpstr>
      <vt:lpstr>2_标题页模板</vt:lpstr>
      <vt:lpstr>3_功能页模板</vt:lpstr>
      <vt:lpstr>4_内容页模板</vt:lpstr>
      <vt:lpstr>5_感谢页模板</vt:lpstr>
      <vt:lpstr>PowerPoint 演示文稿</vt:lpstr>
      <vt:lpstr>NETCONF YANG原理与实践</vt:lpstr>
      <vt:lpstr>PowerPoint 演示文稿</vt:lpstr>
      <vt:lpstr>PowerPoint 演示文稿</vt:lpstr>
      <vt:lpstr>PowerPoint 演示文稿</vt:lpstr>
      <vt:lpstr>设备数据简介</vt:lpstr>
      <vt:lpstr>如何配置一台网络设备？</vt:lpstr>
      <vt:lpstr>经典配置管理的方法问题</vt:lpstr>
      <vt:lpstr>网络管理的本质诉求</vt:lpstr>
      <vt:lpstr>IETF工作组逐步落实会议结论</vt:lpstr>
      <vt:lpstr>工程师配置设备流程</vt:lpstr>
      <vt:lpstr>NETCONF配置设备流程</vt:lpstr>
      <vt:lpstr>PowerPoint 演示文稿</vt:lpstr>
      <vt:lpstr>NETCONF简介</vt:lpstr>
      <vt:lpstr>NETCONF协议框架</vt:lpstr>
      <vt:lpstr>XML编码</vt:lpstr>
      <vt:lpstr>NETCONF传输层与消息层</vt:lpstr>
      <vt:lpstr>NETCONF基本操作</vt:lpstr>
      <vt:lpstr>NETCONF操作对象</vt:lpstr>
      <vt:lpstr>案例：下发VLAN配置</vt:lpstr>
      <vt:lpstr>NETCONF内容层</vt:lpstr>
      <vt:lpstr>案例：下发VLAN配置 (HUAWEI-YANG)</vt:lpstr>
      <vt:lpstr>案例：下发VLAN配置 (Schema)</vt:lpstr>
      <vt:lpstr>NETCONF配置介绍</vt:lpstr>
      <vt:lpstr>PowerPoint 演示文稿</vt:lpstr>
      <vt:lpstr>YANG的起源</vt:lpstr>
      <vt:lpstr>YANG语言概述</vt:lpstr>
      <vt:lpstr>认识YANG文件：Module</vt:lpstr>
      <vt:lpstr>认识YANG文件：Leaf Node</vt:lpstr>
      <vt:lpstr>认识YANG文件：Leaf List</vt:lpstr>
      <vt:lpstr>认识YANG文件：List Nodes</vt:lpstr>
      <vt:lpstr>认识YANG文件：Container Nodes</vt:lpstr>
      <vt:lpstr>认识YANG文件：Grouping</vt:lpstr>
      <vt:lpstr>认识YANG文件：配置数据和状态数据</vt:lpstr>
      <vt:lpstr>认识YANG文件：数据类型</vt:lpstr>
      <vt:lpstr>FAQ：如何加载YANG模型？</vt:lpstr>
      <vt:lpstr>PowerPoint 演示文稿</vt:lpstr>
      <vt:lpstr>RESTCONF起源</vt:lpstr>
      <vt:lpstr>RESTCONF概述</vt:lpstr>
      <vt:lpstr>RESTCONF与NETCONF对比</vt:lpstr>
      <vt:lpstr>一次典型的RESTCONF交互</vt:lpstr>
      <vt:lpstr>RESTCONF请求报文</vt:lpstr>
      <vt:lpstr>RESTCONF请求案例</vt:lpstr>
      <vt:lpstr>RESTCONF响应报文</vt:lpstr>
      <vt:lpstr>HTTP状态码</vt:lpstr>
      <vt:lpstr>RESTCONF响应案例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郑桂彬</cp:lastModifiedBy>
  <cp:revision>618</cp:revision>
  <cp:lastPrinted>2020-07-31T09:33:00Z</cp:lastPrinted>
  <dcterms:created xsi:type="dcterms:W3CDTF">2018-11-29T10:16:00Z</dcterms:created>
  <dcterms:modified xsi:type="dcterms:W3CDTF">2024-05-17T01:56:01Z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(3)SK+bLaeBW+3eeHfRkcX9SfX4eEHo9X2bScEgSuvz6hFHN6a1lGhZAX5pPh6XnrIfuhsCQYoo
9XYbgJgYZ8RI8MfdAh9XX4RiSTfBs1Lg75kH3e4pfQr+4tuCk86zMm20Vbb/FAA61tAP7J1P
QdeniL2Ltyo+e+72VZNLhy8Me8Sc0PkKpVVnB9JAvv8tZmb2avUCClfvjUuiwg1rgAkuPmsP
6aULtVZB3vBDiTl9kx</vt:lpwstr>
  </property>
  <property fmtid="{D5CDD505-2E9C-101B-9397-08002B2CF9AE}" pid="3" name="_2015_ms_pID_7253431">
    <vt:lpwstr>cPO1ZHvMCW0rjFX/XJwYjFdh04PfnH2+F9hpvuQy3AoQu7wSIejXTg
oD38DLKAWbY1i6kWiQwaaHxFFsv4t9ziX+JXobyWk1UcijZP+/Ex26Eijhv5XverX6uPmICa
Mh/Uz+uJ98idrZajSiBJfmi0lj8ER249UshButjPvP4DE6LVRfXwxzvLWvjoYa2RKFsv8A1r
PjgifQ/IxzrroHLifn7dN/oNtIAajdAXfoLk</vt:lpwstr>
  </property>
  <property fmtid="{D5CDD505-2E9C-101B-9397-08002B2CF9AE}" pid="4" name="_2015_ms_pID_7253432">
    <vt:lpwstr>dA==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1635381638</vt:lpwstr>
  </property>
  <property fmtid="{D5CDD505-2E9C-101B-9397-08002B2CF9AE}" pid="10" name="ICV">
    <vt:lpwstr>CE7ADD5275DC465F9591049770CD7133_12</vt:lpwstr>
  </property>
  <property fmtid="{D5CDD505-2E9C-101B-9397-08002B2CF9AE}" pid="11" name="KSOProductBuildVer">
    <vt:lpwstr>2052-12.1.0.16417</vt:lpwstr>
  </property>
</Properties>
</file>