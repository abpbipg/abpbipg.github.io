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872" r:id="rId4"/>
    <p:sldMasterId id="2147483874" r:id="rId5"/>
    <p:sldMasterId id="2147483885" r:id="rId6"/>
    <p:sldMasterId id="2147483891" r:id="rId7"/>
  </p:sldMasterIdLst>
  <p:notesMasterIdLst>
    <p:notesMasterId r:id="rId48"/>
  </p:notesMasterIdLst>
  <p:handoutMasterIdLst>
    <p:handoutMasterId r:id="rId49"/>
  </p:handoutMasterIdLst>
  <p:sldIdLst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97" r:id="rId27"/>
    <p:sldId id="298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2000" cy="6858000"/>
  <p:notesSz cx="7010400" cy="92964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3840" userDrawn="1">
          <p15:clr>
            <a:srgbClr val="A4A3A4"/>
          </p15:clr>
        </p15:guide>
        <p15:guide id="4" orient="horz" pos="2341" userDrawn="1">
          <p15:clr>
            <a:srgbClr val="A4A3A4"/>
          </p15:clr>
        </p15:guide>
        <p15:guide id="5" orient="horz" pos="7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uyueyuezjhw" initials="l" lastIdx="12" clrIdx="0">
    <p:extLst>
      <p:ext uri="{19B8F6BF-5375-455C-9EA6-DF929625EA0E}">
        <p15:presenceInfo xmlns:p15="http://schemas.microsoft.com/office/powerpoint/2012/main" userId="S-1-5-21-147214757-305610072-1517763936-473611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B5C5"/>
    <a:srgbClr val="BEE9EE"/>
    <a:srgbClr val="56C4D2"/>
    <a:srgbClr val="94DAE2"/>
    <a:srgbClr val="FEEEC1"/>
    <a:srgbClr val="AFD89C"/>
    <a:srgbClr val="81C15F"/>
    <a:srgbClr val="ADCDEA"/>
    <a:srgbClr val="404040"/>
    <a:srgbClr val="EBEB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7428" autoAdjust="0"/>
  </p:normalViewPr>
  <p:slideViewPr>
    <p:cSldViewPr snapToGrid="0" snapToObjects="1">
      <p:cViewPr varScale="1">
        <p:scale>
          <a:sx n="65" d="100"/>
          <a:sy n="65" d="100"/>
        </p:scale>
        <p:origin x="936" y="60"/>
      </p:cViewPr>
      <p:guideLst>
        <p:guide pos="3840"/>
        <p:guide orient="horz" pos="2341"/>
        <p:guide orient="horz" pos="7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>
        <p:scale>
          <a:sx n="125" d="100"/>
          <a:sy n="125" d="100"/>
        </p:scale>
        <p:origin x="2868" y="-1122"/>
      </p:cViewPr>
      <p:guideLst>
        <p:guide orient="horz"/>
        <p:guide pos="2208"/>
      </p:guideLst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50" Type="http://schemas.openxmlformats.org/officeDocument/2006/relationships/commentAuthors" Target="commentAuthor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>
                <a:latin typeface="Huawei Sans" panose="020C0503030203020204" pitchFamily="34" charset="0"/>
              </a:rPr>
              <a:t>10/21/2021</a:t>
            </a:fld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968"/>
            <a:ext cx="3037840" cy="466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938" y="8829968"/>
            <a:ext cx="3037840" cy="466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>
                <a:latin typeface="Huawei Sans" panose="020C0503030203020204" pitchFamily="34" charset="0"/>
              </a:rPr>
              <a:t>‹#›</a:t>
            </a:fld>
            <a:endParaRPr lang="en-US" dirty="0">
              <a:latin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1838" y="717550"/>
            <a:ext cx="5580062" cy="31257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lv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310765"/>
            <a:ext cx="5580062" cy="4784070"/>
          </a:xfrm>
          <a:prstGeom prst="rect">
            <a:avLst/>
          </a:prstGeom>
        </p:spPr>
        <p:txBody>
          <a:bodyPr vert="horz" lIns="97200" tIns="45720" rIns="9720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80000" indent="-180000" algn="l" defTabSz="1219304" rtl="0" eaLnBrk="1" fontAlgn="ctr" latinLnBrk="0" hangingPunct="1">
      <a:lnSpc>
        <a:spcPct val="125000"/>
      </a:lnSpc>
      <a:spcAft>
        <a:spcPts val="600"/>
      </a:spcAft>
      <a:buFont typeface="Huawei Sans" panose="020C0503030203020204" pitchFamily="34" charset="0"/>
      <a:buChar char="•"/>
      <a:defRPr lang="en-US"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1pPr>
    <a:lvl2pPr marL="540000" indent="-180000" algn="l" defTabSz="1219304" rtl="0" eaLnBrk="1" fontAlgn="ctr" latinLnBrk="0" hangingPunct="1">
      <a:lnSpc>
        <a:spcPct val="125000"/>
      </a:lnSpc>
      <a:spcAft>
        <a:spcPts val="600"/>
      </a:spcAft>
      <a:buClrTx/>
      <a:buFont typeface="Huawei Sans" panose="020C0503030203020204" pitchFamily="34" charset="0"/>
      <a:buChar char="▫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2pPr>
    <a:lvl3pPr marL="900000" indent="-180000" algn="l" defTabSz="1219304" rtl="0" eaLnBrk="1" fontAlgn="ctr" latinLnBrk="0" hangingPunct="1">
      <a:lnSpc>
        <a:spcPct val="125000"/>
      </a:lnSpc>
      <a:spcAft>
        <a:spcPts val="600"/>
      </a:spcAft>
      <a:buFont typeface="微软雅黑" panose="020B0503020204020204" pitchFamily="34" charset="-122"/>
      <a:buChar char="▪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3pPr>
    <a:lvl4pPr marL="1260000" indent="-180000" algn="l" defTabSz="1219304" rtl="0" eaLnBrk="1" fontAlgn="ctr" latinLnBrk="0" hangingPunct="1">
      <a:lnSpc>
        <a:spcPct val="125000"/>
      </a:lnSpc>
      <a:spcAft>
        <a:spcPts val="600"/>
      </a:spcAft>
      <a:buFont typeface="Huawei Sans" panose="020C0503030203020204" pitchFamily="34" charset="0"/>
      <a:buChar char="−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4pPr>
    <a:lvl5pPr marL="1620000" indent="-180000" algn="l" defTabSz="1219304" rtl="0" eaLnBrk="1" fontAlgn="ctr" latinLnBrk="0" hangingPunct="1">
      <a:lnSpc>
        <a:spcPct val="125000"/>
      </a:lnSpc>
      <a:spcAft>
        <a:spcPts val="600"/>
      </a:spcAft>
      <a:buFont typeface="Huawei Sans" panose="020C0503030203020204" pitchFamily="34" charset="0"/>
      <a:buChar char="~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  <p:extLst mod="1">
    <p:ext uri="{620B2872-D7B9-4A21-9093-7833F8D536E1}">
      <p15:sldGuideLst xmlns:p15="http://schemas.microsoft.com/office/powerpoint/2012/main">
        <p15:guide id="2" orient="horz" pos="2704" userDrawn="1">
          <p15:clr>
            <a:srgbClr val="F26B43"/>
          </p15:clr>
        </p15:guide>
        <p15:guide id="3" orient="horz" pos="459" userDrawn="1">
          <p15:clr>
            <a:srgbClr val="F26B43"/>
          </p15:clr>
        </p15:guide>
        <p15:guide id="4" orient="horz" pos="2432" userDrawn="1">
          <p15:clr>
            <a:srgbClr val="F26B43"/>
          </p15:clr>
        </p15:guide>
        <p15:guide id="7" pos="461" userDrawn="1">
          <p15:clr>
            <a:srgbClr val="F26B43"/>
          </p15:clr>
        </p15:guide>
        <p15:guide id="9" pos="2207" userDrawn="1">
          <p15:clr>
            <a:srgbClr val="F26B43"/>
          </p15:clr>
        </p15:guide>
        <p15:guide id="10" pos="3976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511462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352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46205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05405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79169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61421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MPLS</a:t>
            </a:r>
            <a:r>
              <a:rPr lang="zh-CN" altLang="en-US" dirty="0" smtClean="0"/>
              <a:t>起源于</a:t>
            </a:r>
            <a:r>
              <a:rPr lang="en-US" altLang="zh-CN" dirty="0" smtClean="0"/>
              <a:t>IPv4</a:t>
            </a:r>
            <a:r>
              <a:rPr lang="zh-CN" altLang="en-US" dirty="0" smtClean="0"/>
              <a:t>（</a:t>
            </a:r>
            <a:r>
              <a:rPr lang="en-US" altLang="zh-CN" dirty="0" smtClean="0"/>
              <a:t>Internet Protocol version 4</a:t>
            </a:r>
            <a:r>
              <a:rPr lang="zh-CN" altLang="en-US" dirty="0" smtClean="0"/>
              <a:t>），其核心技术可扩展到多种网络协议，包括</a:t>
            </a:r>
            <a:r>
              <a:rPr lang="en-US" altLang="zh-CN" dirty="0" smtClean="0"/>
              <a:t>IPv6</a:t>
            </a:r>
            <a:r>
              <a:rPr lang="zh-CN" altLang="en-US" dirty="0" smtClean="0"/>
              <a:t>（</a:t>
            </a:r>
            <a:r>
              <a:rPr lang="en-US" altLang="zh-CN" dirty="0" smtClean="0"/>
              <a:t>Internet Protocol version 6</a:t>
            </a:r>
            <a:r>
              <a:rPr lang="zh-CN" altLang="en-US" dirty="0" smtClean="0"/>
              <a:t>）、</a:t>
            </a:r>
            <a:r>
              <a:rPr lang="en-US" altLang="zh-CN" dirty="0" smtClean="0"/>
              <a:t>IPX</a:t>
            </a:r>
            <a:r>
              <a:rPr lang="zh-CN" altLang="en-US" dirty="0" smtClean="0"/>
              <a:t>（</a:t>
            </a:r>
            <a:r>
              <a:rPr lang="en-US" altLang="zh-CN" dirty="0" smtClean="0"/>
              <a:t>Internet Packet Exchange</a:t>
            </a:r>
            <a:r>
              <a:rPr lang="zh-CN" altLang="en-US" dirty="0" smtClean="0"/>
              <a:t>）、</a:t>
            </a:r>
            <a:r>
              <a:rPr lang="en-US" altLang="zh-CN" dirty="0" err="1" smtClean="0"/>
              <a:t>Appletalk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DECnet</a:t>
            </a:r>
            <a:r>
              <a:rPr lang="zh-CN" altLang="en-US" dirty="0" smtClean="0"/>
              <a:t>、</a:t>
            </a:r>
            <a:r>
              <a:rPr lang="en-US" altLang="zh-CN" dirty="0" smtClean="0"/>
              <a:t>CLNP</a:t>
            </a:r>
            <a:r>
              <a:rPr lang="zh-CN" altLang="en-US" dirty="0" smtClean="0"/>
              <a:t>（</a:t>
            </a:r>
            <a:r>
              <a:rPr lang="en-US" altLang="zh-CN" dirty="0" smtClean="0"/>
              <a:t>Connectionless Network Protocol</a:t>
            </a:r>
            <a:r>
              <a:rPr lang="zh-CN" altLang="en-US" dirty="0" smtClean="0"/>
              <a:t>）等。</a:t>
            </a:r>
            <a:r>
              <a:rPr lang="en-US" altLang="zh-CN" dirty="0" smtClean="0"/>
              <a:t>MPLS</a:t>
            </a:r>
            <a:r>
              <a:rPr lang="zh-CN" altLang="en-US" dirty="0" smtClean="0"/>
              <a:t>中的“</a:t>
            </a:r>
            <a:r>
              <a:rPr lang="en-US" altLang="zh-CN" dirty="0" smtClean="0"/>
              <a:t>Multiprotocol</a:t>
            </a:r>
            <a:r>
              <a:rPr lang="zh-CN" altLang="en-US" dirty="0" smtClean="0"/>
              <a:t>”指的就是支持多种网络协议。</a:t>
            </a:r>
            <a:endParaRPr lang="en-US" altLang="zh-CN" dirty="0" smtClean="0"/>
          </a:p>
          <a:p>
            <a:pPr lvl="0"/>
            <a:r>
              <a:rPr lang="en-US" altLang="zh-CN" dirty="0" smtClean="0"/>
              <a:t>MPLS</a:t>
            </a:r>
            <a:r>
              <a:rPr lang="zh-CN" altLang="en-US" dirty="0" smtClean="0"/>
              <a:t>以标签交换替代</a:t>
            </a:r>
            <a:r>
              <a:rPr lang="en-US" altLang="zh-CN" dirty="0" smtClean="0"/>
              <a:t>IP</a:t>
            </a:r>
            <a:r>
              <a:rPr lang="zh-CN" altLang="en-US" dirty="0" smtClean="0"/>
              <a:t>转发。标签是一个短而定长的、只具有本地意义的标识符。</a:t>
            </a:r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5106662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47131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14756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关于</a:t>
            </a:r>
            <a:r>
              <a:rPr lang="en-US" altLang="zh-CN" smtClean="0"/>
              <a:t>MPLS</a:t>
            </a:r>
            <a:r>
              <a:rPr lang="zh-CN" altLang="en-US" smtClean="0"/>
              <a:t>报文的标签操作，将在后面的课程中展开介绍。</a:t>
            </a:r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11400470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在传统的采用最长匹配算法的</a:t>
            </a:r>
            <a:r>
              <a:rPr lang="en-US" altLang="zh-CN" smtClean="0"/>
              <a:t>IP</a:t>
            </a:r>
            <a:r>
              <a:rPr lang="zh-CN" altLang="en-US" smtClean="0"/>
              <a:t>转发中，匹配到同一条路由的所有报文就是一个转发等价类。</a:t>
            </a:r>
            <a:endParaRPr lang="en-US" altLang="zh-CN" smtClean="0"/>
          </a:p>
          <a:p>
            <a:r>
              <a:rPr lang="zh-CN" altLang="en-US" smtClean="0"/>
              <a:t>在</a:t>
            </a:r>
            <a:r>
              <a:rPr lang="en-US" altLang="zh-CN" smtClean="0"/>
              <a:t>MPLS</a:t>
            </a:r>
            <a:r>
              <a:rPr lang="zh-CN" altLang="en-US" smtClean="0"/>
              <a:t>中，关于</a:t>
            </a:r>
            <a:r>
              <a:rPr lang="en-US" altLang="zh-CN" smtClean="0"/>
              <a:t>FEC</a:t>
            </a:r>
            <a:r>
              <a:rPr lang="zh-CN" altLang="en-US" smtClean="0"/>
              <a:t>最常见的例子是：目的</a:t>
            </a:r>
            <a:r>
              <a:rPr lang="en-US" altLang="zh-CN" smtClean="0"/>
              <a:t>IP</a:t>
            </a:r>
            <a:r>
              <a:rPr lang="zh-CN" altLang="en-US" smtClean="0"/>
              <a:t>地址匹配同一条</a:t>
            </a:r>
            <a:r>
              <a:rPr lang="en-US" altLang="zh-CN" smtClean="0"/>
              <a:t>IP</a:t>
            </a:r>
            <a:r>
              <a:rPr lang="zh-CN" altLang="en-US" smtClean="0"/>
              <a:t>路由的报文被认为属于同一个</a:t>
            </a:r>
            <a:r>
              <a:rPr lang="en-US" altLang="zh-CN" smtClean="0"/>
              <a:t>FEC</a:t>
            </a:r>
            <a:r>
              <a:rPr lang="zh-CN" altLang="en-US" smtClean="0"/>
              <a:t>。</a:t>
            </a:r>
            <a:endParaRPr lang="en-US" altLang="zh-CN" smtClean="0"/>
          </a:p>
          <a:p>
            <a:endParaRPr lang="en-US" altLang="zh-CN" smtClean="0"/>
          </a:p>
          <a:p>
            <a:endParaRPr lang="en-US" altLang="zh-CN" smtClean="0"/>
          </a:p>
          <a:p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11964449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dirty="0" smtClean="0"/>
              <a:t>一条</a:t>
            </a:r>
            <a:r>
              <a:rPr lang="en-US" altLang="zh-CN" dirty="0" smtClean="0"/>
              <a:t>LSP</a:t>
            </a:r>
            <a:r>
              <a:rPr lang="zh-CN" altLang="en-US" dirty="0" smtClean="0"/>
              <a:t>包含一台入站</a:t>
            </a:r>
            <a:r>
              <a:rPr lang="en-US" altLang="zh-CN" dirty="0" smtClean="0"/>
              <a:t>LSR</a:t>
            </a:r>
            <a:r>
              <a:rPr lang="zh-CN" altLang="en-US" dirty="0" smtClean="0"/>
              <a:t>、一台出站</a:t>
            </a:r>
            <a:r>
              <a:rPr lang="en-US" altLang="zh-CN" dirty="0" smtClean="0"/>
              <a:t>LSR</a:t>
            </a:r>
            <a:r>
              <a:rPr lang="zh-CN" altLang="en-US" dirty="0" smtClean="0"/>
              <a:t>以及数量可变的中转</a:t>
            </a:r>
            <a:r>
              <a:rPr lang="en-US" altLang="zh-CN" dirty="0" smtClean="0"/>
              <a:t>LSR</a:t>
            </a:r>
            <a:r>
              <a:rPr lang="zh-CN" altLang="en-US" dirty="0" smtClean="0"/>
              <a:t>，因此</a:t>
            </a:r>
            <a:r>
              <a:rPr lang="en-US" altLang="zh-CN" dirty="0" smtClean="0"/>
              <a:t>LSP</a:t>
            </a:r>
            <a:r>
              <a:rPr lang="zh-CN" altLang="en-US" dirty="0" smtClean="0"/>
              <a:t>也可以看做是这些</a:t>
            </a:r>
            <a:r>
              <a:rPr lang="en-US" altLang="zh-CN" dirty="0" smtClean="0"/>
              <a:t>LSR</a:t>
            </a:r>
            <a:r>
              <a:rPr lang="zh-CN" altLang="en-US" dirty="0" smtClean="0"/>
              <a:t>的有序集合。</a:t>
            </a:r>
            <a:endParaRPr lang="en-US" altLang="zh-CN" dirty="0" smtClean="0"/>
          </a:p>
          <a:p>
            <a:pPr lvl="0"/>
            <a:r>
              <a:rPr lang="en-US" altLang="zh-CN" dirty="0" smtClean="0"/>
              <a:t>LSP</a:t>
            </a:r>
            <a:r>
              <a:rPr lang="zh-CN" altLang="en-US" dirty="0" smtClean="0"/>
              <a:t>需要在数据转发开始前建立完成，只有这样报文才能顺利穿越</a:t>
            </a:r>
            <a:r>
              <a:rPr lang="en-US" altLang="zh-CN" dirty="0" smtClean="0"/>
              <a:t>MPLS</a:t>
            </a:r>
            <a:r>
              <a:rPr lang="zh-CN" altLang="en-US" dirty="0" smtClean="0"/>
              <a:t>域。</a:t>
            </a:r>
            <a:endParaRPr lang="en-US" altLang="zh-CN" dirty="0" smtClean="0"/>
          </a:p>
          <a:p>
            <a:pPr lvl="0"/>
            <a:r>
              <a:rPr lang="en-US" altLang="zh-CN" dirty="0" smtClean="0"/>
              <a:t>LSP</a:t>
            </a:r>
            <a:r>
              <a:rPr lang="zh-CN" altLang="en-US" dirty="0" smtClean="0"/>
              <a:t>可通过静态和动态两种方式建立。</a:t>
            </a:r>
            <a:endParaRPr lang="en-US" altLang="zh-CN" dirty="0" smtClean="0"/>
          </a:p>
          <a:p>
            <a:pPr lvl="0"/>
            <a:r>
              <a:rPr lang="zh-CN" altLang="en-US" dirty="0" smtClean="0"/>
              <a:t>需要注意的是，</a:t>
            </a:r>
            <a:r>
              <a:rPr lang="en-US" altLang="zh-CN" dirty="0" smtClean="0"/>
              <a:t>LSP</a:t>
            </a:r>
            <a:r>
              <a:rPr lang="zh-CN" altLang="en-US" dirty="0" smtClean="0"/>
              <a:t>是一个从“起点”到“终点”的单向路径，若需要双向数据互通，则需要在双方之间建立双向的</a:t>
            </a:r>
            <a:r>
              <a:rPr lang="en-US" altLang="zh-CN" dirty="0" smtClean="0"/>
              <a:t>LSP</a:t>
            </a:r>
            <a:r>
              <a:rPr lang="zh-CN" altLang="en-US" dirty="0" smtClean="0"/>
              <a:t>。</a:t>
            </a:r>
          </a:p>
          <a:p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26193701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236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/>
              <a:t>EXP</a:t>
            </a:r>
            <a:r>
              <a:rPr lang="zh-CN" altLang="en-US" smtClean="0"/>
              <a:t>字段在早期的</a:t>
            </a:r>
            <a:r>
              <a:rPr lang="en-US" altLang="zh-CN" smtClean="0"/>
              <a:t>MPLS</a:t>
            </a:r>
            <a:r>
              <a:rPr lang="zh-CN" altLang="en-US" smtClean="0"/>
              <a:t>标准中被定义，意为试验性的字段，但实际上该字段主要被用于</a:t>
            </a:r>
            <a:r>
              <a:rPr lang="en-US" altLang="zh-CN" smtClean="0"/>
              <a:t>CoS</a:t>
            </a:r>
            <a:r>
              <a:rPr lang="zh-CN" altLang="en-US" smtClean="0"/>
              <a:t>。为了避免歧义，</a:t>
            </a:r>
            <a:r>
              <a:rPr lang="en-US" altLang="zh-CN" smtClean="0"/>
              <a:t>RFC5462</a:t>
            </a:r>
            <a:r>
              <a:rPr lang="zh-CN" altLang="en-US" smtClean="0"/>
              <a:t>重新定义了该字段，命名为流分类（</a:t>
            </a:r>
            <a:r>
              <a:rPr lang="en-US" altLang="zh-CN" smtClean="0"/>
              <a:t>Traffic Class</a:t>
            </a:r>
            <a:r>
              <a:rPr lang="zh-CN" altLang="en-US" smtClean="0"/>
              <a:t>）。</a:t>
            </a:r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31660810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当上层为</a:t>
            </a:r>
            <a:r>
              <a:rPr lang="en-US" altLang="zh-CN" smtClean="0"/>
              <a:t>MPLS</a:t>
            </a:r>
            <a:r>
              <a:rPr lang="zh-CN" altLang="en-US" smtClean="0"/>
              <a:t>标签栈时，以太网头部中的</a:t>
            </a:r>
            <a:r>
              <a:rPr lang="en-US" altLang="zh-CN" smtClean="0"/>
              <a:t>Type</a:t>
            </a:r>
            <a:r>
              <a:rPr lang="zh-CN" altLang="en-US" smtClean="0"/>
              <a:t>字段为</a:t>
            </a:r>
            <a:r>
              <a:rPr lang="en-US" altLang="zh-CN" smtClean="0"/>
              <a:t>0x8847</a:t>
            </a:r>
            <a:r>
              <a:rPr lang="zh-CN" altLang="en-US" smtClean="0"/>
              <a:t>，</a:t>
            </a:r>
            <a:r>
              <a:rPr lang="en-US" altLang="zh-CN" smtClean="0"/>
              <a:t>PPP</a:t>
            </a:r>
            <a:r>
              <a:rPr lang="zh-CN" altLang="en-US" smtClean="0"/>
              <a:t>头部中的</a:t>
            </a:r>
            <a:r>
              <a:rPr lang="en-US" altLang="zh-CN" smtClean="0"/>
              <a:t>Protocol</a:t>
            </a:r>
            <a:r>
              <a:rPr lang="zh-CN" altLang="en-US" smtClean="0"/>
              <a:t>字段为</a:t>
            </a:r>
            <a:r>
              <a:rPr lang="en-US" altLang="zh-CN" smtClean="0"/>
              <a:t>0x8281</a:t>
            </a:r>
            <a:r>
              <a:rPr lang="zh-CN" altLang="en-US" smtClean="0"/>
              <a:t>。</a:t>
            </a:r>
          </a:p>
          <a:p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6502387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只具有本地意义说明每一台</a:t>
            </a:r>
            <a:r>
              <a:rPr lang="en-US" altLang="zh-CN" smtClean="0"/>
              <a:t>LSR</a:t>
            </a:r>
            <a:r>
              <a:rPr lang="zh-CN" altLang="en-US" smtClean="0"/>
              <a:t>之间的标签空间是相互独立的，即每台路由器都可以使用完整的标签空间。</a:t>
            </a:r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31212777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4" name="备注占位符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0573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24413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dirty="0" smtClean="0"/>
              <a:t>同一个</a:t>
            </a:r>
            <a:r>
              <a:rPr lang="en-US" altLang="zh-CN" dirty="0" smtClean="0"/>
              <a:t>FEC</a:t>
            </a:r>
            <a:r>
              <a:rPr lang="zh-CN" altLang="en-US" dirty="0" smtClean="0"/>
              <a:t>，若进入</a:t>
            </a:r>
            <a:r>
              <a:rPr lang="en-US" altLang="zh-CN" dirty="0" smtClean="0"/>
              <a:t>MPLS</a:t>
            </a:r>
            <a:r>
              <a:rPr lang="zh-CN" altLang="en-US" dirty="0" smtClean="0"/>
              <a:t>域的</a:t>
            </a:r>
            <a:r>
              <a:rPr lang="en-US" altLang="zh-CN" dirty="0" smtClean="0"/>
              <a:t>Ingress LSR</a:t>
            </a:r>
            <a:r>
              <a:rPr lang="zh-CN" altLang="en-US" dirty="0" smtClean="0"/>
              <a:t>（入站</a:t>
            </a:r>
            <a:r>
              <a:rPr lang="en-US" altLang="zh-CN" dirty="0" smtClean="0"/>
              <a:t>LSR</a:t>
            </a:r>
            <a:r>
              <a:rPr lang="zh-CN" altLang="en-US" dirty="0" smtClean="0"/>
              <a:t>）不同，转发时的</a:t>
            </a:r>
            <a:r>
              <a:rPr lang="en-US" altLang="zh-CN" dirty="0" smtClean="0"/>
              <a:t>LSP</a:t>
            </a:r>
            <a:r>
              <a:rPr lang="zh-CN" altLang="en-US" dirty="0" smtClean="0"/>
              <a:t>也不相同。</a:t>
            </a:r>
            <a:endParaRPr lang="en-US" altLang="zh-CN" dirty="0" smtClean="0"/>
          </a:p>
          <a:p>
            <a:pPr lvl="0"/>
            <a:r>
              <a:rPr lang="zh-CN" altLang="en-US" dirty="0" smtClean="0"/>
              <a:t>同一个</a:t>
            </a:r>
            <a:r>
              <a:rPr lang="en-US" altLang="zh-CN" dirty="0" smtClean="0"/>
              <a:t>FEC</a:t>
            </a:r>
            <a:r>
              <a:rPr lang="zh-CN" altLang="en-US" dirty="0" smtClean="0"/>
              <a:t>，</a:t>
            </a:r>
            <a:r>
              <a:rPr lang="en-US" altLang="zh-CN" dirty="0" smtClean="0"/>
              <a:t>LSR</a:t>
            </a:r>
            <a:r>
              <a:rPr lang="zh-CN" altLang="en-US" dirty="0" smtClean="0"/>
              <a:t>的处理方式相同，不论这个</a:t>
            </a:r>
            <a:r>
              <a:rPr lang="en-US" altLang="zh-CN" dirty="0" smtClean="0"/>
              <a:t>FEC</a:t>
            </a:r>
            <a:r>
              <a:rPr lang="zh-CN" altLang="en-US" dirty="0" smtClean="0"/>
              <a:t>来自哪里（进入设备的接口）。</a:t>
            </a:r>
            <a:endParaRPr lang="en-US" altLang="zh-CN" dirty="0" smtClean="0"/>
          </a:p>
          <a:p>
            <a:pPr lvl="0"/>
            <a:r>
              <a:rPr lang="en-US" altLang="zh-CN" dirty="0" smtClean="0"/>
              <a:t>LSR</a:t>
            </a:r>
            <a:r>
              <a:rPr lang="zh-CN" altLang="en-US" dirty="0" smtClean="0"/>
              <a:t>的转发动作决定了</a:t>
            </a:r>
            <a:r>
              <a:rPr lang="en-US" altLang="zh-CN" dirty="0" smtClean="0"/>
              <a:t>LSP</a:t>
            </a:r>
            <a:r>
              <a:rPr lang="zh-CN" altLang="en-US" dirty="0" smtClean="0"/>
              <a:t>，而标签转发表确定转发动作，所以建立标签转发表也可以理解为建立</a:t>
            </a:r>
            <a:r>
              <a:rPr lang="en-US" altLang="zh-CN" dirty="0" smtClean="0"/>
              <a:t>LSP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如图所示，因为有着相同的目的地，所以这三份数据属于同一个转发等价类</a:t>
            </a:r>
            <a:r>
              <a:rPr lang="en-US" altLang="zh-CN" dirty="0" smtClean="0"/>
              <a:t>FEC1</a:t>
            </a:r>
            <a:r>
              <a:rPr lang="zh-CN" altLang="en-US" dirty="0" smtClean="0"/>
              <a:t>。同时由于入站</a:t>
            </a:r>
            <a:r>
              <a:rPr lang="en-US" altLang="zh-CN" dirty="0" smtClean="0"/>
              <a:t>LSR</a:t>
            </a:r>
            <a:r>
              <a:rPr lang="zh-CN" altLang="en-US" dirty="0" smtClean="0"/>
              <a:t>不同，这些数据将分别在</a:t>
            </a:r>
            <a:r>
              <a:rPr lang="en-US" altLang="zh-CN" dirty="0" smtClean="0"/>
              <a:t>LSP1</a:t>
            </a:r>
            <a:r>
              <a:rPr lang="zh-CN" altLang="en-US" dirty="0" smtClean="0"/>
              <a:t>、</a:t>
            </a:r>
            <a:r>
              <a:rPr lang="en-US" altLang="zh-CN" dirty="0" smtClean="0"/>
              <a:t>LSP2</a:t>
            </a:r>
            <a:r>
              <a:rPr lang="zh-CN" altLang="en-US" dirty="0" smtClean="0"/>
              <a:t>和</a:t>
            </a:r>
            <a:r>
              <a:rPr lang="en-US" altLang="zh-CN" dirty="0" smtClean="0"/>
              <a:t>LSP3</a:t>
            </a:r>
            <a:r>
              <a:rPr lang="zh-CN" altLang="en-US" dirty="0" smtClean="0"/>
              <a:t>上被转发。因为标签仅具有本地意义，所以每台</a:t>
            </a:r>
            <a:r>
              <a:rPr lang="en-US" altLang="zh-CN" dirty="0" smtClean="0"/>
              <a:t>LSR</a:t>
            </a:r>
            <a:r>
              <a:rPr lang="zh-CN" altLang="en-US" dirty="0" smtClean="0"/>
              <a:t>上给同一</a:t>
            </a:r>
            <a:r>
              <a:rPr lang="en-US" altLang="zh-CN" dirty="0" smtClean="0"/>
              <a:t>FEC</a:t>
            </a:r>
            <a:r>
              <a:rPr lang="zh-CN" altLang="en-US" dirty="0" smtClean="0"/>
              <a:t>分配的标签，可以相同，也可以不同。</a:t>
            </a:r>
            <a:endParaRPr lang="en-US" altLang="zh-CN" dirty="0" smtClean="0"/>
          </a:p>
          <a:p>
            <a:endParaRPr lang="en-US" altLang="zh-CN" dirty="0" smtClean="0"/>
          </a:p>
          <a:p>
            <a:pPr lvl="0"/>
            <a:endParaRPr lang="en-US" altLang="zh-CN" dirty="0" smtClean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27237575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控制平面：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控制平面是无连接的，主要功能是负责产生和维护路由信息以及标签信息。</a:t>
            </a:r>
          </a:p>
          <a:p>
            <a:pPr lvl="1"/>
            <a:r>
              <a:rPr lang="zh-CN" altLang="en-US" dirty="0" smtClean="0"/>
              <a:t>控制平面包括：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路由信息表</a:t>
            </a:r>
            <a:r>
              <a:rPr lang="en-US" altLang="zh-CN" dirty="0" smtClean="0"/>
              <a:t>RIB</a:t>
            </a:r>
            <a:r>
              <a:rPr lang="zh-CN" altLang="en-US" dirty="0" smtClean="0"/>
              <a:t>（</a:t>
            </a:r>
            <a:r>
              <a:rPr lang="en-US" altLang="zh-CN" dirty="0" smtClean="0"/>
              <a:t>Routing Information Base</a:t>
            </a:r>
            <a:r>
              <a:rPr lang="zh-CN" altLang="en-US" dirty="0" smtClean="0"/>
              <a:t>）：由</a:t>
            </a:r>
            <a:r>
              <a:rPr lang="en-US" altLang="zh-CN" dirty="0" smtClean="0"/>
              <a:t>IP</a:t>
            </a:r>
            <a:r>
              <a:rPr lang="zh-CN" altLang="en-US" dirty="0" smtClean="0"/>
              <a:t>路由协议（</a:t>
            </a:r>
            <a:r>
              <a:rPr lang="en-US" altLang="zh-CN" dirty="0" smtClean="0"/>
              <a:t>IP Routing Protocol</a:t>
            </a:r>
            <a:r>
              <a:rPr lang="zh-CN" altLang="en-US" dirty="0" smtClean="0"/>
              <a:t>）、静态路由和直连路由共同生成，用于选择路由。</a:t>
            </a:r>
          </a:p>
          <a:p>
            <a:pPr lvl="2"/>
            <a:r>
              <a:rPr lang="zh-CN" altLang="en-US" dirty="0" smtClean="0"/>
              <a:t>标签信息表</a:t>
            </a:r>
            <a:r>
              <a:rPr lang="en-US" altLang="zh-CN" dirty="0" smtClean="0"/>
              <a:t>LIB</a:t>
            </a:r>
            <a:r>
              <a:rPr lang="zh-CN" altLang="en-US" dirty="0" smtClean="0"/>
              <a:t>（</a:t>
            </a:r>
            <a:r>
              <a:rPr lang="en-US" altLang="zh-CN" dirty="0" smtClean="0"/>
              <a:t>Label Information Base</a:t>
            </a:r>
            <a:r>
              <a:rPr lang="zh-CN" altLang="en-US" dirty="0" smtClean="0"/>
              <a:t>）：用于管理标签信息，</a:t>
            </a:r>
            <a:r>
              <a:rPr lang="en-US" altLang="zh-CN" dirty="0" smtClean="0"/>
              <a:t>LIB</a:t>
            </a:r>
            <a:r>
              <a:rPr lang="zh-CN" altLang="en-US" dirty="0" smtClean="0"/>
              <a:t>中的表项可由标签交换协议（</a:t>
            </a:r>
            <a:r>
              <a:rPr lang="en-US" altLang="zh-CN" dirty="0" smtClean="0"/>
              <a:t>LDP</a:t>
            </a:r>
            <a:r>
              <a:rPr lang="zh-CN" altLang="en-US" dirty="0" smtClean="0"/>
              <a:t>、</a:t>
            </a:r>
            <a:r>
              <a:rPr lang="en-US" altLang="zh-CN" dirty="0" smtClean="0"/>
              <a:t>RSVP</a:t>
            </a:r>
            <a:r>
              <a:rPr lang="zh-CN" altLang="en-US" dirty="0" smtClean="0"/>
              <a:t>等协议）或静态配置生成。</a:t>
            </a:r>
          </a:p>
          <a:p>
            <a:r>
              <a:rPr lang="zh-CN" altLang="en-US" dirty="0" smtClean="0"/>
              <a:t>转发平面：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转发平面也称为数据平面，是面向连接的， 主要功能是负责普通</a:t>
            </a:r>
            <a:r>
              <a:rPr lang="en-US" altLang="zh-CN" dirty="0" smtClean="0"/>
              <a:t>IP</a:t>
            </a:r>
            <a:r>
              <a:rPr lang="zh-CN" altLang="en-US" dirty="0" smtClean="0"/>
              <a:t>报文的转发以及带</a:t>
            </a:r>
            <a:r>
              <a:rPr lang="en-US" altLang="zh-CN" dirty="0" smtClean="0"/>
              <a:t>MPLS</a:t>
            </a:r>
            <a:r>
              <a:rPr lang="zh-CN" altLang="en-US" dirty="0" smtClean="0"/>
              <a:t>标签报文的转发。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转发平面包括：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转发信息表</a:t>
            </a:r>
            <a:r>
              <a:rPr lang="en-US" altLang="zh-CN" dirty="0" smtClean="0"/>
              <a:t>FIB</a:t>
            </a:r>
            <a:r>
              <a:rPr lang="zh-CN" altLang="en-US" dirty="0" smtClean="0"/>
              <a:t>（</a:t>
            </a:r>
            <a:r>
              <a:rPr lang="en-US" altLang="zh-CN" dirty="0" smtClean="0"/>
              <a:t>Forwarding Information Base</a:t>
            </a:r>
            <a:r>
              <a:rPr lang="zh-CN" altLang="en-US" dirty="0" smtClean="0"/>
              <a:t>）：从</a:t>
            </a:r>
            <a:r>
              <a:rPr lang="en-US" altLang="zh-CN" dirty="0" smtClean="0"/>
              <a:t>RIB</a:t>
            </a:r>
            <a:r>
              <a:rPr lang="zh-CN" altLang="en-US" dirty="0" smtClean="0"/>
              <a:t>提取必要的路由信息生成，负责普通</a:t>
            </a:r>
            <a:r>
              <a:rPr lang="en-US" altLang="zh-CN" dirty="0" smtClean="0"/>
              <a:t>IP</a:t>
            </a:r>
            <a:r>
              <a:rPr lang="zh-CN" altLang="en-US" dirty="0" smtClean="0"/>
              <a:t>报文的转发。</a:t>
            </a:r>
          </a:p>
          <a:p>
            <a:pPr lvl="2"/>
            <a:r>
              <a:rPr lang="zh-CN" altLang="en-US" dirty="0" smtClean="0"/>
              <a:t>标签转发信息表</a:t>
            </a:r>
            <a:r>
              <a:rPr lang="en-US" altLang="zh-CN" dirty="0" smtClean="0"/>
              <a:t>LFIB</a:t>
            </a:r>
            <a:r>
              <a:rPr lang="zh-CN" altLang="en-US" dirty="0" smtClean="0"/>
              <a:t>（</a:t>
            </a:r>
            <a:r>
              <a:rPr lang="en-US" altLang="zh-CN" dirty="0" smtClean="0"/>
              <a:t>Label Forwarding Information Base</a:t>
            </a:r>
            <a:r>
              <a:rPr lang="zh-CN" altLang="en-US" dirty="0" smtClean="0"/>
              <a:t>）：简称标签转发表，负责带</a:t>
            </a:r>
            <a:r>
              <a:rPr lang="en-US" altLang="zh-CN" dirty="0" smtClean="0"/>
              <a:t>MPLS</a:t>
            </a:r>
            <a:r>
              <a:rPr lang="zh-CN" altLang="en-US" dirty="0" smtClean="0"/>
              <a:t>标签报文的转发。</a:t>
            </a:r>
          </a:p>
          <a:p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22682706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6062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56861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静态</a:t>
            </a:r>
            <a:r>
              <a:rPr lang="en-US" altLang="zh-CN" smtClean="0"/>
              <a:t>LSP</a:t>
            </a:r>
            <a:r>
              <a:rPr lang="zh-CN" altLang="en-US" smtClean="0"/>
              <a:t>：</a:t>
            </a:r>
            <a:endParaRPr lang="en-US" altLang="zh-CN" smtClean="0"/>
          </a:p>
          <a:p>
            <a:pPr lvl="1"/>
            <a:r>
              <a:rPr lang="zh-CN" altLang="en-US" smtClean="0"/>
              <a:t>由于静态</a:t>
            </a:r>
            <a:r>
              <a:rPr lang="en-US" altLang="zh-CN" smtClean="0"/>
              <a:t>LSP</a:t>
            </a:r>
            <a:r>
              <a:rPr lang="zh-CN" altLang="en-US" smtClean="0"/>
              <a:t>各节点上不能相互感知到整个</a:t>
            </a:r>
            <a:r>
              <a:rPr lang="en-US" altLang="zh-CN" smtClean="0"/>
              <a:t>LSP</a:t>
            </a:r>
            <a:r>
              <a:rPr lang="zh-CN" altLang="en-US" smtClean="0"/>
              <a:t>的情况，因此静态</a:t>
            </a:r>
            <a:r>
              <a:rPr lang="en-US" altLang="zh-CN" smtClean="0"/>
              <a:t>LSP</a:t>
            </a:r>
            <a:r>
              <a:rPr lang="zh-CN" altLang="en-US" smtClean="0"/>
              <a:t>是一个本地的概念。</a:t>
            </a:r>
          </a:p>
          <a:p>
            <a:r>
              <a:rPr lang="zh-CN" altLang="en-US" smtClean="0"/>
              <a:t>动态</a:t>
            </a:r>
            <a:r>
              <a:rPr lang="en-US" altLang="zh-CN" smtClean="0"/>
              <a:t>LSP</a:t>
            </a:r>
            <a:r>
              <a:rPr lang="zh-CN" altLang="en-US" smtClean="0"/>
              <a:t>：</a:t>
            </a:r>
            <a:endParaRPr lang="en-US" altLang="zh-CN" smtClean="0"/>
          </a:p>
          <a:p>
            <a:pPr lvl="1"/>
            <a:r>
              <a:rPr lang="zh-CN" altLang="en-US" smtClean="0"/>
              <a:t>其他标签分布协议：</a:t>
            </a:r>
            <a:endParaRPr lang="en-US" altLang="zh-CN" smtClean="0"/>
          </a:p>
          <a:p>
            <a:pPr lvl="2"/>
            <a:r>
              <a:rPr lang="en-US" altLang="zh-CN" smtClean="0"/>
              <a:t>RSVP-TE</a:t>
            </a:r>
            <a:r>
              <a:rPr lang="zh-CN" altLang="en-US" smtClean="0"/>
              <a:t>：</a:t>
            </a:r>
            <a:r>
              <a:rPr lang="en-US" altLang="zh-CN" smtClean="0"/>
              <a:t>Resource Reservation Protocol Traffic Engineering</a:t>
            </a:r>
            <a:r>
              <a:rPr lang="zh-CN" altLang="en-US" smtClean="0"/>
              <a:t>，它是对</a:t>
            </a:r>
            <a:r>
              <a:rPr lang="en-US" altLang="zh-CN" smtClean="0"/>
              <a:t>RSVP</a:t>
            </a:r>
            <a:r>
              <a:rPr lang="zh-CN" altLang="en-US" smtClean="0"/>
              <a:t>的扩展，用于建立基于约束的</a:t>
            </a:r>
            <a:r>
              <a:rPr lang="en-US" altLang="zh-CN" smtClean="0"/>
              <a:t>LSP</a:t>
            </a:r>
            <a:r>
              <a:rPr lang="zh-CN" altLang="en-US" smtClean="0"/>
              <a:t>。它拥有普通</a:t>
            </a:r>
            <a:r>
              <a:rPr lang="en-US" altLang="zh-CN" smtClean="0"/>
              <a:t>LDP LSP</a:t>
            </a:r>
            <a:r>
              <a:rPr lang="zh-CN" altLang="en-US" smtClean="0"/>
              <a:t>没有的功能，如发布带宽预留请求、带宽约束、链路颜色和显式路径等。</a:t>
            </a:r>
          </a:p>
          <a:p>
            <a:pPr lvl="2"/>
            <a:r>
              <a:rPr lang="en-US" altLang="zh-CN" smtClean="0"/>
              <a:t>MP-BGP</a:t>
            </a:r>
            <a:r>
              <a:rPr lang="zh-CN" altLang="en-US" smtClean="0"/>
              <a:t>：</a:t>
            </a:r>
            <a:r>
              <a:rPr lang="en-US" altLang="zh-CN" smtClean="0"/>
              <a:t>Multiprotocol Border Gateway Protocol</a:t>
            </a:r>
            <a:r>
              <a:rPr lang="zh-CN" altLang="en-US" smtClean="0"/>
              <a:t>，</a:t>
            </a:r>
            <a:r>
              <a:rPr lang="en-US" altLang="zh-CN" smtClean="0"/>
              <a:t>MP-BGP</a:t>
            </a:r>
            <a:r>
              <a:rPr lang="zh-CN" altLang="en-US" smtClean="0"/>
              <a:t>是在</a:t>
            </a:r>
            <a:r>
              <a:rPr lang="en-US" altLang="zh-CN" smtClean="0"/>
              <a:t>BGP</a:t>
            </a:r>
            <a:r>
              <a:rPr lang="zh-CN" altLang="en-US" smtClean="0"/>
              <a:t>协议基础上扩展的协议。</a:t>
            </a:r>
            <a:r>
              <a:rPr lang="en-US" altLang="zh-CN" smtClean="0"/>
              <a:t>MP-BGP</a:t>
            </a:r>
            <a:r>
              <a:rPr lang="zh-CN" altLang="en-US" smtClean="0"/>
              <a:t>支持为</a:t>
            </a:r>
            <a:r>
              <a:rPr lang="en-US" altLang="zh-CN" smtClean="0"/>
              <a:t>MPLS VPN</a:t>
            </a:r>
            <a:r>
              <a:rPr lang="zh-CN" altLang="en-US" smtClean="0"/>
              <a:t>业务中私网路由和跨域</a:t>
            </a:r>
            <a:r>
              <a:rPr lang="en-US" altLang="zh-CN" smtClean="0"/>
              <a:t>VPN</a:t>
            </a:r>
            <a:r>
              <a:rPr lang="zh-CN" altLang="en-US" smtClean="0"/>
              <a:t>的标签路由分配标签。</a:t>
            </a:r>
          </a:p>
          <a:p>
            <a:pPr lvl="2"/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219263937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>
                <a:sym typeface="Huawei Sans" panose="020C0503030203020204" pitchFamily="34" charset="0"/>
              </a:rPr>
              <a:t>Tunnel ID</a:t>
            </a:r>
            <a:r>
              <a:rPr lang="zh-CN" altLang="en-US" dirty="0" smtClean="0">
                <a:sym typeface="Huawei Sans" panose="020C0503030203020204" pitchFamily="34" charset="0"/>
              </a:rPr>
              <a:t>：为了给使用隧道的上层应用（如</a:t>
            </a:r>
            <a:r>
              <a:rPr lang="en-US" altLang="zh-CN" dirty="0" smtClean="0">
                <a:sym typeface="Huawei Sans" panose="020C0503030203020204" pitchFamily="34" charset="0"/>
              </a:rPr>
              <a:t>VPN</a:t>
            </a:r>
            <a:r>
              <a:rPr lang="zh-CN" altLang="en-US" dirty="0" smtClean="0">
                <a:sym typeface="Huawei Sans" panose="020C0503030203020204" pitchFamily="34" charset="0"/>
              </a:rPr>
              <a:t>、路由管理）提供统一的接口，系统自动为隧道分配了一个</a:t>
            </a:r>
            <a:r>
              <a:rPr lang="en-US" altLang="zh-CN" dirty="0" smtClean="0">
                <a:sym typeface="Huawei Sans" panose="020C0503030203020204" pitchFamily="34" charset="0"/>
              </a:rPr>
              <a:t>ID</a:t>
            </a:r>
            <a:r>
              <a:rPr lang="zh-CN" altLang="en-US" dirty="0" smtClean="0">
                <a:sym typeface="Huawei Sans" panose="020C0503030203020204" pitchFamily="34" charset="0"/>
              </a:rPr>
              <a:t>，也称为</a:t>
            </a:r>
            <a:r>
              <a:rPr lang="en-US" altLang="zh-CN" dirty="0" smtClean="0">
                <a:sym typeface="Huawei Sans" panose="020C0503030203020204" pitchFamily="34" charset="0"/>
              </a:rPr>
              <a:t>Tunnel ID</a:t>
            </a:r>
            <a:r>
              <a:rPr lang="zh-CN" altLang="en-US" dirty="0" smtClean="0">
                <a:sym typeface="Huawei Sans" panose="020C0503030203020204" pitchFamily="34" charset="0"/>
              </a:rPr>
              <a:t>。该</a:t>
            </a:r>
            <a:r>
              <a:rPr lang="en-US" altLang="zh-CN" dirty="0" smtClean="0">
                <a:sym typeface="Huawei Sans" panose="020C0503030203020204" pitchFamily="34" charset="0"/>
              </a:rPr>
              <a:t>Tunnel ID</a:t>
            </a:r>
            <a:r>
              <a:rPr lang="zh-CN" altLang="en-US" dirty="0" smtClean="0">
                <a:sym typeface="Huawei Sans" panose="020C0503030203020204" pitchFamily="34" charset="0"/>
              </a:rPr>
              <a:t>的长度为</a:t>
            </a:r>
            <a:r>
              <a:rPr lang="en-US" altLang="zh-CN" dirty="0" smtClean="0">
                <a:sym typeface="Huawei Sans" panose="020C0503030203020204" pitchFamily="34" charset="0"/>
              </a:rPr>
              <a:t>32</a:t>
            </a:r>
            <a:r>
              <a:rPr lang="zh-CN" altLang="en-US" dirty="0" smtClean="0">
                <a:sym typeface="Huawei Sans" panose="020C0503030203020204" pitchFamily="34" charset="0"/>
              </a:rPr>
              <a:t>比特，只是本地有效。在</a:t>
            </a:r>
            <a:r>
              <a:rPr lang="en-US" altLang="zh-CN" dirty="0" smtClean="0">
                <a:sym typeface="Huawei Sans" panose="020C0503030203020204" pitchFamily="34" charset="0"/>
              </a:rPr>
              <a:t>MPLS</a:t>
            </a:r>
            <a:r>
              <a:rPr lang="zh-CN" altLang="en-US" dirty="0" smtClean="0">
                <a:sym typeface="Huawei Sans" panose="020C0503030203020204" pitchFamily="34" charset="0"/>
              </a:rPr>
              <a:t>转发过程中，</a:t>
            </a:r>
            <a:r>
              <a:rPr lang="en-US" altLang="zh-CN" dirty="0" smtClean="0">
                <a:sym typeface="Huawei Sans" panose="020C0503030203020204" pitchFamily="34" charset="0"/>
              </a:rPr>
              <a:t>FIB</a:t>
            </a:r>
            <a:r>
              <a:rPr lang="zh-CN" altLang="en-US" dirty="0" smtClean="0">
                <a:sym typeface="Huawei Sans" panose="020C0503030203020204" pitchFamily="34" charset="0"/>
              </a:rPr>
              <a:t>、</a:t>
            </a:r>
            <a:r>
              <a:rPr lang="en-US" altLang="zh-CN" dirty="0" smtClean="0">
                <a:sym typeface="Huawei Sans" panose="020C0503030203020204" pitchFamily="34" charset="0"/>
              </a:rPr>
              <a:t>ILM</a:t>
            </a:r>
            <a:r>
              <a:rPr lang="zh-CN" altLang="en-US" dirty="0" smtClean="0">
                <a:sym typeface="Huawei Sans" panose="020C0503030203020204" pitchFamily="34" charset="0"/>
              </a:rPr>
              <a:t>和</a:t>
            </a:r>
            <a:r>
              <a:rPr lang="en-US" altLang="zh-CN" dirty="0" smtClean="0">
                <a:sym typeface="Huawei Sans" panose="020C0503030203020204" pitchFamily="34" charset="0"/>
              </a:rPr>
              <a:t>NHLFE</a:t>
            </a:r>
            <a:r>
              <a:rPr lang="zh-CN" altLang="en-US" dirty="0" smtClean="0">
                <a:sym typeface="Huawei Sans" panose="020C0503030203020204" pitchFamily="34" charset="0"/>
              </a:rPr>
              <a:t>表项是通过</a:t>
            </a:r>
            <a:r>
              <a:rPr lang="en-US" altLang="zh-CN" dirty="0" smtClean="0">
                <a:sym typeface="Huawei Sans" panose="020C0503030203020204" pitchFamily="34" charset="0"/>
              </a:rPr>
              <a:t>Tunnel ID</a:t>
            </a:r>
            <a:r>
              <a:rPr lang="zh-CN" altLang="en-US" dirty="0" smtClean="0">
                <a:sym typeface="Huawei Sans" panose="020C0503030203020204" pitchFamily="34" charset="0"/>
              </a:rPr>
              <a:t>关联的。</a:t>
            </a:r>
            <a:endParaRPr lang="en-US" altLang="zh-CN" dirty="0" smtClean="0">
              <a:sym typeface="Huawei Sans" panose="020C0503030203020204" pitchFamily="34" charset="0"/>
            </a:endParaRPr>
          </a:p>
          <a:p>
            <a:pPr lvl="1"/>
            <a:endParaRPr lang="en-US" altLang="zh-CN" dirty="0" smtClean="0">
              <a:sym typeface="Huawei Sans" panose="020C0503030203020204" pitchFamily="34" charset="0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406986866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在</a:t>
            </a:r>
            <a:r>
              <a:rPr lang="en-US" altLang="zh-CN" dirty="0" smtClean="0"/>
              <a:t>Ingress LSR</a:t>
            </a:r>
            <a:r>
              <a:rPr lang="zh-CN" altLang="en-US" dirty="0" smtClean="0"/>
              <a:t>，通过查询</a:t>
            </a:r>
            <a:r>
              <a:rPr lang="en-US" altLang="zh-CN" dirty="0" smtClean="0"/>
              <a:t>FIB</a:t>
            </a:r>
            <a:r>
              <a:rPr lang="zh-CN" altLang="en-US" dirty="0" smtClean="0"/>
              <a:t>表（得到</a:t>
            </a:r>
            <a:r>
              <a:rPr lang="en-US" altLang="zh-CN" dirty="0" smtClean="0"/>
              <a:t>FTN</a:t>
            </a:r>
            <a:r>
              <a:rPr lang="zh-CN" altLang="en-US" dirty="0" smtClean="0"/>
              <a:t>信息）和</a:t>
            </a:r>
            <a:r>
              <a:rPr lang="en-US" altLang="zh-CN" dirty="0" smtClean="0"/>
              <a:t>NHLFE</a:t>
            </a:r>
            <a:r>
              <a:rPr lang="zh-CN" altLang="en-US" dirty="0" smtClean="0"/>
              <a:t>表指导报文的转发。</a:t>
            </a:r>
            <a:endParaRPr lang="en-US" altLang="zh-CN" dirty="0" smtClean="0"/>
          </a:p>
          <a:p>
            <a:pPr lvl="0"/>
            <a:r>
              <a:rPr lang="zh-CN" altLang="en-US" dirty="0" smtClean="0"/>
              <a:t>当</a:t>
            </a:r>
            <a:r>
              <a:rPr lang="en-US" altLang="zh-CN" dirty="0" smtClean="0"/>
              <a:t>IP</a:t>
            </a:r>
            <a:r>
              <a:rPr lang="zh-CN" altLang="en-US" dirty="0" smtClean="0"/>
              <a:t>报文进入</a:t>
            </a:r>
            <a:r>
              <a:rPr lang="en-US" altLang="zh-CN" dirty="0" smtClean="0"/>
              <a:t>MPLS</a:t>
            </a:r>
            <a:r>
              <a:rPr lang="zh-CN" altLang="en-US" dirty="0" smtClean="0"/>
              <a:t>域时，首先查看</a:t>
            </a:r>
            <a:r>
              <a:rPr lang="en-US" altLang="zh-CN" dirty="0" smtClean="0"/>
              <a:t>FIB</a:t>
            </a:r>
            <a:r>
              <a:rPr lang="zh-CN" altLang="en-US" dirty="0" smtClean="0"/>
              <a:t>表，检查目的</a:t>
            </a:r>
            <a:r>
              <a:rPr lang="en-US" altLang="zh-CN" dirty="0" smtClean="0"/>
              <a:t>IP</a:t>
            </a:r>
            <a:r>
              <a:rPr lang="zh-CN" altLang="en-US" dirty="0" smtClean="0"/>
              <a:t>地址对应的</a:t>
            </a:r>
            <a:r>
              <a:rPr lang="en-US" altLang="zh-CN" dirty="0" smtClean="0"/>
              <a:t>Tunnel ID</a:t>
            </a:r>
            <a:r>
              <a:rPr lang="zh-CN" altLang="en-US" dirty="0" smtClean="0"/>
              <a:t>值是否为</a:t>
            </a:r>
            <a:r>
              <a:rPr lang="en-US" altLang="zh-CN" dirty="0" smtClean="0"/>
              <a:t>0x0</a:t>
            </a:r>
            <a:r>
              <a:rPr lang="zh-CN" altLang="en-US" dirty="0" smtClean="0"/>
              <a:t>。</a:t>
            </a:r>
          </a:p>
          <a:p>
            <a:pPr lvl="1"/>
            <a:r>
              <a:rPr lang="zh-CN" altLang="en-US" dirty="0" smtClean="0"/>
              <a:t>如果</a:t>
            </a:r>
            <a:r>
              <a:rPr lang="en-US" altLang="zh-CN" dirty="0" smtClean="0"/>
              <a:t>Tunnel ID</a:t>
            </a:r>
            <a:r>
              <a:rPr lang="zh-CN" altLang="en-US" dirty="0" smtClean="0"/>
              <a:t>值为</a:t>
            </a:r>
            <a:r>
              <a:rPr lang="en-US" altLang="zh-CN" dirty="0" smtClean="0"/>
              <a:t>0x0</a:t>
            </a:r>
            <a:r>
              <a:rPr lang="zh-CN" altLang="en-US" dirty="0" smtClean="0"/>
              <a:t>，则进入正常的</a:t>
            </a:r>
            <a:r>
              <a:rPr lang="en-US" altLang="zh-CN" dirty="0" smtClean="0"/>
              <a:t>IP</a:t>
            </a:r>
            <a:r>
              <a:rPr lang="zh-CN" altLang="en-US" dirty="0" smtClean="0"/>
              <a:t>转发流程。</a:t>
            </a:r>
          </a:p>
          <a:p>
            <a:pPr lvl="1"/>
            <a:r>
              <a:rPr lang="zh-CN" altLang="en-US" dirty="0" smtClean="0"/>
              <a:t>如果</a:t>
            </a:r>
            <a:r>
              <a:rPr lang="en-US" altLang="zh-CN" dirty="0" smtClean="0"/>
              <a:t>Tunnel ID</a:t>
            </a:r>
            <a:r>
              <a:rPr lang="zh-CN" altLang="en-US" dirty="0" smtClean="0"/>
              <a:t>值不为</a:t>
            </a:r>
            <a:r>
              <a:rPr lang="en-US" altLang="zh-CN" dirty="0" smtClean="0"/>
              <a:t>0x0</a:t>
            </a:r>
            <a:r>
              <a:rPr lang="zh-CN" altLang="en-US" dirty="0" smtClean="0"/>
              <a:t>，则进入</a:t>
            </a:r>
            <a:r>
              <a:rPr lang="en-US" altLang="zh-CN" dirty="0" smtClean="0"/>
              <a:t>MPLS</a:t>
            </a:r>
            <a:r>
              <a:rPr lang="zh-CN" altLang="en-US" dirty="0" smtClean="0"/>
              <a:t>转发流程。</a:t>
            </a:r>
          </a:p>
          <a:p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37727290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在</a:t>
            </a:r>
            <a:r>
              <a:rPr lang="en-US" altLang="zh-CN" smtClean="0"/>
              <a:t>Transit LSR</a:t>
            </a:r>
            <a:r>
              <a:rPr lang="zh-CN" altLang="en-US" smtClean="0"/>
              <a:t>，通过查询</a:t>
            </a:r>
            <a:r>
              <a:rPr lang="en-US" altLang="zh-CN" smtClean="0"/>
              <a:t>ILM</a:t>
            </a:r>
            <a:r>
              <a:rPr lang="zh-CN" altLang="en-US" smtClean="0"/>
              <a:t>表和</a:t>
            </a:r>
            <a:r>
              <a:rPr lang="en-US" altLang="zh-CN" smtClean="0"/>
              <a:t>NHLFE</a:t>
            </a:r>
            <a:r>
              <a:rPr lang="zh-CN" altLang="en-US" smtClean="0"/>
              <a:t>表指导</a:t>
            </a:r>
            <a:r>
              <a:rPr lang="en-US" altLang="zh-CN" smtClean="0"/>
              <a:t>MPLS</a:t>
            </a:r>
            <a:r>
              <a:rPr lang="zh-CN" altLang="en-US" smtClean="0"/>
              <a:t>报文的转发。</a:t>
            </a:r>
            <a:endParaRPr lang="zh-CN" altLang="en-US" dirty="0" smtClean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62288437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在</a:t>
            </a:r>
            <a:r>
              <a:rPr lang="en-US" altLang="zh-CN" smtClean="0"/>
              <a:t>Egress LSR</a:t>
            </a:r>
            <a:r>
              <a:rPr lang="zh-CN" altLang="en-US" smtClean="0"/>
              <a:t>，通过查询</a:t>
            </a:r>
            <a:r>
              <a:rPr lang="en-US" altLang="zh-CN" smtClean="0"/>
              <a:t>ILM</a:t>
            </a:r>
            <a:r>
              <a:rPr lang="zh-CN" altLang="en-US" smtClean="0"/>
              <a:t>表指导</a:t>
            </a:r>
            <a:r>
              <a:rPr lang="en-US" altLang="zh-CN" smtClean="0"/>
              <a:t>MPLS</a:t>
            </a:r>
            <a:r>
              <a:rPr lang="zh-CN" altLang="en-US" smtClean="0"/>
              <a:t>报文的转发。</a:t>
            </a:r>
          </a:p>
          <a:p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236865542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689768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295373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072875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/>
              <a:t>out-label</a:t>
            </a:r>
            <a:r>
              <a:rPr lang="zh-CN" altLang="en-US" smtClean="0"/>
              <a:t>占用的是下游</a:t>
            </a:r>
            <a:r>
              <a:rPr lang="en-US" altLang="zh-CN" smtClean="0"/>
              <a:t>LSR</a:t>
            </a:r>
            <a:r>
              <a:rPr lang="zh-CN" altLang="en-US" smtClean="0"/>
              <a:t>的标签空间，而下游空间采用的标签分发方式不确定，所以</a:t>
            </a:r>
            <a:r>
              <a:rPr lang="en-US" altLang="zh-CN" smtClean="0"/>
              <a:t>out-label</a:t>
            </a:r>
            <a:r>
              <a:rPr lang="zh-CN" altLang="en-US" smtClean="0"/>
              <a:t>的标签空间为</a:t>
            </a:r>
            <a:r>
              <a:rPr lang="en-US" altLang="zh-CN" smtClean="0"/>
              <a:t>16~1048575</a:t>
            </a:r>
            <a:r>
              <a:rPr lang="zh-CN" altLang="en-US" smtClean="0"/>
              <a:t>。</a:t>
            </a:r>
            <a:endParaRPr lang="en-US" altLang="zh-CN" smtClean="0"/>
          </a:p>
          <a:p>
            <a:r>
              <a:rPr lang="en-US" altLang="zh-CN" smtClean="0"/>
              <a:t>in-label</a:t>
            </a:r>
            <a:r>
              <a:rPr lang="zh-CN" altLang="en-US" smtClean="0"/>
              <a:t>占用的是当前</a:t>
            </a:r>
            <a:r>
              <a:rPr lang="en-US" altLang="zh-CN" smtClean="0"/>
              <a:t>LSR</a:t>
            </a:r>
            <a:r>
              <a:rPr lang="zh-CN" altLang="en-US" smtClean="0"/>
              <a:t>的标签空间，采用静态</a:t>
            </a:r>
            <a:r>
              <a:rPr lang="en-US" altLang="zh-CN" smtClean="0"/>
              <a:t>LSP</a:t>
            </a:r>
            <a:r>
              <a:rPr lang="zh-CN" altLang="en-US" smtClean="0"/>
              <a:t>时，标签空间为</a:t>
            </a:r>
            <a:r>
              <a:rPr lang="en-US" altLang="zh-CN" smtClean="0"/>
              <a:t>16~1023</a:t>
            </a:r>
            <a:r>
              <a:rPr lang="zh-CN" altLang="en-US" smtClean="0"/>
              <a:t>。</a:t>
            </a:r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153533172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955581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75390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603137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870595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046147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957219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lvl="0" indent="-228600">
              <a:buFont typeface="+mj-lt"/>
              <a:buAutoNum type="arabicPeriod"/>
            </a:pPr>
            <a:r>
              <a:rPr lang="en-US" altLang="zh-CN" dirty="0" smtClean="0"/>
              <a:t>AC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altLang="zh-CN" smtClean="0"/>
              <a:t>B</a:t>
            </a:r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374489532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878012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8611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#总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1"/>
            <a:ext cx="12192000" cy="5602224"/>
          </a:xfrm>
          <a:prstGeom prst="rect">
            <a:avLst/>
          </a:prstGeom>
          <a:ln>
            <a:noFill/>
            <a:prstDash val="dash"/>
          </a:ln>
        </p:spPr>
      </p:pic>
      <p:sp>
        <p:nvSpPr>
          <p:cNvPr id="8" name="L 形 7"/>
          <p:cNvSpPr/>
          <p:nvPr userDrawn="1"/>
        </p:nvSpPr>
        <p:spPr>
          <a:xfrm rot="16200000" flipH="1">
            <a:off x="6634196" y="2578036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 baseline="0"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=""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6560" y="907092"/>
            <a:ext cx="812583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>
              <a:defRPr lang="en-US" sz="3200" b="0" i="0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lvl="0" defTabSz="914034">
              <a:lnSpc>
                <a:spcPts val="3439"/>
              </a:lnSpc>
            </a:pPr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10" name="Text Placeholder 5">
            <a:extLst>
              <a:ext uri="{FF2B5EF4-FFF2-40B4-BE49-F238E27FC236}">
                <a16:creationId xmlns=""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6561" y="1949372"/>
            <a:ext cx="8125840" cy="6439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fontAlgn="base">
              <a:buNone/>
              <a:defRPr lang="en-US" sz="1400" baseline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</a:pPr>
            <a:r>
              <a:rPr lang="zh-CN" altLang="en-US" dirty="0" smtClean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8138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#修订记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3"/>
          <p:cNvGraphicFramePr>
            <a:graphicFrameLocks noGrp="1"/>
          </p:cNvGraphicFramePr>
          <p:nvPr userDrawn="1">
            <p:extLst/>
          </p:nvPr>
        </p:nvGraphicFramePr>
        <p:xfrm>
          <a:off x="1007140" y="1398424"/>
          <a:ext cx="10194260" cy="1082675"/>
        </p:xfrm>
        <a:graphic>
          <a:graphicData uri="http://schemas.openxmlformats.org/drawingml/2006/table">
            <a:tbl>
              <a:tblPr/>
              <a:tblGrid>
                <a:gridCol w="311903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96745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02315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08462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课程编码</a:t>
                      </a:r>
                    </a:p>
                  </a:txBody>
                  <a:tcPr marL="102659" marR="102659" marT="40053" marB="4005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适用产品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产品版本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课程版本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Group 21"/>
          <p:cNvGraphicFramePr>
            <a:graphicFrameLocks noGrp="1"/>
          </p:cNvGraphicFramePr>
          <p:nvPr userDrawn="1">
            <p:extLst/>
          </p:nvPr>
        </p:nvGraphicFramePr>
        <p:xfrm>
          <a:off x="1007140" y="2920836"/>
          <a:ext cx="10177327" cy="2549525"/>
        </p:xfrm>
        <a:graphic>
          <a:graphicData uri="http://schemas.openxmlformats.org/drawingml/2006/table">
            <a:tbl>
              <a:tblPr/>
              <a:tblGrid>
                <a:gridCol w="311903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96745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02315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06769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作者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工号</a:t>
                      </a:r>
                    </a:p>
                  </a:txBody>
                  <a:tcPr marL="102659" marR="102659" marT="40053" marB="4005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时间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审核人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工号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新开发/优化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文本占位符 7"/>
          <p:cNvSpPr>
            <a:spLocks noGrp="1"/>
          </p:cNvSpPr>
          <p:nvPr>
            <p:ph type="body" sz="quarter" idx="17" hasCustomPrompt="1"/>
          </p:nvPr>
        </p:nvSpPr>
        <p:spPr>
          <a:xfrm>
            <a:off x="1007139" y="1969626"/>
            <a:ext cx="3119030" cy="504887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课程编码</a:t>
            </a:r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8" hasCustomPrompt="1"/>
          </p:nvPr>
        </p:nvSpPr>
        <p:spPr>
          <a:xfrm>
            <a:off x="4126170" y="1969626"/>
            <a:ext cx="1967450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适用的产品</a:t>
            </a:r>
          </a:p>
        </p:txBody>
      </p:sp>
      <p:sp>
        <p:nvSpPr>
          <p:cNvPr id="7" name="文本占位符 7"/>
          <p:cNvSpPr>
            <a:spLocks noGrp="1"/>
          </p:cNvSpPr>
          <p:nvPr>
            <p:ph type="body" sz="quarter" idx="19" hasCustomPrompt="1"/>
          </p:nvPr>
        </p:nvSpPr>
        <p:spPr>
          <a:xfrm>
            <a:off x="6093619" y="1969626"/>
            <a:ext cx="3023155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V5R2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20" hasCustomPrompt="1"/>
          </p:nvPr>
        </p:nvSpPr>
        <p:spPr>
          <a:xfrm>
            <a:off x="9116775" y="1969626"/>
            <a:ext cx="2084625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lang="zh-CN" altLang="en-US" sz="1599" kern="1200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 smtClean="0"/>
              <a:t>V1.0</a:t>
            </a:r>
            <a:endParaRPr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1007042" y="3517796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0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4126170" y="3517796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 smtClean="0"/>
              <a:t>2019.01.25</a:t>
            </a:r>
            <a:endParaRPr lang="zh-CN" altLang="en-US" dirty="0"/>
          </a:p>
        </p:txBody>
      </p:sp>
      <p:sp>
        <p:nvSpPr>
          <p:cNvPr id="11" name="文本占位符 7"/>
          <p:cNvSpPr>
            <a:spLocks noGrp="1"/>
          </p:cNvSpPr>
          <p:nvPr>
            <p:ph type="body" sz="quarter" idx="15" hasCustomPrompt="1"/>
          </p:nvPr>
        </p:nvSpPr>
        <p:spPr>
          <a:xfrm>
            <a:off x="6093619" y="3517796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2" name="文本占位符 7"/>
          <p:cNvSpPr>
            <a:spLocks noGrp="1"/>
          </p:cNvSpPr>
          <p:nvPr>
            <p:ph type="body" sz="quarter" idx="16" hasCustomPrompt="1"/>
          </p:nvPr>
        </p:nvSpPr>
        <p:spPr>
          <a:xfrm>
            <a:off x="9116775" y="3481792"/>
            <a:ext cx="2056050" cy="504056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新开发</a:t>
            </a:r>
          </a:p>
        </p:txBody>
      </p:sp>
      <p:sp>
        <p:nvSpPr>
          <p:cNvPr id="13" name="Rectangle 2"/>
          <p:cNvSpPr>
            <a:spLocks noChangeArrowheads="1"/>
          </p:cNvSpPr>
          <p:nvPr userDrawn="1"/>
        </p:nvSpPr>
        <p:spPr bwMode="auto">
          <a:xfrm>
            <a:off x="952130" y="368661"/>
            <a:ext cx="2802144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8227" tIns="39112" rIns="78227" bIns="39112" anchor="ctr"/>
          <a:lstStyle/>
          <a:p>
            <a:pPr algn="l" defTabSz="1001223" rtl="0" eaLnBrk="0" fontAlgn="ctr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499" b="0" kern="12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修订记录</a:t>
            </a:r>
          </a:p>
        </p:txBody>
      </p:sp>
      <p:sp>
        <p:nvSpPr>
          <p:cNvPr id="14" name="Text Box 58"/>
          <p:cNvSpPr txBox="1">
            <a:spLocks noChangeArrowheads="1"/>
          </p:cNvSpPr>
          <p:nvPr userDrawn="1"/>
        </p:nvSpPr>
        <p:spPr bwMode="auto">
          <a:xfrm>
            <a:off x="8900835" y="296652"/>
            <a:ext cx="2771225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lang="zh-CN" altLang="en-US" sz="3998" i="0" baseline="0" dirty="0">
                <a:solidFill>
                  <a:schemeClr val="bg2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本页不打印</a:t>
            </a:r>
          </a:p>
        </p:txBody>
      </p:sp>
      <p:sp>
        <p:nvSpPr>
          <p:cNvPr id="15" name="文本占位符 7"/>
          <p:cNvSpPr>
            <a:spLocks noGrp="1"/>
          </p:cNvSpPr>
          <p:nvPr>
            <p:ph type="body" sz="quarter" idx="21" hasCustomPrompt="1"/>
          </p:nvPr>
        </p:nvSpPr>
        <p:spPr>
          <a:xfrm>
            <a:off x="1007042" y="4021852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6" name="文本占位符 7"/>
          <p:cNvSpPr>
            <a:spLocks noGrp="1"/>
          </p:cNvSpPr>
          <p:nvPr>
            <p:ph type="body" sz="quarter" idx="22" hasCustomPrompt="1"/>
          </p:nvPr>
        </p:nvSpPr>
        <p:spPr>
          <a:xfrm>
            <a:off x="4126170" y="4021852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 smtClean="0"/>
              <a:t>2019.01.25</a:t>
            </a:r>
            <a:endParaRPr lang="zh-CN" altLang="en-US" dirty="0"/>
          </a:p>
        </p:txBody>
      </p:sp>
      <p:sp>
        <p:nvSpPr>
          <p:cNvPr id="17" name="文本占位符 7"/>
          <p:cNvSpPr>
            <a:spLocks noGrp="1"/>
          </p:cNvSpPr>
          <p:nvPr>
            <p:ph type="body" sz="quarter" idx="23" hasCustomPrompt="1"/>
          </p:nvPr>
        </p:nvSpPr>
        <p:spPr>
          <a:xfrm>
            <a:off x="6093619" y="4021852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8" name="文本占位符 7"/>
          <p:cNvSpPr>
            <a:spLocks noGrp="1"/>
          </p:cNvSpPr>
          <p:nvPr>
            <p:ph type="body" sz="quarter" idx="24" hasCustomPrompt="1"/>
          </p:nvPr>
        </p:nvSpPr>
        <p:spPr>
          <a:xfrm>
            <a:off x="9116775" y="3985848"/>
            <a:ext cx="2084625" cy="504056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19" name="文本占位符 7"/>
          <p:cNvSpPr>
            <a:spLocks noGrp="1"/>
          </p:cNvSpPr>
          <p:nvPr>
            <p:ph type="body" sz="quarter" idx="25" hasCustomPrompt="1"/>
          </p:nvPr>
        </p:nvSpPr>
        <p:spPr>
          <a:xfrm>
            <a:off x="1007042" y="4489904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0" name="文本占位符 7"/>
          <p:cNvSpPr>
            <a:spLocks noGrp="1"/>
          </p:cNvSpPr>
          <p:nvPr>
            <p:ph type="body" sz="quarter" idx="26" hasCustomPrompt="1"/>
          </p:nvPr>
        </p:nvSpPr>
        <p:spPr>
          <a:xfrm>
            <a:off x="4126170" y="4489904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 smtClean="0"/>
              <a:t>2019.01.25</a:t>
            </a:r>
            <a:endParaRPr lang="zh-CN" altLang="en-US" dirty="0"/>
          </a:p>
        </p:txBody>
      </p:sp>
      <p:sp>
        <p:nvSpPr>
          <p:cNvPr id="21" name="文本占位符 7"/>
          <p:cNvSpPr>
            <a:spLocks noGrp="1"/>
          </p:cNvSpPr>
          <p:nvPr>
            <p:ph type="body" sz="quarter" idx="27" hasCustomPrompt="1"/>
          </p:nvPr>
        </p:nvSpPr>
        <p:spPr>
          <a:xfrm>
            <a:off x="6093619" y="4489904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2" name="文本占位符 7"/>
          <p:cNvSpPr>
            <a:spLocks noGrp="1"/>
          </p:cNvSpPr>
          <p:nvPr>
            <p:ph type="body" sz="quarter" idx="28" hasCustomPrompt="1"/>
          </p:nvPr>
        </p:nvSpPr>
        <p:spPr>
          <a:xfrm>
            <a:off x="9116775" y="4489904"/>
            <a:ext cx="20560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23" name="文本占位符 7"/>
          <p:cNvSpPr>
            <a:spLocks noGrp="1"/>
          </p:cNvSpPr>
          <p:nvPr>
            <p:ph type="body" sz="quarter" idx="29" hasCustomPrompt="1"/>
          </p:nvPr>
        </p:nvSpPr>
        <p:spPr>
          <a:xfrm>
            <a:off x="1007042" y="4999074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4" name="文本占位符 7"/>
          <p:cNvSpPr>
            <a:spLocks noGrp="1"/>
          </p:cNvSpPr>
          <p:nvPr>
            <p:ph type="body" sz="quarter" idx="30" hasCustomPrompt="1"/>
          </p:nvPr>
        </p:nvSpPr>
        <p:spPr>
          <a:xfrm>
            <a:off x="4126170" y="4999074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lang="zh-CN" altLang="en-US" sz="1599" kern="1200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 smtClean="0"/>
              <a:t>2019.01.25</a:t>
            </a:r>
            <a:endParaRPr lang="zh-CN" altLang="en-US" dirty="0"/>
          </a:p>
        </p:txBody>
      </p:sp>
      <p:sp>
        <p:nvSpPr>
          <p:cNvPr id="25" name="文本占位符 7"/>
          <p:cNvSpPr>
            <a:spLocks noGrp="1"/>
          </p:cNvSpPr>
          <p:nvPr>
            <p:ph type="body" sz="quarter" idx="31" hasCustomPrompt="1"/>
          </p:nvPr>
        </p:nvSpPr>
        <p:spPr>
          <a:xfrm>
            <a:off x="6093619" y="4999074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6" name="文本占位符 7"/>
          <p:cNvSpPr>
            <a:spLocks noGrp="1"/>
          </p:cNvSpPr>
          <p:nvPr>
            <p:ph type="body" sz="quarter" idx="32" hasCustomPrompt="1"/>
          </p:nvPr>
        </p:nvSpPr>
        <p:spPr>
          <a:xfrm>
            <a:off x="9116775" y="4999074"/>
            <a:ext cx="208462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</p:spTree>
    <p:extLst>
      <p:ext uri="{BB962C8B-B14F-4D97-AF65-F5344CB8AC3E}">
        <p14:creationId xmlns:p14="http://schemas.microsoft.com/office/powerpoint/2010/main" val="8002526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#前言">
    <p:bg bwMode="gray"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fontAlgn="base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base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base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base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base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eaLnBrk="1" hangingPunct="1"/>
            <a:r>
              <a:rPr lang="zh-CN" altLang="en-US" dirty="0"/>
              <a:t>本章主要讲述</a:t>
            </a:r>
            <a:r>
              <a:rPr lang="en-US" altLang="zh-CN" dirty="0"/>
              <a:t>...</a:t>
            </a:r>
          </a:p>
          <a:p>
            <a:pPr lvl="1"/>
            <a:r>
              <a:rPr lang="zh-CN" altLang="en-US" dirty="0"/>
              <a:t>第二</a:t>
            </a:r>
            <a:r>
              <a:rPr lang="zh-CN" altLang="en-US" dirty="0" smtClean="0"/>
              <a:t>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=""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=""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17614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前言</a:t>
            </a:r>
            <a:endParaRPr kumimoji="1" lang="zh-CN" altLang="en-US" sz="3636" baseline="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1700454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#目标">
    <p:bg bwMode="gray"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eaLnBrk="1" fontAlgn="base" hangingPunct="1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base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base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base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base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eaLnBrk="1" hangingPunct="1"/>
            <a:r>
              <a:rPr lang="zh-CN" altLang="en-US" dirty="0" smtClean="0"/>
              <a:t>学完本课程后，您将能够：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=""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=""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20820" cy="6524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01223" eaLnBrk="0" fontAlgn="ctr" hangingPunct="0"/>
            <a:r>
              <a:rPr lang="zh-CN" altLang="en-US" sz="3640" b="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目标</a:t>
            </a:r>
            <a:endParaRPr lang="en-US" altLang="zh-CN" sz="3640" b="0" baseline="0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285438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#目录">
    <p:bg bwMode="gray"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1844675"/>
            <a:ext cx="10153650" cy="4068811"/>
          </a:xfrm>
          <a:prstGeom prst="rect">
            <a:avLst/>
          </a:prstGeom>
        </p:spPr>
        <p:txBody>
          <a:bodyPr/>
          <a:lstStyle>
            <a:lvl1pPr marL="457017" marR="0" indent="-457017" algn="just" defTabSz="801367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 typeface="+mj-lt"/>
              <a:buAutoNum type="arabicPeriod"/>
              <a:tabLst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fontAlgn="base">
              <a:buClrTx/>
              <a:buSzPct val="100000"/>
              <a:buFont typeface="Huawei Sans" panose="020C0503030203020204" pitchFamily="34" charset="0"/>
              <a:buChar char="▫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一级目录一</a:t>
            </a:r>
            <a:endParaRPr lang="en-US" altLang="zh-CN" dirty="0"/>
          </a:p>
          <a:p>
            <a:pPr marL="653788" lvl="1" indent="-457017">
              <a:buSzPct val="100000"/>
              <a:buFont typeface="+mj-lt"/>
              <a:buAutoNum type="arabicPeriod"/>
            </a:pP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一级目录二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一级目录三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一级目录四</a:t>
            </a:r>
            <a:endParaRPr lang="en-US" altLang="zh-CN" dirty="0"/>
          </a:p>
          <a:p>
            <a:endParaRPr lang="zh-CN" altLang="en-US" dirty="0"/>
          </a:p>
        </p:txBody>
      </p:sp>
      <p:cxnSp>
        <p:nvCxnSpPr>
          <p:cNvPr id="28" name="直线连接符 14">
            <a:extLst>
              <a:ext uri="{FF2B5EF4-FFF2-40B4-BE49-F238E27FC236}">
                <a16:creationId xmlns=""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本框 16">
            <a:extLst>
              <a:ext uri="{FF2B5EF4-FFF2-40B4-BE49-F238E27FC236}">
                <a16:creationId xmlns=""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defTabSz="1001223" eaLnBrk="0" fontAlgn="ctr" hangingPunct="0">
              <a:defRPr sz="364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3525239466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#本节概述和学习目标(可选)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fontAlgn="ctr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ctr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ctr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ctr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ctr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=""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414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=""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4397358" cy="6524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01223" eaLnBrk="0" fontAlgn="ctr" hangingPunct="0"/>
            <a:r>
              <a:rPr lang="zh-CN" altLang="en-US" sz="3640" b="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本节概述和学习目标</a:t>
            </a:r>
            <a:endParaRPr lang="zh-CN" altLang="en-US" sz="3640" b="0" baseline="0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6787055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0#思考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6" y="1844675"/>
            <a:ext cx="10153650" cy="4068812"/>
          </a:xfrm>
          <a:prstGeom prst="rect">
            <a:avLst/>
          </a:prstGeom>
        </p:spPr>
        <p:txBody>
          <a:bodyPr/>
          <a:lstStyle>
            <a:lvl1pPr marL="457200" marR="0" indent="-457200" algn="just" defTabSz="801688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+mj-lt"/>
              <a:buAutoNum type="arabicPeriod"/>
              <a:tabLst/>
              <a:defRPr sz="20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744537" indent="-342900" algn="just" fontAlgn="ctr">
              <a:buSzPct val="100000"/>
              <a:buFont typeface="+mj-lt"/>
              <a:buAutoNum type="alphaUcPeriod"/>
              <a:defRPr sz="1800" baseline="0">
                <a:latin typeface="Huawei Sans" panose="020C0503030203020204" pitchFamily="34" charset="0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r>
              <a:rPr lang="zh-CN" altLang="en-US" dirty="0" smtClean="0"/>
              <a:t>此</a:t>
            </a:r>
            <a:r>
              <a:rPr lang="zh-CN" altLang="en-US" dirty="0"/>
              <a:t>版式用于</a:t>
            </a:r>
            <a:r>
              <a:rPr lang="zh-CN" altLang="en-US" dirty="0" smtClean="0"/>
              <a:t>思考题具体格式</a:t>
            </a:r>
            <a:endParaRPr lang="en-US" altLang="zh-CN" dirty="0" smtClean="0"/>
          </a:p>
        </p:txBody>
      </p:sp>
      <p:cxnSp>
        <p:nvCxnSpPr>
          <p:cNvPr id="24" name="直线连接符 14">
            <a:extLst>
              <a:ext uri="{FF2B5EF4-FFF2-40B4-BE49-F238E27FC236}">
                <a16:creationId xmlns=""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368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文本框 16">
            <a:extLst>
              <a:ext uri="{FF2B5EF4-FFF2-40B4-BE49-F238E27FC236}">
                <a16:creationId xmlns=""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584088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思考题</a:t>
            </a:r>
            <a:endParaRPr kumimoji="1" lang="zh-CN" altLang="en-US" sz="3636" baseline="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571046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1#本节小结（可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6"/>
          <p:cNvSpPr>
            <a:spLocks noGrp="1"/>
          </p:cNvSpPr>
          <p:nvPr>
            <p:ph sz="quarter" idx="10" hasCustomPrompt="1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2pPr>
            <a:lvl3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3pPr>
            <a:lvl4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4pPr>
            <a:lvl5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5pPr>
          </a:lstStyle>
          <a:p>
            <a:pPr lvl="0"/>
            <a:r>
              <a:rPr lang="zh-CN" altLang="en-US" dirty="0" smtClean="0"/>
              <a:t>此版式用于每一节的小结</a:t>
            </a:r>
          </a:p>
          <a:p>
            <a:pPr lvl="1"/>
            <a:r>
              <a:rPr lang="zh-CN" altLang="en-US" dirty="0" smtClean="0"/>
              <a:t>第二</a:t>
            </a:r>
            <a:r>
              <a:rPr lang="zh-CN" altLang="en-US" dirty="0"/>
              <a:t>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11" name="直线连接符 14">
            <a:extLst>
              <a:ext uri="{FF2B5EF4-FFF2-40B4-BE49-F238E27FC236}">
                <a16:creationId xmlns=""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6">
            <a:extLst>
              <a:ext uri="{FF2B5EF4-FFF2-40B4-BE49-F238E27FC236}">
                <a16:creationId xmlns=""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本节小结</a:t>
            </a:r>
            <a:endParaRPr kumimoji="1" lang="zh-CN" altLang="en-US" sz="3636" baseline="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529313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2#本章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6"/>
          <p:cNvSpPr>
            <a:spLocks noGrp="1"/>
          </p:cNvSpPr>
          <p:nvPr>
            <p:ph sz="quarter" idx="10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base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algn="just" fontAlgn="base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2pPr>
            <a:lvl3pPr algn="just" fontAlgn="base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3pPr>
            <a:lvl4pPr algn="just" fontAlgn="base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4pPr>
            <a:lvl5pPr algn="just" fontAlgn="base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9" name="直线连接符 14">
            <a:extLst>
              <a:ext uri="{FF2B5EF4-FFF2-40B4-BE49-F238E27FC236}">
                <a16:creationId xmlns=""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6">
            <a:extLst>
              <a:ext uri="{FF2B5EF4-FFF2-40B4-BE49-F238E27FC236}">
                <a16:creationId xmlns=""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本章总结</a:t>
            </a:r>
            <a:endParaRPr kumimoji="1" lang="zh-CN" altLang="en-US" sz="3636" baseline="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337867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3#更多信息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5pPr>
              <a:buNone/>
              <a:defRPr/>
            </a:lvl5pPr>
          </a:lstStyle>
          <a:p>
            <a:r>
              <a:rPr lang="zh-CN" altLang="en-US" dirty="0"/>
              <a:t>此版式用于提供给学员更多学习信息。</a:t>
            </a:r>
          </a:p>
        </p:txBody>
      </p:sp>
      <p:cxnSp>
        <p:nvCxnSpPr>
          <p:cNvPr id="12" name="直线连接符 14">
            <a:extLst>
              <a:ext uri="{FF2B5EF4-FFF2-40B4-BE49-F238E27FC236}">
                <a16:creationId xmlns=""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本框 16">
            <a:extLst>
              <a:ext uri="{FF2B5EF4-FFF2-40B4-BE49-F238E27FC236}">
                <a16:creationId xmlns=""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更多信息</a:t>
            </a:r>
            <a:endParaRPr kumimoji="1" lang="zh-CN" altLang="en-US" sz="3636" baseline="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516683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4#学习推荐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endParaRPr lang="zh-CN" altLang="en-US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=""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6">
            <a:extLst>
              <a:ext uri="{FF2B5EF4-FFF2-40B4-BE49-F238E27FC236}">
                <a16:creationId xmlns=""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学习推荐</a:t>
            </a:r>
            <a:endParaRPr kumimoji="1" lang="zh-CN" altLang="en-US" sz="3636" baseline="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597678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#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5612" y="447468"/>
            <a:ext cx="1129347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 smtClean="0"/>
              <a:t>单击</a:t>
            </a:r>
            <a:r>
              <a:rPr lang="zh-CN" altLang="en-US" dirty="0"/>
              <a:t>此处编辑母版标题样式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1484312"/>
            <a:ext cx="11293476" cy="4443243"/>
          </a:xfrm>
          <a:prstGeom prst="rect">
            <a:avLst/>
          </a:prstGeom>
        </p:spPr>
        <p:txBody>
          <a:bodyPr/>
          <a:lstStyle>
            <a:lvl1pPr algn="just" fontAlgn="base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26498624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*#标题和内容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5613" y="447468"/>
            <a:ext cx="11293474" cy="48598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 smtClean="0"/>
              <a:t>单击</a:t>
            </a:r>
            <a:r>
              <a:rPr lang="zh-CN" altLang="en-US" dirty="0"/>
              <a:t>此处编辑母版标题样式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1047750"/>
            <a:ext cx="11293475" cy="4879805"/>
          </a:xfrm>
          <a:prstGeom prst="rect">
            <a:avLst/>
          </a:prstGeom>
        </p:spPr>
        <p:txBody>
          <a:bodyPr/>
          <a:lstStyle>
            <a:lvl1pPr algn="just" fontAlgn="base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1288804162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595">
          <p15:clr>
            <a:srgbClr val="FBAE40"/>
          </p15:clr>
        </p15:guide>
        <p15:guide id="2" orient="horz" pos="663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#仅标题（两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5613" y="447468"/>
            <a:ext cx="1129347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 smtClean="0"/>
              <a:t>单击</a:t>
            </a:r>
            <a:r>
              <a:rPr lang="zh-CN" altLang="en-US" dirty="0"/>
              <a:t>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8519249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*#仅标题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2438" y="447468"/>
            <a:ext cx="11296649" cy="49709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 smtClean="0"/>
              <a:t>单击</a:t>
            </a:r>
            <a:r>
              <a:rPr lang="zh-CN" altLang="en-US" dirty="0"/>
              <a:t>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99998166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595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9#全白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46979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5#谢谢">
    <p:bg bwMode="gray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xmlns="" id="{42AF307D-40F4-EC4C-9108-79E948007529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940" dirty="0" smtClean="0">
                <a:solidFill>
                  <a:schemeClr val="tx1"/>
                </a:solidFill>
              </a:rPr>
              <a:t>Thank you.</a:t>
            </a:r>
            <a:endParaRPr lang="en-US" sz="494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82994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3089" y="5976169"/>
            <a:ext cx="2257507" cy="482533"/>
          </a:xfrm>
          <a:prstGeom prst="rect">
            <a:avLst/>
          </a:prstGeom>
        </p:spPr>
      </p:pic>
      <p:grpSp>
        <p:nvGrpSpPr>
          <p:cNvPr id="30" name="Group 87">
            <a:extLst>
              <a:ext uri="{FF2B5EF4-FFF2-40B4-BE49-F238E27FC236}">
                <a16:creationId xmlns=""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1" name="矩形 13">
              <a:extLst>
                <a:ext uri="{FF2B5EF4-FFF2-40B4-BE49-F238E27FC236}">
                  <a16:creationId xmlns=""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196/0/84</a:t>
              </a:r>
            </a:p>
          </p:txBody>
        </p:sp>
        <p:sp>
          <p:nvSpPr>
            <p:cNvPr id="32" name="文本框 15">
              <a:extLst>
                <a:ext uri="{FF2B5EF4-FFF2-40B4-BE49-F238E27FC236}">
                  <a16:creationId xmlns=""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公司辅助色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=""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203/55/120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=""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237/109/0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=""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153/54/54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=""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98/178/48</a:t>
              </a:r>
            </a:p>
          </p:txBody>
        </p:sp>
        <p:sp>
          <p:nvSpPr>
            <p:cNvPr id="37" name="矩形 13">
              <a:extLst>
                <a:ext uri="{FF2B5EF4-FFF2-40B4-BE49-F238E27FC236}">
                  <a16:creationId xmlns=""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38" name="矩形 13">
              <a:extLst>
                <a:ext uri="{FF2B5EF4-FFF2-40B4-BE49-F238E27FC236}">
                  <a16:creationId xmlns=""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199/0/11  </a:t>
              </a:r>
            </a:p>
          </p:txBody>
        </p:sp>
        <p:sp>
          <p:nvSpPr>
            <p:cNvPr id="39" name="文本框 15">
              <a:extLst>
                <a:ext uri="{FF2B5EF4-FFF2-40B4-BE49-F238E27FC236}">
                  <a16:creationId xmlns=""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公司色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=""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200/16/46  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=""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127/0/1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=""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52/200/0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=""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48/181/197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=""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129/193/95</a:t>
              </a:r>
            </a:p>
          </p:txBody>
        </p:sp>
        <p:sp>
          <p:nvSpPr>
            <p:cNvPr id="45" name="矩形 13">
              <a:extLst>
                <a:ext uri="{FF2B5EF4-FFF2-40B4-BE49-F238E27FC236}">
                  <a16:creationId xmlns=""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253/211/81</a:t>
              </a:r>
            </a:p>
          </p:txBody>
        </p:sp>
        <p:sp>
          <p:nvSpPr>
            <p:cNvPr id="46" name="矩形 13">
              <a:extLst>
                <a:ext uri="{FF2B5EF4-FFF2-40B4-BE49-F238E27FC236}">
                  <a16:creationId xmlns=""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86/196/210</a:t>
              </a:r>
            </a:p>
          </p:txBody>
        </p:sp>
        <p:sp>
          <p:nvSpPr>
            <p:cNvPr id="47" name="矩形 13">
              <a:extLst>
                <a:ext uri="{FF2B5EF4-FFF2-40B4-BE49-F238E27FC236}">
                  <a16:creationId xmlns=""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211/57/65</a:t>
              </a:r>
            </a:p>
          </p:txBody>
        </p:sp>
        <p:sp>
          <p:nvSpPr>
            <p:cNvPr id="48" name="矩形 13">
              <a:extLst>
                <a:ext uri="{FF2B5EF4-FFF2-40B4-BE49-F238E27FC236}">
                  <a16:creationId xmlns=""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211/56/89</a:t>
              </a:r>
            </a:p>
          </p:txBody>
        </p:sp>
        <p:sp>
          <p:nvSpPr>
            <p:cNvPr id="49" name="矩形 13">
              <a:extLst>
                <a:ext uri="{FF2B5EF4-FFF2-40B4-BE49-F238E27FC236}">
                  <a16:creationId xmlns=""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221/128/170</a:t>
              </a:r>
            </a:p>
          </p:txBody>
        </p:sp>
        <p:sp>
          <p:nvSpPr>
            <p:cNvPr id="50" name="矩形 13">
              <a:extLst>
                <a:ext uri="{FF2B5EF4-FFF2-40B4-BE49-F238E27FC236}">
                  <a16:creationId xmlns=""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191/128/130</a:t>
              </a:r>
            </a:p>
          </p:txBody>
        </p:sp>
        <p:sp>
          <p:nvSpPr>
            <p:cNvPr id="51" name="矩形 13">
              <a:extLst>
                <a:ext uri="{FF2B5EF4-FFF2-40B4-BE49-F238E27FC236}">
                  <a16:creationId xmlns=""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52" name="矩形 13">
              <a:extLst>
                <a:ext uri="{FF2B5EF4-FFF2-40B4-BE49-F238E27FC236}">
                  <a16:creationId xmlns=""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176/216/156</a:t>
              </a:r>
            </a:p>
          </p:txBody>
        </p:sp>
        <p:sp>
          <p:nvSpPr>
            <p:cNvPr id="53" name="矩形 13">
              <a:extLst>
                <a:ext uri="{FF2B5EF4-FFF2-40B4-BE49-F238E27FC236}">
                  <a16:creationId xmlns=""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253/227/181</a:t>
              </a:r>
            </a:p>
          </p:txBody>
        </p:sp>
        <p:sp>
          <p:nvSpPr>
            <p:cNvPr id="54" name="矩形 13">
              <a:extLst>
                <a:ext uri="{FF2B5EF4-FFF2-40B4-BE49-F238E27FC236}">
                  <a16:creationId xmlns=""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148/218/226</a:t>
              </a:r>
            </a:p>
          </p:txBody>
        </p:sp>
        <p:sp>
          <p:nvSpPr>
            <p:cNvPr id="55" name="矩形 13">
              <a:extLst>
                <a:ext uri="{FF2B5EF4-FFF2-40B4-BE49-F238E27FC236}">
                  <a16:creationId xmlns=""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226/129/137</a:t>
              </a:r>
            </a:p>
          </p:txBody>
        </p:sp>
        <p:sp>
          <p:nvSpPr>
            <p:cNvPr id="56" name="矩形 13">
              <a:extLst>
                <a:ext uri="{FF2B5EF4-FFF2-40B4-BE49-F238E27FC236}">
                  <a16:creationId xmlns=""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226/129/152</a:t>
              </a:r>
            </a:p>
          </p:txBody>
        </p:sp>
        <p:sp>
          <p:nvSpPr>
            <p:cNvPr id="57" name="矩形 13">
              <a:extLst>
                <a:ext uri="{FF2B5EF4-FFF2-40B4-BE49-F238E27FC236}">
                  <a16:creationId xmlns=""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235/179/204</a:t>
              </a:r>
            </a:p>
          </p:txBody>
        </p:sp>
        <p:sp>
          <p:nvSpPr>
            <p:cNvPr id="58" name="矩形 13">
              <a:extLst>
                <a:ext uri="{FF2B5EF4-FFF2-40B4-BE49-F238E27FC236}">
                  <a16:creationId xmlns=""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216/179/179</a:t>
              </a:r>
            </a:p>
          </p:txBody>
        </p:sp>
        <p:sp>
          <p:nvSpPr>
            <p:cNvPr id="59" name="矩形 13">
              <a:extLst>
                <a:ext uri="{FF2B5EF4-FFF2-40B4-BE49-F238E27FC236}">
                  <a16:creationId xmlns=""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60" name="矩形 13">
              <a:extLst>
                <a:ext uri="{FF2B5EF4-FFF2-40B4-BE49-F238E27FC236}">
                  <a16:creationId xmlns=""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208/232/196</a:t>
              </a:r>
            </a:p>
          </p:txBody>
        </p:sp>
        <p:sp>
          <p:nvSpPr>
            <p:cNvPr id="61" name="矩形 13">
              <a:extLst>
                <a:ext uri="{FF2B5EF4-FFF2-40B4-BE49-F238E27FC236}">
                  <a16:creationId xmlns=""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254/238/193</a:t>
              </a:r>
            </a:p>
          </p:txBody>
        </p:sp>
        <p:sp>
          <p:nvSpPr>
            <p:cNvPr id="62" name="矩形 13">
              <a:extLst>
                <a:ext uri="{FF2B5EF4-FFF2-40B4-BE49-F238E27FC236}">
                  <a16:creationId xmlns=""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190/23/238</a:t>
              </a:r>
            </a:p>
          </p:txBody>
        </p:sp>
        <p:sp>
          <p:nvSpPr>
            <p:cNvPr id="63" name="矩形 13">
              <a:extLst>
                <a:ext uri="{FF2B5EF4-FFF2-40B4-BE49-F238E27FC236}">
                  <a16:creationId xmlns=""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239/178/184</a:t>
              </a:r>
            </a:p>
          </p:txBody>
        </p:sp>
        <p:sp>
          <p:nvSpPr>
            <p:cNvPr id="64" name="矩形 13">
              <a:extLst>
                <a:ext uri="{FF2B5EF4-FFF2-40B4-BE49-F238E27FC236}">
                  <a16:creationId xmlns=""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238/179/193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=""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35/24/21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=""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89/87/87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=""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=""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=""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221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=""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70073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3906">
          <p15:clr>
            <a:srgbClr val="F26B43"/>
          </p15:clr>
        </p15:guide>
        <p15:guide id="2" pos="574">
          <p15:clr>
            <a:srgbClr val="F26B43"/>
          </p15:clr>
        </p15:guide>
        <p15:guide id="3" orient="horz" pos="572">
          <p15:clr>
            <a:srgbClr val="F26B43"/>
          </p15:clr>
        </p15:guide>
        <p15:guide id="4" orient="horz" pos="1230">
          <p15:clr>
            <a:srgbClr val="F26B43"/>
          </p15:clr>
        </p15:guide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">
            <a:extLst>
              <a:ext uri="{FF2B5EF4-FFF2-40B4-BE49-F238E27FC236}">
                <a16:creationId xmlns=""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b="0" baseline="0" dirty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Huawei Confidential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=""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baseline="0" smtClean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baseline="0" dirty="0">
              <a:solidFill>
                <a:srgbClr val="1D1D1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7" name="Group 87">
            <a:extLst>
              <a:ext uri="{FF2B5EF4-FFF2-40B4-BE49-F238E27FC236}">
                <a16:creationId xmlns=""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28" name="矩形 13">
              <a:extLst>
                <a:ext uri="{FF2B5EF4-FFF2-40B4-BE49-F238E27FC236}">
                  <a16:creationId xmlns=""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196/0/84</a:t>
              </a:r>
            </a:p>
          </p:txBody>
        </p:sp>
        <p:sp>
          <p:nvSpPr>
            <p:cNvPr id="29" name="文本框 15">
              <a:extLst>
                <a:ext uri="{FF2B5EF4-FFF2-40B4-BE49-F238E27FC236}">
                  <a16:creationId xmlns=""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公司辅助色</a:t>
              </a:r>
            </a:p>
          </p:txBody>
        </p:sp>
        <p:sp>
          <p:nvSpPr>
            <p:cNvPr id="30" name="矩形 13">
              <a:extLst>
                <a:ext uri="{FF2B5EF4-FFF2-40B4-BE49-F238E27FC236}">
                  <a16:creationId xmlns=""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203/55/120</a:t>
              </a:r>
            </a:p>
          </p:txBody>
        </p:sp>
        <p:sp>
          <p:nvSpPr>
            <p:cNvPr id="31" name="矩形 13">
              <a:extLst>
                <a:ext uri="{FF2B5EF4-FFF2-40B4-BE49-F238E27FC236}">
                  <a16:creationId xmlns=""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237/109/0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=""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153/54/54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=""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98/178/48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=""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35" name="矩形 13">
              <a:extLst>
                <a:ext uri="{FF2B5EF4-FFF2-40B4-BE49-F238E27FC236}">
                  <a16:creationId xmlns=""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199/0/11  </a:t>
              </a:r>
            </a:p>
          </p:txBody>
        </p:sp>
        <p:sp>
          <p:nvSpPr>
            <p:cNvPr id="36" name="文本框 15">
              <a:extLst>
                <a:ext uri="{FF2B5EF4-FFF2-40B4-BE49-F238E27FC236}">
                  <a16:creationId xmlns=""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公司色</a:t>
              </a:r>
            </a:p>
          </p:txBody>
        </p:sp>
        <p:sp>
          <p:nvSpPr>
            <p:cNvPr id="37" name="矩形 13">
              <a:extLst>
                <a:ext uri="{FF2B5EF4-FFF2-40B4-BE49-F238E27FC236}">
                  <a16:creationId xmlns=""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200/16/46  </a:t>
              </a:r>
            </a:p>
          </p:txBody>
        </p:sp>
        <p:sp>
          <p:nvSpPr>
            <p:cNvPr id="38" name="矩形 13">
              <a:extLst>
                <a:ext uri="{FF2B5EF4-FFF2-40B4-BE49-F238E27FC236}">
                  <a16:creationId xmlns=""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127/0/1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=""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52/200/0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=""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48/181/197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=""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129/193/95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=""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253/211/81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=""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86/196/210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=""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211/57/65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=""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211/56/89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=""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221/128/170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=""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191/128/130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=""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69" name="矩形 13">
              <a:extLst>
                <a:ext uri="{FF2B5EF4-FFF2-40B4-BE49-F238E27FC236}">
                  <a16:creationId xmlns=""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176/216/156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=""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253/227/181</a:t>
              </a:r>
            </a:p>
          </p:txBody>
        </p:sp>
        <p:sp>
          <p:nvSpPr>
            <p:cNvPr id="71" name="矩形 13">
              <a:extLst>
                <a:ext uri="{FF2B5EF4-FFF2-40B4-BE49-F238E27FC236}">
                  <a16:creationId xmlns=""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148/218/226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=""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226/129/137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=""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226/129/152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=""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235/179/204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=""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216/179/179</a:t>
              </a:r>
            </a:p>
          </p:txBody>
        </p:sp>
        <p:sp>
          <p:nvSpPr>
            <p:cNvPr id="76" name="矩形 13">
              <a:extLst>
                <a:ext uri="{FF2B5EF4-FFF2-40B4-BE49-F238E27FC236}">
                  <a16:creationId xmlns=""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77" name="矩形 13">
              <a:extLst>
                <a:ext uri="{FF2B5EF4-FFF2-40B4-BE49-F238E27FC236}">
                  <a16:creationId xmlns=""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208/232/196</a:t>
              </a:r>
            </a:p>
          </p:txBody>
        </p:sp>
        <p:sp>
          <p:nvSpPr>
            <p:cNvPr id="78" name="矩形 13">
              <a:extLst>
                <a:ext uri="{FF2B5EF4-FFF2-40B4-BE49-F238E27FC236}">
                  <a16:creationId xmlns=""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254/238/193</a:t>
              </a:r>
            </a:p>
          </p:txBody>
        </p:sp>
        <p:sp>
          <p:nvSpPr>
            <p:cNvPr id="79" name="矩形 13">
              <a:extLst>
                <a:ext uri="{FF2B5EF4-FFF2-40B4-BE49-F238E27FC236}">
                  <a16:creationId xmlns=""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190/23/238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=""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239/178/184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=""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238/179/193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=""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35/24/21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=""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89/87/87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=""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=""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=""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221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=""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70965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5" r:id="rId1"/>
    <p:sldLayoutId id="2147483876" r:id="rId2"/>
    <p:sldLayoutId id="2147483877" r:id="rId3"/>
    <p:sldLayoutId id="2147483878" r:id="rId4"/>
    <p:sldLayoutId id="2147483879" r:id="rId5"/>
    <p:sldLayoutId id="2147483880" r:id="rId6"/>
    <p:sldLayoutId id="2147483881" r:id="rId7"/>
    <p:sldLayoutId id="2147483882" r:id="rId8"/>
    <p:sldLayoutId id="2147483883" r:id="rId9"/>
    <p:sldLayoutId id="2147483884" r:id="rId10"/>
  </p:sldLayoutIdLst>
  <p:timing>
    <p:tnLst>
      <p:par>
        <p:cTn id="1" dur="indefinite" restart="never" nodeType="tmRoot"/>
      </p:par>
    </p:tnLst>
  </p:timing>
  <p:txStyles>
    <p:titleStyle>
      <a:lvl1pPr algn="l" defTabSz="914034" rtl="0" eaLnBrk="1" fontAlgn="ctr" latinLnBrk="0" hangingPunct="1">
        <a:lnSpc>
          <a:spcPct val="90000"/>
        </a:lnSpc>
        <a:spcBef>
          <a:spcPct val="0"/>
        </a:spcBef>
        <a:buNone/>
        <a:defRPr lang="zh-CN" altLang="en-US" sz="3200" kern="1200" baseline="0" dirty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</p:titleStyle>
    <p:bodyStyle>
      <a:lvl1pPr marL="302279" indent="-302279" algn="l" defTabSz="914034" rtl="0" eaLnBrk="1" fontAlgn="ctr" latinLnBrk="0" hangingPunct="1">
        <a:lnSpc>
          <a:spcPct val="140000"/>
        </a:lnSpc>
        <a:spcBef>
          <a:spcPts val="792"/>
        </a:spcBef>
        <a:buSzPct val="50000"/>
        <a:buFont typeface="Wingdings" panose="05000000000000000000" pitchFamily="2" charset="2"/>
        <a:buChar char="l"/>
        <a:defRPr sz="21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54938" indent="-251899" algn="l" defTabSz="914034" rtl="0" eaLnBrk="1" fontAlgn="ctr" latinLnBrk="0" hangingPunct="1">
        <a:lnSpc>
          <a:spcPct val="140000"/>
        </a:lnSpc>
        <a:spcBef>
          <a:spcPts val="720"/>
        </a:spcBef>
        <a:buClrTx/>
        <a:buSzPct val="50000"/>
        <a:buFont typeface="Wingdings" panose="05000000000000000000" pitchFamily="2" charset="2"/>
        <a:buChar char="p"/>
        <a:defRPr sz="19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2pPr>
      <a:lvl3pPr marL="1003998" indent="-201519" algn="l" defTabSz="914034" rtl="0" eaLnBrk="1" fontAlgn="ctr" latinLnBrk="0" hangingPunct="1">
        <a:lnSpc>
          <a:spcPct val="140000"/>
        </a:lnSpc>
        <a:spcBef>
          <a:spcPts val="648"/>
        </a:spcBef>
        <a:buClrTx/>
        <a:buSzPct val="50000"/>
        <a:buFont typeface="Wingdings" panose="05000000000000000000" pitchFamily="2" charset="2"/>
        <a:buChar char="n"/>
        <a:defRPr sz="17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3pPr>
      <a:lvl4pPr marL="1399840" indent="-197921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−"/>
        <a:defRPr sz="15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4pPr>
      <a:lvl5pPr marL="1802879" indent="-201519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~"/>
        <a:defRPr sz="13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642">
          <p15:clr>
            <a:srgbClr val="F26B43"/>
          </p15:clr>
        </p15:guide>
        <p15:guide id="2" pos="7038">
          <p15:clr>
            <a:srgbClr val="F26B43"/>
          </p15:clr>
        </p15:guide>
        <p15:guide id="4" orient="horz" pos="3906">
          <p15:clr>
            <a:srgbClr val="F26B43"/>
          </p15:clr>
        </p15:guide>
        <p15:guide id="5" orient="horz" pos="1162">
          <p15:clr>
            <a:srgbClr val="F26B43"/>
          </p15:clr>
        </p15:guide>
        <p15:guide id="6" pos="3840">
          <p15:clr>
            <a:srgbClr val="F26B43"/>
          </p15:clr>
        </p15:guide>
        <p15:guide id="7" orient="horz" pos="731">
          <p15:clr>
            <a:srgbClr val="F26B43"/>
          </p15:clr>
        </p15:guide>
        <p15:guide id="8" orient="horz" pos="867">
          <p15:clr>
            <a:srgbClr val="F26B43"/>
          </p15:clr>
        </p15:guide>
        <p15:guide id="9" orient="horz" pos="234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457905" y="457499"/>
            <a:ext cx="11291061" cy="98011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28" name="Rectangle 57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1484313"/>
            <a:ext cx="11293475" cy="4443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3" name="TextBox 2">
            <a:extLst>
              <a:ext uri="{FF2B5EF4-FFF2-40B4-BE49-F238E27FC236}">
                <a16:creationId xmlns=""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b="0" baseline="0" dirty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Huawei Confidential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=""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baseline="0" smtClean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baseline="0" dirty="0">
              <a:solidFill>
                <a:srgbClr val="1D1D1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9" name="Group 87">
            <a:extLst>
              <a:ext uri="{FF2B5EF4-FFF2-40B4-BE49-F238E27FC236}">
                <a16:creationId xmlns=""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0" name="矩形 13">
              <a:extLst>
                <a:ext uri="{FF2B5EF4-FFF2-40B4-BE49-F238E27FC236}">
                  <a16:creationId xmlns=""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196/0/84</a:t>
              </a:r>
            </a:p>
          </p:txBody>
        </p:sp>
        <p:sp>
          <p:nvSpPr>
            <p:cNvPr id="31" name="文本框 15">
              <a:extLst>
                <a:ext uri="{FF2B5EF4-FFF2-40B4-BE49-F238E27FC236}">
                  <a16:creationId xmlns=""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公司辅助色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=""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203/55/120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=""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237/109/0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=""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153/54/54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=""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98/178/48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=""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37" name="矩形 13">
              <a:extLst>
                <a:ext uri="{FF2B5EF4-FFF2-40B4-BE49-F238E27FC236}">
                  <a16:creationId xmlns=""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199/0/11  </a:t>
              </a:r>
            </a:p>
          </p:txBody>
        </p:sp>
        <p:sp>
          <p:nvSpPr>
            <p:cNvPr id="38" name="文本框 15">
              <a:extLst>
                <a:ext uri="{FF2B5EF4-FFF2-40B4-BE49-F238E27FC236}">
                  <a16:creationId xmlns=""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公司色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=""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200/16/46  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=""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127/0/1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=""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52/200/0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=""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48/181/197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=""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129/193/95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=""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253/211/81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=""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86/196/210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=""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211/57/65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=""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211/56/89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=""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221/128/170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=""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191/128/130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=""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71" name="矩形 13">
              <a:extLst>
                <a:ext uri="{FF2B5EF4-FFF2-40B4-BE49-F238E27FC236}">
                  <a16:creationId xmlns=""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176/216/156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=""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253/227/181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=""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148/218/226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=""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226/129/137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=""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226/129/152</a:t>
              </a:r>
            </a:p>
          </p:txBody>
        </p:sp>
        <p:sp>
          <p:nvSpPr>
            <p:cNvPr id="76" name="矩形 13">
              <a:extLst>
                <a:ext uri="{FF2B5EF4-FFF2-40B4-BE49-F238E27FC236}">
                  <a16:creationId xmlns=""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235/179/204</a:t>
              </a:r>
            </a:p>
          </p:txBody>
        </p:sp>
        <p:sp>
          <p:nvSpPr>
            <p:cNvPr id="77" name="矩形 13">
              <a:extLst>
                <a:ext uri="{FF2B5EF4-FFF2-40B4-BE49-F238E27FC236}">
                  <a16:creationId xmlns=""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216/179/179</a:t>
              </a:r>
            </a:p>
          </p:txBody>
        </p:sp>
        <p:sp>
          <p:nvSpPr>
            <p:cNvPr id="78" name="矩形 13">
              <a:extLst>
                <a:ext uri="{FF2B5EF4-FFF2-40B4-BE49-F238E27FC236}">
                  <a16:creationId xmlns=""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79" name="矩形 13">
              <a:extLst>
                <a:ext uri="{FF2B5EF4-FFF2-40B4-BE49-F238E27FC236}">
                  <a16:creationId xmlns=""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208/232/196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=""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254/238/193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=""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190/23/238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=""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239/178/184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=""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238/179/193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=""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35/24/21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=""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89/87/87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=""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=""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</a:t>
              </a:r>
            </a:p>
          </p:txBody>
        </p:sp>
        <p:sp>
          <p:nvSpPr>
            <p:cNvPr id="88" name="矩形 13">
              <a:extLst>
                <a:ext uri="{FF2B5EF4-FFF2-40B4-BE49-F238E27FC236}">
                  <a16:creationId xmlns=""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221</a:t>
              </a:r>
            </a:p>
          </p:txBody>
        </p:sp>
        <p:sp>
          <p:nvSpPr>
            <p:cNvPr id="89" name="矩形 13">
              <a:extLst>
                <a:ext uri="{FF2B5EF4-FFF2-40B4-BE49-F238E27FC236}">
                  <a16:creationId xmlns=""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55767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6" r:id="rId1"/>
    <p:sldLayoutId id="2147483887" r:id="rId2"/>
    <p:sldLayoutId id="2147483888" r:id="rId3"/>
    <p:sldLayoutId id="2147483889" r:id="rId4"/>
    <p:sldLayoutId id="2147483890" r:id="rId5"/>
  </p:sldLayoutIdLst>
  <p:timing>
    <p:tnLst>
      <p:par>
        <p:cTn id="1" dur="indefinite" restart="never" nodeType="tmRoot"/>
      </p:par>
    </p:tnLst>
  </p:timing>
  <p:txStyles>
    <p:titleStyle>
      <a:lvl1pPr algn="l" defTabSz="914034" rtl="0" eaLnBrk="1" fontAlgn="base" latinLnBrk="0" hangingPunct="1">
        <a:lnSpc>
          <a:spcPct val="90000"/>
        </a:lnSpc>
        <a:spcBef>
          <a:spcPct val="0"/>
        </a:spcBef>
        <a:buNone/>
        <a:defRPr lang="zh-CN" altLang="en-US" sz="3200" kern="1200" baseline="0" dirty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</p:titleStyle>
    <p:bodyStyle>
      <a:lvl1pPr marL="302279" indent="-302279" algn="l" defTabSz="914034" rtl="0" eaLnBrk="1" fontAlgn="base" latinLnBrk="0" hangingPunct="1">
        <a:lnSpc>
          <a:spcPct val="140000"/>
        </a:lnSpc>
        <a:spcBef>
          <a:spcPts val="792"/>
        </a:spcBef>
        <a:buSzPct val="50000"/>
        <a:buFont typeface="Wingdings" panose="05000000000000000000" pitchFamily="2" charset="2"/>
        <a:buChar char="l"/>
        <a:defRPr sz="21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54938" indent="-251899" algn="l" defTabSz="914034" rtl="0" eaLnBrk="1" fontAlgn="base" latinLnBrk="0" hangingPunct="1">
        <a:lnSpc>
          <a:spcPct val="140000"/>
        </a:lnSpc>
        <a:spcBef>
          <a:spcPts val="720"/>
        </a:spcBef>
        <a:buClrTx/>
        <a:buSzPct val="50000"/>
        <a:buFont typeface="Wingdings" panose="05000000000000000000" pitchFamily="2" charset="2"/>
        <a:buChar char="p"/>
        <a:defRPr sz="19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2pPr>
      <a:lvl3pPr marL="1003998" indent="-201519" algn="l" defTabSz="914034" rtl="0" eaLnBrk="1" fontAlgn="base" latinLnBrk="0" hangingPunct="1">
        <a:lnSpc>
          <a:spcPct val="140000"/>
        </a:lnSpc>
        <a:spcBef>
          <a:spcPts val="648"/>
        </a:spcBef>
        <a:buClrTx/>
        <a:buSzPct val="50000"/>
        <a:buFont typeface="Wingdings" panose="05000000000000000000" pitchFamily="2" charset="2"/>
        <a:buChar char="n"/>
        <a:defRPr sz="17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3pPr>
      <a:lvl4pPr marL="1399840" indent="-197921" algn="l" defTabSz="914034" rtl="0" eaLnBrk="1" fontAlgn="base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−"/>
        <a:defRPr sz="15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4pPr>
      <a:lvl5pPr marL="1802879" indent="-201519" algn="l" defTabSz="914034" rtl="0" eaLnBrk="1" fontAlgn="base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~"/>
        <a:defRPr sz="13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279">
          <p15:clr>
            <a:srgbClr val="F26B43"/>
          </p15:clr>
        </p15:guide>
        <p15:guide id="2" pos="7401">
          <p15:clr>
            <a:srgbClr val="F26B43"/>
          </p15:clr>
        </p15:guide>
        <p15:guide id="3" orient="horz" pos="2341">
          <p15:clr>
            <a:srgbClr val="F26B43"/>
          </p15:clr>
        </p15:guide>
        <p15:guide id="4" orient="horz" pos="3906">
          <p15:clr>
            <a:srgbClr val="F26B43"/>
          </p15:clr>
        </p15:guide>
        <p15:guide id="5" orient="horz" pos="935">
          <p15:clr>
            <a:srgbClr val="F26B43"/>
          </p15:clr>
        </p15:guide>
        <p15:guide id="6" pos="3840">
          <p15:clr>
            <a:srgbClr val="F26B43"/>
          </p15:clr>
        </p15:guide>
        <p15:guide id="7" orient="horz" pos="278">
          <p15:clr>
            <a:srgbClr val="F26B43"/>
          </p15:clr>
        </p15:guide>
        <p15:guide id="8" orient="horz" pos="913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87">
            <a:extLst>
              <a:ext uri="{FF2B5EF4-FFF2-40B4-BE49-F238E27FC236}">
                <a16:creationId xmlns:a16="http://schemas.microsoft.com/office/drawing/2014/main" xmlns="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0" name="矩形 13">
              <a:extLst>
                <a:ext uri="{FF2B5EF4-FFF2-40B4-BE49-F238E27FC236}">
                  <a16:creationId xmlns:a16="http://schemas.microsoft.com/office/drawing/2014/main" xmlns="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31" name="文本框 15">
              <a:extLst>
                <a:ext uri="{FF2B5EF4-FFF2-40B4-BE49-F238E27FC236}">
                  <a16:creationId xmlns:a16="http://schemas.microsoft.com/office/drawing/2014/main" xmlns="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:a16="http://schemas.microsoft.com/office/drawing/2014/main" xmlns="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xmlns="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xmlns="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xmlns="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:a16="http://schemas.microsoft.com/office/drawing/2014/main" xmlns="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xmlns="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38" name="文本框 15">
              <a:extLst>
                <a:ext uri="{FF2B5EF4-FFF2-40B4-BE49-F238E27FC236}">
                  <a16:creationId xmlns:a16="http://schemas.microsoft.com/office/drawing/2014/main" xmlns="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:a16="http://schemas.microsoft.com/office/drawing/2014/main" xmlns="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xmlns="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xmlns="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xmlns="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xmlns="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xmlns="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45" name="矩形 13">
              <a:extLst>
                <a:ext uri="{FF2B5EF4-FFF2-40B4-BE49-F238E27FC236}">
                  <a16:creationId xmlns:a16="http://schemas.microsoft.com/office/drawing/2014/main" xmlns="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46" name="矩形 13">
              <a:extLst>
                <a:ext uri="{FF2B5EF4-FFF2-40B4-BE49-F238E27FC236}">
                  <a16:creationId xmlns:a16="http://schemas.microsoft.com/office/drawing/2014/main" xmlns="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47" name="矩形 13">
              <a:extLst>
                <a:ext uri="{FF2B5EF4-FFF2-40B4-BE49-F238E27FC236}">
                  <a16:creationId xmlns:a16="http://schemas.microsoft.com/office/drawing/2014/main" xmlns="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48" name="矩形 13">
              <a:extLst>
                <a:ext uri="{FF2B5EF4-FFF2-40B4-BE49-F238E27FC236}">
                  <a16:creationId xmlns:a16="http://schemas.microsoft.com/office/drawing/2014/main" xmlns="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49" name="矩形 13">
              <a:extLst>
                <a:ext uri="{FF2B5EF4-FFF2-40B4-BE49-F238E27FC236}">
                  <a16:creationId xmlns:a16="http://schemas.microsoft.com/office/drawing/2014/main" xmlns="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50" name="矩形 13">
              <a:extLst>
                <a:ext uri="{FF2B5EF4-FFF2-40B4-BE49-F238E27FC236}">
                  <a16:creationId xmlns:a16="http://schemas.microsoft.com/office/drawing/2014/main" xmlns="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1" name="矩形 13">
              <a:extLst>
                <a:ext uri="{FF2B5EF4-FFF2-40B4-BE49-F238E27FC236}">
                  <a16:creationId xmlns:a16="http://schemas.microsoft.com/office/drawing/2014/main" xmlns="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52" name="矩形 13">
              <a:extLst>
                <a:ext uri="{FF2B5EF4-FFF2-40B4-BE49-F238E27FC236}">
                  <a16:creationId xmlns:a16="http://schemas.microsoft.com/office/drawing/2014/main" xmlns="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53" name="矩形 13">
              <a:extLst>
                <a:ext uri="{FF2B5EF4-FFF2-40B4-BE49-F238E27FC236}">
                  <a16:creationId xmlns:a16="http://schemas.microsoft.com/office/drawing/2014/main" xmlns="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54" name="矩形 13">
              <a:extLst>
                <a:ext uri="{FF2B5EF4-FFF2-40B4-BE49-F238E27FC236}">
                  <a16:creationId xmlns:a16="http://schemas.microsoft.com/office/drawing/2014/main" xmlns="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55" name="矩形 13">
              <a:extLst>
                <a:ext uri="{FF2B5EF4-FFF2-40B4-BE49-F238E27FC236}">
                  <a16:creationId xmlns:a16="http://schemas.microsoft.com/office/drawing/2014/main" xmlns="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56" name="矩形 13">
              <a:extLst>
                <a:ext uri="{FF2B5EF4-FFF2-40B4-BE49-F238E27FC236}">
                  <a16:creationId xmlns:a16="http://schemas.microsoft.com/office/drawing/2014/main" xmlns="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57" name="矩形 13">
              <a:extLst>
                <a:ext uri="{FF2B5EF4-FFF2-40B4-BE49-F238E27FC236}">
                  <a16:creationId xmlns:a16="http://schemas.microsoft.com/office/drawing/2014/main" xmlns="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58" name="矩形 13">
              <a:extLst>
                <a:ext uri="{FF2B5EF4-FFF2-40B4-BE49-F238E27FC236}">
                  <a16:creationId xmlns:a16="http://schemas.microsoft.com/office/drawing/2014/main" xmlns="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9" name="矩形 13">
              <a:extLst>
                <a:ext uri="{FF2B5EF4-FFF2-40B4-BE49-F238E27FC236}">
                  <a16:creationId xmlns:a16="http://schemas.microsoft.com/office/drawing/2014/main" xmlns="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60" name="矩形 13">
              <a:extLst>
                <a:ext uri="{FF2B5EF4-FFF2-40B4-BE49-F238E27FC236}">
                  <a16:creationId xmlns:a16="http://schemas.microsoft.com/office/drawing/2014/main" xmlns="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61" name="矩形 13">
              <a:extLst>
                <a:ext uri="{FF2B5EF4-FFF2-40B4-BE49-F238E27FC236}">
                  <a16:creationId xmlns:a16="http://schemas.microsoft.com/office/drawing/2014/main" xmlns="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62" name="矩形 13">
              <a:extLst>
                <a:ext uri="{FF2B5EF4-FFF2-40B4-BE49-F238E27FC236}">
                  <a16:creationId xmlns:a16="http://schemas.microsoft.com/office/drawing/2014/main" xmlns="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63" name="矩形 13">
              <a:extLst>
                <a:ext uri="{FF2B5EF4-FFF2-40B4-BE49-F238E27FC236}">
                  <a16:creationId xmlns:a16="http://schemas.microsoft.com/office/drawing/2014/main" xmlns="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64" name="矩形 13">
              <a:extLst>
                <a:ext uri="{FF2B5EF4-FFF2-40B4-BE49-F238E27FC236}">
                  <a16:creationId xmlns:a16="http://schemas.microsoft.com/office/drawing/2014/main" xmlns="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xmlns="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xmlns="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xmlns="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xmlns="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xmlns="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sp>
        <p:nvSpPr>
          <p:cNvPr id="70" name="Title Placeholder 1">
            <a:extLst>
              <a:ext uri="{FF2B5EF4-FFF2-40B4-BE49-F238E27FC236}">
                <a16:creationId xmlns:a16="http://schemas.microsoft.com/office/drawing/2014/main" xmlns="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1" name="Text Placeholder 1">
            <a:extLst>
              <a:ext uri="{FF2B5EF4-FFF2-40B4-BE49-F238E27FC236}">
                <a16:creationId xmlns:a16="http://schemas.microsoft.com/office/drawing/2014/main" xmlns="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 smtClean="0">
                <a:solidFill>
                  <a:srgbClr val="1D1D1B"/>
                </a:solidFill>
                <a:latin typeface="+mj-lt"/>
              </a:rPr>
              <a:t>Copyright©2021 </a:t>
            </a: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r>
              <a:rPr kumimoji="1" lang="en-US" altLang="zh-CN" sz="779" dirty="0">
                <a:solidFill>
                  <a:srgbClr val="1D1D1B"/>
                </a:solidFill>
                <a:latin typeface="+mn-lt"/>
              </a:rPr>
              <a:t/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779" dirty="0">
                <a:solidFill>
                  <a:srgbClr val="1D1D1B"/>
                </a:solidFill>
                <a:latin typeface="+mn-lt"/>
              </a:rPr>
              <a:t/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72" name="Subtitle 6">
            <a:extLst>
              <a:ext uri="{FF2B5EF4-FFF2-40B4-BE49-F238E27FC236}">
                <a16:creationId xmlns:a16="http://schemas.microsoft.com/office/drawing/2014/main" xmlns="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/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3" name="Subtitle 6">
            <a:extLst>
              <a:ext uri="{FF2B5EF4-FFF2-40B4-BE49-F238E27FC236}">
                <a16:creationId xmlns:a16="http://schemas.microsoft.com/office/drawing/2014/main" xmlns="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home,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74" name="图片 7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7" y="5251150"/>
            <a:ext cx="1869596" cy="39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321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4998" b="0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Huawei Sans" panose="020C0503030203020204" pitchFamily="34" charset="0"/>
        </a:defRPr>
      </a:lvl1pPr>
    </p:titleStyle>
    <p:bodyStyle>
      <a:lvl1pPr marL="0" indent="0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None/>
        <a:defRPr sz="1818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662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61">
          <p15:clr>
            <a:srgbClr val="F26B43"/>
          </p15:clr>
        </p15:guide>
        <p15:guide id="4" pos="719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文本占位符 47"/>
          <p:cNvSpPr>
            <a:spLocks noGrp="1"/>
          </p:cNvSpPr>
          <p:nvPr>
            <p:ph type="body" sz="quarter" idx="17"/>
          </p:nvPr>
        </p:nvSpPr>
        <p:spPr bwMode="gray"/>
        <p:txBody>
          <a:bodyPr/>
          <a:lstStyle/>
          <a:p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8"/>
          </p:nvPr>
        </p:nvSpPr>
        <p:spPr bwMode="gray"/>
        <p:txBody>
          <a:bodyPr/>
          <a:lstStyle/>
          <a:p>
            <a:r>
              <a:rPr lang="en-US" altLang="zh-CN" dirty="0" smtClean="0">
                <a:sym typeface="Huawei Sans" panose="020C0503030203020204" pitchFamily="34" charset="0"/>
              </a:rPr>
              <a:t>Datacom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49" name="文本占位符 48"/>
          <p:cNvSpPr>
            <a:spLocks noGrp="1"/>
          </p:cNvSpPr>
          <p:nvPr>
            <p:ph type="body" sz="quarter" idx="19"/>
          </p:nvPr>
        </p:nvSpPr>
        <p:spPr bwMode="gray"/>
        <p:txBody>
          <a:bodyPr/>
          <a:lstStyle/>
          <a:p>
            <a:r>
              <a:rPr lang="zh-CN" altLang="en-US" dirty="0" smtClean="0"/>
              <a:t>通用</a:t>
            </a:r>
            <a:endParaRPr lang="zh-CN" altLang="en-US" dirty="0"/>
          </a:p>
        </p:txBody>
      </p:sp>
      <p:sp>
        <p:nvSpPr>
          <p:cNvPr id="50" name="文本占位符 49"/>
          <p:cNvSpPr>
            <a:spLocks noGrp="1"/>
          </p:cNvSpPr>
          <p:nvPr>
            <p:ph type="body" sz="quarter" idx="20"/>
          </p:nvPr>
        </p:nvSpPr>
        <p:spPr bwMode="gray"/>
        <p:txBody>
          <a:bodyPr/>
          <a:lstStyle/>
          <a:p>
            <a:r>
              <a:rPr lang="en-US" altLang="zh-CN" dirty="0" smtClean="0"/>
              <a:t>V1.0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 bwMode="gray"/>
        <p:txBody>
          <a:bodyPr/>
          <a:lstStyle/>
          <a:p>
            <a:r>
              <a:rPr lang="zh-CN" altLang="en-US" dirty="0" smtClean="0">
                <a:sym typeface="Huawei Sans" panose="020C0503030203020204" pitchFamily="34" charset="0"/>
              </a:rPr>
              <a:t>张凛睿</a:t>
            </a:r>
            <a:r>
              <a:rPr lang="en-US" altLang="zh-CN" dirty="0" smtClean="0">
                <a:sym typeface="Huawei Sans" panose="020C0503030203020204" pitchFamily="34" charset="0"/>
              </a:rPr>
              <a:t>/</a:t>
            </a:r>
            <a:r>
              <a:rPr lang="en-US" altLang="zh-CN" dirty="0" smtClean="0">
                <a:sym typeface="Huawei Sans" panose="020C0503030203020204" pitchFamily="34" charset="0"/>
              </a:rPr>
              <a:t>WX</a:t>
            </a:r>
            <a:r>
              <a:rPr lang="en-US" altLang="zh-CN" dirty="0" smtClean="0">
                <a:sym typeface="Huawei Sans" panose="020C0503030203020204" pitchFamily="34" charset="0"/>
              </a:rPr>
              <a:t>570554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 bwMode="gray"/>
        <p:txBody>
          <a:bodyPr/>
          <a:lstStyle/>
          <a:p>
            <a:r>
              <a:rPr lang="en-US" altLang="zh-CN" dirty="0" smtClean="0">
                <a:sym typeface="Huawei Sans" panose="020C0503030203020204" pitchFamily="34" charset="0"/>
              </a:rPr>
              <a:t>2020.03.21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5"/>
          </p:nvPr>
        </p:nvSpPr>
        <p:spPr bwMode="gray"/>
        <p:txBody>
          <a:bodyPr/>
          <a:lstStyle/>
          <a:p>
            <a:r>
              <a:rPr lang="zh-CN" altLang="en-US" dirty="0" smtClean="0">
                <a:sym typeface="Huawei Sans" panose="020C0503030203020204" pitchFamily="34" charset="0"/>
              </a:rPr>
              <a:t>朱仕耿</a:t>
            </a:r>
            <a:r>
              <a:rPr lang="en-US" altLang="zh-CN" dirty="0" smtClean="0">
                <a:sym typeface="Huawei Sans" panose="020C0503030203020204" pitchFamily="34" charset="0"/>
              </a:rPr>
              <a:t>/00261992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6"/>
          </p:nvPr>
        </p:nvSpPr>
        <p:spPr bwMode="gray"/>
        <p:txBody>
          <a:bodyPr/>
          <a:lstStyle/>
          <a:p>
            <a:r>
              <a:rPr lang="zh-CN" altLang="en-US" dirty="0" smtClean="0">
                <a:sym typeface="Huawei Sans" panose="020C0503030203020204" pitchFamily="34" charset="0"/>
              </a:rPr>
              <a:t>新开发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21"/>
          </p:nvPr>
        </p:nvSpPr>
        <p:spPr bwMode="gray"/>
        <p:txBody>
          <a:bodyPr/>
          <a:lstStyle/>
          <a:p>
            <a:r>
              <a:rPr lang="zh-CN" altLang="en-US" dirty="0" smtClean="0"/>
              <a:t>何军建</a:t>
            </a:r>
            <a:r>
              <a:rPr lang="en-US" altLang="zh-CN" dirty="0" smtClean="0"/>
              <a:t>/</a:t>
            </a:r>
            <a:r>
              <a:rPr lang="en-US" altLang="zh-CN" dirty="0" smtClean="0"/>
              <a:t>WX</a:t>
            </a:r>
            <a:r>
              <a:rPr lang="en-US" altLang="zh-CN" dirty="0" smtClean="0"/>
              <a:t>580230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22"/>
          </p:nvPr>
        </p:nvSpPr>
        <p:spPr bwMode="gray"/>
        <p:txBody>
          <a:bodyPr/>
          <a:lstStyle/>
          <a:p>
            <a:r>
              <a:rPr lang="en-US" altLang="zh-CN" dirty="0" smtClean="0"/>
              <a:t>2021.07.31</a:t>
            </a:r>
            <a:endParaRPr lang="zh-CN" altLang="en-US" dirty="0"/>
          </a:p>
        </p:txBody>
      </p:sp>
      <p:sp>
        <p:nvSpPr>
          <p:cNvPr id="51" name="文本占位符 50"/>
          <p:cNvSpPr>
            <a:spLocks noGrp="1"/>
          </p:cNvSpPr>
          <p:nvPr>
            <p:ph type="body" sz="quarter" idx="23"/>
          </p:nvPr>
        </p:nvSpPr>
        <p:spPr bwMode="gray"/>
        <p:txBody>
          <a:bodyPr/>
          <a:lstStyle/>
          <a:p>
            <a:r>
              <a:rPr lang="zh-CN" altLang="en-US" dirty="0" smtClean="0"/>
              <a:t>卢玥玥</a:t>
            </a:r>
            <a:r>
              <a:rPr lang="en-US" altLang="zh-CN" dirty="0" smtClean="0"/>
              <a:t>/</a:t>
            </a:r>
            <a:r>
              <a:rPr lang="en-US" altLang="zh-CN" dirty="0" smtClean="0"/>
              <a:t>WX</a:t>
            </a:r>
            <a:r>
              <a:rPr lang="en-US" altLang="zh-CN" dirty="0" smtClean="0"/>
              <a:t>445705</a:t>
            </a:r>
            <a:endParaRPr lang="zh-CN" altLang="en-US" dirty="0"/>
          </a:p>
        </p:txBody>
      </p:sp>
      <p:sp>
        <p:nvSpPr>
          <p:cNvPr id="31" name="文本占位符 30"/>
          <p:cNvSpPr>
            <a:spLocks noGrp="1"/>
          </p:cNvSpPr>
          <p:nvPr>
            <p:ph type="body" sz="quarter" idx="24"/>
          </p:nvPr>
        </p:nvSpPr>
        <p:spPr bwMode="gray"/>
        <p:txBody>
          <a:bodyPr/>
          <a:lstStyle/>
          <a:p>
            <a:r>
              <a:rPr lang="zh-CN" altLang="en-US" dirty="0" smtClean="0"/>
              <a:t>优化</a:t>
            </a:r>
            <a:endParaRPr lang="zh-CN" altLang="en-US" dirty="0"/>
          </a:p>
        </p:txBody>
      </p:sp>
      <p:sp>
        <p:nvSpPr>
          <p:cNvPr id="52" name="文本占位符 51"/>
          <p:cNvSpPr>
            <a:spLocks noGrp="1"/>
          </p:cNvSpPr>
          <p:nvPr>
            <p:ph type="body" sz="quarter" idx="25"/>
          </p:nvPr>
        </p:nvSpPr>
        <p:spPr bwMode="gray"/>
        <p:txBody>
          <a:bodyPr/>
          <a:lstStyle/>
          <a:p>
            <a:endParaRPr lang="zh-CN" altLang="en-US"/>
          </a:p>
        </p:txBody>
      </p:sp>
      <p:sp>
        <p:nvSpPr>
          <p:cNvPr id="53" name="文本占位符 52"/>
          <p:cNvSpPr>
            <a:spLocks noGrp="1"/>
          </p:cNvSpPr>
          <p:nvPr>
            <p:ph type="body" sz="quarter" idx="26"/>
          </p:nvPr>
        </p:nvSpPr>
        <p:spPr bwMode="gray"/>
        <p:txBody>
          <a:bodyPr/>
          <a:lstStyle/>
          <a:p>
            <a:endParaRPr lang="zh-CN" altLang="en-US"/>
          </a:p>
        </p:txBody>
      </p:sp>
      <p:sp>
        <p:nvSpPr>
          <p:cNvPr id="54" name="文本占位符 53"/>
          <p:cNvSpPr>
            <a:spLocks noGrp="1"/>
          </p:cNvSpPr>
          <p:nvPr>
            <p:ph type="body" sz="quarter" idx="27"/>
          </p:nvPr>
        </p:nvSpPr>
        <p:spPr bwMode="gray"/>
        <p:txBody>
          <a:bodyPr/>
          <a:lstStyle/>
          <a:p>
            <a:endParaRPr lang="zh-CN" altLang="en-US"/>
          </a:p>
        </p:txBody>
      </p:sp>
      <p:sp>
        <p:nvSpPr>
          <p:cNvPr id="55" name="文本占位符 54"/>
          <p:cNvSpPr>
            <a:spLocks noGrp="1"/>
          </p:cNvSpPr>
          <p:nvPr>
            <p:ph type="body" sz="quarter" idx="28"/>
          </p:nvPr>
        </p:nvSpPr>
        <p:spPr bwMode="gray"/>
        <p:txBody>
          <a:bodyPr/>
          <a:lstStyle/>
          <a:p>
            <a:endParaRPr lang="zh-CN" altLang="en-US"/>
          </a:p>
        </p:txBody>
      </p:sp>
      <p:sp>
        <p:nvSpPr>
          <p:cNvPr id="56" name="文本占位符 55"/>
          <p:cNvSpPr>
            <a:spLocks noGrp="1"/>
          </p:cNvSpPr>
          <p:nvPr>
            <p:ph type="body" sz="quarter" idx="29"/>
          </p:nvPr>
        </p:nvSpPr>
        <p:spPr bwMode="gray"/>
        <p:txBody>
          <a:bodyPr/>
          <a:lstStyle/>
          <a:p>
            <a:endParaRPr lang="zh-CN" altLang="en-US"/>
          </a:p>
        </p:txBody>
      </p:sp>
      <p:sp>
        <p:nvSpPr>
          <p:cNvPr id="57" name="文本占位符 56"/>
          <p:cNvSpPr>
            <a:spLocks noGrp="1"/>
          </p:cNvSpPr>
          <p:nvPr>
            <p:ph type="body" sz="quarter" idx="30"/>
          </p:nvPr>
        </p:nvSpPr>
        <p:spPr bwMode="gray"/>
        <p:txBody>
          <a:bodyPr/>
          <a:lstStyle/>
          <a:p>
            <a:endParaRPr lang="zh-CN" altLang="en-US"/>
          </a:p>
        </p:txBody>
      </p:sp>
      <p:sp>
        <p:nvSpPr>
          <p:cNvPr id="58" name="文本占位符 57"/>
          <p:cNvSpPr>
            <a:spLocks noGrp="1"/>
          </p:cNvSpPr>
          <p:nvPr>
            <p:ph type="body" sz="quarter" idx="31"/>
          </p:nvPr>
        </p:nvSpPr>
        <p:spPr bwMode="gray"/>
        <p:txBody>
          <a:bodyPr/>
          <a:lstStyle/>
          <a:p>
            <a:endParaRPr lang="zh-CN" altLang="en-US"/>
          </a:p>
        </p:txBody>
      </p:sp>
      <p:sp>
        <p:nvSpPr>
          <p:cNvPr id="59" name="文本占位符 58"/>
          <p:cNvSpPr>
            <a:spLocks noGrp="1"/>
          </p:cNvSpPr>
          <p:nvPr>
            <p:ph type="body" sz="quarter" idx="32"/>
          </p:nvPr>
        </p:nvSpPr>
        <p:spPr bwMode="gray"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298907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/>
          <p:cNvSpPr>
            <a:spLocks noGrp="1"/>
          </p:cNvSpPr>
          <p:nvPr>
            <p:ph type="ctrTitle"/>
          </p:nvPr>
        </p:nvSpPr>
        <p:spPr bwMode="gray"/>
        <p:txBody>
          <a:bodyPr/>
          <a:lstStyle/>
          <a:p>
            <a:r>
              <a:rPr lang="en-US" altLang="zh-CN" smtClean="0">
                <a:sym typeface="Huawei Sans" panose="020C0503030203020204" pitchFamily="34" charset="0"/>
              </a:rPr>
              <a:t>MPLS</a:t>
            </a:r>
            <a:r>
              <a:rPr lang="zh-CN" altLang="en-US" smtClean="0">
                <a:sym typeface="Huawei Sans" panose="020C0503030203020204" pitchFamily="34" charset="0"/>
              </a:rPr>
              <a:t>原理与配置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4597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pPr lvl="0"/>
            <a:r>
              <a:rPr lang="en-US" altLang="zh-CN" sz="1800" dirty="0" smtClean="0">
                <a:sym typeface="Huawei Sans" panose="020C0503030203020204" pitchFamily="34" charset="0"/>
              </a:rPr>
              <a:t>90</a:t>
            </a:r>
            <a:r>
              <a:rPr lang="zh-CN" altLang="en-US" sz="1800" dirty="0" smtClean="0">
                <a:sym typeface="Huawei Sans" panose="020C0503030203020204" pitchFamily="34" charset="0"/>
              </a:rPr>
              <a:t>年代中期，</a:t>
            </a:r>
            <a:r>
              <a:rPr lang="zh-CN" altLang="zh-CN" sz="1800" dirty="0" smtClean="0">
                <a:sym typeface="Huawei Sans" panose="020C0503030203020204" pitchFamily="34" charset="0"/>
              </a:rPr>
              <a:t>互联网流量</a:t>
            </a:r>
            <a:r>
              <a:rPr lang="zh-CN" altLang="en-US" sz="1800" dirty="0" smtClean="0">
                <a:sym typeface="Huawei Sans" panose="020C0503030203020204" pitchFamily="34" charset="0"/>
              </a:rPr>
              <a:t>的快速增长。传统</a:t>
            </a:r>
            <a:r>
              <a:rPr lang="en-US" altLang="zh-CN" sz="1800" dirty="0" smtClean="0">
                <a:sym typeface="Huawei Sans" panose="020C0503030203020204" pitchFamily="34" charset="0"/>
              </a:rPr>
              <a:t>IP</a:t>
            </a:r>
            <a:r>
              <a:rPr lang="zh-CN" altLang="en-US" sz="1800" dirty="0" smtClean="0">
                <a:sym typeface="Huawei Sans" panose="020C0503030203020204" pitchFamily="34" charset="0"/>
              </a:rPr>
              <a:t>报文依赖路由器查询路由表转发</a:t>
            </a:r>
            <a:r>
              <a:rPr lang="zh-CN" altLang="zh-CN" sz="1800" dirty="0" smtClean="0">
                <a:sym typeface="Huawei Sans" panose="020C0503030203020204" pitchFamily="34" charset="0"/>
              </a:rPr>
              <a:t>，</a:t>
            </a:r>
            <a:r>
              <a:rPr lang="zh-CN" altLang="en-US" sz="1800" dirty="0" smtClean="0">
                <a:sym typeface="Huawei Sans" panose="020C0503030203020204" pitchFamily="34" charset="0"/>
              </a:rPr>
              <a:t>但由于硬件技术存在限制导致转发性能低</a:t>
            </a:r>
            <a:r>
              <a:rPr lang="zh-CN" altLang="zh-CN" sz="1800" dirty="0" smtClean="0">
                <a:sym typeface="Huawei Sans" panose="020C0503030203020204" pitchFamily="34" charset="0"/>
              </a:rPr>
              <a:t>，</a:t>
            </a:r>
            <a:r>
              <a:rPr lang="zh-CN" altLang="en-US" sz="1800" dirty="0" smtClean="0">
                <a:sym typeface="Huawei Sans" panose="020C0503030203020204" pitchFamily="34" charset="0"/>
              </a:rPr>
              <a:t>查表转发成为了</a:t>
            </a:r>
            <a:r>
              <a:rPr lang="zh-CN" altLang="zh-CN" sz="1800" dirty="0" smtClean="0">
                <a:sym typeface="Huawei Sans" panose="020C0503030203020204" pitchFamily="34" charset="0"/>
              </a:rPr>
              <a:t>网络数据转发的瓶颈。 </a:t>
            </a:r>
          </a:p>
          <a:p>
            <a:r>
              <a:rPr lang="zh-CN" altLang="en-US" sz="1800" dirty="0" smtClean="0">
                <a:sym typeface="Huawei Sans" panose="020C0503030203020204" pitchFamily="34" charset="0"/>
              </a:rPr>
              <a:t>因此，旨在提高路由器转发速度的</a:t>
            </a:r>
            <a:r>
              <a:rPr lang="en-US" altLang="zh-CN" sz="1800" dirty="0" smtClean="0">
                <a:sym typeface="Huawei Sans" panose="020C0503030203020204" pitchFamily="34" charset="0"/>
              </a:rPr>
              <a:t>MPLS</a:t>
            </a:r>
            <a:r>
              <a:rPr lang="zh-CN" altLang="en-US" sz="1800" dirty="0" smtClean="0">
                <a:sym typeface="Huawei Sans" panose="020C0503030203020204" pitchFamily="34" charset="0"/>
              </a:rPr>
              <a:t>（</a:t>
            </a:r>
            <a:r>
              <a:rPr lang="en-US" altLang="zh-CN" sz="1800" dirty="0" smtClean="0">
                <a:sym typeface="Huawei Sans" panose="020C0503030203020204" pitchFamily="34" charset="0"/>
              </a:rPr>
              <a:t>Multi-Protocol Label Switching</a:t>
            </a:r>
            <a:r>
              <a:rPr lang="zh-CN" altLang="en-US" sz="1800" dirty="0" smtClean="0">
                <a:sym typeface="Huawei Sans" panose="020C0503030203020204" pitchFamily="34" charset="0"/>
              </a:rPr>
              <a:t>，多协议标签交换）被提出。与传统</a:t>
            </a:r>
            <a:r>
              <a:rPr lang="en-US" altLang="zh-CN" sz="1800" dirty="0" smtClean="0">
                <a:sym typeface="Huawei Sans" panose="020C0503030203020204" pitchFamily="34" charset="0"/>
              </a:rPr>
              <a:t>IP</a:t>
            </a:r>
            <a:r>
              <a:rPr lang="zh-CN" altLang="en-US" sz="1800" dirty="0" smtClean="0">
                <a:sym typeface="Huawei Sans" panose="020C0503030203020204" pitchFamily="34" charset="0"/>
              </a:rPr>
              <a:t>路由方式相比，</a:t>
            </a:r>
            <a:r>
              <a:rPr lang="en-US" altLang="zh-CN" sz="1800" dirty="0" smtClean="0">
                <a:sym typeface="Huawei Sans" panose="020C0503030203020204" pitchFamily="34" charset="0"/>
              </a:rPr>
              <a:t>MPLS</a:t>
            </a:r>
            <a:r>
              <a:rPr lang="zh-CN" altLang="en-US" sz="1800" dirty="0" smtClean="0">
                <a:sym typeface="Huawei Sans" panose="020C0503030203020204" pitchFamily="34" charset="0"/>
              </a:rPr>
              <a:t>在数据转发时，只在网络边缘分析</a:t>
            </a:r>
            <a:r>
              <a:rPr lang="en-US" altLang="zh-CN" sz="1800" dirty="0" smtClean="0">
                <a:sym typeface="Huawei Sans" panose="020C0503030203020204" pitchFamily="34" charset="0"/>
              </a:rPr>
              <a:t>IP</a:t>
            </a:r>
            <a:r>
              <a:rPr lang="zh-CN" altLang="en-US" sz="1800" dirty="0" smtClean="0">
                <a:sym typeface="Huawei Sans" panose="020C0503030203020204" pitchFamily="34" charset="0"/>
              </a:rPr>
              <a:t>报文头，在网络内部采用更为高效的标签（</a:t>
            </a:r>
            <a:r>
              <a:rPr lang="en-US" altLang="zh-CN" sz="1800" dirty="0" smtClean="0">
                <a:sym typeface="Huawei Sans" panose="020C0503030203020204" pitchFamily="34" charset="0"/>
              </a:rPr>
              <a:t>Label</a:t>
            </a:r>
            <a:r>
              <a:rPr lang="zh-CN" altLang="en-US" sz="1800" dirty="0" smtClean="0">
                <a:sym typeface="Huawei Sans" panose="020C0503030203020204" pitchFamily="34" charset="0"/>
              </a:rPr>
              <a:t>）转发，节约了处理时间。</a:t>
            </a:r>
            <a:endParaRPr lang="en-US" altLang="zh-CN" sz="1800" dirty="0" smtClean="0">
              <a:sym typeface="Huawei Sans" panose="020C0503030203020204" pitchFamily="34" charset="0"/>
            </a:endParaRPr>
          </a:p>
          <a:p>
            <a:r>
              <a:rPr lang="zh-CN" altLang="en-US" sz="1800" dirty="0" smtClean="0">
                <a:sym typeface="Huawei Sans" panose="020C0503030203020204" pitchFamily="34" charset="0"/>
              </a:rPr>
              <a:t>随着设备硬件性能不断提升，</a:t>
            </a:r>
            <a:r>
              <a:rPr lang="en-US" altLang="zh-CN" sz="1800" dirty="0" smtClean="0">
                <a:sym typeface="Huawei Sans" panose="020C0503030203020204" pitchFamily="34" charset="0"/>
              </a:rPr>
              <a:t>MPLS</a:t>
            </a:r>
            <a:r>
              <a:rPr lang="zh-CN" altLang="en-US" sz="1800" dirty="0" smtClean="0">
                <a:sym typeface="Huawei Sans" panose="020C0503030203020204" pitchFamily="34" charset="0"/>
              </a:rPr>
              <a:t>在提高数据转发速度上的优势逐渐弱化，但其支持多层标签嵌套和设备内转控分离的特点，使其在</a:t>
            </a:r>
            <a:r>
              <a:rPr lang="en-US" altLang="zh-CN" sz="1800" dirty="0" smtClean="0">
                <a:sym typeface="Huawei Sans" panose="020C0503030203020204" pitchFamily="34" charset="0"/>
              </a:rPr>
              <a:t>VPN</a:t>
            </a:r>
            <a:r>
              <a:rPr lang="zh-CN" altLang="en-US" sz="1800" dirty="0" smtClean="0">
                <a:sym typeface="Huawei Sans" panose="020C0503030203020204" pitchFamily="34" charset="0"/>
              </a:rPr>
              <a:t>（</a:t>
            </a:r>
            <a:r>
              <a:rPr lang="en-US" altLang="zh-CN" sz="1800" dirty="0" smtClean="0">
                <a:sym typeface="Huawei Sans" panose="020C0503030203020204" pitchFamily="34" charset="0"/>
              </a:rPr>
              <a:t>Virtual Private Network</a:t>
            </a:r>
            <a:r>
              <a:rPr lang="zh-CN" altLang="en-US" sz="1800" dirty="0" smtClean="0">
                <a:sym typeface="Huawei Sans" panose="020C0503030203020204" pitchFamily="34" charset="0"/>
              </a:rPr>
              <a:t>，虚拟私有网络）、</a:t>
            </a:r>
            <a:r>
              <a:rPr lang="en-US" altLang="zh-CN" sz="1800" dirty="0" err="1" smtClean="0">
                <a:sym typeface="Huawei Sans" panose="020C0503030203020204" pitchFamily="34" charset="0"/>
              </a:rPr>
              <a:t>QoS</a:t>
            </a:r>
            <a:r>
              <a:rPr lang="zh-CN" altLang="en-US" sz="1800" dirty="0" smtClean="0">
                <a:sym typeface="Huawei Sans" panose="020C0503030203020204" pitchFamily="34" charset="0"/>
              </a:rPr>
              <a:t>（</a:t>
            </a:r>
            <a:r>
              <a:rPr lang="en-US" altLang="zh-CN" sz="1800" dirty="0" smtClean="0">
                <a:sym typeface="Huawei Sans" panose="020C0503030203020204" pitchFamily="34" charset="0"/>
              </a:rPr>
              <a:t>Quality of Service</a:t>
            </a:r>
            <a:r>
              <a:rPr lang="zh-CN" altLang="en-US" sz="1800" dirty="0" smtClean="0">
                <a:sym typeface="Huawei Sans" panose="020C0503030203020204" pitchFamily="34" charset="0"/>
              </a:rPr>
              <a:t>，服务质量）等新兴应用中得到广泛应用。</a:t>
            </a:r>
            <a:endParaRPr lang="en-US" altLang="zh-CN" sz="1800" dirty="0" smtClean="0">
              <a:sym typeface="Huawei Sans" panose="020C0503030203020204" pitchFamily="34" charset="0"/>
            </a:endParaRPr>
          </a:p>
          <a:p>
            <a:r>
              <a:rPr lang="zh-CN" altLang="en-US" sz="1800" dirty="0" smtClean="0">
                <a:sym typeface="Huawei Sans" panose="020C0503030203020204" pitchFamily="34" charset="0"/>
              </a:rPr>
              <a:t>本课程主要介绍</a:t>
            </a:r>
            <a:r>
              <a:rPr lang="en-US" altLang="zh-CN" sz="1800" dirty="0" smtClean="0">
                <a:sym typeface="Huawei Sans" panose="020C0503030203020204" pitchFamily="34" charset="0"/>
              </a:rPr>
              <a:t>MPLS</a:t>
            </a:r>
            <a:r>
              <a:rPr lang="zh-CN" altLang="en-US" sz="1800" dirty="0" smtClean="0">
                <a:sym typeface="Huawei Sans" panose="020C0503030203020204" pitchFamily="34" charset="0"/>
              </a:rPr>
              <a:t>的工作原理以及标签的转发流程，静态标签交换路径的配置方法等。</a:t>
            </a:r>
            <a:endParaRPr lang="en-US" altLang="zh-CN" sz="1800" dirty="0" smtClean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163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mtClean="0">
                <a:sym typeface="Huawei Sans" panose="020C0503030203020204" pitchFamily="34" charset="0"/>
              </a:rPr>
              <a:t>学习完本课程后，您将能够：</a:t>
            </a:r>
            <a:endParaRPr lang="en-US" altLang="zh-CN" smtClean="0">
              <a:sym typeface="Huawei Sans" panose="020C0503030203020204" pitchFamily="34" charset="0"/>
            </a:endParaRPr>
          </a:p>
          <a:p>
            <a:pPr lvl="1"/>
            <a:r>
              <a:rPr lang="zh-CN" altLang="en-US" smtClean="0">
                <a:sym typeface="Huawei Sans" panose="020C0503030203020204" pitchFamily="34" charset="0"/>
              </a:rPr>
              <a:t>描述</a:t>
            </a:r>
            <a:r>
              <a:rPr lang="en-US" altLang="zh-CN" smtClean="0">
                <a:sym typeface="Huawei Sans" panose="020C0503030203020204" pitchFamily="34" charset="0"/>
              </a:rPr>
              <a:t>MPLS</a:t>
            </a:r>
            <a:r>
              <a:rPr lang="zh-CN" altLang="en-US" smtClean="0">
                <a:sym typeface="Huawei Sans" panose="020C0503030203020204" pitchFamily="34" charset="0"/>
              </a:rPr>
              <a:t>的基本概念及术语</a:t>
            </a:r>
            <a:endParaRPr lang="en-US" altLang="zh-CN" smtClean="0">
              <a:sym typeface="Huawei Sans" panose="020C0503030203020204" pitchFamily="34" charset="0"/>
            </a:endParaRPr>
          </a:p>
          <a:p>
            <a:pPr lvl="1"/>
            <a:r>
              <a:rPr lang="zh-CN" altLang="en-US" smtClean="0">
                <a:sym typeface="Huawei Sans" panose="020C0503030203020204" pitchFamily="34" charset="0"/>
              </a:rPr>
              <a:t>描述</a:t>
            </a:r>
            <a:r>
              <a:rPr lang="en-US" altLang="zh-CN" smtClean="0">
                <a:sym typeface="Huawei Sans" panose="020C0503030203020204" pitchFamily="34" charset="0"/>
              </a:rPr>
              <a:t>MPLS</a:t>
            </a:r>
            <a:r>
              <a:rPr lang="zh-CN" altLang="en-US" smtClean="0">
                <a:sym typeface="Huawei Sans" panose="020C0503030203020204" pitchFamily="34" charset="0"/>
              </a:rPr>
              <a:t>的工作原理</a:t>
            </a:r>
            <a:endParaRPr lang="en-US" altLang="zh-CN" smtClean="0">
              <a:sym typeface="Huawei Sans" panose="020C0503030203020204" pitchFamily="34" charset="0"/>
            </a:endParaRPr>
          </a:p>
          <a:p>
            <a:pPr lvl="1"/>
            <a:r>
              <a:rPr lang="zh-CN" altLang="en-US" smtClean="0">
                <a:sym typeface="Huawei Sans" panose="020C0503030203020204" pitchFamily="34" charset="0"/>
              </a:rPr>
              <a:t>实现静态</a:t>
            </a:r>
            <a:r>
              <a:rPr lang="en-US" altLang="zh-CN" smtClean="0">
                <a:sym typeface="Huawei Sans" panose="020C0503030203020204" pitchFamily="34" charset="0"/>
              </a:rPr>
              <a:t>LSP</a:t>
            </a:r>
            <a:r>
              <a:rPr lang="zh-CN" altLang="en-US" smtClean="0">
                <a:sym typeface="Huawei Sans" panose="020C0503030203020204" pitchFamily="34" charset="0"/>
              </a:rPr>
              <a:t>的配置</a:t>
            </a:r>
            <a:endParaRPr lang="en-US" altLang="zh-CN" smtClean="0">
              <a:sym typeface="Huawei Sans" panose="020C0503030203020204" pitchFamily="34" charset="0"/>
            </a:endParaRPr>
          </a:p>
          <a:p>
            <a:pPr lvl="1"/>
            <a:r>
              <a:rPr lang="zh-CN" altLang="en-US" smtClean="0">
                <a:sym typeface="Huawei Sans" panose="020C0503030203020204" pitchFamily="34" charset="0"/>
              </a:rPr>
              <a:t>描述</a:t>
            </a:r>
            <a:r>
              <a:rPr lang="en-US" altLang="zh-CN" smtClean="0">
                <a:sym typeface="Huawei Sans" panose="020C0503030203020204" pitchFamily="34" charset="0"/>
              </a:rPr>
              <a:t>MPLS</a:t>
            </a:r>
            <a:r>
              <a:rPr lang="zh-CN" altLang="en-US" smtClean="0">
                <a:sym typeface="Huawei Sans" panose="020C0503030203020204" pitchFamily="34" charset="0"/>
              </a:rPr>
              <a:t>的转发流程</a:t>
            </a:r>
            <a:endParaRPr lang="en-US" altLang="zh-CN" smtClean="0">
              <a:sym typeface="Huawei Sans" panose="020C0503030203020204" pitchFamily="34" charset="0"/>
            </a:endParaRPr>
          </a:p>
          <a:p>
            <a:endParaRPr lang="en-US" altLang="zh-CN" dirty="0" smtClean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5580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b="1" smtClean="0">
                <a:sym typeface="Huawei Sans" panose="020C0503030203020204" pitchFamily="34" charset="0"/>
              </a:rPr>
              <a:t>MPLS</a:t>
            </a:r>
            <a:r>
              <a:rPr lang="zh-CN" altLang="en-US" b="1" smtClean="0">
                <a:sym typeface="Huawei Sans" panose="020C0503030203020204" pitchFamily="34" charset="0"/>
              </a:rPr>
              <a:t>基础</a:t>
            </a:r>
            <a:endParaRPr lang="en-US" altLang="zh-CN" b="1" smtClean="0">
              <a:sym typeface="Huawei Sans" panose="020C0503030203020204" pitchFamily="34" charset="0"/>
            </a:endParaRPr>
          </a:p>
          <a:p>
            <a:pPr lvl="1">
              <a:buSzPct val="60000"/>
              <a:buFont typeface="Wingdings" panose="05000000000000000000" pitchFamily="2" charset="2"/>
              <a:buChar char="n"/>
            </a:pPr>
            <a:r>
              <a:rPr lang="en-US" altLang="zh-CN" smtClean="0">
                <a:sym typeface="Huawei Sans" panose="020C0503030203020204" pitchFamily="34" charset="0"/>
              </a:rPr>
              <a:t>MPLS</a:t>
            </a:r>
            <a:r>
              <a:rPr lang="zh-CN" altLang="en-US" smtClean="0">
                <a:sym typeface="Huawei Sans" panose="020C0503030203020204" pitchFamily="34" charset="0"/>
              </a:rPr>
              <a:t>概述</a:t>
            </a:r>
            <a:endParaRPr lang="en-US" altLang="zh-CN" smtClean="0">
              <a:sym typeface="Huawei Sans" panose="020C0503030203020204" pitchFamily="34" charset="0"/>
            </a:endParaRPr>
          </a:p>
          <a:p>
            <a:pPr lvl="1"/>
            <a:r>
              <a:rPr lang="en-US" altLang="zh-CN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MPLS</a:t>
            </a:r>
            <a:r>
              <a:rPr lang="zh-CN" altLang="en-US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术语</a:t>
            </a:r>
            <a:endParaRPr lang="en-US" altLang="zh-CN" smtClean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pPr lvl="1"/>
            <a:r>
              <a:rPr lang="en-US" altLang="zh-CN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MPLS</a:t>
            </a:r>
            <a:r>
              <a:rPr lang="zh-CN" altLang="en-US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标签</a:t>
            </a:r>
            <a:endParaRPr lang="en-US" altLang="zh-CN" smtClean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MPLS</a:t>
            </a:r>
            <a:r>
              <a:rPr lang="zh-CN" altLang="en-US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转发</a:t>
            </a:r>
            <a:endParaRPr lang="en-US" altLang="zh-CN" smtClean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静态</a:t>
            </a:r>
            <a:r>
              <a:rPr lang="en-US" altLang="zh-CN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LSP</a:t>
            </a:r>
            <a:r>
              <a:rPr lang="zh-CN" altLang="en-US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配置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1986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 bwMode="gray">
          <a:xfrm>
            <a:off x="6260615" y="2420558"/>
            <a:ext cx="5485297" cy="1904071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56C4D2"/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smtClean="0">
                <a:sym typeface="Huawei Sans" panose="020C0503030203020204" pitchFamily="34" charset="0"/>
              </a:rPr>
              <a:t>传统</a:t>
            </a:r>
            <a:r>
              <a:rPr lang="en-US" altLang="zh-CN" smtClean="0">
                <a:sym typeface="Huawei Sans" panose="020C0503030203020204" pitchFamily="34" charset="0"/>
              </a:rPr>
              <a:t>IP</a:t>
            </a:r>
            <a:r>
              <a:rPr lang="zh-CN" altLang="en-US" smtClean="0">
                <a:sym typeface="Huawei Sans" panose="020C0503030203020204" pitchFamily="34" charset="0"/>
              </a:rPr>
              <a:t>路由转发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 smtClean="0">
                <a:sym typeface="Huawei Sans" panose="020C0503030203020204" pitchFamily="34" charset="0"/>
              </a:rPr>
              <a:t>传统的</a:t>
            </a:r>
            <a:r>
              <a:rPr lang="en-US" altLang="zh-CN" sz="1800" dirty="0" smtClean="0">
                <a:sym typeface="Huawei Sans" panose="020C0503030203020204" pitchFamily="34" charset="0"/>
              </a:rPr>
              <a:t>IP</a:t>
            </a:r>
            <a:r>
              <a:rPr lang="zh-CN" altLang="en-US" sz="1800" dirty="0" smtClean="0">
                <a:sym typeface="Huawei Sans" panose="020C0503030203020204" pitchFamily="34" charset="0"/>
              </a:rPr>
              <a:t>转发采用的是逐跳转发。数据报文经过每一台路由器，都要被解封装查看报文网络层信息，然后根据路由最长匹配原则查找路由表指导报文转发。各路由器重复进行解封装查找路由表和再封装的过程，所以转发性能低。</a:t>
            </a:r>
            <a:endParaRPr lang="en-US" altLang="zh-CN" sz="1800" dirty="0" smtClean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graphicFrame>
        <p:nvGraphicFramePr>
          <p:cNvPr id="136" name="表格 1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5515847"/>
              </p:ext>
            </p:extLst>
          </p:nvPr>
        </p:nvGraphicFramePr>
        <p:xfrm>
          <a:off x="5318975" y="4826076"/>
          <a:ext cx="6397183" cy="1178562"/>
        </p:xfrm>
        <a:graphic>
          <a:graphicData uri="http://schemas.openxmlformats.org/drawingml/2006/table">
            <a:tbl>
              <a:tblPr/>
              <a:tblGrid>
                <a:gridCol w="162383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254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1157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8481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4865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995764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314961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1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目的网段</a:t>
                      </a:r>
                      <a:r>
                        <a:rPr lang="en-US" altLang="zh-CN" sz="1200" b="1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/</a:t>
                      </a:r>
                      <a:r>
                        <a:rPr lang="zh-CN" altLang="en-US" sz="1200" b="1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掩码</a:t>
                      </a:r>
                      <a:endParaRPr lang="en-US" sz="1200" b="1" i="0" u="none" strike="noStrike" baseline="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1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协议</a:t>
                      </a:r>
                      <a:endParaRPr lang="en-US" sz="1200" b="1" i="0" u="none" strike="noStrike" baseline="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1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优先级</a:t>
                      </a:r>
                      <a:endParaRPr lang="en-US" sz="1200" b="1" i="0" u="none" strike="noStrike" baseline="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1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开销</a:t>
                      </a:r>
                      <a:endParaRPr lang="en-US" sz="1200" b="1" i="0" u="none" strike="noStrike" baseline="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1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下一跳</a:t>
                      </a:r>
                      <a:endParaRPr lang="en-US" sz="1200" b="1" i="0" u="none" strike="noStrike" baseline="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1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出接口</a:t>
                      </a:r>
                      <a:endParaRPr lang="en-US" sz="1200" b="1" i="0" u="none" strike="noStrike" baseline="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8786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192.168.1.0/24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Direct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192.168.1.254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GE0/0/0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8786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192.168.12.0/24</a:t>
                      </a:r>
                      <a:endParaRPr lang="en-US" altLang="zh-CN" sz="1200" b="0" i="0" u="none" strike="noStrike" baseline="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Direct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192.168.12.1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GE0/0/2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8786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0.0.0.0/0</a:t>
                      </a:r>
                      <a:endParaRPr lang="en-US" altLang="zh-CN" sz="1200" b="0" i="0" u="none" strike="noStrike" baseline="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Static</a:t>
                      </a:r>
                      <a:endParaRPr lang="en-US" sz="1200" b="0" i="0" u="none" strike="noStrike" baseline="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60</a:t>
                      </a:r>
                      <a:endParaRPr lang="en-US" altLang="zh-CN" sz="1200" b="0" i="0" u="none" strike="noStrike" baseline="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0</a:t>
                      </a:r>
                      <a:endParaRPr lang="en-US" altLang="zh-CN" sz="1200" b="0" i="0" u="none" strike="noStrike" baseline="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192.168.12.2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GE0/0/2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grpSp>
        <p:nvGrpSpPr>
          <p:cNvPr id="43" name="组合 42"/>
          <p:cNvGrpSpPr/>
          <p:nvPr/>
        </p:nvGrpSpPr>
        <p:grpSpPr bwMode="gray">
          <a:xfrm>
            <a:off x="539080" y="2604324"/>
            <a:ext cx="5767006" cy="3098026"/>
            <a:chOff x="386909" y="1321733"/>
            <a:chExt cx="5767006" cy="3098026"/>
          </a:xfrm>
        </p:grpSpPr>
        <p:grpSp>
          <p:nvGrpSpPr>
            <p:cNvPr id="33" name="组合 32"/>
            <p:cNvGrpSpPr/>
            <p:nvPr/>
          </p:nvGrpSpPr>
          <p:grpSpPr bwMode="gray">
            <a:xfrm>
              <a:off x="438447" y="1595764"/>
              <a:ext cx="5621041" cy="2485441"/>
              <a:chOff x="438447" y="2368691"/>
              <a:chExt cx="5621041" cy="2485441"/>
            </a:xfrm>
          </p:grpSpPr>
          <p:pic>
            <p:nvPicPr>
              <p:cNvPr id="4" name="图片 3"/>
              <p:cNvPicPr>
                <a:picLocks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gray">
              <a:xfrm>
                <a:off x="2923272" y="4411332"/>
                <a:ext cx="540000" cy="442800"/>
              </a:xfrm>
              <a:prstGeom prst="rect">
                <a:avLst/>
              </a:prstGeom>
            </p:spPr>
          </p:pic>
          <p:pic>
            <p:nvPicPr>
              <p:cNvPr id="5" name="图片 4"/>
              <p:cNvPicPr>
                <a:picLocks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gray">
              <a:xfrm>
                <a:off x="2933186" y="2620566"/>
                <a:ext cx="540000" cy="442800"/>
              </a:xfrm>
              <a:prstGeom prst="rect">
                <a:avLst/>
              </a:prstGeom>
            </p:spPr>
          </p:pic>
          <p:pic>
            <p:nvPicPr>
              <p:cNvPr id="6" name="图片 5"/>
              <p:cNvPicPr>
                <a:picLocks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gray">
              <a:xfrm>
                <a:off x="1670440" y="3519854"/>
                <a:ext cx="540000" cy="442800"/>
              </a:xfrm>
              <a:prstGeom prst="rect">
                <a:avLst/>
              </a:prstGeom>
            </p:spPr>
          </p:pic>
          <p:pic>
            <p:nvPicPr>
              <p:cNvPr id="7" name="图片 6"/>
              <p:cNvPicPr>
                <a:picLocks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gray">
              <a:xfrm>
                <a:off x="4207140" y="3494938"/>
                <a:ext cx="540000" cy="442800"/>
              </a:xfrm>
              <a:prstGeom prst="rect">
                <a:avLst/>
              </a:prstGeom>
            </p:spPr>
          </p:pic>
          <p:pic>
            <p:nvPicPr>
              <p:cNvPr id="8" name="图片 7"/>
              <p:cNvPicPr>
                <a:picLocks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gray">
              <a:xfrm>
                <a:off x="446088" y="3519854"/>
                <a:ext cx="540000" cy="442800"/>
              </a:xfrm>
              <a:prstGeom prst="rect">
                <a:avLst/>
              </a:prstGeom>
            </p:spPr>
          </p:pic>
          <p:pic>
            <p:nvPicPr>
              <p:cNvPr id="9" name="图片 8"/>
              <p:cNvPicPr>
                <a:picLocks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gray">
              <a:xfrm>
                <a:off x="5519488" y="3494938"/>
                <a:ext cx="540000" cy="442800"/>
              </a:xfrm>
              <a:prstGeom prst="rect">
                <a:avLst/>
              </a:prstGeom>
            </p:spPr>
          </p:pic>
          <p:cxnSp>
            <p:nvCxnSpPr>
              <p:cNvPr id="11" name="直接连接符 10"/>
              <p:cNvCxnSpPr>
                <a:stCxn id="6" idx="1"/>
                <a:endCxn id="8" idx="3"/>
              </p:cNvCxnSpPr>
              <p:nvPr/>
            </p:nvCxnSpPr>
            <p:spPr bwMode="gray">
              <a:xfrm flipH="1">
                <a:off x="986088" y="3741254"/>
                <a:ext cx="684352" cy="0"/>
              </a:xfrm>
              <a:prstGeom prst="line">
                <a:avLst/>
              </a:prstGeom>
              <a:ln w="19050">
                <a:solidFill>
                  <a:srgbClr val="15151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/>
              <p:cNvCxnSpPr>
                <a:stCxn id="5" idx="1"/>
                <a:endCxn id="6" idx="0"/>
              </p:cNvCxnSpPr>
              <p:nvPr/>
            </p:nvCxnSpPr>
            <p:spPr bwMode="gray">
              <a:xfrm flipH="1">
                <a:off x="1940440" y="2841966"/>
                <a:ext cx="992746" cy="677888"/>
              </a:xfrm>
              <a:prstGeom prst="line">
                <a:avLst/>
              </a:prstGeom>
              <a:ln w="19050">
                <a:solidFill>
                  <a:srgbClr val="15151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>
                <a:stCxn id="6" idx="2"/>
                <a:endCxn id="4" idx="1"/>
              </p:cNvCxnSpPr>
              <p:nvPr/>
            </p:nvCxnSpPr>
            <p:spPr bwMode="gray">
              <a:xfrm>
                <a:off x="1940440" y="3962654"/>
                <a:ext cx="982832" cy="670078"/>
              </a:xfrm>
              <a:prstGeom prst="line">
                <a:avLst/>
              </a:prstGeom>
              <a:ln w="19050">
                <a:solidFill>
                  <a:srgbClr val="15151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/>
              <p:cNvCxnSpPr>
                <a:stCxn id="5" idx="3"/>
                <a:endCxn id="7" idx="0"/>
              </p:cNvCxnSpPr>
              <p:nvPr/>
            </p:nvCxnSpPr>
            <p:spPr bwMode="gray">
              <a:xfrm>
                <a:off x="3473186" y="2841966"/>
                <a:ext cx="1003954" cy="652972"/>
              </a:xfrm>
              <a:prstGeom prst="line">
                <a:avLst/>
              </a:prstGeom>
              <a:ln w="19050">
                <a:solidFill>
                  <a:srgbClr val="15151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>
                <a:stCxn id="4" idx="3"/>
                <a:endCxn id="7" idx="2"/>
              </p:cNvCxnSpPr>
              <p:nvPr/>
            </p:nvCxnSpPr>
            <p:spPr bwMode="gray">
              <a:xfrm flipV="1">
                <a:off x="3463272" y="3937738"/>
                <a:ext cx="1013868" cy="694994"/>
              </a:xfrm>
              <a:prstGeom prst="line">
                <a:avLst/>
              </a:prstGeom>
              <a:ln w="19050">
                <a:solidFill>
                  <a:srgbClr val="15151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/>
              <p:cNvCxnSpPr>
                <a:stCxn id="7" idx="3"/>
                <a:endCxn id="9" idx="1"/>
              </p:cNvCxnSpPr>
              <p:nvPr/>
            </p:nvCxnSpPr>
            <p:spPr bwMode="gray">
              <a:xfrm>
                <a:off x="4747140" y="3716338"/>
                <a:ext cx="772348" cy="0"/>
              </a:xfrm>
              <a:prstGeom prst="line">
                <a:avLst/>
              </a:prstGeom>
              <a:ln w="19050">
                <a:solidFill>
                  <a:srgbClr val="15151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5" name="图片 24" descr="PC.pn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 bwMode="gray">
              <a:xfrm>
                <a:off x="438447" y="2368691"/>
                <a:ext cx="539063" cy="414000"/>
              </a:xfrm>
              <a:prstGeom prst="rect">
                <a:avLst/>
              </a:prstGeom>
            </p:spPr>
          </p:pic>
          <p:pic>
            <p:nvPicPr>
              <p:cNvPr id="26" name="图片 25" descr="PC.pn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 bwMode="gray">
              <a:xfrm>
                <a:off x="5519488" y="2375654"/>
                <a:ext cx="539063" cy="414000"/>
              </a:xfrm>
              <a:prstGeom prst="rect">
                <a:avLst/>
              </a:prstGeom>
            </p:spPr>
          </p:pic>
          <p:cxnSp>
            <p:nvCxnSpPr>
              <p:cNvPr id="28" name="直接连接符 27"/>
              <p:cNvCxnSpPr>
                <a:stCxn id="25" idx="2"/>
                <a:endCxn id="8" idx="0"/>
              </p:cNvCxnSpPr>
              <p:nvPr/>
            </p:nvCxnSpPr>
            <p:spPr bwMode="gray">
              <a:xfrm>
                <a:off x="707979" y="2782691"/>
                <a:ext cx="8109" cy="737163"/>
              </a:xfrm>
              <a:prstGeom prst="line">
                <a:avLst/>
              </a:prstGeom>
              <a:ln w="19050">
                <a:solidFill>
                  <a:srgbClr val="15151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/>
              <p:cNvCxnSpPr>
                <a:stCxn id="26" idx="2"/>
                <a:endCxn id="9" idx="0"/>
              </p:cNvCxnSpPr>
              <p:nvPr/>
            </p:nvCxnSpPr>
            <p:spPr bwMode="gray">
              <a:xfrm>
                <a:off x="5789020" y="2789654"/>
                <a:ext cx="468" cy="705284"/>
              </a:xfrm>
              <a:prstGeom prst="line">
                <a:avLst/>
              </a:prstGeom>
              <a:ln w="19050">
                <a:solidFill>
                  <a:srgbClr val="15151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文本框 34"/>
            <p:cNvSpPr txBox="1"/>
            <p:nvPr/>
          </p:nvSpPr>
          <p:spPr bwMode="gray">
            <a:xfrm>
              <a:off x="509375" y="3185167"/>
              <a:ext cx="43633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R1</a:t>
              </a:r>
              <a:endPara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6" name="文本框 35"/>
            <p:cNvSpPr txBox="1"/>
            <p:nvPr/>
          </p:nvSpPr>
          <p:spPr bwMode="gray">
            <a:xfrm>
              <a:off x="1681896" y="3185167"/>
              <a:ext cx="43633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R2</a:t>
              </a:r>
              <a:endPara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7" name="文本框 36"/>
            <p:cNvSpPr txBox="1"/>
            <p:nvPr/>
          </p:nvSpPr>
          <p:spPr bwMode="gray">
            <a:xfrm>
              <a:off x="4310802" y="3173754"/>
              <a:ext cx="43633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R5</a:t>
              </a:r>
              <a:endPara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8" name="文本框 37"/>
            <p:cNvSpPr txBox="1"/>
            <p:nvPr/>
          </p:nvSpPr>
          <p:spPr bwMode="gray">
            <a:xfrm>
              <a:off x="5556000" y="3185167"/>
              <a:ext cx="43633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R6</a:t>
              </a:r>
              <a:endPara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9" name="文本框 38"/>
            <p:cNvSpPr txBox="1"/>
            <p:nvPr/>
          </p:nvSpPr>
          <p:spPr bwMode="gray">
            <a:xfrm>
              <a:off x="2969698" y="2290439"/>
              <a:ext cx="43633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R3</a:t>
              </a:r>
              <a:endPara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0" name="文本框 39"/>
            <p:cNvSpPr txBox="1"/>
            <p:nvPr/>
          </p:nvSpPr>
          <p:spPr bwMode="gray">
            <a:xfrm>
              <a:off x="2985017" y="4081205"/>
              <a:ext cx="43633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R4</a:t>
              </a:r>
              <a:endPara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1" name="文本框 40"/>
            <p:cNvSpPr txBox="1"/>
            <p:nvPr/>
          </p:nvSpPr>
          <p:spPr bwMode="gray">
            <a:xfrm>
              <a:off x="386909" y="1340321"/>
              <a:ext cx="163859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PC1</a:t>
              </a:r>
              <a:r>
                <a:rPr lang="zh-CN" altLang="en-US" sz="12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：</a:t>
              </a:r>
              <a:r>
                <a:rPr lang="en-US" altLang="zh-CN" sz="12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192.168.1.1/24</a:t>
              </a:r>
              <a:endPara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2" name="文本框 41"/>
            <p:cNvSpPr txBox="1"/>
            <p:nvPr/>
          </p:nvSpPr>
          <p:spPr bwMode="gray">
            <a:xfrm>
              <a:off x="4515325" y="1321733"/>
              <a:ext cx="163859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PC2</a:t>
              </a:r>
              <a:r>
                <a:rPr lang="zh-CN" altLang="en-US" sz="12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：</a:t>
              </a:r>
              <a:r>
                <a:rPr lang="en-US" altLang="zh-CN" sz="12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192.168.2.1/24</a:t>
              </a:r>
              <a:endPara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xmlns="" id="{2FB084DC-7F7C-4D00-B92D-0FB134D905C1}"/>
              </a:ext>
            </a:extLst>
          </p:cNvPr>
          <p:cNvCxnSpPr>
            <a:cxnSpLocks/>
          </p:cNvCxnSpPr>
          <p:nvPr/>
        </p:nvCxnSpPr>
        <p:spPr bwMode="gray">
          <a:xfrm flipV="1">
            <a:off x="2039535" y="3299318"/>
            <a:ext cx="949488" cy="651443"/>
          </a:xfrm>
          <a:prstGeom prst="line">
            <a:avLst/>
          </a:prstGeom>
          <a:ln w="25400">
            <a:solidFill>
              <a:srgbClr val="81C15F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xmlns="" id="{2FB084DC-7F7C-4D00-B92D-0FB134D905C1}"/>
              </a:ext>
            </a:extLst>
          </p:cNvPr>
          <p:cNvCxnSpPr>
            <a:cxnSpLocks/>
          </p:cNvCxnSpPr>
          <p:nvPr/>
        </p:nvCxnSpPr>
        <p:spPr bwMode="gray">
          <a:xfrm>
            <a:off x="1172160" y="4113232"/>
            <a:ext cx="631067" cy="1"/>
          </a:xfrm>
          <a:prstGeom prst="line">
            <a:avLst/>
          </a:prstGeom>
          <a:ln w="25400">
            <a:solidFill>
              <a:srgbClr val="81C15F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xmlns="" id="{2FB084DC-7F7C-4D00-B92D-0FB134D905C1}"/>
              </a:ext>
            </a:extLst>
          </p:cNvPr>
          <p:cNvCxnSpPr>
            <a:cxnSpLocks/>
          </p:cNvCxnSpPr>
          <p:nvPr/>
        </p:nvCxnSpPr>
        <p:spPr bwMode="gray">
          <a:xfrm>
            <a:off x="942976" y="3362049"/>
            <a:ext cx="575" cy="588712"/>
          </a:xfrm>
          <a:prstGeom prst="line">
            <a:avLst/>
          </a:prstGeom>
          <a:ln w="25400">
            <a:solidFill>
              <a:srgbClr val="81C15F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接连接符 119">
            <a:extLst>
              <a:ext uri="{FF2B5EF4-FFF2-40B4-BE49-F238E27FC236}">
                <a16:creationId xmlns:a16="http://schemas.microsoft.com/office/drawing/2014/main" xmlns="" id="{2FB084DC-7F7C-4D00-B92D-0FB134D905C1}"/>
              </a:ext>
            </a:extLst>
          </p:cNvPr>
          <p:cNvCxnSpPr>
            <a:cxnSpLocks/>
          </p:cNvCxnSpPr>
          <p:nvPr/>
        </p:nvCxnSpPr>
        <p:spPr bwMode="gray">
          <a:xfrm>
            <a:off x="3696449" y="3257232"/>
            <a:ext cx="1023645" cy="673218"/>
          </a:xfrm>
          <a:prstGeom prst="line">
            <a:avLst/>
          </a:prstGeom>
          <a:ln w="25400">
            <a:solidFill>
              <a:srgbClr val="81C15F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接连接符 120">
            <a:extLst>
              <a:ext uri="{FF2B5EF4-FFF2-40B4-BE49-F238E27FC236}">
                <a16:creationId xmlns:a16="http://schemas.microsoft.com/office/drawing/2014/main" xmlns="" id="{2FB084DC-7F7C-4D00-B92D-0FB134D905C1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5871447" y="3372407"/>
            <a:ext cx="1" cy="566986"/>
          </a:xfrm>
          <a:prstGeom prst="line">
            <a:avLst/>
          </a:prstGeom>
          <a:ln w="25400">
            <a:solidFill>
              <a:srgbClr val="81C15F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连接符 121">
            <a:extLst>
              <a:ext uri="{FF2B5EF4-FFF2-40B4-BE49-F238E27FC236}">
                <a16:creationId xmlns:a16="http://schemas.microsoft.com/office/drawing/2014/main" xmlns="" id="{2FB084DC-7F7C-4D00-B92D-0FB134D905C1}"/>
              </a:ext>
            </a:extLst>
          </p:cNvPr>
          <p:cNvCxnSpPr>
            <a:cxnSpLocks/>
          </p:cNvCxnSpPr>
          <p:nvPr/>
        </p:nvCxnSpPr>
        <p:spPr bwMode="gray">
          <a:xfrm flipV="1">
            <a:off x="4930511" y="4091201"/>
            <a:ext cx="693615" cy="4533"/>
          </a:xfrm>
          <a:prstGeom prst="line">
            <a:avLst/>
          </a:prstGeom>
          <a:ln w="25400">
            <a:solidFill>
              <a:srgbClr val="81C15F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文本框 134"/>
          <p:cNvSpPr txBox="1"/>
          <p:nvPr/>
        </p:nvSpPr>
        <p:spPr bwMode="gray">
          <a:xfrm>
            <a:off x="3078412" y="4036600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IGP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8" name="文本框 137"/>
          <p:cNvSpPr txBox="1"/>
          <p:nvPr/>
        </p:nvSpPr>
        <p:spPr bwMode="gray">
          <a:xfrm>
            <a:off x="1057141" y="4237010"/>
            <a:ext cx="7569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9" name="文本框 138"/>
          <p:cNvSpPr txBox="1"/>
          <p:nvPr/>
        </p:nvSpPr>
        <p:spPr bwMode="gray">
          <a:xfrm>
            <a:off x="6390930" y="4456345"/>
            <a:ext cx="10406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路由表</a:t>
            </a:r>
          </a:p>
        </p:txBody>
      </p:sp>
      <p:sp>
        <p:nvSpPr>
          <p:cNvPr id="61" name="文本占位符 2">
            <a:extLst>
              <a:ext uri="{FF2B5EF4-FFF2-40B4-BE49-F238E27FC236}">
                <a16:creationId xmlns:a16="http://schemas.microsoft.com/office/drawing/2014/main" xmlns="" id="{C2014A18-2693-4B31-B182-541A4994E3DC}"/>
              </a:ext>
            </a:extLst>
          </p:cNvPr>
          <p:cNvSpPr txBox="1">
            <a:spLocks/>
          </p:cNvSpPr>
          <p:nvPr/>
        </p:nvSpPr>
        <p:spPr bwMode="gray">
          <a:xfrm>
            <a:off x="6284807" y="2433993"/>
            <a:ext cx="5289566" cy="1890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auto" latinLnBrk="0" hangingPunct="1">
              <a:lnSpc>
                <a:spcPct val="140000"/>
              </a:lnSpc>
              <a:spcBef>
                <a:spcPts val="792"/>
              </a:spcBef>
              <a:buClrTx/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传统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路由转发的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特点：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所有路由器需要知道全网的路由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头部不定长，处理效率低。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传统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转发是面向无连接的，无法提供较好的端到端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QoS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保证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6791050"/>
              </p:ext>
            </p:extLst>
          </p:nvPr>
        </p:nvGraphicFramePr>
        <p:xfrm>
          <a:off x="1077807" y="3448997"/>
          <a:ext cx="659888" cy="5486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65988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2376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IP</a:t>
                      </a:r>
                      <a:r>
                        <a:rPr lang="zh-CN" altLang="en-US" sz="1200" b="0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头部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E9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3765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数据</a:t>
                      </a:r>
                    </a:p>
                  </a:txBody>
                  <a:tcPr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E9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48" name="表格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203902"/>
              </p:ext>
            </p:extLst>
          </p:nvPr>
        </p:nvGraphicFramePr>
        <p:xfrm>
          <a:off x="4951828" y="3448997"/>
          <a:ext cx="659888" cy="5486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65988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2376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IP</a:t>
                      </a:r>
                      <a:r>
                        <a:rPr lang="zh-CN" altLang="en-US" sz="1200" b="0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头部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E9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3765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数据</a:t>
                      </a:r>
                    </a:p>
                  </a:txBody>
                  <a:tcPr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E9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49" name="表格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2927533"/>
              </p:ext>
            </p:extLst>
          </p:nvPr>
        </p:nvGraphicFramePr>
        <p:xfrm>
          <a:off x="1854391" y="3051154"/>
          <a:ext cx="659888" cy="5486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65988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2376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IP</a:t>
                      </a:r>
                      <a:r>
                        <a:rPr lang="zh-CN" altLang="en-US" sz="1200" b="0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头部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E9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3765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数据</a:t>
                      </a:r>
                    </a:p>
                  </a:txBody>
                  <a:tcPr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E9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50" name="表格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4084827"/>
              </p:ext>
            </p:extLst>
          </p:nvPr>
        </p:nvGraphicFramePr>
        <p:xfrm>
          <a:off x="4125349" y="3051154"/>
          <a:ext cx="659888" cy="5486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65988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2376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IP</a:t>
                      </a:r>
                      <a:r>
                        <a:rPr lang="zh-CN" altLang="en-US" sz="1200" b="0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头部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E9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3765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数据</a:t>
                      </a:r>
                    </a:p>
                  </a:txBody>
                  <a:tcPr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E9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51" name="表格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4084827"/>
              </p:ext>
            </p:extLst>
          </p:nvPr>
        </p:nvGraphicFramePr>
        <p:xfrm>
          <a:off x="3010094" y="2492538"/>
          <a:ext cx="659888" cy="5486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65988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2376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IP</a:t>
                      </a:r>
                      <a:r>
                        <a:rPr lang="zh-CN" altLang="en-US" sz="1200" b="0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头部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E9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3765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数据</a:t>
                      </a:r>
                    </a:p>
                  </a:txBody>
                  <a:tcPr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E9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9942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>
                <a:sym typeface="Huawei Sans" panose="020C0503030203020204" pitchFamily="34" charset="0"/>
              </a:rPr>
              <a:t>MPLS</a:t>
            </a:r>
            <a:r>
              <a:rPr lang="zh-CN" altLang="en-US" smtClean="0">
                <a:sym typeface="Huawei Sans" panose="020C0503030203020204" pitchFamily="34" charset="0"/>
              </a:rPr>
              <a:t>基本概念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 smtClean="0">
                <a:sym typeface="Huawei Sans" panose="020C0503030203020204" pitchFamily="34" charset="0"/>
              </a:rPr>
              <a:t>MPLS</a:t>
            </a:r>
            <a:r>
              <a:rPr lang="zh-CN" altLang="en-US" sz="1800" dirty="0" smtClean="0">
                <a:sym typeface="Huawei Sans" panose="020C0503030203020204" pitchFamily="34" charset="0"/>
              </a:rPr>
              <a:t>位于</a:t>
            </a:r>
            <a:r>
              <a:rPr lang="en-US" altLang="zh-CN" sz="1800" dirty="0" smtClean="0">
                <a:sym typeface="Huawei Sans" panose="020C0503030203020204" pitchFamily="34" charset="0"/>
              </a:rPr>
              <a:t>TCP/IP</a:t>
            </a:r>
            <a:r>
              <a:rPr lang="zh-CN" altLang="en-US" sz="1800" dirty="0" smtClean="0">
                <a:sym typeface="Huawei Sans" panose="020C0503030203020204" pitchFamily="34" charset="0"/>
              </a:rPr>
              <a:t>协议栈中的数据链路层和网络层之间，可以向所有网络层提供服务。</a:t>
            </a:r>
            <a:endParaRPr lang="en-US" altLang="zh-CN" sz="1800" dirty="0" smtClean="0">
              <a:sym typeface="Huawei Sans" panose="020C0503030203020204" pitchFamily="34" charset="0"/>
            </a:endParaRPr>
          </a:p>
          <a:p>
            <a:r>
              <a:rPr lang="zh-CN" altLang="en-US" sz="1800" dirty="0" smtClean="0">
                <a:sym typeface="Huawei Sans" panose="020C0503030203020204" pitchFamily="34" charset="0"/>
              </a:rPr>
              <a:t>通过在数据链路层和网络层之间增加额外的</a:t>
            </a:r>
            <a:r>
              <a:rPr lang="en-US" altLang="zh-CN" sz="1800" dirty="0" smtClean="0">
                <a:sym typeface="Huawei Sans" panose="020C0503030203020204" pitchFamily="34" charset="0"/>
              </a:rPr>
              <a:t>MPLS</a:t>
            </a:r>
            <a:r>
              <a:rPr lang="zh-CN" altLang="en-US" sz="1800" dirty="0" smtClean="0">
                <a:sym typeface="Huawei Sans" panose="020C0503030203020204" pitchFamily="34" charset="0"/>
              </a:rPr>
              <a:t>头部，基于</a:t>
            </a:r>
            <a:r>
              <a:rPr lang="en-US" altLang="zh-CN" sz="1800" dirty="0" smtClean="0">
                <a:sym typeface="Huawei Sans" panose="020C0503030203020204" pitchFamily="34" charset="0"/>
              </a:rPr>
              <a:t>MPLS</a:t>
            </a:r>
            <a:r>
              <a:rPr lang="zh-CN" altLang="en-US" sz="1800" dirty="0" smtClean="0">
                <a:sym typeface="Huawei Sans" panose="020C0503030203020204" pitchFamily="34" charset="0"/>
              </a:rPr>
              <a:t>头部实现数据快速转发。</a:t>
            </a:r>
            <a:endParaRPr lang="en-US" altLang="zh-CN" sz="1800" dirty="0" smtClean="0">
              <a:sym typeface="Huawei Sans" panose="020C0503030203020204" pitchFamily="34" charset="0"/>
            </a:endParaRPr>
          </a:p>
          <a:p>
            <a:r>
              <a:rPr lang="zh-CN" altLang="en-US" sz="1800" dirty="0" smtClean="0">
                <a:sym typeface="Huawei Sans" panose="020C0503030203020204" pitchFamily="34" charset="0"/>
              </a:rPr>
              <a:t>本课程仅介绍</a:t>
            </a:r>
            <a:r>
              <a:rPr lang="en-US" altLang="zh-CN" sz="1800" dirty="0" smtClean="0">
                <a:sym typeface="Huawei Sans" panose="020C0503030203020204" pitchFamily="34" charset="0"/>
              </a:rPr>
              <a:t>MPLS</a:t>
            </a:r>
            <a:r>
              <a:rPr lang="zh-CN" altLang="en-US" sz="1800" dirty="0" smtClean="0">
                <a:sym typeface="Huawei Sans" panose="020C0503030203020204" pitchFamily="34" charset="0"/>
              </a:rPr>
              <a:t>在</a:t>
            </a:r>
            <a:r>
              <a:rPr lang="en-US" altLang="zh-CN" sz="1800" dirty="0" smtClean="0">
                <a:sym typeface="Huawei Sans" panose="020C0503030203020204" pitchFamily="34" charset="0"/>
              </a:rPr>
              <a:t>IP</a:t>
            </a:r>
            <a:r>
              <a:rPr lang="zh-CN" altLang="en-US" sz="1800" dirty="0" smtClean="0">
                <a:sym typeface="Huawei Sans" panose="020C0503030203020204" pitchFamily="34" charset="0"/>
              </a:rPr>
              <a:t>网络中的应用。</a:t>
            </a:r>
            <a:endParaRPr lang="en-US" altLang="zh-CN" sz="1800" dirty="0">
              <a:sym typeface="Huawei Sans" panose="020C0503030203020204" pitchFamily="34" charset="0"/>
            </a:endParaRPr>
          </a:p>
        </p:txBody>
      </p:sp>
      <p:sp>
        <p:nvSpPr>
          <p:cNvPr id="31" name="Rounded Rectangle 36"/>
          <p:cNvSpPr/>
          <p:nvPr/>
        </p:nvSpPr>
        <p:spPr bwMode="gray">
          <a:xfrm>
            <a:off x="3085621" y="3077895"/>
            <a:ext cx="5057297" cy="1954400"/>
          </a:xfrm>
          <a:prstGeom prst="roundRect">
            <a:avLst>
              <a:gd name="adj" fmla="val 5020"/>
            </a:avLst>
          </a:prstGeom>
          <a:solidFill>
            <a:srgbClr val="BEE9EE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kern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32" name="直接连接符 4"/>
          <p:cNvCxnSpPr/>
          <p:nvPr/>
        </p:nvCxnSpPr>
        <p:spPr bwMode="gray">
          <a:xfrm>
            <a:off x="1972972" y="4110713"/>
            <a:ext cx="7668240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 bwMode="gray">
          <a:xfrm rot="10800000" flipH="1">
            <a:off x="3212579" y="3759865"/>
            <a:ext cx="2050788" cy="0"/>
          </a:xfrm>
          <a:prstGeom prst="line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55"/>
          <p:cNvCxnSpPr/>
          <p:nvPr/>
        </p:nvCxnSpPr>
        <p:spPr bwMode="gray">
          <a:xfrm rot="10800000" flipH="1">
            <a:off x="1972972" y="3759865"/>
            <a:ext cx="1039936" cy="0"/>
          </a:xfrm>
          <a:prstGeom prst="line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55"/>
          <p:cNvCxnSpPr/>
          <p:nvPr/>
        </p:nvCxnSpPr>
        <p:spPr bwMode="gray">
          <a:xfrm rot="10800000" flipH="1">
            <a:off x="5788240" y="3759865"/>
            <a:ext cx="2064464" cy="0"/>
          </a:xfrm>
          <a:prstGeom prst="line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55"/>
          <p:cNvCxnSpPr/>
          <p:nvPr/>
        </p:nvCxnSpPr>
        <p:spPr bwMode="gray">
          <a:xfrm rot="10800000" flipH="1">
            <a:off x="8230968" y="3759865"/>
            <a:ext cx="1039936" cy="0"/>
          </a:xfrm>
          <a:prstGeom prst="line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3" name="图片 72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817510" y="3885682"/>
            <a:ext cx="540000" cy="442800"/>
          </a:xfrm>
          <a:prstGeom prst="rect">
            <a:avLst/>
          </a:prstGeom>
        </p:spPr>
      </p:pic>
      <p:pic>
        <p:nvPicPr>
          <p:cNvPr id="75" name="图片 74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345186" y="3895807"/>
            <a:ext cx="540000" cy="442800"/>
          </a:xfrm>
          <a:prstGeom prst="rect">
            <a:avLst/>
          </a:prstGeom>
        </p:spPr>
      </p:pic>
      <p:pic>
        <p:nvPicPr>
          <p:cNvPr id="76" name="图片 75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907541" y="3881898"/>
            <a:ext cx="540000" cy="442800"/>
          </a:xfrm>
          <a:prstGeom prst="rect">
            <a:avLst/>
          </a:prstGeom>
        </p:spPr>
      </p:pic>
      <p:sp>
        <p:nvSpPr>
          <p:cNvPr id="36" name="任意多边形 35"/>
          <p:cNvSpPr/>
          <p:nvPr/>
        </p:nvSpPr>
        <p:spPr bwMode="gray">
          <a:xfrm>
            <a:off x="6218283" y="3236523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56C4D2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1400" kern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任意多边形 37"/>
          <p:cNvSpPr/>
          <p:nvPr/>
        </p:nvSpPr>
        <p:spPr bwMode="gray">
          <a:xfrm>
            <a:off x="6578283" y="3236523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AFD89C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4" name="任意多边形 43"/>
          <p:cNvSpPr/>
          <p:nvPr/>
        </p:nvSpPr>
        <p:spPr bwMode="gray">
          <a:xfrm>
            <a:off x="6938283" y="3236523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FEEEC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7" name="任意多边形 46"/>
          <p:cNvSpPr/>
          <p:nvPr/>
        </p:nvSpPr>
        <p:spPr bwMode="gray">
          <a:xfrm>
            <a:off x="2079477" y="3236523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56C4D2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1400" kern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2" name="任意多边形 51"/>
          <p:cNvSpPr/>
          <p:nvPr/>
        </p:nvSpPr>
        <p:spPr bwMode="gray">
          <a:xfrm>
            <a:off x="2439477" y="3236523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FEEEC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1400" kern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7" name="任意多边形 56"/>
          <p:cNvSpPr/>
          <p:nvPr/>
        </p:nvSpPr>
        <p:spPr bwMode="gray">
          <a:xfrm>
            <a:off x="3697972" y="3236523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56C4D2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1400" kern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8" name="任意多边形 57"/>
          <p:cNvSpPr/>
          <p:nvPr/>
        </p:nvSpPr>
        <p:spPr bwMode="gray">
          <a:xfrm>
            <a:off x="4057972" y="3236523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AFD89C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1" name="任意多边形 60"/>
          <p:cNvSpPr/>
          <p:nvPr/>
        </p:nvSpPr>
        <p:spPr bwMode="gray">
          <a:xfrm>
            <a:off x="4417972" y="3236523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FEEEC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6" name="任意多边形 65"/>
          <p:cNvSpPr/>
          <p:nvPr/>
        </p:nvSpPr>
        <p:spPr bwMode="gray">
          <a:xfrm>
            <a:off x="8390936" y="3236523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56C4D2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1400" kern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7" name="任意多边形 66"/>
          <p:cNvSpPr/>
          <p:nvPr/>
        </p:nvSpPr>
        <p:spPr bwMode="gray">
          <a:xfrm>
            <a:off x="8750936" y="3236523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FEEEC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" name="文本框 14"/>
          <p:cNvSpPr txBox="1"/>
          <p:nvPr/>
        </p:nvSpPr>
        <p:spPr bwMode="gray">
          <a:xfrm>
            <a:off x="1740893" y="3462214"/>
            <a:ext cx="13083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目的：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3.3.3.3</a:t>
            </a:r>
            <a:endParaRPr lang="zh-CN" altLang="en-US" sz="14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9" name="文本框 68"/>
          <p:cNvSpPr txBox="1"/>
          <p:nvPr/>
        </p:nvSpPr>
        <p:spPr bwMode="gray">
          <a:xfrm>
            <a:off x="3427586" y="3462936"/>
            <a:ext cx="17187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根据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标签转发</a:t>
            </a:r>
          </a:p>
        </p:txBody>
      </p:sp>
      <p:sp>
        <p:nvSpPr>
          <p:cNvPr id="70" name="文本框 69"/>
          <p:cNvSpPr txBox="1"/>
          <p:nvPr/>
        </p:nvSpPr>
        <p:spPr bwMode="gray">
          <a:xfrm>
            <a:off x="5988404" y="3490687"/>
            <a:ext cx="17187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根据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标签转发</a:t>
            </a:r>
          </a:p>
        </p:txBody>
      </p:sp>
      <p:sp>
        <p:nvSpPr>
          <p:cNvPr id="71" name="文本框 70"/>
          <p:cNvSpPr txBox="1"/>
          <p:nvPr/>
        </p:nvSpPr>
        <p:spPr bwMode="gray">
          <a:xfrm>
            <a:off x="8148037" y="3464648"/>
            <a:ext cx="10567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根据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转发</a:t>
            </a:r>
          </a:p>
        </p:txBody>
      </p:sp>
      <p:grpSp>
        <p:nvGrpSpPr>
          <p:cNvPr id="18" name="组合 17"/>
          <p:cNvGrpSpPr/>
          <p:nvPr/>
        </p:nvGrpSpPr>
        <p:grpSpPr bwMode="gray">
          <a:xfrm>
            <a:off x="598572" y="3608482"/>
            <a:ext cx="1377387" cy="720000"/>
            <a:chOff x="833949" y="4172890"/>
            <a:chExt cx="1377387" cy="720000"/>
          </a:xfrm>
        </p:grpSpPr>
        <p:sp>
          <p:nvSpPr>
            <p:cNvPr id="74" name="Freeform 159"/>
            <p:cNvSpPr>
              <a:spLocks noChangeAspect="1"/>
            </p:cNvSpPr>
            <p:nvPr/>
          </p:nvSpPr>
          <p:spPr bwMode="gray">
            <a:xfrm flipH="1">
              <a:off x="833949" y="4172890"/>
              <a:ext cx="1377387" cy="720000"/>
            </a:xfrm>
            <a:custGeom>
              <a:avLst/>
              <a:gdLst>
                <a:gd name="connsiteX0" fmla="*/ 2693983 w 4431601"/>
                <a:gd name="connsiteY0" fmla="*/ 0 h 2316519"/>
                <a:gd name="connsiteX1" fmla="*/ 1918242 w 4431601"/>
                <a:gd name="connsiteY1" fmla="*/ 324162 h 2316519"/>
                <a:gd name="connsiteX2" fmla="*/ 1859647 w 4431601"/>
                <a:gd name="connsiteY2" fmla="*/ 395807 h 2316519"/>
                <a:gd name="connsiteX3" fmla="*/ 1815580 w 4431601"/>
                <a:gd name="connsiteY3" fmla="*/ 362462 h 2316519"/>
                <a:gd name="connsiteX4" fmla="*/ 1347603 w 4431601"/>
                <a:gd name="connsiteY4" fmla="*/ 231362 h 2316519"/>
                <a:gd name="connsiteX5" fmla="*/ 527605 w 4431601"/>
                <a:gd name="connsiteY5" fmla="*/ 844290 h 2316519"/>
                <a:gd name="connsiteX6" fmla="*/ 523639 w 4431601"/>
                <a:gd name="connsiteY6" fmla="*/ 880372 h 2316519"/>
                <a:gd name="connsiteX7" fmla="*/ 444716 w 4431601"/>
                <a:gd name="connsiteY7" fmla="*/ 905088 h 2316519"/>
                <a:gd name="connsiteX8" fmla="*/ 0 w 4431601"/>
                <a:gd name="connsiteY8" fmla="*/ 1581940 h 2316519"/>
                <a:gd name="connsiteX9" fmla="*/ 653694 w 4431601"/>
                <a:gd name="connsiteY9" fmla="*/ 2312727 h 2316519"/>
                <a:gd name="connsiteX10" fmla="*/ 653931 w 4431601"/>
                <a:gd name="connsiteY10" fmla="*/ 2312739 h 2316519"/>
                <a:gd name="connsiteX11" fmla="*/ 653931 w 4431601"/>
                <a:gd name="connsiteY11" fmla="*/ 2316518 h 2316519"/>
                <a:gd name="connsiteX12" fmla="*/ 728123 w 4431601"/>
                <a:gd name="connsiteY12" fmla="*/ 2316518 h 2316519"/>
                <a:gd name="connsiteX13" fmla="*/ 728142 w 4431601"/>
                <a:gd name="connsiteY13" fmla="*/ 2316519 h 2316519"/>
                <a:gd name="connsiteX14" fmla="*/ 728162 w 4431601"/>
                <a:gd name="connsiteY14" fmla="*/ 2316518 h 2316519"/>
                <a:gd name="connsiteX15" fmla="*/ 3745239 w 4431601"/>
                <a:gd name="connsiteY15" fmla="*/ 2316518 h 2316519"/>
                <a:gd name="connsiteX16" fmla="*/ 3745249 w 4431601"/>
                <a:gd name="connsiteY16" fmla="*/ 2316519 h 2316519"/>
                <a:gd name="connsiteX17" fmla="*/ 3745259 w 4431601"/>
                <a:gd name="connsiteY17" fmla="*/ 2316518 h 2316519"/>
                <a:gd name="connsiteX18" fmla="*/ 3788771 w 4431601"/>
                <a:gd name="connsiteY18" fmla="*/ 2316518 h 2316519"/>
                <a:gd name="connsiteX19" fmla="*/ 3788771 w 4431601"/>
                <a:gd name="connsiteY19" fmla="*/ 2312093 h 2316519"/>
                <a:gd name="connsiteX20" fmla="*/ 3883573 w 4431601"/>
                <a:gd name="connsiteY20" fmla="*/ 2302452 h 2316519"/>
                <a:gd name="connsiteX21" fmla="*/ 4431601 w 4431601"/>
                <a:gd name="connsiteY21" fmla="*/ 1624103 h 2316519"/>
                <a:gd name="connsiteX22" fmla="*/ 3883573 w 4431601"/>
                <a:gd name="connsiteY22" fmla="*/ 945754 h 2316519"/>
                <a:gd name="connsiteX23" fmla="*/ 3773844 w 4431601"/>
                <a:gd name="connsiteY23" fmla="*/ 934595 h 2316519"/>
                <a:gd name="connsiteX24" fmla="*/ 3768759 w 4431601"/>
                <a:gd name="connsiteY24" fmla="*/ 883707 h 2316519"/>
                <a:gd name="connsiteX25" fmla="*/ 2693983 w 4431601"/>
                <a:gd name="connsiteY25" fmla="*/ 0 h 2316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431601" h="2316519">
                  <a:moveTo>
                    <a:pt x="2693983" y="0"/>
                  </a:moveTo>
                  <a:cubicBezTo>
                    <a:pt x="2391037" y="0"/>
                    <a:pt x="2116771" y="123878"/>
                    <a:pt x="1918242" y="324162"/>
                  </a:cubicBezTo>
                  <a:lnTo>
                    <a:pt x="1859647" y="395807"/>
                  </a:lnTo>
                  <a:lnTo>
                    <a:pt x="1815580" y="362462"/>
                  </a:lnTo>
                  <a:cubicBezTo>
                    <a:pt x="1681993" y="279692"/>
                    <a:pt x="1520952" y="231362"/>
                    <a:pt x="1347603" y="231362"/>
                  </a:cubicBezTo>
                  <a:cubicBezTo>
                    <a:pt x="943122" y="231362"/>
                    <a:pt x="605652" y="494493"/>
                    <a:pt x="527605" y="844290"/>
                  </a:cubicBezTo>
                  <a:lnTo>
                    <a:pt x="523639" y="880372"/>
                  </a:lnTo>
                  <a:lnTo>
                    <a:pt x="444716" y="905088"/>
                  </a:lnTo>
                  <a:cubicBezTo>
                    <a:pt x="183375" y="1016603"/>
                    <a:pt x="0" y="1277667"/>
                    <a:pt x="0" y="1581940"/>
                  </a:cubicBezTo>
                  <a:cubicBezTo>
                    <a:pt x="0" y="1962281"/>
                    <a:pt x="286523" y="2275109"/>
                    <a:pt x="653694" y="2312727"/>
                  </a:cubicBezTo>
                  <a:lnTo>
                    <a:pt x="653931" y="2312739"/>
                  </a:lnTo>
                  <a:lnTo>
                    <a:pt x="653931" y="2316518"/>
                  </a:lnTo>
                  <a:lnTo>
                    <a:pt x="728123" y="2316518"/>
                  </a:lnTo>
                  <a:lnTo>
                    <a:pt x="728142" y="2316519"/>
                  </a:lnTo>
                  <a:lnTo>
                    <a:pt x="728162" y="2316518"/>
                  </a:lnTo>
                  <a:lnTo>
                    <a:pt x="3745239" y="2316518"/>
                  </a:lnTo>
                  <a:lnTo>
                    <a:pt x="3745249" y="2316519"/>
                  </a:lnTo>
                  <a:lnTo>
                    <a:pt x="3745259" y="2316518"/>
                  </a:lnTo>
                  <a:lnTo>
                    <a:pt x="3788771" y="2316518"/>
                  </a:lnTo>
                  <a:lnTo>
                    <a:pt x="3788771" y="2312093"/>
                  </a:lnTo>
                  <a:lnTo>
                    <a:pt x="3883573" y="2302452"/>
                  </a:lnTo>
                  <a:cubicBezTo>
                    <a:pt x="4196332" y="2237887"/>
                    <a:pt x="4431601" y="1958713"/>
                    <a:pt x="4431601" y="1624103"/>
                  </a:cubicBezTo>
                  <a:cubicBezTo>
                    <a:pt x="4431601" y="1289493"/>
                    <a:pt x="4196332" y="1010319"/>
                    <a:pt x="3883573" y="945754"/>
                  </a:cubicBezTo>
                  <a:lnTo>
                    <a:pt x="3773844" y="934595"/>
                  </a:lnTo>
                  <a:lnTo>
                    <a:pt x="3768759" y="883707"/>
                  </a:lnTo>
                  <a:cubicBezTo>
                    <a:pt x="3666462" y="379376"/>
                    <a:pt x="3224139" y="0"/>
                    <a:pt x="2693983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7" name="文本框 16"/>
            <p:cNvSpPr txBox="1"/>
            <p:nvPr/>
          </p:nvSpPr>
          <p:spPr bwMode="gray">
            <a:xfrm>
              <a:off x="1135044" y="4446306"/>
              <a:ext cx="76976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IP</a:t>
              </a:r>
              <a:r>
                <a:rPr lang="zh-CN" altLang="en-US" sz="16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网络</a:t>
              </a:r>
            </a:p>
          </p:txBody>
        </p:sp>
      </p:grpSp>
      <p:grpSp>
        <p:nvGrpSpPr>
          <p:cNvPr id="77" name="组合 76"/>
          <p:cNvGrpSpPr/>
          <p:nvPr/>
        </p:nvGrpSpPr>
        <p:grpSpPr bwMode="gray">
          <a:xfrm>
            <a:off x="9220627" y="3635886"/>
            <a:ext cx="1377387" cy="720000"/>
            <a:chOff x="833949" y="4172890"/>
            <a:chExt cx="1377387" cy="720000"/>
          </a:xfrm>
        </p:grpSpPr>
        <p:sp>
          <p:nvSpPr>
            <p:cNvPr id="78" name="Freeform 159"/>
            <p:cNvSpPr>
              <a:spLocks noChangeAspect="1"/>
            </p:cNvSpPr>
            <p:nvPr/>
          </p:nvSpPr>
          <p:spPr bwMode="gray">
            <a:xfrm flipH="1">
              <a:off x="833949" y="4172890"/>
              <a:ext cx="1377387" cy="720000"/>
            </a:xfrm>
            <a:custGeom>
              <a:avLst/>
              <a:gdLst>
                <a:gd name="connsiteX0" fmla="*/ 2693983 w 4431601"/>
                <a:gd name="connsiteY0" fmla="*/ 0 h 2316519"/>
                <a:gd name="connsiteX1" fmla="*/ 1918242 w 4431601"/>
                <a:gd name="connsiteY1" fmla="*/ 324162 h 2316519"/>
                <a:gd name="connsiteX2" fmla="*/ 1859647 w 4431601"/>
                <a:gd name="connsiteY2" fmla="*/ 395807 h 2316519"/>
                <a:gd name="connsiteX3" fmla="*/ 1815580 w 4431601"/>
                <a:gd name="connsiteY3" fmla="*/ 362462 h 2316519"/>
                <a:gd name="connsiteX4" fmla="*/ 1347603 w 4431601"/>
                <a:gd name="connsiteY4" fmla="*/ 231362 h 2316519"/>
                <a:gd name="connsiteX5" fmla="*/ 527605 w 4431601"/>
                <a:gd name="connsiteY5" fmla="*/ 844290 h 2316519"/>
                <a:gd name="connsiteX6" fmla="*/ 523639 w 4431601"/>
                <a:gd name="connsiteY6" fmla="*/ 880372 h 2316519"/>
                <a:gd name="connsiteX7" fmla="*/ 444716 w 4431601"/>
                <a:gd name="connsiteY7" fmla="*/ 905088 h 2316519"/>
                <a:gd name="connsiteX8" fmla="*/ 0 w 4431601"/>
                <a:gd name="connsiteY8" fmla="*/ 1581940 h 2316519"/>
                <a:gd name="connsiteX9" fmla="*/ 653694 w 4431601"/>
                <a:gd name="connsiteY9" fmla="*/ 2312727 h 2316519"/>
                <a:gd name="connsiteX10" fmla="*/ 653931 w 4431601"/>
                <a:gd name="connsiteY10" fmla="*/ 2312739 h 2316519"/>
                <a:gd name="connsiteX11" fmla="*/ 653931 w 4431601"/>
                <a:gd name="connsiteY11" fmla="*/ 2316518 h 2316519"/>
                <a:gd name="connsiteX12" fmla="*/ 728123 w 4431601"/>
                <a:gd name="connsiteY12" fmla="*/ 2316518 h 2316519"/>
                <a:gd name="connsiteX13" fmla="*/ 728142 w 4431601"/>
                <a:gd name="connsiteY13" fmla="*/ 2316519 h 2316519"/>
                <a:gd name="connsiteX14" fmla="*/ 728162 w 4431601"/>
                <a:gd name="connsiteY14" fmla="*/ 2316518 h 2316519"/>
                <a:gd name="connsiteX15" fmla="*/ 3745239 w 4431601"/>
                <a:gd name="connsiteY15" fmla="*/ 2316518 h 2316519"/>
                <a:gd name="connsiteX16" fmla="*/ 3745249 w 4431601"/>
                <a:gd name="connsiteY16" fmla="*/ 2316519 h 2316519"/>
                <a:gd name="connsiteX17" fmla="*/ 3745259 w 4431601"/>
                <a:gd name="connsiteY17" fmla="*/ 2316518 h 2316519"/>
                <a:gd name="connsiteX18" fmla="*/ 3788771 w 4431601"/>
                <a:gd name="connsiteY18" fmla="*/ 2316518 h 2316519"/>
                <a:gd name="connsiteX19" fmla="*/ 3788771 w 4431601"/>
                <a:gd name="connsiteY19" fmla="*/ 2312093 h 2316519"/>
                <a:gd name="connsiteX20" fmla="*/ 3883573 w 4431601"/>
                <a:gd name="connsiteY20" fmla="*/ 2302452 h 2316519"/>
                <a:gd name="connsiteX21" fmla="*/ 4431601 w 4431601"/>
                <a:gd name="connsiteY21" fmla="*/ 1624103 h 2316519"/>
                <a:gd name="connsiteX22" fmla="*/ 3883573 w 4431601"/>
                <a:gd name="connsiteY22" fmla="*/ 945754 h 2316519"/>
                <a:gd name="connsiteX23" fmla="*/ 3773844 w 4431601"/>
                <a:gd name="connsiteY23" fmla="*/ 934595 h 2316519"/>
                <a:gd name="connsiteX24" fmla="*/ 3768759 w 4431601"/>
                <a:gd name="connsiteY24" fmla="*/ 883707 h 2316519"/>
                <a:gd name="connsiteX25" fmla="*/ 2693983 w 4431601"/>
                <a:gd name="connsiteY25" fmla="*/ 0 h 2316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431601" h="2316519">
                  <a:moveTo>
                    <a:pt x="2693983" y="0"/>
                  </a:moveTo>
                  <a:cubicBezTo>
                    <a:pt x="2391037" y="0"/>
                    <a:pt x="2116771" y="123878"/>
                    <a:pt x="1918242" y="324162"/>
                  </a:cubicBezTo>
                  <a:lnTo>
                    <a:pt x="1859647" y="395807"/>
                  </a:lnTo>
                  <a:lnTo>
                    <a:pt x="1815580" y="362462"/>
                  </a:lnTo>
                  <a:cubicBezTo>
                    <a:pt x="1681993" y="279692"/>
                    <a:pt x="1520952" y="231362"/>
                    <a:pt x="1347603" y="231362"/>
                  </a:cubicBezTo>
                  <a:cubicBezTo>
                    <a:pt x="943122" y="231362"/>
                    <a:pt x="605652" y="494493"/>
                    <a:pt x="527605" y="844290"/>
                  </a:cubicBezTo>
                  <a:lnTo>
                    <a:pt x="523639" y="880372"/>
                  </a:lnTo>
                  <a:lnTo>
                    <a:pt x="444716" y="905088"/>
                  </a:lnTo>
                  <a:cubicBezTo>
                    <a:pt x="183375" y="1016603"/>
                    <a:pt x="0" y="1277667"/>
                    <a:pt x="0" y="1581940"/>
                  </a:cubicBezTo>
                  <a:cubicBezTo>
                    <a:pt x="0" y="1962281"/>
                    <a:pt x="286523" y="2275109"/>
                    <a:pt x="653694" y="2312727"/>
                  </a:cubicBezTo>
                  <a:lnTo>
                    <a:pt x="653931" y="2312739"/>
                  </a:lnTo>
                  <a:lnTo>
                    <a:pt x="653931" y="2316518"/>
                  </a:lnTo>
                  <a:lnTo>
                    <a:pt x="728123" y="2316518"/>
                  </a:lnTo>
                  <a:lnTo>
                    <a:pt x="728142" y="2316519"/>
                  </a:lnTo>
                  <a:lnTo>
                    <a:pt x="728162" y="2316518"/>
                  </a:lnTo>
                  <a:lnTo>
                    <a:pt x="3745239" y="2316518"/>
                  </a:lnTo>
                  <a:lnTo>
                    <a:pt x="3745249" y="2316519"/>
                  </a:lnTo>
                  <a:lnTo>
                    <a:pt x="3745259" y="2316518"/>
                  </a:lnTo>
                  <a:lnTo>
                    <a:pt x="3788771" y="2316518"/>
                  </a:lnTo>
                  <a:lnTo>
                    <a:pt x="3788771" y="2312093"/>
                  </a:lnTo>
                  <a:lnTo>
                    <a:pt x="3883573" y="2302452"/>
                  </a:lnTo>
                  <a:cubicBezTo>
                    <a:pt x="4196332" y="2237887"/>
                    <a:pt x="4431601" y="1958713"/>
                    <a:pt x="4431601" y="1624103"/>
                  </a:cubicBezTo>
                  <a:cubicBezTo>
                    <a:pt x="4431601" y="1289493"/>
                    <a:pt x="4196332" y="1010319"/>
                    <a:pt x="3883573" y="945754"/>
                  </a:cubicBezTo>
                  <a:lnTo>
                    <a:pt x="3773844" y="934595"/>
                  </a:lnTo>
                  <a:lnTo>
                    <a:pt x="3768759" y="883707"/>
                  </a:lnTo>
                  <a:cubicBezTo>
                    <a:pt x="3666462" y="379376"/>
                    <a:pt x="3224139" y="0"/>
                    <a:pt x="2693983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9" name="文本框 78"/>
            <p:cNvSpPr txBox="1"/>
            <p:nvPr/>
          </p:nvSpPr>
          <p:spPr bwMode="gray">
            <a:xfrm>
              <a:off x="1030359" y="4300605"/>
              <a:ext cx="984565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6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IP</a:t>
              </a:r>
              <a:r>
                <a:rPr lang="zh-CN" altLang="en-US" sz="16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网络</a:t>
              </a:r>
              <a:endPara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 algn="ctr"/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3.3.3.0/24</a:t>
              </a:r>
              <a:endPara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80" name="矩形 32"/>
          <p:cNvSpPr/>
          <p:nvPr/>
        </p:nvSpPr>
        <p:spPr bwMode="gray">
          <a:xfrm>
            <a:off x="10848683" y="5786815"/>
            <a:ext cx="898817" cy="410785"/>
          </a:xfrm>
          <a:prstGeom prst="rect">
            <a:avLst/>
          </a:prstGeom>
          <a:solidFill>
            <a:srgbClr val="FEEEC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1400" kern="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</a:p>
          <a:p>
            <a:pPr algn="ctr" defTabSz="914400"/>
            <a:r>
              <a:rPr lang="en-US" altLang="zh-CN" sz="1400" kern="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Packet</a:t>
            </a:r>
            <a:endParaRPr lang="zh-CN" altLang="en-US" sz="14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1" name="矩形 33"/>
          <p:cNvSpPr/>
          <p:nvPr/>
        </p:nvSpPr>
        <p:spPr bwMode="gray">
          <a:xfrm>
            <a:off x="9725570" y="5786815"/>
            <a:ext cx="898817" cy="410785"/>
          </a:xfrm>
          <a:prstGeom prst="rect">
            <a:avLst/>
          </a:prstGeom>
          <a:solidFill>
            <a:srgbClr val="AFD89C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Header</a:t>
            </a:r>
            <a:endParaRPr lang="zh-CN" altLang="en-US" sz="14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2" name="矩形 33"/>
          <p:cNvSpPr/>
          <p:nvPr/>
        </p:nvSpPr>
        <p:spPr bwMode="gray">
          <a:xfrm>
            <a:off x="8602456" y="5786815"/>
            <a:ext cx="898817" cy="410785"/>
          </a:xfrm>
          <a:prstGeom prst="rect">
            <a:avLst/>
          </a:prstGeom>
          <a:solidFill>
            <a:srgbClr val="56C4D2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1400" kern="0" dirty="0" smtClean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Ethernet</a:t>
            </a:r>
            <a:endParaRPr lang="en-US" altLang="zh-CN" sz="1400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 defTabSz="914400"/>
            <a:r>
              <a:rPr lang="en-US" altLang="zh-CN" sz="1400" kern="0" dirty="0" smtClean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Header</a:t>
            </a:r>
            <a:endParaRPr lang="zh-CN" altLang="en-US" sz="1400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200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b="1" dirty="0" smtClean="0">
                <a:sym typeface="Huawei Sans" panose="020C0503030203020204" pitchFamily="34" charset="0"/>
              </a:rPr>
              <a:t>MPLS</a:t>
            </a:r>
            <a:r>
              <a:rPr lang="zh-CN" altLang="en-US" b="1" dirty="0" smtClean="0">
                <a:sym typeface="Huawei Sans" panose="020C0503030203020204" pitchFamily="34" charset="0"/>
              </a:rPr>
              <a:t>基础</a:t>
            </a:r>
            <a:endParaRPr lang="en-US" altLang="zh-CN" b="1" dirty="0" smtClean="0">
              <a:sym typeface="Huawei Sans" panose="020C0503030203020204" pitchFamily="34" charset="0"/>
            </a:endParaRPr>
          </a:p>
          <a:p>
            <a:pPr lvl="1"/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MPLS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概述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pPr lvl="1">
              <a:buSzPct val="60000"/>
              <a:buFont typeface="Wingdings" panose="05000000000000000000" pitchFamily="2" charset="2"/>
              <a:buChar char="n"/>
            </a:pPr>
            <a:r>
              <a:rPr lang="en-US" altLang="zh-CN" dirty="0" smtClean="0">
                <a:sym typeface="Huawei Sans" panose="020C0503030203020204" pitchFamily="34" charset="0"/>
              </a:rPr>
              <a:t>MPLS</a:t>
            </a:r>
            <a:r>
              <a:rPr lang="zh-CN" altLang="en-US" dirty="0" smtClean="0">
                <a:sym typeface="Huawei Sans" panose="020C0503030203020204" pitchFamily="34" charset="0"/>
              </a:rPr>
              <a:t>术语</a:t>
            </a:r>
            <a:endParaRPr lang="en-US" altLang="zh-CN" dirty="0" smtClean="0">
              <a:sym typeface="Huawei Sans" panose="020C0503030203020204" pitchFamily="34" charset="0"/>
            </a:endParaRPr>
          </a:p>
          <a:p>
            <a:pPr lvl="1"/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MPLS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标签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MPLS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转发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静态</a:t>
            </a:r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LSP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配置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endParaRPr lang="zh-CN" altLang="en-US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4098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 smtClean="0">
                <a:sym typeface="Huawei Sans" panose="020C0503030203020204" pitchFamily="34" charset="0"/>
              </a:rPr>
              <a:t>MPLS</a:t>
            </a:r>
            <a:r>
              <a:rPr lang="zh-CN" altLang="en-US" dirty="0" smtClean="0">
                <a:sym typeface="Huawei Sans" panose="020C0503030203020204" pitchFamily="34" charset="0"/>
              </a:rPr>
              <a:t>术语介绍：</a:t>
            </a:r>
            <a:r>
              <a:rPr lang="en-US" altLang="zh-CN" dirty="0" smtClean="0">
                <a:sym typeface="Huawei Sans" panose="020C0503030203020204" pitchFamily="34" charset="0"/>
              </a:rPr>
              <a:t>LSR</a:t>
            </a:r>
            <a:r>
              <a:rPr lang="zh-CN" altLang="en-US" dirty="0" smtClean="0">
                <a:sym typeface="Huawei Sans" panose="020C0503030203020204" pitchFamily="34" charset="0"/>
              </a:rPr>
              <a:t>与</a:t>
            </a:r>
            <a:r>
              <a:rPr lang="en-US" altLang="zh-CN" dirty="0" smtClean="0">
                <a:sym typeface="Huawei Sans" panose="020C0503030203020204" pitchFamily="34" charset="0"/>
              </a:rPr>
              <a:t>MPLS</a:t>
            </a:r>
            <a:r>
              <a:rPr lang="zh-CN" altLang="en-US" dirty="0" smtClean="0">
                <a:sym typeface="Huawei Sans" panose="020C0503030203020204" pitchFamily="34" charset="0"/>
              </a:rPr>
              <a:t>域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 smtClean="0">
                <a:sym typeface="Huawei Sans" panose="020C0503030203020204" pitchFamily="34" charset="0"/>
              </a:rPr>
              <a:t>MPLS</a:t>
            </a:r>
            <a:r>
              <a:rPr lang="zh-CN" altLang="en-US" sz="1800" dirty="0" smtClean="0">
                <a:sym typeface="Huawei Sans" panose="020C0503030203020204" pitchFamily="34" charset="0"/>
              </a:rPr>
              <a:t>域（</a:t>
            </a:r>
            <a:r>
              <a:rPr lang="en-US" altLang="zh-CN" sz="1800" dirty="0" smtClean="0">
                <a:sym typeface="Huawei Sans" panose="020C0503030203020204" pitchFamily="34" charset="0"/>
              </a:rPr>
              <a:t>MPLS Domain</a:t>
            </a:r>
            <a:r>
              <a:rPr lang="zh-CN" altLang="en-US" sz="1800" dirty="0" smtClean="0">
                <a:sym typeface="Huawei Sans" panose="020C0503030203020204" pitchFamily="34" charset="0"/>
              </a:rPr>
              <a:t>）：一系列连续的运行</a:t>
            </a:r>
            <a:r>
              <a:rPr lang="en-US" altLang="zh-CN" sz="1800" dirty="0" smtClean="0">
                <a:sym typeface="Huawei Sans" panose="020C0503030203020204" pitchFamily="34" charset="0"/>
              </a:rPr>
              <a:t>MPLS</a:t>
            </a:r>
            <a:r>
              <a:rPr lang="zh-CN" altLang="en-US" sz="1800" dirty="0" smtClean="0">
                <a:sym typeface="Huawei Sans" panose="020C0503030203020204" pitchFamily="34" charset="0"/>
              </a:rPr>
              <a:t>的网络设备构成了一个</a:t>
            </a:r>
            <a:r>
              <a:rPr lang="en-US" altLang="zh-CN" sz="1800" dirty="0" smtClean="0">
                <a:sym typeface="Huawei Sans" panose="020C0503030203020204" pitchFamily="34" charset="0"/>
              </a:rPr>
              <a:t>MPLS</a:t>
            </a:r>
            <a:r>
              <a:rPr lang="zh-CN" altLang="en-US" sz="1800" dirty="0" smtClean="0">
                <a:sym typeface="Huawei Sans" panose="020C0503030203020204" pitchFamily="34" charset="0"/>
              </a:rPr>
              <a:t>域。</a:t>
            </a:r>
            <a:endParaRPr lang="en-US" altLang="zh-CN" sz="1800" dirty="0" smtClean="0">
              <a:sym typeface="Huawei Sans" panose="020C0503030203020204" pitchFamily="34" charset="0"/>
            </a:endParaRPr>
          </a:p>
          <a:p>
            <a:r>
              <a:rPr lang="en-US" altLang="zh-CN" sz="1800" dirty="0" smtClean="0">
                <a:sym typeface="Huawei Sans" panose="020C0503030203020204" pitchFamily="34" charset="0"/>
              </a:rPr>
              <a:t>LSR</a:t>
            </a:r>
            <a:r>
              <a:rPr lang="zh-CN" altLang="en-US" sz="1800" dirty="0" smtClean="0">
                <a:sym typeface="Huawei Sans" panose="020C0503030203020204" pitchFamily="34" charset="0"/>
              </a:rPr>
              <a:t>（</a:t>
            </a:r>
            <a:r>
              <a:rPr lang="en-US" altLang="zh-CN" sz="1800" dirty="0" smtClean="0">
                <a:sym typeface="Huawei Sans" panose="020C0503030203020204" pitchFamily="34" charset="0"/>
              </a:rPr>
              <a:t>Label Switching Router</a:t>
            </a:r>
            <a:r>
              <a:rPr lang="zh-CN" altLang="en-US" sz="1800" dirty="0" smtClean="0">
                <a:sym typeface="Huawei Sans" panose="020C0503030203020204" pitchFamily="34" charset="0"/>
              </a:rPr>
              <a:t>，标签交换路由器）：支持</a:t>
            </a:r>
            <a:r>
              <a:rPr lang="en-US" altLang="zh-CN" sz="1800" dirty="0" smtClean="0">
                <a:sym typeface="Huawei Sans" panose="020C0503030203020204" pitchFamily="34" charset="0"/>
              </a:rPr>
              <a:t>MPLS</a:t>
            </a:r>
            <a:r>
              <a:rPr lang="zh-CN" altLang="en-US" sz="1800" dirty="0" smtClean="0">
                <a:sym typeface="Huawei Sans" panose="020C0503030203020204" pitchFamily="34" charset="0"/>
              </a:rPr>
              <a:t>的路由器（实际上也指支持</a:t>
            </a:r>
            <a:r>
              <a:rPr lang="en-US" altLang="zh-CN" sz="1800" dirty="0" smtClean="0">
                <a:sym typeface="Huawei Sans" panose="020C0503030203020204" pitchFamily="34" charset="0"/>
              </a:rPr>
              <a:t>MPLS</a:t>
            </a:r>
            <a:r>
              <a:rPr lang="zh-CN" altLang="en-US" sz="1800" dirty="0" smtClean="0">
                <a:sym typeface="Huawei Sans" panose="020C0503030203020204" pitchFamily="34" charset="0"/>
              </a:rPr>
              <a:t>的交换机或其他网络设备）。位于</a:t>
            </a:r>
            <a:r>
              <a:rPr lang="en-US" altLang="zh-CN" sz="1800" dirty="0" smtClean="0">
                <a:sym typeface="Huawei Sans" panose="020C0503030203020204" pitchFamily="34" charset="0"/>
              </a:rPr>
              <a:t>MPLS</a:t>
            </a:r>
            <a:r>
              <a:rPr lang="zh-CN" altLang="en-US" sz="1800" dirty="0" smtClean="0">
                <a:sym typeface="Huawei Sans" panose="020C0503030203020204" pitchFamily="34" charset="0"/>
              </a:rPr>
              <a:t>域边缘、连接其它网络的</a:t>
            </a:r>
            <a:r>
              <a:rPr lang="en-US" altLang="zh-CN" sz="1800" dirty="0" smtClean="0">
                <a:sym typeface="Huawei Sans" panose="020C0503030203020204" pitchFamily="34" charset="0"/>
              </a:rPr>
              <a:t>LSR</a:t>
            </a:r>
            <a:r>
              <a:rPr lang="zh-CN" altLang="en-US" sz="1800" dirty="0" smtClean="0">
                <a:sym typeface="Huawei Sans" panose="020C0503030203020204" pitchFamily="34" charset="0"/>
              </a:rPr>
              <a:t>称为边沿路由器</a:t>
            </a:r>
            <a:r>
              <a:rPr lang="en-US" altLang="zh-CN" sz="1800" dirty="0" smtClean="0">
                <a:sym typeface="Huawei Sans" panose="020C0503030203020204" pitchFamily="34" charset="0"/>
              </a:rPr>
              <a:t>LER</a:t>
            </a:r>
            <a:r>
              <a:rPr lang="zh-CN" altLang="en-US" sz="1800" dirty="0" smtClean="0">
                <a:sym typeface="Huawei Sans" panose="020C0503030203020204" pitchFamily="34" charset="0"/>
              </a:rPr>
              <a:t>（</a:t>
            </a:r>
            <a:r>
              <a:rPr lang="en-US" altLang="zh-CN" sz="1800" dirty="0" smtClean="0">
                <a:sym typeface="Huawei Sans" panose="020C0503030203020204" pitchFamily="34" charset="0"/>
              </a:rPr>
              <a:t>Label Edge Router</a:t>
            </a:r>
            <a:r>
              <a:rPr lang="zh-CN" altLang="en-US" sz="1800" dirty="0" smtClean="0">
                <a:sym typeface="Huawei Sans" panose="020C0503030203020204" pitchFamily="34" charset="0"/>
              </a:rPr>
              <a:t>），区域内部的</a:t>
            </a:r>
            <a:r>
              <a:rPr lang="en-US" altLang="zh-CN" sz="1800" dirty="0" smtClean="0">
                <a:sym typeface="Huawei Sans" panose="020C0503030203020204" pitchFamily="34" charset="0"/>
              </a:rPr>
              <a:t>LSR</a:t>
            </a:r>
            <a:r>
              <a:rPr lang="zh-CN" altLang="en-US" sz="1800" dirty="0" smtClean="0">
                <a:sym typeface="Huawei Sans" panose="020C0503030203020204" pitchFamily="34" charset="0"/>
              </a:rPr>
              <a:t>称为核心</a:t>
            </a:r>
            <a:r>
              <a:rPr lang="en-US" altLang="zh-CN" sz="1800" dirty="0" smtClean="0">
                <a:sym typeface="Huawei Sans" panose="020C0503030203020204" pitchFamily="34" charset="0"/>
              </a:rPr>
              <a:t>LSR</a:t>
            </a:r>
            <a:r>
              <a:rPr lang="zh-CN" altLang="en-US" sz="1800" dirty="0" smtClean="0">
                <a:sym typeface="Huawei Sans" panose="020C0503030203020204" pitchFamily="34" charset="0"/>
              </a:rPr>
              <a:t>（</a:t>
            </a:r>
            <a:r>
              <a:rPr lang="en-US" altLang="zh-CN" sz="1800" dirty="0" smtClean="0">
                <a:sym typeface="Huawei Sans" panose="020C0503030203020204" pitchFamily="34" charset="0"/>
              </a:rPr>
              <a:t>Core LSR</a:t>
            </a:r>
            <a:r>
              <a:rPr lang="zh-CN" altLang="en-US" sz="1800" dirty="0" smtClean="0">
                <a:sym typeface="Huawei Sans" panose="020C0503030203020204" pitchFamily="34" charset="0"/>
              </a:rPr>
              <a:t>）。</a:t>
            </a:r>
            <a:endParaRPr lang="en-US" altLang="zh-CN" sz="1800" dirty="0" smtClean="0">
              <a:sym typeface="Huawei Sans" panose="020C0503030203020204" pitchFamily="34" charset="0"/>
            </a:endParaRPr>
          </a:p>
        </p:txBody>
      </p:sp>
      <p:sp>
        <p:nvSpPr>
          <p:cNvPr id="37" name="Rounded Rectangle 36"/>
          <p:cNvSpPr/>
          <p:nvPr/>
        </p:nvSpPr>
        <p:spPr bwMode="gray">
          <a:xfrm>
            <a:off x="3320998" y="3322991"/>
            <a:ext cx="5057297" cy="1954400"/>
          </a:xfrm>
          <a:prstGeom prst="roundRect">
            <a:avLst>
              <a:gd name="adj" fmla="val 5020"/>
            </a:avLst>
          </a:prstGeom>
          <a:solidFill>
            <a:srgbClr val="BEE9EE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kern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1" name="直接连接符 4"/>
          <p:cNvCxnSpPr/>
          <p:nvPr/>
        </p:nvCxnSpPr>
        <p:spPr bwMode="gray">
          <a:xfrm>
            <a:off x="2208349" y="4355809"/>
            <a:ext cx="7697651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 bwMode="gray">
          <a:xfrm rot="10800000" flipH="1">
            <a:off x="3447956" y="4004961"/>
            <a:ext cx="2050788" cy="0"/>
          </a:xfrm>
          <a:prstGeom prst="line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5"/>
          <p:cNvCxnSpPr/>
          <p:nvPr/>
        </p:nvCxnSpPr>
        <p:spPr bwMode="gray">
          <a:xfrm rot="10800000" flipH="1">
            <a:off x="2208349" y="4004961"/>
            <a:ext cx="1039936" cy="0"/>
          </a:xfrm>
          <a:prstGeom prst="line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5"/>
          <p:cNvCxnSpPr/>
          <p:nvPr/>
        </p:nvCxnSpPr>
        <p:spPr bwMode="gray">
          <a:xfrm rot="10800000" flipH="1">
            <a:off x="6023617" y="4004961"/>
            <a:ext cx="2064464" cy="0"/>
          </a:xfrm>
          <a:prstGeom prst="line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5"/>
          <p:cNvCxnSpPr/>
          <p:nvPr/>
        </p:nvCxnSpPr>
        <p:spPr bwMode="gray">
          <a:xfrm rot="10800000" flipH="1">
            <a:off x="8466345" y="4004961"/>
            <a:ext cx="1039936" cy="0"/>
          </a:xfrm>
          <a:prstGeom prst="line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7"/>
          <p:cNvSpPr/>
          <p:nvPr/>
        </p:nvSpPr>
        <p:spPr bwMode="gray">
          <a:xfrm>
            <a:off x="5184966" y="4881535"/>
            <a:ext cx="134043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 Domain</a:t>
            </a:r>
          </a:p>
        </p:txBody>
      </p:sp>
      <p:pic>
        <p:nvPicPr>
          <p:cNvPr id="62" name="图片 61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052887" y="4130778"/>
            <a:ext cx="540000" cy="442800"/>
          </a:xfrm>
          <a:prstGeom prst="rect">
            <a:avLst/>
          </a:prstGeom>
        </p:spPr>
      </p:pic>
      <p:pic>
        <p:nvPicPr>
          <p:cNvPr id="63" name="图片 62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580563" y="4140903"/>
            <a:ext cx="540000" cy="442800"/>
          </a:xfrm>
          <a:prstGeom prst="rect">
            <a:avLst/>
          </a:prstGeom>
        </p:spPr>
      </p:pic>
      <p:pic>
        <p:nvPicPr>
          <p:cNvPr id="64" name="图片 63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142918" y="4126994"/>
            <a:ext cx="540000" cy="442800"/>
          </a:xfrm>
          <a:prstGeom prst="rect">
            <a:avLst/>
          </a:prstGeom>
        </p:spPr>
      </p:pic>
      <p:sp>
        <p:nvSpPr>
          <p:cNvPr id="65" name="TextBox 43"/>
          <p:cNvSpPr txBox="1"/>
          <p:nvPr/>
        </p:nvSpPr>
        <p:spPr bwMode="gray">
          <a:xfrm>
            <a:off x="3076045" y="4583703"/>
            <a:ext cx="4988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LER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6" name="TextBox 43"/>
          <p:cNvSpPr txBox="1"/>
          <p:nvPr/>
        </p:nvSpPr>
        <p:spPr bwMode="gray">
          <a:xfrm>
            <a:off x="5376595" y="4583703"/>
            <a:ext cx="9476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Core LSR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7" name="TextBox 43"/>
          <p:cNvSpPr txBox="1"/>
          <p:nvPr/>
        </p:nvSpPr>
        <p:spPr bwMode="gray">
          <a:xfrm>
            <a:off x="8211976" y="4583703"/>
            <a:ext cx="4988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LER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0" name="任意多边形 69"/>
          <p:cNvSpPr/>
          <p:nvPr/>
        </p:nvSpPr>
        <p:spPr bwMode="gray">
          <a:xfrm>
            <a:off x="6453660" y="3481619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56C4D2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1400" kern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1" name="任意多边形 70"/>
          <p:cNvSpPr/>
          <p:nvPr/>
        </p:nvSpPr>
        <p:spPr bwMode="gray">
          <a:xfrm>
            <a:off x="6813660" y="3481619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FEEEC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2" name="任意多边形 71"/>
          <p:cNvSpPr/>
          <p:nvPr/>
        </p:nvSpPr>
        <p:spPr bwMode="gray">
          <a:xfrm>
            <a:off x="7173660" y="3481619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AFD89C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7" name="任意多边形 76"/>
          <p:cNvSpPr/>
          <p:nvPr/>
        </p:nvSpPr>
        <p:spPr bwMode="gray">
          <a:xfrm>
            <a:off x="2314854" y="3481619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56C4D2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1400" kern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8" name="任意多边形 77"/>
          <p:cNvSpPr/>
          <p:nvPr/>
        </p:nvSpPr>
        <p:spPr bwMode="gray">
          <a:xfrm>
            <a:off x="2674854" y="3481619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AFD89C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0" name="任意多边形 79"/>
          <p:cNvSpPr/>
          <p:nvPr/>
        </p:nvSpPr>
        <p:spPr bwMode="gray">
          <a:xfrm>
            <a:off x="3933349" y="3481619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56C4D2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1400" kern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1" name="任意多边形 80"/>
          <p:cNvSpPr/>
          <p:nvPr/>
        </p:nvSpPr>
        <p:spPr bwMode="gray">
          <a:xfrm>
            <a:off x="4293349" y="3481619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FEEEC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2" name="任意多边形 81"/>
          <p:cNvSpPr/>
          <p:nvPr/>
        </p:nvSpPr>
        <p:spPr bwMode="gray">
          <a:xfrm>
            <a:off x="4653349" y="3481619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AFD89C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4" name="任意多边形 83"/>
          <p:cNvSpPr/>
          <p:nvPr/>
        </p:nvSpPr>
        <p:spPr bwMode="gray">
          <a:xfrm>
            <a:off x="8626313" y="3481619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56C4D2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1400" kern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5" name="任意多边形 84"/>
          <p:cNvSpPr/>
          <p:nvPr/>
        </p:nvSpPr>
        <p:spPr bwMode="gray">
          <a:xfrm>
            <a:off x="8986313" y="3481619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AFD89C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39" name="组合 38"/>
          <p:cNvGrpSpPr/>
          <p:nvPr/>
        </p:nvGrpSpPr>
        <p:grpSpPr bwMode="gray">
          <a:xfrm>
            <a:off x="833949" y="3853578"/>
            <a:ext cx="1377387" cy="720000"/>
            <a:chOff x="833949" y="4172890"/>
            <a:chExt cx="1377387" cy="720000"/>
          </a:xfrm>
        </p:grpSpPr>
        <p:sp>
          <p:nvSpPr>
            <p:cNvPr id="40" name="Freeform 159"/>
            <p:cNvSpPr>
              <a:spLocks noChangeAspect="1"/>
            </p:cNvSpPr>
            <p:nvPr/>
          </p:nvSpPr>
          <p:spPr bwMode="gray">
            <a:xfrm flipH="1">
              <a:off x="833949" y="4172890"/>
              <a:ext cx="1377387" cy="720000"/>
            </a:xfrm>
            <a:custGeom>
              <a:avLst/>
              <a:gdLst>
                <a:gd name="connsiteX0" fmla="*/ 2693983 w 4431601"/>
                <a:gd name="connsiteY0" fmla="*/ 0 h 2316519"/>
                <a:gd name="connsiteX1" fmla="*/ 1918242 w 4431601"/>
                <a:gd name="connsiteY1" fmla="*/ 324162 h 2316519"/>
                <a:gd name="connsiteX2" fmla="*/ 1859647 w 4431601"/>
                <a:gd name="connsiteY2" fmla="*/ 395807 h 2316519"/>
                <a:gd name="connsiteX3" fmla="*/ 1815580 w 4431601"/>
                <a:gd name="connsiteY3" fmla="*/ 362462 h 2316519"/>
                <a:gd name="connsiteX4" fmla="*/ 1347603 w 4431601"/>
                <a:gd name="connsiteY4" fmla="*/ 231362 h 2316519"/>
                <a:gd name="connsiteX5" fmla="*/ 527605 w 4431601"/>
                <a:gd name="connsiteY5" fmla="*/ 844290 h 2316519"/>
                <a:gd name="connsiteX6" fmla="*/ 523639 w 4431601"/>
                <a:gd name="connsiteY6" fmla="*/ 880372 h 2316519"/>
                <a:gd name="connsiteX7" fmla="*/ 444716 w 4431601"/>
                <a:gd name="connsiteY7" fmla="*/ 905088 h 2316519"/>
                <a:gd name="connsiteX8" fmla="*/ 0 w 4431601"/>
                <a:gd name="connsiteY8" fmla="*/ 1581940 h 2316519"/>
                <a:gd name="connsiteX9" fmla="*/ 653694 w 4431601"/>
                <a:gd name="connsiteY9" fmla="*/ 2312727 h 2316519"/>
                <a:gd name="connsiteX10" fmla="*/ 653931 w 4431601"/>
                <a:gd name="connsiteY10" fmla="*/ 2312739 h 2316519"/>
                <a:gd name="connsiteX11" fmla="*/ 653931 w 4431601"/>
                <a:gd name="connsiteY11" fmla="*/ 2316518 h 2316519"/>
                <a:gd name="connsiteX12" fmla="*/ 728123 w 4431601"/>
                <a:gd name="connsiteY12" fmla="*/ 2316518 h 2316519"/>
                <a:gd name="connsiteX13" fmla="*/ 728142 w 4431601"/>
                <a:gd name="connsiteY13" fmla="*/ 2316519 h 2316519"/>
                <a:gd name="connsiteX14" fmla="*/ 728162 w 4431601"/>
                <a:gd name="connsiteY14" fmla="*/ 2316518 h 2316519"/>
                <a:gd name="connsiteX15" fmla="*/ 3745239 w 4431601"/>
                <a:gd name="connsiteY15" fmla="*/ 2316518 h 2316519"/>
                <a:gd name="connsiteX16" fmla="*/ 3745249 w 4431601"/>
                <a:gd name="connsiteY16" fmla="*/ 2316519 h 2316519"/>
                <a:gd name="connsiteX17" fmla="*/ 3745259 w 4431601"/>
                <a:gd name="connsiteY17" fmla="*/ 2316518 h 2316519"/>
                <a:gd name="connsiteX18" fmla="*/ 3788771 w 4431601"/>
                <a:gd name="connsiteY18" fmla="*/ 2316518 h 2316519"/>
                <a:gd name="connsiteX19" fmla="*/ 3788771 w 4431601"/>
                <a:gd name="connsiteY19" fmla="*/ 2312093 h 2316519"/>
                <a:gd name="connsiteX20" fmla="*/ 3883573 w 4431601"/>
                <a:gd name="connsiteY20" fmla="*/ 2302452 h 2316519"/>
                <a:gd name="connsiteX21" fmla="*/ 4431601 w 4431601"/>
                <a:gd name="connsiteY21" fmla="*/ 1624103 h 2316519"/>
                <a:gd name="connsiteX22" fmla="*/ 3883573 w 4431601"/>
                <a:gd name="connsiteY22" fmla="*/ 945754 h 2316519"/>
                <a:gd name="connsiteX23" fmla="*/ 3773844 w 4431601"/>
                <a:gd name="connsiteY23" fmla="*/ 934595 h 2316519"/>
                <a:gd name="connsiteX24" fmla="*/ 3768759 w 4431601"/>
                <a:gd name="connsiteY24" fmla="*/ 883707 h 2316519"/>
                <a:gd name="connsiteX25" fmla="*/ 2693983 w 4431601"/>
                <a:gd name="connsiteY25" fmla="*/ 0 h 2316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431601" h="2316519">
                  <a:moveTo>
                    <a:pt x="2693983" y="0"/>
                  </a:moveTo>
                  <a:cubicBezTo>
                    <a:pt x="2391037" y="0"/>
                    <a:pt x="2116771" y="123878"/>
                    <a:pt x="1918242" y="324162"/>
                  </a:cubicBezTo>
                  <a:lnTo>
                    <a:pt x="1859647" y="395807"/>
                  </a:lnTo>
                  <a:lnTo>
                    <a:pt x="1815580" y="362462"/>
                  </a:lnTo>
                  <a:cubicBezTo>
                    <a:pt x="1681993" y="279692"/>
                    <a:pt x="1520952" y="231362"/>
                    <a:pt x="1347603" y="231362"/>
                  </a:cubicBezTo>
                  <a:cubicBezTo>
                    <a:pt x="943122" y="231362"/>
                    <a:pt x="605652" y="494493"/>
                    <a:pt x="527605" y="844290"/>
                  </a:cubicBezTo>
                  <a:lnTo>
                    <a:pt x="523639" y="880372"/>
                  </a:lnTo>
                  <a:lnTo>
                    <a:pt x="444716" y="905088"/>
                  </a:lnTo>
                  <a:cubicBezTo>
                    <a:pt x="183375" y="1016603"/>
                    <a:pt x="0" y="1277667"/>
                    <a:pt x="0" y="1581940"/>
                  </a:cubicBezTo>
                  <a:cubicBezTo>
                    <a:pt x="0" y="1962281"/>
                    <a:pt x="286523" y="2275109"/>
                    <a:pt x="653694" y="2312727"/>
                  </a:cubicBezTo>
                  <a:lnTo>
                    <a:pt x="653931" y="2312739"/>
                  </a:lnTo>
                  <a:lnTo>
                    <a:pt x="653931" y="2316518"/>
                  </a:lnTo>
                  <a:lnTo>
                    <a:pt x="728123" y="2316518"/>
                  </a:lnTo>
                  <a:lnTo>
                    <a:pt x="728142" y="2316519"/>
                  </a:lnTo>
                  <a:lnTo>
                    <a:pt x="728162" y="2316518"/>
                  </a:lnTo>
                  <a:lnTo>
                    <a:pt x="3745239" y="2316518"/>
                  </a:lnTo>
                  <a:lnTo>
                    <a:pt x="3745249" y="2316519"/>
                  </a:lnTo>
                  <a:lnTo>
                    <a:pt x="3745259" y="2316518"/>
                  </a:lnTo>
                  <a:lnTo>
                    <a:pt x="3788771" y="2316518"/>
                  </a:lnTo>
                  <a:lnTo>
                    <a:pt x="3788771" y="2312093"/>
                  </a:lnTo>
                  <a:lnTo>
                    <a:pt x="3883573" y="2302452"/>
                  </a:lnTo>
                  <a:cubicBezTo>
                    <a:pt x="4196332" y="2237887"/>
                    <a:pt x="4431601" y="1958713"/>
                    <a:pt x="4431601" y="1624103"/>
                  </a:cubicBezTo>
                  <a:cubicBezTo>
                    <a:pt x="4431601" y="1289493"/>
                    <a:pt x="4196332" y="1010319"/>
                    <a:pt x="3883573" y="945754"/>
                  </a:cubicBezTo>
                  <a:lnTo>
                    <a:pt x="3773844" y="934595"/>
                  </a:lnTo>
                  <a:lnTo>
                    <a:pt x="3768759" y="883707"/>
                  </a:lnTo>
                  <a:cubicBezTo>
                    <a:pt x="3666462" y="379376"/>
                    <a:pt x="3224139" y="0"/>
                    <a:pt x="2693983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1" name="文本框 40"/>
            <p:cNvSpPr txBox="1"/>
            <p:nvPr/>
          </p:nvSpPr>
          <p:spPr bwMode="gray">
            <a:xfrm>
              <a:off x="1135044" y="4446306"/>
              <a:ext cx="76976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IP</a:t>
              </a:r>
              <a:r>
                <a:rPr lang="zh-CN" altLang="en-US" sz="16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网络</a:t>
              </a:r>
            </a:p>
          </p:txBody>
        </p:sp>
      </p:grpSp>
      <p:grpSp>
        <p:nvGrpSpPr>
          <p:cNvPr id="42" name="组合 41"/>
          <p:cNvGrpSpPr/>
          <p:nvPr/>
        </p:nvGrpSpPr>
        <p:grpSpPr bwMode="gray">
          <a:xfrm>
            <a:off x="9456004" y="3880982"/>
            <a:ext cx="1377387" cy="720000"/>
            <a:chOff x="833949" y="4172890"/>
            <a:chExt cx="1377387" cy="720000"/>
          </a:xfrm>
        </p:grpSpPr>
        <p:sp>
          <p:nvSpPr>
            <p:cNvPr id="43" name="Freeform 159"/>
            <p:cNvSpPr>
              <a:spLocks noChangeAspect="1"/>
            </p:cNvSpPr>
            <p:nvPr/>
          </p:nvSpPr>
          <p:spPr bwMode="gray">
            <a:xfrm flipH="1">
              <a:off x="833949" y="4172890"/>
              <a:ext cx="1377387" cy="720000"/>
            </a:xfrm>
            <a:custGeom>
              <a:avLst/>
              <a:gdLst>
                <a:gd name="connsiteX0" fmla="*/ 2693983 w 4431601"/>
                <a:gd name="connsiteY0" fmla="*/ 0 h 2316519"/>
                <a:gd name="connsiteX1" fmla="*/ 1918242 w 4431601"/>
                <a:gd name="connsiteY1" fmla="*/ 324162 h 2316519"/>
                <a:gd name="connsiteX2" fmla="*/ 1859647 w 4431601"/>
                <a:gd name="connsiteY2" fmla="*/ 395807 h 2316519"/>
                <a:gd name="connsiteX3" fmla="*/ 1815580 w 4431601"/>
                <a:gd name="connsiteY3" fmla="*/ 362462 h 2316519"/>
                <a:gd name="connsiteX4" fmla="*/ 1347603 w 4431601"/>
                <a:gd name="connsiteY4" fmla="*/ 231362 h 2316519"/>
                <a:gd name="connsiteX5" fmla="*/ 527605 w 4431601"/>
                <a:gd name="connsiteY5" fmla="*/ 844290 h 2316519"/>
                <a:gd name="connsiteX6" fmla="*/ 523639 w 4431601"/>
                <a:gd name="connsiteY6" fmla="*/ 880372 h 2316519"/>
                <a:gd name="connsiteX7" fmla="*/ 444716 w 4431601"/>
                <a:gd name="connsiteY7" fmla="*/ 905088 h 2316519"/>
                <a:gd name="connsiteX8" fmla="*/ 0 w 4431601"/>
                <a:gd name="connsiteY8" fmla="*/ 1581940 h 2316519"/>
                <a:gd name="connsiteX9" fmla="*/ 653694 w 4431601"/>
                <a:gd name="connsiteY9" fmla="*/ 2312727 h 2316519"/>
                <a:gd name="connsiteX10" fmla="*/ 653931 w 4431601"/>
                <a:gd name="connsiteY10" fmla="*/ 2312739 h 2316519"/>
                <a:gd name="connsiteX11" fmla="*/ 653931 w 4431601"/>
                <a:gd name="connsiteY11" fmla="*/ 2316518 h 2316519"/>
                <a:gd name="connsiteX12" fmla="*/ 728123 w 4431601"/>
                <a:gd name="connsiteY12" fmla="*/ 2316518 h 2316519"/>
                <a:gd name="connsiteX13" fmla="*/ 728142 w 4431601"/>
                <a:gd name="connsiteY13" fmla="*/ 2316519 h 2316519"/>
                <a:gd name="connsiteX14" fmla="*/ 728162 w 4431601"/>
                <a:gd name="connsiteY14" fmla="*/ 2316518 h 2316519"/>
                <a:gd name="connsiteX15" fmla="*/ 3745239 w 4431601"/>
                <a:gd name="connsiteY15" fmla="*/ 2316518 h 2316519"/>
                <a:gd name="connsiteX16" fmla="*/ 3745249 w 4431601"/>
                <a:gd name="connsiteY16" fmla="*/ 2316519 h 2316519"/>
                <a:gd name="connsiteX17" fmla="*/ 3745259 w 4431601"/>
                <a:gd name="connsiteY17" fmla="*/ 2316518 h 2316519"/>
                <a:gd name="connsiteX18" fmla="*/ 3788771 w 4431601"/>
                <a:gd name="connsiteY18" fmla="*/ 2316518 h 2316519"/>
                <a:gd name="connsiteX19" fmla="*/ 3788771 w 4431601"/>
                <a:gd name="connsiteY19" fmla="*/ 2312093 h 2316519"/>
                <a:gd name="connsiteX20" fmla="*/ 3883573 w 4431601"/>
                <a:gd name="connsiteY20" fmla="*/ 2302452 h 2316519"/>
                <a:gd name="connsiteX21" fmla="*/ 4431601 w 4431601"/>
                <a:gd name="connsiteY21" fmla="*/ 1624103 h 2316519"/>
                <a:gd name="connsiteX22" fmla="*/ 3883573 w 4431601"/>
                <a:gd name="connsiteY22" fmla="*/ 945754 h 2316519"/>
                <a:gd name="connsiteX23" fmla="*/ 3773844 w 4431601"/>
                <a:gd name="connsiteY23" fmla="*/ 934595 h 2316519"/>
                <a:gd name="connsiteX24" fmla="*/ 3768759 w 4431601"/>
                <a:gd name="connsiteY24" fmla="*/ 883707 h 2316519"/>
                <a:gd name="connsiteX25" fmla="*/ 2693983 w 4431601"/>
                <a:gd name="connsiteY25" fmla="*/ 0 h 2316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431601" h="2316519">
                  <a:moveTo>
                    <a:pt x="2693983" y="0"/>
                  </a:moveTo>
                  <a:cubicBezTo>
                    <a:pt x="2391037" y="0"/>
                    <a:pt x="2116771" y="123878"/>
                    <a:pt x="1918242" y="324162"/>
                  </a:cubicBezTo>
                  <a:lnTo>
                    <a:pt x="1859647" y="395807"/>
                  </a:lnTo>
                  <a:lnTo>
                    <a:pt x="1815580" y="362462"/>
                  </a:lnTo>
                  <a:cubicBezTo>
                    <a:pt x="1681993" y="279692"/>
                    <a:pt x="1520952" y="231362"/>
                    <a:pt x="1347603" y="231362"/>
                  </a:cubicBezTo>
                  <a:cubicBezTo>
                    <a:pt x="943122" y="231362"/>
                    <a:pt x="605652" y="494493"/>
                    <a:pt x="527605" y="844290"/>
                  </a:cubicBezTo>
                  <a:lnTo>
                    <a:pt x="523639" y="880372"/>
                  </a:lnTo>
                  <a:lnTo>
                    <a:pt x="444716" y="905088"/>
                  </a:lnTo>
                  <a:cubicBezTo>
                    <a:pt x="183375" y="1016603"/>
                    <a:pt x="0" y="1277667"/>
                    <a:pt x="0" y="1581940"/>
                  </a:cubicBezTo>
                  <a:cubicBezTo>
                    <a:pt x="0" y="1962281"/>
                    <a:pt x="286523" y="2275109"/>
                    <a:pt x="653694" y="2312727"/>
                  </a:cubicBezTo>
                  <a:lnTo>
                    <a:pt x="653931" y="2312739"/>
                  </a:lnTo>
                  <a:lnTo>
                    <a:pt x="653931" y="2316518"/>
                  </a:lnTo>
                  <a:lnTo>
                    <a:pt x="728123" y="2316518"/>
                  </a:lnTo>
                  <a:lnTo>
                    <a:pt x="728142" y="2316519"/>
                  </a:lnTo>
                  <a:lnTo>
                    <a:pt x="728162" y="2316518"/>
                  </a:lnTo>
                  <a:lnTo>
                    <a:pt x="3745239" y="2316518"/>
                  </a:lnTo>
                  <a:lnTo>
                    <a:pt x="3745249" y="2316519"/>
                  </a:lnTo>
                  <a:lnTo>
                    <a:pt x="3745259" y="2316518"/>
                  </a:lnTo>
                  <a:lnTo>
                    <a:pt x="3788771" y="2316518"/>
                  </a:lnTo>
                  <a:lnTo>
                    <a:pt x="3788771" y="2312093"/>
                  </a:lnTo>
                  <a:lnTo>
                    <a:pt x="3883573" y="2302452"/>
                  </a:lnTo>
                  <a:cubicBezTo>
                    <a:pt x="4196332" y="2237887"/>
                    <a:pt x="4431601" y="1958713"/>
                    <a:pt x="4431601" y="1624103"/>
                  </a:cubicBezTo>
                  <a:cubicBezTo>
                    <a:pt x="4431601" y="1289493"/>
                    <a:pt x="4196332" y="1010319"/>
                    <a:pt x="3883573" y="945754"/>
                  </a:cubicBezTo>
                  <a:lnTo>
                    <a:pt x="3773844" y="934595"/>
                  </a:lnTo>
                  <a:lnTo>
                    <a:pt x="3768759" y="883707"/>
                  </a:lnTo>
                  <a:cubicBezTo>
                    <a:pt x="3666462" y="379376"/>
                    <a:pt x="3224139" y="0"/>
                    <a:pt x="2693983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4" name="文本框 43"/>
            <p:cNvSpPr txBox="1"/>
            <p:nvPr/>
          </p:nvSpPr>
          <p:spPr bwMode="gray">
            <a:xfrm>
              <a:off x="1137760" y="4418902"/>
              <a:ext cx="76976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6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IP</a:t>
              </a:r>
              <a:r>
                <a:rPr lang="zh-CN" altLang="en-US" sz="16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网络</a:t>
              </a:r>
              <a:endPara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48" name="矩形 32"/>
          <p:cNvSpPr/>
          <p:nvPr/>
        </p:nvSpPr>
        <p:spPr bwMode="gray">
          <a:xfrm>
            <a:off x="10848683" y="5786815"/>
            <a:ext cx="898817" cy="410785"/>
          </a:xfrm>
          <a:prstGeom prst="rect">
            <a:avLst/>
          </a:prstGeom>
          <a:solidFill>
            <a:srgbClr val="AFD89C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1400" kern="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</a:p>
          <a:p>
            <a:pPr algn="ctr" defTabSz="914400"/>
            <a:r>
              <a:rPr lang="en-US" altLang="zh-CN" sz="1400" kern="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Packet</a:t>
            </a:r>
            <a:endParaRPr lang="zh-CN" altLang="en-US" sz="14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9" name="矩形 33"/>
          <p:cNvSpPr/>
          <p:nvPr/>
        </p:nvSpPr>
        <p:spPr bwMode="gray">
          <a:xfrm>
            <a:off x="9725570" y="5786815"/>
            <a:ext cx="898817" cy="410785"/>
          </a:xfrm>
          <a:prstGeom prst="rect">
            <a:avLst/>
          </a:prstGeom>
          <a:solidFill>
            <a:srgbClr val="FEEEC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Header</a:t>
            </a:r>
            <a:endParaRPr lang="zh-CN" altLang="en-US" sz="14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0" name="矩形 33"/>
          <p:cNvSpPr/>
          <p:nvPr/>
        </p:nvSpPr>
        <p:spPr bwMode="gray">
          <a:xfrm>
            <a:off x="8602456" y="5786815"/>
            <a:ext cx="898817" cy="410785"/>
          </a:xfrm>
          <a:prstGeom prst="rect">
            <a:avLst/>
          </a:prstGeom>
          <a:solidFill>
            <a:srgbClr val="56C4D2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1400" kern="0" dirty="0" smtClean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Ethernet</a:t>
            </a:r>
            <a:endParaRPr lang="en-US" altLang="zh-CN" sz="1400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 defTabSz="914400"/>
            <a:r>
              <a:rPr lang="en-US" altLang="zh-CN" sz="1400" kern="0" dirty="0" smtClean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Header</a:t>
            </a:r>
            <a:endParaRPr lang="zh-CN" altLang="en-US" sz="1400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0228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 smtClean="0">
                <a:sym typeface="Huawei Sans" panose="020C0503030203020204" pitchFamily="34" charset="0"/>
              </a:rPr>
              <a:t>MPLS</a:t>
            </a:r>
            <a:r>
              <a:rPr lang="zh-CN" altLang="en-US" dirty="0" smtClean="0">
                <a:sym typeface="Huawei Sans" panose="020C0503030203020204" pitchFamily="34" charset="0"/>
              </a:rPr>
              <a:t>术语介绍：</a:t>
            </a:r>
            <a:r>
              <a:rPr lang="en-US" altLang="zh-CN" dirty="0" smtClean="0">
                <a:sym typeface="Huawei Sans" panose="020C0503030203020204" pitchFamily="34" charset="0"/>
              </a:rPr>
              <a:t>LSR</a:t>
            </a:r>
            <a:r>
              <a:rPr lang="zh-CN" altLang="en-US" dirty="0" smtClean="0">
                <a:sym typeface="Huawei Sans" panose="020C0503030203020204" pitchFamily="34" charset="0"/>
              </a:rPr>
              <a:t>分类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smtClean="0">
                <a:sym typeface="Huawei Sans" panose="020C0503030203020204" pitchFamily="34" charset="0"/>
              </a:rPr>
              <a:t>除了根据</a:t>
            </a:r>
            <a:r>
              <a:rPr lang="en-US" altLang="zh-CN" sz="1800" smtClean="0">
                <a:sym typeface="Huawei Sans" panose="020C0503030203020204" pitchFamily="34" charset="0"/>
              </a:rPr>
              <a:t>LSR</a:t>
            </a:r>
            <a:r>
              <a:rPr lang="zh-CN" altLang="en-US" sz="1800" smtClean="0">
                <a:sym typeface="Huawei Sans" panose="020C0503030203020204" pitchFamily="34" charset="0"/>
              </a:rPr>
              <a:t>在</a:t>
            </a:r>
            <a:r>
              <a:rPr lang="en-US" altLang="zh-CN" sz="1800" smtClean="0">
                <a:sym typeface="Huawei Sans" panose="020C0503030203020204" pitchFamily="34" charset="0"/>
              </a:rPr>
              <a:t>MPLS</a:t>
            </a:r>
            <a:r>
              <a:rPr lang="zh-CN" altLang="en-US" sz="1800" smtClean="0">
                <a:sym typeface="Huawei Sans" panose="020C0503030203020204" pitchFamily="34" charset="0"/>
              </a:rPr>
              <a:t>域中的位置进行分类之外，还可以根据对数据处理方式的不同进行分类：</a:t>
            </a:r>
            <a:endParaRPr lang="en-US" altLang="zh-CN" sz="1800" smtClean="0">
              <a:sym typeface="Huawei Sans" panose="020C0503030203020204" pitchFamily="34" charset="0"/>
            </a:endParaRPr>
          </a:p>
          <a:p>
            <a:pPr lvl="1"/>
            <a:r>
              <a:rPr lang="zh-CN" altLang="en-US" sz="1600" smtClean="0">
                <a:sym typeface="Huawei Sans" panose="020C0503030203020204" pitchFamily="34" charset="0"/>
              </a:rPr>
              <a:t>入站</a:t>
            </a:r>
            <a:r>
              <a:rPr lang="en-US" altLang="zh-CN" sz="1600" smtClean="0">
                <a:sym typeface="Huawei Sans" panose="020C0503030203020204" pitchFamily="34" charset="0"/>
              </a:rPr>
              <a:t>LSR</a:t>
            </a:r>
            <a:r>
              <a:rPr lang="zh-CN" altLang="en-US" sz="1600" smtClean="0">
                <a:sym typeface="Huawei Sans" panose="020C0503030203020204" pitchFamily="34" charset="0"/>
              </a:rPr>
              <a:t>（</a:t>
            </a:r>
            <a:r>
              <a:rPr lang="en-US" altLang="zh-CN" sz="1600" smtClean="0">
                <a:sym typeface="Huawei Sans" panose="020C0503030203020204" pitchFamily="34" charset="0"/>
              </a:rPr>
              <a:t>Ingress LSR</a:t>
            </a:r>
            <a:r>
              <a:rPr lang="zh-CN" altLang="en-US" sz="1600" smtClean="0">
                <a:sym typeface="Huawei Sans" panose="020C0503030203020204" pitchFamily="34" charset="0"/>
              </a:rPr>
              <a:t>）：通常是向</a:t>
            </a:r>
            <a:r>
              <a:rPr lang="en-US" altLang="zh-CN" sz="1600" smtClean="0">
                <a:sym typeface="Huawei Sans" panose="020C0503030203020204" pitchFamily="34" charset="0"/>
              </a:rPr>
              <a:t>IP</a:t>
            </a:r>
            <a:r>
              <a:rPr lang="zh-CN" altLang="en-US" sz="1600" smtClean="0">
                <a:sym typeface="Huawei Sans" panose="020C0503030203020204" pitchFamily="34" charset="0"/>
              </a:rPr>
              <a:t>报文中压入</a:t>
            </a:r>
            <a:r>
              <a:rPr lang="en-US" altLang="zh-CN" sz="1600" smtClean="0">
                <a:sym typeface="Huawei Sans" panose="020C0503030203020204" pitchFamily="34" charset="0"/>
              </a:rPr>
              <a:t>MPLS</a:t>
            </a:r>
            <a:r>
              <a:rPr lang="zh-CN" altLang="en-US" sz="1600" smtClean="0">
                <a:sym typeface="Huawei Sans" panose="020C0503030203020204" pitchFamily="34" charset="0"/>
              </a:rPr>
              <a:t>头部并生成</a:t>
            </a:r>
            <a:r>
              <a:rPr lang="en-US" altLang="zh-CN" sz="1600" smtClean="0">
                <a:sym typeface="Huawei Sans" panose="020C0503030203020204" pitchFamily="34" charset="0"/>
              </a:rPr>
              <a:t>MPLS</a:t>
            </a:r>
            <a:r>
              <a:rPr lang="zh-CN" altLang="en-US" sz="1600" smtClean="0">
                <a:sym typeface="Huawei Sans" panose="020C0503030203020204" pitchFamily="34" charset="0"/>
              </a:rPr>
              <a:t>报文的</a:t>
            </a:r>
            <a:r>
              <a:rPr lang="en-US" altLang="zh-CN" sz="1600" smtClean="0">
                <a:sym typeface="Huawei Sans" panose="020C0503030203020204" pitchFamily="34" charset="0"/>
              </a:rPr>
              <a:t>LSR</a:t>
            </a:r>
            <a:r>
              <a:rPr lang="zh-CN" altLang="en-US" sz="1600" smtClean="0">
                <a:sym typeface="Huawei Sans" panose="020C0503030203020204" pitchFamily="34" charset="0"/>
              </a:rPr>
              <a:t>。</a:t>
            </a:r>
            <a:endParaRPr lang="en-US" altLang="zh-CN" sz="1600" smtClean="0">
              <a:sym typeface="Huawei Sans" panose="020C0503030203020204" pitchFamily="34" charset="0"/>
            </a:endParaRPr>
          </a:p>
          <a:p>
            <a:pPr lvl="1"/>
            <a:r>
              <a:rPr lang="zh-CN" altLang="en-US" sz="1600" smtClean="0">
                <a:sym typeface="Huawei Sans" panose="020C0503030203020204" pitchFamily="34" charset="0"/>
              </a:rPr>
              <a:t>中转</a:t>
            </a:r>
            <a:r>
              <a:rPr lang="en-US" altLang="zh-CN" sz="1600" smtClean="0">
                <a:sym typeface="Huawei Sans" panose="020C0503030203020204" pitchFamily="34" charset="0"/>
              </a:rPr>
              <a:t>LSR</a:t>
            </a:r>
            <a:r>
              <a:rPr lang="zh-CN" altLang="en-US" sz="1600" smtClean="0">
                <a:sym typeface="Huawei Sans" panose="020C0503030203020204" pitchFamily="34" charset="0"/>
              </a:rPr>
              <a:t>（</a:t>
            </a:r>
            <a:r>
              <a:rPr lang="en-US" altLang="zh-CN" sz="1600" smtClean="0">
                <a:sym typeface="Huawei Sans" panose="020C0503030203020204" pitchFamily="34" charset="0"/>
              </a:rPr>
              <a:t>Transit LSR</a:t>
            </a:r>
            <a:r>
              <a:rPr lang="zh-CN" altLang="en-US" sz="1600" smtClean="0">
                <a:sym typeface="Huawei Sans" panose="020C0503030203020204" pitchFamily="34" charset="0"/>
              </a:rPr>
              <a:t>）：通常是将</a:t>
            </a:r>
            <a:r>
              <a:rPr lang="en-US" altLang="zh-CN" sz="1600" smtClean="0">
                <a:sym typeface="Huawei Sans" panose="020C0503030203020204" pitchFamily="34" charset="0"/>
              </a:rPr>
              <a:t>MPLS</a:t>
            </a:r>
            <a:r>
              <a:rPr lang="zh-CN" altLang="en-US" sz="1600" smtClean="0">
                <a:sym typeface="Huawei Sans" panose="020C0503030203020204" pitchFamily="34" charset="0"/>
              </a:rPr>
              <a:t>报文进行例如标签置换操作，并将报文继续在</a:t>
            </a:r>
            <a:r>
              <a:rPr lang="en-US" altLang="zh-CN" sz="1600" smtClean="0">
                <a:sym typeface="Huawei Sans" panose="020C0503030203020204" pitchFamily="34" charset="0"/>
              </a:rPr>
              <a:t>MPLS</a:t>
            </a:r>
            <a:r>
              <a:rPr lang="zh-CN" altLang="en-US" sz="1600" smtClean="0">
                <a:sym typeface="Huawei Sans" panose="020C0503030203020204" pitchFamily="34" charset="0"/>
              </a:rPr>
              <a:t>域中转发的</a:t>
            </a:r>
            <a:r>
              <a:rPr lang="en-US" altLang="zh-CN" sz="1600" smtClean="0">
                <a:sym typeface="Huawei Sans" panose="020C0503030203020204" pitchFamily="34" charset="0"/>
              </a:rPr>
              <a:t>LSR</a:t>
            </a:r>
            <a:r>
              <a:rPr lang="zh-CN" altLang="en-US" sz="1600" smtClean="0">
                <a:sym typeface="Huawei Sans" panose="020C0503030203020204" pitchFamily="34" charset="0"/>
              </a:rPr>
              <a:t>。</a:t>
            </a:r>
            <a:endParaRPr lang="en-US" altLang="zh-CN" sz="1600" smtClean="0">
              <a:sym typeface="Huawei Sans" panose="020C0503030203020204" pitchFamily="34" charset="0"/>
            </a:endParaRPr>
          </a:p>
          <a:p>
            <a:pPr lvl="1"/>
            <a:r>
              <a:rPr lang="zh-CN" altLang="en-US" sz="1600" smtClean="0">
                <a:sym typeface="Huawei Sans" panose="020C0503030203020204" pitchFamily="34" charset="0"/>
              </a:rPr>
              <a:t>出站</a:t>
            </a:r>
            <a:r>
              <a:rPr lang="en-US" altLang="zh-CN" sz="1600" smtClean="0">
                <a:sym typeface="Huawei Sans" panose="020C0503030203020204" pitchFamily="34" charset="0"/>
              </a:rPr>
              <a:t>LSR</a:t>
            </a:r>
            <a:r>
              <a:rPr lang="zh-CN" altLang="en-US" sz="1600" smtClean="0">
                <a:sym typeface="Huawei Sans" panose="020C0503030203020204" pitchFamily="34" charset="0"/>
              </a:rPr>
              <a:t>（</a:t>
            </a:r>
            <a:r>
              <a:rPr lang="en-US" altLang="zh-CN" sz="1600" smtClean="0">
                <a:sym typeface="Huawei Sans" panose="020C0503030203020204" pitchFamily="34" charset="0"/>
              </a:rPr>
              <a:t>Egress LSR</a:t>
            </a:r>
            <a:r>
              <a:rPr lang="zh-CN" altLang="en-US" sz="1600" smtClean="0">
                <a:sym typeface="Huawei Sans" panose="020C0503030203020204" pitchFamily="34" charset="0"/>
              </a:rPr>
              <a:t>）：通常是将</a:t>
            </a:r>
            <a:r>
              <a:rPr lang="en-US" altLang="zh-CN" sz="1600" smtClean="0">
                <a:sym typeface="Huawei Sans" panose="020C0503030203020204" pitchFamily="34" charset="0"/>
              </a:rPr>
              <a:t>MPLS</a:t>
            </a:r>
            <a:r>
              <a:rPr lang="zh-CN" altLang="en-US" sz="1600" smtClean="0">
                <a:sym typeface="Huawei Sans" panose="020C0503030203020204" pitchFamily="34" charset="0"/>
              </a:rPr>
              <a:t>报文中</a:t>
            </a:r>
            <a:r>
              <a:rPr lang="en-US" altLang="zh-CN" sz="1600" smtClean="0">
                <a:sym typeface="Huawei Sans" panose="020C0503030203020204" pitchFamily="34" charset="0"/>
              </a:rPr>
              <a:t>MPLS</a:t>
            </a:r>
            <a:r>
              <a:rPr lang="zh-CN" altLang="en-US" sz="1600" smtClean="0">
                <a:sym typeface="Huawei Sans" panose="020C0503030203020204" pitchFamily="34" charset="0"/>
              </a:rPr>
              <a:t>头部移除，还原为</a:t>
            </a:r>
            <a:r>
              <a:rPr lang="en-US" altLang="zh-CN" sz="1600" smtClean="0">
                <a:sym typeface="Huawei Sans" panose="020C0503030203020204" pitchFamily="34" charset="0"/>
              </a:rPr>
              <a:t>IP</a:t>
            </a:r>
            <a:r>
              <a:rPr lang="zh-CN" altLang="en-US" sz="1600" smtClean="0">
                <a:sym typeface="Huawei Sans" panose="020C0503030203020204" pitchFamily="34" charset="0"/>
              </a:rPr>
              <a:t>报文的</a:t>
            </a:r>
            <a:r>
              <a:rPr lang="en-US" altLang="zh-CN" sz="1600" smtClean="0">
                <a:sym typeface="Huawei Sans" panose="020C0503030203020204" pitchFamily="34" charset="0"/>
              </a:rPr>
              <a:t>LSR</a:t>
            </a:r>
            <a:r>
              <a:rPr lang="zh-CN" altLang="en-US" sz="1600" smtClean="0">
                <a:sym typeface="Huawei Sans" panose="020C0503030203020204" pitchFamily="34" charset="0"/>
              </a:rPr>
              <a:t>。</a:t>
            </a:r>
            <a:endParaRPr lang="en-US" altLang="zh-CN" sz="1600" smtClean="0">
              <a:sym typeface="Huawei Sans" panose="020C0503030203020204" pitchFamily="34" charset="0"/>
            </a:endParaRPr>
          </a:p>
          <a:p>
            <a:pPr lvl="1"/>
            <a:endParaRPr lang="en-US" altLang="zh-CN" sz="1600" dirty="0" smtClean="0">
              <a:sym typeface="Huawei Sans" panose="020C0503030203020204" pitchFamily="34" charset="0"/>
            </a:endParaRPr>
          </a:p>
        </p:txBody>
      </p:sp>
      <p:sp>
        <p:nvSpPr>
          <p:cNvPr id="36" name="Rounded Rectangle 36"/>
          <p:cNvSpPr/>
          <p:nvPr/>
        </p:nvSpPr>
        <p:spPr bwMode="gray">
          <a:xfrm>
            <a:off x="3320998" y="3322991"/>
            <a:ext cx="5057297" cy="1954400"/>
          </a:xfrm>
          <a:prstGeom prst="roundRect">
            <a:avLst>
              <a:gd name="adj" fmla="val 5020"/>
            </a:avLst>
          </a:prstGeom>
          <a:solidFill>
            <a:srgbClr val="BEE9EE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kern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38" name="直接连接符 4"/>
          <p:cNvCxnSpPr/>
          <p:nvPr/>
        </p:nvCxnSpPr>
        <p:spPr bwMode="gray">
          <a:xfrm>
            <a:off x="2208349" y="4355809"/>
            <a:ext cx="7697651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 bwMode="gray">
          <a:xfrm rot="10800000" flipH="1">
            <a:off x="3447956" y="4004961"/>
            <a:ext cx="2050788" cy="0"/>
          </a:xfrm>
          <a:prstGeom prst="line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55"/>
          <p:cNvCxnSpPr/>
          <p:nvPr/>
        </p:nvCxnSpPr>
        <p:spPr bwMode="gray">
          <a:xfrm rot="10800000" flipH="1">
            <a:off x="2208349" y="4004961"/>
            <a:ext cx="1039936" cy="0"/>
          </a:xfrm>
          <a:prstGeom prst="line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55"/>
          <p:cNvCxnSpPr/>
          <p:nvPr/>
        </p:nvCxnSpPr>
        <p:spPr bwMode="gray">
          <a:xfrm rot="10800000" flipH="1">
            <a:off x="6023617" y="4004961"/>
            <a:ext cx="2064464" cy="0"/>
          </a:xfrm>
          <a:prstGeom prst="line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5"/>
          <p:cNvCxnSpPr/>
          <p:nvPr/>
        </p:nvCxnSpPr>
        <p:spPr bwMode="gray">
          <a:xfrm rot="10800000" flipH="1">
            <a:off x="8466345" y="4004961"/>
            <a:ext cx="1039936" cy="0"/>
          </a:xfrm>
          <a:prstGeom prst="line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67"/>
          <p:cNvSpPr/>
          <p:nvPr/>
        </p:nvSpPr>
        <p:spPr bwMode="gray">
          <a:xfrm>
            <a:off x="5184966" y="4881535"/>
            <a:ext cx="134043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 Domain</a:t>
            </a:r>
          </a:p>
        </p:txBody>
      </p:sp>
      <p:pic>
        <p:nvPicPr>
          <p:cNvPr id="54" name="图片 53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052887" y="4130778"/>
            <a:ext cx="540000" cy="442800"/>
          </a:xfrm>
          <a:prstGeom prst="rect">
            <a:avLst/>
          </a:prstGeom>
        </p:spPr>
      </p:pic>
      <p:pic>
        <p:nvPicPr>
          <p:cNvPr id="55" name="图片 54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580563" y="4140903"/>
            <a:ext cx="540000" cy="442800"/>
          </a:xfrm>
          <a:prstGeom prst="rect">
            <a:avLst/>
          </a:prstGeom>
        </p:spPr>
      </p:pic>
      <p:pic>
        <p:nvPicPr>
          <p:cNvPr id="56" name="图片 55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142918" y="4126994"/>
            <a:ext cx="540000" cy="442800"/>
          </a:xfrm>
          <a:prstGeom prst="rect">
            <a:avLst/>
          </a:prstGeom>
        </p:spPr>
      </p:pic>
      <p:sp>
        <p:nvSpPr>
          <p:cNvPr id="74" name="任意多边形 73"/>
          <p:cNvSpPr/>
          <p:nvPr/>
        </p:nvSpPr>
        <p:spPr bwMode="gray">
          <a:xfrm>
            <a:off x="6453660" y="3481619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56C4D2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1400" kern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5" name="任意多边形 74"/>
          <p:cNvSpPr/>
          <p:nvPr/>
        </p:nvSpPr>
        <p:spPr bwMode="gray">
          <a:xfrm>
            <a:off x="6813660" y="3481619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FEEEC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6" name="任意多边形 75"/>
          <p:cNvSpPr/>
          <p:nvPr/>
        </p:nvSpPr>
        <p:spPr bwMode="gray">
          <a:xfrm>
            <a:off x="7173660" y="3481619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AFD89C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9" name="任意多边形 78"/>
          <p:cNvSpPr/>
          <p:nvPr/>
        </p:nvSpPr>
        <p:spPr bwMode="gray">
          <a:xfrm>
            <a:off x="2314854" y="3481619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56C4D2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1400" kern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3" name="任意多边形 82"/>
          <p:cNvSpPr/>
          <p:nvPr/>
        </p:nvSpPr>
        <p:spPr bwMode="gray">
          <a:xfrm>
            <a:off x="2674854" y="3481619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AFD89C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6" name="任意多边形 85"/>
          <p:cNvSpPr/>
          <p:nvPr/>
        </p:nvSpPr>
        <p:spPr bwMode="gray">
          <a:xfrm>
            <a:off x="3933349" y="3481619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56C4D2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1400" kern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7" name="任意多边形 86"/>
          <p:cNvSpPr/>
          <p:nvPr/>
        </p:nvSpPr>
        <p:spPr bwMode="gray">
          <a:xfrm>
            <a:off x="4293349" y="3481619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FEEEC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8" name="任意多边形 87"/>
          <p:cNvSpPr/>
          <p:nvPr/>
        </p:nvSpPr>
        <p:spPr bwMode="gray">
          <a:xfrm>
            <a:off x="4653349" y="3481619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AFD89C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9" name="任意多边形 88"/>
          <p:cNvSpPr/>
          <p:nvPr/>
        </p:nvSpPr>
        <p:spPr bwMode="gray">
          <a:xfrm>
            <a:off x="8626313" y="3481619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56C4D2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1400" kern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0" name="任意多边形 89"/>
          <p:cNvSpPr/>
          <p:nvPr/>
        </p:nvSpPr>
        <p:spPr bwMode="gray">
          <a:xfrm>
            <a:off x="8986313" y="3481619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AFD89C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91" name="组合 90"/>
          <p:cNvGrpSpPr/>
          <p:nvPr/>
        </p:nvGrpSpPr>
        <p:grpSpPr bwMode="gray">
          <a:xfrm>
            <a:off x="833949" y="3853578"/>
            <a:ext cx="1377387" cy="720000"/>
            <a:chOff x="833949" y="4172890"/>
            <a:chExt cx="1377387" cy="720000"/>
          </a:xfrm>
        </p:grpSpPr>
        <p:sp>
          <p:nvSpPr>
            <p:cNvPr id="92" name="Freeform 159"/>
            <p:cNvSpPr>
              <a:spLocks noChangeAspect="1"/>
            </p:cNvSpPr>
            <p:nvPr/>
          </p:nvSpPr>
          <p:spPr bwMode="gray">
            <a:xfrm flipH="1">
              <a:off x="833949" y="4172890"/>
              <a:ext cx="1377387" cy="720000"/>
            </a:xfrm>
            <a:custGeom>
              <a:avLst/>
              <a:gdLst>
                <a:gd name="connsiteX0" fmla="*/ 2693983 w 4431601"/>
                <a:gd name="connsiteY0" fmla="*/ 0 h 2316519"/>
                <a:gd name="connsiteX1" fmla="*/ 1918242 w 4431601"/>
                <a:gd name="connsiteY1" fmla="*/ 324162 h 2316519"/>
                <a:gd name="connsiteX2" fmla="*/ 1859647 w 4431601"/>
                <a:gd name="connsiteY2" fmla="*/ 395807 h 2316519"/>
                <a:gd name="connsiteX3" fmla="*/ 1815580 w 4431601"/>
                <a:gd name="connsiteY3" fmla="*/ 362462 h 2316519"/>
                <a:gd name="connsiteX4" fmla="*/ 1347603 w 4431601"/>
                <a:gd name="connsiteY4" fmla="*/ 231362 h 2316519"/>
                <a:gd name="connsiteX5" fmla="*/ 527605 w 4431601"/>
                <a:gd name="connsiteY5" fmla="*/ 844290 h 2316519"/>
                <a:gd name="connsiteX6" fmla="*/ 523639 w 4431601"/>
                <a:gd name="connsiteY6" fmla="*/ 880372 h 2316519"/>
                <a:gd name="connsiteX7" fmla="*/ 444716 w 4431601"/>
                <a:gd name="connsiteY7" fmla="*/ 905088 h 2316519"/>
                <a:gd name="connsiteX8" fmla="*/ 0 w 4431601"/>
                <a:gd name="connsiteY8" fmla="*/ 1581940 h 2316519"/>
                <a:gd name="connsiteX9" fmla="*/ 653694 w 4431601"/>
                <a:gd name="connsiteY9" fmla="*/ 2312727 h 2316519"/>
                <a:gd name="connsiteX10" fmla="*/ 653931 w 4431601"/>
                <a:gd name="connsiteY10" fmla="*/ 2312739 h 2316519"/>
                <a:gd name="connsiteX11" fmla="*/ 653931 w 4431601"/>
                <a:gd name="connsiteY11" fmla="*/ 2316518 h 2316519"/>
                <a:gd name="connsiteX12" fmla="*/ 728123 w 4431601"/>
                <a:gd name="connsiteY12" fmla="*/ 2316518 h 2316519"/>
                <a:gd name="connsiteX13" fmla="*/ 728142 w 4431601"/>
                <a:gd name="connsiteY13" fmla="*/ 2316519 h 2316519"/>
                <a:gd name="connsiteX14" fmla="*/ 728162 w 4431601"/>
                <a:gd name="connsiteY14" fmla="*/ 2316518 h 2316519"/>
                <a:gd name="connsiteX15" fmla="*/ 3745239 w 4431601"/>
                <a:gd name="connsiteY15" fmla="*/ 2316518 h 2316519"/>
                <a:gd name="connsiteX16" fmla="*/ 3745249 w 4431601"/>
                <a:gd name="connsiteY16" fmla="*/ 2316519 h 2316519"/>
                <a:gd name="connsiteX17" fmla="*/ 3745259 w 4431601"/>
                <a:gd name="connsiteY17" fmla="*/ 2316518 h 2316519"/>
                <a:gd name="connsiteX18" fmla="*/ 3788771 w 4431601"/>
                <a:gd name="connsiteY18" fmla="*/ 2316518 h 2316519"/>
                <a:gd name="connsiteX19" fmla="*/ 3788771 w 4431601"/>
                <a:gd name="connsiteY19" fmla="*/ 2312093 h 2316519"/>
                <a:gd name="connsiteX20" fmla="*/ 3883573 w 4431601"/>
                <a:gd name="connsiteY20" fmla="*/ 2302452 h 2316519"/>
                <a:gd name="connsiteX21" fmla="*/ 4431601 w 4431601"/>
                <a:gd name="connsiteY21" fmla="*/ 1624103 h 2316519"/>
                <a:gd name="connsiteX22" fmla="*/ 3883573 w 4431601"/>
                <a:gd name="connsiteY22" fmla="*/ 945754 h 2316519"/>
                <a:gd name="connsiteX23" fmla="*/ 3773844 w 4431601"/>
                <a:gd name="connsiteY23" fmla="*/ 934595 h 2316519"/>
                <a:gd name="connsiteX24" fmla="*/ 3768759 w 4431601"/>
                <a:gd name="connsiteY24" fmla="*/ 883707 h 2316519"/>
                <a:gd name="connsiteX25" fmla="*/ 2693983 w 4431601"/>
                <a:gd name="connsiteY25" fmla="*/ 0 h 2316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431601" h="2316519">
                  <a:moveTo>
                    <a:pt x="2693983" y="0"/>
                  </a:moveTo>
                  <a:cubicBezTo>
                    <a:pt x="2391037" y="0"/>
                    <a:pt x="2116771" y="123878"/>
                    <a:pt x="1918242" y="324162"/>
                  </a:cubicBezTo>
                  <a:lnTo>
                    <a:pt x="1859647" y="395807"/>
                  </a:lnTo>
                  <a:lnTo>
                    <a:pt x="1815580" y="362462"/>
                  </a:lnTo>
                  <a:cubicBezTo>
                    <a:pt x="1681993" y="279692"/>
                    <a:pt x="1520952" y="231362"/>
                    <a:pt x="1347603" y="231362"/>
                  </a:cubicBezTo>
                  <a:cubicBezTo>
                    <a:pt x="943122" y="231362"/>
                    <a:pt x="605652" y="494493"/>
                    <a:pt x="527605" y="844290"/>
                  </a:cubicBezTo>
                  <a:lnTo>
                    <a:pt x="523639" y="880372"/>
                  </a:lnTo>
                  <a:lnTo>
                    <a:pt x="444716" y="905088"/>
                  </a:lnTo>
                  <a:cubicBezTo>
                    <a:pt x="183375" y="1016603"/>
                    <a:pt x="0" y="1277667"/>
                    <a:pt x="0" y="1581940"/>
                  </a:cubicBezTo>
                  <a:cubicBezTo>
                    <a:pt x="0" y="1962281"/>
                    <a:pt x="286523" y="2275109"/>
                    <a:pt x="653694" y="2312727"/>
                  </a:cubicBezTo>
                  <a:lnTo>
                    <a:pt x="653931" y="2312739"/>
                  </a:lnTo>
                  <a:lnTo>
                    <a:pt x="653931" y="2316518"/>
                  </a:lnTo>
                  <a:lnTo>
                    <a:pt x="728123" y="2316518"/>
                  </a:lnTo>
                  <a:lnTo>
                    <a:pt x="728142" y="2316519"/>
                  </a:lnTo>
                  <a:lnTo>
                    <a:pt x="728162" y="2316518"/>
                  </a:lnTo>
                  <a:lnTo>
                    <a:pt x="3745239" y="2316518"/>
                  </a:lnTo>
                  <a:lnTo>
                    <a:pt x="3745249" y="2316519"/>
                  </a:lnTo>
                  <a:lnTo>
                    <a:pt x="3745259" y="2316518"/>
                  </a:lnTo>
                  <a:lnTo>
                    <a:pt x="3788771" y="2316518"/>
                  </a:lnTo>
                  <a:lnTo>
                    <a:pt x="3788771" y="2312093"/>
                  </a:lnTo>
                  <a:lnTo>
                    <a:pt x="3883573" y="2302452"/>
                  </a:lnTo>
                  <a:cubicBezTo>
                    <a:pt x="4196332" y="2237887"/>
                    <a:pt x="4431601" y="1958713"/>
                    <a:pt x="4431601" y="1624103"/>
                  </a:cubicBezTo>
                  <a:cubicBezTo>
                    <a:pt x="4431601" y="1289493"/>
                    <a:pt x="4196332" y="1010319"/>
                    <a:pt x="3883573" y="945754"/>
                  </a:cubicBezTo>
                  <a:lnTo>
                    <a:pt x="3773844" y="934595"/>
                  </a:lnTo>
                  <a:lnTo>
                    <a:pt x="3768759" y="883707"/>
                  </a:lnTo>
                  <a:cubicBezTo>
                    <a:pt x="3666462" y="379376"/>
                    <a:pt x="3224139" y="0"/>
                    <a:pt x="2693983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93" name="文本框 92"/>
            <p:cNvSpPr txBox="1"/>
            <p:nvPr/>
          </p:nvSpPr>
          <p:spPr bwMode="gray">
            <a:xfrm>
              <a:off x="1135044" y="4446306"/>
              <a:ext cx="76976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IP</a:t>
              </a:r>
              <a:r>
                <a:rPr lang="zh-CN" altLang="en-US" sz="16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网络</a:t>
              </a:r>
            </a:p>
          </p:txBody>
        </p:sp>
      </p:grpSp>
      <p:grpSp>
        <p:nvGrpSpPr>
          <p:cNvPr id="94" name="组合 93"/>
          <p:cNvGrpSpPr/>
          <p:nvPr/>
        </p:nvGrpSpPr>
        <p:grpSpPr bwMode="gray">
          <a:xfrm>
            <a:off x="9456004" y="3880982"/>
            <a:ext cx="1377387" cy="720000"/>
            <a:chOff x="833949" y="4172890"/>
            <a:chExt cx="1377387" cy="720000"/>
          </a:xfrm>
        </p:grpSpPr>
        <p:sp>
          <p:nvSpPr>
            <p:cNvPr id="95" name="Freeform 159"/>
            <p:cNvSpPr>
              <a:spLocks noChangeAspect="1"/>
            </p:cNvSpPr>
            <p:nvPr/>
          </p:nvSpPr>
          <p:spPr bwMode="gray">
            <a:xfrm flipH="1">
              <a:off x="833949" y="4172890"/>
              <a:ext cx="1377387" cy="720000"/>
            </a:xfrm>
            <a:custGeom>
              <a:avLst/>
              <a:gdLst>
                <a:gd name="connsiteX0" fmla="*/ 2693983 w 4431601"/>
                <a:gd name="connsiteY0" fmla="*/ 0 h 2316519"/>
                <a:gd name="connsiteX1" fmla="*/ 1918242 w 4431601"/>
                <a:gd name="connsiteY1" fmla="*/ 324162 h 2316519"/>
                <a:gd name="connsiteX2" fmla="*/ 1859647 w 4431601"/>
                <a:gd name="connsiteY2" fmla="*/ 395807 h 2316519"/>
                <a:gd name="connsiteX3" fmla="*/ 1815580 w 4431601"/>
                <a:gd name="connsiteY3" fmla="*/ 362462 h 2316519"/>
                <a:gd name="connsiteX4" fmla="*/ 1347603 w 4431601"/>
                <a:gd name="connsiteY4" fmla="*/ 231362 h 2316519"/>
                <a:gd name="connsiteX5" fmla="*/ 527605 w 4431601"/>
                <a:gd name="connsiteY5" fmla="*/ 844290 h 2316519"/>
                <a:gd name="connsiteX6" fmla="*/ 523639 w 4431601"/>
                <a:gd name="connsiteY6" fmla="*/ 880372 h 2316519"/>
                <a:gd name="connsiteX7" fmla="*/ 444716 w 4431601"/>
                <a:gd name="connsiteY7" fmla="*/ 905088 h 2316519"/>
                <a:gd name="connsiteX8" fmla="*/ 0 w 4431601"/>
                <a:gd name="connsiteY8" fmla="*/ 1581940 h 2316519"/>
                <a:gd name="connsiteX9" fmla="*/ 653694 w 4431601"/>
                <a:gd name="connsiteY9" fmla="*/ 2312727 h 2316519"/>
                <a:gd name="connsiteX10" fmla="*/ 653931 w 4431601"/>
                <a:gd name="connsiteY10" fmla="*/ 2312739 h 2316519"/>
                <a:gd name="connsiteX11" fmla="*/ 653931 w 4431601"/>
                <a:gd name="connsiteY11" fmla="*/ 2316518 h 2316519"/>
                <a:gd name="connsiteX12" fmla="*/ 728123 w 4431601"/>
                <a:gd name="connsiteY12" fmla="*/ 2316518 h 2316519"/>
                <a:gd name="connsiteX13" fmla="*/ 728142 w 4431601"/>
                <a:gd name="connsiteY13" fmla="*/ 2316519 h 2316519"/>
                <a:gd name="connsiteX14" fmla="*/ 728162 w 4431601"/>
                <a:gd name="connsiteY14" fmla="*/ 2316518 h 2316519"/>
                <a:gd name="connsiteX15" fmla="*/ 3745239 w 4431601"/>
                <a:gd name="connsiteY15" fmla="*/ 2316518 h 2316519"/>
                <a:gd name="connsiteX16" fmla="*/ 3745249 w 4431601"/>
                <a:gd name="connsiteY16" fmla="*/ 2316519 h 2316519"/>
                <a:gd name="connsiteX17" fmla="*/ 3745259 w 4431601"/>
                <a:gd name="connsiteY17" fmla="*/ 2316518 h 2316519"/>
                <a:gd name="connsiteX18" fmla="*/ 3788771 w 4431601"/>
                <a:gd name="connsiteY18" fmla="*/ 2316518 h 2316519"/>
                <a:gd name="connsiteX19" fmla="*/ 3788771 w 4431601"/>
                <a:gd name="connsiteY19" fmla="*/ 2312093 h 2316519"/>
                <a:gd name="connsiteX20" fmla="*/ 3883573 w 4431601"/>
                <a:gd name="connsiteY20" fmla="*/ 2302452 h 2316519"/>
                <a:gd name="connsiteX21" fmla="*/ 4431601 w 4431601"/>
                <a:gd name="connsiteY21" fmla="*/ 1624103 h 2316519"/>
                <a:gd name="connsiteX22" fmla="*/ 3883573 w 4431601"/>
                <a:gd name="connsiteY22" fmla="*/ 945754 h 2316519"/>
                <a:gd name="connsiteX23" fmla="*/ 3773844 w 4431601"/>
                <a:gd name="connsiteY23" fmla="*/ 934595 h 2316519"/>
                <a:gd name="connsiteX24" fmla="*/ 3768759 w 4431601"/>
                <a:gd name="connsiteY24" fmla="*/ 883707 h 2316519"/>
                <a:gd name="connsiteX25" fmla="*/ 2693983 w 4431601"/>
                <a:gd name="connsiteY25" fmla="*/ 0 h 2316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431601" h="2316519">
                  <a:moveTo>
                    <a:pt x="2693983" y="0"/>
                  </a:moveTo>
                  <a:cubicBezTo>
                    <a:pt x="2391037" y="0"/>
                    <a:pt x="2116771" y="123878"/>
                    <a:pt x="1918242" y="324162"/>
                  </a:cubicBezTo>
                  <a:lnTo>
                    <a:pt x="1859647" y="395807"/>
                  </a:lnTo>
                  <a:lnTo>
                    <a:pt x="1815580" y="362462"/>
                  </a:lnTo>
                  <a:cubicBezTo>
                    <a:pt x="1681993" y="279692"/>
                    <a:pt x="1520952" y="231362"/>
                    <a:pt x="1347603" y="231362"/>
                  </a:cubicBezTo>
                  <a:cubicBezTo>
                    <a:pt x="943122" y="231362"/>
                    <a:pt x="605652" y="494493"/>
                    <a:pt x="527605" y="844290"/>
                  </a:cubicBezTo>
                  <a:lnTo>
                    <a:pt x="523639" y="880372"/>
                  </a:lnTo>
                  <a:lnTo>
                    <a:pt x="444716" y="905088"/>
                  </a:lnTo>
                  <a:cubicBezTo>
                    <a:pt x="183375" y="1016603"/>
                    <a:pt x="0" y="1277667"/>
                    <a:pt x="0" y="1581940"/>
                  </a:cubicBezTo>
                  <a:cubicBezTo>
                    <a:pt x="0" y="1962281"/>
                    <a:pt x="286523" y="2275109"/>
                    <a:pt x="653694" y="2312727"/>
                  </a:cubicBezTo>
                  <a:lnTo>
                    <a:pt x="653931" y="2312739"/>
                  </a:lnTo>
                  <a:lnTo>
                    <a:pt x="653931" y="2316518"/>
                  </a:lnTo>
                  <a:lnTo>
                    <a:pt x="728123" y="2316518"/>
                  </a:lnTo>
                  <a:lnTo>
                    <a:pt x="728142" y="2316519"/>
                  </a:lnTo>
                  <a:lnTo>
                    <a:pt x="728162" y="2316518"/>
                  </a:lnTo>
                  <a:lnTo>
                    <a:pt x="3745239" y="2316518"/>
                  </a:lnTo>
                  <a:lnTo>
                    <a:pt x="3745249" y="2316519"/>
                  </a:lnTo>
                  <a:lnTo>
                    <a:pt x="3745259" y="2316518"/>
                  </a:lnTo>
                  <a:lnTo>
                    <a:pt x="3788771" y="2316518"/>
                  </a:lnTo>
                  <a:lnTo>
                    <a:pt x="3788771" y="2312093"/>
                  </a:lnTo>
                  <a:lnTo>
                    <a:pt x="3883573" y="2302452"/>
                  </a:lnTo>
                  <a:cubicBezTo>
                    <a:pt x="4196332" y="2237887"/>
                    <a:pt x="4431601" y="1958713"/>
                    <a:pt x="4431601" y="1624103"/>
                  </a:cubicBezTo>
                  <a:cubicBezTo>
                    <a:pt x="4431601" y="1289493"/>
                    <a:pt x="4196332" y="1010319"/>
                    <a:pt x="3883573" y="945754"/>
                  </a:cubicBezTo>
                  <a:lnTo>
                    <a:pt x="3773844" y="934595"/>
                  </a:lnTo>
                  <a:lnTo>
                    <a:pt x="3768759" y="883707"/>
                  </a:lnTo>
                  <a:cubicBezTo>
                    <a:pt x="3666462" y="379376"/>
                    <a:pt x="3224139" y="0"/>
                    <a:pt x="2693983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96" name="文本框 95"/>
            <p:cNvSpPr txBox="1"/>
            <p:nvPr/>
          </p:nvSpPr>
          <p:spPr bwMode="gray">
            <a:xfrm>
              <a:off x="1137760" y="4418902"/>
              <a:ext cx="76976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6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IP</a:t>
              </a:r>
              <a:r>
                <a:rPr lang="zh-CN" altLang="en-US" sz="16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网络</a:t>
              </a:r>
              <a:endPara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97" name="矩形 32"/>
          <p:cNvSpPr/>
          <p:nvPr/>
        </p:nvSpPr>
        <p:spPr bwMode="gray">
          <a:xfrm>
            <a:off x="10848683" y="5786815"/>
            <a:ext cx="898817" cy="410785"/>
          </a:xfrm>
          <a:prstGeom prst="rect">
            <a:avLst/>
          </a:prstGeom>
          <a:solidFill>
            <a:srgbClr val="AFD89C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1400" kern="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</a:p>
          <a:p>
            <a:pPr algn="ctr" defTabSz="914400"/>
            <a:r>
              <a:rPr lang="en-US" altLang="zh-CN" sz="1400" kern="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Packet</a:t>
            </a:r>
            <a:endParaRPr lang="zh-CN" altLang="en-US" sz="14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8" name="矩形 33"/>
          <p:cNvSpPr/>
          <p:nvPr/>
        </p:nvSpPr>
        <p:spPr bwMode="gray">
          <a:xfrm>
            <a:off x="9725570" y="5786815"/>
            <a:ext cx="898817" cy="410785"/>
          </a:xfrm>
          <a:prstGeom prst="rect">
            <a:avLst/>
          </a:prstGeom>
          <a:solidFill>
            <a:srgbClr val="FEEEC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</a:p>
          <a:p>
            <a:pPr algn="ctr"/>
            <a:r>
              <a:rPr lang="en-US" altLang="zh-CN" sz="140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Header</a:t>
            </a:r>
            <a:endParaRPr lang="zh-CN" altLang="en-US" sz="14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9" name="矩形 33"/>
          <p:cNvSpPr/>
          <p:nvPr/>
        </p:nvSpPr>
        <p:spPr bwMode="gray">
          <a:xfrm>
            <a:off x="8602456" y="5786815"/>
            <a:ext cx="898817" cy="410785"/>
          </a:xfrm>
          <a:prstGeom prst="rect">
            <a:avLst/>
          </a:prstGeom>
          <a:solidFill>
            <a:srgbClr val="56C4D2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1400" kern="0" dirty="0" smtClean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Ethernet</a:t>
            </a:r>
            <a:endParaRPr lang="en-US" altLang="zh-CN" sz="1400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 defTabSz="914400"/>
            <a:r>
              <a:rPr lang="en-US" altLang="zh-CN" sz="1400" kern="0" dirty="0" smtClean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Header</a:t>
            </a:r>
            <a:endParaRPr lang="zh-CN" altLang="en-US" sz="1400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0" name="TextBox 43"/>
          <p:cNvSpPr txBox="1"/>
          <p:nvPr/>
        </p:nvSpPr>
        <p:spPr bwMode="gray">
          <a:xfrm>
            <a:off x="2757957" y="4539766"/>
            <a:ext cx="11657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Ingress LSR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1" name="TextBox 43"/>
          <p:cNvSpPr txBox="1"/>
          <p:nvPr/>
        </p:nvSpPr>
        <p:spPr bwMode="gray">
          <a:xfrm>
            <a:off x="5286935" y="4539766"/>
            <a:ext cx="11576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Transit LSR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2" name="TextBox 43"/>
          <p:cNvSpPr txBox="1"/>
          <p:nvPr/>
        </p:nvSpPr>
        <p:spPr bwMode="gray">
          <a:xfrm>
            <a:off x="7927553" y="4539766"/>
            <a:ext cx="10983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Egress LSR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4650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 smtClean="0">
                <a:sym typeface="Huawei Sans" panose="020C0503030203020204" pitchFamily="34" charset="0"/>
              </a:rPr>
              <a:t>MPLS</a:t>
            </a:r>
            <a:r>
              <a:rPr lang="zh-CN" altLang="en-US" dirty="0" smtClean="0">
                <a:sym typeface="Huawei Sans" panose="020C0503030203020204" pitchFamily="34" charset="0"/>
              </a:rPr>
              <a:t>术语介绍：</a:t>
            </a:r>
            <a:r>
              <a:rPr lang="en-US" altLang="zh-CN" dirty="0" smtClean="0">
                <a:sym typeface="Huawei Sans" panose="020C0503030203020204" pitchFamily="34" charset="0"/>
              </a:rPr>
              <a:t>FEC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smtClean="0">
                <a:sym typeface="Huawei Sans" panose="020C0503030203020204" pitchFamily="34" charset="0"/>
              </a:rPr>
              <a:t>FEC</a:t>
            </a:r>
            <a:r>
              <a:rPr lang="zh-CN" altLang="en-US" sz="1800" smtClean="0">
                <a:sym typeface="Huawei Sans" panose="020C0503030203020204" pitchFamily="34" charset="0"/>
              </a:rPr>
              <a:t>（</a:t>
            </a:r>
            <a:r>
              <a:rPr lang="en-US" altLang="zh-CN" sz="1800" smtClean="0">
                <a:sym typeface="Huawei Sans" panose="020C0503030203020204" pitchFamily="34" charset="0"/>
              </a:rPr>
              <a:t>Forwarding Equivalence Class</a:t>
            </a:r>
            <a:r>
              <a:rPr lang="zh-CN" altLang="en-US" sz="1800" smtClean="0">
                <a:sym typeface="Huawei Sans" panose="020C0503030203020204" pitchFamily="34" charset="0"/>
              </a:rPr>
              <a:t>，转发等价类）是一组具有某些共性的数据流的集合，这些数据流在转发过程中被网络节点以相同方式处理。</a:t>
            </a:r>
            <a:endParaRPr lang="en-US" altLang="zh-CN" sz="1800" smtClean="0">
              <a:sym typeface="Huawei Sans" panose="020C0503030203020204" pitchFamily="34" charset="0"/>
            </a:endParaRPr>
          </a:p>
          <a:p>
            <a:pPr lvl="1"/>
            <a:r>
              <a:rPr lang="zh-CN" altLang="en-US" sz="1600" smtClean="0">
                <a:sym typeface="Huawei Sans" panose="020C0503030203020204" pitchFamily="34" charset="0"/>
              </a:rPr>
              <a:t>在</a:t>
            </a:r>
            <a:r>
              <a:rPr lang="en-US" altLang="zh-CN" sz="1600" smtClean="0">
                <a:sym typeface="Huawei Sans" panose="020C0503030203020204" pitchFamily="34" charset="0"/>
              </a:rPr>
              <a:t>MPLS</a:t>
            </a:r>
            <a:r>
              <a:rPr lang="zh-CN" altLang="en-US" sz="1600" smtClean="0">
                <a:sym typeface="Huawei Sans" panose="020C0503030203020204" pitchFamily="34" charset="0"/>
              </a:rPr>
              <a:t>网络中，</a:t>
            </a:r>
            <a:r>
              <a:rPr lang="en-US" altLang="zh-CN" sz="1600" smtClean="0">
                <a:sym typeface="Huawei Sans" panose="020C0503030203020204" pitchFamily="34" charset="0"/>
              </a:rPr>
              <a:t>FEC</a:t>
            </a:r>
            <a:r>
              <a:rPr lang="zh-CN" altLang="en-US" sz="1600" smtClean="0">
                <a:sym typeface="Huawei Sans" panose="020C0503030203020204" pitchFamily="34" charset="0"/>
              </a:rPr>
              <a:t>可以通过多种方式划分，例如基于目的</a:t>
            </a:r>
            <a:r>
              <a:rPr lang="en-US" altLang="zh-CN" sz="1600" smtClean="0">
                <a:sym typeface="Huawei Sans" panose="020C0503030203020204" pitchFamily="34" charset="0"/>
              </a:rPr>
              <a:t>IP</a:t>
            </a:r>
            <a:r>
              <a:rPr lang="zh-CN" altLang="en-US" sz="1600" smtClean="0">
                <a:sym typeface="Huawei Sans" panose="020C0503030203020204" pitchFamily="34" charset="0"/>
              </a:rPr>
              <a:t>地址及网络掩码、</a:t>
            </a:r>
            <a:r>
              <a:rPr lang="en-US" altLang="zh-CN" sz="1600" smtClean="0">
                <a:sym typeface="Huawei Sans" panose="020C0503030203020204" pitchFamily="34" charset="0"/>
              </a:rPr>
              <a:t>DSCP</a:t>
            </a:r>
            <a:r>
              <a:rPr lang="zh-CN" altLang="en-US" sz="1600" smtClean="0">
                <a:sym typeface="Huawei Sans" panose="020C0503030203020204" pitchFamily="34" charset="0"/>
              </a:rPr>
              <a:t>等特征来划分。</a:t>
            </a:r>
            <a:endParaRPr lang="en-US" altLang="zh-CN" sz="1600" smtClean="0">
              <a:sym typeface="Huawei Sans" panose="020C0503030203020204" pitchFamily="34" charset="0"/>
            </a:endParaRPr>
          </a:p>
          <a:p>
            <a:pPr lvl="1"/>
            <a:r>
              <a:rPr lang="zh-CN" altLang="en-US" sz="1600" smtClean="0">
                <a:sym typeface="Huawei Sans" panose="020C0503030203020204" pitchFamily="34" charset="0"/>
              </a:rPr>
              <a:t>数据属于哪一个</a:t>
            </a:r>
            <a:r>
              <a:rPr lang="en-US" altLang="zh-CN" sz="1600" smtClean="0">
                <a:sym typeface="Huawei Sans" panose="020C0503030203020204" pitchFamily="34" charset="0"/>
              </a:rPr>
              <a:t>LSP</a:t>
            </a:r>
            <a:r>
              <a:rPr lang="zh-CN" altLang="en-US" sz="1600" smtClean="0">
                <a:sym typeface="Huawei Sans" panose="020C0503030203020204" pitchFamily="34" charset="0"/>
              </a:rPr>
              <a:t>，由数据进入</a:t>
            </a:r>
            <a:r>
              <a:rPr lang="en-US" altLang="zh-CN" sz="1600" smtClean="0">
                <a:sym typeface="Huawei Sans" panose="020C0503030203020204" pitchFamily="34" charset="0"/>
              </a:rPr>
              <a:t>MPLS</a:t>
            </a:r>
            <a:r>
              <a:rPr lang="zh-CN" altLang="en-US" sz="1600" smtClean="0">
                <a:sym typeface="Huawei Sans" panose="020C0503030203020204" pitchFamily="34" charset="0"/>
              </a:rPr>
              <a:t>域时的</a:t>
            </a:r>
            <a:r>
              <a:rPr lang="en-US" altLang="zh-CN" sz="1600" smtClean="0">
                <a:sym typeface="Huawei Sans" panose="020C0503030203020204" pitchFamily="34" charset="0"/>
              </a:rPr>
              <a:t>Ingress LSR</a:t>
            </a:r>
            <a:r>
              <a:rPr lang="zh-CN" altLang="en-US" sz="1600" smtClean="0">
                <a:sym typeface="Huawei Sans" panose="020C0503030203020204" pitchFamily="34" charset="0"/>
              </a:rPr>
              <a:t>决定。</a:t>
            </a:r>
            <a:endParaRPr lang="en-US" altLang="zh-CN" sz="1600" smtClean="0">
              <a:sym typeface="Huawei Sans" panose="020C0503030203020204" pitchFamily="34" charset="0"/>
            </a:endParaRPr>
          </a:p>
          <a:p>
            <a:pPr lvl="1"/>
            <a:r>
              <a:rPr lang="en-US" altLang="zh-CN" sz="1600" smtClean="0">
                <a:sym typeface="Huawei Sans" panose="020C0503030203020204" pitchFamily="34" charset="0"/>
              </a:rPr>
              <a:t>MPLS</a:t>
            </a:r>
            <a:r>
              <a:rPr lang="zh-CN" altLang="en-US" sz="1600" smtClean="0">
                <a:sym typeface="Huawei Sans" panose="020C0503030203020204" pitchFamily="34" charset="0"/>
              </a:rPr>
              <a:t>标签通常是与</a:t>
            </a:r>
            <a:r>
              <a:rPr lang="en-US" altLang="zh-CN" sz="1600" smtClean="0">
                <a:sym typeface="Huawei Sans" panose="020C0503030203020204" pitchFamily="34" charset="0"/>
              </a:rPr>
              <a:t>FEC</a:t>
            </a:r>
            <a:r>
              <a:rPr lang="zh-CN" altLang="en-US" sz="1600" smtClean="0">
                <a:sym typeface="Huawei Sans" panose="020C0503030203020204" pitchFamily="34" charset="0"/>
              </a:rPr>
              <a:t>相对应的，必须有某种机制使得网络中的</a:t>
            </a:r>
            <a:r>
              <a:rPr lang="en-US" altLang="zh-CN" sz="1600" smtClean="0">
                <a:sym typeface="Huawei Sans" panose="020C0503030203020204" pitchFamily="34" charset="0"/>
              </a:rPr>
              <a:t>LSR</a:t>
            </a:r>
            <a:r>
              <a:rPr lang="zh-CN" altLang="en-US" sz="1600" smtClean="0">
                <a:sym typeface="Huawei Sans" panose="020C0503030203020204" pitchFamily="34" charset="0"/>
              </a:rPr>
              <a:t>获得关于某</a:t>
            </a:r>
            <a:r>
              <a:rPr lang="en-US" altLang="zh-CN" sz="1600" smtClean="0">
                <a:sym typeface="Huawei Sans" panose="020C0503030203020204" pitchFamily="34" charset="0"/>
              </a:rPr>
              <a:t>FEC</a:t>
            </a:r>
            <a:r>
              <a:rPr lang="zh-CN" altLang="en-US" sz="1600" smtClean="0">
                <a:sym typeface="Huawei Sans" panose="020C0503030203020204" pitchFamily="34" charset="0"/>
              </a:rPr>
              <a:t>的标签信息。</a:t>
            </a:r>
            <a:endParaRPr lang="en-US" altLang="zh-CN" sz="1600" smtClean="0">
              <a:sym typeface="Huawei Sans" panose="020C0503030203020204" pitchFamily="34" charset="0"/>
            </a:endParaRPr>
          </a:p>
          <a:p>
            <a:endParaRPr lang="en-US" altLang="zh-CN" sz="1800" dirty="0" smtClean="0">
              <a:sym typeface="Huawei Sans" panose="020C0503030203020204" pitchFamily="34" charset="0"/>
            </a:endParaRPr>
          </a:p>
        </p:txBody>
      </p:sp>
      <p:sp>
        <p:nvSpPr>
          <p:cNvPr id="13" name="Rounded Rectangle 36"/>
          <p:cNvSpPr/>
          <p:nvPr/>
        </p:nvSpPr>
        <p:spPr bwMode="gray">
          <a:xfrm>
            <a:off x="3211307" y="3326615"/>
            <a:ext cx="5057297" cy="1954400"/>
          </a:xfrm>
          <a:prstGeom prst="roundRect">
            <a:avLst>
              <a:gd name="adj" fmla="val 5020"/>
            </a:avLst>
          </a:prstGeom>
          <a:solidFill>
            <a:srgbClr val="BEE9EE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kern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4" name="直接连接符 4"/>
          <p:cNvCxnSpPr/>
          <p:nvPr/>
        </p:nvCxnSpPr>
        <p:spPr bwMode="gray">
          <a:xfrm>
            <a:off x="2098658" y="4359433"/>
            <a:ext cx="7668240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 bwMode="gray">
          <a:xfrm rot="10800000" flipH="1">
            <a:off x="3338265" y="4008585"/>
            <a:ext cx="2050788" cy="0"/>
          </a:xfrm>
          <a:prstGeom prst="line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55"/>
          <p:cNvCxnSpPr/>
          <p:nvPr/>
        </p:nvCxnSpPr>
        <p:spPr bwMode="gray">
          <a:xfrm rot="10800000" flipH="1">
            <a:off x="2098658" y="4008585"/>
            <a:ext cx="1039936" cy="0"/>
          </a:xfrm>
          <a:prstGeom prst="line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55"/>
          <p:cNvCxnSpPr/>
          <p:nvPr/>
        </p:nvCxnSpPr>
        <p:spPr bwMode="gray">
          <a:xfrm rot="10800000" flipH="1">
            <a:off x="5913926" y="4008585"/>
            <a:ext cx="2064464" cy="0"/>
          </a:xfrm>
          <a:prstGeom prst="line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55"/>
          <p:cNvCxnSpPr/>
          <p:nvPr/>
        </p:nvCxnSpPr>
        <p:spPr bwMode="gray">
          <a:xfrm rot="10800000" flipH="1">
            <a:off x="8356654" y="4008585"/>
            <a:ext cx="1039936" cy="0"/>
          </a:xfrm>
          <a:prstGeom prst="line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片 18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943196" y="4134402"/>
            <a:ext cx="540000" cy="442800"/>
          </a:xfrm>
          <a:prstGeom prst="rect">
            <a:avLst/>
          </a:prstGeom>
        </p:spPr>
      </p:pic>
      <p:pic>
        <p:nvPicPr>
          <p:cNvPr id="20" name="图片 19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470872" y="4144527"/>
            <a:ext cx="540000" cy="442800"/>
          </a:xfrm>
          <a:prstGeom prst="rect">
            <a:avLst/>
          </a:prstGeom>
        </p:spPr>
      </p:pic>
      <p:pic>
        <p:nvPicPr>
          <p:cNvPr id="21" name="图片 20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033227" y="4130618"/>
            <a:ext cx="540000" cy="442800"/>
          </a:xfrm>
          <a:prstGeom prst="rect">
            <a:avLst/>
          </a:prstGeom>
        </p:spPr>
      </p:pic>
      <p:grpSp>
        <p:nvGrpSpPr>
          <p:cNvPr id="41" name="组合 40"/>
          <p:cNvGrpSpPr/>
          <p:nvPr/>
        </p:nvGrpSpPr>
        <p:grpSpPr bwMode="gray">
          <a:xfrm>
            <a:off x="724258" y="3857202"/>
            <a:ext cx="1377387" cy="720000"/>
            <a:chOff x="833949" y="4172890"/>
            <a:chExt cx="1377387" cy="720000"/>
          </a:xfrm>
        </p:grpSpPr>
        <p:sp>
          <p:nvSpPr>
            <p:cNvPr id="42" name="Freeform 159"/>
            <p:cNvSpPr>
              <a:spLocks noChangeAspect="1"/>
            </p:cNvSpPr>
            <p:nvPr/>
          </p:nvSpPr>
          <p:spPr bwMode="gray">
            <a:xfrm flipH="1">
              <a:off x="833949" y="4172890"/>
              <a:ext cx="1377387" cy="720000"/>
            </a:xfrm>
            <a:custGeom>
              <a:avLst/>
              <a:gdLst>
                <a:gd name="connsiteX0" fmla="*/ 2693983 w 4431601"/>
                <a:gd name="connsiteY0" fmla="*/ 0 h 2316519"/>
                <a:gd name="connsiteX1" fmla="*/ 1918242 w 4431601"/>
                <a:gd name="connsiteY1" fmla="*/ 324162 h 2316519"/>
                <a:gd name="connsiteX2" fmla="*/ 1859647 w 4431601"/>
                <a:gd name="connsiteY2" fmla="*/ 395807 h 2316519"/>
                <a:gd name="connsiteX3" fmla="*/ 1815580 w 4431601"/>
                <a:gd name="connsiteY3" fmla="*/ 362462 h 2316519"/>
                <a:gd name="connsiteX4" fmla="*/ 1347603 w 4431601"/>
                <a:gd name="connsiteY4" fmla="*/ 231362 h 2316519"/>
                <a:gd name="connsiteX5" fmla="*/ 527605 w 4431601"/>
                <a:gd name="connsiteY5" fmla="*/ 844290 h 2316519"/>
                <a:gd name="connsiteX6" fmla="*/ 523639 w 4431601"/>
                <a:gd name="connsiteY6" fmla="*/ 880372 h 2316519"/>
                <a:gd name="connsiteX7" fmla="*/ 444716 w 4431601"/>
                <a:gd name="connsiteY7" fmla="*/ 905088 h 2316519"/>
                <a:gd name="connsiteX8" fmla="*/ 0 w 4431601"/>
                <a:gd name="connsiteY8" fmla="*/ 1581940 h 2316519"/>
                <a:gd name="connsiteX9" fmla="*/ 653694 w 4431601"/>
                <a:gd name="connsiteY9" fmla="*/ 2312727 h 2316519"/>
                <a:gd name="connsiteX10" fmla="*/ 653931 w 4431601"/>
                <a:gd name="connsiteY10" fmla="*/ 2312739 h 2316519"/>
                <a:gd name="connsiteX11" fmla="*/ 653931 w 4431601"/>
                <a:gd name="connsiteY11" fmla="*/ 2316518 h 2316519"/>
                <a:gd name="connsiteX12" fmla="*/ 728123 w 4431601"/>
                <a:gd name="connsiteY12" fmla="*/ 2316518 h 2316519"/>
                <a:gd name="connsiteX13" fmla="*/ 728142 w 4431601"/>
                <a:gd name="connsiteY13" fmla="*/ 2316519 h 2316519"/>
                <a:gd name="connsiteX14" fmla="*/ 728162 w 4431601"/>
                <a:gd name="connsiteY14" fmla="*/ 2316518 h 2316519"/>
                <a:gd name="connsiteX15" fmla="*/ 3745239 w 4431601"/>
                <a:gd name="connsiteY15" fmla="*/ 2316518 h 2316519"/>
                <a:gd name="connsiteX16" fmla="*/ 3745249 w 4431601"/>
                <a:gd name="connsiteY16" fmla="*/ 2316519 h 2316519"/>
                <a:gd name="connsiteX17" fmla="*/ 3745259 w 4431601"/>
                <a:gd name="connsiteY17" fmla="*/ 2316518 h 2316519"/>
                <a:gd name="connsiteX18" fmla="*/ 3788771 w 4431601"/>
                <a:gd name="connsiteY18" fmla="*/ 2316518 h 2316519"/>
                <a:gd name="connsiteX19" fmla="*/ 3788771 w 4431601"/>
                <a:gd name="connsiteY19" fmla="*/ 2312093 h 2316519"/>
                <a:gd name="connsiteX20" fmla="*/ 3883573 w 4431601"/>
                <a:gd name="connsiteY20" fmla="*/ 2302452 h 2316519"/>
                <a:gd name="connsiteX21" fmla="*/ 4431601 w 4431601"/>
                <a:gd name="connsiteY21" fmla="*/ 1624103 h 2316519"/>
                <a:gd name="connsiteX22" fmla="*/ 3883573 w 4431601"/>
                <a:gd name="connsiteY22" fmla="*/ 945754 h 2316519"/>
                <a:gd name="connsiteX23" fmla="*/ 3773844 w 4431601"/>
                <a:gd name="connsiteY23" fmla="*/ 934595 h 2316519"/>
                <a:gd name="connsiteX24" fmla="*/ 3768759 w 4431601"/>
                <a:gd name="connsiteY24" fmla="*/ 883707 h 2316519"/>
                <a:gd name="connsiteX25" fmla="*/ 2693983 w 4431601"/>
                <a:gd name="connsiteY25" fmla="*/ 0 h 2316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431601" h="2316519">
                  <a:moveTo>
                    <a:pt x="2693983" y="0"/>
                  </a:moveTo>
                  <a:cubicBezTo>
                    <a:pt x="2391037" y="0"/>
                    <a:pt x="2116771" y="123878"/>
                    <a:pt x="1918242" y="324162"/>
                  </a:cubicBezTo>
                  <a:lnTo>
                    <a:pt x="1859647" y="395807"/>
                  </a:lnTo>
                  <a:lnTo>
                    <a:pt x="1815580" y="362462"/>
                  </a:lnTo>
                  <a:cubicBezTo>
                    <a:pt x="1681993" y="279692"/>
                    <a:pt x="1520952" y="231362"/>
                    <a:pt x="1347603" y="231362"/>
                  </a:cubicBezTo>
                  <a:cubicBezTo>
                    <a:pt x="943122" y="231362"/>
                    <a:pt x="605652" y="494493"/>
                    <a:pt x="527605" y="844290"/>
                  </a:cubicBezTo>
                  <a:lnTo>
                    <a:pt x="523639" y="880372"/>
                  </a:lnTo>
                  <a:lnTo>
                    <a:pt x="444716" y="905088"/>
                  </a:lnTo>
                  <a:cubicBezTo>
                    <a:pt x="183375" y="1016603"/>
                    <a:pt x="0" y="1277667"/>
                    <a:pt x="0" y="1581940"/>
                  </a:cubicBezTo>
                  <a:cubicBezTo>
                    <a:pt x="0" y="1962281"/>
                    <a:pt x="286523" y="2275109"/>
                    <a:pt x="653694" y="2312727"/>
                  </a:cubicBezTo>
                  <a:lnTo>
                    <a:pt x="653931" y="2312739"/>
                  </a:lnTo>
                  <a:lnTo>
                    <a:pt x="653931" y="2316518"/>
                  </a:lnTo>
                  <a:lnTo>
                    <a:pt x="728123" y="2316518"/>
                  </a:lnTo>
                  <a:lnTo>
                    <a:pt x="728142" y="2316519"/>
                  </a:lnTo>
                  <a:lnTo>
                    <a:pt x="728162" y="2316518"/>
                  </a:lnTo>
                  <a:lnTo>
                    <a:pt x="3745239" y="2316518"/>
                  </a:lnTo>
                  <a:lnTo>
                    <a:pt x="3745249" y="2316519"/>
                  </a:lnTo>
                  <a:lnTo>
                    <a:pt x="3745259" y="2316518"/>
                  </a:lnTo>
                  <a:lnTo>
                    <a:pt x="3788771" y="2316518"/>
                  </a:lnTo>
                  <a:lnTo>
                    <a:pt x="3788771" y="2312093"/>
                  </a:lnTo>
                  <a:lnTo>
                    <a:pt x="3883573" y="2302452"/>
                  </a:lnTo>
                  <a:cubicBezTo>
                    <a:pt x="4196332" y="2237887"/>
                    <a:pt x="4431601" y="1958713"/>
                    <a:pt x="4431601" y="1624103"/>
                  </a:cubicBezTo>
                  <a:cubicBezTo>
                    <a:pt x="4431601" y="1289493"/>
                    <a:pt x="4196332" y="1010319"/>
                    <a:pt x="3883573" y="945754"/>
                  </a:cubicBezTo>
                  <a:lnTo>
                    <a:pt x="3773844" y="934595"/>
                  </a:lnTo>
                  <a:lnTo>
                    <a:pt x="3768759" y="883707"/>
                  </a:lnTo>
                  <a:cubicBezTo>
                    <a:pt x="3666462" y="379376"/>
                    <a:pt x="3224139" y="0"/>
                    <a:pt x="2693983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3" name="文本框 42"/>
            <p:cNvSpPr txBox="1"/>
            <p:nvPr/>
          </p:nvSpPr>
          <p:spPr bwMode="gray">
            <a:xfrm>
              <a:off x="1135044" y="4446306"/>
              <a:ext cx="76976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IP</a:t>
              </a:r>
              <a:r>
                <a:rPr lang="zh-CN" altLang="en-US" sz="16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网络</a:t>
              </a:r>
            </a:p>
          </p:txBody>
        </p:sp>
      </p:grpSp>
      <p:grpSp>
        <p:nvGrpSpPr>
          <p:cNvPr id="44" name="组合 43"/>
          <p:cNvGrpSpPr/>
          <p:nvPr/>
        </p:nvGrpSpPr>
        <p:grpSpPr bwMode="gray">
          <a:xfrm>
            <a:off x="9346313" y="3884606"/>
            <a:ext cx="1377387" cy="720000"/>
            <a:chOff x="833949" y="4172890"/>
            <a:chExt cx="1377387" cy="720000"/>
          </a:xfrm>
        </p:grpSpPr>
        <p:sp>
          <p:nvSpPr>
            <p:cNvPr id="45" name="Freeform 159"/>
            <p:cNvSpPr>
              <a:spLocks noChangeAspect="1"/>
            </p:cNvSpPr>
            <p:nvPr/>
          </p:nvSpPr>
          <p:spPr bwMode="gray">
            <a:xfrm flipH="1">
              <a:off x="833949" y="4172890"/>
              <a:ext cx="1377387" cy="720000"/>
            </a:xfrm>
            <a:custGeom>
              <a:avLst/>
              <a:gdLst>
                <a:gd name="connsiteX0" fmla="*/ 2693983 w 4431601"/>
                <a:gd name="connsiteY0" fmla="*/ 0 h 2316519"/>
                <a:gd name="connsiteX1" fmla="*/ 1918242 w 4431601"/>
                <a:gd name="connsiteY1" fmla="*/ 324162 h 2316519"/>
                <a:gd name="connsiteX2" fmla="*/ 1859647 w 4431601"/>
                <a:gd name="connsiteY2" fmla="*/ 395807 h 2316519"/>
                <a:gd name="connsiteX3" fmla="*/ 1815580 w 4431601"/>
                <a:gd name="connsiteY3" fmla="*/ 362462 h 2316519"/>
                <a:gd name="connsiteX4" fmla="*/ 1347603 w 4431601"/>
                <a:gd name="connsiteY4" fmla="*/ 231362 h 2316519"/>
                <a:gd name="connsiteX5" fmla="*/ 527605 w 4431601"/>
                <a:gd name="connsiteY5" fmla="*/ 844290 h 2316519"/>
                <a:gd name="connsiteX6" fmla="*/ 523639 w 4431601"/>
                <a:gd name="connsiteY6" fmla="*/ 880372 h 2316519"/>
                <a:gd name="connsiteX7" fmla="*/ 444716 w 4431601"/>
                <a:gd name="connsiteY7" fmla="*/ 905088 h 2316519"/>
                <a:gd name="connsiteX8" fmla="*/ 0 w 4431601"/>
                <a:gd name="connsiteY8" fmla="*/ 1581940 h 2316519"/>
                <a:gd name="connsiteX9" fmla="*/ 653694 w 4431601"/>
                <a:gd name="connsiteY9" fmla="*/ 2312727 h 2316519"/>
                <a:gd name="connsiteX10" fmla="*/ 653931 w 4431601"/>
                <a:gd name="connsiteY10" fmla="*/ 2312739 h 2316519"/>
                <a:gd name="connsiteX11" fmla="*/ 653931 w 4431601"/>
                <a:gd name="connsiteY11" fmla="*/ 2316518 h 2316519"/>
                <a:gd name="connsiteX12" fmla="*/ 728123 w 4431601"/>
                <a:gd name="connsiteY12" fmla="*/ 2316518 h 2316519"/>
                <a:gd name="connsiteX13" fmla="*/ 728142 w 4431601"/>
                <a:gd name="connsiteY13" fmla="*/ 2316519 h 2316519"/>
                <a:gd name="connsiteX14" fmla="*/ 728162 w 4431601"/>
                <a:gd name="connsiteY14" fmla="*/ 2316518 h 2316519"/>
                <a:gd name="connsiteX15" fmla="*/ 3745239 w 4431601"/>
                <a:gd name="connsiteY15" fmla="*/ 2316518 h 2316519"/>
                <a:gd name="connsiteX16" fmla="*/ 3745249 w 4431601"/>
                <a:gd name="connsiteY16" fmla="*/ 2316519 h 2316519"/>
                <a:gd name="connsiteX17" fmla="*/ 3745259 w 4431601"/>
                <a:gd name="connsiteY17" fmla="*/ 2316518 h 2316519"/>
                <a:gd name="connsiteX18" fmla="*/ 3788771 w 4431601"/>
                <a:gd name="connsiteY18" fmla="*/ 2316518 h 2316519"/>
                <a:gd name="connsiteX19" fmla="*/ 3788771 w 4431601"/>
                <a:gd name="connsiteY19" fmla="*/ 2312093 h 2316519"/>
                <a:gd name="connsiteX20" fmla="*/ 3883573 w 4431601"/>
                <a:gd name="connsiteY20" fmla="*/ 2302452 h 2316519"/>
                <a:gd name="connsiteX21" fmla="*/ 4431601 w 4431601"/>
                <a:gd name="connsiteY21" fmla="*/ 1624103 h 2316519"/>
                <a:gd name="connsiteX22" fmla="*/ 3883573 w 4431601"/>
                <a:gd name="connsiteY22" fmla="*/ 945754 h 2316519"/>
                <a:gd name="connsiteX23" fmla="*/ 3773844 w 4431601"/>
                <a:gd name="connsiteY23" fmla="*/ 934595 h 2316519"/>
                <a:gd name="connsiteX24" fmla="*/ 3768759 w 4431601"/>
                <a:gd name="connsiteY24" fmla="*/ 883707 h 2316519"/>
                <a:gd name="connsiteX25" fmla="*/ 2693983 w 4431601"/>
                <a:gd name="connsiteY25" fmla="*/ 0 h 2316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431601" h="2316519">
                  <a:moveTo>
                    <a:pt x="2693983" y="0"/>
                  </a:moveTo>
                  <a:cubicBezTo>
                    <a:pt x="2391037" y="0"/>
                    <a:pt x="2116771" y="123878"/>
                    <a:pt x="1918242" y="324162"/>
                  </a:cubicBezTo>
                  <a:lnTo>
                    <a:pt x="1859647" y="395807"/>
                  </a:lnTo>
                  <a:lnTo>
                    <a:pt x="1815580" y="362462"/>
                  </a:lnTo>
                  <a:cubicBezTo>
                    <a:pt x="1681993" y="279692"/>
                    <a:pt x="1520952" y="231362"/>
                    <a:pt x="1347603" y="231362"/>
                  </a:cubicBezTo>
                  <a:cubicBezTo>
                    <a:pt x="943122" y="231362"/>
                    <a:pt x="605652" y="494493"/>
                    <a:pt x="527605" y="844290"/>
                  </a:cubicBezTo>
                  <a:lnTo>
                    <a:pt x="523639" y="880372"/>
                  </a:lnTo>
                  <a:lnTo>
                    <a:pt x="444716" y="905088"/>
                  </a:lnTo>
                  <a:cubicBezTo>
                    <a:pt x="183375" y="1016603"/>
                    <a:pt x="0" y="1277667"/>
                    <a:pt x="0" y="1581940"/>
                  </a:cubicBezTo>
                  <a:cubicBezTo>
                    <a:pt x="0" y="1962281"/>
                    <a:pt x="286523" y="2275109"/>
                    <a:pt x="653694" y="2312727"/>
                  </a:cubicBezTo>
                  <a:lnTo>
                    <a:pt x="653931" y="2312739"/>
                  </a:lnTo>
                  <a:lnTo>
                    <a:pt x="653931" y="2316518"/>
                  </a:lnTo>
                  <a:lnTo>
                    <a:pt x="728123" y="2316518"/>
                  </a:lnTo>
                  <a:lnTo>
                    <a:pt x="728142" y="2316519"/>
                  </a:lnTo>
                  <a:lnTo>
                    <a:pt x="728162" y="2316518"/>
                  </a:lnTo>
                  <a:lnTo>
                    <a:pt x="3745239" y="2316518"/>
                  </a:lnTo>
                  <a:lnTo>
                    <a:pt x="3745249" y="2316519"/>
                  </a:lnTo>
                  <a:lnTo>
                    <a:pt x="3745259" y="2316518"/>
                  </a:lnTo>
                  <a:lnTo>
                    <a:pt x="3788771" y="2316518"/>
                  </a:lnTo>
                  <a:lnTo>
                    <a:pt x="3788771" y="2312093"/>
                  </a:lnTo>
                  <a:lnTo>
                    <a:pt x="3883573" y="2302452"/>
                  </a:lnTo>
                  <a:cubicBezTo>
                    <a:pt x="4196332" y="2237887"/>
                    <a:pt x="4431601" y="1958713"/>
                    <a:pt x="4431601" y="1624103"/>
                  </a:cubicBezTo>
                  <a:cubicBezTo>
                    <a:pt x="4431601" y="1289493"/>
                    <a:pt x="4196332" y="1010319"/>
                    <a:pt x="3883573" y="945754"/>
                  </a:cubicBezTo>
                  <a:lnTo>
                    <a:pt x="3773844" y="934595"/>
                  </a:lnTo>
                  <a:lnTo>
                    <a:pt x="3768759" y="883707"/>
                  </a:lnTo>
                  <a:cubicBezTo>
                    <a:pt x="3666462" y="379376"/>
                    <a:pt x="3224139" y="0"/>
                    <a:pt x="2693983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6" name="文本框 45"/>
            <p:cNvSpPr txBox="1"/>
            <p:nvPr/>
          </p:nvSpPr>
          <p:spPr bwMode="gray">
            <a:xfrm>
              <a:off x="1030359" y="4300605"/>
              <a:ext cx="984565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6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IP</a:t>
              </a:r>
              <a:r>
                <a:rPr lang="zh-CN" altLang="en-US" sz="16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网络</a:t>
              </a:r>
              <a:endPara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 algn="ctr"/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3.3.3.0/24</a:t>
              </a:r>
              <a:endPara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47" name="Rectangle 67"/>
          <p:cNvSpPr/>
          <p:nvPr/>
        </p:nvSpPr>
        <p:spPr bwMode="gray">
          <a:xfrm>
            <a:off x="5075275" y="4885159"/>
            <a:ext cx="134043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 Domain</a:t>
            </a:r>
          </a:p>
        </p:txBody>
      </p:sp>
      <p:sp>
        <p:nvSpPr>
          <p:cNvPr id="48" name="文本框 47"/>
          <p:cNvSpPr txBox="1"/>
          <p:nvPr/>
        </p:nvSpPr>
        <p:spPr bwMode="gray">
          <a:xfrm>
            <a:off x="1866579" y="3710934"/>
            <a:ext cx="12522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目的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3.3.3.3</a:t>
            </a:r>
            <a:endParaRPr lang="zh-CN" altLang="en-US" sz="14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9" name="TextBox 43"/>
          <p:cNvSpPr txBox="1"/>
          <p:nvPr/>
        </p:nvSpPr>
        <p:spPr bwMode="gray">
          <a:xfrm>
            <a:off x="2632929" y="4587327"/>
            <a:ext cx="11657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Ingress LSR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0" name="TextBox 43"/>
          <p:cNvSpPr txBox="1"/>
          <p:nvPr/>
        </p:nvSpPr>
        <p:spPr bwMode="gray">
          <a:xfrm>
            <a:off x="5161907" y="4587327"/>
            <a:ext cx="11576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Transit LSR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1" name="TextBox 43"/>
          <p:cNvSpPr txBox="1"/>
          <p:nvPr/>
        </p:nvSpPr>
        <p:spPr bwMode="gray">
          <a:xfrm>
            <a:off x="7802525" y="4587327"/>
            <a:ext cx="10983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Egress LSR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6" name="文本框 65"/>
          <p:cNvSpPr txBox="1"/>
          <p:nvPr/>
        </p:nvSpPr>
        <p:spPr bwMode="gray">
          <a:xfrm>
            <a:off x="840654" y="4849128"/>
            <a:ext cx="17754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由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Ingress LSR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确定数据所属的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，并打上相应的标签。</a:t>
            </a:r>
          </a:p>
        </p:txBody>
      </p:sp>
      <p:sp>
        <p:nvSpPr>
          <p:cNvPr id="67" name="Right Arrow 157"/>
          <p:cNvSpPr/>
          <p:nvPr/>
        </p:nvSpPr>
        <p:spPr bwMode="gray">
          <a:xfrm rot="19862268">
            <a:off x="1999153" y="4489489"/>
            <a:ext cx="647343" cy="356242"/>
          </a:xfrm>
          <a:prstGeom prst="rightArrow">
            <a:avLst>
              <a:gd name="adj1" fmla="val 40000"/>
              <a:gd name="adj2" fmla="val 50000"/>
            </a:avLst>
          </a:prstGeom>
          <a:gradFill flip="none" rotWithShape="1">
            <a:gsLst>
              <a:gs pos="15000">
                <a:schemeClr val="accent1">
                  <a:lumMod val="5000"/>
                  <a:lumOff val="95000"/>
                  <a:alpha val="0"/>
                </a:schemeClr>
              </a:gs>
              <a:gs pos="81000">
                <a:srgbClr val="94DAE2"/>
              </a:gs>
            </a:gsLst>
            <a:lin ang="0" scaled="1"/>
            <a:tileRect/>
          </a:gradFill>
          <a:ln w="15875">
            <a:solidFill>
              <a:srgbClr val="56C4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4" name="矩形 32"/>
          <p:cNvSpPr/>
          <p:nvPr/>
        </p:nvSpPr>
        <p:spPr bwMode="gray">
          <a:xfrm>
            <a:off x="10848683" y="5786815"/>
            <a:ext cx="898817" cy="410785"/>
          </a:xfrm>
          <a:prstGeom prst="rect">
            <a:avLst/>
          </a:prstGeom>
          <a:solidFill>
            <a:srgbClr val="AFD89C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14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</a:p>
          <a:p>
            <a:pPr algn="ctr" defTabSz="914400"/>
            <a:r>
              <a:rPr lang="en-US" altLang="zh-CN" sz="14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Packet</a:t>
            </a:r>
            <a:endParaRPr lang="zh-CN" altLang="en-US" sz="14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5" name="矩形 33"/>
          <p:cNvSpPr/>
          <p:nvPr/>
        </p:nvSpPr>
        <p:spPr bwMode="gray">
          <a:xfrm>
            <a:off x="9725569" y="5786815"/>
            <a:ext cx="898817" cy="410785"/>
          </a:xfrm>
          <a:prstGeom prst="rect">
            <a:avLst/>
          </a:prstGeom>
          <a:solidFill>
            <a:srgbClr val="FEEEC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Header</a:t>
            </a:r>
            <a:endParaRPr lang="zh-CN" altLang="en-US" sz="14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6" name="矩形 33"/>
          <p:cNvSpPr/>
          <p:nvPr/>
        </p:nvSpPr>
        <p:spPr bwMode="gray">
          <a:xfrm>
            <a:off x="8602456" y="5786815"/>
            <a:ext cx="898817" cy="410785"/>
          </a:xfrm>
          <a:prstGeom prst="rect">
            <a:avLst/>
          </a:prstGeom>
          <a:solidFill>
            <a:srgbClr val="56C4D2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14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Ethernet</a:t>
            </a:r>
          </a:p>
          <a:p>
            <a:pPr algn="ctr" defTabSz="914400"/>
            <a:r>
              <a:rPr lang="en-US" altLang="zh-CN" sz="14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Header</a:t>
            </a:r>
            <a:endParaRPr lang="zh-CN" altLang="en-US" sz="1400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7" name="任意多边形 76"/>
          <p:cNvSpPr/>
          <p:nvPr/>
        </p:nvSpPr>
        <p:spPr bwMode="gray">
          <a:xfrm>
            <a:off x="6343969" y="3485243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56C4D2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1400" kern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8" name="任意多边形 77"/>
          <p:cNvSpPr/>
          <p:nvPr/>
        </p:nvSpPr>
        <p:spPr bwMode="gray">
          <a:xfrm>
            <a:off x="6703969" y="3485243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FEEEC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9" name="任意多边形 78"/>
          <p:cNvSpPr/>
          <p:nvPr/>
        </p:nvSpPr>
        <p:spPr bwMode="gray">
          <a:xfrm>
            <a:off x="7063969" y="3485243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AFD89C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0" name="任意多边形 79"/>
          <p:cNvSpPr/>
          <p:nvPr/>
        </p:nvSpPr>
        <p:spPr bwMode="gray">
          <a:xfrm>
            <a:off x="2205163" y="3485243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56C4D2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1400" kern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1" name="任意多边形 80"/>
          <p:cNvSpPr/>
          <p:nvPr/>
        </p:nvSpPr>
        <p:spPr bwMode="gray">
          <a:xfrm>
            <a:off x="2565163" y="3485243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AFD89C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2" name="任意多边形 81"/>
          <p:cNvSpPr/>
          <p:nvPr/>
        </p:nvSpPr>
        <p:spPr bwMode="gray">
          <a:xfrm>
            <a:off x="3823658" y="3485243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56C4D2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1400" kern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3" name="任意多边形 82"/>
          <p:cNvSpPr/>
          <p:nvPr/>
        </p:nvSpPr>
        <p:spPr bwMode="gray">
          <a:xfrm>
            <a:off x="4183658" y="3485243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FEEEC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4" name="任意多边形 83"/>
          <p:cNvSpPr/>
          <p:nvPr/>
        </p:nvSpPr>
        <p:spPr bwMode="gray">
          <a:xfrm>
            <a:off x="4543658" y="3485243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AFD89C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5" name="任意多边形 84"/>
          <p:cNvSpPr/>
          <p:nvPr/>
        </p:nvSpPr>
        <p:spPr bwMode="gray">
          <a:xfrm>
            <a:off x="8516622" y="3485243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56C4D2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1400" kern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6" name="任意多边形 85"/>
          <p:cNvSpPr/>
          <p:nvPr/>
        </p:nvSpPr>
        <p:spPr bwMode="gray">
          <a:xfrm>
            <a:off x="8876622" y="3485243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AFD89C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8532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6"/>
          <p:cNvSpPr/>
          <p:nvPr/>
        </p:nvSpPr>
        <p:spPr bwMode="gray">
          <a:xfrm>
            <a:off x="3355621" y="2179653"/>
            <a:ext cx="5057297" cy="3587700"/>
          </a:xfrm>
          <a:prstGeom prst="roundRect">
            <a:avLst>
              <a:gd name="adj" fmla="val 5020"/>
            </a:avLst>
          </a:prstGeom>
          <a:solidFill>
            <a:srgbClr val="BEE9EE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kern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5" name="直接连接符 24"/>
          <p:cNvCxnSpPr/>
          <p:nvPr/>
        </p:nvCxnSpPr>
        <p:spPr bwMode="gray">
          <a:xfrm>
            <a:off x="1394381" y="5128070"/>
            <a:ext cx="1737297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 bwMode="gray">
          <a:xfrm>
            <a:off x="3355621" y="4086268"/>
            <a:ext cx="1274397" cy="1041802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 bwMode="gray">
          <a:xfrm flipV="1">
            <a:off x="7154745" y="4072360"/>
            <a:ext cx="1292796" cy="105571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 bwMode="gray">
          <a:xfrm flipV="1">
            <a:off x="3355621" y="2738529"/>
            <a:ext cx="1274397" cy="1341245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 bwMode="gray">
          <a:xfrm>
            <a:off x="7192691" y="2726807"/>
            <a:ext cx="1220227" cy="1345552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 smtClean="0">
                <a:sym typeface="Huawei Sans" panose="020C0503030203020204" pitchFamily="34" charset="0"/>
              </a:rPr>
              <a:t>MPLS</a:t>
            </a:r>
            <a:r>
              <a:rPr lang="zh-CN" altLang="en-US" dirty="0" smtClean="0">
                <a:sym typeface="Huawei Sans" panose="020C0503030203020204" pitchFamily="34" charset="0"/>
              </a:rPr>
              <a:t>术语介绍：</a:t>
            </a:r>
            <a:r>
              <a:rPr lang="en-US" altLang="zh-CN" dirty="0" smtClean="0">
                <a:sym typeface="Huawei Sans" panose="020C0503030203020204" pitchFamily="34" charset="0"/>
              </a:rPr>
              <a:t>LSP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smtClean="0">
                <a:sym typeface="Huawei Sans" panose="020C0503030203020204" pitchFamily="34" charset="0"/>
              </a:rPr>
              <a:t>LSP</a:t>
            </a:r>
            <a:r>
              <a:rPr lang="zh-CN" altLang="en-US" sz="1800" smtClean="0">
                <a:sym typeface="Huawei Sans" panose="020C0503030203020204" pitchFamily="34" charset="0"/>
              </a:rPr>
              <a:t>（</a:t>
            </a:r>
            <a:r>
              <a:rPr lang="en-US" altLang="zh-CN" sz="1800" smtClean="0">
                <a:sym typeface="Huawei Sans" panose="020C0503030203020204" pitchFamily="34" charset="0"/>
              </a:rPr>
              <a:t>Label Switched Path</a:t>
            </a:r>
            <a:r>
              <a:rPr lang="zh-CN" altLang="en-US" sz="1800" smtClean="0">
                <a:sym typeface="Huawei Sans" panose="020C0503030203020204" pitchFamily="34" charset="0"/>
              </a:rPr>
              <a:t>，标签交换路径）是标签报文穿越</a:t>
            </a:r>
            <a:r>
              <a:rPr lang="en-US" altLang="zh-CN" sz="1800" smtClean="0">
                <a:sym typeface="Huawei Sans" panose="020C0503030203020204" pitchFamily="34" charset="0"/>
              </a:rPr>
              <a:t>MPLS</a:t>
            </a:r>
            <a:r>
              <a:rPr lang="zh-CN" altLang="en-US" sz="1800" smtClean="0">
                <a:sym typeface="Huawei Sans" panose="020C0503030203020204" pitchFamily="34" charset="0"/>
              </a:rPr>
              <a:t>网络到达目的地所走的路径。</a:t>
            </a:r>
            <a:endParaRPr lang="en-US" altLang="zh-CN" sz="1800" smtClean="0">
              <a:sym typeface="Huawei Sans" panose="020C0503030203020204" pitchFamily="34" charset="0"/>
            </a:endParaRPr>
          </a:p>
          <a:p>
            <a:r>
              <a:rPr lang="zh-CN" altLang="en-US" sz="1800" smtClean="0">
                <a:sym typeface="Huawei Sans" panose="020C0503030203020204" pitchFamily="34" charset="0"/>
              </a:rPr>
              <a:t>同一个</a:t>
            </a:r>
            <a:r>
              <a:rPr lang="en-US" altLang="zh-CN" sz="1800" smtClean="0">
                <a:sym typeface="Huawei Sans" panose="020C0503030203020204" pitchFamily="34" charset="0"/>
              </a:rPr>
              <a:t>FEC</a:t>
            </a:r>
            <a:r>
              <a:rPr lang="zh-CN" altLang="en-US" sz="1800" smtClean="0">
                <a:sym typeface="Huawei Sans" panose="020C0503030203020204" pitchFamily="34" charset="0"/>
              </a:rPr>
              <a:t>的报文通常采用相同的</a:t>
            </a:r>
            <a:r>
              <a:rPr lang="en-US" altLang="zh-CN" sz="1800" smtClean="0">
                <a:sym typeface="Huawei Sans" panose="020C0503030203020204" pitchFamily="34" charset="0"/>
              </a:rPr>
              <a:t>LSP</a:t>
            </a:r>
            <a:r>
              <a:rPr lang="zh-CN" altLang="en-US" sz="1800" smtClean="0">
                <a:sym typeface="Huawei Sans" panose="020C0503030203020204" pitchFamily="34" charset="0"/>
              </a:rPr>
              <a:t>穿越</a:t>
            </a:r>
            <a:r>
              <a:rPr lang="en-US" altLang="zh-CN" sz="1800" smtClean="0">
                <a:sym typeface="Huawei Sans" panose="020C0503030203020204" pitchFamily="34" charset="0"/>
              </a:rPr>
              <a:t>MPLS</a:t>
            </a:r>
            <a:r>
              <a:rPr lang="zh-CN" altLang="en-US" sz="1800" smtClean="0">
                <a:sym typeface="Huawei Sans" panose="020C0503030203020204" pitchFamily="34" charset="0"/>
              </a:rPr>
              <a:t>域，所以对同一个</a:t>
            </a:r>
            <a:r>
              <a:rPr lang="en-US" altLang="zh-CN" sz="1800" smtClean="0">
                <a:sym typeface="Huawei Sans" panose="020C0503030203020204" pitchFamily="34" charset="0"/>
              </a:rPr>
              <a:t>FEC</a:t>
            </a:r>
            <a:r>
              <a:rPr lang="zh-CN" altLang="en-US" sz="1800" smtClean="0">
                <a:sym typeface="Huawei Sans" panose="020C0503030203020204" pitchFamily="34" charset="0"/>
              </a:rPr>
              <a:t>，</a:t>
            </a:r>
            <a:r>
              <a:rPr lang="en-US" altLang="zh-CN" sz="1800" smtClean="0">
                <a:sym typeface="Huawei Sans" panose="020C0503030203020204" pitchFamily="34" charset="0"/>
              </a:rPr>
              <a:t>LSR</a:t>
            </a:r>
            <a:r>
              <a:rPr lang="zh-CN" altLang="en-US" sz="1800" smtClean="0">
                <a:sym typeface="Huawei Sans" panose="020C0503030203020204" pitchFamily="34" charset="0"/>
              </a:rPr>
              <a:t>总是用相同的标签转发。</a:t>
            </a:r>
            <a:endParaRPr lang="en-US" altLang="zh-CN" sz="1800" dirty="0" smtClean="0">
              <a:sym typeface="Huawei Sans" panose="020C0503030203020204" pitchFamily="34" charset="0"/>
            </a:endParaRPr>
          </a:p>
        </p:txBody>
      </p:sp>
      <p:sp>
        <p:nvSpPr>
          <p:cNvPr id="51" name="Rectangle 67"/>
          <p:cNvSpPr/>
          <p:nvPr/>
        </p:nvSpPr>
        <p:spPr bwMode="gray">
          <a:xfrm>
            <a:off x="6998761" y="5512112"/>
            <a:ext cx="134043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 Domain</a:t>
            </a:r>
          </a:p>
        </p:txBody>
      </p:sp>
      <p:cxnSp>
        <p:nvCxnSpPr>
          <p:cNvPr id="36" name="直接连接符 4"/>
          <p:cNvCxnSpPr/>
          <p:nvPr/>
        </p:nvCxnSpPr>
        <p:spPr bwMode="gray">
          <a:xfrm>
            <a:off x="1394381" y="4026694"/>
            <a:ext cx="8516831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087510" y="3801663"/>
            <a:ext cx="540000" cy="442800"/>
          </a:xfrm>
          <a:prstGeom prst="rect">
            <a:avLst/>
          </a:prstGeom>
        </p:spPr>
      </p:pic>
      <p:pic>
        <p:nvPicPr>
          <p:cNvPr id="42" name="图片 41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632526" y="3811788"/>
            <a:ext cx="540000" cy="442800"/>
          </a:xfrm>
          <a:prstGeom prst="rect">
            <a:avLst/>
          </a:prstGeom>
        </p:spPr>
      </p:pic>
      <p:pic>
        <p:nvPicPr>
          <p:cNvPr id="43" name="图片 42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177541" y="3797879"/>
            <a:ext cx="540000" cy="442800"/>
          </a:xfrm>
          <a:prstGeom prst="rect">
            <a:avLst/>
          </a:prstGeom>
        </p:spPr>
      </p:pic>
      <p:sp>
        <p:nvSpPr>
          <p:cNvPr id="49" name="Freeform 159"/>
          <p:cNvSpPr>
            <a:spLocks noChangeAspect="1"/>
          </p:cNvSpPr>
          <p:nvPr/>
        </p:nvSpPr>
        <p:spPr bwMode="gray">
          <a:xfrm flipH="1">
            <a:off x="9490627" y="3551867"/>
            <a:ext cx="1377387" cy="720000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0" name="文本框 49"/>
          <p:cNvSpPr txBox="1"/>
          <p:nvPr/>
        </p:nvSpPr>
        <p:spPr bwMode="gray">
          <a:xfrm>
            <a:off x="9687037" y="3679582"/>
            <a:ext cx="98456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网络</a:t>
            </a:r>
            <a:endParaRPr lang="en-US" altLang="zh-CN" sz="16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3.3.3.0/24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3" name="TextBox 43"/>
          <p:cNvSpPr txBox="1"/>
          <p:nvPr/>
        </p:nvSpPr>
        <p:spPr bwMode="gray">
          <a:xfrm>
            <a:off x="3157155" y="4216488"/>
            <a:ext cx="405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4" name="TextBox 43"/>
          <p:cNvSpPr txBox="1"/>
          <p:nvPr/>
        </p:nvSpPr>
        <p:spPr bwMode="gray">
          <a:xfrm>
            <a:off x="5682125" y="4216488"/>
            <a:ext cx="405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5" name="TextBox 43"/>
          <p:cNvSpPr txBox="1"/>
          <p:nvPr/>
        </p:nvSpPr>
        <p:spPr bwMode="gray">
          <a:xfrm>
            <a:off x="8293088" y="4216488"/>
            <a:ext cx="405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 bwMode="gray">
          <a:xfrm>
            <a:off x="4664642" y="2726807"/>
            <a:ext cx="2510391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0" name="图片 99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360018" y="2517129"/>
            <a:ext cx="540000" cy="442800"/>
          </a:xfrm>
          <a:prstGeom prst="rect">
            <a:avLst/>
          </a:prstGeom>
        </p:spPr>
      </p:pic>
      <p:pic>
        <p:nvPicPr>
          <p:cNvPr id="101" name="图片 100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905034" y="2517129"/>
            <a:ext cx="540000" cy="442800"/>
          </a:xfrm>
          <a:prstGeom prst="rect">
            <a:avLst/>
          </a:prstGeom>
        </p:spPr>
      </p:pic>
      <p:sp>
        <p:nvSpPr>
          <p:cNvPr id="104" name="TextBox 43"/>
          <p:cNvSpPr txBox="1"/>
          <p:nvPr/>
        </p:nvSpPr>
        <p:spPr bwMode="gray">
          <a:xfrm>
            <a:off x="4427078" y="2959929"/>
            <a:ext cx="405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R4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5" name="TextBox 43"/>
          <p:cNvSpPr txBox="1"/>
          <p:nvPr/>
        </p:nvSpPr>
        <p:spPr bwMode="gray">
          <a:xfrm>
            <a:off x="6972094" y="2936018"/>
            <a:ext cx="405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R5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8" name="直接连接符 7"/>
          <p:cNvCxnSpPr/>
          <p:nvPr/>
        </p:nvCxnSpPr>
        <p:spPr bwMode="gray">
          <a:xfrm>
            <a:off x="3157155" y="5113091"/>
            <a:ext cx="4008559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" name="图片 101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064618" y="4895323"/>
            <a:ext cx="540000" cy="442800"/>
          </a:xfrm>
          <a:prstGeom prst="rect">
            <a:avLst/>
          </a:prstGeom>
        </p:spPr>
      </p:pic>
      <p:pic>
        <p:nvPicPr>
          <p:cNvPr id="103" name="图片 102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905034" y="4895323"/>
            <a:ext cx="540000" cy="442800"/>
          </a:xfrm>
          <a:prstGeom prst="rect">
            <a:avLst/>
          </a:prstGeom>
        </p:spPr>
      </p:pic>
      <p:sp>
        <p:nvSpPr>
          <p:cNvPr id="106" name="TextBox 43"/>
          <p:cNvSpPr txBox="1"/>
          <p:nvPr/>
        </p:nvSpPr>
        <p:spPr bwMode="gray">
          <a:xfrm>
            <a:off x="3131678" y="5338123"/>
            <a:ext cx="405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R6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7" name="TextBox 43"/>
          <p:cNvSpPr txBox="1"/>
          <p:nvPr/>
        </p:nvSpPr>
        <p:spPr bwMode="gray">
          <a:xfrm>
            <a:off x="6972094" y="5314212"/>
            <a:ext cx="405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R7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6" name="Freeform 159"/>
          <p:cNvSpPr>
            <a:spLocks noChangeAspect="1"/>
          </p:cNvSpPr>
          <p:nvPr/>
        </p:nvSpPr>
        <p:spPr bwMode="gray">
          <a:xfrm flipH="1">
            <a:off x="668588" y="3524463"/>
            <a:ext cx="1377387" cy="720000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8" name="文本框 107"/>
          <p:cNvSpPr txBox="1"/>
          <p:nvPr/>
        </p:nvSpPr>
        <p:spPr bwMode="gray">
          <a:xfrm>
            <a:off x="850855" y="3652388"/>
            <a:ext cx="98456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网络</a:t>
            </a:r>
            <a:endParaRPr lang="en-US" altLang="zh-CN" sz="16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1.1.1.0/24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0" name="Freeform 159"/>
          <p:cNvSpPr>
            <a:spLocks noChangeAspect="1"/>
          </p:cNvSpPr>
          <p:nvPr/>
        </p:nvSpPr>
        <p:spPr bwMode="gray">
          <a:xfrm flipH="1">
            <a:off x="668588" y="4693913"/>
            <a:ext cx="1377387" cy="720000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1" name="文本框 110"/>
          <p:cNvSpPr txBox="1"/>
          <p:nvPr/>
        </p:nvSpPr>
        <p:spPr bwMode="gray">
          <a:xfrm>
            <a:off x="850855" y="4821838"/>
            <a:ext cx="98456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网络</a:t>
            </a:r>
            <a:endParaRPr lang="en-US" altLang="zh-CN" sz="16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2.2.2.0/24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2" name="矩形 32"/>
          <p:cNvSpPr/>
          <p:nvPr/>
        </p:nvSpPr>
        <p:spPr bwMode="gray">
          <a:xfrm>
            <a:off x="10848683" y="5786815"/>
            <a:ext cx="898817" cy="410785"/>
          </a:xfrm>
          <a:prstGeom prst="rect">
            <a:avLst/>
          </a:prstGeom>
          <a:solidFill>
            <a:srgbClr val="AFD89C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14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</a:p>
          <a:p>
            <a:pPr algn="ctr" defTabSz="914400"/>
            <a:r>
              <a:rPr lang="en-US" altLang="zh-CN" sz="14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Packet</a:t>
            </a:r>
            <a:endParaRPr lang="zh-CN" altLang="en-US" sz="14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3" name="矩形 33"/>
          <p:cNvSpPr/>
          <p:nvPr/>
        </p:nvSpPr>
        <p:spPr bwMode="gray">
          <a:xfrm>
            <a:off x="9725569" y="5786815"/>
            <a:ext cx="898817" cy="410785"/>
          </a:xfrm>
          <a:prstGeom prst="rect">
            <a:avLst/>
          </a:prstGeom>
          <a:solidFill>
            <a:srgbClr val="FEEEC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Header</a:t>
            </a:r>
            <a:endParaRPr lang="zh-CN" altLang="en-US" sz="14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4" name="矩形 33"/>
          <p:cNvSpPr/>
          <p:nvPr/>
        </p:nvSpPr>
        <p:spPr bwMode="gray">
          <a:xfrm>
            <a:off x="8602456" y="5786815"/>
            <a:ext cx="898817" cy="410785"/>
          </a:xfrm>
          <a:prstGeom prst="rect">
            <a:avLst/>
          </a:prstGeom>
          <a:solidFill>
            <a:srgbClr val="56C4D2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14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Ethernet</a:t>
            </a:r>
          </a:p>
          <a:p>
            <a:pPr algn="ctr" defTabSz="914400"/>
            <a:r>
              <a:rPr lang="en-US" altLang="zh-CN" sz="14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Header</a:t>
            </a:r>
            <a:endParaRPr lang="zh-CN" altLang="en-US" sz="1400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15" name="直接连接符 55"/>
          <p:cNvCxnSpPr/>
          <p:nvPr/>
        </p:nvCxnSpPr>
        <p:spPr bwMode="gray">
          <a:xfrm rot="10800000" flipH="1">
            <a:off x="2069106" y="3690826"/>
            <a:ext cx="1039936" cy="0"/>
          </a:xfrm>
          <a:prstGeom prst="line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文本框 115"/>
          <p:cNvSpPr txBox="1"/>
          <p:nvPr/>
        </p:nvSpPr>
        <p:spPr bwMode="gray">
          <a:xfrm>
            <a:off x="1837027" y="3393175"/>
            <a:ext cx="12522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目的：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3.3.3.3</a:t>
            </a:r>
            <a:endParaRPr lang="zh-CN" altLang="en-US" sz="14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8" name="任意多边形 117"/>
          <p:cNvSpPr/>
          <p:nvPr/>
        </p:nvSpPr>
        <p:spPr bwMode="gray">
          <a:xfrm>
            <a:off x="2175611" y="3167484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56C4D2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1400" kern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9" name="任意多边形 118"/>
          <p:cNvSpPr/>
          <p:nvPr/>
        </p:nvSpPr>
        <p:spPr bwMode="gray">
          <a:xfrm>
            <a:off x="2535611" y="3167484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AFD89C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20" name="直接连接符 55"/>
          <p:cNvCxnSpPr/>
          <p:nvPr/>
        </p:nvCxnSpPr>
        <p:spPr bwMode="gray">
          <a:xfrm rot="10800000" flipH="1">
            <a:off x="2069106" y="4819500"/>
            <a:ext cx="1039936" cy="0"/>
          </a:xfrm>
          <a:prstGeom prst="line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文本框 120"/>
          <p:cNvSpPr txBox="1"/>
          <p:nvPr/>
        </p:nvSpPr>
        <p:spPr bwMode="gray">
          <a:xfrm>
            <a:off x="1837027" y="4521849"/>
            <a:ext cx="12522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目的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3.3.3.3</a:t>
            </a:r>
            <a:endParaRPr lang="zh-CN" altLang="en-US" sz="14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3" name="任意多边形 122"/>
          <p:cNvSpPr/>
          <p:nvPr/>
        </p:nvSpPr>
        <p:spPr bwMode="gray">
          <a:xfrm>
            <a:off x="2175611" y="4296158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56C4D2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1400" kern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4" name="任意多边形 123"/>
          <p:cNvSpPr/>
          <p:nvPr/>
        </p:nvSpPr>
        <p:spPr bwMode="gray">
          <a:xfrm>
            <a:off x="2535611" y="4296158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AFD89C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25" name="图片 124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324130" y="4891691"/>
            <a:ext cx="540000" cy="442800"/>
          </a:xfrm>
          <a:prstGeom prst="rect">
            <a:avLst/>
          </a:prstGeom>
        </p:spPr>
      </p:pic>
      <p:sp>
        <p:nvSpPr>
          <p:cNvPr id="126" name="TextBox 43"/>
          <p:cNvSpPr txBox="1"/>
          <p:nvPr/>
        </p:nvSpPr>
        <p:spPr bwMode="gray">
          <a:xfrm>
            <a:off x="4373729" y="5296391"/>
            <a:ext cx="405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R8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2" name="任意多边形 31"/>
          <p:cNvSpPr/>
          <p:nvPr/>
        </p:nvSpPr>
        <p:spPr bwMode="gray">
          <a:xfrm>
            <a:off x="3330852" y="2570208"/>
            <a:ext cx="5105400" cy="1282700"/>
          </a:xfrm>
          <a:custGeom>
            <a:avLst/>
            <a:gdLst>
              <a:gd name="connsiteX0" fmla="*/ 0 w 5105400"/>
              <a:gd name="connsiteY0" fmla="*/ 1270000 h 1282700"/>
              <a:gd name="connsiteX1" fmla="*/ 1295400 w 5105400"/>
              <a:gd name="connsiteY1" fmla="*/ 0 h 1282700"/>
              <a:gd name="connsiteX2" fmla="*/ 3822700 w 5105400"/>
              <a:gd name="connsiteY2" fmla="*/ 12700 h 1282700"/>
              <a:gd name="connsiteX3" fmla="*/ 5105400 w 5105400"/>
              <a:gd name="connsiteY3" fmla="*/ 1282700 h 128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05400" h="1282700">
                <a:moveTo>
                  <a:pt x="0" y="1270000"/>
                </a:moveTo>
                <a:lnTo>
                  <a:pt x="1295400" y="0"/>
                </a:lnTo>
                <a:lnTo>
                  <a:pt x="3822700" y="12700"/>
                </a:lnTo>
                <a:lnTo>
                  <a:pt x="5105400" y="1282700"/>
                </a:lnTo>
              </a:path>
            </a:pathLst>
          </a:cu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7" name="任意多边形 126"/>
          <p:cNvSpPr/>
          <p:nvPr/>
        </p:nvSpPr>
        <p:spPr bwMode="gray">
          <a:xfrm>
            <a:off x="3323923" y="4192553"/>
            <a:ext cx="5130800" cy="1104900"/>
          </a:xfrm>
          <a:custGeom>
            <a:avLst/>
            <a:gdLst>
              <a:gd name="connsiteX0" fmla="*/ 0 w 5130800"/>
              <a:gd name="connsiteY0" fmla="*/ 1092200 h 1104900"/>
              <a:gd name="connsiteX1" fmla="*/ 1257300 w 5130800"/>
              <a:gd name="connsiteY1" fmla="*/ 1104900 h 1104900"/>
              <a:gd name="connsiteX2" fmla="*/ 3886200 w 5130800"/>
              <a:gd name="connsiteY2" fmla="*/ 1104900 h 1104900"/>
              <a:gd name="connsiteX3" fmla="*/ 5130800 w 5130800"/>
              <a:gd name="connsiteY3" fmla="*/ 0 h 1104900"/>
              <a:gd name="connsiteX4" fmla="*/ 5130800 w 5130800"/>
              <a:gd name="connsiteY4" fmla="*/ 0 h 1104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0800" h="1104900">
                <a:moveTo>
                  <a:pt x="0" y="1092200"/>
                </a:moveTo>
                <a:lnTo>
                  <a:pt x="1257300" y="1104900"/>
                </a:lnTo>
                <a:lnTo>
                  <a:pt x="3886200" y="1104900"/>
                </a:lnTo>
                <a:lnTo>
                  <a:pt x="5130800" y="0"/>
                </a:lnTo>
                <a:lnTo>
                  <a:pt x="5130800" y="0"/>
                </a:lnTo>
              </a:path>
            </a:pathLst>
          </a:cu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8" name="文本框 127"/>
          <p:cNvSpPr txBox="1"/>
          <p:nvPr/>
        </p:nvSpPr>
        <p:spPr bwMode="gray">
          <a:xfrm>
            <a:off x="5594267" y="2238283"/>
            <a:ext cx="6511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LSP1</a:t>
            </a:r>
            <a:endParaRPr lang="zh-CN" altLang="en-US" sz="1600" b="1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9" name="文本框 128"/>
          <p:cNvSpPr txBox="1"/>
          <p:nvPr/>
        </p:nvSpPr>
        <p:spPr bwMode="gray">
          <a:xfrm>
            <a:off x="5595676" y="5270299"/>
            <a:ext cx="6511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LSP2</a:t>
            </a:r>
            <a:endParaRPr lang="zh-CN" altLang="en-US" sz="1600" b="1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3968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b="1" dirty="0" smtClean="0">
                <a:sym typeface="Huawei Sans" panose="020C0503030203020204" pitchFamily="34" charset="0"/>
              </a:rPr>
              <a:t>MPLS</a:t>
            </a:r>
            <a:r>
              <a:rPr lang="zh-CN" altLang="en-US" b="1" dirty="0" smtClean="0">
                <a:sym typeface="Huawei Sans" panose="020C0503030203020204" pitchFamily="34" charset="0"/>
              </a:rPr>
              <a:t>基础</a:t>
            </a:r>
            <a:endParaRPr lang="en-US" altLang="zh-CN" b="1" dirty="0" smtClean="0">
              <a:sym typeface="Huawei Sans" panose="020C0503030203020204" pitchFamily="34" charset="0"/>
            </a:endParaRPr>
          </a:p>
          <a:p>
            <a:pPr lvl="1"/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MPLS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概述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pPr lvl="1"/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MPLS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术语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pPr lvl="1">
              <a:buSzPct val="60000"/>
              <a:buFont typeface="Wingdings" panose="05000000000000000000" pitchFamily="2" charset="2"/>
              <a:buChar char="n"/>
            </a:pPr>
            <a:r>
              <a:rPr lang="en-US" altLang="zh-CN" dirty="0" smtClean="0">
                <a:sym typeface="Huawei Sans" panose="020C0503030203020204" pitchFamily="34" charset="0"/>
              </a:rPr>
              <a:t>MPLS</a:t>
            </a:r>
            <a:r>
              <a:rPr lang="zh-CN" altLang="en-US" dirty="0" smtClean="0">
                <a:sym typeface="Huawei Sans" panose="020C0503030203020204" pitchFamily="34" charset="0"/>
              </a:rPr>
              <a:t>标签</a:t>
            </a:r>
            <a:endParaRPr lang="en-US" altLang="zh-CN" dirty="0" smtClean="0">
              <a:sym typeface="Huawei Sans" panose="020C0503030203020204" pitchFamily="34" charset="0"/>
            </a:endParaRPr>
          </a:p>
          <a:p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MPLS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基本原理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静态</a:t>
            </a:r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LSP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配置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endParaRPr lang="zh-CN" altLang="en-US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5474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>
                <a:sym typeface="Huawei Sans" panose="020C0503030203020204" pitchFamily="34" charset="0"/>
              </a:rPr>
              <a:t>MPLS</a:t>
            </a:r>
            <a:r>
              <a:rPr lang="zh-CN" altLang="en-US" smtClean="0">
                <a:sym typeface="Huawei Sans" panose="020C0503030203020204" pitchFamily="34" charset="0"/>
              </a:rPr>
              <a:t>标签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smtClean="0">
                <a:sym typeface="Huawei Sans" panose="020C0503030203020204" pitchFamily="34" charset="0"/>
              </a:rPr>
              <a:t>IP</a:t>
            </a:r>
            <a:r>
              <a:rPr lang="zh-CN" altLang="en-US" sz="1800" smtClean="0">
                <a:sym typeface="Huawei Sans" panose="020C0503030203020204" pitchFamily="34" charset="0"/>
              </a:rPr>
              <a:t>报文进入</a:t>
            </a:r>
            <a:r>
              <a:rPr lang="en-US" altLang="zh-CN" sz="1800" smtClean="0">
                <a:sym typeface="Huawei Sans" panose="020C0503030203020204" pitchFamily="34" charset="0"/>
              </a:rPr>
              <a:t>MPLS</a:t>
            </a:r>
            <a:r>
              <a:rPr lang="zh-CN" altLang="en-US" sz="1800" smtClean="0">
                <a:sym typeface="Huawei Sans" panose="020C0503030203020204" pitchFamily="34" charset="0"/>
              </a:rPr>
              <a:t>域之前，会被入站</a:t>
            </a:r>
            <a:r>
              <a:rPr lang="en-US" altLang="zh-CN" sz="1800" smtClean="0">
                <a:sym typeface="Huawei Sans" panose="020C0503030203020204" pitchFamily="34" charset="0"/>
              </a:rPr>
              <a:t>LSR</a:t>
            </a:r>
            <a:r>
              <a:rPr lang="zh-CN" altLang="en-US" sz="1800" smtClean="0">
                <a:sym typeface="Huawei Sans" panose="020C0503030203020204" pitchFamily="34" charset="0"/>
              </a:rPr>
              <a:t>压入</a:t>
            </a:r>
            <a:r>
              <a:rPr lang="en-US" altLang="zh-CN" sz="1800" smtClean="0">
                <a:sym typeface="Huawei Sans" panose="020C0503030203020204" pitchFamily="34" charset="0"/>
              </a:rPr>
              <a:t>MPLS</a:t>
            </a:r>
            <a:r>
              <a:rPr lang="zh-CN" altLang="en-US" sz="1800" smtClean="0">
                <a:sym typeface="Huawei Sans" panose="020C0503030203020204" pitchFamily="34" charset="0"/>
              </a:rPr>
              <a:t>头部（又叫</a:t>
            </a:r>
            <a:r>
              <a:rPr lang="en-US" altLang="zh-CN" sz="1800" smtClean="0">
                <a:sym typeface="Huawei Sans" panose="020C0503030203020204" pitchFamily="34" charset="0"/>
              </a:rPr>
              <a:t>MPLS</a:t>
            </a:r>
            <a:r>
              <a:rPr lang="zh-CN" altLang="en-US" sz="1800" smtClean="0">
                <a:sym typeface="Huawei Sans" panose="020C0503030203020204" pitchFamily="34" charset="0"/>
              </a:rPr>
              <a:t>标签），形成一个</a:t>
            </a:r>
            <a:r>
              <a:rPr lang="en-US" altLang="zh-CN" sz="1800" smtClean="0">
                <a:sym typeface="Huawei Sans" panose="020C0503030203020204" pitchFamily="34" charset="0"/>
              </a:rPr>
              <a:t>MPLS</a:t>
            </a:r>
            <a:r>
              <a:rPr lang="zh-CN" altLang="en-US" sz="1800" smtClean="0">
                <a:sym typeface="Huawei Sans" panose="020C0503030203020204" pitchFamily="34" charset="0"/>
              </a:rPr>
              <a:t>标签报文。一个标签报文可以包含一个或多个</a:t>
            </a:r>
            <a:r>
              <a:rPr lang="en-US" altLang="zh-CN" sz="1800" smtClean="0">
                <a:sym typeface="Huawei Sans" panose="020C0503030203020204" pitchFamily="34" charset="0"/>
              </a:rPr>
              <a:t>MPLS</a:t>
            </a:r>
            <a:r>
              <a:rPr lang="zh-CN" altLang="en-US" sz="1800" smtClean="0">
                <a:sym typeface="Huawei Sans" panose="020C0503030203020204" pitchFamily="34" charset="0"/>
              </a:rPr>
              <a:t>标签。</a:t>
            </a:r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 bwMode="gray">
          <a:xfrm>
            <a:off x="6256952" y="2334779"/>
            <a:ext cx="5492136" cy="3884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标签（</a:t>
            </a: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Label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）：用于携带标签值，长度</a:t>
            </a: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20 bit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6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EXP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Experimental Use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）：主要用于</a:t>
            </a:r>
            <a:r>
              <a:rPr lang="en-US" altLang="zh-CN" sz="1600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CoS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</a:t>
            </a: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Class of Service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），长度</a:t>
            </a: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 bit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6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Bottom of Stack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）：栈底位，用于指示该标签头部是否为最后一层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标签，长度</a:t>
            </a: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 bit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如果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该字段为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，则表示当前标签头部为栈底；如果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该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字段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为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0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，则表示当前标签头部之后依然还有其他标签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头部。</a:t>
            </a:r>
            <a:endParaRPr lang="en-US" altLang="zh-CN" sz="16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TTL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</a:t>
            </a: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Time To Live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：用于当网络出现环路时，防止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标签报文被无限制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转发，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与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报文头部中的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TTL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具有相同的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意义，长度</a:t>
            </a: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8 bit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zh-CN" altLang="en-US" sz="16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矩形 4"/>
          <p:cNvSpPr/>
          <p:nvPr/>
        </p:nvSpPr>
        <p:spPr bwMode="gray">
          <a:xfrm>
            <a:off x="3933783" y="3107354"/>
            <a:ext cx="989995" cy="43564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头部</a:t>
            </a:r>
          </a:p>
        </p:txBody>
      </p:sp>
      <p:sp>
        <p:nvSpPr>
          <p:cNvPr id="25" name="矩形 4"/>
          <p:cNvSpPr/>
          <p:nvPr/>
        </p:nvSpPr>
        <p:spPr bwMode="gray">
          <a:xfrm>
            <a:off x="4923778" y="3107354"/>
            <a:ext cx="989995" cy="43564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</a:t>
            </a:r>
            <a:r>
              <a: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载荷</a:t>
            </a:r>
          </a:p>
        </p:txBody>
      </p:sp>
      <p:sp>
        <p:nvSpPr>
          <p:cNvPr id="26" name="矩形 4"/>
          <p:cNvSpPr/>
          <p:nvPr/>
        </p:nvSpPr>
        <p:spPr bwMode="gray">
          <a:xfrm>
            <a:off x="1953793" y="3107354"/>
            <a:ext cx="989995" cy="43564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二层帧头</a:t>
            </a:r>
          </a:p>
        </p:txBody>
      </p:sp>
      <p:sp>
        <p:nvSpPr>
          <p:cNvPr id="28" name="矩形 4"/>
          <p:cNvSpPr/>
          <p:nvPr/>
        </p:nvSpPr>
        <p:spPr bwMode="gray">
          <a:xfrm>
            <a:off x="2943788" y="3107354"/>
            <a:ext cx="989995" cy="435648"/>
          </a:xfrm>
          <a:prstGeom prst="rect">
            <a:avLst/>
          </a:prstGeom>
          <a:solidFill>
            <a:srgbClr val="FFF2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标签头部</a:t>
            </a:r>
          </a:p>
        </p:txBody>
      </p:sp>
      <p:sp>
        <p:nvSpPr>
          <p:cNvPr id="34" name="Rectangle 33"/>
          <p:cNvSpPr/>
          <p:nvPr/>
        </p:nvSpPr>
        <p:spPr bwMode="gray">
          <a:xfrm>
            <a:off x="393425" y="3145756"/>
            <a:ext cx="152638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标签报文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" name="下箭头 63"/>
          <p:cNvSpPr/>
          <p:nvPr/>
        </p:nvSpPr>
        <p:spPr bwMode="gray">
          <a:xfrm flipV="1">
            <a:off x="707093" y="3585120"/>
            <a:ext cx="5390886" cy="778975"/>
          </a:xfrm>
          <a:custGeom>
            <a:avLst/>
            <a:gdLst>
              <a:gd name="connsiteX0" fmla="*/ 0 w 1035535"/>
              <a:gd name="connsiteY0" fmla="*/ 468495 h 794114"/>
              <a:gd name="connsiteX1" fmla="*/ 258884 w 1035535"/>
              <a:gd name="connsiteY1" fmla="*/ 468495 h 794114"/>
              <a:gd name="connsiteX2" fmla="*/ 258884 w 1035535"/>
              <a:gd name="connsiteY2" fmla="*/ 0 h 794114"/>
              <a:gd name="connsiteX3" fmla="*/ 776651 w 1035535"/>
              <a:gd name="connsiteY3" fmla="*/ 0 h 794114"/>
              <a:gd name="connsiteX4" fmla="*/ 776651 w 1035535"/>
              <a:gd name="connsiteY4" fmla="*/ 468495 h 794114"/>
              <a:gd name="connsiteX5" fmla="*/ 1035535 w 1035535"/>
              <a:gd name="connsiteY5" fmla="*/ 468495 h 794114"/>
              <a:gd name="connsiteX6" fmla="*/ 517768 w 1035535"/>
              <a:gd name="connsiteY6" fmla="*/ 794114 h 794114"/>
              <a:gd name="connsiteX7" fmla="*/ 0 w 1035535"/>
              <a:gd name="connsiteY7" fmla="*/ 468495 h 794114"/>
              <a:gd name="connsiteX0" fmla="*/ 258884 w 1035535"/>
              <a:gd name="connsiteY0" fmla="*/ 0 h 794114"/>
              <a:gd name="connsiteX1" fmla="*/ 776651 w 1035535"/>
              <a:gd name="connsiteY1" fmla="*/ 0 h 794114"/>
              <a:gd name="connsiteX2" fmla="*/ 776651 w 1035535"/>
              <a:gd name="connsiteY2" fmla="*/ 468495 h 794114"/>
              <a:gd name="connsiteX3" fmla="*/ 1035535 w 1035535"/>
              <a:gd name="connsiteY3" fmla="*/ 468495 h 794114"/>
              <a:gd name="connsiteX4" fmla="*/ 517768 w 1035535"/>
              <a:gd name="connsiteY4" fmla="*/ 794114 h 794114"/>
              <a:gd name="connsiteX5" fmla="*/ 0 w 1035535"/>
              <a:gd name="connsiteY5" fmla="*/ 468495 h 794114"/>
              <a:gd name="connsiteX6" fmla="*/ 258884 w 1035535"/>
              <a:gd name="connsiteY6" fmla="*/ 468495 h 794114"/>
              <a:gd name="connsiteX7" fmla="*/ 350324 w 1035535"/>
              <a:gd name="connsiteY7" fmla="*/ 91440 h 794114"/>
              <a:gd name="connsiteX0" fmla="*/ 258884 w 1035535"/>
              <a:gd name="connsiteY0" fmla="*/ 0 h 794114"/>
              <a:gd name="connsiteX1" fmla="*/ 776651 w 1035535"/>
              <a:gd name="connsiteY1" fmla="*/ 468495 h 794114"/>
              <a:gd name="connsiteX2" fmla="*/ 1035535 w 1035535"/>
              <a:gd name="connsiteY2" fmla="*/ 468495 h 794114"/>
              <a:gd name="connsiteX3" fmla="*/ 517768 w 1035535"/>
              <a:gd name="connsiteY3" fmla="*/ 794114 h 794114"/>
              <a:gd name="connsiteX4" fmla="*/ 0 w 1035535"/>
              <a:gd name="connsiteY4" fmla="*/ 468495 h 794114"/>
              <a:gd name="connsiteX5" fmla="*/ 258884 w 1035535"/>
              <a:gd name="connsiteY5" fmla="*/ 468495 h 794114"/>
              <a:gd name="connsiteX6" fmla="*/ 350324 w 1035535"/>
              <a:gd name="connsiteY6" fmla="*/ 91440 h 794114"/>
              <a:gd name="connsiteX0" fmla="*/ 1016121 w 1035535"/>
              <a:gd name="connsiteY0" fmla="*/ 0 h 794114"/>
              <a:gd name="connsiteX1" fmla="*/ 776651 w 1035535"/>
              <a:gd name="connsiteY1" fmla="*/ 468495 h 794114"/>
              <a:gd name="connsiteX2" fmla="*/ 1035535 w 1035535"/>
              <a:gd name="connsiteY2" fmla="*/ 468495 h 794114"/>
              <a:gd name="connsiteX3" fmla="*/ 517768 w 1035535"/>
              <a:gd name="connsiteY3" fmla="*/ 794114 h 794114"/>
              <a:gd name="connsiteX4" fmla="*/ 0 w 1035535"/>
              <a:gd name="connsiteY4" fmla="*/ 468495 h 794114"/>
              <a:gd name="connsiteX5" fmla="*/ 258884 w 1035535"/>
              <a:gd name="connsiteY5" fmla="*/ 468495 h 794114"/>
              <a:gd name="connsiteX6" fmla="*/ 350324 w 1035535"/>
              <a:gd name="connsiteY6" fmla="*/ 91440 h 794114"/>
              <a:gd name="connsiteX0" fmla="*/ 1018222 w 1037636"/>
              <a:gd name="connsiteY0" fmla="*/ 0 h 794114"/>
              <a:gd name="connsiteX1" fmla="*/ 778752 w 1037636"/>
              <a:gd name="connsiteY1" fmla="*/ 468495 h 794114"/>
              <a:gd name="connsiteX2" fmla="*/ 1037636 w 1037636"/>
              <a:gd name="connsiteY2" fmla="*/ 468495 h 794114"/>
              <a:gd name="connsiteX3" fmla="*/ 519869 w 1037636"/>
              <a:gd name="connsiteY3" fmla="*/ 794114 h 794114"/>
              <a:gd name="connsiteX4" fmla="*/ 2101 w 1037636"/>
              <a:gd name="connsiteY4" fmla="*/ 468495 h 794114"/>
              <a:gd name="connsiteX5" fmla="*/ 260985 w 1037636"/>
              <a:gd name="connsiteY5" fmla="*/ 468495 h 794114"/>
              <a:gd name="connsiteX6" fmla="*/ 0 w 1037636"/>
              <a:gd name="connsiteY6" fmla="*/ 86678 h 794114"/>
              <a:gd name="connsiteX0" fmla="*/ 1027747 w 1047161"/>
              <a:gd name="connsiteY0" fmla="*/ 0 h 794114"/>
              <a:gd name="connsiteX1" fmla="*/ 788277 w 1047161"/>
              <a:gd name="connsiteY1" fmla="*/ 468495 h 794114"/>
              <a:gd name="connsiteX2" fmla="*/ 1047161 w 1047161"/>
              <a:gd name="connsiteY2" fmla="*/ 468495 h 794114"/>
              <a:gd name="connsiteX3" fmla="*/ 529394 w 1047161"/>
              <a:gd name="connsiteY3" fmla="*/ 794114 h 794114"/>
              <a:gd name="connsiteX4" fmla="*/ 11626 w 1047161"/>
              <a:gd name="connsiteY4" fmla="*/ 468495 h 794114"/>
              <a:gd name="connsiteX5" fmla="*/ 270510 w 1047161"/>
              <a:gd name="connsiteY5" fmla="*/ 468495 h 794114"/>
              <a:gd name="connsiteX6" fmla="*/ 0 w 1047161"/>
              <a:gd name="connsiteY6" fmla="*/ 10478 h 794114"/>
              <a:gd name="connsiteX0" fmla="*/ 1016121 w 1035535"/>
              <a:gd name="connsiteY0" fmla="*/ 13335 h 807449"/>
              <a:gd name="connsiteX1" fmla="*/ 776651 w 1035535"/>
              <a:gd name="connsiteY1" fmla="*/ 481830 h 807449"/>
              <a:gd name="connsiteX2" fmla="*/ 1035535 w 1035535"/>
              <a:gd name="connsiteY2" fmla="*/ 481830 h 807449"/>
              <a:gd name="connsiteX3" fmla="*/ 517768 w 1035535"/>
              <a:gd name="connsiteY3" fmla="*/ 807449 h 807449"/>
              <a:gd name="connsiteX4" fmla="*/ 0 w 1035535"/>
              <a:gd name="connsiteY4" fmla="*/ 481830 h 807449"/>
              <a:gd name="connsiteX5" fmla="*/ 258884 w 1035535"/>
              <a:gd name="connsiteY5" fmla="*/ 481830 h 807449"/>
              <a:gd name="connsiteX6" fmla="*/ 12187 w 1035535"/>
              <a:gd name="connsiteY6" fmla="*/ 0 h 807449"/>
              <a:gd name="connsiteX0" fmla="*/ 1016121 w 1035535"/>
              <a:gd name="connsiteY0" fmla="*/ 13335 h 807449"/>
              <a:gd name="connsiteX1" fmla="*/ 776651 w 1035535"/>
              <a:gd name="connsiteY1" fmla="*/ 481830 h 807449"/>
              <a:gd name="connsiteX2" fmla="*/ 1035535 w 1035535"/>
              <a:gd name="connsiteY2" fmla="*/ 481830 h 807449"/>
              <a:gd name="connsiteX3" fmla="*/ 517768 w 1035535"/>
              <a:gd name="connsiteY3" fmla="*/ 807449 h 807449"/>
              <a:gd name="connsiteX4" fmla="*/ 0 w 1035535"/>
              <a:gd name="connsiteY4" fmla="*/ 481830 h 807449"/>
              <a:gd name="connsiteX5" fmla="*/ 392234 w 1035535"/>
              <a:gd name="connsiteY5" fmla="*/ 486592 h 807449"/>
              <a:gd name="connsiteX6" fmla="*/ 12187 w 1035535"/>
              <a:gd name="connsiteY6" fmla="*/ 0 h 807449"/>
              <a:gd name="connsiteX0" fmla="*/ 1016121 w 1035535"/>
              <a:gd name="connsiteY0" fmla="*/ 13335 h 807449"/>
              <a:gd name="connsiteX1" fmla="*/ 619488 w 1035535"/>
              <a:gd name="connsiteY1" fmla="*/ 481830 h 807449"/>
              <a:gd name="connsiteX2" fmla="*/ 1035535 w 1035535"/>
              <a:gd name="connsiteY2" fmla="*/ 481830 h 807449"/>
              <a:gd name="connsiteX3" fmla="*/ 517768 w 1035535"/>
              <a:gd name="connsiteY3" fmla="*/ 807449 h 807449"/>
              <a:gd name="connsiteX4" fmla="*/ 0 w 1035535"/>
              <a:gd name="connsiteY4" fmla="*/ 481830 h 807449"/>
              <a:gd name="connsiteX5" fmla="*/ 392234 w 1035535"/>
              <a:gd name="connsiteY5" fmla="*/ 486592 h 807449"/>
              <a:gd name="connsiteX6" fmla="*/ 12187 w 1035535"/>
              <a:gd name="connsiteY6" fmla="*/ 0 h 807449"/>
              <a:gd name="connsiteX0" fmla="*/ 1016121 w 1035535"/>
              <a:gd name="connsiteY0" fmla="*/ 13335 h 807449"/>
              <a:gd name="connsiteX1" fmla="*/ 619488 w 1035535"/>
              <a:gd name="connsiteY1" fmla="*/ 481830 h 807449"/>
              <a:gd name="connsiteX2" fmla="*/ 1035535 w 1035535"/>
              <a:gd name="connsiteY2" fmla="*/ 481830 h 807449"/>
              <a:gd name="connsiteX3" fmla="*/ 517768 w 1035535"/>
              <a:gd name="connsiteY3" fmla="*/ 807449 h 807449"/>
              <a:gd name="connsiteX4" fmla="*/ 0 w 1035535"/>
              <a:gd name="connsiteY4" fmla="*/ 481830 h 807449"/>
              <a:gd name="connsiteX5" fmla="*/ 392234 w 1035535"/>
              <a:gd name="connsiteY5" fmla="*/ 486592 h 807449"/>
              <a:gd name="connsiteX6" fmla="*/ 12187 w 1035535"/>
              <a:gd name="connsiteY6" fmla="*/ 0 h 807449"/>
              <a:gd name="connsiteX0" fmla="*/ 1016121 w 1035535"/>
              <a:gd name="connsiteY0" fmla="*/ 13335 h 807449"/>
              <a:gd name="connsiteX1" fmla="*/ 619488 w 1035535"/>
              <a:gd name="connsiteY1" fmla="*/ 481830 h 807449"/>
              <a:gd name="connsiteX2" fmla="*/ 1035535 w 1035535"/>
              <a:gd name="connsiteY2" fmla="*/ 481830 h 807449"/>
              <a:gd name="connsiteX3" fmla="*/ 517768 w 1035535"/>
              <a:gd name="connsiteY3" fmla="*/ 807449 h 807449"/>
              <a:gd name="connsiteX4" fmla="*/ 0 w 1035535"/>
              <a:gd name="connsiteY4" fmla="*/ 481830 h 807449"/>
              <a:gd name="connsiteX5" fmla="*/ 392234 w 1035535"/>
              <a:gd name="connsiteY5" fmla="*/ 486592 h 807449"/>
              <a:gd name="connsiteX6" fmla="*/ 12187 w 1035535"/>
              <a:gd name="connsiteY6" fmla="*/ 0 h 807449"/>
              <a:gd name="connsiteX0" fmla="*/ 1044696 w 1044696"/>
              <a:gd name="connsiteY0" fmla="*/ 0 h 832214"/>
              <a:gd name="connsiteX1" fmla="*/ 619488 w 1044696"/>
              <a:gd name="connsiteY1" fmla="*/ 506595 h 832214"/>
              <a:gd name="connsiteX2" fmla="*/ 1035535 w 1044696"/>
              <a:gd name="connsiteY2" fmla="*/ 506595 h 832214"/>
              <a:gd name="connsiteX3" fmla="*/ 517768 w 1044696"/>
              <a:gd name="connsiteY3" fmla="*/ 832214 h 832214"/>
              <a:gd name="connsiteX4" fmla="*/ 0 w 1044696"/>
              <a:gd name="connsiteY4" fmla="*/ 506595 h 832214"/>
              <a:gd name="connsiteX5" fmla="*/ 392234 w 1044696"/>
              <a:gd name="connsiteY5" fmla="*/ 511357 h 832214"/>
              <a:gd name="connsiteX6" fmla="*/ 12187 w 1044696"/>
              <a:gd name="connsiteY6" fmla="*/ 24765 h 832214"/>
              <a:gd name="connsiteX0" fmla="*/ 1032509 w 1032509"/>
              <a:gd name="connsiteY0" fmla="*/ 0 h 832214"/>
              <a:gd name="connsiteX1" fmla="*/ 607301 w 1032509"/>
              <a:gd name="connsiteY1" fmla="*/ 506595 h 832214"/>
              <a:gd name="connsiteX2" fmla="*/ 1023348 w 1032509"/>
              <a:gd name="connsiteY2" fmla="*/ 506595 h 832214"/>
              <a:gd name="connsiteX3" fmla="*/ 505581 w 1032509"/>
              <a:gd name="connsiteY3" fmla="*/ 832214 h 832214"/>
              <a:gd name="connsiteX4" fmla="*/ 237844 w 1032509"/>
              <a:gd name="connsiteY4" fmla="*/ 508976 h 832214"/>
              <a:gd name="connsiteX5" fmla="*/ 380047 w 1032509"/>
              <a:gd name="connsiteY5" fmla="*/ 511357 h 832214"/>
              <a:gd name="connsiteX6" fmla="*/ 0 w 1032509"/>
              <a:gd name="connsiteY6" fmla="*/ 24765 h 832214"/>
              <a:gd name="connsiteX0" fmla="*/ 1032509 w 1032509"/>
              <a:gd name="connsiteY0" fmla="*/ 0 h 832214"/>
              <a:gd name="connsiteX1" fmla="*/ 607301 w 1032509"/>
              <a:gd name="connsiteY1" fmla="*/ 506595 h 832214"/>
              <a:gd name="connsiteX2" fmla="*/ 804276 w 1032509"/>
              <a:gd name="connsiteY2" fmla="*/ 513741 h 832214"/>
              <a:gd name="connsiteX3" fmla="*/ 505581 w 1032509"/>
              <a:gd name="connsiteY3" fmla="*/ 832214 h 832214"/>
              <a:gd name="connsiteX4" fmla="*/ 237844 w 1032509"/>
              <a:gd name="connsiteY4" fmla="*/ 508976 h 832214"/>
              <a:gd name="connsiteX5" fmla="*/ 380047 w 1032509"/>
              <a:gd name="connsiteY5" fmla="*/ 511357 h 832214"/>
              <a:gd name="connsiteX6" fmla="*/ 0 w 1032509"/>
              <a:gd name="connsiteY6" fmla="*/ 24765 h 832214"/>
              <a:gd name="connsiteX0" fmla="*/ 1032509 w 1032509"/>
              <a:gd name="connsiteY0" fmla="*/ 0 h 722679"/>
              <a:gd name="connsiteX1" fmla="*/ 607301 w 1032509"/>
              <a:gd name="connsiteY1" fmla="*/ 506595 h 722679"/>
              <a:gd name="connsiteX2" fmla="*/ 804276 w 1032509"/>
              <a:gd name="connsiteY2" fmla="*/ 513741 h 722679"/>
              <a:gd name="connsiteX3" fmla="*/ 507965 w 1032509"/>
              <a:gd name="connsiteY3" fmla="*/ 722679 h 722679"/>
              <a:gd name="connsiteX4" fmla="*/ 237844 w 1032509"/>
              <a:gd name="connsiteY4" fmla="*/ 508976 h 722679"/>
              <a:gd name="connsiteX5" fmla="*/ 380047 w 1032509"/>
              <a:gd name="connsiteY5" fmla="*/ 511357 h 722679"/>
              <a:gd name="connsiteX6" fmla="*/ 0 w 1032509"/>
              <a:gd name="connsiteY6" fmla="*/ 24765 h 722679"/>
              <a:gd name="connsiteX0" fmla="*/ 1032509 w 1032509"/>
              <a:gd name="connsiteY0" fmla="*/ 0 h 722679"/>
              <a:gd name="connsiteX1" fmla="*/ 607301 w 1032509"/>
              <a:gd name="connsiteY1" fmla="*/ 506595 h 722679"/>
              <a:gd name="connsiteX2" fmla="*/ 804276 w 1032509"/>
              <a:gd name="connsiteY2" fmla="*/ 513741 h 722679"/>
              <a:gd name="connsiteX3" fmla="*/ 498440 w 1032509"/>
              <a:gd name="connsiteY3" fmla="*/ 722679 h 722679"/>
              <a:gd name="connsiteX4" fmla="*/ 237844 w 1032509"/>
              <a:gd name="connsiteY4" fmla="*/ 508976 h 722679"/>
              <a:gd name="connsiteX5" fmla="*/ 380047 w 1032509"/>
              <a:gd name="connsiteY5" fmla="*/ 511357 h 722679"/>
              <a:gd name="connsiteX6" fmla="*/ 0 w 1032509"/>
              <a:gd name="connsiteY6" fmla="*/ 24765 h 722679"/>
              <a:gd name="connsiteX0" fmla="*/ 1032509 w 1032509"/>
              <a:gd name="connsiteY0" fmla="*/ 0 h 722679"/>
              <a:gd name="connsiteX1" fmla="*/ 607301 w 1032509"/>
              <a:gd name="connsiteY1" fmla="*/ 506595 h 722679"/>
              <a:gd name="connsiteX2" fmla="*/ 792369 w 1032509"/>
              <a:gd name="connsiteY2" fmla="*/ 515732 h 722679"/>
              <a:gd name="connsiteX3" fmla="*/ 498440 w 1032509"/>
              <a:gd name="connsiteY3" fmla="*/ 722679 h 722679"/>
              <a:gd name="connsiteX4" fmla="*/ 237844 w 1032509"/>
              <a:gd name="connsiteY4" fmla="*/ 508976 h 722679"/>
              <a:gd name="connsiteX5" fmla="*/ 380047 w 1032509"/>
              <a:gd name="connsiteY5" fmla="*/ 511357 h 722679"/>
              <a:gd name="connsiteX6" fmla="*/ 0 w 1032509"/>
              <a:gd name="connsiteY6" fmla="*/ 24765 h 722679"/>
              <a:gd name="connsiteX0" fmla="*/ 1032509 w 1032509"/>
              <a:gd name="connsiteY0" fmla="*/ 0 h 720688"/>
              <a:gd name="connsiteX1" fmla="*/ 607301 w 1032509"/>
              <a:gd name="connsiteY1" fmla="*/ 506595 h 720688"/>
              <a:gd name="connsiteX2" fmla="*/ 792369 w 1032509"/>
              <a:gd name="connsiteY2" fmla="*/ 515732 h 720688"/>
              <a:gd name="connsiteX3" fmla="*/ 503202 w 1032509"/>
              <a:gd name="connsiteY3" fmla="*/ 720688 h 720688"/>
              <a:gd name="connsiteX4" fmla="*/ 237844 w 1032509"/>
              <a:gd name="connsiteY4" fmla="*/ 508976 h 720688"/>
              <a:gd name="connsiteX5" fmla="*/ 380047 w 1032509"/>
              <a:gd name="connsiteY5" fmla="*/ 511357 h 720688"/>
              <a:gd name="connsiteX6" fmla="*/ 0 w 1032509"/>
              <a:gd name="connsiteY6" fmla="*/ 24765 h 720688"/>
              <a:gd name="connsiteX0" fmla="*/ 1044414 w 1044414"/>
              <a:gd name="connsiteY0" fmla="*/ 0 h 720688"/>
              <a:gd name="connsiteX1" fmla="*/ 619206 w 1044414"/>
              <a:gd name="connsiteY1" fmla="*/ 506595 h 720688"/>
              <a:gd name="connsiteX2" fmla="*/ 804274 w 1044414"/>
              <a:gd name="connsiteY2" fmla="*/ 515732 h 720688"/>
              <a:gd name="connsiteX3" fmla="*/ 515107 w 1044414"/>
              <a:gd name="connsiteY3" fmla="*/ 720688 h 720688"/>
              <a:gd name="connsiteX4" fmla="*/ 249749 w 1044414"/>
              <a:gd name="connsiteY4" fmla="*/ 508976 h 720688"/>
              <a:gd name="connsiteX5" fmla="*/ 391952 w 1044414"/>
              <a:gd name="connsiteY5" fmla="*/ 511357 h 720688"/>
              <a:gd name="connsiteX6" fmla="*/ 0 w 1044414"/>
              <a:gd name="connsiteY6" fmla="*/ 4852 h 720688"/>
              <a:gd name="connsiteX0" fmla="*/ 1082514 w 1082514"/>
              <a:gd name="connsiteY0" fmla="*/ 0 h 722679"/>
              <a:gd name="connsiteX1" fmla="*/ 619206 w 1082514"/>
              <a:gd name="connsiteY1" fmla="*/ 508586 h 722679"/>
              <a:gd name="connsiteX2" fmla="*/ 804274 w 1082514"/>
              <a:gd name="connsiteY2" fmla="*/ 517723 h 722679"/>
              <a:gd name="connsiteX3" fmla="*/ 515107 w 1082514"/>
              <a:gd name="connsiteY3" fmla="*/ 722679 h 722679"/>
              <a:gd name="connsiteX4" fmla="*/ 249749 w 1082514"/>
              <a:gd name="connsiteY4" fmla="*/ 510967 h 722679"/>
              <a:gd name="connsiteX5" fmla="*/ 391952 w 1082514"/>
              <a:gd name="connsiteY5" fmla="*/ 513348 h 722679"/>
              <a:gd name="connsiteX6" fmla="*/ 0 w 1082514"/>
              <a:gd name="connsiteY6" fmla="*/ 6843 h 722679"/>
              <a:gd name="connsiteX0" fmla="*/ 1082514 w 1082514"/>
              <a:gd name="connsiteY0" fmla="*/ 0 h 724672"/>
              <a:gd name="connsiteX1" fmla="*/ 619206 w 1082514"/>
              <a:gd name="connsiteY1" fmla="*/ 508586 h 724672"/>
              <a:gd name="connsiteX2" fmla="*/ 804274 w 1082514"/>
              <a:gd name="connsiteY2" fmla="*/ 517723 h 724672"/>
              <a:gd name="connsiteX3" fmla="*/ 534160 w 1082514"/>
              <a:gd name="connsiteY3" fmla="*/ 724672 h 724672"/>
              <a:gd name="connsiteX4" fmla="*/ 249749 w 1082514"/>
              <a:gd name="connsiteY4" fmla="*/ 510967 h 724672"/>
              <a:gd name="connsiteX5" fmla="*/ 391952 w 1082514"/>
              <a:gd name="connsiteY5" fmla="*/ 513348 h 724672"/>
              <a:gd name="connsiteX6" fmla="*/ 0 w 1082514"/>
              <a:gd name="connsiteY6" fmla="*/ 6843 h 724672"/>
              <a:gd name="connsiteX0" fmla="*/ 1082514 w 1082514"/>
              <a:gd name="connsiteY0" fmla="*/ 0 h 724672"/>
              <a:gd name="connsiteX1" fmla="*/ 619206 w 1082514"/>
              <a:gd name="connsiteY1" fmla="*/ 508586 h 724672"/>
              <a:gd name="connsiteX2" fmla="*/ 804274 w 1082514"/>
              <a:gd name="connsiteY2" fmla="*/ 517723 h 724672"/>
              <a:gd name="connsiteX3" fmla="*/ 534160 w 1082514"/>
              <a:gd name="connsiteY3" fmla="*/ 724672 h 724672"/>
              <a:gd name="connsiteX4" fmla="*/ 249749 w 1082514"/>
              <a:gd name="connsiteY4" fmla="*/ 510967 h 724672"/>
              <a:gd name="connsiteX5" fmla="*/ 380046 w 1082514"/>
              <a:gd name="connsiteY5" fmla="*/ 533263 h 724672"/>
              <a:gd name="connsiteX6" fmla="*/ 0 w 1082514"/>
              <a:gd name="connsiteY6" fmla="*/ 6843 h 724672"/>
              <a:gd name="connsiteX0" fmla="*/ 1082514 w 1082514"/>
              <a:gd name="connsiteY0" fmla="*/ 0 h 724672"/>
              <a:gd name="connsiteX1" fmla="*/ 619206 w 1082514"/>
              <a:gd name="connsiteY1" fmla="*/ 508586 h 724672"/>
              <a:gd name="connsiteX2" fmla="*/ 804274 w 1082514"/>
              <a:gd name="connsiteY2" fmla="*/ 517723 h 724672"/>
              <a:gd name="connsiteX3" fmla="*/ 534160 w 1082514"/>
              <a:gd name="connsiteY3" fmla="*/ 724672 h 724672"/>
              <a:gd name="connsiteX4" fmla="*/ 249749 w 1082514"/>
              <a:gd name="connsiteY4" fmla="*/ 510967 h 724672"/>
              <a:gd name="connsiteX5" fmla="*/ 380046 w 1082514"/>
              <a:gd name="connsiteY5" fmla="*/ 533263 h 724672"/>
              <a:gd name="connsiteX6" fmla="*/ 0 w 1082514"/>
              <a:gd name="connsiteY6" fmla="*/ 6843 h 724672"/>
              <a:gd name="connsiteX0" fmla="*/ 1082514 w 1082514"/>
              <a:gd name="connsiteY0" fmla="*/ 0 h 724672"/>
              <a:gd name="connsiteX1" fmla="*/ 619206 w 1082514"/>
              <a:gd name="connsiteY1" fmla="*/ 508586 h 724672"/>
              <a:gd name="connsiteX2" fmla="*/ 804274 w 1082514"/>
              <a:gd name="connsiteY2" fmla="*/ 517723 h 724672"/>
              <a:gd name="connsiteX3" fmla="*/ 534160 w 1082514"/>
              <a:gd name="connsiteY3" fmla="*/ 724672 h 724672"/>
              <a:gd name="connsiteX4" fmla="*/ 249749 w 1082514"/>
              <a:gd name="connsiteY4" fmla="*/ 510967 h 724672"/>
              <a:gd name="connsiteX5" fmla="*/ 380046 w 1082514"/>
              <a:gd name="connsiteY5" fmla="*/ 533263 h 724672"/>
              <a:gd name="connsiteX6" fmla="*/ 0 w 1082514"/>
              <a:gd name="connsiteY6" fmla="*/ 6843 h 724672"/>
              <a:gd name="connsiteX0" fmla="*/ 1082514 w 1082514"/>
              <a:gd name="connsiteY0" fmla="*/ 0 h 724672"/>
              <a:gd name="connsiteX1" fmla="*/ 619206 w 1082514"/>
              <a:gd name="connsiteY1" fmla="*/ 508586 h 724672"/>
              <a:gd name="connsiteX2" fmla="*/ 804274 w 1082514"/>
              <a:gd name="connsiteY2" fmla="*/ 517723 h 724672"/>
              <a:gd name="connsiteX3" fmla="*/ 534160 w 1082514"/>
              <a:gd name="connsiteY3" fmla="*/ 724672 h 724672"/>
              <a:gd name="connsiteX4" fmla="*/ 233080 w 1082514"/>
              <a:gd name="connsiteY4" fmla="*/ 526899 h 724672"/>
              <a:gd name="connsiteX5" fmla="*/ 380046 w 1082514"/>
              <a:gd name="connsiteY5" fmla="*/ 533263 h 724672"/>
              <a:gd name="connsiteX6" fmla="*/ 0 w 1082514"/>
              <a:gd name="connsiteY6" fmla="*/ 6843 h 724672"/>
              <a:gd name="connsiteX0" fmla="*/ 1082514 w 1082514"/>
              <a:gd name="connsiteY0" fmla="*/ 0 h 724672"/>
              <a:gd name="connsiteX1" fmla="*/ 619206 w 1082514"/>
              <a:gd name="connsiteY1" fmla="*/ 508586 h 724672"/>
              <a:gd name="connsiteX2" fmla="*/ 804274 w 1082514"/>
              <a:gd name="connsiteY2" fmla="*/ 517723 h 724672"/>
              <a:gd name="connsiteX3" fmla="*/ 534160 w 1082514"/>
              <a:gd name="connsiteY3" fmla="*/ 724672 h 724672"/>
              <a:gd name="connsiteX4" fmla="*/ 237842 w 1082514"/>
              <a:gd name="connsiteY4" fmla="*/ 532873 h 724672"/>
              <a:gd name="connsiteX5" fmla="*/ 380046 w 1082514"/>
              <a:gd name="connsiteY5" fmla="*/ 533263 h 724672"/>
              <a:gd name="connsiteX6" fmla="*/ 0 w 1082514"/>
              <a:gd name="connsiteY6" fmla="*/ 6843 h 724672"/>
              <a:gd name="connsiteX0" fmla="*/ 1082514 w 1082514"/>
              <a:gd name="connsiteY0" fmla="*/ 0 h 724672"/>
              <a:gd name="connsiteX1" fmla="*/ 690644 w 1082514"/>
              <a:gd name="connsiteY1" fmla="*/ 532484 h 724672"/>
              <a:gd name="connsiteX2" fmla="*/ 804274 w 1082514"/>
              <a:gd name="connsiteY2" fmla="*/ 517723 h 724672"/>
              <a:gd name="connsiteX3" fmla="*/ 534160 w 1082514"/>
              <a:gd name="connsiteY3" fmla="*/ 724672 h 724672"/>
              <a:gd name="connsiteX4" fmla="*/ 237842 w 1082514"/>
              <a:gd name="connsiteY4" fmla="*/ 532873 h 724672"/>
              <a:gd name="connsiteX5" fmla="*/ 380046 w 1082514"/>
              <a:gd name="connsiteY5" fmla="*/ 533263 h 724672"/>
              <a:gd name="connsiteX6" fmla="*/ 0 w 1082514"/>
              <a:gd name="connsiteY6" fmla="*/ 6843 h 724672"/>
              <a:gd name="connsiteX0" fmla="*/ 1082514 w 1082514"/>
              <a:gd name="connsiteY0" fmla="*/ 0 h 724672"/>
              <a:gd name="connsiteX1" fmla="*/ 690644 w 1082514"/>
              <a:gd name="connsiteY1" fmla="*/ 532484 h 724672"/>
              <a:gd name="connsiteX2" fmla="*/ 804274 w 1082514"/>
              <a:gd name="connsiteY2" fmla="*/ 517723 h 724672"/>
              <a:gd name="connsiteX3" fmla="*/ 534160 w 1082514"/>
              <a:gd name="connsiteY3" fmla="*/ 724672 h 724672"/>
              <a:gd name="connsiteX4" fmla="*/ 237842 w 1082514"/>
              <a:gd name="connsiteY4" fmla="*/ 532873 h 724672"/>
              <a:gd name="connsiteX5" fmla="*/ 380046 w 1082514"/>
              <a:gd name="connsiteY5" fmla="*/ 533263 h 724672"/>
              <a:gd name="connsiteX6" fmla="*/ 0 w 1082514"/>
              <a:gd name="connsiteY6" fmla="*/ 6843 h 724672"/>
              <a:gd name="connsiteX0" fmla="*/ 1082514 w 1082514"/>
              <a:gd name="connsiteY0" fmla="*/ 0 h 724672"/>
              <a:gd name="connsiteX1" fmla="*/ 690644 w 1082514"/>
              <a:gd name="connsiteY1" fmla="*/ 532484 h 724672"/>
              <a:gd name="connsiteX2" fmla="*/ 830468 w 1082514"/>
              <a:gd name="connsiteY2" fmla="*/ 531664 h 724672"/>
              <a:gd name="connsiteX3" fmla="*/ 534160 w 1082514"/>
              <a:gd name="connsiteY3" fmla="*/ 724672 h 724672"/>
              <a:gd name="connsiteX4" fmla="*/ 237842 w 1082514"/>
              <a:gd name="connsiteY4" fmla="*/ 532873 h 724672"/>
              <a:gd name="connsiteX5" fmla="*/ 380046 w 1082514"/>
              <a:gd name="connsiteY5" fmla="*/ 533263 h 724672"/>
              <a:gd name="connsiteX6" fmla="*/ 0 w 1082514"/>
              <a:gd name="connsiteY6" fmla="*/ 6843 h 724672"/>
              <a:gd name="connsiteX0" fmla="*/ 1082514 w 1082514"/>
              <a:gd name="connsiteY0" fmla="*/ 0 h 724672"/>
              <a:gd name="connsiteX1" fmla="*/ 690644 w 1082514"/>
              <a:gd name="connsiteY1" fmla="*/ 532484 h 724672"/>
              <a:gd name="connsiteX2" fmla="*/ 830468 w 1082514"/>
              <a:gd name="connsiteY2" fmla="*/ 531664 h 724672"/>
              <a:gd name="connsiteX3" fmla="*/ 534160 w 1082514"/>
              <a:gd name="connsiteY3" fmla="*/ 724672 h 724672"/>
              <a:gd name="connsiteX4" fmla="*/ 237842 w 1082514"/>
              <a:gd name="connsiteY4" fmla="*/ 532873 h 724672"/>
              <a:gd name="connsiteX5" fmla="*/ 434815 w 1082514"/>
              <a:gd name="connsiteY5" fmla="*/ 533263 h 724672"/>
              <a:gd name="connsiteX6" fmla="*/ 0 w 1082514"/>
              <a:gd name="connsiteY6" fmla="*/ 6843 h 724672"/>
              <a:gd name="connsiteX0" fmla="*/ 1082514 w 1082514"/>
              <a:gd name="connsiteY0" fmla="*/ 0 h 724672"/>
              <a:gd name="connsiteX1" fmla="*/ 690644 w 1082514"/>
              <a:gd name="connsiteY1" fmla="*/ 532484 h 724672"/>
              <a:gd name="connsiteX2" fmla="*/ 830468 w 1082514"/>
              <a:gd name="connsiteY2" fmla="*/ 531664 h 724672"/>
              <a:gd name="connsiteX3" fmla="*/ 534160 w 1082514"/>
              <a:gd name="connsiteY3" fmla="*/ 724672 h 724672"/>
              <a:gd name="connsiteX4" fmla="*/ 297373 w 1082514"/>
              <a:gd name="connsiteY4" fmla="*/ 532873 h 724672"/>
              <a:gd name="connsiteX5" fmla="*/ 434815 w 1082514"/>
              <a:gd name="connsiteY5" fmla="*/ 533263 h 724672"/>
              <a:gd name="connsiteX6" fmla="*/ 0 w 1082514"/>
              <a:gd name="connsiteY6" fmla="*/ 6843 h 724672"/>
              <a:gd name="connsiteX0" fmla="*/ 1082514 w 1082514"/>
              <a:gd name="connsiteY0" fmla="*/ 0 h 724672"/>
              <a:gd name="connsiteX1" fmla="*/ 690644 w 1082514"/>
              <a:gd name="connsiteY1" fmla="*/ 532484 h 724672"/>
              <a:gd name="connsiteX2" fmla="*/ 768555 w 1082514"/>
              <a:gd name="connsiteY2" fmla="*/ 531664 h 724672"/>
              <a:gd name="connsiteX3" fmla="*/ 534160 w 1082514"/>
              <a:gd name="connsiteY3" fmla="*/ 724672 h 724672"/>
              <a:gd name="connsiteX4" fmla="*/ 297373 w 1082514"/>
              <a:gd name="connsiteY4" fmla="*/ 532873 h 724672"/>
              <a:gd name="connsiteX5" fmla="*/ 434815 w 1082514"/>
              <a:gd name="connsiteY5" fmla="*/ 533263 h 724672"/>
              <a:gd name="connsiteX6" fmla="*/ 0 w 1082514"/>
              <a:gd name="connsiteY6" fmla="*/ 6843 h 724672"/>
              <a:gd name="connsiteX0" fmla="*/ 1082514 w 1082514"/>
              <a:gd name="connsiteY0" fmla="*/ 0 h 724672"/>
              <a:gd name="connsiteX1" fmla="*/ 638256 w 1082514"/>
              <a:gd name="connsiteY1" fmla="*/ 534476 h 724672"/>
              <a:gd name="connsiteX2" fmla="*/ 768555 w 1082514"/>
              <a:gd name="connsiteY2" fmla="*/ 531664 h 724672"/>
              <a:gd name="connsiteX3" fmla="*/ 534160 w 1082514"/>
              <a:gd name="connsiteY3" fmla="*/ 724672 h 724672"/>
              <a:gd name="connsiteX4" fmla="*/ 297373 w 1082514"/>
              <a:gd name="connsiteY4" fmla="*/ 532873 h 724672"/>
              <a:gd name="connsiteX5" fmla="*/ 434815 w 1082514"/>
              <a:gd name="connsiteY5" fmla="*/ 533263 h 724672"/>
              <a:gd name="connsiteX6" fmla="*/ 0 w 1082514"/>
              <a:gd name="connsiteY6" fmla="*/ 6843 h 724672"/>
              <a:gd name="connsiteX0" fmla="*/ 2299925 w 2299925"/>
              <a:gd name="connsiteY0" fmla="*/ 5054 h 729726"/>
              <a:gd name="connsiteX1" fmla="*/ 1855667 w 2299925"/>
              <a:gd name="connsiteY1" fmla="*/ 539530 h 729726"/>
              <a:gd name="connsiteX2" fmla="*/ 1985966 w 2299925"/>
              <a:gd name="connsiteY2" fmla="*/ 536718 h 729726"/>
              <a:gd name="connsiteX3" fmla="*/ 1751571 w 2299925"/>
              <a:gd name="connsiteY3" fmla="*/ 729726 h 729726"/>
              <a:gd name="connsiteX4" fmla="*/ 1514784 w 2299925"/>
              <a:gd name="connsiteY4" fmla="*/ 537927 h 729726"/>
              <a:gd name="connsiteX5" fmla="*/ 1652226 w 2299925"/>
              <a:gd name="connsiteY5" fmla="*/ 538317 h 729726"/>
              <a:gd name="connsiteX6" fmla="*/ 0 w 2299925"/>
              <a:gd name="connsiteY6" fmla="*/ 0 h 729726"/>
              <a:gd name="connsiteX0" fmla="*/ 3517336 w 3517336"/>
              <a:gd name="connsiteY0" fmla="*/ 5054 h 729726"/>
              <a:gd name="connsiteX1" fmla="*/ 1855667 w 3517336"/>
              <a:gd name="connsiteY1" fmla="*/ 539530 h 729726"/>
              <a:gd name="connsiteX2" fmla="*/ 1985966 w 3517336"/>
              <a:gd name="connsiteY2" fmla="*/ 536718 h 729726"/>
              <a:gd name="connsiteX3" fmla="*/ 1751571 w 3517336"/>
              <a:gd name="connsiteY3" fmla="*/ 729726 h 729726"/>
              <a:gd name="connsiteX4" fmla="*/ 1514784 w 3517336"/>
              <a:gd name="connsiteY4" fmla="*/ 537927 h 729726"/>
              <a:gd name="connsiteX5" fmla="*/ 1652226 w 3517336"/>
              <a:gd name="connsiteY5" fmla="*/ 538317 h 729726"/>
              <a:gd name="connsiteX6" fmla="*/ 0 w 3517336"/>
              <a:gd name="connsiteY6" fmla="*/ 0 h 729726"/>
              <a:gd name="connsiteX0" fmla="*/ 3517336 w 3517336"/>
              <a:gd name="connsiteY0" fmla="*/ 5054 h 729726"/>
              <a:gd name="connsiteX1" fmla="*/ 1855667 w 3517336"/>
              <a:gd name="connsiteY1" fmla="*/ 539530 h 729726"/>
              <a:gd name="connsiteX2" fmla="*/ 1985966 w 3517336"/>
              <a:gd name="connsiteY2" fmla="*/ 536718 h 729726"/>
              <a:gd name="connsiteX3" fmla="*/ 1751571 w 3517336"/>
              <a:gd name="connsiteY3" fmla="*/ 729726 h 729726"/>
              <a:gd name="connsiteX4" fmla="*/ 1514784 w 3517336"/>
              <a:gd name="connsiteY4" fmla="*/ 537927 h 729726"/>
              <a:gd name="connsiteX5" fmla="*/ 1652226 w 3517336"/>
              <a:gd name="connsiteY5" fmla="*/ 538317 h 729726"/>
              <a:gd name="connsiteX6" fmla="*/ 0 w 3517336"/>
              <a:gd name="connsiteY6" fmla="*/ 0 h 729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17336" h="729726">
                <a:moveTo>
                  <a:pt x="3517336" y="5054"/>
                </a:moveTo>
                <a:cubicBezTo>
                  <a:pt x="3187604" y="54200"/>
                  <a:pt x="1945016" y="354790"/>
                  <a:pt x="1855667" y="539530"/>
                </a:cubicBezTo>
                <a:lnTo>
                  <a:pt x="1985966" y="536718"/>
                </a:lnTo>
                <a:lnTo>
                  <a:pt x="1751571" y="729726"/>
                </a:lnTo>
                <a:lnTo>
                  <a:pt x="1514784" y="537927"/>
                </a:lnTo>
                <a:lnTo>
                  <a:pt x="1652226" y="538317"/>
                </a:lnTo>
                <a:cubicBezTo>
                  <a:pt x="1652226" y="382152"/>
                  <a:pt x="0" y="0"/>
                  <a:pt x="0" y="0"/>
                </a:cubicBezTo>
              </a:path>
            </a:pathLst>
          </a:custGeom>
          <a:gradFill flip="none" rotWithShape="1">
            <a:gsLst>
              <a:gs pos="15000">
                <a:srgbClr val="FFF2CC"/>
              </a:gs>
              <a:gs pos="100000">
                <a:schemeClr val="bg1">
                  <a:alpha val="0"/>
                </a:schemeClr>
              </a:gs>
            </a:gsLst>
            <a:lin ang="162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100000"/>
                    <a:alpha val="0"/>
                  </a:schemeClr>
                </a:gs>
                <a:gs pos="31000">
                  <a:srgbClr val="FFD17D"/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zh-CN" altLang="en-US" sz="180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 bwMode="gray">
          <a:xfrm>
            <a:off x="699746" y="4358700"/>
            <a:ext cx="5406662" cy="399420"/>
            <a:chOff x="2963889" y="3464235"/>
            <a:chExt cx="6292824" cy="504056"/>
          </a:xfrm>
        </p:grpSpPr>
        <p:sp>
          <p:nvSpPr>
            <p:cNvPr id="29" name="矩形 4"/>
            <p:cNvSpPr/>
            <p:nvPr/>
          </p:nvSpPr>
          <p:spPr bwMode="gray">
            <a:xfrm>
              <a:off x="2963889" y="3464235"/>
              <a:ext cx="3312368" cy="504056"/>
            </a:xfrm>
            <a:prstGeom prst="rect">
              <a:avLst/>
            </a:prstGeom>
            <a:solidFill>
              <a:srgbClr val="FFF2C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Label</a:t>
              </a:r>
              <a:endParaRPr lang="zh-CN" altLang="en-US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0" name="矩形 5"/>
            <p:cNvSpPr/>
            <p:nvPr/>
          </p:nvSpPr>
          <p:spPr bwMode="gray">
            <a:xfrm>
              <a:off x="6276257" y="3464235"/>
              <a:ext cx="979984" cy="504056"/>
            </a:xfrm>
            <a:prstGeom prst="rect">
              <a:avLst/>
            </a:prstGeom>
            <a:solidFill>
              <a:srgbClr val="FFF2C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EXP</a:t>
              </a:r>
              <a:endParaRPr lang="zh-CN" altLang="en-US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1" name="矩形 6"/>
            <p:cNvSpPr/>
            <p:nvPr/>
          </p:nvSpPr>
          <p:spPr bwMode="gray">
            <a:xfrm>
              <a:off x="7256241" y="3464235"/>
              <a:ext cx="532184" cy="504056"/>
            </a:xfrm>
            <a:prstGeom prst="rect">
              <a:avLst/>
            </a:prstGeom>
            <a:solidFill>
              <a:srgbClr val="FFF2C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smtClean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S</a:t>
              </a:r>
              <a:endParaRPr lang="zh-CN" altLang="en-US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2" name="矩形 7"/>
            <p:cNvSpPr/>
            <p:nvPr/>
          </p:nvSpPr>
          <p:spPr bwMode="gray">
            <a:xfrm>
              <a:off x="7788425" y="3464235"/>
              <a:ext cx="1468288" cy="504056"/>
            </a:xfrm>
            <a:prstGeom prst="rect">
              <a:avLst/>
            </a:prstGeom>
            <a:solidFill>
              <a:srgbClr val="FFF2C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TTL</a:t>
              </a:r>
              <a:endParaRPr lang="zh-CN" altLang="en-US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8" name="文本框 7"/>
          <p:cNvSpPr txBox="1"/>
          <p:nvPr/>
        </p:nvSpPr>
        <p:spPr bwMode="gray">
          <a:xfrm>
            <a:off x="1824094" y="4043601"/>
            <a:ext cx="30315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在二层帧头部和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头部之间插入标签</a:t>
            </a:r>
          </a:p>
        </p:txBody>
      </p:sp>
      <p:sp>
        <p:nvSpPr>
          <p:cNvPr id="23" name="右大括号 5"/>
          <p:cNvSpPr/>
          <p:nvPr/>
        </p:nvSpPr>
        <p:spPr bwMode="gray">
          <a:xfrm rot="5400000" flipV="1">
            <a:off x="3279713" y="2224019"/>
            <a:ext cx="238301" cy="5398234"/>
          </a:xfrm>
          <a:custGeom>
            <a:avLst/>
            <a:gdLst>
              <a:gd name="connsiteX0" fmla="*/ 0 w 367404"/>
              <a:gd name="connsiteY0" fmla="*/ 0 h 6212551"/>
              <a:gd name="connsiteX1" fmla="*/ 183702 w 367404"/>
              <a:gd name="connsiteY1" fmla="*/ 4 h 6212551"/>
              <a:gd name="connsiteX2" fmla="*/ 183702 w 367404"/>
              <a:gd name="connsiteY2" fmla="*/ 3215364 h 6212551"/>
              <a:gd name="connsiteX3" fmla="*/ 367404 w 367404"/>
              <a:gd name="connsiteY3" fmla="*/ 3215368 h 6212551"/>
              <a:gd name="connsiteX4" fmla="*/ 183702 w 367404"/>
              <a:gd name="connsiteY4" fmla="*/ 3215372 h 6212551"/>
              <a:gd name="connsiteX5" fmla="*/ 183702 w 367404"/>
              <a:gd name="connsiteY5" fmla="*/ 6212547 h 6212551"/>
              <a:gd name="connsiteX6" fmla="*/ 0 w 367404"/>
              <a:gd name="connsiteY6" fmla="*/ 6212551 h 6212551"/>
              <a:gd name="connsiteX7" fmla="*/ 0 w 367404"/>
              <a:gd name="connsiteY7" fmla="*/ 0 h 6212551"/>
              <a:gd name="connsiteX0" fmla="*/ 0 w 367404"/>
              <a:gd name="connsiteY0" fmla="*/ 0 h 6212551"/>
              <a:gd name="connsiteX1" fmla="*/ 183702 w 367404"/>
              <a:gd name="connsiteY1" fmla="*/ 4 h 6212551"/>
              <a:gd name="connsiteX2" fmla="*/ 183702 w 367404"/>
              <a:gd name="connsiteY2" fmla="*/ 3215364 h 6212551"/>
              <a:gd name="connsiteX3" fmla="*/ 367404 w 367404"/>
              <a:gd name="connsiteY3" fmla="*/ 3215368 h 6212551"/>
              <a:gd name="connsiteX4" fmla="*/ 183702 w 367404"/>
              <a:gd name="connsiteY4" fmla="*/ 3215372 h 6212551"/>
              <a:gd name="connsiteX5" fmla="*/ 183702 w 367404"/>
              <a:gd name="connsiteY5" fmla="*/ 6212547 h 6212551"/>
              <a:gd name="connsiteX6" fmla="*/ 0 w 367404"/>
              <a:gd name="connsiteY6" fmla="*/ 6212551 h 6212551"/>
              <a:gd name="connsiteX0" fmla="*/ 0 w 367404"/>
              <a:gd name="connsiteY0" fmla="*/ 0 h 6212551"/>
              <a:gd name="connsiteX1" fmla="*/ 183702 w 367404"/>
              <a:gd name="connsiteY1" fmla="*/ 4 h 6212551"/>
              <a:gd name="connsiteX2" fmla="*/ 183702 w 367404"/>
              <a:gd name="connsiteY2" fmla="*/ 3215364 h 6212551"/>
              <a:gd name="connsiteX3" fmla="*/ 367404 w 367404"/>
              <a:gd name="connsiteY3" fmla="*/ 3215368 h 6212551"/>
              <a:gd name="connsiteX4" fmla="*/ 183702 w 367404"/>
              <a:gd name="connsiteY4" fmla="*/ 3215372 h 6212551"/>
              <a:gd name="connsiteX5" fmla="*/ 183702 w 367404"/>
              <a:gd name="connsiteY5" fmla="*/ 6212547 h 6212551"/>
              <a:gd name="connsiteX6" fmla="*/ 0 w 367404"/>
              <a:gd name="connsiteY6" fmla="*/ 6212551 h 6212551"/>
              <a:gd name="connsiteX7" fmla="*/ 0 w 367404"/>
              <a:gd name="connsiteY7" fmla="*/ 0 h 6212551"/>
              <a:gd name="connsiteX0" fmla="*/ 0 w 367404"/>
              <a:gd name="connsiteY0" fmla="*/ 0 h 6212551"/>
              <a:gd name="connsiteX1" fmla="*/ 183702 w 367404"/>
              <a:gd name="connsiteY1" fmla="*/ 4 h 6212551"/>
              <a:gd name="connsiteX2" fmla="*/ 183702 w 367404"/>
              <a:gd name="connsiteY2" fmla="*/ 3215364 h 6212551"/>
              <a:gd name="connsiteX3" fmla="*/ 367404 w 367404"/>
              <a:gd name="connsiteY3" fmla="*/ 3215368 h 6212551"/>
              <a:gd name="connsiteX4" fmla="*/ 183702 w 367404"/>
              <a:gd name="connsiteY4" fmla="*/ 3215372 h 6212551"/>
              <a:gd name="connsiteX5" fmla="*/ 183702 w 367404"/>
              <a:gd name="connsiteY5" fmla="*/ 6212547 h 6212551"/>
              <a:gd name="connsiteX6" fmla="*/ 0 w 367404"/>
              <a:gd name="connsiteY6" fmla="*/ 6212551 h 6212551"/>
              <a:gd name="connsiteX0" fmla="*/ 0 w 367404"/>
              <a:gd name="connsiteY0" fmla="*/ 0 h 6212551"/>
              <a:gd name="connsiteX1" fmla="*/ 183702 w 367404"/>
              <a:gd name="connsiteY1" fmla="*/ 4 h 6212551"/>
              <a:gd name="connsiteX2" fmla="*/ 183702 w 367404"/>
              <a:gd name="connsiteY2" fmla="*/ 3215364 h 6212551"/>
              <a:gd name="connsiteX3" fmla="*/ 367404 w 367404"/>
              <a:gd name="connsiteY3" fmla="*/ 3215368 h 6212551"/>
              <a:gd name="connsiteX4" fmla="*/ 183702 w 367404"/>
              <a:gd name="connsiteY4" fmla="*/ 3215372 h 6212551"/>
              <a:gd name="connsiteX5" fmla="*/ 183702 w 367404"/>
              <a:gd name="connsiteY5" fmla="*/ 6212547 h 6212551"/>
              <a:gd name="connsiteX6" fmla="*/ 0 w 367404"/>
              <a:gd name="connsiteY6" fmla="*/ 6212551 h 6212551"/>
              <a:gd name="connsiteX7" fmla="*/ 0 w 367404"/>
              <a:gd name="connsiteY7" fmla="*/ 0 h 6212551"/>
              <a:gd name="connsiteX0" fmla="*/ 0 w 367404"/>
              <a:gd name="connsiteY0" fmla="*/ 0 h 6212551"/>
              <a:gd name="connsiteX1" fmla="*/ 183702 w 367404"/>
              <a:gd name="connsiteY1" fmla="*/ 4 h 6212551"/>
              <a:gd name="connsiteX2" fmla="*/ 183702 w 367404"/>
              <a:gd name="connsiteY2" fmla="*/ 3215364 h 6212551"/>
              <a:gd name="connsiteX3" fmla="*/ 284063 w 367404"/>
              <a:gd name="connsiteY3" fmla="*/ 3217753 h 6212551"/>
              <a:gd name="connsiteX4" fmla="*/ 183702 w 367404"/>
              <a:gd name="connsiteY4" fmla="*/ 3215372 h 6212551"/>
              <a:gd name="connsiteX5" fmla="*/ 183702 w 367404"/>
              <a:gd name="connsiteY5" fmla="*/ 6212547 h 6212551"/>
              <a:gd name="connsiteX6" fmla="*/ 0 w 367404"/>
              <a:gd name="connsiteY6" fmla="*/ 6212551 h 6212551"/>
              <a:gd name="connsiteX0" fmla="*/ 0 w 367404"/>
              <a:gd name="connsiteY0" fmla="*/ 0 h 6212551"/>
              <a:gd name="connsiteX1" fmla="*/ 183702 w 367404"/>
              <a:gd name="connsiteY1" fmla="*/ 4 h 6212551"/>
              <a:gd name="connsiteX2" fmla="*/ 183702 w 367404"/>
              <a:gd name="connsiteY2" fmla="*/ 3215364 h 6212551"/>
              <a:gd name="connsiteX3" fmla="*/ 367404 w 367404"/>
              <a:gd name="connsiteY3" fmla="*/ 3215368 h 6212551"/>
              <a:gd name="connsiteX4" fmla="*/ 183702 w 367404"/>
              <a:gd name="connsiteY4" fmla="*/ 3215372 h 6212551"/>
              <a:gd name="connsiteX5" fmla="*/ 183702 w 367404"/>
              <a:gd name="connsiteY5" fmla="*/ 6212547 h 6212551"/>
              <a:gd name="connsiteX6" fmla="*/ 0 w 367404"/>
              <a:gd name="connsiteY6" fmla="*/ 6212551 h 6212551"/>
              <a:gd name="connsiteX7" fmla="*/ 0 w 367404"/>
              <a:gd name="connsiteY7" fmla="*/ 0 h 6212551"/>
              <a:gd name="connsiteX0" fmla="*/ 0 w 367404"/>
              <a:gd name="connsiteY0" fmla="*/ 0 h 6212551"/>
              <a:gd name="connsiteX1" fmla="*/ 183702 w 367404"/>
              <a:gd name="connsiteY1" fmla="*/ 4 h 6212551"/>
              <a:gd name="connsiteX2" fmla="*/ 183702 w 367404"/>
              <a:gd name="connsiteY2" fmla="*/ 3215364 h 6212551"/>
              <a:gd name="connsiteX3" fmla="*/ 243585 w 367404"/>
              <a:gd name="connsiteY3" fmla="*/ 3212993 h 6212551"/>
              <a:gd name="connsiteX4" fmla="*/ 183702 w 367404"/>
              <a:gd name="connsiteY4" fmla="*/ 3215372 h 6212551"/>
              <a:gd name="connsiteX5" fmla="*/ 183702 w 367404"/>
              <a:gd name="connsiteY5" fmla="*/ 6212547 h 6212551"/>
              <a:gd name="connsiteX6" fmla="*/ 0 w 367404"/>
              <a:gd name="connsiteY6" fmla="*/ 6212551 h 6212551"/>
              <a:gd name="connsiteX0" fmla="*/ 0 w 367404"/>
              <a:gd name="connsiteY0" fmla="*/ 0 h 6212551"/>
              <a:gd name="connsiteX1" fmla="*/ 183702 w 367404"/>
              <a:gd name="connsiteY1" fmla="*/ 4 h 6212551"/>
              <a:gd name="connsiteX2" fmla="*/ 183702 w 367404"/>
              <a:gd name="connsiteY2" fmla="*/ 3215364 h 6212551"/>
              <a:gd name="connsiteX3" fmla="*/ 367404 w 367404"/>
              <a:gd name="connsiteY3" fmla="*/ 3215368 h 6212551"/>
              <a:gd name="connsiteX4" fmla="*/ 183702 w 367404"/>
              <a:gd name="connsiteY4" fmla="*/ 3215372 h 6212551"/>
              <a:gd name="connsiteX5" fmla="*/ 183702 w 367404"/>
              <a:gd name="connsiteY5" fmla="*/ 6212547 h 6212551"/>
              <a:gd name="connsiteX6" fmla="*/ 0 w 367404"/>
              <a:gd name="connsiteY6" fmla="*/ 6212551 h 6212551"/>
              <a:gd name="connsiteX7" fmla="*/ 0 w 367404"/>
              <a:gd name="connsiteY7" fmla="*/ 0 h 6212551"/>
              <a:gd name="connsiteX0" fmla="*/ 0 w 367404"/>
              <a:gd name="connsiteY0" fmla="*/ 0 h 6212551"/>
              <a:gd name="connsiteX1" fmla="*/ 183702 w 367404"/>
              <a:gd name="connsiteY1" fmla="*/ 4 h 6212551"/>
              <a:gd name="connsiteX2" fmla="*/ 183702 w 367404"/>
              <a:gd name="connsiteY2" fmla="*/ 3215364 h 6212551"/>
              <a:gd name="connsiteX3" fmla="*/ 281688 w 367404"/>
              <a:gd name="connsiteY3" fmla="*/ 3212996 h 6212551"/>
              <a:gd name="connsiteX4" fmla="*/ 183702 w 367404"/>
              <a:gd name="connsiteY4" fmla="*/ 3215372 h 6212551"/>
              <a:gd name="connsiteX5" fmla="*/ 183702 w 367404"/>
              <a:gd name="connsiteY5" fmla="*/ 6212547 h 6212551"/>
              <a:gd name="connsiteX6" fmla="*/ 0 w 367404"/>
              <a:gd name="connsiteY6" fmla="*/ 6212551 h 6212551"/>
              <a:gd name="connsiteX0" fmla="*/ 0 w 367404"/>
              <a:gd name="connsiteY0" fmla="*/ 0 h 6212551"/>
              <a:gd name="connsiteX1" fmla="*/ 183702 w 367404"/>
              <a:gd name="connsiteY1" fmla="*/ 4 h 6212551"/>
              <a:gd name="connsiteX2" fmla="*/ 183702 w 367404"/>
              <a:gd name="connsiteY2" fmla="*/ 3215364 h 6212551"/>
              <a:gd name="connsiteX3" fmla="*/ 367404 w 367404"/>
              <a:gd name="connsiteY3" fmla="*/ 3215368 h 6212551"/>
              <a:gd name="connsiteX4" fmla="*/ 183702 w 367404"/>
              <a:gd name="connsiteY4" fmla="*/ 3215372 h 6212551"/>
              <a:gd name="connsiteX5" fmla="*/ 183702 w 367404"/>
              <a:gd name="connsiteY5" fmla="*/ 6212547 h 6212551"/>
              <a:gd name="connsiteX6" fmla="*/ 0 w 367404"/>
              <a:gd name="connsiteY6" fmla="*/ 6212551 h 6212551"/>
              <a:gd name="connsiteX7" fmla="*/ 0 w 367404"/>
              <a:gd name="connsiteY7" fmla="*/ 0 h 6212551"/>
              <a:gd name="connsiteX0" fmla="*/ 0 w 367404"/>
              <a:gd name="connsiteY0" fmla="*/ 0 h 6212551"/>
              <a:gd name="connsiteX1" fmla="*/ 183702 w 367404"/>
              <a:gd name="connsiteY1" fmla="*/ 4 h 6212551"/>
              <a:gd name="connsiteX2" fmla="*/ 183702 w 367404"/>
              <a:gd name="connsiteY2" fmla="*/ 3215364 h 6212551"/>
              <a:gd name="connsiteX3" fmla="*/ 269785 w 367404"/>
              <a:gd name="connsiteY3" fmla="*/ 3212999 h 6212551"/>
              <a:gd name="connsiteX4" fmla="*/ 183702 w 367404"/>
              <a:gd name="connsiteY4" fmla="*/ 3215372 h 6212551"/>
              <a:gd name="connsiteX5" fmla="*/ 183702 w 367404"/>
              <a:gd name="connsiteY5" fmla="*/ 6212547 h 6212551"/>
              <a:gd name="connsiteX6" fmla="*/ 0 w 367404"/>
              <a:gd name="connsiteY6" fmla="*/ 6212551 h 6212551"/>
              <a:gd name="connsiteX0" fmla="*/ 0 w 367404"/>
              <a:gd name="connsiteY0" fmla="*/ 0 h 6212551"/>
              <a:gd name="connsiteX1" fmla="*/ 183702 w 367404"/>
              <a:gd name="connsiteY1" fmla="*/ 4 h 6212551"/>
              <a:gd name="connsiteX2" fmla="*/ 183702 w 367404"/>
              <a:gd name="connsiteY2" fmla="*/ 3215364 h 6212551"/>
              <a:gd name="connsiteX3" fmla="*/ 367404 w 367404"/>
              <a:gd name="connsiteY3" fmla="*/ 3215368 h 6212551"/>
              <a:gd name="connsiteX4" fmla="*/ 183702 w 367404"/>
              <a:gd name="connsiteY4" fmla="*/ 3215372 h 6212551"/>
              <a:gd name="connsiteX5" fmla="*/ 183702 w 367404"/>
              <a:gd name="connsiteY5" fmla="*/ 6212547 h 6212551"/>
              <a:gd name="connsiteX6" fmla="*/ 0 w 367404"/>
              <a:gd name="connsiteY6" fmla="*/ 6212551 h 6212551"/>
              <a:gd name="connsiteX7" fmla="*/ 0 w 367404"/>
              <a:gd name="connsiteY7" fmla="*/ 0 h 6212551"/>
              <a:gd name="connsiteX0" fmla="*/ 0 w 367404"/>
              <a:gd name="connsiteY0" fmla="*/ 0 h 6212551"/>
              <a:gd name="connsiteX1" fmla="*/ 183702 w 367404"/>
              <a:gd name="connsiteY1" fmla="*/ 4 h 6212551"/>
              <a:gd name="connsiteX2" fmla="*/ 183702 w 367404"/>
              <a:gd name="connsiteY2" fmla="*/ 3215364 h 6212551"/>
              <a:gd name="connsiteX3" fmla="*/ 269785 w 367404"/>
              <a:gd name="connsiteY3" fmla="*/ 3212999 h 6212551"/>
              <a:gd name="connsiteX4" fmla="*/ 180036 w 367404"/>
              <a:gd name="connsiteY4" fmla="*/ 3207154 h 6212551"/>
              <a:gd name="connsiteX5" fmla="*/ 183702 w 367404"/>
              <a:gd name="connsiteY5" fmla="*/ 6212547 h 6212551"/>
              <a:gd name="connsiteX6" fmla="*/ 0 w 367404"/>
              <a:gd name="connsiteY6" fmla="*/ 6212551 h 6212551"/>
              <a:gd name="connsiteX0" fmla="*/ 0 w 367404"/>
              <a:gd name="connsiteY0" fmla="*/ 0 h 6212551"/>
              <a:gd name="connsiteX1" fmla="*/ 183702 w 367404"/>
              <a:gd name="connsiteY1" fmla="*/ 4 h 6212551"/>
              <a:gd name="connsiteX2" fmla="*/ 183702 w 367404"/>
              <a:gd name="connsiteY2" fmla="*/ 3215364 h 6212551"/>
              <a:gd name="connsiteX3" fmla="*/ 367404 w 367404"/>
              <a:gd name="connsiteY3" fmla="*/ 3215368 h 6212551"/>
              <a:gd name="connsiteX4" fmla="*/ 183702 w 367404"/>
              <a:gd name="connsiteY4" fmla="*/ 3215372 h 6212551"/>
              <a:gd name="connsiteX5" fmla="*/ 183702 w 367404"/>
              <a:gd name="connsiteY5" fmla="*/ 6212547 h 6212551"/>
              <a:gd name="connsiteX6" fmla="*/ 0 w 367404"/>
              <a:gd name="connsiteY6" fmla="*/ 6212551 h 6212551"/>
              <a:gd name="connsiteX7" fmla="*/ 0 w 367404"/>
              <a:gd name="connsiteY7" fmla="*/ 0 h 6212551"/>
              <a:gd name="connsiteX0" fmla="*/ 0 w 367404"/>
              <a:gd name="connsiteY0" fmla="*/ 0 h 6212551"/>
              <a:gd name="connsiteX1" fmla="*/ 183702 w 367404"/>
              <a:gd name="connsiteY1" fmla="*/ 4 h 6212551"/>
              <a:gd name="connsiteX2" fmla="*/ 183702 w 367404"/>
              <a:gd name="connsiteY2" fmla="*/ 3215364 h 6212551"/>
              <a:gd name="connsiteX3" fmla="*/ 269785 w 367404"/>
              <a:gd name="connsiteY3" fmla="*/ 3212999 h 6212551"/>
              <a:gd name="connsiteX4" fmla="*/ 180040 w 367404"/>
              <a:gd name="connsiteY4" fmla="*/ 3212639 h 6212551"/>
              <a:gd name="connsiteX5" fmla="*/ 183702 w 367404"/>
              <a:gd name="connsiteY5" fmla="*/ 6212547 h 6212551"/>
              <a:gd name="connsiteX6" fmla="*/ 0 w 367404"/>
              <a:gd name="connsiteY6" fmla="*/ 6212551 h 6212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7404" h="6212551" stroke="0" extrusionOk="0">
                <a:moveTo>
                  <a:pt x="0" y="0"/>
                </a:moveTo>
                <a:lnTo>
                  <a:pt x="183702" y="4"/>
                </a:lnTo>
                <a:lnTo>
                  <a:pt x="183702" y="3215364"/>
                </a:lnTo>
                <a:cubicBezTo>
                  <a:pt x="183702" y="3215366"/>
                  <a:pt x="265948" y="3215368"/>
                  <a:pt x="367404" y="3215368"/>
                </a:cubicBezTo>
                <a:lnTo>
                  <a:pt x="183702" y="3215372"/>
                </a:lnTo>
                <a:lnTo>
                  <a:pt x="183702" y="6212547"/>
                </a:lnTo>
                <a:cubicBezTo>
                  <a:pt x="183702" y="6212549"/>
                  <a:pt x="101456" y="6212551"/>
                  <a:pt x="0" y="6212551"/>
                </a:cubicBezTo>
                <a:lnTo>
                  <a:pt x="0" y="0"/>
                </a:lnTo>
                <a:close/>
              </a:path>
              <a:path w="367404" h="6212551" fill="none">
                <a:moveTo>
                  <a:pt x="0" y="0"/>
                </a:moveTo>
                <a:lnTo>
                  <a:pt x="183702" y="4"/>
                </a:lnTo>
                <a:lnTo>
                  <a:pt x="183702" y="3215364"/>
                </a:lnTo>
                <a:cubicBezTo>
                  <a:pt x="183702" y="3215366"/>
                  <a:pt x="168329" y="3212999"/>
                  <a:pt x="269785" y="3212999"/>
                </a:cubicBezTo>
                <a:lnTo>
                  <a:pt x="180040" y="3212639"/>
                </a:lnTo>
                <a:cubicBezTo>
                  <a:pt x="181261" y="4212608"/>
                  <a:pt x="182481" y="5212578"/>
                  <a:pt x="183702" y="6212547"/>
                </a:cubicBezTo>
                <a:cubicBezTo>
                  <a:pt x="183702" y="6212549"/>
                  <a:pt x="101456" y="6212551"/>
                  <a:pt x="0" y="6212551"/>
                </a:cubicBezTo>
              </a:path>
            </a:pathLst>
          </a:custGeom>
          <a:noFill/>
          <a:ln w="190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 bwMode="gray">
          <a:xfrm>
            <a:off x="3166900" y="5047819"/>
            <a:ext cx="6575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32 bit</a:t>
            </a:r>
            <a:endParaRPr lang="zh-CN" altLang="en-US" sz="14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828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>
                <a:sym typeface="Huawei Sans" panose="020C0503030203020204" pitchFamily="34" charset="0"/>
              </a:rPr>
              <a:t>MPLS</a:t>
            </a:r>
            <a:r>
              <a:rPr lang="zh-CN" altLang="en-US" smtClean="0">
                <a:sym typeface="Huawei Sans" panose="020C0503030203020204" pitchFamily="34" charset="0"/>
              </a:rPr>
              <a:t>标签栈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smtClean="0">
                <a:sym typeface="Huawei Sans" panose="020C0503030203020204" pitchFamily="34" charset="0"/>
              </a:rPr>
              <a:t>MPLS</a:t>
            </a:r>
            <a:r>
              <a:rPr lang="zh-CN" altLang="en-US" sz="1800" smtClean="0">
                <a:sym typeface="Huawei Sans" panose="020C0503030203020204" pitchFamily="34" charset="0"/>
              </a:rPr>
              <a:t>支持一层或多层标签头部，这些标签头部的有序集合被称为标签栈（</a:t>
            </a:r>
            <a:r>
              <a:rPr lang="en-US" altLang="zh-CN" sz="1800" smtClean="0">
                <a:sym typeface="Huawei Sans" panose="020C0503030203020204" pitchFamily="34" charset="0"/>
              </a:rPr>
              <a:t>Label Stack</a:t>
            </a:r>
            <a:r>
              <a:rPr lang="zh-CN" altLang="en-US" sz="1800" smtClean="0">
                <a:sym typeface="Huawei Sans" panose="020C0503030203020204" pitchFamily="34" charset="0"/>
              </a:rPr>
              <a:t>）。</a:t>
            </a:r>
            <a:endParaRPr lang="en-US" altLang="zh-CN" sz="1800" smtClean="0">
              <a:sym typeface="Huawei Sans" panose="020C0503030203020204" pitchFamily="34" charset="0"/>
            </a:endParaRPr>
          </a:p>
          <a:p>
            <a:r>
              <a:rPr lang="zh-CN" altLang="en-US" sz="1800" smtClean="0">
                <a:sym typeface="Huawei Sans" panose="020C0503030203020204" pitchFamily="34" charset="0"/>
              </a:rPr>
              <a:t>当标签栈中存在多个标签时，这些标签的顺序是非常讲究的：</a:t>
            </a:r>
            <a:endParaRPr lang="en-US" altLang="zh-CN" sz="1800" smtClean="0">
              <a:sym typeface="Huawei Sans" panose="020C0503030203020204" pitchFamily="34" charset="0"/>
            </a:endParaRPr>
          </a:p>
          <a:p>
            <a:pPr lvl="1"/>
            <a:r>
              <a:rPr lang="zh-CN" altLang="en-US" sz="1600" smtClean="0">
                <a:sym typeface="Huawei Sans" panose="020C0503030203020204" pitchFamily="34" charset="0"/>
              </a:rPr>
              <a:t>最靠近二层头部的标签是栈顶标签，标签中的</a:t>
            </a:r>
            <a:r>
              <a:rPr lang="en-US" altLang="zh-CN" sz="1600" smtClean="0">
                <a:sym typeface="Huawei Sans" panose="020C0503030203020204" pitchFamily="34" charset="0"/>
              </a:rPr>
              <a:t>S</a:t>
            </a:r>
            <a:r>
              <a:rPr lang="zh-CN" altLang="en-US" sz="1600" smtClean="0">
                <a:sym typeface="Huawei Sans" panose="020C0503030203020204" pitchFamily="34" charset="0"/>
              </a:rPr>
              <a:t>字段为</a:t>
            </a:r>
            <a:r>
              <a:rPr lang="en-US" altLang="zh-CN" sz="1600" smtClean="0">
                <a:sym typeface="Huawei Sans" panose="020C0503030203020204" pitchFamily="34" charset="0"/>
              </a:rPr>
              <a:t>0</a:t>
            </a:r>
            <a:r>
              <a:rPr lang="zh-CN" altLang="en-US" sz="1600" smtClean="0">
                <a:sym typeface="Huawei Sans" panose="020C0503030203020204" pitchFamily="34" charset="0"/>
              </a:rPr>
              <a:t>。</a:t>
            </a:r>
            <a:endParaRPr lang="en-US" altLang="zh-CN" sz="1600" smtClean="0">
              <a:sym typeface="Huawei Sans" panose="020C0503030203020204" pitchFamily="34" charset="0"/>
            </a:endParaRPr>
          </a:p>
          <a:p>
            <a:pPr lvl="1"/>
            <a:r>
              <a:rPr lang="zh-CN" altLang="en-US" sz="1600" smtClean="0">
                <a:sym typeface="Huawei Sans" panose="020C0503030203020204" pitchFamily="34" charset="0"/>
              </a:rPr>
              <a:t>最靠近</a:t>
            </a:r>
            <a:r>
              <a:rPr lang="en-US" altLang="zh-CN" sz="1600" smtClean="0">
                <a:sym typeface="Huawei Sans" panose="020C0503030203020204" pitchFamily="34" charset="0"/>
              </a:rPr>
              <a:t>IP</a:t>
            </a:r>
            <a:r>
              <a:rPr lang="zh-CN" altLang="en-US" sz="1600" smtClean="0">
                <a:sym typeface="Huawei Sans" panose="020C0503030203020204" pitchFamily="34" charset="0"/>
              </a:rPr>
              <a:t>头部的标签是栈底标签，标签中的</a:t>
            </a:r>
            <a:r>
              <a:rPr lang="en-US" altLang="zh-CN" sz="1600" smtClean="0">
                <a:sym typeface="Huawei Sans" panose="020C0503030203020204" pitchFamily="34" charset="0"/>
              </a:rPr>
              <a:t>S</a:t>
            </a:r>
            <a:r>
              <a:rPr lang="zh-CN" altLang="en-US" sz="1600" smtClean="0">
                <a:sym typeface="Huawei Sans" panose="020C0503030203020204" pitchFamily="34" charset="0"/>
              </a:rPr>
              <a:t>字段为</a:t>
            </a:r>
            <a:r>
              <a:rPr lang="en-US" altLang="zh-CN" sz="1600" smtClean="0">
                <a:sym typeface="Huawei Sans" panose="020C0503030203020204" pitchFamily="34" charset="0"/>
              </a:rPr>
              <a:t>1</a:t>
            </a:r>
            <a:r>
              <a:rPr lang="zh-CN" altLang="en-US" sz="1600" smtClean="0">
                <a:sym typeface="Huawei Sans" panose="020C0503030203020204" pitchFamily="34" charset="0"/>
              </a:rPr>
              <a:t>。</a:t>
            </a:r>
            <a:endParaRPr lang="en-US" altLang="zh-CN" sz="1600" dirty="0" smtClean="0">
              <a:sym typeface="Huawei Sans" panose="020C0503030203020204" pitchFamily="34" charset="0"/>
            </a:endParaRPr>
          </a:p>
        </p:txBody>
      </p:sp>
      <p:grpSp>
        <p:nvGrpSpPr>
          <p:cNvPr id="16" name="组合 15"/>
          <p:cNvGrpSpPr/>
          <p:nvPr/>
        </p:nvGrpSpPr>
        <p:grpSpPr bwMode="gray">
          <a:xfrm>
            <a:off x="3376806" y="2882879"/>
            <a:ext cx="6700933" cy="3158976"/>
            <a:chOff x="2018367" y="3203399"/>
            <a:chExt cx="6700933" cy="3158976"/>
          </a:xfrm>
        </p:grpSpPr>
        <p:grpSp>
          <p:nvGrpSpPr>
            <p:cNvPr id="6" name="组合 5"/>
            <p:cNvGrpSpPr/>
            <p:nvPr/>
          </p:nvGrpSpPr>
          <p:grpSpPr bwMode="gray">
            <a:xfrm>
              <a:off x="2018367" y="3987687"/>
              <a:ext cx="6480000" cy="436362"/>
              <a:chOff x="2027892" y="3753924"/>
              <a:chExt cx="6480000" cy="436362"/>
            </a:xfrm>
          </p:grpSpPr>
          <p:sp>
            <p:nvSpPr>
              <p:cNvPr id="21" name="矩形 4"/>
              <p:cNvSpPr/>
              <p:nvPr/>
            </p:nvSpPr>
            <p:spPr bwMode="gray">
              <a:xfrm>
                <a:off x="4187892" y="3754638"/>
                <a:ext cx="1080000" cy="435648"/>
              </a:xfrm>
              <a:prstGeom prst="rect">
                <a:avLst/>
              </a:prstGeom>
              <a:solidFill>
                <a:srgbClr val="FFF2CC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>
                    <a:solidFill>
                      <a:schemeClr val="tx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标签</a:t>
                </a:r>
                <a:r>
                  <a:rPr lang="zh-CN" altLang="en-US" sz="1400" dirty="0" smtClean="0">
                    <a:solidFill>
                      <a:schemeClr val="tx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头部</a:t>
                </a:r>
                <a:r>
                  <a:rPr lang="en-US" altLang="zh-CN" sz="1400" dirty="0" smtClean="0">
                    <a:solidFill>
                      <a:schemeClr val="tx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2</a:t>
                </a:r>
                <a:endParaRPr lang="zh-CN" altLang="en-US" sz="14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2" name="矩形 4"/>
              <p:cNvSpPr/>
              <p:nvPr/>
            </p:nvSpPr>
            <p:spPr bwMode="gray">
              <a:xfrm>
                <a:off x="5267892" y="3754638"/>
                <a:ext cx="1080000" cy="435648"/>
              </a:xfrm>
              <a:prstGeom prst="rect">
                <a:avLst/>
              </a:prstGeom>
              <a:solidFill>
                <a:srgbClr val="FFF2CC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>
                    <a:solidFill>
                      <a:schemeClr val="tx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标签</a:t>
                </a:r>
                <a:r>
                  <a:rPr lang="zh-CN" altLang="en-US" sz="1400" dirty="0" smtClean="0">
                    <a:solidFill>
                      <a:schemeClr val="tx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头部</a:t>
                </a:r>
                <a:r>
                  <a:rPr lang="en-US" altLang="zh-CN" sz="1400" dirty="0" smtClean="0">
                    <a:solidFill>
                      <a:schemeClr val="tx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3</a:t>
                </a:r>
                <a:endParaRPr lang="zh-CN" altLang="en-US" sz="14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3" name="矩形 4"/>
              <p:cNvSpPr/>
              <p:nvPr/>
            </p:nvSpPr>
            <p:spPr bwMode="gray">
              <a:xfrm>
                <a:off x="2027892" y="3753924"/>
                <a:ext cx="1080000" cy="43564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zh-CN" altLang="en-US" sz="1400" dirty="0">
                    <a:solidFill>
                      <a:schemeClr val="tx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二层帧头</a:t>
                </a:r>
              </a:p>
            </p:txBody>
          </p:sp>
          <p:sp>
            <p:nvSpPr>
              <p:cNvPr id="24" name="矩形 4"/>
              <p:cNvSpPr/>
              <p:nvPr/>
            </p:nvSpPr>
            <p:spPr bwMode="gray">
              <a:xfrm>
                <a:off x="3107892" y="3753924"/>
                <a:ext cx="1080000" cy="435648"/>
              </a:xfrm>
              <a:prstGeom prst="rect">
                <a:avLst/>
              </a:prstGeom>
              <a:solidFill>
                <a:srgbClr val="FFF2CC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 smtClean="0">
                    <a:solidFill>
                      <a:schemeClr val="tx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标签头部</a:t>
                </a:r>
                <a:r>
                  <a:rPr lang="en-US" altLang="zh-CN" sz="1400" dirty="0" smtClean="0">
                    <a:solidFill>
                      <a:schemeClr val="tx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1</a:t>
                </a:r>
                <a:endParaRPr lang="zh-CN" altLang="en-US" sz="14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5" name="矩形 4"/>
              <p:cNvSpPr/>
              <p:nvPr/>
            </p:nvSpPr>
            <p:spPr bwMode="gray">
              <a:xfrm>
                <a:off x="6347892" y="3753924"/>
                <a:ext cx="1080000" cy="43564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IP</a:t>
                </a:r>
                <a:r>
                  <a:rPr lang="zh-CN" altLang="en-US" sz="1400" dirty="0">
                    <a:solidFill>
                      <a:schemeClr val="tx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头部</a:t>
                </a:r>
              </a:p>
            </p:txBody>
          </p:sp>
          <p:sp>
            <p:nvSpPr>
              <p:cNvPr id="26" name="矩形 4"/>
              <p:cNvSpPr/>
              <p:nvPr/>
            </p:nvSpPr>
            <p:spPr bwMode="gray">
              <a:xfrm>
                <a:off x="7427892" y="3753924"/>
                <a:ext cx="1080000" cy="43564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zh-CN" altLang="en-US" sz="1400" dirty="0" smtClean="0">
                    <a:solidFill>
                      <a:schemeClr val="tx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报文</a:t>
                </a:r>
                <a:r>
                  <a:rPr lang="zh-CN" altLang="en-US" sz="1400" dirty="0">
                    <a:solidFill>
                      <a:schemeClr val="tx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载荷</a:t>
                </a:r>
              </a:p>
            </p:txBody>
          </p:sp>
        </p:grpSp>
        <p:grpSp>
          <p:nvGrpSpPr>
            <p:cNvPr id="28" name="组合 27"/>
            <p:cNvGrpSpPr/>
            <p:nvPr/>
          </p:nvGrpSpPr>
          <p:grpSpPr bwMode="gray">
            <a:xfrm>
              <a:off x="5258367" y="4629783"/>
              <a:ext cx="3460933" cy="399420"/>
              <a:chOff x="2963889" y="3464235"/>
              <a:chExt cx="6292824" cy="504056"/>
            </a:xfrm>
          </p:grpSpPr>
          <p:sp>
            <p:nvSpPr>
              <p:cNvPr id="33" name="矩形 4"/>
              <p:cNvSpPr/>
              <p:nvPr/>
            </p:nvSpPr>
            <p:spPr bwMode="gray">
              <a:xfrm>
                <a:off x="2963889" y="3464235"/>
                <a:ext cx="3312368" cy="504056"/>
              </a:xfrm>
              <a:prstGeom prst="rect">
                <a:avLst/>
              </a:prstGeom>
              <a:solidFill>
                <a:srgbClr val="FFF2CC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tx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Label</a:t>
                </a:r>
                <a:endParaRPr lang="zh-CN" altLang="en-US" sz="16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7" name="矩形 5"/>
              <p:cNvSpPr/>
              <p:nvPr/>
            </p:nvSpPr>
            <p:spPr bwMode="gray">
              <a:xfrm>
                <a:off x="6276257" y="3464235"/>
                <a:ext cx="979984" cy="504056"/>
              </a:xfrm>
              <a:prstGeom prst="rect">
                <a:avLst/>
              </a:prstGeom>
              <a:solidFill>
                <a:srgbClr val="FFF2CC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tx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EXP</a:t>
                </a:r>
                <a:endParaRPr lang="zh-CN" altLang="en-US" sz="16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8" name="矩形 6"/>
              <p:cNvSpPr/>
              <p:nvPr/>
            </p:nvSpPr>
            <p:spPr bwMode="gray">
              <a:xfrm>
                <a:off x="7256241" y="3464235"/>
                <a:ext cx="532184" cy="504056"/>
              </a:xfrm>
              <a:prstGeom prst="rect">
                <a:avLst/>
              </a:prstGeom>
              <a:solidFill>
                <a:srgbClr val="FFF2CC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 b="1" dirty="0">
                    <a:solidFill>
                      <a:schemeClr val="tx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1</a:t>
                </a:r>
                <a:endParaRPr lang="zh-CN" altLang="en-US" sz="2000" b="1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40" name="矩形 7"/>
              <p:cNvSpPr/>
              <p:nvPr/>
            </p:nvSpPr>
            <p:spPr bwMode="gray">
              <a:xfrm>
                <a:off x="7788425" y="3464235"/>
                <a:ext cx="1468288" cy="504056"/>
              </a:xfrm>
              <a:prstGeom prst="rect">
                <a:avLst/>
              </a:prstGeom>
              <a:solidFill>
                <a:srgbClr val="FFF2CC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tx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TTL</a:t>
                </a:r>
                <a:endParaRPr lang="zh-CN" altLang="en-US" sz="16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41" name="组合 40"/>
            <p:cNvGrpSpPr/>
            <p:nvPr/>
          </p:nvGrpSpPr>
          <p:grpSpPr bwMode="gray">
            <a:xfrm>
              <a:off x="4178367" y="5296369"/>
              <a:ext cx="3460933" cy="399420"/>
              <a:chOff x="2963889" y="3464235"/>
              <a:chExt cx="6292824" cy="504056"/>
            </a:xfrm>
          </p:grpSpPr>
          <p:sp>
            <p:nvSpPr>
              <p:cNvPr id="49" name="矩形 4"/>
              <p:cNvSpPr/>
              <p:nvPr/>
            </p:nvSpPr>
            <p:spPr bwMode="gray">
              <a:xfrm>
                <a:off x="2963889" y="3464235"/>
                <a:ext cx="3312368" cy="504056"/>
              </a:xfrm>
              <a:prstGeom prst="rect">
                <a:avLst/>
              </a:prstGeom>
              <a:solidFill>
                <a:srgbClr val="FFF2CC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tx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Label</a:t>
                </a:r>
                <a:endParaRPr lang="zh-CN" altLang="en-US" sz="16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0" name="矩形 5"/>
              <p:cNvSpPr/>
              <p:nvPr/>
            </p:nvSpPr>
            <p:spPr bwMode="gray">
              <a:xfrm>
                <a:off x="6276257" y="3464235"/>
                <a:ext cx="979984" cy="504056"/>
              </a:xfrm>
              <a:prstGeom prst="rect">
                <a:avLst/>
              </a:prstGeom>
              <a:solidFill>
                <a:srgbClr val="FFF2CC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tx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EXP</a:t>
                </a:r>
                <a:endParaRPr lang="zh-CN" altLang="en-US" sz="16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1" name="矩形 6"/>
              <p:cNvSpPr/>
              <p:nvPr/>
            </p:nvSpPr>
            <p:spPr bwMode="gray">
              <a:xfrm>
                <a:off x="7256241" y="3464235"/>
                <a:ext cx="532184" cy="504056"/>
              </a:xfrm>
              <a:prstGeom prst="rect">
                <a:avLst/>
              </a:prstGeom>
              <a:solidFill>
                <a:srgbClr val="FFF2CC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 b="1" dirty="0">
                    <a:solidFill>
                      <a:schemeClr val="tx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0</a:t>
                </a:r>
                <a:endParaRPr lang="zh-CN" altLang="en-US" sz="2000" b="1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2" name="矩形 7"/>
              <p:cNvSpPr/>
              <p:nvPr/>
            </p:nvSpPr>
            <p:spPr bwMode="gray">
              <a:xfrm>
                <a:off x="7788425" y="3464235"/>
                <a:ext cx="1468288" cy="504056"/>
              </a:xfrm>
              <a:prstGeom prst="rect">
                <a:avLst/>
              </a:prstGeom>
              <a:solidFill>
                <a:srgbClr val="FFF2CC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tx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TTL</a:t>
                </a:r>
                <a:endParaRPr lang="zh-CN" altLang="en-US" sz="16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53" name="组合 52"/>
            <p:cNvGrpSpPr/>
            <p:nvPr/>
          </p:nvGrpSpPr>
          <p:grpSpPr bwMode="gray">
            <a:xfrm>
              <a:off x="3099837" y="5962955"/>
              <a:ext cx="3460933" cy="399420"/>
              <a:chOff x="2963889" y="3464235"/>
              <a:chExt cx="6292824" cy="504056"/>
            </a:xfrm>
          </p:grpSpPr>
          <p:sp>
            <p:nvSpPr>
              <p:cNvPr id="54" name="矩形 4"/>
              <p:cNvSpPr/>
              <p:nvPr/>
            </p:nvSpPr>
            <p:spPr bwMode="gray">
              <a:xfrm>
                <a:off x="2963889" y="3464235"/>
                <a:ext cx="3312368" cy="504056"/>
              </a:xfrm>
              <a:prstGeom prst="rect">
                <a:avLst/>
              </a:prstGeom>
              <a:solidFill>
                <a:srgbClr val="FFF2CC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tx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Label</a:t>
                </a:r>
                <a:endParaRPr lang="zh-CN" altLang="en-US" sz="16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5" name="矩形 5"/>
              <p:cNvSpPr/>
              <p:nvPr/>
            </p:nvSpPr>
            <p:spPr bwMode="gray">
              <a:xfrm>
                <a:off x="6276257" y="3464235"/>
                <a:ext cx="979984" cy="504056"/>
              </a:xfrm>
              <a:prstGeom prst="rect">
                <a:avLst/>
              </a:prstGeom>
              <a:solidFill>
                <a:srgbClr val="FFF2CC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tx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EXP</a:t>
                </a:r>
                <a:endParaRPr lang="zh-CN" altLang="en-US" sz="16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6" name="矩形 6"/>
              <p:cNvSpPr/>
              <p:nvPr/>
            </p:nvSpPr>
            <p:spPr bwMode="gray">
              <a:xfrm>
                <a:off x="7256241" y="3464235"/>
                <a:ext cx="532184" cy="504056"/>
              </a:xfrm>
              <a:prstGeom prst="rect">
                <a:avLst/>
              </a:prstGeom>
              <a:solidFill>
                <a:srgbClr val="FFF2CC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 b="1" dirty="0">
                    <a:solidFill>
                      <a:schemeClr val="tx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0</a:t>
                </a:r>
                <a:endParaRPr lang="zh-CN" altLang="en-US" sz="2000" b="1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7" name="矩形 7"/>
              <p:cNvSpPr/>
              <p:nvPr/>
            </p:nvSpPr>
            <p:spPr bwMode="gray">
              <a:xfrm>
                <a:off x="7788425" y="3464235"/>
                <a:ext cx="1468288" cy="504056"/>
              </a:xfrm>
              <a:prstGeom prst="rect">
                <a:avLst/>
              </a:prstGeom>
              <a:solidFill>
                <a:srgbClr val="FFF2CC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tx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TTL</a:t>
                </a:r>
                <a:endParaRPr lang="zh-CN" altLang="en-US" sz="16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cxnSp>
          <p:nvCxnSpPr>
            <p:cNvPr id="8" name="直接连接符 7"/>
            <p:cNvCxnSpPr/>
            <p:nvPr/>
          </p:nvCxnSpPr>
          <p:spPr bwMode="gray">
            <a:xfrm>
              <a:off x="3637632" y="4423335"/>
              <a:ext cx="735" cy="1539620"/>
            </a:xfrm>
            <a:prstGeom prst="line">
              <a:avLst/>
            </a:prstGeom>
            <a:ln w="12700">
              <a:solidFill>
                <a:schemeClr val="tx1"/>
              </a:solidFill>
              <a:prstDash val="lg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 bwMode="gray">
            <a:xfrm>
              <a:off x="4716897" y="4426697"/>
              <a:ext cx="367" cy="869672"/>
            </a:xfrm>
            <a:prstGeom prst="line">
              <a:avLst/>
            </a:prstGeom>
            <a:ln w="12700">
              <a:solidFill>
                <a:schemeClr val="tx1"/>
              </a:solidFill>
              <a:prstDash val="lg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 bwMode="gray">
            <a:xfrm>
              <a:off x="5800624" y="4423335"/>
              <a:ext cx="183" cy="206448"/>
            </a:xfrm>
            <a:prstGeom prst="line">
              <a:avLst/>
            </a:prstGeom>
            <a:ln w="12700">
              <a:solidFill>
                <a:schemeClr val="tx1"/>
              </a:solidFill>
              <a:prstDash val="lg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右大括号 5"/>
            <p:cNvSpPr/>
            <p:nvPr/>
          </p:nvSpPr>
          <p:spPr bwMode="gray">
            <a:xfrm rot="16200000">
              <a:off x="4648572" y="2020109"/>
              <a:ext cx="141061" cy="3238531"/>
            </a:xfrm>
            <a:custGeom>
              <a:avLst/>
              <a:gdLst>
                <a:gd name="connsiteX0" fmla="*/ 0 w 367404"/>
                <a:gd name="connsiteY0" fmla="*/ 0 h 6212551"/>
                <a:gd name="connsiteX1" fmla="*/ 183702 w 367404"/>
                <a:gd name="connsiteY1" fmla="*/ 4 h 6212551"/>
                <a:gd name="connsiteX2" fmla="*/ 183702 w 367404"/>
                <a:gd name="connsiteY2" fmla="*/ 3215364 h 6212551"/>
                <a:gd name="connsiteX3" fmla="*/ 367404 w 367404"/>
                <a:gd name="connsiteY3" fmla="*/ 3215368 h 6212551"/>
                <a:gd name="connsiteX4" fmla="*/ 183702 w 367404"/>
                <a:gd name="connsiteY4" fmla="*/ 3215372 h 6212551"/>
                <a:gd name="connsiteX5" fmla="*/ 183702 w 367404"/>
                <a:gd name="connsiteY5" fmla="*/ 6212547 h 6212551"/>
                <a:gd name="connsiteX6" fmla="*/ 0 w 367404"/>
                <a:gd name="connsiteY6" fmla="*/ 6212551 h 6212551"/>
                <a:gd name="connsiteX7" fmla="*/ 0 w 367404"/>
                <a:gd name="connsiteY7" fmla="*/ 0 h 6212551"/>
                <a:gd name="connsiteX0" fmla="*/ 0 w 367404"/>
                <a:gd name="connsiteY0" fmla="*/ 0 h 6212551"/>
                <a:gd name="connsiteX1" fmla="*/ 183702 w 367404"/>
                <a:gd name="connsiteY1" fmla="*/ 4 h 6212551"/>
                <a:gd name="connsiteX2" fmla="*/ 183702 w 367404"/>
                <a:gd name="connsiteY2" fmla="*/ 3215364 h 6212551"/>
                <a:gd name="connsiteX3" fmla="*/ 367404 w 367404"/>
                <a:gd name="connsiteY3" fmla="*/ 3215368 h 6212551"/>
                <a:gd name="connsiteX4" fmla="*/ 183702 w 367404"/>
                <a:gd name="connsiteY4" fmla="*/ 3215372 h 6212551"/>
                <a:gd name="connsiteX5" fmla="*/ 183702 w 367404"/>
                <a:gd name="connsiteY5" fmla="*/ 6212547 h 6212551"/>
                <a:gd name="connsiteX6" fmla="*/ 0 w 367404"/>
                <a:gd name="connsiteY6" fmla="*/ 6212551 h 6212551"/>
                <a:gd name="connsiteX0" fmla="*/ 0 w 367404"/>
                <a:gd name="connsiteY0" fmla="*/ 0 h 6212551"/>
                <a:gd name="connsiteX1" fmla="*/ 183702 w 367404"/>
                <a:gd name="connsiteY1" fmla="*/ 4 h 6212551"/>
                <a:gd name="connsiteX2" fmla="*/ 183702 w 367404"/>
                <a:gd name="connsiteY2" fmla="*/ 3215364 h 6212551"/>
                <a:gd name="connsiteX3" fmla="*/ 367404 w 367404"/>
                <a:gd name="connsiteY3" fmla="*/ 3215368 h 6212551"/>
                <a:gd name="connsiteX4" fmla="*/ 183702 w 367404"/>
                <a:gd name="connsiteY4" fmla="*/ 3215372 h 6212551"/>
                <a:gd name="connsiteX5" fmla="*/ 183702 w 367404"/>
                <a:gd name="connsiteY5" fmla="*/ 6212547 h 6212551"/>
                <a:gd name="connsiteX6" fmla="*/ 0 w 367404"/>
                <a:gd name="connsiteY6" fmla="*/ 6212551 h 6212551"/>
                <a:gd name="connsiteX7" fmla="*/ 0 w 367404"/>
                <a:gd name="connsiteY7" fmla="*/ 0 h 6212551"/>
                <a:gd name="connsiteX0" fmla="*/ 0 w 367404"/>
                <a:gd name="connsiteY0" fmla="*/ 0 h 6212551"/>
                <a:gd name="connsiteX1" fmla="*/ 183702 w 367404"/>
                <a:gd name="connsiteY1" fmla="*/ 4 h 6212551"/>
                <a:gd name="connsiteX2" fmla="*/ 183702 w 367404"/>
                <a:gd name="connsiteY2" fmla="*/ 3215364 h 6212551"/>
                <a:gd name="connsiteX3" fmla="*/ 367404 w 367404"/>
                <a:gd name="connsiteY3" fmla="*/ 3215368 h 6212551"/>
                <a:gd name="connsiteX4" fmla="*/ 183702 w 367404"/>
                <a:gd name="connsiteY4" fmla="*/ 3215372 h 6212551"/>
                <a:gd name="connsiteX5" fmla="*/ 183702 w 367404"/>
                <a:gd name="connsiteY5" fmla="*/ 6212547 h 6212551"/>
                <a:gd name="connsiteX6" fmla="*/ 0 w 367404"/>
                <a:gd name="connsiteY6" fmla="*/ 6212551 h 6212551"/>
                <a:gd name="connsiteX0" fmla="*/ 0 w 367404"/>
                <a:gd name="connsiteY0" fmla="*/ 0 h 6212551"/>
                <a:gd name="connsiteX1" fmla="*/ 183702 w 367404"/>
                <a:gd name="connsiteY1" fmla="*/ 4 h 6212551"/>
                <a:gd name="connsiteX2" fmla="*/ 183702 w 367404"/>
                <a:gd name="connsiteY2" fmla="*/ 3215364 h 6212551"/>
                <a:gd name="connsiteX3" fmla="*/ 367404 w 367404"/>
                <a:gd name="connsiteY3" fmla="*/ 3215368 h 6212551"/>
                <a:gd name="connsiteX4" fmla="*/ 183702 w 367404"/>
                <a:gd name="connsiteY4" fmla="*/ 3215372 h 6212551"/>
                <a:gd name="connsiteX5" fmla="*/ 183702 w 367404"/>
                <a:gd name="connsiteY5" fmla="*/ 6212547 h 6212551"/>
                <a:gd name="connsiteX6" fmla="*/ 0 w 367404"/>
                <a:gd name="connsiteY6" fmla="*/ 6212551 h 6212551"/>
                <a:gd name="connsiteX7" fmla="*/ 0 w 367404"/>
                <a:gd name="connsiteY7" fmla="*/ 0 h 6212551"/>
                <a:gd name="connsiteX0" fmla="*/ 0 w 367404"/>
                <a:gd name="connsiteY0" fmla="*/ 0 h 6212551"/>
                <a:gd name="connsiteX1" fmla="*/ 183702 w 367404"/>
                <a:gd name="connsiteY1" fmla="*/ 4 h 6212551"/>
                <a:gd name="connsiteX2" fmla="*/ 183702 w 367404"/>
                <a:gd name="connsiteY2" fmla="*/ 3215364 h 6212551"/>
                <a:gd name="connsiteX3" fmla="*/ 284063 w 367404"/>
                <a:gd name="connsiteY3" fmla="*/ 3217753 h 6212551"/>
                <a:gd name="connsiteX4" fmla="*/ 183702 w 367404"/>
                <a:gd name="connsiteY4" fmla="*/ 3215372 h 6212551"/>
                <a:gd name="connsiteX5" fmla="*/ 183702 w 367404"/>
                <a:gd name="connsiteY5" fmla="*/ 6212547 h 6212551"/>
                <a:gd name="connsiteX6" fmla="*/ 0 w 367404"/>
                <a:gd name="connsiteY6" fmla="*/ 6212551 h 6212551"/>
                <a:gd name="connsiteX0" fmla="*/ 0 w 367404"/>
                <a:gd name="connsiteY0" fmla="*/ 0 h 6212551"/>
                <a:gd name="connsiteX1" fmla="*/ 183702 w 367404"/>
                <a:gd name="connsiteY1" fmla="*/ 4 h 6212551"/>
                <a:gd name="connsiteX2" fmla="*/ 183702 w 367404"/>
                <a:gd name="connsiteY2" fmla="*/ 3215364 h 6212551"/>
                <a:gd name="connsiteX3" fmla="*/ 367404 w 367404"/>
                <a:gd name="connsiteY3" fmla="*/ 3215368 h 6212551"/>
                <a:gd name="connsiteX4" fmla="*/ 183702 w 367404"/>
                <a:gd name="connsiteY4" fmla="*/ 3215372 h 6212551"/>
                <a:gd name="connsiteX5" fmla="*/ 183702 w 367404"/>
                <a:gd name="connsiteY5" fmla="*/ 6212547 h 6212551"/>
                <a:gd name="connsiteX6" fmla="*/ 0 w 367404"/>
                <a:gd name="connsiteY6" fmla="*/ 6212551 h 6212551"/>
                <a:gd name="connsiteX7" fmla="*/ 0 w 367404"/>
                <a:gd name="connsiteY7" fmla="*/ 0 h 6212551"/>
                <a:gd name="connsiteX0" fmla="*/ 0 w 367404"/>
                <a:gd name="connsiteY0" fmla="*/ 0 h 6212551"/>
                <a:gd name="connsiteX1" fmla="*/ 183702 w 367404"/>
                <a:gd name="connsiteY1" fmla="*/ 4 h 6212551"/>
                <a:gd name="connsiteX2" fmla="*/ 183702 w 367404"/>
                <a:gd name="connsiteY2" fmla="*/ 3215364 h 6212551"/>
                <a:gd name="connsiteX3" fmla="*/ 243585 w 367404"/>
                <a:gd name="connsiteY3" fmla="*/ 3212993 h 6212551"/>
                <a:gd name="connsiteX4" fmla="*/ 183702 w 367404"/>
                <a:gd name="connsiteY4" fmla="*/ 3215372 h 6212551"/>
                <a:gd name="connsiteX5" fmla="*/ 183702 w 367404"/>
                <a:gd name="connsiteY5" fmla="*/ 6212547 h 6212551"/>
                <a:gd name="connsiteX6" fmla="*/ 0 w 367404"/>
                <a:gd name="connsiteY6" fmla="*/ 6212551 h 6212551"/>
                <a:gd name="connsiteX0" fmla="*/ 0 w 367404"/>
                <a:gd name="connsiteY0" fmla="*/ 0 h 6212551"/>
                <a:gd name="connsiteX1" fmla="*/ 183702 w 367404"/>
                <a:gd name="connsiteY1" fmla="*/ 4 h 6212551"/>
                <a:gd name="connsiteX2" fmla="*/ 183702 w 367404"/>
                <a:gd name="connsiteY2" fmla="*/ 3215364 h 6212551"/>
                <a:gd name="connsiteX3" fmla="*/ 367404 w 367404"/>
                <a:gd name="connsiteY3" fmla="*/ 3215368 h 6212551"/>
                <a:gd name="connsiteX4" fmla="*/ 183702 w 367404"/>
                <a:gd name="connsiteY4" fmla="*/ 3215372 h 6212551"/>
                <a:gd name="connsiteX5" fmla="*/ 183702 w 367404"/>
                <a:gd name="connsiteY5" fmla="*/ 6212547 h 6212551"/>
                <a:gd name="connsiteX6" fmla="*/ 0 w 367404"/>
                <a:gd name="connsiteY6" fmla="*/ 6212551 h 6212551"/>
                <a:gd name="connsiteX7" fmla="*/ 0 w 367404"/>
                <a:gd name="connsiteY7" fmla="*/ 0 h 6212551"/>
                <a:gd name="connsiteX0" fmla="*/ 0 w 367404"/>
                <a:gd name="connsiteY0" fmla="*/ 0 h 6212551"/>
                <a:gd name="connsiteX1" fmla="*/ 183702 w 367404"/>
                <a:gd name="connsiteY1" fmla="*/ 4 h 6212551"/>
                <a:gd name="connsiteX2" fmla="*/ 183702 w 367404"/>
                <a:gd name="connsiteY2" fmla="*/ 3215364 h 6212551"/>
                <a:gd name="connsiteX3" fmla="*/ 281688 w 367404"/>
                <a:gd name="connsiteY3" fmla="*/ 3212996 h 6212551"/>
                <a:gd name="connsiteX4" fmla="*/ 183702 w 367404"/>
                <a:gd name="connsiteY4" fmla="*/ 3215372 h 6212551"/>
                <a:gd name="connsiteX5" fmla="*/ 183702 w 367404"/>
                <a:gd name="connsiteY5" fmla="*/ 6212547 h 6212551"/>
                <a:gd name="connsiteX6" fmla="*/ 0 w 367404"/>
                <a:gd name="connsiteY6" fmla="*/ 6212551 h 6212551"/>
                <a:gd name="connsiteX0" fmla="*/ 0 w 367404"/>
                <a:gd name="connsiteY0" fmla="*/ 0 h 6212551"/>
                <a:gd name="connsiteX1" fmla="*/ 183702 w 367404"/>
                <a:gd name="connsiteY1" fmla="*/ 4 h 6212551"/>
                <a:gd name="connsiteX2" fmla="*/ 183702 w 367404"/>
                <a:gd name="connsiteY2" fmla="*/ 3215364 h 6212551"/>
                <a:gd name="connsiteX3" fmla="*/ 367404 w 367404"/>
                <a:gd name="connsiteY3" fmla="*/ 3215368 h 6212551"/>
                <a:gd name="connsiteX4" fmla="*/ 183702 w 367404"/>
                <a:gd name="connsiteY4" fmla="*/ 3215372 h 6212551"/>
                <a:gd name="connsiteX5" fmla="*/ 183702 w 367404"/>
                <a:gd name="connsiteY5" fmla="*/ 6212547 h 6212551"/>
                <a:gd name="connsiteX6" fmla="*/ 0 w 367404"/>
                <a:gd name="connsiteY6" fmla="*/ 6212551 h 6212551"/>
                <a:gd name="connsiteX7" fmla="*/ 0 w 367404"/>
                <a:gd name="connsiteY7" fmla="*/ 0 h 6212551"/>
                <a:gd name="connsiteX0" fmla="*/ 0 w 367404"/>
                <a:gd name="connsiteY0" fmla="*/ 0 h 6212551"/>
                <a:gd name="connsiteX1" fmla="*/ 183702 w 367404"/>
                <a:gd name="connsiteY1" fmla="*/ 4 h 6212551"/>
                <a:gd name="connsiteX2" fmla="*/ 183702 w 367404"/>
                <a:gd name="connsiteY2" fmla="*/ 3215364 h 6212551"/>
                <a:gd name="connsiteX3" fmla="*/ 269785 w 367404"/>
                <a:gd name="connsiteY3" fmla="*/ 3212999 h 6212551"/>
                <a:gd name="connsiteX4" fmla="*/ 183702 w 367404"/>
                <a:gd name="connsiteY4" fmla="*/ 3215372 h 6212551"/>
                <a:gd name="connsiteX5" fmla="*/ 183702 w 367404"/>
                <a:gd name="connsiteY5" fmla="*/ 6212547 h 6212551"/>
                <a:gd name="connsiteX6" fmla="*/ 0 w 367404"/>
                <a:gd name="connsiteY6" fmla="*/ 6212551 h 6212551"/>
                <a:gd name="connsiteX0" fmla="*/ 0 w 367404"/>
                <a:gd name="connsiteY0" fmla="*/ 0 h 6212551"/>
                <a:gd name="connsiteX1" fmla="*/ 183702 w 367404"/>
                <a:gd name="connsiteY1" fmla="*/ 4 h 6212551"/>
                <a:gd name="connsiteX2" fmla="*/ 183702 w 367404"/>
                <a:gd name="connsiteY2" fmla="*/ 3215364 h 6212551"/>
                <a:gd name="connsiteX3" fmla="*/ 367404 w 367404"/>
                <a:gd name="connsiteY3" fmla="*/ 3215368 h 6212551"/>
                <a:gd name="connsiteX4" fmla="*/ 183702 w 367404"/>
                <a:gd name="connsiteY4" fmla="*/ 3215372 h 6212551"/>
                <a:gd name="connsiteX5" fmla="*/ 183702 w 367404"/>
                <a:gd name="connsiteY5" fmla="*/ 6212547 h 6212551"/>
                <a:gd name="connsiteX6" fmla="*/ 0 w 367404"/>
                <a:gd name="connsiteY6" fmla="*/ 6212551 h 6212551"/>
                <a:gd name="connsiteX7" fmla="*/ 0 w 367404"/>
                <a:gd name="connsiteY7" fmla="*/ 0 h 6212551"/>
                <a:gd name="connsiteX0" fmla="*/ 0 w 367404"/>
                <a:gd name="connsiteY0" fmla="*/ 0 h 6212551"/>
                <a:gd name="connsiteX1" fmla="*/ 183702 w 367404"/>
                <a:gd name="connsiteY1" fmla="*/ 4 h 6212551"/>
                <a:gd name="connsiteX2" fmla="*/ 183702 w 367404"/>
                <a:gd name="connsiteY2" fmla="*/ 3215364 h 6212551"/>
                <a:gd name="connsiteX3" fmla="*/ 269785 w 367404"/>
                <a:gd name="connsiteY3" fmla="*/ 3212999 h 6212551"/>
                <a:gd name="connsiteX4" fmla="*/ 180036 w 367404"/>
                <a:gd name="connsiteY4" fmla="*/ 3207154 h 6212551"/>
                <a:gd name="connsiteX5" fmla="*/ 183702 w 367404"/>
                <a:gd name="connsiteY5" fmla="*/ 6212547 h 6212551"/>
                <a:gd name="connsiteX6" fmla="*/ 0 w 367404"/>
                <a:gd name="connsiteY6" fmla="*/ 6212551 h 6212551"/>
                <a:gd name="connsiteX0" fmla="*/ 0 w 367404"/>
                <a:gd name="connsiteY0" fmla="*/ 0 h 6212551"/>
                <a:gd name="connsiteX1" fmla="*/ 183702 w 367404"/>
                <a:gd name="connsiteY1" fmla="*/ 4 h 6212551"/>
                <a:gd name="connsiteX2" fmla="*/ 183702 w 367404"/>
                <a:gd name="connsiteY2" fmla="*/ 3215364 h 6212551"/>
                <a:gd name="connsiteX3" fmla="*/ 367404 w 367404"/>
                <a:gd name="connsiteY3" fmla="*/ 3215368 h 6212551"/>
                <a:gd name="connsiteX4" fmla="*/ 183702 w 367404"/>
                <a:gd name="connsiteY4" fmla="*/ 3215372 h 6212551"/>
                <a:gd name="connsiteX5" fmla="*/ 183702 w 367404"/>
                <a:gd name="connsiteY5" fmla="*/ 6212547 h 6212551"/>
                <a:gd name="connsiteX6" fmla="*/ 0 w 367404"/>
                <a:gd name="connsiteY6" fmla="*/ 6212551 h 6212551"/>
                <a:gd name="connsiteX7" fmla="*/ 0 w 367404"/>
                <a:gd name="connsiteY7" fmla="*/ 0 h 6212551"/>
                <a:gd name="connsiteX0" fmla="*/ 0 w 367404"/>
                <a:gd name="connsiteY0" fmla="*/ 0 h 6212551"/>
                <a:gd name="connsiteX1" fmla="*/ 183702 w 367404"/>
                <a:gd name="connsiteY1" fmla="*/ 4 h 6212551"/>
                <a:gd name="connsiteX2" fmla="*/ 183702 w 367404"/>
                <a:gd name="connsiteY2" fmla="*/ 3215364 h 6212551"/>
                <a:gd name="connsiteX3" fmla="*/ 269785 w 367404"/>
                <a:gd name="connsiteY3" fmla="*/ 3212999 h 6212551"/>
                <a:gd name="connsiteX4" fmla="*/ 180040 w 367404"/>
                <a:gd name="connsiteY4" fmla="*/ 3212639 h 6212551"/>
                <a:gd name="connsiteX5" fmla="*/ 183702 w 367404"/>
                <a:gd name="connsiteY5" fmla="*/ 6212547 h 6212551"/>
                <a:gd name="connsiteX6" fmla="*/ 0 w 367404"/>
                <a:gd name="connsiteY6" fmla="*/ 6212551 h 6212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7404" h="6212551" stroke="0" extrusionOk="0">
                  <a:moveTo>
                    <a:pt x="0" y="0"/>
                  </a:moveTo>
                  <a:lnTo>
                    <a:pt x="183702" y="4"/>
                  </a:lnTo>
                  <a:lnTo>
                    <a:pt x="183702" y="3215364"/>
                  </a:lnTo>
                  <a:cubicBezTo>
                    <a:pt x="183702" y="3215366"/>
                    <a:pt x="265948" y="3215368"/>
                    <a:pt x="367404" y="3215368"/>
                  </a:cubicBezTo>
                  <a:lnTo>
                    <a:pt x="183702" y="3215372"/>
                  </a:lnTo>
                  <a:lnTo>
                    <a:pt x="183702" y="6212547"/>
                  </a:lnTo>
                  <a:cubicBezTo>
                    <a:pt x="183702" y="6212549"/>
                    <a:pt x="101456" y="6212551"/>
                    <a:pt x="0" y="6212551"/>
                  </a:cubicBezTo>
                  <a:lnTo>
                    <a:pt x="0" y="0"/>
                  </a:lnTo>
                  <a:close/>
                </a:path>
                <a:path w="367404" h="6212551" fill="none">
                  <a:moveTo>
                    <a:pt x="0" y="0"/>
                  </a:moveTo>
                  <a:lnTo>
                    <a:pt x="183702" y="4"/>
                  </a:lnTo>
                  <a:lnTo>
                    <a:pt x="183702" y="3215364"/>
                  </a:lnTo>
                  <a:cubicBezTo>
                    <a:pt x="183702" y="3215366"/>
                    <a:pt x="168329" y="3212999"/>
                    <a:pt x="269785" y="3212999"/>
                  </a:cubicBezTo>
                  <a:lnTo>
                    <a:pt x="180040" y="3212639"/>
                  </a:lnTo>
                  <a:cubicBezTo>
                    <a:pt x="181261" y="4212608"/>
                    <a:pt x="182481" y="5212578"/>
                    <a:pt x="183702" y="6212547"/>
                  </a:cubicBezTo>
                  <a:cubicBezTo>
                    <a:pt x="183702" y="6212549"/>
                    <a:pt x="101456" y="6212551"/>
                    <a:pt x="0" y="6212551"/>
                  </a:cubicBezTo>
                </a:path>
              </a:pathLst>
            </a:custGeom>
            <a:noFill/>
            <a:ln w="1905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0" cap="none" spc="0" normalizeH="0" noProof="0">
                <a:ln>
                  <a:noFill/>
                </a:ln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1" name="文本框 10"/>
            <p:cNvSpPr txBox="1"/>
            <p:nvPr/>
          </p:nvSpPr>
          <p:spPr bwMode="gray">
            <a:xfrm>
              <a:off x="4369793" y="3203399"/>
              <a:ext cx="8002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标签栈</a:t>
              </a:r>
            </a:p>
          </p:txBody>
        </p:sp>
        <p:sp>
          <p:nvSpPr>
            <p:cNvPr id="15" name="文本框 14"/>
            <p:cNvSpPr txBox="1"/>
            <p:nvPr/>
          </p:nvSpPr>
          <p:spPr bwMode="gray">
            <a:xfrm>
              <a:off x="3413853" y="3706316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栈顶</a:t>
              </a:r>
            </a:p>
          </p:txBody>
        </p:sp>
        <p:sp>
          <p:nvSpPr>
            <p:cNvPr id="61" name="文本框 60"/>
            <p:cNvSpPr txBox="1"/>
            <p:nvPr/>
          </p:nvSpPr>
          <p:spPr bwMode="gray">
            <a:xfrm>
              <a:off x="5574588" y="369293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栈底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15744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smtClean="0">
                <a:sym typeface="Huawei Sans" panose="020C0503030203020204" pitchFamily="34" charset="0"/>
              </a:rPr>
              <a:t>标签空间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 smtClean="0">
                <a:sym typeface="Huawei Sans" panose="020C0503030203020204" pitchFamily="34" charset="0"/>
              </a:rPr>
              <a:t>标签是一个短而定长的、只具有本地意义的标识符。标签空间就是指标签的取值范围。标签值的范围及规划如下：</a:t>
            </a:r>
            <a:endParaRPr lang="zh-CN" altLang="en-US" sz="1800" dirty="0">
              <a:sym typeface="Huawei Sans" panose="020C0503030203020204" pitchFamily="34" charset="0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2376123"/>
              </p:ext>
            </p:extLst>
          </p:nvPr>
        </p:nvGraphicFramePr>
        <p:xfrm>
          <a:off x="1477435" y="2420938"/>
          <a:ext cx="9237129" cy="1968296"/>
        </p:xfrm>
        <a:graphic>
          <a:graphicData uri="http://schemas.openxmlformats.org/drawingml/2006/table">
            <a:tbl>
              <a:tblPr/>
              <a:tblGrid>
                <a:gridCol w="189035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346772"/>
              </a:tblGrid>
              <a:tr h="450056">
                <a:tc>
                  <a:txBody>
                    <a:bodyPr/>
                    <a:lstStyle/>
                    <a:p>
                      <a:pPr marL="0" algn="ctr" defTabSz="914034" rtl="0" eaLnBrk="1" latinLnBrk="0" hangingPunct="1"/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标签值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描述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0~15</a:t>
                      </a:r>
                      <a:endParaRPr lang="en-US" altLang="zh-CN" sz="1600" dirty="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特殊标签值。例如</a:t>
                      </a:r>
                      <a:r>
                        <a:rPr lang="en-US" altLang="zh-CN" sz="16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0</a:t>
                      </a:r>
                      <a:r>
                        <a:rPr lang="zh-CN" altLang="en-US" sz="16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被定义为</a:t>
                      </a:r>
                      <a:r>
                        <a:rPr lang="en-US" altLang="zh-CN" sz="16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IPv4</a:t>
                      </a:r>
                      <a:r>
                        <a:rPr lang="zh-CN" altLang="en-US" sz="16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显式空标签（</a:t>
                      </a:r>
                      <a:r>
                        <a:rPr lang="en-US" altLang="zh-CN" sz="16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IPv4 Explicit NULL Label</a:t>
                      </a:r>
                      <a:r>
                        <a:rPr lang="zh-CN" altLang="en-US" sz="16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），标签值</a:t>
                      </a:r>
                      <a:r>
                        <a:rPr lang="en-US" altLang="zh-CN" sz="16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3</a:t>
                      </a:r>
                      <a:r>
                        <a:rPr lang="zh-CN" altLang="en-US" sz="16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被定义为隐式空标签（</a:t>
                      </a:r>
                      <a:r>
                        <a:rPr lang="en-US" altLang="zh-CN" sz="16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Implicit NULL Label</a:t>
                      </a:r>
                      <a:r>
                        <a:rPr lang="zh-CN" altLang="en-US" sz="16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）。</a:t>
                      </a:r>
                      <a:endParaRPr lang="zh-CN" altLang="en-US" sz="1600" dirty="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16~1023</a:t>
                      </a:r>
                      <a:endParaRPr lang="en-US" altLang="zh-CN" sz="1600" dirty="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用于</a:t>
                      </a:r>
                      <a:r>
                        <a:rPr lang="zh-CN" altLang="en-US" sz="1600" b="0" i="0" kern="1200" dirty="0" smtClean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静态</a:t>
                      </a:r>
                      <a:r>
                        <a:rPr lang="en-US" altLang="zh-CN" sz="1600" b="0" i="0" kern="1200" dirty="0" smtClean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LSP</a:t>
                      </a:r>
                      <a:r>
                        <a:rPr lang="zh-CN" altLang="en-US" sz="1600" b="0" i="0" kern="1200" dirty="0" smtClean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、静态</a:t>
                      </a:r>
                      <a:r>
                        <a:rPr lang="en-US" altLang="zh-CN" sz="1600" b="0" i="0" kern="1200" dirty="0" smtClean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CR-LSP</a:t>
                      </a:r>
                      <a:r>
                        <a:rPr lang="zh-CN" altLang="en-US" sz="1600" b="0" i="0" kern="1200" dirty="0" smtClean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的共享标签空间。</a:t>
                      </a:r>
                      <a:endParaRPr lang="zh-CN" altLang="en-US" sz="1600" dirty="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1024~1048575</a:t>
                      </a:r>
                      <a:endParaRPr lang="en-US" altLang="zh-CN" sz="1600" dirty="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LDP</a:t>
                      </a:r>
                      <a:r>
                        <a:rPr lang="zh-CN" altLang="en-US" sz="16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、</a:t>
                      </a:r>
                      <a:r>
                        <a:rPr lang="en-US" altLang="zh-CN" sz="16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RSVP-TE</a:t>
                      </a:r>
                      <a:r>
                        <a:rPr lang="zh-CN" altLang="en-US" sz="16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、</a:t>
                      </a:r>
                      <a:r>
                        <a:rPr lang="en-US" altLang="zh-CN" sz="16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MP-BGP</a:t>
                      </a:r>
                      <a:r>
                        <a:rPr lang="zh-CN" altLang="en-US" sz="16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等动态信令协议的标签空间；</a:t>
                      </a:r>
                      <a:endParaRPr lang="en-US" altLang="zh-CN" sz="1600" dirty="0" smtClean="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  <a:p>
                      <a:r>
                        <a:rPr lang="zh-CN" altLang="en-US" sz="16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动态信令协议的标签空间不是共享的，而是独立且连续的，互不影响。</a:t>
                      </a:r>
                      <a:endParaRPr lang="zh-CN" altLang="en-US" sz="1600" dirty="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4969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="" xmlns:a16="http://schemas.microsoft.com/office/drawing/2014/main" id="{51675EB8-75D6-4FA1-BD46-43F2428F6E1E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>
                <a:sym typeface="Huawei Sans" panose="020C0503030203020204" pitchFamily="34" charset="0"/>
              </a:rPr>
              <a:t>MPLS</a:t>
            </a:r>
            <a:r>
              <a:rPr lang="zh-CN" altLang="en-US" smtClean="0">
                <a:sym typeface="Huawei Sans" panose="020C0503030203020204" pitchFamily="34" charset="0"/>
              </a:rPr>
              <a:t>标签的处理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LSR</a:t>
            </a:r>
            <a:r>
              <a:rPr lang="zh-CN" altLang="en-US" sz="1800" dirty="0">
                <a:sym typeface="Huawei Sans" panose="020C0503030203020204" pitchFamily="34" charset="0"/>
              </a:rPr>
              <a:t>对标签的操作类型包括标签压入（</a:t>
            </a:r>
            <a:r>
              <a:rPr lang="en-US" altLang="zh-CN" sz="1800" dirty="0">
                <a:sym typeface="Huawei Sans" panose="020C0503030203020204" pitchFamily="34" charset="0"/>
              </a:rPr>
              <a:t>Push</a:t>
            </a:r>
            <a:r>
              <a:rPr lang="zh-CN" altLang="en-US" sz="1800" dirty="0">
                <a:sym typeface="Huawei Sans" panose="020C0503030203020204" pitchFamily="34" charset="0"/>
              </a:rPr>
              <a:t>）、标签交换（</a:t>
            </a:r>
            <a:r>
              <a:rPr lang="en-US" altLang="zh-CN" sz="1800" dirty="0">
                <a:sym typeface="Huawei Sans" panose="020C0503030203020204" pitchFamily="34" charset="0"/>
              </a:rPr>
              <a:t>Swap</a:t>
            </a:r>
            <a:r>
              <a:rPr lang="zh-CN" altLang="en-US" sz="1800" dirty="0">
                <a:sym typeface="Huawei Sans" panose="020C0503030203020204" pitchFamily="34" charset="0"/>
              </a:rPr>
              <a:t>）和标签弹出（</a:t>
            </a:r>
            <a:r>
              <a:rPr lang="en-US" altLang="zh-CN" sz="1800" dirty="0">
                <a:sym typeface="Huawei Sans" panose="020C0503030203020204" pitchFamily="34" charset="0"/>
              </a:rPr>
              <a:t>Pop</a:t>
            </a:r>
            <a:r>
              <a:rPr lang="zh-CN" altLang="en-US" sz="1800" dirty="0">
                <a:sym typeface="Huawei Sans" panose="020C0503030203020204" pitchFamily="34" charset="0"/>
              </a:rPr>
              <a:t>）。</a:t>
            </a:r>
          </a:p>
          <a:p>
            <a:endParaRPr lang="zh-CN" altLang="en-US" sz="1800" dirty="0"/>
          </a:p>
        </p:txBody>
      </p:sp>
      <p:sp>
        <p:nvSpPr>
          <p:cNvPr id="5" name="圆角矩形 5">
            <a:extLst>
              <a:ext uri="{FF2B5EF4-FFF2-40B4-BE49-F238E27FC236}">
                <a16:creationId xmlns="" xmlns:a16="http://schemas.microsoft.com/office/drawing/2014/main" id="{CE265292-988B-4D62-A1D0-773E95C1182A}"/>
              </a:ext>
            </a:extLst>
          </p:cNvPr>
          <p:cNvSpPr/>
          <p:nvPr/>
        </p:nvSpPr>
        <p:spPr bwMode="gray">
          <a:xfrm>
            <a:off x="747146" y="1664158"/>
            <a:ext cx="3366108" cy="364249"/>
          </a:xfrm>
          <a:prstGeom prst="roundRect">
            <a:avLst/>
          </a:prstGeom>
          <a:solidFill>
            <a:srgbClr val="56C4D2"/>
          </a:solidFill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1400" b="1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Push</a:t>
            </a:r>
            <a:endParaRPr lang="zh-CN" altLang="en-US" sz="14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" name="圆角矩形 6">
            <a:extLst>
              <a:ext uri="{FF2B5EF4-FFF2-40B4-BE49-F238E27FC236}">
                <a16:creationId xmlns="" xmlns:a16="http://schemas.microsoft.com/office/drawing/2014/main" id="{BE3D3762-4AE7-4108-84CF-97D70749727C}"/>
              </a:ext>
            </a:extLst>
          </p:cNvPr>
          <p:cNvSpPr/>
          <p:nvPr/>
        </p:nvSpPr>
        <p:spPr bwMode="gray">
          <a:xfrm>
            <a:off x="747146" y="2104186"/>
            <a:ext cx="3366108" cy="3990836"/>
          </a:xfrm>
          <a:prstGeom prst="roundRect">
            <a:avLst>
              <a:gd name="adj" fmla="val 2222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285750" indent="-200025">
              <a:lnSpc>
                <a:spcPts val="2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" name="圆角矩形 26">
            <a:extLst>
              <a:ext uri="{FF2B5EF4-FFF2-40B4-BE49-F238E27FC236}">
                <a16:creationId xmlns="" xmlns:a16="http://schemas.microsoft.com/office/drawing/2014/main" id="{3B1C4767-ED83-4102-BD0A-6BAC09BB1640}"/>
              </a:ext>
            </a:extLst>
          </p:cNvPr>
          <p:cNvSpPr/>
          <p:nvPr/>
        </p:nvSpPr>
        <p:spPr bwMode="gray">
          <a:xfrm>
            <a:off x="7965772" y="1664158"/>
            <a:ext cx="3366108" cy="364249"/>
          </a:xfrm>
          <a:prstGeom prst="roundRect">
            <a:avLst/>
          </a:prstGeom>
          <a:solidFill>
            <a:srgbClr val="56C4D2"/>
          </a:solidFill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1400" b="1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Pop</a:t>
            </a:r>
            <a:endParaRPr lang="zh-CN" altLang="en-US" sz="14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" name="圆角矩形 27">
            <a:extLst>
              <a:ext uri="{FF2B5EF4-FFF2-40B4-BE49-F238E27FC236}">
                <a16:creationId xmlns="" xmlns:a16="http://schemas.microsoft.com/office/drawing/2014/main" id="{1AA72AE7-8B68-4F1B-9975-1CBF0244D2D1}"/>
              </a:ext>
            </a:extLst>
          </p:cNvPr>
          <p:cNvSpPr/>
          <p:nvPr/>
        </p:nvSpPr>
        <p:spPr bwMode="gray">
          <a:xfrm>
            <a:off x="7965772" y="2104185"/>
            <a:ext cx="3366108" cy="3990836"/>
          </a:xfrm>
          <a:prstGeom prst="roundRect">
            <a:avLst>
              <a:gd name="adj" fmla="val 2222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285750" indent="-200025">
              <a:lnSpc>
                <a:spcPts val="2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" name="圆角矩形 48">
            <a:extLst>
              <a:ext uri="{FF2B5EF4-FFF2-40B4-BE49-F238E27FC236}">
                <a16:creationId xmlns="" xmlns:a16="http://schemas.microsoft.com/office/drawing/2014/main" id="{7F61AE24-840E-4654-A380-843E8726F952}"/>
              </a:ext>
            </a:extLst>
          </p:cNvPr>
          <p:cNvSpPr/>
          <p:nvPr/>
        </p:nvSpPr>
        <p:spPr bwMode="gray">
          <a:xfrm>
            <a:off x="4340519" y="1664158"/>
            <a:ext cx="3366108" cy="364249"/>
          </a:xfrm>
          <a:prstGeom prst="roundRect">
            <a:avLst/>
          </a:prstGeom>
          <a:solidFill>
            <a:srgbClr val="56C4D2"/>
          </a:solidFill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1400" b="1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Swap</a:t>
            </a:r>
            <a:endParaRPr lang="zh-CN" altLang="en-US" sz="14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圆角矩形 49">
            <a:extLst>
              <a:ext uri="{FF2B5EF4-FFF2-40B4-BE49-F238E27FC236}">
                <a16:creationId xmlns="" xmlns:a16="http://schemas.microsoft.com/office/drawing/2014/main" id="{CA133914-F5E2-4F1D-91C7-7548EFD935A6}"/>
              </a:ext>
            </a:extLst>
          </p:cNvPr>
          <p:cNvSpPr/>
          <p:nvPr/>
        </p:nvSpPr>
        <p:spPr bwMode="gray">
          <a:xfrm>
            <a:off x="4340519" y="2104186"/>
            <a:ext cx="3366108" cy="3990836"/>
          </a:xfrm>
          <a:prstGeom prst="roundRect">
            <a:avLst>
              <a:gd name="adj" fmla="val 2222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285750" indent="-200025">
              <a:lnSpc>
                <a:spcPts val="2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36" name="直接连接符 35"/>
          <p:cNvCxnSpPr>
            <a:stCxn id="45" idx="3"/>
            <a:endCxn id="47" idx="1"/>
          </p:cNvCxnSpPr>
          <p:nvPr/>
        </p:nvCxnSpPr>
        <p:spPr bwMode="gray">
          <a:xfrm>
            <a:off x="1861722" y="3703361"/>
            <a:ext cx="617503" cy="0"/>
          </a:xfrm>
          <a:prstGeom prst="line">
            <a:avLst/>
          </a:prstGeom>
          <a:ln w="1905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 bwMode="gray">
          <a:xfrm>
            <a:off x="1147147" y="2408981"/>
            <a:ext cx="489992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endParaRPr lang="zh-CN" altLang="en-US" sz="120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38" name="直接连接符 37"/>
          <p:cNvCxnSpPr>
            <a:endCxn id="40" idx="1"/>
          </p:cNvCxnSpPr>
          <p:nvPr/>
        </p:nvCxnSpPr>
        <p:spPr bwMode="gray">
          <a:xfrm flipV="1">
            <a:off x="1630155" y="2552981"/>
            <a:ext cx="1041906" cy="576"/>
          </a:xfrm>
          <a:prstGeom prst="line">
            <a:avLst/>
          </a:prstGeom>
          <a:ln w="1905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/>
          <p:cNvSpPr/>
          <p:nvPr/>
        </p:nvSpPr>
        <p:spPr bwMode="gray">
          <a:xfrm>
            <a:off x="3126711" y="2408981"/>
            <a:ext cx="489992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endParaRPr lang="zh-CN" altLang="en-US" sz="120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" name="矩形 39"/>
          <p:cNvSpPr/>
          <p:nvPr/>
        </p:nvSpPr>
        <p:spPr bwMode="gray">
          <a:xfrm>
            <a:off x="2672061" y="2408981"/>
            <a:ext cx="547461" cy="288000"/>
          </a:xfrm>
          <a:prstGeom prst="rect">
            <a:avLst/>
          </a:prstGeom>
          <a:solidFill>
            <a:srgbClr val="FFF2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/>
            <a:r>
              <a: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300</a:t>
            </a:r>
            <a:endParaRPr lang="zh-CN" altLang="en-US" sz="12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1" name="矩形 40"/>
          <p:cNvSpPr/>
          <p:nvPr/>
        </p:nvSpPr>
        <p:spPr bwMode="gray">
          <a:xfrm>
            <a:off x="1956994" y="2140296"/>
            <a:ext cx="51809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Push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2" name="矩形 41"/>
          <p:cNvSpPr/>
          <p:nvPr/>
        </p:nvSpPr>
        <p:spPr bwMode="gray">
          <a:xfrm>
            <a:off x="3449556" y="3559361"/>
            <a:ext cx="489992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endParaRPr lang="zh-CN" altLang="en-US" sz="120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3" name="矩形 42"/>
          <p:cNvSpPr/>
          <p:nvPr/>
        </p:nvSpPr>
        <p:spPr bwMode="gray">
          <a:xfrm>
            <a:off x="2921326" y="3559361"/>
            <a:ext cx="528232" cy="288000"/>
          </a:xfrm>
          <a:prstGeom prst="rect">
            <a:avLst/>
          </a:prstGeom>
          <a:solidFill>
            <a:srgbClr val="FFF2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/>
            <a:r>
              <a: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400</a:t>
            </a:r>
            <a:endParaRPr lang="zh-CN" altLang="en-US" sz="12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4" name="矩形 43"/>
          <p:cNvSpPr/>
          <p:nvPr/>
        </p:nvSpPr>
        <p:spPr bwMode="gray">
          <a:xfrm>
            <a:off x="1956994" y="3380226"/>
            <a:ext cx="51809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Push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5" name="矩形 44"/>
          <p:cNvSpPr/>
          <p:nvPr/>
        </p:nvSpPr>
        <p:spPr bwMode="gray">
          <a:xfrm>
            <a:off x="1371730" y="3559361"/>
            <a:ext cx="489992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endParaRPr lang="zh-CN" altLang="en-US" sz="120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6" name="矩形 45"/>
          <p:cNvSpPr/>
          <p:nvPr/>
        </p:nvSpPr>
        <p:spPr bwMode="gray">
          <a:xfrm>
            <a:off x="878060" y="3559361"/>
            <a:ext cx="493672" cy="288000"/>
          </a:xfrm>
          <a:prstGeom prst="rect">
            <a:avLst/>
          </a:prstGeom>
          <a:solidFill>
            <a:srgbClr val="FFF2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/>
            <a:r>
              <a: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400</a:t>
            </a:r>
            <a:endParaRPr lang="zh-CN" altLang="en-US" sz="12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7" name="矩形 46"/>
          <p:cNvSpPr/>
          <p:nvPr/>
        </p:nvSpPr>
        <p:spPr bwMode="gray">
          <a:xfrm>
            <a:off x="2479225" y="3559361"/>
            <a:ext cx="488945" cy="288000"/>
          </a:xfrm>
          <a:prstGeom prst="rect">
            <a:avLst/>
          </a:prstGeom>
          <a:solidFill>
            <a:srgbClr val="FFF2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/>
            <a:r>
              <a: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300</a:t>
            </a:r>
            <a:endParaRPr lang="zh-CN" altLang="en-US" sz="12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48" name="图片 47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22794" y="2795688"/>
            <a:ext cx="540000" cy="442800"/>
          </a:xfrm>
          <a:prstGeom prst="rect">
            <a:avLst/>
          </a:prstGeom>
        </p:spPr>
      </p:pic>
      <p:pic>
        <p:nvPicPr>
          <p:cNvPr id="49" name="图片 48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22794" y="3940368"/>
            <a:ext cx="540000" cy="442800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 bwMode="gray">
          <a:xfrm>
            <a:off x="747146" y="4596272"/>
            <a:ext cx="336610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报文进入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域时，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边界设备在报文二层头部和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头部之间插入一个新标签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；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中间设备也可根据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需要，在标签栈顶增加一个新的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标签。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51" name="组合 50"/>
          <p:cNvGrpSpPr/>
          <p:nvPr/>
        </p:nvGrpSpPr>
        <p:grpSpPr bwMode="gray">
          <a:xfrm>
            <a:off x="4414529" y="2199435"/>
            <a:ext cx="3135102" cy="1021273"/>
            <a:chOff x="1396891" y="3655959"/>
            <a:chExt cx="3135102" cy="1021273"/>
          </a:xfrm>
        </p:grpSpPr>
        <p:cxnSp>
          <p:nvCxnSpPr>
            <p:cNvPr id="52" name="直接连接符 60"/>
            <p:cNvCxnSpPr>
              <a:endCxn id="54" idx="1"/>
            </p:cNvCxnSpPr>
            <p:nvPr/>
          </p:nvCxnSpPr>
          <p:spPr bwMode="gray">
            <a:xfrm>
              <a:off x="2449193" y="3973970"/>
              <a:ext cx="1138159" cy="1"/>
            </a:xfrm>
            <a:prstGeom prst="line">
              <a:avLst/>
            </a:prstGeom>
            <a:ln w="19050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矩形 61"/>
            <p:cNvSpPr/>
            <p:nvPr/>
          </p:nvSpPr>
          <p:spPr bwMode="gray">
            <a:xfrm>
              <a:off x="4042001" y="3829394"/>
              <a:ext cx="489992" cy="2891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IP</a:t>
              </a:r>
              <a:endParaRPr lang="zh-CN" altLang="en-US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4" name="矩形 62"/>
            <p:cNvSpPr/>
            <p:nvPr/>
          </p:nvSpPr>
          <p:spPr bwMode="gray">
            <a:xfrm>
              <a:off x="3587352" y="3829394"/>
              <a:ext cx="475150" cy="289153"/>
            </a:xfrm>
            <a:prstGeom prst="rect">
              <a:avLst/>
            </a:prstGeom>
            <a:solidFill>
              <a:srgbClr val="FFF2CC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r>
                <a:rPr lang="en-US" altLang="zh-CN" sz="12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300</a:t>
              </a:r>
              <a:endParaRPr lang="zh-CN" altLang="en-US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5" name="矩形 63"/>
            <p:cNvSpPr/>
            <p:nvPr/>
          </p:nvSpPr>
          <p:spPr bwMode="gray">
            <a:xfrm>
              <a:off x="2781393" y="3655959"/>
              <a:ext cx="55977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2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Swap</a:t>
              </a:r>
              <a:endPara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6" name="矩形 39"/>
            <p:cNvSpPr/>
            <p:nvPr/>
          </p:nvSpPr>
          <p:spPr bwMode="gray">
            <a:xfrm>
              <a:off x="1990126" y="3829394"/>
              <a:ext cx="489992" cy="2891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2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IP</a:t>
              </a:r>
              <a:endParaRPr lang="zh-CN" altLang="en-US" sz="12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7" name="矩形 43"/>
            <p:cNvSpPr/>
            <p:nvPr/>
          </p:nvSpPr>
          <p:spPr bwMode="gray">
            <a:xfrm>
              <a:off x="1396891" y="3829394"/>
              <a:ext cx="603753" cy="289153"/>
            </a:xfrm>
            <a:prstGeom prst="rect">
              <a:avLst/>
            </a:prstGeom>
            <a:solidFill>
              <a:srgbClr val="FFF2CC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r>
                <a:rPr lang="en-US" altLang="zh-CN" sz="12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200</a:t>
              </a:r>
              <a:endParaRPr lang="zh-CN" altLang="en-US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pic>
          <p:nvPicPr>
            <p:cNvPr id="58" name="图片 57"/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2746723" y="4234432"/>
              <a:ext cx="540000" cy="442800"/>
            </a:xfrm>
            <a:prstGeom prst="rect">
              <a:avLst/>
            </a:prstGeom>
          </p:spPr>
        </p:pic>
      </p:grpSp>
      <p:cxnSp>
        <p:nvCxnSpPr>
          <p:cNvPr id="59" name="直接连接符 51"/>
          <p:cNvCxnSpPr>
            <a:endCxn id="63" idx="1"/>
          </p:cNvCxnSpPr>
          <p:nvPr/>
        </p:nvCxnSpPr>
        <p:spPr bwMode="gray">
          <a:xfrm flipV="1">
            <a:off x="5630024" y="3686259"/>
            <a:ext cx="605669" cy="576"/>
          </a:xfrm>
          <a:prstGeom prst="line">
            <a:avLst/>
          </a:prstGeom>
          <a:ln w="1905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矩形 52"/>
          <p:cNvSpPr/>
          <p:nvPr/>
        </p:nvSpPr>
        <p:spPr bwMode="gray">
          <a:xfrm>
            <a:off x="7187569" y="3542259"/>
            <a:ext cx="489992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endParaRPr lang="zh-CN" altLang="en-US" sz="120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1" name="矩形 64"/>
          <p:cNvSpPr/>
          <p:nvPr/>
        </p:nvSpPr>
        <p:spPr bwMode="gray">
          <a:xfrm>
            <a:off x="6697579" y="3542259"/>
            <a:ext cx="489992" cy="288000"/>
          </a:xfrm>
          <a:prstGeom prst="rect">
            <a:avLst/>
          </a:prstGeom>
          <a:solidFill>
            <a:srgbClr val="FFF2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/>
            <a:r>
              <a:rPr lang="en-US" altLang="zh-CN" sz="12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400</a:t>
            </a:r>
            <a:endParaRPr lang="zh-CN" altLang="en-US" sz="120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2" name="矩形 65"/>
          <p:cNvSpPr/>
          <p:nvPr/>
        </p:nvSpPr>
        <p:spPr bwMode="gray">
          <a:xfrm>
            <a:off x="5758121" y="3368824"/>
            <a:ext cx="55977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Swap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3" name="矩形 68"/>
          <p:cNvSpPr/>
          <p:nvPr/>
        </p:nvSpPr>
        <p:spPr bwMode="gray">
          <a:xfrm>
            <a:off x="6235693" y="3542259"/>
            <a:ext cx="490058" cy="288000"/>
          </a:xfrm>
          <a:prstGeom prst="rect">
            <a:avLst/>
          </a:prstGeom>
          <a:solidFill>
            <a:srgbClr val="FFF2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/>
            <a:r>
              <a: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300</a:t>
            </a:r>
            <a:endParaRPr lang="zh-CN" altLang="en-US" sz="12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4" name="矩形 69"/>
          <p:cNvSpPr/>
          <p:nvPr/>
        </p:nvSpPr>
        <p:spPr bwMode="gray">
          <a:xfrm>
            <a:off x="5346074" y="3542259"/>
            <a:ext cx="489992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endParaRPr lang="zh-CN" altLang="en-US" sz="12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5" name="矩形 70"/>
          <p:cNvSpPr/>
          <p:nvPr/>
        </p:nvSpPr>
        <p:spPr bwMode="gray">
          <a:xfrm>
            <a:off x="4884188" y="3542259"/>
            <a:ext cx="477358" cy="288000"/>
          </a:xfrm>
          <a:prstGeom prst="rect">
            <a:avLst/>
          </a:prstGeom>
          <a:solidFill>
            <a:srgbClr val="FFF2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/>
            <a:r>
              <a: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400</a:t>
            </a:r>
            <a:endParaRPr lang="zh-CN" altLang="en-US" sz="12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6" name="矩形 71"/>
          <p:cNvSpPr/>
          <p:nvPr/>
        </p:nvSpPr>
        <p:spPr bwMode="gray">
          <a:xfrm>
            <a:off x="4380803" y="3542259"/>
            <a:ext cx="503385" cy="288000"/>
          </a:xfrm>
          <a:prstGeom prst="rect">
            <a:avLst/>
          </a:prstGeom>
          <a:solidFill>
            <a:srgbClr val="FFF2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/>
            <a:r>
              <a: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200</a:t>
            </a:r>
            <a:endParaRPr lang="zh-CN" altLang="en-US" sz="12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67" name="图片 66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774325" y="3947049"/>
            <a:ext cx="540000" cy="442800"/>
          </a:xfrm>
          <a:prstGeom prst="rect">
            <a:avLst/>
          </a:prstGeom>
        </p:spPr>
      </p:pic>
      <p:sp>
        <p:nvSpPr>
          <p:cNvPr id="68" name="文本框 67"/>
          <p:cNvSpPr txBox="1"/>
          <p:nvPr/>
        </p:nvSpPr>
        <p:spPr bwMode="gray">
          <a:xfrm>
            <a:off x="4304439" y="4615322"/>
            <a:ext cx="336610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当报文在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域内转发时，根据标签转发表，用下一跳分配的标签，替换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报文的栈顶标签。</a:t>
            </a:r>
          </a:p>
        </p:txBody>
      </p:sp>
      <p:cxnSp>
        <p:nvCxnSpPr>
          <p:cNvPr id="69" name="直接连接符 41"/>
          <p:cNvCxnSpPr>
            <a:endCxn id="70" idx="1"/>
          </p:cNvCxnSpPr>
          <p:nvPr/>
        </p:nvCxnSpPr>
        <p:spPr bwMode="gray">
          <a:xfrm flipV="1">
            <a:off x="9254049" y="2516868"/>
            <a:ext cx="1188616" cy="576"/>
          </a:xfrm>
          <a:prstGeom prst="line">
            <a:avLst/>
          </a:prstGeom>
          <a:ln w="1905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矩形 42"/>
          <p:cNvSpPr/>
          <p:nvPr/>
        </p:nvSpPr>
        <p:spPr bwMode="gray">
          <a:xfrm>
            <a:off x="10442665" y="2372868"/>
            <a:ext cx="489992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endParaRPr lang="zh-CN" altLang="en-US" sz="12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1" name="矩形 44"/>
          <p:cNvSpPr/>
          <p:nvPr/>
        </p:nvSpPr>
        <p:spPr bwMode="gray">
          <a:xfrm>
            <a:off x="9538853" y="2256583"/>
            <a:ext cx="4491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Pop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2" name="矩形 45"/>
          <p:cNvSpPr/>
          <p:nvPr/>
        </p:nvSpPr>
        <p:spPr bwMode="gray">
          <a:xfrm>
            <a:off x="8776757" y="2372868"/>
            <a:ext cx="489992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endParaRPr lang="zh-CN" altLang="en-US" sz="120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3" name="矩形 46"/>
          <p:cNvSpPr/>
          <p:nvPr/>
        </p:nvSpPr>
        <p:spPr bwMode="gray">
          <a:xfrm>
            <a:off x="8187375" y="2372868"/>
            <a:ext cx="589384" cy="288000"/>
          </a:xfrm>
          <a:prstGeom prst="rect">
            <a:avLst/>
          </a:prstGeom>
          <a:solidFill>
            <a:srgbClr val="FFF2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/>
            <a:r>
              <a: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300</a:t>
            </a:r>
            <a:endParaRPr lang="zh-CN" altLang="en-US" sz="12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74" name="图片 73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514304" y="2791781"/>
            <a:ext cx="540000" cy="442800"/>
          </a:xfrm>
          <a:prstGeom prst="rect">
            <a:avLst/>
          </a:prstGeom>
        </p:spPr>
      </p:pic>
      <p:cxnSp>
        <p:nvCxnSpPr>
          <p:cNvPr id="75" name="直接连接符 48"/>
          <p:cNvCxnSpPr>
            <a:stCxn id="77" idx="3"/>
            <a:endCxn id="81" idx="1"/>
          </p:cNvCxnSpPr>
          <p:nvPr/>
        </p:nvCxnSpPr>
        <p:spPr bwMode="gray">
          <a:xfrm>
            <a:off x="9374564" y="3699652"/>
            <a:ext cx="679740" cy="0"/>
          </a:xfrm>
          <a:prstGeom prst="line">
            <a:avLst/>
          </a:prstGeom>
          <a:ln w="1905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矩形 50"/>
          <p:cNvSpPr/>
          <p:nvPr/>
        </p:nvSpPr>
        <p:spPr bwMode="gray">
          <a:xfrm>
            <a:off x="9518896" y="3437001"/>
            <a:ext cx="4491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Pop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7" name="矩形 53"/>
          <p:cNvSpPr/>
          <p:nvPr/>
        </p:nvSpPr>
        <p:spPr bwMode="gray">
          <a:xfrm>
            <a:off x="8944657" y="3555652"/>
            <a:ext cx="429907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endParaRPr lang="zh-CN" altLang="en-US" sz="120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8" name="矩形 54"/>
          <p:cNvSpPr/>
          <p:nvPr/>
        </p:nvSpPr>
        <p:spPr bwMode="gray">
          <a:xfrm>
            <a:off x="8478107" y="3555652"/>
            <a:ext cx="466551" cy="288000"/>
          </a:xfrm>
          <a:prstGeom prst="rect">
            <a:avLst/>
          </a:prstGeom>
          <a:solidFill>
            <a:srgbClr val="FFF2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/>
            <a:r>
              <a: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400</a:t>
            </a:r>
            <a:endParaRPr lang="zh-CN" altLang="en-US" sz="12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9" name="矩形 55"/>
          <p:cNvSpPr/>
          <p:nvPr/>
        </p:nvSpPr>
        <p:spPr bwMode="gray">
          <a:xfrm>
            <a:off x="7998043" y="3555652"/>
            <a:ext cx="480131" cy="288000"/>
          </a:xfrm>
          <a:prstGeom prst="rect">
            <a:avLst/>
          </a:prstGeom>
          <a:solidFill>
            <a:srgbClr val="FFF2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/>
            <a:r>
              <a: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300</a:t>
            </a:r>
            <a:endParaRPr lang="zh-CN" altLang="en-US" sz="12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0" name="矩形 56"/>
          <p:cNvSpPr/>
          <p:nvPr/>
        </p:nvSpPr>
        <p:spPr bwMode="gray">
          <a:xfrm>
            <a:off x="10534761" y="3555652"/>
            <a:ext cx="489992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endParaRPr lang="zh-CN" altLang="en-US" sz="12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1" name="矩形 57"/>
          <p:cNvSpPr/>
          <p:nvPr/>
        </p:nvSpPr>
        <p:spPr bwMode="gray">
          <a:xfrm>
            <a:off x="10054304" y="3555652"/>
            <a:ext cx="489487" cy="288000"/>
          </a:xfrm>
          <a:prstGeom prst="rect">
            <a:avLst/>
          </a:prstGeom>
          <a:solidFill>
            <a:srgbClr val="FFF2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/>
            <a:r>
              <a: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400</a:t>
            </a:r>
            <a:endParaRPr lang="zh-CN" altLang="en-US" sz="12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82" name="图片 81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536946" y="3972199"/>
            <a:ext cx="540000" cy="442800"/>
          </a:xfrm>
          <a:prstGeom prst="rect">
            <a:avLst/>
          </a:prstGeom>
        </p:spPr>
      </p:pic>
      <p:sp>
        <p:nvSpPr>
          <p:cNvPr id="83" name="文本框 82"/>
          <p:cNvSpPr txBox="1"/>
          <p:nvPr/>
        </p:nvSpPr>
        <p:spPr bwMode="gray">
          <a:xfrm>
            <a:off x="7965772" y="4615322"/>
            <a:ext cx="3366108" cy="705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当报文离开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域时，将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报文的标签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去掉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093834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MPLS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基础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b="1" dirty="0" smtClean="0">
                <a:sym typeface="Huawei Sans" panose="020C0503030203020204" pitchFamily="34" charset="0"/>
              </a:rPr>
              <a:t>MPLS</a:t>
            </a:r>
            <a:r>
              <a:rPr lang="zh-CN" altLang="en-US" b="1" dirty="0" smtClean="0">
                <a:sym typeface="Huawei Sans" panose="020C0503030203020204" pitchFamily="34" charset="0"/>
              </a:rPr>
              <a:t>转发</a:t>
            </a:r>
            <a:endParaRPr lang="en-US" altLang="zh-CN" b="1" dirty="0" smtClean="0">
              <a:sym typeface="Huawei Sans" panose="020C0503030203020204" pitchFamily="34" charset="0"/>
            </a:endParaRPr>
          </a:p>
          <a:p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静态</a:t>
            </a:r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LSP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配置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296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>
                <a:sym typeface="Huawei Sans" panose="020C0503030203020204" pitchFamily="34" charset="0"/>
              </a:rPr>
              <a:t>MPLS</a:t>
            </a:r>
            <a:r>
              <a:rPr lang="zh-CN" altLang="en-US" smtClean="0">
                <a:sym typeface="Huawei Sans" panose="020C0503030203020204" pitchFamily="34" charset="0"/>
              </a:rPr>
              <a:t>转发概述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2000" dirty="0" smtClean="0">
                <a:sym typeface="Huawei Sans" panose="020C0503030203020204" pitchFamily="34" charset="0"/>
              </a:rPr>
              <a:t>MPLS</a:t>
            </a:r>
            <a:r>
              <a:rPr lang="zh-CN" altLang="en-US" sz="2000" dirty="0" smtClean="0">
                <a:sym typeface="Huawei Sans" panose="020C0503030203020204" pitchFamily="34" charset="0"/>
              </a:rPr>
              <a:t>转发的本质就是将数据归到对应的</a:t>
            </a:r>
            <a:r>
              <a:rPr lang="en-US" altLang="zh-CN" sz="2000" dirty="0" smtClean="0">
                <a:sym typeface="Huawei Sans" panose="020C0503030203020204" pitchFamily="34" charset="0"/>
              </a:rPr>
              <a:t>FEC</a:t>
            </a:r>
            <a:r>
              <a:rPr lang="zh-CN" altLang="en-US" sz="2000" dirty="0" smtClean="0">
                <a:sym typeface="Huawei Sans" panose="020C0503030203020204" pitchFamily="34" charset="0"/>
              </a:rPr>
              <a:t>并按照提前建立好的</a:t>
            </a:r>
            <a:r>
              <a:rPr lang="en-US" altLang="zh-CN" sz="2000" dirty="0" smtClean="0">
                <a:sym typeface="Huawei Sans" panose="020C0503030203020204" pitchFamily="34" charset="0"/>
              </a:rPr>
              <a:t>LSP</a:t>
            </a:r>
            <a:r>
              <a:rPr lang="zh-CN" altLang="en-US" sz="2000" dirty="0" smtClean="0">
                <a:sym typeface="Huawei Sans" panose="020C0503030203020204" pitchFamily="34" charset="0"/>
              </a:rPr>
              <a:t>进行转发。</a:t>
            </a:r>
            <a:endParaRPr lang="en-US" altLang="zh-CN" sz="2000" dirty="0" smtClean="0">
              <a:sym typeface="Huawei Sans" panose="020C0503030203020204" pitchFamily="34" charset="0"/>
            </a:endParaRPr>
          </a:p>
          <a:p>
            <a:pPr lvl="1"/>
            <a:r>
              <a:rPr lang="zh-CN" altLang="en-US" sz="1800" dirty="0" smtClean="0">
                <a:sym typeface="Huawei Sans" panose="020C0503030203020204" pitchFamily="34" charset="0"/>
              </a:rPr>
              <a:t>对于整个</a:t>
            </a:r>
            <a:r>
              <a:rPr lang="en-US" altLang="zh-CN" sz="1800" dirty="0" smtClean="0">
                <a:sym typeface="Huawei Sans" panose="020C0503030203020204" pitchFamily="34" charset="0"/>
              </a:rPr>
              <a:t>MPLS</a:t>
            </a:r>
            <a:r>
              <a:rPr lang="zh-CN" altLang="en-US" sz="1800" dirty="0" smtClean="0">
                <a:sym typeface="Huawei Sans" panose="020C0503030203020204" pitchFamily="34" charset="0"/>
              </a:rPr>
              <a:t>域，</a:t>
            </a:r>
            <a:r>
              <a:rPr lang="en-US" altLang="zh-CN" sz="1800" dirty="0" smtClean="0">
                <a:sym typeface="Huawei Sans" panose="020C0503030203020204" pitchFamily="34" charset="0"/>
              </a:rPr>
              <a:t>LSP</a:t>
            </a:r>
            <a:r>
              <a:rPr lang="zh-CN" altLang="en-US" sz="1800" dirty="0" smtClean="0">
                <a:sym typeface="Huawei Sans" panose="020C0503030203020204" pitchFamily="34" charset="0"/>
              </a:rPr>
              <a:t>是某一给定的</a:t>
            </a:r>
            <a:r>
              <a:rPr lang="en-US" altLang="zh-CN" sz="1800" dirty="0" smtClean="0">
                <a:sym typeface="Huawei Sans" panose="020C0503030203020204" pitchFamily="34" charset="0"/>
              </a:rPr>
              <a:t>FEC</a:t>
            </a:r>
            <a:r>
              <a:rPr lang="zh-CN" altLang="en-US" sz="1800" dirty="0" smtClean="0">
                <a:sym typeface="Huawei Sans" panose="020C0503030203020204" pitchFamily="34" charset="0"/>
              </a:rPr>
              <a:t>进入域和离开域的路径，可以看成是</a:t>
            </a:r>
            <a:r>
              <a:rPr lang="en-US" altLang="zh-CN" sz="1800" dirty="0" smtClean="0">
                <a:sym typeface="Huawei Sans" panose="020C0503030203020204" pitchFamily="34" charset="0"/>
              </a:rPr>
              <a:t>LSR</a:t>
            </a:r>
            <a:r>
              <a:rPr lang="zh-CN" altLang="en-US" sz="1800" dirty="0" smtClean="0">
                <a:sym typeface="Huawei Sans" panose="020C0503030203020204" pitchFamily="34" charset="0"/>
              </a:rPr>
              <a:t>的有序集合。</a:t>
            </a:r>
            <a:endParaRPr lang="en-US" altLang="zh-CN" sz="1800" dirty="0" smtClean="0">
              <a:sym typeface="Huawei Sans" panose="020C0503030203020204" pitchFamily="34" charset="0"/>
            </a:endParaRPr>
          </a:p>
          <a:p>
            <a:pPr lvl="1"/>
            <a:r>
              <a:rPr lang="zh-CN" altLang="en-US" sz="1800" dirty="0" smtClean="0">
                <a:sym typeface="Huawei Sans" panose="020C0503030203020204" pitchFamily="34" charset="0"/>
              </a:rPr>
              <a:t>对于单台</a:t>
            </a:r>
            <a:r>
              <a:rPr lang="en-US" altLang="zh-CN" sz="1800" dirty="0" smtClean="0">
                <a:sym typeface="Huawei Sans" panose="020C0503030203020204" pitchFamily="34" charset="0"/>
              </a:rPr>
              <a:t>LSR</a:t>
            </a:r>
            <a:r>
              <a:rPr lang="zh-CN" altLang="en-US" sz="1800" dirty="0" smtClean="0">
                <a:sym typeface="Huawei Sans" panose="020C0503030203020204" pitchFamily="34" charset="0"/>
              </a:rPr>
              <a:t>，需要建立标签转发表，用标签来标识</a:t>
            </a:r>
            <a:r>
              <a:rPr lang="en-US" altLang="zh-CN" sz="1800" dirty="0" smtClean="0">
                <a:sym typeface="Huawei Sans" panose="020C0503030203020204" pitchFamily="34" charset="0"/>
              </a:rPr>
              <a:t>FEC</a:t>
            </a:r>
            <a:r>
              <a:rPr lang="zh-CN" altLang="en-US" sz="1800" dirty="0" smtClean="0">
                <a:sym typeface="Huawei Sans" panose="020C0503030203020204" pitchFamily="34" charset="0"/>
              </a:rPr>
              <a:t>，并绑定相应的标签处理和转发等行为。</a:t>
            </a:r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71" name="Rounded Rectangle 36"/>
          <p:cNvSpPr/>
          <p:nvPr/>
        </p:nvSpPr>
        <p:spPr bwMode="gray">
          <a:xfrm>
            <a:off x="738553" y="3816101"/>
            <a:ext cx="10714894" cy="669164"/>
          </a:xfrm>
          <a:prstGeom prst="roundRect">
            <a:avLst>
              <a:gd name="adj" fmla="val 5020"/>
            </a:avLst>
          </a:prstGeom>
          <a:solidFill>
            <a:srgbClr val="BEE9EE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kern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3" name="直接连接符 2"/>
          <p:cNvCxnSpPr/>
          <p:nvPr/>
        </p:nvCxnSpPr>
        <p:spPr bwMode="gray">
          <a:xfrm>
            <a:off x="1525190" y="3101433"/>
            <a:ext cx="0" cy="288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/>
          <p:cNvCxnSpPr/>
          <p:nvPr/>
        </p:nvCxnSpPr>
        <p:spPr bwMode="gray">
          <a:xfrm>
            <a:off x="4556702" y="3101433"/>
            <a:ext cx="0" cy="255757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/>
          <p:cNvCxnSpPr/>
          <p:nvPr/>
        </p:nvCxnSpPr>
        <p:spPr bwMode="gray">
          <a:xfrm>
            <a:off x="7588214" y="3101432"/>
            <a:ext cx="0" cy="20735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/>
          <p:cNvCxnSpPr/>
          <p:nvPr/>
        </p:nvCxnSpPr>
        <p:spPr bwMode="gray">
          <a:xfrm>
            <a:off x="10619726" y="3101433"/>
            <a:ext cx="0" cy="288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4"/>
          <p:cNvCxnSpPr/>
          <p:nvPr/>
        </p:nvCxnSpPr>
        <p:spPr bwMode="gray">
          <a:xfrm>
            <a:off x="1801051" y="4124990"/>
            <a:ext cx="8532000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" name="组合 74"/>
          <p:cNvGrpSpPr/>
          <p:nvPr/>
        </p:nvGrpSpPr>
        <p:grpSpPr bwMode="gray">
          <a:xfrm>
            <a:off x="4297999" y="3899959"/>
            <a:ext cx="889719" cy="550542"/>
            <a:chOff x="3491651" y="4129784"/>
            <a:chExt cx="889719" cy="550542"/>
          </a:xfrm>
        </p:grpSpPr>
        <p:sp>
          <p:nvSpPr>
            <p:cNvPr id="61" name="TextBox 43"/>
            <p:cNvSpPr txBox="1"/>
            <p:nvPr/>
          </p:nvSpPr>
          <p:spPr bwMode="gray">
            <a:xfrm>
              <a:off x="3975490" y="4372549"/>
              <a:ext cx="4058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b="1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R2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pic>
          <p:nvPicPr>
            <p:cNvPr id="64" name="图片 63"/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3491651" y="4129784"/>
              <a:ext cx="540000" cy="442800"/>
            </a:xfrm>
            <a:prstGeom prst="rect">
              <a:avLst/>
            </a:prstGeom>
          </p:spPr>
        </p:pic>
      </p:grpSp>
      <p:grpSp>
        <p:nvGrpSpPr>
          <p:cNvPr id="77" name="组合 76"/>
          <p:cNvGrpSpPr/>
          <p:nvPr/>
        </p:nvGrpSpPr>
        <p:grpSpPr bwMode="gray">
          <a:xfrm>
            <a:off x="7322909" y="3896175"/>
            <a:ext cx="889720" cy="563548"/>
            <a:chOff x="8036238" y="4126000"/>
            <a:chExt cx="889720" cy="563548"/>
          </a:xfrm>
        </p:grpSpPr>
        <p:sp>
          <p:nvSpPr>
            <p:cNvPr id="63" name="TextBox 48"/>
            <p:cNvSpPr txBox="1"/>
            <p:nvPr/>
          </p:nvSpPr>
          <p:spPr bwMode="gray">
            <a:xfrm>
              <a:off x="8520078" y="4381771"/>
              <a:ext cx="4058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b="1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R3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pic>
          <p:nvPicPr>
            <p:cNvPr id="66" name="图片 65"/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8036238" y="4126000"/>
              <a:ext cx="540000" cy="442800"/>
            </a:xfrm>
            <a:prstGeom prst="rect">
              <a:avLst/>
            </a:prstGeom>
          </p:spPr>
        </p:pic>
      </p:grpSp>
      <p:grpSp>
        <p:nvGrpSpPr>
          <p:cNvPr id="76" name="组合 75"/>
          <p:cNvGrpSpPr/>
          <p:nvPr/>
        </p:nvGrpSpPr>
        <p:grpSpPr bwMode="gray">
          <a:xfrm>
            <a:off x="1258647" y="3910084"/>
            <a:ext cx="904161" cy="521666"/>
            <a:chOff x="1219357" y="4139909"/>
            <a:chExt cx="904161" cy="521666"/>
          </a:xfrm>
        </p:grpSpPr>
        <p:pic>
          <p:nvPicPr>
            <p:cNvPr id="67" name="图片 66"/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1219357" y="4139909"/>
              <a:ext cx="540000" cy="442800"/>
            </a:xfrm>
            <a:prstGeom prst="rect">
              <a:avLst/>
            </a:prstGeom>
          </p:spPr>
        </p:pic>
        <p:sp>
          <p:nvSpPr>
            <p:cNvPr id="69" name="TextBox 43"/>
            <p:cNvSpPr txBox="1"/>
            <p:nvPr/>
          </p:nvSpPr>
          <p:spPr bwMode="gray">
            <a:xfrm>
              <a:off x="1717638" y="4353798"/>
              <a:ext cx="4058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b="1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R1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78" name="组合 77"/>
          <p:cNvGrpSpPr/>
          <p:nvPr/>
        </p:nvGrpSpPr>
        <p:grpSpPr bwMode="gray">
          <a:xfrm>
            <a:off x="10347821" y="3903590"/>
            <a:ext cx="895904" cy="544774"/>
            <a:chOff x="10308531" y="4133415"/>
            <a:chExt cx="895904" cy="544774"/>
          </a:xfrm>
        </p:grpSpPr>
        <p:pic>
          <p:nvPicPr>
            <p:cNvPr id="68" name="图片 67"/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10308531" y="4133415"/>
              <a:ext cx="540000" cy="442800"/>
            </a:xfrm>
            <a:prstGeom prst="rect">
              <a:avLst/>
            </a:prstGeom>
          </p:spPr>
        </p:pic>
        <p:sp>
          <p:nvSpPr>
            <p:cNvPr id="70" name="TextBox 43"/>
            <p:cNvSpPr txBox="1"/>
            <p:nvPr/>
          </p:nvSpPr>
          <p:spPr bwMode="gray">
            <a:xfrm>
              <a:off x="10798555" y="4370412"/>
              <a:ext cx="4058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b="1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R4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74" name="Rectangle 67"/>
          <p:cNvSpPr/>
          <p:nvPr/>
        </p:nvSpPr>
        <p:spPr bwMode="gray">
          <a:xfrm>
            <a:off x="5475482" y="3809798"/>
            <a:ext cx="134043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 Domain</a:t>
            </a:r>
          </a:p>
        </p:txBody>
      </p:sp>
      <p:sp>
        <p:nvSpPr>
          <p:cNvPr id="72" name="Freeform 159"/>
          <p:cNvSpPr>
            <a:spLocks noChangeAspect="1"/>
          </p:cNvSpPr>
          <p:nvPr/>
        </p:nvSpPr>
        <p:spPr bwMode="gray">
          <a:xfrm flipH="1">
            <a:off x="836496" y="2744546"/>
            <a:ext cx="1377387" cy="720000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3" name="文本框 72"/>
          <p:cNvSpPr txBox="1"/>
          <p:nvPr/>
        </p:nvSpPr>
        <p:spPr bwMode="gray">
          <a:xfrm>
            <a:off x="1032907" y="2872471"/>
            <a:ext cx="98456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网络</a:t>
            </a:r>
            <a:endParaRPr lang="en-US" altLang="zh-CN" sz="16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1.1.1.0/24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79" name="直接连接符 55"/>
          <p:cNvCxnSpPr/>
          <p:nvPr/>
        </p:nvCxnSpPr>
        <p:spPr bwMode="gray">
          <a:xfrm>
            <a:off x="1633467" y="3386501"/>
            <a:ext cx="0" cy="513541"/>
          </a:xfrm>
          <a:prstGeom prst="line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/>
          <p:cNvSpPr txBox="1"/>
          <p:nvPr/>
        </p:nvSpPr>
        <p:spPr bwMode="gray">
          <a:xfrm>
            <a:off x="1613619" y="3517868"/>
            <a:ext cx="10983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目的：</a:t>
            </a:r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4.4.4.4</a:t>
            </a:r>
            <a:endParaRPr lang="zh-CN" altLang="en-US" sz="12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7" name="Freeform 159"/>
          <p:cNvSpPr>
            <a:spLocks noChangeAspect="1"/>
          </p:cNvSpPr>
          <p:nvPr/>
        </p:nvSpPr>
        <p:spPr bwMode="gray">
          <a:xfrm flipH="1">
            <a:off x="3868008" y="2744546"/>
            <a:ext cx="1377387" cy="720000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8" name="文本框 87"/>
          <p:cNvSpPr txBox="1"/>
          <p:nvPr/>
        </p:nvSpPr>
        <p:spPr bwMode="gray">
          <a:xfrm>
            <a:off x="4064419" y="2872471"/>
            <a:ext cx="98456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网络</a:t>
            </a:r>
            <a:endParaRPr lang="en-US" altLang="zh-CN" sz="16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2.2.2.0/24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89" name="直接连接符 55"/>
          <p:cNvCxnSpPr/>
          <p:nvPr/>
        </p:nvCxnSpPr>
        <p:spPr bwMode="gray">
          <a:xfrm>
            <a:off x="4664979" y="3386501"/>
            <a:ext cx="0" cy="513541"/>
          </a:xfrm>
          <a:prstGeom prst="line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 bwMode="gray">
          <a:xfrm>
            <a:off x="4645131" y="3517868"/>
            <a:ext cx="10983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目的：</a:t>
            </a:r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4.4.4.4</a:t>
            </a:r>
            <a:endParaRPr lang="zh-CN" altLang="en-US" sz="12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5" name="Freeform 159"/>
          <p:cNvSpPr>
            <a:spLocks noChangeAspect="1"/>
          </p:cNvSpPr>
          <p:nvPr/>
        </p:nvSpPr>
        <p:spPr bwMode="gray">
          <a:xfrm flipH="1">
            <a:off x="6899520" y="2744546"/>
            <a:ext cx="1377387" cy="720000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6" name="文本框 95"/>
          <p:cNvSpPr txBox="1"/>
          <p:nvPr/>
        </p:nvSpPr>
        <p:spPr bwMode="gray">
          <a:xfrm>
            <a:off x="7095931" y="2872471"/>
            <a:ext cx="98456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网络</a:t>
            </a:r>
            <a:endParaRPr lang="en-US" altLang="zh-CN" sz="16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3.3.3.0/24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97" name="直接连接符 55"/>
          <p:cNvCxnSpPr/>
          <p:nvPr/>
        </p:nvCxnSpPr>
        <p:spPr bwMode="gray">
          <a:xfrm>
            <a:off x="7696491" y="3386501"/>
            <a:ext cx="0" cy="513541"/>
          </a:xfrm>
          <a:prstGeom prst="line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文本框 97"/>
          <p:cNvSpPr txBox="1"/>
          <p:nvPr/>
        </p:nvSpPr>
        <p:spPr bwMode="gray">
          <a:xfrm>
            <a:off x="7676643" y="3517868"/>
            <a:ext cx="10983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目的：</a:t>
            </a:r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4.4.4.4</a:t>
            </a:r>
            <a:endParaRPr lang="zh-CN" altLang="en-US" sz="12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1" name="Freeform 159"/>
          <p:cNvSpPr>
            <a:spLocks noChangeAspect="1"/>
          </p:cNvSpPr>
          <p:nvPr/>
        </p:nvSpPr>
        <p:spPr bwMode="gray">
          <a:xfrm flipH="1">
            <a:off x="9931032" y="2744546"/>
            <a:ext cx="1377387" cy="720000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2" name="文本框 101"/>
          <p:cNvSpPr txBox="1"/>
          <p:nvPr/>
        </p:nvSpPr>
        <p:spPr bwMode="gray">
          <a:xfrm>
            <a:off x="10127443" y="2872471"/>
            <a:ext cx="98456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网络</a:t>
            </a:r>
            <a:endParaRPr lang="en-US" altLang="zh-CN" sz="16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4.4.4.0/24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10" name="直接连接符 109"/>
          <p:cNvCxnSpPr/>
          <p:nvPr/>
        </p:nvCxnSpPr>
        <p:spPr bwMode="gray">
          <a:xfrm>
            <a:off x="1633467" y="5882991"/>
            <a:ext cx="8826971" cy="0"/>
          </a:xfrm>
          <a:prstGeom prst="line">
            <a:avLst/>
          </a:prstGeom>
          <a:ln w="12700">
            <a:solidFill>
              <a:schemeClr val="tx1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文本框 110"/>
          <p:cNvSpPr txBox="1"/>
          <p:nvPr/>
        </p:nvSpPr>
        <p:spPr bwMode="gray">
          <a:xfrm>
            <a:off x="1556281" y="5216998"/>
            <a:ext cx="227818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FEC1</a:t>
            </a:r>
          </a:p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Label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100</a:t>
            </a:r>
          </a:p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LSP1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{R1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R4}</a:t>
            </a:r>
            <a:endParaRPr lang="zh-CN" altLang="en-US" sz="14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12" name="直接连接符 111"/>
          <p:cNvCxnSpPr/>
          <p:nvPr/>
        </p:nvCxnSpPr>
        <p:spPr bwMode="gray">
          <a:xfrm>
            <a:off x="4645131" y="5483760"/>
            <a:ext cx="5815307" cy="0"/>
          </a:xfrm>
          <a:prstGeom prst="line">
            <a:avLst/>
          </a:prstGeom>
          <a:ln w="12700">
            <a:solidFill>
              <a:schemeClr val="tx1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连接符 113"/>
          <p:cNvCxnSpPr/>
          <p:nvPr/>
        </p:nvCxnSpPr>
        <p:spPr bwMode="gray">
          <a:xfrm>
            <a:off x="7702514" y="5112522"/>
            <a:ext cx="2757924" cy="0"/>
          </a:xfrm>
          <a:prstGeom prst="line">
            <a:avLst/>
          </a:prstGeom>
          <a:ln w="12700">
            <a:solidFill>
              <a:schemeClr val="tx1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文本框 115"/>
          <p:cNvSpPr txBox="1"/>
          <p:nvPr/>
        </p:nvSpPr>
        <p:spPr bwMode="gray">
          <a:xfrm>
            <a:off x="4561782" y="4805646"/>
            <a:ext cx="188865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FEC1</a:t>
            </a: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Label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100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LSP2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{R2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R4}</a:t>
            </a:r>
            <a:endParaRPr lang="zh-CN" altLang="en-US" sz="14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7" name="文本框 116"/>
          <p:cNvSpPr txBox="1"/>
          <p:nvPr/>
        </p:nvSpPr>
        <p:spPr bwMode="gray">
          <a:xfrm>
            <a:off x="7599774" y="4446456"/>
            <a:ext cx="149912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FEC1</a:t>
            </a:r>
          </a:p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Label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200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LSP3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{R3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R4}</a:t>
            </a:r>
            <a:endParaRPr lang="zh-CN" altLang="en-US" sz="14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8" name="五边形 47"/>
          <p:cNvSpPr/>
          <p:nvPr/>
        </p:nvSpPr>
        <p:spPr bwMode="gray">
          <a:xfrm>
            <a:off x="8501934" y="114300"/>
            <a:ext cx="1152000" cy="21312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基本概念</a:t>
            </a:r>
          </a:p>
        </p:txBody>
      </p:sp>
      <p:sp>
        <p:nvSpPr>
          <p:cNvPr id="50" name="燕尾形 49"/>
          <p:cNvSpPr/>
          <p:nvPr/>
        </p:nvSpPr>
        <p:spPr bwMode="gray">
          <a:xfrm>
            <a:off x="9620717" y="114300"/>
            <a:ext cx="108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LSP</a:t>
            </a:r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建立</a:t>
            </a:r>
          </a:p>
        </p:txBody>
      </p:sp>
      <p:sp>
        <p:nvSpPr>
          <p:cNvPr id="51" name="燕尾形 50"/>
          <p:cNvSpPr/>
          <p:nvPr/>
        </p:nvSpPr>
        <p:spPr bwMode="gray">
          <a:xfrm>
            <a:off x="10667500" y="114300"/>
            <a:ext cx="108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kern="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标签转发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9866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>
                <a:sym typeface="Huawei Sans" panose="020C0503030203020204" pitchFamily="34" charset="0"/>
              </a:rPr>
              <a:t>MPLS</a:t>
            </a:r>
            <a:r>
              <a:rPr lang="zh-CN" altLang="en-US" smtClean="0">
                <a:sym typeface="Huawei Sans" panose="020C0503030203020204" pitchFamily="34" charset="0"/>
              </a:rPr>
              <a:t>体系结构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60" name="文本占位符 59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 smtClean="0">
                <a:sym typeface="Huawei Sans" panose="020C0503030203020204" pitchFamily="34" charset="0"/>
              </a:rPr>
              <a:t>MPLS</a:t>
            </a:r>
            <a:r>
              <a:rPr lang="zh-CN" altLang="en-US" sz="1800" dirty="0" smtClean="0">
                <a:sym typeface="Huawei Sans" panose="020C0503030203020204" pitchFamily="34" charset="0"/>
              </a:rPr>
              <a:t>的体系结构由控制平面（</a:t>
            </a:r>
            <a:r>
              <a:rPr lang="en-US" altLang="zh-CN" sz="1800" dirty="0" smtClean="0">
                <a:sym typeface="Huawei Sans" panose="020C0503030203020204" pitchFamily="34" charset="0"/>
              </a:rPr>
              <a:t>Control Plane</a:t>
            </a:r>
            <a:r>
              <a:rPr lang="zh-CN" altLang="en-US" sz="1800" dirty="0" smtClean="0">
                <a:sym typeface="Huawei Sans" panose="020C0503030203020204" pitchFamily="34" charset="0"/>
              </a:rPr>
              <a:t>）和转发平面（</a:t>
            </a:r>
            <a:r>
              <a:rPr lang="en-US" altLang="zh-CN" sz="1800" dirty="0" smtClean="0">
                <a:sym typeface="Huawei Sans" panose="020C0503030203020204" pitchFamily="34" charset="0"/>
              </a:rPr>
              <a:t>Forwarding Plane</a:t>
            </a:r>
            <a:r>
              <a:rPr lang="zh-CN" altLang="en-US" sz="1800" dirty="0" smtClean="0">
                <a:sym typeface="Huawei Sans" panose="020C0503030203020204" pitchFamily="34" charset="0"/>
              </a:rPr>
              <a:t>）组成。</a:t>
            </a: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42" name="矩形 54"/>
          <p:cNvSpPr/>
          <p:nvPr/>
        </p:nvSpPr>
        <p:spPr bwMode="gray">
          <a:xfrm>
            <a:off x="854618" y="4352329"/>
            <a:ext cx="5670889" cy="1594454"/>
          </a:xfrm>
          <a:prstGeom prst="rect">
            <a:avLst/>
          </a:prstGeom>
          <a:solidFill>
            <a:srgbClr val="BEE9EE"/>
          </a:solidFill>
          <a:ln w="1905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43" name="矩形 64"/>
          <p:cNvSpPr/>
          <p:nvPr/>
        </p:nvSpPr>
        <p:spPr bwMode="gray">
          <a:xfrm>
            <a:off x="986385" y="4356056"/>
            <a:ext cx="165618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 smtClean="0"/>
              <a:t>转发平面</a:t>
            </a:r>
            <a:endParaRPr lang="en-US" altLang="zh-CN" sz="1600" b="1" dirty="0"/>
          </a:p>
        </p:txBody>
      </p:sp>
      <p:sp>
        <p:nvSpPr>
          <p:cNvPr id="48" name="矩形 47"/>
          <p:cNvSpPr/>
          <p:nvPr/>
        </p:nvSpPr>
        <p:spPr bwMode="gray">
          <a:xfrm>
            <a:off x="849180" y="1911815"/>
            <a:ext cx="5670889" cy="2372791"/>
          </a:xfrm>
          <a:prstGeom prst="rect">
            <a:avLst/>
          </a:prstGeom>
          <a:solidFill>
            <a:srgbClr val="BEE9EE"/>
          </a:solidFill>
          <a:ln w="1905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49" name="矩形 48"/>
          <p:cNvSpPr/>
          <p:nvPr/>
        </p:nvSpPr>
        <p:spPr bwMode="gray">
          <a:xfrm>
            <a:off x="980947" y="1914155"/>
            <a:ext cx="165618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 smtClean="0"/>
              <a:t>控制平面</a:t>
            </a:r>
            <a:endParaRPr lang="en-US" altLang="zh-CN" sz="1600" b="1" dirty="0"/>
          </a:p>
        </p:txBody>
      </p:sp>
      <p:sp>
        <p:nvSpPr>
          <p:cNvPr id="52" name="矩形 51"/>
          <p:cNvSpPr/>
          <p:nvPr/>
        </p:nvSpPr>
        <p:spPr bwMode="gray">
          <a:xfrm>
            <a:off x="1096414" y="3703073"/>
            <a:ext cx="2302076" cy="393975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</a:rPr>
              <a:t>标签信息表 （</a:t>
            </a:r>
            <a:r>
              <a:rPr lang="en-US" altLang="zh-CN" sz="1400" dirty="0" smtClean="0">
                <a:solidFill>
                  <a:schemeClr val="tx1"/>
                </a:solidFill>
              </a:rPr>
              <a:t>LIB</a:t>
            </a:r>
            <a:r>
              <a:rPr lang="zh-CN" altLang="en-US" sz="1400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54" name="矩形 53"/>
          <p:cNvSpPr/>
          <p:nvPr/>
        </p:nvSpPr>
        <p:spPr bwMode="gray">
          <a:xfrm>
            <a:off x="3728309" y="3703073"/>
            <a:ext cx="2302076" cy="393975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</a:rPr>
              <a:t>标签分发协议 </a:t>
            </a:r>
            <a:r>
              <a:rPr lang="en-US" altLang="zh-CN" sz="1400" dirty="0" smtClean="0">
                <a:solidFill>
                  <a:schemeClr val="tx1"/>
                </a:solidFill>
              </a:rPr>
              <a:t>(LDP)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55" name="矩形 54"/>
          <p:cNvSpPr/>
          <p:nvPr/>
        </p:nvSpPr>
        <p:spPr bwMode="gray">
          <a:xfrm>
            <a:off x="3728309" y="3011715"/>
            <a:ext cx="2302076" cy="393975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</a:rPr>
              <a:t>路由信息表 （</a:t>
            </a:r>
            <a:r>
              <a:rPr lang="en-US" altLang="zh-CN" sz="1400" dirty="0" smtClean="0">
                <a:solidFill>
                  <a:schemeClr val="tx1"/>
                </a:solidFill>
              </a:rPr>
              <a:t>RIB</a:t>
            </a:r>
            <a:r>
              <a:rPr lang="zh-CN" altLang="en-US" sz="1400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57" name="矩形 56"/>
          <p:cNvSpPr/>
          <p:nvPr/>
        </p:nvSpPr>
        <p:spPr bwMode="gray">
          <a:xfrm>
            <a:off x="3728309" y="2317521"/>
            <a:ext cx="2302076" cy="393975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>
                <a:solidFill>
                  <a:schemeClr val="tx1"/>
                </a:solidFill>
              </a:rPr>
              <a:t>IP</a:t>
            </a:r>
            <a:r>
              <a:rPr lang="zh-CN" altLang="en-US" sz="1400" dirty="0" smtClean="0">
                <a:solidFill>
                  <a:schemeClr val="tx1"/>
                </a:solidFill>
              </a:rPr>
              <a:t>路由协议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58" name="矩形 57"/>
          <p:cNvSpPr/>
          <p:nvPr/>
        </p:nvSpPr>
        <p:spPr bwMode="gray">
          <a:xfrm>
            <a:off x="3728309" y="4666013"/>
            <a:ext cx="2302076" cy="393975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</a:rPr>
              <a:t>转发信息表 （</a:t>
            </a:r>
            <a:r>
              <a:rPr lang="en-US" altLang="zh-CN" sz="1400" dirty="0" smtClean="0">
                <a:solidFill>
                  <a:schemeClr val="tx1"/>
                </a:solidFill>
              </a:rPr>
              <a:t>FIB</a:t>
            </a:r>
            <a:r>
              <a:rPr lang="zh-CN" altLang="en-US" sz="1400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59" name="矩形 58"/>
          <p:cNvSpPr/>
          <p:nvPr/>
        </p:nvSpPr>
        <p:spPr bwMode="gray">
          <a:xfrm>
            <a:off x="3728309" y="5319963"/>
            <a:ext cx="2302076" cy="393975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solidFill>
                  <a:schemeClr val="tx1"/>
                </a:solidFill>
              </a:rPr>
              <a:t>标签转发信息表 （</a:t>
            </a:r>
            <a:r>
              <a:rPr lang="en-US" altLang="zh-CN" sz="1600" dirty="0" smtClean="0">
                <a:solidFill>
                  <a:schemeClr val="tx1"/>
                </a:solidFill>
              </a:rPr>
              <a:t>LFIB</a:t>
            </a:r>
            <a:r>
              <a:rPr lang="zh-CN" altLang="en-US" sz="1600" dirty="0">
                <a:solidFill>
                  <a:schemeClr val="tx1"/>
                </a:solidFill>
              </a:rPr>
              <a:t>）</a:t>
            </a:r>
          </a:p>
        </p:txBody>
      </p:sp>
      <p:cxnSp>
        <p:nvCxnSpPr>
          <p:cNvPr id="63" name="直接箭头连接符 62"/>
          <p:cNvCxnSpPr>
            <a:stCxn id="57" idx="2"/>
            <a:endCxn id="55" idx="0"/>
          </p:cNvCxnSpPr>
          <p:nvPr/>
        </p:nvCxnSpPr>
        <p:spPr bwMode="gray">
          <a:xfrm>
            <a:off x="4879347" y="2711496"/>
            <a:ext cx="0" cy="300219"/>
          </a:xfrm>
          <a:prstGeom prst="straightConnector1">
            <a:avLst/>
          </a:prstGeom>
          <a:ln w="57150">
            <a:solidFill>
              <a:srgbClr val="30B5C5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>
            <a:stCxn id="55" idx="2"/>
            <a:endCxn id="54" idx="0"/>
          </p:cNvCxnSpPr>
          <p:nvPr/>
        </p:nvCxnSpPr>
        <p:spPr bwMode="gray">
          <a:xfrm>
            <a:off x="4879347" y="3405690"/>
            <a:ext cx="0" cy="297383"/>
          </a:xfrm>
          <a:prstGeom prst="straightConnector1">
            <a:avLst/>
          </a:prstGeom>
          <a:ln w="57150">
            <a:solidFill>
              <a:srgbClr val="30B5C5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>
            <a:stCxn id="54" idx="2"/>
            <a:endCxn id="58" idx="0"/>
          </p:cNvCxnSpPr>
          <p:nvPr/>
        </p:nvCxnSpPr>
        <p:spPr bwMode="gray">
          <a:xfrm>
            <a:off x="4879347" y="4097048"/>
            <a:ext cx="0" cy="568965"/>
          </a:xfrm>
          <a:prstGeom prst="straightConnector1">
            <a:avLst/>
          </a:prstGeom>
          <a:ln w="57150">
            <a:solidFill>
              <a:srgbClr val="30B5C5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>
            <a:stCxn id="58" idx="2"/>
            <a:endCxn id="59" idx="0"/>
          </p:cNvCxnSpPr>
          <p:nvPr/>
        </p:nvCxnSpPr>
        <p:spPr bwMode="gray">
          <a:xfrm>
            <a:off x="4879347" y="5059988"/>
            <a:ext cx="0" cy="259975"/>
          </a:xfrm>
          <a:prstGeom prst="straightConnector1">
            <a:avLst/>
          </a:prstGeom>
          <a:ln w="57150">
            <a:solidFill>
              <a:srgbClr val="30B5C5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/>
          <p:cNvCxnSpPr>
            <a:stCxn id="54" idx="1"/>
            <a:endCxn id="52" idx="3"/>
          </p:cNvCxnSpPr>
          <p:nvPr/>
        </p:nvCxnSpPr>
        <p:spPr bwMode="gray">
          <a:xfrm flipH="1">
            <a:off x="3398490" y="3900061"/>
            <a:ext cx="329819" cy="0"/>
          </a:xfrm>
          <a:prstGeom prst="straightConnector1">
            <a:avLst/>
          </a:prstGeom>
          <a:ln w="57150">
            <a:solidFill>
              <a:srgbClr val="30B5C5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肘形连接符 67"/>
          <p:cNvCxnSpPr>
            <a:stCxn id="55" idx="3"/>
            <a:endCxn id="58" idx="3"/>
          </p:cNvCxnSpPr>
          <p:nvPr/>
        </p:nvCxnSpPr>
        <p:spPr bwMode="gray">
          <a:xfrm>
            <a:off x="6030385" y="3208703"/>
            <a:ext cx="12700" cy="1654298"/>
          </a:xfrm>
          <a:prstGeom prst="bentConnector3">
            <a:avLst>
              <a:gd name="adj1" fmla="val 1800000"/>
            </a:avLst>
          </a:prstGeom>
          <a:ln w="57150">
            <a:solidFill>
              <a:srgbClr val="30B5C5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肘形连接符 68"/>
          <p:cNvCxnSpPr>
            <a:stCxn id="54" idx="3"/>
            <a:endCxn id="59" idx="3"/>
          </p:cNvCxnSpPr>
          <p:nvPr/>
        </p:nvCxnSpPr>
        <p:spPr bwMode="gray">
          <a:xfrm>
            <a:off x="6030385" y="3900061"/>
            <a:ext cx="12700" cy="1616890"/>
          </a:xfrm>
          <a:prstGeom prst="bentConnector3">
            <a:avLst>
              <a:gd name="adj1" fmla="val 2947827"/>
            </a:avLst>
          </a:prstGeom>
          <a:ln w="57150">
            <a:solidFill>
              <a:srgbClr val="30B5C5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圆角矩形 75"/>
          <p:cNvSpPr/>
          <p:nvPr/>
        </p:nvSpPr>
        <p:spPr bwMode="gray">
          <a:xfrm>
            <a:off x="6698278" y="1914155"/>
            <a:ext cx="4622940" cy="1885111"/>
          </a:xfrm>
          <a:prstGeom prst="roundRect">
            <a:avLst>
              <a:gd name="adj" fmla="val 874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 anchorCtr="0">
            <a:noAutofit/>
          </a:bodyPr>
          <a:lstStyle/>
          <a:p>
            <a:pPr marL="177800" indent="-177800"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prstClr val="black"/>
                </a:solidFill>
              </a:rPr>
              <a:t>控制平面</a:t>
            </a:r>
            <a:r>
              <a:rPr lang="zh-CN" altLang="en-US" sz="1600" dirty="0" smtClean="0">
                <a:solidFill>
                  <a:prstClr val="black"/>
                </a:solidFill>
              </a:rPr>
              <a:t>：</a:t>
            </a:r>
            <a:endParaRPr lang="en-US" altLang="zh-CN" sz="1600" dirty="0" smtClean="0">
              <a:solidFill>
                <a:prstClr val="black"/>
              </a:solidFill>
            </a:endParaRPr>
          </a:p>
          <a:p>
            <a:pPr marL="360000" indent="-180000"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Huawei Sans" panose="020C0503030203020204" pitchFamily="34" charset="0"/>
              <a:buChar char="▫"/>
            </a:pPr>
            <a:r>
              <a:rPr lang="zh-CN" altLang="en-US" sz="1400" dirty="0">
                <a:solidFill>
                  <a:prstClr val="black"/>
                </a:solidFill>
              </a:rPr>
              <a:t>负责产生和维护路由信息以及标签信息</a:t>
            </a:r>
            <a:r>
              <a:rPr lang="zh-CN" altLang="en-US" sz="1400" dirty="0" smtClean="0">
                <a:solidFill>
                  <a:prstClr val="black"/>
                </a:solidFill>
              </a:rPr>
              <a:t>。</a:t>
            </a:r>
            <a:endParaRPr lang="en-US" altLang="zh-CN" sz="1400" dirty="0" smtClean="0">
              <a:solidFill>
                <a:prstClr val="black"/>
              </a:solidFill>
            </a:endParaRPr>
          </a:p>
          <a:p>
            <a:pPr marL="360000" indent="-180000"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Huawei Sans" panose="020C0503030203020204" pitchFamily="34" charset="0"/>
              <a:buChar char="▫"/>
            </a:pPr>
            <a:r>
              <a:rPr lang="zh-CN" altLang="en-US" sz="1400" dirty="0">
                <a:solidFill>
                  <a:prstClr val="black"/>
                </a:solidFill>
              </a:rPr>
              <a:t>控制</a:t>
            </a:r>
            <a:r>
              <a:rPr lang="zh-CN" altLang="en-US" sz="1400" dirty="0" smtClean="0">
                <a:solidFill>
                  <a:prstClr val="black"/>
                </a:solidFill>
              </a:rPr>
              <a:t>平面包括</a:t>
            </a:r>
            <a:r>
              <a:rPr lang="en-US" altLang="zh-CN" sz="1400" dirty="0" smtClean="0">
                <a:solidFill>
                  <a:prstClr val="black"/>
                </a:solidFill>
              </a:rPr>
              <a:t>IP</a:t>
            </a:r>
            <a:r>
              <a:rPr lang="zh-CN" altLang="en-US" sz="1400" dirty="0" smtClean="0">
                <a:solidFill>
                  <a:prstClr val="black"/>
                </a:solidFill>
              </a:rPr>
              <a:t>路由协议和路由信息表，标签分发协议和标签信息表。</a:t>
            </a:r>
            <a:endParaRPr lang="zh-CN" altLang="en-US" sz="1400" dirty="0">
              <a:solidFill>
                <a:prstClr val="black"/>
              </a:solidFill>
            </a:endParaRPr>
          </a:p>
          <a:p>
            <a:pPr marL="360000" indent="-180000"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Huawei Sans" panose="020C0503030203020204" pitchFamily="34" charset="0"/>
              <a:buChar char="▫"/>
            </a:pPr>
            <a:endParaRPr lang="en-US" altLang="zh-CN" sz="1400" dirty="0">
              <a:solidFill>
                <a:prstClr val="black"/>
              </a:solidFill>
            </a:endParaRPr>
          </a:p>
        </p:txBody>
      </p:sp>
      <p:sp>
        <p:nvSpPr>
          <p:cNvPr id="71" name="圆角矩形 75"/>
          <p:cNvSpPr/>
          <p:nvPr/>
        </p:nvSpPr>
        <p:spPr bwMode="gray">
          <a:xfrm>
            <a:off x="6698278" y="4352328"/>
            <a:ext cx="4622940" cy="1594455"/>
          </a:xfrm>
          <a:prstGeom prst="roundRect">
            <a:avLst>
              <a:gd name="adj" fmla="val 874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 anchorCtr="0">
            <a:noAutofit/>
          </a:bodyPr>
          <a:lstStyle/>
          <a:p>
            <a:pPr marL="177800" indent="-177800"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prstClr val="black"/>
                </a:solidFill>
              </a:rPr>
              <a:t>转发</a:t>
            </a:r>
            <a:r>
              <a:rPr lang="zh-CN" altLang="en-US" sz="1600" dirty="0">
                <a:solidFill>
                  <a:prstClr val="black"/>
                </a:solidFill>
              </a:rPr>
              <a:t>平面</a:t>
            </a:r>
            <a:r>
              <a:rPr lang="zh-CN" altLang="en-US" sz="1600" dirty="0" smtClean="0">
                <a:solidFill>
                  <a:prstClr val="black"/>
                </a:solidFill>
              </a:rPr>
              <a:t>：</a:t>
            </a:r>
            <a:endParaRPr lang="en-US" altLang="zh-CN" sz="1600" dirty="0" smtClean="0">
              <a:solidFill>
                <a:prstClr val="black"/>
              </a:solidFill>
            </a:endParaRPr>
          </a:p>
          <a:p>
            <a:pPr marL="360000" indent="-180000"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Huawei Sans" panose="020C0503030203020204" pitchFamily="34" charset="0"/>
              <a:buChar char="▫"/>
            </a:pPr>
            <a:r>
              <a:rPr lang="zh-CN" altLang="en-US" sz="1400" dirty="0">
                <a:solidFill>
                  <a:prstClr val="black"/>
                </a:solidFill>
              </a:rPr>
              <a:t>也称数据平面（</a:t>
            </a:r>
            <a:r>
              <a:rPr lang="en-US" altLang="zh-CN" sz="1400" dirty="0">
                <a:solidFill>
                  <a:prstClr val="black"/>
                </a:solidFill>
              </a:rPr>
              <a:t>Data Plane</a:t>
            </a:r>
            <a:r>
              <a:rPr lang="zh-CN" altLang="en-US" sz="1400" dirty="0">
                <a:solidFill>
                  <a:prstClr val="black"/>
                </a:solidFill>
              </a:rPr>
              <a:t>），负责普通</a:t>
            </a:r>
            <a:r>
              <a:rPr lang="en-US" altLang="zh-CN" sz="1400" dirty="0">
                <a:solidFill>
                  <a:prstClr val="black"/>
                </a:solidFill>
              </a:rPr>
              <a:t>IP</a:t>
            </a:r>
            <a:r>
              <a:rPr lang="zh-CN" altLang="en-US" sz="1400" dirty="0">
                <a:solidFill>
                  <a:prstClr val="black"/>
                </a:solidFill>
              </a:rPr>
              <a:t>报文的转发以及带</a:t>
            </a:r>
            <a:r>
              <a:rPr lang="en-US" altLang="zh-CN" sz="1400" dirty="0">
                <a:solidFill>
                  <a:prstClr val="black"/>
                </a:solidFill>
              </a:rPr>
              <a:t>MPLS</a:t>
            </a:r>
            <a:r>
              <a:rPr lang="zh-CN" altLang="en-US" sz="1400" dirty="0">
                <a:solidFill>
                  <a:prstClr val="black"/>
                </a:solidFill>
              </a:rPr>
              <a:t>标签报文的转发</a:t>
            </a:r>
            <a:r>
              <a:rPr lang="zh-CN" altLang="en-US" sz="1400" dirty="0" smtClean="0">
                <a:solidFill>
                  <a:prstClr val="black"/>
                </a:solidFill>
              </a:rPr>
              <a:t>。</a:t>
            </a:r>
            <a:endParaRPr lang="en-US" altLang="zh-CN" sz="1400" dirty="0" smtClean="0">
              <a:solidFill>
                <a:prstClr val="black"/>
              </a:solidFill>
            </a:endParaRPr>
          </a:p>
          <a:p>
            <a:pPr marL="360000" indent="-180000"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Huawei Sans" panose="020C0503030203020204" pitchFamily="34" charset="0"/>
              <a:buChar char="▫"/>
            </a:pPr>
            <a:r>
              <a:rPr lang="zh-CN" altLang="en-US" sz="1400" dirty="0">
                <a:solidFill>
                  <a:prstClr val="black"/>
                </a:solidFill>
              </a:rPr>
              <a:t>转发</a:t>
            </a:r>
            <a:r>
              <a:rPr lang="zh-CN" altLang="en-US" sz="1400" dirty="0" smtClean="0">
                <a:solidFill>
                  <a:prstClr val="black"/>
                </a:solidFill>
              </a:rPr>
              <a:t>平面包括</a:t>
            </a:r>
            <a:r>
              <a:rPr lang="en-US" altLang="zh-CN" sz="1400" dirty="0" smtClean="0">
                <a:solidFill>
                  <a:prstClr val="black"/>
                </a:solidFill>
              </a:rPr>
              <a:t>IP</a:t>
            </a:r>
            <a:r>
              <a:rPr lang="zh-CN" altLang="en-US" sz="1400" dirty="0" smtClean="0">
                <a:solidFill>
                  <a:prstClr val="black"/>
                </a:solidFill>
              </a:rPr>
              <a:t>转发信息表和标签转发信息表。</a:t>
            </a:r>
          </a:p>
          <a:p>
            <a:pPr marL="360000" indent="-180000"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Huawei Sans" panose="020C0503030203020204" pitchFamily="34" charset="0"/>
              <a:buChar char="▫"/>
            </a:pPr>
            <a:endParaRPr lang="en-US" altLang="zh-CN" sz="1400" dirty="0">
              <a:solidFill>
                <a:prstClr val="black"/>
              </a:solidFill>
            </a:endParaRPr>
          </a:p>
        </p:txBody>
      </p:sp>
      <p:sp>
        <p:nvSpPr>
          <p:cNvPr id="29" name="五边形 28"/>
          <p:cNvSpPr/>
          <p:nvPr/>
        </p:nvSpPr>
        <p:spPr bwMode="gray">
          <a:xfrm>
            <a:off x="8501934" y="114300"/>
            <a:ext cx="1152000" cy="21312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基本概念</a:t>
            </a:r>
          </a:p>
        </p:txBody>
      </p:sp>
      <p:sp>
        <p:nvSpPr>
          <p:cNvPr id="30" name="燕尾形 29"/>
          <p:cNvSpPr/>
          <p:nvPr/>
        </p:nvSpPr>
        <p:spPr bwMode="gray">
          <a:xfrm>
            <a:off x="9620717" y="114300"/>
            <a:ext cx="108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LSP</a:t>
            </a:r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建立</a:t>
            </a:r>
          </a:p>
        </p:txBody>
      </p:sp>
      <p:sp>
        <p:nvSpPr>
          <p:cNvPr id="31" name="燕尾形 30"/>
          <p:cNvSpPr/>
          <p:nvPr/>
        </p:nvSpPr>
        <p:spPr bwMode="gray">
          <a:xfrm>
            <a:off x="10667500" y="114300"/>
            <a:ext cx="108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kern="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标签转发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5424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smtClean="0"/>
              <a:t>控制平面与转发平面</a:t>
            </a:r>
            <a:endParaRPr lang="zh-CN" altLang="en-US" dirty="0"/>
          </a:p>
        </p:txBody>
      </p:sp>
      <p:sp>
        <p:nvSpPr>
          <p:cNvPr id="33" name="矩形 54"/>
          <p:cNvSpPr/>
          <p:nvPr/>
        </p:nvSpPr>
        <p:spPr bwMode="gray">
          <a:xfrm>
            <a:off x="2109073" y="4421702"/>
            <a:ext cx="3106992" cy="1594454"/>
          </a:xfrm>
          <a:prstGeom prst="rect">
            <a:avLst/>
          </a:prstGeom>
          <a:solidFill>
            <a:srgbClr val="BEE9EE"/>
          </a:solidFill>
          <a:ln w="19050">
            <a:solidFill>
              <a:srgbClr val="56C4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34" name="矩形 64"/>
          <p:cNvSpPr/>
          <p:nvPr/>
        </p:nvSpPr>
        <p:spPr bwMode="gray">
          <a:xfrm>
            <a:off x="2116666" y="4425429"/>
            <a:ext cx="165618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 smtClean="0"/>
              <a:t>转发平面</a:t>
            </a:r>
            <a:endParaRPr lang="en-US" altLang="zh-CN" sz="1400" b="1" dirty="0"/>
          </a:p>
        </p:txBody>
      </p:sp>
      <p:sp>
        <p:nvSpPr>
          <p:cNvPr id="21" name="矩形 20"/>
          <p:cNvSpPr/>
          <p:nvPr/>
        </p:nvSpPr>
        <p:spPr bwMode="gray">
          <a:xfrm>
            <a:off x="2103635" y="1981188"/>
            <a:ext cx="3106992" cy="2372791"/>
          </a:xfrm>
          <a:prstGeom prst="rect">
            <a:avLst/>
          </a:prstGeom>
          <a:solidFill>
            <a:srgbClr val="BEE9EE"/>
          </a:solidFill>
          <a:ln w="19050">
            <a:solidFill>
              <a:srgbClr val="56C4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22" name="矩形 21"/>
          <p:cNvSpPr/>
          <p:nvPr/>
        </p:nvSpPr>
        <p:spPr bwMode="gray">
          <a:xfrm>
            <a:off x="2111228" y="1983528"/>
            <a:ext cx="165618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 smtClean="0"/>
              <a:t>控制平面</a:t>
            </a:r>
            <a:endParaRPr lang="en-US" altLang="zh-CN" sz="1400" b="1" dirty="0"/>
          </a:p>
        </p:txBody>
      </p:sp>
      <p:sp>
        <p:nvSpPr>
          <p:cNvPr id="35" name="矩形 34"/>
          <p:cNvSpPr/>
          <p:nvPr/>
        </p:nvSpPr>
        <p:spPr bwMode="gray">
          <a:xfrm>
            <a:off x="2398723" y="3772446"/>
            <a:ext cx="2302076" cy="393975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</a:rPr>
              <a:t>标签分发协议 （</a:t>
            </a:r>
            <a:r>
              <a:rPr lang="en-US" altLang="zh-CN" sz="1400" dirty="0" smtClean="0">
                <a:solidFill>
                  <a:schemeClr val="tx1"/>
                </a:solidFill>
              </a:rPr>
              <a:t>LDP</a:t>
            </a:r>
            <a:r>
              <a:rPr lang="zh-CN" altLang="en-US" sz="1400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36" name="矩形 35"/>
          <p:cNvSpPr/>
          <p:nvPr/>
        </p:nvSpPr>
        <p:spPr bwMode="gray">
          <a:xfrm>
            <a:off x="2398723" y="3081088"/>
            <a:ext cx="2302076" cy="393975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</a:rPr>
              <a:t>路由信息表 （</a:t>
            </a:r>
            <a:r>
              <a:rPr lang="en-US" altLang="zh-CN" sz="1400" dirty="0" smtClean="0">
                <a:solidFill>
                  <a:schemeClr val="tx1"/>
                </a:solidFill>
              </a:rPr>
              <a:t>RIB</a:t>
            </a:r>
            <a:r>
              <a:rPr lang="zh-CN" altLang="en-US" sz="1400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37" name="矩形 36"/>
          <p:cNvSpPr/>
          <p:nvPr/>
        </p:nvSpPr>
        <p:spPr bwMode="gray">
          <a:xfrm>
            <a:off x="2398723" y="2386894"/>
            <a:ext cx="2302076" cy="393975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>
                <a:solidFill>
                  <a:schemeClr val="tx1"/>
                </a:solidFill>
              </a:rPr>
              <a:t>IP</a:t>
            </a:r>
            <a:r>
              <a:rPr lang="zh-CN" altLang="en-US" sz="1400" dirty="0" smtClean="0">
                <a:solidFill>
                  <a:schemeClr val="tx1"/>
                </a:solidFill>
              </a:rPr>
              <a:t>路由协议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38" name="矩形 37"/>
          <p:cNvSpPr/>
          <p:nvPr/>
        </p:nvSpPr>
        <p:spPr bwMode="gray">
          <a:xfrm>
            <a:off x="2398723" y="4735386"/>
            <a:ext cx="2302076" cy="393975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</a:rPr>
              <a:t>转发信息表 （</a:t>
            </a:r>
            <a:r>
              <a:rPr lang="en-US" altLang="zh-CN" sz="1400" dirty="0" smtClean="0">
                <a:solidFill>
                  <a:schemeClr val="tx1"/>
                </a:solidFill>
              </a:rPr>
              <a:t>FIB</a:t>
            </a:r>
            <a:r>
              <a:rPr lang="zh-CN" altLang="en-US" sz="1400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39" name="矩形 38"/>
          <p:cNvSpPr/>
          <p:nvPr/>
        </p:nvSpPr>
        <p:spPr bwMode="gray">
          <a:xfrm>
            <a:off x="2398723" y="5389336"/>
            <a:ext cx="2302076" cy="393975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</a:rPr>
              <a:t>标签转发信息表 （</a:t>
            </a:r>
            <a:r>
              <a:rPr lang="en-US" altLang="zh-CN" sz="1400" dirty="0" smtClean="0">
                <a:solidFill>
                  <a:schemeClr val="tx1"/>
                </a:solidFill>
              </a:rPr>
              <a:t>LFIB</a:t>
            </a:r>
            <a:r>
              <a:rPr lang="zh-CN" altLang="en-US" sz="1400" dirty="0">
                <a:solidFill>
                  <a:schemeClr val="tx1"/>
                </a:solidFill>
              </a:rPr>
              <a:t>）</a:t>
            </a:r>
          </a:p>
        </p:txBody>
      </p:sp>
      <p:cxnSp>
        <p:nvCxnSpPr>
          <p:cNvPr id="58" name="肘形连接符 57"/>
          <p:cNvCxnSpPr>
            <a:stCxn id="36" idx="3"/>
            <a:endCxn id="38" idx="3"/>
          </p:cNvCxnSpPr>
          <p:nvPr/>
        </p:nvCxnSpPr>
        <p:spPr bwMode="gray">
          <a:xfrm>
            <a:off x="4700799" y="3278076"/>
            <a:ext cx="12700" cy="1654298"/>
          </a:xfrm>
          <a:prstGeom prst="bentConnector3">
            <a:avLst>
              <a:gd name="adj1" fmla="val 1800000"/>
            </a:avLst>
          </a:prstGeom>
          <a:ln w="57150">
            <a:solidFill>
              <a:srgbClr val="30B5C5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肘形连接符 59"/>
          <p:cNvCxnSpPr>
            <a:stCxn id="35" idx="3"/>
            <a:endCxn id="39" idx="3"/>
          </p:cNvCxnSpPr>
          <p:nvPr/>
        </p:nvCxnSpPr>
        <p:spPr bwMode="gray">
          <a:xfrm>
            <a:off x="4700799" y="3969434"/>
            <a:ext cx="12700" cy="1616890"/>
          </a:xfrm>
          <a:prstGeom prst="bentConnector3">
            <a:avLst>
              <a:gd name="adj1" fmla="val 3022354"/>
            </a:avLst>
          </a:prstGeom>
          <a:ln w="57150">
            <a:solidFill>
              <a:srgbClr val="30B5C5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 bwMode="gray">
          <a:xfrm>
            <a:off x="558786" y="2439429"/>
            <a:ext cx="125258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 smtClean="0"/>
              <a:t>交互路由信息</a:t>
            </a:r>
            <a:endParaRPr lang="en-US" altLang="zh-CN" sz="1400" b="1" dirty="0"/>
          </a:p>
        </p:txBody>
      </p:sp>
      <p:sp>
        <p:nvSpPr>
          <p:cNvPr id="27" name="矩形 26"/>
          <p:cNvSpPr/>
          <p:nvPr/>
        </p:nvSpPr>
        <p:spPr bwMode="gray">
          <a:xfrm>
            <a:off x="558786" y="3823734"/>
            <a:ext cx="125258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 smtClean="0"/>
              <a:t>交互标签信息</a:t>
            </a:r>
            <a:endParaRPr lang="en-US" altLang="zh-CN" sz="1400" b="1" dirty="0"/>
          </a:p>
        </p:txBody>
      </p:sp>
      <p:sp>
        <p:nvSpPr>
          <p:cNvPr id="5" name="左右箭头 4"/>
          <p:cNvSpPr/>
          <p:nvPr/>
        </p:nvSpPr>
        <p:spPr bwMode="gray">
          <a:xfrm>
            <a:off x="1735581" y="2444660"/>
            <a:ext cx="663142" cy="288056"/>
          </a:xfrm>
          <a:prstGeom prst="leftRightArrow">
            <a:avLst/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 indent="-177800" algn="just">
              <a:lnSpc>
                <a:spcPts val="26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CN" altLang="en-US" sz="1600" dirty="0">
              <a:solidFill>
                <a:prstClr val="black"/>
              </a:solidFill>
            </a:endParaRPr>
          </a:p>
        </p:txBody>
      </p:sp>
      <p:sp>
        <p:nvSpPr>
          <p:cNvPr id="28" name="左右箭头 27"/>
          <p:cNvSpPr/>
          <p:nvPr/>
        </p:nvSpPr>
        <p:spPr bwMode="gray">
          <a:xfrm>
            <a:off x="1735581" y="3822206"/>
            <a:ext cx="663142" cy="288056"/>
          </a:xfrm>
          <a:prstGeom prst="leftRightArrow">
            <a:avLst/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 indent="-177800" algn="just">
              <a:lnSpc>
                <a:spcPts val="26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CN" altLang="en-US" sz="1600" dirty="0">
              <a:solidFill>
                <a:prstClr val="black"/>
              </a:solidFill>
            </a:endParaRPr>
          </a:p>
        </p:txBody>
      </p:sp>
      <p:sp>
        <p:nvSpPr>
          <p:cNvPr id="29" name="矩形 54"/>
          <p:cNvSpPr/>
          <p:nvPr/>
        </p:nvSpPr>
        <p:spPr bwMode="gray">
          <a:xfrm>
            <a:off x="7152490" y="4421702"/>
            <a:ext cx="3071006" cy="1594454"/>
          </a:xfrm>
          <a:prstGeom prst="rect">
            <a:avLst/>
          </a:prstGeom>
          <a:solidFill>
            <a:srgbClr val="BEE9EE"/>
          </a:solidFill>
          <a:ln w="19050">
            <a:solidFill>
              <a:srgbClr val="56C4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31" name="矩形 64"/>
          <p:cNvSpPr/>
          <p:nvPr/>
        </p:nvSpPr>
        <p:spPr bwMode="gray">
          <a:xfrm>
            <a:off x="7160083" y="4425429"/>
            <a:ext cx="165618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 smtClean="0"/>
              <a:t>转发平面</a:t>
            </a:r>
            <a:endParaRPr lang="en-US" altLang="zh-CN" sz="1400" b="1" dirty="0"/>
          </a:p>
        </p:txBody>
      </p:sp>
      <p:sp>
        <p:nvSpPr>
          <p:cNvPr id="32" name="矩形 31"/>
          <p:cNvSpPr/>
          <p:nvPr/>
        </p:nvSpPr>
        <p:spPr bwMode="gray">
          <a:xfrm>
            <a:off x="7147052" y="1981188"/>
            <a:ext cx="3071006" cy="237279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40" name="矩形 39"/>
          <p:cNvSpPr/>
          <p:nvPr/>
        </p:nvSpPr>
        <p:spPr bwMode="gray">
          <a:xfrm>
            <a:off x="7154645" y="1983528"/>
            <a:ext cx="165618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 smtClean="0">
                <a:solidFill>
                  <a:schemeClr val="bg1">
                    <a:lumMod val="50000"/>
                  </a:schemeClr>
                </a:solidFill>
              </a:rPr>
              <a:t>控制平面</a:t>
            </a:r>
            <a:endParaRPr lang="en-US" altLang="zh-CN" sz="1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2" name="矩形 41"/>
          <p:cNvSpPr/>
          <p:nvPr/>
        </p:nvSpPr>
        <p:spPr bwMode="gray">
          <a:xfrm>
            <a:off x="7442140" y="3772446"/>
            <a:ext cx="2302076" cy="393975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bg1"/>
                </a:solidFill>
              </a:rPr>
              <a:t>标签分发协议 </a:t>
            </a:r>
            <a:r>
              <a:rPr lang="en-US" altLang="zh-CN" sz="1400" dirty="0" smtClean="0">
                <a:solidFill>
                  <a:schemeClr val="bg1"/>
                </a:solidFill>
              </a:rPr>
              <a:t>(LDP)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43" name="矩形 42"/>
          <p:cNvSpPr/>
          <p:nvPr/>
        </p:nvSpPr>
        <p:spPr bwMode="gray">
          <a:xfrm>
            <a:off x="7442140" y="3081088"/>
            <a:ext cx="2302076" cy="393975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bg1"/>
                </a:solidFill>
              </a:rPr>
              <a:t>路由信息表 </a:t>
            </a:r>
            <a:r>
              <a:rPr lang="en-US" altLang="zh-CN" sz="1400" dirty="0" smtClean="0">
                <a:solidFill>
                  <a:schemeClr val="bg1"/>
                </a:solidFill>
              </a:rPr>
              <a:t>(</a:t>
            </a:r>
            <a:r>
              <a:rPr lang="en-US" altLang="zh-CN" sz="1400" dirty="0">
                <a:solidFill>
                  <a:schemeClr val="bg1"/>
                </a:solidFill>
              </a:rPr>
              <a:t>RIB)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45" name="矩形 44"/>
          <p:cNvSpPr/>
          <p:nvPr/>
        </p:nvSpPr>
        <p:spPr bwMode="gray">
          <a:xfrm>
            <a:off x="7442140" y="2386894"/>
            <a:ext cx="2302076" cy="393975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>
                <a:solidFill>
                  <a:schemeClr val="bg1"/>
                </a:solidFill>
              </a:rPr>
              <a:t>IP</a:t>
            </a:r>
            <a:r>
              <a:rPr lang="zh-CN" altLang="en-US" sz="1400" dirty="0" smtClean="0">
                <a:solidFill>
                  <a:schemeClr val="bg1"/>
                </a:solidFill>
              </a:rPr>
              <a:t>路由协议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46" name="矩形 45"/>
          <p:cNvSpPr/>
          <p:nvPr/>
        </p:nvSpPr>
        <p:spPr bwMode="gray">
          <a:xfrm>
            <a:off x="7442140" y="4735386"/>
            <a:ext cx="2302076" cy="393975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</a:rPr>
              <a:t>转发信息表 （</a:t>
            </a:r>
            <a:r>
              <a:rPr lang="en-US" altLang="zh-CN" sz="1400" dirty="0" smtClean="0">
                <a:solidFill>
                  <a:schemeClr val="tx1"/>
                </a:solidFill>
              </a:rPr>
              <a:t>FIB</a:t>
            </a:r>
            <a:r>
              <a:rPr lang="zh-CN" altLang="en-US" sz="1400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48" name="矩形 47"/>
          <p:cNvSpPr/>
          <p:nvPr/>
        </p:nvSpPr>
        <p:spPr bwMode="gray">
          <a:xfrm>
            <a:off x="7442140" y="5389336"/>
            <a:ext cx="2302076" cy="393975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</a:rPr>
              <a:t>标签转发信息表 （</a:t>
            </a:r>
            <a:r>
              <a:rPr lang="en-US" altLang="zh-CN" sz="1400" dirty="0" smtClean="0">
                <a:solidFill>
                  <a:schemeClr val="tx1"/>
                </a:solidFill>
              </a:rPr>
              <a:t>LFIB</a:t>
            </a:r>
            <a:r>
              <a:rPr lang="zh-CN" altLang="en-US" sz="1400" dirty="0">
                <a:solidFill>
                  <a:schemeClr val="tx1"/>
                </a:solidFill>
              </a:rPr>
              <a:t>）</a:t>
            </a:r>
          </a:p>
        </p:txBody>
      </p:sp>
      <p:cxnSp>
        <p:nvCxnSpPr>
          <p:cNvPr id="49" name="直接箭头连接符 48"/>
          <p:cNvCxnSpPr>
            <a:stCxn id="45" idx="2"/>
            <a:endCxn id="43" idx="0"/>
          </p:cNvCxnSpPr>
          <p:nvPr/>
        </p:nvCxnSpPr>
        <p:spPr bwMode="gray">
          <a:xfrm>
            <a:off x="8593178" y="2780869"/>
            <a:ext cx="0" cy="300219"/>
          </a:xfrm>
          <a:prstGeom prst="straightConnector1">
            <a:avLst/>
          </a:prstGeom>
          <a:ln w="57150">
            <a:solidFill>
              <a:schemeClr val="bg1">
                <a:lumMod val="6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>
            <a:stCxn id="43" idx="2"/>
            <a:endCxn id="42" idx="0"/>
          </p:cNvCxnSpPr>
          <p:nvPr/>
        </p:nvCxnSpPr>
        <p:spPr bwMode="gray">
          <a:xfrm>
            <a:off x="8593178" y="3475063"/>
            <a:ext cx="0" cy="297383"/>
          </a:xfrm>
          <a:prstGeom prst="straightConnector1">
            <a:avLst/>
          </a:prstGeom>
          <a:ln w="57150">
            <a:solidFill>
              <a:schemeClr val="bg1">
                <a:lumMod val="6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>
            <a:stCxn id="42" idx="2"/>
            <a:endCxn id="46" idx="0"/>
          </p:cNvCxnSpPr>
          <p:nvPr/>
        </p:nvCxnSpPr>
        <p:spPr bwMode="gray">
          <a:xfrm>
            <a:off x="8593178" y="4166421"/>
            <a:ext cx="0" cy="568965"/>
          </a:xfrm>
          <a:prstGeom prst="straightConnector1">
            <a:avLst/>
          </a:prstGeom>
          <a:ln w="57150">
            <a:solidFill>
              <a:schemeClr val="bg1">
                <a:lumMod val="6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肘形连接符 54"/>
          <p:cNvCxnSpPr>
            <a:stCxn id="43" idx="3"/>
            <a:endCxn id="46" idx="3"/>
          </p:cNvCxnSpPr>
          <p:nvPr/>
        </p:nvCxnSpPr>
        <p:spPr bwMode="gray">
          <a:xfrm>
            <a:off x="9744216" y="3278076"/>
            <a:ext cx="12700" cy="1654298"/>
          </a:xfrm>
          <a:prstGeom prst="bentConnector3">
            <a:avLst>
              <a:gd name="adj1" fmla="val 1800000"/>
            </a:avLst>
          </a:prstGeom>
          <a:ln w="57150">
            <a:solidFill>
              <a:schemeClr val="bg1">
                <a:lumMod val="6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肘形连接符 55"/>
          <p:cNvCxnSpPr>
            <a:stCxn id="42" idx="3"/>
            <a:endCxn id="71" idx="1"/>
          </p:cNvCxnSpPr>
          <p:nvPr/>
        </p:nvCxnSpPr>
        <p:spPr bwMode="gray">
          <a:xfrm>
            <a:off x="9744216" y="3969434"/>
            <a:ext cx="40072" cy="1625948"/>
          </a:xfrm>
          <a:prstGeom prst="bentConnector5">
            <a:avLst>
              <a:gd name="adj1" fmla="val 932679"/>
              <a:gd name="adj2" fmla="val 44304"/>
              <a:gd name="adj3" fmla="val 942127"/>
            </a:avLst>
          </a:prstGeom>
          <a:ln w="57150">
            <a:solidFill>
              <a:schemeClr val="bg1">
                <a:lumMod val="6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 62"/>
          <p:cNvSpPr/>
          <p:nvPr/>
        </p:nvSpPr>
        <p:spPr bwMode="gray">
          <a:xfrm>
            <a:off x="5566662" y="4778485"/>
            <a:ext cx="125258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1400" b="1" dirty="0" smtClean="0"/>
              <a:t>入站</a:t>
            </a:r>
            <a:r>
              <a:rPr lang="en-US" altLang="zh-CN" sz="1400" b="1" dirty="0" smtClean="0"/>
              <a:t>IP</a:t>
            </a:r>
            <a:r>
              <a:rPr lang="zh-CN" altLang="en-US" sz="1400" b="1" dirty="0" smtClean="0"/>
              <a:t>报文</a:t>
            </a:r>
            <a:endParaRPr lang="en-US" altLang="zh-CN" sz="1400" b="1" dirty="0"/>
          </a:p>
        </p:txBody>
      </p:sp>
      <p:sp>
        <p:nvSpPr>
          <p:cNvPr id="64" name="右箭头 63"/>
          <p:cNvSpPr/>
          <p:nvPr/>
        </p:nvSpPr>
        <p:spPr bwMode="gray">
          <a:xfrm>
            <a:off x="6778998" y="4835246"/>
            <a:ext cx="663142" cy="195464"/>
          </a:xfrm>
          <a:prstGeom prst="rightArrow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 indent="-177800" algn="just">
              <a:lnSpc>
                <a:spcPts val="26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CN" altLang="en-US" sz="1600" dirty="0">
              <a:solidFill>
                <a:prstClr val="black"/>
              </a:solidFill>
            </a:endParaRPr>
          </a:p>
        </p:txBody>
      </p:sp>
      <p:sp>
        <p:nvSpPr>
          <p:cNvPr id="65" name="右箭头 64"/>
          <p:cNvSpPr/>
          <p:nvPr/>
        </p:nvSpPr>
        <p:spPr bwMode="gray">
          <a:xfrm>
            <a:off x="9757825" y="4835246"/>
            <a:ext cx="663142" cy="195464"/>
          </a:xfrm>
          <a:prstGeom prst="rightArrow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 indent="-177800" algn="just">
              <a:lnSpc>
                <a:spcPts val="26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CN" altLang="en-US" sz="1600" dirty="0">
              <a:solidFill>
                <a:prstClr val="black"/>
              </a:solidFill>
            </a:endParaRPr>
          </a:p>
        </p:txBody>
      </p:sp>
      <p:sp>
        <p:nvSpPr>
          <p:cNvPr id="66" name="右箭头 65"/>
          <p:cNvSpPr/>
          <p:nvPr/>
        </p:nvSpPr>
        <p:spPr bwMode="gray">
          <a:xfrm rot="2700000">
            <a:off x="9691098" y="5140723"/>
            <a:ext cx="761479" cy="226005"/>
          </a:xfrm>
          <a:prstGeom prst="rightArrow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 indent="-177800" algn="just">
              <a:lnSpc>
                <a:spcPts val="26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CN" altLang="en-US" sz="1600" dirty="0">
              <a:solidFill>
                <a:prstClr val="black"/>
              </a:solidFill>
            </a:endParaRPr>
          </a:p>
        </p:txBody>
      </p:sp>
      <p:sp>
        <p:nvSpPr>
          <p:cNvPr id="67" name="矩形 66"/>
          <p:cNvSpPr/>
          <p:nvPr/>
        </p:nvSpPr>
        <p:spPr bwMode="gray">
          <a:xfrm>
            <a:off x="10449782" y="4778485"/>
            <a:ext cx="125258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/>
              <a:t>出</a:t>
            </a:r>
            <a:r>
              <a:rPr lang="zh-CN" altLang="en-US" sz="1400" b="1" dirty="0" smtClean="0"/>
              <a:t>站</a:t>
            </a:r>
            <a:r>
              <a:rPr lang="en-US" altLang="zh-CN" sz="1400" b="1" dirty="0" smtClean="0"/>
              <a:t>IP</a:t>
            </a:r>
            <a:r>
              <a:rPr lang="zh-CN" altLang="en-US" sz="1400" b="1" dirty="0"/>
              <a:t>报文</a:t>
            </a:r>
            <a:endParaRPr lang="en-US" altLang="zh-CN" sz="1400" b="1" dirty="0"/>
          </a:p>
        </p:txBody>
      </p:sp>
      <p:sp>
        <p:nvSpPr>
          <p:cNvPr id="68" name="矩形 67"/>
          <p:cNvSpPr/>
          <p:nvPr/>
        </p:nvSpPr>
        <p:spPr bwMode="gray">
          <a:xfrm>
            <a:off x="5566662" y="5473789"/>
            <a:ext cx="125258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1400" b="1" dirty="0" smtClean="0"/>
              <a:t>入站标签报文</a:t>
            </a:r>
            <a:endParaRPr lang="en-US" altLang="zh-CN" sz="1400" b="1" dirty="0"/>
          </a:p>
        </p:txBody>
      </p:sp>
      <p:sp>
        <p:nvSpPr>
          <p:cNvPr id="69" name="右箭头 68"/>
          <p:cNvSpPr/>
          <p:nvPr/>
        </p:nvSpPr>
        <p:spPr bwMode="gray">
          <a:xfrm>
            <a:off x="6778998" y="5530550"/>
            <a:ext cx="663142" cy="195464"/>
          </a:xfrm>
          <a:prstGeom prst="rightArrow">
            <a:avLst/>
          </a:prstGeom>
          <a:solidFill>
            <a:srgbClr val="30B5C5"/>
          </a:solidFill>
          <a:ln w="19050" cap="flat" cmpd="sng" algn="ctr">
            <a:solidFill>
              <a:srgbClr val="30B5C5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 indent="-177800" algn="just">
              <a:lnSpc>
                <a:spcPts val="26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CN" altLang="en-US" sz="1600" dirty="0">
              <a:solidFill>
                <a:prstClr val="black"/>
              </a:solidFill>
            </a:endParaRPr>
          </a:p>
        </p:txBody>
      </p:sp>
      <p:sp>
        <p:nvSpPr>
          <p:cNvPr id="70" name="右箭头 69"/>
          <p:cNvSpPr/>
          <p:nvPr/>
        </p:nvSpPr>
        <p:spPr bwMode="gray">
          <a:xfrm>
            <a:off x="9760174" y="5530550"/>
            <a:ext cx="663142" cy="195464"/>
          </a:xfrm>
          <a:prstGeom prst="rightArrow">
            <a:avLst/>
          </a:prstGeom>
          <a:solidFill>
            <a:srgbClr val="30B5C5"/>
          </a:solidFill>
          <a:ln w="19050" cap="flat" cmpd="sng" algn="ctr">
            <a:solidFill>
              <a:srgbClr val="30B5C5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 indent="-177800" algn="just">
              <a:lnSpc>
                <a:spcPts val="26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CN" altLang="en-US" sz="1600" dirty="0">
              <a:solidFill>
                <a:prstClr val="black"/>
              </a:solidFill>
            </a:endParaRPr>
          </a:p>
        </p:txBody>
      </p:sp>
      <p:sp>
        <p:nvSpPr>
          <p:cNvPr id="71" name="右箭头 70"/>
          <p:cNvSpPr/>
          <p:nvPr/>
        </p:nvSpPr>
        <p:spPr bwMode="gray">
          <a:xfrm rot="-2700000">
            <a:off x="9666897" y="5213171"/>
            <a:ext cx="801595" cy="197608"/>
          </a:xfrm>
          <a:prstGeom prst="rightArrow">
            <a:avLst/>
          </a:prstGeom>
          <a:solidFill>
            <a:srgbClr val="30B5C5"/>
          </a:solidFill>
          <a:ln w="19050" cap="flat" cmpd="sng" algn="ctr">
            <a:solidFill>
              <a:srgbClr val="30B5C5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 indent="-177800" algn="just">
              <a:lnSpc>
                <a:spcPts val="26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CN" altLang="en-US" sz="1600" dirty="0">
              <a:solidFill>
                <a:prstClr val="black"/>
              </a:solidFill>
            </a:endParaRPr>
          </a:p>
        </p:txBody>
      </p:sp>
      <p:sp>
        <p:nvSpPr>
          <p:cNvPr id="72" name="矩形 71"/>
          <p:cNvSpPr/>
          <p:nvPr/>
        </p:nvSpPr>
        <p:spPr bwMode="gray">
          <a:xfrm>
            <a:off x="10449782" y="5432434"/>
            <a:ext cx="125258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/>
              <a:t>出</a:t>
            </a:r>
            <a:r>
              <a:rPr lang="zh-CN" altLang="en-US" sz="1400" b="1" dirty="0" smtClean="0"/>
              <a:t>站</a:t>
            </a:r>
            <a:r>
              <a:rPr lang="zh-CN" altLang="en-US" sz="1400" b="1" dirty="0"/>
              <a:t>标签</a:t>
            </a:r>
            <a:r>
              <a:rPr lang="zh-CN" altLang="en-US" sz="1400" b="1" dirty="0" smtClean="0"/>
              <a:t>报文</a:t>
            </a:r>
            <a:endParaRPr lang="en-US" altLang="zh-CN" sz="1400" b="1" dirty="0"/>
          </a:p>
        </p:txBody>
      </p:sp>
      <p:sp>
        <p:nvSpPr>
          <p:cNvPr id="73" name="下箭头 72"/>
          <p:cNvSpPr/>
          <p:nvPr/>
        </p:nvSpPr>
        <p:spPr bwMode="gray">
          <a:xfrm>
            <a:off x="3386818" y="2805763"/>
            <a:ext cx="325885" cy="252000"/>
          </a:xfrm>
          <a:prstGeom prst="downArrow">
            <a:avLst/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 indent="-177800" algn="just">
              <a:lnSpc>
                <a:spcPts val="26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CN" altLang="en-US" sz="1600" dirty="0">
              <a:solidFill>
                <a:prstClr val="black"/>
              </a:solidFill>
            </a:endParaRPr>
          </a:p>
        </p:txBody>
      </p:sp>
      <p:sp>
        <p:nvSpPr>
          <p:cNvPr id="74" name="下箭头 73"/>
          <p:cNvSpPr/>
          <p:nvPr/>
        </p:nvSpPr>
        <p:spPr bwMode="gray">
          <a:xfrm>
            <a:off x="3386818" y="3498651"/>
            <a:ext cx="325885" cy="252000"/>
          </a:xfrm>
          <a:prstGeom prst="downArrow">
            <a:avLst/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 indent="-177800" algn="just">
              <a:lnSpc>
                <a:spcPts val="26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CN" altLang="en-US" sz="1600" dirty="0">
              <a:solidFill>
                <a:prstClr val="black"/>
              </a:solidFill>
            </a:endParaRPr>
          </a:p>
        </p:txBody>
      </p:sp>
      <p:sp>
        <p:nvSpPr>
          <p:cNvPr id="75" name="下箭头 74"/>
          <p:cNvSpPr/>
          <p:nvPr/>
        </p:nvSpPr>
        <p:spPr bwMode="gray">
          <a:xfrm>
            <a:off x="3386818" y="4192406"/>
            <a:ext cx="325885" cy="504000"/>
          </a:xfrm>
          <a:prstGeom prst="downArrow">
            <a:avLst/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 indent="-177800" algn="just">
              <a:lnSpc>
                <a:spcPts val="26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CN" altLang="en-US" sz="1600" dirty="0">
              <a:solidFill>
                <a:prstClr val="black"/>
              </a:solidFill>
            </a:endParaRPr>
          </a:p>
        </p:txBody>
      </p:sp>
      <p:sp>
        <p:nvSpPr>
          <p:cNvPr id="76" name="上下箭头 75"/>
          <p:cNvSpPr/>
          <p:nvPr/>
        </p:nvSpPr>
        <p:spPr bwMode="gray">
          <a:xfrm flipV="1">
            <a:off x="8467018" y="5038923"/>
            <a:ext cx="252320" cy="440849"/>
          </a:xfrm>
          <a:prstGeom prst="upDownArrow">
            <a:avLst/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 indent="-177800" algn="just">
              <a:lnSpc>
                <a:spcPts val="26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CN" altLang="en-US" sz="1600" dirty="0">
              <a:solidFill>
                <a:prstClr val="black"/>
              </a:solidFill>
            </a:endParaRPr>
          </a:p>
        </p:txBody>
      </p:sp>
      <p:sp>
        <p:nvSpPr>
          <p:cNvPr id="77" name="圆角矩形 75"/>
          <p:cNvSpPr/>
          <p:nvPr/>
        </p:nvSpPr>
        <p:spPr bwMode="gray">
          <a:xfrm>
            <a:off x="533173" y="1303832"/>
            <a:ext cx="4941028" cy="400100"/>
          </a:xfrm>
          <a:prstGeom prst="roundRect">
            <a:avLst>
              <a:gd name="adj" fmla="val 10604"/>
            </a:avLst>
          </a:prstGeom>
          <a:solidFill>
            <a:srgbClr val="56C4D2"/>
          </a:solidFill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zh-CN" altLang="en-US" b="1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路由信息和标签信息传递过程</a:t>
            </a:r>
          </a:p>
        </p:txBody>
      </p:sp>
      <p:sp>
        <p:nvSpPr>
          <p:cNvPr id="78" name="圆角矩形 75"/>
          <p:cNvSpPr/>
          <p:nvPr/>
        </p:nvSpPr>
        <p:spPr bwMode="gray">
          <a:xfrm>
            <a:off x="533173" y="1735336"/>
            <a:ext cx="4941028" cy="4398076"/>
          </a:xfrm>
          <a:prstGeom prst="roundRect">
            <a:avLst>
              <a:gd name="adj" fmla="val 874"/>
            </a:avLst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 anchorCtr="0">
            <a:noAutofit/>
          </a:bodyPr>
          <a:lstStyle/>
          <a:p>
            <a:pPr marL="360000" indent="-180000"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Huawei Sans" panose="020C0503030203020204" pitchFamily="34" charset="0"/>
              <a:buChar char="▫"/>
            </a:pPr>
            <a:endParaRPr lang="zh-CN" altLang="en-US" sz="1400" dirty="0">
              <a:solidFill>
                <a:prstClr val="black"/>
              </a:solidFill>
            </a:endParaRPr>
          </a:p>
        </p:txBody>
      </p:sp>
      <p:sp>
        <p:nvSpPr>
          <p:cNvPr id="79" name="圆角矩形 75"/>
          <p:cNvSpPr/>
          <p:nvPr/>
        </p:nvSpPr>
        <p:spPr bwMode="gray">
          <a:xfrm>
            <a:off x="5633225" y="1303832"/>
            <a:ext cx="6069146" cy="400100"/>
          </a:xfrm>
          <a:prstGeom prst="roundRect">
            <a:avLst>
              <a:gd name="adj" fmla="val 10604"/>
            </a:avLst>
          </a:prstGeom>
          <a:solidFill>
            <a:srgbClr val="56C4D2"/>
          </a:solidFill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b="1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IP</a:t>
            </a:r>
            <a:r>
              <a:rPr lang="zh-CN" altLang="en-US" b="1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数据包和</a:t>
            </a:r>
            <a:r>
              <a:rPr lang="en-US" altLang="zh-CN" b="1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MPLS</a:t>
            </a:r>
            <a:r>
              <a:rPr lang="zh-CN" altLang="en-US" b="1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标签数据包传递过程</a:t>
            </a:r>
          </a:p>
        </p:txBody>
      </p:sp>
      <p:sp>
        <p:nvSpPr>
          <p:cNvPr id="80" name="圆角矩形 75"/>
          <p:cNvSpPr/>
          <p:nvPr/>
        </p:nvSpPr>
        <p:spPr bwMode="gray">
          <a:xfrm>
            <a:off x="5633225" y="1735336"/>
            <a:ext cx="6069146" cy="4398076"/>
          </a:xfrm>
          <a:prstGeom prst="roundRect">
            <a:avLst>
              <a:gd name="adj" fmla="val 874"/>
            </a:avLst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 anchorCtr="0">
            <a:noAutofit/>
          </a:bodyPr>
          <a:lstStyle/>
          <a:p>
            <a:pPr marL="360000" indent="-180000"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Huawei Sans" panose="020C0503030203020204" pitchFamily="34" charset="0"/>
              <a:buChar char="▫"/>
            </a:pPr>
            <a:endParaRPr lang="zh-CN" altLang="en-US" sz="1400" dirty="0">
              <a:solidFill>
                <a:prstClr val="black"/>
              </a:solidFill>
            </a:endParaRPr>
          </a:p>
        </p:txBody>
      </p:sp>
      <p:sp>
        <p:nvSpPr>
          <p:cNvPr id="57" name="五边形 56"/>
          <p:cNvSpPr/>
          <p:nvPr/>
        </p:nvSpPr>
        <p:spPr bwMode="gray">
          <a:xfrm>
            <a:off x="8501934" y="114300"/>
            <a:ext cx="1152000" cy="21312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基本概念</a:t>
            </a:r>
          </a:p>
        </p:txBody>
      </p:sp>
      <p:sp>
        <p:nvSpPr>
          <p:cNvPr id="59" name="燕尾形 58"/>
          <p:cNvSpPr/>
          <p:nvPr/>
        </p:nvSpPr>
        <p:spPr bwMode="gray">
          <a:xfrm>
            <a:off x="9620717" y="114300"/>
            <a:ext cx="108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LSP</a:t>
            </a:r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建立</a:t>
            </a:r>
          </a:p>
        </p:txBody>
      </p:sp>
      <p:sp>
        <p:nvSpPr>
          <p:cNvPr id="61" name="燕尾形 60"/>
          <p:cNvSpPr/>
          <p:nvPr/>
        </p:nvSpPr>
        <p:spPr bwMode="gray">
          <a:xfrm>
            <a:off x="10667500" y="114300"/>
            <a:ext cx="108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kern="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标签转发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7472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ounded Rectangle 36"/>
          <p:cNvSpPr/>
          <p:nvPr/>
        </p:nvSpPr>
        <p:spPr bwMode="gray">
          <a:xfrm>
            <a:off x="3013943" y="3791603"/>
            <a:ext cx="5459523" cy="747008"/>
          </a:xfrm>
          <a:prstGeom prst="roundRect">
            <a:avLst>
              <a:gd name="adj" fmla="val 5020"/>
            </a:avLst>
          </a:prstGeom>
          <a:solidFill>
            <a:srgbClr val="BEE9EE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kern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>
                <a:sym typeface="Huawei Sans" panose="020C0503030203020204" pitchFamily="34" charset="0"/>
              </a:rPr>
              <a:t>LSP</a:t>
            </a:r>
            <a:r>
              <a:rPr lang="zh-CN" altLang="en-US" smtClean="0">
                <a:sym typeface="Huawei Sans" panose="020C0503030203020204" pitchFamily="34" charset="0"/>
              </a:rPr>
              <a:t>建立原则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61" name="文本占位符 60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smtClean="0">
                <a:sym typeface="Huawei Sans" panose="020C0503030203020204" pitchFamily="34" charset="0"/>
              </a:rPr>
              <a:t>当网络层协议为</a:t>
            </a:r>
            <a:r>
              <a:rPr lang="en-US" altLang="zh-CN" sz="1800" smtClean="0">
                <a:sym typeface="Huawei Sans" panose="020C0503030203020204" pitchFamily="34" charset="0"/>
              </a:rPr>
              <a:t>IP</a:t>
            </a:r>
            <a:r>
              <a:rPr lang="zh-CN" altLang="en-US" sz="1800" smtClean="0">
                <a:sym typeface="Huawei Sans" panose="020C0503030203020204" pitchFamily="34" charset="0"/>
              </a:rPr>
              <a:t>协议时，</a:t>
            </a:r>
            <a:r>
              <a:rPr lang="en-US" altLang="zh-CN" sz="1800" smtClean="0">
                <a:sym typeface="Huawei Sans" panose="020C0503030203020204" pitchFamily="34" charset="0"/>
              </a:rPr>
              <a:t>FEC</a:t>
            </a:r>
            <a:r>
              <a:rPr lang="zh-CN" altLang="en-US" sz="1800" smtClean="0">
                <a:sym typeface="Huawei Sans" panose="020C0503030203020204" pitchFamily="34" charset="0"/>
              </a:rPr>
              <a:t>所对应的路由必须存在于</a:t>
            </a:r>
            <a:r>
              <a:rPr lang="en-US" altLang="zh-CN" sz="1800" smtClean="0">
                <a:sym typeface="Huawei Sans" panose="020C0503030203020204" pitchFamily="34" charset="0"/>
              </a:rPr>
              <a:t>LSR</a:t>
            </a:r>
            <a:r>
              <a:rPr lang="zh-CN" altLang="en-US" sz="1800" smtClean="0">
                <a:sym typeface="Huawei Sans" panose="020C0503030203020204" pitchFamily="34" charset="0"/>
              </a:rPr>
              <a:t>的</a:t>
            </a:r>
            <a:r>
              <a:rPr lang="en-US" altLang="zh-CN" sz="1800" smtClean="0">
                <a:sym typeface="Huawei Sans" panose="020C0503030203020204" pitchFamily="34" charset="0"/>
              </a:rPr>
              <a:t>IP</a:t>
            </a:r>
            <a:r>
              <a:rPr lang="zh-CN" altLang="en-US" sz="1800" smtClean="0">
                <a:sym typeface="Huawei Sans" panose="020C0503030203020204" pitchFamily="34" charset="0"/>
              </a:rPr>
              <a:t>路由表中，否则该</a:t>
            </a:r>
            <a:r>
              <a:rPr lang="en-US" altLang="zh-CN" sz="1800" smtClean="0">
                <a:sym typeface="Huawei Sans" panose="020C0503030203020204" pitchFamily="34" charset="0"/>
              </a:rPr>
              <a:t>FEC</a:t>
            </a:r>
            <a:r>
              <a:rPr lang="zh-CN" altLang="en-US" sz="1800" smtClean="0">
                <a:sym typeface="Huawei Sans" panose="020C0503030203020204" pitchFamily="34" charset="0"/>
              </a:rPr>
              <a:t>的标签转发表项不生效。</a:t>
            </a:r>
            <a:endParaRPr lang="en-US" altLang="zh-CN" sz="1800" smtClean="0">
              <a:sym typeface="Huawei Sans" panose="020C0503030203020204" pitchFamily="34" charset="0"/>
            </a:endParaRPr>
          </a:p>
          <a:p>
            <a:r>
              <a:rPr lang="en-US" altLang="zh-CN" sz="1800" smtClean="0">
                <a:sym typeface="Huawei Sans" panose="020C0503030203020204" pitchFamily="34" charset="0"/>
              </a:rPr>
              <a:t>LSR</a:t>
            </a:r>
            <a:r>
              <a:rPr lang="zh-CN" altLang="en-US" sz="1800" smtClean="0">
                <a:sym typeface="Huawei Sans" panose="020C0503030203020204" pitchFamily="34" charset="0"/>
              </a:rPr>
              <a:t>用标签标识指定</a:t>
            </a:r>
            <a:r>
              <a:rPr lang="en-US" altLang="zh-CN" sz="1800" smtClean="0">
                <a:sym typeface="Huawei Sans" panose="020C0503030203020204" pitchFamily="34" charset="0"/>
              </a:rPr>
              <a:t>FEC</a:t>
            </a:r>
            <a:r>
              <a:rPr lang="zh-CN" altLang="en-US" sz="1800" smtClean="0">
                <a:sym typeface="Huawei Sans" panose="020C0503030203020204" pitchFamily="34" charset="0"/>
              </a:rPr>
              <a:t>，所以该</a:t>
            </a:r>
            <a:r>
              <a:rPr lang="en-US" altLang="zh-CN" sz="1800" smtClean="0">
                <a:sym typeface="Huawei Sans" panose="020C0503030203020204" pitchFamily="34" charset="0"/>
              </a:rPr>
              <a:t>FEC</a:t>
            </a:r>
            <a:r>
              <a:rPr lang="zh-CN" altLang="en-US" sz="1800" smtClean="0">
                <a:sym typeface="Huawei Sans" panose="020C0503030203020204" pitchFamily="34" charset="0"/>
              </a:rPr>
              <a:t>的数据被发送至</a:t>
            </a:r>
            <a:r>
              <a:rPr lang="en-US" altLang="zh-CN" sz="1800" smtClean="0">
                <a:sym typeface="Huawei Sans" panose="020C0503030203020204" pitchFamily="34" charset="0"/>
              </a:rPr>
              <a:t>LSR</a:t>
            </a:r>
            <a:r>
              <a:rPr lang="zh-CN" altLang="en-US" sz="1800" smtClean="0">
                <a:sym typeface="Huawei Sans" panose="020C0503030203020204" pitchFamily="34" charset="0"/>
              </a:rPr>
              <a:t>时，必须携带正确的标签，才能被</a:t>
            </a:r>
            <a:r>
              <a:rPr lang="en-US" altLang="zh-CN" sz="1800" smtClean="0">
                <a:sym typeface="Huawei Sans" panose="020C0503030203020204" pitchFamily="34" charset="0"/>
              </a:rPr>
              <a:t>LSR</a:t>
            </a:r>
            <a:r>
              <a:rPr lang="zh-CN" altLang="en-US" sz="1800" smtClean="0">
                <a:sym typeface="Huawei Sans" panose="020C0503030203020204" pitchFamily="34" charset="0"/>
              </a:rPr>
              <a:t>正确的处理。</a:t>
            </a:r>
            <a:endParaRPr lang="en-US" altLang="zh-CN" sz="1800" dirty="0">
              <a:sym typeface="Huawei Sans" panose="020C0503030203020204" pitchFamily="34" charset="0"/>
            </a:endParaRPr>
          </a:p>
        </p:txBody>
      </p:sp>
      <p:grpSp>
        <p:nvGrpSpPr>
          <p:cNvPr id="118" name="组合 117"/>
          <p:cNvGrpSpPr/>
          <p:nvPr/>
        </p:nvGrpSpPr>
        <p:grpSpPr bwMode="gray">
          <a:xfrm>
            <a:off x="2412623" y="2818557"/>
            <a:ext cx="6765005" cy="697764"/>
            <a:chOff x="2512697" y="3094323"/>
            <a:chExt cx="6765005" cy="697764"/>
          </a:xfrm>
        </p:grpSpPr>
        <p:sp>
          <p:nvSpPr>
            <p:cNvPr id="100" name="Freeform 4"/>
            <p:cNvSpPr>
              <a:spLocks noChangeAspect="1"/>
            </p:cNvSpPr>
            <p:nvPr/>
          </p:nvSpPr>
          <p:spPr bwMode="gray">
            <a:xfrm>
              <a:off x="2512697" y="3114179"/>
              <a:ext cx="1485227" cy="677908"/>
            </a:xfrm>
            <a:custGeom>
              <a:avLst/>
              <a:gdLst>
                <a:gd name="T0" fmla="*/ 2147483647 w 1769"/>
                <a:gd name="T1" fmla="*/ 2147483647 h 2094"/>
                <a:gd name="T2" fmla="*/ 2147483647 w 1769"/>
                <a:gd name="T3" fmla="*/ 2147483647 h 2094"/>
                <a:gd name="T4" fmla="*/ 2147483647 w 1769"/>
                <a:gd name="T5" fmla="*/ 2147483647 h 2094"/>
                <a:gd name="T6" fmla="*/ 2147483647 w 1769"/>
                <a:gd name="T7" fmla="*/ 2147483647 h 2094"/>
                <a:gd name="T8" fmla="*/ 2147483647 w 1769"/>
                <a:gd name="T9" fmla="*/ 2147483647 h 2094"/>
                <a:gd name="T10" fmla="*/ 2147483647 w 1769"/>
                <a:gd name="T11" fmla="*/ 2147483647 h 2094"/>
                <a:gd name="T12" fmla="*/ 2147483647 w 1769"/>
                <a:gd name="T13" fmla="*/ 2147483647 h 2094"/>
                <a:gd name="T14" fmla="*/ 2147483647 w 1769"/>
                <a:gd name="T15" fmla="*/ 2147483647 h 2094"/>
                <a:gd name="T16" fmla="*/ 2147483647 w 1769"/>
                <a:gd name="T17" fmla="*/ 2147483647 h 2094"/>
                <a:gd name="T18" fmla="*/ 2147483647 w 1769"/>
                <a:gd name="T19" fmla="*/ 2147483647 h 2094"/>
                <a:gd name="T20" fmla="*/ 2147483647 w 1769"/>
                <a:gd name="T21" fmla="*/ 2147483647 h 2094"/>
                <a:gd name="T22" fmla="*/ 2147483647 w 1769"/>
                <a:gd name="T23" fmla="*/ 2147483647 h 2094"/>
                <a:gd name="T24" fmla="*/ 2147483647 w 1769"/>
                <a:gd name="T25" fmla="*/ 2147483647 h 2094"/>
                <a:gd name="T26" fmla="*/ 2147483647 w 1769"/>
                <a:gd name="T27" fmla="*/ 2147483647 h 2094"/>
                <a:gd name="T28" fmla="*/ 2147483647 w 1769"/>
                <a:gd name="T29" fmla="*/ 2147483647 h 2094"/>
                <a:gd name="T30" fmla="*/ 2147483647 w 1769"/>
                <a:gd name="T31" fmla="*/ 2147483647 h 2094"/>
                <a:gd name="T32" fmla="*/ 2147483647 w 1769"/>
                <a:gd name="T33" fmla="*/ 0 h 2094"/>
                <a:gd name="T34" fmla="*/ 2147483647 w 1769"/>
                <a:gd name="T35" fmla="*/ 0 h 2094"/>
                <a:gd name="T36" fmla="*/ 2147483647 w 1769"/>
                <a:gd name="T37" fmla="*/ 2147483647 h 2094"/>
                <a:gd name="T38" fmla="*/ 2147483647 w 1769"/>
                <a:gd name="T39" fmla="*/ 2147483647 h 2094"/>
                <a:gd name="T40" fmla="*/ 2147483647 w 1769"/>
                <a:gd name="T41" fmla="*/ 2147483647 h 2094"/>
                <a:gd name="T42" fmla="*/ 2147483647 w 1769"/>
                <a:gd name="T43" fmla="*/ 2147483647 h 2094"/>
                <a:gd name="T44" fmla="*/ 2147483647 w 1769"/>
                <a:gd name="T45" fmla="*/ 2147483647 h 2094"/>
                <a:gd name="T46" fmla="*/ 2147483647 w 1769"/>
                <a:gd name="T47" fmla="*/ 2147483647 h 2094"/>
                <a:gd name="T48" fmla="*/ 0 w 1769"/>
                <a:gd name="T49" fmla="*/ 2147483647 h 2094"/>
                <a:gd name="T50" fmla="*/ 0 w 1769"/>
                <a:gd name="T51" fmla="*/ 2147483647 h 2094"/>
                <a:gd name="T52" fmla="*/ 2147483647 w 1769"/>
                <a:gd name="T53" fmla="*/ 2147483647 h 2094"/>
                <a:gd name="T54" fmla="*/ 2147483647 w 1769"/>
                <a:gd name="T55" fmla="*/ 2147483647 h 2094"/>
                <a:gd name="T56" fmla="*/ 2147483647 w 1769"/>
                <a:gd name="T57" fmla="*/ 2147483647 h 2094"/>
                <a:gd name="T58" fmla="*/ 2147483647 w 1769"/>
                <a:gd name="T59" fmla="*/ 2147483647 h 2094"/>
                <a:gd name="T60" fmla="*/ 2147483647 w 1769"/>
                <a:gd name="T61" fmla="*/ 2147483647 h 2094"/>
                <a:gd name="T62" fmla="*/ 2147483647 w 1769"/>
                <a:gd name="T63" fmla="*/ 2147483647 h 2094"/>
                <a:gd name="T64" fmla="*/ 2147483647 w 1769"/>
                <a:gd name="T65" fmla="*/ 2147483647 h 209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769"/>
                <a:gd name="T100" fmla="*/ 0 h 2094"/>
                <a:gd name="T101" fmla="*/ 1769 w 1769"/>
                <a:gd name="T102" fmla="*/ 2094 h 2094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769" h="2094">
                  <a:moveTo>
                    <a:pt x="110" y="2094"/>
                  </a:moveTo>
                  <a:lnTo>
                    <a:pt x="1658" y="2094"/>
                  </a:lnTo>
                  <a:lnTo>
                    <a:pt x="1683" y="2091"/>
                  </a:lnTo>
                  <a:lnTo>
                    <a:pt x="1707" y="2083"/>
                  </a:lnTo>
                  <a:lnTo>
                    <a:pt x="1727" y="2070"/>
                  </a:lnTo>
                  <a:lnTo>
                    <a:pt x="1745" y="2053"/>
                  </a:lnTo>
                  <a:lnTo>
                    <a:pt x="1758" y="2032"/>
                  </a:lnTo>
                  <a:lnTo>
                    <a:pt x="1766" y="2008"/>
                  </a:lnTo>
                  <a:lnTo>
                    <a:pt x="1769" y="1983"/>
                  </a:lnTo>
                  <a:lnTo>
                    <a:pt x="1769" y="110"/>
                  </a:lnTo>
                  <a:lnTo>
                    <a:pt x="1766" y="87"/>
                  </a:lnTo>
                  <a:lnTo>
                    <a:pt x="1758" y="63"/>
                  </a:lnTo>
                  <a:lnTo>
                    <a:pt x="1745" y="42"/>
                  </a:lnTo>
                  <a:lnTo>
                    <a:pt x="1727" y="25"/>
                  </a:lnTo>
                  <a:lnTo>
                    <a:pt x="1707" y="12"/>
                  </a:lnTo>
                  <a:lnTo>
                    <a:pt x="1683" y="3"/>
                  </a:lnTo>
                  <a:lnTo>
                    <a:pt x="1658" y="0"/>
                  </a:lnTo>
                  <a:lnTo>
                    <a:pt x="110" y="0"/>
                  </a:lnTo>
                  <a:lnTo>
                    <a:pt x="87" y="3"/>
                  </a:lnTo>
                  <a:lnTo>
                    <a:pt x="63" y="12"/>
                  </a:lnTo>
                  <a:lnTo>
                    <a:pt x="43" y="25"/>
                  </a:lnTo>
                  <a:lnTo>
                    <a:pt x="25" y="42"/>
                  </a:lnTo>
                  <a:lnTo>
                    <a:pt x="12" y="63"/>
                  </a:lnTo>
                  <a:lnTo>
                    <a:pt x="3" y="87"/>
                  </a:lnTo>
                  <a:lnTo>
                    <a:pt x="0" y="110"/>
                  </a:lnTo>
                  <a:lnTo>
                    <a:pt x="0" y="1983"/>
                  </a:lnTo>
                  <a:lnTo>
                    <a:pt x="3" y="2008"/>
                  </a:lnTo>
                  <a:lnTo>
                    <a:pt x="12" y="2032"/>
                  </a:lnTo>
                  <a:lnTo>
                    <a:pt x="25" y="2053"/>
                  </a:lnTo>
                  <a:lnTo>
                    <a:pt x="43" y="2070"/>
                  </a:lnTo>
                  <a:lnTo>
                    <a:pt x="63" y="2083"/>
                  </a:lnTo>
                  <a:lnTo>
                    <a:pt x="87" y="2091"/>
                  </a:lnTo>
                  <a:lnTo>
                    <a:pt x="110" y="2094"/>
                  </a:lnTo>
                  <a:close/>
                </a:path>
              </a:pathLst>
            </a:custGeom>
            <a:solidFill>
              <a:srgbClr val="CCCCCC">
                <a:alpha val="39999"/>
              </a:srgbClr>
            </a:solidFill>
            <a:ln w="12700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FEC</a:t>
              </a:r>
              <a:r>
                <a:rPr lang="zh-CN" altLang="en-US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：</a:t>
              </a:r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4.4.4.0/24</a:t>
              </a:r>
              <a:endPara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 algn="ctr"/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Out Label=1027</a:t>
              </a:r>
            </a:p>
            <a:p>
              <a:pPr algn="ctr"/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In Label=Null</a:t>
              </a:r>
              <a:endPara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01" name="Freeform 4"/>
            <p:cNvSpPr>
              <a:spLocks noChangeAspect="1"/>
            </p:cNvSpPr>
            <p:nvPr/>
          </p:nvSpPr>
          <p:spPr bwMode="gray">
            <a:xfrm>
              <a:off x="4272623" y="3114179"/>
              <a:ext cx="1485227" cy="677908"/>
            </a:xfrm>
            <a:custGeom>
              <a:avLst/>
              <a:gdLst>
                <a:gd name="T0" fmla="*/ 2147483647 w 1769"/>
                <a:gd name="T1" fmla="*/ 2147483647 h 2094"/>
                <a:gd name="T2" fmla="*/ 2147483647 w 1769"/>
                <a:gd name="T3" fmla="*/ 2147483647 h 2094"/>
                <a:gd name="T4" fmla="*/ 2147483647 w 1769"/>
                <a:gd name="T5" fmla="*/ 2147483647 h 2094"/>
                <a:gd name="T6" fmla="*/ 2147483647 w 1769"/>
                <a:gd name="T7" fmla="*/ 2147483647 h 2094"/>
                <a:gd name="T8" fmla="*/ 2147483647 w 1769"/>
                <a:gd name="T9" fmla="*/ 2147483647 h 2094"/>
                <a:gd name="T10" fmla="*/ 2147483647 w 1769"/>
                <a:gd name="T11" fmla="*/ 2147483647 h 2094"/>
                <a:gd name="T12" fmla="*/ 2147483647 w 1769"/>
                <a:gd name="T13" fmla="*/ 2147483647 h 2094"/>
                <a:gd name="T14" fmla="*/ 2147483647 w 1769"/>
                <a:gd name="T15" fmla="*/ 2147483647 h 2094"/>
                <a:gd name="T16" fmla="*/ 2147483647 w 1769"/>
                <a:gd name="T17" fmla="*/ 2147483647 h 2094"/>
                <a:gd name="T18" fmla="*/ 2147483647 w 1769"/>
                <a:gd name="T19" fmla="*/ 2147483647 h 2094"/>
                <a:gd name="T20" fmla="*/ 2147483647 w 1769"/>
                <a:gd name="T21" fmla="*/ 2147483647 h 2094"/>
                <a:gd name="T22" fmla="*/ 2147483647 w 1769"/>
                <a:gd name="T23" fmla="*/ 2147483647 h 2094"/>
                <a:gd name="T24" fmla="*/ 2147483647 w 1769"/>
                <a:gd name="T25" fmla="*/ 2147483647 h 2094"/>
                <a:gd name="T26" fmla="*/ 2147483647 w 1769"/>
                <a:gd name="T27" fmla="*/ 2147483647 h 2094"/>
                <a:gd name="T28" fmla="*/ 2147483647 w 1769"/>
                <a:gd name="T29" fmla="*/ 2147483647 h 2094"/>
                <a:gd name="T30" fmla="*/ 2147483647 w 1769"/>
                <a:gd name="T31" fmla="*/ 2147483647 h 2094"/>
                <a:gd name="T32" fmla="*/ 2147483647 w 1769"/>
                <a:gd name="T33" fmla="*/ 0 h 2094"/>
                <a:gd name="T34" fmla="*/ 2147483647 w 1769"/>
                <a:gd name="T35" fmla="*/ 0 h 2094"/>
                <a:gd name="T36" fmla="*/ 2147483647 w 1769"/>
                <a:gd name="T37" fmla="*/ 2147483647 h 2094"/>
                <a:gd name="T38" fmla="*/ 2147483647 w 1769"/>
                <a:gd name="T39" fmla="*/ 2147483647 h 2094"/>
                <a:gd name="T40" fmla="*/ 2147483647 w 1769"/>
                <a:gd name="T41" fmla="*/ 2147483647 h 2094"/>
                <a:gd name="T42" fmla="*/ 2147483647 w 1769"/>
                <a:gd name="T43" fmla="*/ 2147483647 h 2094"/>
                <a:gd name="T44" fmla="*/ 2147483647 w 1769"/>
                <a:gd name="T45" fmla="*/ 2147483647 h 2094"/>
                <a:gd name="T46" fmla="*/ 2147483647 w 1769"/>
                <a:gd name="T47" fmla="*/ 2147483647 h 2094"/>
                <a:gd name="T48" fmla="*/ 0 w 1769"/>
                <a:gd name="T49" fmla="*/ 2147483647 h 2094"/>
                <a:gd name="T50" fmla="*/ 0 w 1769"/>
                <a:gd name="T51" fmla="*/ 2147483647 h 2094"/>
                <a:gd name="T52" fmla="*/ 2147483647 w 1769"/>
                <a:gd name="T53" fmla="*/ 2147483647 h 2094"/>
                <a:gd name="T54" fmla="*/ 2147483647 w 1769"/>
                <a:gd name="T55" fmla="*/ 2147483647 h 2094"/>
                <a:gd name="T56" fmla="*/ 2147483647 w 1769"/>
                <a:gd name="T57" fmla="*/ 2147483647 h 2094"/>
                <a:gd name="T58" fmla="*/ 2147483647 w 1769"/>
                <a:gd name="T59" fmla="*/ 2147483647 h 2094"/>
                <a:gd name="T60" fmla="*/ 2147483647 w 1769"/>
                <a:gd name="T61" fmla="*/ 2147483647 h 2094"/>
                <a:gd name="T62" fmla="*/ 2147483647 w 1769"/>
                <a:gd name="T63" fmla="*/ 2147483647 h 2094"/>
                <a:gd name="T64" fmla="*/ 2147483647 w 1769"/>
                <a:gd name="T65" fmla="*/ 2147483647 h 209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769"/>
                <a:gd name="T100" fmla="*/ 0 h 2094"/>
                <a:gd name="T101" fmla="*/ 1769 w 1769"/>
                <a:gd name="T102" fmla="*/ 2094 h 2094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769" h="2094">
                  <a:moveTo>
                    <a:pt x="110" y="2094"/>
                  </a:moveTo>
                  <a:lnTo>
                    <a:pt x="1658" y="2094"/>
                  </a:lnTo>
                  <a:lnTo>
                    <a:pt x="1683" y="2091"/>
                  </a:lnTo>
                  <a:lnTo>
                    <a:pt x="1707" y="2083"/>
                  </a:lnTo>
                  <a:lnTo>
                    <a:pt x="1727" y="2070"/>
                  </a:lnTo>
                  <a:lnTo>
                    <a:pt x="1745" y="2053"/>
                  </a:lnTo>
                  <a:lnTo>
                    <a:pt x="1758" y="2032"/>
                  </a:lnTo>
                  <a:lnTo>
                    <a:pt x="1766" y="2008"/>
                  </a:lnTo>
                  <a:lnTo>
                    <a:pt x="1769" y="1983"/>
                  </a:lnTo>
                  <a:lnTo>
                    <a:pt x="1769" y="110"/>
                  </a:lnTo>
                  <a:lnTo>
                    <a:pt x="1766" y="87"/>
                  </a:lnTo>
                  <a:lnTo>
                    <a:pt x="1758" y="63"/>
                  </a:lnTo>
                  <a:lnTo>
                    <a:pt x="1745" y="42"/>
                  </a:lnTo>
                  <a:lnTo>
                    <a:pt x="1727" y="25"/>
                  </a:lnTo>
                  <a:lnTo>
                    <a:pt x="1707" y="12"/>
                  </a:lnTo>
                  <a:lnTo>
                    <a:pt x="1683" y="3"/>
                  </a:lnTo>
                  <a:lnTo>
                    <a:pt x="1658" y="0"/>
                  </a:lnTo>
                  <a:lnTo>
                    <a:pt x="110" y="0"/>
                  </a:lnTo>
                  <a:lnTo>
                    <a:pt x="87" y="3"/>
                  </a:lnTo>
                  <a:lnTo>
                    <a:pt x="63" y="12"/>
                  </a:lnTo>
                  <a:lnTo>
                    <a:pt x="43" y="25"/>
                  </a:lnTo>
                  <a:lnTo>
                    <a:pt x="25" y="42"/>
                  </a:lnTo>
                  <a:lnTo>
                    <a:pt x="12" y="63"/>
                  </a:lnTo>
                  <a:lnTo>
                    <a:pt x="3" y="87"/>
                  </a:lnTo>
                  <a:lnTo>
                    <a:pt x="0" y="110"/>
                  </a:lnTo>
                  <a:lnTo>
                    <a:pt x="0" y="1983"/>
                  </a:lnTo>
                  <a:lnTo>
                    <a:pt x="3" y="2008"/>
                  </a:lnTo>
                  <a:lnTo>
                    <a:pt x="12" y="2032"/>
                  </a:lnTo>
                  <a:lnTo>
                    <a:pt x="25" y="2053"/>
                  </a:lnTo>
                  <a:lnTo>
                    <a:pt x="43" y="2070"/>
                  </a:lnTo>
                  <a:lnTo>
                    <a:pt x="63" y="2083"/>
                  </a:lnTo>
                  <a:lnTo>
                    <a:pt x="87" y="2091"/>
                  </a:lnTo>
                  <a:lnTo>
                    <a:pt x="110" y="2094"/>
                  </a:lnTo>
                  <a:close/>
                </a:path>
              </a:pathLst>
            </a:custGeom>
            <a:solidFill>
              <a:srgbClr val="CCCCCC">
                <a:alpha val="39999"/>
              </a:srgbClr>
            </a:solidFill>
            <a:ln w="12700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FEC</a:t>
              </a:r>
              <a:r>
                <a:rPr lang="zh-CN" altLang="en-US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：</a:t>
              </a:r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4.4.4.0/24</a:t>
              </a:r>
              <a:endPara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 algn="ctr"/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Out </a:t>
              </a:r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Label=1026</a:t>
              </a:r>
            </a:p>
            <a:p>
              <a:pPr algn="ctr"/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In Label=1027</a:t>
              </a:r>
              <a:endPara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02" name="Freeform 4"/>
            <p:cNvSpPr>
              <a:spLocks noChangeAspect="1"/>
            </p:cNvSpPr>
            <p:nvPr/>
          </p:nvSpPr>
          <p:spPr bwMode="gray">
            <a:xfrm>
              <a:off x="6032549" y="3094323"/>
              <a:ext cx="1485227" cy="677908"/>
            </a:xfrm>
            <a:custGeom>
              <a:avLst/>
              <a:gdLst>
                <a:gd name="T0" fmla="*/ 2147483647 w 1769"/>
                <a:gd name="T1" fmla="*/ 2147483647 h 2094"/>
                <a:gd name="T2" fmla="*/ 2147483647 w 1769"/>
                <a:gd name="T3" fmla="*/ 2147483647 h 2094"/>
                <a:gd name="T4" fmla="*/ 2147483647 w 1769"/>
                <a:gd name="T5" fmla="*/ 2147483647 h 2094"/>
                <a:gd name="T6" fmla="*/ 2147483647 w 1769"/>
                <a:gd name="T7" fmla="*/ 2147483647 h 2094"/>
                <a:gd name="T8" fmla="*/ 2147483647 w 1769"/>
                <a:gd name="T9" fmla="*/ 2147483647 h 2094"/>
                <a:gd name="T10" fmla="*/ 2147483647 w 1769"/>
                <a:gd name="T11" fmla="*/ 2147483647 h 2094"/>
                <a:gd name="T12" fmla="*/ 2147483647 w 1769"/>
                <a:gd name="T13" fmla="*/ 2147483647 h 2094"/>
                <a:gd name="T14" fmla="*/ 2147483647 w 1769"/>
                <a:gd name="T15" fmla="*/ 2147483647 h 2094"/>
                <a:gd name="T16" fmla="*/ 2147483647 w 1769"/>
                <a:gd name="T17" fmla="*/ 2147483647 h 2094"/>
                <a:gd name="T18" fmla="*/ 2147483647 w 1769"/>
                <a:gd name="T19" fmla="*/ 2147483647 h 2094"/>
                <a:gd name="T20" fmla="*/ 2147483647 w 1769"/>
                <a:gd name="T21" fmla="*/ 2147483647 h 2094"/>
                <a:gd name="T22" fmla="*/ 2147483647 w 1769"/>
                <a:gd name="T23" fmla="*/ 2147483647 h 2094"/>
                <a:gd name="T24" fmla="*/ 2147483647 w 1769"/>
                <a:gd name="T25" fmla="*/ 2147483647 h 2094"/>
                <a:gd name="T26" fmla="*/ 2147483647 w 1769"/>
                <a:gd name="T27" fmla="*/ 2147483647 h 2094"/>
                <a:gd name="T28" fmla="*/ 2147483647 w 1769"/>
                <a:gd name="T29" fmla="*/ 2147483647 h 2094"/>
                <a:gd name="T30" fmla="*/ 2147483647 w 1769"/>
                <a:gd name="T31" fmla="*/ 2147483647 h 2094"/>
                <a:gd name="T32" fmla="*/ 2147483647 w 1769"/>
                <a:gd name="T33" fmla="*/ 0 h 2094"/>
                <a:gd name="T34" fmla="*/ 2147483647 w 1769"/>
                <a:gd name="T35" fmla="*/ 0 h 2094"/>
                <a:gd name="T36" fmla="*/ 2147483647 w 1769"/>
                <a:gd name="T37" fmla="*/ 2147483647 h 2094"/>
                <a:gd name="T38" fmla="*/ 2147483647 w 1769"/>
                <a:gd name="T39" fmla="*/ 2147483647 h 2094"/>
                <a:gd name="T40" fmla="*/ 2147483647 w 1769"/>
                <a:gd name="T41" fmla="*/ 2147483647 h 2094"/>
                <a:gd name="T42" fmla="*/ 2147483647 w 1769"/>
                <a:gd name="T43" fmla="*/ 2147483647 h 2094"/>
                <a:gd name="T44" fmla="*/ 2147483647 w 1769"/>
                <a:gd name="T45" fmla="*/ 2147483647 h 2094"/>
                <a:gd name="T46" fmla="*/ 2147483647 w 1769"/>
                <a:gd name="T47" fmla="*/ 2147483647 h 2094"/>
                <a:gd name="T48" fmla="*/ 0 w 1769"/>
                <a:gd name="T49" fmla="*/ 2147483647 h 2094"/>
                <a:gd name="T50" fmla="*/ 0 w 1769"/>
                <a:gd name="T51" fmla="*/ 2147483647 h 2094"/>
                <a:gd name="T52" fmla="*/ 2147483647 w 1769"/>
                <a:gd name="T53" fmla="*/ 2147483647 h 2094"/>
                <a:gd name="T54" fmla="*/ 2147483647 w 1769"/>
                <a:gd name="T55" fmla="*/ 2147483647 h 2094"/>
                <a:gd name="T56" fmla="*/ 2147483647 w 1769"/>
                <a:gd name="T57" fmla="*/ 2147483647 h 2094"/>
                <a:gd name="T58" fmla="*/ 2147483647 w 1769"/>
                <a:gd name="T59" fmla="*/ 2147483647 h 2094"/>
                <a:gd name="T60" fmla="*/ 2147483647 w 1769"/>
                <a:gd name="T61" fmla="*/ 2147483647 h 2094"/>
                <a:gd name="T62" fmla="*/ 2147483647 w 1769"/>
                <a:gd name="T63" fmla="*/ 2147483647 h 2094"/>
                <a:gd name="T64" fmla="*/ 2147483647 w 1769"/>
                <a:gd name="T65" fmla="*/ 2147483647 h 209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769"/>
                <a:gd name="T100" fmla="*/ 0 h 2094"/>
                <a:gd name="T101" fmla="*/ 1769 w 1769"/>
                <a:gd name="T102" fmla="*/ 2094 h 2094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769" h="2094">
                  <a:moveTo>
                    <a:pt x="110" y="2094"/>
                  </a:moveTo>
                  <a:lnTo>
                    <a:pt x="1658" y="2094"/>
                  </a:lnTo>
                  <a:lnTo>
                    <a:pt x="1683" y="2091"/>
                  </a:lnTo>
                  <a:lnTo>
                    <a:pt x="1707" y="2083"/>
                  </a:lnTo>
                  <a:lnTo>
                    <a:pt x="1727" y="2070"/>
                  </a:lnTo>
                  <a:lnTo>
                    <a:pt x="1745" y="2053"/>
                  </a:lnTo>
                  <a:lnTo>
                    <a:pt x="1758" y="2032"/>
                  </a:lnTo>
                  <a:lnTo>
                    <a:pt x="1766" y="2008"/>
                  </a:lnTo>
                  <a:lnTo>
                    <a:pt x="1769" y="1983"/>
                  </a:lnTo>
                  <a:lnTo>
                    <a:pt x="1769" y="110"/>
                  </a:lnTo>
                  <a:lnTo>
                    <a:pt x="1766" y="87"/>
                  </a:lnTo>
                  <a:lnTo>
                    <a:pt x="1758" y="63"/>
                  </a:lnTo>
                  <a:lnTo>
                    <a:pt x="1745" y="42"/>
                  </a:lnTo>
                  <a:lnTo>
                    <a:pt x="1727" y="25"/>
                  </a:lnTo>
                  <a:lnTo>
                    <a:pt x="1707" y="12"/>
                  </a:lnTo>
                  <a:lnTo>
                    <a:pt x="1683" y="3"/>
                  </a:lnTo>
                  <a:lnTo>
                    <a:pt x="1658" y="0"/>
                  </a:lnTo>
                  <a:lnTo>
                    <a:pt x="110" y="0"/>
                  </a:lnTo>
                  <a:lnTo>
                    <a:pt x="87" y="3"/>
                  </a:lnTo>
                  <a:lnTo>
                    <a:pt x="63" y="12"/>
                  </a:lnTo>
                  <a:lnTo>
                    <a:pt x="43" y="25"/>
                  </a:lnTo>
                  <a:lnTo>
                    <a:pt x="25" y="42"/>
                  </a:lnTo>
                  <a:lnTo>
                    <a:pt x="12" y="63"/>
                  </a:lnTo>
                  <a:lnTo>
                    <a:pt x="3" y="87"/>
                  </a:lnTo>
                  <a:lnTo>
                    <a:pt x="0" y="110"/>
                  </a:lnTo>
                  <a:lnTo>
                    <a:pt x="0" y="1983"/>
                  </a:lnTo>
                  <a:lnTo>
                    <a:pt x="3" y="2008"/>
                  </a:lnTo>
                  <a:lnTo>
                    <a:pt x="12" y="2032"/>
                  </a:lnTo>
                  <a:lnTo>
                    <a:pt x="25" y="2053"/>
                  </a:lnTo>
                  <a:lnTo>
                    <a:pt x="43" y="2070"/>
                  </a:lnTo>
                  <a:lnTo>
                    <a:pt x="63" y="2083"/>
                  </a:lnTo>
                  <a:lnTo>
                    <a:pt x="87" y="2091"/>
                  </a:lnTo>
                  <a:lnTo>
                    <a:pt x="110" y="2094"/>
                  </a:lnTo>
                  <a:close/>
                </a:path>
              </a:pathLst>
            </a:custGeom>
            <a:solidFill>
              <a:srgbClr val="CCCCCC">
                <a:alpha val="39999"/>
              </a:srgbClr>
            </a:solidFill>
            <a:ln w="12700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FEC</a:t>
              </a:r>
              <a:r>
                <a:rPr lang="zh-CN" altLang="en-US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：</a:t>
              </a:r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4.4.4.0/24</a:t>
              </a:r>
              <a:endPara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 algn="ctr"/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Out </a:t>
              </a:r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Label=1025</a:t>
              </a:r>
            </a:p>
            <a:p>
              <a:pPr algn="ctr"/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In Label=1026</a:t>
              </a:r>
              <a:endPara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03" name="Freeform 4"/>
            <p:cNvSpPr>
              <a:spLocks noChangeAspect="1"/>
            </p:cNvSpPr>
            <p:nvPr/>
          </p:nvSpPr>
          <p:spPr bwMode="gray">
            <a:xfrm>
              <a:off x="7792475" y="3114179"/>
              <a:ext cx="1485227" cy="677908"/>
            </a:xfrm>
            <a:custGeom>
              <a:avLst/>
              <a:gdLst>
                <a:gd name="T0" fmla="*/ 2147483647 w 1769"/>
                <a:gd name="T1" fmla="*/ 2147483647 h 2094"/>
                <a:gd name="T2" fmla="*/ 2147483647 w 1769"/>
                <a:gd name="T3" fmla="*/ 2147483647 h 2094"/>
                <a:gd name="T4" fmla="*/ 2147483647 w 1769"/>
                <a:gd name="T5" fmla="*/ 2147483647 h 2094"/>
                <a:gd name="T6" fmla="*/ 2147483647 w 1769"/>
                <a:gd name="T7" fmla="*/ 2147483647 h 2094"/>
                <a:gd name="T8" fmla="*/ 2147483647 w 1769"/>
                <a:gd name="T9" fmla="*/ 2147483647 h 2094"/>
                <a:gd name="T10" fmla="*/ 2147483647 w 1769"/>
                <a:gd name="T11" fmla="*/ 2147483647 h 2094"/>
                <a:gd name="T12" fmla="*/ 2147483647 w 1769"/>
                <a:gd name="T13" fmla="*/ 2147483647 h 2094"/>
                <a:gd name="T14" fmla="*/ 2147483647 w 1769"/>
                <a:gd name="T15" fmla="*/ 2147483647 h 2094"/>
                <a:gd name="T16" fmla="*/ 2147483647 w 1769"/>
                <a:gd name="T17" fmla="*/ 2147483647 h 2094"/>
                <a:gd name="T18" fmla="*/ 2147483647 w 1769"/>
                <a:gd name="T19" fmla="*/ 2147483647 h 2094"/>
                <a:gd name="T20" fmla="*/ 2147483647 w 1769"/>
                <a:gd name="T21" fmla="*/ 2147483647 h 2094"/>
                <a:gd name="T22" fmla="*/ 2147483647 w 1769"/>
                <a:gd name="T23" fmla="*/ 2147483647 h 2094"/>
                <a:gd name="T24" fmla="*/ 2147483647 w 1769"/>
                <a:gd name="T25" fmla="*/ 2147483647 h 2094"/>
                <a:gd name="T26" fmla="*/ 2147483647 w 1769"/>
                <a:gd name="T27" fmla="*/ 2147483647 h 2094"/>
                <a:gd name="T28" fmla="*/ 2147483647 w 1769"/>
                <a:gd name="T29" fmla="*/ 2147483647 h 2094"/>
                <a:gd name="T30" fmla="*/ 2147483647 w 1769"/>
                <a:gd name="T31" fmla="*/ 2147483647 h 2094"/>
                <a:gd name="T32" fmla="*/ 2147483647 w 1769"/>
                <a:gd name="T33" fmla="*/ 0 h 2094"/>
                <a:gd name="T34" fmla="*/ 2147483647 w 1769"/>
                <a:gd name="T35" fmla="*/ 0 h 2094"/>
                <a:gd name="T36" fmla="*/ 2147483647 w 1769"/>
                <a:gd name="T37" fmla="*/ 2147483647 h 2094"/>
                <a:gd name="T38" fmla="*/ 2147483647 w 1769"/>
                <a:gd name="T39" fmla="*/ 2147483647 h 2094"/>
                <a:gd name="T40" fmla="*/ 2147483647 w 1769"/>
                <a:gd name="T41" fmla="*/ 2147483647 h 2094"/>
                <a:gd name="T42" fmla="*/ 2147483647 w 1769"/>
                <a:gd name="T43" fmla="*/ 2147483647 h 2094"/>
                <a:gd name="T44" fmla="*/ 2147483647 w 1769"/>
                <a:gd name="T45" fmla="*/ 2147483647 h 2094"/>
                <a:gd name="T46" fmla="*/ 2147483647 w 1769"/>
                <a:gd name="T47" fmla="*/ 2147483647 h 2094"/>
                <a:gd name="T48" fmla="*/ 0 w 1769"/>
                <a:gd name="T49" fmla="*/ 2147483647 h 2094"/>
                <a:gd name="T50" fmla="*/ 0 w 1769"/>
                <a:gd name="T51" fmla="*/ 2147483647 h 2094"/>
                <a:gd name="T52" fmla="*/ 2147483647 w 1769"/>
                <a:gd name="T53" fmla="*/ 2147483647 h 2094"/>
                <a:gd name="T54" fmla="*/ 2147483647 w 1769"/>
                <a:gd name="T55" fmla="*/ 2147483647 h 2094"/>
                <a:gd name="T56" fmla="*/ 2147483647 w 1769"/>
                <a:gd name="T57" fmla="*/ 2147483647 h 2094"/>
                <a:gd name="T58" fmla="*/ 2147483647 w 1769"/>
                <a:gd name="T59" fmla="*/ 2147483647 h 2094"/>
                <a:gd name="T60" fmla="*/ 2147483647 w 1769"/>
                <a:gd name="T61" fmla="*/ 2147483647 h 2094"/>
                <a:gd name="T62" fmla="*/ 2147483647 w 1769"/>
                <a:gd name="T63" fmla="*/ 2147483647 h 2094"/>
                <a:gd name="T64" fmla="*/ 2147483647 w 1769"/>
                <a:gd name="T65" fmla="*/ 2147483647 h 209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769"/>
                <a:gd name="T100" fmla="*/ 0 h 2094"/>
                <a:gd name="T101" fmla="*/ 1769 w 1769"/>
                <a:gd name="T102" fmla="*/ 2094 h 2094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769" h="2094">
                  <a:moveTo>
                    <a:pt x="110" y="2094"/>
                  </a:moveTo>
                  <a:lnTo>
                    <a:pt x="1658" y="2094"/>
                  </a:lnTo>
                  <a:lnTo>
                    <a:pt x="1683" y="2091"/>
                  </a:lnTo>
                  <a:lnTo>
                    <a:pt x="1707" y="2083"/>
                  </a:lnTo>
                  <a:lnTo>
                    <a:pt x="1727" y="2070"/>
                  </a:lnTo>
                  <a:lnTo>
                    <a:pt x="1745" y="2053"/>
                  </a:lnTo>
                  <a:lnTo>
                    <a:pt x="1758" y="2032"/>
                  </a:lnTo>
                  <a:lnTo>
                    <a:pt x="1766" y="2008"/>
                  </a:lnTo>
                  <a:lnTo>
                    <a:pt x="1769" y="1983"/>
                  </a:lnTo>
                  <a:lnTo>
                    <a:pt x="1769" y="110"/>
                  </a:lnTo>
                  <a:lnTo>
                    <a:pt x="1766" y="87"/>
                  </a:lnTo>
                  <a:lnTo>
                    <a:pt x="1758" y="63"/>
                  </a:lnTo>
                  <a:lnTo>
                    <a:pt x="1745" y="42"/>
                  </a:lnTo>
                  <a:lnTo>
                    <a:pt x="1727" y="25"/>
                  </a:lnTo>
                  <a:lnTo>
                    <a:pt x="1707" y="12"/>
                  </a:lnTo>
                  <a:lnTo>
                    <a:pt x="1683" y="3"/>
                  </a:lnTo>
                  <a:lnTo>
                    <a:pt x="1658" y="0"/>
                  </a:lnTo>
                  <a:lnTo>
                    <a:pt x="110" y="0"/>
                  </a:lnTo>
                  <a:lnTo>
                    <a:pt x="87" y="3"/>
                  </a:lnTo>
                  <a:lnTo>
                    <a:pt x="63" y="12"/>
                  </a:lnTo>
                  <a:lnTo>
                    <a:pt x="43" y="25"/>
                  </a:lnTo>
                  <a:lnTo>
                    <a:pt x="25" y="42"/>
                  </a:lnTo>
                  <a:lnTo>
                    <a:pt x="12" y="63"/>
                  </a:lnTo>
                  <a:lnTo>
                    <a:pt x="3" y="87"/>
                  </a:lnTo>
                  <a:lnTo>
                    <a:pt x="0" y="110"/>
                  </a:lnTo>
                  <a:lnTo>
                    <a:pt x="0" y="1983"/>
                  </a:lnTo>
                  <a:lnTo>
                    <a:pt x="3" y="2008"/>
                  </a:lnTo>
                  <a:lnTo>
                    <a:pt x="12" y="2032"/>
                  </a:lnTo>
                  <a:lnTo>
                    <a:pt x="25" y="2053"/>
                  </a:lnTo>
                  <a:lnTo>
                    <a:pt x="43" y="2070"/>
                  </a:lnTo>
                  <a:lnTo>
                    <a:pt x="63" y="2083"/>
                  </a:lnTo>
                  <a:lnTo>
                    <a:pt x="87" y="2091"/>
                  </a:lnTo>
                  <a:lnTo>
                    <a:pt x="110" y="2094"/>
                  </a:lnTo>
                  <a:close/>
                </a:path>
              </a:pathLst>
            </a:custGeom>
            <a:solidFill>
              <a:srgbClr val="CCCCCC">
                <a:alpha val="39999"/>
              </a:srgbClr>
            </a:solidFill>
            <a:ln w="12700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FEC</a:t>
              </a:r>
              <a:r>
                <a:rPr lang="zh-CN" altLang="en-US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：</a:t>
              </a:r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4.4.4.0/24</a:t>
              </a:r>
              <a:endPara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 algn="ctr"/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Out </a:t>
              </a:r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Label=Null</a:t>
              </a:r>
            </a:p>
            <a:p>
              <a:pPr algn="ctr"/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In Label=1025</a:t>
              </a:r>
              <a:endPara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cxnSp>
        <p:nvCxnSpPr>
          <p:cNvPr id="78" name="直接连接符 77"/>
          <p:cNvCxnSpPr/>
          <p:nvPr/>
        </p:nvCxnSpPr>
        <p:spPr bwMode="gray">
          <a:xfrm>
            <a:off x="8504098" y="4106986"/>
            <a:ext cx="104136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/>
          <p:nvPr/>
        </p:nvCxnSpPr>
        <p:spPr bwMode="gray">
          <a:xfrm rot="5400000">
            <a:off x="2477989" y="3720571"/>
            <a:ext cx="0" cy="89087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4"/>
          <p:cNvCxnSpPr/>
          <p:nvPr/>
        </p:nvCxnSpPr>
        <p:spPr bwMode="gray">
          <a:xfrm>
            <a:off x="3123186" y="4100492"/>
            <a:ext cx="5350280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43"/>
          <p:cNvSpPr txBox="1"/>
          <p:nvPr/>
        </p:nvSpPr>
        <p:spPr bwMode="gray">
          <a:xfrm>
            <a:off x="4688831" y="4302971"/>
            <a:ext cx="405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82" name="图片 81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610872" y="3875461"/>
            <a:ext cx="540000" cy="442800"/>
          </a:xfrm>
          <a:prstGeom prst="rect">
            <a:avLst/>
          </a:prstGeom>
        </p:spPr>
      </p:pic>
      <p:sp>
        <p:nvSpPr>
          <p:cNvPr id="83" name="TextBox 48"/>
          <p:cNvSpPr txBox="1"/>
          <p:nvPr/>
        </p:nvSpPr>
        <p:spPr bwMode="gray">
          <a:xfrm>
            <a:off x="6552971" y="4302971"/>
            <a:ext cx="405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84" name="图片 83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475011" y="3871677"/>
            <a:ext cx="540000" cy="442800"/>
          </a:xfrm>
          <a:prstGeom prst="rect">
            <a:avLst/>
          </a:prstGeom>
        </p:spPr>
      </p:pic>
      <p:pic>
        <p:nvPicPr>
          <p:cNvPr id="85" name="图片 84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850946" y="3913655"/>
            <a:ext cx="540000" cy="442800"/>
          </a:xfrm>
          <a:prstGeom prst="rect">
            <a:avLst/>
          </a:prstGeom>
        </p:spPr>
      </p:pic>
      <p:sp>
        <p:nvSpPr>
          <p:cNvPr id="86" name="TextBox 43"/>
          <p:cNvSpPr txBox="1"/>
          <p:nvPr/>
        </p:nvSpPr>
        <p:spPr bwMode="gray">
          <a:xfrm>
            <a:off x="2943347" y="4302971"/>
            <a:ext cx="405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87" name="图片 86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136968" y="3913655"/>
            <a:ext cx="540000" cy="442800"/>
          </a:xfrm>
          <a:prstGeom prst="rect">
            <a:avLst/>
          </a:prstGeom>
        </p:spPr>
      </p:pic>
      <p:sp>
        <p:nvSpPr>
          <p:cNvPr id="88" name="TextBox 43"/>
          <p:cNvSpPr txBox="1"/>
          <p:nvPr/>
        </p:nvSpPr>
        <p:spPr bwMode="gray">
          <a:xfrm>
            <a:off x="8221112" y="4302971"/>
            <a:ext cx="405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R4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9" name="Rectangle 67"/>
          <p:cNvSpPr/>
          <p:nvPr/>
        </p:nvSpPr>
        <p:spPr bwMode="gray">
          <a:xfrm>
            <a:off x="5212539" y="3797679"/>
            <a:ext cx="134043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 Domain</a:t>
            </a:r>
          </a:p>
        </p:txBody>
      </p:sp>
      <p:grpSp>
        <p:nvGrpSpPr>
          <p:cNvPr id="112" name="组合 111"/>
          <p:cNvGrpSpPr/>
          <p:nvPr/>
        </p:nvGrpSpPr>
        <p:grpSpPr bwMode="gray">
          <a:xfrm>
            <a:off x="1036457" y="3650997"/>
            <a:ext cx="1377387" cy="720000"/>
            <a:chOff x="836496" y="3357607"/>
            <a:chExt cx="1377387" cy="720000"/>
          </a:xfrm>
        </p:grpSpPr>
        <p:sp>
          <p:nvSpPr>
            <p:cNvPr id="90" name="Freeform 159"/>
            <p:cNvSpPr>
              <a:spLocks noChangeAspect="1"/>
            </p:cNvSpPr>
            <p:nvPr/>
          </p:nvSpPr>
          <p:spPr bwMode="gray">
            <a:xfrm flipH="1">
              <a:off x="836496" y="3357607"/>
              <a:ext cx="1377387" cy="720000"/>
            </a:xfrm>
            <a:custGeom>
              <a:avLst/>
              <a:gdLst>
                <a:gd name="connsiteX0" fmla="*/ 2693983 w 4431601"/>
                <a:gd name="connsiteY0" fmla="*/ 0 h 2316519"/>
                <a:gd name="connsiteX1" fmla="*/ 1918242 w 4431601"/>
                <a:gd name="connsiteY1" fmla="*/ 324162 h 2316519"/>
                <a:gd name="connsiteX2" fmla="*/ 1859647 w 4431601"/>
                <a:gd name="connsiteY2" fmla="*/ 395807 h 2316519"/>
                <a:gd name="connsiteX3" fmla="*/ 1815580 w 4431601"/>
                <a:gd name="connsiteY3" fmla="*/ 362462 h 2316519"/>
                <a:gd name="connsiteX4" fmla="*/ 1347603 w 4431601"/>
                <a:gd name="connsiteY4" fmla="*/ 231362 h 2316519"/>
                <a:gd name="connsiteX5" fmla="*/ 527605 w 4431601"/>
                <a:gd name="connsiteY5" fmla="*/ 844290 h 2316519"/>
                <a:gd name="connsiteX6" fmla="*/ 523639 w 4431601"/>
                <a:gd name="connsiteY6" fmla="*/ 880372 h 2316519"/>
                <a:gd name="connsiteX7" fmla="*/ 444716 w 4431601"/>
                <a:gd name="connsiteY7" fmla="*/ 905088 h 2316519"/>
                <a:gd name="connsiteX8" fmla="*/ 0 w 4431601"/>
                <a:gd name="connsiteY8" fmla="*/ 1581940 h 2316519"/>
                <a:gd name="connsiteX9" fmla="*/ 653694 w 4431601"/>
                <a:gd name="connsiteY9" fmla="*/ 2312727 h 2316519"/>
                <a:gd name="connsiteX10" fmla="*/ 653931 w 4431601"/>
                <a:gd name="connsiteY10" fmla="*/ 2312739 h 2316519"/>
                <a:gd name="connsiteX11" fmla="*/ 653931 w 4431601"/>
                <a:gd name="connsiteY11" fmla="*/ 2316518 h 2316519"/>
                <a:gd name="connsiteX12" fmla="*/ 728123 w 4431601"/>
                <a:gd name="connsiteY12" fmla="*/ 2316518 h 2316519"/>
                <a:gd name="connsiteX13" fmla="*/ 728142 w 4431601"/>
                <a:gd name="connsiteY13" fmla="*/ 2316519 h 2316519"/>
                <a:gd name="connsiteX14" fmla="*/ 728162 w 4431601"/>
                <a:gd name="connsiteY14" fmla="*/ 2316518 h 2316519"/>
                <a:gd name="connsiteX15" fmla="*/ 3745239 w 4431601"/>
                <a:gd name="connsiteY15" fmla="*/ 2316518 h 2316519"/>
                <a:gd name="connsiteX16" fmla="*/ 3745249 w 4431601"/>
                <a:gd name="connsiteY16" fmla="*/ 2316519 h 2316519"/>
                <a:gd name="connsiteX17" fmla="*/ 3745259 w 4431601"/>
                <a:gd name="connsiteY17" fmla="*/ 2316518 h 2316519"/>
                <a:gd name="connsiteX18" fmla="*/ 3788771 w 4431601"/>
                <a:gd name="connsiteY18" fmla="*/ 2316518 h 2316519"/>
                <a:gd name="connsiteX19" fmla="*/ 3788771 w 4431601"/>
                <a:gd name="connsiteY19" fmla="*/ 2312093 h 2316519"/>
                <a:gd name="connsiteX20" fmla="*/ 3883573 w 4431601"/>
                <a:gd name="connsiteY20" fmla="*/ 2302452 h 2316519"/>
                <a:gd name="connsiteX21" fmla="*/ 4431601 w 4431601"/>
                <a:gd name="connsiteY21" fmla="*/ 1624103 h 2316519"/>
                <a:gd name="connsiteX22" fmla="*/ 3883573 w 4431601"/>
                <a:gd name="connsiteY22" fmla="*/ 945754 h 2316519"/>
                <a:gd name="connsiteX23" fmla="*/ 3773844 w 4431601"/>
                <a:gd name="connsiteY23" fmla="*/ 934595 h 2316519"/>
                <a:gd name="connsiteX24" fmla="*/ 3768759 w 4431601"/>
                <a:gd name="connsiteY24" fmla="*/ 883707 h 2316519"/>
                <a:gd name="connsiteX25" fmla="*/ 2693983 w 4431601"/>
                <a:gd name="connsiteY25" fmla="*/ 0 h 2316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431601" h="2316519">
                  <a:moveTo>
                    <a:pt x="2693983" y="0"/>
                  </a:moveTo>
                  <a:cubicBezTo>
                    <a:pt x="2391037" y="0"/>
                    <a:pt x="2116771" y="123878"/>
                    <a:pt x="1918242" y="324162"/>
                  </a:cubicBezTo>
                  <a:lnTo>
                    <a:pt x="1859647" y="395807"/>
                  </a:lnTo>
                  <a:lnTo>
                    <a:pt x="1815580" y="362462"/>
                  </a:lnTo>
                  <a:cubicBezTo>
                    <a:pt x="1681993" y="279692"/>
                    <a:pt x="1520952" y="231362"/>
                    <a:pt x="1347603" y="231362"/>
                  </a:cubicBezTo>
                  <a:cubicBezTo>
                    <a:pt x="943122" y="231362"/>
                    <a:pt x="605652" y="494493"/>
                    <a:pt x="527605" y="844290"/>
                  </a:cubicBezTo>
                  <a:lnTo>
                    <a:pt x="523639" y="880372"/>
                  </a:lnTo>
                  <a:lnTo>
                    <a:pt x="444716" y="905088"/>
                  </a:lnTo>
                  <a:cubicBezTo>
                    <a:pt x="183375" y="1016603"/>
                    <a:pt x="0" y="1277667"/>
                    <a:pt x="0" y="1581940"/>
                  </a:cubicBezTo>
                  <a:cubicBezTo>
                    <a:pt x="0" y="1962281"/>
                    <a:pt x="286523" y="2275109"/>
                    <a:pt x="653694" y="2312727"/>
                  </a:cubicBezTo>
                  <a:lnTo>
                    <a:pt x="653931" y="2312739"/>
                  </a:lnTo>
                  <a:lnTo>
                    <a:pt x="653931" y="2316518"/>
                  </a:lnTo>
                  <a:lnTo>
                    <a:pt x="728123" y="2316518"/>
                  </a:lnTo>
                  <a:lnTo>
                    <a:pt x="728142" y="2316519"/>
                  </a:lnTo>
                  <a:lnTo>
                    <a:pt x="728162" y="2316518"/>
                  </a:lnTo>
                  <a:lnTo>
                    <a:pt x="3745239" y="2316518"/>
                  </a:lnTo>
                  <a:lnTo>
                    <a:pt x="3745249" y="2316519"/>
                  </a:lnTo>
                  <a:lnTo>
                    <a:pt x="3745259" y="2316518"/>
                  </a:lnTo>
                  <a:lnTo>
                    <a:pt x="3788771" y="2316518"/>
                  </a:lnTo>
                  <a:lnTo>
                    <a:pt x="3788771" y="2312093"/>
                  </a:lnTo>
                  <a:lnTo>
                    <a:pt x="3883573" y="2302452"/>
                  </a:lnTo>
                  <a:cubicBezTo>
                    <a:pt x="4196332" y="2237887"/>
                    <a:pt x="4431601" y="1958713"/>
                    <a:pt x="4431601" y="1624103"/>
                  </a:cubicBezTo>
                  <a:cubicBezTo>
                    <a:pt x="4431601" y="1289493"/>
                    <a:pt x="4196332" y="1010319"/>
                    <a:pt x="3883573" y="945754"/>
                  </a:cubicBezTo>
                  <a:lnTo>
                    <a:pt x="3773844" y="934595"/>
                  </a:lnTo>
                  <a:lnTo>
                    <a:pt x="3768759" y="883707"/>
                  </a:lnTo>
                  <a:cubicBezTo>
                    <a:pt x="3666462" y="379376"/>
                    <a:pt x="3224139" y="0"/>
                    <a:pt x="2693983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91" name="文本框 90"/>
            <p:cNvSpPr txBox="1"/>
            <p:nvPr/>
          </p:nvSpPr>
          <p:spPr bwMode="gray">
            <a:xfrm>
              <a:off x="1032907" y="3485532"/>
              <a:ext cx="984565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IP</a:t>
              </a:r>
              <a:r>
                <a:rPr lang="zh-CN" altLang="en-US" sz="1600" dirty="0" smtClean="0">
                  <a:solidFill>
                    <a:schemeClr val="bg1">
                      <a:lumMod val="50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网络</a:t>
              </a:r>
              <a:endPara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 algn="ctr"/>
              <a:r>
                <a:rPr lang="en-US" altLang="zh-CN" sz="1400" dirty="0" smtClean="0">
                  <a:solidFill>
                    <a:schemeClr val="bg1">
                      <a:lumMod val="50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1.1.1.0/24</a:t>
              </a:r>
              <a:endPara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cxnSp>
        <p:nvCxnSpPr>
          <p:cNvPr id="92" name="直接连接符 55"/>
          <p:cNvCxnSpPr/>
          <p:nvPr/>
        </p:nvCxnSpPr>
        <p:spPr bwMode="gray">
          <a:xfrm rot="16200000">
            <a:off x="2654247" y="3531300"/>
            <a:ext cx="0" cy="513541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文本框 92"/>
          <p:cNvSpPr txBox="1"/>
          <p:nvPr/>
        </p:nvSpPr>
        <p:spPr bwMode="gray">
          <a:xfrm>
            <a:off x="1980590" y="3502506"/>
            <a:ext cx="10983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目的：</a:t>
            </a:r>
            <a:r>
              <a:rPr lang="en-US" altLang="zh-CN" sz="12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4.4.4.4</a:t>
            </a:r>
            <a:endParaRPr lang="zh-CN" altLang="en-US" sz="1200" dirty="0" smtClean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109" name="组合 108"/>
          <p:cNvGrpSpPr/>
          <p:nvPr/>
        </p:nvGrpSpPr>
        <p:grpSpPr bwMode="gray">
          <a:xfrm>
            <a:off x="9335001" y="3663329"/>
            <a:ext cx="1377387" cy="720000"/>
            <a:chOff x="9931032" y="3357607"/>
            <a:chExt cx="1377387" cy="720000"/>
          </a:xfrm>
        </p:grpSpPr>
        <p:sp>
          <p:nvSpPr>
            <p:cNvPr id="94" name="Freeform 159"/>
            <p:cNvSpPr>
              <a:spLocks noChangeAspect="1"/>
            </p:cNvSpPr>
            <p:nvPr/>
          </p:nvSpPr>
          <p:spPr bwMode="gray">
            <a:xfrm flipH="1">
              <a:off x="9931032" y="3357607"/>
              <a:ext cx="1377387" cy="720000"/>
            </a:xfrm>
            <a:custGeom>
              <a:avLst/>
              <a:gdLst>
                <a:gd name="connsiteX0" fmla="*/ 2693983 w 4431601"/>
                <a:gd name="connsiteY0" fmla="*/ 0 h 2316519"/>
                <a:gd name="connsiteX1" fmla="*/ 1918242 w 4431601"/>
                <a:gd name="connsiteY1" fmla="*/ 324162 h 2316519"/>
                <a:gd name="connsiteX2" fmla="*/ 1859647 w 4431601"/>
                <a:gd name="connsiteY2" fmla="*/ 395807 h 2316519"/>
                <a:gd name="connsiteX3" fmla="*/ 1815580 w 4431601"/>
                <a:gd name="connsiteY3" fmla="*/ 362462 h 2316519"/>
                <a:gd name="connsiteX4" fmla="*/ 1347603 w 4431601"/>
                <a:gd name="connsiteY4" fmla="*/ 231362 h 2316519"/>
                <a:gd name="connsiteX5" fmla="*/ 527605 w 4431601"/>
                <a:gd name="connsiteY5" fmla="*/ 844290 h 2316519"/>
                <a:gd name="connsiteX6" fmla="*/ 523639 w 4431601"/>
                <a:gd name="connsiteY6" fmla="*/ 880372 h 2316519"/>
                <a:gd name="connsiteX7" fmla="*/ 444716 w 4431601"/>
                <a:gd name="connsiteY7" fmla="*/ 905088 h 2316519"/>
                <a:gd name="connsiteX8" fmla="*/ 0 w 4431601"/>
                <a:gd name="connsiteY8" fmla="*/ 1581940 h 2316519"/>
                <a:gd name="connsiteX9" fmla="*/ 653694 w 4431601"/>
                <a:gd name="connsiteY9" fmla="*/ 2312727 h 2316519"/>
                <a:gd name="connsiteX10" fmla="*/ 653931 w 4431601"/>
                <a:gd name="connsiteY10" fmla="*/ 2312739 h 2316519"/>
                <a:gd name="connsiteX11" fmla="*/ 653931 w 4431601"/>
                <a:gd name="connsiteY11" fmla="*/ 2316518 h 2316519"/>
                <a:gd name="connsiteX12" fmla="*/ 728123 w 4431601"/>
                <a:gd name="connsiteY12" fmla="*/ 2316518 h 2316519"/>
                <a:gd name="connsiteX13" fmla="*/ 728142 w 4431601"/>
                <a:gd name="connsiteY13" fmla="*/ 2316519 h 2316519"/>
                <a:gd name="connsiteX14" fmla="*/ 728162 w 4431601"/>
                <a:gd name="connsiteY14" fmla="*/ 2316518 h 2316519"/>
                <a:gd name="connsiteX15" fmla="*/ 3745239 w 4431601"/>
                <a:gd name="connsiteY15" fmla="*/ 2316518 h 2316519"/>
                <a:gd name="connsiteX16" fmla="*/ 3745249 w 4431601"/>
                <a:gd name="connsiteY16" fmla="*/ 2316519 h 2316519"/>
                <a:gd name="connsiteX17" fmla="*/ 3745259 w 4431601"/>
                <a:gd name="connsiteY17" fmla="*/ 2316518 h 2316519"/>
                <a:gd name="connsiteX18" fmla="*/ 3788771 w 4431601"/>
                <a:gd name="connsiteY18" fmla="*/ 2316518 h 2316519"/>
                <a:gd name="connsiteX19" fmla="*/ 3788771 w 4431601"/>
                <a:gd name="connsiteY19" fmla="*/ 2312093 h 2316519"/>
                <a:gd name="connsiteX20" fmla="*/ 3883573 w 4431601"/>
                <a:gd name="connsiteY20" fmla="*/ 2302452 h 2316519"/>
                <a:gd name="connsiteX21" fmla="*/ 4431601 w 4431601"/>
                <a:gd name="connsiteY21" fmla="*/ 1624103 h 2316519"/>
                <a:gd name="connsiteX22" fmla="*/ 3883573 w 4431601"/>
                <a:gd name="connsiteY22" fmla="*/ 945754 h 2316519"/>
                <a:gd name="connsiteX23" fmla="*/ 3773844 w 4431601"/>
                <a:gd name="connsiteY23" fmla="*/ 934595 h 2316519"/>
                <a:gd name="connsiteX24" fmla="*/ 3768759 w 4431601"/>
                <a:gd name="connsiteY24" fmla="*/ 883707 h 2316519"/>
                <a:gd name="connsiteX25" fmla="*/ 2693983 w 4431601"/>
                <a:gd name="connsiteY25" fmla="*/ 0 h 2316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431601" h="2316519">
                  <a:moveTo>
                    <a:pt x="2693983" y="0"/>
                  </a:moveTo>
                  <a:cubicBezTo>
                    <a:pt x="2391037" y="0"/>
                    <a:pt x="2116771" y="123878"/>
                    <a:pt x="1918242" y="324162"/>
                  </a:cubicBezTo>
                  <a:lnTo>
                    <a:pt x="1859647" y="395807"/>
                  </a:lnTo>
                  <a:lnTo>
                    <a:pt x="1815580" y="362462"/>
                  </a:lnTo>
                  <a:cubicBezTo>
                    <a:pt x="1681993" y="279692"/>
                    <a:pt x="1520952" y="231362"/>
                    <a:pt x="1347603" y="231362"/>
                  </a:cubicBezTo>
                  <a:cubicBezTo>
                    <a:pt x="943122" y="231362"/>
                    <a:pt x="605652" y="494493"/>
                    <a:pt x="527605" y="844290"/>
                  </a:cubicBezTo>
                  <a:lnTo>
                    <a:pt x="523639" y="880372"/>
                  </a:lnTo>
                  <a:lnTo>
                    <a:pt x="444716" y="905088"/>
                  </a:lnTo>
                  <a:cubicBezTo>
                    <a:pt x="183375" y="1016603"/>
                    <a:pt x="0" y="1277667"/>
                    <a:pt x="0" y="1581940"/>
                  </a:cubicBezTo>
                  <a:cubicBezTo>
                    <a:pt x="0" y="1962281"/>
                    <a:pt x="286523" y="2275109"/>
                    <a:pt x="653694" y="2312727"/>
                  </a:cubicBezTo>
                  <a:lnTo>
                    <a:pt x="653931" y="2312739"/>
                  </a:lnTo>
                  <a:lnTo>
                    <a:pt x="653931" y="2316518"/>
                  </a:lnTo>
                  <a:lnTo>
                    <a:pt x="728123" y="2316518"/>
                  </a:lnTo>
                  <a:lnTo>
                    <a:pt x="728142" y="2316519"/>
                  </a:lnTo>
                  <a:lnTo>
                    <a:pt x="728162" y="2316518"/>
                  </a:lnTo>
                  <a:lnTo>
                    <a:pt x="3745239" y="2316518"/>
                  </a:lnTo>
                  <a:lnTo>
                    <a:pt x="3745249" y="2316519"/>
                  </a:lnTo>
                  <a:lnTo>
                    <a:pt x="3745259" y="2316518"/>
                  </a:lnTo>
                  <a:lnTo>
                    <a:pt x="3788771" y="2316518"/>
                  </a:lnTo>
                  <a:lnTo>
                    <a:pt x="3788771" y="2312093"/>
                  </a:lnTo>
                  <a:lnTo>
                    <a:pt x="3883573" y="2302452"/>
                  </a:lnTo>
                  <a:cubicBezTo>
                    <a:pt x="4196332" y="2237887"/>
                    <a:pt x="4431601" y="1958713"/>
                    <a:pt x="4431601" y="1624103"/>
                  </a:cubicBezTo>
                  <a:cubicBezTo>
                    <a:pt x="4431601" y="1289493"/>
                    <a:pt x="4196332" y="1010319"/>
                    <a:pt x="3883573" y="945754"/>
                  </a:cubicBezTo>
                  <a:lnTo>
                    <a:pt x="3773844" y="934595"/>
                  </a:lnTo>
                  <a:lnTo>
                    <a:pt x="3768759" y="883707"/>
                  </a:lnTo>
                  <a:cubicBezTo>
                    <a:pt x="3666462" y="379376"/>
                    <a:pt x="3224139" y="0"/>
                    <a:pt x="2693983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95" name="文本框 94"/>
            <p:cNvSpPr txBox="1"/>
            <p:nvPr/>
          </p:nvSpPr>
          <p:spPr bwMode="gray">
            <a:xfrm>
              <a:off x="10127443" y="3485532"/>
              <a:ext cx="984565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IP</a:t>
              </a:r>
              <a:r>
                <a:rPr lang="zh-CN" altLang="en-US" sz="1600" dirty="0" smtClean="0">
                  <a:solidFill>
                    <a:schemeClr val="bg1">
                      <a:lumMod val="50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网络</a:t>
              </a:r>
              <a:endPara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 algn="ctr"/>
              <a:r>
                <a:rPr lang="en-US" altLang="zh-CN" sz="1400" dirty="0" smtClean="0">
                  <a:solidFill>
                    <a:schemeClr val="bg1">
                      <a:lumMod val="50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4.4.4.0/24</a:t>
              </a:r>
              <a:endPara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116" name="文本框 115"/>
          <p:cNvSpPr txBox="1"/>
          <p:nvPr/>
        </p:nvSpPr>
        <p:spPr bwMode="gray">
          <a:xfrm>
            <a:off x="1459813" y="4699763"/>
            <a:ext cx="969573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对某一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FEC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，设备上存在进（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）标签和出（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Out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）标签，分别表示该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FEC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的数据接收时和发送时所携带的标签。</a:t>
            </a:r>
            <a:endParaRPr lang="en-US" altLang="zh-CN" sz="14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以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转发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到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4.4.4.0/24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数据为例，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为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的上游（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Upstream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LSR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为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的下游（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Downstream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LSR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。为确保标签报文能被正确的处理和转发，那么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发给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的报文所携带的标签与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上绑定到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4.4.4.0/24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的相同，即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出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标签等于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的入标签。同理，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关于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4.4.4.0/24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这条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FEC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的出标签必须等于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的入标签。</a:t>
            </a:r>
          </a:p>
        </p:txBody>
      </p:sp>
      <p:sp>
        <p:nvSpPr>
          <p:cNvPr id="43" name="五边形 42"/>
          <p:cNvSpPr/>
          <p:nvPr/>
        </p:nvSpPr>
        <p:spPr bwMode="gray">
          <a:xfrm>
            <a:off x="8501934" y="114300"/>
            <a:ext cx="1152000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基本概念</a:t>
            </a:r>
          </a:p>
        </p:txBody>
      </p:sp>
      <p:sp>
        <p:nvSpPr>
          <p:cNvPr id="44" name="燕尾形 43"/>
          <p:cNvSpPr/>
          <p:nvPr/>
        </p:nvSpPr>
        <p:spPr bwMode="gray">
          <a:xfrm>
            <a:off x="9620717" y="114300"/>
            <a:ext cx="10800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en-US" altLang="zh-CN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LSP</a:t>
            </a:r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建立</a:t>
            </a:r>
          </a:p>
        </p:txBody>
      </p:sp>
      <p:sp>
        <p:nvSpPr>
          <p:cNvPr id="45" name="燕尾形 44"/>
          <p:cNvSpPr/>
          <p:nvPr/>
        </p:nvSpPr>
        <p:spPr bwMode="gray">
          <a:xfrm>
            <a:off x="10667500" y="114300"/>
            <a:ext cx="108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kern="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标签转发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01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>
                <a:sym typeface="Huawei Sans" panose="020C0503030203020204" pitchFamily="34" charset="0"/>
              </a:rPr>
              <a:t>LSP</a:t>
            </a:r>
            <a:r>
              <a:rPr lang="zh-CN" altLang="en-US" smtClean="0">
                <a:sym typeface="Huawei Sans" panose="020C0503030203020204" pitchFamily="34" charset="0"/>
              </a:rPr>
              <a:t>建立方式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 smtClean="0">
                <a:sym typeface="Huawei Sans" panose="020C0503030203020204" pitchFamily="34" charset="0"/>
              </a:rPr>
              <a:t>MPLS</a:t>
            </a:r>
            <a:r>
              <a:rPr lang="zh-CN" altLang="en-US" sz="1800" dirty="0" smtClean="0">
                <a:sym typeface="Huawei Sans" panose="020C0503030203020204" pitchFamily="34" charset="0"/>
              </a:rPr>
              <a:t>需要为报文事先分配好标签，建立一条</a:t>
            </a:r>
            <a:r>
              <a:rPr lang="en-US" altLang="zh-CN" sz="1800" dirty="0" smtClean="0">
                <a:sym typeface="Huawei Sans" panose="020C0503030203020204" pitchFamily="34" charset="0"/>
              </a:rPr>
              <a:t>LSP</a:t>
            </a:r>
            <a:r>
              <a:rPr lang="zh-CN" altLang="en-US" sz="1800" dirty="0" smtClean="0">
                <a:sym typeface="Huawei Sans" panose="020C0503030203020204" pitchFamily="34" charset="0"/>
              </a:rPr>
              <a:t>，才能进行报文转发。</a:t>
            </a:r>
            <a:r>
              <a:rPr lang="en-US" altLang="zh-CN" sz="1800" dirty="0" smtClean="0">
                <a:sym typeface="Huawei Sans" panose="020C0503030203020204" pitchFamily="34" charset="0"/>
              </a:rPr>
              <a:t>LSP</a:t>
            </a:r>
            <a:r>
              <a:rPr lang="zh-CN" altLang="en-US" sz="1800" dirty="0" smtClean="0">
                <a:sym typeface="Huawei Sans" panose="020C0503030203020204" pitchFamily="34" charset="0"/>
              </a:rPr>
              <a:t>分为静态</a:t>
            </a:r>
            <a:r>
              <a:rPr lang="en-US" altLang="zh-CN" sz="1800" dirty="0" smtClean="0">
                <a:sym typeface="Huawei Sans" panose="020C0503030203020204" pitchFamily="34" charset="0"/>
              </a:rPr>
              <a:t>LSP</a:t>
            </a:r>
            <a:r>
              <a:rPr lang="zh-CN" altLang="en-US" sz="1800" dirty="0" smtClean="0">
                <a:sym typeface="Huawei Sans" panose="020C0503030203020204" pitchFamily="34" charset="0"/>
              </a:rPr>
              <a:t>和动态</a:t>
            </a:r>
            <a:r>
              <a:rPr lang="en-US" altLang="zh-CN" sz="1800" dirty="0" smtClean="0">
                <a:sym typeface="Huawei Sans" panose="020C0503030203020204" pitchFamily="34" charset="0"/>
              </a:rPr>
              <a:t>LSP</a:t>
            </a:r>
            <a:r>
              <a:rPr lang="zh-CN" altLang="en-US" sz="1800" dirty="0" smtClean="0">
                <a:sym typeface="Huawei Sans" panose="020C0503030203020204" pitchFamily="34" charset="0"/>
              </a:rPr>
              <a:t>两种。</a:t>
            </a: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5" name="圆角矩形 75"/>
          <p:cNvSpPr/>
          <p:nvPr/>
        </p:nvSpPr>
        <p:spPr bwMode="gray">
          <a:xfrm>
            <a:off x="560159" y="1524208"/>
            <a:ext cx="5285011" cy="400100"/>
          </a:xfrm>
          <a:prstGeom prst="roundRect">
            <a:avLst>
              <a:gd name="adj" fmla="val 10604"/>
            </a:avLst>
          </a:prstGeom>
          <a:solidFill>
            <a:srgbClr val="56C4D2"/>
          </a:solidFill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zh-CN" altLang="en-US" b="1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静态</a:t>
            </a:r>
            <a:r>
              <a:rPr lang="en-US" altLang="zh-CN" b="1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</a:t>
            </a:r>
            <a:endParaRPr lang="zh-CN" altLang="en-US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" name="圆角矩形 75"/>
          <p:cNvSpPr/>
          <p:nvPr/>
        </p:nvSpPr>
        <p:spPr bwMode="gray">
          <a:xfrm>
            <a:off x="560159" y="1955712"/>
            <a:ext cx="5285011" cy="4237355"/>
          </a:xfrm>
          <a:prstGeom prst="roundRect">
            <a:avLst>
              <a:gd name="adj" fmla="val 874"/>
            </a:avLst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 anchorCtr="0">
            <a:noAutofit/>
          </a:bodyPr>
          <a:lstStyle/>
          <a:p>
            <a:pPr marL="177800" indent="-177800"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基本概念：</a:t>
            </a:r>
            <a:endParaRPr lang="en-US" altLang="zh-CN" sz="1600" dirty="0" smtClean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360000" indent="-180000" algn="just">
              <a:lnSpc>
                <a:spcPts val="2600"/>
              </a:lnSpc>
              <a:spcAft>
                <a:spcPts val="600"/>
              </a:spcAft>
              <a:buFont typeface="Huawei Sans" panose="020C0503030203020204" pitchFamily="34" charset="0"/>
              <a:buChar char="▫"/>
            </a:pP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静态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是用户通过手工为</a:t>
            </a:r>
            <a:r>
              <a:rPr lang="zh-CN" altLang="en-US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各个</a:t>
            </a:r>
            <a:r>
              <a:rPr lang="en-US" altLang="zh-CN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FEC</a:t>
            </a:r>
            <a:r>
              <a:rPr lang="zh-CN" altLang="en-US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分配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标签而建立的</a:t>
            </a:r>
            <a:r>
              <a:rPr lang="zh-CN" altLang="en-US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 smtClean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360000" indent="-180000"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Huawei Sans" panose="020C0503030203020204" pitchFamily="34" charset="0"/>
              <a:buChar char="▫"/>
            </a:pPr>
            <a:r>
              <a:rPr lang="zh-CN" altLang="en-US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静态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不使用标签发布协议，不需要交互控制报文，因此消耗资源比较</a:t>
            </a:r>
            <a:r>
              <a:rPr lang="zh-CN" altLang="en-US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小。</a:t>
            </a:r>
            <a:endParaRPr lang="zh-CN" altLang="en-US" sz="14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360000" indent="-180000"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Huawei Sans" panose="020C0503030203020204" pitchFamily="34" charset="0"/>
              <a:buChar char="▫"/>
            </a:pPr>
            <a:r>
              <a:rPr lang="zh-CN" altLang="en-US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通过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静态</a:t>
            </a:r>
            <a:r>
              <a:rPr lang="zh-CN" altLang="en-US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方式建立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不能根据网络拓扑变化动态调整，需要管理员干预</a:t>
            </a:r>
            <a:r>
              <a:rPr lang="zh-CN" altLang="en-US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 smtClean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7800" indent="-177800" algn="just">
              <a:lnSpc>
                <a:spcPts val="26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应用</a:t>
            </a:r>
            <a:r>
              <a:rPr lang="zh-CN" altLang="en-US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场景：</a:t>
            </a:r>
            <a:endParaRPr lang="en-US" altLang="zh-CN" sz="1600" dirty="0" smtClean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360000" indent="-180000" algn="just">
              <a:lnSpc>
                <a:spcPts val="2600"/>
              </a:lnSpc>
              <a:spcAft>
                <a:spcPts val="600"/>
              </a:spcAft>
              <a:buFont typeface="Huawei Sans" panose="020C0503030203020204" pitchFamily="34" charset="0"/>
              <a:buChar char="▫"/>
            </a:pP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适用于拓扑结构简单并且稳定的小型网络</a:t>
            </a:r>
            <a:r>
              <a:rPr lang="zh-CN" altLang="en-US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 smtClean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7800" indent="-177800" algn="just">
              <a:lnSpc>
                <a:spcPts val="26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标签分配原则：</a:t>
            </a:r>
            <a:endParaRPr lang="en-US" altLang="zh-CN" sz="16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360000" indent="-180000" algn="just">
              <a:lnSpc>
                <a:spcPts val="2600"/>
              </a:lnSpc>
              <a:spcAft>
                <a:spcPts val="600"/>
              </a:spcAft>
              <a:buFont typeface="Huawei Sans" panose="020C0503030203020204" pitchFamily="34" charset="0"/>
              <a:buChar char="▫"/>
            </a:pP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前一节点出标签的值等于下一个节点入标签的值。</a:t>
            </a:r>
          </a:p>
          <a:p>
            <a:pPr marL="360000" indent="-180000"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Huawei Sans" panose="020C0503030203020204" pitchFamily="34" charset="0"/>
              <a:buChar char="▫"/>
            </a:pPr>
            <a:endParaRPr lang="zh-CN" altLang="en-US" sz="14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圆角矩形 75"/>
          <p:cNvSpPr/>
          <p:nvPr/>
        </p:nvSpPr>
        <p:spPr bwMode="gray">
          <a:xfrm>
            <a:off x="5965373" y="1524208"/>
            <a:ext cx="5648500" cy="400100"/>
          </a:xfrm>
          <a:prstGeom prst="roundRect">
            <a:avLst>
              <a:gd name="adj" fmla="val 10604"/>
            </a:avLst>
          </a:prstGeom>
          <a:solidFill>
            <a:srgbClr val="56C4D2"/>
          </a:solidFill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zh-CN" altLang="en-US" b="1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动态</a:t>
            </a:r>
            <a:r>
              <a:rPr lang="en-US" altLang="zh-CN" b="1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</a:t>
            </a:r>
            <a:endParaRPr lang="zh-CN" altLang="en-US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" name="圆角矩形 75"/>
          <p:cNvSpPr/>
          <p:nvPr/>
        </p:nvSpPr>
        <p:spPr bwMode="gray">
          <a:xfrm>
            <a:off x="5965373" y="1955712"/>
            <a:ext cx="5648500" cy="4245063"/>
          </a:xfrm>
          <a:prstGeom prst="roundRect">
            <a:avLst>
              <a:gd name="adj" fmla="val 874"/>
            </a:avLst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 anchorCtr="0">
            <a:noAutofit/>
          </a:bodyPr>
          <a:lstStyle/>
          <a:p>
            <a:pPr marL="177800" indent="-177800"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基本概念：</a:t>
            </a:r>
            <a:endParaRPr lang="en-US" altLang="zh-CN" sz="1600" dirty="0" smtClean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360000" indent="-180000"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Huawei Sans" panose="020C0503030203020204" pitchFamily="34" charset="0"/>
              <a:buChar char="▫"/>
            </a:pP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动态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通过标签发布协议动态建立</a:t>
            </a:r>
            <a:r>
              <a:rPr lang="zh-CN" altLang="en-US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 smtClean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360000" indent="-180000"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Huawei Sans" panose="020C0503030203020204" pitchFamily="34" charset="0"/>
              <a:buChar char="▫"/>
            </a:pPr>
            <a:r>
              <a:rPr lang="zh-CN" altLang="en-US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标签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发布协议是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的控制协议（也可称为信令协议），负责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FEC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的分类、标签的分发以及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的建立和维护等一系列操作。</a:t>
            </a:r>
            <a:endParaRPr lang="en-US" altLang="zh-CN" sz="14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7800" indent="-177800"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常用标签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发布协议</a:t>
            </a:r>
            <a:r>
              <a:rPr lang="zh-CN" altLang="en-US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：标签分发协议（</a:t>
            </a:r>
            <a:r>
              <a:rPr lang="en-US" altLang="zh-CN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</a:t>
            </a:r>
            <a:r>
              <a:rPr lang="zh-CN" altLang="en-US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</a:t>
            </a:r>
            <a:endParaRPr lang="en-US" altLang="zh-CN" sz="1600" dirty="0" smtClean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360000" indent="-180000"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Huawei Sans" panose="020C0503030203020204" pitchFamily="34" charset="0"/>
              <a:buChar char="▫"/>
            </a:pP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全称</a:t>
            </a:r>
            <a:r>
              <a:rPr lang="zh-CN" altLang="en-US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Label Distribution Protocol</a:t>
            </a:r>
            <a:r>
              <a:rPr lang="zh-CN" altLang="en-US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</a:p>
          <a:p>
            <a:pPr marL="360000" indent="-180000" algn="just">
              <a:lnSpc>
                <a:spcPts val="2600"/>
              </a:lnSpc>
              <a:spcAft>
                <a:spcPts val="600"/>
              </a:spcAft>
              <a:buFont typeface="Huawei Sans" panose="020C0503030203020204" pitchFamily="34" charset="0"/>
              <a:buChar char="▫"/>
            </a:pP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定义</a:t>
            </a:r>
            <a:r>
              <a:rPr lang="zh-CN" altLang="en-US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</a:t>
            </a:r>
            <a:r>
              <a:rPr lang="zh-CN" altLang="en-US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是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多协议标签交换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的一种控制协议</a:t>
            </a:r>
            <a:r>
              <a:rPr lang="zh-CN" altLang="en-US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，负责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转发等价类</a:t>
            </a:r>
            <a:r>
              <a:rPr lang="en-US" altLang="zh-CN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FEC</a:t>
            </a:r>
            <a:r>
              <a:rPr lang="zh-CN" altLang="en-US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分类、标签的分配以及标签交换路径</a:t>
            </a:r>
            <a:r>
              <a:rPr lang="en-US" altLang="zh-CN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</a:t>
            </a:r>
            <a:r>
              <a:rPr lang="zh-CN" altLang="en-US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建立和维护等操作。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规定了标签分发过程中的各种消息以及相关处理过程</a:t>
            </a:r>
            <a:r>
              <a:rPr lang="zh-CN" altLang="en-US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 smtClean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360000" indent="-180000" algn="just">
              <a:lnSpc>
                <a:spcPts val="2600"/>
              </a:lnSpc>
              <a:spcAft>
                <a:spcPts val="600"/>
              </a:spcAft>
              <a:buFont typeface="Huawei Sans" panose="020C0503030203020204" pitchFamily="34" charset="0"/>
              <a:buChar char="▫"/>
            </a:pPr>
            <a:r>
              <a:rPr lang="zh-CN" altLang="en-US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应用场景：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广泛地应用在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服务上，具有组网、配置简单、支持基于路由动态建立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、支持大容量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等优点。</a:t>
            </a:r>
            <a:endParaRPr lang="en-US" altLang="zh-CN" sz="1400" dirty="0" smtClean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360000" indent="-180000" algn="just">
              <a:lnSpc>
                <a:spcPts val="2600"/>
              </a:lnSpc>
              <a:spcAft>
                <a:spcPts val="600"/>
              </a:spcAft>
              <a:buFont typeface="Huawei Sans" panose="020C0503030203020204" pitchFamily="34" charset="0"/>
              <a:buChar char="▫"/>
            </a:pPr>
            <a:endParaRPr lang="zh-CN" altLang="en-US" sz="14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" name="五边形 14"/>
          <p:cNvSpPr/>
          <p:nvPr/>
        </p:nvSpPr>
        <p:spPr bwMode="gray">
          <a:xfrm>
            <a:off x="8501934" y="114300"/>
            <a:ext cx="1152000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基本概念</a:t>
            </a:r>
          </a:p>
        </p:txBody>
      </p:sp>
      <p:sp>
        <p:nvSpPr>
          <p:cNvPr id="16" name="燕尾形 15"/>
          <p:cNvSpPr/>
          <p:nvPr/>
        </p:nvSpPr>
        <p:spPr bwMode="gray">
          <a:xfrm>
            <a:off x="9620717" y="114300"/>
            <a:ext cx="10800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en-US" altLang="zh-CN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LSP</a:t>
            </a:r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建立</a:t>
            </a:r>
          </a:p>
        </p:txBody>
      </p:sp>
      <p:sp>
        <p:nvSpPr>
          <p:cNvPr id="17" name="燕尾形 16"/>
          <p:cNvSpPr/>
          <p:nvPr/>
        </p:nvSpPr>
        <p:spPr bwMode="gray">
          <a:xfrm>
            <a:off x="10667500" y="114300"/>
            <a:ext cx="108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kern="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标签转发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452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/>
              <a:t>MPLS</a:t>
            </a:r>
            <a:r>
              <a:rPr lang="zh-CN" altLang="en-US" smtClean="0"/>
              <a:t>标签转发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smtClean="0"/>
              <a:t>LSR</a:t>
            </a:r>
            <a:r>
              <a:rPr lang="zh-CN" altLang="en-US" sz="1800" smtClean="0"/>
              <a:t>处理报文时主要根据</a:t>
            </a:r>
            <a:r>
              <a:rPr lang="en-US" altLang="zh-CN" sz="1800" smtClean="0"/>
              <a:t>FTN</a:t>
            </a:r>
            <a:r>
              <a:rPr lang="zh-CN" altLang="en-US" sz="1800" smtClean="0"/>
              <a:t>、</a:t>
            </a:r>
            <a:r>
              <a:rPr lang="en-US" altLang="zh-CN" sz="1800" smtClean="0"/>
              <a:t> NHLFE</a:t>
            </a:r>
            <a:r>
              <a:rPr lang="zh-CN" altLang="en-US" sz="1800" smtClean="0"/>
              <a:t>和</a:t>
            </a:r>
            <a:r>
              <a:rPr lang="en-US" altLang="zh-CN" sz="1800" smtClean="0"/>
              <a:t>ILM</a:t>
            </a:r>
            <a:r>
              <a:rPr lang="zh-CN" altLang="en-US" sz="1800" smtClean="0"/>
              <a:t>。</a:t>
            </a:r>
            <a:endParaRPr lang="zh-CN" altLang="en-US" sz="1800" dirty="0"/>
          </a:p>
        </p:txBody>
      </p:sp>
      <p:sp>
        <p:nvSpPr>
          <p:cNvPr id="6" name="圆角矩形 75"/>
          <p:cNvSpPr/>
          <p:nvPr/>
        </p:nvSpPr>
        <p:spPr bwMode="gray">
          <a:xfrm>
            <a:off x="628824" y="1744882"/>
            <a:ext cx="3420000" cy="400100"/>
          </a:xfrm>
          <a:prstGeom prst="roundRect">
            <a:avLst>
              <a:gd name="adj" fmla="val 10604"/>
            </a:avLst>
          </a:prstGeom>
          <a:solidFill>
            <a:srgbClr val="56C4D2"/>
          </a:solidFill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b="1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FTN</a:t>
            </a:r>
            <a:endParaRPr lang="zh-CN" altLang="en-US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圆角矩形 75"/>
          <p:cNvSpPr/>
          <p:nvPr/>
        </p:nvSpPr>
        <p:spPr bwMode="gray">
          <a:xfrm>
            <a:off x="628824" y="2176386"/>
            <a:ext cx="3420000" cy="2197709"/>
          </a:xfrm>
          <a:prstGeom prst="roundRect">
            <a:avLst>
              <a:gd name="adj" fmla="val 874"/>
            </a:avLst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 anchorCtr="0">
            <a:noAutofit/>
          </a:bodyPr>
          <a:lstStyle/>
          <a:p>
            <a:pPr marL="177800" indent="-177800" algn="just">
              <a:lnSpc>
                <a:spcPts val="26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FTN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FEC-to-NHLFE</a:t>
            </a:r>
            <a:r>
              <a:rPr lang="zh-CN" altLang="en-US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）：当</a:t>
            </a:r>
            <a:r>
              <a:rPr lang="en-US" altLang="zh-CN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LSR</a:t>
            </a:r>
            <a:r>
              <a:rPr lang="zh-CN" altLang="en-US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收到</a:t>
            </a:r>
            <a:r>
              <a:rPr lang="en-US" altLang="zh-CN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报文并</a:t>
            </a:r>
            <a:r>
              <a:rPr lang="zh-CN" altLang="en-US" sz="160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需要进行</a:t>
            </a:r>
            <a:r>
              <a:rPr lang="en-US" altLang="zh-CN" sz="160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60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转发时使用，</a:t>
            </a:r>
            <a:r>
              <a:rPr lang="en-US" altLang="zh-CN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FTN</a:t>
            </a:r>
            <a:r>
              <a:rPr lang="zh-CN" altLang="en-US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只在</a:t>
            </a:r>
            <a:r>
              <a:rPr lang="en-US" altLang="zh-CN" sz="16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Ingress</a:t>
            </a:r>
            <a:r>
              <a:rPr lang="zh-CN" altLang="en-US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存在。</a:t>
            </a:r>
          </a:p>
          <a:p>
            <a:pPr marL="177800" indent="-177800" algn="just">
              <a:lnSpc>
                <a:spcPts val="26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60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FTN</a:t>
            </a:r>
            <a:r>
              <a:rPr lang="zh-CN" altLang="en-US" sz="160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包括：</a:t>
            </a:r>
            <a:r>
              <a:rPr lang="en-US" altLang="zh-CN" sz="1600" b="1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Tunnel ID</a:t>
            </a:r>
            <a:r>
              <a:rPr lang="zh-CN" altLang="en-US" sz="160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、</a:t>
            </a:r>
            <a:r>
              <a:rPr lang="en-US" altLang="zh-CN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FEC</a:t>
            </a:r>
            <a:r>
              <a:rPr lang="zh-CN" altLang="en-US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到</a:t>
            </a:r>
            <a:r>
              <a:rPr lang="en-US" altLang="zh-CN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NHLFE</a:t>
            </a:r>
            <a:r>
              <a:rPr lang="zh-CN" altLang="en-US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zh-CN" altLang="en-US" sz="160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映射信息。</a:t>
            </a:r>
            <a:endParaRPr lang="en-US" altLang="zh-CN" sz="16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" name="圆角矩形 75"/>
          <p:cNvSpPr/>
          <p:nvPr/>
        </p:nvSpPr>
        <p:spPr bwMode="gray">
          <a:xfrm>
            <a:off x="4208738" y="1744881"/>
            <a:ext cx="3891691" cy="400100"/>
          </a:xfrm>
          <a:prstGeom prst="roundRect">
            <a:avLst>
              <a:gd name="adj" fmla="val 10604"/>
            </a:avLst>
          </a:prstGeom>
          <a:solidFill>
            <a:srgbClr val="56C4D2"/>
          </a:solidFill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b="1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NHLFE</a:t>
            </a:r>
            <a:endParaRPr lang="zh-CN" altLang="en-US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" name="圆角矩形 75"/>
          <p:cNvSpPr/>
          <p:nvPr/>
        </p:nvSpPr>
        <p:spPr bwMode="gray">
          <a:xfrm>
            <a:off x="4208738" y="2176386"/>
            <a:ext cx="3891691" cy="2197710"/>
          </a:xfrm>
          <a:prstGeom prst="roundRect">
            <a:avLst>
              <a:gd name="adj" fmla="val 874"/>
            </a:avLst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 anchorCtr="0">
            <a:noAutofit/>
          </a:bodyPr>
          <a:lstStyle/>
          <a:p>
            <a:pPr marL="177800" indent="-177800" algn="just">
              <a:lnSpc>
                <a:spcPts val="26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下一跳标签转发表</a:t>
            </a:r>
            <a:r>
              <a:rPr lang="zh-CN" altLang="en-US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项（</a:t>
            </a:r>
            <a:r>
              <a:rPr lang="en-US" altLang="zh-CN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Next 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Hop Label Forwarding </a:t>
            </a:r>
            <a:r>
              <a:rPr lang="en-US" altLang="zh-CN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Entry</a:t>
            </a:r>
            <a:r>
              <a:rPr lang="zh-CN" altLang="en-US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）：</a:t>
            </a:r>
            <a:r>
              <a:rPr lang="en-US" altLang="zh-CN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LSR</a:t>
            </a:r>
            <a:r>
              <a:rPr lang="zh-CN" altLang="en-US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对报文（</a:t>
            </a:r>
            <a:r>
              <a:rPr lang="en-US" altLang="zh-CN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或</a:t>
            </a:r>
            <a:r>
              <a:rPr lang="en-US" altLang="zh-CN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</a:t>
            </a:r>
            <a:r>
              <a:rPr lang="zh-CN" altLang="en-US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）进行</a:t>
            </a:r>
            <a:r>
              <a:rPr lang="en-US" altLang="zh-CN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转发时使用，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NHLFE</a:t>
            </a:r>
            <a:r>
              <a:rPr lang="zh-CN" altLang="en-US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6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Ingress</a:t>
            </a:r>
            <a:r>
              <a:rPr lang="zh-CN" altLang="en-US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和</a:t>
            </a:r>
            <a:r>
              <a:rPr lang="en-US" altLang="zh-CN" sz="16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Transit</a:t>
            </a:r>
            <a:r>
              <a:rPr lang="zh-CN" altLang="en-US" sz="160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存在。</a:t>
            </a:r>
            <a:endParaRPr lang="en-US" altLang="zh-CN" sz="16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7800" indent="-177800"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60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NHLFE</a:t>
            </a:r>
            <a:r>
              <a:rPr lang="zh-CN" altLang="en-US" sz="160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包括：</a:t>
            </a:r>
            <a:r>
              <a:rPr lang="en-US" altLang="zh-CN" sz="1600" b="1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Tunnel ID</a:t>
            </a:r>
            <a:r>
              <a:rPr lang="zh-CN" altLang="en-US" sz="160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、出接口、下一跳、出标签、标签操作类型等信息。</a:t>
            </a:r>
            <a:endParaRPr lang="en-US" altLang="zh-CN" sz="1600" dirty="0" smtClean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" name="圆角矩形 75"/>
          <p:cNvSpPr/>
          <p:nvPr/>
        </p:nvSpPr>
        <p:spPr bwMode="gray">
          <a:xfrm>
            <a:off x="8260343" y="1744881"/>
            <a:ext cx="3420000" cy="400100"/>
          </a:xfrm>
          <a:prstGeom prst="roundRect">
            <a:avLst>
              <a:gd name="adj" fmla="val 10604"/>
            </a:avLst>
          </a:prstGeom>
          <a:solidFill>
            <a:srgbClr val="56C4D2"/>
          </a:solidFill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b="1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ILM</a:t>
            </a:r>
            <a:endParaRPr lang="zh-CN" altLang="en-US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" name="圆角矩形 75"/>
          <p:cNvSpPr/>
          <p:nvPr/>
        </p:nvSpPr>
        <p:spPr bwMode="gray">
          <a:xfrm>
            <a:off x="8260343" y="2176386"/>
            <a:ext cx="3420000" cy="2197710"/>
          </a:xfrm>
          <a:prstGeom prst="roundRect">
            <a:avLst>
              <a:gd name="adj" fmla="val 874"/>
            </a:avLst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 anchorCtr="0">
            <a:noAutofit/>
          </a:bodyPr>
          <a:lstStyle/>
          <a:p>
            <a:pPr marL="177800" indent="-177800" algn="just">
              <a:lnSpc>
                <a:spcPts val="26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入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标签</a:t>
            </a:r>
            <a:r>
              <a:rPr lang="zh-CN" altLang="en-US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映射（</a:t>
            </a:r>
            <a:r>
              <a:rPr lang="en-US" altLang="zh-CN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ILM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</a:t>
            </a:r>
            <a:r>
              <a:rPr lang="en-US" altLang="zh-CN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Incoming 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Label </a:t>
            </a:r>
            <a:r>
              <a:rPr lang="en-US" altLang="zh-CN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Map</a:t>
            </a:r>
            <a:r>
              <a:rPr lang="zh-CN" altLang="en-US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）：用于指导</a:t>
            </a:r>
            <a:r>
              <a:rPr lang="en-US" altLang="zh-CN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报文的</a:t>
            </a:r>
            <a:r>
              <a:rPr lang="zh-CN" altLang="en-US" sz="160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转发（</a:t>
            </a:r>
            <a:r>
              <a:rPr lang="en-US" altLang="zh-CN" sz="160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60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或</a:t>
            </a:r>
            <a:r>
              <a:rPr lang="en-US" altLang="zh-CN" sz="160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60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转发），</a:t>
            </a:r>
            <a:r>
              <a:rPr lang="en-US" altLang="zh-CN" sz="160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ILM</a:t>
            </a:r>
            <a:r>
              <a:rPr lang="zh-CN" altLang="en-US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只在</a:t>
            </a:r>
            <a:r>
              <a:rPr lang="en-US" altLang="zh-CN" sz="16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Transit</a:t>
            </a:r>
            <a:r>
              <a:rPr lang="zh-CN" altLang="en-US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和</a:t>
            </a:r>
            <a:r>
              <a:rPr lang="en-US" altLang="zh-CN" sz="16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Egress</a:t>
            </a:r>
            <a:r>
              <a:rPr lang="zh-CN" altLang="en-US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存在。</a:t>
            </a:r>
          </a:p>
          <a:p>
            <a:pPr marL="177800" indent="-177800"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60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ILM</a:t>
            </a:r>
            <a:r>
              <a:rPr lang="zh-CN" altLang="en-US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包括</a:t>
            </a:r>
            <a:r>
              <a:rPr lang="zh-CN" altLang="en-US" sz="160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6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Tunnel ID</a:t>
            </a:r>
            <a:r>
              <a:rPr lang="zh-CN" altLang="en-US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、入标签、入接口、标签操作类型等信息</a:t>
            </a:r>
            <a:r>
              <a:rPr lang="zh-CN" altLang="en-US" sz="160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600" dirty="0" smtClean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2945412"/>
              </p:ext>
            </p:extLst>
          </p:nvPr>
        </p:nvGraphicFramePr>
        <p:xfrm>
          <a:off x="4573480" y="4491761"/>
          <a:ext cx="2821368" cy="5181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24191"/>
                <a:gridCol w="844147"/>
                <a:gridCol w="657167"/>
                <a:gridCol w="795863"/>
              </a:tblGrid>
              <a:tr h="2484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>
                          <a:solidFill>
                            <a:schemeClr val="bg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Out IF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>
                          <a:solidFill>
                            <a:schemeClr val="bg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Tunnel ID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>
                          <a:solidFill>
                            <a:schemeClr val="bg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NH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>
                          <a:solidFill>
                            <a:schemeClr val="bg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Out Label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" name="表格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8788021"/>
              </p:ext>
            </p:extLst>
          </p:nvPr>
        </p:nvGraphicFramePr>
        <p:xfrm>
          <a:off x="8334799" y="4491761"/>
          <a:ext cx="3068391" cy="5181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734444"/>
                <a:gridCol w="492433"/>
                <a:gridCol w="920757"/>
                <a:gridCol w="920757"/>
              </a:tblGrid>
              <a:tr h="4284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>
                          <a:solidFill>
                            <a:schemeClr val="bg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In Label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>
                          <a:solidFill>
                            <a:schemeClr val="bg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In IF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>
                          <a:solidFill>
                            <a:schemeClr val="bg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Tunnel ID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>
                          <a:solidFill>
                            <a:schemeClr val="bg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OPER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915038"/>
              </p:ext>
            </p:extLst>
          </p:nvPr>
        </p:nvGraphicFramePr>
        <p:xfrm>
          <a:off x="1469036" y="4491761"/>
          <a:ext cx="1618938" cy="5181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809469"/>
                <a:gridCol w="809469"/>
              </a:tblGrid>
              <a:tr h="4284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>
                          <a:solidFill>
                            <a:schemeClr val="bg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FEC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>
                          <a:solidFill>
                            <a:schemeClr val="bg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Tunnel ID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</a:tbl>
          </a:graphicData>
        </a:graphic>
      </p:graphicFrame>
      <p:sp>
        <p:nvSpPr>
          <p:cNvPr id="26" name="任意多边形 25"/>
          <p:cNvSpPr/>
          <p:nvPr/>
        </p:nvSpPr>
        <p:spPr bwMode="gray">
          <a:xfrm>
            <a:off x="2593298" y="4977415"/>
            <a:ext cx="2857467" cy="242677"/>
          </a:xfrm>
          <a:custGeom>
            <a:avLst/>
            <a:gdLst>
              <a:gd name="connsiteX0" fmla="*/ 0 w 2825086"/>
              <a:gd name="connsiteY0" fmla="*/ 0 h 450376"/>
              <a:gd name="connsiteX1" fmla="*/ 0 w 2825086"/>
              <a:gd name="connsiteY1" fmla="*/ 450376 h 450376"/>
              <a:gd name="connsiteX2" fmla="*/ 2825086 w 2825086"/>
              <a:gd name="connsiteY2" fmla="*/ 450376 h 450376"/>
              <a:gd name="connsiteX3" fmla="*/ 2825086 w 2825086"/>
              <a:gd name="connsiteY3" fmla="*/ 40943 h 450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5086" h="450376">
                <a:moveTo>
                  <a:pt x="0" y="0"/>
                </a:moveTo>
                <a:lnTo>
                  <a:pt x="0" y="450376"/>
                </a:lnTo>
                <a:lnTo>
                  <a:pt x="2825086" y="450376"/>
                </a:lnTo>
                <a:lnTo>
                  <a:pt x="2825086" y="40943"/>
                </a:lnTo>
              </a:path>
            </a:pathLst>
          </a:custGeom>
          <a:noFill/>
          <a:ln w="19050" cap="flat" cmpd="sng" algn="ctr">
            <a:solidFill>
              <a:srgbClr val="30B5C5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34" name="组合 33"/>
          <p:cNvGrpSpPr/>
          <p:nvPr/>
        </p:nvGrpSpPr>
        <p:grpSpPr bwMode="gray">
          <a:xfrm>
            <a:off x="508140" y="5307501"/>
            <a:ext cx="4193249" cy="723596"/>
            <a:chOff x="508140" y="5307501"/>
            <a:chExt cx="4193249" cy="723596"/>
          </a:xfrm>
        </p:grpSpPr>
        <p:sp>
          <p:nvSpPr>
            <p:cNvPr id="28" name="矩形 27"/>
            <p:cNvSpPr/>
            <p:nvPr/>
          </p:nvSpPr>
          <p:spPr bwMode="gray">
            <a:xfrm>
              <a:off x="658804" y="5307501"/>
              <a:ext cx="4042585" cy="7235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fontAlgn="auto">
                <a:lnSpc>
                  <a:spcPts val="26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zh-CN" sz="1400" dirty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Ingress</a:t>
              </a:r>
              <a:r>
                <a:rPr lang="zh-CN" altLang="en-US" sz="140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设备通过查看</a:t>
              </a:r>
              <a:r>
                <a:rPr lang="en-US" altLang="zh-CN" sz="140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FIB</a:t>
              </a:r>
              <a:r>
                <a:rPr lang="zh-CN" altLang="en-US" sz="140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表中</a:t>
              </a:r>
              <a:r>
                <a:rPr lang="en-US" altLang="zh-CN" sz="140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Tunnel ID</a:t>
              </a:r>
              <a:r>
                <a:rPr lang="zh-CN" altLang="en-US" sz="140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值不为</a:t>
              </a:r>
              <a:r>
                <a:rPr lang="en-US" altLang="zh-CN" sz="140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0x0</a:t>
              </a:r>
              <a:r>
                <a:rPr lang="zh-CN" altLang="en-US" sz="140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的表项，能够获得</a:t>
              </a:r>
              <a:r>
                <a:rPr lang="en-US" altLang="zh-CN" sz="140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FTN</a:t>
              </a:r>
              <a:r>
                <a:rPr lang="zh-CN" altLang="en-US" sz="140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的详细信息。</a:t>
              </a:r>
              <a:endPara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0" name="Oval 4"/>
            <p:cNvSpPr>
              <a:spLocks noChangeAspect="1"/>
            </p:cNvSpPr>
            <p:nvPr/>
          </p:nvSpPr>
          <p:spPr bwMode="gray">
            <a:xfrm>
              <a:off x="508140" y="5351084"/>
              <a:ext cx="180000" cy="180000"/>
            </a:xfrm>
            <a:prstGeom prst="ellipse">
              <a:avLst/>
            </a:prstGeom>
            <a:solidFill>
              <a:srgbClr val="30B5C5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</a:rPr>
                <a:t>1</a:t>
              </a:r>
              <a:endParaRPr lang="zh-CN" altLang="en-US" sz="1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7" name="任意多边形 26"/>
          <p:cNvSpPr/>
          <p:nvPr/>
        </p:nvSpPr>
        <p:spPr bwMode="gray">
          <a:xfrm flipH="1">
            <a:off x="5555380" y="4977415"/>
            <a:ext cx="4458050" cy="242677"/>
          </a:xfrm>
          <a:custGeom>
            <a:avLst/>
            <a:gdLst>
              <a:gd name="connsiteX0" fmla="*/ 0 w 2825086"/>
              <a:gd name="connsiteY0" fmla="*/ 0 h 450376"/>
              <a:gd name="connsiteX1" fmla="*/ 0 w 2825086"/>
              <a:gd name="connsiteY1" fmla="*/ 450376 h 450376"/>
              <a:gd name="connsiteX2" fmla="*/ 2825086 w 2825086"/>
              <a:gd name="connsiteY2" fmla="*/ 450376 h 450376"/>
              <a:gd name="connsiteX3" fmla="*/ 2825086 w 2825086"/>
              <a:gd name="connsiteY3" fmla="*/ 40943 h 450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5086" h="450376">
                <a:moveTo>
                  <a:pt x="0" y="0"/>
                </a:moveTo>
                <a:lnTo>
                  <a:pt x="0" y="450376"/>
                </a:lnTo>
                <a:lnTo>
                  <a:pt x="2825086" y="450376"/>
                </a:lnTo>
                <a:lnTo>
                  <a:pt x="2825086" y="40943"/>
                </a:lnTo>
              </a:path>
            </a:pathLst>
          </a:custGeom>
          <a:noFill/>
          <a:ln w="19050" cap="flat" cmpd="sng" algn="ctr">
            <a:solidFill>
              <a:srgbClr val="30B5C5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矩形 28"/>
          <p:cNvSpPr/>
          <p:nvPr/>
        </p:nvSpPr>
        <p:spPr bwMode="gray">
          <a:xfrm>
            <a:off x="5785515" y="5378228"/>
            <a:ext cx="281459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Transit</a:t>
            </a:r>
            <a:r>
              <a:rPr lang="zh-CN" altLang="en-US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设备根据</a:t>
            </a:r>
            <a:r>
              <a:rPr lang="en-US" altLang="zh-CN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ILM</a:t>
            </a:r>
            <a:r>
              <a:rPr lang="zh-CN" altLang="en-US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表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Tunnel </a:t>
            </a:r>
            <a:r>
              <a:rPr lang="en-US" altLang="zh-CN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ID</a:t>
            </a:r>
            <a:r>
              <a:rPr lang="zh-CN" altLang="en-US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找到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对应的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NHLFE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表项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1" name="Oval 4"/>
          <p:cNvSpPr>
            <a:spLocks noChangeAspect="1"/>
          </p:cNvSpPr>
          <p:nvPr/>
        </p:nvSpPr>
        <p:spPr bwMode="gray">
          <a:xfrm>
            <a:off x="5652693" y="5333437"/>
            <a:ext cx="180000" cy="180000"/>
          </a:xfrm>
          <a:prstGeom prst="ellipse">
            <a:avLst/>
          </a:prstGeom>
          <a:solidFill>
            <a:srgbClr val="30B5C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200" b="1" dirty="0">
                <a:solidFill>
                  <a:schemeClr val="bg1"/>
                </a:solidFill>
              </a:rPr>
              <a:t>2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grpSp>
        <p:nvGrpSpPr>
          <p:cNvPr id="38" name="组合 37"/>
          <p:cNvGrpSpPr/>
          <p:nvPr/>
        </p:nvGrpSpPr>
        <p:grpSpPr bwMode="gray">
          <a:xfrm>
            <a:off x="8600107" y="5348905"/>
            <a:ext cx="3080236" cy="783455"/>
            <a:chOff x="8600107" y="5348905"/>
            <a:chExt cx="3080236" cy="783455"/>
          </a:xfrm>
        </p:grpSpPr>
        <p:sp>
          <p:nvSpPr>
            <p:cNvPr id="32" name="矩形 31"/>
            <p:cNvSpPr/>
            <p:nvPr/>
          </p:nvSpPr>
          <p:spPr bwMode="gray">
            <a:xfrm>
              <a:off x="8732929" y="5393696"/>
              <a:ext cx="2947414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400" dirty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Egress</a:t>
              </a:r>
              <a:r>
                <a:rPr lang="zh-CN" altLang="en-US" sz="1400" dirty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设备的</a:t>
              </a:r>
              <a:r>
                <a:rPr lang="en-US" altLang="zh-CN" sz="1400" dirty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ILM</a:t>
              </a:r>
              <a:r>
                <a:rPr lang="zh-CN" altLang="en-US" sz="1400" dirty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表中对应的</a:t>
              </a:r>
              <a:r>
                <a:rPr lang="en-US" altLang="zh-CN" sz="1400" dirty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OPER</a:t>
              </a:r>
              <a:r>
                <a:rPr lang="zh-CN" altLang="en-US" sz="1400" dirty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为</a:t>
              </a:r>
              <a:r>
                <a:rPr lang="en-US" altLang="zh-CN" sz="1400" dirty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Pop</a:t>
              </a:r>
              <a:r>
                <a:rPr lang="zh-CN" altLang="en-US" sz="1400" dirty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，仅有单层标签的情况下剥离标签进行</a:t>
              </a:r>
              <a:r>
                <a:rPr lang="en-US" altLang="zh-CN" sz="1400" dirty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IP</a:t>
              </a:r>
              <a:r>
                <a:rPr lang="zh-CN" altLang="en-US" sz="1400" dirty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转发。</a:t>
              </a:r>
              <a:endPara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3" name="Oval 4"/>
            <p:cNvSpPr>
              <a:spLocks noChangeAspect="1"/>
            </p:cNvSpPr>
            <p:nvPr/>
          </p:nvSpPr>
          <p:spPr bwMode="gray">
            <a:xfrm>
              <a:off x="8600107" y="5348905"/>
              <a:ext cx="180000" cy="180000"/>
            </a:xfrm>
            <a:prstGeom prst="ellipse">
              <a:avLst/>
            </a:prstGeom>
            <a:solidFill>
              <a:srgbClr val="30B5C5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</a:rPr>
                <a:t>3</a:t>
              </a:r>
              <a:endParaRPr lang="zh-CN" altLang="en-US" sz="1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35" name="五边形 34"/>
          <p:cNvSpPr/>
          <p:nvPr/>
        </p:nvSpPr>
        <p:spPr bwMode="gray">
          <a:xfrm>
            <a:off x="8501934" y="114300"/>
            <a:ext cx="1152000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基本概念</a:t>
            </a:r>
          </a:p>
        </p:txBody>
      </p:sp>
      <p:sp>
        <p:nvSpPr>
          <p:cNvPr id="42" name="燕尾形 41"/>
          <p:cNvSpPr/>
          <p:nvPr/>
        </p:nvSpPr>
        <p:spPr bwMode="gray">
          <a:xfrm>
            <a:off x="9620717" y="114300"/>
            <a:ext cx="10800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en-US" altLang="zh-CN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LSP</a:t>
            </a:r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建立</a:t>
            </a:r>
          </a:p>
        </p:txBody>
      </p:sp>
      <p:sp>
        <p:nvSpPr>
          <p:cNvPr id="43" name="燕尾形 42"/>
          <p:cNvSpPr/>
          <p:nvPr/>
        </p:nvSpPr>
        <p:spPr bwMode="gray">
          <a:xfrm>
            <a:off x="10667500" y="114300"/>
            <a:ext cx="108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kern="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标签转发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689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/>
              <a:t>Ingress LSR</a:t>
            </a:r>
            <a:r>
              <a:rPr lang="zh-CN" altLang="en-US" smtClean="0"/>
              <a:t>的处理</a:t>
            </a:r>
            <a:endParaRPr lang="zh-CN" altLang="en-US" dirty="0"/>
          </a:p>
        </p:txBody>
      </p:sp>
      <p:cxnSp>
        <p:nvCxnSpPr>
          <p:cNvPr id="7" name="直接连接符 6"/>
          <p:cNvCxnSpPr>
            <a:stCxn id="8" idx="3"/>
            <a:endCxn id="11" idx="1"/>
          </p:cNvCxnSpPr>
          <p:nvPr/>
        </p:nvCxnSpPr>
        <p:spPr bwMode="gray">
          <a:xfrm>
            <a:off x="2713554" y="5469310"/>
            <a:ext cx="1652419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直接连接符 8"/>
          <p:cNvCxnSpPr>
            <a:endCxn id="8" idx="1"/>
          </p:cNvCxnSpPr>
          <p:nvPr/>
        </p:nvCxnSpPr>
        <p:spPr bwMode="gray">
          <a:xfrm>
            <a:off x="1692093" y="5469310"/>
            <a:ext cx="481461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直接连接符 9"/>
          <p:cNvCxnSpPr>
            <a:stCxn id="11" idx="3"/>
            <a:endCxn id="13" idx="1"/>
          </p:cNvCxnSpPr>
          <p:nvPr/>
        </p:nvCxnSpPr>
        <p:spPr bwMode="gray">
          <a:xfrm>
            <a:off x="4905973" y="5469310"/>
            <a:ext cx="1652419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1" name="图片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365973" y="5247910"/>
            <a:ext cx="540000" cy="442800"/>
          </a:xfrm>
          <a:prstGeom prst="rect">
            <a:avLst/>
          </a:prstGeom>
        </p:spPr>
      </p:pic>
      <p:cxnSp>
        <p:nvCxnSpPr>
          <p:cNvPr id="12" name="直接连接符 11"/>
          <p:cNvCxnSpPr>
            <a:stCxn id="13" idx="3"/>
          </p:cNvCxnSpPr>
          <p:nvPr/>
        </p:nvCxnSpPr>
        <p:spPr bwMode="gray">
          <a:xfrm>
            <a:off x="7098392" y="5469310"/>
            <a:ext cx="360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3" name="图片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558392" y="5247910"/>
            <a:ext cx="540000" cy="442800"/>
          </a:xfrm>
          <a:prstGeom prst="rect">
            <a:avLst/>
          </a:prstGeom>
        </p:spPr>
      </p:pic>
      <p:cxnSp>
        <p:nvCxnSpPr>
          <p:cNvPr id="14" name="直接连接符 13"/>
          <p:cNvCxnSpPr/>
          <p:nvPr/>
        </p:nvCxnSpPr>
        <p:spPr bwMode="gray">
          <a:xfrm rot="5400000">
            <a:off x="7189881" y="5469310"/>
            <a:ext cx="540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" name="文本框 14"/>
          <p:cNvSpPr txBox="1"/>
          <p:nvPr/>
        </p:nvSpPr>
        <p:spPr bwMode="gray">
          <a:xfrm>
            <a:off x="1766146" y="5429004"/>
            <a:ext cx="505514" cy="316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IF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1</a:t>
            </a:r>
            <a:endParaRPr lang="zh-CN" altLang="en-US" sz="1400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18" name="文本框 17"/>
          <p:cNvSpPr txBox="1"/>
          <p:nvPr/>
        </p:nvSpPr>
        <p:spPr bwMode="gray">
          <a:xfrm>
            <a:off x="7477668" y="5311114"/>
            <a:ext cx="1058405" cy="316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3.3.3.1/24</a:t>
            </a:r>
            <a:endParaRPr lang="zh-CN" altLang="en-US" sz="1400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38" name="文本框 37"/>
          <p:cNvSpPr txBox="1"/>
          <p:nvPr/>
        </p:nvSpPr>
        <p:spPr bwMode="gray">
          <a:xfrm>
            <a:off x="2048933" y="4595850"/>
            <a:ext cx="1003418" cy="316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Push</a:t>
            </a:r>
            <a:endParaRPr lang="zh-CN" altLang="en-US" sz="1400" b="1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57" name="矩形 56"/>
          <p:cNvSpPr/>
          <p:nvPr/>
        </p:nvSpPr>
        <p:spPr bwMode="gray">
          <a:xfrm>
            <a:off x="1186737" y="4751101"/>
            <a:ext cx="900000" cy="26688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IP: 3.3.3.1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58" name="直接箭头连接符 57"/>
          <p:cNvCxnSpPr/>
          <p:nvPr/>
        </p:nvCxnSpPr>
        <p:spPr bwMode="gray">
          <a:xfrm>
            <a:off x="1269829" y="5090052"/>
            <a:ext cx="80581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/>
          <p:nvPr/>
        </p:nvCxnSpPr>
        <p:spPr bwMode="gray">
          <a:xfrm>
            <a:off x="2985192" y="5090052"/>
            <a:ext cx="1260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矩形 59"/>
          <p:cNvSpPr/>
          <p:nvPr/>
        </p:nvSpPr>
        <p:spPr bwMode="gray">
          <a:xfrm>
            <a:off x="3266371" y="4751101"/>
            <a:ext cx="900000" cy="26688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IP: 3.3.3.1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61" name="矩形 60"/>
          <p:cNvSpPr/>
          <p:nvPr/>
        </p:nvSpPr>
        <p:spPr bwMode="gray">
          <a:xfrm>
            <a:off x="2949841" y="4751101"/>
            <a:ext cx="323099" cy="266881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Z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62" name="直接箭头连接符 61"/>
          <p:cNvCxnSpPr/>
          <p:nvPr/>
        </p:nvCxnSpPr>
        <p:spPr bwMode="gray">
          <a:xfrm>
            <a:off x="5136073" y="5090052"/>
            <a:ext cx="1260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 62"/>
          <p:cNvSpPr/>
          <p:nvPr/>
        </p:nvSpPr>
        <p:spPr bwMode="gray">
          <a:xfrm>
            <a:off x="5442762" y="4751101"/>
            <a:ext cx="900000" cy="26688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IP: 3.3.3.1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64" name="矩形 63"/>
          <p:cNvSpPr/>
          <p:nvPr/>
        </p:nvSpPr>
        <p:spPr bwMode="gray">
          <a:xfrm>
            <a:off x="5120055" y="4751100"/>
            <a:ext cx="324000" cy="271373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>
                <a:solidFill>
                  <a:schemeClr val="tx1"/>
                </a:solidFill>
              </a:rPr>
              <a:t>Y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65" name="矩形 64"/>
          <p:cNvSpPr/>
          <p:nvPr/>
        </p:nvSpPr>
        <p:spPr bwMode="gray">
          <a:xfrm>
            <a:off x="7154788" y="4751101"/>
            <a:ext cx="900000" cy="26688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IP: 3.3.3.1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66" name="直接箭头连接符 65"/>
          <p:cNvCxnSpPr/>
          <p:nvPr/>
        </p:nvCxnSpPr>
        <p:spPr bwMode="gray">
          <a:xfrm>
            <a:off x="7237880" y="5090052"/>
            <a:ext cx="80581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 bwMode="gray">
          <a:xfrm>
            <a:off x="2001187" y="5782362"/>
            <a:ext cx="888052" cy="316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Ingress</a:t>
            </a:r>
            <a:endParaRPr lang="zh-CN" altLang="en-US" sz="1400" b="1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48" name="文本框 47"/>
          <p:cNvSpPr txBox="1"/>
          <p:nvPr/>
        </p:nvSpPr>
        <p:spPr bwMode="gray">
          <a:xfrm>
            <a:off x="4209431" y="5782362"/>
            <a:ext cx="888052" cy="316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Transit</a:t>
            </a:r>
            <a:endParaRPr lang="zh-CN" altLang="en-US" sz="1400" b="1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49" name="文本框 48"/>
          <p:cNvSpPr txBox="1"/>
          <p:nvPr/>
        </p:nvSpPr>
        <p:spPr bwMode="gray">
          <a:xfrm>
            <a:off x="6385337" y="5782362"/>
            <a:ext cx="888052" cy="316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Egress</a:t>
            </a:r>
            <a:endParaRPr lang="zh-CN" altLang="en-US" sz="1400" b="1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50" name="文本框 49"/>
          <p:cNvSpPr txBox="1"/>
          <p:nvPr/>
        </p:nvSpPr>
        <p:spPr bwMode="gray">
          <a:xfrm>
            <a:off x="2616850" y="5429004"/>
            <a:ext cx="505514" cy="316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IF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2</a:t>
            </a:r>
            <a:endParaRPr lang="zh-CN" altLang="en-US" sz="1400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51" name="文本框 50"/>
          <p:cNvSpPr txBox="1"/>
          <p:nvPr/>
        </p:nvSpPr>
        <p:spPr bwMode="gray">
          <a:xfrm>
            <a:off x="3980687" y="5429004"/>
            <a:ext cx="505514" cy="316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IF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1</a:t>
            </a:r>
            <a:endParaRPr lang="zh-CN" altLang="en-US" sz="1400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52" name="文本框 51"/>
          <p:cNvSpPr txBox="1"/>
          <p:nvPr/>
        </p:nvSpPr>
        <p:spPr bwMode="gray">
          <a:xfrm>
            <a:off x="4831391" y="5429004"/>
            <a:ext cx="505514" cy="316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IF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2</a:t>
            </a:r>
            <a:endParaRPr lang="zh-CN" altLang="en-US" sz="1400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53" name="文本框 52"/>
          <p:cNvSpPr txBox="1"/>
          <p:nvPr/>
        </p:nvSpPr>
        <p:spPr bwMode="gray">
          <a:xfrm>
            <a:off x="6155354" y="5429004"/>
            <a:ext cx="505514" cy="316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IF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1</a:t>
            </a:r>
            <a:endParaRPr lang="zh-CN" altLang="en-US" sz="1400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69" name="文本框 68"/>
          <p:cNvSpPr txBox="1"/>
          <p:nvPr/>
        </p:nvSpPr>
        <p:spPr bwMode="gray">
          <a:xfrm>
            <a:off x="7006058" y="5429004"/>
            <a:ext cx="505514" cy="316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IF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2</a:t>
            </a:r>
            <a:endParaRPr lang="zh-CN" altLang="en-US" sz="1400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70" name="文本框 69"/>
          <p:cNvSpPr txBox="1"/>
          <p:nvPr/>
        </p:nvSpPr>
        <p:spPr bwMode="gray">
          <a:xfrm>
            <a:off x="2335561" y="5627605"/>
            <a:ext cx="1047461" cy="2856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1.1.1.1/24</a:t>
            </a:r>
            <a:endParaRPr lang="zh-CN" altLang="en-US" sz="1200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71" name="文本框 70"/>
          <p:cNvSpPr txBox="1"/>
          <p:nvPr/>
        </p:nvSpPr>
        <p:spPr bwMode="gray">
          <a:xfrm>
            <a:off x="3714536" y="5627605"/>
            <a:ext cx="1047461" cy="2856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1.1.1.2/24</a:t>
            </a:r>
            <a:endParaRPr lang="zh-CN" altLang="en-US" sz="1200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72" name="文本框 71"/>
          <p:cNvSpPr txBox="1"/>
          <p:nvPr/>
        </p:nvSpPr>
        <p:spPr bwMode="gray">
          <a:xfrm>
            <a:off x="4564895" y="5627605"/>
            <a:ext cx="1047461" cy="2856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2.2.2.1/24</a:t>
            </a:r>
            <a:endParaRPr lang="zh-CN" altLang="en-US" sz="1200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74" name="文本框 73"/>
          <p:cNvSpPr txBox="1"/>
          <p:nvPr/>
        </p:nvSpPr>
        <p:spPr bwMode="gray">
          <a:xfrm>
            <a:off x="5895417" y="5627605"/>
            <a:ext cx="1047461" cy="2856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2.2.2.2/24</a:t>
            </a:r>
            <a:endParaRPr lang="zh-CN" altLang="en-US" sz="1200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graphicFrame>
        <p:nvGraphicFramePr>
          <p:cNvPr id="43" name="表格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2889748"/>
              </p:ext>
            </p:extLst>
          </p:nvPr>
        </p:nvGraphicFramePr>
        <p:xfrm>
          <a:off x="1490969" y="3781006"/>
          <a:ext cx="2347606" cy="54864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173803"/>
                <a:gridCol w="1173803"/>
              </a:tblGrid>
              <a:tr h="26314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</a:rPr>
                        <a:t>DEST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</a:rPr>
                        <a:t>Tunnel ID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6314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 smtClean="0">
                          <a:solidFill>
                            <a:schemeClr val="tx1"/>
                          </a:solidFill>
                        </a:rPr>
                        <a:t>3.3.3.1/24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 smtClean="0">
                          <a:solidFill>
                            <a:schemeClr val="tx1"/>
                          </a:solidFill>
                        </a:rPr>
                        <a:t>0x11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5" name="文本框 54"/>
          <p:cNvSpPr txBox="1"/>
          <p:nvPr/>
        </p:nvSpPr>
        <p:spPr bwMode="gray">
          <a:xfrm>
            <a:off x="893304" y="3530681"/>
            <a:ext cx="1003418" cy="316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FIB</a:t>
            </a:r>
            <a:endParaRPr lang="zh-CN" altLang="en-US" sz="1400" b="1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cxnSp>
        <p:nvCxnSpPr>
          <p:cNvPr id="56" name="直接箭头连接符 55"/>
          <p:cNvCxnSpPr/>
          <p:nvPr/>
        </p:nvCxnSpPr>
        <p:spPr bwMode="gray">
          <a:xfrm flipH="1" flipV="1">
            <a:off x="1886914" y="4314566"/>
            <a:ext cx="709563" cy="955298"/>
          </a:xfrm>
          <a:prstGeom prst="straightConnector1">
            <a:avLst/>
          </a:prstGeom>
          <a:ln w="12700">
            <a:solidFill>
              <a:srgbClr val="30B5C5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173554" y="5247910"/>
            <a:ext cx="540000" cy="442800"/>
          </a:xfrm>
          <a:prstGeom prst="rect">
            <a:avLst/>
          </a:prstGeom>
        </p:spPr>
      </p:pic>
      <p:graphicFrame>
        <p:nvGraphicFramePr>
          <p:cNvPr id="80" name="表格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2265226"/>
              </p:ext>
            </p:extLst>
          </p:nvPr>
        </p:nvGraphicFramePr>
        <p:xfrm>
          <a:off x="1470043" y="1586589"/>
          <a:ext cx="3627439" cy="73152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46630"/>
                <a:gridCol w="880282"/>
                <a:gridCol w="685298"/>
                <a:gridCol w="685298"/>
                <a:gridCol w="829931"/>
              </a:tblGrid>
              <a:tr h="2616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</a:rPr>
                        <a:t>Out IF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</a:rPr>
                        <a:t>Tunnel ID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</a:rPr>
                        <a:t>OPER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</a:rPr>
                        <a:t>NH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</a:rPr>
                        <a:t>Out Label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616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 smtClean="0">
                          <a:solidFill>
                            <a:schemeClr val="tx1"/>
                          </a:solidFill>
                        </a:rPr>
                        <a:t>IF2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 smtClean="0">
                          <a:solidFill>
                            <a:schemeClr val="tx1"/>
                          </a:solidFill>
                        </a:rPr>
                        <a:t>0x11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 smtClean="0">
                          <a:solidFill>
                            <a:schemeClr val="tx1"/>
                          </a:solidFill>
                        </a:rPr>
                        <a:t>Push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 smtClean="0">
                          <a:solidFill>
                            <a:schemeClr val="tx1"/>
                          </a:solidFill>
                        </a:rPr>
                        <a:t>1.1.1.2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2" name="文本框 81"/>
          <p:cNvSpPr txBox="1"/>
          <p:nvPr/>
        </p:nvSpPr>
        <p:spPr bwMode="gray">
          <a:xfrm>
            <a:off x="679194" y="1281373"/>
            <a:ext cx="1003418" cy="316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NHLFE</a:t>
            </a:r>
            <a:endParaRPr lang="zh-CN" altLang="en-US" sz="1400" b="1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cxnSp>
        <p:nvCxnSpPr>
          <p:cNvPr id="83" name="直接箭头连接符 82"/>
          <p:cNvCxnSpPr/>
          <p:nvPr/>
        </p:nvCxnSpPr>
        <p:spPr bwMode="gray">
          <a:xfrm flipH="1" flipV="1">
            <a:off x="2654287" y="2318109"/>
            <a:ext cx="1025" cy="1452492"/>
          </a:xfrm>
          <a:prstGeom prst="straightConnector1">
            <a:avLst/>
          </a:prstGeom>
          <a:ln w="12700">
            <a:solidFill>
              <a:srgbClr val="30B5C5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Oval 4"/>
          <p:cNvSpPr>
            <a:spLocks noChangeAspect="1"/>
          </p:cNvSpPr>
          <p:nvPr/>
        </p:nvSpPr>
        <p:spPr bwMode="gray">
          <a:xfrm>
            <a:off x="1958933" y="4465594"/>
            <a:ext cx="180000" cy="180000"/>
          </a:xfrm>
          <a:prstGeom prst="ellipse">
            <a:avLst/>
          </a:prstGeom>
          <a:solidFill>
            <a:srgbClr val="30B5C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 dirty="0" smtClean="0">
                <a:solidFill>
                  <a:schemeClr val="bg1"/>
                </a:solidFill>
              </a:rPr>
              <a:t>1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88" name="Oval 4"/>
          <p:cNvSpPr>
            <a:spLocks noChangeAspect="1"/>
          </p:cNvSpPr>
          <p:nvPr/>
        </p:nvSpPr>
        <p:spPr bwMode="gray">
          <a:xfrm>
            <a:off x="2563521" y="2876270"/>
            <a:ext cx="180000" cy="180000"/>
          </a:xfrm>
          <a:prstGeom prst="ellipse">
            <a:avLst/>
          </a:prstGeom>
          <a:solidFill>
            <a:srgbClr val="30B5C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200" b="1" dirty="0">
                <a:solidFill>
                  <a:schemeClr val="bg1"/>
                </a:solidFill>
              </a:rPr>
              <a:t>2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89" name="圆角矩形 75"/>
          <p:cNvSpPr/>
          <p:nvPr/>
        </p:nvSpPr>
        <p:spPr bwMode="gray">
          <a:xfrm>
            <a:off x="5155139" y="1237695"/>
            <a:ext cx="6613014" cy="2067179"/>
          </a:xfrm>
          <a:prstGeom prst="roundRect">
            <a:avLst>
              <a:gd name="adj" fmla="val 874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 anchorCtr="0">
            <a:noAutofit/>
          </a:bodyPr>
          <a:lstStyle/>
          <a:p>
            <a:pPr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1400" dirty="0">
                <a:solidFill>
                  <a:prstClr val="black"/>
                </a:solidFill>
              </a:rPr>
              <a:t>当</a:t>
            </a:r>
            <a:r>
              <a:rPr lang="en-US" altLang="zh-CN" sz="1400" dirty="0">
                <a:solidFill>
                  <a:prstClr val="black"/>
                </a:solidFill>
              </a:rPr>
              <a:t>IP</a:t>
            </a:r>
            <a:r>
              <a:rPr lang="zh-CN" altLang="en-US" sz="1400" dirty="0">
                <a:solidFill>
                  <a:prstClr val="black"/>
                </a:solidFill>
              </a:rPr>
              <a:t>报文进入</a:t>
            </a:r>
            <a:r>
              <a:rPr lang="en-US" altLang="zh-CN" sz="1400" dirty="0">
                <a:solidFill>
                  <a:prstClr val="black"/>
                </a:solidFill>
              </a:rPr>
              <a:t>MPLS</a:t>
            </a:r>
            <a:r>
              <a:rPr lang="zh-CN" altLang="en-US" sz="1400" dirty="0">
                <a:solidFill>
                  <a:prstClr val="black"/>
                </a:solidFill>
              </a:rPr>
              <a:t>域时：</a:t>
            </a:r>
          </a:p>
          <a:p>
            <a:pPr marL="342900" indent="-342900"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zh-CN" sz="1400" dirty="0">
                <a:solidFill>
                  <a:prstClr val="black"/>
                </a:solidFill>
              </a:rPr>
              <a:t>Ingress LSR</a:t>
            </a:r>
            <a:r>
              <a:rPr lang="zh-CN" altLang="en-US" sz="1400" dirty="0">
                <a:solidFill>
                  <a:prstClr val="black"/>
                </a:solidFill>
              </a:rPr>
              <a:t>查看</a:t>
            </a:r>
            <a:r>
              <a:rPr lang="en-US" altLang="zh-CN" sz="1400" dirty="0">
                <a:solidFill>
                  <a:prstClr val="black"/>
                </a:solidFill>
              </a:rPr>
              <a:t>FIB</a:t>
            </a:r>
            <a:r>
              <a:rPr lang="zh-CN" altLang="en-US" sz="1400" dirty="0">
                <a:solidFill>
                  <a:prstClr val="black"/>
                </a:solidFill>
              </a:rPr>
              <a:t>表，检查目的</a:t>
            </a:r>
            <a:r>
              <a:rPr lang="en-US" altLang="zh-CN" sz="1400" dirty="0">
                <a:solidFill>
                  <a:prstClr val="black"/>
                </a:solidFill>
              </a:rPr>
              <a:t>IP</a:t>
            </a:r>
            <a:r>
              <a:rPr lang="zh-CN" altLang="en-US" sz="1400" dirty="0">
                <a:solidFill>
                  <a:prstClr val="black"/>
                </a:solidFill>
              </a:rPr>
              <a:t>地址对应的</a:t>
            </a:r>
            <a:r>
              <a:rPr lang="en-US" altLang="zh-CN" sz="1400" dirty="0">
                <a:solidFill>
                  <a:prstClr val="black"/>
                </a:solidFill>
              </a:rPr>
              <a:t>Tunnel ID</a:t>
            </a:r>
            <a:r>
              <a:rPr lang="zh-CN" altLang="en-US" sz="1400" dirty="0">
                <a:solidFill>
                  <a:prstClr val="black"/>
                </a:solidFill>
              </a:rPr>
              <a:t>值是否为</a:t>
            </a:r>
            <a:r>
              <a:rPr lang="en-US" altLang="zh-CN" sz="1400" dirty="0">
                <a:solidFill>
                  <a:prstClr val="black"/>
                </a:solidFill>
              </a:rPr>
              <a:t>0x0</a:t>
            </a:r>
            <a:r>
              <a:rPr lang="zh-CN" altLang="en-US" sz="1400" dirty="0">
                <a:solidFill>
                  <a:prstClr val="black"/>
                </a:solidFill>
              </a:rPr>
              <a:t>（如果</a:t>
            </a:r>
            <a:r>
              <a:rPr lang="en-US" altLang="zh-CN" sz="1400" dirty="0">
                <a:solidFill>
                  <a:prstClr val="black"/>
                </a:solidFill>
              </a:rPr>
              <a:t>Tunnel ID</a:t>
            </a:r>
            <a:r>
              <a:rPr lang="zh-CN" altLang="en-US" sz="1400" dirty="0">
                <a:solidFill>
                  <a:prstClr val="black"/>
                </a:solidFill>
              </a:rPr>
              <a:t>值为</a:t>
            </a:r>
            <a:r>
              <a:rPr lang="en-US" altLang="zh-CN" sz="1400" dirty="0">
                <a:solidFill>
                  <a:prstClr val="black"/>
                </a:solidFill>
              </a:rPr>
              <a:t>0x0</a:t>
            </a:r>
            <a:r>
              <a:rPr lang="zh-CN" altLang="en-US" sz="1400" dirty="0">
                <a:solidFill>
                  <a:prstClr val="black"/>
                </a:solidFill>
              </a:rPr>
              <a:t>，则进入正常的</a:t>
            </a:r>
            <a:r>
              <a:rPr lang="en-US" altLang="zh-CN" sz="1400" dirty="0">
                <a:solidFill>
                  <a:prstClr val="black"/>
                </a:solidFill>
              </a:rPr>
              <a:t>IP</a:t>
            </a:r>
            <a:r>
              <a:rPr lang="zh-CN" altLang="en-US" sz="1400" dirty="0">
                <a:solidFill>
                  <a:prstClr val="black"/>
                </a:solidFill>
              </a:rPr>
              <a:t>转发流程）。</a:t>
            </a:r>
          </a:p>
          <a:p>
            <a:pPr marL="342900" indent="-342900"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1400" dirty="0">
                <a:solidFill>
                  <a:prstClr val="black"/>
                </a:solidFill>
              </a:rPr>
              <a:t>如果</a:t>
            </a:r>
            <a:r>
              <a:rPr lang="en-US" altLang="zh-CN" sz="1400" dirty="0">
                <a:solidFill>
                  <a:prstClr val="black"/>
                </a:solidFill>
              </a:rPr>
              <a:t>Tunnel ID</a:t>
            </a:r>
            <a:r>
              <a:rPr lang="zh-CN" altLang="en-US" sz="1400" dirty="0">
                <a:solidFill>
                  <a:prstClr val="black"/>
                </a:solidFill>
              </a:rPr>
              <a:t>值不为</a:t>
            </a:r>
            <a:r>
              <a:rPr lang="en-US" altLang="zh-CN" sz="1400" dirty="0">
                <a:solidFill>
                  <a:prstClr val="black"/>
                </a:solidFill>
              </a:rPr>
              <a:t>0x0</a:t>
            </a:r>
            <a:r>
              <a:rPr lang="zh-CN" altLang="en-US" sz="1400" dirty="0">
                <a:solidFill>
                  <a:prstClr val="black"/>
                </a:solidFill>
              </a:rPr>
              <a:t>，根据</a:t>
            </a:r>
            <a:r>
              <a:rPr lang="en-US" altLang="zh-CN" sz="1400" dirty="0">
                <a:solidFill>
                  <a:prstClr val="black"/>
                </a:solidFill>
              </a:rPr>
              <a:t>FIB</a:t>
            </a:r>
            <a:r>
              <a:rPr lang="zh-CN" altLang="en-US" sz="1400" dirty="0">
                <a:solidFill>
                  <a:prstClr val="black"/>
                </a:solidFill>
              </a:rPr>
              <a:t>表的</a:t>
            </a:r>
            <a:r>
              <a:rPr lang="en-US" altLang="zh-CN" sz="1400" dirty="0">
                <a:solidFill>
                  <a:prstClr val="black"/>
                </a:solidFill>
              </a:rPr>
              <a:t>Tunnel ID</a:t>
            </a:r>
            <a:r>
              <a:rPr lang="zh-CN" altLang="en-US" sz="1400" dirty="0">
                <a:solidFill>
                  <a:prstClr val="black"/>
                </a:solidFill>
              </a:rPr>
              <a:t>找到对应的</a:t>
            </a:r>
            <a:r>
              <a:rPr lang="en-US" altLang="zh-CN" sz="1400" dirty="0">
                <a:solidFill>
                  <a:prstClr val="black"/>
                </a:solidFill>
              </a:rPr>
              <a:t>NHLFE</a:t>
            </a:r>
            <a:r>
              <a:rPr lang="zh-CN" altLang="en-US" sz="1400" dirty="0">
                <a:solidFill>
                  <a:prstClr val="black"/>
                </a:solidFill>
              </a:rPr>
              <a:t>表项，将</a:t>
            </a:r>
            <a:r>
              <a:rPr lang="en-US" altLang="zh-CN" sz="1400" dirty="0">
                <a:solidFill>
                  <a:prstClr val="black"/>
                </a:solidFill>
              </a:rPr>
              <a:t>FIB</a:t>
            </a:r>
            <a:r>
              <a:rPr lang="zh-CN" altLang="en-US" sz="1400" dirty="0">
                <a:solidFill>
                  <a:prstClr val="black"/>
                </a:solidFill>
              </a:rPr>
              <a:t>表项和</a:t>
            </a:r>
            <a:r>
              <a:rPr lang="en-US" altLang="zh-CN" sz="1400" dirty="0">
                <a:solidFill>
                  <a:prstClr val="black"/>
                </a:solidFill>
              </a:rPr>
              <a:t>NHLFE</a:t>
            </a:r>
            <a:r>
              <a:rPr lang="zh-CN" altLang="en-US" sz="1400" dirty="0">
                <a:solidFill>
                  <a:prstClr val="black"/>
                </a:solidFill>
              </a:rPr>
              <a:t>表项关联起来。</a:t>
            </a:r>
          </a:p>
          <a:p>
            <a:pPr marL="342900" indent="-342900"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1400" dirty="0">
                <a:solidFill>
                  <a:prstClr val="black"/>
                </a:solidFill>
              </a:rPr>
              <a:t>查看</a:t>
            </a:r>
            <a:r>
              <a:rPr lang="en-US" altLang="zh-CN" sz="1400" dirty="0">
                <a:solidFill>
                  <a:prstClr val="black"/>
                </a:solidFill>
              </a:rPr>
              <a:t>NHLFE</a:t>
            </a:r>
            <a:r>
              <a:rPr lang="zh-CN" altLang="en-US" sz="1400" dirty="0">
                <a:solidFill>
                  <a:prstClr val="black"/>
                </a:solidFill>
              </a:rPr>
              <a:t>表项，可以得到出接口、下一跳、出标签和标签操作类型。</a:t>
            </a:r>
          </a:p>
          <a:p>
            <a:pPr marL="342900" indent="-342900"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1400" dirty="0">
                <a:solidFill>
                  <a:prstClr val="black"/>
                </a:solidFill>
              </a:rPr>
              <a:t>在</a:t>
            </a:r>
            <a:r>
              <a:rPr lang="en-US" altLang="zh-CN" sz="1400" dirty="0">
                <a:solidFill>
                  <a:prstClr val="black"/>
                </a:solidFill>
              </a:rPr>
              <a:t>IP</a:t>
            </a:r>
            <a:r>
              <a:rPr lang="zh-CN" altLang="en-US" sz="1400" dirty="0">
                <a:solidFill>
                  <a:prstClr val="black"/>
                </a:solidFill>
              </a:rPr>
              <a:t>报文中压入出标签，同时处理</a:t>
            </a:r>
            <a:r>
              <a:rPr lang="en-US" altLang="zh-CN" sz="1400" dirty="0">
                <a:solidFill>
                  <a:prstClr val="black"/>
                </a:solidFill>
              </a:rPr>
              <a:t>TTL</a:t>
            </a:r>
            <a:r>
              <a:rPr lang="zh-CN" altLang="en-US" sz="1400" dirty="0">
                <a:solidFill>
                  <a:prstClr val="black"/>
                </a:solidFill>
              </a:rPr>
              <a:t>，然后将封装好的</a:t>
            </a:r>
            <a:r>
              <a:rPr lang="en-US" altLang="zh-CN" sz="1400" dirty="0">
                <a:solidFill>
                  <a:prstClr val="black"/>
                </a:solidFill>
              </a:rPr>
              <a:t>MPLS</a:t>
            </a:r>
            <a:r>
              <a:rPr lang="zh-CN" altLang="en-US" sz="1400" dirty="0">
                <a:solidFill>
                  <a:prstClr val="black"/>
                </a:solidFill>
              </a:rPr>
              <a:t>报文发送给下一跳。</a:t>
            </a:r>
          </a:p>
        </p:txBody>
      </p:sp>
      <p:sp>
        <p:nvSpPr>
          <p:cNvPr id="90" name="Oval 4"/>
          <p:cNvSpPr>
            <a:spLocks noChangeAspect="1"/>
          </p:cNvSpPr>
          <p:nvPr/>
        </p:nvSpPr>
        <p:spPr bwMode="gray">
          <a:xfrm>
            <a:off x="1259193" y="1744989"/>
            <a:ext cx="180000" cy="180000"/>
          </a:xfrm>
          <a:prstGeom prst="ellipse">
            <a:avLst/>
          </a:prstGeom>
          <a:solidFill>
            <a:srgbClr val="30B5C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200" b="1" dirty="0">
                <a:solidFill>
                  <a:schemeClr val="bg1"/>
                </a:solidFill>
              </a:rPr>
              <a:t>3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91" name="Oval 4"/>
          <p:cNvSpPr>
            <a:spLocks noChangeAspect="1"/>
          </p:cNvSpPr>
          <p:nvPr/>
        </p:nvSpPr>
        <p:spPr bwMode="gray">
          <a:xfrm>
            <a:off x="2474287" y="4465594"/>
            <a:ext cx="180000" cy="180000"/>
          </a:xfrm>
          <a:prstGeom prst="ellipse">
            <a:avLst/>
          </a:prstGeom>
          <a:solidFill>
            <a:srgbClr val="30B5C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200" b="1" dirty="0">
                <a:solidFill>
                  <a:schemeClr val="bg1"/>
                </a:solidFill>
              </a:rPr>
              <a:t>4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93" name="矩形 25"/>
          <p:cNvSpPr/>
          <p:nvPr/>
        </p:nvSpPr>
        <p:spPr bwMode="gray">
          <a:xfrm>
            <a:off x="10536912" y="5551269"/>
            <a:ext cx="121058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 smtClean="0"/>
              <a:t>注：</a:t>
            </a:r>
            <a:endParaRPr lang="en-US" altLang="zh-CN" sz="1200" dirty="0" smtClean="0"/>
          </a:p>
          <a:p>
            <a:r>
              <a:rPr lang="en-US" altLang="zh-CN" sz="1200" dirty="0" smtClean="0"/>
              <a:t>NH=NEXTHOP</a:t>
            </a:r>
          </a:p>
          <a:p>
            <a:r>
              <a:rPr lang="en-US" altLang="zh-CN" sz="1200" dirty="0" smtClean="0"/>
              <a:t>IF=Interface</a:t>
            </a:r>
            <a:endParaRPr lang="zh-CN" altLang="en-US" sz="1200" dirty="0"/>
          </a:p>
        </p:txBody>
      </p:sp>
      <p:sp>
        <p:nvSpPr>
          <p:cNvPr id="67" name="五边形 66"/>
          <p:cNvSpPr/>
          <p:nvPr/>
        </p:nvSpPr>
        <p:spPr bwMode="gray">
          <a:xfrm>
            <a:off x="8501934" y="114300"/>
            <a:ext cx="1152000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基本概念</a:t>
            </a:r>
          </a:p>
        </p:txBody>
      </p:sp>
      <p:sp>
        <p:nvSpPr>
          <p:cNvPr id="76" name="燕尾形 75"/>
          <p:cNvSpPr/>
          <p:nvPr/>
        </p:nvSpPr>
        <p:spPr bwMode="gray">
          <a:xfrm>
            <a:off x="9620717" y="114300"/>
            <a:ext cx="108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LSP</a:t>
            </a:r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建立</a:t>
            </a:r>
          </a:p>
        </p:txBody>
      </p:sp>
      <p:sp>
        <p:nvSpPr>
          <p:cNvPr id="77" name="燕尾形 76"/>
          <p:cNvSpPr/>
          <p:nvPr/>
        </p:nvSpPr>
        <p:spPr bwMode="gray">
          <a:xfrm>
            <a:off x="10667500" y="114300"/>
            <a:ext cx="10800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标签转发</a:t>
            </a:r>
          </a:p>
        </p:txBody>
      </p:sp>
    </p:spTree>
    <p:extLst>
      <p:ext uri="{BB962C8B-B14F-4D97-AF65-F5344CB8AC3E}">
        <p14:creationId xmlns:p14="http://schemas.microsoft.com/office/powerpoint/2010/main" val="685110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文本框 94"/>
          <p:cNvSpPr txBox="1"/>
          <p:nvPr/>
        </p:nvSpPr>
        <p:spPr bwMode="gray">
          <a:xfrm>
            <a:off x="3104880" y="1368860"/>
            <a:ext cx="1003418" cy="316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NHLFE</a:t>
            </a:r>
            <a:endParaRPr lang="zh-CN" altLang="en-US" sz="1400" b="1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/>
              <a:t>Transit LSR</a:t>
            </a:r>
            <a:r>
              <a:rPr lang="zh-CN" altLang="en-US" smtClean="0"/>
              <a:t>的处理</a:t>
            </a:r>
            <a:endParaRPr lang="zh-CN" altLang="en-US" dirty="0"/>
          </a:p>
        </p:txBody>
      </p:sp>
      <p:cxnSp>
        <p:nvCxnSpPr>
          <p:cNvPr id="7" name="直接连接符 6"/>
          <p:cNvCxnSpPr>
            <a:stCxn id="8" idx="3"/>
            <a:endCxn id="11" idx="1"/>
          </p:cNvCxnSpPr>
          <p:nvPr/>
        </p:nvCxnSpPr>
        <p:spPr bwMode="gray">
          <a:xfrm>
            <a:off x="2617338" y="5215568"/>
            <a:ext cx="1652419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直接连接符 8"/>
          <p:cNvCxnSpPr>
            <a:endCxn id="8" idx="1"/>
          </p:cNvCxnSpPr>
          <p:nvPr/>
        </p:nvCxnSpPr>
        <p:spPr bwMode="gray">
          <a:xfrm>
            <a:off x="1595877" y="5215568"/>
            <a:ext cx="481461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直接连接符 9"/>
          <p:cNvCxnSpPr>
            <a:stCxn id="11" idx="3"/>
            <a:endCxn id="13" idx="1"/>
          </p:cNvCxnSpPr>
          <p:nvPr/>
        </p:nvCxnSpPr>
        <p:spPr bwMode="gray">
          <a:xfrm>
            <a:off x="4809757" y="5215568"/>
            <a:ext cx="1652419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1" name="图片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269757" y="4994168"/>
            <a:ext cx="540000" cy="442800"/>
          </a:xfrm>
          <a:prstGeom prst="rect">
            <a:avLst/>
          </a:prstGeom>
        </p:spPr>
      </p:pic>
      <p:cxnSp>
        <p:nvCxnSpPr>
          <p:cNvPr id="12" name="直接连接符 11"/>
          <p:cNvCxnSpPr>
            <a:stCxn id="13" idx="3"/>
          </p:cNvCxnSpPr>
          <p:nvPr/>
        </p:nvCxnSpPr>
        <p:spPr bwMode="gray">
          <a:xfrm>
            <a:off x="7002176" y="5215568"/>
            <a:ext cx="360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3" name="图片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462176" y="4994168"/>
            <a:ext cx="540000" cy="442800"/>
          </a:xfrm>
          <a:prstGeom prst="rect">
            <a:avLst/>
          </a:prstGeom>
        </p:spPr>
      </p:pic>
      <p:cxnSp>
        <p:nvCxnSpPr>
          <p:cNvPr id="14" name="直接连接符 13"/>
          <p:cNvCxnSpPr/>
          <p:nvPr/>
        </p:nvCxnSpPr>
        <p:spPr bwMode="gray">
          <a:xfrm rot="5400000">
            <a:off x="7093665" y="5215568"/>
            <a:ext cx="540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" name="文本框 14"/>
          <p:cNvSpPr txBox="1"/>
          <p:nvPr/>
        </p:nvSpPr>
        <p:spPr bwMode="gray">
          <a:xfrm>
            <a:off x="1669930" y="5175262"/>
            <a:ext cx="505514" cy="316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IF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1</a:t>
            </a:r>
            <a:endParaRPr lang="zh-CN" altLang="en-US" sz="1400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18" name="文本框 17"/>
          <p:cNvSpPr txBox="1"/>
          <p:nvPr/>
        </p:nvSpPr>
        <p:spPr bwMode="gray">
          <a:xfrm>
            <a:off x="7381452" y="5057372"/>
            <a:ext cx="1058405" cy="316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3.3.3.1/24</a:t>
            </a:r>
            <a:endParaRPr lang="zh-CN" altLang="en-US" sz="1400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38" name="文本框 37"/>
          <p:cNvSpPr txBox="1"/>
          <p:nvPr/>
        </p:nvSpPr>
        <p:spPr bwMode="gray">
          <a:xfrm>
            <a:off x="1952717" y="4342108"/>
            <a:ext cx="1003418" cy="316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Push</a:t>
            </a:r>
            <a:endParaRPr lang="zh-CN" altLang="en-US" sz="1400" b="1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57" name="矩形 56"/>
          <p:cNvSpPr/>
          <p:nvPr/>
        </p:nvSpPr>
        <p:spPr bwMode="gray">
          <a:xfrm>
            <a:off x="1090521" y="4497359"/>
            <a:ext cx="900000" cy="26688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IP: 3.3.3.1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58" name="直接箭头连接符 57"/>
          <p:cNvCxnSpPr/>
          <p:nvPr/>
        </p:nvCxnSpPr>
        <p:spPr bwMode="gray">
          <a:xfrm>
            <a:off x="1173613" y="4836310"/>
            <a:ext cx="80581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/>
          <p:nvPr/>
        </p:nvCxnSpPr>
        <p:spPr bwMode="gray">
          <a:xfrm>
            <a:off x="2888976" y="4836310"/>
            <a:ext cx="1260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矩形 59"/>
          <p:cNvSpPr/>
          <p:nvPr/>
        </p:nvSpPr>
        <p:spPr bwMode="gray">
          <a:xfrm>
            <a:off x="3170155" y="4497359"/>
            <a:ext cx="900000" cy="26688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IP: 3.3.3.1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61" name="矩形 60"/>
          <p:cNvSpPr/>
          <p:nvPr/>
        </p:nvSpPr>
        <p:spPr bwMode="gray">
          <a:xfrm>
            <a:off x="2853625" y="4497359"/>
            <a:ext cx="323099" cy="266881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Z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62" name="直接箭头连接符 61"/>
          <p:cNvCxnSpPr/>
          <p:nvPr/>
        </p:nvCxnSpPr>
        <p:spPr bwMode="gray">
          <a:xfrm>
            <a:off x="5039857" y="4836310"/>
            <a:ext cx="1260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 62"/>
          <p:cNvSpPr/>
          <p:nvPr/>
        </p:nvSpPr>
        <p:spPr bwMode="gray">
          <a:xfrm>
            <a:off x="5346546" y="4497359"/>
            <a:ext cx="900000" cy="26688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IP: 3.3.3.1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64" name="矩形 63"/>
          <p:cNvSpPr/>
          <p:nvPr/>
        </p:nvSpPr>
        <p:spPr bwMode="gray">
          <a:xfrm>
            <a:off x="5023839" y="4497358"/>
            <a:ext cx="324000" cy="271373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>
                <a:solidFill>
                  <a:schemeClr val="tx1"/>
                </a:solidFill>
              </a:rPr>
              <a:t>Y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65" name="矩形 64"/>
          <p:cNvSpPr/>
          <p:nvPr/>
        </p:nvSpPr>
        <p:spPr bwMode="gray">
          <a:xfrm>
            <a:off x="7058572" y="4497359"/>
            <a:ext cx="900000" cy="26688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IP: 3.3.3.1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66" name="直接箭头连接符 65"/>
          <p:cNvCxnSpPr/>
          <p:nvPr/>
        </p:nvCxnSpPr>
        <p:spPr bwMode="gray">
          <a:xfrm>
            <a:off x="7141664" y="4836310"/>
            <a:ext cx="80581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/>
        </p:nvSpPr>
        <p:spPr bwMode="gray">
          <a:xfrm>
            <a:off x="4154313" y="4342566"/>
            <a:ext cx="1003418" cy="316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Swap</a:t>
            </a:r>
            <a:endParaRPr lang="zh-CN" altLang="en-US" sz="1400" b="1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40" name="文本框 39"/>
          <p:cNvSpPr txBox="1"/>
          <p:nvPr/>
        </p:nvSpPr>
        <p:spPr bwMode="gray">
          <a:xfrm>
            <a:off x="1904971" y="5528620"/>
            <a:ext cx="888052" cy="316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Ingress</a:t>
            </a:r>
            <a:endParaRPr lang="zh-CN" altLang="en-US" sz="1400" b="1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48" name="文本框 47"/>
          <p:cNvSpPr txBox="1"/>
          <p:nvPr/>
        </p:nvSpPr>
        <p:spPr bwMode="gray">
          <a:xfrm>
            <a:off x="4113215" y="5528620"/>
            <a:ext cx="888052" cy="316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Transit</a:t>
            </a:r>
            <a:endParaRPr lang="zh-CN" altLang="en-US" sz="1400" b="1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49" name="文本框 48"/>
          <p:cNvSpPr txBox="1"/>
          <p:nvPr/>
        </p:nvSpPr>
        <p:spPr bwMode="gray">
          <a:xfrm>
            <a:off x="6289121" y="5528620"/>
            <a:ext cx="888052" cy="316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Egress</a:t>
            </a:r>
            <a:endParaRPr lang="zh-CN" altLang="en-US" sz="1400" b="1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50" name="文本框 49"/>
          <p:cNvSpPr txBox="1"/>
          <p:nvPr/>
        </p:nvSpPr>
        <p:spPr bwMode="gray">
          <a:xfrm>
            <a:off x="2520634" y="5175262"/>
            <a:ext cx="505514" cy="316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IF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2</a:t>
            </a:r>
            <a:endParaRPr lang="zh-CN" altLang="en-US" sz="1400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51" name="文本框 50"/>
          <p:cNvSpPr txBox="1"/>
          <p:nvPr/>
        </p:nvSpPr>
        <p:spPr bwMode="gray">
          <a:xfrm>
            <a:off x="3884471" y="5175262"/>
            <a:ext cx="505514" cy="316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IF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1</a:t>
            </a:r>
            <a:endParaRPr lang="zh-CN" altLang="en-US" sz="1400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52" name="文本框 51"/>
          <p:cNvSpPr txBox="1"/>
          <p:nvPr/>
        </p:nvSpPr>
        <p:spPr bwMode="gray">
          <a:xfrm>
            <a:off x="4735175" y="5175262"/>
            <a:ext cx="505514" cy="316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IF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2</a:t>
            </a:r>
            <a:endParaRPr lang="zh-CN" altLang="en-US" sz="1400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53" name="文本框 52"/>
          <p:cNvSpPr txBox="1"/>
          <p:nvPr/>
        </p:nvSpPr>
        <p:spPr bwMode="gray">
          <a:xfrm>
            <a:off x="6059138" y="5175262"/>
            <a:ext cx="505514" cy="316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IF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1</a:t>
            </a:r>
            <a:endParaRPr lang="zh-CN" altLang="en-US" sz="1400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69" name="文本框 68"/>
          <p:cNvSpPr txBox="1"/>
          <p:nvPr/>
        </p:nvSpPr>
        <p:spPr bwMode="gray">
          <a:xfrm>
            <a:off x="6909842" y="5175262"/>
            <a:ext cx="505514" cy="316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IF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2</a:t>
            </a:r>
            <a:endParaRPr lang="zh-CN" altLang="en-US" sz="1400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70" name="文本框 69"/>
          <p:cNvSpPr txBox="1"/>
          <p:nvPr/>
        </p:nvSpPr>
        <p:spPr bwMode="gray">
          <a:xfrm>
            <a:off x="2239345" y="5373863"/>
            <a:ext cx="1047461" cy="2856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1.1.1.1/24</a:t>
            </a:r>
            <a:endParaRPr lang="zh-CN" altLang="en-US" sz="1200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71" name="文本框 70"/>
          <p:cNvSpPr txBox="1"/>
          <p:nvPr/>
        </p:nvSpPr>
        <p:spPr bwMode="gray">
          <a:xfrm>
            <a:off x="3618320" y="5373863"/>
            <a:ext cx="1047461" cy="2856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1.1.1.2/24</a:t>
            </a:r>
            <a:endParaRPr lang="zh-CN" altLang="en-US" sz="1200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72" name="文本框 71"/>
          <p:cNvSpPr txBox="1"/>
          <p:nvPr/>
        </p:nvSpPr>
        <p:spPr bwMode="gray">
          <a:xfrm>
            <a:off x="4468679" y="5373863"/>
            <a:ext cx="1047461" cy="2856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2.2.2.1/24</a:t>
            </a:r>
            <a:endParaRPr lang="zh-CN" altLang="en-US" sz="1200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74" name="文本框 73"/>
          <p:cNvSpPr txBox="1"/>
          <p:nvPr/>
        </p:nvSpPr>
        <p:spPr bwMode="gray">
          <a:xfrm>
            <a:off x="5799201" y="5373863"/>
            <a:ext cx="1047461" cy="2856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2.2.2.2/24</a:t>
            </a:r>
            <a:endParaRPr lang="zh-CN" altLang="en-US" sz="1200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graphicFrame>
        <p:nvGraphicFramePr>
          <p:cNvPr id="44" name="表格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9866828"/>
              </p:ext>
            </p:extLst>
          </p:nvPr>
        </p:nvGraphicFramePr>
        <p:xfrm>
          <a:off x="3614012" y="3527264"/>
          <a:ext cx="2702494" cy="54864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924194"/>
                <a:gridCol w="619657"/>
                <a:gridCol w="1158643"/>
              </a:tblGrid>
              <a:tr h="25367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</a:rPr>
                        <a:t>In Label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</a:rPr>
                        <a:t>In IF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</a:rPr>
                        <a:t>Tunnel ID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5367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 smtClean="0">
                          <a:solidFill>
                            <a:schemeClr val="tx1"/>
                          </a:solidFill>
                        </a:rPr>
                        <a:t>IF</a:t>
                      </a:r>
                      <a:r>
                        <a:rPr lang="en-US" altLang="zh-CN" sz="1200" b="0" baseline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 smtClean="0">
                          <a:solidFill>
                            <a:schemeClr val="tx1"/>
                          </a:solidFill>
                        </a:rPr>
                        <a:t>0x15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077338" y="4994168"/>
            <a:ext cx="540000" cy="442800"/>
          </a:xfrm>
          <a:prstGeom prst="rect">
            <a:avLst/>
          </a:prstGeom>
        </p:spPr>
      </p:pic>
      <p:sp>
        <p:nvSpPr>
          <p:cNvPr id="75" name="文本框 74"/>
          <p:cNvSpPr txBox="1"/>
          <p:nvPr/>
        </p:nvSpPr>
        <p:spPr bwMode="gray">
          <a:xfrm>
            <a:off x="2946354" y="3276939"/>
            <a:ext cx="1003418" cy="316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ILM</a:t>
            </a:r>
            <a:endParaRPr lang="zh-CN" altLang="en-US" sz="1400" b="1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cxnSp>
        <p:nvCxnSpPr>
          <p:cNvPr id="76" name="直接箭头连接符 75"/>
          <p:cNvCxnSpPr/>
          <p:nvPr/>
        </p:nvCxnSpPr>
        <p:spPr bwMode="gray">
          <a:xfrm flipH="1" flipV="1">
            <a:off x="3939964" y="4060824"/>
            <a:ext cx="709563" cy="955298"/>
          </a:xfrm>
          <a:prstGeom prst="straightConnector1">
            <a:avLst/>
          </a:prstGeom>
          <a:ln w="12700">
            <a:solidFill>
              <a:srgbClr val="30B5C5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9" name="表格 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4438260"/>
              </p:ext>
            </p:extLst>
          </p:nvPr>
        </p:nvGraphicFramePr>
        <p:xfrm>
          <a:off x="2836781" y="1728550"/>
          <a:ext cx="4180250" cy="734838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629935"/>
                <a:gridCol w="1014435"/>
                <a:gridCol w="789735"/>
                <a:gridCol w="789735"/>
                <a:gridCol w="956410"/>
              </a:tblGrid>
              <a:tr h="45927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</a:rPr>
                        <a:t>Out IF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</a:rPr>
                        <a:t>Tunnel ID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</a:rPr>
                        <a:t>OPER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</a:rPr>
                        <a:t>NH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</a:rPr>
                        <a:t>Out Label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755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 smtClean="0">
                          <a:solidFill>
                            <a:schemeClr val="tx1"/>
                          </a:solidFill>
                        </a:rPr>
                        <a:t>IF2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 smtClean="0">
                          <a:solidFill>
                            <a:schemeClr val="tx1"/>
                          </a:solidFill>
                        </a:rPr>
                        <a:t>0x15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 smtClean="0">
                          <a:solidFill>
                            <a:schemeClr val="tx1"/>
                          </a:solidFill>
                        </a:rPr>
                        <a:t>Swap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 smtClean="0">
                          <a:solidFill>
                            <a:schemeClr val="tx1"/>
                          </a:solidFill>
                        </a:rPr>
                        <a:t>2.2.2.2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84" name="直接箭头连接符 83"/>
          <p:cNvCxnSpPr/>
          <p:nvPr/>
        </p:nvCxnSpPr>
        <p:spPr bwMode="gray">
          <a:xfrm flipH="1" flipV="1">
            <a:off x="5014718" y="2481391"/>
            <a:ext cx="1" cy="1035468"/>
          </a:xfrm>
          <a:prstGeom prst="straightConnector1">
            <a:avLst/>
          </a:prstGeom>
          <a:ln w="12700">
            <a:solidFill>
              <a:srgbClr val="30B5C5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Oval 4"/>
          <p:cNvSpPr>
            <a:spLocks noChangeAspect="1"/>
          </p:cNvSpPr>
          <p:nvPr/>
        </p:nvSpPr>
        <p:spPr bwMode="gray">
          <a:xfrm>
            <a:off x="4019369" y="4211852"/>
            <a:ext cx="180000" cy="180000"/>
          </a:xfrm>
          <a:prstGeom prst="ellipse">
            <a:avLst/>
          </a:prstGeom>
          <a:solidFill>
            <a:srgbClr val="30B5C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200" b="1" dirty="0">
                <a:solidFill>
                  <a:schemeClr val="bg1"/>
                </a:solidFill>
              </a:rPr>
              <a:t>5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91" name="Oval 4"/>
          <p:cNvSpPr>
            <a:spLocks noChangeAspect="1"/>
          </p:cNvSpPr>
          <p:nvPr/>
        </p:nvSpPr>
        <p:spPr bwMode="gray">
          <a:xfrm>
            <a:off x="4922994" y="2622528"/>
            <a:ext cx="180000" cy="180000"/>
          </a:xfrm>
          <a:prstGeom prst="ellipse">
            <a:avLst/>
          </a:prstGeom>
          <a:solidFill>
            <a:srgbClr val="30B5C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200" b="1" dirty="0">
                <a:solidFill>
                  <a:schemeClr val="bg1"/>
                </a:solidFill>
              </a:rPr>
              <a:t>6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92" name="Oval 4"/>
          <p:cNvSpPr>
            <a:spLocks noChangeAspect="1"/>
          </p:cNvSpPr>
          <p:nvPr/>
        </p:nvSpPr>
        <p:spPr bwMode="gray">
          <a:xfrm>
            <a:off x="4555175" y="4211852"/>
            <a:ext cx="180000" cy="180000"/>
          </a:xfrm>
          <a:prstGeom prst="ellipse">
            <a:avLst/>
          </a:prstGeom>
          <a:solidFill>
            <a:srgbClr val="30B5C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200" b="1" dirty="0">
                <a:solidFill>
                  <a:schemeClr val="bg1"/>
                </a:solidFill>
              </a:rPr>
              <a:t>7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93" name="圆角矩形 75"/>
          <p:cNvSpPr/>
          <p:nvPr/>
        </p:nvSpPr>
        <p:spPr bwMode="gray">
          <a:xfrm>
            <a:off x="7381453" y="1126865"/>
            <a:ext cx="3946166" cy="2978977"/>
          </a:xfrm>
          <a:prstGeom prst="roundRect">
            <a:avLst>
              <a:gd name="adj" fmla="val 874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 anchorCtr="0">
            <a:noAutofit/>
          </a:bodyPr>
          <a:lstStyle/>
          <a:p>
            <a:pPr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1600" dirty="0">
                <a:solidFill>
                  <a:prstClr val="black"/>
                </a:solidFill>
              </a:rPr>
              <a:t>当</a:t>
            </a:r>
            <a:r>
              <a:rPr lang="en-US" altLang="zh-CN" sz="1600" dirty="0">
                <a:solidFill>
                  <a:prstClr val="black"/>
                </a:solidFill>
              </a:rPr>
              <a:t>MPLS</a:t>
            </a:r>
            <a:r>
              <a:rPr lang="zh-CN" altLang="en-US" sz="1600" dirty="0">
                <a:solidFill>
                  <a:prstClr val="black"/>
                </a:solidFill>
              </a:rPr>
              <a:t>报文在</a:t>
            </a:r>
            <a:r>
              <a:rPr lang="en-US" altLang="zh-CN" sz="1600" dirty="0">
                <a:solidFill>
                  <a:prstClr val="black"/>
                </a:solidFill>
              </a:rPr>
              <a:t>MPLS</a:t>
            </a:r>
            <a:r>
              <a:rPr lang="zh-CN" altLang="en-US" sz="1600" dirty="0">
                <a:solidFill>
                  <a:prstClr val="black"/>
                </a:solidFill>
              </a:rPr>
              <a:t>域转发时：</a:t>
            </a:r>
          </a:p>
          <a:p>
            <a:pPr marL="342900" indent="-342900"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5"/>
            </a:pPr>
            <a:r>
              <a:rPr lang="en-US" altLang="zh-CN" sz="1600" dirty="0" smtClean="0">
                <a:solidFill>
                  <a:prstClr val="black"/>
                </a:solidFill>
              </a:rPr>
              <a:t>Transit LSR</a:t>
            </a:r>
            <a:r>
              <a:rPr lang="zh-CN" altLang="en-US" sz="1600" dirty="0" smtClean="0">
                <a:solidFill>
                  <a:prstClr val="black"/>
                </a:solidFill>
              </a:rPr>
              <a:t>根据</a:t>
            </a:r>
            <a:r>
              <a:rPr lang="en-US" altLang="zh-CN" sz="1600" dirty="0">
                <a:solidFill>
                  <a:prstClr val="black"/>
                </a:solidFill>
              </a:rPr>
              <a:t>MPLS</a:t>
            </a:r>
            <a:r>
              <a:rPr lang="zh-CN" altLang="en-US" sz="1600" dirty="0">
                <a:solidFill>
                  <a:prstClr val="black"/>
                </a:solidFill>
              </a:rPr>
              <a:t>的标签值查看对应的</a:t>
            </a:r>
            <a:r>
              <a:rPr lang="en-US" altLang="zh-CN" sz="1600" dirty="0">
                <a:solidFill>
                  <a:prstClr val="black"/>
                </a:solidFill>
              </a:rPr>
              <a:t>ILM</a:t>
            </a:r>
            <a:r>
              <a:rPr lang="zh-CN" altLang="en-US" sz="1600" dirty="0">
                <a:solidFill>
                  <a:prstClr val="black"/>
                </a:solidFill>
              </a:rPr>
              <a:t>表，得到</a:t>
            </a:r>
            <a:r>
              <a:rPr lang="en-US" altLang="zh-CN" sz="1600" dirty="0">
                <a:solidFill>
                  <a:prstClr val="black"/>
                </a:solidFill>
              </a:rPr>
              <a:t>Tunnel ID</a:t>
            </a:r>
            <a:r>
              <a:rPr lang="zh-CN" altLang="en-US" sz="1600" dirty="0">
                <a:solidFill>
                  <a:prstClr val="black"/>
                </a:solidFill>
              </a:rPr>
              <a:t>。</a:t>
            </a:r>
          </a:p>
          <a:p>
            <a:pPr marL="342900" indent="-342900"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5"/>
            </a:pPr>
            <a:r>
              <a:rPr lang="zh-CN" altLang="en-US" sz="1600" dirty="0">
                <a:solidFill>
                  <a:prstClr val="black"/>
                </a:solidFill>
              </a:rPr>
              <a:t>根据</a:t>
            </a:r>
            <a:r>
              <a:rPr lang="en-US" altLang="zh-CN" sz="1600" dirty="0">
                <a:solidFill>
                  <a:prstClr val="black"/>
                </a:solidFill>
              </a:rPr>
              <a:t>ILM</a:t>
            </a:r>
            <a:r>
              <a:rPr lang="zh-CN" altLang="en-US" sz="1600" dirty="0">
                <a:solidFill>
                  <a:prstClr val="black"/>
                </a:solidFill>
              </a:rPr>
              <a:t>表的</a:t>
            </a:r>
            <a:r>
              <a:rPr lang="en-US" altLang="zh-CN" sz="1600" dirty="0">
                <a:solidFill>
                  <a:prstClr val="black"/>
                </a:solidFill>
              </a:rPr>
              <a:t>Tunnel ID</a:t>
            </a:r>
            <a:r>
              <a:rPr lang="zh-CN" altLang="en-US" sz="1600" dirty="0">
                <a:solidFill>
                  <a:prstClr val="black"/>
                </a:solidFill>
              </a:rPr>
              <a:t>找到对应的</a:t>
            </a:r>
            <a:r>
              <a:rPr lang="en-US" altLang="zh-CN" sz="1600" dirty="0">
                <a:solidFill>
                  <a:prstClr val="black"/>
                </a:solidFill>
              </a:rPr>
              <a:t>NHLFE</a:t>
            </a:r>
            <a:r>
              <a:rPr lang="zh-CN" altLang="en-US" sz="1600" dirty="0">
                <a:solidFill>
                  <a:prstClr val="black"/>
                </a:solidFill>
              </a:rPr>
              <a:t>表项。</a:t>
            </a:r>
          </a:p>
          <a:p>
            <a:pPr marL="342900" indent="-342900"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5"/>
            </a:pPr>
            <a:r>
              <a:rPr lang="zh-CN" altLang="en-US" sz="1600" dirty="0">
                <a:solidFill>
                  <a:prstClr val="black"/>
                </a:solidFill>
              </a:rPr>
              <a:t>查看</a:t>
            </a:r>
            <a:r>
              <a:rPr lang="en-US" altLang="zh-CN" sz="1600" dirty="0">
                <a:solidFill>
                  <a:prstClr val="black"/>
                </a:solidFill>
              </a:rPr>
              <a:t>NHLFE</a:t>
            </a:r>
            <a:r>
              <a:rPr lang="zh-CN" altLang="en-US" sz="1600" dirty="0">
                <a:solidFill>
                  <a:prstClr val="black"/>
                </a:solidFill>
              </a:rPr>
              <a:t>表项，得到出接口、下一跳、出标签和标签操作类型，标签操作类型为</a:t>
            </a:r>
            <a:r>
              <a:rPr lang="en-US" altLang="zh-CN" sz="1600" dirty="0" smtClean="0">
                <a:solidFill>
                  <a:prstClr val="black"/>
                </a:solidFill>
              </a:rPr>
              <a:t>Swap</a:t>
            </a:r>
            <a:r>
              <a:rPr lang="zh-CN" altLang="en-US" sz="1600" dirty="0" smtClean="0">
                <a:solidFill>
                  <a:prstClr val="black"/>
                </a:solidFill>
              </a:rPr>
              <a:t>，</a:t>
            </a:r>
            <a:r>
              <a:rPr lang="zh-CN" altLang="en-US" sz="1600" dirty="0">
                <a:solidFill>
                  <a:prstClr val="black"/>
                </a:solidFill>
              </a:rPr>
              <a:t>则交换标签。</a:t>
            </a:r>
          </a:p>
        </p:txBody>
      </p:sp>
      <p:sp>
        <p:nvSpPr>
          <p:cNvPr id="55" name="矩形 25"/>
          <p:cNvSpPr/>
          <p:nvPr/>
        </p:nvSpPr>
        <p:spPr bwMode="gray">
          <a:xfrm>
            <a:off x="10536912" y="5551269"/>
            <a:ext cx="121058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 smtClean="0"/>
              <a:t>注：</a:t>
            </a:r>
            <a:endParaRPr lang="en-US" altLang="zh-CN" sz="1200" dirty="0" smtClean="0"/>
          </a:p>
          <a:p>
            <a:r>
              <a:rPr lang="en-US" altLang="zh-CN" sz="1200" dirty="0" smtClean="0"/>
              <a:t>NH=NEXTHOP</a:t>
            </a:r>
          </a:p>
          <a:p>
            <a:r>
              <a:rPr lang="en-US" altLang="zh-CN" sz="1200" dirty="0" smtClean="0"/>
              <a:t>IF=Interface</a:t>
            </a:r>
            <a:endParaRPr lang="zh-CN" altLang="en-US" sz="1200" dirty="0"/>
          </a:p>
        </p:txBody>
      </p:sp>
      <p:sp>
        <p:nvSpPr>
          <p:cNvPr id="77" name="五边形 76"/>
          <p:cNvSpPr/>
          <p:nvPr/>
        </p:nvSpPr>
        <p:spPr bwMode="gray">
          <a:xfrm>
            <a:off x="8501934" y="114300"/>
            <a:ext cx="1152000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基本概念</a:t>
            </a:r>
          </a:p>
        </p:txBody>
      </p:sp>
      <p:sp>
        <p:nvSpPr>
          <p:cNvPr id="78" name="燕尾形 77"/>
          <p:cNvSpPr/>
          <p:nvPr/>
        </p:nvSpPr>
        <p:spPr bwMode="gray">
          <a:xfrm>
            <a:off x="9620717" y="114300"/>
            <a:ext cx="108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LSP</a:t>
            </a:r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建立</a:t>
            </a:r>
          </a:p>
        </p:txBody>
      </p:sp>
      <p:sp>
        <p:nvSpPr>
          <p:cNvPr id="80" name="燕尾形 79"/>
          <p:cNvSpPr/>
          <p:nvPr/>
        </p:nvSpPr>
        <p:spPr bwMode="gray">
          <a:xfrm>
            <a:off x="10667500" y="114300"/>
            <a:ext cx="10800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标签转发</a:t>
            </a:r>
          </a:p>
        </p:txBody>
      </p:sp>
    </p:spTree>
    <p:extLst>
      <p:ext uri="{BB962C8B-B14F-4D97-AF65-F5344CB8AC3E}">
        <p14:creationId xmlns:p14="http://schemas.microsoft.com/office/powerpoint/2010/main" val="1859401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/>
              <a:t>Egress LSR</a:t>
            </a:r>
            <a:r>
              <a:rPr lang="zh-CN" altLang="en-US" smtClean="0"/>
              <a:t>的处理</a:t>
            </a:r>
            <a:endParaRPr lang="zh-CN" altLang="en-US" dirty="0"/>
          </a:p>
        </p:txBody>
      </p:sp>
      <p:cxnSp>
        <p:nvCxnSpPr>
          <p:cNvPr id="7" name="直接连接符 6"/>
          <p:cNvCxnSpPr>
            <a:stCxn id="8" idx="3"/>
            <a:endCxn id="11" idx="1"/>
          </p:cNvCxnSpPr>
          <p:nvPr/>
        </p:nvCxnSpPr>
        <p:spPr bwMode="gray">
          <a:xfrm>
            <a:off x="2980043" y="5271858"/>
            <a:ext cx="1652419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直接连接符 8"/>
          <p:cNvCxnSpPr>
            <a:endCxn id="8" idx="1"/>
          </p:cNvCxnSpPr>
          <p:nvPr/>
        </p:nvCxnSpPr>
        <p:spPr bwMode="gray">
          <a:xfrm>
            <a:off x="1958582" y="5271858"/>
            <a:ext cx="481461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直接连接符 9"/>
          <p:cNvCxnSpPr>
            <a:stCxn id="11" idx="3"/>
            <a:endCxn id="13" idx="1"/>
          </p:cNvCxnSpPr>
          <p:nvPr/>
        </p:nvCxnSpPr>
        <p:spPr bwMode="gray">
          <a:xfrm>
            <a:off x="5172462" y="5271858"/>
            <a:ext cx="1652419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1" name="图片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632462" y="5050458"/>
            <a:ext cx="540000" cy="442800"/>
          </a:xfrm>
          <a:prstGeom prst="rect">
            <a:avLst/>
          </a:prstGeom>
        </p:spPr>
      </p:pic>
      <p:cxnSp>
        <p:nvCxnSpPr>
          <p:cNvPr id="12" name="直接连接符 11"/>
          <p:cNvCxnSpPr>
            <a:stCxn id="13" idx="3"/>
          </p:cNvCxnSpPr>
          <p:nvPr/>
        </p:nvCxnSpPr>
        <p:spPr bwMode="gray">
          <a:xfrm>
            <a:off x="7364881" y="5271858"/>
            <a:ext cx="360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3" name="图片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824881" y="5050458"/>
            <a:ext cx="540000" cy="442800"/>
          </a:xfrm>
          <a:prstGeom prst="rect">
            <a:avLst/>
          </a:prstGeom>
        </p:spPr>
      </p:pic>
      <p:cxnSp>
        <p:nvCxnSpPr>
          <p:cNvPr id="14" name="直接连接符 13"/>
          <p:cNvCxnSpPr/>
          <p:nvPr/>
        </p:nvCxnSpPr>
        <p:spPr bwMode="gray">
          <a:xfrm rot="5400000">
            <a:off x="7456370" y="5271858"/>
            <a:ext cx="540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" name="文本框 14"/>
          <p:cNvSpPr txBox="1"/>
          <p:nvPr/>
        </p:nvSpPr>
        <p:spPr bwMode="gray">
          <a:xfrm>
            <a:off x="2032635" y="5231552"/>
            <a:ext cx="505514" cy="316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IF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1</a:t>
            </a:r>
            <a:endParaRPr lang="zh-CN" altLang="en-US" sz="1400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18" name="文本框 17"/>
          <p:cNvSpPr txBox="1"/>
          <p:nvPr/>
        </p:nvSpPr>
        <p:spPr bwMode="gray">
          <a:xfrm>
            <a:off x="7744157" y="5113662"/>
            <a:ext cx="1058405" cy="316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3.3.3.1/24</a:t>
            </a:r>
            <a:endParaRPr lang="zh-CN" altLang="en-US" sz="1400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38" name="文本框 37"/>
          <p:cNvSpPr txBox="1"/>
          <p:nvPr/>
        </p:nvSpPr>
        <p:spPr bwMode="gray">
          <a:xfrm>
            <a:off x="2315422" y="4398398"/>
            <a:ext cx="1003418" cy="316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Push</a:t>
            </a:r>
            <a:endParaRPr lang="zh-CN" altLang="en-US" sz="1400" b="1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57" name="矩形 56"/>
          <p:cNvSpPr/>
          <p:nvPr/>
        </p:nvSpPr>
        <p:spPr bwMode="gray">
          <a:xfrm>
            <a:off x="1453226" y="4553649"/>
            <a:ext cx="900000" cy="26688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IP: 3.3.3.1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58" name="直接箭头连接符 57"/>
          <p:cNvCxnSpPr/>
          <p:nvPr/>
        </p:nvCxnSpPr>
        <p:spPr bwMode="gray">
          <a:xfrm>
            <a:off x="1536318" y="4892600"/>
            <a:ext cx="80581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/>
          <p:nvPr/>
        </p:nvCxnSpPr>
        <p:spPr bwMode="gray">
          <a:xfrm>
            <a:off x="3251681" y="4892600"/>
            <a:ext cx="1260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矩形 59"/>
          <p:cNvSpPr/>
          <p:nvPr/>
        </p:nvSpPr>
        <p:spPr bwMode="gray">
          <a:xfrm>
            <a:off x="3532860" y="4553649"/>
            <a:ext cx="900000" cy="26688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IP: 3.3.3.1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61" name="矩形 60"/>
          <p:cNvSpPr/>
          <p:nvPr/>
        </p:nvSpPr>
        <p:spPr bwMode="gray">
          <a:xfrm>
            <a:off x="3216330" y="4553649"/>
            <a:ext cx="323099" cy="266881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Z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62" name="直接箭头连接符 61"/>
          <p:cNvCxnSpPr/>
          <p:nvPr/>
        </p:nvCxnSpPr>
        <p:spPr bwMode="gray">
          <a:xfrm>
            <a:off x="5402562" y="4892600"/>
            <a:ext cx="1260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 62"/>
          <p:cNvSpPr/>
          <p:nvPr/>
        </p:nvSpPr>
        <p:spPr bwMode="gray">
          <a:xfrm>
            <a:off x="5709251" y="4553649"/>
            <a:ext cx="900000" cy="26688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IP: 3.3.3.1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64" name="矩形 63"/>
          <p:cNvSpPr/>
          <p:nvPr/>
        </p:nvSpPr>
        <p:spPr bwMode="gray">
          <a:xfrm>
            <a:off x="5386544" y="4553648"/>
            <a:ext cx="324000" cy="271373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>
                <a:solidFill>
                  <a:schemeClr val="tx1"/>
                </a:solidFill>
              </a:rPr>
              <a:t>Y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65" name="矩形 64"/>
          <p:cNvSpPr/>
          <p:nvPr/>
        </p:nvSpPr>
        <p:spPr bwMode="gray">
          <a:xfrm>
            <a:off x="7421277" y="4553649"/>
            <a:ext cx="900000" cy="26688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IP: 3.3.3.1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66" name="直接箭头连接符 65"/>
          <p:cNvCxnSpPr/>
          <p:nvPr/>
        </p:nvCxnSpPr>
        <p:spPr bwMode="gray">
          <a:xfrm>
            <a:off x="7504369" y="4892600"/>
            <a:ext cx="80581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/>
        </p:nvSpPr>
        <p:spPr bwMode="gray">
          <a:xfrm>
            <a:off x="4517018" y="4398856"/>
            <a:ext cx="1003418" cy="316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Swap</a:t>
            </a:r>
            <a:endParaRPr lang="zh-CN" altLang="en-US" sz="1400" b="1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40" name="文本框 39"/>
          <p:cNvSpPr txBox="1"/>
          <p:nvPr/>
        </p:nvSpPr>
        <p:spPr bwMode="gray">
          <a:xfrm>
            <a:off x="2267676" y="5584910"/>
            <a:ext cx="888052" cy="316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Ingress</a:t>
            </a:r>
            <a:endParaRPr lang="zh-CN" altLang="en-US" sz="1400" b="1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48" name="文本框 47"/>
          <p:cNvSpPr txBox="1"/>
          <p:nvPr/>
        </p:nvSpPr>
        <p:spPr bwMode="gray">
          <a:xfrm>
            <a:off x="4475920" y="5584910"/>
            <a:ext cx="888052" cy="316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Transit</a:t>
            </a:r>
            <a:endParaRPr lang="zh-CN" altLang="en-US" sz="1400" b="1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49" name="文本框 48"/>
          <p:cNvSpPr txBox="1"/>
          <p:nvPr/>
        </p:nvSpPr>
        <p:spPr bwMode="gray">
          <a:xfrm>
            <a:off x="6651826" y="5584910"/>
            <a:ext cx="888052" cy="316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Egress</a:t>
            </a:r>
            <a:endParaRPr lang="zh-CN" altLang="en-US" sz="1400" b="1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50" name="文本框 49"/>
          <p:cNvSpPr txBox="1"/>
          <p:nvPr/>
        </p:nvSpPr>
        <p:spPr bwMode="gray">
          <a:xfrm>
            <a:off x="2883339" y="5231552"/>
            <a:ext cx="505514" cy="316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IF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2</a:t>
            </a:r>
            <a:endParaRPr lang="zh-CN" altLang="en-US" sz="1400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51" name="文本框 50"/>
          <p:cNvSpPr txBox="1"/>
          <p:nvPr/>
        </p:nvSpPr>
        <p:spPr bwMode="gray">
          <a:xfrm>
            <a:off x="4247176" y="5231552"/>
            <a:ext cx="505514" cy="316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IF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1</a:t>
            </a:r>
            <a:endParaRPr lang="zh-CN" altLang="en-US" sz="1400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52" name="文本框 51"/>
          <p:cNvSpPr txBox="1"/>
          <p:nvPr/>
        </p:nvSpPr>
        <p:spPr bwMode="gray">
          <a:xfrm>
            <a:off x="5097880" y="5231552"/>
            <a:ext cx="505514" cy="316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IF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2</a:t>
            </a:r>
            <a:endParaRPr lang="zh-CN" altLang="en-US" sz="1400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53" name="文本框 52"/>
          <p:cNvSpPr txBox="1"/>
          <p:nvPr/>
        </p:nvSpPr>
        <p:spPr bwMode="gray">
          <a:xfrm>
            <a:off x="6421843" y="5231552"/>
            <a:ext cx="505514" cy="316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IF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1</a:t>
            </a:r>
            <a:endParaRPr lang="zh-CN" altLang="en-US" sz="1400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69" name="文本框 68"/>
          <p:cNvSpPr txBox="1"/>
          <p:nvPr/>
        </p:nvSpPr>
        <p:spPr bwMode="gray">
          <a:xfrm>
            <a:off x="7272547" y="5231552"/>
            <a:ext cx="505514" cy="316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IF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2</a:t>
            </a:r>
            <a:endParaRPr lang="zh-CN" altLang="en-US" sz="1400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70" name="文本框 69"/>
          <p:cNvSpPr txBox="1"/>
          <p:nvPr/>
        </p:nvSpPr>
        <p:spPr bwMode="gray">
          <a:xfrm>
            <a:off x="2602050" y="5430153"/>
            <a:ext cx="1047461" cy="2856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1.1.1.1/24</a:t>
            </a:r>
            <a:endParaRPr lang="zh-CN" altLang="en-US" sz="1200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71" name="文本框 70"/>
          <p:cNvSpPr txBox="1"/>
          <p:nvPr/>
        </p:nvSpPr>
        <p:spPr bwMode="gray">
          <a:xfrm>
            <a:off x="3981025" y="5430153"/>
            <a:ext cx="1047461" cy="2856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1.1.1.2/24</a:t>
            </a:r>
            <a:endParaRPr lang="zh-CN" altLang="en-US" sz="1200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72" name="文本框 71"/>
          <p:cNvSpPr txBox="1"/>
          <p:nvPr/>
        </p:nvSpPr>
        <p:spPr bwMode="gray">
          <a:xfrm>
            <a:off x="4831384" y="5430153"/>
            <a:ext cx="1047461" cy="2856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2.2.2.1/24</a:t>
            </a:r>
            <a:endParaRPr lang="zh-CN" altLang="en-US" sz="1200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74" name="文本框 73"/>
          <p:cNvSpPr txBox="1"/>
          <p:nvPr/>
        </p:nvSpPr>
        <p:spPr bwMode="gray">
          <a:xfrm>
            <a:off x="6161906" y="5430153"/>
            <a:ext cx="1047461" cy="2856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2.2.2.2/24</a:t>
            </a:r>
            <a:endParaRPr lang="zh-CN" altLang="en-US" sz="1200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graphicFrame>
        <p:nvGraphicFramePr>
          <p:cNvPr id="45" name="表格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099638"/>
              </p:ext>
            </p:extLst>
          </p:nvPr>
        </p:nvGraphicFramePr>
        <p:xfrm>
          <a:off x="6202120" y="3418080"/>
          <a:ext cx="3561006" cy="684588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852355"/>
                <a:gridCol w="571491"/>
                <a:gridCol w="1068580"/>
                <a:gridCol w="1068580"/>
              </a:tblGrid>
              <a:tr h="40423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</a:rPr>
                        <a:t>In Label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</a:rPr>
                        <a:t>In IF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</a:rPr>
                        <a:t>Tunnel ID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</a:rPr>
                        <a:t>OPER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8035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 smtClean="0">
                          <a:solidFill>
                            <a:schemeClr val="tx1"/>
                          </a:solidFill>
                        </a:rPr>
                        <a:t>IF</a:t>
                      </a:r>
                      <a:r>
                        <a:rPr lang="en-US" altLang="zh-CN" sz="1200" b="0" baseline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 smtClean="0">
                          <a:solidFill>
                            <a:schemeClr val="tx1"/>
                          </a:solidFill>
                        </a:rPr>
                        <a:t>0x22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440043" y="5050458"/>
            <a:ext cx="540000" cy="442800"/>
          </a:xfrm>
          <a:prstGeom prst="rect">
            <a:avLst/>
          </a:prstGeom>
        </p:spPr>
      </p:pic>
      <p:cxnSp>
        <p:nvCxnSpPr>
          <p:cNvPr id="77" name="直接箭头连接符 76"/>
          <p:cNvCxnSpPr/>
          <p:nvPr/>
        </p:nvCxnSpPr>
        <p:spPr bwMode="gray">
          <a:xfrm flipH="1" flipV="1">
            <a:off x="6543905" y="4117114"/>
            <a:ext cx="709563" cy="955298"/>
          </a:xfrm>
          <a:prstGeom prst="straightConnector1">
            <a:avLst/>
          </a:prstGeom>
          <a:ln w="12700">
            <a:solidFill>
              <a:srgbClr val="30B5C5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文本框 86"/>
          <p:cNvSpPr txBox="1"/>
          <p:nvPr/>
        </p:nvSpPr>
        <p:spPr bwMode="gray">
          <a:xfrm>
            <a:off x="5422984" y="3333229"/>
            <a:ext cx="1003418" cy="316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ILM</a:t>
            </a:r>
            <a:endParaRPr lang="zh-CN" altLang="en-US" sz="1400" b="1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91" name="Oval 4"/>
          <p:cNvSpPr>
            <a:spLocks noChangeAspect="1"/>
          </p:cNvSpPr>
          <p:nvPr/>
        </p:nvSpPr>
        <p:spPr bwMode="gray">
          <a:xfrm>
            <a:off x="6606920" y="4268142"/>
            <a:ext cx="180000" cy="180000"/>
          </a:xfrm>
          <a:prstGeom prst="ellipse">
            <a:avLst/>
          </a:prstGeom>
          <a:solidFill>
            <a:srgbClr val="30B5C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200" b="1" dirty="0">
                <a:solidFill>
                  <a:schemeClr val="bg1"/>
                </a:solidFill>
              </a:rPr>
              <a:t>8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93" name="圆角矩形 75"/>
          <p:cNvSpPr/>
          <p:nvPr/>
        </p:nvSpPr>
        <p:spPr bwMode="gray">
          <a:xfrm>
            <a:off x="525965" y="1183155"/>
            <a:ext cx="5292670" cy="2978977"/>
          </a:xfrm>
          <a:prstGeom prst="roundRect">
            <a:avLst>
              <a:gd name="adj" fmla="val 874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 anchorCtr="0">
            <a:noAutofit/>
          </a:bodyPr>
          <a:lstStyle/>
          <a:p>
            <a:pPr algn="just">
              <a:lnSpc>
                <a:spcPts val="2600"/>
              </a:lnSpc>
              <a:spcAft>
                <a:spcPts val="600"/>
              </a:spcAft>
            </a:pPr>
            <a:r>
              <a:rPr lang="zh-CN" altLang="en-US" sz="1600" dirty="0">
                <a:solidFill>
                  <a:prstClr val="black"/>
                </a:solidFill>
              </a:rPr>
              <a:t>当</a:t>
            </a:r>
            <a:r>
              <a:rPr lang="en-US" altLang="zh-CN" sz="1600" dirty="0">
                <a:solidFill>
                  <a:prstClr val="black"/>
                </a:solidFill>
              </a:rPr>
              <a:t>MPLS</a:t>
            </a:r>
            <a:r>
              <a:rPr lang="zh-CN" altLang="en-US" sz="1600" dirty="0">
                <a:solidFill>
                  <a:prstClr val="black"/>
                </a:solidFill>
              </a:rPr>
              <a:t>报文需要离开</a:t>
            </a:r>
            <a:r>
              <a:rPr lang="en-US" altLang="zh-CN" sz="1600" dirty="0">
                <a:solidFill>
                  <a:prstClr val="black"/>
                </a:solidFill>
              </a:rPr>
              <a:t>MPLS</a:t>
            </a:r>
            <a:r>
              <a:rPr lang="zh-CN" altLang="en-US" sz="1600" dirty="0">
                <a:solidFill>
                  <a:prstClr val="black"/>
                </a:solidFill>
              </a:rPr>
              <a:t>域时：</a:t>
            </a:r>
          </a:p>
          <a:p>
            <a:pPr marL="342900" indent="-342900" algn="just">
              <a:lnSpc>
                <a:spcPts val="2600"/>
              </a:lnSpc>
              <a:spcAft>
                <a:spcPts val="600"/>
              </a:spcAft>
              <a:buFont typeface="+mj-lt"/>
              <a:buAutoNum type="arabicPeriod" startAt="8"/>
            </a:pPr>
            <a:r>
              <a:rPr lang="en-US" altLang="zh-CN" sz="1600" dirty="0">
                <a:solidFill>
                  <a:prstClr val="black"/>
                </a:solidFill>
              </a:rPr>
              <a:t>Egress</a:t>
            </a:r>
            <a:r>
              <a:rPr lang="zh-CN" altLang="en-US" sz="1600" dirty="0">
                <a:solidFill>
                  <a:prstClr val="black"/>
                </a:solidFill>
              </a:rPr>
              <a:t>根据</a:t>
            </a:r>
            <a:r>
              <a:rPr lang="en-US" altLang="zh-CN" sz="1600" dirty="0">
                <a:solidFill>
                  <a:prstClr val="black"/>
                </a:solidFill>
              </a:rPr>
              <a:t>ILM</a:t>
            </a:r>
            <a:r>
              <a:rPr lang="zh-CN" altLang="en-US" sz="1600" dirty="0">
                <a:solidFill>
                  <a:prstClr val="black"/>
                </a:solidFill>
              </a:rPr>
              <a:t>查询到</a:t>
            </a:r>
            <a:r>
              <a:rPr lang="zh-CN" altLang="en-US" sz="1600" dirty="0" smtClean="0">
                <a:solidFill>
                  <a:prstClr val="black"/>
                </a:solidFill>
              </a:rPr>
              <a:t>该</a:t>
            </a:r>
            <a:r>
              <a:rPr lang="zh-CN" altLang="en-US" sz="1600" dirty="0">
                <a:solidFill>
                  <a:prstClr val="black"/>
                </a:solidFill>
              </a:rPr>
              <a:t>标签</a:t>
            </a:r>
            <a:r>
              <a:rPr lang="zh-CN" altLang="en-US" sz="1600" dirty="0" smtClean="0">
                <a:solidFill>
                  <a:prstClr val="black"/>
                </a:solidFill>
              </a:rPr>
              <a:t>对应</a:t>
            </a:r>
            <a:r>
              <a:rPr lang="zh-CN" altLang="en-US" sz="1600" dirty="0">
                <a:solidFill>
                  <a:prstClr val="black"/>
                </a:solidFill>
              </a:rPr>
              <a:t>的操作为</a:t>
            </a:r>
            <a:r>
              <a:rPr lang="en-US" altLang="zh-CN" sz="1600" dirty="0">
                <a:solidFill>
                  <a:prstClr val="black"/>
                </a:solidFill>
              </a:rPr>
              <a:t>Pop</a:t>
            </a:r>
            <a:r>
              <a:rPr lang="zh-CN" altLang="en-US" sz="1600" dirty="0">
                <a:solidFill>
                  <a:prstClr val="black"/>
                </a:solidFill>
              </a:rPr>
              <a:t>，说明需要剥离该</a:t>
            </a:r>
            <a:r>
              <a:rPr lang="zh-CN" altLang="en-US" sz="1600" dirty="0" smtClean="0">
                <a:solidFill>
                  <a:prstClr val="black"/>
                </a:solidFill>
              </a:rPr>
              <a:t>标签。</a:t>
            </a:r>
            <a:endParaRPr lang="en-US" altLang="zh-CN" sz="1600" dirty="0" smtClean="0">
              <a:solidFill>
                <a:prstClr val="black"/>
              </a:solidFill>
            </a:endParaRPr>
          </a:p>
          <a:p>
            <a:pPr marL="342900" indent="-342900" algn="just">
              <a:lnSpc>
                <a:spcPts val="2600"/>
              </a:lnSpc>
              <a:spcAft>
                <a:spcPts val="600"/>
              </a:spcAft>
              <a:buFont typeface="+mj-lt"/>
              <a:buAutoNum type="arabicPeriod" startAt="8"/>
            </a:pPr>
            <a:r>
              <a:rPr lang="zh-CN" altLang="en-US" sz="1600" dirty="0" smtClean="0">
                <a:solidFill>
                  <a:prstClr val="black"/>
                </a:solidFill>
              </a:rPr>
              <a:t>根据当前标签头部的下一层报文头部进行下一步处理。</a:t>
            </a:r>
            <a:endParaRPr lang="zh-CN" altLang="en-US" sz="1600" dirty="0">
              <a:solidFill>
                <a:prstClr val="black"/>
              </a:solidFill>
            </a:endParaRPr>
          </a:p>
        </p:txBody>
      </p:sp>
      <p:sp>
        <p:nvSpPr>
          <p:cNvPr id="68" name="文本框 67"/>
          <p:cNvSpPr txBox="1"/>
          <p:nvPr/>
        </p:nvSpPr>
        <p:spPr bwMode="gray">
          <a:xfrm>
            <a:off x="8776084" y="3789894"/>
            <a:ext cx="1003418" cy="316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Pop</a:t>
            </a:r>
            <a:endParaRPr lang="zh-CN" altLang="en-US" sz="1400" b="1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cxnSp>
        <p:nvCxnSpPr>
          <p:cNvPr id="4" name="直接箭头连接符 3"/>
          <p:cNvCxnSpPr/>
          <p:nvPr/>
        </p:nvCxnSpPr>
        <p:spPr bwMode="gray">
          <a:xfrm flipV="1">
            <a:off x="7364881" y="2295193"/>
            <a:ext cx="1413803" cy="1058757"/>
          </a:xfrm>
          <a:prstGeom prst="straightConnector1">
            <a:avLst/>
          </a:prstGeom>
          <a:ln w="12700">
            <a:solidFill>
              <a:srgbClr val="30B5C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圆角矩形 75"/>
          <p:cNvSpPr/>
          <p:nvPr/>
        </p:nvSpPr>
        <p:spPr bwMode="gray">
          <a:xfrm>
            <a:off x="9008172" y="1541461"/>
            <a:ext cx="2603803" cy="1507465"/>
          </a:xfrm>
          <a:prstGeom prst="roundRect">
            <a:avLst>
              <a:gd name="adj" fmla="val 874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 anchorCtr="0">
            <a:noAutofit/>
          </a:bodyPr>
          <a:lstStyle/>
          <a:p>
            <a:pPr marL="177800" indent="-177800" algn="just">
              <a:lnSpc>
                <a:spcPts val="26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600" dirty="0" smtClean="0">
                <a:solidFill>
                  <a:prstClr val="black"/>
                </a:solidFill>
              </a:rPr>
              <a:t>S=1</a:t>
            </a:r>
            <a:r>
              <a:rPr lang="zh-CN" altLang="en-US" sz="1600" dirty="0">
                <a:solidFill>
                  <a:prstClr val="black"/>
                </a:solidFill>
              </a:rPr>
              <a:t>，表明该标签是栈底标签，直接进行</a:t>
            </a:r>
            <a:r>
              <a:rPr lang="en-US" altLang="zh-CN" sz="1600" dirty="0">
                <a:solidFill>
                  <a:prstClr val="black"/>
                </a:solidFill>
              </a:rPr>
              <a:t>IP</a:t>
            </a:r>
            <a:r>
              <a:rPr lang="zh-CN" altLang="en-US" sz="1600" dirty="0">
                <a:solidFill>
                  <a:prstClr val="black"/>
                </a:solidFill>
              </a:rPr>
              <a:t>转发。</a:t>
            </a:r>
          </a:p>
          <a:p>
            <a:pPr marL="177800" indent="-177800" algn="just">
              <a:lnSpc>
                <a:spcPts val="26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600" dirty="0" smtClean="0">
                <a:solidFill>
                  <a:prstClr val="black"/>
                </a:solidFill>
              </a:rPr>
              <a:t>S=0</a:t>
            </a:r>
            <a:r>
              <a:rPr lang="zh-CN" altLang="en-US" sz="1600" dirty="0">
                <a:solidFill>
                  <a:prstClr val="black"/>
                </a:solidFill>
              </a:rPr>
              <a:t>，表明还有下一层标签，根据下一层标签。</a:t>
            </a:r>
          </a:p>
        </p:txBody>
      </p:sp>
      <p:sp>
        <p:nvSpPr>
          <p:cNvPr id="79" name="Oval 4"/>
          <p:cNvSpPr>
            <a:spLocks noChangeAspect="1"/>
          </p:cNvSpPr>
          <p:nvPr/>
        </p:nvSpPr>
        <p:spPr bwMode="gray">
          <a:xfrm>
            <a:off x="7688061" y="2702434"/>
            <a:ext cx="180000" cy="180000"/>
          </a:xfrm>
          <a:prstGeom prst="ellipse">
            <a:avLst/>
          </a:prstGeom>
          <a:solidFill>
            <a:srgbClr val="30B5C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200" b="1" dirty="0">
                <a:solidFill>
                  <a:schemeClr val="bg1"/>
                </a:solidFill>
              </a:rPr>
              <a:t>9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54" name="矩形 25"/>
          <p:cNvSpPr/>
          <p:nvPr/>
        </p:nvSpPr>
        <p:spPr bwMode="gray">
          <a:xfrm>
            <a:off x="10536912" y="5551269"/>
            <a:ext cx="121058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 smtClean="0"/>
              <a:t>注：</a:t>
            </a:r>
            <a:endParaRPr lang="en-US" altLang="zh-CN" sz="1200" dirty="0" smtClean="0"/>
          </a:p>
          <a:p>
            <a:r>
              <a:rPr lang="en-US" altLang="zh-CN" sz="1200" dirty="0" smtClean="0"/>
              <a:t>NH=NEXTHOP</a:t>
            </a:r>
          </a:p>
          <a:p>
            <a:r>
              <a:rPr lang="en-US" altLang="zh-CN" sz="1200" dirty="0" smtClean="0"/>
              <a:t>IF=Interface</a:t>
            </a:r>
            <a:endParaRPr lang="zh-CN" altLang="en-US" sz="1200" dirty="0"/>
          </a:p>
        </p:txBody>
      </p:sp>
      <p:sp>
        <p:nvSpPr>
          <p:cNvPr id="55" name="五边形 54"/>
          <p:cNvSpPr/>
          <p:nvPr/>
        </p:nvSpPr>
        <p:spPr bwMode="gray">
          <a:xfrm>
            <a:off x="8501934" y="114300"/>
            <a:ext cx="1152000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基本概念</a:t>
            </a:r>
          </a:p>
        </p:txBody>
      </p:sp>
      <p:sp>
        <p:nvSpPr>
          <p:cNvPr id="78" name="燕尾形 77"/>
          <p:cNvSpPr/>
          <p:nvPr/>
        </p:nvSpPr>
        <p:spPr bwMode="gray">
          <a:xfrm>
            <a:off x="9620717" y="114300"/>
            <a:ext cx="108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LSP</a:t>
            </a:r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建立</a:t>
            </a:r>
          </a:p>
        </p:txBody>
      </p:sp>
      <p:sp>
        <p:nvSpPr>
          <p:cNvPr id="80" name="燕尾形 79"/>
          <p:cNvSpPr/>
          <p:nvPr/>
        </p:nvSpPr>
        <p:spPr bwMode="gray">
          <a:xfrm>
            <a:off x="10667500" y="114300"/>
            <a:ext cx="10800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标签转发</a:t>
            </a:r>
          </a:p>
        </p:txBody>
      </p:sp>
    </p:spTree>
    <p:extLst>
      <p:ext uri="{BB962C8B-B14F-4D97-AF65-F5344CB8AC3E}">
        <p14:creationId xmlns:p14="http://schemas.microsoft.com/office/powerpoint/2010/main" val="2890233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/>
          <p:cNvSpPr/>
          <p:nvPr/>
        </p:nvSpPr>
        <p:spPr bwMode="gray">
          <a:xfrm>
            <a:off x="1209259" y="3535008"/>
            <a:ext cx="2199367" cy="8055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72"/>
          <p:cNvSpPr/>
          <p:nvPr/>
        </p:nvSpPr>
        <p:spPr bwMode="gray">
          <a:xfrm>
            <a:off x="3496623" y="3535008"/>
            <a:ext cx="5322511" cy="8055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 80"/>
          <p:cNvSpPr/>
          <p:nvPr/>
        </p:nvSpPr>
        <p:spPr bwMode="gray">
          <a:xfrm>
            <a:off x="1469798" y="1266132"/>
            <a:ext cx="6414836" cy="20967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/>
              <a:t>MPLS</a:t>
            </a:r>
            <a:r>
              <a:rPr lang="zh-CN" altLang="en-US" smtClean="0"/>
              <a:t>详细转发过程</a:t>
            </a:r>
            <a:endParaRPr lang="zh-CN" altLang="en-US" dirty="0"/>
          </a:p>
        </p:txBody>
      </p:sp>
      <p:cxnSp>
        <p:nvCxnSpPr>
          <p:cNvPr id="7" name="直接连接符 6"/>
          <p:cNvCxnSpPr>
            <a:stCxn id="8" idx="3"/>
            <a:endCxn id="11" idx="1"/>
          </p:cNvCxnSpPr>
          <p:nvPr/>
        </p:nvCxnSpPr>
        <p:spPr bwMode="gray">
          <a:xfrm>
            <a:off x="2996615" y="5460627"/>
            <a:ext cx="1652419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直接连接符 8"/>
          <p:cNvCxnSpPr>
            <a:endCxn id="8" idx="1"/>
          </p:cNvCxnSpPr>
          <p:nvPr/>
        </p:nvCxnSpPr>
        <p:spPr bwMode="gray">
          <a:xfrm>
            <a:off x="1975154" y="5460627"/>
            <a:ext cx="481461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直接连接符 9"/>
          <p:cNvCxnSpPr>
            <a:stCxn id="11" idx="3"/>
            <a:endCxn id="13" idx="1"/>
          </p:cNvCxnSpPr>
          <p:nvPr/>
        </p:nvCxnSpPr>
        <p:spPr bwMode="gray">
          <a:xfrm>
            <a:off x="5189034" y="5460627"/>
            <a:ext cx="1652419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1" name="图片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649034" y="5239227"/>
            <a:ext cx="540000" cy="442800"/>
          </a:xfrm>
          <a:prstGeom prst="rect">
            <a:avLst/>
          </a:prstGeom>
        </p:spPr>
      </p:pic>
      <p:cxnSp>
        <p:nvCxnSpPr>
          <p:cNvPr id="12" name="直接连接符 11"/>
          <p:cNvCxnSpPr>
            <a:stCxn id="13" idx="3"/>
          </p:cNvCxnSpPr>
          <p:nvPr/>
        </p:nvCxnSpPr>
        <p:spPr bwMode="gray">
          <a:xfrm>
            <a:off x="7381453" y="5460627"/>
            <a:ext cx="360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3" name="图片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841453" y="5239227"/>
            <a:ext cx="540000" cy="442800"/>
          </a:xfrm>
          <a:prstGeom prst="rect">
            <a:avLst/>
          </a:prstGeom>
        </p:spPr>
      </p:pic>
      <p:cxnSp>
        <p:nvCxnSpPr>
          <p:cNvPr id="14" name="直接连接符 13"/>
          <p:cNvCxnSpPr/>
          <p:nvPr/>
        </p:nvCxnSpPr>
        <p:spPr bwMode="gray">
          <a:xfrm rot="5400000">
            <a:off x="7472942" y="5460627"/>
            <a:ext cx="540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" name="文本框 14"/>
          <p:cNvSpPr txBox="1"/>
          <p:nvPr/>
        </p:nvSpPr>
        <p:spPr bwMode="gray">
          <a:xfrm>
            <a:off x="2049207" y="5420321"/>
            <a:ext cx="505514" cy="316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IF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1</a:t>
            </a:r>
            <a:endParaRPr lang="zh-CN" altLang="en-US" sz="1400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18" name="文本框 17"/>
          <p:cNvSpPr txBox="1"/>
          <p:nvPr/>
        </p:nvSpPr>
        <p:spPr bwMode="gray">
          <a:xfrm>
            <a:off x="7760729" y="5302431"/>
            <a:ext cx="1058405" cy="316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3.3.3.1/24</a:t>
            </a:r>
            <a:endParaRPr lang="zh-CN" altLang="en-US" sz="1400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38" name="文本框 37"/>
          <p:cNvSpPr txBox="1"/>
          <p:nvPr/>
        </p:nvSpPr>
        <p:spPr bwMode="gray">
          <a:xfrm>
            <a:off x="2331994" y="4587167"/>
            <a:ext cx="1003418" cy="316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Push</a:t>
            </a:r>
            <a:endParaRPr lang="zh-CN" altLang="en-US" sz="1400" b="1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57" name="矩形 56"/>
          <p:cNvSpPr/>
          <p:nvPr/>
        </p:nvSpPr>
        <p:spPr bwMode="gray">
          <a:xfrm>
            <a:off x="1469798" y="4742418"/>
            <a:ext cx="900000" cy="26688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IP: 3.3.3.1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58" name="直接箭头连接符 57"/>
          <p:cNvCxnSpPr/>
          <p:nvPr/>
        </p:nvCxnSpPr>
        <p:spPr bwMode="gray">
          <a:xfrm>
            <a:off x="1552890" y="5081369"/>
            <a:ext cx="80581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/>
          <p:nvPr/>
        </p:nvCxnSpPr>
        <p:spPr bwMode="gray">
          <a:xfrm>
            <a:off x="3268253" y="5081369"/>
            <a:ext cx="1260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矩形 59"/>
          <p:cNvSpPr/>
          <p:nvPr/>
        </p:nvSpPr>
        <p:spPr bwMode="gray">
          <a:xfrm>
            <a:off x="3549432" y="4742418"/>
            <a:ext cx="900000" cy="26688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IP: 3.3.3.1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61" name="矩形 60"/>
          <p:cNvSpPr/>
          <p:nvPr/>
        </p:nvSpPr>
        <p:spPr bwMode="gray">
          <a:xfrm>
            <a:off x="3232902" y="4742418"/>
            <a:ext cx="323099" cy="266881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Z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62" name="直接箭头连接符 61"/>
          <p:cNvCxnSpPr/>
          <p:nvPr/>
        </p:nvCxnSpPr>
        <p:spPr bwMode="gray">
          <a:xfrm>
            <a:off x="5419134" y="5081369"/>
            <a:ext cx="1260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 62"/>
          <p:cNvSpPr/>
          <p:nvPr/>
        </p:nvSpPr>
        <p:spPr bwMode="gray">
          <a:xfrm>
            <a:off x="5725823" y="4742418"/>
            <a:ext cx="900000" cy="26688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IP: 3.3.3.1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64" name="矩形 63"/>
          <p:cNvSpPr/>
          <p:nvPr/>
        </p:nvSpPr>
        <p:spPr bwMode="gray">
          <a:xfrm>
            <a:off x="5403116" y="4742417"/>
            <a:ext cx="324000" cy="271373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>
                <a:solidFill>
                  <a:schemeClr val="tx1"/>
                </a:solidFill>
              </a:rPr>
              <a:t>Y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65" name="矩形 64"/>
          <p:cNvSpPr/>
          <p:nvPr/>
        </p:nvSpPr>
        <p:spPr bwMode="gray">
          <a:xfrm>
            <a:off x="7437849" y="4742418"/>
            <a:ext cx="900000" cy="26688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IP: 3.3.3.1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66" name="直接箭头连接符 65"/>
          <p:cNvCxnSpPr/>
          <p:nvPr/>
        </p:nvCxnSpPr>
        <p:spPr bwMode="gray">
          <a:xfrm>
            <a:off x="7520941" y="5081369"/>
            <a:ext cx="80581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/>
        </p:nvSpPr>
        <p:spPr bwMode="gray">
          <a:xfrm>
            <a:off x="4533590" y="4587625"/>
            <a:ext cx="1003418" cy="316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Swap</a:t>
            </a:r>
            <a:endParaRPr lang="zh-CN" altLang="en-US" sz="1400" b="1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40" name="文本框 39"/>
          <p:cNvSpPr txBox="1"/>
          <p:nvPr/>
        </p:nvSpPr>
        <p:spPr bwMode="gray">
          <a:xfrm>
            <a:off x="2284248" y="5773679"/>
            <a:ext cx="888052" cy="316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Ingress</a:t>
            </a:r>
            <a:endParaRPr lang="zh-CN" altLang="en-US" sz="1400" b="1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48" name="文本框 47"/>
          <p:cNvSpPr txBox="1"/>
          <p:nvPr/>
        </p:nvSpPr>
        <p:spPr bwMode="gray">
          <a:xfrm>
            <a:off x="4492492" y="5773679"/>
            <a:ext cx="888052" cy="316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Transit</a:t>
            </a:r>
            <a:endParaRPr lang="zh-CN" altLang="en-US" sz="1400" b="1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49" name="文本框 48"/>
          <p:cNvSpPr txBox="1"/>
          <p:nvPr/>
        </p:nvSpPr>
        <p:spPr bwMode="gray">
          <a:xfrm>
            <a:off x="6668398" y="5773679"/>
            <a:ext cx="888052" cy="316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Egress</a:t>
            </a:r>
            <a:endParaRPr lang="zh-CN" altLang="en-US" sz="1400" b="1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50" name="文本框 49"/>
          <p:cNvSpPr txBox="1"/>
          <p:nvPr/>
        </p:nvSpPr>
        <p:spPr bwMode="gray">
          <a:xfrm>
            <a:off x="2899911" y="5420321"/>
            <a:ext cx="505514" cy="316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IF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2</a:t>
            </a:r>
            <a:endParaRPr lang="zh-CN" altLang="en-US" sz="1400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51" name="文本框 50"/>
          <p:cNvSpPr txBox="1"/>
          <p:nvPr/>
        </p:nvSpPr>
        <p:spPr bwMode="gray">
          <a:xfrm>
            <a:off x="4263748" y="5420321"/>
            <a:ext cx="505514" cy="316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IF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1</a:t>
            </a:r>
            <a:endParaRPr lang="zh-CN" altLang="en-US" sz="1400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52" name="文本框 51"/>
          <p:cNvSpPr txBox="1"/>
          <p:nvPr/>
        </p:nvSpPr>
        <p:spPr bwMode="gray">
          <a:xfrm>
            <a:off x="5114452" y="5420321"/>
            <a:ext cx="505514" cy="316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IF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2</a:t>
            </a:r>
            <a:endParaRPr lang="zh-CN" altLang="en-US" sz="1400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53" name="文本框 52"/>
          <p:cNvSpPr txBox="1"/>
          <p:nvPr/>
        </p:nvSpPr>
        <p:spPr bwMode="gray">
          <a:xfrm>
            <a:off x="6438415" y="5420321"/>
            <a:ext cx="505514" cy="316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IF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1</a:t>
            </a:r>
            <a:endParaRPr lang="zh-CN" altLang="en-US" sz="1400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69" name="文本框 68"/>
          <p:cNvSpPr txBox="1"/>
          <p:nvPr/>
        </p:nvSpPr>
        <p:spPr bwMode="gray">
          <a:xfrm>
            <a:off x="7289119" y="5420321"/>
            <a:ext cx="505514" cy="316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IF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2</a:t>
            </a:r>
            <a:endParaRPr lang="zh-CN" altLang="en-US" sz="1400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70" name="文本框 69"/>
          <p:cNvSpPr txBox="1"/>
          <p:nvPr/>
        </p:nvSpPr>
        <p:spPr bwMode="gray">
          <a:xfrm>
            <a:off x="2618622" y="5618922"/>
            <a:ext cx="1047461" cy="2856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1.1.1.1/24</a:t>
            </a:r>
            <a:endParaRPr lang="zh-CN" altLang="en-US" sz="1200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71" name="文本框 70"/>
          <p:cNvSpPr txBox="1"/>
          <p:nvPr/>
        </p:nvSpPr>
        <p:spPr bwMode="gray">
          <a:xfrm>
            <a:off x="3997597" y="5618922"/>
            <a:ext cx="1047461" cy="2856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1.1.1.2/24</a:t>
            </a:r>
            <a:endParaRPr lang="zh-CN" altLang="en-US" sz="1200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72" name="文本框 71"/>
          <p:cNvSpPr txBox="1"/>
          <p:nvPr/>
        </p:nvSpPr>
        <p:spPr bwMode="gray">
          <a:xfrm>
            <a:off x="4847956" y="5618922"/>
            <a:ext cx="1047461" cy="2856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2.2.2.1/24</a:t>
            </a:r>
            <a:endParaRPr lang="zh-CN" altLang="en-US" sz="1200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74" name="文本框 73"/>
          <p:cNvSpPr txBox="1"/>
          <p:nvPr/>
        </p:nvSpPr>
        <p:spPr bwMode="gray">
          <a:xfrm>
            <a:off x="6178478" y="5618922"/>
            <a:ext cx="1047461" cy="2856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2.2.2.2/24</a:t>
            </a:r>
            <a:endParaRPr lang="zh-CN" altLang="en-US" sz="1200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graphicFrame>
        <p:nvGraphicFramePr>
          <p:cNvPr id="43" name="表格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292858"/>
              </p:ext>
            </p:extLst>
          </p:nvPr>
        </p:nvGraphicFramePr>
        <p:xfrm>
          <a:off x="1332586" y="3772323"/>
          <a:ext cx="2002826" cy="54864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001413"/>
                <a:gridCol w="1001413"/>
              </a:tblGrid>
              <a:tr h="25367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</a:rPr>
                        <a:t>DEST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</a:rPr>
                        <a:t>Tunnel ID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5367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 smtClean="0">
                          <a:solidFill>
                            <a:schemeClr val="tx1"/>
                          </a:solidFill>
                        </a:rPr>
                        <a:t>3.3.3.1/24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 smtClean="0">
                          <a:solidFill>
                            <a:schemeClr val="tx1"/>
                          </a:solidFill>
                        </a:rPr>
                        <a:t>0x11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4" name="表格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8830095"/>
              </p:ext>
            </p:extLst>
          </p:nvPr>
        </p:nvGraphicFramePr>
        <p:xfrm>
          <a:off x="3619063" y="3772323"/>
          <a:ext cx="2348728" cy="54864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803214"/>
                <a:gridCol w="538542"/>
                <a:gridCol w="1006972"/>
              </a:tblGrid>
              <a:tr h="25367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</a:rPr>
                        <a:t>In Label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</a:rPr>
                        <a:t>In IF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</a:rPr>
                        <a:t>Tunnel ID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5367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 smtClean="0">
                          <a:solidFill>
                            <a:schemeClr val="tx1"/>
                          </a:solidFill>
                        </a:rPr>
                        <a:t>IF</a:t>
                      </a:r>
                      <a:r>
                        <a:rPr lang="en-US" altLang="zh-CN" sz="1200" b="0" baseline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 smtClean="0">
                          <a:solidFill>
                            <a:schemeClr val="tx1"/>
                          </a:solidFill>
                        </a:rPr>
                        <a:t>0x15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5" name="表格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6991216"/>
              </p:ext>
            </p:extLst>
          </p:nvPr>
        </p:nvGraphicFramePr>
        <p:xfrm>
          <a:off x="6218692" y="3772323"/>
          <a:ext cx="2525258" cy="54864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863583"/>
                <a:gridCol w="579019"/>
                <a:gridCol w="1082656"/>
              </a:tblGrid>
              <a:tr h="25367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</a:rPr>
                        <a:t>In Label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</a:rPr>
                        <a:t>In IF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</a:rPr>
                        <a:t>Tunnel ID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5367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 smtClean="0">
                          <a:solidFill>
                            <a:schemeClr val="tx1"/>
                          </a:solidFill>
                        </a:rPr>
                        <a:t>IF</a:t>
                      </a:r>
                      <a:r>
                        <a:rPr lang="en-US" altLang="zh-CN" sz="1200" b="0" baseline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 smtClean="0">
                          <a:solidFill>
                            <a:schemeClr val="tx1"/>
                          </a:solidFill>
                        </a:rPr>
                        <a:t>0x22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5" name="文本框 54"/>
          <p:cNvSpPr txBox="1"/>
          <p:nvPr/>
        </p:nvSpPr>
        <p:spPr bwMode="gray">
          <a:xfrm>
            <a:off x="1176365" y="3521998"/>
            <a:ext cx="1003418" cy="316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FIB</a:t>
            </a:r>
            <a:endParaRPr lang="zh-CN" altLang="en-US" sz="1400" b="1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cxnSp>
        <p:nvCxnSpPr>
          <p:cNvPr id="56" name="直接箭头连接符 55"/>
          <p:cNvCxnSpPr/>
          <p:nvPr/>
        </p:nvCxnSpPr>
        <p:spPr bwMode="gray">
          <a:xfrm flipH="1" flipV="1">
            <a:off x="2169975" y="4305883"/>
            <a:ext cx="709563" cy="955298"/>
          </a:xfrm>
          <a:prstGeom prst="straightConnector1">
            <a:avLst/>
          </a:prstGeom>
          <a:ln w="12700">
            <a:solidFill>
              <a:srgbClr val="30B5C5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456615" y="5239227"/>
            <a:ext cx="540000" cy="442800"/>
          </a:xfrm>
          <a:prstGeom prst="rect">
            <a:avLst/>
          </a:prstGeom>
        </p:spPr>
      </p:pic>
      <p:sp>
        <p:nvSpPr>
          <p:cNvPr id="75" name="文本框 74"/>
          <p:cNvSpPr txBox="1"/>
          <p:nvPr/>
        </p:nvSpPr>
        <p:spPr bwMode="gray">
          <a:xfrm>
            <a:off x="3325631" y="3521998"/>
            <a:ext cx="1003418" cy="316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LIM</a:t>
            </a:r>
            <a:endParaRPr lang="zh-CN" altLang="en-US" sz="1400" b="1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cxnSp>
        <p:nvCxnSpPr>
          <p:cNvPr id="76" name="直接箭头连接符 75"/>
          <p:cNvCxnSpPr/>
          <p:nvPr/>
        </p:nvCxnSpPr>
        <p:spPr bwMode="gray">
          <a:xfrm flipH="1" flipV="1">
            <a:off x="4319241" y="4305883"/>
            <a:ext cx="709563" cy="955298"/>
          </a:xfrm>
          <a:prstGeom prst="straightConnector1">
            <a:avLst/>
          </a:prstGeom>
          <a:ln w="12700">
            <a:solidFill>
              <a:srgbClr val="30B5C5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/>
          <p:cNvCxnSpPr/>
          <p:nvPr/>
        </p:nvCxnSpPr>
        <p:spPr bwMode="gray">
          <a:xfrm flipH="1" flipV="1">
            <a:off x="6560477" y="4305883"/>
            <a:ext cx="709563" cy="955298"/>
          </a:xfrm>
          <a:prstGeom prst="straightConnector1">
            <a:avLst/>
          </a:prstGeom>
          <a:ln w="12700">
            <a:solidFill>
              <a:srgbClr val="30B5C5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9" name="表格 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1227553"/>
              </p:ext>
            </p:extLst>
          </p:nvPr>
        </p:nvGraphicFramePr>
        <p:xfrm>
          <a:off x="3408626" y="2192684"/>
          <a:ext cx="4272810" cy="54864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643882"/>
                <a:gridCol w="1036896"/>
                <a:gridCol w="807222"/>
                <a:gridCol w="807222"/>
                <a:gridCol w="977588"/>
              </a:tblGrid>
              <a:tr h="24468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</a:rPr>
                        <a:t>Out IF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</a:rPr>
                        <a:t>Tunnel ID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</a:rPr>
                        <a:t>OPER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</a:rPr>
                        <a:t>NH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</a:rPr>
                        <a:t>Out Label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4468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 smtClean="0">
                          <a:solidFill>
                            <a:schemeClr val="tx1"/>
                          </a:solidFill>
                        </a:rPr>
                        <a:t>IF2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 smtClean="0">
                          <a:solidFill>
                            <a:schemeClr val="tx1"/>
                          </a:solidFill>
                        </a:rPr>
                        <a:t>0x15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 smtClean="0">
                          <a:solidFill>
                            <a:schemeClr val="tx1"/>
                          </a:solidFill>
                        </a:rPr>
                        <a:t>Swap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 smtClean="0">
                          <a:solidFill>
                            <a:schemeClr val="tx1"/>
                          </a:solidFill>
                        </a:rPr>
                        <a:t>2.2.2.2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0" name="表格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4945136"/>
              </p:ext>
            </p:extLst>
          </p:nvPr>
        </p:nvGraphicFramePr>
        <p:xfrm>
          <a:off x="2096004" y="1577906"/>
          <a:ext cx="4342411" cy="54864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654371"/>
                <a:gridCol w="1053786"/>
                <a:gridCol w="820371"/>
                <a:gridCol w="820371"/>
                <a:gridCol w="993512"/>
              </a:tblGrid>
              <a:tr h="24468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</a:rPr>
                        <a:t>Out IF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</a:rPr>
                        <a:t>Tunnel ID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</a:rPr>
                        <a:t>OPER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</a:rPr>
                        <a:t>NH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</a:rPr>
                        <a:t>Out Label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4468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 smtClean="0">
                          <a:solidFill>
                            <a:schemeClr val="tx1"/>
                          </a:solidFill>
                        </a:rPr>
                        <a:t>IF2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 smtClean="0">
                          <a:solidFill>
                            <a:schemeClr val="tx1"/>
                          </a:solidFill>
                        </a:rPr>
                        <a:t>0x11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 smtClean="0">
                          <a:solidFill>
                            <a:schemeClr val="tx1"/>
                          </a:solidFill>
                        </a:rPr>
                        <a:t>Push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 smtClean="0">
                          <a:solidFill>
                            <a:schemeClr val="tx1"/>
                          </a:solidFill>
                        </a:rPr>
                        <a:t>1.1.1.2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2" name="文本框 81"/>
          <p:cNvSpPr txBox="1"/>
          <p:nvPr/>
        </p:nvSpPr>
        <p:spPr bwMode="gray">
          <a:xfrm>
            <a:off x="1305155" y="1272690"/>
            <a:ext cx="1003418" cy="316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NHLFE</a:t>
            </a:r>
            <a:endParaRPr lang="zh-CN" altLang="en-US" sz="1400" b="1" dirty="0" smtClea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cxnSp>
        <p:nvCxnSpPr>
          <p:cNvPr id="83" name="直接箭头连接符 82"/>
          <p:cNvCxnSpPr/>
          <p:nvPr/>
        </p:nvCxnSpPr>
        <p:spPr bwMode="gray">
          <a:xfrm flipH="1" flipV="1">
            <a:off x="2938371" y="2111672"/>
            <a:ext cx="1" cy="1650246"/>
          </a:xfrm>
          <a:prstGeom prst="straightConnector1">
            <a:avLst/>
          </a:prstGeom>
          <a:ln w="12700">
            <a:solidFill>
              <a:srgbClr val="30B5C5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/>
          <p:cNvCxnSpPr/>
          <p:nvPr/>
        </p:nvCxnSpPr>
        <p:spPr bwMode="gray">
          <a:xfrm flipH="1" flipV="1">
            <a:off x="5393995" y="2726450"/>
            <a:ext cx="1" cy="1035468"/>
          </a:xfrm>
          <a:prstGeom prst="straightConnector1">
            <a:avLst/>
          </a:prstGeom>
          <a:ln w="12700">
            <a:solidFill>
              <a:srgbClr val="30B5C5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Oval 4"/>
          <p:cNvSpPr>
            <a:spLocks noChangeAspect="1"/>
          </p:cNvSpPr>
          <p:nvPr/>
        </p:nvSpPr>
        <p:spPr bwMode="gray">
          <a:xfrm>
            <a:off x="2241994" y="4456911"/>
            <a:ext cx="180000" cy="180000"/>
          </a:xfrm>
          <a:prstGeom prst="ellipse">
            <a:avLst/>
          </a:prstGeom>
          <a:solidFill>
            <a:srgbClr val="30B5C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200" b="1" dirty="0">
                <a:solidFill>
                  <a:schemeClr val="bg1"/>
                </a:solidFill>
              </a:rPr>
              <a:t>1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87" name="Oval 4"/>
          <p:cNvSpPr>
            <a:spLocks noChangeAspect="1"/>
          </p:cNvSpPr>
          <p:nvPr/>
        </p:nvSpPr>
        <p:spPr bwMode="gray">
          <a:xfrm>
            <a:off x="2846582" y="2867587"/>
            <a:ext cx="180000" cy="180000"/>
          </a:xfrm>
          <a:prstGeom prst="ellipse">
            <a:avLst/>
          </a:prstGeom>
          <a:solidFill>
            <a:srgbClr val="30B5C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200" b="1" dirty="0">
                <a:solidFill>
                  <a:schemeClr val="bg1"/>
                </a:solidFill>
              </a:rPr>
              <a:t>2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88" name="Oval 4"/>
          <p:cNvSpPr>
            <a:spLocks noChangeAspect="1"/>
          </p:cNvSpPr>
          <p:nvPr/>
        </p:nvSpPr>
        <p:spPr bwMode="gray">
          <a:xfrm>
            <a:off x="2757348" y="4456911"/>
            <a:ext cx="180000" cy="180000"/>
          </a:xfrm>
          <a:prstGeom prst="ellipse">
            <a:avLst/>
          </a:prstGeom>
          <a:solidFill>
            <a:srgbClr val="30B5C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200" b="1" dirty="0">
                <a:solidFill>
                  <a:schemeClr val="bg1"/>
                </a:solidFill>
              </a:rPr>
              <a:t>4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89" name="Oval 4"/>
          <p:cNvSpPr>
            <a:spLocks noChangeAspect="1"/>
          </p:cNvSpPr>
          <p:nvPr/>
        </p:nvSpPr>
        <p:spPr bwMode="gray">
          <a:xfrm>
            <a:off x="4398646" y="4456911"/>
            <a:ext cx="180000" cy="180000"/>
          </a:xfrm>
          <a:prstGeom prst="ellipse">
            <a:avLst/>
          </a:prstGeom>
          <a:solidFill>
            <a:srgbClr val="30B5C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200" b="1" dirty="0">
                <a:solidFill>
                  <a:schemeClr val="bg1"/>
                </a:solidFill>
              </a:rPr>
              <a:t>5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90" name="Oval 4"/>
          <p:cNvSpPr>
            <a:spLocks noChangeAspect="1"/>
          </p:cNvSpPr>
          <p:nvPr/>
        </p:nvSpPr>
        <p:spPr bwMode="gray">
          <a:xfrm>
            <a:off x="5302271" y="2867587"/>
            <a:ext cx="180000" cy="180000"/>
          </a:xfrm>
          <a:prstGeom prst="ellipse">
            <a:avLst/>
          </a:prstGeom>
          <a:solidFill>
            <a:srgbClr val="30B5C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200" b="1" dirty="0">
                <a:solidFill>
                  <a:schemeClr val="bg1"/>
                </a:solidFill>
              </a:rPr>
              <a:t>6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91" name="Oval 4"/>
          <p:cNvSpPr>
            <a:spLocks noChangeAspect="1"/>
          </p:cNvSpPr>
          <p:nvPr/>
        </p:nvSpPr>
        <p:spPr bwMode="gray">
          <a:xfrm>
            <a:off x="4934452" y="4456911"/>
            <a:ext cx="180000" cy="180000"/>
          </a:xfrm>
          <a:prstGeom prst="ellipse">
            <a:avLst/>
          </a:prstGeom>
          <a:solidFill>
            <a:srgbClr val="30B5C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200" b="1" dirty="0">
                <a:solidFill>
                  <a:schemeClr val="bg1"/>
                </a:solidFill>
              </a:rPr>
              <a:t>7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93" name="Oval 4"/>
          <p:cNvSpPr>
            <a:spLocks noChangeAspect="1"/>
          </p:cNvSpPr>
          <p:nvPr/>
        </p:nvSpPr>
        <p:spPr bwMode="gray">
          <a:xfrm>
            <a:off x="6623492" y="4456911"/>
            <a:ext cx="180000" cy="180000"/>
          </a:xfrm>
          <a:prstGeom prst="ellipse">
            <a:avLst/>
          </a:prstGeom>
          <a:solidFill>
            <a:srgbClr val="30B5C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200" b="1" dirty="0">
                <a:solidFill>
                  <a:schemeClr val="bg1"/>
                </a:solidFill>
              </a:rPr>
              <a:t>8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00" name="直接箭头连接符 99"/>
          <p:cNvCxnSpPr/>
          <p:nvPr/>
        </p:nvCxnSpPr>
        <p:spPr bwMode="gray">
          <a:xfrm flipV="1">
            <a:off x="7381453" y="3047587"/>
            <a:ext cx="2075345" cy="495133"/>
          </a:xfrm>
          <a:prstGeom prst="straightConnector1">
            <a:avLst/>
          </a:prstGeom>
          <a:ln w="12700">
            <a:solidFill>
              <a:srgbClr val="30B5C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Oval 4"/>
          <p:cNvSpPr>
            <a:spLocks noChangeAspect="1"/>
          </p:cNvSpPr>
          <p:nvPr/>
        </p:nvSpPr>
        <p:spPr bwMode="gray">
          <a:xfrm>
            <a:off x="8178026" y="3016057"/>
            <a:ext cx="180000" cy="180000"/>
          </a:xfrm>
          <a:prstGeom prst="ellipse">
            <a:avLst/>
          </a:prstGeom>
          <a:solidFill>
            <a:srgbClr val="30B5C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200" b="1" dirty="0">
                <a:solidFill>
                  <a:schemeClr val="bg1"/>
                </a:solidFill>
              </a:rPr>
              <a:t>9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02" name="圆角矩形 101"/>
          <p:cNvSpPr/>
          <p:nvPr/>
        </p:nvSpPr>
        <p:spPr bwMode="gray">
          <a:xfrm>
            <a:off x="9557502" y="2636956"/>
            <a:ext cx="1793074" cy="905764"/>
          </a:xfrm>
          <a:prstGeom prst="roundRect">
            <a:avLst>
              <a:gd name="adj" fmla="val 874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 anchorCtr="0">
            <a:noAutofit/>
          </a:bodyPr>
          <a:lstStyle/>
          <a:p>
            <a:pPr algn="ctr">
              <a:lnSpc>
                <a:spcPts val="2600"/>
              </a:lnSpc>
              <a:spcAft>
                <a:spcPts val="600"/>
              </a:spcAft>
            </a:pPr>
            <a:r>
              <a:rPr lang="zh-CN" altLang="en-US" sz="1600" dirty="0" smtClean="0">
                <a:solidFill>
                  <a:prstClr val="black"/>
                </a:solidFill>
              </a:rPr>
              <a:t>根据内层报文头部进行下一步处理</a:t>
            </a:r>
            <a:endParaRPr lang="zh-CN" altLang="en-US" sz="1600" dirty="0">
              <a:solidFill>
                <a:prstClr val="black"/>
              </a:solidFill>
            </a:endParaRPr>
          </a:p>
        </p:txBody>
      </p:sp>
      <p:sp>
        <p:nvSpPr>
          <p:cNvPr id="68" name="Oval 4"/>
          <p:cNvSpPr>
            <a:spLocks noChangeAspect="1"/>
          </p:cNvSpPr>
          <p:nvPr/>
        </p:nvSpPr>
        <p:spPr bwMode="gray">
          <a:xfrm>
            <a:off x="1808726" y="1775052"/>
            <a:ext cx="180000" cy="180000"/>
          </a:xfrm>
          <a:prstGeom prst="ellipse">
            <a:avLst/>
          </a:prstGeom>
          <a:solidFill>
            <a:srgbClr val="30B5C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200" b="1" dirty="0">
                <a:solidFill>
                  <a:schemeClr val="bg1"/>
                </a:solidFill>
              </a:rPr>
              <a:t>3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78" name="矩形 25"/>
          <p:cNvSpPr/>
          <p:nvPr/>
        </p:nvSpPr>
        <p:spPr bwMode="gray">
          <a:xfrm>
            <a:off x="10536912" y="5551269"/>
            <a:ext cx="121058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 smtClean="0"/>
              <a:t>注：</a:t>
            </a:r>
            <a:endParaRPr lang="en-US" altLang="zh-CN" sz="1200" dirty="0" smtClean="0"/>
          </a:p>
          <a:p>
            <a:r>
              <a:rPr lang="en-US" altLang="zh-CN" sz="1200" dirty="0" smtClean="0"/>
              <a:t>NH=NEXTHOP</a:t>
            </a:r>
          </a:p>
          <a:p>
            <a:r>
              <a:rPr lang="en-US" altLang="zh-CN" sz="1200" dirty="0" smtClean="0"/>
              <a:t>IF=Interface</a:t>
            </a:r>
            <a:endParaRPr lang="zh-CN" altLang="en-US" sz="1200" dirty="0"/>
          </a:p>
        </p:txBody>
      </p:sp>
      <p:sp>
        <p:nvSpPr>
          <p:cNvPr id="85" name="五边形 84"/>
          <p:cNvSpPr/>
          <p:nvPr/>
        </p:nvSpPr>
        <p:spPr bwMode="gray">
          <a:xfrm>
            <a:off x="8501934" y="114300"/>
            <a:ext cx="1152000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基本概念</a:t>
            </a:r>
          </a:p>
        </p:txBody>
      </p:sp>
      <p:sp>
        <p:nvSpPr>
          <p:cNvPr id="92" name="燕尾形 91"/>
          <p:cNvSpPr/>
          <p:nvPr/>
        </p:nvSpPr>
        <p:spPr bwMode="gray">
          <a:xfrm>
            <a:off x="9620717" y="114300"/>
            <a:ext cx="108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LSP</a:t>
            </a:r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建立</a:t>
            </a:r>
          </a:p>
        </p:txBody>
      </p:sp>
      <p:sp>
        <p:nvSpPr>
          <p:cNvPr id="94" name="燕尾形 93"/>
          <p:cNvSpPr/>
          <p:nvPr/>
        </p:nvSpPr>
        <p:spPr bwMode="gray">
          <a:xfrm>
            <a:off x="10667500" y="114300"/>
            <a:ext cx="10800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标签转发</a:t>
            </a:r>
          </a:p>
        </p:txBody>
      </p:sp>
    </p:spTree>
    <p:extLst>
      <p:ext uri="{BB962C8B-B14F-4D97-AF65-F5344CB8AC3E}">
        <p14:creationId xmlns:p14="http://schemas.microsoft.com/office/powerpoint/2010/main" val="3451499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MPLS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基础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MPLS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转发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b="1" dirty="0" smtClean="0">
                <a:sym typeface="Huawei Sans" panose="020C0503030203020204" pitchFamily="34" charset="0"/>
              </a:rPr>
              <a:t>静态</a:t>
            </a:r>
            <a:r>
              <a:rPr lang="en-US" altLang="zh-CN" b="1" dirty="0" smtClean="0">
                <a:sym typeface="Huawei Sans" panose="020C0503030203020204" pitchFamily="34" charset="0"/>
              </a:rPr>
              <a:t>LSP</a:t>
            </a:r>
            <a:r>
              <a:rPr lang="zh-CN" altLang="en-US" b="1" dirty="0" smtClean="0">
                <a:sym typeface="Huawei Sans" panose="020C0503030203020204" pitchFamily="34" charset="0"/>
              </a:rPr>
              <a:t>配置</a:t>
            </a:r>
            <a:endParaRPr lang="en-US" altLang="zh-CN" b="1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4455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>
                <a:sym typeface="Huawei Sans" panose="020C0503030203020204" pitchFamily="34" charset="0"/>
              </a:rPr>
              <a:t>MPLS</a:t>
            </a:r>
            <a:r>
              <a:rPr lang="zh-CN" altLang="en-US" smtClean="0">
                <a:sym typeface="Huawei Sans" panose="020C0503030203020204" pitchFamily="34" charset="0"/>
              </a:rPr>
              <a:t>基本配置命令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grpSp>
        <p:nvGrpSpPr>
          <p:cNvPr id="27" name="组合 26"/>
          <p:cNvGrpSpPr/>
          <p:nvPr/>
        </p:nvGrpSpPr>
        <p:grpSpPr bwMode="gray">
          <a:xfrm>
            <a:off x="486809" y="1365312"/>
            <a:ext cx="11089233" cy="1453350"/>
            <a:chOff x="527529" y="1365312"/>
            <a:chExt cx="11089233" cy="1453350"/>
          </a:xfrm>
        </p:grpSpPr>
        <p:sp>
          <p:nvSpPr>
            <p:cNvPr id="5" name="矩形 4"/>
            <p:cNvSpPr/>
            <p:nvPr/>
          </p:nvSpPr>
          <p:spPr bwMode="gray">
            <a:xfrm>
              <a:off x="1008063" y="1797459"/>
              <a:ext cx="10417179" cy="3385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 fontAlgn="base"/>
              <a:r>
                <a:rPr lang="en-US" altLang="zh-CN" sz="16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[Huawei] </a:t>
              </a:r>
              <a:r>
                <a:rPr lang="en-US" altLang="zh-CN" sz="1600" b="1" dirty="0" err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mpls</a:t>
              </a:r>
              <a:r>
                <a:rPr lang="en-US" altLang="zh-CN" sz="16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</a:t>
              </a:r>
              <a:r>
                <a:rPr lang="en-US" altLang="zh-CN" sz="1600" b="1" dirty="0" err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lsr</a:t>
              </a:r>
              <a:r>
                <a:rPr lang="en-US" altLang="zh-CN" sz="16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-id</a:t>
              </a:r>
              <a:r>
                <a:rPr lang="en-US" altLang="zh-CN" sz="16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 </a:t>
              </a:r>
              <a:r>
                <a:rPr lang="en-US" altLang="zh-CN" sz="1600" i="1" dirty="0" err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lsr</a:t>
              </a:r>
              <a:r>
                <a:rPr lang="en-US" altLang="zh-CN" sz="1600" i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-id</a:t>
              </a:r>
              <a:endParaRPr lang="zh-CN" altLang="en-US" sz="1600" i="1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6" name="矩形 5"/>
            <p:cNvSpPr/>
            <p:nvPr/>
          </p:nvSpPr>
          <p:spPr bwMode="gray">
            <a:xfrm>
              <a:off x="527529" y="1365312"/>
              <a:ext cx="11089232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indent="-342900" fontAlgn="auto">
                <a:buFont typeface="+mj-lt"/>
                <a:buAutoNum type="arabicPeriod"/>
              </a:pPr>
              <a:r>
                <a:rPr lang="zh-CN" altLang="en-US" sz="16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配置</a:t>
              </a:r>
              <a:r>
                <a:rPr lang="en-US" altLang="zh-CN" sz="16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LSR ID</a:t>
              </a:r>
              <a:endPara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7" name="矩形 6"/>
            <p:cNvSpPr/>
            <p:nvPr/>
          </p:nvSpPr>
          <p:spPr bwMode="gray">
            <a:xfrm>
              <a:off x="1008063" y="2139950"/>
              <a:ext cx="10608699" cy="678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>
                <a:lnSpc>
                  <a:spcPts val="2400"/>
                </a:lnSpc>
              </a:pPr>
              <a:r>
                <a:rPr lang="en-US" altLang="zh-CN" sz="1400" b="1" dirty="0" err="1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mpls</a:t>
              </a:r>
              <a:r>
                <a:rPr lang="en-US" altLang="zh-CN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 </a:t>
              </a:r>
              <a:r>
                <a:rPr lang="en-US" altLang="zh-CN" sz="1400" b="1" dirty="0" err="1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lsr</a:t>
              </a:r>
              <a:r>
                <a:rPr lang="en-US" altLang="zh-CN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-id</a:t>
              </a:r>
              <a:r>
                <a: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命令用来配置</a:t>
              </a:r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LSR</a:t>
              </a:r>
              <a:r>
                <a: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的</a:t>
              </a:r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ID</a:t>
              </a:r>
              <a:r>
                <a:rPr lang="zh-CN" altLang="en-US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。</a:t>
              </a:r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LSR ID</a:t>
              </a:r>
              <a:r>
                <a: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用来在网络中唯一标识一个</a:t>
              </a:r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LSR</a:t>
              </a:r>
              <a:r>
                <a: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。</a:t>
              </a:r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LSR</a:t>
              </a:r>
              <a:r>
                <a: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没有缺省的</a:t>
              </a:r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LSR ID</a:t>
              </a:r>
              <a:r>
                <a: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，必须手工配置。为了提高网络的可靠性，推荐使用</a:t>
              </a:r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LSR</a:t>
              </a:r>
              <a:r>
                <a: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某个</a:t>
              </a:r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Loopback</a:t>
              </a:r>
              <a:r>
                <a: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接口的地址作为</a:t>
              </a:r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LSR </a:t>
              </a:r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ID</a:t>
              </a:r>
              <a:r>
                <a:rPr lang="zh-CN" altLang="en-US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并在配置前对网络中所有</a:t>
              </a:r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LSR</a:t>
              </a:r>
              <a:r>
                <a:rPr lang="zh-CN" altLang="en-US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的</a:t>
              </a:r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LSR ID</a:t>
              </a:r>
              <a:r>
                <a:rPr lang="zh-CN" altLang="en-US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进行统一规划。</a:t>
              </a:r>
              <a:endPara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endParaRPr>
            </a:p>
          </p:txBody>
        </p:sp>
      </p:grpSp>
      <p:grpSp>
        <p:nvGrpSpPr>
          <p:cNvPr id="26" name="组合 25"/>
          <p:cNvGrpSpPr/>
          <p:nvPr/>
        </p:nvGrpSpPr>
        <p:grpSpPr bwMode="gray">
          <a:xfrm>
            <a:off x="486809" y="2847836"/>
            <a:ext cx="11089233" cy="1892112"/>
            <a:chOff x="446088" y="2847836"/>
            <a:chExt cx="11089233" cy="1892112"/>
          </a:xfrm>
        </p:grpSpPr>
        <p:sp>
          <p:nvSpPr>
            <p:cNvPr id="21" name="矩形 20"/>
            <p:cNvSpPr/>
            <p:nvPr/>
          </p:nvSpPr>
          <p:spPr bwMode="gray">
            <a:xfrm>
              <a:off x="926622" y="3279983"/>
              <a:ext cx="10417179" cy="3385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 fontAlgn="base"/>
              <a:r>
                <a:rPr lang="en-US" altLang="zh-CN" sz="16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[Huawei] </a:t>
              </a:r>
              <a:r>
                <a:rPr lang="en-US" altLang="zh-CN" sz="1600" b="1" dirty="0" err="1" smtClean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mpls</a:t>
              </a:r>
              <a:endParaRPr lang="zh-CN" altLang="en-US" sz="1600" i="1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22" name="矩形 21"/>
            <p:cNvSpPr/>
            <p:nvPr/>
          </p:nvSpPr>
          <p:spPr bwMode="gray">
            <a:xfrm>
              <a:off x="446088" y="2847836"/>
              <a:ext cx="11089232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indent="-342900" fontAlgn="auto">
                <a:buFont typeface="+mj-lt"/>
                <a:buAutoNum type="arabicPeriod" startAt="2"/>
              </a:pPr>
              <a:r>
                <a:rPr lang="zh-CN" altLang="en-US" sz="16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使</a:t>
              </a:r>
              <a:r>
                <a:rPr lang="zh-CN" altLang="en-US" sz="16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能</a:t>
              </a:r>
              <a:r>
                <a:rPr lang="en-US" altLang="zh-CN" sz="16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MPLS</a:t>
              </a:r>
              <a:endPara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23" name="矩形 22"/>
            <p:cNvSpPr/>
            <p:nvPr/>
          </p:nvSpPr>
          <p:spPr bwMode="gray">
            <a:xfrm>
              <a:off x="926622" y="3622474"/>
              <a:ext cx="10608699" cy="37093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>
                <a:lnSpc>
                  <a:spcPts val="2400"/>
                </a:lnSpc>
              </a:pPr>
              <a:r>
                <a:rPr lang="en-US" altLang="zh-CN" sz="1400" b="1" dirty="0" err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mpls</a:t>
              </a:r>
              <a:r>
                <a: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命令用来使能本节点的全局</a:t>
              </a:r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MPLS</a:t>
              </a:r>
              <a:r>
                <a: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能力，并进入</a:t>
              </a:r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MPLS</a:t>
              </a:r>
              <a:r>
                <a: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视图</a:t>
              </a:r>
              <a:r>
                <a:rPr lang="zh-CN" altLang="en-US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。</a:t>
              </a:r>
              <a:endPara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24" name="矩形 23"/>
            <p:cNvSpPr/>
            <p:nvPr/>
          </p:nvSpPr>
          <p:spPr bwMode="gray">
            <a:xfrm>
              <a:off x="926623" y="4026521"/>
              <a:ext cx="10417178" cy="3385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 fontAlgn="base"/>
              <a:r>
                <a:rPr lang="en-US" altLang="zh-CN" sz="16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[Huawei-GigabitEthernet0/0/0] </a:t>
              </a:r>
              <a:r>
                <a:rPr lang="en-US" altLang="zh-CN" sz="1600" b="1" dirty="0" err="1" smtClean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mpls</a:t>
              </a:r>
              <a:endParaRPr lang="zh-CN" altLang="en-US" sz="1600" b="1" i="1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25" name="矩形 24"/>
            <p:cNvSpPr/>
            <p:nvPr/>
          </p:nvSpPr>
          <p:spPr bwMode="gray">
            <a:xfrm>
              <a:off x="926621" y="4369013"/>
              <a:ext cx="10608699" cy="37093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>
                <a:lnSpc>
                  <a:spcPts val="2400"/>
                </a:lnSpc>
              </a:pPr>
              <a:r>
                <a: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在接口视图下</a:t>
              </a:r>
              <a:r>
                <a:rPr lang="zh-CN" altLang="en-US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，</a:t>
              </a:r>
              <a:r>
                <a:rPr lang="zh-CN" altLang="en-US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使能当前接口的</a:t>
              </a:r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MPLS</a:t>
              </a:r>
              <a:r>
                <a:rPr lang="zh-CN" altLang="en-US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功能。需先使能全局</a:t>
              </a:r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MPLS</a:t>
              </a:r>
              <a:r>
                <a:rPr lang="zh-CN" altLang="en-US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能力后才能执行接口下的</a:t>
              </a:r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MPLS</a:t>
              </a:r>
              <a:r>
                <a:rPr lang="zh-CN" altLang="en-US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使能命令。</a:t>
              </a:r>
              <a:endPara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28572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smtClean="0">
                <a:sym typeface="Huawei Sans" panose="020C0503030203020204" pitchFamily="34" charset="0"/>
              </a:rPr>
              <a:t>静态</a:t>
            </a:r>
            <a:r>
              <a:rPr lang="en-US" altLang="zh-CN" smtClean="0">
                <a:sym typeface="Huawei Sans" panose="020C0503030203020204" pitchFamily="34" charset="0"/>
              </a:rPr>
              <a:t>LSP</a:t>
            </a:r>
            <a:r>
              <a:rPr lang="zh-CN" altLang="en-US" smtClean="0">
                <a:sym typeface="Huawei Sans" panose="020C0503030203020204" pitchFamily="34" charset="0"/>
              </a:rPr>
              <a:t>配置命令 </a:t>
            </a:r>
            <a:r>
              <a:rPr lang="en-US" altLang="zh-CN" smtClean="0">
                <a:sym typeface="Huawei Sans" panose="020C0503030203020204" pitchFamily="34" charset="0"/>
              </a:rPr>
              <a:t>(1)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5" name="矩形 4"/>
          <p:cNvSpPr/>
          <p:nvPr/>
        </p:nvSpPr>
        <p:spPr bwMode="gray">
          <a:xfrm>
            <a:off x="967342" y="1797459"/>
            <a:ext cx="10608698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fontAlgn="base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[Huawei] 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static-</a:t>
            </a:r>
            <a:r>
              <a:rPr lang="en-US" altLang="zh-CN" sz="1600" b="1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ingress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 </a:t>
            </a:r>
            <a:r>
              <a:rPr lang="en-US" altLang="zh-CN" sz="1600" i="1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</a:t>
            </a:r>
            <a:r>
              <a:rPr lang="en-US" altLang="zh-CN" sz="1600" i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-name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 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destination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 </a:t>
            </a:r>
            <a:r>
              <a:rPr lang="en-US" altLang="zh-CN" sz="1600" i="1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en-US" altLang="zh-CN" sz="1600" i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-address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 { </a:t>
            </a:r>
            <a:r>
              <a:rPr lang="en-US" altLang="zh-CN" sz="1600" i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mask-length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 | </a:t>
            </a:r>
            <a:r>
              <a:rPr lang="en-US" altLang="zh-CN" sz="1600" i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mask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 } { </a:t>
            </a:r>
            <a:r>
              <a:rPr lang="en-US" altLang="zh-CN" sz="1600" b="1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nexthop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 </a:t>
            </a:r>
            <a:r>
              <a:rPr lang="en-US" altLang="zh-CN" sz="1600" i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next-hop-address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 | 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outgoing-interface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 </a:t>
            </a:r>
            <a:r>
              <a:rPr lang="en-US" altLang="zh-CN" sz="1600" i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interface-type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 </a:t>
            </a:r>
            <a:r>
              <a:rPr lang="en-US" altLang="zh-CN" sz="1600" i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interface-number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 } </a:t>
            </a:r>
            <a:r>
              <a:rPr lang="en-US" altLang="zh-CN" sz="1600" baseline="300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*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 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out-label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 </a:t>
            </a:r>
            <a:r>
              <a:rPr lang="en-US" altLang="zh-CN" sz="1600" i="1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out-label</a:t>
            </a:r>
            <a:endParaRPr lang="zh-CN" altLang="en-US" sz="1600" i="1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6" name="矩形 5"/>
          <p:cNvSpPr/>
          <p:nvPr/>
        </p:nvSpPr>
        <p:spPr bwMode="gray">
          <a:xfrm>
            <a:off x="486809" y="1365312"/>
            <a:ext cx="110892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buFont typeface="+mj-lt"/>
              <a:buAutoNum type="arabicPeriod"/>
            </a:pP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Ingress LSR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配置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7" name="矩形 6"/>
          <p:cNvSpPr/>
          <p:nvPr/>
        </p:nvSpPr>
        <p:spPr bwMode="gray">
          <a:xfrm>
            <a:off x="967342" y="2424824"/>
            <a:ext cx="10608699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2400"/>
              </a:lnSpc>
            </a:pP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static-</a:t>
            </a:r>
            <a:r>
              <a:rPr lang="en-US" altLang="zh-CN" sz="1400" b="1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ingress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命令用来为入口节点配置静态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fontAlgn="auto">
              <a:lnSpc>
                <a:spcPts val="2400"/>
              </a:lnSpc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推荐采用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指定</a:t>
            </a:r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next-hop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方式配置静态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，确保本地路由表中存在与指定目的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地址精确匹配的路由项，包括目的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地址和下一跳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。如果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出接口为以太网类型，必须配置</a:t>
            </a:r>
            <a:r>
              <a:rPr lang="en-US" altLang="zh-CN" sz="1400" b="1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nexthop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i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next-hop-address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参数以保证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的正常转发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fontAlgn="auto">
              <a:lnSpc>
                <a:spcPts val="2400"/>
              </a:lnSpc>
            </a:pP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out-label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的取值范围为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16~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1048575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fontAlgn="auto">
              <a:lnSpc>
                <a:spcPts val="2400"/>
              </a:lnSpc>
            </a:pP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14" name="矩形 13"/>
          <p:cNvSpPr/>
          <p:nvPr/>
        </p:nvSpPr>
        <p:spPr bwMode="gray">
          <a:xfrm>
            <a:off x="967343" y="4149633"/>
            <a:ext cx="10608698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fontAlgn="base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[Huawei] 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static-</a:t>
            </a:r>
            <a:r>
              <a:rPr lang="en-US" altLang="zh-CN" sz="1600" b="1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transit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 </a:t>
            </a:r>
            <a:r>
              <a:rPr lang="en-US" altLang="zh-CN" sz="1600" i="1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</a:t>
            </a:r>
            <a:r>
              <a:rPr lang="en-US" altLang="zh-CN" sz="1600" i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-name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 [ 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incoming-interface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 </a:t>
            </a:r>
            <a:r>
              <a:rPr lang="en-US" altLang="zh-CN" sz="1600" i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interface-type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 </a:t>
            </a:r>
            <a:r>
              <a:rPr lang="en-US" altLang="zh-CN" sz="1600" i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interface-number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 ] 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in-label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 </a:t>
            </a:r>
            <a:r>
              <a:rPr lang="en-US" altLang="zh-CN" sz="1600" i="1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in-label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 { </a:t>
            </a:r>
            <a:r>
              <a:rPr lang="en-US" altLang="zh-CN" sz="1600" b="1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nexthop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 </a:t>
            </a:r>
            <a:r>
              <a:rPr lang="en-US" altLang="zh-CN" sz="1600" i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next-hop-address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 | 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outgoing-interface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 </a:t>
            </a:r>
            <a:r>
              <a:rPr lang="en-US" altLang="zh-CN" sz="1600" i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interface-type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 </a:t>
            </a:r>
            <a:r>
              <a:rPr lang="en-US" altLang="zh-CN" sz="1600" i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interface-number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 }</a:t>
            </a:r>
            <a:r>
              <a:rPr lang="en-US" altLang="zh-CN" sz="1600" baseline="300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*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 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out-label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 </a:t>
            </a:r>
            <a:r>
              <a:rPr lang="en-US" altLang="zh-CN" sz="1600" i="1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out-label</a:t>
            </a:r>
            <a:endParaRPr lang="zh-CN" altLang="en-US" sz="1600" i="1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15" name="矩形 14"/>
          <p:cNvSpPr/>
          <p:nvPr/>
        </p:nvSpPr>
        <p:spPr bwMode="gray">
          <a:xfrm>
            <a:off x="486809" y="3717486"/>
            <a:ext cx="110892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buFont typeface="+mj-lt"/>
              <a:buAutoNum type="arabicPeriod" startAt="2"/>
            </a:pP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Transit LSR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配置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16" name="矩形 15"/>
          <p:cNvSpPr/>
          <p:nvPr/>
        </p:nvSpPr>
        <p:spPr bwMode="gray">
          <a:xfrm>
            <a:off x="967342" y="4776998"/>
            <a:ext cx="1060869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2400"/>
              </a:lnSpc>
            </a:pP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static-</a:t>
            </a:r>
            <a:r>
              <a:rPr lang="en-US" altLang="zh-CN" sz="1400" b="1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transit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命令用来为中间转发节点配置静态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ts val="2400"/>
              </a:lnSpc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下一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跳和出接口的配置规则和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Ingress LSR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保持一致。</a:t>
            </a:r>
            <a:endParaRPr lang="en-US" altLang="zh-CN" sz="14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ts val="2400"/>
              </a:lnSpc>
            </a:pP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in-label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的取值范围为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16~1023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fontAlgn="auto">
              <a:lnSpc>
                <a:spcPts val="2400"/>
              </a:lnSpc>
            </a:pP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out-label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的取值范围为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16~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1048575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6094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smtClean="0">
                <a:sym typeface="Huawei Sans" panose="020C0503030203020204" pitchFamily="34" charset="0"/>
              </a:rPr>
              <a:t>静态</a:t>
            </a:r>
            <a:r>
              <a:rPr lang="en-US" altLang="zh-CN" smtClean="0">
                <a:sym typeface="Huawei Sans" panose="020C0503030203020204" pitchFamily="34" charset="0"/>
              </a:rPr>
              <a:t>LSP</a:t>
            </a:r>
            <a:r>
              <a:rPr lang="zh-CN" altLang="en-US" smtClean="0">
                <a:sym typeface="Huawei Sans" panose="020C0503030203020204" pitchFamily="34" charset="0"/>
              </a:rPr>
              <a:t>配置命令 </a:t>
            </a:r>
            <a:r>
              <a:rPr lang="en-US" altLang="zh-CN" smtClean="0">
                <a:sym typeface="Huawei Sans" panose="020C0503030203020204" pitchFamily="34" charset="0"/>
              </a:rPr>
              <a:t>(2)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5" name="矩形 4"/>
          <p:cNvSpPr/>
          <p:nvPr/>
        </p:nvSpPr>
        <p:spPr bwMode="gray">
          <a:xfrm>
            <a:off x="967342" y="1797459"/>
            <a:ext cx="10608698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fontAlgn="base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[Huawei] 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static-</a:t>
            </a:r>
            <a:r>
              <a:rPr lang="en-US" altLang="zh-CN" sz="1600" b="1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egress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 </a:t>
            </a:r>
            <a:r>
              <a:rPr lang="en-US" altLang="zh-CN" sz="1600" i="1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</a:t>
            </a:r>
            <a:r>
              <a:rPr lang="en-US" altLang="zh-CN" sz="1600" i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-name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 [ 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incoming-interface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 </a:t>
            </a:r>
            <a:r>
              <a:rPr lang="en-US" altLang="zh-CN" sz="1600" i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interface-type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 </a:t>
            </a:r>
            <a:r>
              <a:rPr lang="en-US" altLang="zh-CN" sz="1600" i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interface-number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 ] 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in-label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 </a:t>
            </a:r>
            <a:r>
              <a:rPr lang="en-US" altLang="zh-CN" sz="1600" i="1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in-label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 </a:t>
            </a:r>
            <a:endParaRPr lang="zh-CN" altLang="en-US" sz="1600" i="1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6" name="矩形 5"/>
          <p:cNvSpPr/>
          <p:nvPr/>
        </p:nvSpPr>
        <p:spPr bwMode="gray">
          <a:xfrm>
            <a:off x="486809" y="1365312"/>
            <a:ext cx="110892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buFont typeface="+mj-lt"/>
              <a:buAutoNum type="arabicPeriod" startAt="3"/>
            </a:pP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Egress LSR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配置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7" name="矩形 6"/>
          <p:cNvSpPr/>
          <p:nvPr/>
        </p:nvSpPr>
        <p:spPr bwMode="gray">
          <a:xfrm>
            <a:off x="813239" y="2124841"/>
            <a:ext cx="106086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2400"/>
              </a:lnSpc>
            </a:pP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static-</a:t>
            </a:r>
            <a:r>
              <a:rPr lang="en-US" altLang="zh-CN" sz="1400" b="1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egress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命令用来在出口节点配置静态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" name="矩形 13"/>
          <p:cNvSpPr/>
          <p:nvPr/>
        </p:nvSpPr>
        <p:spPr bwMode="gray">
          <a:xfrm>
            <a:off x="967343" y="3223803"/>
            <a:ext cx="10608698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fontAlgn="base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[Huawei] 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display </a:t>
            </a:r>
            <a:r>
              <a:rPr lang="en-US" altLang="zh-CN" sz="1600" b="1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static-</a:t>
            </a:r>
            <a:r>
              <a:rPr lang="en-US" altLang="zh-CN" sz="1600" b="1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 [ </a:t>
            </a:r>
            <a:r>
              <a:rPr lang="en-US" altLang="zh-CN" sz="1600" i="1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</a:t>
            </a:r>
            <a:r>
              <a:rPr lang="en-US" altLang="zh-CN" sz="1600" i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-name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 ] [ { 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include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 | 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exclude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 } </a:t>
            </a:r>
            <a:r>
              <a:rPr lang="en-US" altLang="zh-CN" sz="1600" i="1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en-US" altLang="zh-CN" sz="1600" i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-address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 </a:t>
            </a:r>
            <a:r>
              <a:rPr lang="en-US" altLang="zh-CN" sz="1600" i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mask-length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 ] [ 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verbose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 ]</a:t>
            </a:r>
            <a:endParaRPr lang="zh-CN" altLang="en-US" sz="1600" i="1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15" name="矩形 14"/>
          <p:cNvSpPr/>
          <p:nvPr/>
        </p:nvSpPr>
        <p:spPr bwMode="gray">
          <a:xfrm>
            <a:off x="486809" y="2791656"/>
            <a:ext cx="110892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buFont typeface="+mj-lt"/>
              <a:buAutoNum type="arabicPeriod" startAt="4"/>
            </a:pP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查看静态</a:t>
            </a: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LSP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配置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16" name="矩形 15"/>
          <p:cNvSpPr/>
          <p:nvPr/>
        </p:nvSpPr>
        <p:spPr bwMode="gray">
          <a:xfrm>
            <a:off x="967342" y="3562357"/>
            <a:ext cx="10608699" cy="3709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2400"/>
              </a:lnSpc>
            </a:pP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display </a:t>
            </a:r>
            <a:r>
              <a:rPr lang="en-US" altLang="zh-CN" sz="1400" b="1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static-</a:t>
            </a:r>
            <a:r>
              <a:rPr lang="en-US" altLang="zh-CN" sz="1400" b="1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命令用来查看静态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信息。</a:t>
            </a:r>
            <a:endParaRPr lang="en-US" altLang="zh-CN" sz="14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7651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smtClean="0">
                <a:sym typeface="Huawei Sans" panose="020C0503030203020204" pitchFamily="34" charset="0"/>
              </a:rPr>
              <a:t>静态</a:t>
            </a:r>
            <a:r>
              <a:rPr lang="en-US" altLang="zh-CN" smtClean="0">
                <a:sym typeface="Huawei Sans" panose="020C0503030203020204" pitchFamily="34" charset="0"/>
              </a:rPr>
              <a:t>LSP</a:t>
            </a:r>
            <a:r>
              <a:rPr lang="zh-CN" altLang="en-US" smtClean="0">
                <a:sym typeface="Huawei Sans" panose="020C0503030203020204" pitchFamily="34" charset="0"/>
              </a:rPr>
              <a:t>配置案例 </a:t>
            </a:r>
            <a:r>
              <a:rPr lang="en-US" altLang="zh-CN" smtClean="0">
                <a:sym typeface="Huawei Sans" panose="020C0503030203020204" pitchFamily="34" charset="0"/>
              </a:rPr>
              <a:t>(1)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 smtClean="0">
                <a:sym typeface="Huawei Sans" panose="020C0503030203020204" pitchFamily="34" charset="0"/>
              </a:rPr>
              <a:t>案例介绍：</a:t>
            </a:r>
            <a:r>
              <a:rPr lang="en-US" altLang="zh-CN" sz="1800" dirty="0" smtClean="0">
                <a:sym typeface="Huawei Sans" panose="020C0503030203020204" pitchFamily="34" charset="0"/>
              </a:rPr>
              <a:t>R1</a:t>
            </a:r>
            <a:r>
              <a:rPr lang="zh-CN" altLang="en-US" sz="1800" dirty="0" smtClean="0">
                <a:sym typeface="Huawei Sans" panose="020C0503030203020204" pitchFamily="34" charset="0"/>
              </a:rPr>
              <a:t>、</a:t>
            </a:r>
            <a:r>
              <a:rPr lang="en-US" altLang="zh-CN" sz="1800" dirty="0" smtClean="0">
                <a:sym typeface="Huawei Sans" panose="020C0503030203020204" pitchFamily="34" charset="0"/>
              </a:rPr>
              <a:t>R2</a:t>
            </a:r>
            <a:r>
              <a:rPr lang="zh-CN" altLang="en-US" sz="1800" dirty="0" smtClean="0">
                <a:sym typeface="Huawei Sans" panose="020C0503030203020204" pitchFamily="34" charset="0"/>
              </a:rPr>
              <a:t>和</a:t>
            </a:r>
            <a:r>
              <a:rPr lang="en-US" altLang="zh-CN" sz="1800" dirty="0" smtClean="0">
                <a:sym typeface="Huawei Sans" panose="020C0503030203020204" pitchFamily="34" charset="0"/>
              </a:rPr>
              <a:t>R3</a:t>
            </a:r>
            <a:r>
              <a:rPr lang="zh-CN" altLang="en-US" sz="1800" dirty="0" smtClean="0">
                <a:sym typeface="Huawei Sans" panose="020C0503030203020204" pitchFamily="34" charset="0"/>
              </a:rPr>
              <a:t>之间已经部署了</a:t>
            </a:r>
            <a:r>
              <a:rPr lang="en-US" altLang="zh-CN" sz="1800" dirty="0" smtClean="0">
                <a:sym typeface="Huawei Sans" panose="020C0503030203020204" pitchFamily="34" charset="0"/>
              </a:rPr>
              <a:t>IGP</a:t>
            </a:r>
            <a:r>
              <a:rPr lang="zh-CN" altLang="en-US" sz="1800" dirty="0" smtClean="0">
                <a:sym typeface="Huawei Sans" panose="020C0503030203020204" pitchFamily="34" charset="0"/>
              </a:rPr>
              <a:t>协议，故</a:t>
            </a:r>
            <a:r>
              <a:rPr lang="en-US" altLang="zh-CN" sz="1800" dirty="0" smtClean="0">
                <a:sym typeface="Huawei Sans" panose="020C0503030203020204" pitchFamily="34" charset="0"/>
              </a:rPr>
              <a:t>1.1.1.0/24</a:t>
            </a:r>
            <a:r>
              <a:rPr lang="zh-CN" altLang="en-US" sz="1800" dirty="0" smtClean="0">
                <a:sym typeface="Huawei Sans" panose="020C0503030203020204" pitchFamily="34" charset="0"/>
              </a:rPr>
              <a:t>与</a:t>
            </a:r>
            <a:r>
              <a:rPr lang="en-US" altLang="zh-CN" sz="1800" dirty="0" smtClean="0">
                <a:sym typeface="Huawei Sans" panose="020C0503030203020204" pitchFamily="34" charset="0"/>
              </a:rPr>
              <a:t>3.3.3.0/24</a:t>
            </a:r>
            <a:r>
              <a:rPr lang="zh-CN" altLang="en-US" sz="1800" dirty="0" smtClean="0">
                <a:sym typeface="Huawei Sans" panose="020C0503030203020204" pitchFamily="34" charset="0"/>
              </a:rPr>
              <a:t>网络之间已经能够互访。现要求通过配置静态</a:t>
            </a:r>
            <a:r>
              <a:rPr lang="en-US" altLang="zh-CN" sz="1800" dirty="0" smtClean="0">
                <a:sym typeface="Huawei Sans" panose="020C0503030203020204" pitchFamily="34" charset="0"/>
              </a:rPr>
              <a:t>LSP</a:t>
            </a:r>
            <a:r>
              <a:rPr lang="zh-CN" altLang="en-US" sz="1800" dirty="0" smtClean="0">
                <a:sym typeface="Huawei Sans" panose="020C0503030203020204" pitchFamily="34" charset="0"/>
              </a:rPr>
              <a:t>，使得这两个网络之间能基于</a:t>
            </a:r>
            <a:r>
              <a:rPr lang="en-US" altLang="zh-CN" sz="1800" dirty="0" smtClean="0">
                <a:sym typeface="Huawei Sans" panose="020C0503030203020204" pitchFamily="34" charset="0"/>
              </a:rPr>
              <a:t>MPLS</a:t>
            </a:r>
            <a:r>
              <a:rPr lang="zh-CN" altLang="en-US" sz="1800" dirty="0" smtClean="0">
                <a:sym typeface="Huawei Sans" panose="020C0503030203020204" pitchFamily="34" charset="0"/>
              </a:rPr>
              <a:t>进行互访，标签分配如图。</a:t>
            </a:r>
            <a:endParaRPr lang="en-US" altLang="zh-CN" sz="1800" dirty="0" smtClean="0">
              <a:sym typeface="Huawei Sans" panose="020C0503030203020204" pitchFamily="34" charset="0"/>
            </a:endParaRPr>
          </a:p>
          <a:p>
            <a:r>
              <a:rPr lang="zh-CN" altLang="en-US" sz="1800" dirty="0" smtClean="0">
                <a:sym typeface="Huawei Sans" panose="020C0503030203020204" pitchFamily="34" charset="0"/>
              </a:rPr>
              <a:t>配置思路：</a:t>
            </a:r>
            <a:endParaRPr lang="en-US" altLang="zh-CN" sz="1800" dirty="0" smtClean="0">
              <a:sym typeface="Huawei Sans" panose="020C0503030203020204" pitchFamily="34" charset="0"/>
            </a:endParaRPr>
          </a:p>
          <a:p>
            <a:pPr lvl="1"/>
            <a:r>
              <a:rPr lang="zh-CN" altLang="en-US" sz="1600" dirty="0" smtClean="0">
                <a:sym typeface="Huawei Sans" panose="020C0503030203020204" pitchFamily="34" charset="0"/>
              </a:rPr>
              <a:t>在设备和接口上使能</a:t>
            </a:r>
            <a:r>
              <a:rPr lang="en-US" altLang="zh-CN" sz="1600" dirty="0" smtClean="0">
                <a:sym typeface="Huawei Sans" panose="020C0503030203020204" pitchFamily="34" charset="0"/>
              </a:rPr>
              <a:t>MPLS</a:t>
            </a:r>
            <a:r>
              <a:rPr lang="zh-CN" altLang="en-US" sz="1600" dirty="0" smtClean="0">
                <a:sym typeface="Huawei Sans" panose="020C0503030203020204" pitchFamily="34" charset="0"/>
              </a:rPr>
              <a:t>功能。</a:t>
            </a:r>
            <a:endParaRPr lang="en-US" altLang="zh-CN" sz="1600" dirty="0" smtClean="0">
              <a:sym typeface="Huawei Sans" panose="020C0503030203020204" pitchFamily="34" charset="0"/>
            </a:endParaRPr>
          </a:p>
          <a:p>
            <a:pPr lvl="1"/>
            <a:r>
              <a:rPr lang="zh-CN" altLang="en-US" sz="1600" dirty="0" smtClean="0">
                <a:sym typeface="Huawei Sans" panose="020C0503030203020204" pitchFamily="34" charset="0"/>
              </a:rPr>
              <a:t>按照规划配置静态</a:t>
            </a:r>
            <a:r>
              <a:rPr lang="en-US" altLang="zh-CN" sz="1600" dirty="0" smtClean="0">
                <a:sym typeface="Huawei Sans" panose="020C0503030203020204" pitchFamily="34" charset="0"/>
              </a:rPr>
              <a:t>LSP</a:t>
            </a:r>
            <a:r>
              <a:rPr lang="zh-CN" altLang="en-US" sz="1600" dirty="0" smtClean="0">
                <a:sym typeface="Huawei Sans" panose="020C0503030203020204" pitchFamily="34" charset="0"/>
              </a:rPr>
              <a:t>。</a:t>
            </a:r>
            <a:endParaRPr lang="en-US" altLang="zh-CN" sz="1600" dirty="0" smtClean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60" name="Freeform 4"/>
          <p:cNvSpPr>
            <a:spLocks noChangeAspect="1"/>
          </p:cNvSpPr>
          <p:nvPr/>
        </p:nvSpPr>
        <p:spPr bwMode="gray">
          <a:xfrm>
            <a:off x="2536303" y="4068167"/>
            <a:ext cx="1485227" cy="677908"/>
          </a:xfrm>
          <a:custGeom>
            <a:avLst/>
            <a:gdLst>
              <a:gd name="T0" fmla="*/ 2147483647 w 1769"/>
              <a:gd name="T1" fmla="*/ 2147483647 h 2094"/>
              <a:gd name="T2" fmla="*/ 2147483647 w 1769"/>
              <a:gd name="T3" fmla="*/ 2147483647 h 2094"/>
              <a:gd name="T4" fmla="*/ 2147483647 w 1769"/>
              <a:gd name="T5" fmla="*/ 2147483647 h 2094"/>
              <a:gd name="T6" fmla="*/ 2147483647 w 1769"/>
              <a:gd name="T7" fmla="*/ 2147483647 h 2094"/>
              <a:gd name="T8" fmla="*/ 2147483647 w 1769"/>
              <a:gd name="T9" fmla="*/ 2147483647 h 2094"/>
              <a:gd name="T10" fmla="*/ 2147483647 w 1769"/>
              <a:gd name="T11" fmla="*/ 2147483647 h 2094"/>
              <a:gd name="T12" fmla="*/ 2147483647 w 1769"/>
              <a:gd name="T13" fmla="*/ 2147483647 h 2094"/>
              <a:gd name="T14" fmla="*/ 2147483647 w 1769"/>
              <a:gd name="T15" fmla="*/ 2147483647 h 2094"/>
              <a:gd name="T16" fmla="*/ 2147483647 w 1769"/>
              <a:gd name="T17" fmla="*/ 2147483647 h 2094"/>
              <a:gd name="T18" fmla="*/ 2147483647 w 1769"/>
              <a:gd name="T19" fmla="*/ 2147483647 h 2094"/>
              <a:gd name="T20" fmla="*/ 2147483647 w 1769"/>
              <a:gd name="T21" fmla="*/ 2147483647 h 2094"/>
              <a:gd name="T22" fmla="*/ 2147483647 w 1769"/>
              <a:gd name="T23" fmla="*/ 2147483647 h 2094"/>
              <a:gd name="T24" fmla="*/ 2147483647 w 1769"/>
              <a:gd name="T25" fmla="*/ 2147483647 h 2094"/>
              <a:gd name="T26" fmla="*/ 2147483647 w 1769"/>
              <a:gd name="T27" fmla="*/ 2147483647 h 2094"/>
              <a:gd name="T28" fmla="*/ 2147483647 w 1769"/>
              <a:gd name="T29" fmla="*/ 2147483647 h 2094"/>
              <a:gd name="T30" fmla="*/ 2147483647 w 1769"/>
              <a:gd name="T31" fmla="*/ 2147483647 h 2094"/>
              <a:gd name="T32" fmla="*/ 2147483647 w 1769"/>
              <a:gd name="T33" fmla="*/ 0 h 2094"/>
              <a:gd name="T34" fmla="*/ 2147483647 w 1769"/>
              <a:gd name="T35" fmla="*/ 0 h 2094"/>
              <a:gd name="T36" fmla="*/ 2147483647 w 1769"/>
              <a:gd name="T37" fmla="*/ 2147483647 h 2094"/>
              <a:gd name="T38" fmla="*/ 2147483647 w 1769"/>
              <a:gd name="T39" fmla="*/ 2147483647 h 2094"/>
              <a:gd name="T40" fmla="*/ 2147483647 w 1769"/>
              <a:gd name="T41" fmla="*/ 2147483647 h 2094"/>
              <a:gd name="T42" fmla="*/ 2147483647 w 1769"/>
              <a:gd name="T43" fmla="*/ 2147483647 h 2094"/>
              <a:gd name="T44" fmla="*/ 2147483647 w 1769"/>
              <a:gd name="T45" fmla="*/ 2147483647 h 2094"/>
              <a:gd name="T46" fmla="*/ 2147483647 w 1769"/>
              <a:gd name="T47" fmla="*/ 2147483647 h 2094"/>
              <a:gd name="T48" fmla="*/ 0 w 1769"/>
              <a:gd name="T49" fmla="*/ 2147483647 h 2094"/>
              <a:gd name="T50" fmla="*/ 0 w 1769"/>
              <a:gd name="T51" fmla="*/ 2147483647 h 2094"/>
              <a:gd name="T52" fmla="*/ 2147483647 w 1769"/>
              <a:gd name="T53" fmla="*/ 2147483647 h 2094"/>
              <a:gd name="T54" fmla="*/ 2147483647 w 1769"/>
              <a:gd name="T55" fmla="*/ 2147483647 h 2094"/>
              <a:gd name="T56" fmla="*/ 2147483647 w 1769"/>
              <a:gd name="T57" fmla="*/ 2147483647 h 2094"/>
              <a:gd name="T58" fmla="*/ 2147483647 w 1769"/>
              <a:gd name="T59" fmla="*/ 2147483647 h 2094"/>
              <a:gd name="T60" fmla="*/ 2147483647 w 1769"/>
              <a:gd name="T61" fmla="*/ 2147483647 h 2094"/>
              <a:gd name="T62" fmla="*/ 2147483647 w 1769"/>
              <a:gd name="T63" fmla="*/ 2147483647 h 2094"/>
              <a:gd name="T64" fmla="*/ 2147483647 w 1769"/>
              <a:gd name="T65" fmla="*/ 2147483647 h 2094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1769"/>
              <a:gd name="T100" fmla="*/ 0 h 2094"/>
              <a:gd name="T101" fmla="*/ 1769 w 1769"/>
              <a:gd name="T102" fmla="*/ 2094 h 2094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1769" h="2094">
                <a:moveTo>
                  <a:pt x="110" y="2094"/>
                </a:moveTo>
                <a:lnTo>
                  <a:pt x="1658" y="2094"/>
                </a:lnTo>
                <a:lnTo>
                  <a:pt x="1683" y="2091"/>
                </a:lnTo>
                <a:lnTo>
                  <a:pt x="1707" y="2083"/>
                </a:lnTo>
                <a:lnTo>
                  <a:pt x="1727" y="2070"/>
                </a:lnTo>
                <a:lnTo>
                  <a:pt x="1745" y="2053"/>
                </a:lnTo>
                <a:lnTo>
                  <a:pt x="1758" y="2032"/>
                </a:lnTo>
                <a:lnTo>
                  <a:pt x="1766" y="2008"/>
                </a:lnTo>
                <a:lnTo>
                  <a:pt x="1769" y="1983"/>
                </a:lnTo>
                <a:lnTo>
                  <a:pt x="1769" y="110"/>
                </a:lnTo>
                <a:lnTo>
                  <a:pt x="1766" y="87"/>
                </a:lnTo>
                <a:lnTo>
                  <a:pt x="1758" y="63"/>
                </a:lnTo>
                <a:lnTo>
                  <a:pt x="1745" y="42"/>
                </a:lnTo>
                <a:lnTo>
                  <a:pt x="1727" y="25"/>
                </a:lnTo>
                <a:lnTo>
                  <a:pt x="1707" y="12"/>
                </a:lnTo>
                <a:lnTo>
                  <a:pt x="1683" y="3"/>
                </a:lnTo>
                <a:lnTo>
                  <a:pt x="1658" y="0"/>
                </a:lnTo>
                <a:lnTo>
                  <a:pt x="110" y="0"/>
                </a:lnTo>
                <a:lnTo>
                  <a:pt x="87" y="3"/>
                </a:lnTo>
                <a:lnTo>
                  <a:pt x="63" y="12"/>
                </a:lnTo>
                <a:lnTo>
                  <a:pt x="43" y="25"/>
                </a:lnTo>
                <a:lnTo>
                  <a:pt x="25" y="42"/>
                </a:lnTo>
                <a:lnTo>
                  <a:pt x="12" y="63"/>
                </a:lnTo>
                <a:lnTo>
                  <a:pt x="3" y="87"/>
                </a:lnTo>
                <a:lnTo>
                  <a:pt x="0" y="110"/>
                </a:lnTo>
                <a:lnTo>
                  <a:pt x="0" y="1983"/>
                </a:lnTo>
                <a:lnTo>
                  <a:pt x="3" y="2008"/>
                </a:lnTo>
                <a:lnTo>
                  <a:pt x="12" y="2032"/>
                </a:lnTo>
                <a:lnTo>
                  <a:pt x="25" y="2053"/>
                </a:lnTo>
                <a:lnTo>
                  <a:pt x="43" y="2070"/>
                </a:lnTo>
                <a:lnTo>
                  <a:pt x="63" y="2083"/>
                </a:lnTo>
                <a:lnTo>
                  <a:pt x="87" y="2091"/>
                </a:lnTo>
                <a:lnTo>
                  <a:pt x="110" y="2094"/>
                </a:lnTo>
                <a:close/>
              </a:path>
            </a:pathLst>
          </a:custGeom>
          <a:solidFill>
            <a:srgbClr val="CCCCCC">
              <a:alpha val="39999"/>
            </a:srgbClr>
          </a:solidFill>
          <a:ln w="12700" cap="flat" cmpd="sng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FEC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3.3.3.0/24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Out 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Label=200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 Label=Null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2" name="Freeform 4"/>
          <p:cNvSpPr>
            <a:spLocks noChangeAspect="1"/>
          </p:cNvSpPr>
          <p:nvPr/>
        </p:nvSpPr>
        <p:spPr bwMode="gray">
          <a:xfrm>
            <a:off x="5124770" y="4068167"/>
            <a:ext cx="1485227" cy="677908"/>
          </a:xfrm>
          <a:custGeom>
            <a:avLst/>
            <a:gdLst>
              <a:gd name="T0" fmla="*/ 2147483647 w 1769"/>
              <a:gd name="T1" fmla="*/ 2147483647 h 2094"/>
              <a:gd name="T2" fmla="*/ 2147483647 w 1769"/>
              <a:gd name="T3" fmla="*/ 2147483647 h 2094"/>
              <a:gd name="T4" fmla="*/ 2147483647 w 1769"/>
              <a:gd name="T5" fmla="*/ 2147483647 h 2094"/>
              <a:gd name="T6" fmla="*/ 2147483647 w 1769"/>
              <a:gd name="T7" fmla="*/ 2147483647 h 2094"/>
              <a:gd name="T8" fmla="*/ 2147483647 w 1769"/>
              <a:gd name="T9" fmla="*/ 2147483647 h 2094"/>
              <a:gd name="T10" fmla="*/ 2147483647 w 1769"/>
              <a:gd name="T11" fmla="*/ 2147483647 h 2094"/>
              <a:gd name="T12" fmla="*/ 2147483647 w 1769"/>
              <a:gd name="T13" fmla="*/ 2147483647 h 2094"/>
              <a:gd name="T14" fmla="*/ 2147483647 w 1769"/>
              <a:gd name="T15" fmla="*/ 2147483647 h 2094"/>
              <a:gd name="T16" fmla="*/ 2147483647 w 1769"/>
              <a:gd name="T17" fmla="*/ 2147483647 h 2094"/>
              <a:gd name="T18" fmla="*/ 2147483647 w 1769"/>
              <a:gd name="T19" fmla="*/ 2147483647 h 2094"/>
              <a:gd name="T20" fmla="*/ 2147483647 w 1769"/>
              <a:gd name="T21" fmla="*/ 2147483647 h 2094"/>
              <a:gd name="T22" fmla="*/ 2147483647 w 1769"/>
              <a:gd name="T23" fmla="*/ 2147483647 h 2094"/>
              <a:gd name="T24" fmla="*/ 2147483647 w 1769"/>
              <a:gd name="T25" fmla="*/ 2147483647 h 2094"/>
              <a:gd name="T26" fmla="*/ 2147483647 w 1769"/>
              <a:gd name="T27" fmla="*/ 2147483647 h 2094"/>
              <a:gd name="T28" fmla="*/ 2147483647 w 1769"/>
              <a:gd name="T29" fmla="*/ 2147483647 h 2094"/>
              <a:gd name="T30" fmla="*/ 2147483647 w 1769"/>
              <a:gd name="T31" fmla="*/ 2147483647 h 2094"/>
              <a:gd name="T32" fmla="*/ 2147483647 w 1769"/>
              <a:gd name="T33" fmla="*/ 0 h 2094"/>
              <a:gd name="T34" fmla="*/ 2147483647 w 1769"/>
              <a:gd name="T35" fmla="*/ 0 h 2094"/>
              <a:gd name="T36" fmla="*/ 2147483647 w 1769"/>
              <a:gd name="T37" fmla="*/ 2147483647 h 2094"/>
              <a:gd name="T38" fmla="*/ 2147483647 w 1769"/>
              <a:gd name="T39" fmla="*/ 2147483647 h 2094"/>
              <a:gd name="T40" fmla="*/ 2147483647 w 1769"/>
              <a:gd name="T41" fmla="*/ 2147483647 h 2094"/>
              <a:gd name="T42" fmla="*/ 2147483647 w 1769"/>
              <a:gd name="T43" fmla="*/ 2147483647 h 2094"/>
              <a:gd name="T44" fmla="*/ 2147483647 w 1769"/>
              <a:gd name="T45" fmla="*/ 2147483647 h 2094"/>
              <a:gd name="T46" fmla="*/ 2147483647 w 1769"/>
              <a:gd name="T47" fmla="*/ 2147483647 h 2094"/>
              <a:gd name="T48" fmla="*/ 0 w 1769"/>
              <a:gd name="T49" fmla="*/ 2147483647 h 2094"/>
              <a:gd name="T50" fmla="*/ 0 w 1769"/>
              <a:gd name="T51" fmla="*/ 2147483647 h 2094"/>
              <a:gd name="T52" fmla="*/ 2147483647 w 1769"/>
              <a:gd name="T53" fmla="*/ 2147483647 h 2094"/>
              <a:gd name="T54" fmla="*/ 2147483647 w 1769"/>
              <a:gd name="T55" fmla="*/ 2147483647 h 2094"/>
              <a:gd name="T56" fmla="*/ 2147483647 w 1769"/>
              <a:gd name="T57" fmla="*/ 2147483647 h 2094"/>
              <a:gd name="T58" fmla="*/ 2147483647 w 1769"/>
              <a:gd name="T59" fmla="*/ 2147483647 h 2094"/>
              <a:gd name="T60" fmla="*/ 2147483647 w 1769"/>
              <a:gd name="T61" fmla="*/ 2147483647 h 2094"/>
              <a:gd name="T62" fmla="*/ 2147483647 w 1769"/>
              <a:gd name="T63" fmla="*/ 2147483647 h 2094"/>
              <a:gd name="T64" fmla="*/ 2147483647 w 1769"/>
              <a:gd name="T65" fmla="*/ 2147483647 h 2094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1769"/>
              <a:gd name="T100" fmla="*/ 0 h 2094"/>
              <a:gd name="T101" fmla="*/ 1769 w 1769"/>
              <a:gd name="T102" fmla="*/ 2094 h 2094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1769" h="2094">
                <a:moveTo>
                  <a:pt x="110" y="2094"/>
                </a:moveTo>
                <a:lnTo>
                  <a:pt x="1658" y="2094"/>
                </a:lnTo>
                <a:lnTo>
                  <a:pt x="1683" y="2091"/>
                </a:lnTo>
                <a:lnTo>
                  <a:pt x="1707" y="2083"/>
                </a:lnTo>
                <a:lnTo>
                  <a:pt x="1727" y="2070"/>
                </a:lnTo>
                <a:lnTo>
                  <a:pt x="1745" y="2053"/>
                </a:lnTo>
                <a:lnTo>
                  <a:pt x="1758" y="2032"/>
                </a:lnTo>
                <a:lnTo>
                  <a:pt x="1766" y="2008"/>
                </a:lnTo>
                <a:lnTo>
                  <a:pt x="1769" y="1983"/>
                </a:lnTo>
                <a:lnTo>
                  <a:pt x="1769" y="110"/>
                </a:lnTo>
                <a:lnTo>
                  <a:pt x="1766" y="87"/>
                </a:lnTo>
                <a:lnTo>
                  <a:pt x="1758" y="63"/>
                </a:lnTo>
                <a:lnTo>
                  <a:pt x="1745" y="42"/>
                </a:lnTo>
                <a:lnTo>
                  <a:pt x="1727" y="25"/>
                </a:lnTo>
                <a:lnTo>
                  <a:pt x="1707" y="12"/>
                </a:lnTo>
                <a:lnTo>
                  <a:pt x="1683" y="3"/>
                </a:lnTo>
                <a:lnTo>
                  <a:pt x="1658" y="0"/>
                </a:lnTo>
                <a:lnTo>
                  <a:pt x="110" y="0"/>
                </a:lnTo>
                <a:lnTo>
                  <a:pt x="87" y="3"/>
                </a:lnTo>
                <a:lnTo>
                  <a:pt x="63" y="12"/>
                </a:lnTo>
                <a:lnTo>
                  <a:pt x="43" y="25"/>
                </a:lnTo>
                <a:lnTo>
                  <a:pt x="25" y="42"/>
                </a:lnTo>
                <a:lnTo>
                  <a:pt x="12" y="63"/>
                </a:lnTo>
                <a:lnTo>
                  <a:pt x="3" y="87"/>
                </a:lnTo>
                <a:lnTo>
                  <a:pt x="0" y="110"/>
                </a:lnTo>
                <a:lnTo>
                  <a:pt x="0" y="1983"/>
                </a:lnTo>
                <a:lnTo>
                  <a:pt x="3" y="2008"/>
                </a:lnTo>
                <a:lnTo>
                  <a:pt x="12" y="2032"/>
                </a:lnTo>
                <a:lnTo>
                  <a:pt x="25" y="2053"/>
                </a:lnTo>
                <a:lnTo>
                  <a:pt x="43" y="2070"/>
                </a:lnTo>
                <a:lnTo>
                  <a:pt x="63" y="2083"/>
                </a:lnTo>
                <a:lnTo>
                  <a:pt x="87" y="2091"/>
                </a:lnTo>
                <a:lnTo>
                  <a:pt x="110" y="2094"/>
                </a:lnTo>
                <a:close/>
              </a:path>
            </a:pathLst>
          </a:custGeom>
          <a:solidFill>
            <a:srgbClr val="CCCCCC">
              <a:alpha val="39999"/>
            </a:srgbClr>
          </a:solidFill>
          <a:ln w="12700" cap="flat" cmpd="sng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FEC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3.3.3.0/24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Out Label=300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 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Label=200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3" name="Freeform 4"/>
          <p:cNvSpPr>
            <a:spLocks noChangeAspect="1"/>
          </p:cNvSpPr>
          <p:nvPr/>
        </p:nvSpPr>
        <p:spPr bwMode="gray">
          <a:xfrm>
            <a:off x="7816081" y="4068167"/>
            <a:ext cx="1485227" cy="677908"/>
          </a:xfrm>
          <a:custGeom>
            <a:avLst/>
            <a:gdLst>
              <a:gd name="T0" fmla="*/ 2147483647 w 1769"/>
              <a:gd name="T1" fmla="*/ 2147483647 h 2094"/>
              <a:gd name="T2" fmla="*/ 2147483647 w 1769"/>
              <a:gd name="T3" fmla="*/ 2147483647 h 2094"/>
              <a:gd name="T4" fmla="*/ 2147483647 w 1769"/>
              <a:gd name="T5" fmla="*/ 2147483647 h 2094"/>
              <a:gd name="T6" fmla="*/ 2147483647 w 1769"/>
              <a:gd name="T7" fmla="*/ 2147483647 h 2094"/>
              <a:gd name="T8" fmla="*/ 2147483647 w 1769"/>
              <a:gd name="T9" fmla="*/ 2147483647 h 2094"/>
              <a:gd name="T10" fmla="*/ 2147483647 w 1769"/>
              <a:gd name="T11" fmla="*/ 2147483647 h 2094"/>
              <a:gd name="T12" fmla="*/ 2147483647 w 1769"/>
              <a:gd name="T13" fmla="*/ 2147483647 h 2094"/>
              <a:gd name="T14" fmla="*/ 2147483647 w 1769"/>
              <a:gd name="T15" fmla="*/ 2147483647 h 2094"/>
              <a:gd name="T16" fmla="*/ 2147483647 w 1769"/>
              <a:gd name="T17" fmla="*/ 2147483647 h 2094"/>
              <a:gd name="T18" fmla="*/ 2147483647 w 1769"/>
              <a:gd name="T19" fmla="*/ 2147483647 h 2094"/>
              <a:gd name="T20" fmla="*/ 2147483647 w 1769"/>
              <a:gd name="T21" fmla="*/ 2147483647 h 2094"/>
              <a:gd name="T22" fmla="*/ 2147483647 w 1769"/>
              <a:gd name="T23" fmla="*/ 2147483647 h 2094"/>
              <a:gd name="T24" fmla="*/ 2147483647 w 1769"/>
              <a:gd name="T25" fmla="*/ 2147483647 h 2094"/>
              <a:gd name="T26" fmla="*/ 2147483647 w 1769"/>
              <a:gd name="T27" fmla="*/ 2147483647 h 2094"/>
              <a:gd name="T28" fmla="*/ 2147483647 w 1769"/>
              <a:gd name="T29" fmla="*/ 2147483647 h 2094"/>
              <a:gd name="T30" fmla="*/ 2147483647 w 1769"/>
              <a:gd name="T31" fmla="*/ 2147483647 h 2094"/>
              <a:gd name="T32" fmla="*/ 2147483647 w 1769"/>
              <a:gd name="T33" fmla="*/ 0 h 2094"/>
              <a:gd name="T34" fmla="*/ 2147483647 w 1769"/>
              <a:gd name="T35" fmla="*/ 0 h 2094"/>
              <a:gd name="T36" fmla="*/ 2147483647 w 1769"/>
              <a:gd name="T37" fmla="*/ 2147483647 h 2094"/>
              <a:gd name="T38" fmla="*/ 2147483647 w 1769"/>
              <a:gd name="T39" fmla="*/ 2147483647 h 2094"/>
              <a:gd name="T40" fmla="*/ 2147483647 w 1769"/>
              <a:gd name="T41" fmla="*/ 2147483647 h 2094"/>
              <a:gd name="T42" fmla="*/ 2147483647 w 1769"/>
              <a:gd name="T43" fmla="*/ 2147483647 h 2094"/>
              <a:gd name="T44" fmla="*/ 2147483647 w 1769"/>
              <a:gd name="T45" fmla="*/ 2147483647 h 2094"/>
              <a:gd name="T46" fmla="*/ 2147483647 w 1769"/>
              <a:gd name="T47" fmla="*/ 2147483647 h 2094"/>
              <a:gd name="T48" fmla="*/ 0 w 1769"/>
              <a:gd name="T49" fmla="*/ 2147483647 h 2094"/>
              <a:gd name="T50" fmla="*/ 0 w 1769"/>
              <a:gd name="T51" fmla="*/ 2147483647 h 2094"/>
              <a:gd name="T52" fmla="*/ 2147483647 w 1769"/>
              <a:gd name="T53" fmla="*/ 2147483647 h 2094"/>
              <a:gd name="T54" fmla="*/ 2147483647 w 1769"/>
              <a:gd name="T55" fmla="*/ 2147483647 h 2094"/>
              <a:gd name="T56" fmla="*/ 2147483647 w 1769"/>
              <a:gd name="T57" fmla="*/ 2147483647 h 2094"/>
              <a:gd name="T58" fmla="*/ 2147483647 w 1769"/>
              <a:gd name="T59" fmla="*/ 2147483647 h 2094"/>
              <a:gd name="T60" fmla="*/ 2147483647 w 1769"/>
              <a:gd name="T61" fmla="*/ 2147483647 h 2094"/>
              <a:gd name="T62" fmla="*/ 2147483647 w 1769"/>
              <a:gd name="T63" fmla="*/ 2147483647 h 2094"/>
              <a:gd name="T64" fmla="*/ 2147483647 w 1769"/>
              <a:gd name="T65" fmla="*/ 2147483647 h 2094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1769"/>
              <a:gd name="T100" fmla="*/ 0 h 2094"/>
              <a:gd name="T101" fmla="*/ 1769 w 1769"/>
              <a:gd name="T102" fmla="*/ 2094 h 2094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1769" h="2094">
                <a:moveTo>
                  <a:pt x="110" y="2094"/>
                </a:moveTo>
                <a:lnTo>
                  <a:pt x="1658" y="2094"/>
                </a:lnTo>
                <a:lnTo>
                  <a:pt x="1683" y="2091"/>
                </a:lnTo>
                <a:lnTo>
                  <a:pt x="1707" y="2083"/>
                </a:lnTo>
                <a:lnTo>
                  <a:pt x="1727" y="2070"/>
                </a:lnTo>
                <a:lnTo>
                  <a:pt x="1745" y="2053"/>
                </a:lnTo>
                <a:lnTo>
                  <a:pt x="1758" y="2032"/>
                </a:lnTo>
                <a:lnTo>
                  <a:pt x="1766" y="2008"/>
                </a:lnTo>
                <a:lnTo>
                  <a:pt x="1769" y="1983"/>
                </a:lnTo>
                <a:lnTo>
                  <a:pt x="1769" y="110"/>
                </a:lnTo>
                <a:lnTo>
                  <a:pt x="1766" y="87"/>
                </a:lnTo>
                <a:lnTo>
                  <a:pt x="1758" y="63"/>
                </a:lnTo>
                <a:lnTo>
                  <a:pt x="1745" y="42"/>
                </a:lnTo>
                <a:lnTo>
                  <a:pt x="1727" y="25"/>
                </a:lnTo>
                <a:lnTo>
                  <a:pt x="1707" y="12"/>
                </a:lnTo>
                <a:lnTo>
                  <a:pt x="1683" y="3"/>
                </a:lnTo>
                <a:lnTo>
                  <a:pt x="1658" y="0"/>
                </a:lnTo>
                <a:lnTo>
                  <a:pt x="110" y="0"/>
                </a:lnTo>
                <a:lnTo>
                  <a:pt x="87" y="3"/>
                </a:lnTo>
                <a:lnTo>
                  <a:pt x="63" y="12"/>
                </a:lnTo>
                <a:lnTo>
                  <a:pt x="43" y="25"/>
                </a:lnTo>
                <a:lnTo>
                  <a:pt x="25" y="42"/>
                </a:lnTo>
                <a:lnTo>
                  <a:pt x="12" y="63"/>
                </a:lnTo>
                <a:lnTo>
                  <a:pt x="3" y="87"/>
                </a:lnTo>
                <a:lnTo>
                  <a:pt x="0" y="110"/>
                </a:lnTo>
                <a:lnTo>
                  <a:pt x="0" y="1983"/>
                </a:lnTo>
                <a:lnTo>
                  <a:pt x="3" y="2008"/>
                </a:lnTo>
                <a:lnTo>
                  <a:pt x="12" y="2032"/>
                </a:lnTo>
                <a:lnTo>
                  <a:pt x="25" y="2053"/>
                </a:lnTo>
                <a:lnTo>
                  <a:pt x="43" y="2070"/>
                </a:lnTo>
                <a:lnTo>
                  <a:pt x="63" y="2083"/>
                </a:lnTo>
                <a:lnTo>
                  <a:pt x="87" y="2091"/>
                </a:lnTo>
                <a:lnTo>
                  <a:pt x="110" y="2094"/>
                </a:lnTo>
                <a:close/>
              </a:path>
            </a:pathLst>
          </a:custGeom>
          <a:solidFill>
            <a:srgbClr val="CCCCCC">
              <a:alpha val="39999"/>
            </a:srgbClr>
          </a:solidFill>
          <a:ln w="12700" cap="flat" cmpd="sng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FEC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3.3.3.0/24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Out 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Label=Null</a:t>
            </a:r>
          </a:p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 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Label=300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4" name="Rounded Rectangle 36"/>
          <p:cNvSpPr/>
          <p:nvPr/>
        </p:nvSpPr>
        <p:spPr bwMode="gray">
          <a:xfrm>
            <a:off x="2924650" y="4887210"/>
            <a:ext cx="5979319" cy="954186"/>
          </a:xfrm>
          <a:prstGeom prst="roundRect">
            <a:avLst>
              <a:gd name="adj" fmla="val 5020"/>
            </a:avLst>
          </a:prstGeom>
          <a:solidFill>
            <a:srgbClr val="BEE9EE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kern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65" name="直接连接符 64"/>
          <p:cNvCxnSpPr/>
          <p:nvPr/>
        </p:nvCxnSpPr>
        <p:spPr bwMode="gray">
          <a:xfrm>
            <a:off x="8627778" y="5363034"/>
            <a:ext cx="104136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 bwMode="gray">
          <a:xfrm rot="5400000">
            <a:off x="2601669" y="4976619"/>
            <a:ext cx="0" cy="89087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4"/>
          <p:cNvCxnSpPr/>
          <p:nvPr/>
        </p:nvCxnSpPr>
        <p:spPr bwMode="gray">
          <a:xfrm>
            <a:off x="3246866" y="5356540"/>
            <a:ext cx="5350280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48"/>
          <p:cNvSpPr txBox="1"/>
          <p:nvPr/>
        </p:nvSpPr>
        <p:spPr bwMode="gray">
          <a:xfrm>
            <a:off x="5664443" y="5528347"/>
            <a:ext cx="405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73" name="图片 72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597383" y="5152421"/>
            <a:ext cx="540000" cy="442800"/>
          </a:xfrm>
          <a:prstGeom prst="rect">
            <a:avLst/>
          </a:prstGeom>
        </p:spPr>
      </p:pic>
      <p:pic>
        <p:nvPicPr>
          <p:cNvPr id="77" name="图片 76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974626" y="5152421"/>
            <a:ext cx="540000" cy="442800"/>
          </a:xfrm>
          <a:prstGeom prst="rect">
            <a:avLst/>
          </a:prstGeom>
        </p:spPr>
      </p:pic>
      <p:sp>
        <p:nvSpPr>
          <p:cNvPr id="78" name="TextBox 43"/>
          <p:cNvSpPr txBox="1"/>
          <p:nvPr/>
        </p:nvSpPr>
        <p:spPr bwMode="gray">
          <a:xfrm>
            <a:off x="3067027" y="5528347"/>
            <a:ext cx="405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80" name="图片 79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260648" y="5152421"/>
            <a:ext cx="540000" cy="442800"/>
          </a:xfrm>
          <a:prstGeom prst="rect">
            <a:avLst/>
          </a:prstGeom>
        </p:spPr>
      </p:pic>
      <p:sp>
        <p:nvSpPr>
          <p:cNvPr id="81" name="TextBox 43"/>
          <p:cNvSpPr txBox="1"/>
          <p:nvPr/>
        </p:nvSpPr>
        <p:spPr bwMode="gray">
          <a:xfrm>
            <a:off x="8344792" y="5528347"/>
            <a:ext cx="405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2" name="Rectangle 67"/>
          <p:cNvSpPr/>
          <p:nvPr/>
        </p:nvSpPr>
        <p:spPr bwMode="gray">
          <a:xfrm>
            <a:off x="3898201" y="5513497"/>
            <a:ext cx="134043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 Domain</a:t>
            </a:r>
          </a:p>
        </p:txBody>
      </p:sp>
      <p:sp>
        <p:nvSpPr>
          <p:cNvPr id="84" name="Freeform 159"/>
          <p:cNvSpPr>
            <a:spLocks noChangeAspect="1"/>
          </p:cNvSpPr>
          <p:nvPr/>
        </p:nvSpPr>
        <p:spPr bwMode="gray">
          <a:xfrm flipH="1">
            <a:off x="1160137" y="4907045"/>
            <a:ext cx="1377387" cy="720000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5" name="文本框 84"/>
          <p:cNvSpPr txBox="1"/>
          <p:nvPr/>
        </p:nvSpPr>
        <p:spPr bwMode="gray">
          <a:xfrm>
            <a:off x="1356548" y="5034970"/>
            <a:ext cx="98456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网络</a:t>
            </a:r>
            <a:endParaRPr lang="en-US" altLang="zh-CN" sz="16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1.1.1.0/24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86" name="直接连接符 55"/>
          <p:cNvCxnSpPr/>
          <p:nvPr/>
        </p:nvCxnSpPr>
        <p:spPr bwMode="gray">
          <a:xfrm flipV="1">
            <a:off x="3202648" y="6103548"/>
            <a:ext cx="5394500" cy="1"/>
          </a:xfrm>
          <a:prstGeom prst="line">
            <a:avLst/>
          </a:prstGeom>
          <a:ln w="38100">
            <a:solidFill>
              <a:srgbClr val="30B5C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Freeform 159"/>
          <p:cNvSpPr>
            <a:spLocks noChangeAspect="1"/>
          </p:cNvSpPr>
          <p:nvPr/>
        </p:nvSpPr>
        <p:spPr bwMode="gray">
          <a:xfrm flipH="1">
            <a:off x="9458681" y="4919377"/>
            <a:ext cx="1377387" cy="720000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0" name="文本框 89"/>
          <p:cNvSpPr txBox="1"/>
          <p:nvPr/>
        </p:nvSpPr>
        <p:spPr bwMode="gray">
          <a:xfrm>
            <a:off x="9655092" y="5047302"/>
            <a:ext cx="98456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网络</a:t>
            </a:r>
            <a:endParaRPr lang="en-US" altLang="zh-CN" sz="16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3.3.3.0/24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 bwMode="gray">
          <a:xfrm>
            <a:off x="5366360" y="5841396"/>
            <a:ext cx="10020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smtClean="0"/>
              <a:t>LSP</a:t>
            </a:r>
            <a:endParaRPr lang="zh-CN" altLang="en-US" sz="1400" dirty="0" smtClean="0"/>
          </a:p>
        </p:txBody>
      </p:sp>
      <p:sp>
        <p:nvSpPr>
          <p:cNvPr id="8" name="文本框 7"/>
          <p:cNvSpPr txBox="1"/>
          <p:nvPr/>
        </p:nvSpPr>
        <p:spPr bwMode="gray">
          <a:xfrm>
            <a:off x="3473998" y="4945327"/>
            <a:ext cx="10422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smtClean="0"/>
              <a:t>GE0/0/0</a:t>
            </a:r>
          </a:p>
          <a:p>
            <a:r>
              <a:rPr lang="en-US" altLang="zh-CN" sz="1200" dirty="0" smtClean="0"/>
              <a:t>10.0.12.1/24</a:t>
            </a:r>
            <a:endParaRPr lang="zh-CN" altLang="en-US" sz="1200" dirty="0" smtClean="0"/>
          </a:p>
        </p:txBody>
      </p:sp>
      <p:sp>
        <p:nvSpPr>
          <p:cNvPr id="97" name="文本框 96"/>
          <p:cNvSpPr txBox="1"/>
          <p:nvPr/>
        </p:nvSpPr>
        <p:spPr bwMode="gray">
          <a:xfrm>
            <a:off x="4630730" y="4939563"/>
            <a:ext cx="10422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200" dirty="0" smtClean="0"/>
              <a:t>GE0/0/0</a:t>
            </a:r>
          </a:p>
          <a:p>
            <a:pPr algn="r"/>
            <a:r>
              <a:rPr lang="en-US" altLang="zh-CN" sz="1200" dirty="0" smtClean="0"/>
              <a:t>10.0.12.2/24</a:t>
            </a:r>
            <a:endParaRPr lang="zh-CN" altLang="en-US" sz="1200" dirty="0" smtClean="0"/>
          </a:p>
        </p:txBody>
      </p:sp>
      <p:sp>
        <p:nvSpPr>
          <p:cNvPr id="98" name="文本框 97"/>
          <p:cNvSpPr txBox="1"/>
          <p:nvPr/>
        </p:nvSpPr>
        <p:spPr bwMode="gray">
          <a:xfrm>
            <a:off x="6052745" y="4955408"/>
            <a:ext cx="10422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smtClean="0"/>
              <a:t>GE0/0/1</a:t>
            </a:r>
          </a:p>
          <a:p>
            <a:r>
              <a:rPr lang="en-US" altLang="zh-CN" sz="1200" dirty="0" smtClean="0"/>
              <a:t>10.0.23.2/24</a:t>
            </a:r>
            <a:endParaRPr lang="zh-CN" altLang="en-US" sz="1200" dirty="0" smtClean="0"/>
          </a:p>
        </p:txBody>
      </p:sp>
      <p:sp>
        <p:nvSpPr>
          <p:cNvPr id="99" name="文本框 98"/>
          <p:cNvSpPr txBox="1"/>
          <p:nvPr/>
        </p:nvSpPr>
        <p:spPr bwMode="gray">
          <a:xfrm>
            <a:off x="7288899" y="4936038"/>
            <a:ext cx="10422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200" dirty="0" smtClean="0"/>
              <a:t>GE0/0/0</a:t>
            </a:r>
          </a:p>
          <a:p>
            <a:pPr algn="r"/>
            <a:r>
              <a:rPr lang="en-US" altLang="zh-CN" sz="1200" dirty="0" smtClean="0"/>
              <a:t>10.0.23.3/24</a:t>
            </a:r>
            <a:endParaRPr lang="zh-CN" altLang="en-US" sz="1200" dirty="0" smtClean="0"/>
          </a:p>
        </p:txBody>
      </p:sp>
    </p:spTree>
    <p:extLst>
      <p:ext uri="{BB962C8B-B14F-4D97-AF65-F5344CB8AC3E}">
        <p14:creationId xmlns:p14="http://schemas.microsoft.com/office/powerpoint/2010/main" val="459418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smtClean="0">
                <a:sym typeface="Huawei Sans" panose="020C0503030203020204" pitchFamily="34" charset="0"/>
              </a:rPr>
              <a:t>静态</a:t>
            </a:r>
            <a:r>
              <a:rPr lang="en-US" altLang="zh-CN" smtClean="0">
                <a:sym typeface="Huawei Sans" panose="020C0503030203020204" pitchFamily="34" charset="0"/>
              </a:rPr>
              <a:t>LSP</a:t>
            </a:r>
            <a:r>
              <a:rPr lang="zh-CN" altLang="en-US" smtClean="0">
                <a:sym typeface="Huawei Sans" panose="020C0503030203020204" pitchFamily="34" charset="0"/>
              </a:rPr>
              <a:t>配置案例 </a:t>
            </a:r>
            <a:r>
              <a:rPr lang="en-US" altLang="zh-CN" smtClean="0">
                <a:sym typeface="Huawei Sans" panose="020C0503030203020204" pitchFamily="34" charset="0"/>
              </a:rPr>
              <a:t>(2)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60" name="Freeform 4"/>
          <p:cNvSpPr>
            <a:spLocks noChangeAspect="1"/>
          </p:cNvSpPr>
          <p:nvPr/>
        </p:nvSpPr>
        <p:spPr bwMode="gray">
          <a:xfrm>
            <a:off x="2536303" y="4068167"/>
            <a:ext cx="1485227" cy="677908"/>
          </a:xfrm>
          <a:custGeom>
            <a:avLst/>
            <a:gdLst>
              <a:gd name="T0" fmla="*/ 2147483647 w 1769"/>
              <a:gd name="T1" fmla="*/ 2147483647 h 2094"/>
              <a:gd name="T2" fmla="*/ 2147483647 w 1769"/>
              <a:gd name="T3" fmla="*/ 2147483647 h 2094"/>
              <a:gd name="T4" fmla="*/ 2147483647 w 1769"/>
              <a:gd name="T5" fmla="*/ 2147483647 h 2094"/>
              <a:gd name="T6" fmla="*/ 2147483647 w 1769"/>
              <a:gd name="T7" fmla="*/ 2147483647 h 2094"/>
              <a:gd name="T8" fmla="*/ 2147483647 w 1769"/>
              <a:gd name="T9" fmla="*/ 2147483647 h 2094"/>
              <a:gd name="T10" fmla="*/ 2147483647 w 1769"/>
              <a:gd name="T11" fmla="*/ 2147483647 h 2094"/>
              <a:gd name="T12" fmla="*/ 2147483647 w 1769"/>
              <a:gd name="T13" fmla="*/ 2147483647 h 2094"/>
              <a:gd name="T14" fmla="*/ 2147483647 w 1769"/>
              <a:gd name="T15" fmla="*/ 2147483647 h 2094"/>
              <a:gd name="T16" fmla="*/ 2147483647 w 1769"/>
              <a:gd name="T17" fmla="*/ 2147483647 h 2094"/>
              <a:gd name="T18" fmla="*/ 2147483647 w 1769"/>
              <a:gd name="T19" fmla="*/ 2147483647 h 2094"/>
              <a:gd name="T20" fmla="*/ 2147483647 w 1769"/>
              <a:gd name="T21" fmla="*/ 2147483647 h 2094"/>
              <a:gd name="T22" fmla="*/ 2147483647 w 1769"/>
              <a:gd name="T23" fmla="*/ 2147483647 h 2094"/>
              <a:gd name="T24" fmla="*/ 2147483647 w 1769"/>
              <a:gd name="T25" fmla="*/ 2147483647 h 2094"/>
              <a:gd name="T26" fmla="*/ 2147483647 w 1769"/>
              <a:gd name="T27" fmla="*/ 2147483647 h 2094"/>
              <a:gd name="T28" fmla="*/ 2147483647 w 1769"/>
              <a:gd name="T29" fmla="*/ 2147483647 h 2094"/>
              <a:gd name="T30" fmla="*/ 2147483647 w 1769"/>
              <a:gd name="T31" fmla="*/ 2147483647 h 2094"/>
              <a:gd name="T32" fmla="*/ 2147483647 w 1769"/>
              <a:gd name="T33" fmla="*/ 0 h 2094"/>
              <a:gd name="T34" fmla="*/ 2147483647 w 1769"/>
              <a:gd name="T35" fmla="*/ 0 h 2094"/>
              <a:gd name="T36" fmla="*/ 2147483647 w 1769"/>
              <a:gd name="T37" fmla="*/ 2147483647 h 2094"/>
              <a:gd name="T38" fmla="*/ 2147483647 w 1769"/>
              <a:gd name="T39" fmla="*/ 2147483647 h 2094"/>
              <a:gd name="T40" fmla="*/ 2147483647 w 1769"/>
              <a:gd name="T41" fmla="*/ 2147483647 h 2094"/>
              <a:gd name="T42" fmla="*/ 2147483647 w 1769"/>
              <a:gd name="T43" fmla="*/ 2147483647 h 2094"/>
              <a:gd name="T44" fmla="*/ 2147483647 w 1769"/>
              <a:gd name="T45" fmla="*/ 2147483647 h 2094"/>
              <a:gd name="T46" fmla="*/ 2147483647 w 1769"/>
              <a:gd name="T47" fmla="*/ 2147483647 h 2094"/>
              <a:gd name="T48" fmla="*/ 0 w 1769"/>
              <a:gd name="T49" fmla="*/ 2147483647 h 2094"/>
              <a:gd name="T50" fmla="*/ 0 w 1769"/>
              <a:gd name="T51" fmla="*/ 2147483647 h 2094"/>
              <a:gd name="T52" fmla="*/ 2147483647 w 1769"/>
              <a:gd name="T53" fmla="*/ 2147483647 h 2094"/>
              <a:gd name="T54" fmla="*/ 2147483647 w 1769"/>
              <a:gd name="T55" fmla="*/ 2147483647 h 2094"/>
              <a:gd name="T56" fmla="*/ 2147483647 w 1769"/>
              <a:gd name="T57" fmla="*/ 2147483647 h 2094"/>
              <a:gd name="T58" fmla="*/ 2147483647 w 1769"/>
              <a:gd name="T59" fmla="*/ 2147483647 h 2094"/>
              <a:gd name="T60" fmla="*/ 2147483647 w 1769"/>
              <a:gd name="T61" fmla="*/ 2147483647 h 2094"/>
              <a:gd name="T62" fmla="*/ 2147483647 w 1769"/>
              <a:gd name="T63" fmla="*/ 2147483647 h 2094"/>
              <a:gd name="T64" fmla="*/ 2147483647 w 1769"/>
              <a:gd name="T65" fmla="*/ 2147483647 h 2094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1769"/>
              <a:gd name="T100" fmla="*/ 0 h 2094"/>
              <a:gd name="T101" fmla="*/ 1769 w 1769"/>
              <a:gd name="T102" fmla="*/ 2094 h 2094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1769" h="2094">
                <a:moveTo>
                  <a:pt x="110" y="2094"/>
                </a:moveTo>
                <a:lnTo>
                  <a:pt x="1658" y="2094"/>
                </a:lnTo>
                <a:lnTo>
                  <a:pt x="1683" y="2091"/>
                </a:lnTo>
                <a:lnTo>
                  <a:pt x="1707" y="2083"/>
                </a:lnTo>
                <a:lnTo>
                  <a:pt x="1727" y="2070"/>
                </a:lnTo>
                <a:lnTo>
                  <a:pt x="1745" y="2053"/>
                </a:lnTo>
                <a:lnTo>
                  <a:pt x="1758" y="2032"/>
                </a:lnTo>
                <a:lnTo>
                  <a:pt x="1766" y="2008"/>
                </a:lnTo>
                <a:lnTo>
                  <a:pt x="1769" y="1983"/>
                </a:lnTo>
                <a:lnTo>
                  <a:pt x="1769" y="110"/>
                </a:lnTo>
                <a:lnTo>
                  <a:pt x="1766" y="87"/>
                </a:lnTo>
                <a:lnTo>
                  <a:pt x="1758" y="63"/>
                </a:lnTo>
                <a:lnTo>
                  <a:pt x="1745" y="42"/>
                </a:lnTo>
                <a:lnTo>
                  <a:pt x="1727" y="25"/>
                </a:lnTo>
                <a:lnTo>
                  <a:pt x="1707" y="12"/>
                </a:lnTo>
                <a:lnTo>
                  <a:pt x="1683" y="3"/>
                </a:lnTo>
                <a:lnTo>
                  <a:pt x="1658" y="0"/>
                </a:lnTo>
                <a:lnTo>
                  <a:pt x="110" y="0"/>
                </a:lnTo>
                <a:lnTo>
                  <a:pt x="87" y="3"/>
                </a:lnTo>
                <a:lnTo>
                  <a:pt x="63" y="12"/>
                </a:lnTo>
                <a:lnTo>
                  <a:pt x="43" y="25"/>
                </a:lnTo>
                <a:lnTo>
                  <a:pt x="25" y="42"/>
                </a:lnTo>
                <a:lnTo>
                  <a:pt x="12" y="63"/>
                </a:lnTo>
                <a:lnTo>
                  <a:pt x="3" y="87"/>
                </a:lnTo>
                <a:lnTo>
                  <a:pt x="0" y="110"/>
                </a:lnTo>
                <a:lnTo>
                  <a:pt x="0" y="1983"/>
                </a:lnTo>
                <a:lnTo>
                  <a:pt x="3" y="2008"/>
                </a:lnTo>
                <a:lnTo>
                  <a:pt x="12" y="2032"/>
                </a:lnTo>
                <a:lnTo>
                  <a:pt x="25" y="2053"/>
                </a:lnTo>
                <a:lnTo>
                  <a:pt x="43" y="2070"/>
                </a:lnTo>
                <a:lnTo>
                  <a:pt x="63" y="2083"/>
                </a:lnTo>
                <a:lnTo>
                  <a:pt x="87" y="2091"/>
                </a:lnTo>
                <a:lnTo>
                  <a:pt x="110" y="2094"/>
                </a:lnTo>
                <a:close/>
              </a:path>
            </a:pathLst>
          </a:custGeom>
          <a:solidFill>
            <a:srgbClr val="CCCCCC">
              <a:alpha val="39999"/>
            </a:srgbClr>
          </a:solidFill>
          <a:ln w="12700" cap="flat" cmpd="sng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FEC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3.3.3.0/24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Out 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Label=200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 Label=Null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2" name="Freeform 4"/>
          <p:cNvSpPr>
            <a:spLocks noChangeAspect="1"/>
          </p:cNvSpPr>
          <p:nvPr/>
        </p:nvSpPr>
        <p:spPr bwMode="gray">
          <a:xfrm>
            <a:off x="5124770" y="4068167"/>
            <a:ext cx="1485227" cy="677908"/>
          </a:xfrm>
          <a:custGeom>
            <a:avLst/>
            <a:gdLst>
              <a:gd name="T0" fmla="*/ 2147483647 w 1769"/>
              <a:gd name="T1" fmla="*/ 2147483647 h 2094"/>
              <a:gd name="T2" fmla="*/ 2147483647 w 1769"/>
              <a:gd name="T3" fmla="*/ 2147483647 h 2094"/>
              <a:gd name="T4" fmla="*/ 2147483647 w 1769"/>
              <a:gd name="T5" fmla="*/ 2147483647 h 2094"/>
              <a:gd name="T6" fmla="*/ 2147483647 w 1769"/>
              <a:gd name="T7" fmla="*/ 2147483647 h 2094"/>
              <a:gd name="T8" fmla="*/ 2147483647 w 1769"/>
              <a:gd name="T9" fmla="*/ 2147483647 h 2094"/>
              <a:gd name="T10" fmla="*/ 2147483647 w 1769"/>
              <a:gd name="T11" fmla="*/ 2147483647 h 2094"/>
              <a:gd name="T12" fmla="*/ 2147483647 w 1769"/>
              <a:gd name="T13" fmla="*/ 2147483647 h 2094"/>
              <a:gd name="T14" fmla="*/ 2147483647 w 1769"/>
              <a:gd name="T15" fmla="*/ 2147483647 h 2094"/>
              <a:gd name="T16" fmla="*/ 2147483647 w 1769"/>
              <a:gd name="T17" fmla="*/ 2147483647 h 2094"/>
              <a:gd name="T18" fmla="*/ 2147483647 w 1769"/>
              <a:gd name="T19" fmla="*/ 2147483647 h 2094"/>
              <a:gd name="T20" fmla="*/ 2147483647 w 1769"/>
              <a:gd name="T21" fmla="*/ 2147483647 h 2094"/>
              <a:gd name="T22" fmla="*/ 2147483647 w 1769"/>
              <a:gd name="T23" fmla="*/ 2147483647 h 2094"/>
              <a:gd name="T24" fmla="*/ 2147483647 w 1769"/>
              <a:gd name="T25" fmla="*/ 2147483647 h 2094"/>
              <a:gd name="T26" fmla="*/ 2147483647 w 1769"/>
              <a:gd name="T27" fmla="*/ 2147483647 h 2094"/>
              <a:gd name="T28" fmla="*/ 2147483647 w 1769"/>
              <a:gd name="T29" fmla="*/ 2147483647 h 2094"/>
              <a:gd name="T30" fmla="*/ 2147483647 w 1769"/>
              <a:gd name="T31" fmla="*/ 2147483647 h 2094"/>
              <a:gd name="T32" fmla="*/ 2147483647 w 1769"/>
              <a:gd name="T33" fmla="*/ 0 h 2094"/>
              <a:gd name="T34" fmla="*/ 2147483647 w 1769"/>
              <a:gd name="T35" fmla="*/ 0 h 2094"/>
              <a:gd name="T36" fmla="*/ 2147483647 w 1769"/>
              <a:gd name="T37" fmla="*/ 2147483647 h 2094"/>
              <a:gd name="T38" fmla="*/ 2147483647 w 1769"/>
              <a:gd name="T39" fmla="*/ 2147483647 h 2094"/>
              <a:gd name="T40" fmla="*/ 2147483647 w 1769"/>
              <a:gd name="T41" fmla="*/ 2147483647 h 2094"/>
              <a:gd name="T42" fmla="*/ 2147483647 w 1769"/>
              <a:gd name="T43" fmla="*/ 2147483647 h 2094"/>
              <a:gd name="T44" fmla="*/ 2147483647 w 1769"/>
              <a:gd name="T45" fmla="*/ 2147483647 h 2094"/>
              <a:gd name="T46" fmla="*/ 2147483647 w 1769"/>
              <a:gd name="T47" fmla="*/ 2147483647 h 2094"/>
              <a:gd name="T48" fmla="*/ 0 w 1769"/>
              <a:gd name="T49" fmla="*/ 2147483647 h 2094"/>
              <a:gd name="T50" fmla="*/ 0 w 1769"/>
              <a:gd name="T51" fmla="*/ 2147483647 h 2094"/>
              <a:gd name="T52" fmla="*/ 2147483647 w 1769"/>
              <a:gd name="T53" fmla="*/ 2147483647 h 2094"/>
              <a:gd name="T54" fmla="*/ 2147483647 w 1769"/>
              <a:gd name="T55" fmla="*/ 2147483647 h 2094"/>
              <a:gd name="T56" fmla="*/ 2147483647 w 1769"/>
              <a:gd name="T57" fmla="*/ 2147483647 h 2094"/>
              <a:gd name="T58" fmla="*/ 2147483647 w 1769"/>
              <a:gd name="T59" fmla="*/ 2147483647 h 2094"/>
              <a:gd name="T60" fmla="*/ 2147483647 w 1769"/>
              <a:gd name="T61" fmla="*/ 2147483647 h 2094"/>
              <a:gd name="T62" fmla="*/ 2147483647 w 1769"/>
              <a:gd name="T63" fmla="*/ 2147483647 h 2094"/>
              <a:gd name="T64" fmla="*/ 2147483647 w 1769"/>
              <a:gd name="T65" fmla="*/ 2147483647 h 2094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1769"/>
              <a:gd name="T100" fmla="*/ 0 h 2094"/>
              <a:gd name="T101" fmla="*/ 1769 w 1769"/>
              <a:gd name="T102" fmla="*/ 2094 h 2094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1769" h="2094">
                <a:moveTo>
                  <a:pt x="110" y="2094"/>
                </a:moveTo>
                <a:lnTo>
                  <a:pt x="1658" y="2094"/>
                </a:lnTo>
                <a:lnTo>
                  <a:pt x="1683" y="2091"/>
                </a:lnTo>
                <a:lnTo>
                  <a:pt x="1707" y="2083"/>
                </a:lnTo>
                <a:lnTo>
                  <a:pt x="1727" y="2070"/>
                </a:lnTo>
                <a:lnTo>
                  <a:pt x="1745" y="2053"/>
                </a:lnTo>
                <a:lnTo>
                  <a:pt x="1758" y="2032"/>
                </a:lnTo>
                <a:lnTo>
                  <a:pt x="1766" y="2008"/>
                </a:lnTo>
                <a:lnTo>
                  <a:pt x="1769" y="1983"/>
                </a:lnTo>
                <a:lnTo>
                  <a:pt x="1769" y="110"/>
                </a:lnTo>
                <a:lnTo>
                  <a:pt x="1766" y="87"/>
                </a:lnTo>
                <a:lnTo>
                  <a:pt x="1758" y="63"/>
                </a:lnTo>
                <a:lnTo>
                  <a:pt x="1745" y="42"/>
                </a:lnTo>
                <a:lnTo>
                  <a:pt x="1727" y="25"/>
                </a:lnTo>
                <a:lnTo>
                  <a:pt x="1707" y="12"/>
                </a:lnTo>
                <a:lnTo>
                  <a:pt x="1683" y="3"/>
                </a:lnTo>
                <a:lnTo>
                  <a:pt x="1658" y="0"/>
                </a:lnTo>
                <a:lnTo>
                  <a:pt x="110" y="0"/>
                </a:lnTo>
                <a:lnTo>
                  <a:pt x="87" y="3"/>
                </a:lnTo>
                <a:lnTo>
                  <a:pt x="63" y="12"/>
                </a:lnTo>
                <a:lnTo>
                  <a:pt x="43" y="25"/>
                </a:lnTo>
                <a:lnTo>
                  <a:pt x="25" y="42"/>
                </a:lnTo>
                <a:lnTo>
                  <a:pt x="12" y="63"/>
                </a:lnTo>
                <a:lnTo>
                  <a:pt x="3" y="87"/>
                </a:lnTo>
                <a:lnTo>
                  <a:pt x="0" y="110"/>
                </a:lnTo>
                <a:lnTo>
                  <a:pt x="0" y="1983"/>
                </a:lnTo>
                <a:lnTo>
                  <a:pt x="3" y="2008"/>
                </a:lnTo>
                <a:lnTo>
                  <a:pt x="12" y="2032"/>
                </a:lnTo>
                <a:lnTo>
                  <a:pt x="25" y="2053"/>
                </a:lnTo>
                <a:lnTo>
                  <a:pt x="43" y="2070"/>
                </a:lnTo>
                <a:lnTo>
                  <a:pt x="63" y="2083"/>
                </a:lnTo>
                <a:lnTo>
                  <a:pt x="87" y="2091"/>
                </a:lnTo>
                <a:lnTo>
                  <a:pt x="110" y="2094"/>
                </a:lnTo>
                <a:close/>
              </a:path>
            </a:pathLst>
          </a:custGeom>
          <a:solidFill>
            <a:srgbClr val="CCCCCC">
              <a:alpha val="39999"/>
            </a:srgbClr>
          </a:solidFill>
          <a:ln w="12700" cap="flat" cmpd="sng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FEC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3.3.3.0/24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Out Label=300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 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Label=200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3" name="Freeform 4"/>
          <p:cNvSpPr>
            <a:spLocks noChangeAspect="1"/>
          </p:cNvSpPr>
          <p:nvPr/>
        </p:nvSpPr>
        <p:spPr bwMode="gray">
          <a:xfrm>
            <a:off x="7816081" y="4068167"/>
            <a:ext cx="1485227" cy="677908"/>
          </a:xfrm>
          <a:custGeom>
            <a:avLst/>
            <a:gdLst>
              <a:gd name="T0" fmla="*/ 2147483647 w 1769"/>
              <a:gd name="T1" fmla="*/ 2147483647 h 2094"/>
              <a:gd name="T2" fmla="*/ 2147483647 w 1769"/>
              <a:gd name="T3" fmla="*/ 2147483647 h 2094"/>
              <a:gd name="T4" fmla="*/ 2147483647 w 1769"/>
              <a:gd name="T5" fmla="*/ 2147483647 h 2094"/>
              <a:gd name="T6" fmla="*/ 2147483647 w 1769"/>
              <a:gd name="T7" fmla="*/ 2147483647 h 2094"/>
              <a:gd name="T8" fmla="*/ 2147483647 w 1769"/>
              <a:gd name="T9" fmla="*/ 2147483647 h 2094"/>
              <a:gd name="T10" fmla="*/ 2147483647 w 1769"/>
              <a:gd name="T11" fmla="*/ 2147483647 h 2094"/>
              <a:gd name="T12" fmla="*/ 2147483647 w 1769"/>
              <a:gd name="T13" fmla="*/ 2147483647 h 2094"/>
              <a:gd name="T14" fmla="*/ 2147483647 w 1769"/>
              <a:gd name="T15" fmla="*/ 2147483647 h 2094"/>
              <a:gd name="T16" fmla="*/ 2147483647 w 1769"/>
              <a:gd name="T17" fmla="*/ 2147483647 h 2094"/>
              <a:gd name="T18" fmla="*/ 2147483647 w 1769"/>
              <a:gd name="T19" fmla="*/ 2147483647 h 2094"/>
              <a:gd name="T20" fmla="*/ 2147483647 w 1769"/>
              <a:gd name="T21" fmla="*/ 2147483647 h 2094"/>
              <a:gd name="T22" fmla="*/ 2147483647 w 1769"/>
              <a:gd name="T23" fmla="*/ 2147483647 h 2094"/>
              <a:gd name="T24" fmla="*/ 2147483647 w 1769"/>
              <a:gd name="T25" fmla="*/ 2147483647 h 2094"/>
              <a:gd name="T26" fmla="*/ 2147483647 w 1769"/>
              <a:gd name="T27" fmla="*/ 2147483647 h 2094"/>
              <a:gd name="T28" fmla="*/ 2147483647 w 1769"/>
              <a:gd name="T29" fmla="*/ 2147483647 h 2094"/>
              <a:gd name="T30" fmla="*/ 2147483647 w 1769"/>
              <a:gd name="T31" fmla="*/ 2147483647 h 2094"/>
              <a:gd name="T32" fmla="*/ 2147483647 w 1769"/>
              <a:gd name="T33" fmla="*/ 0 h 2094"/>
              <a:gd name="T34" fmla="*/ 2147483647 w 1769"/>
              <a:gd name="T35" fmla="*/ 0 h 2094"/>
              <a:gd name="T36" fmla="*/ 2147483647 w 1769"/>
              <a:gd name="T37" fmla="*/ 2147483647 h 2094"/>
              <a:gd name="T38" fmla="*/ 2147483647 w 1769"/>
              <a:gd name="T39" fmla="*/ 2147483647 h 2094"/>
              <a:gd name="T40" fmla="*/ 2147483647 w 1769"/>
              <a:gd name="T41" fmla="*/ 2147483647 h 2094"/>
              <a:gd name="T42" fmla="*/ 2147483647 w 1769"/>
              <a:gd name="T43" fmla="*/ 2147483647 h 2094"/>
              <a:gd name="T44" fmla="*/ 2147483647 w 1769"/>
              <a:gd name="T45" fmla="*/ 2147483647 h 2094"/>
              <a:gd name="T46" fmla="*/ 2147483647 w 1769"/>
              <a:gd name="T47" fmla="*/ 2147483647 h 2094"/>
              <a:gd name="T48" fmla="*/ 0 w 1769"/>
              <a:gd name="T49" fmla="*/ 2147483647 h 2094"/>
              <a:gd name="T50" fmla="*/ 0 w 1769"/>
              <a:gd name="T51" fmla="*/ 2147483647 h 2094"/>
              <a:gd name="T52" fmla="*/ 2147483647 w 1769"/>
              <a:gd name="T53" fmla="*/ 2147483647 h 2094"/>
              <a:gd name="T54" fmla="*/ 2147483647 w 1769"/>
              <a:gd name="T55" fmla="*/ 2147483647 h 2094"/>
              <a:gd name="T56" fmla="*/ 2147483647 w 1769"/>
              <a:gd name="T57" fmla="*/ 2147483647 h 2094"/>
              <a:gd name="T58" fmla="*/ 2147483647 w 1769"/>
              <a:gd name="T59" fmla="*/ 2147483647 h 2094"/>
              <a:gd name="T60" fmla="*/ 2147483647 w 1769"/>
              <a:gd name="T61" fmla="*/ 2147483647 h 2094"/>
              <a:gd name="T62" fmla="*/ 2147483647 w 1769"/>
              <a:gd name="T63" fmla="*/ 2147483647 h 2094"/>
              <a:gd name="T64" fmla="*/ 2147483647 w 1769"/>
              <a:gd name="T65" fmla="*/ 2147483647 h 2094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1769"/>
              <a:gd name="T100" fmla="*/ 0 h 2094"/>
              <a:gd name="T101" fmla="*/ 1769 w 1769"/>
              <a:gd name="T102" fmla="*/ 2094 h 2094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1769" h="2094">
                <a:moveTo>
                  <a:pt x="110" y="2094"/>
                </a:moveTo>
                <a:lnTo>
                  <a:pt x="1658" y="2094"/>
                </a:lnTo>
                <a:lnTo>
                  <a:pt x="1683" y="2091"/>
                </a:lnTo>
                <a:lnTo>
                  <a:pt x="1707" y="2083"/>
                </a:lnTo>
                <a:lnTo>
                  <a:pt x="1727" y="2070"/>
                </a:lnTo>
                <a:lnTo>
                  <a:pt x="1745" y="2053"/>
                </a:lnTo>
                <a:lnTo>
                  <a:pt x="1758" y="2032"/>
                </a:lnTo>
                <a:lnTo>
                  <a:pt x="1766" y="2008"/>
                </a:lnTo>
                <a:lnTo>
                  <a:pt x="1769" y="1983"/>
                </a:lnTo>
                <a:lnTo>
                  <a:pt x="1769" y="110"/>
                </a:lnTo>
                <a:lnTo>
                  <a:pt x="1766" y="87"/>
                </a:lnTo>
                <a:lnTo>
                  <a:pt x="1758" y="63"/>
                </a:lnTo>
                <a:lnTo>
                  <a:pt x="1745" y="42"/>
                </a:lnTo>
                <a:lnTo>
                  <a:pt x="1727" y="25"/>
                </a:lnTo>
                <a:lnTo>
                  <a:pt x="1707" y="12"/>
                </a:lnTo>
                <a:lnTo>
                  <a:pt x="1683" y="3"/>
                </a:lnTo>
                <a:lnTo>
                  <a:pt x="1658" y="0"/>
                </a:lnTo>
                <a:lnTo>
                  <a:pt x="110" y="0"/>
                </a:lnTo>
                <a:lnTo>
                  <a:pt x="87" y="3"/>
                </a:lnTo>
                <a:lnTo>
                  <a:pt x="63" y="12"/>
                </a:lnTo>
                <a:lnTo>
                  <a:pt x="43" y="25"/>
                </a:lnTo>
                <a:lnTo>
                  <a:pt x="25" y="42"/>
                </a:lnTo>
                <a:lnTo>
                  <a:pt x="12" y="63"/>
                </a:lnTo>
                <a:lnTo>
                  <a:pt x="3" y="87"/>
                </a:lnTo>
                <a:lnTo>
                  <a:pt x="0" y="110"/>
                </a:lnTo>
                <a:lnTo>
                  <a:pt x="0" y="1983"/>
                </a:lnTo>
                <a:lnTo>
                  <a:pt x="3" y="2008"/>
                </a:lnTo>
                <a:lnTo>
                  <a:pt x="12" y="2032"/>
                </a:lnTo>
                <a:lnTo>
                  <a:pt x="25" y="2053"/>
                </a:lnTo>
                <a:lnTo>
                  <a:pt x="43" y="2070"/>
                </a:lnTo>
                <a:lnTo>
                  <a:pt x="63" y="2083"/>
                </a:lnTo>
                <a:lnTo>
                  <a:pt x="87" y="2091"/>
                </a:lnTo>
                <a:lnTo>
                  <a:pt x="110" y="2094"/>
                </a:lnTo>
                <a:close/>
              </a:path>
            </a:pathLst>
          </a:custGeom>
          <a:solidFill>
            <a:srgbClr val="CCCCCC">
              <a:alpha val="39999"/>
            </a:srgbClr>
          </a:solidFill>
          <a:ln w="12700" cap="flat" cmpd="sng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FEC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3.3.3.0/24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Out 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Label=Null</a:t>
            </a:r>
          </a:p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 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Label=300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4" name="Rounded Rectangle 36"/>
          <p:cNvSpPr/>
          <p:nvPr/>
        </p:nvSpPr>
        <p:spPr bwMode="gray">
          <a:xfrm>
            <a:off x="2924650" y="4887210"/>
            <a:ext cx="5979319" cy="954186"/>
          </a:xfrm>
          <a:prstGeom prst="roundRect">
            <a:avLst>
              <a:gd name="adj" fmla="val 5020"/>
            </a:avLst>
          </a:prstGeom>
          <a:solidFill>
            <a:srgbClr val="BEE9EE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kern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65" name="直接连接符 64"/>
          <p:cNvCxnSpPr/>
          <p:nvPr/>
        </p:nvCxnSpPr>
        <p:spPr bwMode="gray">
          <a:xfrm>
            <a:off x="8627778" y="5363034"/>
            <a:ext cx="104136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 bwMode="gray">
          <a:xfrm rot="5400000">
            <a:off x="2601669" y="4976619"/>
            <a:ext cx="0" cy="89087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4"/>
          <p:cNvCxnSpPr/>
          <p:nvPr/>
        </p:nvCxnSpPr>
        <p:spPr bwMode="gray">
          <a:xfrm>
            <a:off x="3246866" y="5356540"/>
            <a:ext cx="5350280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48"/>
          <p:cNvSpPr txBox="1"/>
          <p:nvPr/>
        </p:nvSpPr>
        <p:spPr bwMode="gray">
          <a:xfrm>
            <a:off x="5664443" y="5528347"/>
            <a:ext cx="405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73" name="图片 72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597383" y="5152421"/>
            <a:ext cx="540000" cy="442800"/>
          </a:xfrm>
          <a:prstGeom prst="rect">
            <a:avLst/>
          </a:prstGeom>
        </p:spPr>
      </p:pic>
      <p:pic>
        <p:nvPicPr>
          <p:cNvPr id="77" name="图片 76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974626" y="5152421"/>
            <a:ext cx="540000" cy="442800"/>
          </a:xfrm>
          <a:prstGeom prst="rect">
            <a:avLst/>
          </a:prstGeom>
        </p:spPr>
      </p:pic>
      <p:sp>
        <p:nvSpPr>
          <p:cNvPr id="78" name="TextBox 43"/>
          <p:cNvSpPr txBox="1"/>
          <p:nvPr/>
        </p:nvSpPr>
        <p:spPr bwMode="gray">
          <a:xfrm>
            <a:off x="3067027" y="5528347"/>
            <a:ext cx="405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80" name="图片 79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260648" y="5152421"/>
            <a:ext cx="540000" cy="442800"/>
          </a:xfrm>
          <a:prstGeom prst="rect">
            <a:avLst/>
          </a:prstGeom>
        </p:spPr>
      </p:pic>
      <p:sp>
        <p:nvSpPr>
          <p:cNvPr id="81" name="TextBox 43"/>
          <p:cNvSpPr txBox="1"/>
          <p:nvPr/>
        </p:nvSpPr>
        <p:spPr bwMode="gray">
          <a:xfrm>
            <a:off x="8344792" y="5528347"/>
            <a:ext cx="405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2" name="Rectangle 67"/>
          <p:cNvSpPr/>
          <p:nvPr/>
        </p:nvSpPr>
        <p:spPr bwMode="gray">
          <a:xfrm>
            <a:off x="3898201" y="5513497"/>
            <a:ext cx="134043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 Domain</a:t>
            </a:r>
          </a:p>
        </p:txBody>
      </p:sp>
      <p:sp>
        <p:nvSpPr>
          <p:cNvPr id="84" name="Freeform 159"/>
          <p:cNvSpPr>
            <a:spLocks noChangeAspect="1"/>
          </p:cNvSpPr>
          <p:nvPr/>
        </p:nvSpPr>
        <p:spPr bwMode="gray">
          <a:xfrm flipH="1">
            <a:off x="1160137" y="4907045"/>
            <a:ext cx="1377387" cy="720000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5" name="文本框 84"/>
          <p:cNvSpPr txBox="1"/>
          <p:nvPr/>
        </p:nvSpPr>
        <p:spPr bwMode="gray">
          <a:xfrm>
            <a:off x="1356548" y="5034970"/>
            <a:ext cx="98456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网络</a:t>
            </a:r>
            <a:endParaRPr lang="en-US" altLang="zh-CN" sz="16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1.1.1.0/24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86" name="直接连接符 55"/>
          <p:cNvCxnSpPr/>
          <p:nvPr/>
        </p:nvCxnSpPr>
        <p:spPr bwMode="gray">
          <a:xfrm flipV="1">
            <a:off x="3202648" y="6103548"/>
            <a:ext cx="5394500" cy="1"/>
          </a:xfrm>
          <a:prstGeom prst="line">
            <a:avLst/>
          </a:prstGeom>
          <a:ln w="38100">
            <a:solidFill>
              <a:srgbClr val="30B5C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Freeform 159"/>
          <p:cNvSpPr>
            <a:spLocks noChangeAspect="1"/>
          </p:cNvSpPr>
          <p:nvPr/>
        </p:nvSpPr>
        <p:spPr bwMode="gray">
          <a:xfrm flipH="1">
            <a:off x="9458681" y="4919377"/>
            <a:ext cx="1377387" cy="720000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0" name="文本框 89"/>
          <p:cNvSpPr txBox="1"/>
          <p:nvPr/>
        </p:nvSpPr>
        <p:spPr bwMode="gray">
          <a:xfrm>
            <a:off x="9655092" y="5047302"/>
            <a:ext cx="98456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网络</a:t>
            </a:r>
            <a:endParaRPr lang="en-US" altLang="zh-CN" sz="16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3.3.3.0/24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 bwMode="gray">
          <a:xfrm>
            <a:off x="5366360" y="5841396"/>
            <a:ext cx="10020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smtClean="0"/>
              <a:t>LSP</a:t>
            </a:r>
            <a:endParaRPr lang="zh-CN" altLang="en-US" sz="1400" dirty="0" smtClean="0"/>
          </a:p>
        </p:txBody>
      </p:sp>
      <p:sp>
        <p:nvSpPr>
          <p:cNvPr id="8" name="文本框 7"/>
          <p:cNvSpPr txBox="1"/>
          <p:nvPr/>
        </p:nvSpPr>
        <p:spPr bwMode="gray">
          <a:xfrm>
            <a:off x="3473998" y="4945327"/>
            <a:ext cx="10422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smtClean="0"/>
              <a:t>GE0/0/0</a:t>
            </a:r>
          </a:p>
          <a:p>
            <a:r>
              <a:rPr lang="en-US" altLang="zh-CN" sz="1200" dirty="0" smtClean="0"/>
              <a:t>10.0.12.1/24</a:t>
            </a:r>
            <a:endParaRPr lang="zh-CN" altLang="en-US" sz="1200" dirty="0" smtClean="0"/>
          </a:p>
        </p:txBody>
      </p:sp>
      <p:sp>
        <p:nvSpPr>
          <p:cNvPr id="97" name="文本框 96"/>
          <p:cNvSpPr txBox="1"/>
          <p:nvPr/>
        </p:nvSpPr>
        <p:spPr bwMode="gray">
          <a:xfrm>
            <a:off x="4630730" y="4939563"/>
            <a:ext cx="10422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200" dirty="0" smtClean="0"/>
              <a:t>GE0/0/0</a:t>
            </a:r>
          </a:p>
          <a:p>
            <a:pPr algn="r"/>
            <a:r>
              <a:rPr lang="en-US" altLang="zh-CN" sz="1200" dirty="0" smtClean="0"/>
              <a:t>10.0.12.2/24</a:t>
            </a:r>
            <a:endParaRPr lang="zh-CN" altLang="en-US" sz="1200" dirty="0" smtClean="0"/>
          </a:p>
        </p:txBody>
      </p:sp>
      <p:sp>
        <p:nvSpPr>
          <p:cNvPr id="98" name="文本框 97"/>
          <p:cNvSpPr txBox="1"/>
          <p:nvPr/>
        </p:nvSpPr>
        <p:spPr bwMode="gray">
          <a:xfrm>
            <a:off x="6052745" y="4955408"/>
            <a:ext cx="10422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smtClean="0"/>
              <a:t>GE0/0/1</a:t>
            </a:r>
          </a:p>
          <a:p>
            <a:r>
              <a:rPr lang="en-US" altLang="zh-CN" sz="1200" dirty="0" smtClean="0"/>
              <a:t>10.0.23.2/24</a:t>
            </a:r>
            <a:endParaRPr lang="zh-CN" altLang="en-US" sz="1200" dirty="0" smtClean="0"/>
          </a:p>
        </p:txBody>
      </p:sp>
      <p:sp>
        <p:nvSpPr>
          <p:cNvPr id="99" name="文本框 98"/>
          <p:cNvSpPr txBox="1"/>
          <p:nvPr/>
        </p:nvSpPr>
        <p:spPr bwMode="gray">
          <a:xfrm>
            <a:off x="7288899" y="4936038"/>
            <a:ext cx="10422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200" dirty="0" smtClean="0"/>
              <a:t>GE0/0/0</a:t>
            </a:r>
          </a:p>
          <a:p>
            <a:pPr algn="r"/>
            <a:r>
              <a:rPr lang="en-US" altLang="zh-CN" sz="1200" dirty="0" smtClean="0"/>
              <a:t>10.0.23.3/24</a:t>
            </a:r>
            <a:endParaRPr lang="zh-CN" altLang="en-US" sz="1200" dirty="0" smtClean="0"/>
          </a:p>
        </p:txBody>
      </p:sp>
      <p:sp>
        <p:nvSpPr>
          <p:cNvPr id="28" name="矩形 27"/>
          <p:cNvSpPr/>
          <p:nvPr/>
        </p:nvSpPr>
        <p:spPr bwMode="gray">
          <a:xfrm>
            <a:off x="446088" y="1240382"/>
            <a:ext cx="10492422" cy="423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三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台路由器的</a:t>
            </a: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LSR ID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分别为</a:t>
            </a: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10.1.1.1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、</a:t>
            </a: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10.1.1.2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和</a:t>
            </a: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10.1.1.3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，以</a:t>
            </a: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为例，使能全局和接口的</a:t>
            </a: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功能。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xmlns="" id="{7B785A75-A9ED-43DB-AC85-C8785E732ED7}"/>
              </a:ext>
            </a:extLst>
          </p:cNvPr>
          <p:cNvSpPr txBox="1"/>
          <p:nvPr/>
        </p:nvSpPr>
        <p:spPr bwMode="gray">
          <a:xfrm>
            <a:off x="701251" y="1647451"/>
            <a:ext cx="10134817" cy="16004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fontAlgn="auto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CN" dirty="0" smtClean="0"/>
              <a:t>[R1]</a:t>
            </a:r>
            <a:r>
              <a:rPr lang="en-US" altLang="zh-CN" dirty="0" err="1" smtClean="0"/>
              <a:t>mpls</a:t>
            </a:r>
            <a:r>
              <a:rPr lang="en-US" altLang="zh-CN" dirty="0" smtClean="0"/>
              <a:t> </a:t>
            </a:r>
            <a:r>
              <a:rPr lang="en-US" altLang="zh-CN" dirty="0" err="1"/>
              <a:t>lsr</a:t>
            </a:r>
            <a:r>
              <a:rPr lang="en-US" altLang="zh-CN" dirty="0"/>
              <a:t>-id 10.1.1.1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[R1]</a:t>
            </a:r>
            <a:r>
              <a:rPr lang="en-US" altLang="zh-CN" dirty="0" err="1"/>
              <a:t>mpls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en-US" altLang="zh-CN" dirty="0"/>
              <a:t>Info: </a:t>
            </a:r>
            <a:r>
              <a:rPr lang="en-US" altLang="zh-CN" dirty="0" err="1"/>
              <a:t>Mpls</a:t>
            </a:r>
            <a:r>
              <a:rPr lang="en-US" altLang="zh-CN" dirty="0"/>
              <a:t> starting, please wait... OK!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[</a:t>
            </a:r>
            <a:r>
              <a:rPr lang="en-US" altLang="zh-CN" dirty="0" smtClean="0"/>
              <a:t>R1-mpls]quit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en-US" altLang="zh-CN" dirty="0"/>
              <a:t>[R1]interface </a:t>
            </a:r>
            <a:r>
              <a:rPr lang="en-US" altLang="zh-CN" dirty="0" err="1"/>
              <a:t>GigabitEthernet</a:t>
            </a:r>
            <a:r>
              <a:rPr lang="en-US" altLang="zh-CN" dirty="0"/>
              <a:t> 0/0/0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[R1-GigabitEthernet0/0/0]</a:t>
            </a:r>
            <a:r>
              <a:rPr lang="en-US" altLang="zh-CN" dirty="0" err="1"/>
              <a:t>mpls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en-US" altLang="zh-CN" dirty="0"/>
              <a:t>[</a:t>
            </a:r>
            <a:r>
              <a:rPr lang="en-US" altLang="zh-CN" dirty="0" smtClean="0"/>
              <a:t>R1-GigabitEthernet0/0/0]quit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88464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smtClean="0">
                <a:sym typeface="Huawei Sans" panose="020C0503030203020204" pitchFamily="34" charset="0"/>
              </a:rPr>
              <a:t>静态</a:t>
            </a:r>
            <a:r>
              <a:rPr lang="en-US" altLang="zh-CN" smtClean="0">
                <a:sym typeface="Huawei Sans" panose="020C0503030203020204" pitchFamily="34" charset="0"/>
              </a:rPr>
              <a:t>LSP</a:t>
            </a:r>
            <a:r>
              <a:rPr lang="zh-CN" altLang="en-US" smtClean="0">
                <a:sym typeface="Huawei Sans" panose="020C0503030203020204" pitchFamily="34" charset="0"/>
              </a:rPr>
              <a:t>配置案例 </a:t>
            </a:r>
            <a:r>
              <a:rPr lang="en-US" altLang="zh-CN" smtClean="0">
                <a:sym typeface="Huawei Sans" panose="020C0503030203020204" pitchFamily="34" charset="0"/>
              </a:rPr>
              <a:t>(3)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60" name="Freeform 4"/>
          <p:cNvSpPr>
            <a:spLocks noChangeAspect="1"/>
          </p:cNvSpPr>
          <p:nvPr/>
        </p:nvSpPr>
        <p:spPr bwMode="gray">
          <a:xfrm>
            <a:off x="2536303" y="4068167"/>
            <a:ext cx="1485227" cy="677908"/>
          </a:xfrm>
          <a:custGeom>
            <a:avLst/>
            <a:gdLst>
              <a:gd name="T0" fmla="*/ 2147483647 w 1769"/>
              <a:gd name="T1" fmla="*/ 2147483647 h 2094"/>
              <a:gd name="T2" fmla="*/ 2147483647 w 1769"/>
              <a:gd name="T3" fmla="*/ 2147483647 h 2094"/>
              <a:gd name="T4" fmla="*/ 2147483647 w 1769"/>
              <a:gd name="T5" fmla="*/ 2147483647 h 2094"/>
              <a:gd name="T6" fmla="*/ 2147483647 w 1769"/>
              <a:gd name="T7" fmla="*/ 2147483647 h 2094"/>
              <a:gd name="T8" fmla="*/ 2147483647 w 1769"/>
              <a:gd name="T9" fmla="*/ 2147483647 h 2094"/>
              <a:gd name="T10" fmla="*/ 2147483647 w 1769"/>
              <a:gd name="T11" fmla="*/ 2147483647 h 2094"/>
              <a:gd name="T12" fmla="*/ 2147483647 w 1769"/>
              <a:gd name="T13" fmla="*/ 2147483647 h 2094"/>
              <a:gd name="T14" fmla="*/ 2147483647 w 1769"/>
              <a:gd name="T15" fmla="*/ 2147483647 h 2094"/>
              <a:gd name="T16" fmla="*/ 2147483647 w 1769"/>
              <a:gd name="T17" fmla="*/ 2147483647 h 2094"/>
              <a:gd name="T18" fmla="*/ 2147483647 w 1769"/>
              <a:gd name="T19" fmla="*/ 2147483647 h 2094"/>
              <a:gd name="T20" fmla="*/ 2147483647 w 1769"/>
              <a:gd name="T21" fmla="*/ 2147483647 h 2094"/>
              <a:gd name="T22" fmla="*/ 2147483647 w 1769"/>
              <a:gd name="T23" fmla="*/ 2147483647 h 2094"/>
              <a:gd name="T24" fmla="*/ 2147483647 w 1769"/>
              <a:gd name="T25" fmla="*/ 2147483647 h 2094"/>
              <a:gd name="T26" fmla="*/ 2147483647 w 1769"/>
              <a:gd name="T27" fmla="*/ 2147483647 h 2094"/>
              <a:gd name="T28" fmla="*/ 2147483647 w 1769"/>
              <a:gd name="T29" fmla="*/ 2147483647 h 2094"/>
              <a:gd name="T30" fmla="*/ 2147483647 w 1769"/>
              <a:gd name="T31" fmla="*/ 2147483647 h 2094"/>
              <a:gd name="T32" fmla="*/ 2147483647 w 1769"/>
              <a:gd name="T33" fmla="*/ 0 h 2094"/>
              <a:gd name="T34" fmla="*/ 2147483647 w 1769"/>
              <a:gd name="T35" fmla="*/ 0 h 2094"/>
              <a:gd name="T36" fmla="*/ 2147483647 w 1769"/>
              <a:gd name="T37" fmla="*/ 2147483647 h 2094"/>
              <a:gd name="T38" fmla="*/ 2147483647 w 1769"/>
              <a:gd name="T39" fmla="*/ 2147483647 h 2094"/>
              <a:gd name="T40" fmla="*/ 2147483647 w 1769"/>
              <a:gd name="T41" fmla="*/ 2147483647 h 2094"/>
              <a:gd name="T42" fmla="*/ 2147483647 w 1769"/>
              <a:gd name="T43" fmla="*/ 2147483647 h 2094"/>
              <a:gd name="T44" fmla="*/ 2147483647 w 1769"/>
              <a:gd name="T45" fmla="*/ 2147483647 h 2094"/>
              <a:gd name="T46" fmla="*/ 2147483647 w 1769"/>
              <a:gd name="T47" fmla="*/ 2147483647 h 2094"/>
              <a:gd name="T48" fmla="*/ 0 w 1769"/>
              <a:gd name="T49" fmla="*/ 2147483647 h 2094"/>
              <a:gd name="T50" fmla="*/ 0 w 1769"/>
              <a:gd name="T51" fmla="*/ 2147483647 h 2094"/>
              <a:gd name="T52" fmla="*/ 2147483647 w 1769"/>
              <a:gd name="T53" fmla="*/ 2147483647 h 2094"/>
              <a:gd name="T54" fmla="*/ 2147483647 w 1769"/>
              <a:gd name="T55" fmla="*/ 2147483647 h 2094"/>
              <a:gd name="T56" fmla="*/ 2147483647 w 1769"/>
              <a:gd name="T57" fmla="*/ 2147483647 h 2094"/>
              <a:gd name="T58" fmla="*/ 2147483647 w 1769"/>
              <a:gd name="T59" fmla="*/ 2147483647 h 2094"/>
              <a:gd name="T60" fmla="*/ 2147483647 w 1769"/>
              <a:gd name="T61" fmla="*/ 2147483647 h 2094"/>
              <a:gd name="T62" fmla="*/ 2147483647 w 1769"/>
              <a:gd name="T63" fmla="*/ 2147483647 h 2094"/>
              <a:gd name="T64" fmla="*/ 2147483647 w 1769"/>
              <a:gd name="T65" fmla="*/ 2147483647 h 2094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1769"/>
              <a:gd name="T100" fmla="*/ 0 h 2094"/>
              <a:gd name="T101" fmla="*/ 1769 w 1769"/>
              <a:gd name="T102" fmla="*/ 2094 h 2094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1769" h="2094">
                <a:moveTo>
                  <a:pt x="110" y="2094"/>
                </a:moveTo>
                <a:lnTo>
                  <a:pt x="1658" y="2094"/>
                </a:lnTo>
                <a:lnTo>
                  <a:pt x="1683" y="2091"/>
                </a:lnTo>
                <a:lnTo>
                  <a:pt x="1707" y="2083"/>
                </a:lnTo>
                <a:lnTo>
                  <a:pt x="1727" y="2070"/>
                </a:lnTo>
                <a:lnTo>
                  <a:pt x="1745" y="2053"/>
                </a:lnTo>
                <a:lnTo>
                  <a:pt x="1758" y="2032"/>
                </a:lnTo>
                <a:lnTo>
                  <a:pt x="1766" y="2008"/>
                </a:lnTo>
                <a:lnTo>
                  <a:pt x="1769" y="1983"/>
                </a:lnTo>
                <a:lnTo>
                  <a:pt x="1769" y="110"/>
                </a:lnTo>
                <a:lnTo>
                  <a:pt x="1766" y="87"/>
                </a:lnTo>
                <a:lnTo>
                  <a:pt x="1758" y="63"/>
                </a:lnTo>
                <a:lnTo>
                  <a:pt x="1745" y="42"/>
                </a:lnTo>
                <a:lnTo>
                  <a:pt x="1727" y="25"/>
                </a:lnTo>
                <a:lnTo>
                  <a:pt x="1707" y="12"/>
                </a:lnTo>
                <a:lnTo>
                  <a:pt x="1683" y="3"/>
                </a:lnTo>
                <a:lnTo>
                  <a:pt x="1658" y="0"/>
                </a:lnTo>
                <a:lnTo>
                  <a:pt x="110" y="0"/>
                </a:lnTo>
                <a:lnTo>
                  <a:pt x="87" y="3"/>
                </a:lnTo>
                <a:lnTo>
                  <a:pt x="63" y="12"/>
                </a:lnTo>
                <a:lnTo>
                  <a:pt x="43" y="25"/>
                </a:lnTo>
                <a:lnTo>
                  <a:pt x="25" y="42"/>
                </a:lnTo>
                <a:lnTo>
                  <a:pt x="12" y="63"/>
                </a:lnTo>
                <a:lnTo>
                  <a:pt x="3" y="87"/>
                </a:lnTo>
                <a:lnTo>
                  <a:pt x="0" y="110"/>
                </a:lnTo>
                <a:lnTo>
                  <a:pt x="0" y="1983"/>
                </a:lnTo>
                <a:lnTo>
                  <a:pt x="3" y="2008"/>
                </a:lnTo>
                <a:lnTo>
                  <a:pt x="12" y="2032"/>
                </a:lnTo>
                <a:lnTo>
                  <a:pt x="25" y="2053"/>
                </a:lnTo>
                <a:lnTo>
                  <a:pt x="43" y="2070"/>
                </a:lnTo>
                <a:lnTo>
                  <a:pt x="63" y="2083"/>
                </a:lnTo>
                <a:lnTo>
                  <a:pt x="87" y="2091"/>
                </a:lnTo>
                <a:lnTo>
                  <a:pt x="110" y="2094"/>
                </a:lnTo>
                <a:close/>
              </a:path>
            </a:pathLst>
          </a:custGeom>
          <a:solidFill>
            <a:srgbClr val="CCCCCC">
              <a:alpha val="39999"/>
            </a:srgbClr>
          </a:solidFill>
          <a:ln w="12700" cap="flat" cmpd="sng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FEC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3.3.3.0/24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Out 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Label=200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 Label=Null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2" name="Freeform 4"/>
          <p:cNvSpPr>
            <a:spLocks noChangeAspect="1"/>
          </p:cNvSpPr>
          <p:nvPr/>
        </p:nvSpPr>
        <p:spPr bwMode="gray">
          <a:xfrm>
            <a:off x="5124770" y="4068167"/>
            <a:ext cx="1485227" cy="677908"/>
          </a:xfrm>
          <a:custGeom>
            <a:avLst/>
            <a:gdLst>
              <a:gd name="T0" fmla="*/ 2147483647 w 1769"/>
              <a:gd name="T1" fmla="*/ 2147483647 h 2094"/>
              <a:gd name="T2" fmla="*/ 2147483647 w 1769"/>
              <a:gd name="T3" fmla="*/ 2147483647 h 2094"/>
              <a:gd name="T4" fmla="*/ 2147483647 w 1769"/>
              <a:gd name="T5" fmla="*/ 2147483647 h 2094"/>
              <a:gd name="T6" fmla="*/ 2147483647 w 1769"/>
              <a:gd name="T7" fmla="*/ 2147483647 h 2094"/>
              <a:gd name="T8" fmla="*/ 2147483647 w 1769"/>
              <a:gd name="T9" fmla="*/ 2147483647 h 2094"/>
              <a:gd name="T10" fmla="*/ 2147483647 w 1769"/>
              <a:gd name="T11" fmla="*/ 2147483647 h 2094"/>
              <a:gd name="T12" fmla="*/ 2147483647 w 1769"/>
              <a:gd name="T13" fmla="*/ 2147483647 h 2094"/>
              <a:gd name="T14" fmla="*/ 2147483647 w 1769"/>
              <a:gd name="T15" fmla="*/ 2147483647 h 2094"/>
              <a:gd name="T16" fmla="*/ 2147483647 w 1769"/>
              <a:gd name="T17" fmla="*/ 2147483647 h 2094"/>
              <a:gd name="T18" fmla="*/ 2147483647 w 1769"/>
              <a:gd name="T19" fmla="*/ 2147483647 h 2094"/>
              <a:gd name="T20" fmla="*/ 2147483647 w 1769"/>
              <a:gd name="T21" fmla="*/ 2147483647 h 2094"/>
              <a:gd name="T22" fmla="*/ 2147483647 w 1769"/>
              <a:gd name="T23" fmla="*/ 2147483647 h 2094"/>
              <a:gd name="T24" fmla="*/ 2147483647 w 1769"/>
              <a:gd name="T25" fmla="*/ 2147483647 h 2094"/>
              <a:gd name="T26" fmla="*/ 2147483647 w 1769"/>
              <a:gd name="T27" fmla="*/ 2147483647 h 2094"/>
              <a:gd name="T28" fmla="*/ 2147483647 w 1769"/>
              <a:gd name="T29" fmla="*/ 2147483647 h 2094"/>
              <a:gd name="T30" fmla="*/ 2147483647 w 1769"/>
              <a:gd name="T31" fmla="*/ 2147483647 h 2094"/>
              <a:gd name="T32" fmla="*/ 2147483647 w 1769"/>
              <a:gd name="T33" fmla="*/ 0 h 2094"/>
              <a:gd name="T34" fmla="*/ 2147483647 w 1769"/>
              <a:gd name="T35" fmla="*/ 0 h 2094"/>
              <a:gd name="T36" fmla="*/ 2147483647 w 1769"/>
              <a:gd name="T37" fmla="*/ 2147483647 h 2094"/>
              <a:gd name="T38" fmla="*/ 2147483647 w 1769"/>
              <a:gd name="T39" fmla="*/ 2147483647 h 2094"/>
              <a:gd name="T40" fmla="*/ 2147483647 w 1769"/>
              <a:gd name="T41" fmla="*/ 2147483647 h 2094"/>
              <a:gd name="T42" fmla="*/ 2147483647 w 1769"/>
              <a:gd name="T43" fmla="*/ 2147483647 h 2094"/>
              <a:gd name="T44" fmla="*/ 2147483647 w 1769"/>
              <a:gd name="T45" fmla="*/ 2147483647 h 2094"/>
              <a:gd name="T46" fmla="*/ 2147483647 w 1769"/>
              <a:gd name="T47" fmla="*/ 2147483647 h 2094"/>
              <a:gd name="T48" fmla="*/ 0 w 1769"/>
              <a:gd name="T49" fmla="*/ 2147483647 h 2094"/>
              <a:gd name="T50" fmla="*/ 0 w 1769"/>
              <a:gd name="T51" fmla="*/ 2147483647 h 2094"/>
              <a:gd name="T52" fmla="*/ 2147483647 w 1769"/>
              <a:gd name="T53" fmla="*/ 2147483647 h 2094"/>
              <a:gd name="T54" fmla="*/ 2147483647 w 1769"/>
              <a:gd name="T55" fmla="*/ 2147483647 h 2094"/>
              <a:gd name="T56" fmla="*/ 2147483647 w 1769"/>
              <a:gd name="T57" fmla="*/ 2147483647 h 2094"/>
              <a:gd name="T58" fmla="*/ 2147483647 w 1769"/>
              <a:gd name="T59" fmla="*/ 2147483647 h 2094"/>
              <a:gd name="T60" fmla="*/ 2147483647 w 1769"/>
              <a:gd name="T61" fmla="*/ 2147483647 h 2094"/>
              <a:gd name="T62" fmla="*/ 2147483647 w 1769"/>
              <a:gd name="T63" fmla="*/ 2147483647 h 2094"/>
              <a:gd name="T64" fmla="*/ 2147483647 w 1769"/>
              <a:gd name="T65" fmla="*/ 2147483647 h 2094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1769"/>
              <a:gd name="T100" fmla="*/ 0 h 2094"/>
              <a:gd name="T101" fmla="*/ 1769 w 1769"/>
              <a:gd name="T102" fmla="*/ 2094 h 2094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1769" h="2094">
                <a:moveTo>
                  <a:pt x="110" y="2094"/>
                </a:moveTo>
                <a:lnTo>
                  <a:pt x="1658" y="2094"/>
                </a:lnTo>
                <a:lnTo>
                  <a:pt x="1683" y="2091"/>
                </a:lnTo>
                <a:lnTo>
                  <a:pt x="1707" y="2083"/>
                </a:lnTo>
                <a:lnTo>
                  <a:pt x="1727" y="2070"/>
                </a:lnTo>
                <a:lnTo>
                  <a:pt x="1745" y="2053"/>
                </a:lnTo>
                <a:lnTo>
                  <a:pt x="1758" y="2032"/>
                </a:lnTo>
                <a:lnTo>
                  <a:pt x="1766" y="2008"/>
                </a:lnTo>
                <a:lnTo>
                  <a:pt x="1769" y="1983"/>
                </a:lnTo>
                <a:lnTo>
                  <a:pt x="1769" y="110"/>
                </a:lnTo>
                <a:lnTo>
                  <a:pt x="1766" y="87"/>
                </a:lnTo>
                <a:lnTo>
                  <a:pt x="1758" y="63"/>
                </a:lnTo>
                <a:lnTo>
                  <a:pt x="1745" y="42"/>
                </a:lnTo>
                <a:lnTo>
                  <a:pt x="1727" y="25"/>
                </a:lnTo>
                <a:lnTo>
                  <a:pt x="1707" y="12"/>
                </a:lnTo>
                <a:lnTo>
                  <a:pt x="1683" y="3"/>
                </a:lnTo>
                <a:lnTo>
                  <a:pt x="1658" y="0"/>
                </a:lnTo>
                <a:lnTo>
                  <a:pt x="110" y="0"/>
                </a:lnTo>
                <a:lnTo>
                  <a:pt x="87" y="3"/>
                </a:lnTo>
                <a:lnTo>
                  <a:pt x="63" y="12"/>
                </a:lnTo>
                <a:lnTo>
                  <a:pt x="43" y="25"/>
                </a:lnTo>
                <a:lnTo>
                  <a:pt x="25" y="42"/>
                </a:lnTo>
                <a:lnTo>
                  <a:pt x="12" y="63"/>
                </a:lnTo>
                <a:lnTo>
                  <a:pt x="3" y="87"/>
                </a:lnTo>
                <a:lnTo>
                  <a:pt x="0" y="110"/>
                </a:lnTo>
                <a:lnTo>
                  <a:pt x="0" y="1983"/>
                </a:lnTo>
                <a:lnTo>
                  <a:pt x="3" y="2008"/>
                </a:lnTo>
                <a:lnTo>
                  <a:pt x="12" y="2032"/>
                </a:lnTo>
                <a:lnTo>
                  <a:pt x="25" y="2053"/>
                </a:lnTo>
                <a:lnTo>
                  <a:pt x="43" y="2070"/>
                </a:lnTo>
                <a:lnTo>
                  <a:pt x="63" y="2083"/>
                </a:lnTo>
                <a:lnTo>
                  <a:pt x="87" y="2091"/>
                </a:lnTo>
                <a:lnTo>
                  <a:pt x="110" y="2094"/>
                </a:lnTo>
                <a:close/>
              </a:path>
            </a:pathLst>
          </a:custGeom>
          <a:solidFill>
            <a:srgbClr val="CCCCCC">
              <a:alpha val="39999"/>
            </a:srgbClr>
          </a:solidFill>
          <a:ln w="12700" cap="flat" cmpd="sng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FEC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3.3.3.0/24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Out Label=300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 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Label=200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3" name="Freeform 4"/>
          <p:cNvSpPr>
            <a:spLocks noChangeAspect="1"/>
          </p:cNvSpPr>
          <p:nvPr/>
        </p:nvSpPr>
        <p:spPr bwMode="gray">
          <a:xfrm>
            <a:off x="7816081" y="4068167"/>
            <a:ext cx="1485227" cy="677908"/>
          </a:xfrm>
          <a:custGeom>
            <a:avLst/>
            <a:gdLst>
              <a:gd name="T0" fmla="*/ 2147483647 w 1769"/>
              <a:gd name="T1" fmla="*/ 2147483647 h 2094"/>
              <a:gd name="T2" fmla="*/ 2147483647 w 1769"/>
              <a:gd name="T3" fmla="*/ 2147483647 h 2094"/>
              <a:gd name="T4" fmla="*/ 2147483647 w 1769"/>
              <a:gd name="T5" fmla="*/ 2147483647 h 2094"/>
              <a:gd name="T6" fmla="*/ 2147483647 w 1769"/>
              <a:gd name="T7" fmla="*/ 2147483647 h 2094"/>
              <a:gd name="T8" fmla="*/ 2147483647 w 1769"/>
              <a:gd name="T9" fmla="*/ 2147483647 h 2094"/>
              <a:gd name="T10" fmla="*/ 2147483647 w 1769"/>
              <a:gd name="T11" fmla="*/ 2147483647 h 2094"/>
              <a:gd name="T12" fmla="*/ 2147483647 w 1769"/>
              <a:gd name="T13" fmla="*/ 2147483647 h 2094"/>
              <a:gd name="T14" fmla="*/ 2147483647 w 1769"/>
              <a:gd name="T15" fmla="*/ 2147483647 h 2094"/>
              <a:gd name="T16" fmla="*/ 2147483647 w 1769"/>
              <a:gd name="T17" fmla="*/ 2147483647 h 2094"/>
              <a:gd name="T18" fmla="*/ 2147483647 w 1769"/>
              <a:gd name="T19" fmla="*/ 2147483647 h 2094"/>
              <a:gd name="T20" fmla="*/ 2147483647 w 1769"/>
              <a:gd name="T21" fmla="*/ 2147483647 h 2094"/>
              <a:gd name="T22" fmla="*/ 2147483647 w 1769"/>
              <a:gd name="T23" fmla="*/ 2147483647 h 2094"/>
              <a:gd name="T24" fmla="*/ 2147483647 w 1769"/>
              <a:gd name="T25" fmla="*/ 2147483647 h 2094"/>
              <a:gd name="T26" fmla="*/ 2147483647 w 1769"/>
              <a:gd name="T27" fmla="*/ 2147483647 h 2094"/>
              <a:gd name="T28" fmla="*/ 2147483647 w 1769"/>
              <a:gd name="T29" fmla="*/ 2147483647 h 2094"/>
              <a:gd name="T30" fmla="*/ 2147483647 w 1769"/>
              <a:gd name="T31" fmla="*/ 2147483647 h 2094"/>
              <a:gd name="T32" fmla="*/ 2147483647 w 1769"/>
              <a:gd name="T33" fmla="*/ 0 h 2094"/>
              <a:gd name="T34" fmla="*/ 2147483647 w 1769"/>
              <a:gd name="T35" fmla="*/ 0 h 2094"/>
              <a:gd name="T36" fmla="*/ 2147483647 w 1769"/>
              <a:gd name="T37" fmla="*/ 2147483647 h 2094"/>
              <a:gd name="T38" fmla="*/ 2147483647 w 1769"/>
              <a:gd name="T39" fmla="*/ 2147483647 h 2094"/>
              <a:gd name="T40" fmla="*/ 2147483647 w 1769"/>
              <a:gd name="T41" fmla="*/ 2147483647 h 2094"/>
              <a:gd name="T42" fmla="*/ 2147483647 w 1769"/>
              <a:gd name="T43" fmla="*/ 2147483647 h 2094"/>
              <a:gd name="T44" fmla="*/ 2147483647 w 1769"/>
              <a:gd name="T45" fmla="*/ 2147483647 h 2094"/>
              <a:gd name="T46" fmla="*/ 2147483647 w 1769"/>
              <a:gd name="T47" fmla="*/ 2147483647 h 2094"/>
              <a:gd name="T48" fmla="*/ 0 w 1769"/>
              <a:gd name="T49" fmla="*/ 2147483647 h 2094"/>
              <a:gd name="T50" fmla="*/ 0 w 1769"/>
              <a:gd name="T51" fmla="*/ 2147483647 h 2094"/>
              <a:gd name="T52" fmla="*/ 2147483647 w 1769"/>
              <a:gd name="T53" fmla="*/ 2147483647 h 2094"/>
              <a:gd name="T54" fmla="*/ 2147483647 w 1769"/>
              <a:gd name="T55" fmla="*/ 2147483647 h 2094"/>
              <a:gd name="T56" fmla="*/ 2147483647 w 1769"/>
              <a:gd name="T57" fmla="*/ 2147483647 h 2094"/>
              <a:gd name="T58" fmla="*/ 2147483647 w 1769"/>
              <a:gd name="T59" fmla="*/ 2147483647 h 2094"/>
              <a:gd name="T60" fmla="*/ 2147483647 w 1769"/>
              <a:gd name="T61" fmla="*/ 2147483647 h 2094"/>
              <a:gd name="T62" fmla="*/ 2147483647 w 1769"/>
              <a:gd name="T63" fmla="*/ 2147483647 h 2094"/>
              <a:gd name="T64" fmla="*/ 2147483647 w 1769"/>
              <a:gd name="T65" fmla="*/ 2147483647 h 2094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1769"/>
              <a:gd name="T100" fmla="*/ 0 h 2094"/>
              <a:gd name="T101" fmla="*/ 1769 w 1769"/>
              <a:gd name="T102" fmla="*/ 2094 h 2094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1769" h="2094">
                <a:moveTo>
                  <a:pt x="110" y="2094"/>
                </a:moveTo>
                <a:lnTo>
                  <a:pt x="1658" y="2094"/>
                </a:lnTo>
                <a:lnTo>
                  <a:pt x="1683" y="2091"/>
                </a:lnTo>
                <a:lnTo>
                  <a:pt x="1707" y="2083"/>
                </a:lnTo>
                <a:lnTo>
                  <a:pt x="1727" y="2070"/>
                </a:lnTo>
                <a:lnTo>
                  <a:pt x="1745" y="2053"/>
                </a:lnTo>
                <a:lnTo>
                  <a:pt x="1758" y="2032"/>
                </a:lnTo>
                <a:lnTo>
                  <a:pt x="1766" y="2008"/>
                </a:lnTo>
                <a:lnTo>
                  <a:pt x="1769" y="1983"/>
                </a:lnTo>
                <a:lnTo>
                  <a:pt x="1769" y="110"/>
                </a:lnTo>
                <a:lnTo>
                  <a:pt x="1766" y="87"/>
                </a:lnTo>
                <a:lnTo>
                  <a:pt x="1758" y="63"/>
                </a:lnTo>
                <a:lnTo>
                  <a:pt x="1745" y="42"/>
                </a:lnTo>
                <a:lnTo>
                  <a:pt x="1727" y="25"/>
                </a:lnTo>
                <a:lnTo>
                  <a:pt x="1707" y="12"/>
                </a:lnTo>
                <a:lnTo>
                  <a:pt x="1683" y="3"/>
                </a:lnTo>
                <a:lnTo>
                  <a:pt x="1658" y="0"/>
                </a:lnTo>
                <a:lnTo>
                  <a:pt x="110" y="0"/>
                </a:lnTo>
                <a:lnTo>
                  <a:pt x="87" y="3"/>
                </a:lnTo>
                <a:lnTo>
                  <a:pt x="63" y="12"/>
                </a:lnTo>
                <a:lnTo>
                  <a:pt x="43" y="25"/>
                </a:lnTo>
                <a:lnTo>
                  <a:pt x="25" y="42"/>
                </a:lnTo>
                <a:lnTo>
                  <a:pt x="12" y="63"/>
                </a:lnTo>
                <a:lnTo>
                  <a:pt x="3" y="87"/>
                </a:lnTo>
                <a:lnTo>
                  <a:pt x="0" y="110"/>
                </a:lnTo>
                <a:lnTo>
                  <a:pt x="0" y="1983"/>
                </a:lnTo>
                <a:lnTo>
                  <a:pt x="3" y="2008"/>
                </a:lnTo>
                <a:lnTo>
                  <a:pt x="12" y="2032"/>
                </a:lnTo>
                <a:lnTo>
                  <a:pt x="25" y="2053"/>
                </a:lnTo>
                <a:lnTo>
                  <a:pt x="43" y="2070"/>
                </a:lnTo>
                <a:lnTo>
                  <a:pt x="63" y="2083"/>
                </a:lnTo>
                <a:lnTo>
                  <a:pt x="87" y="2091"/>
                </a:lnTo>
                <a:lnTo>
                  <a:pt x="110" y="2094"/>
                </a:lnTo>
                <a:close/>
              </a:path>
            </a:pathLst>
          </a:custGeom>
          <a:solidFill>
            <a:srgbClr val="CCCCCC">
              <a:alpha val="39999"/>
            </a:srgbClr>
          </a:solidFill>
          <a:ln w="12700" cap="flat" cmpd="sng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FEC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3.3.3.0/24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Out 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Label=Null</a:t>
            </a:r>
          </a:p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 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Label=300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4" name="Rounded Rectangle 36"/>
          <p:cNvSpPr/>
          <p:nvPr/>
        </p:nvSpPr>
        <p:spPr bwMode="gray">
          <a:xfrm>
            <a:off x="2924650" y="4887210"/>
            <a:ext cx="5979319" cy="954186"/>
          </a:xfrm>
          <a:prstGeom prst="roundRect">
            <a:avLst>
              <a:gd name="adj" fmla="val 5020"/>
            </a:avLst>
          </a:prstGeom>
          <a:solidFill>
            <a:srgbClr val="BEE9EE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kern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65" name="直接连接符 64"/>
          <p:cNvCxnSpPr/>
          <p:nvPr/>
        </p:nvCxnSpPr>
        <p:spPr bwMode="gray">
          <a:xfrm>
            <a:off x="8627778" y="5363034"/>
            <a:ext cx="104136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 bwMode="gray">
          <a:xfrm rot="5400000">
            <a:off x="2601669" y="4976619"/>
            <a:ext cx="0" cy="89087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4"/>
          <p:cNvCxnSpPr/>
          <p:nvPr/>
        </p:nvCxnSpPr>
        <p:spPr bwMode="gray">
          <a:xfrm>
            <a:off x="3246866" y="5356540"/>
            <a:ext cx="5350280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48"/>
          <p:cNvSpPr txBox="1"/>
          <p:nvPr/>
        </p:nvSpPr>
        <p:spPr bwMode="gray">
          <a:xfrm>
            <a:off x="5664443" y="5528347"/>
            <a:ext cx="405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73" name="图片 72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597383" y="5152421"/>
            <a:ext cx="540000" cy="442800"/>
          </a:xfrm>
          <a:prstGeom prst="rect">
            <a:avLst/>
          </a:prstGeom>
        </p:spPr>
      </p:pic>
      <p:pic>
        <p:nvPicPr>
          <p:cNvPr id="77" name="图片 76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974626" y="5152421"/>
            <a:ext cx="540000" cy="442800"/>
          </a:xfrm>
          <a:prstGeom prst="rect">
            <a:avLst/>
          </a:prstGeom>
        </p:spPr>
      </p:pic>
      <p:sp>
        <p:nvSpPr>
          <p:cNvPr id="78" name="TextBox 43"/>
          <p:cNvSpPr txBox="1"/>
          <p:nvPr/>
        </p:nvSpPr>
        <p:spPr bwMode="gray">
          <a:xfrm>
            <a:off x="3067027" y="5528347"/>
            <a:ext cx="405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80" name="图片 79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260648" y="5152421"/>
            <a:ext cx="540000" cy="442800"/>
          </a:xfrm>
          <a:prstGeom prst="rect">
            <a:avLst/>
          </a:prstGeom>
        </p:spPr>
      </p:pic>
      <p:sp>
        <p:nvSpPr>
          <p:cNvPr id="81" name="TextBox 43"/>
          <p:cNvSpPr txBox="1"/>
          <p:nvPr/>
        </p:nvSpPr>
        <p:spPr bwMode="gray">
          <a:xfrm>
            <a:off x="8344792" y="5528347"/>
            <a:ext cx="405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2" name="Rectangle 67"/>
          <p:cNvSpPr/>
          <p:nvPr/>
        </p:nvSpPr>
        <p:spPr bwMode="gray">
          <a:xfrm>
            <a:off x="3898201" y="5513497"/>
            <a:ext cx="134043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 Domain</a:t>
            </a:r>
          </a:p>
        </p:txBody>
      </p:sp>
      <p:sp>
        <p:nvSpPr>
          <p:cNvPr id="84" name="Freeform 159"/>
          <p:cNvSpPr>
            <a:spLocks noChangeAspect="1"/>
          </p:cNvSpPr>
          <p:nvPr/>
        </p:nvSpPr>
        <p:spPr bwMode="gray">
          <a:xfrm flipH="1">
            <a:off x="1160137" y="4907045"/>
            <a:ext cx="1377387" cy="720000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5" name="文本框 84"/>
          <p:cNvSpPr txBox="1"/>
          <p:nvPr/>
        </p:nvSpPr>
        <p:spPr bwMode="gray">
          <a:xfrm>
            <a:off x="1356548" y="5034970"/>
            <a:ext cx="98456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网络</a:t>
            </a:r>
            <a:endParaRPr lang="en-US" altLang="zh-CN" sz="16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1.1.1.0/24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86" name="直接连接符 55"/>
          <p:cNvCxnSpPr/>
          <p:nvPr/>
        </p:nvCxnSpPr>
        <p:spPr bwMode="gray">
          <a:xfrm flipV="1">
            <a:off x="3202648" y="6103548"/>
            <a:ext cx="5394500" cy="1"/>
          </a:xfrm>
          <a:prstGeom prst="line">
            <a:avLst/>
          </a:prstGeom>
          <a:ln w="38100">
            <a:solidFill>
              <a:srgbClr val="30B5C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Freeform 159"/>
          <p:cNvSpPr>
            <a:spLocks noChangeAspect="1"/>
          </p:cNvSpPr>
          <p:nvPr/>
        </p:nvSpPr>
        <p:spPr bwMode="gray">
          <a:xfrm flipH="1">
            <a:off x="9458681" y="4919377"/>
            <a:ext cx="1377387" cy="720000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0" name="文本框 89"/>
          <p:cNvSpPr txBox="1"/>
          <p:nvPr/>
        </p:nvSpPr>
        <p:spPr bwMode="gray">
          <a:xfrm>
            <a:off x="9655092" y="5047302"/>
            <a:ext cx="98456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网络</a:t>
            </a:r>
            <a:endParaRPr lang="en-US" altLang="zh-CN" sz="16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3.3.3.0/24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 bwMode="gray">
          <a:xfrm>
            <a:off x="5366360" y="5841396"/>
            <a:ext cx="10020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smtClean="0"/>
              <a:t>LSP</a:t>
            </a:r>
            <a:endParaRPr lang="zh-CN" altLang="en-US" sz="1400" dirty="0" smtClean="0"/>
          </a:p>
        </p:txBody>
      </p:sp>
      <p:sp>
        <p:nvSpPr>
          <p:cNvPr id="8" name="文本框 7"/>
          <p:cNvSpPr txBox="1"/>
          <p:nvPr/>
        </p:nvSpPr>
        <p:spPr bwMode="gray">
          <a:xfrm>
            <a:off x="3473998" y="4945327"/>
            <a:ext cx="10422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smtClean="0"/>
              <a:t>GE0/0/0</a:t>
            </a:r>
          </a:p>
          <a:p>
            <a:r>
              <a:rPr lang="en-US" altLang="zh-CN" sz="1200" dirty="0" smtClean="0"/>
              <a:t>10.0.12.1/24</a:t>
            </a:r>
            <a:endParaRPr lang="zh-CN" altLang="en-US" sz="1200" dirty="0" smtClean="0"/>
          </a:p>
        </p:txBody>
      </p:sp>
      <p:sp>
        <p:nvSpPr>
          <p:cNvPr id="97" name="文本框 96"/>
          <p:cNvSpPr txBox="1"/>
          <p:nvPr/>
        </p:nvSpPr>
        <p:spPr bwMode="gray">
          <a:xfrm>
            <a:off x="4630730" y="4939563"/>
            <a:ext cx="10422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200" dirty="0" smtClean="0"/>
              <a:t>GE0/0/0</a:t>
            </a:r>
          </a:p>
          <a:p>
            <a:pPr algn="r"/>
            <a:r>
              <a:rPr lang="en-US" altLang="zh-CN" sz="1200" dirty="0" smtClean="0"/>
              <a:t>10.0.12.2/24</a:t>
            </a:r>
            <a:endParaRPr lang="zh-CN" altLang="en-US" sz="1200" dirty="0" smtClean="0"/>
          </a:p>
        </p:txBody>
      </p:sp>
      <p:sp>
        <p:nvSpPr>
          <p:cNvPr id="98" name="文本框 97"/>
          <p:cNvSpPr txBox="1"/>
          <p:nvPr/>
        </p:nvSpPr>
        <p:spPr bwMode="gray">
          <a:xfrm>
            <a:off x="6052745" y="4955408"/>
            <a:ext cx="10422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smtClean="0"/>
              <a:t>GE0/0/1</a:t>
            </a:r>
          </a:p>
          <a:p>
            <a:r>
              <a:rPr lang="en-US" altLang="zh-CN" sz="1200" dirty="0" smtClean="0"/>
              <a:t>10.0.23.2/24</a:t>
            </a:r>
            <a:endParaRPr lang="zh-CN" altLang="en-US" sz="1200" dirty="0" smtClean="0"/>
          </a:p>
        </p:txBody>
      </p:sp>
      <p:sp>
        <p:nvSpPr>
          <p:cNvPr id="99" name="文本框 98"/>
          <p:cNvSpPr txBox="1"/>
          <p:nvPr/>
        </p:nvSpPr>
        <p:spPr bwMode="gray">
          <a:xfrm>
            <a:off x="7288899" y="4936038"/>
            <a:ext cx="10422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200" dirty="0" smtClean="0"/>
              <a:t>GE0/0/0</a:t>
            </a:r>
          </a:p>
          <a:p>
            <a:pPr algn="r"/>
            <a:r>
              <a:rPr lang="en-US" altLang="zh-CN" sz="1200" dirty="0" smtClean="0"/>
              <a:t>10.0.23.3/24</a:t>
            </a:r>
            <a:endParaRPr lang="zh-CN" altLang="en-US" sz="1200" dirty="0" smtClean="0"/>
          </a:p>
        </p:txBody>
      </p:sp>
      <p:sp>
        <p:nvSpPr>
          <p:cNvPr id="28" name="矩形 27"/>
          <p:cNvSpPr/>
          <p:nvPr/>
        </p:nvSpPr>
        <p:spPr bwMode="gray">
          <a:xfrm>
            <a:off x="446088" y="1240382"/>
            <a:ext cx="10492422" cy="423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 startAt="2"/>
            </a:pP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</a:t>
            </a: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去往</a:t>
            </a: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方向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的静态</a:t>
            </a: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xmlns="" id="{7B785A75-A9ED-43DB-AC85-C8785E732ED7}"/>
              </a:ext>
            </a:extLst>
          </p:cNvPr>
          <p:cNvSpPr txBox="1">
            <a:spLocks/>
          </p:cNvSpPr>
          <p:nvPr/>
        </p:nvSpPr>
        <p:spPr bwMode="gray">
          <a:xfrm>
            <a:off x="700423" y="1724886"/>
            <a:ext cx="10134817" cy="3482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fontAlgn="auto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</a:defRPr>
            </a:lvl1pPr>
          </a:lstStyle>
          <a:p>
            <a:pPr>
              <a:lnSpc>
                <a:spcPts val="2200"/>
              </a:lnSpc>
            </a:pPr>
            <a:r>
              <a:rPr lang="en-US" altLang="zh-CN" dirty="0">
                <a:sym typeface="Huawei Sans" panose="020C0503030203020204" pitchFamily="34" charset="0"/>
              </a:rPr>
              <a:t>[R1] static-</a:t>
            </a:r>
            <a:r>
              <a:rPr lang="en-US" altLang="zh-CN" dirty="0" err="1">
                <a:sym typeface="Huawei Sans" panose="020C0503030203020204" pitchFamily="34" charset="0"/>
              </a:rPr>
              <a:t>lsp</a:t>
            </a:r>
            <a:r>
              <a:rPr lang="en-US" altLang="zh-CN" dirty="0">
                <a:sym typeface="Huawei Sans" panose="020C0503030203020204" pitchFamily="34" charset="0"/>
              </a:rPr>
              <a:t> ingress </a:t>
            </a:r>
            <a:r>
              <a:rPr lang="en-US" altLang="zh-CN" dirty="0" smtClean="0">
                <a:sym typeface="Huawei Sans" panose="020C0503030203020204" pitchFamily="34" charset="0"/>
              </a:rPr>
              <a:t>1to3 </a:t>
            </a:r>
            <a:r>
              <a:rPr lang="en-US" altLang="zh-CN" dirty="0">
                <a:sym typeface="Huawei Sans" panose="020C0503030203020204" pitchFamily="34" charset="0"/>
              </a:rPr>
              <a:t>destination </a:t>
            </a:r>
            <a:r>
              <a:rPr lang="en-US" altLang="zh-CN" dirty="0" smtClean="0">
                <a:sym typeface="Huawei Sans" panose="020C0503030203020204" pitchFamily="34" charset="0"/>
              </a:rPr>
              <a:t>3.3.3.0 </a:t>
            </a:r>
            <a:r>
              <a:rPr lang="en-US" altLang="zh-CN" dirty="0">
                <a:sym typeface="Huawei Sans" panose="020C0503030203020204" pitchFamily="34" charset="0"/>
              </a:rPr>
              <a:t>24 </a:t>
            </a:r>
            <a:r>
              <a:rPr lang="en-US" altLang="zh-CN" dirty="0" err="1">
                <a:sym typeface="Huawei Sans" panose="020C0503030203020204" pitchFamily="34" charset="0"/>
              </a:rPr>
              <a:t>nexthop</a:t>
            </a:r>
            <a:r>
              <a:rPr lang="en-US" altLang="zh-CN" dirty="0">
                <a:sym typeface="Huawei Sans" panose="020C0503030203020204" pitchFamily="34" charset="0"/>
              </a:rPr>
              <a:t> </a:t>
            </a:r>
            <a:r>
              <a:rPr lang="en-US" altLang="zh-CN" dirty="0" smtClean="0">
                <a:sym typeface="Huawei Sans" panose="020C0503030203020204" pitchFamily="34" charset="0"/>
              </a:rPr>
              <a:t>10.0.12.2 </a:t>
            </a:r>
            <a:r>
              <a:rPr lang="en-US" altLang="zh-CN" dirty="0">
                <a:sym typeface="Huawei Sans" panose="020C0503030203020204" pitchFamily="34" charset="0"/>
              </a:rPr>
              <a:t>out-label </a:t>
            </a:r>
            <a:r>
              <a:rPr lang="en-US" altLang="zh-CN" dirty="0" smtClean="0">
                <a:sym typeface="Huawei Sans" panose="020C0503030203020204" pitchFamily="34" charset="0"/>
              </a:rPr>
              <a:t>200</a:t>
            </a:r>
            <a:endParaRPr lang="en-US" altLang="zh-CN" dirty="0">
              <a:sym typeface="Huawei Sans" panose="020C0503030203020204" pitchFamily="34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xmlns="" id="{7B785A75-A9ED-43DB-AC85-C8785E732ED7}"/>
              </a:ext>
            </a:extLst>
          </p:cNvPr>
          <p:cNvSpPr txBox="1">
            <a:spLocks/>
          </p:cNvSpPr>
          <p:nvPr/>
        </p:nvSpPr>
        <p:spPr bwMode="gray">
          <a:xfrm>
            <a:off x="700423" y="2270969"/>
            <a:ext cx="10134817" cy="3482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fontAlgn="auto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</a:defRPr>
            </a:lvl1pPr>
          </a:lstStyle>
          <a:p>
            <a:pPr>
              <a:lnSpc>
                <a:spcPts val="2200"/>
              </a:lnSpc>
            </a:pPr>
            <a:r>
              <a:rPr lang="en-US" altLang="zh-CN" dirty="0" smtClean="0">
                <a:sym typeface="Huawei Sans" panose="020C0503030203020204" pitchFamily="34" charset="0"/>
              </a:rPr>
              <a:t>[</a:t>
            </a:r>
            <a:r>
              <a:rPr lang="en-US" altLang="zh-CN" dirty="0">
                <a:sym typeface="Huawei Sans" panose="020C0503030203020204" pitchFamily="34" charset="0"/>
              </a:rPr>
              <a:t>R2] static-</a:t>
            </a:r>
            <a:r>
              <a:rPr lang="en-US" altLang="zh-CN" dirty="0" err="1">
                <a:sym typeface="Huawei Sans" panose="020C0503030203020204" pitchFamily="34" charset="0"/>
              </a:rPr>
              <a:t>lsp</a:t>
            </a:r>
            <a:r>
              <a:rPr lang="en-US" altLang="zh-CN" dirty="0">
                <a:sym typeface="Huawei Sans" panose="020C0503030203020204" pitchFamily="34" charset="0"/>
              </a:rPr>
              <a:t> transit </a:t>
            </a:r>
            <a:r>
              <a:rPr lang="en-US" altLang="zh-CN" dirty="0" smtClean="0">
                <a:sym typeface="Huawei Sans" panose="020C0503030203020204" pitchFamily="34" charset="0"/>
              </a:rPr>
              <a:t>1to3 </a:t>
            </a:r>
            <a:r>
              <a:rPr lang="en-US" altLang="zh-CN" dirty="0">
                <a:sym typeface="Huawei Sans" panose="020C0503030203020204" pitchFamily="34" charset="0"/>
              </a:rPr>
              <a:t>incoming-interface </a:t>
            </a:r>
            <a:r>
              <a:rPr lang="en-US" altLang="zh-CN" dirty="0" err="1">
                <a:sym typeface="Huawei Sans" panose="020C0503030203020204" pitchFamily="34" charset="0"/>
              </a:rPr>
              <a:t>GigabitEthernet</a:t>
            </a:r>
            <a:r>
              <a:rPr lang="en-US" altLang="zh-CN" dirty="0">
                <a:sym typeface="Huawei Sans" panose="020C0503030203020204" pitchFamily="34" charset="0"/>
              </a:rPr>
              <a:t> 0/0/0 in-label 200 </a:t>
            </a:r>
            <a:r>
              <a:rPr lang="en-US" altLang="zh-CN" dirty="0" err="1">
                <a:sym typeface="Huawei Sans" panose="020C0503030203020204" pitchFamily="34" charset="0"/>
              </a:rPr>
              <a:t>nexthop</a:t>
            </a:r>
            <a:r>
              <a:rPr lang="en-US" altLang="zh-CN" dirty="0">
                <a:sym typeface="Huawei Sans" panose="020C0503030203020204" pitchFamily="34" charset="0"/>
              </a:rPr>
              <a:t> </a:t>
            </a:r>
            <a:r>
              <a:rPr lang="en-US" altLang="zh-CN" dirty="0" smtClean="0">
                <a:sym typeface="Huawei Sans" panose="020C0503030203020204" pitchFamily="34" charset="0"/>
              </a:rPr>
              <a:t>10.0.23.3 </a:t>
            </a:r>
            <a:r>
              <a:rPr lang="en-US" altLang="zh-CN" dirty="0">
                <a:sym typeface="Huawei Sans" panose="020C0503030203020204" pitchFamily="34" charset="0"/>
              </a:rPr>
              <a:t>out-label </a:t>
            </a:r>
            <a:r>
              <a:rPr lang="en-US" altLang="zh-CN" dirty="0" smtClean="0">
                <a:sym typeface="Huawei Sans" panose="020C0503030203020204" pitchFamily="34" charset="0"/>
              </a:rPr>
              <a:t>300</a:t>
            </a:r>
            <a:endParaRPr lang="en-US" altLang="zh-CN" dirty="0">
              <a:sym typeface="Huawei Sans" panose="020C0503030203020204" pitchFamily="34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xmlns="" id="{7B785A75-A9ED-43DB-AC85-C8785E732ED7}"/>
              </a:ext>
            </a:extLst>
          </p:cNvPr>
          <p:cNvSpPr txBox="1">
            <a:spLocks/>
          </p:cNvSpPr>
          <p:nvPr/>
        </p:nvSpPr>
        <p:spPr bwMode="gray">
          <a:xfrm>
            <a:off x="700423" y="2817051"/>
            <a:ext cx="10134817" cy="3482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fontAlgn="auto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</a:defRPr>
            </a:lvl1pPr>
          </a:lstStyle>
          <a:p>
            <a:pPr>
              <a:lnSpc>
                <a:spcPts val="2200"/>
              </a:lnSpc>
            </a:pPr>
            <a:r>
              <a:rPr lang="en-US" altLang="zh-CN" dirty="0" smtClean="0">
                <a:sym typeface="Huawei Sans" panose="020C0503030203020204" pitchFamily="34" charset="0"/>
              </a:rPr>
              <a:t>[R3] </a:t>
            </a:r>
            <a:r>
              <a:rPr lang="en-US" altLang="zh-CN" dirty="0">
                <a:sym typeface="Huawei Sans" panose="020C0503030203020204" pitchFamily="34" charset="0"/>
              </a:rPr>
              <a:t>static-</a:t>
            </a:r>
            <a:r>
              <a:rPr lang="en-US" altLang="zh-CN" dirty="0" err="1">
                <a:sym typeface="Huawei Sans" panose="020C0503030203020204" pitchFamily="34" charset="0"/>
              </a:rPr>
              <a:t>lsp</a:t>
            </a:r>
            <a:r>
              <a:rPr lang="en-US" altLang="zh-CN" dirty="0">
                <a:sym typeface="Huawei Sans" panose="020C0503030203020204" pitchFamily="34" charset="0"/>
              </a:rPr>
              <a:t> egress </a:t>
            </a:r>
            <a:r>
              <a:rPr lang="en-US" altLang="zh-CN" dirty="0" smtClean="0">
                <a:sym typeface="Huawei Sans" panose="020C0503030203020204" pitchFamily="34" charset="0"/>
              </a:rPr>
              <a:t>1to3 </a:t>
            </a:r>
            <a:r>
              <a:rPr lang="en-US" altLang="zh-CN" dirty="0">
                <a:sym typeface="Huawei Sans" panose="020C0503030203020204" pitchFamily="34" charset="0"/>
              </a:rPr>
              <a:t>incoming-interface </a:t>
            </a:r>
            <a:r>
              <a:rPr lang="en-US" altLang="zh-CN" dirty="0" err="1">
                <a:sym typeface="Huawei Sans" panose="020C0503030203020204" pitchFamily="34" charset="0"/>
              </a:rPr>
              <a:t>GigabitEthernet</a:t>
            </a:r>
            <a:r>
              <a:rPr lang="en-US" altLang="zh-CN" dirty="0">
                <a:sym typeface="Huawei Sans" panose="020C0503030203020204" pitchFamily="34" charset="0"/>
              </a:rPr>
              <a:t> 0/0/0 in-label </a:t>
            </a:r>
            <a:r>
              <a:rPr lang="en-US" altLang="zh-CN" dirty="0" smtClean="0">
                <a:sym typeface="Huawei Sans" panose="020C0503030203020204" pitchFamily="34" charset="0"/>
              </a:rPr>
              <a:t>300</a:t>
            </a:r>
            <a:endParaRPr lang="en-US" altLang="zh-CN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3955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smtClean="0">
                <a:sym typeface="Huawei Sans" panose="020C0503030203020204" pitchFamily="34" charset="0"/>
              </a:rPr>
              <a:t>静态</a:t>
            </a:r>
            <a:r>
              <a:rPr lang="en-US" altLang="zh-CN" smtClean="0">
                <a:sym typeface="Huawei Sans" panose="020C0503030203020204" pitchFamily="34" charset="0"/>
              </a:rPr>
              <a:t>LSP</a:t>
            </a:r>
            <a:r>
              <a:rPr lang="zh-CN" altLang="en-US" smtClean="0">
                <a:sym typeface="Huawei Sans" panose="020C0503030203020204" pitchFamily="34" charset="0"/>
              </a:rPr>
              <a:t>配置案例 </a:t>
            </a:r>
            <a:r>
              <a:rPr lang="en-US" altLang="zh-CN" smtClean="0">
                <a:sym typeface="Huawei Sans" panose="020C0503030203020204" pitchFamily="34" charset="0"/>
              </a:rPr>
              <a:t>- </a:t>
            </a:r>
            <a:r>
              <a:rPr lang="zh-CN" altLang="en-US" smtClean="0">
                <a:sym typeface="Huawei Sans" panose="020C0503030203020204" pitchFamily="34" charset="0"/>
              </a:rPr>
              <a:t>检查配置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xmlns="" id="{7B785A75-A9ED-43DB-AC85-C8785E732ED7}"/>
              </a:ext>
            </a:extLst>
          </p:cNvPr>
          <p:cNvSpPr txBox="1"/>
          <p:nvPr/>
        </p:nvSpPr>
        <p:spPr bwMode="gray">
          <a:xfrm>
            <a:off x="593771" y="1494255"/>
            <a:ext cx="5063104" cy="13849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fontAlgn="auto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CN" dirty="0">
                <a:sym typeface="Huawei Sans" panose="020C0503030203020204" pitchFamily="34" charset="0"/>
              </a:rPr>
              <a:t>[R1]display </a:t>
            </a:r>
            <a:r>
              <a:rPr lang="en-US" altLang="zh-CN" dirty="0" err="1">
                <a:sym typeface="Huawei Sans" panose="020C0503030203020204" pitchFamily="34" charset="0"/>
              </a:rPr>
              <a:t>mpls</a:t>
            </a:r>
            <a:r>
              <a:rPr lang="en-US" altLang="zh-CN" dirty="0">
                <a:sym typeface="Huawei Sans" panose="020C0503030203020204" pitchFamily="34" charset="0"/>
              </a:rPr>
              <a:t> </a:t>
            </a:r>
            <a:r>
              <a:rPr lang="en-US" altLang="zh-CN" dirty="0" err="1">
                <a:sym typeface="Huawei Sans" panose="020C0503030203020204" pitchFamily="34" charset="0"/>
              </a:rPr>
              <a:t>lsp</a:t>
            </a:r>
            <a:r>
              <a:rPr lang="en-US" altLang="zh-CN" dirty="0">
                <a:sym typeface="Huawei Sans" panose="020C0503030203020204" pitchFamily="34" charset="0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US" altLang="zh-CN" dirty="0" smtClean="0">
                <a:sym typeface="Huawei Sans" panose="020C0503030203020204" pitchFamily="34" charset="0"/>
              </a:rPr>
              <a:t>---------------------------------------------------------------------</a:t>
            </a:r>
            <a:endParaRPr lang="en-US" altLang="zh-CN" dirty="0">
              <a:sym typeface="Huawei Sans" panose="020C0503030203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altLang="zh-CN" dirty="0">
                <a:sym typeface="Huawei Sans" panose="020C0503030203020204" pitchFamily="34" charset="0"/>
              </a:rPr>
              <a:t>                 LSP Information: STATIC LSP</a:t>
            </a:r>
          </a:p>
          <a:p>
            <a:pPr>
              <a:lnSpc>
                <a:spcPct val="100000"/>
              </a:lnSpc>
            </a:pPr>
            <a:r>
              <a:rPr lang="en-US" altLang="zh-CN" dirty="0" smtClean="0">
                <a:sym typeface="Huawei Sans" panose="020C0503030203020204" pitchFamily="34" charset="0"/>
              </a:rPr>
              <a:t>---------------------------------------------------------------------</a:t>
            </a:r>
            <a:endParaRPr lang="en-US" altLang="zh-CN" dirty="0">
              <a:sym typeface="Huawei Sans" panose="020C0503030203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altLang="zh-CN" dirty="0">
                <a:sym typeface="Huawei Sans" panose="020C0503030203020204" pitchFamily="34" charset="0"/>
              </a:rPr>
              <a:t>FEC     </a:t>
            </a:r>
            <a:r>
              <a:rPr lang="en-US" altLang="zh-CN" dirty="0" smtClean="0">
                <a:sym typeface="Huawei Sans" panose="020C0503030203020204" pitchFamily="34" charset="0"/>
              </a:rPr>
              <a:t>             In/Out </a:t>
            </a:r>
            <a:r>
              <a:rPr lang="en-US" altLang="zh-CN" dirty="0">
                <a:sym typeface="Huawei Sans" panose="020C0503030203020204" pitchFamily="34" charset="0"/>
              </a:rPr>
              <a:t>Label  </a:t>
            </a:r>
            <a:r>
              <a:rPr lang="en-US" altLang="zh-CN" dirty="0" smtClean="0">
                <a:sym typeface="Huawei Sans" panose="020C0503030203020204" pitchFamily="34" charset="0"/>
              </a:rPr>
              <a:t>  In/Out </a:t>
            </a:r>
            <a:r>
              <a:rPr lang="en-US" altLang="zh-CN" dirty="0">
                <a:sym typeface="Huawei Sans" panose="020C0503030203020204" pitchFamily="34" charset="0"/>
              </a:rPr>
              <a:t>IF         </a:t>
            </a:r>
            <a:r>
              <a:rPr lang="en-US" altLang="zh-CN" dirty="0" err="1" smtClean="0">
                <a:sym typeface="Huawei Sans" panose="020C0503030203020204" pitchFamily="34" charset="0"/>
              </a:rPr>
              <a:t>Vrf</a:t>
            </a:r>
            <a:r>
              <a:rPr lang="en-US" altLang="zh-CN" dirty="0" smtClean="0">
                <a:sym typeface="Huawei Sans" panose="020C0503030203020204" pitchFamily="34" charset="0"/>
              </a:rPr>
              <a:t> </a:t>
            </a:r>
            <a:r>
              <a:rPr lang="en-US" altLang="zh-CN" dirty="0">
                <a:sym typeface="Huawei Sans" panose="020C0503030203020204" pitchFamily="34" charset="0"/>
              </a:rPr>
              <a:t>Name       </a:t>
            </a:r>
          </a:p>
          <a:p>
            <a:pPr>
              <a:lnSpc>
                <a:spcPct val="100000"/>
              </a:lnSpc>
            </a:pPr>
            <a:r>
              <a:rPr lang="en-US" altLang="zh-CN" dirty="0">
                <a:sym typeface="Huawei Sans" panose="020C0503030203020204" pitchFamily="34" charset="0"/>
              </a:rPr>
              <a:t>3.3.3.0/24         NULL/200      </a:t>
            </a:r>
            <a:r>
              <a:rPr lang="en-US" altLang="zh-CN" dirty="0" smtClean="0">
                <a:sym typeface="Huawei Sans" panose="020C0503030203020204" pitchFamily="34" charset="0"/>
              </a:rPr>
              <a:t>  -/</a:t>
            </a:r>
            <a:r>
              <a:rPr lang="en-US" altLang="zh-CN" dirty="0">
                <a:sym typeface="Huawei Sans" panose="020C0503030203020204" pitchFamily="34" charset="0"/>
              </a:rPr>
              <a:t>GE0/0/0 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xmlns="" id="{7B785A75-A9ED-43DB-AC85-C8785E732ED7}"/>
              </a:ext>
            </a:extLst>
          </p:cNvPr>
          <p:cNvSpPr txBox="1"/>
          <p:nvPr/>
        </p:nvSpPr>
        <p:spPr bwMode="gray">
          <a:xfrm>
            <a:off x="593771" y="4061134"/>
            <a:ext cx="5063104" cy="13849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fontAlgn="auto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CN" dirty="0">
                <a:sym typeface="Huawei Sans" panose="020C0503030203020204" pitchFamily="34" charset="0"/>
              </a:rPr>
              <a:t>[</a:t>
            </a:r>
            <a:r>
              <a:rPr lang="en-US" altLang="zh-CN" dirty="0" smtClean="0">
                <a:sym typeface="Huawei Sans" panose="020C0503030203020204" pitchFamily="34" charset="0"/>
              </a:rPr>
              <a:t>R3]display </a:t>
            </a:r>
            <a:r>
              <a:rPr lang="en-US" altLang="zh-CN" dirty="0" err="1">
                <a:sym typeface="Huawei Sans" panose="020C0503030203020204" pitchFamily="34" charset="0"/>
              </a:rPr>
              <a:t>mpls</a:t>
            </a:r>
            <a:r>
              <a:rPr lang="en-US" altLang="zh-CN" dirty="0">
                <a:sym typeface="Huawei Sans" panose="020C0503030203020204" pitchFamily="34" charset="0"/>
              </a:rPr>
              <a:t> </a:t>
            </a:r>
            <a:r>
              <a:rPr lang="en-US" altLang="zh-CN" dirty="0" err="1">
                <a:sym typeface="Huawei Sans" panose="020C0503030203020204" pitchFamily="34" charset="0"/>
              </a:rPr>
              <a:t>lsp</a:t>
            </a:r>
            <a:r>
              <a:rPr lang="en-US" altLang="zh-CN" dirty="0">
                <a:sym typeface="Huawei Sans" panose="020C0503030203020204" pitchFamily="34" charset="0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US" altLang="zh-CN" dirty="0" smtClean="0">
                <a:sym typeface="Huawei Sans" panose="020C0503030203020204" pitchFamily="34" charset="0"/>
              </a:rPr>
              <a:t>---------------------------------------------------------------------</a:t>
            </a:r>
          </a:p>
          <a:p>
            <a:pPr>
              <a:lnSpc>
                <a:spcPct val="100000"/>
              </a:lnSpc>
            </a:pPr>
            <a:r>
              <a:rPr lang="en-US" altLang="zh-CN" dirty="0" smtClean="0">
                <a:sym typeface="Huawei Sans" panose="020C0503030203020204" pitchFamily="34" charset="0"/>
              </a:rPr>
              <a:t>                 LSP Information: STATIC LSP</a:t>
            </a:r>
          </a:p>
          <a:p>
            <a:pPr>
              <a:lnSpc>
                <a:spcPct val="100000"/>
              </a:lnSpc>
            </a:pPr>
            <a:r>
              <a:rPr lang="en-US" altLang="zh-CN" dirty="0" smtClean="0">
                <a:sym typeface="Huawei Sans" panose="020C0503030203020204" pitchFamily="34" charset="0"/>
              </a:rPr>
              <a:t>---------------------------------------------------------------------</a:t>
            </a:r>
            <a:endParaRPr lang="en-US" altLang="zh-CN" dirty="0">
              <a:sym typeface="Huawei Sans" panose="020C0503030203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altLang="zh-CN" dirty="0">
                <a:sym typeface="Huawei Sans" panose="020C0503030203020204" pitchFamily="34" charset="0"/>
              </a:rPr>
              <a:t>FEC     </a:t>
            </a:r>
            <a:r>
              <a:rPr lang="en-US" altLang="zh-CN" dirty="0" smtClean="0">
                <a:sym typeface="Huawei Sans" panose="020C0503030203020204" pitchFamily="34" charset="0"/>
              </a:rPr>
              <a:t>             In/Out </a:t>
            </a:r>
            <a:r>
              <a:rPr lang="en-US" altLang="zh-CN" dirty="0">
                <a:sym typeface="Huawei Sans" panose="020C0503030203020204" pitchFamily="34" charset="0"/>
              </a:rPr>
              <a:t>Label  </a:t>
            </a:r>
            <a:r>
              <a:rPr lang="en-US" altLang="zh-CN" dirty="0" smtClean="0">
                <a:sym typeface="Huawei Sans" panose="020C0503030203020204" pitchFamily="34" charset="0"/>
              </a:rPr>
              <a:t>  In/Out </a:t>
            </a:r>
            <a:r>
              <a:rPr lang="en-US" altLang="zh-CN" dirty="0">
                <a:sym typeface="Huawei Sans" panose="020C0503030203020204" pitchFamily="34" charset="0"/>
              </a:rPr>
              <a:t>IF         </a:t>
            </a:r>
            <a:r>
              <a:rPr lang="en-US" altLang="zh-CN" dirty="0" err="1" smtClean="0">
                <a:sym typeface="Huawei Sans" panose="020C0503030203020204" pitchFamily="34" charset="0"/>
              </a:rPr>
              <a:t>Vrf</a:t>
            </a:r>
            <a:r>
              <a:rPr lang="en-US" altLang="zh-CN" dirty="0" smtClean="0">
                <a:sym typeface="Huawei Sans" panose="020C0503030203020204" pitchFamily="34" charset="0"/>
              </a:rPr>
              <a:t> </a:t>
            </a:r>
            <a:r>
              <a:rPr lang="en-US" altLang="zh-CN" dirty="0">
                <a:sym typeface="Huawei Sans" panose="020C0503030203020204" pitchFamily="34" charset="0"/>
              </a:rPr>
              <a:t>Name       </a:t>
            </a:r>
          </a:p>
          <a:p>
            <a:pPr>
              <a:lnSpc>
                <a:spcPct val="100000"/>
              </a:lnSpc>
            </a:pPr>
            <a:r>
              <a:rPr lang="en-US" altLang="zh-CN" dirty="0">
                <a:sym typeface="Huawei Sans" panose="020C0503030203020204" pitchFamily="34" charset="0"/>
              </a:rPr>
              <a:t>3.3.3.0/24         </a:t>
            </a:r>
            <a:r>
              <a:rPr lang="en-US" altLang="zh-CN" dirty="0" smtClean="0">
                <a:sym typeface="Huawei Sans" panose="020C0503030203020204" pitchFamily="34" charset="0"/>
              </a:rPr>
              <a:t>300/NULL        GE0/0/0/- </a:t>
            </a:r>
            <a:endParaRPr lang="en-US" altLang="zh-CN" dirty="0">
              <a:sym typeface="Huawei Sans" panose="020C0503030203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xmlns="" id="{7B785A75-A9ED-43DB-AC85-C8785E732ED7}"/>
              </a:ext>
            </a:extLst>
          </p:cNvPr>
          <p:cNvSpPr txBox="1"/>
          <p:nvPr/>
        </p:nvSpPr>
        <p:spPr bwMode="gray">
          <a:xfrm>
            <a:off x="6358834" y="1438565"/>
            <a:ext cx="5063104" cy="13849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fontAlgn="auto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CN" dirty="0">
                <a:sym typeface="Huawei Sans" panose="020C0503030203020204" pitchFamily="34" charset="0"/>
              </a:rPr>
              <a:t>[</a:t>
            </a:r>
            <a:r>
              <a:rPr lang="en-US" altLang="zh-CN" dirty="0" smtClean="0">
                <a:sym typeface="Huawei Sans" panose="020C0503030203020204" pitchFamily="34" charset="0"/>
              </a:rPr>
              <a:t>R2]display </a:t>
            </a:r>
            <a:r>
              <a:rPr lang="en-US" altLang="zh-CN" dirty="0" err="1">
                <a:sym typeface="Huawei Sans" panose="020C0503030203020204" pitchFamily="34" charset="0"/>
              </a:rPr>
              <a:t>mpls</a:t>
            </a:r>
            <a:r>
              <a:rPr lang="en-US" altLang="zh-CN" dirty="0">
                <a:sym typeface="Huawei Sans" panose="020C0503030203020204" pitchFamily="34" charset="0"/>
              </a:rPr>
              <a:t> </a:t>
            </a:r>
            <a:r>
              <a:rPr lang="en-US" altLang="zh-CN" dirty="0" err="1">
                <a:sym typeface="Huawei Sans" panose="020C0503030203020204" pitchFamily="34" charset="0"/>
              </a:rPr>
              <a:t>lsp</a:t>
            </a:r>
            <a:r>
              <a:rPr lang="en-US" altLang="zh-CN" dirty="0">
                <a:sym typeface="Huawei Sans" panose="020C0503030203020204" pitchFamily="34" charset="0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US" altLang="zh-CN" dirty="0" smtClean="0">
                <a:sym typeface="Huawei Sans" panose="020C0503030203020204" pitchFamily="34" charset="0"/>
              </a:rPr>
              <a:t>---------------------------------------------------------------------</a:t>
            </a:r>
            <a:endParaRPr lang="en-US" altLang="zh-CN" dirty="0">
              <a:sym typeface="Huawei Sans" panose="020C0503030203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altLang="zh-CN" dirty="0">
                <a:sym typeface="Huawei Sans" panose="020C0503030203020204" pitchFamily="34" charset="0"/>
              </a:rPr>
              <a:t>                 LSP Information: STATIC LSP</a:t>
            </a:r>
          </a:p>
          <a:p>
            <a:pPr>
              <a:lnSpc>
                <a:spcPct val="100000"/>
              </a:lnSpc>
            </a:pPr>
            <a:r>
              <a:rPr lang="en-US" altLang="zh-CN" dirty="0" smtClean="0">
                <a:sym typeface="Huawei Sans" panose="020C0503030203020204" pitchFamily="34" charset="0"/>
              </a:rPr>
              <a:t>---------------------------------------------------------------------</a:t>
            </a:r>
            <a:endParaRPr lang="en-US" altLang="zh-CN" dirty="0">
              <a:sym typeface="Huawei Sans" panose="020C0503030203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altLang="zh-CN" dirty="0">
                <a:sym typeface="Huawei Sans" panose="020C0503030203020204" pitchFamily="34" charset="0"/>
              </a:rPr>
              <a:t>FEC     </a:t>
            </a:r>
            <a:r>
              <a:rPr lang="en-US" altLang="zh-CN" dirty="0" smtClean="0">
                <a:sym typeface="Huawei Sans" panose="020C0503030203020204" pitchFamily="34" charset="0"/>
              </a:rPr>
              <a:t>             In/Out </a:t>
            </a:r>
            <a:r>
              <a:rPr lang="en-US" altLang="zh-CN" dirty="0">
                <a:sym typeface="Huawei Sans" panose="020C0503030203020204" pitchFamily="34" charset="0"/>
              </a:rPr>
              <a:t>Label  </a:t>
            </a:r>
            <a:r>
              <a:rPr lang="en-US" altLang="zh-CN" dirty="0" smtClean="0">
                <a:sym typeface="Huawei Sans" panose="020C0503030203020204" pitchFamily="34" charset="0"/>
              </a:rPr>
              <a:t>  In/Out </a:t>
            </a:r>
            <a:r>
              <a:rPr lang="en-US" altLang="zh-CN" dirty="0">
                <a:sym typeface="Huawei Sans" panose="020C0503030203020204" pitchFamily="34" charset="0"/>
              </a:rPr>
              <a:t>IF         </a:t>
            </a:r>
            <a:r>
              <a:rPr lang="en-US" altLang="zh-CN" dirty="0" err="1" smtClean="0">
                <a:sym typeface="Huawei Sans" panose="020C0503030203020204" pitchFamily="34" charset="0"/>
              </a:rPr>
              <a:t>Vrf</a:t>
            </a:r>
            <a:r>
              <a:rPr lang="en-US" altLang="zh-CN" dirty="0" smtClean="0">
                <a:sym typeface="Huawei Sans" panose="020C0503030203020204" pitchFamily="34" charset="0"/>
              </a:rPr>
              <a:t> </a:t>
            </a:r>
            <a:r>
              <a:rPr lang="en-US" altLang="zh-CN" dirty="0">
                <a:sym typeface="Huawei Sans" panose="020C0503030203020204" pitchFamily="34" charset="0"/>
              </a:rPr>
              <a:t>Name       </a:t>
            </a:r>
          </a:p>
          <a:p>
            <a:pPr>
              <a:lnSpc>
                <a:spcPct val="100000"/>
              </a:lnSpc>
            </a:pPr>
            <a:r>
              <a:rPr lang="en-US" altLang="zh-CN" dirty="0">
                <a:sym typeface="Huawei Sans" panose="020C0503030203020204" pitchFamily="34" charset="0"/>
              </a:rPr>
              <a:t>3.3.3.0/24         </a:t>
            </a:r>
            <a:r>
              <a:rPr lang="en-US" altLang="zh-CN" dirty="0" smtClean="0">
                <a:sym typeface="Huawei Sans" panose="020C0503030203020204" pitchFamily="34" charset="0"/>
              </a:rPr>
              <a:t>200/300        GE0/0/0/GE0/0/1 </a:t>
            </a:r>
            <a:endParaRPr lang="en-US" altLang="zh-CN" dirty="0">
              <a:sym typeface="Huawei Sans" panose="020C0503030203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 bwMode="gray">
          <a:xfrm>
            <a:off x="7090404" y="4291966"/>
            <a:ext cx="39160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/>
              <a:t>经测试，</a:t>
            </a:r>
            <a:r>
              <a:rPr lang="en-US" altLang="zh-CN" sz="1600" dirty="0" smtClean="0"/>
              <a:t>1.1.1.0/24</a:t>
            </a:r>
            <a:r>
              <a:rPr lang="zh-CN" altLang="en-US" sz="1600" dirty="0" smtClean="0"/>
              <a:t>网段的主机到</a:t>
            </a:r>
            <a:r>
              <a:rPr lang="en-US" altLang="zh-CN" sz="1600" dirty="0" smtClean="0"/>
              <a:t>3.3.3.0/24</a:t>
            </a:r>
            <a:r>
              <a:rPr lang="zh-CN" altLang="en-US" sz="1600" dirty="0" smtClean="0"/>
              <a:t>主机的</a:t>
            </a:r>
            <a:r>
              <a:rPr lang="en-US" altLang="zh-CN" sz="1600" dirty="0" smtClean="0"/>
              <a:t>ping</a:t>
            </a:r>
            <a:r>
              <a:rPr lang="zh-CN" altLang="en-US" sz="1600" dirty="0" smtClean="0"/>
              <a:t>测试没有问题。</a:t>
            </a:r>
            <a:endParaRPr lang="en-US" altLang="zh-CN" sz="1600" dirty="0" smtClean="0"/>
          </a:p>
          <a:p>
            <a:endParaRPr lang="en-US" altLang="zh-CN" sz="1600" dirty="0" smtClean="0"/>
          </a:p>
        </p:txBody>
      </p:sp>
    </p:spTree>
    <p:extLst>
      <p:ext uri="{BB962C8B-B14F-4D97-AF65-F5344CB8AC3E}">
        <p14:creationId xmlns:p14="http://schemas.microsoft.com/office/powerpoint/2010/main" val="4116813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 smtClean="0">
                <a:sym typeface="Huawei Sans" panose="020C0503030203020204" pitchFamily="34" charset="0"/>
              </a:rPr>
              <a:t>静态</a:t>
            </a:r>
            <a:r>
              <a:rPr lang="en-US" altLang="zh-CN" dirty="0" smtClean="0">
                <a:sym typeface="Huawei Sans" panose="020C0503030203020204" pitchFamily="34" charset="0"/>
              </a:rPr>
              <a:t>LSP</a:t>
            </a:r>
            <a:r>
              <a:rPr lang="zh-CN" altLang="en-US" dirty="0" smtClean="0">
                <a:sym typeface="Huawei Sans" panose="020C0503030203020204" pitchFamily="34" charset="0"/>
              </a:rPr>
              <a:t>配置案例 </a:t>
            </a:r>
            <a:r>
              <a:rPr lang="en-US" altLang="zh-CN" dirty="0" smtClean="0">
                <a:sym typeface="Huawei Sans" panose="020C0503030203020204" pitchFamily="34" charset="0"/>
              </a:rPr>
              <a:t>- </a:t>
            </a:r>
            <a:r>
              <a:rPr lang="zh-CN" altLang="en-US" dirty="0" smtClean="0">
                <a:sym typeface="Huawei Sans" panose="020C0503030203020204" pitchFamily="34" charset="0"/>
              </a:rPr>
              <a:t>抓包分析</a:t>
            </a:r>
            <a:endParaRPr lang="zh-CN" altLang="en-US" dirty="0"/>
          </a:p>
        </p:txBody>
      </p:sp>
      <p:grpSp>
        <p:nvGrpSpPr>
          <p:cNvPr id="14" name="组合 13"/>
          <p:cNvGrpSpPr/>
          <p:nvPr/>
        </p:nvGrpSpPr>
        <p:grpSpPr bwMode="gray">
          <a:xfrm>
            <a:off x="2349390" y="1221656"/>
            <a:ext cx="7493222" cy="4818548"/>
            <a:chOff x="446086" y="1339912"/>
            <a:chExt cx="7493222" cy="4818548"/>
          </a:xfrm>
          <a:solidFill>
            <a:schemeClr val="bg1">
              <a:lumMod val="85000"/>
            </a:schemeClr>
          </a:solidFill>
        </p:grpSpPr>
        <p:sp>
          <p:nvSpPr>
            <p:cNvPr id="10" name="矩形 9"/>
            <p:cNvSpPr/>
            <p:nvPr/>
          </p:nvSpPr>
          <p:spPr bwMode="gray">
            <a:xfrm>
              <a:off x="446087" y="1339912"/>
              <a:ext cx="7462421" cy="1541007"/>
            </a:xfrm>
            <a:prstGeom prst="rect">
              <a:avLst/>
            </a:prstGeom>
            <a:grpFill/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7" name="组合 6"/>
            <p:cNvGrpSpPr/>
            <p:nvPr/>
          </p:nvGrpSpPr>
          <p:grpSpPr bwMode="gray">
            <a:xfrm>
              <a:off x="446087" y="4965499"/>
              <a:ext cx="7493221" cy="1192961"/>
              <a:chOff x="7038484" y="4319621"/>
              <a:chExt cx="4306481" cy="1726337"/>
            </a:xfrm>
            <a:grpFill/>
          </p:grpSpPr>
          <p:sp>
            <p:nvSpPr>
              <p:cNvPr id="8" name="矩形 7"/>
              <p:cNvSpPr/>
              <p:nvPr/>
            </p:nvSpPr>
            <p:spPr bwMode="gray">
              <a:xfrm>
                <a:off x="7038484" y="4319621"/>
                <a:ext cx="4306481" cy="1726337"/>
              </a:xfrm>
              <a:prstGeom prst="rect">
                <a:avLst/>
              </a:prstGeom>
              <a:grpFill/>
              <a:ln w="63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文本框 8"/>
              <p:cNvSpPr txBox="1"/>
              <p:nvPr/>
            </p:nvSpPr>
            <p:spPr bwMode="gray">
              <a:xfrm>
                <a:off x="7141596" y="4488986"/>
                <a:ext cx="4133482" cy="12025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 smtClean="0"/>
                  <a:t>从抓包信息可知，</a:t>
                </a:r>
                <a:r>
                  <a:rPr lang="en-US" altLang="zh-CN" sz="1600" dirty="0" smtClean="0"/>
                  <a:t>1.1.1.0/24</a:t>
                </a:r>
                <a:r>
                  <a:rPr lang="zh-CN" altLang="en-US" sz="1600" dirty="0" smtClean="0"/>
                  <a:t>网段的主机到</a:t>
                </a:r>
                <a:r>
                  <a:rPr lang="en-US" altLang="zh-CN" sz="1600" dirty="0" smtClean="0"/>
                  <a:t>3.3.3.0/24</a:t>
                </a:r>
                <a:r>
                  <a:rPr lang="zh-CN" altLang="en-US" sz="1600" dirty="0" smtClean="0"/>
                  <a:t>主机的报文基于</a:t>
                </a:r>
                <a:r>
                  <a:rPr lang="en-US" altLang="zh-CN" sz="1600" dirty="0" smtClean="0"/>
                  <a:t>MPLS</a:t>
                </a:r>
                <a:r>
                  <a:rPr lang="zh-CN" altLang="en-US" sz="1600" dirty="0" smtClean="0"/>
                  <a:t>标签转发。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3.3.3.0/24</a:t>
                </a:r>
                <a:r>
                  <a:rPr lang="zh-CN" altLang="en-US" sz="1600" dirty="0"/>
                  <a:t>网段的主机</a:t>
                </a:r>
                <a:r>
                  <a:rPr lang="zh-CN" altLang="en-US" sz="1600" dirty="0" smtClean="0"/>
                  <a:t>到</a:t>
                </a:r>
                <a:r>
                  <a:rPr lang="en-US" altLang="zh-CN" sz="1600" dirty="0" smtClean="0"/>
                  <a:t>1.1.1.0/24</a:t>
                </a:r>
                <a:r>
                  <a:rPr lang="zh-CN" altLang="en-US" sz="1600" dirty="0"/>
                  <a:t>主机的</a:t>
                </a:r>
                <a:r>
                  <a:rPr lang="zh-CN" altLang="en-US" sz="1600" dirty="0" smtClean="0"/>
                  <a:t>报文基于</a:t>
                </a:r>
                <a:r>
                  <a:rPr lang="en-US" altLang="zh-CN" sz="1600" dirty="0" smtClean="0"/>
                  <a:t>IP</a:t>
                </a:r>
                <a:r>
                  <a:rPr lang="zh-CN" altLang="en-US" sz="1600" dirty="0" smtClean="0"/>
                  <a:t>包头转发。</a:t>
                </a:r>
                <a:endParaRPr lang="en-US" altLang="zh-CN" sz="1600" dirty="0" smtClean="0"/>
              </a:p>
            </p:txBody>
          </p:sp>
        </p:grpSp>
        <p:sp>
          <p:nvSpPr>
            <p:cNvPr id="3" name="矩形 2"/>
            <p:cNvSpPr/>
            <p:nvPr/>
          </p:nvSpPr>
          <p:spPr bwMode="gray">
            <a:xfrm>
              <a:off x="446086" y="1366199"/>
              <a:ext cx="7340820" cy="1384995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200" dirty="0"/>
                <a:t>No.     </a:t>
              </a:r>
              <a:r>
                <a:rPr lang="en-US" altLang="zh-CN" sz="1200" dirty="0" smtClean="0"/>
                <a:t>	</a:t>
              </a:r>
              <a:r>
                <a:rPr lang="zh-CN" altLang="en-US" sz="1200" dirty="0" smtClean="0"/>
                <a:t>Time           </a:t>
              </a:r>
              <a:r>
                <a:rPr lang="en-US" altLang="zh-CN" sz="1200" dirty="0" smtClean="0"/>
                <a:t>	</a:t>
              </a:r>
              <a:r>
                <a:rPr lang="zh-CN" altLang="en-US" sz="1200" dirty="0" smtClean="0"/>
                <a:t>Source</a:t>
              </a:r>
              <a:r>
                <a:rPr lang="en-US" altLang="zh-CN" sz="1200" dirty="0" smtClean="0"/>
                <a:t>	</a:t>
              </a:r>
              <a:r>
                <a:rPr lang="zh-CN" altLang="en-US" sz="1200" dirty="0" smtClean="0"/>
                <a:t>Destination</a:t>
              </a:r>
              <a:r>
                <a:rPr lang="en-US" altLang="zh-CN" sz="1200" dirty="0" smtClean="0"/>
                <a:t>	</a:t>
              </a:r>
              <a:r>
                <a:rPr lang="zh-CN" altLang="en-US" sz="1200" dirty="0" smtClean="0"/>
                <a:t>Protocol</a:t>
              </a:r>
              <a:r>
                <a:rPr lang="en-US" altLang="zh-CN" sz="1200" dirty="0" smtClean="0"/>
                <a:t>	</a:t>
              </a:r>
              <a:r>
                <a:rPr lang="zh-CN" altLang="en-US" sz="1200" dirty="0" smtClean="0"/>
                <a:t>Length</a:t>
              </a:r>
              <a:r>
                <a:rPr lang="en-US" altLang="zh-CN" sz="1200" dirty="0" smtClean="0"/>
                <a:t>	</a:t>
              </a:r>
              <a:r>
                <a:rPr lang="zh-CN" altLang="en-US" sz="1200" dirty="0" smtClean="0"/>
                <a:t>Info</a:t>
              </a:r>
              <a:endParaRPr lang="en-US" altLang="zh-CN" sz="1200" dirty="0" smtClean="0"/>
            </a:p>
            <a:p>
              <a:r>
                <a:rPr lang="zh-CN" altLang="en-US" sz="1200" dirty="0" smtClean="0"/>
                <a:t>5</a:t>
              </a:r>
              <a:r>
                <a:rPr lang="en-US" altLang="zh-CN" sz="1200" dirty="0" smtClean="0"/>
                <a:t>	</a:t>
              </a:r>
              <a:r>
                <a:rPr lang="zh-CN" altLang="en-US" sz="1200" dirty="0" smtClean="0"/>
                <a:t>12</a:t>
              </a:r>
              <a:r>
                <a:rPr lang="zh-CN" altLang="en-US" sz="1200" dirty="0"/>
                <a:t>.109000  </a:t>
              </a:r>
              <a:r>
                <a:rPr lang="en-US" altLang="zh-CN" sz="1200" dirty="0" smtClean="0"/>
                <a:t>	</a:t>
              </a:r>
              <a:r>
                <a:rPr lang="zh-CN" altLang="en-US" sz="1200" dirty="0" smtClean="0"/>
                <a:t>1</a:t>
              </a:r>
              <a:r>
                <a:rPr lang="zh-CN" altLang="en-US" sz="1200" dirty="0"/>
                <a:t>.1.1.</a:t>
              </a:r>
              <a:r>
                <a:rPr lang="zh-CN" altLang="en-US" sz="1200" dirty="0" smtClean="0"/>
                <a:t>1</a:t>
              </a:r>
              <a:r>
                <a:rPr lang="en-US" altLang="zh-CN" sz="1200" dirty="0" smtClean="0"/>
                <a:t>	</a:t>
              </a:r>
              <a:r>
                <a:rPr lang="zh-CN" altLang="en-US" sz="1200" dirty="0" smtClean="0"/>
                <a:t>3</a:t>
              </a:r>
              <a:r>
                <a:rPr lang="zh-CN" altLang="en-US" sz="1200" dirty="0"/>
                <a:t>.3.3.</a:t>
              </a:r>
              <a:r>
                <a:rPr lang="zh-CN" altLang="en-US" sz="1200" dirty="0" smtClean="0"/>
                <a:t>3</a:t>
              </a:r>
              <a:r>
                <a:rPr lang="en-US" altLang="zh-CN" sz="1200" dirty="0" smtClean="0"/>
                <a:t>	</a:t>
              </a:r>
              <a:r>
                <a:rPr lang="zh-CN" altLang="en-US" sz="1200" dirty="0" smtClean="0"/>
                <a:t>ICMP</a:t>
              </a:r>
              <a:r>
                <a:rPr lang="en-US" altLang="zh-CN" sz="1200" dirty="0" smtClean="0"/>
                <a:t>	</a:t>
              </a:r>
              <a:r>
                <a:rPr lang="zh-CN" altLang="en-US" sz="1200" dirty="0" smtClean="0"/>
                <a:t>102</a:t>
              </a:r>
              <a:r>
                <a:rPr lang="en-US" altLang="zh-CN" sz="1200" dirty="0" smtClean="0"/>
                <a:t>	</a:t>
              </a:r>
              <a:r>
                <a:rPr lang="zh-CN" altLang="en-US" sz="1200" dirty="0" smtClean="0"/>
                <a:t>Echo </a:t>
              </a:r>
              <a:r>
                <a:rPr lang="zh-CN" altLang="en-US" sz="1200" dirty="0"/>
                <a:t>(ping) </a:t>
              </a:r>
              <a:r>
                <a:rPr lang="zh-CN" altLang="en-US" sz="1200" dirty="0" smtClean="0"/>
                <a:t>request</a:t>
              </a:r>
              <a:endParaRPr lang="zh-CN" altLang="en-US" sz="1200" dirty="0"/>
            </a:p>
            <a:p>
              <a:r>
                <a:rPr lang="zh-CN" altLang="en-US" sz="1200" dirty="0"/>
                <a:t>Frame 5: 102 bytes on wire (816 bits), 102 bytes captured (816 bits) on interface 0</a:t>
              </a:r>
            </a:p>
            <a:p>
              <a:r>
                <a:rPr lang="zh-CN" altLang="en-US" sz="1200" dirty="0"/>
                <a:t>Ethernet II, Src: HuaweiTe_b1:15:3e (00:e0:fc:b1:15:3e), Dst: HuaweiTe_49:20:bb (00:e0:fc:49:20:bb)</a:t>
              </a:r>
            </a:p>
            <a:p>
              <a:r>
                <a:rPr lang="zh-CN" altLang="en-US" sz="1200" b="1" dirty="0"/>
                <a:t>MultiProtocol Label Switching Header, Label: 300, Exp: 0, S: 1, TTL: 254</a:t>
              </a:r>
            </a:p>
            <a:p>
              <a:r>
                <a:rPr lang="zh-CN" altLang="en-US" sz="1200" dirty="0"/>
                <a:t>Internet Protocol Version 4, Src: 1.1.1.1, Dst: 3.3.3.3</a:t>
              </a:r>
            </a:p>
            <a:p>
              <a:r>
                <a:rPr lang="zh-CN" altLang="en-US" sz="1200" dirty="0"/>
                <a:t>Internet Control Message Protocol</a:t>
              </a:r>
            </a:p>
          </p:txBody>
        </p:sp>
        <p:sp>
          <p:nvSpPr>
            <p:cNvPr id="11" name="矩形 10"/>
            <p:cNvSpPr/>
            <p:nvPr/>
          </p:nvSpPr>
          <p:spPr bwMode="gray">
            <a:xfrm>
              <a:off x="476885" y="3276760"/>
              <a:ext cx="7462421" cy="1292898"/>
            </a:xfrm>
            <a:prstGeom prst="rect">
              <a:avLst/>
            </a:prstGeom>
            <a:grpFill/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矩形 11"/>
            <p:cNvSpPr/>
            <p:nvPr/>
          </p:nvSpPr>
          <p:spPr bwMode="gray">
            <a:xfrm>
              <a:off x="476884" y="3303046"/>
              <a:ext cx="7340820" cy="1200329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zh-CN" sz="1200" dirty="0"/>
                <a:t>No</a:t>
              </a:r>
              <a:r>
                <a:rPr lang="en-US" altLang="zh-CN" sz="1200" dirty="0" smtClean="0"/>
                <a:t>.	Time	Source	Destination	Protocol	Length	Info</a:t>
              </a:r>
              <a:endParaRPr lang="en-US" altLang="zh-CN" sz="1200" dirty="0"/>
            </a:p>
            <a:p>
              <a:r>
                <a:rPr lang="en-US" altLang="zh-CN" sz="1200" dirty="0" smtClean="0"/>
                <a:t>6	12.141000	3.3.3.3	1.1.1.1	ICMP	98	Echo </a:t>
              </a:r>
              <a:r>
                <a:rPr lang="en-US" altLang="zh-CN" sz="1200" dirty="0"/>
                <a:t>(ping) </a:t>
              </a:r>
              <a:r>
                <a:rPr lang="en-US" altLang="zh-CN" sz="1200" dirty="0" smtClean="0"/>
                <a:t>reply</a:t>
              </a:r>
              <a:endParaRPr lang="en-US" altLang="zh-CN" sz="1200" dirty="0"/>
            </a:p>
            <a:p>
              <a:r>
                <a:rPr lang="en-US" altLang="zh-CN" sz="1200" dirty="0"/>
                <a:t>Frame 6: 98 bytes on wire (784 bits), 98 bytes captured (784 bits) on interface 0</a:t>
              </a:r>
            </a:p>
            <a:p>
              <a:r>
                <a:rPr lang="en-US" altLang="zh-CN" sz="1200" dirty="0"/>
                <a:t>Ethernet II, </a:t>
              </a:r>
              <a:r>
                <a:rPr lang="en-US" altLang="zh-CN" sz="1200" dirty="0" err="1"/>
                <a:t>Src</a:t>
              </a:r>
              <a:r>
                <a:rPr lang="en-US" altLang="zh-CN" sz="1200" dirty="0"/>
                <a:t>: HuaweiTe_49:20:bb (00:e0:fc:49:20:bb), </a:t>
              </a:r>
              <a:r>
                <a:rPr lang="en-US" altLang="zh-CN" sz="1200" dirty="0" err="1"/>
                <a:t>Dst</a:t>
              </a:r>
              <a:r>
                <a:rPr lang="en-US" altLang="zh-CN" sz="1200" dirty="0"/>
                <a:t>: HuaweiTe_b1:15:3e (00:e0:fc:b1:15:3e)</a:t>
              </a:r>
            </a:p>
            <a:p>
              <a:r>
                <a:rPr lang="en-US" altLang="zh-CN" sz="1200" dirty="0"/>
                <a:t>Internet Protocol Version 4, </a:t>
              </a:r>
              <a:r>
                <a:rPr lang="en-US" altLang="zh-CN" sz="1200" dirty="0" err="1"/>
                <a:t>Src</a:t>
              </a:r>
              <a:r>
                <a:rPr lang="en-US" altLang="zh-CN" sz="1200" dirty="0"/>
                <a:t>: 3.3.3.3, </a:t>
              </a:r>
              <a:r>
                <a:rPr lang="en-US" altLang="zh-CN" sz="1200" dirty="0" err="1"/>
                <a:t>Dst</a:t>
              </a:r>
              <a:r>
                <a:rPr lang="en-US" altLang="zh-CN" sz="1200" dirty="0"/>
                <a:t>: 1.1.1.1</a:t>
              </a:r>
            </a:p>
            <a:p>
              <a:r>
                <a:rPr lang="en-US" altLang="zh-CN" sz="1200" dirty="0"/>
                <a:t>Internet Control Message Protocol</a:t>
              </a:r>
              <a:endParaRPr lang="zh-CN" alt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338177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pPr fontAlgn="base"/>
            <a:r>
              <a:rPr lang="en-US" altLang="zh-CN" dirty="0">
                <a:sym typeface="Huawei Sans" panose="020C0503030203020204" pitchFamily="34" charset="0"/>
              </a:rPr>
              <a:t>(</a:t>
            </a:r>
            <a:r>
              <a:rPr lang="zh-CN" altLang="en-US" dirty="0" smtClean="0">
                <a:sym typeface="Huawei Sans" panose="020C0503030203020204" pitchFamily="34" charset="0"/>
              </a:rPr>
              <a:t>多选题</a:t>
            </a:r>
            <a:r>
              <a:rPr lang="en-US" altLang="zh-CN" dirty="0" smtClean="0">
                <a:sym typeface="Huawei Sans" panose="020C0503030203020204" pitchFamily="34" charset="0"/>
              </a:rPr>
              <a:t>)</a:t>
            </a:r>
            <a:r>
              <a:rPr lang="zh-CN" altLang="zh-CN" dirty="0" smtClean="0">
                <a:sym typeface="Huawei Sans" panose="020C0503030203020204" pitchFamily="34" charset="0"/>
              </a:rPr>
              <a:t>下面对</a:t>
            </a:r>
            <a:r>
              <a:rPr lang="en-US" altLang="zh-CN" dirty="0" smtClean="0">
                <a:sym typeface="Huawei Sans" panose="020C0503030203020204" pitchFamily="34" charset="0"/>
              </a:rPr>
              <a:t>MPLS</a:t>
            </a:r>
            <a:r>
              <a:rPr lang="zh-CN" altLang="en-US" dirty="0" smtClean="0">
                <a:sym typeface="Huawei Sans" panose="020C0503030203020204" pitchFamily="34" charset="0"/>
              </a:rPr>
              <a:t>头部</a:t>
            </a:r>
            <a:r>
              <a:rPr lang="zh-CN" altLang="zh-CN" dirty="0" smtClean="0">
                <a:sym typeface="Huawei Sans" panose="020C0503030203020204" pitchFamily="34" charset="0"/>
              </a:rPr>
              <a:t>的描述正确的是</a:t>
            </a:r>
            <a:r>
              <a:rPr lang="zh-CN" altLang="en-US" dirty="0" smtClean="0">
                <a:sym typeface="Huawei Sans" panose="020C0503030203020204" pitchFamily="34" charset="0"/>
              </a:rPr>
              <a:t>哪些选项？</a:t>
            </a:r>
            <a:r>
              <a:rPr lang="en-US" altLang="zh-CN" dirty="0" smtClean="0">
                <a:sym typeface="Huawei Sans" panose="020C0503030203020204" pitchFamily="34" charset="0"/>
              </a:rPr>
              <a:t>(     )</a:t>
            </a:r>
            <a:endParaRPr lang="zh-CN" altLang="zh-CN" dirty="0" smtClean="0">
              <a:sym typeface="Huawei Sans" panose="020C0503030203020204" pitchFamily="34" charset="0"/>
            </a:endParaRPr>
          </a:p>
          <a:p>
            <a:pPr lvl="1" fontAlgn="base"/>
            <a:r>
              <a:rPr lang="en-US" altLang="zh-CN" dirty="0" smtClean="0">
                <a:sym typeface="Huawei Sans" panose="020C0503030203020204" pitchFamily="34" charset="0"/>
              </a:rPr>
              <a:t>MPLS</a:t>
            </a:r>
            <a:r>
              <a:rPr lang="zh-CN" altLang="en-US" dirty="0" smtClean="0">
                <a:sym typeface="Huawei Sans" panose="020C0503030203020204" pitchFamily="34" charset="0"/>
              </a:rPr>
              <a:t>头部的长度为</a:t>
            </a:r>
            <a:r>
              <a:rPr lang="en-US" altLang="zh-CN" dirty="0" smtClean="0">
                <a:sym typeface="Huawei Sans" panose="020C0503030203020204" pitchFamily="34" charset="0"/>
              </a:rPr>
              <a:t>32</a:t>
            </a:r>
            <a:r>
              <a:rPr lang="zh-CN" altLang="en-US" dirty="0" smtClean="0">
                <a:sym typeface="Huawei Sans" panose="020C0503030203020204" pitchFamily="34" charset="0"/>
              </a:rPr>
              <a:t>比特</a:t>
            </a:r>
            <a:endParaRPr lang="en-US" altLang="zh-CN" dirty="0" smtClean="0">
              <a:sym typeface="Huawei Sans" panose="020C0503030203020204" pitchFamily="34" charset="0"/>
            </a:endParaRPr>
          </a:p>
          <a:p>
            <a:pPr lvl="1" fontAlgn="base"/>
            <a:r>
              <a:rPr lang="en-US" altLang="zh-CN" dirty="0" smtClean="0">
                <a:sym typeface="Huawei Sans" panose="020C0503030203020204" pitchFamily="34" charset="0"/>
              </a:rPr>
              <a:t>MPLS</a:t>
            </a:r>
            <a:r>
              <a:rPr lang="zh-CN" altLang="en-US" dirty="0" smtClean="0">
                <a:sym typeface="Huawei Sans" panose="020C0503030203020204" pitchFamily="34" charset="0"/>
              </a:rPr>
              <a:t>头部中的</a:t>
            </a:r>
            <a:r>
              <a:rPr lang="en-US" altLang="zh-CN" dirty="0" smtClean="0">
                <a:sym typeface="Huawei Sans" panose="020C0503030203020204" pitchFamily="34" charset="0"/>
              </a:rPr>
              <a:t>Label</a:t>
            </a:r>
            <a:r>
              <a:rPr lang="zh-CN" altLang="en-US" dirty="0" smtClean="0">
                <a:sym typeface="Huawei Sans" panose="020C0503030203020204" pitchFamily="34" charset="0"/>
              </a:rPr>
              <a:t>字段取值范围为</a:t>
            </a:r>
            <a:r>
              <a:rPr lang="en-US" altLang="zh-CN" dirty="0" smtClean="0">
                <a:sym typeface="Huawei Sans" panose="020C0503030203020204" pitchFamily="34" charset="0"/>
              </a:rPr>
              <a:t>0~65535</a:t>
            </a:r>
          </a:p>
          <a:p>
            <a:pPr lvl="1" fontAlgn="base"/>
            <a:r>
              <a:rPr lang="en-US" altLang="zh-CN" dirty="0" smtClean="0">
                <a:sym typeface="Huawei Sans" panose="020C0503030203020204" pitchFamily="34" charset="0"/>
              </a:rPr>
              <a:t>MPLS</a:t>
            </a:r>
            <a:r>
              <a:rPr lang="zh-CN" altLang="en-US" dirty="0" smtClean="0">
                <a:sym typeface="Huawei Sans" panose="020C0503030203020204" pitchFamily="34" charset="0"/>
              </a:rPr>
              <a:t>支持多层嵌套</a:t>
            </a:r>
            <a:endParaRPr lang="en-US" altLang="zh-CN" dirty="0" smtClean="0">
              <a:sym typeface="Huawei Sans" panose="020C0503030203020204" pitchFamily="34" charset="0"/>
            </a:endParaRPr>
          </a:p>
          <a:p>
            <a:pPr lvl="1" fontAlgn="base"/>
            <a:r>
              <a:rPr lang="zh-CN" altLang="en-US" dirty="0" smtClean="0">
                <a:sym typeface="Huawei Sans" panose="020C0503030203020204" pitchFamily="34" charset="0"/>
              </a:rPr>
              <a:t>可以通过</a:t>
            </a:r>
            <a:r>
              <a:rPr lang="en-US" altLang="zh-CN" dirty="0" smtClean="0">
                <a:sym typeface="Huawei Sans" panose="020C0503030203020204" pitchFamily="34" charset="0"/>
              </a:rPr>
              <a:t>MPLS</a:t>
            </a:r>
            <a:r>
              <a:rPr lang="zh-CN" altLang="en-US" dirty="0" smtClean="0">
                <a:sym typeface="Huawei Sans" panose="020C0503030203020204" pitchFamily="34" charset="0"/>
              </a:rPr>
              <a:t>头部中的</a:t>
            </a:r>
            <a:r>
              <a:rPr lang="en-US" altLang="zh-CN" dirty="0" smtClean="0">
                <a:sym typeface="Huawei Sans" panose="020C0503030203020204" pitchFamily="34" charset="0"/>
              </a:rPr>
              <a:t>max_hop</a:t>
            </a:r>
            <a:r>
              <a:rPr lang="zh-CN" altLang="en-US" dirty="0" smtClean="0">
                <a:sym typeface="Huawei Sans" panose="020C0503030203020204" pitchFamily="34" charset="0"/>
              </a:rPr>
              <a:t>字段防止标签报文被无限制转发</a:t>
            </a:r>
            <a:endParaRPr lang="zh-CN" altLang="zh-CN" dirty="0" smtClean="0">
              <a:sym typeface="Huawei Sans" panose="020C0503030203020204" pitchFamily="34" charset="0"/>
            </a:endParaRPr>
          </a:p>
          <a:p>
            <a:pPr fontAlgn="base"/>
            <a:r>
              <a:rPr lang="en-US" altLang="zh-CN" dirty="0" smtClean="0">
                <a:sym typeface="Huawei Sans" panose="020C0503030203020204" pitchFamily="34" charset="0"/>
              </a:rPr>
              <a:t>(</a:t>
            </a:r>
            <a:r>
              <a:rPr lang="zh-CN" altLang="en-US" dirty="0" smtClean="0">
                <a:sym typeface="Huawei Sans" panose="020C0503030203020204" pitchFamily="34" charset="0"/>
              </a:rPr>
              <a:t>判断题</a:t>
            </a:r>
            <a:r>
              <a:rPr lang="en-US" altLang="zh-CN" dirty="0" smtClean="0">
                <a:sym typeface="Huawei Sans" panose="020C0503030203020204" pitchFamily="34" charset="0"/>
              </a:rPr>
              <a:t>)</a:t>
            </a:r>
            <a:r>
              <a:rPr lang="zh-CN" altLang="en-US" dirty="0" smtClean="0">
                <a:sym typeface="Huawei Sans" panose="020C0503030203020204" pitchFamily="34" charset="0"/>
              </a:rPr>
              <a:t>在配置静态</a:t>
            </a:r>
            <a:r>
              <a:rPr lang="en-US" altLang="zh-CN" dirty="0" smtClean="0">
                <a:sym typeface="Huawei Sans" panose="020C0503030203020204" pitchFamily="34" charset="0"/>
              </a:rPr>
              <a:t>LSP</a:t>
            </a:r>
            <a:r>
              <a:rPr lang="zh-CN" altLang="en-US" dirty="0" smtClean="0">
                <a:sym typeface="Huawei Sans" panose="020C0503030203020204" pitchFamily="34" charset="0"/>
              </a:rPr>
              <a:t>时，入标签和出标签的取值</a:t>
            </a:r>
            <a:r>
              <a:rPr lang="zh-CN" altLang="en-US" dirty="0">
                <a:sym typeface="Huawei Sans" panose="020C0503030203020204" pitchFamily="34" charset="0"/>
              </a:rPr>
              <a:t>范围</a:t>
            </a:r>
            <a:r>
              <a:rPr lang="zh-CN" altLang="en-US" dirty="0" smtClean="0">
                <a:sym typeface="Huawei Sans" panose="020C0503030203020204" pitchFamily="34" charset="0"/>
              </a:rPr>
              <a:t>均为</a:t>
            </a:r>
            <a:r>
              <a:rPr lang="en-US" altLang="zh-CN" dirty="0" smtClean="0">
                <a:sym typeface="Huawei Sans" panose="020C0503030203020204" pitchFamily="34" charset="0"/>
              </a:rPr>
              <a:t>16~1023 </a:t>
            </a:r>
            <a:r>
              <a:rPr lang="zh-CN" altLang="en-US" dirty="0" smtClean="0">
                <a:sym typeface="Huawei Sans" panose="020C0503030203020204" pitchFamily="34" charset="0"/>
              </a:rPr>
              <a:t>。</a:t>
            </a:r>
            <a:r>
              <a:rPr lang="en-US" altLang="zh-CN" dirty="0" smtClean="0">
                <a:sym typeface="Huawei Sans" panose="020C0503030203020204" pitchFamily="34" charset="0"/>
              </a:rPr>
              <a:t>(     )</a:t>
            </a:r>
          </a:p>
          <a:p>
            <a:pPr lvl="1" fontAlgn="base"/>
            <a:r>
              <a:rPr lang="zh-CN" altLang="en-US" dirty="0" smtClean="0">
                <a:sym typeface="Huawei Sans" panose="020C0503030203020204" pitchFamily="34" charset="0"/>
              </a:rPr>
              <a:t>正确</a:t>
            </a:r>
            <a:endParaRPr lang="en-US" altLang="zh-CN" dirty="0" smtClean="0">
              <a:sym typeface="Huawei Sans" panose="020C0503030203020204" pitchFamily="34" charset="0"/>
            </a:endParaRPr>
          </a:p>
          <a:p>
            <a:pPr lvl="1" fontAlgn="base"/>
            <a:r>
              <a:rPr lang="zh-CN" altLang="en-US" dirty="0">
                <a:sym typeface="Huawei Sans" panose="020C0503030203020204" pitchFamily="34" charset="0"/>
              </a:rPr>
              <a:t>错误</a:t>
            </a:r>
            <a:endParaRPr lang="en-US" altLang="zh-CN" dirty="0" smtClean="0">
              <a:sym typeface="Huawei Sans" panose="020C0503030203020204" pitchFamily="34" charset="0"/>
            </a:endParaRPr>
          </a:p>
          <a:p>
            <a:pPr lvl="1" fontAlgn="base"/>
            <a:endParaRPr lang="zh-CN" altLang="en-US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4691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 bwMode="gray"/>
        <p:txBody>
          <a:bodyPr/>
          <a:lstStyle/>
          <a:p>
            <a:r>
              <a:rPr lang="en-US" altLang="zh-CN" sz="2000" dirty="0" smtClean="0">
                <a:sym typeface="Huawei Sans" panose="020C0503030203020204" pitchFamily="34" charset="0"/>
              </a:rPr>
              <a:t>MPLS</a:t>
            </a:r>
            <a:r>
              <a:rPr lang="zh-CN" altLang="en-US" sz="2000" dirty="0" smtClean="0">
                <a:sym typeface="Huawei Sans" panose="020C0503030203020204" pitchFamily="34" charset="0"/>
              </a:rPr>
              <a:t>最初是为了解决传统</a:t>
            </a:r>
            <a:r>
              <a:rPr lang="en-US" altLang="zh-CN" sz="2000" dirty="0" smtClean="0">
                <a:sym typeface="Huawei Sans" panose="020C0503030203020204" pitchFamily="34" charset="0"/>
              </a:rPr>
              <a:t>IP</a:t>
            </a:r>
            <a:r>
              <a:rPr lang="zh-CN" altLang="en-US" sz="2000" dirty="0" smtClean="0">
                <a:sym typeface="Huawei Sans" panose="020C0503030203020204" pitchFamily="34" charset="0"/>
              </a:rPr>
              <a:t>路由器查表转发速度慢而被提出的，是一种通过标签头部实现快速转发的技术。</a:t>
            </a:r>
            <a:endParaRPr lang="en-US" altLang="zh-CN" sz="2000" dirty="0" smtClean="0">
              <a:sym typeface="Huawei Sans" panose="020C0503030203020204" pitchFamily="34" charset="0"/>
            </a:endParaRPr>
          </a:p>
          <a:p>
            <a:r>
              <a:rPr lang="en-US" altLang="zh-CN" sz="2000" dirty="0" smtClean="0">
                <a:sym typeface="Huawei Sans" panose="020C0503030203020204" pitchFamily="34" charset="0"/>
              </a:rPr>
              <a:t>MPLS</a:t>
            </a:r>
            <a:r>
              <a:rPr lang="zh-CN" altLang="en-US" sz="2000" dirty="0" smtClean="0">
                <a:sym typeface="Huawei Sans" panose="020C0503030203020204" pitchFamily="34" charset="0"/>
              </a:rPr>
              <a:t>标签是一个短而定长的、只具有本地意义的标识符，用于唯一标识一个分组所属的</a:t>
            </a:r>
            <a:r>
              <a:rPr lang="en-US" altLang="zh-CN" sz="2000" dirty="0" smtClean="0">
                <a:sym typeface="Huawei Sans" panose="020C0503030203020204" pitchFamily="34" charset="0"/>
              </a:rPr>
              <a:t>FEC</a:t>
            </a:r>
            <a:r>
              <a:rPr lang="zh-CN" altLang="en-US" sz="2000" dirty="0" smtClean="0">
                <a:sym typeface="Huawei Sans" panose="020C0503030203020204" pitchFamily="34" charset="0"/>
              </a:rPr>
              <a:t>。</a:t>
            </a:r>
            <a:r>
              <a:rPr lang="en-US" altLang="zh-CN" sz="2000" dirty="0" smtClean="0">
                <a:sym typeface="Huawei Sans" panose="020C0503030203020204" pitchFamily="34" charset="0"/>
              </a:rPr>
              <a:t>LSR</a:t>
            </a:r>
            <a:r>
              <a:rPr lang="zh-CN" altLang="en-US" sz="2000" dirty="0" smtClean="0">
                <a:sym typeface="Huawei Sans" panose="020C0503030203020204" pitchFamily="34" charset="0"/>
              </a:rPr>
              <a:t>对标签的操作类型包括标签压入、标签交换和标签弹出。</a:t>
            </a:r>
          </a:p>
          <a:p>
            <a:r>
              <a:rPr lang="en-US" altLang="zh-CN" sz="2000" dirty="0" smtClean="0">
                <a:sym typeface="Huawei Sans" panose="020C0503030203020204" pitchFamily="34" charset="0"/>
              </a:rPr>
              <a:t>MPLS</a:t>
            </a:r>
            <a:r>
              <a:rPr lang="zh-CN" altLang="en-US" sz="2000" dirty="0" smtClean="0">
                <a:sym typeface="Huawei Sans" panose="020C0503030203020204" pitchFamily="34" charset="0"/>
              </a:rPr>
              <a:t>包含控制平面和数据平面，控制平面主要负责路由信息的传递和标签的分发，数据平面主要负责数据的转发。</a:t>
            </a:r>
            <a:endParaRPr lang="en-US" altLang="zh-CN" sz="2000" dirty="0" smtClean="0">
              <a:sym typeface="Huawei Sans" panose="020C0503030203020204" pitchFamily="34" charset="0"/>
            </a:endParaRPr>
          </a:p>
          <a:p>
            <a:r>
              <a:rPr lang="zh-CN" altLang="en-US" sz="2000" dirty="0" smtClean="0">
                <a:sym typeface="Huawei Sans" panose="020C0503030203020204" pitchFamily="34" charset="0"/>
              </a:rPr>
              <a:t>随着技术的发展，</a:t>
            </a:r>
            <a:r>
              <a:rPr lang="en-US" altLang="zh-CN" sz="2000" dirty="0" smtClean="0">
                <a:sym typeface="Huawei Sans" panose="020C0503030203020204" pitchFamily="34" charset="0"/>
              </a:rPr>
              <a:t>MPLS</a:t>
            </a:r>
            <a:r>
              <a:rPr lang="zh-CN" altLang="en-US" sz="2000" dirty="0" smtClean="0">
                <a:sym typeface="Huawei Sans" panose="020C0503030203020204" pitchFamily="34" charset="0"/>
              </a:rPr>
              <a:t>在数据转发速度上的优势逐渐弱化，但其特性使其在</a:t>
            </a:r>
            <a:r>
              <a:rPr lang="en-US" altLang="zh-CN" sz="2000" dirty="0" smtClean="0">
                <a:sym typeface="Huawei Sans" panose="020C0503030203020204" pitchFamily="34" charset="0"/>
              </a:rPr>
              <a:t>VPN</a:t>
            </a:r>
            <a:r>
              <a:rPr lang="zh-CN" altLang="en-US" sz="2000" dirty="0" smtClean="0">
                <a:sym typeface="Huawei Sans" panose="020C0503030203020204" pitchFamily="34" charset="0"/>
              </a:rPr>
              <a:t>领域得到广泛应用。</a:t>
            </a:r>
            <a:endParaRPr lang="en-US" altLang="zh-CN" sz="2000" dirty="0" smtClean="0">
              <a:sym typeface="Huawei Sans" panose="020C0503030203020204" pitchFamily="34" charset="0"/>
            </a:endParaRPr>
          </a:p>
          <a:p>
            <a:endParaRPr lang="zh-CN" altLang="en-US" sz="2000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0572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8206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_标题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功能页模板">
  <a:themeElements>
    <a:clrScheme name="自定义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7000B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内容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感谢页模板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1AA013AF-7C2E-4A39-9796-86760F640C19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2C5B4B712841F4C8A7AAEE2CD191271" ma:contentTypeVersion="1" ma:contentTypeDescription="Create a new document." ma:contentTypeScope="" ma:versionID="fd4f534fc22f1d982cc2e0e62ad2af45">
  <xsd:schema xmlns:xsd="http://www.w3.org/2001/XMLSchema" xmlns:xs="http://www.w3.org/2001/XMLSchema" xmlns:p="http://schemas.microsoft.com/office/2006/metadata/properties" xmlns:ns2="475f1e55-3009-46d8-9566-5d569a2b3a98" targetNamespace="http://schemas.microsoft.com/office/2006/metadata/properties" ma:root="true" ma:fieldsID="1d095aabec1d15598815726bd4b054a7" ns2:_="">
    <xsd:import namespace="475f1e55-3009-46d8-9566-5d569a2b3a98"/>
    <xsd:element name="properties">
      <xsd:complexType>
        <xsd:sequence>
          <xsd:element name="documentManagement">
            <xsd:complexType>
              <xsd:all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5f1e55-3009-46d8-9566-5d569a2b3a9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426425E-9633-423D-B668-FB68407A524D}"/>
</file>

<file path=customXml/itemProps2.xml><?xml version="1.0" encoding="utf-8"?>
<ds:datastoreItem xmlns:ds="http://schemas.openxmlformats.org/officeDocument/2006/customXml" ds:itemID="{FEDE263F-0510-4442-823E-69B63ECB61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A5960F2-6186-408B-A0DC-5CA5E58B604F}">
  <ds:schemaRefs>
    <ds:schemaRef ds:uri="http://www.w3.org/XML/1998/namespace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purl.org/dc/dcmitype/"/>
    <ds:schemaRef ds:uri="http://schemas.microsoft.com/office/infopath/2007/PartnerControls"/>
    <ds:schemaRef ds:uri="475f1e55-3009-46d8-9566-5d569a2b3a9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1573</TotalTime>
  <Words>5387</Words>
  <Application>Microsoft Office PowerPoint</Application>
  <PresentationFormat>宽屏</PresentationFormat>
  <Paragraphs>893</Paragraphs>
  <Slides>40</Slides>
  <Notes>40</Notes>
  <HiddenSlides>1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40</vt:i4>
      </vt:variant>
    </vt:vector>
  </HeadingPairs>
  <TitlesOfParts>
    <vt:vector size="51" baseType="lpstr">
      <vt:lpstr>方正兰亭黑简体</vt:lpstr>
      <vt:lpstr>Microsoft YaHei</vt:lpstr>
      <vt:lpstr>Microsoft YaHei</vt:lpstr>
      <vt:lpstr>Arial</vt:lpstr>
      <vt:lpstr>Courier New</vt:lpstr>
      <vt:lpstr>Huawei Sans</vt:lpstr>
      <vt:lpstr>Wingdings</vt:lpstr>
      <vt:lpstr>2_标题页模板</vt:lpstr>
      <vt:lpstr>3_功能页模板</vt:lpstr>
      <vt:lpstr>4_内容页模板</vt:lpstr>
      <vt:lpstr>5_感谢页模板</vt:lpstr>
      <vt:lpstr>PowerPoint 演示文稿</vt:lpstr>
      <vt:lpstr>MPLS原理与配置</vt:lpstr>
      <vt:lpstr>PowerPoint 演示文稿</vt:lpstr>
      <vt:lpstr>PowerPoint 演示文稿</vt:lpstr>
      <vt:lpstr>PowerPoint 演示文稿</vt:lpstr>
      <vt:lpstr>传统IP路由转发</vt:lpstr>
      <vt:lpstr>MPLS基本概念</vt:lpstr>
      <vt:lpstr>PowerPoint 演示文稿</vt:lpstr>
      <vt:lpstr>MPLS术语介绍：LSR与MPLS域</vt:lpstr>
      <vt:lpstr>MPLS术语介绍：LSR分类</vt:lpstr>
      <vt:lpstr>MPLS术语介绍：FEC</vt:lpstr>
      <vt:lpstr>MPLS术语介绍：LSP</vt:lpstr>
      <vt:lpstr>PowerPoint 演示文稿</vt:lpstr>
      <vt:lpstr>MPLS标签</vt:lpstr>
      <vt:lpstr>MPLS标签栈</vt:lpstr>
      <vt:lpstr>标签空间</vt:lpstr>
      <vt:lpstr>MPLS标签的处理</vt:lpstr>
      <vt:lpstr>PowerPoint 演示文稿</vt:lpstr>
      <vt:lpstr>MPLS转发概述</vt:lpstr>
      <vt:lpstr>MPLS体系结构</vt:lpstr>
      <vt:lpstr>控制平面与转发平面</vt:lpstr>
      <vt:lpstr>LSP建立原则</vt:lpstr>
      <vt:lpstr>LSP建立方式</vt:lpstr>
      <vt:lpstr>MPLS标签转发</vt:lpstr>
      <vt:lpstr>Ingress LSR的处理</vt:lpstr>
      <vt:lpstr>Transit LSR的处理</vt:lpstr>
      <vt:lpstr>Egress LSR的处理</vt:lpstr>
      <vt:lpstr>MPLS详细转发过程</vt:lpstr>
      <vt:lpstr>PowerPoint 演示文稿</vt:lpstr>
      <vt:lpstr>MPLS基本配置命令</vt:lpstr>
      <vt:lpstr>静态LSP配置命令 (1)</vt:lpstr>
      <vt:lpstr>静态LSP配置命令 (2)</vt:lpstr>
      <vt:lpstr>静态LSP配置案例 (1)</vt:lpstr>
      <vt:lpstr>静态LSP配置案例 (2)</vt:lpstr>
      <vt:lpstr>静态LSP配置案例 (3)</vt:lpstr>
      <vt:lpstr>静态LSP配置案例 - 检查配置</vt:lpstr>
      <vt:lpstr>静态LSP配置案例 - 抓包分析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fanyan (A)</dc:creator>
  <cp:lastModifiedBy>hejunjianzjhw</cp:lastModifiedBy>
  <cp:revision>245</cp:revision>
  <cp:lastPrinted>2020-07-31T09:33:18Z</cp:lastPrinted>
  <dcterms:created xsi:type="dcterms:W3CDTF">2018-11-29T10:16:29Z</dcterms:created>
  <dcterms:modified xsi:type="dcterms:W3CDTF">2021-10-21T01:56:10Z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(3)UbZh2Ic+I+zL9FPWJtz0FCX7aIoB0Quqw0DCKl79DErrjLyM8KbzuiUya3pWJb6GhXmJGswL
k929Ck8pMrahkCQDKR5fJ2zfdCvknHVjxmg7BvFTIkpjuAD4Wk92fOaEo/zh5/TpQr0ysRgr
ICZdaLkADuaI2j4sFf81+H7F87P0uXy6H3XGh0MyH60Miz+lRpBqy0EPBdalRW3CVCfgTJvV
wi1QKvphWIO0KSU4It</vt:lpwstr>
  </property>
  <property fmtid="{D5CDD505-2E9C-101B-9397-08002B2CF9AE}" pid="3" name="_2015_ms_pID_7253431">
    <vt:lpwstr>ImS2SXuxpUZEH1S9ekpJpVyXxJyxE6biMp+HMvZg2jEXl2U1QKPvq9
GK5y37GydXkLeWra6zLITY/YB5J7hhOtPFXdCoauMHVMhj5p1MjpHB2n+YhzX67b9Ht0/sKR
LTt9I6hzldVPPhml4m60hUuHow8J5Yc4xHeBha6SMN2v56KQH6TcRfII60sga8cc/X34Ui9M
n57q26UUTW6pcdeJzZkMa1D/LzFbXefsJrjm</vt:lpwstr>
  </property>
  <property fmtid="{D5CDD505-2E9C-101B-9397-08002B2CF9AE}" pid="4" name="_2015_ms_pID_7253432">
    <vt:lpwstr>IN58Ofu7AH+D111EUWuKhqo=</vt:lpwstr>
  </property>
  <property fmtid="{D5CDD505-2E9C-101B-9397-08002B2CF9AE}" pid="5" name="ContentTypeId">
    <vt:lpwstr>0x01010002C5B4B712841F4C8A7AAEE2CD191271</vt:lpwstr>
  </property>
  <property fmtid="{D5CDD505-2E9C-101B-9397-08002B2CF9AE}" pid="6" name="_readonly">
    <vt:lpwstr/>
  </property>
  <property fmtid="{D5CDD505-2E9C-101B-9397-08002B2CF9AE}" pid="7" name="_change">
    <vt:lpwstr/>
  </property>
  <property fmtid="{D5CDD505-2E9C-101B-9397-08002B2CF9AE}" pid="8" name="_full-control">
    <vt:lpwstr/>
  </property>
  <property fmtid="{D5CDD505-2E9C-101B-9397-08002B2CF9AE}" pid="9" name="sflag">
    <vt:lpwstr>1634777000</vt:lpwstr>
  </property>
</Properties>
</file>