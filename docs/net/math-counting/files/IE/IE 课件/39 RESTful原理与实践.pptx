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75"/>
  </p:notesMasterIdLst>
  <p:handoutMasterIdLst>
    <p:handoutMasterId r:id="rId76"/>
  </p:handoutMasterIdLst>
  <p:sldIdLst>
    <p:sldId id="257" r:id="rId8"/>
    <p:sldId id="258" r:id="rId9"/>
    <p:sldId id="286" r:id="rId10"/>
    <p:sldId id="287" r:id="rId11"/>
    <p:sldId id="288" r:id="rId12"/>
    <p:sldId id="289" r:id="rId13"/>
    <p:sldId id="290" r:id="rId14"/>
    <p:sldId id="291" r:id="rId15"/>
    <p:sldId id="292" r:id="rId16"/>
    <p:sldId id="293" r:id="rId17"/>
    <p:sldId id="294" r:id="rId18"/>
    <p:sldId id="295" r:id="rId19"/>
    <p:sldId id="352" r:id="rId20"/>
    <p:sldId id="299" r:id="rId21"/>
    <p:sldId id="300" r:id="rId22"/>
    <p:sldId id="301" r:id="rId23"/>
    <p:sldId id="302" r:id="rId24"/>
    <p:sldId id="303" r:id="rId25"/>
    <p:sldId id="304" r:id="rId26"/>
    <p:sldId id="305" r:id="rId27"/>
    <p:sldId id="353" r:id="rId28"/>
    <p:sldId id="307" r:id="rId29"/>
    <p:sldId id="308" r:id="rId30"/>
    <p:sldId id="309" r:id="rId31"/>
    <p:sldId id="310" r:id="rId32"/>
    <p:sldId id="311" r:id="rId33"/>
    <p:sldId id="312" r:id="rId34"/>
    <p:sldId id="354" r:id="rId35"/>
    <p:sldId id="314" r:id="rId36"/>
    <p:sldId id="315" r:id="rId37"/>
    <p:sldId id="316" r:id="rId38"/>
    <p:sldId id="317" r:id="rId39"/>
    <p:sldId id="355"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 id="356" r:id="rId55"/>
    <p:sldId id="334" r:id="rId56"/>
    <p:sldId id="335" r:id="rId57"/>
    <p:sldId id="336" r:id="rId58"/>
    <p:sldId id="337" r:id="rId59"/>
    <p:sldId id="357" r:id="rId60"/>
    <p:sldId id="339" r:id="rId61"/>
    <p:sldId id="340" r:id="rId62"/>
    <p:sldId id="341" r:id="rId63"/>
    <p:sldId id="342" r:id="rId64"/>
    <p:sldId id="343" r:id="rId65"/>
    <p:sldId id="344" r:id="rId66"/>
    <p:sldId id="345" r:id="rId67"/>
    <p:sldId id="346" r:id="rId68"/>
    <p:sldId id="347" r:id="rId69"/>
    <p:sldId id="348" r:id="rId70"/>
    <p:sldId id="349" r:id="rId71"/>
    <p:sldId id="350" r:id="rId72"/>
    <p:sldId id="351" r:id="rId73"/>
    <p:sldId id="284" r:id="rId74"/>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292" userDrawn="1">
          <p15:clr>
            <a:srgbClr val="A4A3A4"/>
          </p15:clr>
        </p15:guide>
        <p15:guide id="4" orient="horz" pos="2137"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junjianzjhw" initials="h" lastIdx="12" clrIdx="0">
    <p:extLst>
      <p:ext uri="{19B8F6BF-5375-455C-9EA6-DF929625EA0E}">
        <p15:presenceInfo xmlns:p15="http://schemas.microsoft.com/office/powerpoint/2012/main" userId="S-1-5-21-147214757-305610072-1517763936-56826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CCCC"/>
    <a:srgbClr val="30B5C5"/>
    <a:srgbClr val="94DAE2"/>
    <a:srgbClr val="56C4D2"/>
    <a:srgbClr val="BEE9EE"/>
    <a:srgbClr val="FDE397"/>
    <a:srgbClr val="FCC800"/>
    <a:srgbClr val="00B0F0"/>
    <a:srgbClr val="80D5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55" autoAdjust="0"/>
    <p:restoredTop sz="95267" autoAdjust="0"/>
  </p:normalViewPr>
  <p:slideViewPr>
    <p:cSldViewPr snapToGrid="0" snapToObjects="1">
      <p:cViewPr varScale="1">
        <p:scale>
          <a:sx n="85" d="100"/>
          <a:sy n="85" d="100"/>
        </p:scale>
        <p:origin x="40" y="64"/>
      </p:cViewPr>
      <p:guideLst>
        <p:guide pos="5292"/>
        <p:guide orient="horz" pos="2137"/>
      </p:guideLst>
    </p:cSldViewPr>
  </p:slideViewPr>
  <p:outlineViewPr>
    <p:cViewPr>
      <p:scale>
        <a:sx n="33" d="100"/>
        <a:sy n="33" d="100"/>
      </p:scale>
      <p:origin x="0" y="-29832"/>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82" d="100"/>
          <a:sy n="82" d="100"/>
        </p:scale>
        <p:origin x="4248" y="240"/>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4.xml"/><Relationship Id="rId82" Type="http://schemas.microsoft.com/office/2016/11/relationships/changesInfo" Target="changesInfos/changesInfo1.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handoutMaster" Target="handoutMasters/handoutMaster1.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peng he" userId="51e7bc25f46b8d94" providerId="LiveId" clId="{BFF16492-D635-4FBA-ADF2-BE412201220F}"/>
    <pc:docChg chg="undo custSel modSld">
      <pc:chgData name="junpeng he" userId="51e7bc25f46b8d94" providerId="LiveId" clId="{BFF16492-D635-4FBA-ADF2-BE412201220F}" dt="2023-12-09T03:33:06.561" v="355" actId="13926"/>
      <pc:docMkLst>
        <pc:docMk/>
      </pc:docMkLst>
      <pc:sldChg chg="modSp mod">
        <pc:chgData name="junpeng he" userId="51e7bc25f46b8d94" providerId="LiveId" clId="{BFF16492-D635-4FBA-ADF2-BE412201220F}" dt="2023-12-09T02:37:50.344" v="42" actId="20577"/>
        <pc:sldMkLst>
          <pc:docMk/>
          <pc:sldMk cId="1507517372" sldId="289"/>
        </pc:sldMkLst>
        <pc:spChg chg="mod">
          <ac:chgData name="junpeng he" userId="51e7bc25f46b8d94" providerId="LiveId" clId="{BFF16492-D635-4FBA-ADF2-BE412201220F}" dt="2023-12-09T02:37:32.895" v="27" actId="20577"/>
          <ac:spMkLst>
            <pc:docMk/>
            <pc:sldMk cId="1507517372" sldId="289"/>
            <ac:spMk id="119" creationId="{A539B53D-768D-4CFB-AF34-053D389D8D51}"/>
          </ac:spMkLst>
        </pc:spChg>
        <pc:spChg chg="mod">
          <ac:chgData name="junpeng he" userId="51e7bc25f46b8d94" providerId="LiveId" clId="{BFF16492-D635-4FBA-ADF2-BE412201220F}" dt="2023-12-09T02:37:50.344" v="42" actId="20577"/>
          <ac:spMkLst>
            <pc:docMk/>
            <pc:sldMk cId="1507517372" sldId="289"/>
            <ac:spMk id="130" creationId="{9BB51638-6563-4F09-B203-6D7A20F991FE}"/>
          </ac:spMkLst>
        </pc:spChg>
        <pc:grpChg chg="mod">
          <ac:chgData name="junpeng he" userId="51e7bc25f46b8d94" providerId="LiveId" clId="{BFF16492-D635-4FBA-ADF2-BE412201220F}" dt="2023-12-09T02:36:33.655" v="1" actId="1076"/>
          <ac:grpSpMkLst>
            <pc:docMk/>
            <pc:sldMk cId="1507517372" sldId="289"/>
            <ac:grpSpMk id="116" creationId="{68A6C888-8473-4E08-949F-D9858B51B963}"/>
          </ac:grpSpMkLst>
        </pc:grpChg>
        <pc:cxnChg chg="mod">
          <ac:chgData name="junpeng he" userId="51e7bc25f46b8d94" providerId="LiveId" clId="{BFF16492-D635-4FBA-ADF2-BE412201220F}" dt="2023-12-09T02:36:33.655" v="1" actId="1076"/>
          <ac:cxnSpMkLst>
            <pc:docMk/>
            <pc:sldMk cId="1507517372" sldId="289"/>
            <ac:cxnSpMk id="16" creationId="{F1D17673-928F-4DD4-BA30-2E581A807C15}"/>
          </ac:cxnSpMkLst>
        </pc:cxnChg>
        <pc:cxnChg chg="mod">
          <ac:chgData name="junpeng he" userId="51e7bc25f46b8d94" providerId="LiveId" clId="{BFF16492-D635-4FBA-ADF2-BE412201220F}" dt="2023-12-09T02:36:33.655" v="1" actId="1076"/>
          <ac:cxnSpMkLst>
            <pc:docMk/>
            <pc:sldMk cId="1507517372" sldId="289"/>
            <ac:cxnSpMk id="17" creationId="{F8E88FDE-15E9-4C0D-A246-36B6ECB798ED}"/>
          </ac:cxnSpMkLst>
        </pc:cxnChg>
        <pc:cxnChg chg="mod">
          <ac:chgData name="junpeng he" userId="51e7bc25f46b8d94" providerId="LiveId" clId="{BFF16492-D635-4FBA-ADF2-BE412201220F}" dt="2023-12-09T02:36:33.655" v="1" actId="1076"/>
          <ac:cxnSpMkLst>
            <pc:docMk/>
            <pc:sldMk cId="1507517372" sldId="289"/>
            <ac:cxnSpMk id="18" creationId="{611CF3FB-4932-425F-810F-50BFCF700FAB}"/>
          </ac:cxnSpMkLst>
        </pc:cxnChg>
        <pc:cxnChg chg="mod">
          <ac:chgData name="junpeng he" userId="51e7bc25f46b8d94" providerId="LiveId" clId="{BFF16492-D635-4FBA-ADF2-BE412201220F}" dt="2023-12-09T02:36:33.655" v="1" actId="1076"/>
          <ac:cxnSpMkLst>
            <pc:docMk/>
            <pc:sldMk cId="1507517372" sldId="289"/>
            <ac:cxnSpMk id="19" creationId="{8696B550-0F39-4912-9313-F677152B4E2C}"/>
          </ac:cxnSpMkLst>
        </pc:cxnChg>
        <pc:cxnChg chg="mod">
          <ac:chgData name="junpeng he" userId="51e7bc25f46b8d94" providerId="LiveId" clId="{BFF16492-D635-4FBA-ADF2-BE412201220F}" dt="2023-12-09T02:36:33.655" v="1" actId="1076"/>
          <ac:cxnSpMkLst>
            <pc:docMk/>
            <pc:sldMk cId="1507517372" sldId="289"/>
            <ac:cxnSpMk id="121" creationId="{E9937E6E-5B09-4FE8-AF77-6F47E700562F}"/>
          </ac:cxnSpMkLst>
        </pc:cxnChg>
      </pc:sldChg>
      <pc:sldChg chg="modSp mod">
        <pc:chgData name="junpeng he" userId="51e7bc25f46b8d94" providerId="LiveId" clId="{BFF16492-D635-4FBA-ADF2-BE412201220F}" dt="2023-12-09T02:41:09.768" v="80" actId="20577"/>
        <pc:sldMkLst>
          <pc:docMk/>
          <pc:sldMk cId="3595464400" sldId="290"/>
        </pc:sldMkLst>
        <pc:spChg chg="mod">
          <ac:chgData name="junpeng he" userId="51e7bc25f46b8d94" providerId="LiveId" clId="{BFF16492-D635-4FBA-ADF2-BE412201220F}" dt="2023-12-09T02:41:09.768" v="80" actId="20577"/>
          <ac:spMkLst>
            <pc:docMk/>
            <pc:sldMk cId="3595464400" sldId="290"/>
            <ac:spMk id="7" creationId="{00000000-0000-0000-0000-000000000000}"/>
          </ac:spMkLst>
        </pc:spChg>
      </pc:sldChg>
      <pc:sldChg chg="modSp mod">
        <pc:chgData name="junpeng he" userId="51e7bc25f46b8d94" providerId="LiveId" clId="{BFF16492-D635-4FBA-ADF2-BE412201220F}" dt="2023-12-09T02:44:16.309" v="85" actId="207"/>
        <pc:sldMkLst>
          <pc:docMk/>
          <pc:sldMk cId="838021688" sldId="292"/>
        </pc:sldMkLst>
        <pc:spChg chg="mod">
          <ac:chgData name="junpeng he" userId="51e7bc25f46b8d94" providerId="LiveId" clId="{BFF16492-D635-4FBA-ADF2-BE412201220F}" dt="2023-12-09T02:43:56.260" v="82" actId="207"/>
          <ac:spMkLst>
            <pc:docMk/>
            <pc:sldMk cId="838021688" sldId="292"/>
            <ac:spMk id="8" creationId="{3E8A77B7-E9EB-4CF2-8A06-FA95CAE7D9EE}"/>
          </ac:spMkLst>
        </pc:spChg>
        <pc:spChg chg="mod">
          <ac:chgData name="junpeng he" userId="51e7bc25f46b8d94" providerId="LiveId" clId="{BFF16492-D635-4FBA-ADF2-BE412201220F}" dt="2023-12-09T02:44:16.309" v="85" actId="207"/>
          <ac:spMkLst>
            <pc:docMk/>
            <pc:sldMk cId="838021688" sldId="292"/>
            <ac:spMk id="9" creationId="{5E17D229-241E-451A-A583-783098E29C1D}"/>
          </ac:spMkLst>
        </pc:spChg>
        <pc:spChg chg="mod">
          <ac:chgData name="junpeng he" userId="51e7bc25f46b8d94" providerId="LiveId" clId="{BFF16492-D635-4FBA-ADF2-BE412201220F}" dt="2023-12-09T02:43:49.368" v="81" actId="207"/>
          <ac:spMkLst>
            <pc:docMk/>
            <pc:sldMk cId="838021688" sldId="292"/>
            <ac:spMk id="10" creationId="{56FD025F-610C-4EC2-91EB-58002B32288C}"/>
          </ac:spMkLst>
        </pc:spChg>
        <pc:spChg chg="mod">
          <ac:chgData name="junpeng he" userId="51e7bc25f46b8d94" providerId="LiveId" clId="{BFF16492-D635-4FBA-ADF2-BE412201220F}" dt="2023-12-09T02:44:01.430" v="83" actId="207"/>
          <ac:spMkLst>
            <pc:docMk/>
            <pc:sldMk cId="838021688" sldId="292"/>
            <ac:spMk id="54" creationId="{4FC5677F-6FA8-4319-82B4-A0E88B5101F9}"/>
          </ac:spMkLst>
        </pc:spChg>
        <pc:spChg chg="mod">
          <ac:chgData name="junpeng he" userId="51e7bc25f46b8d94" providerId="LiveId" clId="{BFF16492-D635-4FBA-ADF2-BE412201220F}" dt="2023-12-09T02:44:07.518" v="84" actId="207"/>
          <ac:spMkLst>
            <pc:docMk/>
            <pc:sldMk cId="838021688" sldId="292"/>
            <ac:spMk id="97" creationId="{C593AF92-314E-4C2E-AFE7-D717B58E6A57}"/>
          </ac:spMkLst>
        </pc:spChg>
      </pc:sldChg>
      <pc:sldChg chg="modSp mod">
        <pc:chgData name="junpeng he" userId="51e7bc25f46b8d94" providerId="LiveId" clId="{BFF16492-D635-4FBA-ADF2-BE412201220F}" dt="2023-12-09T02:51:08.085" v="119" actId="20577"/>
        <pc:sldMkLst>
          <pc:docMk/>
          <pc:sldMk cId="2987119457" sldId="300"/>
        </pc:sldMkLst>
        <pc:spChg chg="mod">
          <ac:chgData name="junpeng he" userId="51e7bc25f46b8d94" providerId="LiveId" clId="{BFF16492-D635-4FBA-ADF2-BE412201220F}" dt="2023-12-09T02:51:08.085" v="119" actId="20577"/>
          <ac:spMkLst>
            <pc:docMk/>
            <pc:sldMk cId="2987119457" sldId="300"/>
            <ac:spMk id="6" creationId="{00000000-0000-0000-0000-000000000000}"/>
          </ac:spMkLst>
        </pc:spChg>
      </pc:sldChg>
      <pc:sldChg chg="modSp mod">
        <pc:chgData name="junpeng he" userId="51e7bc25f46b8d94" providerId="LiveId" clId="{BFF16492-D635-4FBA-ADF2-BE412201220F}" dt="2023-12-09T02:54:00.736" v="120" actId="1036"/>
        <pc:sldMkLst>
          <pc:docMk/>
          <pc:sldMk cId="125702393" sldId="301"/>
        </pc:sldMkLst>
        <pc:spChg chg="mod">
          <ac:chgData name="junpeng he" userId="51e7bc25f46b8d94" providerId="LiveId" clId="{BFF16492-D635-4FBA-ADF2-BE412201220F}" dt="2023-12-09T02:54:00.736" v="120" actId="1036"/>
          <ac:spMkLst>
            <pc:docMk/>
            <pc:sldMk cId="125702393" sldId="301"/>
            <ac:spMk id="13" creationId="{00000000-0000-0000-0000-000000000000}"/>
          </ac:spMkLst>
        </pc:spChg>
      </pc:sldChg>
      <pc:sldChg chg="modSp mod">
        <pc:chgData name="junpeng he" userId="51e7bc25f46b8d94" providerId="LiveId" clId="{BFF16492-D635-4FBA-ADF2-BE412201220F}" dt="2023-12-09T02:55:55.375" v="126" actId="20577"/>
        <pc:sldMkLst>
          <pc:docMk/>
          <pc:sldMk cId="2973061047" sldId="302"/>
        </pc:sldMkLst>
        <pc:spChg chg="mod">
          <ac:chgData name="junpeng he" userId="51e7bc25f46b8d94" providerId="LiveId" clId="{BFF16492-D635-4FBA-ADF2-BE412201220F}" dt="2023-12-09T02:55:55.375" v="126" actId="20577"/>
          <ac:spMkLst>
            <pc:docMk/>
            <pc:sldMk cId="2973061047" sldId="302"/>
            <ac:spMk id="17" creationId="{00000000-0000-0000-0000-000000000000}"/>
          </ac:spMkLst>
        </pc:spChg>
      </pc:sldChg>
      <pc:sldChg chg="modSp mod">
        <pc:chgData name="junpeng he" userId="51e7bc25f46b8d94" providerId="LiveId" clId="{BFF16492-D635-4FBA-ADF2-BE412201220F}" dt="2023-12-09T02:57:40.159" v="210" actId="20577"/>
        <pc:sldMkLst>
          <pc:docMk/>
          <pc:sldMk cId="2207394977" sldId="303"/>
        </pc:sldMkLst>
        <pc:spChg chg="mod">
          <ac:chgData name="junpeng he" userId="51e7bc25f46b8d94" providerId="LiveId" clId="{BFF16492-D635-4FBA-ADF2-BE412201220F}" dt="2023-12-09T02:57:40.159" v="210" actId="20577"/>
          <ac:spMkLst>
            <pc:docMk/>
            <pc:sldMk cId="2207394977" sldId="303"/>
            <ac:spMk id="7" creationId="{00000000-0000-0000-0000-000000000000}"/>
          </ac:spMkLst>
        </pc:spChg>
      </pc:sldChg>
      <pc:sldChg chg="modSp mod">
        <pc:chgData name="junpeng he" userId="51e7bc25f46b8d94" providerId="LiveId" clId="{BFF16492-D635-4FBA-ADF2-BE412201220F}" dt="2023-12-09T03:01:54.816" v="248" actId="20577"/>
        <pc:sldMkLst>
          <pc:docMk/>
          <pc:sldMk cId="1246732346" sldId="305"/>
        </pc:sldMkLst>
        <pc:spChg chg="mod">
          <ac:chgData name="junpeng he" userId="51e7bc25f46b8d94" providerId="LiveId" clId="{BFF16492-D635-4FBA-ADF2-BE412201220F}" dt="2023-12-09T03:01:50.879" v="243" actId="20577"/>
          <ac:spMkLst>
            <pc:docMk/>
            <pc:sldMk cId="1246732346" sldId="305"/>
            <ac:spMk id="19" creationId="{00000000-0000-0000-0000-000000000000}"/>
          </ac:spMkLst>
        </pc:spChg>
        <pc:spChg chg="mod">
          <ac:chgData name="junpeng he" userId="51e7bc25f46b8d94" providerId="LiveId" clId="{BFF16492-D635-4FBA-ADF2-BE412201220F}" dt="2023-12-09T03:01:54.816" v="248" actId="20577"/>
          <ac:spMkLst>
            <pc:docMk/>
            <pc:sldMk cId="1246732346" sldId="305"/>
            <ac:spMk id="53" creationId="{00000000-0000-0000-0000-000000000000}"/>
          </ac:spMkLst>
        </pc:spChg>
        <pc:spChg chg="mod">
          <ac:chgData name="junpeng he" userId="51e7bc25f46b8d94" providerId="LiveId" clId="{BFF16492-D635-4FBA-ADF2-BE412201220F}" dt="2023-12-09T03:01:48.664" v="237" actId="20577"/>
          <ac:spMkLst>
            <pc:docMk/>
            <pc:sldMk cId="1246732346" sldId="305"/>
            <ac:spMk id="60" creationId="{00000000-0000-0000-0000-000000000000}"/>
          </ac:spMkLst>
        </pc:spChg>
      </pc:sldChg>
      <pc:sldChg chg="modSp mod">
        <pc:chgData name="junpeng he" userId="51e7bc25f46b8d94" providerId="LiveId" clId="{BFF16492-D635-4FBA-ADF2-BE412201220F}" dt="2023-12-09T03:14:49.905" v="267" actId="20577"/>
        <pc:sldMkLst>
          <pc:docMk/>
          <pc:sldMk cId="2145043501" sldId="320"/>
        </pc:sldMkLst>
        <pc:spChg chg="mod">
          <ac:chgData name="junpeng he" userId="51e7bc25f46b8d94" providerId="LiveId" clId="{BFF16492-D635-4FBA-ADF2-BE412201220F}" dt="2023-12-09T03:14:49.905" v="267" actId="20577"/>
          <ac:spMkLst>
            <pc:docMk/>
            <pc:sldMk cId="2145043501" sldId="320"/>
            <ac:spMk id="7" creationId="{00000000-0000-0000-0000-000000000000}"/>
          </ac:spMkLst>
        </pc:spChg>
        <pc:spChg chg="mod">
          <ac:chgData name="junpeng he" userId="51e7bc25f46b8d94" providerId="LiveId" clId="{BFF16492-D635-4FBA-ADF2-BE412201220F}" dt="2023-12-09T03:14:02.338" v="250" actId="1076"/>
          <ac:spMkLst>
            <pc:docMk/>
            <pc:sldMk cId="2145043501" sldId="320"/>
            <ac:spMk id="35" creationId="{ED1FF46C-3174-448F-9ADD-33C5AECA1FDF}"/>
          </ac:spMkLst>
        </pc:spChg>
      </pc:sldChg>
      <pc:sldChg chg="modSp mod">
        <pc:chgData name="junpeng he" userId="51e7bc25f46b8d94" providerId="LiveId" clId="{BFF16492-D635-4FBA-ADF2-BE412201220F}" dt="2023-12-09T03:33:06.561" v="355" actId="13926"/>
        <pc:sldMkLst>
          <pc:docMk/>
          <pc:sldMk cId="1296779675" sldId="334"/>
        </pc:sldMkLst>
        <pc:spChg chg="mod">
          <ac:chgData name="junpeng he" userId="51e7bc25f46b8d94" providerId="LiveId" clId="{BFF16492-D635-4FBA-ADF2-BE412201220F}" dt="2023-12-09T03:33:06.561" v="355" actId="13926"/>
          <ac:spMkLst>
            <pc:docMk/>
            <pc:sldMk cId="1296779675" sldId="334"/>
            <ac:spMk id="40"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12/9/2023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790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845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83283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2550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87183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SDN</a:t>
            </a:r>
            <a:r>
              <a:rPr lang="zh-CN" altLang="en-US" dirty="0"/>
              <a:t>起源提出了</a:t>
            </a:r>
            <a:r>
              <a:rPr lang="en-US" altLang="zh-CN" dirty="0" err="1"/>
              <a:t>OpenFlow</a:t>
            </a:r>
            <a:r>
              <a:rPr lang="zh-CN" altLang="en-US" dirty="0"/>
              <a:t>协议。随着技术的发展</a:t>
            </a:r>
            <a:r>
              <a:rPr lang="en-US" altLang="zh-CN" dirty="0" err="1"/>
              <a:t>OpenFlow</a:t>
            </a:r>
            <a:r>
              <a:rPr lang="zh-CN" altLang="en-US" dirty="0"/>
              <a:t>成为了控制器与交换机之间的诸多南向接口协议的一种。</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18298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SDN</a:t>
            </a:r>
            <a:r>
              <a:rPr lang="zh-CN" altLang="en-US"/>
              <a:t>是一个更为广泛的概念而不局限于</a:t>
            </a:r>
            <a:r>
              <a:rPr lang="en-US" altLang="zh-CN"/>
              <a:t>OpenFlow</a:t>
            </a:r>
            <a:r>
              <a:rPr lang="zh-CN" altLang="en-US"/>
              <a:t>。转控分离是实现</a:t>
            </a:r>
            <a:r>
              <a:rPr lang="en-US" altLang="zh-CN"/>
              <a:t>SDN</a:t>
            </a:r>
            <a:r>
              <a:rPr lang="zh-CN" altLang="en-US"/>
              <a:t>的一种方法而不是本质。</a:t>
            </a:r>
            <a:endParaRPr lang="en-US" altLang="zh-CN"/>
          </a:p>
          <a:p>
            <a:pPr lvl="0"/>
            <a:endParaRPr lang="zh-CN" altLang="en-US"/>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94592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协同应用层：主要完成用户意图的各种上层应用，典型的协同层应用包括</a:t>
            </a:r>
            <a:r>
              <a:rPr lang="en-US" altLang="zh-CN"/>
              <a:t>OSS</a:t>
            </a:r>
            <a:r>
              <a:rPr lang="zh-CN" altLang="en-US"/>
              <a:t>、</a:t>
            </a:r>
            <a:r>
              <a:rPr lang="en-US" altLang="zh-CN"/>
              <a:t>OpenStack</a:t>
            </a:r>
            <a:r>
              <a:rPr lang="zh-CN" altLang="en-US"/>
              <a:t>等。</a:t>
            </a:r>
            <a:r>
              <a:rPr lang="en-US" altLang="zh-CN"/>
              <a:t>OSS</a:t>
            </a:r>
            <a:r>
              <a:rPr lang="zh-CN" altLang="en-US"/>
              <a:t>可以负责整网的业务协同，</a:t>
            </a:r>
            <a:r>
              <a:rPr lang="en-US" altLang="zh-CN"/>
              <a:t>OpenStack</a:t>
            </a:r>
            <a:r>
              <a:rPr lang="zh-CN" altLang="en-US"/>
              <a:t>云平台一般用于数据中心负责网络、计算、存储的业务协同。还有其他的协同层应用，比如用户希望部署一个安全</a:t>
            </a:r>
            <a:r>
              <a:rPr lang="en-US" altLang="zh-CN"/>
              <a:t>APP</a:t>
            </a:r>
            <a:r>
              <a:rPr lang="zh-CN" altLang="en-US"/>
              <a:t>，这个安全</a:t>
            </a:r>
            <a:r>
              <a:rPr lang="en-US" altLang="zh-CN"/>
              <a:t>APP</a:t>
            </a:r>
            <a:r>
              <a:rPr lang="zh-CN" altLang="en-US"/>
              <a:t>不关心设备具体部署位置，只是调用了控制器的北向接口，例如</a:t>
            </a:r>
            <a:r>
              <a:rPr lang="en-US" altLang="zh-CN"/>
              <a:t>Block</a:t>
            </a:r>
            <a:r>
              <a:rPr lang="zh-CN" altLang="en-US"/>
              <a:t>（</a:t>
            </a:r>
            <a:r>
              <a:rPr lang="en-US" altLang="zh-CN"/>
              <a:t>Source IP</a:t>
            </a:r>
            <a:r>
              <a:rPr lang="zh-CN" altLang="en-US"/>
              <a:t>，</a:t>
            </a:r>
            <a:r>
              <a:rPr lang="en-US" altLang="zh-CN"/>
              <a:t>DestIP</a:t>
            </a:r>
            <a:r>
              <a:rPr lang="zh-CN" altLang="en-US"/>
              <a:t>），然后控制器会给各网络设备下发指令。这个指令根据南向协议不同而不同。</a:t>
            </a:r>
            <a:endParaRPr lang="en-US" altLang="zh-CN"/>
          </a:p>
          <a:p>
            <a:r>
              <a:rPr lang="zh-CN" altLang="en-US"/>
              <a:t>控制器层：控制器层的实体就是</a:t>
            </a:r>
            <a:r>
              <a:rPr lang="en-US" altLang="zh-CN"/>
              <a:t>SDN</a:t>
            </a:r>
            <a:r>
              <a:rPr lang="zh-CN" altLang="en-US"/>
              <a:t>控制器，是</a:t>
            </a:r>
            <a:r>
              <a:rPr lang="en-US" altLang="zh-CN"/>
              <a:t>SDN</a:t>
            </a:r>
            <a:r>
              <a:rPr lang="zh-CN" altLang="en-US"/>
              <a:t>网络架构下最核心的部分。控制层是</a:t>
            </a:r>
            <a:r>
              <a:rPr lang="en-US" altLang="zh-CN"/>
              <a:t>SDN</a:t>
            </a:r>
            <a:r>
              <a:rPr lang="zh-CN" altLang="en-US"/>
              <a:t>系统的大脑，其核心功能是实现网络业务编排。</a:t>
            </a:r>
            <a:endParaRPr lang="en-US" altLang="zh-CN"/>
          </a:p>
          <a:p>
            <a:r>
              <a:rPr lang="zh-CN" altLang="en-US"/>
              <a:t>设备层：网络设备接收控制器指令，执行设备转发。</a:t>
            </a:r>
            <a:endParaRPr lang="en-US" altLang="zh-CN"/>
          </a:p>
          <a:p>
            <a:r>
              <a:rPr lang="en-US" altLang="zh-CN"/>
              <a:t>NBI</a:t>
            </a:r>
            <a:r>
              <a:rPr lang="zh-CN" altLang="en-US"/>
              <a:t>北向接口：北向接口为控制器对接协同应用层的接口，主要为</a:t>
            </a:r>
            <a:r>
              <a:rPr lang="en-US" altLang="zh-CN"/>
              <a:t>RESTful</a:t>
            </a:r>
            <a:r>
              <a:rPr lang="zh-CN" altLang="en-US"/>
              <a:t>。</a:t>
            </a:r>
            <a:endParaRPr lang="en-US" altLang="zh-CN"/>
          </a:p>
          <a:p>
            <a:r>
              <a:rPr lang="en-US" altLang="zh-CN"/>
              <a:t>SBI</a:t>
            </a:r>
            <a:r>
              <a:rPr lang="zh-CN" altLang="en-US"/>
              <a:t>南向接口：南向接口为控制器与设备交互的协议，包括</a:t>
            </a:r>
            <a:r>
              <a:rPr lang="en-US" altLang="zh-CN"/>
              <a:t>NETCONF</a:t>
            </a:r>
            <a:r>
              <a:rPr lang="zh-CN" altLang="en-US"/>
              <a:t>、</a:t>
            </a:r>
            <a:r>
              <a:rPr lang="en-US" altLang="zh-CN"/>
              <a:t>SNMP</a:t>
            </a:r>
            <a:r>
              <a:rPr lang="zh-CN" altLang="en-US"/>
              <a:t>、</a:t>
            </a:r>
            <a:r>
              <a:rPr lang="en-US" altLang="zh-CN"/>
              <a:t>OpenFlow</a:t>
            </a:r>
            <a:r>
              <a:rPr lang="zh-CN" altLang="en-US"/>
              <a:t>、</a:t>
            </a:r>
            <a:r>
              <a:rPr lang="en-US" altLang="zh-CN"/>
              <a:t>OVSDB</a:t>
            </a:r>
            <a:r>
              <a:rPr lang="zh-CN" altLang="en-US"/>
              <a:t>等。</a:t>
            </a:r>
            <a:endParaRPr lang="en-US" altLang="zh-CN"/>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95736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云平台：云数据中心内资源管理平台。云平台包含对网络资源、计算资源和存储资源的管理。</a:t>
            </a:r>
            <a:r>
              <a:rPr lang="en-US" altLang="zh-CN"/>
              <a:t>OpenStack</a:t>
            </a:r>
            <a:r>
              <a:rPr lang="zh-CN" altLang="en-US"/>
              <a:t>是最主流的开源云平台。</a:t>
            </a:r>
            <a:endParaRPr lang="en-US" altLang="zh-CN"/>
          </a:p>
          <a:p>
            <a:r>
              <a:rPr lang="en-US" altLang="zh-CN"/>
              <a:t>EMS</a:t>
            </a:r>
            <a:r>
              <a:rPr lang="zh-CN" altLang="en-US"/>
              <a:t>（</a:t>
            </a:r>
            <a:r>
              <a:rPr lang="en-US" altLang="zh-CN"/>
              <a:t>Element Management System</a:t>
            </a:r>
            <a:r>
              <a:rPr lang="zh-CN" altLang="en-US"/>
              <a:t>，网元管理系统）是管理特定类型的一个或多个电信</a:t>
            </a:r>
            <a:r>
              <a:rPr lang="en-US" altLang="zh-CN"/>
              <a:t>NE</a:t>
            </a:r>
            <a:r>
              <a:rPr lang="zh-CN" altLang="en-US"/>
              <a:t>（</a:t>
            </a:r>
            <a:r>
              <a:rPr lang="en-US" altLang="zh-CN"/>
              <a:t>Network Element</a:t>
            </a:r>
            <a:r>
              <a:rPr lang="zh-CN" altLang="en-US"/>
              <a:t>，网络单元）的系统。</a:t>
            </a:r>
            <a:endParaRPr lang="en-US" altLang="zh-CN"/>
          </a:p>
          <a:p>
            <a:r>
              <a:rPr lang="en-US" altLang="zh-CN"/>
              <a:t>Orchestration</a:t>
            </a:r>
            <a:r>
              <a:rPr lang="zh-CN" altLang="en-US"/>
              <a:t>（容器编排）：容器编排工具也可以包含网络业务编排功能。</a:t>
            </a:r>
            <a:r>
              <a:rPr lang="en-US" altLang="zh-CN"/>
              <a:t>Kubernetes</a:t>
            </a:r>
            <a:r>
              <a:rPr lang="zh-CN" altLang="en-US"/>
              <a:t>是主流的工具。</a:t>
            </a:r>
            <a:endParaRPr lang="en-US" altLang="zh-CN"/>
          </a:p>
          <a:p>
            <a:r>
              <a:rPr lang="en-US" altLang="zh-CN"/>
              <a:t>MTOSI/CORBA</a:t>
            </a:r>
            <a:r>
              <a:rPr lang="zh-CN" altLang="en-US"/>
              <a:t>用于对接</a:t>
            </a:r>
            <a:r>
              <a:rPr lang="en-US" altLang="zh-CN"/>
              <a:t>BSS/OSS</a:t>
            </a:r>
            <a:r>
              <a:rPr lang="zh-CN" altLang="en-US"/>
              <a:t>。</a:t>
            </a:r>
            <a:r>
              <a:rPr lang="en-US" altLang="zh-CN"/>
              <a:t>Kafka/SFTP</a:t>
            </a:r>
            <a:r>
              <a:rPr lang="zh-CN" altLang="en-US"/>
              <a:t>可用于对接大数据平台。</a:t>
            </a:r>
            <a:endParaRPr lang="en-US" altLang="zh-CN"/>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89442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3082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iMaster NCE</a:t>
            </a:r>
            <a:r>
              <a:rPr lang="zh-CN" altLang="en-US"/>
              <a:t>能做什么？它有效连接了物理网络与商业意图。南向实现全局网络的集中管理、控制和分析。面向商业和业务意图使能资源云化、全生命周期网络自动化，以及数据分析驱动的智能闭环。北向提供开放网络</a:t>
            </a:r>
            <a:r>
              <a:rPr lang="en-US" altLang="zh-CN"/>
              <a:t>API</a:t>
            </a:r>
            <a:r>
              <a:rPr lang="zh-CN" altLang="en-US"/>
              <a:t>与</a:t>
            </a:r>
            <a:r>
              <a:rPr lang="en-US" altLang="zh-CN"/>
              <a:t>IT</a:t>
            </a:r>
            <a:r>
              <a:rPr lang="zh-CN" altLang="en-US"/>
              <a:t>快速集成。</a:t>
            </a:r>
          </a:p>
          <a:p>
            <a:r>
              <a:rPr lang="en-US" altLang="zh-CN"/>
              <a:t>iMaster NCE</a:t>
            </a:r>
            <a:r>
              <a:rPr lang="zh-CN" altLang="en-US"/>
              <a:t>用在哪里？可以在企业领域数据中心网络（</a:t>
            </a:r>
            <a:r>
              <a:rPr lang="en-US" altLang="zh-CN"/>
              <a:t>DCN</a:t>
            </a:r>
            <a:r>
              <a:rPr lang="zh-CN" altLang="en-US"/>
              <a:t>）、企业园区（</a:t>
            </a:r>
            <a:r>
              <a:rPr lang="en-US" altLang="zh-CN"/>
              <a:t>Campus</a:t>
            </a:r>
            <a:r>
              <a:rPr lang="zh-CN" altLang="en-US"/>
              <a:t>）、企业分支互联（</a:t>
            </a:r>
            <a:r>
              <a:rPr lang="en-US" altLang="zh-CN"/>
              <a:t>SD-WAN</a:t>
            </a:r>
            <a:r>
              <a:rPr lang="zh-CN" altLang="en-US"/>
              <a:t>）等场景，让企业网络更加简单、智慧、 开放和安全，加速企业的业务转型和创新。</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56089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22073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64137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OSS</a:t>
            </a:r>
            <a:r>
              <a:rPr lang="zh-CN" altLang="en-US"/>
              <a:t>（</a:t>
            </a:r>
            <a:r>
              <a:rPr lang="en-US" altLang="zh-CN"/>
              <a:t>Operation Support Systems</a:t>
            </a:r>
            <a:r>
              <a:rPr lang="zh-CN" altLang="en-US"/>
              <a:t>，操作支持系统）是电信业务开展和运营时所必需的支撑平台。</a:t>
            </a:r>
            <a:endParaRPr lang="en-US" altLang="zh-CN"/>
          </a:p>
          <a:p>
            <a:r>
              <a:rPr lang="en-US" altLang="zh-CN"/>
              <a:t>MTOSI</a:t>
            </a:r>
            <a:r>
              <a:rPr lang="zh-CN" altLang="en-US"/>
              <a:t>（</a:t>
            </a:r>
            <a:r>
              <a:rPr lang="en-US" altLang="zh-CN"/>
              <a:t>Multi-Technology Operations Systems Interface</a:t>
            </a:r>
            <a:r>
              <a:rPr lang="zh-CN" altLang="en-US"/>
              <a:t>，多重技术运营系统接口）采用</a:t>
            </a:r>
            <a:r>
              <a:rPr lang="en-US" altLang="zh-CN"/>
              <a:t>XML</a:t>
            </a:r>
            <a:r>
              <a:rPr lang="zh-CN" altLang="en-US"/>
              <a:t>消息作为</a:t>
            </a:r>
            <a:r>
              <a:rPr lang="en-US" altLang="zh-CN"/>
              <a:t>OSS</a:t>
            </a:r>
            <a:r>
              <a:rPr lang="zh-CN" altLang="en-US"/>
              <a:t>系统的接口。</a:t>
            </a:r>
            <a:endParaRPr lang="en-US" altLang="zh-CN"/>
          </a:p>
          <a:p>
            <a:r>
              <a:rPr lang="en-US" altLang="zh-CN"/>
              <a:t>CORBA</a:t>
            </a:r>
            <a:r>
              <a:rPr lang="zh-CN" altLang="en-US"/>
              <a:t>（</a:t>
            </a:r>
            <a:r>
              <a:rPr lang="en-US" altLang="zh-CN"/>
              <a:t>Common ObjectRequest Broker Architecture</a:t>
            </a:r>
            <a:r>
              <a:rPr lang="zh-CN" altLang="en-US"/>
              <a:t>，公共对象请求代理体系结构）是由</a:t>
            </a:r>
            <a:r>
              <a:rPr lang="en-US" altLang="zh-CN"/>
              <a:t>OMG</a:t>
            </a:r>
            <a:r>
              <a:rPr lang="zh-CN" altLang="en-US"/>
              <a:t>组织制订的一种标准的面向对象应用程序体系规范。</a:t>
            </a:r>
            <a:endParaRPr lang="en-US" altLang="zh-CN"/>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121732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97599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98230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状态化请求：服务器端一般都要保存请求的相关信息，每个请求可以默认地使用以前的请求信息。</a:t>
            </a:r>
          </a:p>
          <a:p>
            <a:r>
              <a:rPr lang="zh-CN" altLang="en-US"/>
              <a:t>无状态请求：服务器端的处理结果必须全部来自于一次请求所携带的信息。</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040622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API</a:t>
            </a:r>
            <a:r>
              <a:rPr lang="zh-CN" altLang="en-US"/>
              <a:t>（</a:t>
            </a:r>
            <a:r>
              <a:rPr lang="en-US" altLang="zh-CN"/>
              <a:t>Application Programming Interface</a:t>
            </a:r>
            <a:r>
              <a:rPr lang="zh-CN" altLang="en-US"/>
              <a:t>，应用程序接口）是一些预先定义的函数，或指软件系统不同组成部分衔接的约定。用来提供应用程序与开发人员基于某软件或硬件得以访问的一组例程，而又无需访问原码，或理解内部工作机制的细节。如电脑需要调用手机里面的信息，这时候通过一根数据线将电脑手机连接起来，电脑和手机上连接数据线的接口就是</a:t>
            </a:r>
            <a:r>
              <a:rPr lang="en-US" altLang="zh-CN"/>
              <a:t>API</a:t>
            </a:r>
            <a:r>
              <a:rPr lang="zh-CN" altLang="en-US"/>
              <a:t>接口。</a:t>
            </a:r>
            <a:endParaRPr lang="en-US" altLang="zh-CN"/>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402714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渲染：将</a:t>
            </a:r>
            <a:r>
              <a:rPr lang="en-US" altLang="zh-CN"/>
              <a:t>HTML</a:t>
            </a:r>
            <a:r>
              <a:rPr lang="zh-CN" altLang="en-US"/>
              <a:t>等视图变成人眼看到的可视图像的全过程。</a:t>
            </a:r>
            <a:endParaRPr lang="en-US" altLang="zh-CN"/>
          </a:p>
          <a:p>
            <a:r>
              <a:rPr lang="zh-CN" altLang="en-US"/>
              <a:t>对老式的</a:t>
            </a:r>
            <a:r>
              <a:rPr lang="en-US" altLang="zh-CN"/>
              <a:t>Web</a:t>
            </a:r>
            <a:r>
              <a:rPr lang="zh-CN" altLang="en-US"/>
              <a:t>应用程序来说，视图就是由</a:t>
            </a:r>
            <a:r>
              <a:rPr lang="en-US" altLang="zh-CN"/>
              <a:t>HTML</a:t>
            </a:r>
            <a:r>
              <a:rPr lang="zh-CN" altLang="en-US"/>
              <a:t>元素组成的界面，在新式的</a:t>
            </a:r>
            <a:r>
              <a:rPr lang="en-US" altLang="zh-CN"/>
              <a:t>Web</a:t>
            </a:r>
            <a:r>
              <a:rPr lang="zh-CN" altLang="en-US"/>
              <a:t>应用程序中，界面又新增了</a:t>
            </a:r>
            <a:r>
              <a:rPr lang="en-US" altLang="zh-CN"/>
              <a:t>Adobe Flash</a:t>
            </a:r>
            <a:r>
              <a:rPr lang="zh-CN" altLang="en-US"/>
              <a:t>、</a:t>
            </a:r>
            <a:r>
              <a:rPr lang="en-US" altLang="zh-CN"/>
              <a:t>XHTML</a:t>
            </a:r>
            <a:r>
              <a:rPr lang="zh-CN" altLang="en-US"/>
              <a:t>、</a:t>
            </a:r>
            <a:r>
              <a:rPr lang="en-US" altLang="zh-CN"/>
              <a:t>XML/XSL</a:t>
            </a:r>
            <a:r>
              <a:rPr lang="zh-CN" altLang="en-US"/>
              <a:t>、</a:t>
            </a:r>
            <a:r>
              <a:rPr lang="en-US" altLang="zh-CN"/>
              <a:t>WML</a:t>
            </a:r>
            <a:r>
              <a:rPr lang="zh-CN" altLang="en-US"/>
              <a:t>等等。</a:t>
            </a:r>
            <a:endParaRPr lang="en-US" altLang="zh-CN"/>
          </a:p>
          <a:p>
            <a:r>
              <a:rPr lang="en-US" altLang="zh-CN"/>
              <a:t>MVC</a:t>
            </a:r>
            <a:r>
              <a:rPr lang="zh-CN" altLang="en-US"/>
              <a:t>（</a:t>
            </a:r>
            <a:r>
              <a:rPr lang="en-US" altLang="zh-CN"/>
              <a:t>Model View Controller </a:t>
            </a:r>
            <a:r>
              <a:rPr lang="zh-CN" altLang="en-US"/>
              <a:t>模型</a:t>
            </a:r>
            <a:r>
              <a:rPr lang="en-US" altLang="zh-CN"/>
              <a:t>-</a:t>
            </a:r>
            <a:r>
              <a:rPr lang="zh-CN" altLang="en-US"/>
              <a:t>视图</a:t>
            </a:r>
            <a:r>
              <a:rPr lang="en-US" altLang="zh-CN"/>
              <a:t>-</a:t>
            </a:r>
            <a:r>
              <a:rPr lang="zh-CN" altLang="en-US"/>
              <a:t>控制器）是创建 </a:t>
            </a:r>
            <a:r>
              <a:rPr lang="en-US" altLang="zh-CN"/>
              <a:t>Web </a:t>
            </a:r>
            <a:r>
              <a:rPr lang="zh-CN" altLang="en-US"/>
              <a:t>应用程序的模式，由三部分组成：</a:t>
            </a:r>
            <a:endParaRPr lang="en-US" altLang="zh-CN"/>
          </a:p>
          <a:p>
            <a:pPr lvl="1"/>
            <a:r>
              <a:rPr lang="en-US" altLang="zh-CN"/>
              <a:t>Controller</a:t>
            </a:r>
            <a:r>
              <a:rPr lang="zh-CN" altLang="en-US"/>
              <a:t>（控制器）是应用程序中处理用户交互的部分。通常控制器负责从视图读取数据，控制用户输入，并向模型发送数据。</a:t>
            </a:r>
            <a:endParaRPr lang="en-US" altLang="zh-CN"/>
          </a:p>
          <a:p>
            <a:pPr lvl="1"/>
            <a:r>
              <a:rPr lang="en-US" altLang="zh-CN"/>
              <a:t>Model</a:t>
            </a:r>
            <a:r>
              <a:rPr lang="zh-CN" altLang="en-US"/>
              <a:t>（模型）是应用程序中用于处理应用程序数据逻辑的部分。通常模型对象负责在数据库中存取数据。</a:t>
            </a:r>
          </a:p>
          <a:p>
            <a:pPr lvl="1"/>
            <a:r>
              <a:rPr lang="en-US" altLang="zh-CN"/>
              <a:t>View</a:t>
            </a:r>
            <a:r>
              <a:rPr lang="zh-CN" altLang="en-US"/>
              <a:t>（视图）是应用程序中处理数据显示的部分，即用户界面。通常视图是依据模型数据创建的。</a:t>
            </a:r>
            <a:endParaRPr lang="en-US" altLang="zh-CN"/>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57166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API</a:t>
            </a:r>
            <a:r>
              <a:rPr lang="zh-CN" altLang="en-US"/>
              <a:t>（</a:t>
            </a:r>
            <a:r>
              <a:rPr lang="en-US" altLang="zh-CN"/>
              <a:t>Application Programming Interface</a:t>
            </a:r>
            <a:r>
              <a:rPr lang="zh-CN" altLang="en-US"/>
              <a:t>，应用程序接口）是一些预先定义的函数，或指软件系统不同组成部分衔接的约定。用来提供应用程序与开发人员基于某软件或硬件得以访问的一组例程，而又无需访问原码，或理解内部工作机制的细节。</a:t>
            </a:r>
            <a:endParaRPr lang="en-US" altLang="zh-CN"/>
          </a:p>
          <a:p>
            <a:r>
              <a:rPr lang="zh-CN" altLang="en-US"/>
              <a:t>前后端分离已成为互联网项目开发的业界标准使用方式，前后端分离为大型分布式架构、弹性计算架构、微服务架构、多端化服务（即多终端如浏览器、车载终端、安卓、</a:t>
            </a:r>
            <a:r>
              <a:rPr lang="en-US" altLang="zh-CN"/>
              <a:t>IOS</a:t>
            </a:r>
            <a:r>
              <a:rPr lang="zh-CN" altLang="en-US"/>
              <a:t>等等）打下坚实的基础。前后端分离核心思想便是前端页面调用后端的</a:t>
            </a:r>
            <a:r>
              <a:rPr lang="en-US" altLang="zh-CN"/>
              <a:t>RESTful API</a:t>
            </a:r>
            <a:r>
              <a:rPr lang="zh-CN" altLang="en-US"/>
              <a:t>接口进行数据交互。</a:t>
            </a:r>
          </a:p>
          <a:p>
            <a:endParaRPr lang="zh-CN" altLang="en-US"/>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79632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420745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Roy</a:t>
            </a:r>
            <a:r>
              <a:rPr lang="zh-CN" altLang="en-US"/>
              <a:t>论文</a:t>
            </a:r>
            <a:r>
              <a:rPr lang="en-US" altLang="zh-CN"/>
              <a:t>《</a:t>
            </a:r>
            <a:r>
              <a:rPr lang="zh-CN" altLang="zh-CN"/>
              <a:t>Architectural Styles and the Design of Network-based Software Architectures</a:t>
            </a:r>
            <a:r>
              <a:rPr lang="en-US" altLang="zh-CN"/>
              <a:t>》</a:t>
            </a:r>
            <a:r>
              <a:rPr lang="zh-CN" altLang="en-US"/>
              <a:t>摘要：”本文研究计算机科学的两大前沿</a:t>
            </a:r>
            <a:r>
              <a:rPr lang="en-US" altLang="zh-CN"/>
              <a:t>-</a:t>
            </a:r>
            <a:r>
              <a:rPr lang="zh-CN" altLang="en-US"/>
              <a:t>软件和网络的交叉点。长期以来，软件研究主要关注软件设计的分类、设计方法的演化，很少客观地评估不同的设计选择对系统行为的影响。而相反地，网络研究主要关注系统之间通信行为的细节、如何改进特定通信机制的表现，常常忽视了一个事实，那就是改变应用程序的互动风格比改变互动协议，对整体表现有更大的影响。我这篇文章的写作目的，就是想在符合架构原理的前提下，理解和评估以网络为基础的应用软件的架构设计，得到一个功能强、性能好、适宜通信的架构。”</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74082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REST</a:t>
            </a:r>
            <a:r>
              <a:rPr lang="zh-CN" altLang="en-US"/>
              <a:t>的全称“ </a:t>
            </a:r>
            <a:r>
              <a:rPr lang="en-US" altLang="zh-CN"/>
              <a:t>Representational State Transfer ”</a:t>
            </a:r>
            <a:r>
              <a:rPr lang="zh-CN" altLang="en-US"/>
              <a:t>，表现层状态转化，实际上省略了主体资源。</a:t>
            </a:r>
            <a:endParaRPr lang="en-US" altLang="zh-CN"/>
          </a:p>
          <a:p>
            <a:pPr lvl="0"/>
            <a:r>
              <a:rPr lang="en-US" altLang="zh-CN"/>
              <a:t>CRUD</a:t>
            </a:r>
            <a:r>
              <a:rPr lang="zh-CN" altLang="en-US"/>
              <a:t>：</a:t>
            </a:r>
            <a:r>
              <a:rPr lang="en-US" altLang="zh-CN"/>
              <a:t>Create, Read, Update, Delete </a:t>
            </a:r>
            <a:endParaRPr lang="zh-CN" altLang="en-US"/>
          </a:p>
          <a:p>
            <a:pPr lvl="0"/>
            <a:endParaRPr lang="en-US" altLang="zh-CN"/>
          </a:p>
          <a:p>
            <a:pPr lvl="0"/>
            <a:endParaRPr lang="zh-CN" altLang="en-US"/>
          </a:p>
          <a:p>
            <a:pPr lvl="0"/>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14037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URI</a:t>
            </a:r>
            <a:r>
              <a:rPr lang="zh-CN" altLang="en-US"/>
              <a:t>只代表资源的实体，不代表资源的形式。</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087628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CRUD</a:t>
            </a:r>
            <a:r>
              <a:rPr lang="zh-CN" altLang="en-US"/>
              <a:t>：</a:t>
            </a:r>
            <a:r>
              <a:rPr lang="en-US" altLang="zh-CN"/>
              <a:t>Create, Read, Update, Delete </a:t>
            </a: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271033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YANG</a:t>
            </a:r>
            <a:r>
              <a:rPr lang="zh-CN" altLang="en-US" dirty="0"/>
              <a:t>语言定义了数据的存储内容、配置。</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642856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关于</a:t>
            </a:r>
            <a:r>
              <a:rPr lang="en-US" altLang="zh-CN"/>
              <a:t>URI</a:t>
            </a:r>
            <a:r>
              <a:rPr lang="zh-CN" altLang="en-US"/>
              <a:t>和</a:t>
            </a:r>
            <a:r>
              <a:rPr lang="en-US" altLang="zh-CN"/>
              <a:t>URL</a:t>
            </a:r>
            <a:r>
              <a:rPr lang="zh-CN" altLang="en-US"/>
              <a:t>的关系：</a:t>
            </a:r>
            <a:r>
              <a:rPr lang="en-US" altLang="zh-CN"/>
              <a:t>URL</a:t>
            </a:r>
            <a:r>
              <a:rPr lang="zh-CN" altLang="en-US"/>
              <a:t>为</a:t>
            </a:r>
            <a:r>
              <a:rPr lang="en-US" altLang="zh-CN"/>
              <a:t>URI</a:t>
            </a:r>
            <a:r>
              <a:rPr lang="zh-CN" altLang="en-US"/>
              <a:t>的子集，</a:t>
            </a:r>
            <a:r>
              <a:rPr lang="en-US" altLang="zh-CN"/>
              <a:t>URL</a:t>
            </a:r>
            <a:r>
              <a:rPr lang="zh-CN" altLang="en-US"/>
              <a:t>必须是绝对路径，而</a:t>
            </a:r>
            <a:r>
              <a:rPr lang="en-US" altLang="zh-CN"/>
              <a:t>URI</a:t>
            </a:r>
            <a:r>
              <a:rPr lang="zh-CN" altLang="en-US"/>
              <a:t>可以是绝对路径也可以是相对路径。如</a:t>
            </a:r>
            <a:r>
              <a:rPr lang="en-US" altLang="zh-CN"/>
              <a:t>http://127.0.01:8080/AppName/rest/product/1</a:t>
            </a:r>
            <a:r>
              <a:rPr lang="zh-CN" altLang="en-US"/>
              <a:t>为</a:t>
            </a:r>
            <a:r>
              <a:rPr lang="en-US" altLang="zh-CN"/>
              <a:t>URL</a:t>
            </a:r>
            <a:r>
              <a:rPr lang="zh-CN" altLang="en-US"/>
              <a:t>，而</a:t>
            </a:r>
            <a:r>
              <a:rPr lang="en-US" altLang="zh-CN"/>
              <a:t>AppName/rest/product/1</a:t>
            </a:r>
            <a:r>
              <a:rPr lang="zh-CN" altLang="en-US"/>
              <a:t>为</a:t>
            </a:r>
            <a:r>
              <a:rPr lang="en-US" altLang="zh-CN"/>
              <a:t>URI</a:t>
            </a:r>
            <a:r>
              <a:rPr lang="zh-CN" altLang="en-US"/>
              <a:t>。</a:t>
            </a:r>
            <a:endParaRPr lang="en-US" altLang="zh-CN"/>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03520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936326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SPDY</a:t>
            </a:r>
            <a:r>
              <a:rPr lang="zh-CN" altLang="en-US"/>
              <a:t>（</a:t>
            </a:r>
            <a:r>
              <a:rPr lang="en-US" altLang="zh-CN"/>
              <a:t>SPeeDY</a:t>
            </a:r>
            <a:r>
              <a:rPr lang="zh-CN" altLang="en-US"/>
              <a:t>）是谷歌开发的基于</a:t>
            </a:r>
            <a:r>
              <a:rPr lang="en-US" altLang="zh-CN"/>
              <a:t>TCP</a:t>
            </a:r>
            <a:r>
              <a:rPr lang="zh-CN" altLang="en-US"/>
              <a:t>协议的应用层协议。目标是优化</a:t>
            </a:r>
            <a:r>
              <a:rPr lang="en-US" altLang="zh-CN"/>
              <a:t>HTTP</a:t>
            </a:r>
            <a:r>
              <a:rPr lang="zh-CN" altLang="en-US"/>
              <a:t>协议的性能，通过压缩、多路复用和优先级等技术，缩短网页的加载时间并提高安全性。</a:t>
            </a:r>
            <a:r>
              <a:rPr lang="en-US" altLang="zh-CN"/>
              <a:t>SPDY</a:t>
            </a:r>
            <a:r>
              <a:rPr lang="zh-CN" altLang="en-US"/>
              <a:t>协议的核心思想是尽量减少</a:t>
            </a:r>
            <a:r>
              <a:rPr lang="en-US" altLang="zh-CN"/>
              <a:t>TCP</a:t>
            </a:r>
            <a:r>
              <a:rPr lang="zh-CN" altLang="en-US"/>
              <a:t>连接数。</a:t>
            </a:r>
            <a:r>
              <a:rPr lang="en-US" altLang="zh-CN"/>
              <a:t>SPDY</a:t>
            </a:r>
            <a:r>
              <a:rPr lang="zh-CN" altLang="en-US"/>
              <a:t>并不是一种用于替代</a:t>
            </a:r>
            <a:r>
              <a:rPr lang="en-US" altLang="zh-CN"/>
              <a:t>HTTP</a:t>
            </a:r>
            <a:r>
              <a:rPr lang="zh-CN" altLang="en-US"/>
              <a:t>的协议，而是对</a:t>
            </a:r>
            <a:r>
              <a:rPr lang="en-US" altLang="zh-CN"/>
              <a:t>HTTP</a:t>
            </a:r>
            <a:r>
              <a:rPr lang="zh-CN" altLang="en-US"/>
              <a:t>协议的增强。</a:t>
            </a:r>
            <a:endParaRPr lang="en-US" altLang="zh-CN"/>
          </a:p>
          <a:p>
            <a:pPr lvl="0"/>
            <a:r>
              <a:rPr lang="en-US" altLang="zh-CN"/>
              <a:t>QUIC</a:t>
            </a:r>
            <a:r>
              <a:rPr lang="zh-CN" altLang="en-US"/>
              <a:t>（</a:t>
            </a:r>
            <a:r>
              <a:rPr lang="en-US" altLang="zh-CN"/>
              <a:t>Quick UDP Internet Connection</a:t>
            </a:r>
            <a:r>
              <a:rPr lang="zh-CN" altLang="en-US"/>
              <a:t>）是谷歌制定的一种基于</a:t>
            </a:r>
            <a:r>
              <a:rPr lang="en-US" altLang="zh-CN"/>
              <a:t>UDP</a:t>
            </a:r>
            <a:r>
              <a:rPr lang="zh-CN" altLang="en-US"/>
              <a:t>的低时延的互联网传输层协议。在</a:t>
            </a:r>
            <a:r>
              <a:rPr lang="en-US" altLang="zh-CN"/>
              <a:t>2016</a:t>
            </a:r>
            <a:r>
              <a:rPr lang="zh-CN" altLang="en-US"/>
              <a:t>年</a:t>
            </a:r>
            <a:r>
              <a:rPr lang="en-US" altLang="zh-CN"/>
              <a:t>11</a:t>
            </a:r>
            <a:r>
              <a:rPr lang="zh-CN" altLang="en-US"/>
              <a:t>月国际互联网工程任务组</a:t>
            </a:r>
            <a:r>
              <a:rPr lang="en-US" altLang="zh-CN"/>
              <a:t>(IETF)</a:t>
            </a:r>
            <a:r>
              <a:rPr lang="zh-CN" altLang="en-US"/>
              <a:t>召开了第一次</a:t>
            </a:r>
            <a:r>
              <a:rPr lang="en-US" altLang="zh-CN"/>
              <a:t>QUIC</a:t>
            </a:r>
            <a:r>
              <a:rPr lang="zh-CN" altLang="en-US"/>
              <a:t>工作组会议，受到了业界的广泛关注。这也意味着</a:t>
            </a:r>
            <a:r>
              <a:rPr lang="en-US" altLang="zh-CN"/>
              <a:t>QUIC</a:t>
            </a:r>
            <a:r>
              <a:rPr lang="zh-CN" altLang="en-US"/>
              <a:t>开始了它的标准化过程，成为新一代传输层协议。</a:t>
            </a:r>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038087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HTTP</a:t>
            </a:r>
            <a:r>
              <a:rPr lang="zh-CN" altLang="en-US"/>
              <a:t>传递的数据可以是</a:t>
            </a:r>
            <a:r>
              <a:rPr lang="en-US" altLang="zh-CN"/>
              <a:t>HTML</a:t>
            </a:r>
            <a:r>
              <a:rPr lang="zh-CN" altLang="en-US"/>
              <a:t>，图片，文本等等。</a:t>
            </a:r>
            <a:endParaRPr lang="en-US" altLang="zh-CN"/>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33535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HTTP</a:t>
            </a:r>
            <a:r>
              <a:rPr lang="zh-CN" altLang="en-US"/>
              <a:t>客户端通常是浏览器，</a:t>
            </a:r>
            <a:r>
              <a:rPr lang="en-US" altLang="zh-CN"/>
              <a:t>Web</a:t>
            </a:r>
            <a:r>
              <a:rPr lang="zh-CN" altLang="en-US"/>
              <a:t>服务器可以是</a:t>
            </a:r>
            <a:r>
              <a:rPr lang="en-US" altLang="zh-CN"/>
              <a:t>Apache</a:t>
            </a:r>
            <a:r>
              <a:rPr lang="zh-CN" altLang="en-US"/>
              <a:t>服务器，</a:t>
            </a:r>
            <a:r>
              <a:rPr lang="en-US" altLang="zh-CN"/>
              <a:t>IIS</a:t>
            </a:r>
            <a:r>
              <a:rPr lang="zh-CN" altLang="en-US"/>
              <a:t>服务器（</a:t>
            </a:r>
            <a:r>
              <a:rPr lang="en-US" altLang="zh-CN"/>
              <a:t>Internet Information Services</a:t>
            </a:r>
            <a:r>
              <a:rPr lang="zh-CN" altLang="en-US"/>
              <a:t>）等。</a:t>
            </a:r>
          </a:p>
          <a:p>
            <a:pPr lvl="0"/>
            <a:r>
              <a:rPr lang="zh-CN" altLang="en-US"/>
              <a:t>释放</a:t>
            </a:r>
            <a:r>
              <a:rPr lang="en-US" altLang="zh-CN"/>
              <a:t>TCP</a:t>
            </a:r>
            <a:r>
              <a:rPr lang="zh-CN" altLang="en-US"/>
              <a:t>连接时若报文头部字段</a:t>
            </a:r>
            <a:r>
              <a:rPr lang="en-US" altLang="zh-CN"/>
              <a:t>Connection</a:t>
            </a:r>
            <a:r>
              <a:rPr lang="zh-CN" altLang="en-US"/>
              <a:t>的值为</a:t>
            </a:r>
            <a:r>
              <a:rPr lang="en-US" altLang="zh-CN"/>
              <a:t>close</a:t>
            </a:r>
            <a:r>
              <a:rPr lang="zh-CN" altLang="en-US"/>
              <a:t>，则服务器主动关闭</a:t>
            </a:r>
            <a:r>
              <a:rPr lang="en-US" altLang="zh-CN"/>
              <a:t>TCP</a:t>
            </a:r>
            <a:r>
              <a:rPr lang="zh-CN" altLang="en-US"/>
              <a:t>连接，客户端被动关闭连接，释放</a:t>
            </a:r>
            <a:r>
              <a:rPr lang="en-US" altLang="zh-CN"/>
              <a:t>TCP</a:t>
            </a:r>
            <a:r>
              <a:rPr lang="zh-CN" altLang="en-US"/>
              <a:t>连接。若</a:t>
            </a:r>
            <a:r>
              <a:rPr lang="en-US" altLang="zh-CN"/>
              <a:t>Connection</a:t>
            </a:r>
            <a:r>
              <a:rPr lang="zh-CN" altLang="en-US"/>
              <a:t>的值为</a:t>
            </a:r>
            <a:r>
              <a:rPr lang="en-US" altLang="zh-CN"/>
              <a:t>keepalive</a:t>
            </a:r>
            <a:r>
              <a:rPr lang="zh-CN" altLang="en-US"/>
              <a:t>，则该连接会保持一段时间，可以继续接收请求。</a:t>
            </a:r>
          </a:p>
          <a:p>
            <a:endParaRPr lang="en-US" altLang="zh-CN"/>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41959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浏览器显示的内容包括</a:t>
            </a:r>
            <a:r>
              <a:rPr lang="en-US" altLang="zh-CN"/>
              <a:t>HTML</a:t>
            </a:r>
            <a:r>
              <a:rPr lang="zh-CN" altLang="en-US"/>
              <a:t>、</a:t>
            </a:r>
            <a:r>
              <a:rPr lang="en-US" altLang="zh-CN"/>
              <a:t>XML</a:t>
            </a:r>
            <a:r>
              <a:rPr lang="zh-CN" altLang="en-US"/>
              <a:t>、</a:t>
            </a:r>
            <a:r>
              <a:rPr lang="en-US" altLang="zh-CN"/>
              <a:t>GIF</a:t>
            </a:r>
            <a:r>
              <a:rPr lang="zh-CN" altLang="en-US"/>
              <a:t>、</a:t>
            </a:r>
            <a:r>
              <a:rPr lang="en-US" altLang="zh-CN"/>
              <a:t>Flash</a:t>
            </a:r>
            <a:r>
              <a:rPr lang="zh-CN" altLang="en-US"/>
              <a:t>等，浏览器通过</a:t>
            </a:r>
            <a:r>
              <a:rPr lang="en-US" altLang="zh-CN"/>
              <a:t>MIME Type</a:t>
            </a:r>
            <a:r>
              <a:rPr lang="zh-CN" altLang="en-US"/>
              <a:t>进行区分。</a:t>
            </a:r>
            <a:endParaRPr lang="en-US" altLang="zh-CN"/>
          </a:p>
          <a:p>
            <a:pPr lvl="0"/>
            <a:r>
              <a:rPr lang="zh-CN" altLang="en-US"/>
              <a:t>无连接的好处：采用这种方式可以节省传输时间并且可以提高并发性能，不和每个用户建立长久的连接，请求一次响应一次，但若重复性建立或拆除连接影响效率。故在</a:t>
            </a:r>
            <a:r>
              <a:rPr lang="en-US" altLang="zh-CN"/>
              <a:t>HTTP/1.1</a:t>
            </a:r>
            <a:r>
              <a:rPr lang="zh-CN" altLang="en-US"/>
              <a:t>规范中，浏览器和服务器之间会维持一段时间的</a:t>
            </a:r>
            <a:r>
              <a:rPr lang="en-US" altLang="zh-CN"/>
              <a:t>TCP</a:t>
            </a:r>
            <a:r>
              <a:rPr lang="zh-CN" altLang="en-US"/>
              <a:t>连接，不会因一个请求结束就立刻断开。</a:t>
            </a:r>
            <a:endParaRPr lang="en-US" altLang="zh-CN"/>
          </a:p>
          <a:p>
            <a:pPr lvl="0"/>
            <a:r>
              <a:rPr lang="zh-CN" altLang="en-US"/>
              <a:t>无状态意味着如果后续报文的处理需要先前交互的信息，则该信息必须重传。虽然</a:t>
            </a:r>
            <a:r>
              <a:rPr lang="en-US" altLang="zh-CN"/>
              <a:t>HTTP/1.1</a:t>
            </a:r>
            <a:r>
              <a:rPr lang="zh-CN" altLang="en-US"/>
              <a:t>是无状态协议，但是为了实现状态保持功能而引入了</a:t>
            </a:r>
            <a:r>
              <a:rPr lang="en-US" altLang="zh-CN"/>
              <a:t>Cookie</a:t>
            </a:r>
            <a:r>
              <a:rPr lang="zh-CN" altLang="en-US"/>
              <a:t>。</a:t>
            </a:r>
            <a:endParaRPr lang="en-US" altLang="zh-CN"/>
          </a:p>
          <a:p>
            <a:pPr lvl="0"/>
            <a:r>
              <a:rPr lang="en-US" altLang="zh-CN"/>
              <a:t>Cookie</a:t>
            </a:r>
            <a:r>
              <a:rPr lang="zh-CN" altLang="en-US"/>
              <a:t>是一个保存在客户端中的文本文件，这个文件与特定的</a:t>
            </a:r>
            <a:r>
              <a:rPr lang="en-US" altLang="zh-CN"/>
              <a:t>Web</a:t>
            </a:r>
            <a:r>
              <a:rPr lang="zh-CN" altLang="en-US"/>
              <a:t>页面关联在一起</a:t>
            </a:r>
            <a:r>
              <a:rPr lang="en-US" altLang="zh-CN"/>
              <a:t>,</a:t>
            </a:r>
            <a:r>
              <a:rPr lang="zh-CN" altLang="en-US"/>
              <a:t>，保存了该客户端访问这个</a:t>
            </a:r>
            <a:r>
              <a:rPr lang="en-US" altLang="zh-CN"/>
              <a:t>Web</a:t>
            </a:r>
            <a:r>
              <a:rPr lang="zh-CN" altLang="en-US"/>
              <a:t>页面时的信息。</a:t>
            </a:r>
            <a:endParaRPr lang="en-US" altLang="zh-CN"/>
          </a:p>
          <a:p>
            <a:pPr lvl="0"/>
            <a:endParaRPr lang="zh-CN" altLang="en-US"/>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438693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008375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67048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288508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729935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647303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HTTP1.0</a:t>
            </a:r>
            <a:r>
              <a:rPr lang="zh-CN" altLang="en-US"/>
              <a:t>对于每个连接都只能传送一个请求和响应，请求就会关闭。</a:t>
            </a:r>
            <a:r>
              <a:rPr lang="en-US" altLang="zh-CN"/>
              <a:t>HTTP1.0</a:t>
            </a:r>
            <a:r>
              <a:rPr lang="zh-CN" altLang="en-US"/>
              <a:t>没有</a:t>
            </a:r>
            <a:r>
              <a:rPr lang="en-US" altLang="zh-CN"/>
              <a:t>Host</a:t>
            </a:r>
            <a:r>
              <a:rPr lang="zh-CN" altLang="en-US"/>
              <a:t>字段，而</a:t>
            </a:r>
            <a:r>
              <a:rPr lang="en-US" altLang="zh-CN"/>
              <a:t>HTTP1.1</a:t>
            </a:r>
            <a:r>
              <a:rPr lang="zh-CN" altLang="en-US"/>
              <a:t>在同一个连接中可以传送多个请求和响应，多个请求可以同时进行。</a:t>
            </a:r>
            <a:endParaRPr lang="en-US" altLang="zh-CN"/>
          </a:p>
          <a:p>
            <a:r>
              <a:rPr lang="en-US" altLang="zh-CN"/>
              <a:t>WWW-Authenticate</a:t>
            </a:r>
            <a:r>
              <a:rPr lang="zh-CN" altLang="en-US"/>
              <a:t>是早期的一种简单的，有效的用户身份认证技术。</a:t>
            </a:r>
            <a:endParaRPr lang="en-US" altLang="zh-CN"/>
          </a:p>
          <a:p>
            <a:r>
              <a:rPr lang="zh-CN" altLang="en-US"/>
              <a:t>浏览器显示的内容包括</a:t>
            </a:r>
            <a:r>
              <a:rPr lang="en-US" altLang="zh-CN"/>
              <a:t>HTML</a:t>
            </a:r>
            <a:r>
              <a:rPr lang="zh-CN" altLang="en-US"/>
              <a:t>、</a:t>
            </a:r>
            <a:r>
              <a:rPr lang="en-US" altLang="zh-CN"/>
              <a:t>XML</a:t>
            </a:r>
            <a:r>
              <a:rPr lang="zh-CN" altLang="en-US"/>
              <a:t>、</a:t>
            </a:r>
            <a:r>
              <a:rPr lang="en-US" altLang="zh-CN"/>
              <a:t>GIF</a:t>
            </a:r>
            <a:r>
              <a:rPr lang="zh-CN" altLang="en-US"/>
              <a:t>、</a:t>
            </a:r>
            <a:r>
              <a:rPr lang="en-US" altLang="zh-CN"/>
              <a:t>Flash</a:t>
            </a:r>
            <a:r>
              <a:rPr lang="zh-CN" altLang="en-US"/>
              <a:t>等，浏览器通过</a:t>
            </a:r>
            <a:r>
              <a:rPr lang="en-US" altLang="zh-CN"/>
              <a:t>MIME Type</a:t>
            </a:r>
            <a:r>
              <a:rPr lang="zh-CN" altLang="en-US"/>
              <a:t>进行区分。</a:t>
            </a:r>
            <a:endParaRPr lang="en-US" altLang="zh-CN"/>
          </a:p>
          <a:p>
            <a:pPr lvl="0"/>
            <a:r>
              <a:rPr lang="zh-CN" altLang="en-US"/>
              <a:t>更多详细信息请参考</a:t>
            </a:r>
            <a:r>
              <a:rPr lang="en-US" altLang="zh-CN"/>
              <a:t>RFC HTTP1.1</a:t>
            </a:r>
            <a:r>
              <a:rPr lang="zh-CN" altLang="en-US"/>
              <a:t>标准，</a:t>
            </a:r>
            <a:r>
              <a:rPr lang="en-US" altLang="zh-CN">
                <a:sym typeface="Huawei Sans" panose="020C0503030203020204" pitchFamily="34" charset="0"/>
              </a:rPr>
              <a:t>https://www.ietf.org/rfc/rfc2616.html</a:t>
            </a:r>
            <a:r>
              <a:rPr lang="zh-CN" altLang="en-US">
                <a:sym typeface="Huawei Sans" panose="020C0503030203020204" pitchFamily="34" charset="0"/>
              </a:rPr>
              <a:t>。</a:t>
            </a:r>
            <a:endParaRPr lang="en-US" altLang="zh-CN">
              <a:sym typeface="Huawei Sans" panose="020C0503030203020204" pitchFamily="34" charset="0"/>
            </a:endParaRPr>
          </a:p>
          <a:p>
            <a:endParaRPr lang="en-US" altLang="zh-CN"/>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707722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976189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845805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695338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77070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响应头用于描述服务器及数据的基本信息。服务器通过响应头，可以通知客户端如何处理后续它回复的数据。</a:t>
            </a:r>
            <a:endParaRPr lang="en-US" altLang="zh-CN"/>
          </a:p>
          <a:p>
            <a:pPr lvl="0"/>
            <a:endParaRPr lang="zh-CN" altLang="en-US"/>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5958175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设置</a:t>
            </a:r>
            <a:r>
              <a:rPr lang="en-US" altLang="zh-CN"/>
              <a:t>HTTP</a:t>
            </a:r>
            <a:r>
              <a:rPr lang="zh-CN" altLang="en-US"/>
              <a:t>响应头往往和状态码结合起来。例如，表示“位置已经改变”的状态代码通常伴随着一个</a:t>
            </a:r>
            <a:r>
              <a:rPr lang="en-US" altLang="zh-CN"/>
              <a:t>Location</a:t>
            </a:r>
            <a:r>
              <a:rPr lang="zh-CN" altLang="en-US"/>
              <a:t>头，而</a:t>
            </a:r>
            <a:r>
              <a:rPr lang="en-US" altLang="zh-CN"/>
              <a:t>401(Unauthorized)</a:t>
            </a:r>
            <a:r>
              <a:rPr lang="zh-CN" altLang="en-US"/>
              <a:t>状态代码则必须伴随一个</a:t>
            </a:r>
            <a:r>
              <a:rPr lang="en-US" altLang="zh-CN"/>
              <a:t>WWW-Authenticate</a:t>
            </a:r>
            <a:r>
              <a:rPr lang="zh-CN" altLang="en-US"/>
              <a:t>头。响应头可以用来完成：设置</a:t>
            </a:r>
            <a:r>
              <a:rPr lang="en-US" altLang="zh-CN"/>
              <a:t>Cookie</a:t>
            </a:r>
            <a:r>
              <a:rPr lang="zh-CN" altLang="en-US"/>
              <a:t>，指定日期，指示客户端按照指定的间隔刷新页面等等。</a:t>
            </a:r>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45351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661049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589052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285141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288287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HTTP</a:t>
            </a:r>
            <a:r>
              <a:rPr lang="zh-CN" altLang="en-US"/>
              <a:t>协议采用明文传输信息，存在信息窃听、信息篡改和信息劫持的风险，而协议</a:t>
            </a:r>
            <a:r>
              <a:rPr lang="en-US" altLang="zh-CN"/>
              <a:t>TLS</a:t>
            </a:r>
            <a:r>
              <a:rPr lang="zh-CN" altLang="en-US"/>
              <a:t>具有身份验证、信息加密和完整性校验的功能，可以避免此类问题发生。 </a:t>
            </a:r>
            <a:endParaRPr lang="en-US" altLang="zh-CN"/>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236512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更多参考</a:t>
            </a:r>
            <a:r>
              <a:rPr lang="en-US" altLang="zh-CN"/>
              <a:t>RFC</a:t>
            </a:r>
            <a:r>
              <a:rPr lang="zh-CN" altLang="en-US"/>
              <a:t>文档：</a:t>
            </a:r>
            <a:r>
              <a:rPr lang="en-US" altLang="zh-CN"/>
              <a:t>https://www.ietf.org/rfc/rfc5246.html</a:t>
            </a: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703449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SPDY</a:t>
            </a:r>
            <a:r>
              <a:rPr lang="zh-CN" altLang="en-US"/>
              <a:t>是</a:t>
            </a:r>
            <a:r>
              <a:rPr lang="en-US" altLang="zh-CN"/>
              <a:t>Google</a:t>
            </a:r>
            <a:r>
              <a:rPr lang="zh-CN" altLang="en-US"/>
              <a:t>开发的基于</a:t>
            </a:r>
            <a:r>
              <a:rPr lang="en-US" altLang="zh-CN"/>
              <a:t>TCP</a:t>
            </a:r>
            <a:r>
              <a:rPr lang="zh-CN" altLang="en-US"/>
              <a:t>协议的应用层协议。</a:t>
            </a:r>
            <a:r>
              <a:rPr lang="en-US" altLang="zh-CN"/>
              <a:t>SPDY</a:t>
            </a:r>
            <a:r>
              <a:rPr lang="zh-CN" altLang="en-US"/>
              <a:t>的目标是优化</a:t>
            </a:r>
            <a:r>
              <a:rPr lang="en-US" altLang="zh-CN"/>
              <a:t>HTTP</a:t>
            </a:r>
            <a:r>
              <a:rPr lang="zh-CN" altLang="en-US"/>
              <a:t>协议的性能，通过压缩、多路复用和优先级等技术，缩短网页的加载时间并提高安全性。</a:t>
            </a:r>
            <a:r>
              <a:rPr lang="en-US" altLang="zh-CN"/>
              <a:t>SPDY</a:t>
            </a:r>
            <a:r>
              <a:rPr lang="zh-CN" altLang="en-US"/>
              <a:t>协议的核心思想是尽量减少</a:t>
            </a:r>
            <a:r>
              <a:rPr lang="en-US" altLang="zh-CN"/>
              <a:t>TCP</a:t>
            </a:r>
            <a:r>
              <a:rPr lang="zh-CN" altLang="en-US"/>
              <a:t>连接数，它并不是一种用于替代</a:t>
            </a:r>
            <a:r>
              <a:rPr lang="en-US" altLang="zh-CN"/>
              <a:t>HTTP</a:t>
            </a:r>
            <a:r>
              <a:rPr lang="zh-CN" altLang="en-US"/>
              <a:t>的协议，而是对</a:t>
            </a:r>
            <a:r>
              <a:rPr lang="en-US" altLang="zh-CN"/>
              <a:t>HTTP</a:t>
            </a:r>
            <a:r>
              <a:rPr lang="zh-CN" altLang="en-US"/>
              <a:t>协议的增强。</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534282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HTTP/2</a:t>
            </a:r>
            <a:r>
              <a:rPr lang="zh-CN" altLang="en-US"/>
              <a:t>其他增强：</a:t>
            </a:r>
            <a:endParaRPr lang="en-US" altLang="zh-CN"/>
          </a:p>
          <a:p>
            <a:pPr lvl="1"/>
            <a:r>
              <a:rPr lang="zh-CN" altLang="en-US"/>
              <a:t>头部压缩：采用</a:t>
            </a:r>
            <a:r>
              <a:rPr lang="en-US" altLang="zh-CN"/>
              <a:t>HPACK</a:t>
            </a:r>
            <a:r>
              <a:rPr lang="zh-CN" altLang="en-US"/>
              <a:t>算法压缩头部，减少头部大小提升性能。</a:t>
            </a:r>
            <a:endParaRPr lang="en-US" altLang="zh-CN"/>
          </a:p>
          <a:p>
            <a:pPr lvl="1"/>
            <a:r>
              <a:rPr lang="zh-CN" altLang="en-US"/>
              <a:t>多路复用：每条请求消息可以继续细分为帧交错发送，然后在另一端重新组装为帧。在</a:t>
            </a:r>
            <a:r>
              <a:rPr lang="en-US" altLang="zh-CN"/>
              <a:t>HTTP/1.1</a:t>
            </a:r>
            <a:r>
              <a:rPr lang="zh-CN" altLang="en-US"/>
              <a:t>中当客户端在一个</a:t>
            </a:r>
            <a:r>
              <a:rPr lang="en-US" altLang="zh-CN"/>
              <a:t>TCP</a:t>
            </a:r>
            <a:r>
              <a:rPr lang="zh-CN" altLang="en-US"/>
              <a:t>连接同时发起多个请求时，服务器必须按顺序依次响应每个请求，后续的请求可能被阻塞。</a:t>
            </a:r>
            <a:endParaRPr lang="en-US" altLang="zh-CN"/>
          </a:p>
          <a:p>
            <a:pPr lvl="1"/>
            <a:r>
              <a:rPr lang="zh-CN" altLang="en-US"/>
              <a:t>服务器推送：服务器除了可以响应客户端请求，还可以向客户端推送额外的资源。</a:t>
            </a:r>
            <a:endParaRPr lang="en-US" altLang="zh-CN"/>
          </a:p>
          <a:p>
            <a:pPr lvl="1"/>
            <a:r>
              <a:rPr lang="zh-CN" altLang="en-US"/>
              <a:t>优先级：</a:t>
            </a:r>
            <a:r>
              <a:rPr lang="en-US" altLang="zh-CN"/>
              <a:t>HTTP/2</a:t>
            </a:r>
            <a:r>
              <a:rPr lang="zh-CN" altLang="en-US"/>
              <a:t>设计了复杂的优先级排定规则，浏览器可以一次请求多个资源，指定一些优先级信息来帮助服务器确定应该如何处理这些资源，避免资源处理的相互竞争。</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230022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416106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dirty="0"/>
              <a:t>本实验组网包含两个对象，</a:t>
            </a:r>
            <a:r>
              <a:rPr lang="en-US" altLang="zh-CN" dirty="0" err="1"/>
              <a:t>CloudIDE</a:t>
            </a:r>
            <a:r>
              <a:rPr lang="zh-CN" altLang="zh-CN" dirty="0"/>
              <a:t>和</a:t>
            </a:r>
            <a:r>
              <a:rPr lang="en-US" altLang="zh-CN" dirty="0" err="1"/>
              <a:t>iMaster</a:t>
            </a:r>
            <a:r>
              <a:rPr lang="en-US" altLang="zh-CN" dirty="0"/>
              <a:t> NCE</a:t>
            </a:r>
            <a:r>
              <a:rPr lang="zh-CN" altLang="en-US" dirty="0"/>
              <a:t>。</a:t>
            </a:r>
            <a:endParaRPr lang="zh-CN" altLang="zh-CN" dirty="0"/>
          </a:p>
          <a:p>
            <a:pPr lvl="0"/>
            <a:r>
              <a:rPr lang="en-US" altLang="zh-CN" dirty="0" err="1"/>
              <a:t>CloudIDE</a:t>
            </a:r>
            <a:r>
              <a:rPr lang="zh-CN" altLang="zh-CN" dirty="0"/>
              <a:t>是由华为云提供的云端开发环境。读者也可以使用本地环境编写代码。</a:t>
            </a:r>
          </a:p>
          <a:p>
            <a:pPr lvl="0"/>
            <a:r>
              <a:rPr lang="en-US" altLang="zh-CN" dirty="0" err="1"/>
              <a:t>iMaster</a:t>
            </a:r>
            <a:r>
              <a:rPr lang="en-US" altLang="zh-CN" dirty="0"/>
              <a:t> NCE</a:t>
            </a:r>
            <a:r>
              <a:rPr lang="zh-CN" altLang="zh-CN" dirty="0"/>
              <a:t>是由数通开发者社区提供沙箱环境。</a:t>
            </a:r>
          </a:p>
          <a:p>
            <a:pPr lvl="0"/>
            <a:r>
              <a:rPr lang="en-US" altLang="zh-CN"/>
              <a:t>Token</a:t>
            </a:r>
            <a:r>
              <a:rPr lang="zh-CN" altLang="en-US"/>
              <a:t>为</a:t>
            </a:r>
            <a:r>
              <a:rPr lang="zh-CN" altLang="en-US" dirty="0"/>
              <a:t>字符串，用于</a:t>
            </a:r>
            <a:r>
              <a:rPr lang="en-US" altLang="zh-CN" dirty="0"/>
              <a:t>API</a:t>
            </a:r>
            <a:r>
              <a:rPr lang="zh-CN" altLang="en-US" dirty="0"/>
              <a:t>的鉴权、认证。</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77782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633179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a:t>更多操作请参考</a:t>
            </a:r>
            <a:r>
              <a:rPr lang="en-US" altLang="zh-CN"/>
              <a:t>CodeHub</a:t>
            </a:r>
            <a:r>
              <a:rPr lang="zh-CN" altLang="zh-CN"/>
              <a:t>指南</a:t>
            </a:r>
            <a:r>
              <a:rPr lang="zh-CN" altLang="en-US"/>
              <a:t>：</a:t>
            </a:r>
            <a:r>
              <a:rPr lang="en-US" altLang="zh-CN"/>
              <a:t>https://support.huaweicloud.com/codehub/index.html</a:t>
            </a:r>
            <a:r>
              <a:rPr lang="zh-CN" altLang="zh-CN"/>
              <a:t>。</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447766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华为云</a:t>
            </a:r>
            <a:r>
              <a:rPr lang="en-US" altLang="zh-CN"/>
              <a:t>DevCloud</a:t>
            </a:r>
            <a:r>
              <a:rPr lang="zh-CN" altLang="en-US"/>
              <a:t>代码</a:t>
            </a:r>
            <a:r>
              <a:rPr lang="zh-CN" altLang="zh-CN"/>
              <a:t>：</a:t>
            </a:r>
            <a:r>
              <a:rPr lang="en-US" altLang="zh-CN"/>
              <a:t>https://devcloud.cn-north-4.huaweicloud.com/codehub/project/68494a8ad06b4eea9a1c3f18be115161/codehub/620653/home</a:t>
            </a:r>
            <a:endParaRPr lang="zh-CN" altLang="zh-CN"/>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607576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62732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沙箱预约网址：</a:t>
            </a:r>
            <a:r>
              <a:rPr lang="en-US" altLang="zh-CN"/>
              <a:t>https://devzone.huawei.com/openecosystem/experienceView/campus.html</a:t>
            </a:r>
            <a:endParaRPr lang="zh-CN"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062836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1906925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zh-CN"/>
              <a:t>可点击鼠标右键选择“</a:t>
            </a:r>
            <a:r>
              <a:rPr lang="en-US" altLang="zh-CN"/>
              <a:t>Run Python File in Terminal</a:t>
            </a:r>
            <a:r>
              <a:rPr lang="zh-CN" altLang="zh-CN"/>
              <a:t>”运行代码。</a:t>
            </a:r>
          </a:p>
          <a:p>
            <a:endParaRPr lang="zh-CN" altLang="zh-CN"/>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1798660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165317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196344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a:t>B</a:t>
            </a:r>
          </a:p>
          <a:p>
            <a:pPr lvl="1"/>
            <a:endParaRPr lang="en-US" altLang="zh-CN" dirty="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707034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011076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05339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5552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base"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8#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a:latin typeface="+mn-lt"/>
              <a:ea typeface="+mn-ea"/>
            </a:endParaRPr>
          </a:p>
        </p:txBody>
      </p:sp>
      <p:sp>
        <p:nvSpPr>
          <p:cNvPr id="6"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Tree>
    <p:extLst>
      <p:ext uri="{BB962C8B-B14F-4D97-AF65-F5344CB8AC3E}">
        <p14:creationId xmlns:p14="http://schemas.microsoft.com/office/powerpoint/2010/main" val="4188037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9" name="文本占位符 6"/>
          <p:cNvSpPr>
            <a:spLocks noGrp="1"/>
          </p:cNvSpPr>
          <p:nvPr>
            <p:ph type="body" sz="quarter" idx="10" hasCustomPrompt="1"/>
          </p:nvPr>
        </p:nvSpPr>
        <p:spPr>
          <a:xfrm>
            <a:off x="468317" y="1233488"/>
            <a:ext cx="11276183" cy="4680000"/>
          </a:xfr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1045026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0#思考题">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sz="1999">
                <a:latin typeface="+mn-lt"/>
                <a:ea typeface="+mn-ea"/>
                <a:cs typeface="Arial" panose="020B0604020202020204" pitchFamily="34" charset="0"/>
              </a:defRPr>
            </a:lvl1pPr>
            <a:lvl2pPr marL="401476" indent="0" algn="just">
              <a:buSzPct val="100000"/>
              <a:buFont typeface="+mj-lt"/>
              <a:buNone/>
              <a:defRPr sz="1799"/>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思考题</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1"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2"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30041179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2#本章总结">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本章总结</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957650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5pPr>
              <a:buNone/>
              <a:defRPr/>
            </a:lvl5pPr>
          </a:lstStyle>
          <a:p>
            <a:r>
              <a:rPr lang="zh-CN" altLang="en-US" dirty="0"/>
              <a:t>此版式用于提供给学员更多学习信息。</a:t>
            </a:r>
          </a:p>
        </p:txBody>
      </p:sp>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更多信息</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89" y="480269"/>
            <a:ext cx="496387" cy="496581"/>
            <a:chOff x="4485904" y="3429000"/>
            <a:chExt cx="2003425" cy="2003425"/>
          </a:xfrm>
          <a:solidFill>
            <a:schemeClr val="bg1"/>
          </a:solidFill>
        </p:grpSpPr>
        <p:sp>
          <p:nvSpPr>
            <p:cNvPr id="8"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3425947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2226396522"/>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6" r:id="rId6"/>
    <p:sldLayoutId id="2147483897" r:id="rId7"/>
    <p:sldLayoutId id="2147483898" r:id="rId8"/>
    <p:sldLayoutId id="2147483899" r:id="rId9"/>
    <p:sldLayoutId id="2147483900" r:id="rId10"/>
    <p:sldLayoutId id="2147483901" r:id="rId11"/>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文本占位符 13"/>
          <p:cNvSpPr>
            <a:spLocks noGrp="1"/>
          </p:cNvSpPr>
          <p:nvPr>
            <p:ph type="body" sz="quarter" idx="17"/>
          </p:nvPr>
        </p:nvSpPr>
        <p:spPr/>
        <p:txBody>
          <a:bodyPr/>
          <a:lstStyle/>
          <a:p>
            <a:endParaRPr lang="zh-CN" altLang="en-US">
              <a:sym typeface="Huawei Sans" panose="020C0503030203020204" pitchFamily="34" charset="0"/>
            </a:endParaRPr>
          </a:p>
        </p:txBody>
      </p:sp>
      <p:sp>
        <p:nvSpPr>
          <p:cNvPr id="25" name="文本占位符 24"/>
          <p:cNvSpPr>
            <a:spLocks noGrp="1"/>
          </p:cNvSpPr>
          <p:nvPr>
            <p:ph type="body" sz="quarter" idx="18"/>
          </p:nvPr>
        </p:nvSpPr>
        <p:spPr/>
        <p:txBody>
          <a:bodyPr/>
          <a:lstStyle/>
          <a:p>
            <a:r>
              <a:rPr lang="en-US" altLang="zh-CN">
                <a:sym typeface="Huawei Sans" panose="020C0503030203020204" pitchFamily="34" charset="0"/>
              </a:rPr>
              <a:t>Datacom</a:t>
            </a:r>
            <a:endParaRPr lang="zh-CN" altLang="en-US" dirty="0">
              <a:sym typeface="Huawei Sans" panose="020C0503030203020204" pitchFamily="34" charset="0"/>
            </a:endParaRPr>
          </a:p>
        </p:txBody>
      </p:sp>
      <p:sp>
        <p:nvSpPr>
          <p:cNvPr id="15" name="文本占位符 14"/>
          <p:cNvSpPr>
            <a:spLocks noGrp="1"/>
          </p:cNvSpPr>
          <p:nvPr>
            <p:ph type="body" sz="quarter" idx="19"/>
          </p:nvPr>
        </p:nvSpPr>
        <p:spPr/>
        <p:txBody>
          <a:bodyPr/>
          <a:lstStyle/>
          <a:p>
            <a:r>
              <a:rPr lang="zh-CN" altLang="en-US" dirty="0">
                <a:sym typeface="Huawei Sans" panose="020C0503030203020204" pitchFamily="34" charset="0"/>
              </a:rPr>
              <a:t>通用</a:t>
            </a:r>
          </a:p>
        </p:txBody>
      </p:sp>
      <p:sp>
        <p:nvSpPr>
          <p:cNvPr id="16" name="文本占位符 15"/>
          <p:cNvSpPr>
            <a:spLocks noGrp="1"/>
          </p:cNvSpPr>
          <p:nvPr>
            <p:ph type="body" sz="quarter" idx="20"/>
          </p:nvPr>
        </p:nvSpPr>
        <p:spPr/>
        <p:txBody>
          <a:bodyPr/>
          <a:lstStyle/>
          <a:p>
            <a:r>
              <a:rPr lang="en-US" altLang="zh-CN" dirty="0">
                <a:sym typeface="Huawei Sans" panose="020C0503030203020204" pitchFamily="34" charset="0"/>
              </a:rPr>
              <a:t>V1.0</a:t>
            </a:r>
            <a:endParaRPr lang="zh-CN" altLang="en-US" dirty="0">
              <a:sym typeface="Huawei Sans" panose="020C0503030203020204" pitchFamily="34" charset="0"/>
            </a:endParaRPr>
          </a:p>
        </p:txBody>
      </p:sp>
      <p:sp>
        <p:nvSpPr>
          <p:cNvPr id="74" name="文本占位符 73"/>
          <p:cNvSpPr>
            <a:spLocks noGrp="1"/>
          </p:cNvSpPr>
          <p:nvPr>
            <p:ph type="body" sz="quarter" idx="13"/>
          </p:nvPr>
        </p:nvSpPr>
        <p:spPr/>
        <p:txBody>
          <a:bodyPr/>
          <a:lstStyle/>
          <a:p>
            <a:r>
              <a:rPr lang="zh-CN" altLang="en-US" dirty="0">
                <a:sym typeface="Huawei Sans" panose="020C0503030203020204" pitchFamily="34" charset="0"/>
              </a:rPr>
              <a:t>陈粲</a:t>
            </a:r>
            <a:r>
              <a:rPr lang="en-US" altLang="zh-CN" dirty="0">
                <a:sym typeface="Huawei Sans" panose="020C0503030203020204" pitchFamily="34" charset="0"/>
              </a:rPr>
              <a:t>/WX934766</a:t>
            </a:r>
          </a:p>
        </p:txBody>
      </p:sp>
      <p:sp>
        <p:nvSpPr>
          <p:cNvPr id="75" name="文本占位符 74"/>
          <p:cNvSpPr>
            <a:spLocks noGrp="1"/>
          </p:cNvSpPr>
          <p:nvPr>
            <p:ph type="body" sz="quarter" idx="14"/>
          </p:nvPr>
        </p:nvSpPr>
        <p:spPr/>
        <p:txBody>
          <a:bodyPr/>
          <a:lstStyle/>
          <a:p>
            <a:r>
              <a:rPr lang="en-US" altLang="zh-CN" dirty="0">
                <a:sym typeface="Huawei Sans" panose="020C0503030203020204" pitchFamily="34" charset="0"/>
              </a:rPr>
              <a:t>2020.06.16</a:t>
            </a:r>
          </a:p>
        </p:txBody>
      </p:sp>
      <p:sp>
        <p:nvSpPr>
          <p:cNvPr id="22" name="文本占位符 21"/>
          <p:cNvSpPr>
            <a:spLocks noGrp="1"/>
          </p:cNvSpPr>
          <p:nvPr>
            <p:ph type="body" sz="quarter" idx="15"/>
          </p:nvPr>
        </p:nvSpPr>
        <p:spPr/>
        <p:txBody>
          <a:bodyPr/>
          <a:lstStyle/>
          <a:p>
            <a:r>
              <a:rPr lang="zh-CN" altLang="en-US" dirty="0">
                <a:sym typeface="Huawei Sans" panose="020C0503030203020204" pitchFamily="34" charset="0"/>
              </a:rPr>
              <a:t>万倡利</a:t>
            </a:r>
            <a:r>
              <a:rPr lang="en-US" altLang="zh-CN" dirty="0">
                <a:sym typeface="Huawei Sans" panose="020C0503030203020204" pitchFamily="34" charset="0"/>
              </a:rPr>
              <a:t>/WX408647</a:t>
            </a:r>
          </a:p>
        </p:txBody>
      </p:sp>
      <p:sp>
        <p:nvSpPr>
          <p:cNvPr id="23" name="文本占位符 22"/>
          <p:cNvSpPr>
            <a:spLocks noGrp="1"/>
          </p:cNvSpPr>
          <p:nvPr>
            <p:ph type="body" sz="quarter" idx="16"/>
          </p:nvPr>
        </p:nvSpPr>
        <p:spPr/>
        <p:txBody>
          <a:bodyPr/>
          <a:lstStyle/>
          <a:p>
            <a:r>
              <a:rPr lang="zh-CN" altLang="en-US" dirty="0">
                <a:sym typeface="Huawei Sans" panose="020C0503030203020204" pitchFamily="34" charset="0"/>
              </a:rPr>
              <a:t>新开发</a:t>
            </a:r>
          </a:p>
        </p:txBody>
      </p:sp>
      <p:sp>
        <p:nvSpPr>
          <p:cNvPr id="28" name="文本占位符 27"/>
          <p:cNvSpPr>
            <a:spLocks noGrp="1"/>
          </p:cNvSpPr>
          <p:nvPr>
            <p:ph type="body" sz="quarter" idx="21"/>
          </p:nvPr>
        </p:nvSpPr>
        <p:spPr/>
        <p:txBody>
          <a:bodyPr/>
          <a:lstStyle/>
          <a:p>
            <a:r>
              <a:rPr lang="zh-CN" altLang="en-US" dirty="0">
                <a:sym typeface="Huawei Sans" panose="020C0503030203020204" pitchFamily="34" charset="0"/>
              </a:rPr>
              <a:t>何军建</a:t>
            </a:r>
            <a:r>
              <a:rPr lang="en-US" altLang="zh-CN" dirty="0">
                <a:sym typeface="Huawei Sans" panose="020C0503030203020204" pitchFamily="34" charset="0"/>
              </a:rPr>
              <a:t>/WX580230</a:t>
            </a:r>
          </a:p>
        </p:txBody>
      </p:sp>
      <p:sp>
        <p:nvSpPr>
          <p:cNvPr id="29" name="文本占位符 28"/>
          <p:cNvSpPr>
            <a:spLocks noGrp="1"/>
          </p:cNvSpPr>
          <p:nvPr>
            <p:ph type="body" sz="quarter" idx="22"/>
          </p:nvPr>
        </p:nvSpPr>
        <p:spPr/>
        <p:txBody>
          <a:bodyPr/>
          <a:lstStyle/>
          <a:p>
            <a:r>
              <a:rPr lang="en-US" altLang="zh-CN" dirty="0">
                <a:sym typeface="Huawei Sans" panose="020C0503030203020204" pitchFamily="34" charset="0"/>
              </a:rPr>
              <a:t>2021.08.24</a:t>
            </a:r>
          </a:p>
        </p:txBody>
      </p:sp>
      <p:sp>
        <p:nvSpPr>
          <p:cNvPr id="30" name="文本占位符 29"/>
          <p:cNvSpPr>
            <a:spLocks noGrp="1"/>
          </p:cNvSpPr>
          <p:nvPr>
            <p:ph type="body" sz="quarter" idx="23"/>
          </p:nvPr>
        </p:nvSpPr>
        <p:spPr/>
        <p:txBody>
          <a:bodyPr/>
          <a:lstStyle/>
          <a:p>
            <a:r>
              <a:rPr lang="zh-CN" altLang="en-US" dirty="0">
                <a:sym typeface="Huawei Sans" panose="020C0503030203020204" pitchFamily="34" charset="0"/>
              </a:rPr>
              <a:t>李先之</a:t>
            </a:r>
            <a:r>
              <a:rPr lang="en-US" altLang="zh-CN" dirty="0">
                <a:sym typeface="Huawei Sans" panose="020C0503030203020204" pitchFamily="34" charset="0"/>
              </a:rPr>
              <a:t>/00354681</a:t>
            </a:r>
          </a:p>
        </p:txBody>
      </p:sp>
      <p:sp>
        <p:nvSpPr>
          <p:cNvPr id="31" name="文本占位符 30"/>
          <p:cNvSpPr>
            <a:spLocks noGrp="1"/>
          </p:cNvSpPr>
          <p:nvPr>
            <p:ph type="body" sz="quarter" idx="24"/>
          </p:nvPr>
        </p:nvSpPr>
        <p:spPr/>
        <p:txBody>
          <a:bodyPr/>
          <a:lstStyle/>
          <a:p>
            <a:r>
              <a:rPr lang="zh-CN" altLang="en-US" dirty="0">
                <a:sym typeface="Huawei Sans" panose="020C0503030203020204" pitchFamily="34" charset="0"/>
              </a:rPr>
              <a:t>优化</a:t>
            </a:r>
          </a:p>
        </p:txBody>
      </p:sp>
      <p:sp>
        <p:nvSpPr>
          <p:cNvPr id="32" name="文本占位符 31"/>
          <p:cNvSpPr>
            <a:spLocks noGrp="1"/>
          </p:cNvSpPr>
          <p:nvPr>
            <p:ph type="body" sz="quarter" idx="25"/>
          </p:nvPr>
        </p:nvSpPr>
        <p:spPr/>
        <p:txBody>
          <a:bodyPr/>
          <a:lstStyle/>
          <a:p>
            <a:endParaRPr lang="en-US" altLang="zh-CN" dirty="0">
              <a:sym typeface="Huawei Sans" panose="020C0503030203020204" pitchFamily="34" charset="0"/>
            </a:endParaRPr>
          </a:p>
        </p:txBody>
      </p:sp>
      <p:sp>
        <p:nvSpPr>
          <p:cNvPr id="33" name="文本占位符 32"/>
          <p:cNvSpPr>
            <a:spLocks noGrp="1"/>
          </p:cNvSpPr>
          <p:nvPr>
            <p:ph type="body" sz="quarter" idx="26"/>
          </p:nvPr>
        </p:nvSpPr>
        <p:spPr/>
        <p:txBody>
          <a:bodyPr/>
          <a:lstStyle/>
          <a:p>
            <a:endParaRPr lang="en-US" altLang="zh-CN" dirty="0">
              <a:sym typeface="Huawei Sans" panose="020C0503030203020204" pitchFamily="34" charset="0"/>
            </a:endParaRPr>
          </a:p>
        </p:txBody>
      </p:sp>
      <p:sp>
        <p:nvSpPr>
          <p:cNvPr id="17" name="文本占位符 16"/>
          <p:cNvSpPr>
            <a:spLocks noGrp="1"/>
          </p:cNvSpPr>
          <p:nvPr>
            <p:ph type="body" sz="quarter" idx="27"/>
          </p:nvPr>
        </p:nvSpPr>
        <p:spPr/>
        <p:txBody>
          <a:bodyPr/>
          <a:lstStyle/>
          <a:p>
            <a:endParaRPr lang="zh-CN" altLang="en-US">
              <a:sym typeface="Huawei Sans" panose="020C0503030203020204" pitchFamily="34" charset="0"/>
            </a:endParaRPr>
          </a:p>
        </p:txBody>
      </p:sp>
      <p:sp>
        <p:nvSpPr>
          <p:cNvPr id="35" name="文本占位符 34"/>
          <p:cNvSpPr>
            <a:spLocks noGrp="1"/>
          </p:cNvSpPr>
          <p:nvPr>
            <p:ph type="body" sz="quarter" idx="28"/>
          </p:nvPr>
        </p:nvSpPr>
        <p:spPr/>
        <p:txBody>
          <a:bodyPr/>
          <a:lstStyle/>
          <a:p>
            <a:r>
              <a:rPr lang="zh-CN" altLang="en-US" dirty="0">
                <a:sym typeface="Huawei Sans" panose="020C0503030203020204" pitchFamily="34" charset="0"/>
              </a:rPr>
              <a:t>优化</a:t>
            </a:r>
          </a:p>
        </p:txBody>
      </p:sp>
      <p:sp>
        <p:nvSpPr>
          <p:cNvPr id="18" name="文本占位符 17"/>
          <p:cNvSpPr>
            <a:spLocks noGrp="1"/>
          </p:cNvSpPr>
          <p:nvPr>
            <p:ph type="body" sz="quarter" idx="29"/>
          </p:nvPr>
        </p:nvSpPr>
        <p:spPr/>
        <p:txBody>
          <a:bodyPr/>
          <a:lstStyle/>
          <a:p>
            <a:endParaRPr lang="zh-CN" altLang="en-US">
              <a:sym typeface="Huawei Sans" panose="020C0503030203020204" pitchFamily="34" charset="0"/>
            </a:endParaRPr>
          </a:p>
        </p:txBody>
      </p:sp>
      <p:sp>
        <p:nvSpPr>
          <p:cNvPr id="19" name="文本占位符 18"/>
          <p:cNvSpPr>
            <a:spLocks noGrp="1"/>
          </p:cNvSpPr>
          <p:nvPr>
            <p:ph type="body" sz="quarter" idx="30"/>
          </p:nvPr>
        </p:nvSpPr>
        <p:spPr/>
        <p:txBody>
          <a:bodyPr/>
          <a:lstStyle/>
          <a:p>
            <a:endParaRPr lang="zh-CN" altLang="en-US">
              <a:sym typeface="Huawei Sans" panose="020C0503030203020204" pitchFamily="34" charset="0"/>
            </a:endParaRPr>
          </a:p>
        </p:txBody>
      </p:sp>
      <p:sp>
        <p:nvSpPr>
          <p:cNvPr id="20" name="文本占位符 19"/>
          <p:cNvSpPr>
            <a:spLocks noGrp="1"/>
          </p:cNvSpPr>
          <p:nvPr>
            <p:ph type="body" sz="quarter" idx="31"/>
          </p:nvPr>
        </p:nvSpPr>
        <p:spPr/>
        <p:txBody>
          <a:bodyPr/>
          <a:lstStyle/>
          <a:p>
            <a:endParaRPr lang="zh-CN" altLang="en-US">
              <a:sym typeface="Huawei Sans" panose="020C0503030203020204" pitchFamily="34" charset="0"/>
            </a:endParaRPr>
          </a:p>
        </p:txBody>
      </p:sp>
      <p:sp>
        <p:nvSpPr>
          <p:cNvPr id="21" name="文本占位符 20"/>
          <p:cNvSpPr>
            <a:spLocks noGrp="1"/>
          </p:cNvSpPr>
          <p:nvPr>
            <p:ph type="body" sz="quarter" idx="32"/>
          </p:nvPr>
        </p:nvSpPr>
        <p:spPr/>
        <p:txBody>
          <a:bodyPr/>
          <a:lstStyle/>
          <a:p>
            <a:endParaRPr lang="zh-CN" altLang="en-US" dirty="0">
              <a:sym typeface="Huawei Sans" panose="020C0503030203020204" pitchFamily="34" charset="0"/>
            </a:endParaRPr>
          </a:p>
        </p:txBody>
      </p:sp>
    </p:spTree>
    <p:extLst>
      <p:ext uri="{BB962C8B-B14F-4D97-AF65-F5344CB8AC3E}">
        <p14:creationId xmlns:p14="http://schemas.microsoft.com/office/powerpoint/2010/main" val="1129691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bwMode="gray"/>
        <p:txBody>
          <a:bodyPr/>
          <a:lstStyle/>
          <a:p>
            <a:r>
              <a:rPr lang="en-US" altLang="zh-CN" dirty="0">
                <a:sym typeface="Huawei Sans" panose="020C0503030203020204" pitchFamily="34" charset="0"/>
              </a:rPr>
              <a:t>RESTful</a:t>
            </a:r>
            <a:r>
              <a:rPr lang="zh-CN" altLang="en-US" dirty="0">
                <a:sym typeface="Huawei Sans" panose="020C0503030203020204" pitchFamily="34" charset="0"/>
              </a:rPr>
              <a:t>原理与实践</a:t>
            </a:r>
          </a:p>
        </p:txBody>
      </p:sp>
    </p:spTree>
    <p:extLst>
      <p:ext uri="{BB962C8B-B14F-4D97-AF65-F5344CB8AC3E}">
        <p14:creationId xmlns:p14="http://schemas.microsoft.com/office/powerpoint/2010/main" val="3171237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sz="2000" dirty="0"/>
              <a:t>计算产业的开放生态带来了其诸多领域的蓬勃发展。网络产业也在不断寻求变革与发展，其中</a:t>
            </a:r>
            <a:r>
              <a:rPr lang="en-US" altLang="zh-CN" sz="2000" dirty="0"/>
              <a:t>SDN</a:t>
            </a:r>
            <a:r>
              <a:rPr lang="zh-CN" altLang="en-US" sz="2000" dirty="0"/>
              <a:t>（</a:t>
            </a:r>
            <a:r>
              <a:rPr lang="en-US" altLang="zh-CN" sz="2000" dirty="0"/>
              <a:t>Software Defined Networking</a:t>
            </a:r>
            <a:r>
              <a:rPr lang="zh-CN" altLang="en-US" sz="2000" dirty="0"/>
              <a:t>，软件定义网络）是备受瞩目的概念。</a:t>
            </a:r>
            <a:endParaRPr lang="en-US" altLang="zh-CN" sz="2000" dirty="0"/>
          </a:p>
          <a:p>
            <a:r>
              <a:rPr lang="zh-CN" altLang="en-US" sz="2000" dirty="0"/>
              <a:t>在万物互联的智能世界里，尽快开放更多的接口意味着能与其他网络尽快建立连接。网络开放不但能够为网络带来变革，还可以进一步细分产业链，带来新的产业发展机遇。如今</a:t>
            </a:r>
            <a:r>
              <a:rPr lang="en-US" altLang="zh-CN" sz="2000" dirty="0"/>
              <a:t>REST</a:t>
            </a:r>
            <a:r>
              <a:rPr lang="zh-CN" altLang="en-US" sz="2000" dirty="0"/>
              <a:t>（</a:t>
            </a:r>
            <a:r>
              <a:rPr lang="en-US" altLang="zh-CN" sz="2000" dirty="0"/>
              <a:t>	Representational State Transfer</a:t>
            </a:r>
            <a:r>
              <a:rPr lang="zh-CN" altLang="en-US" sz="2000" dirty="0"/>
              <a:t>，表现层状态转化）风格被越来越多的公司选择，</a:t>
            </a:r>
            <a:r>
              <a:rPr lang="en-US" altLang="zh-CN" sz="2000" dirty="0"/>
              <a:t>RESTful</a:t>
            </a:r>
            <a:r>
              <a:rPr lang="zh-CN" altLang="en-US" sz="2000" dirty="0"/>
              <a:t>接口更是流行全网络。</a:t>
            </a:r>
            <a:endParaRPr lang="en-US" altLang="zh-CN" sz="2000" dirty="0"/>
          </a:p>
          <a:p>
            <a:r>
              <a:rPr lang="zh-CN" altLang="en-US" sz="2000" dirty="0"/>
              <a:t>本课程定位于帮助开发工程师了解</a:t>
            </a:r>
            <a:r>
              <a:rPr lang="en-US" altLang="zh-CN" sz="2000" dirty="0"/>
              <a:t>SDN</a:t>
            </a:r>
            <a:r>
              <a:rPr lang="zh-CN" altLang="en-US" sz="2000" dirty="0"/>
              <a:t>、</a:t>
            </a:r>
            <a:r>
              <a:rPr lang="en-US" altLang="zh-CN" sz="2000" dirty="0"/>
              <a:t>REST</a:t>
            </a:r>
            <a:r>
              <a:rPr lang="zh-CN" altLang="en-US" sz="2000" dirty="0"/>
              <a:t>和</a:t>
            </a:r>
            <a:r>
              <a:rPr lang="en-US" altLang="zh-CN" sz="2000" dirty="0"/>
              <a:t>RESTful</a:t>
            </a:r>
            <a:r>
              <a:rPr lang="zh-CN" altLang="en-US" sz="2000" dirty="0"/>
              <a:t>的概念和作用，同时介绍</a:t>
            </a:r>
            <a:r>
              <a:rPr lang="en-US" altLang="zh-CN" sz="2000" dirty="0"/>
              <a:t>HTTP</a:t>
            </a:r>
            <a:r>
              <a:rPr lang="zh-CN" altLang="en-US" sz="2000" dirty="0"/>
              <a:t>的工作原理以及</a:t>
            </a:r>
            <a:r>
              <a:rPr lang="en-US" altLang="zh-CN" sz="2000" dirty="0"/>
              <a:t>RESTful</a:t>
            </a:r>
            <a:r>
              <a:rPr lang="zh-CN" altLang="en-US" sz="2000" dirty="0"/>
              <a:t>接口的调用实践。</a:t>
            </a:r>
          </a:p>
          <a:p>
            <a:endParaRPr lang="zh-CN" altLang="en-US" sz="2000" dirty="0"/>
          </a:p>
        </p:txBody>
      </p:sp>
    </p:spTree>
    <p:extLst>
      <p:ext uri="{BB962C8B-B14F-4D97-AF65-F5344CB8AC3E}">
        <p14:creationId xmlns:p14="http://schemas.microsoft.com/office/powerpoint/2010/main" val="2032428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zh-CN" altLang="en-US"/>
              <a:t>学完本课程后，您将能够：</a:t>
            </a:r>
            <a:endParaRPr lang="en-US" altLang="zh-CN"/>
          </a:p>
          <a:p>
            <a:pPr lvl="1"/>
            <a:r>
              <a:rPr lang="zh-CN" altLang="en-US"/>
              <a:t>描述</a:t>
            </a:r>
            <a:r>
              <a:rPr lang="en-US" altLang="zh-CN"/>
              <a:t>SDN</a:t>
            </a:r>
            <a:r>
              <a:rPr lang="zh-CN" altLang="en-US"/>
              <a:t>的发展历史</a:t>
            </a:r>
            <a:endParaRPr lang="en-US" altLang="zh-CN"/>
          </a:p>
          <a:p>
            <a:pPr lvl="1"/>
            <a:r>
              <a:rPr lang="zh-CN" altLang="en-US"/>
              <a:t>描述</a:t>
            </a:r>
            <a:r>
              <a:rPr lang="en-US" altLang="zh-CN"/>
              <a:t>REST</a:t>
            </a:r>
            <a:r>
              <a:rPr lang="zh-CN" altLang="en-US"/>
              <a:t>的背景，概念及亮点</a:t>
            </a:r>
            <a:endParaRPr lang="en-US" altLang="zh-CN"/>
          </a:p>
          <a:p>
            <a:pPr lvl="1"/>
            <a:r>
              <a:rPr lang="zh-CN" altLang="en-US"/>
              <a:t>辨别</a:t>
            </a:r>
            <a:r>
              <a:rPr lang="en-US" altLang="zh-CN"/>
              <a:t>REST</a:t>
            </a:r>
            <a:r>
              <a:rPr lang="zh-CN" altLang="en-US"/>
              <a:t>、</a:t>
            </a:r>
            <a:r>
              <a:rPr lang="en-US" altLang="zh-CN"/>
              <a:t>RESTful</a:t>
            </a:r>
            <a:r>
              <a:rPr lang="zh-CN" altLang="en-US"/>
              <a:t>、</a:t>
            </a:r>
            <a:r>
              <a:rPr lang="en-US" altLang="zh-CN"/>
              <a:t>RESTCONF</a:t>
            </a:r>
            <a:r>
              <a:rPr lang="zh-CN" altLang="en-US"/>
              <a:t>之间的关系</a:t>
            </a:r>
            <a:endParaRPr lang="en-US" altLang="zh-CN"/>
          </a:p>
          <a:p>
            <a:pPr lvl="1"/>
            <a:r>
              <a:rPr lang="zh-CN" altLang="en-US"/>
              <a:t>阐明</a:t>
            </a:r>
            <a:r>
              <a:rPr lang="en-US" altLang="zh-CN"/>
              <a:t>HTTP</a:t>
            </a:r>
            <a:r>
              <a:rPr lang="zh-CN" altLang="en-US"/>
              <a:t>的报文格式及内容</a:t>
            </a:r>
            <a:endParaRPr lang="en-US" altLang="zh-CN"/>
          </a:p>
          <a:p>
            <a:pPr lvl="1"/>
            <a:r>
              <a:rPr lang="zh-CN" altLang="en-US"/>
              <a:t>辨别</a:t>
            </a:r>
            <a:r>
              <a:rPr lang="en-US" altLang="zh-CN"/>
              <a:t>HTTP</a:t>
            </a:r>
            <a:r>
              <a:rPr lang="zh-CN" altLang="en-US"/>
              <a:t>、</a:t>
            </a:r>
            <a:r>
              <a:rPr lang="en-US" altLang="zh-CN"/>
              <a:t>HTTPS</a:t>
            </a:r>
            <a:r>
              <a:rPr lang="zh-CN" altLang="en-US"/>
              <a:t>、</a:t>
            </a:r>
            <a:r>
              <a:rPr lang="en-US" altLang="zh-CN"/>
              <a:t>HTTP2.0</a:t>
            </a:r>
            <a:r>
              <a:rPr lang="zh-CN" altLang="en-US"/>
              <a:t>之间的关系</a:t>
            </a:r>
            <a:endParaRPr lang="en-US" altLang="zh-CN"/>
          </a:p>
          <a:p>
            <a:pPr lvl="1"/>
            <a:r>
              <a:rPr lang="zh-CN" altLang="en-US"/>
              <a:t>实现基础的</a:t>
            </a:r>
            <a:r>
              <a:rPr lang="en-US" altLang="zh-CN"/>
              <a:t>RESTful</a:t>
            </a:r>
            <a:r>
              <a:rPr lang="zh-CN" altLang="en-US"/>
              <a:t>接口调用</a:t>
            </a:r>
            <a:endParaRPr lang="en-US" altLang="zh-CN"/>
          </a:p>
          <a:p>
            <a:pPr lvl="1"/>
            <a:endParaRPr lang="en-US" altLang="zh-CN"/>
          </a:p>
          <a:p>
            <a:endParaRPr lang="zh-CN" altLang="en-US" dirty="0"/>
          </a:p>
        </p:txBody>
      </p:sp>
    </p:spTree>
    <p:extLst>
      <p:ext uri="{BB962C8B-B14F-4D97-AF65-F5344CB8AC3E}">
        <p14:creationId xmlns:p14="http://schemas.microsoft.com/office/powerpoint/2010/main" val="279668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b="1" dirty="0"/>
              <a:t>SDN</a:t>
            </a:r>
            <a:r>
              <a:rPr lang="zh-CN" altLang="en-US" b="1" dirty="0"/>
              <a:t>概述</a:t>
            </a:r>
          </a:p>
          <a:p>
            <a:r>
              <a:rPr lang="en-US" altLang="zh-CN" dirty="0">
                <a:solidFill>
                  <a:schemeClr val="bg1">
                    <a:lumMod val="50000"/>
                  </a:schemeClr>
                </a:solidFill>
                <a:sym typeface="Huawei Sans" panose="020C0503030203020204" pitchFamily="34" charset="0"/>
              </a:rPr>
              <a:t>REST</a:t>
            </a:r>
            <a:r>
              <a:rPr lang="zh-CN" altLang="en-US" dirty="0">
                <a:solidFill>
                  <a:schemeClr val="bg1">
                    <a:lumMod val="50000"/>
                  </a:schemeClr>
                </a:solidFill>
                <a:sym typeface="Huawei Sans" panose="020C0503030203020204" pitchFamily="34" charset="0"/>
              </a:rPr>
              <a:t>和</a:t>
            </a:r>
            <a:r>
              <a:rPr lang="en-US" altLang="zh-CN" dirty="0">
                <a:solidFill>
                  <a:schemeClr val="bg1">
                    <a:lumMod val="50000"/>
                  </a:schemeClr>
                </a:solidFill>
                <a:sym typeface="Huawei Sans" panose="020C0503030203020204" pitchFamily="34" charset="0"/>
              </a:rPr>
              <a:t>RESTful</a:t>
            </a:r>
          </a:p>
          <a:p>
            <a:r>
              <a:rPr lang="en-US" altLang="zh-CN" dirty="0">
                <a:solidFill>
                  <a:schemeClr val="bg1">
                    <a:lumMod val="50000"/>
                  </a:schemeClr>
                </a:solidFill>
                <a:sym typeface="Huawei Sans" panose="020C0503030203020204" pitchFamily="34" charset="0"/>
              </a:rPr>
              <a:t>HTTP</a:t>
            </a:r>
            <a:r>
              <a:rPr lang="zh-CN" altLang="en-US" dirty="0">
                <a:solidFill>
                  <a:schemeClr val="bg1">
                    <a:lumMod val="50000"/>
                  </a:schemeClr>
                </a:solidFill>
                <a:sym typeface="Huawei Sans" panose="020C0503030203020204" pitchFamily="34" charset="0"/>
              </a:rPr>
              <a:t>工作原理</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RESTful</a:t>
            </a:r>
            <a:r>
              <a:rPr lang="zh-CN" altLang="en-US" dirty="0">
                <a:solidFill>
                  <a:schemeClr val="bg1">
                    <a:lumMod val="50000"/>
                  </a:schemeClr>
                </a:solidFill>
                <a:sym typeface="Huawei Sans" panose="020C0503030203020204" pitchFamily="34" charset="0"/>
              </a:rPr>
              <a:t>接口调用实践</a:t>
            </a:r>
            <a:endParaRPr lang="en-US" altLang="zh-CN" dirty="0">
              <a:solidFill>
                <a:schemeClr val="bg1">
                  <a:lumMod val="50000"/>
                </a:schemeClr>
              </a:solidFill>
              <a:sym typeface="Huawei Sans" panose="020C0503030203020204" pitchFamily="34" charset="0"/>
            </a:endParaRPr>
          </a:p>
          <a:p>
            <a:endParaRPr lang="zh-CN" altLang="en-US" dirty="0"/>
          </a:p>
        </p:txBody>
      </p:sp>
    </p:spTree>
    <p:extLst>
      <p:ext uri="{BB962C8B-B14F-4D97-AF65-F5344CB8AC3E}">
        <p14:creationId xmlns:p14="http://schemas.microsoft.com/office/powerpoint/2010/main" val="45457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bwMode="gray"/>
        <p:txBody>
          <a:bodyPr/>
          <a:lstStyle/>
          <a:p>
            <a:r>
              <a:rPr lang="en-US" altLang="zh-CN" sz="1600" dirty="0"/>
              <a:t>SDN</a:t>
            </a:r>
            <a:r>
              <a:rPr lang="zh-CN" altLang="en-US" sz="1600" dirty="0"/>
              <a:t>是由斯坦福大学</a:t>
            </a:r>
            <a:r>
              <a:rPr lang="en-US" altLang="zh-CN" sz="1600" dirty="0"/>
              <a:t>Clean Slate</a:t>
            </a:r>
            <a:r>
              <a:rPr lang="zh-CN" altLang="en-US" sz="1600" dirty="0"/>
              <a:t>研究组提出的一种新型网络创新架构。 其核心理念通过将网络设备控制平面与数据平面分离，从而实现了网络控制平面的集中控制，为网络应用的创新提供了良好的支撑。</a:t>
            </a:r>
          </a:p>
          <a:p>
            <a:r>
              <a:rPr lang="en-US" altLang="zh-CN" sz="1600" dirty="0"/>
              <a:t>SDN</a:t>
            </a:r>
            <a:r>
              <a:rPr lang="zh-CN" altLang="en-US" sz="1600" dirty="0"/>
              <a:t>起源提出了三个特征， “转控分离”、“集中控制”和“开放可编程接口”。</a:t>
            </a:r>
          </a:p>
          <a:p>
            <a:endParaRPr lang="zh-CN" altLang="en-US" sz="1600" dirty="0"/>
          </a:p>
          <a:p>
            <a:endParaRPr lang="zh-CN" altLang="en-US" sz="1600" dirty="0"/>
          </a:p>
        </p:txBody>
      </p:sp>
      <p:grpSp>
        <p:nvGrpSpPr>
          <p:cNvPr id="116" name="组合 115">
            <a:extLst>
              <a:ext uri="{FF2B5EF4-FFF2-40B4-BE49-F238E27FC236}">
                <a16:creationId xmlns:a16="http://schemas.microsoft.com/office/drawing/2014/main" id="{68A6C888-8473-4E08-949F-D9858B51B963}"/>
              </a:ext>
            </a:extLst>
          </p:cNvPr>
          <p:cNvGrpSpPr/>
          <p:nvPr/>
        </p:nvGrpSpPr>
        <p:grpSpPr bwMode="gray">
          <a:xfrm>
            <a:off x="3699248" y="4463844"/>
            <a:ext cx="4811561" cy="997492"/>
            <a:chOff x="3719173" y="5231865"/>
            <a:chExt cx="4811561" cy="997492"/>
          </a:xfrm>
          <a:solidFill>
            <a:srgbClr val="BEE9EE"/>
          </a:solidFill>
        </p:grpSpPr>
        <p:sp>
          <p:nvSpPr>
            <p:cNvPr id="115" name="椭圆 114">
              <a:extLst>
                <a:ext uri="{FF2B5EF4-FFF2-40B4-BE49-F238E27FC236}">
                  <a16:creationId xmlns:a16="http://schemas.microsoft.com/office/drawing/2014/main" id="{3AEF4A73-D687-4043-B8D8-22B716F07C55}"/>
                </a:ext>
              </a:extLst>
            </p:cNvPr>
            <p:cNvSpPr/>
            <p:nvPr/>
          </p:nvSpPr>
          <p:spPr bwMode="gray">
            <a:xfrm>
              <a:off x="3719173" y="5231865"/>
              <a:ext cx="4811561" cy="997492"/>
            </a:xfrm>
            <a:prstGeom prst="ellipse">
              <a:avLst/>
            </a:prstGeom>
            <a:grpFill/>
            <a:ln w="12700" cap="flat" cmpd="sng" algn="ctr">
              <a:solidFill>
                <a:srgbClr val="94DAE2"/>
              </a:solidFill>
              <a:prstDash val="solid"/>
              <a:miter lim="800000"/>
            </a:ln>
            <a:effectLst/>
          </p:spPr>
          <p:txBody>
            <a:bodyPr wrap="square" rtlCol="0" anchor="ctr">
              <a:noAutofit/>
            </a:bodyPr>
            <a:lstStyle/>
            <a:p>
              <a:pPr algn="ctr" defTabSz="1219170" fontAlgn="ctr">
                <a:defRPr/>
              </a:pPr>
              <a:endParaRPr lang="en-US" altLang="zh-CN" sz="1600" kern="0" dirty="0">
                <a:solidFill>
                  <a:prstClr val="white"/>
                </a:solidFill>
              </a:endParaRPr>
            </a:p>
          </p:txBody>
        </p:sp>
        <p:sp>
          <p:nvSpPr>
            <p:cNvPr id="14" name="TextBox 19">
              <a:extLst>
                <a:ext uri="{FF2B5EF4-FFF2-40B4-BE49-F238E27FC236}">
                  <a16:creationId xmlns:a16="http://schemas.microsoft.com/office/drawing/2014/main" id="{C6B6D39F-0DC2-4456-B250-308B602A1D71}"/>
                </a:ext>
              </a:extLst>
            </p:cNvPr>
            <p:cNvSpPr txBox="1"/>
            <p:nvPr/>
          </p:nvSpPr>
          <p:spPr bwMode="gray">
            <a:xfrm>
              <a:off x="5302968" y="5831485"/>
              <a:ext cx="2012089" cy="338554"/>
            </a:xfrm>
            <a:prstGeom prst="rect">
              <a:avLst/>
            </a:prstGeom>
            <a:noFill/>
            <a:ln>
              <a:noFill/>
            </a:ln>
          </p:spPr>
          <p:txBody>
            <a:bodyPr wrap="none" rtlCol="0">
              <a:spAutoFit/>
            </a:bodyPr>
            <a:lstStyle/>
            <a:p>
              <a:r>
                <a:rPr lang="en-US" sz="1600" dirty="0" err="1">
                  <a:ea typeface="+mn-ea"/>
                  <a:cs typeface="Huawei Sans" panose="020C0503030203020204" pitchFamily="34" charset="0"/>
                </a:rPr>
                <a:t>O</a:t>
              </a:r>
              <a:r>
                <a:rPr lang="en-US" altLang="zh-CN" sz="1600" dirty="0" err="1">
                  <a:ea typeface="+mn-ea"/>
                  <a:cs typeface="Huawei Sans" panose="020C0503030203020204" pitchFamily="34" charset="0"/>
                </a:rPr>
                <a:t>penFlow</a:t>
              </a:r>
              <a:r>
                <a:rPr lang="en-US" altLang="zh-CN" sz="1600" dirty="0">
                  <a:ea typeface="+mn-ea"/>
                  <a:cs typeface="Huawei Sans" panose="020C0503030203020204" pitchFamily="34" charset="0"/>
                </a:rPr>
                <a:t> Switches</a:t>
              </a:r>
              <a:endParaRPr lang="en-US" sz="1600" dirty="0">
                <a:ea typeface="+mn-ea"/>
                <a:cs typeface="Huawei Sans" panose="020C0503030203020204" pitchFamily="34" charset="0"/>
              </a:endParaRPr>
            </a:p>
          </p:txBody>
        </p:sp>
        <p:pic>
          <p:nvPicPr>
            <p:cNvPr id="89" name="图片 88">
              <a:extLst>
                <a:ext uri="{FF2B5EF4-FFF2-40B4-BE49-F238E27FC236}">
                  <a16:creationId xmlns:a16="http://schemas.microsoft.com/office/drawing/2014/main" id="{269FC907-DFAC-4110-9403-D3D870B36778}"/>
                </a:ext>
              </a:extLst>
            </p:cNvPr>
            <p:cNvPicPr>
              <a:picLocks/>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302778" y="5440459"/>
              <a:ext cx="540000" cy="442800"/>
            </a:xfrm>
            <a:prstGeom prst="rect">
              <a:avLst/>
            </a:prstGeom>
            <a:grpFill/>
            <a:ln>
              <a:noFill/>
            </a:ln>
          </p:spPr>
        </p:pic>
        <p:pic>
          <p:nvPicPr>
            <p:cNvPr id="90" name="图片 89">
              <a:extLst>
                <a:ext uri="{FF2B5EF4-FFF2-40B4-BE49-F238E27FC236}">
                  <a16:creationId xmlns:a16="http://schemas.microsoft.com/office/drawing/2014/main" id="{13CCC243-9159-49EC-8111-9B15A789F131}"/>
                </a:ext>
              </a:extLst>
            </p:cNvPr>
            <p:cNvPicPr>
              <a:picLocks/>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370738" y="5300940"/>
              <a:ext cx="540000" cy="442800"/>
            </a:xfrm>
            <a:prstGeom prst="rect">
              <a:avLst/>
            </a:prstGeom>
            <a:grpFill/>
            <a:ln>
              <a:noFill/>
            </a:ln>
          </p:spPr>
        </p:pic>
        <p:pic>
          <p:nvPicPr>
            <p:cNvPr id="91" name="图片 90">
              <a:extLst>
                <a:ext uri="{FF2B5EF4-FFF2-40B4-BE49-F238E27FC236}">
                  <a16:creationId xmlns:a16="http://schemas.microsoft.com/office/drawing/2014/main" id="{963F79C8-9CD6-4388-8391-A3A721F226D5}"/>
                </a:ext>
              </a:extLst>
            </p:cNvPr>
            <p:cNvPicPr>
              <a:picLocks/>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396919" y="5288957"/>
              <a:ext cx="540000" cy="442800"/>
            </a:xfrm>
            <a:prstGeom prst="rect">
              <a:avLst/>
            </a:prstGeom>
            <a:grpFill/>
            <a:ln>
              <a:noFill/>
            </a:ln>
          </p:spPr>
        </p:pic>
        <p:pic>
          <p:nvPicPr>
            <p:cNvPr id="92" name="图片 91">
              <a:extLst>
                <a:ext uri="{FF2B5EF4-FFF2-40B4-BE49-F238E27FC236}">
                  <a16:creationId xmlns:a16="http://schemas.microsoft.com/office/drawing/2014/main" id="{299AF077-8C98-4EF4-9965-72642C70B144}"/>
                </a:ext>
              </a:extLst>
            </p:cNvPr>
            <p:cNvPicPr>
              <a:picLocks/>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7465476" y="5453720"/>
              <a:ext cx="540000" cy="442800"/>
            </a:xfrm>
            <a:prstGeom prst="rect">
              <a:avLst/>
            </a:prstGeom>
            <a:grpFill/>
            <a:ln>
              <a:noFill/>
            </a:ln>
          </p:spPr>
        </p:pic>
        <p:cxnSp>
          <p:nvCxnSpPr>
            <p:cNvPr id="94" name="直接连接符 93">
              <a:extLst>
                <a:ext uri="{FF2B5EF4-FFF2-40B4-BE49-F238E27FC236}">
                  <a16:creationId xmlns:a16="http://schemas.microsoft.com/office/drawing/2014/main" id="{E6D45269-1058-43A4-A8D6-C4ACFABE3769}"/>
                </a:ext>
              </a:extLst>
            </p:cNvPr>
            <p:cNvCxnSpPr>
              <a:cxnSpLocks/>
              <a:stCxn id="89" idx="3"/>
              <a:endCxn id="90" idx="1"/>
            </p:cNvCxnSpPr>
            <p:nvPr/>
          </p:nvCxnSpPr>
          <p:spPr bwMode="gray">
            <a:xfrm flipV="1">
              <a:off x="4842778" y="5522340"/>
              <a:ext cx="527960" cy="1395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1C5211B5-05F0-44F3-A36C-6E16B8CCCDE1}"/>
                </a:ext>
              </a:extLst>
            </p:cNvPr>
            <p:cNvCxnSpPr>
              <a:cxnSpLocks/>
              <a:stCxn id="90" idx="3"/>
              <a:endCxn id="91" idx="1"/>
            </p:cNvCxnSpPr>
            <p:nvPr/>
          </p:nvCxnSpPr>
          <p:spPr bwMode="gray">
            <a:xfrm flipV="1">
              <a:off x="5910738" y="5510357"/>
              <a:ext cx="486181" cy="11983"/>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A7ADFF0-A28F-4F6C-A50A-3B6E7F290792}"/>
                </a:ext>
              </a:extLst>
            </p:cNvPr>
            <p:cNvCxnSpPr>
              <a:cxnSpLocks/>
              <a:stCxn id="91" idx="3"/>
              <a:endCxn id="92" idx="1"/>
            </p:cNvCxnSpPr>
            <p:nvPr/>
          </p:nvCxnSpPr>
          <p:spPr bwMode="gray">
            <a:xfrm>
              <a:off x="6936919" y="5510357"/>
              <a:ext cx="528557" cy="164763"/>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标题 1">
            <a:extLst>
              <a:ext uri="{FF2B5EF4-FFF2-40B4-BE49-F238E27FC236}">
                <a16:creationId xmlns:a16="http://schemas.microsoft.com/office/drawing/2014/main" id="{05D06D93-8F93-41A7-8D02-856AB4F1B3C6}"/>
              </a:ext>
            </a:extLst>
          </p:cNvPr>
          <p:cNvSpPr>
            <a:spLocks noGrp="1"/>
          </p:cNvSpPr>
          <p:nvPr>
            <p:ph type="title"/>
          </p:nvPr>
        </p:nvSpPr>
        <p:spPr bwMode="gray"/>
        <p:txBody>
          <a:bodyPr/>
          <a:lstStyle/>
          <a:p>
            <a:r>
              <a:rPr lang="en-US" altLang="zh-CN"/>
              <a:t>SDN</a:t>
            </a:r>
            <a:r>
              <a:rPr lang="zh-CN" altLang="en-US"/>
              <a:t>的起源</a:t>
            </a:r>
          </a:p>
        </p:txBody>
      </p:sp>
      <p:cxnSp>
        <p:nvCxnSpPr>
          <p:cNvPr id="17" name="Straight Arrow Connector 631">
            <a:extLst>
              <a:ext uri="{FF2B5EF4-FFF2-40B4-BE49-F238E27FC236}">
                <a16:creationId xmlns:a16="http://schemas.microsoft.com/office/drawing/2014/main" id="{F8E88FDE-15E9-4C0D-A246-36B6ECB798ED}"/>
              </a:ext>
            </a:extLst>
          </p:cNvPr>
          <p:cNvCxnSpPr>
            <a:cxnSpLocks/>
            <a:stCxn id="102" idx="2"/>
            <a:endCxn id="90" idx="0"/>
          </p:cNvCxnSpPr>
          <p:nvPr/>
        </p:nvCxnSpPr>
        <p:spPr bwMode="gray">
          <a:xfrm flipH="1">
            <a:off x="5620813" y="3899440"/>
            <a:ext cx="410057" cy="633479"/>
          </a:xfrm>
          <a:prstGeom prst="straightConnector1">
            <a:avLst/>
          </a:prstGeom>
          <a:solidFill>
            <a:schemeClr val="accent1"/>
          </a:solidFill>
          <a:ln w="12700" cap="flat" cmpd="sng" algn="ctr">
            <a:solidFill>
              <a:schemeClr val="tx1"/>
            </a:solidFill>
            <a:prstDash val="solid"/>
            <a:round/>
            <a:headEnd type="triangle" w="med" len="med"/>
            <a:tailEnd type="triangle" w="med" len="med"/>
          </a:ln>
          <a:effectLst/>
        </p:spPr>
      </p:cxnSp>
      <p:cxnSp>
        <p:nvCxnSpPr>
          <p:cNvPr id="18" name="Straight Arrow Connector 633">
            <a:extLst>
              <a:ext uri="{FF2B5EF4-FFF2-40B4-BE49-F238E27FC236}">
                <a16:creationId xmlns:a16="http://schemas.microsoft.com/office/drawing/2014/main" id="{611CF3FB-4932-425F-810F-50BFCF700FAB}"/>
              </a:ext>
            </a:extLst>
          </p:cNvPr>
          <p:cNvCxnSpPr>
            <a:cxnSpLocks/>
            <a:stCxn id="102" idx="2"/>
            <a:endCxn id="91" idx="0"/>
          </p:cNvCxnSpPr>
          <p:nvPr/>
        </p:nvCxnSpPr>
        <p:spPr bwMode="gray">
          <a:xfrm>
            <a:off x="6030870" y="3899440"/>
            <a:ext cx="616124" cy="621496"/>
          </a:xfrm>
          <a:prstGeom prst="straightConnector1">
            <a:avLst/>
          </a:prstGeom>
          <a:solidFill>
            <a:schemeClr val="accent1"/>
          </a:solidFill>
          <a:ln w="12700" cap="flat" cmpd="sng" algn="ctr">
            <a:solidFill>
              <a:schemeClr val="tx1"/>
            </a:solidFill>
            <a:prstDash val="solid"/>
            <a:round/>
            <a:headEnd type="triangle" w="med" len="med"/>
            <a:tailEnd type="triangle" w="med" len="med"/>
          </a:ln>
          <a:effectLst/>
        </p:spPr>
      </p:cxnSp>
      <p:cxnSp>
        <p:nvCxnSpPr>
          <p:cNvPr id="19" name="Straight Arrow Connector 635">
            <a:extLst>
              <a:ext uri="{FF2B5EF4-FFF2-40B4-BE49-F238E27FC236}">
                <a16:creationId xmlns:a16="http://schemas.microsoft.com/office/drawing/2014/main" id="{8696B550-0F39-4912-9313-F677152B4E2C}"/>
              </a:ext>
            </a:extLst>
          </p:cNvPr>
          <p:cNvCxnSpPr>
            <a:cxnSpLocks/>
            <a:stCxn id="102" idx="2"/>
            <a:endCxn id="92" idx="0"/>
          </p:cNvCxnSpPr>
          <p:nvPr/>
        </p:nvCxnSpPr>
        <p:spPr bwMode="gray">
          <a:xfrm>
            <a:off x="6030870" y="3899440"/>
            <a:ext cx="1684681" cy="786259"/>
          </a:xfrm>
          <a:prstGeom prst="straightConnector1">
            <a:avLst/>
          </a:prstGeom>
          <a:solidFill>
            <a:schemeClr val="accent1"/>
          </a:solidFill>
          <a:ln w="12700" cap="flat" cmpd="sng" algn="ctr">
            <a:solidFill>
              <a:schemeClr val="tx1"/>
            </a:solidFill>
            <a:prstDash val="solid"/>
            <a:round/>
            <a:headEnd type="triangle" w="med" len="med"/>
            <a:tailEnd type="triangle" w="med" len="med"/>
          </a:ln>
          <a:effectLst/>
        </p:spPr>
      </p:cxnSp>
      <p:sp>
        <p:nvSpPr>
          <p:cNvPr id="21" name="TextBox 26">
            <a:extLst>
              <a:ext uri="{FF2B5EF4-FFF2-40B4-BE49-F238E27FC236}">
                <a16:creationId xmlns:a16="http://schemas.microsoft.com/office/drawing/2014/main" id="{1EC993C6-9EA6-45F6-983F-C026192B3F12}"/>
              </a:ext>
            </a:extLst>
          </p:cNvPr>
          <p:cNvSpPr txBox="1"/>
          <p:nvPr/>
        </p:nvSpPr>
        <p:spPr bwMode="gray">
          <a:xfrm>
            <a:off x="3946032" y="3526652"/>
            <a:ext cx="1800493" cy="338554"/>
          </a:xfrm>
          <a:prstGeom prst="rect">
            <a:avLst/>
          </a:prstGeom>
          <a:noFill/>
        </p:spPr>
        <p:txBody>
          <a:bodyPr wrap="none" rtlCol="0">
            <a:spAutoFit/>
          </a:bodyPr>
          <a:lstStyle/>
          <a:p>
            <a:r>
              <a:rPr lang="en-US" altLang="zh-CN" sz="1600" dirty="0" err="1">
                <a:cs typeface="Huawei Sans" panose="020C0503030203020204" pitchFamily="34" charset="0"/>
              </a:rPr>
              <a:t>OpenFlow</a:t>
            </a:r>
            <a:r>
              <a:rPr lang="zh-CN" altLang="en-US" sz="1600" dirty="0">
                <a:ea typeface="+mn-ea"/>
                <a:cs typeface="Huawei Sans" panose="020C0503030203020204" pitchFamily="34" charset="0"/>
              </a:rPr>
              <a:t>控制器</a:t>
            </a:r>
            <a:endParaRPr lang="en-US" sz="1600" dirty="0">
              <a:ea typeface="+mn-ea"/>
              <a:cs typeface="Huawei Sans" panose="020C0503030203020204" pitchFamily="34" charset="0"/>
            </a:endParaRPr>
          </a:p>
        </p:txBody>
      </p:sp>
      <p:sp>
        <p:nvSpPr>
          <p:cNvPr id="22" name="TextBox 27">
            <a:extLst>
              <a:ext uri="{FF2B5EF4-FFF2-40B4-BE49-F238E27FC236}">
                <a16:creationId xmlns:a16="http://schemas.microsoft.com/office/drawing/2014/main" id="{284ECF39-D11F-4BDA-84C8-C21B69EFDA4E}"/>
              </a:ext>
            </a:extLst>
          </p:cNvPr>
          <p:cNvSpPr txBox="1"/>
          <p:nvPr/>
        </p:nvSpPr>
        <p:spPr bwMode="gray">
          <a:xfrm>
            <a:off x="4309725" y="2548417"/>
            <a:ext cx="1010213" cy="338554"/>
          </a:xfrm>
          <a:prstGeom prst="rect">
            <a:avLst/>
          </a:prstGeom>
          <a:noFill/>
        </p:spPr>
        <p:txBody>
          <a:bodyPr wrap="none" rtlCol="0">
            <a:spAutoFit/>
          </a:bodyPr>
          <a:lstStyle/>
          <a:p>
            <a:r>
              <a:rPr lang="en-US" altLang="zh-CN" sz="1600" dirty="0">
                <a:ea typeface="+mn-ea"/>
                <a:cs typeface="Huawei Sans" panose="020C0503030203020204" pitchFamily="34" charset="0"/>
              </a:rPr>
              <a:t>SDN</a:t>
            </a:r>
            <a:r>
              <a:rPr lang="zh-CN" altLang="en-US" sz="1600" dirty="0">
                <a:ea typeface="+mn-ea"/>
                <a:cs typeface="Huawei Sans" panose="020C0503030203020204" pitchFamily="34" charset="0"/>
              </a:rPr>
              <a:t>应用</a:t>
            </a:r>
            <a:endParaRPr lang="en-US" sz="1600" dirty="0">
              <a:ea typeface="+mn-ea"/>
              <a:cs typeface="Huawei Sans" panose="020C0503030203020204" pitchFamily="34" charset="0"/>
            </a:endParaRPr>
          </a:p>
        </p:txBody>
      </p:sp>
      <p:cxnSp>
        <p:nvCxnSpPr>
          <p:cNvPr id="23" name="Straight Arrow Connector 710">
            <a:extLst>
              <a:ext uri="{FF2B5EF4-FFF2-40B4-BE49-F238E27FC236}">
                <a16:creationId xmlns:a16="http://schemas.microsoft.com/office/drawing/2014/main" id="{70015086-2486-49EE-95B7-4B2FEF3C5D76}"/>
              </a:ext>
            </a:extLst>
          </p:cNvPr>
          <p:cNvCxnSpPr>
            <a:cxnSpLocks/>
            <a:stCxn id="103" idx="2"/>
            <a:endCxn id="102" idx="0"/>
          </p:cNvCxnSpPr>
          <p:nvPr/>
        </p:nvCxnSpPr>
        <p:spPr bwMode="gray">
          <a:xfrm>
            <a:off x="6030870" y="2938603"/>
            <a:ext cx="0" cy="518037"/>
          </a:xfrm>
          <a:prstGeom prst="straightConnector1">
            <a:avLst/>
          </a:prstGeom>
          <a:solidFill>
            <a:schemeClr val="accent1"/>
          </a:solidFill>
          <a:ln w="12700" cap="flat" cmpd="sng" algn="ctr">
            <a:solidFill>
              <a:schemeClr val="tx1"/>
            </a:solidFill>
            <a:prstDash val="solid"/>
            <a:round/>
            <a:headEnd type="triangle" w="med" len="med"/>
            <a:tailEnd type="triangle" w="med" len="med"/>
          </a:ln>
          <a:effectLst/>
        </p:spPr>
      </p:cxnSp>
      <p:sp>
        <p:nvSpPr>
          <p:cNvPr id="81" name="TextBox 26">
            <a:extLst>
              <a:ext uri="{FF2B5EF4-FFF2-40B4-BE49-F238E27FC236}">
                <a16:creationId xmlns:a16="http://schemas.microsoft.com/office/drawing/2014/main" id="{6C545BAB-4798-4886-BD3E-5719ED4D1C95}"/>
              </a:ext>
            </a:extLst>
          </p:cNvPr>
          <p:cNvSpPr txBox="1"/>
          <p:nvPr/>
        </p:nvSpPr>
        <p:spPr bwMode="gray">
          <a:xfrm>
            <a:off x="6831834" y="4020723"/>
            <a:ext cx="1138453" cy="338554"/>
          </a:xfrm>
          <a:prstGeom prst="rect">
            <a:avLst/>
          </a:prstGeom>
          <a:noFill/>
        </p:spPr>
        <p:txBody>
          <a:bodyPr wrap="none" rtlCol="0">
            <a:spAutoFit/>
          </a:bodyPr>
          <a:lstStyle/>
          <a:p>
            <a:r>
              <a:rPr lang="en-US" altLang="zh-CN" sz="1600" dirty="0" err="1">
                <a:ea typeface="+mn-ea"/>
                <a:cs typeface="Huawei Sans" panose="020C0503030203020204" pitchFamily="34" charset="0"/>
              </a:rPr>
              <a:t>OpenFlow</a:t>
            </a:r>
            <a:endParaRPr lang="en-US" sz="1600" dirty="0">
              <a:ea typeface="+mn-ea"/>
              <a:cs typeface="Huawei Sans" panose="020C0503030203020204" pitchFamily="34" charset="0"/>
            </a:endParaRPr>
          </a:p>
        </p:txBody>
      </p:sp>
      <p:sp>
        <p:nvSpPr>
          <p:cNvPr id="9" name="Rectangle 712">
            <a:extLst>
              <a:ext uri="{FF2B5EF4-FFF2-40B4-BE49-F238E27FC236}">
                <a16:creationId xmlns:a16="http://schemas.microsoft.com/office/drawing/2014/main" id="{925C0E6F-8732-4F94-9B3B-77D13700D421}"/>
              </a:ext>
            </a:extLst>
          </p:cNvPr>
          <p:cNvSpPr/>
          <p:nvPr/>
        </p:nvSpPr>
        <p:spPr bwMode="gray">
          <a:xfrm>
            <a:off x="10272734" y="3448916"/>
            <a:ext cx="992615" cy="473933"/>
          </a:xfrm>
          <a:prstGeom prst="rect">
            <a:avLst/>
          </a:prstGeom>
          <a:solidFill>
            <a:srgbClr val="BEE9EE"/>
          </a:solidFill>
          <a:ln w="9525" cap="flat" cmpd="sng" algn="ctr">
            <a:noFill/>
            <a:prstDash val="solid"/>
            <a:round/>
            <a:headEnd type="none" w="med" len="med"/>
            <a:tailEnd type="none" w="med" len="med"/>
          </a:ln>
          <a:effectLst/>
        </p:spPr>
        <p:txBody>
          <a:bodyPr vert="horz" wrap="square" lIns="68562" tIns="34281" rIns="68562" bIns="34281" numCol="1" rtlCol="0" anchor="ctr" anchorCtr="0" compatLnSpc="1">
            <a:prstTxWarp prst="textNoShape">
              <a:avLst/>
            </a:prstTxWarp>
          </a:bodyPr>
          <a:lstStyle/>
          <a:p>
            <a:pPr algn="ctr" defTabSz="685617"/>
            <a:r>
              <a:rPr lang="zh-CN" altLang="en-US" sz="1600">
                <a:cs typeface="Arial" pitchFamily="34" charset="0"/>
              </a:rPr>
              <a:t>控制平面</a:t>
            </a:r>
            <a:endParaRPr lang="en-US" sz="1600" dirty="0">
              <a:cs typeface="Arial" pitchFamily="34" charset="0"/>
            </a:endParaRPr>
          </a:p>
        </p:txBody>
      </p:sp>
      <p:sp>
        <p:nvSpPr>
          <p:cNvPr id="10" name="Rectangle 713">
            <a:extLst>
              <a:ext uri="{FF2B5EF4-FFF2-40B4-BE49-F238E27FC236}">
                <a16:creationId xmlns:a16="http://schemas.microsoft.com/office/drawing/2014/main" id="{3DB3F06F-7DC7-4848-9243-919215EE1BE2}"/>
              </a:ext>
            </a:extLst>
          </p:cNvPr>
          <p:cNvSpPr/>
          <p:nvPr/>
        </p:nvSpPr>
        <p:spPr bwMode="gray">
          <a:xfrm>
            <a:off x="10275568" y="4730543"/>
            <a:ext cx="986944" cy="447221"/>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square" lIns="68562" tIns="34281" rIns="68562" bIns="34281" numCol="1" rtlCol="0" anchor="ctr" anchorCtr="0" compatLnSpc="1">
            <a:prstTxWarp prst="textNoShape">
              <a:avLst/>
            </a:prstTxWarp>
          </a:bodyPr>
          <a:lstStyle/>
          <a:p>
            <a:pPr algn="ctr" defTabSz="685617"/>
            <a:r>
              <a:rPr lang="zh-CN" altLang="en-US" sz="1600">
                <a:cs typeface="Huawei Sans" panose="020C0503030203020204" pitchFamily="34" charset="0"/>
              </a:rPr>
              <a:t>转发平面</a:t>
            </a:r>
            <a:endParaRPr lang="en-US" sz="1600" dirty="0">
              <a:cs typeface="Huawei Sans" panose="020C0503030203020204" pitchFamily="34" charset="0"/>
            </a:endParaRPr>
          </a:p>
        </p:txBody>
      </p:sp>
      <p:sp>
        <p:nvSpPr>
          <p:cNvPr id="6" name="Rectangle 7">
            <a:extLst>
              <a:ext uri="{FF2B5EF4-FFF2-40B4-BE49-F238E27FC236}">
                <a16:creationId xmlns:a16="http://schemas.microsoft.com/office/drawing/2014/main" id="{B23AD41A-AAE6-4062-AE5F-0C8F188C504E}"/>
              </a:ext>
            </a:extLst>
          </p:cNvPr>
          <p:cNvSpPr/>
          <p:nvPr/>
        </p:nvSpPr>
        <p:spPr bwMode="gray">
          <a:xfrm>
            <a:off x="1502597" y="4302113"/>
            <a:ext cx="1003894" cy="44280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square" lIns="68562" tIns="34281" rIns="68562" bIns="34281" numCol="1" rtlCol="0" anchor="ctr" anchorCtr="0" compatLnSpc="1">
            <a:prstTxWarp prst="textNoShape">
              <a:avLst/>
            </a:prstTxWarp>
          </a:bodyPr>
          <a:lstStyle/>
          <a:p>
            <a:pPr algn="ctr" defTabSz="685617"/>
            <a:r>
              <a:rPr lang="zh-CN" altLang="en-US" sz="1600" dirty="0">
                <a:cs typeface="Huawei Sans" panose="020C0503030203020204" pitchFamily="34" charset="0"/>
              </a:rPr>
              <a:t>转发</a:t>
            </a:r>
            <a:r>
              <a:rPr lang="zh-CN" altLang="en-US" sz="1600" dirty="0">
                <a:ea typeface="+mn-ea"/>
                <a:cs typeface="Huawei Sans" panose="020C0503030203020204" pitchFamily="34" charset="0"/>
              </a:rPr>
              <a:t>平面</a:t>
            </a:r>
            <a:endParaRPr lang="en-US" sz="1600" dirty="0">
              <a:ea typeface="+mn-ea"/>
              <a:cs typeface="Huawei Sans" panose="020C0503030203020204" pitchFamily="34" charset="0"/>
            </a:endParaRPr>
          </a:p>
        </p:txBody>
      </p:sp>
      <p:sp>
        <p:nvSpPr>
          <p:cNvPr id="7" name="Rectangle 8">
            <a:extLst>
              <a:ext uri="{FF2B5EF4-FFF2-40B4-BE49-F238E27FC236}">
                <a16:creationId xmlns:a16="http://schemas.microsoft.com/office/drawing/2014/main" id="{ACE11A1B-6AE1-435B-B5A6-62FD268028A0}"/>
              </a:ext>
            </a:extLst>
          </p:cNvPr>
          <p:cNvSpPr/>
          <p:nvPr/>
        </p:nvSpPr>
        <p:spPr bwMode="gray">
          <a:xfrm>
            <a:off x="1502597" y="3871612"/>
            <a:ext cx="1003894" cy="430504"/>
          </a:xfrm>
          <a:prstGeom prst="rect">
            <a:avLst/>
          </a:prstGeom>
          <a:solidFill>
            <a:srgbClr val="BEE9EE"/>
          </a:solidFill>
          <a:ln w="9525" cap="flat" cmpd="sng" algn="ctr">
            <a:noFill/>
            <a:prstDash val="solid"/>
            <a:round/>
            <a:headEnd type="none" w="med" len="med"/>
            <a:tailEnd type="none" w="med" len="med"/>
          </a:ln>
          <a:effectLst/>
        </p:spPr>
        <p:txBody>
          <a:bodyPr vert="horz" wrap="square" lIns="68562" tIns="34281" rIns="68562" bIns="34281" numCol="1" rtlCol="0" anchor="ctr" anchorCtr="0" compatLnSpc="1">
            <a:prstTxWarp prst="textNoShape">
              <a:avLst/>
            </a:prstTxWarp>
          </a:bodyPr>
          <a:lstStyle/>
          <a:p>
            <a:pPr algn="ctr" defTabSz="685617"/>
            <a:r>
              <a:rPr lang="zh-CN" altLang="en-US" sz="1600" dirty="0">
                <a:cs typeface="Arial" pitchFamily="34" charset="0"/>
              </a:rPr>
              <a:t>控制平面</a:t>
            </a:r>
            <a:endParaRPr lang="en-US" sz="1600" dirty="0">
              <a:cs typeface="Arial" pitchFamily="34" charset="0"/>
            </a:endParaRPr>
          </a:p>
        </p:txBody>
      </p:sp>
      <p:pic>
        <p:nvPicPr>
          <p:cNvPr id="84" name="图片 83">
            <a:extLst>
              <a:ext uri="{FF2B5EF4-FFF2-40B4-BE49-F238E27FC236}">
                <a16:creationId xmlns:a16="http://schemas.microsoft.com/office/drawing/2014/main" id="{96A52022-53EB-4469-831A-A75A01DF883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13433" y="4553745"/>
            <a:ext cx="540000" cy="442800"/>
          </a:xfrm>
          <a:prstGeom prst="rect">
            <a:avLst/>
          </a:prstGeom>
        </p:spPr>
      </p:pic>
      <p:pic>
        <p:nvPicPr>
          <p:cNvPr id="102" name="图片 101">
            <a:extLst>
              <a:ext uri="{FF2B5EF4-FFF2-40B4-BE49-F238E27FC236}">
                <a16:creationId xmlns:a16="http://schemas.microsoft.com/office/drawing/2014/main" id="{04274C7E-81DD-41E0-B65F-A9F90831702F}"/>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760870" y="3456640"/>
            <a:ext cx="540000" cy="442800"/>
          </a:xfrm>
          <a:prstGeom prst="rect">
            <a:avLst/>
          </a:prstGeom>
        </p:spPr>
      </p:pic>
      <p:pic>
        <p:nvPicPr>
          <p:cNvPr id="103" name="图片 38" descr="交换机.png">
            <a:extLst>
              <a:ext uri="{FF2B5EF4-FFF2-40B4-BE49-F238E27FC236}">
                <a16:creationId xmlns:a16="http://schemas.microsoft.com/office/drawing/2014/main" id="{0E6F89A5-404C-4FB7-BB2B-C94E8788AE70}"/>
              </a:ext>
            </a:extLst>
          </p:cNvPr>
          <p:cNvPicPr>
            <a:picLocks noChangeAspect="1"/>
          </p:cNvPicPr>
          <p:nvPr/>
        </p:nvPicPr>
        <p:blipFill>
          <a:blip r:embed="rId5" cstate="print"/>
          <a:stretch>
            <a:fillRect/>
          </a:stretch>
        </p:blipFill>
        <p:spPr bwMode="gray">
          <a:xfrm>
            <a:off x="5760870" y="2496786"/>
            <a:ext cx="540000" cy="441817"/>
          </a:xfrm>
          <a:prstGeom prst="rect">
            <a:avLst/>
          </a:prstGeom>
        </p:spPr>
      </p:pic>
      <p:cxnSp>
        <p:nvCxnSpPr>
          <p:cNvPr id="16" name="Straight Arrow Connector 629">
            <a:extLst>
              <a:ext uri="{FF2B5EF4-FFF2-40B4-BE49-F238E27FC236}">
                <a16:creationId xmlns:a16="http://schemas.microsoft.com/office/drawing/2014/main" id="{F1D17673-928F-4DD4-BA30-2E581A807C15}"/>
              </a:ext>
            </a:extLst>
          </p:cNvPr>
          <p:cNvCxnSpPr>
            <a:cxnSpLocks/>
            <a:stCxn id="102" idx="2"/>
            <a:endCxn id="89" idx="0"/>
          </p:cNvCxnSpPr>
          <p:nvPr/>
        </p:nvCxnSpPr>
        <p:spPr bwMode="gray">
          <a:xfrm flipH="1">
            <a:off x="4552853" y="3899440"/>
            <a:ext cx="1478017" cy="772998"/>
          </a:xfrm>
          <a:prstGeom prst="straightConnector1">
            <a:avLst/>
          </a:prstGeom>
          <a:solidFill>
            <a:schemeClr val="accent1"/>
          </a:solidFill>
          <a:ln w="12700" cap="flat" cmpd="sng" algn="ctr">
            <a:solidFill>
              <a:schemeClr val="tx1"/>
            </a:solidFill>
            <a:prstDash val="solid"/>
            <a:round/>
            <a:headEnd type="triangle" w="med" len="med"/>
            <a:tailEnd type="triangle" w="med" len="med"/>
          </a:ln>
          <a:effectLst/>
        </p:spPr>
      </p:cxnSp>
      <p:sp>
        <p:nvSpPr>
          <p:cNvPr id="119" name="TextBox 19">
            <a:extLst>
              <a:ext uri="{FF2B5EF4-FFF2-40B4-BE49-F238E27FC236}">
                <a16:creationId xmlns:a16="http://schemas.microsoft.com/office/drawing/2014/main" id="{A539B53D-768D-4CFB-AF34-053D389D8D51}"/>
              </a:ext>
            </a:extLst>
          </p:cNvPr>
          <p:cNvSpPr txBox="1"/>
          <p:nvPr/>
        </p:nvSpPr>
        <p:spPr bwMode="gray">
          <a:xfrm>
            <a:off x="7857973" y="5265791"/>
            <a:ext cx="2881686" cy="584775"/>
          </a:xfrm>
          <a:prstGeom prst="rect">
            <a:avLst/>
          </a:prstGeom>
          <a:noFill/>
        </p:spPr>
        <p:txBody>
          <a:bodyPr wrap="none" rtlCol="0">
            <a:spAutoFit/>
          </a:bodyPr>
          <a:lstStyle/>
          <a:p>
            <a:r>
              <a:rPr lang="en-US" sz="1600" dirty="0" err="1">
                <a:ea typeface="+mn-ea"/>
                <a:cs typeface="Huawei Sans" panose="020C0503030203020204" pitchFamily="34" charset="0"/>
              </a:rPr>
              <a:t>O</a:t>
            </a:r>
            <a:r>
              <a:rPr lang="en-US" altLang="zh-CN" sz="1600" dirty="0" err="1">
                <a:ea typeface="+mn-ea"/>
                <a:cs typeface="Huawei Sans" panose="020C0503030203020204" pitchFamily="34" charset="0"/>
              </a:rPr>
              <a:t>penFlow</a:t>
            </a:r>
            <a:r>
              <a:rPr lang="zh-CN" altLang="en-US" sz="1600" dirty="0">
                <a:ea typeface="+mn-ea"/>
                <a:cs typeface="Huawei Sans" panose="020C0503030203020204" pitchFamily="34" charset="0"/>
              </a:rPr>
              <a:t>交换机仅有数据平面</a:t>
            </a:r>
            <a:endParaRPr lang="en-US" altLang="zh-CN" sz="1600" dirty="0">
              <a:ea typeface="+mn-ea"/>
              <a:cs typeface="Huawei Sans" panose="020C0503030203020204" pitchFamily="34" charset="0"/>
            </a:endParaRPr>
          </a:p>
          <a:p>
            <a:r>
              <a:rPr lang="zh-CN" altLang="en-US" sz="1600" dirty="0">
                <a:cs typeface="Huawei Sans" panose="020C0503030203020204" pitchFamily="34" charset="0"/>
              </a:rPr>
              <a:t>（只保留流表）</a:t>
            </a:r>
            <a:endParaRPr lang="en-US" sz="1600" dirty="0">
              <a:ea typeface="+mn-ea"/>
              <a:cs typeface="Huawei Sans" panose="020C0503030203020204" pitchFamily="34" charset="0"/>
            </a:endParaRPr>
          </a:p>
        </p:txBody>
      </p:sp>
      <p:cxnSp>
        <p:nvCxnSpPr>
          <p:cNvPr id="121" name="直接连接符 120">
            <a:extLst>
              <a:ext uri="{FF2B5EF4-FFF2-40B4-BE49-F238E27FC236}">
                <a16:creationId xmlns:a16="http://schemas.microsoft.com/office/drawing/2014/main" id="{E9937E6E-5B09-4FE8-AF77-6F47E700562F}"/>
              </a:ext>
            </a:extLst>
          </p:cNvPr>
          <p:cNvCxnSpPr>
            <a:cxnSpLocks/>
            <a:stCxn id="115" idx="6"/>
            <a:endCxn id="10" idx="1"/>
          </p:cNvCxnSpPr>
          <p:nvPr/>
        </p:nvCxnSpPr>
        <p:spPr bwMode="gray">
          <a:xfrm flipV="1">
            <a:off x="8510809" y="4954154"/>
            <a:ext cx="1764759" cy="8436"/>
          </a:xfrm>
          <a:prstGeom prst="line">
            <a:avLst/>
          </a:prstGeom>
          <a:ln w="19050">
            <a:solidFill>
              <a:srgbClr val="EC7061"/>
            </a:solidFill>
            <a:prstDash val="sysDash"/>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4D1CA0EA-A17A-44BF-BE03-A8CAA79C66C7}"/>
              </a:ext>
            </a:extLst>
          </p:cNvPr>
          <p:cNvCxnSpPr>
            <a:cxnSpLocks/>
            <a:stCxn id="102" idx="3"/>
            <a:endCxn id="9" idx="1"/>
          </p:cNvCxnSpPr>
          <p:nvPr/>
        </p:nvCxnSpPr>
        <p:spPr bwMode="gray">
          <a:xfrm>
            <a:off x="6300870" y="3678040"/>
            <a:ext cx="3971864" cy="7843"/>
          </a:xfrm>
          <a:prstGeom prst="line">
            <a:avLst/>
          </a:prstGeom>
          <a:ln w="19050">
            <a:solidFill>
              <a:srgbClr val="94DAE2"/>
            </a:solidFill>
            <a:prstDash val="sysDash"/>
          </a:ln>
        </p:spPr>
        <p:style>
          <a:lnRef idx="1">
            <a:schemeClr val="accent1"/>
          </a:lnRef>
          <a:fillRef idx="0">
            <a:schemeClr val="accent1"/>
          </a:fillRef>
          <a:effectRef idx="0">
            <a:schemeClr val="accent1"/>
          </a:effectRef>
          <a:fontRef idx="minor">
            <a:schemeClr val="tx1"/>
          </a:fontRef>
        </p:style>
      </p:cxnSp>
      <p:sp>
        <p:nvSpPr>
          <p:cNvPr id="130" name="TextBox 19">
            <a:extLst>
              <a:ext uri="{FF2B5EF4-FFF2-40B4-BE49-F238E27FC236}">
                <a16:creationId xmlns:a16="http://schemas.microsoft.com/office/drawing/2014/main" id="{9BB51638-6563-4F09-B203-6D7A20F991FE}"/>
              </a:ext>
            </a:extLst>
          </p:cNvPr>
          <p:cNvSpPr txBox="1"/>
          <p:nvPr/>
        </p:nvSpPr>
        <p:spPr bwMode="gray">
          <a:xfrm>
            <a:off x="7214917" y="3081500"/>
            <a:ext cx="2441694" cy="584775"/>
          </a:xfrm>
          <a:prstGeom prst="rect">
            <a:avLst/>
          </a:prstGeom>
          <a:noFill/>
        </p:spPr>
        <p:txBody>
          <a:bodyPr wrap="none" rtlCol="0">
            <a:spAutoFit/>
          </a:bodyPr>
          <a:lstStyle/>
          <a:p>
            <a:r>
              <a:rPr lang="zh-CN" altLang="en-US" sz="1600" dirty="0">
                <a:cs typeface="Huawei Sans" panose="020C0503030203020204" pitchFamily="34" charset="0"/>
              </a:rPr>
              <a:t>控制面功能由控制器提供</a:t>
            </a:r>
            <a:endParaRPr lang="en-US" altLang="zh-CN" sz="1600" dirty="0">
              <a:cs typeface="Huawei Sans" panose="020C0503030203020204" pitchFamily="34" charset="0"/>
            </a:endParaRPr>
          </a:p>
          <a:p>
            <a:r>
              <a:rPr lang="zh-CN" altLang="en-US" sz="1600" dirty="0">
                <a:ea typeface="+mn-ea"/>
                <a:cs typeface="Huawei Sans" panose="020C0503030203020204" pitchFamily="34" charset="0"/>
              </a:rPr>
              <a:t>（集中控制）</a:t>
            </a:r>
            <a:endParaRPr lang="en-US" sz="1600" dirty="0">
              <a:ea typeface="+mn-ea"/>
              <a:cs typeface="Huawei Sans" panose="020C0503030203020204" pitchFamily="34" charset="0"/>
            </a:endParaRPr>
          </a:p>
        </p:txBody>
      </p:sp>
      <p:sp>
        <p:nvSpPr>
          <p:cNvPr id="133" name="TextBox 19">
            <a:extLst>
              <a:ext uri="{FF2B5EF4-FFF2-40B4-BE49-F238E27FC236}">
                <a16:creationId xmlns:a16="http://schemas.microsoft.com/office/drawing/2014/main" id="{41560703-5FC7-4117-B6DE-8F0F5B795FDE}"/>
              </a:ext>
            </a:extLst>
          </p:cNvPr>
          <p:cNvSpPr txBox="1"/>
          <p:nvPr/>
        </p:nvSpPr>
        <p:spPr bwMode="gray">
          <a:xfrm>
            <a:off x="8157170" y="4154762"/>
            <a:ext cx="1959191" cy="338554"/>
          </a:xfrm>
          <a:prstGeom prst="rect">
            <a:avLst/>
          </a:prstGeom>
          <a:noFill/>
        </p:spPr>
        <p:txBody>
          <a:bodyPr wrap="none" rtlCol="0">
            <a:spAutoFit/>
          </a:bodyPr>
          <a:lstStyle/>
          <a:p>
            <a:r>
              <a:rPr lang="en-US" altLang="zh-CN" sz="1600" dirty="0" err="1">
                <a:cs typeface="Huawei Sans" panose="020C0503030203020204" pitchFamily="34" charset="0"/>
              </a:rPr>
              <a:t>OpenFlow</a:t>
            </a:r>
            <a:r>
              <a:rPr lang="zh-CN" altLang="en-US" sz="1600" dirty="0">
                <a:cs typeface="Huawei Sans" panose="020C0503030203020204" pitchFamily="34" charset="0"/>
              </a:rPr>
              <a:t>协议互联</a:t>
            </a:r>
            <a:endParaRPr lang="en-US" sz="1600" dirty="0">
              <a:ea typeface="+mn-ea"/>
              <a:cs typeface="Huawei Sans" panose="020C0503030203020204" pitchFamily="34" charset="0"/>
            </a:endParaRPr>
          </a:p>
        </p:txBody>
      </p:sp>
      <p:cxnSp>
        <p:nvCxnSpPr>
          <p:cNvPr id="135" name="直接箭头连接符 134">
            <a:extLst>
              <a:ext uri="{FF2B5EF4-FFF2-40B4-BE49-F238E27FC236}">
                <a16:creationId xmlns:a16="http://schemas.microsoft.com/office/drawing/2014/main" id="{758E3BF0-8498-4651-A7B0-F422F443E6F5}"/>
              </a:ext>
            </a:extLst>
          </p:cNvPr>
          <p:cNvCxnSpPr>
            <a:stCxn id="9" idx="2"/>
            <a:endCxn id="10" idx="0"/>
          </p:cNvCxnSpPr>
          <p:nvPr/>
        </p:nvCxnSpPr>
        <p:spPr bwMode="gray">
          <a:xfrm flipH="1">
            <a:off x="10769040" y="3922849"/>
            <a:ext cx="2" cy="807694"/>
          </a:xfrm>
          <a:prstGeom prst="straightConnector1">
            <a:avLst/>
          </a:prstGeom>
          <a:ln w="38100">
            <a:solidFill>
              <a:srgbClr val="94DAE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Right Arrow 157"/>
          <p:cNvSpPr/>
          <p:nvPr/>
        </p:nvSpPr>
        <p:spPr bwMode="gray">
          <a:xfrm>
            <a:off x="2867390" y="4423342"/>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5875">
            <a:gradFill flip="none" rotWithShape="1">
              <a:gsLst>
                <a:gs pos="0">
                  <a:schemeClr val="accent1">
                    <a:lumMod val="5000"/>
                    <a:lumOff val="95000"/>
                  </a:schemeClr>
                </a:gs>
                <a:gs pos="100000">
                  <a:srgbClr val="56C4D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07517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5D1D86-B34E-4F5F-B673-E9AF5B53E77A}"/>
              </a:ext>
            </a:extLst>
          </p:cNvPr>
          <p:cNvSpPr>
            <a:spLocks noGrp="1"/>
          </p:cNvSpPr>
          <p:nvPr>
            <p:ph type="title"/>
          </p:nvPr>
        </p:nvSpPr>
        <p:spPr bwMode="gray"/>
        <p:txBody>
          <a:bodyPr/>
          <a:lstStyle/>
          <a:p>
            <a:r>
              <a:rPr lang="en-US" altLang="zh-CN"/>
              <a:t>SDN</a:t>
            </a:r>
            <a:r>
              <a:rPr lang="zh-CN" altLang="en-US"/>
              <a:t>的本质诉求</a:t>
            </a:r>
          </a:p>
        </p:txBody>
      </p:sp>
      <p:sp>
        <p:nvSpPr>
          <p:cNvPr id="7" name="文本占位符 6"/>
          <p:cNvSpPr>
            <a:spLocks noGrp="1"/>
          </p:cNvSpPr>
          <p:nvPr>
            <p:ph type="body" sz="quarter" idx="10"/>
          </p:nvPr>
        </p:nvSpPr>
        <p:spPr bwMode="gray"/>
        <p:txBody>
          <a:bodyPr/>
          <a:lstStyle/>
          <a:p>
            <a:r>
              <a:rPr lang="en-US" altLang="zh-CN" sz="1800" dirty="0"/>
              <a:t>SDN</a:t>
            </a:r>
            <a:r>
              <a:rPr lang="zh-CN" altLang="en-US" sz="1800" dirty="0"/>
              <a:t>的本质诉求是让网络更加开放、灵活和简单。它的实现方式是为网络构建一个集中的大脑，通过全局视图集中控制，实现或业务快速部署、或流量调优、或网络业务开放等目标。</a:t>
            </a:r>
          </a:p>
          <a:p>
            <a:r>
              <a:rPr lang="en-US" altLang="zh-CN" sz="1800" dirty="0"/>
              <a:t>SDN</a:t>
            </a:r>
            <a:r>
              <a:rPr lang="zh-CN" altLang="en-US" sz="1800" dirty="0"/>
              <a:t>的价值是：</a:t>
            </a:r>
          </a:p>
          <a:p>
            <a:pPr lvl="1"/>
            <a:r>
              <a:rPr lang="zh-CN" altLang="en-US" sz="1600" dirty="0"/>
              <a:t>集中管理，简化网络管理与运维；</a:t>
            </a:r>
          </a:p>
          <a:p>
            <a:pPr lvl="1"/>
            <a:r>
              <a:rPr lang="zh-CN" altLang="en-US" sz="1600" dirty="0"/>
              <a:t>屏蔽技术细节，降低网络复杂度，降低运维成本；</a:t>
            </a:r>
          </a:p>
          <a:p>
            <a:pPr lvl="1"/>
            <a:r>
              <a:rPr lang="zh-CN" altLang="en-US" sz="1600" dirty="0"/>
              <a:t>自动化调优，提高网络利用率；</a:t>
            </a:r>
          </a:p>
          <a:p>
            <a:pPr lvl="1"/>
            <a:r>
              <a:rPr lang="zh-CN" altLang="en-US" sz="1600" dirty="0"/>
              <a:t>快速业务部署，缩短业务上线时间；</a:t>
            </a:r>
          </a:p>
          <a:p>
            <a:pPr lvl="1"/>
            <a:r>
              <a:rPr lang="zh-CN" altLang="en-US" sz="1600" dirty="0"/>
              <a:t>网络开放，支撑开放可编程的第三方应用。</a:t>
            </a:r>
          </a:p>
          <a:p>
            <a:pPr lvl="1"/>
            <a:endParaRPr lang="zh-CN" altLang="en-US" sz="1600" dirty="0"/>
          </a:p>
        </p:txBody>
      </p:sp>
      <p:sp>
        <p:nvSpPr>
          <p:cNvPr id="3" name="Content Placeholder 2">
            <a:extLst>
              <a:ext uri="{FF2B5EF4-FFF2-40B4-BE49-F238E27FC236}">
                <a16:creationId xmlns:a16="http://schemas.microsoft.com/office/drawing/2014/main" id="{4C093C66-9AE4-4E03-BDAF-465825666935}"/>
              </a:ext>
            </a:extLst>
          </p:cNvPr>
          <p:cNvSpPr txBox="1">
            <a:spLocks/>
          </p:cNvSpPr>
          <p:nvPr/>
        </p:nvSpPr>
        <p:spPr bwMode="gray">
          <a:xfrm>
            <a:off x="446088" y="1233488"/>
            <a:ext cx="11299825" cy="3255385"/>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4" name="圆角矩形 75">
            <a:extLst>
              <a:ext uri="{FF2B5EF4-FFF2-40B4-BE49-F238E27FC236}">
                <a16:creationId xmlns:a16="http://schemas.microsoft.com/office/drawing/2014/main" id="{D86EE791-43AE-4604-A4B6-132C68E9FAE9}"/>
              </a:ext>
            </a:extLst>
          </p:cNvPr>
          <p:cNvSpPr/>
          <p:nvPr/>
        </p:nvSpPr>
        <p:spPr bwMode="gray">
          <a:xfrm>
            <a:off x="4407725" y="5220201"/>
            <a:ext cx="3968179" cy="502787"/>
          </a:xfrm>
          <a:prstGeom prst="roundRect">
            <a:avLst>
              <a:gd name="adj" fmla="val 10604"/>
            </a:avLst>
          </a:prstGeom>
          <a:solidFill>
            <a:srgbClr val="BEE9EE"/>
          </a:solidFill>
          <a:ln>
            <a:solidFill>
              <a:srgbClr val="94DAE2"/>
            </a:solidFill>
          </a:ln>
        </p:spPr>
        <p:txBody>
          <a:bodyPr wrap="square" rtlCol="0" anchor="ctr" anchorCtr="0">
            <a:noAutofit/>
          </a:bodyPr>
          <a:lstStyle/>
          <a:p>
            <a:pPr algn="ctr" fontAlgn="auto">
              <a:spcBef>
                <a:spcPts val="0"/>
              </a:spcBef>
              <a:spcAft>
                <a:spcPts val="0"/>
              </a:spcAft>
            </a:pPr>
            <a:r>
              <a:rPr lang="en-US" altLang="zh-CN" sz="2000" b="1" dirty="0"/>
              <a:t>SDN</a:t>
            </a:r>
            <a:r>
              <a:rPr lang="zh-CN" altLang="en-US" sz="2000" b="1" dirty="0"/>
              <a:t>带来了网络架构的变革。</a:t>
            </a:r>
          </a:p>
        </p:txBody>
      </p:sp>
    </p:spTree>
    <p:extLst>
      <p:ext uri="{BB962C8B-B14F-4D97-AF65-F5344CB8AC3E}">
        <p14:creationId xmlns:p14="http://schemas.microsoft.com/office/powerpoint/2010/main" val="3595464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B3A48F12-D69F-4B46-8C75-7BA6C0C8428B}"/>
              </a:ext>
            </a:extLst>
          </p:cNvPr>
          <p:cNvSpPr/>
          <p:nvPr/>
        </p:nvSpPr>
        <p:spPr bwMode="gray">
          <a:xfrm>
            <a:off x="1252983" y="3554442"/>
            <a:ext cx="9140697" cy="951668"/>
          </a:xfrm>
          <a:prstGeom prst="rect">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40" name="矩形 39">
            <a:extLst>
              <a:ext uri="{FF2B5EF4-FFF2-40B4-BE49-F238E27FC236}">
                <a16:creationId xmlns:a16="http://schemas.microsoft.com/office/drawing/2014/main" id="{C2C51838-5229-4ACB-BEB0-DB62D82CBD9B}"/>
              </a:ext>
            </a:extLst>
          </p:cNvPr>
          <p:cNvSpPr/>
          <p:nvPr/>
        </p:nvSpPr>
        <p:spPr bwMode="gray">
          <a:xfrm>
            <a:off x="1252983" y="4865467"/>
            <a:ext cx="9140697" cy="932908"/>
          </a:xfrm>
          <a:prstGeom prst="rect">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2" name="标题 1">
            <a:extLst>
              <a:ext uri="{FF2B5EF4-FFF2-40B4-BE49-F238E27FC236}">
                <a16:creationId xmlns:a16="http://schemas.microsoft.com/office/drawing/2014/main" id="{652E8BB6-9A9E-4961-A5E3-2A659AC971A0}"/>
              </a:ext>
            </a:extLst>
          </p:cNvPr>
          <p:cNvSpPr>
            <a:spLocks noGrp="1"/>
          </p:cNvSpPr>
          <p:nvPr>
            <p:ph type="title"/>
          </p:nvPr>
        </p:nvSpPr>
        <p:spPr bwMode="gray"/>
        <p:txBody>
          <a:bodyPr/>
          <a:lstStyle/>
          <a:p>
            <a:r>
              <a:rPr lang="en-US" altLang="zh-CN"/>
              <a:t>SDN</a:t>
            </a:r>
            <a:r>
              <a:rPr lang="zh-CN" altLang="en-US"/>
              <a:t>网络架构</a:t>
            </a:r>
          </a:p>
        </p:txBody>
      </p:sp>
      <p:sp>
        <p:nvSpPr>
          <p:cNvPr id="7" name="文本占位符 6"/>
          <p:cNvSpPr>
            <a:spLocks noGrp="1"/>
          </p:cNvSpPr>
          <p:nvPr>
            <p:ph type="body" sz="quarter" idx="10"/>
          </p:nvPr>
        </p:nvSpPr>
        <p:spPr bwMode="gray"/>
        <p:txBody>
          <a:bodyPr/>
          <a:lstStyle/>
          <a:p>
            <a:r>
              <a:rPr lang="en-US" altLang="zh-CN" sz="1800"/>
              <a:t>SDN</a:t>
            </a:r>
            <a:r>
              <a:rPr lang="zh-CN" altLang="en-US" sz="1800" dirty="0"/>
              <a:t>网络架构分为协同应用层、控制器层和设备层。不同层次之间通过开放接口连接。以控制器层为主要视角，区分面向设备层的南向接口和面向协同应用层的北向接口。</a:t>
            </a:r>
            <a:r>
              <a:rPr lang="en-US" altLang="zh-CN" sz="1800" dirty="0" err="1"/>
              <a:t>OpenFlow</a:t>
            </a:r>
            <a:r>
              <a:rPr lang="zh-CN" altLang="en-US" sz="1800" dirty="0"/>
              <a:t>属于南向接口协议的一种。</a:t>
            </a:r>
          </a:p>
          <a:p>
            <a:endParaRPr lang="zh-CN" altLang="en-US" sz="1800" dirty="0"/>
          </a:p>
        </p:txBody>
      </p:sp>
      <p:pic>
        <p:nvPicPr>
          <p:cNvPr id="3" name="图片 2">
            <a:extLst>
              <a:ext uri="{FF2B5EF4-FFF2-40B4-BE49-F238E27FC236}">
                <a16:creationId xmlns:a16="http://schemas.microsoft.com/office/drawing/2014/main" id="{3B8CDDA5-63DF-4EE7-B505-8033BAF90E8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239039" y="3747867"/>
            <a:ext cx="540000" cy="442800"/>
          </a:xfrm>
          <a:prstGeom prst="rect">
            <a:avLst/>
          </a:prstGeom>
        </p:spPr>
      </p:pic>
      <p:grpSp>
        <p:nvGrpSpPr>
          <p:cNvPr id="21" name="组合 20">
            <a:extLst>
              <a:ext uri="{FF2B5EF4-FFF2-40B4-BE49-F238E27FC236}">
                <a16:creationId xmlns:a16="http://schemas.microsoft.com/office/drawing/2014/main" id="{F0136E46-F74B-45B7-B481-CA82C6241038}"/>
              </a:ext>
            </a:extLst>
          </p:cNvPr>
          <p:cNvGrpSpPr/>
          <p:nvPr/>
        </p:nvGrpSpPr>
        <p:grpSpPr bwMode="gray">
          <a:xfrm>
            <a:off x="2546237" y="5162149"/>
            <a:ext cx="5925604" cy="442800"/>
            <a:chOff x="1894208" y="5059936"/>
            <a:chExt cx="5925604" cy="442800"/>
          </a:xfrm>
        </p:grpSpPr>
        <p:pic>
          <p:nvPicPr>
            <p:cNvPr id="6" name="图片 5">
              <a:extLst>
                <a:ext uri="{FF2B5EF4-FFF2-40B4-BE49-F238E27FC236}">
                  <a16:creationId xmlns:a16="http://schemas.microsoft.com/office/drawing/2014/main" id="{81E880FD-D2C9-4636-8203-DF9F2EC7D4E0}"/>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894208" y="5059936"/>
              <a:ext cx="540000" cy="442800"/>
            </a:xfrm>
            <a:prstGeom prst="rect">
              <a:avLst/>
            </a:prstGeom>
          </p:spPr>
        </p:pic>
        <p:pic>
          <p:nvPicPr>
            <p:cNvPr id="10" name="图片 9">
              <a:extLst>
                <a:ext uri="{FF2B5EF4-FFF2-40B4-BE49-F238E27FC236}">
                  <a16:creationId xmlns:a16="http://schemas.microsoft.com/office/drawing/2014/main" id="{A8222618-EF15-4BC6-BCEF-EB3D0E022919}"/>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689409" y="5059936"/>
              <a:ext cx="540000" cy="442800"/>
            </a:xfrm>
            <a:prstGeom prst="rect">
              <a:avLst/>
            </a:prstGeom>
          </p:spPr>
        </p:pic>
        <p:pic>
          <p:nvPicPr>
            <p:cNvPr id="11" name="图片 10">
              <a:extLst>
                <a:ext uri="{FF2B5EF4-FFF2-40B4-BE49-F238E27FC236}">
                  <a16:creationId xmlns:a16="http://schemas.microsoft.com/office/drawing/2014/main" id="{5265D75E-B25C-4E5E-B104-CBF5EE50B245}"/>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484610" y="5059936"/>
              <a:ext cx="540000" cy="442800"/>
            </a:xfrm>
            <a:prstGeom prst="rect">
              <a:avLst/>
            </a:prstGeom>
          </p:spPr>
        </p:pic>
        <p:pic>
          <p:nvPicPr>
            <p:cNvPr id="12" name="图片 11">
              <a:extLst>
                <a:ext uri="{FF2B5EF4-FFF2-40B4-BE49-F238E27FC236}">
                  <a16:creationId xmlns:a16="http://schemas.microsoft.com/office/drawing/2014/main" id="{C0F9AAD6-31A1-4162-9492-764C37D5202C}"/>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279812" y="5059936"/>
              <a:ext cx="540000" cy="442800"/>
            </a:xfrm>
            <a:prstGeom prst="rect">
              <a:avLst/>
            </a:prstGeom>
          </p:spPr>
        </p:pic>
        <p:cxnSp>
          <p:nvCxnSpPr>
            <p:cNvPr id="14" name="直接连接符 13">
              <a:extLst>
                <a:ext uri="{FF2B5EF4-FFF2-40B4-BE49-F238E27FC236}">
                  <a16:creationId xmlns:a16="http://schemas.microsoft.com/office/drawing/2014/main" id="{FC38116D-317E-4A14-B563-27CB09AEA9C3}"/>
                </a:ext>
              </a:extLst>
            </p:cNvPr>
            <p:cNvCxnSpPr>
              <a:stCxn id="6" idx="3"/>
              <a:endCxn id="10" idx="1"/>
            </p:cNvCxnSpPr>
            <p:nvPr/>
          </p:nvCxnSpPr>
          <p:spPr bwMode="gray">
            <a:xfrm>
              <a:off x="2434208" y="5281336"/>
              <a:ext cx="1255201"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2E69564-D6AF-48D3-B9FA-DB7CFA5BC3B7}"/>
                </a:ext>
              </a:extLst>
            </p:cNvPr>
            <p:cNvCxnSpPr>
              <a:cxnSpLocks/>
              <a:stCxn id="10" idx="3"/>
              <a:endCxn id="11" idx="1"/>
            </p:cNvCxnSpPr>
            <p:nvPr/>
          </p:nvCxnSpPr>
          <p:spPr bwMode="gray">
            <a:xfrm>
              <a:off x="4229409" y="5281336"/>
              <a:ext cx="1255201"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1930932-68B3-4A9B-BF03-71E47221AEF8}"/>
                </a:ext>
              </a:extLst>
            </p:cNvPr>
            <p:cNvCxnSpPr>
              <a:cxnSpLocks/>
              <a:stCxn id="11" idx="3"/>
              <a:endCxn id="12" idx="1"/>
            </p:cNvCxnSpPr>
            <p:nvPr/>
          </p:nvCxnSpPr>
          <p:spPr bwMode="gray">
            <a:xfrm>
              <a:off x="6024610" y="5281336"/>
              <a:ext cx="1255202"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grpSp>
      <p:cxnSp>
        <p:nvCxnSpPr>
          <p:cNvPr id="22" name="直接连接符 21">
            <a:extLst>
              <a:ext uri="{FF2B5EF4-FFF2-40B4-BE49-F238E27FC236}">
                <a16:creationId xmlns:a16="http://schemas.microsoft.com/office/drawing/2014/main" id="{C1D5E5ED-4382-45D0-9EC8-BD971E6987B1}"/>
              </a:ext>
            </a:extLst>
          </p:cNvPr>
          <p:cNvCxnSpPr>
            <a:cxnSpLocks/>
            <a:stCxn id="6" idx="0"/>
            <a:endCxn id="3" idx="2"/>
          </p:cNvCxnSpPr>
          <p:nvPr/>
        </p:nvCxnSpPr>
        <p:spPr bwMode="gray">
          <a:xfrm flipV="1">
            <a:off x="2816237" y="4190667"/>
            <a:ext cx="2692802" cy="971482"/>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C85769E7-84A8-4D43-B3B9-2B451054F50C}"/>
              </a:ext>
            </a:extLst>
          </p:cNvPr>
          <p:cNvCxnSpPr>
            <a:cxnSpLocks/>
            <a:stCxn id="10" idx="0"/>
            <a:endCxn id="3" idx="2"/>
          </p:cNvCxnSpPr>
          <p:nvPr/>
        </p:nvCxnSpPr>
        <p:spPr bwMode="gray">
          <a:xfrm flipV="1">
            <a:off x="4611438" y="4190667"/>
            <a:ext cx="897601" cy="971482"/>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1906AC3-5856-41DB-9ED3-FB5E7BBA2B4A}"/>
              </a:ext>
            </a:extLst>
          </p:cNvPr>
          <p:cNvCxnSpPr>
            <a:cxnSpLocks/>
            <a:stCxn id="11" idx="0"/>
            <a:endCxn id="3" idx="2"/>
          </p:cNvCxnSpPr>
          <p:nvPr/>
        </p:nvCxnSpPr>
        <p:spPr bwMode="gray">
          <a:xfrm flipH="1" flipV="1">
            <a:off x="5509039" y="4190667"/>
            <a:ext cx="897600" cy="971482"/>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B2BB19E-3743-4405-A4C8-6C932013668C}"/>
              </a:ext>
            </a:extLst>
          </p:cNvPr>
          <p:cNvCxnSpPr>
            <a:cxnSpLocks/>
            <a:stCxn id="12" idx="0"/>
            <a:endCxn id="3" idx="2"/>
          </p:cNvCxnSpPr>
          <p:nvPr/>
        </p:nvCxnSpPr>
        <p:spPr bwMode="gray">
          <a:xfrm flipH="1" flipV="1">
            <a:off x="5509039" y="4190667"/>
            <a:ext cx="2692802" cy="971482"/>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DF2A6421-F682-4A07-BF99-322006735CB4}"/>
              </a:ext>
            </a:extLst>
          </p:cNvPr>
          <p:cNvSpPr/>
          <p:nvPr/>
        </p:nvSpPr>
        <p:spPr bwMode="gray">
          <a:xfrm>
            <a:off x="1252983" y="2091184"/>
            <a:ext cx="9140697" cy="980006"/>
          </a:xfrm>
          <a:prstGeom prst="rect">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43" name="Rectangle 712">
            <a:extLst>
              <a:ext uri="{FF2B5EF4-FFF2-40B4-BE49-F238E27FC236}">
                <a16:creationId xmlns:a16="http://schemas.microsoft.com/office/drawing/2014/main" id="{FE5A04BE-8B3B-4692-8085-CAD85CA3B290}"/>
              </a:ext>
            </a:extLst>
          </p:cNvPr>
          <p:cNvSpPr/>
          <p:nvPr/>
        </p:nvSpPr>
        <p:spPr bwMode="gray">
          <a:xfrm>
            <a:off x="5012731" y="2365944"/>
            <a:ext cx="992615" cy="473933"/>
          </a:xfrm>
          <a:prstGeom prst="rect">
            <a:avLst/>
          </a:prstGeom>
          <a:solidFill>
            <a:srgbClr val="56C4D2"/>
          </a:solidFill>
          <a:ln w="9525" cap="flat" cmpd="sng" algn="ctr">
            <a:noFill/>
            <a:prstDash val="solid"/>
            <a:round/>
            <a:headEnd type="none" w="med" len="med"/>
            <a:tailEnd type="none" w="med" len="med"/>
          </a:ln>
          <a:effectLst/>
        </p:spPr>
        <p:txBody>
          <a:bodyPr vert="horz" wrap="square" lIns="68562" tIns="34281" rIns="68562" bIns="34281" numCol="1" rtlCol="0" anchor="ctr" anchorCtr="0" compatLnSpc="1">
            <a:prstTxWarp prst="textNoShape">
              <a:avLst/>
            </a:prstTxWarp>
          </a:bodyPr>
          <a:lstStyle/>
          <a:p>
            <a:pPr algn="ctr" defTabSz="685617"/>
            <a:r>
              <a:rPr lang="en-US" altLang="zh-CN" sz="1600" b="1" dirty="0">
                <a:solidFill>
                  <a:schemeClr val="bg1"/>
                </a:solidFill>
                <a:ea typeface="+mn-ea"/>
                <a:cs typeface="Huawei Sans" panose="020C0503030203020204" pitchFamily="34" charset="0"/>
              </a:rPr>
              <a:t>APP</a:t>
            </a:r>
            <a:endParaRPr lang="en-US" sz="1600" b="1" dirty="0">
              <a:solidFill>
                <a:schemeClr val="bg1"/>
              </a:solidFill>
              <a:ea typeface="+mn-ea"/>
              <a:cs typeface="Huawei Sans" panose="020C0503030203020204" pitchFamily="34" charset="0"/>
            </a:endParaRPr>
          </a:p>
        </p:txBody>
      </p:sp>
      <p:cxnSp>
        <p:nvCxnSpPr>
          <p:cNvPr id="44" name="直接连接符 43">
            <a:extLst>
              <a:ext uri="{FF2B5EF4-FFF2-40B4-BE49-F238E27FC236}">
                <a16:creationId xmlns:a16="http://schemas.microsoft.com/office/drawing/2014/main" id="{C63411E7-11CE-4D12-8FD3-586A43CF8D7C}"/>
              </a:ext>
            </a:extLst>
          </p:cNvPr>
          <p:cNvCxnSpPr>
            <a:cxnSpLocks/>
            <a:stCxn id="3" idx="0"/>
            <a:endCxn id="43" idx="2"/>
          </p:cNvCxnSpPr>
          <p:nvPr/>
        </p:nvCxnSpPr>
        <p:spPr bwMode="gray">
          <a:xfrm flipV="1">
            <a:off x="5509039" y="2839877"/>
            <a:ext cx="0" cy="907990"/>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3390A316-B3A0-441B-9062-CFEE3408E654}"/>
              </a:ext>
            </a:extLst>
          </p:cNvPr>
          <p:cNvSpPr txBox="1"/>
          <p:nvPr/>
        </p:nvSpPr>
        <p:spPr bwMode="gray">
          <a:xfrm>
            <a:off x="1313633" y="2338644"/>
            <a:ext cx="1210588" cy="338554"/>
          </a:xfrm>
          <a:prstGeom prst="rect">
            <a:avLst/>
          </a:prstGeom>
          <a:noFill/>
        </p:spPr>
        <p:txBody>
          <a:bodyPr wrap="none" rtlCol="0">
            <a:spAutoFit/>
          </a:bodyPr>
          <a:lstStyle/>
          <a:p>
            <a:r>
              <a:rPr lang="zh-CN" altLang="en-US" sz="1600" dirty="0"/>
              <a:t>协同应用层</a:t>
            </a:r>
          </a:p>
        </p:txBody>
      </p:sp>
      <p:sp>
        <p:nvSpPr>
          <p:cNvPr id="48" name="文本框 47">
            <a:extLst>
              <a:ext uri="{FF2B5EF4-FFF2-40B4-BE49-F238E27FC236}">
                <a16:creationId xmlns:a16="http://schemas.microsoft.com/office/drawing/2014/main" id="{E0CA8EE8-91B2-4D26-8EE7-D3C9AEA5C54C}"/>
              </a:ext>
            </a:extLst>
          </p:cNvPr>
          <p:cNvSpPr txBox="1"/>
          <p:nvPr/>
        </p:nvSpPr>
        <p:spPr bwMode="gray">
          <a:xfrm>
            <a:off x="1313633" y="3866538"/>
            <a:ext cx="1005403" cy="338554"/>
          </a:xfrm>
          <a:prstGeom prst="rect">
            <a:avLst/>
          </a:prstGeom>
          <a:noFill/>
        </p:spPr>
        <p:txBody>
          <a:bodyPr wrap="none" rtlCol="0">
            <a:spAutoFit/>
          </a:bodyPr>
          <a:lstStyle/>
          <a:p>
            <a:r>
              <a:rPr lang="zh-CN" altLang="en-US" sz="1600" dirty="0"/>
              <a:t>控制器层</a:t>
            </a:r>
          </a:p>
        </p:txBody>
      </p:sp>
      <p:sp>
        <p:nvSpPr>
          <p:cNvPr id="49" name="文本框 48">
            <a:extLst>
              <a:ext uri="{FF2B5EF4-FFF2-40B4-BE49-F238E27FC236}">
                <a16:creationId xmlns:a16="http://schemas.microsoft.com/office/drawing/2014/main" id="{CE8B9981-F524-4012-8B5A-F66BB2CA068A}"/>
              </a:ext>
            </a:extLst>
          </p:cNvPr>
          <p:cNvSpPr txBox="1"/>
          <p:nvPr/>
        </p:nvSpPr>
        <p:spPr bwMode="gray">
          <a:xfrm>
            <a:off x="1313633" y="5134442"/>
            <a:ext cx="800219" cy="338554"/>
          </a:xfrm>
          <a:prstGeom prst="rect">
            <a:avLst/>
          </a:prstGeom>
          <a:noFill/>
        </p:spPr>
        <p:txBody>
          <a:bodyPr wrap="none" rtlCol="0">
            <a:spAutoFit/>
          </a:bodyPr>
          <a:lstStyle/>
          <a:p>
            <a:r>
              <a:rPr lang="zh-CN" altLang="en-US" sz="1600" dirty="0"/>
              <a:t>设备层</a:t>
            </a:r>
          </a:p>
        </p:txBody>
      </p:sp>
      <p:sp>
        <p:nvSpPr>
          <p:cNvPr id="50" name="文本框 49">
            <a:extLst>
              <a:ext uri="{FF2B5EF4-FFF2-40B4-BE49-F238E27FC236}">
                <a16:creationId xmlns:a16="http://schemas.microsoft.com/office/drawing/2014/main" id="{4BB50338-4F2F-4CA1-9CF3-9E6DB92F39E5}"/>
              </a:ext>
            </a:extLst>
          </p:cNvPr>
          <p:cNvSpPr txBox="1"/>
          <p:nvPr/>
        </p:nvSpPr>
        <p:spPr bwMode="gray">
          <a:xfrm>
            <a:off x="7457086" y="3127464"/>
            <a:ext cx="1343638" cy="338554"/>
          </a:xfrm>
          <a:prstGeom prst="rect">
            <a:avLst/>
          </a:prstGeom>
          <a:noFill/>
        </p:spPr>
        <p:txBody>
          <a:bodyPr wrap="none" rtlCol="0">
            <a:spAutoFit/>
          </a:bodyPr>
          <a:lstStyle/>
          <a:p>
            <a:r>
              <a:rPr lang="en-US" altLang="zh-CN" sz="1600" dirty="0"/>
              <a:t>NBI</a:t>
            </a:r>
            <a:r>
              <a:rPr lang="zh-CN" altLang="en-US" sz="1600" dirty="0"/>
              <a:t>北向接口</a:t>
            </a:r>
          </a:p>
        </p:txBody>
      </p:sp>
      <p:sp>
        <p:nvSpPr>
          <p:cNvPr id="51" name="文本框 50">
            <a:extLst>
              <a:ext uri="{FF2B5EF4-FFF2-40B4-BE49-F238E27FC236}">
                <a16:creationId xmlns:a16="http://schemas.microsoft.com/office/drawing/2014/main" id="{A2B031B8-3F29-44CE-BA61-7566F55D869A}"/>
              </a:ext>
            </a:extLst>
          </p:cNvPr>
          <p:cNvSpPr txBox="1"/>
          <p:nvPr/>
        </p:nvSpPr>
        <p:spPr bwMode="gray">
          <a:xfrm>
            <a:off x="7465037" y="4496135"/>
            <a:ext cx="1295547" cy="338554"/>
          </a:xfrm>
          <a:prstGeom prst="rect">
            <a:avLst/>
          </a:prstGeom>
          <a:noFill/>
        </p:spPr>
        <p:txBody>
          <a:bodyPr wrap="none" rtlCol="0">
            <a:spAutoFit/>
          </a:bodyPr>
          <a:lstStyle/>
          <a:p>
            <a:r>
              <a:rPr lang="en-US" altLang="zh-CN" sz="1600"/>
              <a:t>SBI</a:t>
            </a:r>
            <a:r>
              <a:rPr lang="zh-CN" altLang="en-US" sz="1600"/>
              <a:t>南向接口</a:t>
            </a:r>
          </a:p>
        </p:txBody>
      </p:sp>
      <p:sp>
        <p:nvSpPr>
          <p:cNvPr id="26" name="文本框 25">
            <a:extLst>
              <a:ext uri="{FF2B5EF4-FFF2-40B4-BE49-F238E27FC236}">
                <a16:creationId xmlns:a16="http://schemas.microsoft.com/office/drawing/2014/main" id="{89DEAE8E-1730-4DD7-A051-764368EFF1AD}"/>
              </a:ext>
            </a:extLst>
          </p:cNvPr>
          <p:cNvSpPr txBox="1"/>
          <p:nvPr/>
        </p:nvSpPr>
        <p:spPr bwMode="gray">
          <a:xfrm>
            <a:off x="8740556" y="5162149"/>
            <a:ext cx="1011815" cy="338554"/>
          </a:xfrm>
          <a:prstGeom prst="rect">
            <a:avLst/>
          </a:prstGeom>
          <a:solidFill>
            <a:srgbClr val="56C4D2"/>
          </a:solidFill>
          <a:ln>
            <a:noFill/>
          </a:ln>
        </p:spPr>
        <p:txBody>
          <a:bodyPr wrap="none" rtlCol="0">
            <a:spAutoFit/>
          </a:bodyPr>
          <a:lstStyle/>
          <a:p>
            <a:r>
              <a:rPr lang="zh-CN" altLang="en-US" sz="1600" b="1">
                <a:solidFill>
                  <a:schemeClr val="bg1"/>
                </a:solidFill>
              </a:rPr>
              <a:t>数据转发</a:t>
            </a:r>
          </a:p>
        </p:txBody>
      </p:sp>
      <p:sp>
        <p:nvSpPr>
          <p:cNvPr id="28" name="文本框 27">
            <a:extLst>
              <a:ext uri="{FF2B5EF4-FFF2-40B4-BE49-F238E27FC236}">
                <a16:creationId xmlns:a16="http://schemas.microsoft.com/office/drawing/2014/main" id="{952BE709-6DA4-4AC7-A3B2-F4B1D5611A89}"/>
              </a:ext>
            </a:extLst>
          </p:cNvPr>
          <p:cNvSpPr txBox="1"/>
          <p:nvPr/>
        </p:nvSpPr>
        <p:spPr bwMode="gray">
          <a:xfrm>
            <a:off x="8740556" y="3884156"/>
            <a:ext cx="1011815" cy="338554"/>
          </a:xfrm>
          <a:prstGeom prst="rect">
            <a:avLst/>
          </a:prstGeom>
          <a:solidFill>
            <a:srgbClr val="56C4D2"/>
          </a:solidFill>
          <a:ln>
            <a:noFill/>
          </a:ln>
        </p:spPr>
        <p:txBody>
          <a:bodyPr wrap="none" rtlCol="0">
            <a:spAutoFit/>
          </a:bodyPr>
          <a:lstStyle/>
          <a:p>
            <a:r>
              <a:rPr lang="zh-CN" altLang="en-US" sz="1600" b="1" dirty="0">
                <a:solidFill>
                  <a:schemeClr val="bg1"/>
                </a:solidFill>
              </a:rPr>
              <a:t>业务编排</a:t>
            </a:r>
          </a:p>
        </p:txBody>
      </p:sp>
      <p:sp>
        <p:nvSpPr>
          <p:cNvPr id="29" name="文本框 28">
            <a:extLst>
              <a:ext uri="{FF2B5EF4-FFF2-40B4-BE49-F238E27FC236}">
                <a16:creationId xmlns:a16="http://schemas.microsoft.com/office/drawing/2014/main" id="{6C2313AE-9304-48D8-AC6E-6C4BDD18A049}"/>
              </a:ext>
            </a:extLst>
          </p:cNvPr>
          <p:cNvSpPr txBox="1"/>
          <p:nvPr/>
        </p:nvSpPr>
        <p:spPr bwMode="gray">
          <a:xfrm>
            <a:off x="8740556" y="2403287"/>
            <a:ext cx="1011815" cy="338554"/>
          </a:xfrm>
          <a:prstGeom prst="rect">
            <a:avLst/>
          </a:prstGeom>
          <a:solidFill>
            <a:srgbClr val="56C4D2"/>
          </a:solidFill>
          <a:ln>
            <a:noFill/>
          </a:ln>
        </p:spPr>
        <p:txBody>
          <a:bodyPr wrap="none" rtlCol="0">
            <a:spAutoFit/>
          </a:bodyPr>
          <a:lstStyle/>
          <a:p>
            <a:r>
              <a:rPr lang="zh-CN" altLang="en-US" sz="1600" b="1" dirty="0">
                <a:solidFill>
                  <a:schemeClr val="bg1"/>
                </a:solidFill>
              </a:rPr>
              <a:t>业务协同</a:t>
            </a:r>
          </a:p>
        </p:txBody>
      </p:sp>
      <p:sp>
        <p:nvSpPr>
          <p:cNvPr id="32" name="Content Placeholder 2">
            <a:extLst>
              <a:ext uri="{FF2B5EF4-FFF2-40B4-BE49-F238E27FC236}">
                <a16:creationId xmlns:a16="http://schemas.microsoft.com/office/drawing/2014/main" id="{C0BFDFE1-5E3C-487D-A17C-AFCFC7BCA9A5}"/>
              </a:ext>
            </a:extLst>
          </p:cNvPr>
          <p:cNvSpPr txBox="1">
            <a:spLocks/>
          </p:cNvSpPr>
          <p:nvPr/>
        </p:nvSpPr>
        <p:spPr bwMode="gray">
          <a:xfrm>
            <a:off x="446088" y="1233488"/>
            <a:ext cx="11299825" cy="873621"/>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p>
        </p:txBody>
      </p:sp>
    </p:spTree>
    <p:extLst>
      <p:ext uri="{BB962C8B-B14F-4D97-AF65-F5344CB8AC3E}">
        <p14:creationId xmlns:p14="http://schemas.microsoft.com/office/powerpoint/2010/main" val="2723981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Rectangle 9">
            <a:extLst>
              <a:ext uri="{FF2B5EF4-FFF2-40B4-BE49-F238E27FC236}">
                <a16:creationId xmlns:a16="http://schemas.microsoft.com/office/drawing/2014/main" id="{11CE9C91-D28C-4D5E-BB76-D855DB052313}"/>
              </a:ext>
            </a:extLst>
          </p:cNvPr>
          <p:cNvSpPr/>
          <p:nvPr/>
        </p:nvSpPr>
        <p:spPr bwMode="gray">
          <a:xfrm>
            <a:off x="816337" y="4983523"/>
            <a:ext cx="10503666" cy="654909"/>
          </a:xfrm>
          <a:prstGeom prst="rect">
            <a:avLst/>
          </a:prstGeom>
          <a:noFill/>
          <a:ln w="12700" cap="flat" cmpd="sng" algn="ctr">
            <a:solidFill>
              <a:srgbClr val="94DAE2"/>
            </a:solidFill>
            <a:prstDash val="solid"/>
          </a:ln>
          <a:effectLst/>
        </p:spPr>
        <p:txBody>
          <a:bodyPr rtlCol="0" anchor="ctr"/>
          <a:lstStyle/>
          <a:p>
            <a:pPr algn="ctr" defTabSz="457200" fontAlgn="base">
              <a:spcBef>
                <a:spcPct val="0"/>
              </a:spcBef>
              <a:spcAft>
                <a:spcPct val="0"/>
              </a:spcAft>
            </a:pPr>
            <a:endParaRPr lang="en-US" sz="1200" kern="0" dirty="0">
              <a:solidFill>
                <a:srgbClr val="FFFFFF"/>
              </a:solidFill>
              <a:ea typeface="微软雅黑" panose="020B0503020204020204" pitchFamily="34" charset="-122"/>
            </a:endParaRPr>
          </a:p>
        </p:txBody>
      </p:sp>
      <p:sp>
        <p:nvSpPr>
          <p:cNvPr id="2" name="标题 1">
            <a:extLst>
              <a:ext uri="{FF2B5EF4-FFF2-40B4-BE49-F238E27FC236}">
                <a16:creationId xmlns:a16="http://schemas.microsoft.com/office/drawing/2014/main" id="{3AC7CF14-11F6-4F73-91EF-F24700646205}"/>
              </a:ext>
            </a:extLst>
          </p:cNvPr>
          <p:cNvSpPr>
            <a:spLocks noGrp="1"/>
          </p:cNvSpPr>
          <p:nvPr>
            <p:ph type="title"/>
          </p:nvPr>
        </p:nvSpPr>
        <p:spPr bwMode="gray"/>
        <p:txBody>
          <a:bodyPr/>
          <a:lstStyle/>
          <a:p>
            <a:r>
              <a:rPr lang="zh-CN" altLang="en-US"/>
              <a:t>华为</a:t>
            </a:r>
            <a:r>
              <a:rPr lang="en-US" altLang="zh-CN"/>
              <a:t>SDN</a:t>
            </a:r>
            <a:r>
              <a:rPr lang="zh-CN" altLang="en-US"/>
              <a:t>网络架构</a:t>
            </a:r>
          </a:p>
        </p:txBody>
      </p:sp>
      <p:sp>
        <p:nvSpPr>
          <p:cNvPr id="19" name="文本占位符 18"/>
          <p:cNvSpPr>
            <a:spLocks noGrp="1"/>
          </p:cNvSpPr>
          <p:nvPr>
            <p:ph type="body" sz="quarter" idx="10"/>
          </p:nvPr>
        </p:nvSpPr>
        <p:spPr bwMode="gray"/>
        <p:txBody>
          <a:bodyPr/>
          <a:lstStyle/>
          <a:p>
            <a:r>
              <a:rPr lang="zh-CN" altLang="en-US" sz="1800" dirty="0"/>
              <a:t>华为</a:t>
            </a:r>
            <a:r>
              <a:rPr lang="en-US" altLang="zh-CN" sz="1800" dirty="0"/>
              <a:t>SDN</a:t>
            </a:r>
            <a:r>
              <a:rPr lang="zh-CN" altLang="en-US" sz="1800" dirty="0"/>
              <a:t>网络架构支持丰富的南北向接口，包括</a:t>
            </a:r>
            <a:r>
              <a:rPr lang="en-US" altLang="zh-CN" sz="1800" dirty="0" err="1"/>
              <a:t>OpenFlow</a:t>
            </a:r>
            <a:r>
              <a:rPr lang="zh-CN" altLang="en-US" sz="1800" dirty="0"/>
              <a:t>、</a:t>
            </a:r>
            <a:r>
              <a:rPr lang="en-US" altLang="zh-CN" sz="1800" dirty="0"/>
              <a:t>OVSDB</a:t>
            </a:r>
            <a:r>
              <a:rPr lang="zh-CN" altLang="en-US" sz="1800" dirty="0"/>
              <a:t>、</a:t>
            </a:r>
            <a:r>
              <a:rPr lang="en-US" altLang="zh-CN" sz="1800" dirty="0"/>
              <a:t>NETCONF</a:t>
            </a:r>
            <a:r>
              <a:rPr lang="zh-CN" altLang="en-US" sz="1800" dirty="0"/>
              <a:t>、</a:t>
            </a:r>
            <a:r>
              <a:rPr lang="en-US" altLang="zh-CN" sz="1800" dirty="0"/>
              <a:t>PCEP</a:t>
            </a:r>
            <a:r>
              <a:rPr lang="zh-CN" altLang="en-US" sz="1800" dirty="0"/>
              <a:t>、 </a:t>
            </a:r>
            <a:r>
              <a:rPr lang="en-US" altLang="zh-CN" sz="1800" dirty="0"/>
              <a:t>RESTful </a:t>
            </a:r>
            <a:r>
              <a:rPr lang="zh-CN" altLang="en-US" sz="1800" dirty="0"/>
              <a:t>、</a:t>
            </a:r>
            <a:r>
              <a:rPr lang="en-US" altLang="zh-CN" sz="1800" dirty="0"/>
              <a:t>SNMP</a:t>
            </a:r>
            <a:r>
              <a:rPr lang="zh-CN" altLang="en-US" sz="1800" dirty="0"/>
              <a:t>、</a:t>
            </a:r>
            <a:r>
              <a:rPr lang="en-US" altLang="zh-CN" sz="1800" dirty="0"/>
              <a:t>BGP</a:t>
            </a:r>
            <a:r>
              <a:rPr lang="zh-CN" altLang="en-US" sz="1800" dirty="0"/>
              <a:t>、</a:t>
            </a:r>
            <a:r>
              <a:rPr lang="en-US" altLang="zh-CN" sz="1800" dirty="0" err="1"/>
              <a:t>JsonRPC</a:t>
            </a:r>
            <a:r>
              <a:rPr lang="zh-CN" altLang="en-US" sz="1800" dirty="0"/>
              <a:t>、</a:t>
            </a:r>
            <a:r>
              <a:rPr lang="en-US" altLang="zh-CN" sz="1800" dirty="0"/>
              <a:t>RESTCONF</a:t>
            </a:r>
            <a:r>
              <a:rPr lang="zh-CN" altLang="en-US" sz="1800" dirty="0"/>
              <a:t>等。</a:t>
            </a:r>
          </a:p>
          <a:p>
            <a:endParaRPr lang="zh-CN" altLang="en-US" sz="1800" dirty="0"/>
          </a:p>
        </p:txBody>
      </p:sp>
      <p:sp>
        <p:nvSpPr>
          <p:cNvPr id="3" name="矩形 2">
            <a:extLst>
              <a:ext uri="{FF2B5EF4-FFF2-40B4-BE49-F238E27FC236}">
                <a16:creationId xmlns:a16="http://schemas.microsoft.com/office/drawing/2014/main" id="{7AD7D211-ABB7-424E-8EB8-44091846EF88}"/>
              </a:ext>
            </a:extLst>
          </p:cNvPr>
          <p:cNvSpPr/>
          <p:nvPr/>
        </p:nvSpPr>
        <p:spPr bwMode="gray">
          <a:xfrm>
            <a:off x="804440" y="3538026"/>
            <a:ext cx="10518761" cy="982285"/>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4" name="Rectangle 7">
            <a:extLst>
              <a:ext uri="{FF2B5EF4-FFF2-40B4-BE49-F238E27FC236}">
                <a16:creationId xmlns:a16="http://schemas.microsoft.com/office/drawing/2014/main" id="{6C0CA4DA-312A-417C-A8ED-FB316ECF6849}"/>
              </a:ext>
            </a:extLst>
          </p:cNvPr>
          <p:cNvSpPr/>
          <p:nvPr/>
        </p:nvSpPr>
        <p:spPr bwMode="gray">
          <a:xfrm>
            <a:off x="816336" y="1918433"/>
            <a:ext cx="1291100" cy="640080"/>
          </a:xfrm>
          <a:prstGeom prst="rect">
            <a:avLst/>
          </a:prstGeom>
          <a:noFill/>
          <a:ln w="12700" cap="flat" cmpd="sng" algn="ctr">
            <a:solidFill>
              <a:srgbClr val="94DAE2"/>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en-US" sz="1500" b="0" i="0" u="none" strike="noStrike" kern="0" cap="none" spc="0" normalizeH="0" baseline="0" noProof="0" dirty="0">
                <a:ln>
                  <a:noFill/>
                </a:ln>
                <a:effectLst/>
                <a:uLnTx/>
                <a:uFillTx/>
              </a:rPr>
              <a:t>Network </a:t>
            </a:r>
            <a:endParaRPr lang="en-US" sz="1500" kern="0" dirty="0"/>
          </a:p>
          <a:p>
            <a:pPr marL="0" marR="0" lvl="0" indent="0" algn="ctr" defTabSz="457200" eaLnBrk="1" fontAlgn="base" latinLnBrk="0" hangingPunct="1">
              <a:lnSpc>
                <a:spcPct val="100000"/>
              </a:lnSpc>
              <a:spcBef>
                <a:spcPct val="0"/>
              </a:spcBef>
              <a:spcAft>
                <a:spcPct val="0"/>
              </a:spcAft>
              <a:buClrTx/>
              <a:buSzTx/>
              <a:buFontTx/>
              <a:buNone/>
              <a:tabLst/>
              <a:defRPr/>
            </a:pPr>
            <a:r>
              <a:rPr kumimoji="0" lang="en-US" sz="1500" b="0" i="0" u="none" strike="noStrike" kern="0" cap="none" spc="0" normalizeH="0" baseline="0" noProof="0" dirty="0">
                <a:ln>
                  <a:noFill/>
                </a:ln>
                <a:effectLst/>
                <a:uLnTx/>
                <a:uFillTx/>
              </a:rPr>
              <a:t>Application</a:t>
            </a:r>
          </a:p>
        </p:txBody>
      </p:sp>
      <p:sp>
        <p:nvSpPr>
          <p:cNvPr id="11" name="矩形 10">
            <a:extLst>
              <a:ext uri="{FF2B5EF4-FFF2-40B4-BE49-F238E27FC236}">
                <a16:creationId xmlns:a16="http://schemas.microsoft.com/office/drawing/2014/main" id="{2EEF94F8-064A-4D73-8DD0-E063AF0F4EAC}"/>
              </a:ext>
            </a:extLst>
          </p:cNvPr>
          <p:cNvSpPr/>
          <p:nvPr/>
        </p:nvSpPr>
        <p:spPr bwMode="gray">
          <a:xfrm>
            <a:off x="804440" y="5671006"/>
            <a:ext cx="1312642" cy="44230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转发设备</a:t>
            </a:r>
          </a:p>
        </p:txBody>
      </p:sp>
      <p:sp>
        <p:nvSpPr>
          <p:cNvPr id="12" name="矩形 11">
            <a:extLst>
              <a:ext uri="{FF2B5EF4-FFF2-40B4-BE49-F238E27FC236}">
                <a16:creationId xmlns:a16="http://schemas.microsoft.com/office/drawing/2014/main" id="{A0E7EB6D-2314-4C60-9B68-511F7C55B139}"/>
              </a:ext>
            </a:extLst>
          </p:cNvPr>
          <p:cNvSpPr/>
          <p:nvPr/>
        </p:nvSpPr>
        <p:spPr bwMode="gray">
          <a:xfrm>
            <a:off x="2164242" y="5671006"/>
            <a:ext cx="9155705" cy="442305"/>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pic>
        <p:nvPicPr>
          <p:cNvPr id="13" name="图片 12">
            <a:extLst>
              <a:ext uri="{FF2B5EF4-FFF2-40B4-BE49-F238E27FC236}">
                <a16:creationId xmlns:a16="http://schemas.microsoft.com/office/drawing/2014/main" id="{44DA7ECD-1C18-4C68-8879-191588D2EE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100803" y="5700030"/>
            <a:ext cx="307859" cy="307859"/>
          </a:xfrm>
          <a:prstGeom prst="rect">
            <a:avLst/>
          </a:prstGeom>
        </p:spPr>
      </p:pic>
      <p:sp>
        <p:nvSpPr>
          <p:cNvPr id="14" name="Freeform 13">
            <a:extLst>
              <a:ext uri="{FF2B5EF4-FFF2-40B4-BE49-F238E27FC236}">
                <a16:creationId xmlns:a16="http://schemas.microsoft.com/office/drawing/2014/main" id="{767FC378-79EE-4CB3-B6F4-130F3349656A}"/>
              </a:ext>
            </a:extLst>
          </p:cNvPr>
          <p:cNvSpPr>
            <a:spLocks noChangeAspect="1" noEditPoints="1"/>
          </p:cNvSpPr>
          <p:nvPr/>
        </p:nvSpPr>
        <p:spPr bwMode="gray">
          <a:xfrm>
            <a:off x="3576159" y="5847286"/>
            <a:ext cx="660378" cy="134819"/>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solidFill>
            <a:sysClr val="window" lastClr="FFFFFF"/>
          </a:solidFill>
          <a:ln w="9525">
            <a:noFill/>
            <a:round/>
            <a:headEnd/>
            <a:tailEnd/>
          </a:ln>
        </p:spPr>
        <p:txBody>
          <a:bodyPr lIns="89342" tIns="44671" rIns="89342" bIns="44671" anchor="ctr"/>
          <a:lstStyle/>
          <a:p>
            <a:pPr marL="0" marR="0" lvl="0" indent="0" defTabSz="669791"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noProof="0" dirty="0">
              <a:ln>
                <a:noFill/>
              </a:ln>
              <a:solidFill>
                <a:schemeClr val="bg1"/>
              </a:solidFill>
              <a:effectLst/>
              <a:uLnTx/>
              <a:uFillTx/>
              <a:ea typeface="微软雅黑" panose="020B0503020204020204" pitchFamily="34" charset="-122"/>
              <a:cs typeface="Huawei Sans" panose="020C0503030203020204" pitchFamily="34" charset="0"/>
              <a:sym typeface="Arial" panose="020B0604020202020204" pitchFamily="34" charset="0"/>
            </a:endParaRPr>
          </a:p>
        </p:txBody>
      </p:sp>
      <p:sp>
        <p:nvSpPr>
          <p:cNvPr id="15" name="矩形 14">
            <a:extLst>
              <a:ext uri="{FF2B5EF4-FFF2-40B4-BE49-F238E27FC236}">
                <a16:creationId xmlns:a16="http://schemas.microsoft.com/office/drawing/2014/main" id="{FAF66CB0-E805-4A4B-A463-58F6779D1A7C}"/>
              </a:ext>
            </a:extLst>
          </p:cNvPr>
          <p:cNvSpPr/>
          <p:nvPr/>
        </p:nvSpPr>
        <p:spPr bwMode="gray">
          <a:xfrm>
            <a:off x="4206141" y="5776195"/>
            <a:ext cx="798180" cy="307777"/>
          </a:xfrm>
          <a:prstGeom prst="rect">
            <a:avLst/>
          </a:prstGeom>
        </p:spPr>
        <p:txBody>
          <a:bodyPr wrap="square">
            <a:spAutoFit/>
          </a:bodyPr>
          <a:lstStyle/>
          <a:p>
            <a:pPr lvl="0" algn="ctr" defTabSz="457200" fontAlgn="base">
              <a:spcBef>
                <a:spcPct val="0"/>
              </a:spcBef>
              <a:spcAft>
                <a:spcPct val="0"/>
              </a:spcAft>
              <a:defRPr/>
            </a:pPr>
            <a:r>
              <a:rPr lang="en-US" altLang="zh-CN" sz="1400" kern="0" dirty="0">
                <a:solidFill>
                  <a:srgbClr val="FFFFFF"/>
                </a:solidFill>
                <a:ea typeface="微软雅黑" panose="020B0503020204020204" pitchFamily="34" charset="-122"/>
              </a:rPr>
              <a:t>Switch</a:t>
            </a:r>
          </a:p>
        </p:txBody>
      </p:sp>
      <p:sp>
        <p:nvSpPr>
          <p:cNvPr id="16" name="矩形 15">
            <a:extLst>
              <a:ext uri="{FF2B5EF4-FFF2-40B4-BE49-F238E27FC236}">
                <a16:creationId xmlns:a16="http://schemas.microsoft.com/office/drawing/2014/main" id="{18855332-7488-4146-9EB9-F2443BF1FED8}"/>
              </a:ext>
            </a:extLst>
          </p:cNvPr>
          <p:cNvSpPr/>
          <p:nvPr/>
        </p:nvSpPr>
        <p:spPr bwMode="gray">
          <a:xfrm>
            <a:off x="5296728" y="5776195"/>
            <a:ext cx="798180" cy="307777"/>
          </a:xfrm>
          <a:prstGeom prst="rect">
            <a:avLst/>
          </a:prstGeom>
        </p:spPr>
        <p:txBody>
          <a:bodyPr wrap="square">
            <a:spAutoFit/>
          </a:bodyPr>
          <a:lstStyle/>
          <a:p>
            <a:pPr lvl="0" algn="ctr" defTabSz="457200" fontAlgn="base">
              <a:spcBef>
                <a:spcPct val="0"/>
              </a:spcBef>
              <a:spcAft>
                <a:spcPct val="0"/>
              </a:spcAft>
              <a:defRPr/>
            </a:pPr>
            <a:r>
              <a:rPr lang="en-US" altLang="zh-CN" sz="1400" kern="0" dirty="0">
                <a:solidFill>
                  <a:srgbClr val="FFFFFF"/>
                </a:solidFill>
                <a:ea typeface="微软雅黑" panose="020B0503020204020204" pitchFamily="34" charset="-122"/>
              </a:rPr>
              <a:t>CPE</a:t>
            </a:r>
          </a:p>
        </p:txBody>
      </p:sp>
      <p:pic>
        <p:nvPicPr>
          <p:cNvPr id="17" name="图片 16">
            <a:extLst>
              <a:ext uri="{FF2B5EF4-FFF2-40B4-BE49-F238E27FC236}">
                <a16:creationId xmlns:a16="http://schemas.microsoft.com/office/drawing/2014/main" id="{3FBB14E5-1081-4AC1-8DEA-52A6268ABA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614186" y="5662661"/>
            <a:ext cx="406050" cy="406050"/>
          </a:xfrm>
          <a:prstGeom prst="rect">
            <a:avLst/>
          </a:prstGeom>
        </p:spPr>
      </p:pic>
      <p:sp>
        <p:nvSpPr>
          <p:cNvPr id="18" name="矩形 17">
            <a:extLst>
              <a:ext uri="{FF2B5EF4-FFF2-40B4-BE49-F238E27FC236}">
                <a16:creationId xmlns:a16="http://schemas.microsoft.com/office/drawing/2014/main" id="{480AF3A9-DA2C-4036-BCE9-992F2A9763D7}"/>
              </a:ext>
            </a:extLst>
          </p:cNvPr>
          <p:cNvSpPr/>
          <p:nvPr/>
        </p:nvSpPr>
        <p:spPr bwMode="gray">
          <a:xfrm>
            <a:off x="2723444" y="5786745"/>
            <a:ext cx="798180" cy="307777"/>
          </a:xfrm>
          <a:prstGeom prst="rect">
            <a:avLst/>
          </a:prstGeom>
        </p:spPr>
        <p:txBody>
          <a:bodyPr wrap="square">
            <a:spAutoFit/>
          </a:bodyPr>
          <a:lstStyle/>
          <a:p>
            <a:pPr lvl="0" algn="ctr" defTabSz="457200" fontAlgn="base">
              <a:spcBef>
                <a:spcPct val="0"/>
              </a:spcBef>
              <a:spcAft>
                <a:spcPct val="0"/>
              </a:spcAft>
              <a:defRPr/>
            </a:pPr>
            <a:r>
              <a:rPr lang="en-US" altLang="zh-CN" sz="1400" kern="0" dirty="0">
                <a:solidFill>
                  <a:srgbClr val="FFFFFF"/>
                </a:solidFill>
                <a:ea typeface="微软雅黑" panose="020B0503020204020204" pitchFamily="34" charset="-122"/>
              </a:rPr>
              <a:t>AP</a:t>
            </a:r>
          </a:p>
        </p:txBody>
      </p:sp>
      <p:grpSp>
        <p:nvGrpSpPr>
          <p:cNvPr id="28" name="组合 189">
            <a:extLst>
              <a:ext uri="{FF2B5EF4-FFF2-40B4-BE49-F238E27FC236}">
                <a16:creationId xmlns:a16="http://schemas.microsoft.com/office/drawing/2014/main" id="{78D9021A-60B9-4FB3-9CF3-FFD42FB591CC}"/>
              </a:ext>
            </a:extLst>
          </p:cNvPr>
          <p:cNvGrpSpPr/>
          <p:nvPr/>
        </p:nvGrpSpPr>
        <p:grpSpPr bwMode="gray">
          <a:xfrm>
            <a:off x="6707883" y="5894066"/>
            <a:ext cx="53443" cy="9270"/>
            <a:chOff x="10707167" y="1194489"/>
            <a:chExt cx="196850" cy="36513"/>
          </a:xfrm>
          <a:solidFill>
            <a:schemeClr val="bg1"/>
          </a:solidFill>
        </p:grpSpPr>
        <p:sp>
          <p:nvSpPr>
            <p:cNvPr id="36" name="Freeform 6">
              <a:extLst>
                <a:ext uri="{FF2B5EF4-FFF2-40B4-BE49-F238E27FC236}">
                  <a16:creationId xmlns:a16="http://schemas.microsoft.com/office/drawing/2014/main" id="{5BB64919-298D-4F5B-9F8F-0287C92565C7}"/>
                </a:ext>
              </a:extLst>
            </p:cNvPr>
            <p:cNvSpPr>
              <a:spLocks/>
            </p:cNvSpPr>
            <p:nvPr/>
          </p:nvSpPr>
          <p:spPr bwMode="gray">
            <a:xfrm>
              <a:off x="10707167" y="1194489"/>
              <a:ext cx="36513" cy="36513"/>
            </a:xfrm>
            <a:custGeom>
              <a:avLst/>
              <a:gdLst/>
              <a:ahLst/>
              <a:cxnLst>
                <a:cxn ang="0">
                  <a:pos x="189" y="343"/>
                </a:cxn>
                <a:cxn ang="0">
                  <a:pos x="222" y="336"/>
                </a:cxn>
                <a:cxn ang="0">
                  <a:pos x="253" y="322"/>
                </a:cxn>
                <a:cxn ang="0">
                  <a:pos x="280" y="304"/>
                </a:cxn>
                <a:cxn ang="0">
                  <a:pos x="304" y="282"/>
                </a:cxn>
                <a:cxn ang="0">
                  <a:pos x="322" y="254"/>
                </a:cxn>
                <a:cxn ang="0">
                  <a:pos x="335" y="224"/>
                </a:cxn>
                <a:cxn ang="0">
                  <a:pos x="341" y="190"/>
                </a:cxn>
                <a:cxn ang="0">
                  <a:pos x="341" y="154"/>
                </a:cxn>
                <a:cxn ang="0">
                  <a:pos x="335" y="122"/>
                </a:cxn>
                <a:cxn ang="0">
                  <a:pos x="322" y="91"/>
                </a:cxn>
                <a:cxn ang="0">
                  <a:pos x="304" y="64"/>
                </a:cxn>
                <a:cxn ang="0">
                  <a:pos x="280" y="40"/>
                </a:cxn>
                <a:cxn ang="0">
                  <a:pos x="253" y="22"/>
                </a:cxn>
                <a:cxn ang="0">
                  <a:pos x="222" y="9"/>
                </a:cxn>
                <a:cxn ang="0">
                  <a:pos x="189" y="1"/>
                </a:cxn>
                <a:cxn ang="0">
                  <a:pos x="154" y="1"/>
                </a:cxn>
                <a:cxn ang="0">
                  <a:pos x="121" y="9"/>
                </a:cxn>
                <a:cxn ang="0">
                  <a:pos x="90" y="22"/>
                </a:cxn>
                <a:cxn ang="0">
                  <a:pos x="63" y="40"/>
                </a:cxn>
                <a:cxn ang="0">
                  <a:pos x="39" y="64"/>
                </a:cxn>
                <a:cxn ang="0">
                  <a:pos x="21" y="91"/>
                </a:cxn>
                <a:cxn ang="0">
                  <a:pos x="9" y="122"/>
                </a:cxn>
                <a:cxn ang="0">
                  <a:pos x="2" y="154"/>
                </a:cxn>
                <a:cxn ang="0">
                  <a:pos x="2" y="190"/>
                </a:cxn>
                <a:cxn ang="0">
                  <a:pos x="9" y="224"/>
                </a:cxn>
                <a:cxn ang="0">
                  <a:pos x="21" y="254"/>
                </a:cxn>
                <a:cxn ang="0">
                  <a:pos x="39" y="282"/>
                </a:cxn>
                <a:cxn ang="0">
                  <a:pos x="63" y="304"/>
                </a:cxn>
                <a:cxn ang="0">
                  <a:pos x="90" y="322"/>
                </a:cxn>
                <a:cxn ang="0">
                  <a:pos x="121" y="336"/>
                </a:cxn>
                <a:cxn ang="0">
                  <a:pos x="154" y="343"/>
                </a:cxn>
              </a:cxnLst>
              <a:rect l="0" t="0" r="r" b="b"/>
              <a:pathLst>
                <a:path w="342" h="344">
                  <a:moveTo>
                    <a:pt x="171" y="344"/>
                  </a:moveTo>
                  <a:lnTo>
                    <a:pt x="189" y="343"/>
                  </a:lnTo>
                  <a:lnTo>
                    <a:pt x="206" y="340"/>
                  </a:lnTo>
                  <a:lnTo>
                    <a:pt x="222" y="336"/>
                  </a:lnTo>
                  <a:lnTo>
                    <a:pt x="238" y="331"/>
                  </a:lnTo>
                  <a:lnTo>
                    <a:pt x="253" y="322"/>
                  </a:lnTo>
                  <a:lnTo>
                    <a:pt x="267" y="314"/>
                  </a:lnTo>
                  <a:lnTo>
                    <a:pt x="280" y="304"/>
                  </a:lnTo>
                  <a:lnTo>
                    <a:pt x="292" y="293"/>
                  </a:lnTo>
                  <a:lnTo>
                    <a:pt x="304" y="282"/>
                  </a:lnTo>
                  <a:lnTo>
                    <a:pt x="313" y="268"/>
                  </a:lnTo>
                  <a:lnTo>
                    <a:pt x="322" y="254"/>
                  </a:lnTo>
                  <a:lnTo>
                    <a:pt x="329" y="239"/>
                  </a:lnTo>
                  <a:lnTo>
                    <a:pt x="335" y="224"/>
                  </a:lnTo>
                  <a:lnTo>
                    <a:pt x="339" y="206"/>
                  </a:lnTo>
                  <a:lnTo>
                    <a:pt x="341" y="190"/>
                  </a:lnTo>
                  <a:lnTo>
                    <a:pt x="342" y="173"/>
                  </a:lnTo>
                  <a:lnTo>
                    <a:pt x="341" y="154"/>
                  </a:lnTo>
                  <a:lnTo>
                    <a:pt x="339" y="138"/>
                  </a:lnTo>
                  <a:lnTo>
                    <a:pt x="335" y="122"/>
                  </a:lnTo>
                  <a:lnTo>
                    <a:pt x="329" y="105"/>
                  </a:lnTo>
                  <a:lnTo>
                    <a:pt x="322" y="91"/>
                  </a:lnTo>
                  <a:lnTo>
                    <a:pt x="313" y="77"/>
                  </a:lnTo>
                  <a:lnTo>
                    <a:pt x="304" y="64"/>
                  </a:lnTo>
                  <a:lnTo>
                    <a:pt x="292" y="51"/>
                  </a:lnTo>
                  <a:lnTo>
                    <a:pt x="280" y="40"/>
                  </a:lnTo>
                  <a:lnTo>
                    <a:pt x="267" y="30"/>
                  </a:lnTo>
                  <a:lnTo>
                    <a:pt x="253" y="22"/>
                  </a:lnTo>
                  <a:lnTo>
                    <a:pt x="238" y="15"/>
                  </a:lnTo>
                  <a:lnTo>
                    <a:pt x="222" y="9"/>
                  </a:lnTo>
                  <a:lnTo>
                    <a:pt x="206" y="4"/>
                  </a:lnTo>
                  <a:lnTo>
                    <a:pt x="189" y="1"/>
                  </a:lnTo>
                  <a:lnTo>
                    <a:pt x="171" y="0"/>
                  </a:lnTo>
                  <a:lnTo>
                    <a:pt x="154" y="1"/>
                  </a:lnTo>
                  <a:lnTo>
                    <a:pt x="137" y="4"/>
                  </a:lnTo>
                  <a:lnTo>
                    <a:pt x="121" y="9"/>
                  </a:lnTo>
                  <a:lnTo>
                    <a:pt x="105" y="15"/>
                  </a:lnTo>
                  <a:lnTo>
                    <a:pt x="90" y="22"/>
                  </a:lnTo>
                  <a:lnTo>
                    <a:pt x="76" y="30"/>
                  </a:lnTo>
                  <a:lnTo>
                    <a:pt x="63" y="40"/>
                  </a:lnTo>
                  <a:lnTo>
                    <a:pt x="50" y="51"/>
                  </a:lnTo>
                  <a:lnTo>
                    <a:pt x="39" y="64"/>
                  </a:lnTo>
                  <a:lnTo>
                    <a:pt x="30" y="77"/>
                  </a:lnTo>
                  <a:lnTo>
                    <a:pt x="21" y="91"/>
                  </a:lnTo>
                  <a:lnTo>
                    <a:pt x="14" y="105"/>
                  </a:lnTo>
                  <a:lnTo>
                    <a:pt x="9" y="122"/>
                  </a:lnTo>
                  <a:lnTo>
                    <a:pt x="4" y="138"/>
                  </a:lnTo>
                  <a:lnTo>
                    <a:pt x="2" y="154"/>
                  </a:lnTo>
                  <a:lnTo>
                    <a:pt x="0" y="173"/>
                  </a:lnTo>
                  <a:lnTo>
                    <a:pt x="2" y="190"/>
                  </a:lnTo>
                  <a:lnTo>
                    <a:pt x="4" y="206"/>
                  </a:lnTo>
                  <a:lnTo>
                    <a:pt x="9" y="224"/>
                  </a:lnTo>
                  <a:lnTo>
                    <a:pt x="14" y="239"/>
                  </a:lnTo>
                  <a:lnTo>
                    <a:pt x="21" y="254"/>
                  </a:lnTo>
                  <a:lnTo>
                    <a:pt x="30" y="268"/>
                  </a:lnTo>
                  <a:lnTo>
                    <a:pt x="39" y="282"/>
                  </a:lnTo>
                  <a:lnTo>
                    <a:pt x="50" y="293"/>
                  </a:lnTo>
                  <a:lnTo>
                    <a:pt x="63" y="304"/>
                  </a:lnTo>
                  <a:lnTo>
                    <a:pt x="76" y="314"/>
                  </a:lnTo>
                  <a:lnTo>
                    <a:pt x="90" y="322"/>
                  </a:lnTo>
                  <a:lnTo>
                    <a:pt x="105" y="331"/>
                  </a:lnTo>
                  <a:lnTo>
                    <a:pt x="121" y="336"/>
                  </a:lnTo>
                  <a:lnTo>
                    <a:pt x="137" y="340"/>
                  </a:lnTo>
                  <a:lnTo>
                    <a:pt x="154" y="343"/>
                  </a:lnTo>
                  <a:lnTo>
                    <a:pt x="171"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7" name="Freeform 7">
              <a:extLst>
                <a:ext uri="{FF2B5EF4-FFF2-40B4-BE49-F238E27FC236}">
                  <a16:creationId xmlns:a16="http://schemas.microsoft.com/office/drawing/2014/main" id="{185C8977-593C-4DFB-AC98-CE80DB256C88}"/>
                </a:ext>
              </a:extLst>
            </p:cNvPr>
            <p:cNvSpPr>
              <a:spLocks/>
            </p:cNvSpPr>
            <p:nvPr/>
          </p:nvSpPr>
          <p:spPr bwMode="gray">
            <a:xfrm>
              <a:off x="10761142" y="1194489"/>
              <a:ext cx="36513" cy="36513"/>
            </a:xfrm>
            <a:custGeom>
              <a:avLst/>
              <a:gdLst/>
              <a:ahLst/>
              <a:cxnLst>
                <a:cxn ang="0">
                  <a:pos x="189" y="343"/>
                </a:cxn>
                <a:cxn ang="0">
                  <a:pos x="222" y="336"/>
                </a:cxn>
                <a:cxn ang="0">
                  <a:pos x="253" y="322"/>
                </a:cxn>
                <a:cxn ang="0">
                  <a:pos x="280" y="304"/>
                </a:cxn>
                <a:cxn ang="0">
                  <a:pos x="303" y="282"/>
                </a:cxn>
                <a:cxn ang="0">
                  <a:pos x="321" y="254"/>
                </a:cxn>
                <a:cxn ang="0">
                  <a:pos x="335" y="224"/>
                </a:cxn>
                <a:cxn ang="0">
                  <a:pos x="342" y="190"/>
                </a:cxn>
                <a:cxn ang="0">
                  <a:pos x="342" y="154"/>
                </a:cxn>
                <a:cxn ang="0">
                  <a:pos x="335" y="122"/>
                </a:cxn>
                <a:cxn ang="0">
                  <a:pos x="321" y="91"/>
                </a:cxn>
                <a:cxn ang="0">
                  <a:pos x="303" y="64"/>
                </a:cxn>
                <a:cxn ang="0">
                  <a:pos x="280" y="40"/>
                </a:cxn>
                <a:cxn ang="0">
                  <a:pos x="253" y="22"/>
                </a:cxn>
                <a:cxn ang="0">
                  <a:pos x="222" y="9"/>
                </a:cxn>
                <a:cxn ang="0">
                  <a:pos x="189" y="1"/>
                </a:cxn>
                <a:cxn ang="0">
                  <a:pos x="154" y="1"/>
                </a:cxn>
                <a:cxn ang="0">
                  <a:pos x="121" y="9"/>
                </a:cxn>
                <a:cxn ang="0">
                  <a:pos x="90" y="22"/>
                </a:cxn>
                <a:cxn ang="0">
                  <a:pos x="63" y="40"/>
                </a:cxn>
                <a:cxn ang="0">
                  <a:pos x="40" y="64"/>
                </a:cxn>
                <a:cxn ang="0">
                  <a:pos x="21" y="91"/>
                </a:cxn>
                <a:cxn ang="0">
                  <a:pos x="8" y="122"/>
                </a:cxn>
                <a:cxn ang="0">
                  <a:pos x="1" y="154"/>
                </a:cxn>
                <a:cxn ang="0">
                  <a:pos x="1" y="190"/>
                </a:cxn>
                <a:cxn ang="0">
                  <a:pos x="8" y="224"/>
                </a:cxn>
                <a:cxn ang="0">
                  <a:pos x="21" y="254"/>
                </a:cxn>
                <a:cxn ang="0">
                  <a:pos x="40" y="282"/>
                </a:cxn>
                <a:cxn ang="0">
                  <a:pos x="63" y="304"/>
                </a:cxn>
                <a:cxn ang="0">
                  <a:pos x="90" y="322"/>
                </a:cxn>
                <a:cxn ang="0">
                  <a:pos x="121" y="336"/>
                </a:cxn>
                <a:cxn ang="0">
                  <a:pos x="154" y="343"/>
                </a:cxn>
              </a:cxnLst>
              <a:rect l="0" t="0" r="r" b="b"/>
              <a:pathLst>
                <a:path w="343" h="344">
                  <a:moveTo>
                    <a:pt x="172" y="344"/>
                  </a:moveTo>
                  <a:lnTo>
                    <a:pt x="189" y="343"/>
                  </a:lnTo>
                  <a:lnTo>
                    <a:pt x="205" y="340"/>
                  </a:lnTo>
                  <a:lnTo>
                    <a:pt x="222" y="336"/>
                  </a:lnTo>
                  <a:lnTo>
                    <a:pt x="238" y="331"/>
                  </a:lnTo>
                  <a:lnTo>
                    <a:pt x="253" y="322"/>
                  </a:lnTo>
                  <a:lnTo>
                    <a:pt x="267" y="314"/>
                  </a:lnTo>
                  <a:lnTo>
                    <a:pt x="280" y="304"/>
                  </a:lnTo>
                  <a:lnTo>
                    <a:pt x="292" y="293"/>
                  </a:lnTo>
                  <a:lnTo>
                    <a:pt x="303" y="282"/>
                  </a:lnTo>
                  <a:lnTo>
                    <a:pt x="313" y="268"/>
                  </a:lnTo>
                  <a:lnTo>
                    <a:pt x="321" y="254"/>
                  </a:lnTo>
                  <a:lnTo>
                    <a:pt x="330" y="239"/>
                  </a:lnTo>
                  <a:lnTo>
                    <a:pt x="335" y="224"/>
                  </a:lnTo>
                  <a:lnTo>
                    <a:pt x="339" y="206"/>
                  </a:lnTo>
                  <a:lnTo>
                    <a:pt x="342" y="190"/>
                  </a:lnTo>
                  <a:lnTo>
                    <a:pt x="343" y="173"/>
                  </a:lnTo>
                  <a:lnTo>
                    <a:pt x="342" y="154"/>
                  </a:lnTo>
                  <a:lnTo>
                    <a:pt x="339" y="138"/>
                  </a:lnTo>
                  <a:lnTo>
                    <a:pt x="335" y="122"/>
                  </a:lnTo>
                  <a:lnTo>
                    <a:pt x="330" y="105"/>
                  </a:lnTo>
                  <a:lnTo>
                    <a:pt x="321" y="91"/>
                  </a:lnTo>
                  <a:lnTo>
                    <a:pt x="313" y="77"/>
                  </a:lnTo>
                  <a:lnTo>
                    <a:pt x="303" y="64"/>
                  </a:lnTo>
                  <a:lnTo>
                    <a:pt x="292" y="51"/>
                  </a:lnTo>
                  <a:lnTo>
                    <a:pt x="280" y="40"/>
                  </a:lnTo>
                  <a:lnTo>
                    <a:pt x="267" y="30"/>
                  </a:lnTo>
                  <a:lnTo>
                    <a:pt x="253" y="22"/>
                  </a:lnTo>
                  <a:lnTo>
                    <a:pt x="238" y="15"/>
                  </a:lnTo>
                  <a:lnTo>
                    <a:pt x="222" y="9"/>
                  </a:lnTo>
                  <a:lnTo>
                    <a:pt x="205" y="4"/>
                  </a:lnTo>
                  <a:lnTo>
                    <a:pt x="189" y="1"/>
                  </a:lnTo>
                  <a:lnTo>
                    <a:pt x="172" y="0"/>
                  </a:lnTo>
                  <a:lnTo>
                    <a:pt x="154" y="1"/>
                  </a:lnTo>
                  <a:lnTo>
                    <a:pt x="137" y="4"/>
                  </a:lnTo>
                  <a:lnTo>
                    <a:pt x="121" y="9"/>
                  </a:lnTo>
                  <a:lnTo>
                    <a:pt x="105" y="15"/>
                  </a:lnTo>
                  <a:lnTo>
                    <a:pt x="90" y="22"/>
                  </a:lnTo>
                  <a:lnTo>
                    <a:pt x="76" y="30"/>
                  </a:lnTo>
                  <a:lnTo>
                    <a:pt x="63" y="40"/>
                  </a:lnTo>
                  <a:lnTo>
                    <a:pt x="51" y="51"/>
                  </a:lnTo>
                  <a:lnTo>
                    <a:pt x="40" y="64"/>
                  </a:lnTo>
                  <a:lnTo>
                    <a:pt x="30" y="77"/>
                  </a:lnTo>
                  <a:lnTo>
                    <a:pt x="21" y="91"/>
                  </a:lnTo>
                  <a:lnTo>
                    <a:pt x="14" y="105"/>
                  </a:lnTo>
                  <a:lnTo>
                    <a:pt x="8" y="122"/>
                  </a:lnTo>
                  <a:lnTo>
                    <a:pt x="4" y="138"/>
                  </a:lnTo>
                  <a:lnTo>
                    <a:pt x="1" y="154"/>
                  </a:lnTo>
                  <a:lnTo>
                    <a:pt x="0" y="173"/>
                  </a:lnTo>
                  <a:lnTo>
                    <a:pt x="1" y="190"/>
                  </a:lnTo>
                  <a:lnTo>
                    <a:pt x="4" y="206"/>
                  </a:lnTo>
                  <a:lnTo>
                    <a:pt x="8" y="224"/>
                  </a:lnTo>
                  <a:lnTo>
                    <a:pt x="14" y="239"/>
                  </a:lnTo>
                  <a:lnTo>
                    <a:pt x="21" y="254"/>
                  </a:lnTo>
                  <a:lnTo>
                    <a:pt x="30" y="268"/>
                  </a:lnTo>
                  <a:lnTo>
                    <a:pt x="40" y="282"/>
                  </a:lnTo>
                  <a:lnTo>
                    <a:pt x="51" y="293"/>
                  </a:lnTo>
                  <a:lnTo>
                    <a:pt x="63" y="304"/>
                  </a:lnTo>
                  <a:lnTo>
                    <a:pt x="76" y="314"/>
                  </a:lnTo>
                  <a:lnTo>
                    <a:pt x="90" y="322"/>
                  </a:lnTo>
                  <a:lnTo>
                    <a:pt x="105" y="331"/>
                  </a:lnTo>
                  <a:lnTo>
                    <a:pt x="121" y="336"/>
                  </a:lnTo>
                  <a:lnTo>
                    <a:pt x="137" y="340"/>
                  </a:lnTo>
                  <a:lnTo>
                    <a:pt x="154" y="343"/>
                  </a:lnTo>
                  <a:lnTo>
                    <a:pt x="17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8" name="Freeform 8">
              <a:extLst>
                <a:ext uri="{FF2B5EF4-FFF2-40B4-BE49-F238E27FC236}">
                  <a16:creationId xmlns:a16="http://schemas.microsoft.com/office/drawing/2014/main" id="{EF87B5FD-9F01-4425-B435-D83E96AEC8FC}"/>
                </a:ext>
              </a:extLst>
            </p:cNvPr>
            <p:cNvSpPr>
              <a:spLocks/>
            </p:cNvSpPr>
            <p:nvPr/>
          </p:nvSpPr>
          <p:spPr bwMode="gray">
            <a:xfrm>
              <a:off x="10813529" y="1194489"/>
              <a:ext cx="36513" cy="36513"/>
            </a:xfrm>
            <a:custGeom>
              <a:avLst/>
              <a:gdLst/>
              <a:ahLst/>
              <a:cxnLst>
                <a:cxn ang="0">
                  <a:pos x="188" y="343"/>
                </a:cxn>
                <a:cxn ang="0">
                  <a:pos x="221" y="336"/>
                </a:cxn>
                <a:cxn ang="0">
                  <a:pos x="252" y="322"/>
                </a:cxn>
                <a:cxn ang="0">
                  <a:pos x="279" y="304"/>
                </a:cxn>
                <a:cxn ang="0">
                  <a:pos x="303" y="282"/>
                </a:cxn>
                <a:cxn ang="0">
                  <a:pos x="321" y="254"/>
                </a:cxn>
                <a:cxn ang="0">
                  <a:pos x="334" y="224"/>
                </a:cxn>
                <a:cxn ang="0">
                  <a:pos x="340" y="190"/>
                </a:cxn>
                <a:cxn ang="0">
                  <a:pos x="340" y="154"/>
                </a:cxn>
                <a:cxn ang="0">
                  <a:pos x="334" y="122"/>
                </a:cxn>
                <a:cxn ang="0">
                  <a:pos x="321" y="91"/>
                </a:cxn>
                <a:cxn ang="0">
                  <a:pos x="303" y="64"/>
                </a:cxn>
                <a:cxn ang="0">
                  <a:pos x="279" y="40"/>
                </a:cxn>
                <a:cxn ang="0">
                  <a:pos x="252" y="22"/>
                </a:cxn>
                <a:cxn ang="0">
                  <a:pos x="221" y="9"/>
                </a:cxn>
                <a:cxn ang="0">
                  <a:pos x="188" y="1"/>
                </a:cxn>
                <a:cxn ang="0">
                  <a:pos x="153" y="1"/>
                </a:cxn>
                <a:cxn ang="0">
                  <a:pos x="120" y="9"/>
                </a:cxn>
                <a:cxn ang="0">
                  <a:pos x="89" y="22"/>
                </a:cxn>
                <a:cxn ang="0">
                  <a:pos x="62" y="40"/>
                </a:cxn>
                <a:cxn ang="0">
                  <a:pos x="38" y="64"/>
                </a:cxn>
                <a:cxn ang="0">
                  <a:pos x="20" y="91"/>
                </a:cxn>
                <a:cxn ang="0">
                  <a:pos x="7" y="122"/>
                </a:cxn>
                <a:cxn ang="0">
                  <a:pos x="1" y="154"/>
                </a:cxn>
                <a:cxn ang="0">
                  <a:pos x="1" y="190"/>
                </a:cxn>
                <a:cxn ang="0">
                  <a:pos x="7" y="224"/>
                </a:cxn>
                <a:cxn ang="0">
                  <a:pos x="20" y="254"/>
                </a:cxn>
                <a:cxn ang="0">
                  <a:pos x="38" y="282"/>
                </a:cxn>
                <a:cxn ang="0">
                  <a:pos x="62" y="304"/>
                </a:cxn>
                <a:cxn ang="0">
                  <a:pos x="89" y="322"/>
                </a:cxn>
                <a:cxn ang="0">
                  <a:pos x="120" y="336"/>
                </a:cxn>
                <a:cxn ang="0">
                  <a:pos x="153" y="343"/>
                </a:cxn>
              </a:cxnLst>
              <a:rect l="0" t="0" r="r" b="b"/>
              <a:pathLst>
                <a:path w="341" h="344">
                  <a:moveTo>
                    <a:pt x="170" y="344"/>
                  </a:moveTo>
                  <a:lnTo>
                    <a:pt x="188" y="343"/>
                  </a:lnTo>
                  <a:lnTo>
                    <a:pt x="205" y="340"/>
                  </a:lnTo>
                  <a:lnTo>
                    <a:pt x="221" y="336"/>
                  </a:lnTo>
                  <a:lnTo>
                    <a:pt x="237" y="331"/>
                  </a:lnTo>
                  <a:lnTo>
                    <a:pt x="252" y="322"/>
                  </a:lnTo>
                  <a:lnTo>
                    <a:pt x="266" y="314"/>
                  </a:lnTo>
                  <a:lnTo>
                    <a:pt x="279" y="304"/>
                  </a:lnTo>
                  <a:lnTo>
                    <a:pt x="291" y="293"/>
                  </a:lnTo>
                  <a:lnTo>
                    <a:pt x="303" y="282"/>
                  </a:lnTo>
                  <a:lnTo>
                    <a:pt x="312" y="268"/>
                  </a:lnTo>
                  <a:lnTo>
                    <a:pt x="321" y="254"/>
                  </a:lnTo>
                  <a:lnTo>
                    <a:pt x="328" y="239"/>
                  </a:lnTo>
                  <a:lnTo>
                    <a:pt x="334" y="224"/>
                  </a:lnTo>
                  <a:lnTo>
                    <a:pt x="338" y="206"/>
                  </a:lnTo>
                  <a:lnTo>
                    <a:pt x="340" y="190"/>
                  </a:lnTo>
                  <a:lnTo>
                    <a:pt x="341" y="173"/>
                  </a:lnTo>
                  <a:lnTo>
                    <a:pt x="340" y="154"/>
                  </a:lnTo>
                  <a:lnTo>
                    <a:pt x="338" y="138"/>
                  </a:lnTo>
                  <a:lnTo>
                    <a:pt x="334" y="122"/>
                  </a:lnTo>
                  <a:lnTo>
                    <a:pt x="328" y="105"/>
                  </a:lnTo>
                  <a:lnTo>
                    <a:pt x="321" y="91"/>
                  </a:lnTo>
                  <a:lnTo>
                    <a:pt x="312" y="77"/>
                  </a:lnTo>
                  <a:lnTo>
                    <a:pt x="303" y="64"/>
                  </a:lnTo>
                  <a:lnTo>
                    <a:pt x="291" y="51"/>
                  </a:lnTo>
                  <a:lnTo>
                    <a:pt x="279" y="40"/>
                  </a:lnTo>
                  <a:lnTo>
                    <a:pt x="266" y="30"/>
                  </a:lnTo>
                  <a:lnTo>
                    <a:pt x="252" y="22"/>
                  </a:lnTo>
                  <a:lnTo>
                    <a:pt x="237" y="15"/>
                  </a:lnTo>
                  <a:lnTo>
                    <a:pt x="221" y="9"/>
                  </a:lnTo>
                  <a:lnTo>
                    <a:pt x="205" y="4"/>
                  </a:lnTo>
                  <a:lnTo>
                    <a:pt x="188" y="1"/>
                  </a:lnTo>
                  <a:lnTo>
                    <a:pt x="170" y="0"/>
                  </a:lnTo>
                  <a:lnTo>
                    <a:pt x="153" y="1"/>
                  </a:lnTo>
                  <a:lnTo>
                    <a:pt x="136" y="4"/>
                  </a:lnTo>
                  <a:lnTo>
                    <a:pt x="120" y="9"/>
                  </a:lnTo>
                  <a:lnTo>
                    <a:pt x="104" y="15"/>
                  </a:lnTo>
                  <a:lnTo>
                    <a:pt x="89" y="22"/>
                  </a:lnTo>
                  <a:lnTo>
                    <a:pt x="75" y="30"/>
                  </a:lnTo>
                  <a:lnTo>
                    <a:pt x="62" y="40"/>
                  </a:lnTo>
                  <a:lnTo>
                    <a:pt x="49" y="51"/>
                  </a:lnTo>
                  <a:lnTo>
                    <a:pt x="38" y="64"/>
                  </a:lnTo>
                  <a:lnTo>
                    <a:pt x="29" y="77"/>
                  </a:lnTo>
                  <a:lnTo>
                    <a:pt x="20" y="91"/>
                  </a:lnTo>
                  <a:lnTo>
                    <a:pt x="13" y="105"/>
                  </a:lnTo>
                  <a:lnTo>
                    <a:pt x="7" y="122"/>
                  </a:lnTo>
                  <a:lnTo>
                    <a:pt x="3" y="138"/>
                  </a:lnTo>
                  <a:lnTo>
                    <a:pt x="1" y="154"/>
                  </a:lnTo>
                  <a:lnTo>
                    <a:pt x="0" y="173"/>
                  </a:lnTo>
                  <a:lnTo>
                    <a:pt x="1" y="190"/>
                  </a:lnTo>
                  <a:lnTo>
                    <a:pt x="3" y="206"/>
                  </a:lnTo>
                  <a:lnTo>
                    <a:pt x="7" y="224"/>
                  </a:lnTo>
                  <a:lnTo>
                    <a:pt x="13" y="239"/>
                  </a:lnTo>
                  <a:lnTo>
                    <a:pt x="20" y="254"/>
                  </a:lnTo>
                  <a:lnTo>
                    <a:pt x="29" y="268"/>
                  </a:lnTo>
                  <a:lnTo>
                    <a:pt x="38" y="282"/>
                  </a:lnTo>
                  <a:lnTo>
                    <a:pt x="49" y="293"/>
                  </a:lnTo>
                  <a:lnTo>
                    <a:pt x="62" y="304"/>
                  </a:lnTo>
                  <a:lnTo>
                    <a:pt x="75" y="314"/>
                  </a:lnTo>
                  <a:lnTo>
                    <a:pt x="89" y="322"/>
                  </a:lnTo>
                  <a:lnTo>
                    <a:pt x="104" y="331"/>
                  </a:lnTo>
                  <a:lnTo>
                    <a:pt x="120" y="336"/>
                  </a:lnTo>
                  <a:lnTo>
                    <a:pt x="136" y="340"/>
                  </a:lnTo>
                  <a:lnTo>
                    <a:pt x="153" y="343"/>
                  </a:lnTo>
                  <a:lnTo>
                    <a:pt x="170"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9" name="Freeform 9">
              <a:extLst>
                <a:ext uri="{FF2B5EF4-FFF2-40B4-BE49-F238E27FC236}">
                  <a16:creationId xmlns:a16="http://schemas.microsoft.com/office/drawing/2014/main" id="{27E2F33C-A10E-457B-A416-C1D2C379F877}"/>
                </a:ext>
              </a:extLst>
            </p:cNvPr>
            <p:cNvSpPr>
              <a:spLocks/>
            </p:cNvSpPr>
            <p:nvPr/>
          </p:nvSpPr>
          <p:spPr bwMode="gray">
            <a:xfrm>
              <a:off x="10867504" y="1194489"/>
              <a:ext cx="36513" cy="36513"/>
            </a:xfrm>
            <a:custGeom>
              <a:avLst/>
              <a:gdLst/>
              <a:ahLst/>
              <a:cxnLst>
                <a:cxn ang="0">
                  <a:pos x="189" y="343"/>
                </a:cxn>
                <a:cxn ang="0">
                  <a:pos x="222" y="336"/>
                </a:cxn>
                <a:cxn ang="0">
                  <a:pos x="253" y="322"/>
                </a:cxn>
                <a:cxn ang="0">
                  <a:pos x="280" y="304"/>
                </a:cxn>
                <a:cxn ang="0">
                  <a:pos x="303" y="282"/>
                </a:cxn>
                <a:cxn ang="0">
                  <a:pos x="322" y="254"/>
                </a:cxn>
                <a:cxn ang="0">
                  <a:pos x="335" y="224"/>
                </a:cxn>
                <a:cxn ang="0">
                  <a:pos x="342" y="190"/>
                </a:cxn>
                <a:cxn ang="0">
                  <a:pos x="342" y="154"/>
                </a:cxn>
                <a:cxn ang="0">
                  <a:pos x="335" y="122"/>
                </a:cxn>
                <a:cxn ang="0">
                  <a:pos x="322" y="91"/>
                </a:cxn>
                <a:cxn ang="0">
                  <a:pos x="303" y="64"/>
                </a:cxn>
                <a:cxn ang="0">
                  <a:pos x="280" y="40"/>
                </a:cxn>
                <a:cxn ang="0">
                  <a:pos x="253" y="22"/>
                </a:cxn>
                <a:cxn ang="0">
                  <a:pos x="222" y="9"/>
                </a:cxn>
                <a:cxn ang="0">
                  <a:pos x="189" y="1"/>
                </a:cxn>
                <a:cxn ang="0">
                  <a:pos x="154" y="1"/>
                </a:cxn>
                <a:cxn ang="0">
                  <a:pos x="121" y="9"/>
                </a:cxn>
                <a:cxn ang="0">
                  <a:pos x="90" y="22"/>
                </a:cxn>
                <a:cxn ang="0">
                  <a:pos x="63" y="40"/>
                </a:cxn>
                <a:cxn ang="0">
                  <a:pos x="40" y="64"/>
                </a:cxn>
                <a:cxn ang="0">
                  <a:pos x="21" y="91"/>
                </a:cxn>
                <a:cxn ang="0">
                  <a:pos x="8" y="122"/>
                </a:cxn>
                <a:cxn ang="0">
                  <a:pos x="1" y="154"/>
                </a:cxn>
                <a:cxn ang="0">
                  <a:pos x="1" y="190"/>
                </a:cxn>
                <a:cxn ang="0">
                  <a:pos x="8" y="224"/>
                </a:cxn>
                <a:cxn ang="0">
                  <a:pos x="21" y="254"/>
                </a:cxn>
                <a:cxn ang="0">
                  <a:pos x="40" y="282"/>
                </a:cxn>
                <a:cxn ang="0">
                  <a:pos x="63" y="304"/>
                </a:cxn>
                <a:cxn ang="0">
                  <a:pos x="90" y="322"/>
                </a:cxn>
                <a:cxn ang="0">
                  <a:pos x="121" y="336"/>
                </a:cxn>
                <a:cxn ang="0">
                  <a:pos x="154" y="343"/>
                </a:cxn>
              </a:cxnLst>
              <a:rect l="0" t="0" r="r" b="b"/>
              <a:pathLst>
                <a:path w="343" h="344">
                  <a:moveTo>
                    <a:pt x="172" y="344"/>
                  </a:moveTo>
                  <a:lnTo>
                    <a:pt x="189" y="343"/>
                  </a:lnTo>
                  <a:lnTo>
                    <a:pt x="206" y="340"/>
                  </a:lnTo>
                  <a:lnTo>
                    <a:pt x="222" y="336"/>
                  </a:lnTo>
                  <a:lnTo>
                    <a:pt x="238" y="331"/>
                  </a:lnTo>
                  <a:lnTo>
                    <a:pt x="253" y="322"/>
                  </a:lnTo>
                  <a:lnTo>
                    <a:pt x="267" y="314"/>
                  </a:lnTo>
                  <a:lnTo>
                    <a:pt x="280" y="304"/>
                  </a:lnTo>
                  <a:lnTo>
                    <a:pt x="292" y="293"/>
                  </a:lnTo>
                  <a:lnTo>
                    <a:pt x="303" y="282"/>
                  </a:lnTo>
                  <a:lnTo>
                    <a:pt x="313" y="268"/>
                  </a:lnTo>
                  <a:lnTo>
                    <a:pt x="322" y="254"/>
                  </a:lnTo>
                  <a:lnTo>
                    <a:pt x="329" y="239"/>
                  </a:lnTo>
                  <a:lnTo>
                    <a:pt x="335" y="224"/>
                  </a:lnTo>
                  <a:lnTo>
                    <a:pt x="339" y="206"/>
                  </a:lnTo>
                  <a:lnTo>
                    <a:pt x="342" y="190"/>
                  </a:lnTo>
                  <a:lnTo>
                    <a:pt x="343" y="173"/>
                  </a:lnTo>
                  <a:lnTo>
                    <a:pt x="342" y="154"/>
                  </a:lnTo>
                  <a:lnTo>
                    <a:pt x="339" y="138"/>
                  </a:lnTo>
                  <a:lnTo>
                    <a:pt x="335" y="122"/>
                  </a:lnTo>
                  <a:lnTo>
                    <a:pt x="329" y="105"/>
                  </a:lnTo>
                  <a:lnTo>
                    <a:pt x="322" y="91"/>
                  </a:lnTo>
                  <a:lnTo>
                    <a:pt x="313" y="77"/>
                  </a:lnTo>
                  <a:lnTo>
                    <a:pt x="303" y="64"/>
                  </a:lnTo>
                  <a:lnTo>
                    <a:pt x="292" y="51"/>
                  </a:lnTo>
                  <a:lnTo>
                    <a:pt x="280" y="40"/>
                  </a:lnTo>
                  <a:lnTo>
                    <a:pt x="267" y="30"/>
                  </a:lnTo>
                  <a:lnTo>
                    <a:pt x="253" y="22"/>
                  </a:lnTo>
                  <a:lnTo>
                    <a:pt x="238" y="15"/>
                  </a:lnTo>
                  <a:lnTo>
                    <a:pt x="222" y="9"/>
                  </a:lnTo>
                  <a:lnTo>
                    <a:pt x="206" y="4"/>
                  </a:lnTo>
                  <a:lnTo>
                    <a:pt x="189" y="1"/>
                  </a:lnTo>
                  <a:lnTo>
                    <a:pt x="172" y="0"/>
                  </a:lnTo>
                  <a:lnTo>
                    <a:pt x="154" y="1"/>
                  </a:lnTo>
                  <a:lnTo>
                    <a:pt x="137" y="4"/>
                  </a:lnTo>
                  <a:lnTo>
                    <a:pt x="121" y="9"/>
                  </a:lnTo>
                  <a:lnTo>
                    <a:pt x="105" y="15"/>
                  </a:lnTo>
                  <a:lnTo>
                    <a:pt x="90" y="22"/>
                  </a:lnTo>
                  <a:lnTo>
                    <a:pt x="76" y="30"/>
                  </a:lnTo>
                  <a:lnTo>
                    <a:pt x="63" y="40"/>
                  </a:lnTo>
                  <a:lnTo>
                    <a:pt x="51" y="51"/>
                  </a:lnTo>
                  <a:lnTo>
                    <a:pt x="40" y="64"/>
                  </a:lnTo>
                  <a:lnTo>
                    <a:pt x="30" y="77"/>
                  </a:lnTo>
                  <a:lnTo>
                    <a:pt x="21" y="91"/>
                  </a:lnTo>
                  <a:lnTo>
                    <a:pt x="14" y="105"/>
                  </a:lnTo>
                  <a:lnTo>
                    <a:pt x="8" y="122"/>
                  </a:lnTo>
                  <a:lnTo>
                    <a:pt x="4" y="138"/>
                  </a:lnTo>
                  <a:lnTo>
                    <a:pt x="1" y="154"/>
                  </a:lnTo>
                  <a:lnTo>
                    <a:pt x="0" y="173"/>
                  </a:lnTo>
                  <a:lnTo>
                    <a:pt x="1" y="190"/>
                  </a:lnTo>
                  <a:lnTo>
                    <a:pt x="4" y="206"/>
                  </a:lnTo>
                  <a:lnTo>
                    <a:pt x="8" y="224"/>
                  </a:lnTo>
                  <a:lnTo>
                    <a:pt x="14" y="239"/>
                  </a:lnTo>
                  <a:lnTo>
                    <a:pt x="21" y="254"/>
                  </a:lnTo>
                  <a:lnTo>
                    <a:pt x="30" y="268"/>
                  </a:lnTo>
                  <a:lnTo>
                    <a:pt x="40" y="282"/>
                  </a:lnTo>
                  <a:lnTo>
                    <a:pt x="51" y="293"/>
                  </a:lnTo>
                  <a:lnTo>
                    <a:pt x="63" y="304"/>
                  </a:lnTo>
                  <a:lnTo>
                    <a:pt x="76" y="314"/>
                  </a:lnTo>
                  <a:lnTo>
                    <a:pt x="90" y="322"/>
                  </a:lnTo>
                  <a:lnTo>
                    <a:pt x="105" y="331"/>
                  </a:lnTo>
                  <a:lnTo>
                    <a:pt x="121" y="336"/>
                  </a:lnTo>
                  <a:lnTo>
                    <a:pt x="137" y="340"/>
                  </a:lnTo>
                  <a:lnTo>
                    <a:pt x="154" y="343"/>
                  </a:lnTo>
                  <a:lnTo>
                    <a:pt x="17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grpSp>
        <p:nvGrpSpPr>
          <p:cNvPr id="29" name="组合 188">
            <a:extLst>
              <a:ext uri="{FF2B5EF4-FFF2-40B4-BE49-F238E27FC236}">
                <a16:creationId xmlns:a16="http://schemas.microsoft.com/office/drawing/2014/main" id="{F772E709-7AEA-4153-B2F4-902D5DE4B43C}"/>
              </a:ext>
            </a:extLst>
          </p:cNvPr>
          <p:cNvGrpSpPr/>
          <p:nvPr/>
        </p:nvGrpSpPr>
        <p:grpSpPr bwMode="gray">
          <a:xfrm>
            <a:off x="6707883" y="5957749"/>
            <a:ext cx="53443" cy="9270"/>
            <a:chOff x="10707167" y="1445314"/>
            <a:chExt cx="196850" cy="36513"/>
          </a:xfrm>
          <a:solidFill>
            <a:schemeClr val="bg1"/>
          </a:solidFill>
        </p:grpSpPr>
        <p:sp>
          <p:nvSpPr>
            <p:cNvPr id="32" name="Freeform 10">
              <a:extLst>
                <a:ext uri="{FF2B5EF4-FFF2-40B4-BE49-F238E27FC236}">
                  <a16:creationId xmlns:a16="http://schemas.microsoft.com/office/drawing/2014/main" id="{AD2DE920-CC85-43A6-9E8F-12E3B8DA74DD}"/>
                </a:ext>
              </a:extLst>
            </p:cNvPr>
            <p:cNvSpPr>
              <a:spLocks/>
            </p:cNvSpPr>
            <p:nvPr/>
          </p:nvSpPr>
          <p:spPr bwMode="gray">
            <a:xfrm>
              <a:off x="10707167" y="1445314"/>
              <a:ext cx="36513" cy="36513"/>
            </a:xfrm>
            <a:custGeom>
              <a:avLst/>
              <a:gdLst/>
              <a:ahLst/>
              <a:cxnLst>
                <a:cxn ang="0">
                  <a:pos x="189" y="343"/>
                </a:cxn>
                <a:cxn ang="0">
                  <a:pos x="222" y="335"/>
                </a:cxn>
                <a:cxn ang="0">
                  <a:pos x="253" y="322"/>
                </a:cxn>
                <a:cxn ang="0">
                  <a:pos x="280" y="304"/>
                </a:cxn>
                <a:cxn ang="0">
                  <a:pos x="304" y="280"/>
                </a:cxn>
                <a:cxn ang="0">
                  <a:pos x="322" y="253"/>
                </a:cxn>
                <a:cxn ang="0">
                  <a:pos x="335" y="222"/>
                </a:cxn>
                <a:cxn ang="0">
                  <a:pos x="341" y="190"/>
                </a:cxn>
                <a:cxn ang="0">
                  <a:pos x="341" y="154"/>
                </a:cxn>
                <a:cxn ang="0">
                  <a:pos x="335" y="122"/>
                </a:cxn>
                <a:cxn ang="0">
                  <a:pos x="322" y="90"/>
                </a:cxn>
                <a:cxn ang="0">
                  <a:pos x="304" y="63"/>
                </a:cxn>
                <a:cxn ang="0">
                  <a:pos x="280" y="40"/>
                </a:cxn>
                <a:cxn ang="0">
                  <a:pos x="253" y="22"/>
                </a:cxn>
                <a:cxn ang="0">
                  <a:pos x="222" y="8"/>
                </a:cxn>
                <a:cxn ang="0">
                  <a:pos x="189" y="1"/>
                </a:cxn>
                <a:cxn ang="0">
                  <a:pos x="154" y="1"/>
                </a:cxn>
                <a:cxn ang="0">
                  <a:pos x="121" y="8"/>
                </a:cxn>
                <a:cxn ang="0">
                  <a:pos x="90" y="22"/>
                </a:cxn>
                <a:cxn ang="0">
                  <a:pos x="63" y="40"/>
                </a:cxn>
                <a:cxn ang="0">
                  <a:pos x="39" y="63"/>
                </a:cxn>
                <a:cxn ang="0">
                  <a:pos x="21" y="90"/>
                </a:cxn>
                <a:cxn ang="0">
                  <a:pos x="9" y="122"/>
                </a:cxn>
                <a:cxn ang="0">
                  <a:pos x="2" y="154"/>
                </a:cxn>
                <a:cxn ang="0">
                  <a:pos x="2" y="190"/>
                </a:cxn>
                <a:cxn ang="0">
                  <a:pos x="9" y="222"/>
                </a:cxn>
                <a:cxn ang="0">
                  <a:pos x="21" y="253"/>
                </a:cxn>
                <a:cxn ang="0">
                  <a:pos x="39" y="280"/>
                </a:cxn>
                <a:cxn ang="0">
                  <a:pos x="63" y="304"/>
                </a:cxn>
                <a:cxn ang="0">
                  <a:pos x="90" y="322"/>
                </a:cxn>
                <a:cxn ang="0">
                  <a:pos x="121" y="335"/>
                </a:cxn>
                <a:cxn ang="0">
                  <a:pos x="154" y="343"/>
                </a:cxn>
              </a:cxnLst>
              <a:rect l="0" t="0" r="r" b="b"/>
              <a:pathLst>
                <a:path w="342" h="344">
                  <a:moveTo>
                    <a:pt x="171" y="344"/>
                  </a:moveTo>
                  <a:lnTo>
                    <a:pt x="189" y="343"/>
                  </a:lnTo>
                  <a:lnTo>
                    <a:pt x="206" y="340"/>
                  </a:lnTo>
                  <a:lnTo>
                    <a:pt x="222" y="335"/>
                  </a:lnTo>
                  <a:lnTo>
                    <a:pt x="238" y="329"/>
                  </a:lnTo>
                  <a:lnTo>
                    <a:pt x="253" y="322"/>
                  </a:lnTo>
                  <a:lnTo>
                    <a:pt x="267" y="314"/>
                  </a:lnTo>
                  <a:lnTo>
                    <a:pt x="280" y="304"/>
                  </a:lnTo>
                  <a:lnTo>
                    <a:pt x="292" y="293"/>
                  </a:lnTo>
                  <a:lnTo>
                    <a:pt x="304" y="280"/>
                  </a:lnTo>
                  <a:lnTo>
                    <a:pt x="313" y="267"/>
                  </a:lnTo>
                  <a:lnTo>
                    <a:pt x="322" y="253"/>
                  </a:lnTo>
                  <a:lnTo>
                    <a:pt x="329" y="239"/>
                  </a:lnTo>
                  <a:lnTo>
                    <a:pt x="335" y="222"/>
                  </a:lnTo>
                  <a:lnTo>
                    <a:pt x="339" y="206"/>
                  </a:lnTo>
                  <a:lnTo>
                    <a:pt x="341" y="190"/>
                  </a:lnTo>
                  <a:lnTo>
                    <a:pt x="342" y="171"/>
                  </a:lnTo>
                  <a:lnTo>
                    <a:pt x="341" y="154"/>
                  </a:lnTo>
                  <a:lnTo>
                    <a:pt x="339" y="138"/>
                  </a:lnTo>
                  <a:lnTo>
                    <a:pt x="335" y="122"/>
                  </a:lnTo>
                  <a:lnTo>
                    <a:pt x="329" y="105"/>
                  </a:lnTo>
                  <a:lnTo>
                    <a:pt x="322" y="90"/>
                  </a:lnTo>
                  <a:lnTo>
                    <a:pt x="313" y="76"/>
                  </a:lnTo>
                  <a:lnTo>
                    <a:pt x="304" y="63"/>
                  </a:lnTo>
                  <a:lnTo>
                    <a:pt x="292" y="51"/>
                  </a:lnTo>
                  <a:lnTo>
                    <a:pt x="280" y="40"/>
                  </a:lnTo>
                  <a:lnTo>
                    <a:pt x="267" y="30"/>
                  </a:lnTo>
                  <a:lnTo>
                    <a:pt x="253" y="22"/>
                  </a:lnTo>
                  <a:lnTo>
                    <a:pt x="238" y="13"/>
                  </a:lnTo>
                  <a:lnTo>
                    <a:pt x="222" y="8"/>
                  </a:lnTo>
                  <a:lnTo>
                    <a:pt x="206" y="4"/>
                  </a:lnTo>
                  <a:lnTo>
                    <a:pt x="189" y="1"/>
                  </a:lnTo>
                  <a:lnTo>
                    <a:pt x="171" y="0"/>
                  </a:lnTo>
                  <a:lnTo>
                    <a:pt x="154" y="1"/>
                  </a:lnTo>
                  <a:lnTo>
                    <a:pt x="137" y="4"/>
                  </a:lnTo>
                  <a:lnTo>
                    <a:pt x="121" y="8"/>
                  </a:lnTo>
                  <a:lnTo>
                    <a:pt x="105" y="13"/>
                  </a:lnTo>
                  <a:lnTo>
                    <a:pt x="90" y="22"/>
                  </a:lnTo>
                  <a:lnTo>
                    <a:pt x="76" y="30"/>
                  </a:lnTo>
                  <a:lnTo>
                    <a:pt x="63" y="40"/>
                  </a:lnTo>
                  <a:lnTo>
                    <a:pt x="50" y="51"/>
                  </a:lnTo>
                  <a:lnTo>
                    <a:pt x="39" y="63"/>
                  </a:lnTo>
                  <a:lnTo>
                    <a:pt x="30" y="76"/>
                  </a:lnTo>
                  <a:lnTo>
                    <a:pt x="21" y="90"/>
                  </a:lnTo>
                  <a:lnTo>
                    <a:pt x="14" y="105"/>
                  </a:lnTo>
                  <a:lnTo>
                    <a:pt x="9" y="122"/>
                  </a:lnTo>
                  <a:lnTo>
                    <a:pt x="4" y="138"/>
                  </a:lnTo>
                  <a:lnTo>
                    <a:pt x="2" y="154"/>
                  </a:lnTo>
                  <a:lnTo>
                    <a:pt x="0" y="171"/>
                  </a:lnTo>
                  <a:lnTo>
                    <a:pt x="2" y="190"/>
                  </a:lnTo>
                  <a:lnTo>
                    <a:pt x="4" y="206"/>
                  </a:lnTo>
                  <a:lnTo>
                    <a:pt x="9" y="222"/>
                  </a:lnTo>
                  <a:lnTo>
                    <a:pt x="14" y="239"/>
                  </a:lnTo>
                  <a:lnTo>
                    <a:pt x="21" y="253"/>
                  </a:lnTo>
                  <a:lnTo>
                    <a:pt x="30" y="267"/>
                  </a:lnTo>
                  <a:lnTo>
                    <a:pt x="39" y="280"/>
                  </a:lnTo>
                  <a:lnTo>
                    <a:pt x="50" y="293"/>
                  </a:lnTo>
                  <a:lnTo>
                    <a:pt x="63" y="304"/>
                  </a:lnTo>
                  <a:lnTo>
                    <a:pt x="76" y="314"/>
                  </a:lnTo>
                  <a:lnTo>
                    <a:pt x="90" y="322"/>
                  </a:lnTo>
                  <a:lnTo>
                    <a:pt x="105" y="329"/>
                  </a:lnTo>
                  <a:lnTo>
                    <a:pt x="121" y="335"/>
                  </a:lnTo>
                  <a:lnTo>
                    <a:pt x="137" y="340"/>
                  </a:lnTo>
                  <a:lnTo>
                    <a:pt x="154" y="343"/>
                  </a:lnTo>
                  <a:lnTo>
                    <a:pt x="171"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3" name="Freeform 11">
              <a:extLst>
                <a:ext uri="{FF2B5EF4-FFF2-40B4-BE49-F238E27FC236}">
                  <a16:creationId xmlns:a16="http://schemas.microsoft.com/office/drawing/2014/main" id="{FF837FE9-333F-4DAE-908F-07C6D84BFF4D}"/>
                </a:ext>
              </a:extLst>
            </p:cNvPr>
            <p:cNvSpPr>
              <a:spLocks/>
            </p:cNvSpPr>
            <p:nvPr/>
          </p:nvSpPr>
          <p:spPr bwMode="gray">
            <a:xfrm>
              <a:off x="10761142" y="1445314"/>
              <a:ext cx="36513" cy="36513"/>
            </a:xfrm>
            <a:custGeom>
              <a:avLst/>
              <a:gdLst/>
              <a:ahLst/>
              <a:cxnLst>
                <a:cxn ang="0">
                  <a:pos x="189" y="343"/>
                </a:cxn>
                <a:cxn ang="0">
                  <a:pos x="222" y="335"/>
                </a:cxn>
                <a:cxn ang="0">
                  <a:pos x="253" y="322"/>
                </a:cxn>
                <a:cxn ang="0">
                  <a:pos x="280" y="304"/>
                </a:cxn>
                <a:cxn ang="0">
                  <a:pos x="303" y="280"/>
                </a:cxn>
                <a:cxn ang="0">
                  <a:pos x="321" y="253"/>
                </a:cxn>
                <a:cxn ang="0">
                  <a:pos x="335" y="222"/>
                </a:cxn>
                <a:cxn ang="0">
                  <a:pos x="342" y="190"/>
                </a:cxn>
                <a:cxn ang="0">
                  <a:pos x="342" y="154"/>
                </a:cxn>
                <a:cxn ang="0">
                  <a:pos x="335" y="122"/>
                </a:cxn>
                <a:cxn ang="0">
                  <a:pos x="321" y="90"/>
                </a:cxn>
                <a:cxn ang="0">
                  <a:pos x="303" y="63"/>
                </a:cxn>
                <a:cxn ang="0">
                  <a:pos x="280" y="40"/>
                </a:cxn>
                <a:cxn ang="0">
                  <a:pos x="253" y="22"/>
                </a:cxn>
                <a:cxn ang="0">
                  <a:pos x="222" y="8"/>
                </a:cxn>
                <a:cxn ang="0">
                  <a:pos x="189" y="1"/>
                </a:cxn>
                <a:cxn ang="0">
                  <a:pos x="154" y="1"/>
                </a:cxn>
                <a:cxn ang="0">
                  <a:pos x="121" y="8"/>
                </a:cxn>
                <a:cxn ang="0">
                  <a:pos x="90" y="22"/>
                </a:cxn>
                <a:cxn ang="0">
                  <a:pos x="63" y="40"/>
                </a:cxn>
                <a:cxn ang="0">
                  <a:pos x="40" y="63"/>
                </a:cxn>
                <a:cxn ang="0">
                  <a:pos x="21" y="90"/>
                </a:cxn>
                <a:cxn ang="0">
                  <a:pos x="8" y="122"/>
                </a:cxn>
                <a:cxn ang="0">
                  <a:pos x="1" y="154"/>
                </a:cxn>
                <a:cxn ang="0">
                  <a:pos x="1" y="190"/>
                </a:cxn>
                <a:cxn ang="0">
                  <a:pos x="8" y="222"/>
                </a:cxn>
                <a:cxn ang="0">
                  <a:pos x="21" y="253"/>
                </a:cxn>
                <a:cxn ang="0">
                  <a:pos x="40" y="280"/>
                </a:cxn>
                <a:cxn ang="0">
                  <a:pos x="63" y="304"/>
                </a:cxn>
                <a:cxn ang="0">
                  <a:pos x="90" y="322"/>
                </a:cxn>
                <a:cxn ang="0">
                  <a:pos x="121" y="335"/>
                </a:cxn>
                <a:cxn ang="0">
                  <a:pos x="154" y="343"/>
                </a:cxn>
              </a:cxnLst>
              <a:rect l="0" t="0" r="r" b="b"/>
              <a:pathLst>
                <a:path w="343" h="344">
                  <a:moveTo>
                    <a:pt x="172" y="344"/>
                  </a:moveTo>
                  <a:lnTo>
                    <a:pt x="189" y="343"/>
                  </a:lnTo>
                  <a:lnTo>
                    <a:pt x="205" y="340"/>
                  </a:lnTo>
                  <a:lnTo>
                    <a:pt x="222" y="335"/>
                  </a:lnTo>
                  <a:lnTo>
                    <a:pt x="238" y="329"/>
                  </a:lnTo>
                  <a:lnTo>
                    <a:pt x="253" y="322"/>
                  </a:lnTo>
                  <a:lnTo>
                    <a:pt x="267" y="314"/>
                  </a:lnTo>
                  <a:lnTo>
                    <a:pt x="280" y="304"/>
                  </a:lnTo>
                  <a:lnTo>
                    <a:pt x="292" y="293"/>
                  </a:lnTo>
                  <a:lnTo>
                    <a:pt x="303" y="280"/>
                  </a:lnTo>
                  <a:lnTo>
                    <a:pt x="313" y="267"/>
                  </a:lnTo>
                  <a:lnTo>
                    <a:pt x="321" y="253"/>
                  </a:lnTo>
                  <a:lnTo>
                    <a:pt x="330" y="239"/>
                  </a:lnTo>
                  <a:lnTo>
                    <a:pt x="335" y="222"/>
                  </a:lnTo>
                  <a:lnTo>
                    <a:pt x="339" y="206"/>
                  </a:lnTo>
                  <a:lnTo>
                    <a:pt x="342" y="190"/>
                  </a:lnTo>
                  <a:lnTo>
                    <a:pt x="343" y="171"/>
                  </a:lnTo>
                  <a:lnTo>
                    <a:pt x="342" y="154"/>
                  </a:lnTo>
                  <a:lnTo>
                    <a:pt x="339" y="138"/>
                  </a:lnTo>
                  <a:lnTo>
                    <a:pt x="335" y="122"/>
                  </a:lnTo>
                  <a:lnTo>
                    <a:pt x="330" y="105"/>
                  </a:lnTo>
                  <a:lnTo>
                    <a:pt x="321" y="90"/>
                  </a:lnTo>
                  <a:lnTo>
                    <a:pt x="313" y="76"/>
                  </a:lnTo>
                  <a:lnTo>
                    <a:pt x="303" y="63"/>
                  </a:lnTo>
                  <a:lnTo>
                    <a:pt x="292" y="51"/>
                  </a:lnTo>
                  <a:lnTo>
                    <a:pt x="280" y="40"/>
                  </a:lnTo>
                  <a:lnTo>
                    <a:pt x="267" y="30"/>
                  </a:lnTo>
                  <a:lnTo>
                    <a:pt x="253" y="22"/>
                  </a:lnTo>
                  <a:lnTo>
                    <a:pt x="238" y="13"/>
                  </a:lnTo>
                  <a:lnTo>
                    <a:pt x="222" y="8"/>
                  </a:lnTo>
                  <a:lnTo>
                    <a:pt x="205" y="4"/>
                  </a:lnTo>
                  <a:lnTo>
                    <a:pt x="189" y="1"/>
                  </a:lnTo>
                  <a:lnTo>
                    <a:pt x="172" y="0"/>
                  </a:lnTo>
                  <a:lnTo>
                    <a:pt x="154" y="1"/>
                  </a:lnTo>
                  <a:lnTo>
                    <a:pt x="137" y="4"/>
                  </a:lnTo>
                  <a:lnTo>
                    <a:pt x="121" y="8"/>
                  </a:lnTo>
                  <a:lnTo>
                    <a:pt x="105" y="13"/>
                  </a:lnTo>
                  <a:lnTo>
                    <a:pt x="90" y="22"/>
                  </a:lnTo>
                  <a:lnTo>
                    <a:pt x="76" y="30"/>
                  </a:lnTo>
                  <a:lnTo>
                    <a:pt x="63" y="40"/>
                  </a:lnTo>
                  <a:lnTo>
                    <a:pt x="51" y="51"/>
                  </a:lnTo>
                  <a:lnTo>
                    <a:pt x="40" y="63"/>
                  </a:lnTo>
                  <a:lnTo>
                    <a:pt x="30" y="76"/>
                  </a:lnTo>
                  <a:lnTo>
                    <a:pt x="21" y="90"/>
                  </a:lnTo>
                  <a:lnTo>
                    <a:pt x="14" y="105"/>
                  </a:lnTo>
                  <a:lnTo>
                    <a:pt x="8" y="122"/>
                  </a:lnTo>
                  <a:lnTo>
                    <a:pt x="4" y="138"/>
                  </a:lnTo>
                  <a:lnTo>
                    <a:pt x="1" y="154"/>
                  </a:lnTo>
                  <a:lnTo>
                    <a:pt x="0" y="171"/>
                  </a:lnTo>
                  <a:lnTo>
                    <a:pt x="1" y="190"/>
                  </a:lnTo>
                  <a:lnTo>
                    <a:pt x="4" y="206"/>
                  </a:lnTo>
                  <a:lnTo>
                    <a:pt x="8" y="222"/>
                  </a:lnTo>
                  <a:lnTo>
                    <a:pt x="14" y="239"/>
                  </a:lnTo>
                  <a:lnTo>
                    <a:pt x="21" y="253"/>
                  </a:lnTo>
                  <a:lnTo>
                    <a:pt x="30" y="267"/>
                  </a:lnTo>
                  <a:lnTo>
                    <a:pt x="40" y="280"/>
                  </a:lnTo>
                  <a:lnTo>
                    <a:pt x="51" y="293"/>
                  </a:lnTo>
                  <a:lnTo>
                    <a:pt x="63" y="304"/>
                  </a:lnTo>
                  <a:lnTo>
                    <a:pt x="76" y="314"/>
                  </a:lnTo>
                  <a:lnTo>
                    <a:pt x="90" y="322"/>
                  </a:lnTo>
                  <a:lnTo>
                    <a:pt x="105" y="329"/>
                  </a:lnTo>
                  <a:lnTo>
                    <a:pt x="121" y="335"/>
                  </a:lnTo>
                  <a:lnTo>
                    <a:pt x="137" y="340"/>
                  </a:lnTo>
                  <a:lnTo>
                    <a:pt x="154" y="343"/>
                  </a:lnTo>
                  <a:lnTo>
                    <a:pt x="17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4" name="Freeform 12">
              <a:extLst>
                <a:ext uri="{FF2B5EF4-FFF2-40B4-BE49-F238E27FC236}">
                  <a16:creationId xmlns:a16="http://schemas.microsoft.com/office/drawing/2014/main" id="{1D4FE60F-BFB3-4344-8557-A30E11E6C347}"/>
                </a:ext>
              </a:extLst>
            </p:cNvPr>
            <p:cNvSpPr>
              <a:spLocks/>
            </p:cNvSpPr>
            <p:nvPr/>
          </p:nvSpPr>
          <p:spPr bwMode="gray">
            <a:xfrm>
              <a:off x="10813529" y="1445314"/>
              <a:ext cx="36513" cy="36513"/>
            </a:xfrm>
            <a:custGeom>
              <a:avLst/>
              <a:gdLst/>
              <a:ahLst/>
              <a:cxnLst>
                <a:cxn ang="0">
                  <a:pos x="188" y="343"/>
                </a:cxn>
                <a:cxn ang="0">
                  <a:pos x="221" y="335"/>
                </a:cxn>
                <a:cxn ang="0">
                  <a:pos x="252" y="322"/>
                </a:cxn>
                <a:cxn ang="0">
                  <a:pos x="279" y="304"/>
                </a:cxn>
                <a:cxn ang="0">
                  <a:pos x="303" y="280"/>
                </a:cxn>
                <a:cxn ang="0">
                  <a:pos x="321" y="253"/>
                </a:cxn>
                <a:cxn ang="0">
                  <a:pos x="334" y="222"/>
                </a:cxn>
                <a:cxn ang="0">
                  <a:pos x="340" y="190"/>
                </a:cxn>
                <a:cxn ang="0">
                  <a:pos x="340" y="154"/>
                </a:cxn>
                <a:cxn ang="0">
                  <a:pos x="334" y="122"/>
                </a:cxn>
                <a:cxn ang="0">
                  <a:pos x="321" y="90"/>
                </a:cxn>
                <a:cxn ang="0">
                  <a:pos x="303" y="63"/>
                </a:cxn>
                <a:cxn ang="0">
                  <a:pos x="279" y="40"/>
                </a:cxn>
                <a:cxn ang="0">
                  <a:pos x="252" y="22"/>
                </a:cxn>
                <a:cxn ang="0">
                  <a:pos x="221" y="8"/>
                </a:cxn>
                <a:cxn ang="0">
                  <a:pos x="188" y="1"/>
                </a:cxn>
                <a:cxn ang="0">
                  <a:pos x="153" y="1"/>
                </a:cxn>
                <a:cxn ang="0">
                  <a:pos x="120" y="8"/>
                </a:cxn>
                <a:cxn ang="0">
                  <a:pos x="89" y="22"/>
                </a:cxn>
                <a:cxn ang="0">
                  <a:pos x="62" y="40"/>
                </a:cxn>
                <a:cxn ang="0">
                  <a:pos x="38" y="63"/>
                </a:cxn>
                <a:cxn ang="0">
                  <a:pos x="20" y="90"/>
                </a:cxn>
                <a:cxn ang="0">
                  <a:pos x="7" y="122"/>
                </a:cxn>
                <a:cxn ang="0">
                  <a:pos x="1" y="154"/>
                </a:cxn>
                <a:cxn ang="0">
                  <a:pos x="1" y="190"/>
                </a:cxn>
                <a:cxn ang="0">
                  <a:pos x="7" y="222"/>
                </a:cxn>
                <a:cxn ang="0">
                  <a:pos x="20" y="253"/>
                </a:cxn>
                <a:cxn ang="0">
                  <a:pos x="38" y="280"/>
                </a:cxn>
                <a:cxn ang="0">
                  <a:pos x="62" y="304"/>
                </a:cxn>
                <a:cxn ang="0">
                  <a:pos x="89" y="322"/>
                </a:cxn>
                <a:cxn ang="0">
                  <a:pos x="120" y="335"/>
                </a:cxn>
                <a:cxn ang="0">
                  <a:pos x="153" y="343"/>
                </a:cxn>
              </a:cxnLst>
              <a:rect l="0" t="0" r="r" b="b"/>
              <a:pathLst>
                <a:path w="341" h="344">
                  <a:moveTo>
                    <a:pt x="170" y="344"/>
                  </a:moveTo>
                  <a:lnTo>
                    <a:pt x="188" y="343"/>
                  </a:lnTo>
                  <a:lnTo>
                    <a:pt x="205" y="340"/>
                  </a:lnTo>
                  <a:lnTo>
                    <a:pt x="221" y="335"/>
                  </a:lnTo>
                  <a:lnTo>
                    <a:pt x="237" y="329"/>
                  </a:lnTo>
                  <a:lnTo>
                    <a:pt x="252" y="322"/>
                  </a:lnTo>
                  <a:lnTo>
                    <a:pt x="266" y="314"/>
                  </a:lnTo>
                  <a:lnTo>
                    <a:pt x="279" y="304"/>
                  </a:lnTo>
                  <a:lnTo>
                    <a:pt x="291" y="293"/>
                  </a:lnTo>
                  <a:lnTo>
                    <a:pt x="303" y="280"/>
                  </a:lnTo>
                  <a:lnTo>
                    <a:pt x="312" y="267"/>
                  </a:lnTo>
                  <a:lnTo>
                    <a:pt x="321" y="253"/>
                  </a:lnTo>
                  <a:lnTo>
                    <a:pt x="328" y="239"/>
                  </a:lnTo>
                  <a:lnTo>
                    <a:pt x="334" y="222"/>
                  </a:lnTo>
                  <a:lnTo>
                    <a:pt x="338" y="206"/>
                  </a:lnTo>
                  <a:lnTo>
                    <a:pt x="340" y="190"/>
                  </a:lnTo>
                  <a:lnTo>
                    <a:pt x="341" y="171"/>
                  </a:lnTo>
                  <a:lnTo>
                    <a:pt x="340" y="154"/>
                  </a:lnTo>
                  <a:lnTo>
                    <a:pt x="338" y="138"/>
                  </a:lnTo>
                  <a:lnTo>
                    <a:pt x="334" y="122"/>
                  </a:lnTo>
                  <a:lnTo>
                    <a:pt x="328" y="105"/>
                  </a:lnTo>
                  <a:lnTo>
                    <a:pt x="321" y="90"/>
                  </a:lnTo>
                  <a:lnTo>
                    <a:pt x="312" y="76"/>
                  </a:lnTo>
                  <a:lnTo>
                    <a:pt x="303" y="63"/>
                  </a:lnTo>
                  <a:lnTo>
                    <a:pt x="291" y="51"/>
                  </a:lnTo>
                  <a:lnTo>
                    <a:pt x="279" y="40"/>
                  </a:lnTo>
                  <a:lnTo>
                    <a:pt x="266" y="30"/>
                  </a:lnTo>
                  <a:lnTo>
                    <a:pt x="252" y="22"/>
                  </a:lnTo>
                  <a:lnTo>
                    <a:pt x="237" y="13"/>
                  </a:lnTo>
                  <a:lnTo>
                    <a:pt x="221" y="8"/>
                  </a:lnTo>
                  <a:lnTo>
                    <a:pt x="205" y="4"/>
                  </a:lnTo>
                  <a:lnTo>
                    <a:pt x="188" y="1"/>
                  </a:lnTo>
                  <a:lnTo>
                    <a:pt x="170" y="0"/>
                  </a:lnTo>
                  <a:lnTo>
                    <a:pt x="153" y="1"/>
                  </a:lnTo>
                  <a:lnTo>
                    <a:pt x="136" y="4"/>
                  </a:lnTo>
                  <a:lnTo>
                    <a:pt x="120" y="8"/>
                  </a:lnTo>
                  <a:lnTo>
                    <a:pt x="104" y="13"/>
                  </a:lnTo>
                  <a:lnTo>
                    <a:pt x="89" y="22"/>
                  </a:lnTo>
                  <a:lnTo>
                    <a:pt x="75" y="30"/>
                  </a:lnTo>
                  <a:lnTo>
                    <a:pt x="62" y="40"/>
                  </a:lnTo>
                  <a:lnTo>
                    <a:pt x="49" y="51"/>
                  </a:lnTo>
                  <a:lnTo>
                    <a:pt x="38" y="63"/>
                  </a:lnTo>
                  <a:lnTo>
                    <a:pt x="29" y="76"/>
                  </a:lnTo>
                  <a:lnTo>
                    <a:pt x="20" y="90"/>
                  </a:lnTo>
                  <a:lnTo>
                    <a:pt x="13" y="105"/>
                  </a:lnTo>
                  <a:lnTo>
                    <a:pt x="7" y="122"/>
                  </a:lnTo>
                  <a:lnTo>
                    <a:pt x="3" y="138"/>
                  </a:lnTo>
                  <a:lnTo>
                    <a:pt x="1" y="154"/>
                  </a:lnTo>
                  <a:lnTo>
                    <a:pt x="0" y="171"/>
                  </a:lnTo>
                  <a:lnTo>
                    <a:pt x="1" y="190"/>
                  </a:lnTo>
                  <a:lnTo>
                    <a:pt x="3" y="206"/>
                  </a:lnTo>
                  <a:lnTo>
                    <a:pt x="7" y="222"/>
                  </a:lnTo>
                  <a:lnTo>
                    <a:pt x="13" y="239"/>
                  </a:lnTo>
                  <a:lnTo>
                    <a:pt x="20" y="253"/>
                  </a:lnTo>
                  <a:lnTo>
                    <a:pt x="29" y="267"/>
                  </a:lnTo>
                  <a:lnTo>
                    <a:pt x="38" y="280"/>
                  </a:lnTo>
                  <a:lnTo>
                    <a:pt x="49" y="293"/>
                  </a:lnTo>
                  <a:lnTo>
                    <a:pt x="62" y="304"/>
                  </a:lnTo>
                  <a:lnTo>
                    <a:pt x="75" y="314"/>
                  </a:lnTo>
                  <a:lnTo>
                    <a:pt x="89" y="322"/>
                  </a:lnTo>
                  <a:lnTo>
                    <a:pt x="104" y="329"/>
                  </a:lnTo>
                  <a:lnTo>
                    <a:pt x="120" y="335"/>
                  </a:lnTo>
                  <a:lnTo>
                    <a:pt x="136" y="340"/>
                  </a:lnTo>
                  <a:lnTo>
                    <a:pt x="153" y="343"/>
                  </a:lnTo>
                  <a:lnTo>
                    <a:pt x="170"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5" name="Freeform 13">
              <a:extLst>
                <a:ext uri="{FF2B5EF4-FFF2-40B4-BE49-F238E27FC236}">
                  <a16:creationId xmlns:a16="http://schemas.microsoft.com/office/drawing/2014/main" id="{310B1168-F98D-4FFD-8C1A-0F6839FD3F39}"/>
                </a:ext>
              </a:extLst>
            </p:cNvPr>
            <p:cNvSpPr>
              <a:spLocks/>
            </p:cNvSpPr>
            <p:nvPr/>
          </p:nvSpPr>
          <p:spPr bwMode="gray">
            <a:xfrm>
              <a:off x="10867504" y="1445314"/>
              <a:ext cx="36513" cy="36513"/>
            </a:xfrm>
            <a:custGeom>
              <a:avLst/>
              <a:gdLst/>
              <a:ahLst/>
              <a:cxnLst>
                <a:cxn ang="0">
                  <a:pos x="189" y="343"/>
                </a:cxn>
                <a:cxn ang="0">
                  <a:pos x="222" y="335"/>
                </a:cxn>
                <a:cxn ang="0">
                  <a:pos x="253" y="322"/>
                </a:cxn>
                <a:cxn ang="0">
                  <a:pos x="280" y="304"/>
                </a:cxn>
                <a:cxn ang="0">
                  <a:pos x="303" y="280"/>
                </a:cxn>
                <a:cxn ang="0">
                  <a:pos x="322" y="253"/>
                </a:cxn>
                <a:cxn ang="0">
                  <a:pos x="335" y="222"/>
                </a:cxn>
                <a:cxn ang="0">
                  <a:pos x="342" y="190"/>
                </a:cxn>
                <a:cxn ang="0">
                  <a:pos x="342" y="154"/>
                </a:cxn>
                <a:cxn ang="0">
                  <a:pos x="335" y="122"/>
                </a:cxn>
                <a:cxn ang="0">
                  <a:pos x="322" y="90"/>
                </a:cxn>
                <a:cxn ang="0">
                  <a:pos x="303" y="63"/>
                </a:cxn>
                <a:cxn ang="0">
                  <a:pos x="280" y="40"/>
                </a:cxn>
                <a:cxn ang="0">
                  <a:pos x="253" y="22"/>
                </a:cxn>
                <a:cxn ang="0">
                  <a:pos x="222" y="8"/>
                </a:cxn>
                <a:cxn ang="0">
                  <a:pos x="189" y="1"/>
                </a:cxn>
                <a:cxn ang="0">
                  <a:pos x="154" y="1"/>
                </a:cxn>
                <a:cxn ang="0">
                  <a:pos x="121" y="8"/>
                </a:cxn>
                <a:cxn ang="0">
                  <a:pos x="90" y="22"/>
                </a:cxn>
                <a:cxn ang="0">
                  <a:pos x="63" y="40"/>
                </a:cxn>
                <a:cxn ang="0">
                  <a:pos x="40" y="63"/>
                </a:cxn>
                <a:cxn ang="0">
                  <a:pos x="21" y="90"/>
                </a:cxn>
                <a:cxn ang="0">
                  <a:pos x="8" y="122"/>
                </a:cxn>
                <a:cxn ang="0">
                  <a:pos x="1" y="154"/>
                </a:cxn>
                <a:cxn ang="0">
                  <a:pos x="1" y="190"/>
                </a:cxn>
                <a:cxn ang="0">
                  <a:pos x="8" y="222"/>
                </a:cxn>
                <a:cxn ang="0">
                  <a:pos x="21" y="253"/>
                </a:cxn>
                <a:cxn ang="0">
                  <a:pos x="40" y="280"/>
                </a:cxn>
                <a:cxn ang="0">
                  <a:pos x="63" y="304"/>
                </a:cxn>
                <a:cxn ang="0">
                  <a:pos x="90" y="322"/>
                </a:cxn>
                <a:cxn ang="0">
                  <a:pos x="121" y="335"/>
                </a:cxn>
                <a:cxn ang="0">
                  <a:pos x="154" y="343"/>
                </a:cxn>
              </a:cxnLst>
              <a:rect l="0" t="0" r="r" b="b"/>
              <a:pathLst>
                <a:path w="343" h="344">
                  <a:moveTo>
                    <a:pt x="172" y="344"/>
                  </a:moveTo>
                  <a:lnTo>
                    <a:pt x="189" y="343"/>
                  </a:lnTo>
                  <a:lnTo>
                    <a:pt x="206" y="340"/>
                  </a:lnTo>
                  <a:lnTo>
                    <a:pt x="222" y="335"/>
                  </a:lnTo>
                  <a:lnTo>
                    <a:pt x="238" y="329"/>
                  </a:lnTo>
                  <a:lnTo>
                    <a:pt x="253" y="322"/>
                  </a:lnTo>
                  <a:lnTo>
                    <a:pt x="267" y="314"/>
                  </a:lnTo>
                  <a:lnTo>
                    <a:pt x="280" y="304"/>
                  </a:lnTo>
                  <a:lnTo>
                    <a:pt x="292" y="293"/>
                  </a:lnTo>
                  <a:lnTo>
                    <a:pt x="303" y="280"/>
                  </a:lnTo>
                  <a:lnTo>
                    <a:pt x="313" y="267"/>
                  </a:lnTo>
                  <a:lnTo>
                    <a:pt x="322" y="253"/>
                  </a:lnTo>
                  <a:lnTo>
                    <a:pt x="329" y="239"/>
                  </a:lnTo>
                  <a:lnTo>
                    <a:pt x="335" y="222"/>
                  </a:lnTo>
                  <a:lnTo>
                    <a:pt x="339" y="206"/>
                  </a:lnTo>
                  <a:lnTo>
                    <a:pt x="342" y="190"/>
                  </a:lnTo>
                  <a:lnTo>
                    <a:pt x="343" y="171"/>
                  </a:lnTo>
                  <a:lnTo>
                    <a:pt x="342" y="154"/>
                  </a:lnTo>
                  <a:lnTo>
                    <a:pt x="339" y="138"/>
                  </a:lnTo>
                  <a:lnTo>
                    <a:pt x="335" y="122"/>
                  </a:lnTo>
                  <a:lnTo>
                    <a:pt x="329" y="105"/>
                  </a:lnTo>
                  <a:lnTo>
                    <a:pt x="322" y="90"/>
                  </a:lnTo>
                  <a:lnTo>
                    <a:pt x="313" y="76"/>
                  </a:lnTo>
                  <a:lnTo>
                    <a:pt x="303" y="63"/>
                  </a:lnTo>
                  <a:lnTo>
                    <a:pt x="292" y="51"/>
                  </a:lnTo>
                  <a:lnTo>
                    <a:pt x="280" y="40"/>
                  </a:lnTo>
                  <a:lnTo>
                    <a:pt x="267" y="30"/>
                  </a:lnTo>
                  <a:lnTo>
                    <a:pt x="253" y="22"/>
                  </a:lnTo>
                  <a:lnTo>
                    <a:pt x="238" y="13"/>
                  </a:lnTo>
                  <a:lnTo>
                    <a:pt x="222" y="8"/>
                  </a:lnTo>
                  <a:lnTo>
                    <a:pt x="206" y="4"/>
                  </a:lnTo>
                  <a:lnTo>
                    <a:pt x="189" y="1"/>
                  </a:lnTo>
                  <a:lnTo>
                    <a:pt x="172" y="0"/>
                  </a:lnTo>
                  <a:lnTo>
                    <a:pt x="154" y="1"/>
                  </a:lnTo>
                  <a:lnTo>
                    <a:pt x="137" y="4"/>
                  </a:lnTo>
                  <a:lnTo>
                    <a:pt x="121" y="8"/>
                  </a:lnTo>
                  <a:lnTo>
                    <a:pt x="105" y="13"/>
                  </a:lnTo>
                  <a:lnTo>
                    <a:pt x="90" y="22"/>
                  </a:lnTo>
                  <a:lnTo>
                    <a:pt x="76" y="30"/>
                  </a:lnTo>
                  <a:lnTo>
                    <a:pt x="63" y="40"/>
                  </a:lnTo>
                  <a:lnTo>
                    <a:pt x="51" y="51"/>
                  </a:lnTo>
                  <a:lnTo>
                    <a:pt x="40" y="63"/>
                  </a:lnTo>
                  <a:lnTo>
                    <a:pt x="30" y="76"/>
                  </a:lnTo>
                  <a:lnTo>
                    <a:pt x="21" y="90"/>
                  </a:lnTo>
                  <a:lnTo>
                    <a:pt x="14" y="105"/>
                  </a:lnTo>
                  <a:lnTo>
                    <a:pt x="8" y="122"/>
                  </a:lnTo>
                  <a:lnTo>
                    <a:pt x="4" y="138"/>
                  </a:lnTo>
                  <a:lnTo>
                    <a:pt x="1" y="154"/>
                  </a:lnTo>
                  <a:lnTo>
                    <a:pt x="0" y="171"/>
                  </a:lnTo>
                  <a:lnTo>
                    <a:pt x="1" y="190"/>
                  </a:lnTo>
                  <a:lnTo>
                    <a:pt x="4" y="206"/>
                  </a:lnTo>
                  <a:lnTo>
                    <a:pt x="8" y="222"/>
                  </a:lnTo>
                  <a:lnTo>
                    <a:pt x="14" y="239"/>
                  </a:lnTo>
                  <a:lnTo>
                    <a:pt x="21" y="253"/>
                  </a:lnTo>
                  <a:lnTo>
                    <a:pt x="30" y="267"/>
                  </a:lnTo>
                  <a:lnTo>
                    <a:pt x="40" y="280"/>
                  </a:lnTo>
                  <a:lnTo>
                    <a:pt x="51" y="293"/>
                  </a:lnTo>
                  <a:lnTo>
                    <a:pt x="63" y="304"/>
                  </a:lnTo>
                  <a:lnTo>
                    <a:pt x="76" y="314"/>
                  </a:lnTo>
                  <a:lnTo>
                    <a:pt x="90" y="322"/>
                  </a:lnTo>
                  <a:lnTo>
                    <a:pt x="105" y="329"/>
                  </a:lnTo>
                  <a:lnTo>
                    <a:pt x="121" y="335"/>
                  </a:lnTo>
                  <a:lnTo>
                    <a:pt x="137" y="340"/>
                  </a:lnTo>
                  <a:lnTo>
                    <a:pt x="154" y="343"/>
                  </a:lnTo>
                  <a:lnTo>
                    <a:pt x="17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sp>
        <p:nvSpPr>
          <p:cNvPr id="30" name="Freeform 14">
            <a:extLst>
              <a:ext uri="{FF2B5EF4-FFF2-40B4-BE49-F238E27FC236}">
                <a16:creationId xmlns:a16="http://schemas.microsoft.com/office/drawing/2014/main" id="{C10AAB72-FB44-4A1B-B0E0-2E6D34C60A0B}"/>
              </a:ext>
            </a:extLst>
          </p:cNvPr>
          <p:cNvSpPr>
            <a:spLocks noEditPoints="1"/>
          </p:cNvSpPr>
          <p:nvPr/>
        </p:nvSpPr>
        <p:spPr bwMode="gray">
          <a:xfrm>
            <a:off x="6368691" y="5853389"/>
            <a:ext cx="467629" cy="66101"/>
          </a:xfrm>
          <a:custGeom>
            <a:avLst/>
            <a:gdLst/>
            <a:ahLst/>
            <a:cxnLst>
              <a:cxn ang="0">
                <a:pos x="15920" y="15"/>
              </a:cxn>
              <a:cxn ang="0">
                <a:pos x="16066" y="82"/>
              </a:cxn>
              <a:cxn ang="0">
                <a:pos x="16180" y="191"/>
              </a:cxn>
              <a:cxn ang="0">
                <a:pos x="16254" y="333"/>
              </a:cxn>
              <a:cxn ang="0">
                <a:pos x="16275" y="1979"/>
              </a:cxn>
              <a:cxn ang="0">
                <a:pos x="16247" y="2142"/>
              </a:cxn>
              <a:cxn ang="0">
                <a:pos x="16166" y="2279"/>
              </a:cxn>
              <a:cxn ang="0">
                <a:pos x="16047" y="2384"/>
              </a:cxn>
              <a:cxn ang="0">
                <a:pos x="15897" y="2443"/>
              </a:cxn>
              <a:cxn ang="0">
                <a:pos x="425" y="2450"/>
              </a:cxn>
              <a:cxn ang="0">
                <a:pos x="269" y="2406"/>
              </a:cxn>
              <a:cxn ang="0">
                <a:pos x="139" y="2313"/>
              </a:cxn>
              <a:cxn ang="0">
                <a:pos x="47" y="2184"/>
              </a:cxn>
              <a:cxn ang="0">
                <a:pos x="2" y="2027"/>
              </a:cxn>
              <a:cxn ang="0">
                <a:pos x="9" y="379"/>
              </a:cxn>
              <a:cxn ang="0">
                <a:pos x="68" y="228"/>
              </a:cxn>
              <a:cxn ang="0">
                <a:pos x="173" y="109"/>
              </a:cxn>
              <a:cxn ang="0">
                <a:pos x="310" y="29"/>
              </a:cxn>
              <a:cxn ang="0">
                <a:pos x="473" y="0"/>
              </a:cxn>
              <a:cxn ang="0">
                <a:pos x="3118" y="686"/>
              </a:cxn>
              <a:cxn ang="0">
                <a:pos x="3301" y="780"/>
              </a:cxn>
              <a:cxn ang="0">
                <a:pos x="3442" y="928"/>
              </a:cxn>
              <a:cxn ang="0">
                <a:pos x="3528" y="1118"/>
              </a:cxn>
              <a:cxn ang="0">
                <a:pos x="3544" y="1333"/>
              </a:cxn>
              <a:cxn ang="0">
                <a:pos x="3487" y="1535"/>
              </a:cxn>
              <a:cxn ang="0">
                <a:pos x="3368" y="1703"/>
              </a:cxn>
              <a:cxn ang="0">
                <a:pos x="3200" y="1822"/>
              </a:cxn>
              <a:cxn ang="0">
                <a:pos x="2999" y="1879"/>
              </a:cxn>
              <a:cxn ang="0">
                <a:pos x="2784" y="1863"/>
              </a:cxn>
              <a:cxn ang="0">
                <a:pos x="2595" y="1778"/>
              </a:cxn>
              <a:cxn ang="0">
                <a:pos x="2446" y="1636"/>
              </a:cxn>
              <a:cxn ang="0">
                <a:pos x="2353" y="1452"/>
              </a:cxn>
              <a:cxn ang="0">
                <a:pos x="2326" y="1239"/>
              </a:cxn>
              <a:cxn ang="0">
                <a:pos x="2373" y="1032"/>
              </a:cxn>
              <a:cxn ang="0">
                <a:pos x="2484" y="859"/>
              </a:cxn>
              <a:cxn ang="0">
                <a:pos x="2646" y="733"/>
              </a:cxn>
              <a:cxn ang="0">
                <a:pos x="2843" y="665"/>
              </a:cxn>
              <a:cxn ang="0">
                <a:pos x="14482" y="476"/>
              </a:cxn>
              <a:cxn ang="0">
                <a:pos x="14578" y="503"/>
              </a:cxn>
              <a:cxn ang="0">
                <a:pos x="14659" y="560"/>
              </a:cxn>
              <a:cxn ang="0">
                <a:pos x="14716" y="640"/>
              </a:cxn>
              <a:cxn ang="0">
                <a:pos x="14743" y="737"/>
              </a:cxn>
              <a:cxn ang="0">
                <a:pos x="14739" y="1758"/>
              </a:cxn>
              <a:cxn ang="0">
                <a:pos x="14702" y="1850"/>
              </a:cxn>
              <a:cxn ang="0">
                <a:pos x="14638" y="1925"/>
              </a:cxn>
              <a:cxn ang="0">
                <a:pos x="14553" y="1974"/>
              </a:cxn>
              <a:cxn ang="0">
                <a:pos x="14452" y="1991"/>
              </a:cxn>
              <a:cxn ang="0">
                <a:pos x="7495" y="1979"/>
              </a:cxn>
              <a:cxn ang="0">
                <a:pos x="7407" y="1933"/>
              </a:cxn>
              <a:cxn ang="0">
                <a:pos x="7339" y="1862"/>
              </a:cxn>
              <a:cxn ang="0">
                <a:pos x="7298" y="1772"/>
              </a:cxn>
              <a:cxn ang="0">
                <a:pos x="7289" y="752"/>
              </a:cxn>
              <a:cxn ang="0">
                <a:pos x="7312" y="653"/>
              </a:cxn>
              <a:cxn ang="0">
                <a:pos x="7365" y="571"/>
              </a:cxn>
              <a:cxn ang="0">
                <a:pos x="7443" y="509"/>
              </a:cxn>
              <a:cxn ang="0">
                <a:pos x="7537" y="477"/>
              </a:cxn>
            </a:cxnLst>
            <a:rect l="0" t="0" r="r" b="b"/>
            <a:pathLst>
              <a:path w="16275" h="2453">
                <a:moveTo>
                  <a:pt x="473" y="0"/>
                </a:moveTo>
                <a:lnTo>
                  <a:pt x="15802" y="0"/>
                </a:lnTo>
                <a:lnTo>
                  <a:pt x="15826" y="1"/>
                </a:lnTo>
                <a:lnTo>
                  <a:pt x="15850" y="2"/>
                </a:lnTo>
                <a:lnTo>
                  <a:pt x="15874" y="5"/>
                </a:lnTo>
                <a:lnTo>
                  <a:pt x="15897" y="10"/>
                </a:lnTo>
                <a:lnTo>
                  <a:pt x="15920" y="15"/>
                </a:lnTo>
                <a:lnTo>
                  <a:pt x="15942" y="21"/>
                </a:lnTo>
                <a:lnTo>
                  <a:pt x="15964" y="29"/>
                </a:lnTo>
                <a:lnTo>
                  <a:pt x="15986" y="38"/>
                </a:lnTo>
                <a:lnTo>
                  <a:pt x="16006" y="47"/>
                </a:lnTo>
                <a:lnTo>
                  <a:pt x="16027" y="57"/>
                </a:lnTo>
                <a:lnTo>
                  <a:pt x="16047" y="69"/>
                </a:lnTo>
                <a:lnTo>
                  <a:pt x="16066" y="82"/>
                </a:lnTo>
                <a:lnTo>
                  <a:pt x="16085" y="95"/>
                </a:lnTo>
                <a:lnTo>
                  <a:pt x="16102" y="109"/>
                </a:lnTo>
                <a:lnTo>
                  <a:pt x="16119" y="123"/>
                </a:lnTo>
                <a:lnTo>
                  <a:pt x="16136" y="140"/>
                </a:lnTo>
                <a:lnTo>
                  <a:pt x="16152" y="156"/>
                </a:lnTo>
                <a:lnTo>
                  <a:pt x="16166" y="173"/>
                </a:lnTo>
                <a:lnTo>
                  <a:pt x="16180" y="191"/>
                </a:lnTo>
                <a:lnTo>
                  <a:pt x="16194" y="210"/>
                </a:lnTo>
                <a:lnTo>
                  <a:pt x="16206" y="228"/>
                </a:lnTo>
                <a:lnTo>
                  <a:pt x="16218" y="249"/>
                </a:lnTo>
                <a:lnTo>
                  <a:pt x="16228" y="269"/>
                </a:lnTo>
                <a:lnTo>
                  <a:pt x="16237" y="289"/>
                </a:lnTo>
                <a:lnTo>
                  <a:pt x="16247" y="312"/>
                </a:lnTo>
                <a:lnTo>
                  <a:pt x="16254" y="333"/>
                </a:lnTo>
                <a:lnTo>
                  <a:pt x="16260" y="356"/>
                </a:lnTo>
                <a:lnTo>
                  <a:pt x="16265" y="379"/>
                </a:lnTo>
                <a:lnTo>
                  <a:pt x="16270" y="401"/>
                </a:lnTo>
                <a:lnTo>
                  <a:pt x="16273" y="426"/>
                </a:lnTo>
                <a:lnTo>
                  <a:pt x="16274" y="449"/>
                </a:lnTo>
                <a:lnTo>
                  <a:pt x="16275" y="474"/>
                </a:lnTo>
                <a:lnTo>
                  <a:pt x="16275" y="1979"/>
                </a:lnTo>
                <a:lnTo>
                  <a:pt x="16274" y="2003"/>
                </a:lnTo>
                <a:lnTo>
                  <a:pt x="16273" y="2027"/>
                </a:lnTo>
                <a:lnTo>
                  <a:pt x="16270" y="2051"/>
                </a:lnTo>
                <a:lnTo>
                  <a:pt x="16265" y="2073"/>
                </a:lnTo>
                <a:lnTo>
                  <a:pt x="16260" y="2097"/>
                </a:lnTo>
                <a:lnTo>
                  <a:pt x="16254" y="2119"/>
                </a:lnTo>
                <a:lnTo>
                  <a:pt x="16247" y="2142"/>
                </a:lnTo>
                <a:lnTo>
                  <a:pt x="16237" y="2163"/>
                </a:lnTo>
                <a:lnTo>
                  <a:pt x="16228" y="2184"/>
                </a:lnTo>
                <a:lnTo>
                  <a:pt x="16218" y="2204"/>
                </a:lnTo>
                <a:lnTo>
                  <a:pt x="16206" y="2224"/>
                </a:lnTo>
                <a:lnTo>
                  <a:pt x="16194" y="2244"/>
                </a:lnTo>
                <a:lnTo>
                  <a:pt x="16180" y="2262"/>
                </a:lnTo>
                <a:lnTo>
                  <a:pt x="16166" y="2279"/>
                </a:lnTo>
                <a:lnTo>
                  <a:pt x="16152" y="2297"/>
                </a:lnTo>
                <a:lnTo>
                  <a:pt x="16136" y="2313"/>
                </a:lnTo>
                <a:lnTo>
                  <a:pt x="16119" y="2329"/>
                </a:lnTo>
                <a:lnTo>
                  <a:pt x="16102" y="2344"/>
                </a:lnTo>
                <a:lnTo>
                  <a:pt x="16085" y="2358"/>
                </a:lnTo>
                <a:lnTo>
                  <a:pt x="16066" y="2371"/>
                </a:lnTo>
                <a:lnTo>
                  <a:pt x="16047" y="2384"/>
                </a:lnTo>
                <a:lnTo>
                  <a:pt x="16027" y="2395"/>
                </a:lnTo>
                <a:lnTo>
                  <a:pt x="16006" y="2406"/>
                </a:lnTo>
                <a:lnTo>
                  <a:pt x="15986" y="2415"/>
                </a:lnTo>
                <a:lnTo>
                  <a:pt x="15964" y="2424"/>
                </a:lnTo>
                <a:lnTo>
                  <a:pt x="15942" y="2431"/>
                </a:lnTo>
                <a:lnTo>
                  <a:pt x="15920" y="2437"/>
                </a:lnTo>
                <a:lnTo>
                  <a:pt x="15897" y="2443"/>
                </a:lnTo>
                <a:lnTo>
                  <a:pt x="15874" y="2447"/>
                </a:lnTo>
                <a:lnTo>
                  <a:pt x="15850" y="2450"/>
                </a:lnTo>
                <a:lnTo>
                  <a:pt x="15826" y="2451"/>
                </a:lnTo>
                <a:lnTo>
                  <a:pt x="15802" y="2453"/>
                </a:lnTo>
                <a:lnTo>
                  <a:pt x="473" y="2453"/>
                </a:lnTo>
                <a:lnTo>
                  <a:pt x="449" y="2451"/>
                </a:lnTo>
                <a:lnTo>
                  <a:pt x="425" y="2450"/>
                </a:lnTo>
                <a:lnTo>
                  <a:pt x="401" y="2447"/>
                </a:lnTo>
                <a:lnTo>
                  <a:pt x="378" y="2443"/>
                </a:lnTo>
                <a:lnTo>
                  <a:pt x="355" y="2437"/>
                </a:lnTo>
                <a:lnTo>
                  <a:pt x="333" y="2431"/>
                </a:lnTo>
                <a:lnTo>
                  <a:pt x="310" y="2424"/>
                </a:lnTo>
                <a:lnTo>
                  <a:pt x="289" y="2415"/>
                </a:lnTo>
                <a:lnTo>
                  <a:pt x="269" y="2406"/>
                </a:lnTo>
                <a:lnTo>
                  <a:pt x="248" y="2395"/>
                </a:lnTo>
                <a:lnTo>
                  <a:pt x="228" y="2384"/>
                </a:lnTo>
                <a:lnTo>
                  <a:pt x="209" y="2371"/>
                </a:lnTo>
                <a:lnTo>
                  <a:pt x="190" y="2358"/>
                </a:lnTo>
                <a:lnTo>
                  <a:pt x="173" y="2344"/>
                </a:lnTo>
                <a:lnTo>
                  <a:pt x="156" y="2329"/>
                </a:lnTo>
                <a:lnTo>
                  <a:pt x="139" y="2313"/>
                </a:lnTo>
                <a:lnTo>
                  <a:pt x="123" y="2297"/>
                </a:lnTo>
                <a:lnTo>
                  <a:pt x="108" y="2279"/>
                </a:lnTo>
                <a:lnTo>
                  <a:pt x="95" y="2262"/>
                </a:lnTo>
                <a:lnTo>
                  <a:pt x="81" y="2244"/>
                </a:lnTo>
                <a:lnTo>
                  <a:pt x="68" y="2224"/>
                </a:lnTo>
                <a:lnTo>
                  <a:pt x="57" y="2204"/>
                </a:lnTo>
                <a:lnTo>
                  <a:pt x="47" y="2184"/>
                </a:lnTo>
                <a:lnTo>
                  <a:pt x="38" y="2163"/>
                </a:lnTo>
                <a:lnTo>
                  <a:pt x="28" y="2142"/>
                </a:lnTo>
                <a:lnTo>
                  <a:pt x="21" y="2119"/>
                </a:lnTo>
                <a:lnTo>
                  <a:pt x="15" y="2097"/>
                </a:lnTo>
                <a:lnTo>
                  <a:pt x="9" y="2073"/>
                </a:lnTo>
                <a:lnTo>
                  <a:pt x="5" y="2051"/>
                </a:lnTo>
                <a:lnTo>
                  <a:pt x="2" y="2027"/>
                </a:lnTo>
                <a:lnTo>
                  <a:pt x="1" y="2003"/>
                </a:lnTo>
                <a:lnTo>
                  <a:pt x="0" y="1979"/>
                </a:lnTo>
                <a:lnTo>
                  <a:pt x="0" y="474"/>
                </a:lnTo>
                <a:lnTo>
                  <a:pt x="1" y="449"/>
                </a:lnTo>
                <a:lnTo>
                  <a:pt x="2" y="426"/>
                </a:lnTo>
                <a:lnTo>
                  <a:pt x="5" y="401"/>
                </a:lnTo>
                <a:lnTo>
                  <a:pt x="9" y="379"/>
                </a:lnTo>
                <a:lnTo>
                  <a:pt x="15" y="356"/>
                </a:lnTo>
                <a:lnTo>
                  <a:pt x="21" y="333"/>
                </a:lnTo>
                <a:lnTo>
                  <a:pt x="28" y="312"/>
                </a:lnTo>
                <a:lnTo>
                  <a:pt x="38" y="289"/>
                </a:lnTo>
                <a:lnTo>
                  <a:pt x="47" y="269"/>
                </a:lnTo>
                <a:lnTo>
                  <a:pt x="57" y="249"/>
                </a:lnTo>
                <a:lnTo>
                  <a:pt x="68" y="228"/>
                </a:lnTo>
                <a:lnTo>
                  <a:pt x="81" y="210"/>
                </a:lnTo>
                <a:lnTo>
                  <a:pt x="95" y="191"/>
                </a:lnTo>
                <a:lnTo>
                  <a:pt x="108" y="173"/>
                </a:lnTo>
                <a:lnTo>
                  <a:pt x="123" y="156"/>
                </a:lnTo>
                <a:lnTo>
                  <a:pt x="139" y="140"/>
                </a:lnTo>
                <a:lnTo>
                  <a:pt x="156" y="123"/>
                </a:lnTo>
                <a:lnTo>
                  <a:pt x="173" y="109"/>
                </a:lnTo>
                <a:lnTo>
                  <a:pt x="190" y="95"/>
                </a:lnTo>
                <a:lnTo>
                  <a:pt x="209" y="82"/>
                </a:lnTo>
                <a:lnTo>
                  <a:pt x="228" y="69"/>
                </a:lnTo>
                <a:lnTo>
                  <a:pt x="248" y="57"/>
                </a:lnTo>
                <a:lnTo>
                  <a:pt x="269" y="47"/>
                </a:lnTo>
                <a:lnTo>
                  <a:pt x="289" y="38"/>
                </a:lnTo>
                <a:lnTo>
                  <a:pt x="310" y="29"/>
                </a:lnTo>
                <a:lnTo>
                  <a:pt x="333" y="21"/>
                </a:lnTo>
                <a:lnTo>
                  <a:pt x="355" y="15"/>
                </a:lnTo>
                <a:lnTo>
                  <a:pt x="378" y="10"/>
                </a:lnTo>
                <a:lnTo>
                  <a:pt x="401" y="5"/>
                </a:lnTo>
                <a:lnTo>
                  <a:pt x="425" y="2"/>
                </a:lnTo>
                <a:lnTo>
                  <a:pt x="449" y="1"/>
                </a:lnTo>
                <a:lnTo>
                  <a:pt x="473" y="0"/>
                </a:lnTo>
                <a:close/>
                <a:moveTo>
                  <a:pt x="2937" y="658"/>
                </a:moveTo>
                <a:lnTo>
                  <a:pt x="2967" y="659"/>
                </a:lnTo>
                <a:lnTo>
                  <a:pt x="2999" y="661"/>
                </a:lnTo>
                <a:lnTo>
                  <a:pt x="3029" y="665"/>
                </a:lnTo>
                <a:lnTo>
                  <a:pt x="3059" y="670"/>
                </a:lnTo>
                <a:lnTo>
                  <a:pt x="3088" y="678"/>
                </a:lnTo>
                <a:lnTo>
                  <a:pt x="3118" y="686"/>
                </a:lnTo>
                <a:lnTo>
                  <a:pt x="3146" y="696"/>
                </a:lnTo>
                <a:lnTo>
                  <a:pt x="3174" y="706"/>
                </a:lnTo>
                <a:lnTo>
                  <a:pt x="3200" y="719"/>
                </a:lnTo>
                <a:lnTo>
                  <a:pt x="3227" y="733"/>
                </a:lnTo>
                <a:lnTo>
                  <a:pt x="3252" y="747"/>
                </a:lnTo>
                <a:lnTo>
                  <a:pt x="3277" y="763"/>
                </a:lnTo>
                <a:lnTo>
                  <a:pt x="3301" y="780"/>
                </a:lnTo>
                <a:lnTo>
                  <a:pt x="3324" y="799"/>
                </a:lnTo>
                <a:lnTo>
                  <a:pt x="3347" y="817"/>
                </a:lnTo>
                <a:lnTo>
                  <a:pt x="3368" y="838"/>
                </a:lnTo>
                <a:lnTo>
                  <a:pt x="3388" y="859"/>
                </a:lnTo>
                <a:lnTo>
                  <a:pt x="3408" y="881"/>
                </a:lnTo>
                <a:lnTo>
                  <a:pt x="3425" y="905"/>
                </a:lnTo>
                <a:lnTo>
                  <a:pt x="3442" y="928"/>
                </a:lnTo>
                <a:lnTo>
                  <a:pt x="3458" y="954"/>
                </a:lnTo>
                <a:lnTo>
                  <a:pt x="3473" y="979"/>
                </a:lnTo>
                <a:lnTo>
                  <a:pt x="3487" y="1006"/>
                </a:lnTo>
                <a:lnTo>
                  <a:pt x="3499" y="1032"/>
                </a:lnTo>
                <a:lnTo>
                  <a:pt x="3509" y="1061"/>
                </a:lnTo>
                <a:lnTo>
                  <a:pt x="3519" y="1089"/>
                </a:lnTo>
                <a:lnTo>
                  <a:pt x="3528" y="1118"/>
                </a:lnTo>
                <a:lnTo>
                  <a:pt x="3535" y="1147"/>
                </a:lnTo>
                <a:lnTo>
                  <a:pt x="3540" y="1178"/>
                </a:lnTo>
                <a:lnTo>
                  <a:pt x="3544" y="1208"/>
                </a:lnTo>
                <a:lnTo>
                  <a:pt x="3546" y="1239"/>
                </a:lnTo>
                <a:lnTo>
                  <a:pt x="3547" y="1271"/>
                </a:lnTo>
                <a:lnTo>
                  <a:pt x="3546" y="1302"/>
                </a:lnTo>
                <a:lnTo>
                  <a:pt x="3544" y="1333"/>
                </a:lnTo>
                <a:lnTo>
                  <a:pt x="3540" y="1363"/>
                </a:lnTo>
                <a:lnTo>
                  <a:pt x="3535" y="1394"/>
                </a:lnTo>
                <a:lnTo>
                  <a:pt x="3528" y="1423"/>
                </a:lnTo>
                <a:lnTo>
                  <a:pt x="3519" y="1452"/>
                </a:lnTo>
                <a:lnTo>
                  <a:pt x="3509" y="1480"/>
                </a:lnTo>
                <a:lnTo>
                  <a:pt x="3499" y="1508"/>
                </a:lnTo>
                <a:lnTo>
                  <a:pt x="3487" y="1535"/>
                </a:lnTo>
                <a:lnTo>
                  <a:pt x="3473" y="1562"/>
                </a:lnTo>
                <a:lnTo>
                  <a:pt x="3458" y="1587"/>
                </a:lnTo>
                <a:lnTo>
                  <a:pt x="3442" y="1612"/>
                </a:lnTo>
                <a:lnTo>
                  <a:pt x="3425" y="1636"/>
                </a:lnTo>
                <a:lnTo>
                  <a:pt x="3408" y="1659"/>
                </a:lnTo>
                <a:lnTo>
                  <a:pt x="3388" y="1681"/>
                </a:lnTo>
                <a:lnTo>
                  <a:pt x="3368" y="1703"/>
                </a:lnTo>
                <a:lnTo>
                  <a:pt x="3347" y="1723"/>
                </a:lnTo>
                <a:lnTo>
                  <a:pt x="3324" y="1742"/>
                </a:lnTo>
                <a:lnTo>
                  <a:pt x="3301" y="1761"/>
                </a:lnTo>
                <a:lnTo>
                  <a:pt x="3277" y="1778"/>
                </a:lnTo>
                <a:lnTo>
                  <a:pt x="3252" y="1793"/>
                </a:lnTo>
                <a:lnTo>
                  <a:pt x="3227" y="1809"/>
                </a:lnTo>
                <a:lnTo>
                  <a:pt x="3200" y="1822"/>
                </a:lnTo>
                <a:lnTo>
                  <a:pt x="3174" y="1834"/>
                </a:lnTo>
                <a:lnTo>
                  <a:pt x="3146" y="1845"/>
                </a:lnTo>
                <a:lnTo>
                  <a:pt x="3118" y="1854"/>
                </a:lnTo>
                <a:lnTo>
                  <a:pt x="3088" y="1863"/>
                </a:lnTo>
                <a:lnTo>
                  <a:pt x="3059" y="1870"/>
                </a:lnTo>
                <a:lnTo>
                  <a:pt x="3029" y="1875"/>
                </a:lnTo>
                <a:lnTo>
                  <a:pt x="2999" y="1879"/>
                </a:lnTo>
                <a:lnTo>
                  <a:pt x="2967" y="1882"/>
                </a:lnTo>
                <a:lnTo>
                  <a:pt x="2937" y="1882"/>
                </a:lnTo>
                <a:lnTo>
                  <a:pt x="2905" y="1882"/>
                </a:lnTo>
                <a:lnTo>
                  <a:pt x="2874" y="1879"/>
                </a:lnTo>
                <a:lnTo>
                  <a:pt x="2843" y="1875"/>
                </a:lnTo>
                <a:lnTo>
                  <a:pt x="2814" y="1870"/>
                </a:lnTo>
                <a:lnTo>
                  <a:pt x="2784" y="1863"/>
                </a:lnTo>
                <a:lnTo>
                  <a:pt x="2755" y="1854"/>
                </a:lnTo>
                <a:lnTo>
                  <a:pt x="2726" y="1845"/>
                </a:lnTo>
                <a:lnTo>
                  <a:pt x="2699" y="1834"/>
                </a:lnTo>
                <a:lnTo>
                  <a:pt x="2671" y="1822"/>
                </a:lnTo>
                <a:lnTo>
                  <a:pt x="2646" y="1809"/>
                </a:lnTo>
                <a:lnTo>
                  <a:pt x="2619" y="1793"/>
                </a:lnTo>
                <a:lnTo>
                  <a:pt x="2595" y="1778"/>
                </a:lnTo>
                <a:lnTo>
                  <a:pt x="2570" y="1761"/>
                </a:lnTo>
                <a:lnTo>
                  <a:pt x="2548" y="1742"/>
                </a:lnTo>
                <a:lnTo>
                  <a:pt x="2526" y="1723"/>
                </a:lnTo>
                <a:lnTo>
                  <a:pt x="2504" y="1703"/>
                </a:lnTo>
                <a:lnTo>
                  <a:pt x="2484" y="1681"/>
                </a:lnTo>
                <a:lnTo>
                  <a:pt x="2465" y="1659"/>
                </a:lnTo>
                <a:lnTo>
                  <a:pt x="2446" y="1636"/>
                </a:lnTo>
                <a:lnTo>
                  <a:pt x="2430" y="1612"/>
                </a:lnTo>
                <a:lnTo>
                  <a:pt x="2414" y="1587"/>
                </a:lnTo>
                <a:lnTo>
                  <a:pt x="2399" y="1562"/>
                </a:lnTo>
                <a:lnTo>
                  <a:pt x="2385" y="1535"/>
                </a:lnTo>
                <a:lnTo>
                  <a:pt x="2373" y="1508"/>
                </a:lnTo>
                <a:lnTo>
                  <a:pt x="2362" y="1480"/>
                </a:lnTo>
                <a:lnTo>
                  <a:pt x="2353" y="1452"/>
                </a:lnTo>
                <a:lnTo>
                  <a:pt x="2345" y="1423"/>
                </a:lnTo>
                <a:lnTo>
                  <a:pt x="2337" y="1394"/>
                </a:lnTo>
                <a:lnTo>
                  <a:pt x="2332" y="1363"/>
                </a:lnTo>
                <a:lnTo>
                  <a:pt x="2328" y="1333"/>
                </a:lnTo>
                <a:lnTo>
                  <a:pt x="2326" y="1302"/>
                </a:lnTo>
                <a:lnTo>
                  <a:pt x="2325" y="1271"/>
                </a:lnTo>
                <a:lnTo>
                  <a:pt x="2326" y="1239"/>
                </a:lnTo>
                <a:lnTo>
                  <a:pt x="2328" y="1208"/>
                </a:lnTo>
                <a:lnTo>
                  <a:pt x="2332" y="1178"/>
                </a:lnTo>
                <a:lnTo>
                  <a:pt x="2337" y="1147"/>
                </a:lnTo>
                <a:lnTo>
                  <a:pt x="2345" y="1118"/>
                </a:lnTo>
                <a:lnTo>
                  <a:pt x="2353" y="1089"/>
                </a:lnTo>
                <a:lnTo>
                  <a:pt x="2362" y="1061"/>
                </a:lnTo>
                <a:lnTo>
                  <a:pt x="2373" y="1032"/>
                </a:lnTo>
                <a:lnTo>
                  <a:pt x="2385" y="1006"/>
                </a:lnTo>
                <a:lnTo>
                  <a:pt x="2399" y="979"/>
                </a:lnTo>
                <a:lnTo>
                  <a:pt x="2414" y="954"/>
                </a:lnTo>
                <a:lnTo>
                  <a:pt x="2430" y="928"/>
                </a:lnTo>
                <a:lnTo>
                  <a:pt x="2446" y="905"/>
                </a:lnTo>
                <a:lnTo>
                  <a:pt x="2465" y="881"/>
                </a:lnTo>
                <a:lnTo>
                  <a:pt x="2484" y="859"/>
                </a:lnTo>
                <a:lnTo>
                  <a:pt x="2504" y="838"/>
                </a:lnTo>
                <a:lnTo>
                  <a:pt x="2526" y="817"/>
                </a:lnTo>
                <a:lnTo>
                  <a:pt x="2548" y="799"/>
                </a:lnTo>
                <a:lnTo>
                  <a:pt x="2570" y="780"/>
                </a:lnTo>
                <a:lnTo>
                  <a:pt x="2595" y="763"/>
                </a:lnTo>
                <a:lnTo>
                  <a:pt x="2619" y="747"/>
                </a:lnTo>
                <a:lnTo>
                  <a:pt x="2646" y="733"/>
                </a:lnTo>
                <a:lnTo>
                  <a:pt x="2671" y="719"/>
                </a:lnTo>
                <a:lnTo>
                  <a:pt x="2699" y="706"/>
                </a:lnTo>
                <a:lnTo>
                  <a:pt x="2726" y="696"/>
                </a:lnTo>
                <a:lnTo>
                  <a:pt x="2755" y="686"/>
                </a:lnTo>
                <a:lnTo>
                  <a:pt x="2784" y="678"/>
                </a:lnTo>
                <a:lnTo>
                  <a:pt x="2814" y="670"/>
                </a:lnTo>
                <a:lnTo>
                  <a:pt x="2843" y="665"/>
                </a:lnTo>
                <a:lnTo>
                  <a:pt x="2874" y="661"/>
                </a:lnTo>
                <a:lnTo>
                  <a:pt x="2905" y="659"/>
                </a:lnTo>
                <a:lnTo>
                  <a:pt x="2937" y="658"/>
                </a:lnTo>
                <a:close/>
                <a:moveTo>
                  <a:pt x="7582" y="474"/>
                </a:moveTo>
                <a:lnTo>
                  <a:pt x="14452" y="474"/>
                </a:lnTo>
                <a:lnTo>
                  <a:pt x="14467" y="474"/>
                </a:lnTo>
                <a:lnTo>
                  <a:pt x="14482" y="476"/>
                </a:lnTo>
                <a:lnTo>
                  <a:pt x="14497" y="477"/>
                </a:lnTo>
                <a:lnTo>
                  <a:pt x="14511" y="480"/>
                </a:lnTo>
                <a:lnTo>
                  <a:pt x="14525" y="483"/>
                </a:lnTo>
                <a:lnTo>
                  <a:pt x="14539" y="487"/>
                </a:lnTo>
                <a:lnTo>
                  <a:pt x="14553" y="492"/>
                </a:lnTo>
                <a:lnTo>
                  <a:pt x="14566" y="497"/>
                </a:lnTo>
                <a:lnTo>
                  <a:pt x="14578" y="503"/>
                </a:lnTo>
                <a:lnTo>
                  <a:pt x="14592" y="509"/>
                </a:lnTo>
                <a:lnTo>
                  <a:pt x="14604" y="517"/>
                </a:lnTo>
                <a:lnTo>
                  <a:pt x="14616" y="524"/>
                </a:lnTo>
                <a:lnTo>
                  <a:pt x="14627" y="532"/>
                </a:lnTo>
                <a:lnTo>
                  <a:pt x="14638" y="541"/>
                </a:lnTo>
                <a:lnTo>
                  <a:pt x="14649" y="550"/>
                </a:lnTo>
                <a:lnTo>
                  <a:pt x="14659" y="560"/>
                </a:lnTo>
                <a:lnTo>
                  <a:pt x="14669" y="571"/>
                </a:lnTo>
                <a:lnTo>
                  <a:pt x="14678" y="581"/>
                </a:lnTo>
                <a:lnTo>
                  <a:pt x="14686" y="592"/>
                </a:lnTo>
                <a:lnTo>
                  <a:pt x="14694" y="603"/>
                </a:lnTo>
                <a:lnTo>
                  <a:pt x="14702" y="615"/>
                </a:lnTo>
                <a:lnTo>
                  <a:pt x="14710" y="628"/>
                </a:lnTo>
                <a:lnTo>
                  <a:pt x="14716" y="640"/>
                </a:lnTo>
                <a:lnTo>
                  <a:pt x="14722" y="653"/>
                </a:lnTo>
                <a:lnTo>
                  <a:pt x="14727" y="666"/>
                </a:lnTo>
                <a:lnTo>
                  <a:pt x="14732" y="680"/>
                </a:lnTo>
                <a:lnTo>
                  <a:pt x="14736" y="694"/>
                </a:lnTo>
                <a:lnTo>
                  <a:pt x="14739" y="708"/>
                </a:lnTo>
                <a:lnTo>
                  <a:pt x="14741" y="722"/>
                </a:lnTo>
                <a:lnTo>
                  <a:pt x="14743" y="737"/>
                </a:lnTo>
                <a:lnTo>
                  <a:pt x="14744" y="752"/>
                </a:lnTo>
                <a:lnTo>
                  <a:pt x="14745" y="767"/>
                </a:lnTo>
                <a:lnTo>
                  <a:pt x="14745" y="1699"/>
                </a:lnTo>
                <a:lnTo>
                  <a:pt x="14744" y="1714"/>
                </a:lnTo>
                <a:lnTo>
                  <a:pt x="14743" y="1728"/>
                </a:lnTo>
                <a:lnTo>
                  <a:pt x="14741" y="1742"/>
                </a:lnTo>
                <a:lnTo>
                  <a:pt x="14739" y="1758"/>
                </a:lnTo>
                <a:lnTo>
                  <a:pt x="14736" y="1771"/>
                </a:lnTo>
                <a:lnTo>
                  <a:pt x="14732" y="1785"/>
                </a:lnTo>
                <a:lnTo>
                  <a:pt x="14727" y="1798"/>
                </a:lnTo>
                <a:lnTo>
                  <a:pt x="14722" y="1812"/>
                </a:lnTo>
                <a:lnTo>
                  <a:pt x="14716" y="1825"/>
                </a:lnTo>
                <a:lnTo>
                  <a:pt x="14710" y="1838"/>
                </a:lnTo>
                <a:lnTo>
                  <a:pt x="14702" y="1850"/>
                </a:lnTo>
                <a:lnTo>
                  <a:pt x="14694" y="1862"/>
                </a:lnTo>
                <a:lnTo>
                  <a:pt x="14686" y="1874"/>
                </a:lnTo>
                <a:lnTo>
                  <a:pt x="14678" y="1885"/>
                </a:lnTo>
                <a:lnTo>
                  <a:pt x="14669" y="1895"/>
                </a:lnTo>
                <a:lnTo>
                  <a:pt x="14659" y="1905"/>
                </a:lnTo>
                <a:lnTo>
                  <a:pt x="14649" y="1916"/>
                </a:lnTo>
                <a:lnTo>
                  <a:pt x="14638" y="1925"/>
                </a:lnTo>
                <a:lnTo>
                  <a:pt x="14627" y="1933"/>
                </a:lnTo>
                <a:lnTo>
                  <a:pt x="14616" y="1941"/>
                </a:lnTo>
                <a:lnTo>
                  <a:pt x="14604" y="1949"/>
                </a:lnTo>
                <a:lnTo>
                  <a:pt x="14592" y="1956"/>
                </a:lnTo>
                <a:lnTo>
                  <a:pt x="14578" y="1962"/>
                </a:lnTo>
                <a:lnTo>
                  <a:pt x="14566" y="1969"/>
                </a:lnTo>
                <a:lnTo>
                  <a:pt x="14553" y="1974"/>
                </a:lnTo>
                <a:lnTo>
                  <a:pt x="14539" y="1979"/>
                </a:lnTo>
                <a:lnTo>
                  <a:pt x="14525" y="1982"/>
                </a:lnTo>
                <a:lnTo>
                  <a:pt x="14511" y="1986"/>
                </a:lnTo>
                <a:lnTo>
                  <a:pt x="14497" y="1988"/>
                </a:lnTo>
                <a:lnTo>
                  <a:pt x="14482" y="1990"/>
                </a:lnTo>
                <a:lnTo>
                  <a:pt x="14467" y="1991"/>
                </a:lnTo>
                <a:lnTo>
                  <a:pt x="14452" y="1991"/>
                </a:lnTo>
                <a:lnTo>
                  <a:pt x="7582" y="1991"/>
                </a:lnTo>
                <a:lnTo>
                  <a:pt x="7567" y="1991"/>
                </a:lnTo>
                <a:lnTo>
                  <a:pt x="7552" y="1990"/>
                </a:lnTo>
                <a:lnTo>
                  <a:pt x="7537" y="1988"/>
                </a:lnTo>
                <a:lnTo>
                  <a:pt x="7523" y="1986"/>
                </a:lnTo>
                <a:lnTo>
                  <a:pt x="7509" y="1982"/>
                </a:lnTo>
                <a:lnTo>
                  <a:pt x="7495" y="1979"/>
                </a:lnTo>
                <a:lnTo>
                  <a:pt x="7481" y="1974"/>
                </a:lnTo>
                <a:lnTo>
                  <a:pt x="7468" y="1969"/>
                </a:lnTo>
                <a:lnTo>
                  <a:pt x="7455" y="1962"/>
                </a:lnTo>
                <a:lnTo>
                  <a:pt x="7443" y="1956"/>
                </a:lnTo>
                <a:lnTo>
                  <a:pt x="7431" y="1949"/>
                </a:lnTo>
                <a:lnTo>
                  <a:pt x="7418" y="1941"/>
                </a:lnTo>
                <a:lnTo>
                  <a:pt x="7407" y="1933"/>
                </a:lnTo>
                <a:lnTo>
                  <a:pt x="7396" y="1925"/>
                </a:lnTo>
                <a:lnTo>
                  <a:pt x="7385" y="1916"/>
                </a:lnTo>
                <a:lnTo>
                  <a:pt x="7375" y="1905"/>
                </a:lnTo>
                <a:lnTo>
                  <a:pt x="7365" y="1895"/>
                </a:lnTo>
                <a:lnTo>
                  <a:pt x="7356" y="1885"/>
                </a:lnTo>
                <a:lnTo>
                  <a:pt x="7347" y="1874"/>
                </a:lnTo>
                <a:lnTo>
                  <a:pt x="7339" y="1862"/>
                </a:lnTo>
                <a:lnTo>
                  <a:pt x="7332" y="1850"/>
                </a:lnTo>
                <a:lnTo>
                  <a:pt x="7325" y="1838"/>
                </a:lnTo>
                <a:lnTo>
                  <a:pt x="7318" y="1825"/>
                </a:lnTo>
                <a:lnTo>
                  <a:pt x="7312" y="1812"/>
                </a:lnTo>
                <a:lnTo>
                  <a:pt x="7306" y="1798"/>
                </a:lnTo>
                <a:lnTo>
                  <a:pt x="7302" y="1785"/>
                </a:lnTo>
                <a:lnTo>
                  <a:pt x="7298" y="1772"/>
                </a:lnTo>
                <a:lnTo>
                  <a:pt x="7295" y="1758"/>
                </a:lnTo>
                <a:lnTo>
                  <a:pt x="7292" y="1742"/>
                </a:lnTo>
                <a:lnTo>
                  <a:pt x="7290" y="1728"/>
                </a:lnTo>
                <a:lnTo>
                  <a:pt x="7289" y="1714"/>
                </a:lnTo>
                <a:lnTo>
                  <a:pt x="7289" y="1699"/>
                </a:lnTo>
                <a:lnTo>
                  <a:pt x="7289" y="767"/>
                </a:lnTo>
                <a:lnTo>
                  <a:pt x="7289" y="752"/>
                </a:lnTo>
                <a:lnTo>
                  <a:pt x="7290" y="737"/>
                </a:lnTo>
                <a:lnTo>
                  <a:pt x="7292" y="722"/>
                </a:lnTo>
                <a:lnTo>
                  <a:pt x="7295" y="708"/>
                </a:lnTo>
                <a:lnTo>
                  <a:pt x="7298" y="694"/>
                </a:lnTo>
                <a:lnTo>
                  <a:pt x="7302" y="680"/>
                </a:lnTo>
                <a:lnTo>
                  <a:pt x="7306" y="666"/>
                </a:lnTo>
                <a:lnTo>
                  <a:pt x="7312" y="653"/>
                </a:lnTo>
                <a:lnTo>
                  <a:pt x="7318" y="640"/>
                </a:lnTo>
                <a:lnTo>
                  <a:pt x="7325" y="628"/>
                </a:lnTo>
                <a:lnTo>
                  <a:pt x="7332" y="615"/>
                </a:lnTo>
                <a:lnTo>
                  <a:pt x="7339" y="603"/>
                </a:lnTo>
                <a:lnTo>
                  <a:pt x="7347" y="592"/>
                </a:lnTo>
                <a:lnTo>
                  <a:pt x="7356" y="581"/>
                </a:lnTo>
                <a:lnTo>
                  <a:pt x="7365" y="571"/>
                </a:lnTo>
                <a:lnTo>
                  <a:pt x="7375" y="560"/>
                </a:lnTo>
                <a:lnTo>
                  <a:pt x="7385" y="550"/>
                </a:lnTo>
                <a:lnTo>
                  <a:pt x="7396" y="541"/>
                </a:lnTo>
                <a:lnTo>
                  <a:pt x="7407" y="532"/>
                </a:lnTo>
                <a:lnTo>
                  <a:pt x="7418" y="524"/>
                </a:lnTo>
                <a:lnTo>
                  <a:pt x="7431" y="517"/>
                </a:lnTo>
                <a:lnTo>
                  <a:pt x="7443" y="509"/>
                </a:lnTo>
                <a:lnTo>
                  <a:pt x="7455" y="503"/>
                </a:lnTo>
                <a:lnTo>
                  <a:pt x="7468" y="497"/>
                </a:lnTo>
                <a:lnTo>
                  <a:pt x="7481" y="492"/>
                </a:lnTo>
                <a:lnTo>
                  <a:pt x="7495" y="487"/>
                </a:lnTo>
                <a:lnTo>
                  <a:pt x="7509" y="483"/>
                </a:lnTo>
                <a:lnTo>
                  <a:pt x="7523" y="480"/>
                </a:lnTo>
                <a:lnTo>
                  <a:pt x="7537" y="477"/>
                </a:lnTo>
                <a:lnTo>
                  <a:pt x="7552" y="476"/>
                </a:lnTo>
                <a:lnTo>
                  <a:pt x="7567" y="474"/>
                </a:lnTo>
                <a:lnTo>
                  <a:pt x="7582" y="474"/>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1" name="Freeform 15">
            <a:extLst>
              <a:ext uri="{FF2B5EF4-FFF2-40B4-BE49-F238E27FC236}">
                <a16:creationId xmlns:a16="http://schemas.microsoft.com/office/drawing/2014/main" id="{22FBB207-7387-4C21-BF05-3F83D562111E}"/>
              </a:ext>
            </a:extLst>
          </p:cNvPr>
          <p:cNvSpPr>
            <a:spLocks noEditPoints="1"/>
          </p:cNvSpPr>
          <p:nvPr/>
        </p:nvSpPr>
        <p:spPr bwMode="gray">
          <a:xfrm>
            <a:off x="6368691" y="5930744"/>
            <a:ext cx="467629" cy="65698"/>
          </a:xfrm>
          <a:custGeom>
            <a:avLst/>
            <a:gdLst/>
            <a:ahLst/>
            <a:cxnLst>
              <a:cxn ang="0">
                <a:pos x="15920" y="2437"/>
              </a:cxn>
              <a:cxn ang="0">
                <a:pos x="16066" y="2370"/>
              </a:cxn>
              <a:cxn ang="0">
                <a:pos x="16180" y="2261"/>
              </a:cxn>
              <a:cxn ang="0">
                <a:pos x="16254" y="2119"/>
              </a:cxn>
              <a:cxn ang="0">
                <a:pos x="16275" y="473"/>
              </a:cxn>
              <a:cxn ang="0">
                <a:pos x="16247" y="311"/>
              </a:cxn>
              <a:cxn ang="0">
                <a:pos x="16166" y="173"/>
              </a:cxn>
              <a:cxn ang="0">
                <a:pos x="16047" y="69"/>
              </a:cxn>
              <a:cxn ang="0">
                <a:pos x="15897" y="10"/>
              </a:cxn>
              <a:cxn ang="0">
                <a:pos x="425" y="2"/>
              </a:cxn>
              <a:cxn ang="0">
                <a:pos x="269" y="46"/>
              </a:cxn>
              <a:cxn ang="0">
                <a:pos x="139" y="139"/>
              </a:cxn>
              <a:cxn ang="0">
                <a:pos x="47" y="268"/>
              </a:cxn>
              <a:cxn ang="0">
                <a:pos x="2" y="425"/>
              </a:cxn>
              <a:cxn ang="0">
                <a:pos x="9" y="2073"/>
              </a:cxn>
              <a:cxn ang="0">
                <a:pos x="68" y="2224"/>
              </a:cxn>
              <a:cxn ang="0">
                <a:pos x="173" y="2344"/>
              </a:cxn>
              <a:cxn ang="0">
                <a:pos x="310" y="2423"/>
              </a:cxn>
              <a:cxn ang="0">
                <a:pos x="473" y="2452"/>
              </a:cxn>
              <a:cxn ang="0">
                <a:pos x="14525" y="1969"/>
              </a:cxn>
              <a:cxn ang="0">
                <a:pos x="14616" y="1928"/>
              </a:cxn>
              <a:cxn ang="0">
                <a:pos x="14686" y="1860"/>
              </a:cxn>
              <a:cxn ang="0">
                <a:pos x="14732" y="1772"/>
              </a:cxn>
              <a:cxn ang="0">
                <a:pos x="14745" y="753"/>
              </a:cxn>
              <a:cxn ang="0">
                <a:pos x="14727" y="654"/>
              </a:cxn>
              <a:cxn ang="0">
                <a:pos x="14678" y="568"/>
              </a:cxn>
              <a:cxn ang="0">
                <a:pos x="14604" y="503"/>
              </a:cxn>
              <a:cxn ang="0">
                <a:pos x="14511" y="466"/>
              </a:cxn>
              <a:cxn ang="0">
                <a:pos x="7552" y="462"/>
              </a:cxn>
              <a:cxn ang="0">
                <a:pos x="7455" y="490"/>
              </a:cxn>
              <a:cxn ang="0">
                <a:pos x="7375" y="547"/>
              </a:cxn>
              <a:cxn ang="0">
                <a:pos x="7318" y="627"/>
              </a:cxn>
              <a:cxn ang="0">
                <a:pos x="7290" y="724"/>
              </a:cxn>
              <a:cxn ang="0">
                <a:pos x="7295" y="1744"/>
              </a:cxn>
              <a:cxn ang="0">
                <a:pos x="7332" y="1837"/>
              </a:cxn>
              <a:cxn ang="0">
                <a:pos x="7396" y="1911"/>
              </a:cxn>
              <a:cxn ang="0">
                <a:pos x="7481" y="1961"/>
              </a:cxn>
              <a:cxn ang="0">
                <a:pos x="7582" y="1978"/>
              </a:cxn>
              <a:cxn ang="0">
                <a:pos x="3118" y="1766"/>
              </a:cxn>
              <a:cxn ang="0">
                <a:pos x="3301" y="1672"/>
              </a:cxn>
              <a:cxn ang="0">
                <a:pos x="3442" y="1524"/>
              </a:cxn>
              <a:cxn ang="0">
                <a:pos x="3528" y="1334"/>
              </a:cxn>
              <a:cxn ang="0">
                <a:pos x="3544" y="1119"/>
              </a:cxn>
              <a:cxn ang="0">
                <a:pos x="3487" y="917"/>
              </a:cxn>
              <a:cxn ang="0">
                <a:pos x="3368" y="749"/>
              </a:cxn>
              <a:cxn ang="0">
                <a:pos x="3200" y="630"/>
              </a:cxn>
              <a:cxn ang="0">
                <a:pos x="2999" y="573"/>
              </a:cxn>
              <a:cxn ang="0">
                <a:pos x="2784" y="589"/>
              </a:cxn>
              <a:cxn ang="0">
                <a:pos x="2595" y="675"/>
              </a:cxn>
              <a:cxn ang="0">
                <a:pos x="2446" y="816"/>
              </a:cxn>
              <a:cxn ang="0">
                <a:pos x="2353" y="1000"/>
              </a:cxn>
              <a:cxn ang="0">
                <a:pos x="2326" y="1213"/>
              </a:cxn>
              <a:cxn ang="0">
                <a:pos x="2373" y="1420"/>
              </a:cxn>
              <a:cxn ang="0">
                <a:pos x="2484" y="1593"/>
              </a:cxn>
              <a:cxn ang="0">
                <a:pos x="2646" y="1719"/>
              </a:cxn>
              <a:cxn ang="0">
                <a:pos x="2843" y="1787"/>
              </a:cxn>
            </a:cxnLst>
            <a:rect l="0" t="0" r="r" b="b"/>
            <a:pathLst>
              <a:path w="16275" h="2452">
                <a:moveTo>
                  <a:pt x="473" y="2452"/>
                </a:moveTo>
                <a:lnTo>
                  <a:pt x="15802" y="2452"/>
                </a:lnTo>
                <a:lnTo>
                  <a:pt x="15826" y="2451"/>
                </a:lnTo>
                <a:lnTo>
                  <a:pt x="15850" y="2450"/>
                </a:lnTo>
                <a:lnTo>
                  <a:pt x="15874" y="2447"/>
                </a:lnTo>
                <a:lnTo>
                  <a:pt x="15897" y="2443"/>
                </a:lnTo>
                <a:lnTo>
                  <a:pt x="15920" y="2437"/>
                </a:lnTo>
                <a:lnTo>
                  <a:pt x="15942" y="2431"/>
                </a:lnTo>
                <a:lnTo>
                  <a:pt x="15964" y="2423"/>
                </a:lnTo>
                <a:lnTo>
                  <a:pt x="15986" y="2414"/>
                </a:lnTo>
                <a:lnTo>
                  <a:pt x="16006" y="2405"/>
                </a:lnTo>
                <a:lnTo>
                  <a:pt x="16027" y="2395"/>
                </a:lnTo>
                <a:lnTo>
                  <a:pt x="16047" y="2384"/>
                </a:lnTo>
                <a:lnTo>
                  <a:pt x="16066" y="2370"/>
                </a:lnTo>
                <a:lnTo>
                  <a:pt x="16085" y="2357"/>
                </a:lnTo>
                <a:lnTo>
                  <a:pt x="16102" y="2344"/>
                </a:lnTo>
                <a:lnTo>
                  <a:pt x="16119" y="2329"/>
                </a:lnTo>
                <a:lnTo>
                  <a:pt x="16136" y="2312"/>
                </a:lnTo>
                <a:lnTo>
                  <a:pt x="16152" y="2296"/>
                </a:lnTo>
                <a:lnTo>
                  <a:pt x="16166" y="2279"/>
                </a:lnTo>
                <a:lnTo>
                  <a:pt x="16180" y="2261"/>
                </a:lnTo>
                <a:lnTo>
                  <a:pt x="16194" y="2243"/>
                </a:lnTo>
                <a:lnTo>
                  <a:pt x="16206" y="2224"/>
                </a:lnTo>
                <a:lnTo>
                  <a:pt x="16218" y="2203"/>
                </a:lnTo>
                <a:lnTo>
                  <a:pt x="16228" y="2183"/>
                </a:lnTo>
                <a:lnTo>
                  <a:pt x="16237" y="2163"/>
                </a:lnTo>
                <a:lnTo>
                  <a:pt x="16247" y="2141"/>
                </a:lnTo>
                <a:lnTo>
                  <a:pt x="16254" y="2119"/>
                </a:lnTo>
                <a:lnTo>
                  <a:pt x="16260" y="2096"/>
                </a:lnTo>
                <a:lnTo>
                  <a:pt x="16265" y="2073"/>
                </a:lnTo>
                <a:lnTo>
                  <a:pt x="16270" y="2051"/>
                </a:lnTo>
                <a:lnTo>
                  <a:pt x="16273" y="2026"/>
                </a:lnTo>
                <a:lnTo>
                  <a:pt x="16274" y="2003"/>
                </a:lnTo>
                <a:lnTo>
                  <a:pt x="16275" y="1978"/>
                </a:lnTo>
                <a:lnTo>
                  <a:pt x="16275" y="473"/>
                </a:lnTo>
                <a:lnTo>
                  <a:pt x="16274" y="449"/>
                </a:lnTo>
                <a:lnTo>
                  <a:pt x="16273" y="425"/>
                </a:lnTo>
                <a:lnTo>
                  <a:pt x="16270" y="401"/>
                </a:lnTo>
                <a:lnTo>
                  <a:pt x="16265" y="379"/>
                </a:lnTo>
                <a:lnTo>
                  <a:pt x="16260" y="355"/>
                </a:lnTo>
                <a:lnTo>
                  <a:pt x="16254" y="333"/>
                </a:lnTo>
                <a:lnTo>
                  <a:pt x="16247" y="311"/>
                </a:lnTo>
                <a:lnTo>
                  <a:pt x="16237" y="289"/>
                </a:lnTo>
                <a:lnTo>
                  <a:pt x="16228" y="268"/>
                </a:lnTo>
                <a:lnTo>
                  <a:pt x="16218" y="248"/>
                </a:lnTo>
                <a:lnTo>
                  <a:pt x="16206" y="228"/>
                </a:lnTo>
                <a:lnTo>
                  <a:pt x="16194" y="209"/>
                </a:lnTo>
                <a:lnTo>
                  <a:pt x="16180" y="190"/>
                </a:lnTo>
                <a:lnTo>
                  <a:pt x="16166" y="173"/>
                </a:lnTo>
                <a:lnTo>
                  <a:pt x="16152" y="155"/>
                </a:lnTo>
                <a:lnTo>
                  <a:pt x="16136" y="139"/>
                </a:lnTo>
                <a:lnTo>
                  <a:pt x="16119" y="123"/>
                </a:lnTo>
                <a:lnTo>
                  <a:pt x="16102" y="109"/>
                </a:lnTo>
                <a:lnTo>
                  <a:pt x="16085" y="94"/>
                </a:lnTo>
                <a:lnTo>
                  <a:pt x="16066" y="81"/>
                </a:lnTo>
                <a:lnTo>
                  <a:pt x="16047" y="69"/>
                </a:lnTo>
                <a:lnTo>
                  <a:pt x="16027" y="57"/>
                </a:lnTo>
                <a:lnTo>
                  <a:pt x="16006" y="46"/>
                </a:lnTo>
                <a:lnTo>
                  <a:pt x="15986" y="37"/>
                </a:lnTo>
                <a:lnTo>
                  <a:pt x="15964" y="28"/>
                </a:lnTo>
                <a:lnTo>
                  <a:pt x="15942" y="21"/>
                </a:lnTo>
                <a:lnTo>
                  <a:pt x="15920" y="15"/>
                </a:lnTo>
                <a:lnTo>
                  <a:pt x="15897" y="10"/>
                </a:lnTo>
                <a:lnTo>
                  <a:pt x="15874" y="5"/>
                </a:lnTo>
                <a:lnTo>
                  <a:pt x="15850" y="2"/>
                </a:lnTo>
                <a:lnTo>
                  <a:pt x="15826" y="1"/>
                </a:lnTo>
                <a:lnTo>
                  <a:pt x="15802" y="0"/>
                </a:lnTo>
                <a:lnTo>
                  <a:pt x="473" y="0"/>
                </a:lnTo>
                <a:lnTo>
                  <a:pt x="449" y="1"/>
                </a:lnTo>
                <a:lnTo>
                  <a:pt x="425" y="2"/>
                </a:lnTo>
                <a:lnTo>
                  <a:pt x="401" y="5"/>
                </a:lnTo>
                <a:lnTo>
                  <a:pt x="378" y="10"/>
                </a:lnTo>
                <a:lnTo>
                  <a:pt x="355" y="15"/>
                </a:lnTo>
                <a:lnTo>
                  <a:pt x="333" y="21"/>
                </a:lnTo>
                <a:lnTo>
                  <a:pt x="310" y="28"/>
                </a:lnTo>
                <a:lnTo>
                  <a:pt x="289" y="37"/>
                </a:lnTo>
                <a:lnTo>
                  <a:pt x="269" y="46"/>
                </a:lnTo>
                <a:lnTo>
                  <a:pt x="248" y="57"/>
                </a:lnTo>
                <a:lnTo>
                  <a:pt x="228" y="69"/>
                </a:lnTo>
                <a:lnTo>
                  <a:pt x="209" y="81"/>
                </a:lnTo>
                <a:lnTo>
                  <a:pt x="190" y="94"/>
                </a:lnTo>
                <a:lnTo>
                  <a:pt x="173" y="109"/>
                </a:lnTo>
                <a:lnTo>
                  <a:pt x="156" y="123"/>
                </a:lnTo>
                <a:lnTo>
                  <a:pt x="139" y="139"/>
                </a:lnTo>
                <a:lnTo>
                  <a:pt x="123" y="155"/>
                </a:lnTo>
                <a:lnTo>
                  <a:pt x="108" y="173"/>
                </a:lnTo>
                <a:lnTo>
                  <a:pt x="95" y="190"/>
                </a:lnTo>
                <a:lnTo>
                  <a:pt x="81" y="209"/>
                </a:lnTo>
                <a:lnTo>
                  <a:pt x="68" y="228"/>
                </a:lnTo>
                <a:lnTo>
                  <a:pt x="57" y="248"/>
                </a:lnTo>
                <a:lnTo>
                  <a:pt x="47" y="268"/>
                </a:lnTo>
                <a:lnTo>
                  <a:pt x="38" y="289"/>
                </a:lnTo>
                <a:lnTo>
                  <a:pt x="28" y="311"/>
                </a:lnTo>
                <a:lnTo>
                  <a:pt x="21" y="333"/>
                </a:lnTo>
                <a:lnTo>
                  <a:pt x="15" y="355"/>
                </a:lnTo>
                <a:lnTo>
                  <a:pt x="9" y="379"/>
                </a:lnTo>
                <a:lnTo>
                  <a:pt x="5" y="401"/>
                </a:lnTo>
                <a:lnTo>
                  <a:pt x="2" y="425"/>
                </a:lnTo>
                <a:lnTo>
                  <a:pt x="1" y="449"/>
                </a:lnTo>
                <a:lnTo>
                  <a:pt x="0" y="473"/>
                </a:lnTo>
                <a:lnTo>
                  <a:pt x="0" y="1978"/>
                </a:lnTo>
                <a:lnTo>
                  <a:pt x="1" y="2003"/>
                </a:lnTo>
                <a:lnTo>
                  <a:pt x="2" y="2026"/>
                </a:lnTo>
                <a:lnTo>
                  <a:pt x="5" y="2051"/>
                </a:lnTo>
                <a:lnTo>
                  <a:pt x="9" y="2073"/>
                </a:lnTo>
                <a:lnTo>
                  <a:pt x="15" y="2096"/>
                </a:lnTo>
                <a:lnTo>
                  <a:pt x="21" y="2119"/>
                </a:lnTo>
                <a:lnTo>
                  <a:pt x="28" y="2141"/>
                </a:lnTo>
                <a:lnTo>
                  <a:pt x="38" y="2163"/>
                </a:lnTo>
                <a:lnTo>
                  <a:pt x="47" y="2183"/>
                </a:lnTo>
                <a:lnTo>
                  <a:pt x="57" y="2203"/>
                </a:lnTo>
                <a:lnTo>
                  <a:pt x="68" y="2224"/>
                </a:lnTo>
                <a:lnTo>
                  <a:pt x="81" y="2243"/>
                </a:lnTo>
                <a:lnTo>
                  <a:pt x="95" y="2261"/>
                </a:lnTo>
                <a:lnTo>
                  <a:pt x="108" y="2279"/>
                </a:lnTo>
                <a:lnTo>
                  <a:pt x="123" y="2296"/>
                </a:lnTo>
                <a:lnTo>
                  <a:pt x="139" y="2312"/>
                </a:lnTo>
                <a:lnTo>
                  <a:pt x="156" y="2329"/>
                </a:lnTo>
                <a:lnTo>
                  <a:pt x="173" y="2344"/>
                </a:lnTo>
                <a:lnTo>
                  <a:pt x="190" y="2357"/>
                </a:lnTo>
                <a:lnTo>
                  <a:pt x="209" y="2370"/>
                </a:lnTo>
                <a:lnTo>
                  <a:pt x="228" y="2384"/>
                </a:lnTo>
                <a:lnTo>
                  <a:pt x="248" y="2395"/>
                </a:lnTo>
                <a:lnTo>
                  <a:pt x="269" y="2405"/>
                </a:lnTo>
                <a:lnTo>
                  <a:pt x="289" y="2414"/>
                </a:lnTo>
                <a:lnTo>
                  <a:pt x="310" y="2423"/>
                </a:lnTo>
                <a:lnTo>
                  <a:pt x="333" y="2431"/>
                </a:lnTo>
                <a:lnTo>
                  <a:pt x="355" y="2437"/>
                </a:lnTo>
                <a:lnTo>
                  <a:pt x="378" y="2443"/>
                </a:lnTo>
                <a:lnTo>
                  <a:pt x="401" y="2447"/>
                </a:lnTo>
                <a:lnTo>
                  <a:pt x="425" y="2450"/>
                </a:lnTo>
                <a:lnTo>
                  <a:pt x="449" y="2451"/>
                </a:lnTo>
                <a:lnTo>
                  <a:pt x="473" y="2452"/>
                </a:lnTo>
                <a:close/>
                <a:moveTo>
                  <a:pt x="7582" y="1978"/>
                </a:moveTo>
                <a:lnTo>
                  <a:pt x="14452" y="1978"/>
                </a:lnTo>
                <a:lnTo>
                  <a:pt x="14467" y="1978"/>
                </a:lnTo>
                <a:lnTo>
                  <a:pt x="14482" y="1977"/>
                </a:lnTo>
                <a:lnTo>
                  <a:pt x="14497" y="1975"/>
                </a:lnTo>
                <a:lnTo>
                  <a:pt x="14511" y="1972"/>
                </a:lnTo>
                <a:lnTo>
                  <a:pt x="14525" y="1969"/>
                </a:lnTo>
                <a:lnTo>
                  <a:pt x="14539" y="1965"/>
                </a:lnTo>
                <a:lnTo>
                  <a:pt x="14553" y="1961"/>
                </a:lnTo>
                <a:lnTo>
                  <a:pt x="14566" y="1955"/>
                </a:lnTo>
                <a:lnTo>
                  <a:pt x="14578" y="1950"/>
                </a:lnTo>
                <a:lnTo>
                  <a:pt x="14592" y="1943"/>
                </a:lnTo>
                <a:lnTo>
                  <a:pt x="14604" y="1935"/>
                </a:lnTo>
                <a:lnTo>
                  <a:pt x="14616" y="1928"/>
                </a:lnTo>
                <a:lnTo>
                  <a:pt x="14627" y="1920"/>
                </a:lnTo>
                <a:lnTo>
                  <a:pt x="14638" y="1911"/>
                </a:lnTo>
                <a:lnTo>
                  <a:pt x="14649" y="1902"/>
                </a:lnTo>
                <a:lnTo>
                  <a:pt x="14659" y="1893"/>
                </a:lnTo>
                <a:lnTo>
                  <a:pt x="14669" y="1882"/>
                </a:lnTo>
                <a:lnTo>
                  <a:pt x="14678" y="1871"/>
                </a:lnTo>
                <a:lnTo>
                  <a:pt x="14686" y="1860"/>
                </a:lnTo>
                <a:lnTo>
                  <a:pt x="14694" y="1849"/>
                </a:lnTo>
                <a:lnTo>
                  <a:pt x="14702" y="1837"/>
                </a:lnTo>
                <a:lnTo>
                  <a:pt x="14710" y="1824"/>
                </a:lnTo>
                <a:lnTo>
                  <a:pt x="14716" y="1812"/>
                </a:lnTo>
                <a:lnTo>
                  <a:pt x="14722" y="1799"/>
                </a:lnTo>
                <a:lnTo>
                  <a:pt x="14727" y="1786"/>
                </a:lnTo>
                <a:lnTo>
                  <a:pt x="14732" y="1772"/>
                </a:lnTo>
                <a:lnTo>
                  <a:pt x="14736" y="1758"/>
                </a:lnTo>
                <a:lnTo>
                  <a:pt x="14739" y="1744"/>
                </a:lnTo>
                <a:lnTo>
                  <a:pt x="14741" y="1730"/>
                </a:lnTo>
                <a:lnTo>
                  <a:pt x="14743" y="1715"/>
                </a:lnTo>
                <a:lnTo>
                  <a:pt x="14744" y="1700"/>
                </a:lnTo>
                <a:lnTo>
                  <a:pt x="14745" y="1685"/>
                </a:lnTo>
                <a:lnTo>
                  <a:pt x="14745" y="753"/>
                </a:lnTo>
                <a:lnTo>
                  <a:pt x="14744" y="739"/>
                </a:lnTo>
                <a:lnTo>
                  <a:pt x="14743" y="724"/>
                </a:lnTo>
                <a:lnTo>
                  <a:pt x="14741" y="710"/>
                </a:lnTo>
                <a:lnTo>
                  <a:pt x="14739" y="695"/>
                </a:lnTo>
                <a:lnTo>
                  <a:pt x="14736" y="681"/>
                </a:lnTo>
                <a:lnTo>
                  <a:pt x="14732" y="667"/>
                </a:lnTo>
                <a:lnTo>
                  <a:pt x="14727" y="654"/>
                </a:lnTo>
                <a:lnTo>
                  <a:pt x="14722" y="640"/>
                </a:lnTo>
                <a:lnTo>
                  <a:pt x="14716" y="627"/>
                </a:lnTo>
                <a:lnTo>
                  <a:pt x="14710" y="614"/>
                </a:lnTo>
                <a:lnTo>
                  <a:pt x="14702" y="602"/>
                </a:lnTo>
                <a:lnTo>
                  <a:pt x="14694" y="590"/>
                </a:lnTo>
                <a:lnTo>
                  <a:pt x="14686" y="579"/>
                </a:lnTo>
                <a:lnTo>
                  <a:pt x="14678" y="568"/>
                </a:lnTo>
                <a:lnTo>
                  <a:pt x="14669" y="557"/>
                </a:lnTo>
                <a:lnTo>
                  <a:pt x="14659" y="547"/>
                </a:lnTo>
                <a:lnTo>
                  <a:pt x="14649" y="537"/>
                </a:lnTo>
                <a:lnTo>
                  <a:pt x="14638" y="528"/>
                </a:lnTo>
                <a:lnTo>
                  <a:pt x="14627" y="519"/>
                </a:lnTo>
                <a:lnTo>
                  <a:pt x="14616" y="511"/>
                </a:lnTo>
                <a:lnTo>
                  <a:pt x="14604" y="503"/>
                </a:lnTo>
                <a:lnTo>
                  <a:pt x="14592" y="496"/>
                </a:lnTo>
                <a:lnTo>
                  <a:pt x="14578" y="490"/>
                </a:lnTo>
                <a:lnTo>
                  <a:pt x="14566" y="483"/>
                </a:lnTo>
                <a:lnTo>
                  <a:pt x="14553" y="478"/>
                </a:lnTo>
                <a:lnTo>
                  <a:pt x="14539" y="474"/>
                </a:lnTo>
                <a:lnTo>
                  <a:pt x="14525" y="470"/>
                </a:lnTo>
                <a:lnTo>
                  <a:pt x="14511" y="466"/>
                </a:lnTo>
                <a:lnTo>
                  <a:pt x="14497" y="464"/>
                </a:lnTo>
                <a:lnTo>
                  <a:pt x="14482" y="462"/>
                </a:lnTo>
                <a:lnTo>
                  <a:pt x="14467" y="461"/>
                </a:lnTo>
                <a:lnTo>
                  <a:pt x="14452" y="461"/>
                </a:lnTo>
                <a:lnTo>
                  <a:pt x="7582" y="461"/>
                </a:lnTo>
                <a:lnTo>
                  <a:pt x="7567" y="461"/>
                </a:lnTo>
                <a:lnTo>
                  <a:pt x="7552" y="462"/>
                </a:lnTo>
                <a:lnTo>
                  <a:pt x="7537" y="464"/>
                </a:lnTo>
                <a:lnTo>
                  <a:pt x="7523" y="466"/>
                </a:lnTo>
                <a:lnTo>
                  <a:pt x="7509" y="470"/>
                </a:lnTo>
                <a:lnTo>
                  <a:pt x="7495" y="474"/>
                </a:lnTo>
                <a:lnTo>
                  <a:pt x="7481" y="478"/>
                </a:lnTo>
                <a:lnTo>
                  <a:pt x="7468" y="483"/>
                </a:lnTo>
                <a:lnTo>
                  <a:pt x="7455" y="490"/>
                </a:lnTo>
                <a:lnTo>
                  <a:pt x="7443" y="496"/>
                </a:lnTo>
                <a:lnTo>
                  <a:pt x="7431" y="503"/>
                </a:lnTo>
                <a:lnTo>
                  <a:pt x="7418" y="511"/>
                </a:lnTo>
                <a:lnTo>
                  <a:pt x="7407" y="519"/>
                </a:lnTo>
                <a:lnTo>
                  <a:pt x="7396" y="527"/>
                </a:lnTo>
                <a:lnTo>
                  <a:pt x="7385" y="537"/>
                </a:lnTo>
                <a:lnTo>
                  <a:pt x="7375" y="547"/>
                </a:lnTo>
                <a:lnTo>
                  <a:pt x="7365" y="557"/>
                </a:lnTo>
                <a:lnTo>
                  <a:pt x="7356" y="568"/>
                </a:lnTo>
                <a:lnTo>
                  <a:pt x="7347" y="579"/>
                </a:lnTo>
                <a:lnTo>
                  <a:pt x="7339" y="590"/>
                </a:lnTo>
                <a:lnTo>
                  <a:pt x="7332" y="602"/>
                </a:lnTo>
                <a:lnTo>
                  <a:pt x="7325" y="614"/>
                </a:lnTo>
                <a:lnTo>
                  <a:pt x="7318" y="627"/>
                </a:lnTo>
                <a:lnTo>
                  <a:pt x="7312" y="640"/>
                </a:lnTo>
                <a:lnTo>
                  <a:pt x="7306" y="654"/>
                </a:lnTo>
                <a:lnTo>
                  <a:pt x="7302" y="667"/>
                </a:lnTo>
                <a:lnTo>
                  <a:pt x="7298" y="681"/>
                </a:lnTo>
                <a:lnTo>
                  <a:pt x="7295" y="695"/>
                </a:lnTo>
                <a:lnTo>
                  <a:pt x="7292" y="710"/>
                </a:lnTo>
                <a:lnTo>
                  <a:pt x="7290" y="724"/>
                </a:lnTo>
                <a:lnTo>
                  <a:pt x="7289" y="739"/>
                </a:lnTo>
                <a:lnTo>
                  <a:pt x="7289" y="753"/>
                </a:lnTo>
                <a:lnTo>
                  <a:pt x="7289" y="1685"/>
                </a:lnTo>
                <a:lnTo>
                  <a:pt x="7289" y="1700"/>
                </a:lnTo>
                <a:lnTo>
                  <a:pt x="7290" y="1715"/>
                </a:lnTo>
                <a:lnTo>
                  <a:pt x="7292" y="1730"/>
                </a:lnTo>
                <a:lnTo>
                  <a:pt x="7295" y="1744"/>
                </a:lnTo>
                <a:lnTo>
                  <a:pt x="7298" y="1758"/>
                </a:lnTo>
                <a:lnTo>
                  <a:pt x="7302" y="1772"/>
                </a:lnTo>
                <a:lnTo>
                  <a:pt x="7306" y="1786"/>
                </a:lnTo>
                <a:lnTo>
                  <a:pt x="7312" y="1799"/>
                </a:lnTo>
                <a:lnTo>
                  <a:pt x="7318" y="1812"/>
                </a:lnTo>
                <a:lnTo>
                  <a:pt x="7325" y="1824"/>
                </a:lnTo>
                <a:lnTo>
                  <a:pt x="7332" y="1837"/>
                </a:lnTo>
                <a:lnTo>
                  <a:pt x="7339" y="1849"/>
                </a:lnTo>
                <a:lnTo>
                  <a:pt x="7347" y="1860"/>
                </a:lnTo>
                <a:lnTo>
                  <a:pt x="7356" y="1871"/>
                </a:lnTo>
                <a:lnTo>
                  <a:pt x="7365" y="1882"/>
                </a:lnTo>
                <a:lnTo>
                  <a:pt x="7375" y="1893"/>
                </a:lnTo>
                <a:lnTo>
                  <a:pt x="7385" y="1902"/>
                </a:lnTo>
                <a:lnTo>
                  <a:pt x="7396" y="1911"/>
                </a:lnTo>
                <a:lnTo>
                  <a:pt x="7407" y="1920"/>
                </a:lnTo>
                <a:lnTo>
                  <a:pt x="7418" y="1928"/>
                </a:lnTo>
                <a:lnTo>
                  <a:pt x="7431" y="1935"/>
                </a:lnTo>
                <a:lnTo>
                  <a:pt x="7443" y="1943"/>
                </a:lnTo>
                <a:lnTo>
                  <a:pt x="7455" y="1950"/>
                </a:lnTo>
                <a:lnTo>
                  <a:pt x="7468" y="1955"/>
                </a:lnTo>
                <a:lnTo>
                  <a:pt x="7481" y="1961"/>
                </a:lnTo>
                <a:lnTo>
                  <a:pt x="7495" y="1965"/>
                </a:lnTo>
                <a:lnTo>
                  <a:pt x="7509" y="1969"/>
                </a:lnTo>
                <a:lnTo>
                  <a:pt x="7523" y="1972"/>
                </a:lnTo>
                <a:lnTo>
                  <a:pt x="7537" y="1975"/>
                </a:lnTo>
                <a:lnTo>
                  <a:pt x="7552" y="1977"/>
                </a:lnTo>
                <a:lnTo>
                  <a:pt x="7567" y="1978"/>
                </a:lnTo>
                <a:lnTo>
                  <a:pt x="7582" y="1978"/>
                </a:lnTo>
                <a:close/>
                <a:moveTo>
                  <a:pt x="2937" y="1794"/>
                </a:moveTo>
                <a:lnTo>
                  <a:pt x="2967" y="1793"/>
                </a:lnTo>
                <a:lnTo>
                  <a:pt x="2999" y="1791"/>
                </a:lnTo>
                <a:lnTo>
                  <a:pt x="3029" y="1787"/>
                </a:lnTo>
                <a:lnTo>
                  <a:pt x="3059" y="1782"/>
                </a:lnTo>
                <a:lnTo>
                  <a:pt x="3088" y="1774"/>
                </a:lnTo>
                <a:lnTo>
                  <a:pt x="3118" y="1766"/>
                </a:lnTo>
                <a:lnTo>
                  <a:pt x="3146" y="1756"/>
                </a:lnTo>
                <a:lnTo>
                  <a:pt x="3174" y="1746"/>
                </a:lnTo>
                <a:lnTo>
                  <a:pt x="3200" y="1734"/>
                </a:lnTo>
                <a:lnTo>
                  <a:pt x="3227" y="1719"/>
                </a:lnTo>
                <a:lnTo>
                  <a:pt x="3252" y="1705"/>
                </a:lnTo>
                <a:lnTo>
                  <a:pt x="3277" y="1689"/>
                </a:lnTo>
                <a:lnTo>
                  <a:pt x="3301" y="1672"/>
                </a:lnTo>
                <a:lnTo>
                  <a:pt x="3324" y="1654"/>
                </a:lnTo>
                <a:lnTo>
                  <a:pt x="3347" y="1635"/>
                </a:lnTo>
                <a:lnTo>
                  <a:pt x="3368" y="1614"/>
                </a:lnTo>
                <a:lnTo>
                  <a:pt x="3388" y="1593"/>
                </a:lnTo>
                <a:lnTo>
                  <a:pt x="3408" y="1571"/>
                </a:lnTo>
                <a:lnTo>
                  <a:pt x="3425" y="1547"/>
                </a:lnTo>
                <a:lnTo>
                  <a:pt x="3442" y="1524"/>
                </a:lnTo>
                <a:lnTo>
                  <a:pt x="3458" y="1498"/>
                </a:lnTo>
                <a:lnTo>
                  <a:pt x="3473" y="1473"/>
                </a:lnTo>
                <a:lnTo>
                  <a:pt x="3487" y="1446"/>
                </a:lnTo>
                <a:lnTo>
                  <a:pt x="3499" y="1420"/>
                </a:lnTo>
                <a:lnTo>
                  <a:pt x="3509" y="1392"/>
                </a:lnTo>
                <a:lnTo>
                  <a:pt x="3519" y="1364"/>
                </a:lnTo>
                <a:lnTo>
                  <a:pt x="3528" y="1334"/>
                </a:lnTo>
                <a:lnTo>
                  <a:pt x="3535" y="1305"/>
                </a:lnTo>
                <a:lnTo>
                  <a:pt x="3540" y="1275"/>
                </a:lnTo>
                <a:lnTo>
                  <a:pt x="3544" y="1245"/>
                </a:lnTo>
                <a:lnTo>
                  <a:pt x="3546" y="1213"/>
                </a:lnTo>
                <a:lnTo>
                  <a:pt x="3547" y="1181"/>
                </a:lnTo>
                <a:lnTo>
                  <a:pt x="3546" y="1150"/>
                </a:lnTo>
                <a:lnTo>
                  <a:pt x="3544" y="1119"/>
                </a:lnTo>
                <a:lnTo>
                  <a:pt x="3540" y="1089"/>
                </a:lnTo>
                <a:lnTo>
                  <a:pt x="3535" y="1059"/>
                </a:lnTo>
                <a:lnTo>
                  <a:pt x="3528" y="1030"/>
                </a:lnTo>
                <a:lnTo>
                  <a:pt x="3519" y="1000"/>
                </a:lnTo>
                <a:lnTo>
                  <a:pt x="3509" y="972"/>
                </a:lnTo>
                <a:lnTo>
                  <a:pt x="3499" y="944"/>
                </a:lnTo>
                <a:lnTo>
                  <a:pt x="3487" y="917"/>
                </a:lnTo>
                <a:lnTo>
                  <a:pt x="3473" y="890"/>
                </a:lnTo>
                <a:lnTo>
                  <a:pt x="3458" y="865"/>
                </a:lnTo>
                <a:lnTo>
                  <a:pt x="3442" y="840"/>
                </a:lnTo>
                <a:lnTo>
                  <a:pt x="3425" y="816"/>
                </a:lnTo>
                <a:lnTo>
                  <a:pt x="3408" y="793"/>
                </a:lnTo>
                <a:lnTo>
                  <a:pt x="3388" y="771"/>
                </a:lnTo>
                <a:lnTo>
                  <a:pt x="3368" y="749"/>
                </a:lnTo>
                <a:lnTo>
                  <a:pt x="3347" y="729"/>
                </a:lnTo>
                <a:lnTo>
                  <a:pt x="3324" y="710"/>
                </a:lnTo>
                <a:lnTo>
                  <a:pt x="3301" y="691"/>
                </a:lnTo>
                <a:lnTo>
                  <a:pt x="3277" y="675"/>
                </a:lnTo>
                <a:lnTo>
                  <a:pt x="3252" y="659"/>
                </a:lnTo>
                <a:lnTo>
                  <a:pt x="3227" y="643"/>
                </a:lnTo>
                <a:lnTo>
                  <a:pt x="3200" y="630"/>
                </a:lnTo>
                <a:lnTo>
                  <a:pt x="3174" y="618"/>
                </a:lnTo>
                <a:lnTo>
                  <a:pt x="3146" y="607"/>
                </a:lnTo>
                <a:lnTo>
                  <a:pt x="3118" y="598"/>
                </a:lnTo>
                <a:lnTo>
                  <a:pt x="3088" y="589"/>
                </a:lnTo>
                <a:lnTo>
                  <a:pt x="3059" y="582"/>
                </a:lnTo>
                <a:lnTo>
                  <a:pt x="3029" y="577"/>
                </a:lnTo>
                <a:lnTo>
                  <a:pt x="2999" y="573"/>
                </a:lnTo>
                <a:lnTo>
                  <a:pt x="2967" y="570"/>
                </a:lnTo>
                <a:lnTo>
                  <a:pt x="2937" y="570"/>
                </a:lnTo>
                <a:lnTo>
                  <a:pt x="2905" y="570"/>
                </a:lnTo>
                <a:lnTo>
                  <a:pt x="2874" y="573"/>
                </a:lnTo>
                <a:lnTo>
                  <a:pt x="2843" y="577"/>
                </a:lnTo>
                <a:lnTo>
                  <a:pt x="2814" y="582"/>
                </a:lnTo>
                <a:lnTo>
                  <a:pt x="2784" y="589"/>
                </a:lnTo>
                <a:lnTo>
                  <a:pt x="2755" y="598"/>
                </a:lnTo>
                <a:lnTo>
                  <a:pt x="2726" y="607"/>
                </a:lnTo>
                <a:lnTo>
                  <a:pt x="2699" y="618"/>
                </a:lnTo>
                <a:lnTo>
                  <a:pt x="2671" y="630"/>
                </a:lnTo>
                <a:lnTo>
                  <a:pt x="2646" y="643"/>
                </a:lnTo>
                <a:lnTo>
                  <a:pt x="2619" y="659"/>
                </a:lnTo>
                <a:lnTo>
                  <a:pt x="2595" y="675"/>
                </a:lnTo>
                <a:lnTo>
                  <a:pt x="2570" y="691"/>
                </a:lnTo>
                <a:lnTo>
                  <a:pt x="2548" y="710"/>
                </a:lnTo>
                <a:lnTo>
                  <a:pt x="2526" y="729"/>
                </a:lnTo>
                <a:lnTo>
                  <a:pt x="2504" y="749"/>
                </a:lnTo>
                <a:lnTo>
                  <a:pt x="2484" y="771"/>
                </a:lnTo>
                <a:lnTo>
                  <a:pt x="2465" y="793"/>
                </a:lnTo>
                <a:lnTo>
                  <a:pt x="2446" y="816"/>
                </a:lnTo>
                <a:lnTo>
                  <a:pt x="2430" y="840"/>
                </a:lnTo>
                <a:lnTo>
                  <a:pt x="2414" y="865"/>
                </a:lnTo>
                <a:lnTo>
                  <a:pt x="2399" y="890"/>
                </a:lnTo>
                <a:lnTo>
                  <a:pt x="2385" y="917"/>
                </a:lnTo>
                <a:lnTo>
                  <a:pt x="2373" y="944"/>
                </a:lnTo>
                <a:lnTo>
                  <a:pt x="2362" y="972"/>
                </a:lnTo>
                <a:lnTo>
                  <a:pt x="2353" y="1000"/>
                </a:lnTo>
                <a:lnTo>
                  <a:pt x="2345" y="1030"/>
                </a:lnTo>
                <a:lnTo>
                  <a:pt x="2337" y="1059"/>
                </a:lnTo>
                <a:lnTo>
                  <a:pt x="2332" y="1089"/>
                </a:lnTo>
                <a:lnTo>
                  <a:pt x="2328" y="1119"/>
                </a:lnTo>
                <a:lnTo>
                  <a:pt x="2326" y="1150"/>
                </a:lnTo>
                <a:lnTo>
                  <a:pt x="2325" y="1181"/>
                </a:lnTo>
                <a:lnTo>
                  <a:pt x="2326" y="1213"/>
                </a:lnTo>
                <a:lnTo>
                  <a:pt x="2328" y="1245"/>
                </a:lnTo>
                <a:lnTo>
                  <a:pt x="2332" y="1275"/>
                </a:lnTo>
                <a:lnTo>
                  <a:pt x="2337" y="1305"/>
                </a:lnTo>
                <a:lnTo>
                  <a:pt x="2345" y="1334"/>
                </a:lnTo>
                <a:lnTo>
                  <a:pt x="2353" y="1364"/>
                </a:lnTo>
                <a:lnTo>
                  <a:pt x="2362" y="1392"/>
                </a:lnTo>
                <a:lnTo>
                  <a:pt x="2373" y="1420"/>
                </a:lnTo>
                <a:lnTo>
                  <a:pt x="2385" y="1446"/>
                </a:lnTo>
                <a:lnTo>
                  <a:pt x="2399" y="1473"/>
                </a:lnTo>
                <a:lnTo>
                  <a:pt x="2414" y="1498"/>
                </a:lnTo>
                <a:lnTo>
                  <a:pt x="2430" y="1524"/>
                </a:lnTo>
                <a:lnTo>
                  <a:pt x="2446" y="1547"/>
                </a:lnTo>
                <a:lnTo>
                  <a:pt x="2465" y="1571"/>
                </a:lnTo>
                <a:lnTo>
                  <a:pt x="2484" y="1593"/>
                </a:lnTo>
                <a:lnTo>
                  <a:pt x="2504" y="1614"/>
                </a:lnTo>
                <a:lnTo>
                  <a:pt x="2526" y="1635"/>
                </a:lnTo>
                <a:lnTo>
                  <a:pt x="2548" y="1654"/>
                </a:lnTo>
                <a:lnTo>
                  <a:pt x="2570" y="1672"/>
                </a:lnTo>
                <a:lnTo>
                  <a:pt x="2595" y="1689"/>
                </a:lnTo>
                <a:lnTo>
                  <a:pt x="2619" y="1705"/>
                </a:lnTo>
                <a:lnTo>
                  <a:pt x="2646" y="1719"/>
                </a:lnTo>
                <a:lnTo>
                  <a:pt x="2671" y="1734"/>
                </a:lnTo>
                <a:lnTo>
                  <a:pt x="2699" y="1746"/>
                </a:lnTo>
                <a:lnTo>
                  <a:pt x="2726" y="1756"/>
                </a:lnTo>
                <a:lnTo>
                  <a:pt x="2755" y="1766"/>
                </a:lnTo>
                <a:lnTo>
                  <a:pt x="2784" y="1774"/>
                </a:lnTo>
                <a:lnTo>
                  <a:pt x="2814" y="1782"/>
                </a:lnTo>
                <a:lnTo>
                  <a:pt x="2843" y="1787"/>
                </a:lnTo>
                <a:lnTo>
                  <a:pt x="2874" y="1791"/>
                </a:lnTo>
                <a:lnTo>
                  <a:pt x="2905" y="1793"/>
                </a:lnTo>
                <a:lnTo>
                  <a:pt x="2937" y="1794"/>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nvGrpSpPr>
          <p:cNvPr id="22" name="组合 188">
            <a:extLst>
              <a:ext uri="{FF2B5EF4-FFF2-40B4-BE49-F238E27FC236}">
                <a16:creationId xmlns:a16="http://schemas.microsoft.com/office/drawing/2014/main" id="{713E3698-C0A0-4885-9591-54912A370A7F}"/>
              </a:ext>
            </a:extLst>
          </p:cNvPr>
          <p:cNvGrpSpPr/>
          <p:nvPr/>
        </p:nvGrpSpPr>
        <p:grpSpPr bwMode="gray">
          <a:xfrm>
            <a:off x="6707883" y="5820452"/>
            <a:ext cx="53443" cy="9270"/>
            <a:chOff x="10707167" y="1445314"/>
            <a:chExt cx="196850" cy="36513"/>
          </a:xfrm>
          <a:solidFill>
            <a:schemeClr val="bg1"/>
          </a:solidFill>
        </p:grpSpPr>
        <p:sp>
          <p:nvSpPr>
            <p:cNvPr id="24" name="Freeform 10">
              <a:extLst>
                <a:ext uri="{FF2B5EF4-FFF2-40B4-BE49-F238E27FC236}">
                  <a16:creationId xmlns:a16="http://schemas.microsoft.com/office/drawing/2014/main" id="{6E3CF84D-B971-4AAB-A007-AB65E8FF1607}"/>
                </a:ext>
              </a:extLst>
            </p:cNvPr>
            <p:cNvSpPr>
              <a:spLocks/>
            </p:cNvSpPr>
            <p:nvPr/>
          </p:nvSpPr>
          <p:spPr bwMode="gray">
            <a:xfrm>
              <a:off x="10707167" y="1445314"/>
              <a:ext cx="36513" cy="36513"/>
            </a:xfrm>
            <a:custGeom>
              <a:avLst/>
              <a:gdLst/>
              <a:ahLst/>
              <a:cxnLst>
                <a:cxn ang="0">
                  <a:pos x="189" y="343"/>
                </a:cxn>
                <a:cxn ang="0">
                  <a:pos x="222" y="335"/>
                </a:cxn>
                <a:cxn ang="0">
                  <a:pos x="253" y="322"/>
                </a:cxn>
                <a:cxn ang="0">
                  <a:pos x="280" y="304"/>
                </a:cxn>
                <a:cxn ang="0">
                  <a:pos x="304" y="280"/>
                </a:cxn>
                <a:cxn ang="0">
                  <a:pos x="322" y="253"/>
                </a:cxn>
                <a:cxn ang="0">
                  <a:pos x="335" y="222"/>
                </a:cxn>
                <a:cxn ang="0">
                  <a:pos x="341" y="190"/>
                </a:cxn>
                <a:cxn ang="0">
                  <a:pos x="341" y="154"/>
                </a:cxn>
                <a:cxn ang="0">
                  <a:pos x="335" y="122"/>
                </a:cxn>
                <a:cxn ang="0">
                  <a:pos x="322" y="90"/>
                </a:cxn>
                <a:cxn ang="0">
                  <a:pos x="304" y="63"/>
                </a:cxn>
                <a:cxn ang="0">
                  <a:pos x="280" y="40"/>
                </a:cxn>
                <a:cxn ang="0">
                  <a:pos x="253" y="22"/>
                </a:cxn>
                <a:cxn ang="0">
                  <a:pos x="222" y="8"/>
                </a:cxn>
                <a:cxn ang="0">
                  <a:pos x="189" y="1"/>
                </a:cxn>
                <a:cxn ang="0">
                  <a:pos x="154" y="1"/>
                </a:cxn>
                <a:cxn ang="0">
                  <a:pos x="121" y="8"/>
                </a:cxn>
                <a:cxn ang="0">
                  <a:pos x="90" y="22"/>
                </a:cxn>
                <a:cxn ang="0">
                  <a:pos x="63" y="40"/>
                </a:cxn>
                <a:cxn ang="0">
                  <a:pos x="39" y="63"/>
                </a:cxn>
                <a:cxn ang="0">
                  <a:pos x="21" y="90"/>
                </a:cxn>
                <a:cxn ang="0">
                  <a:pos x="9" y="122"/>
                </a:cxn>
                <a:cxn ang="0">
                  <a:pos x="2" y="154"/>
                </a:cxn>
                <a:cxn ang="0">
                  <a:pos x="2" y="190"/>
                </a:cxn>
                <a:cxn ang="0">
                  <a:pos x="9" y="222"/>
                </a:cxn>
                <a:cxn ang="0">
                  <a:pos x="21" y="253"/>
                </a:cxn>
                <a:cxn ang="0">
                  <a:pos x="39" y="280"/>
                </a:cxn>
                <a:cxn ang="0">
                  <a:pos x="63" y="304"/>
                </a:cxn>
                <a:cxn ang="0">
                  <a:pos x="90" y="322"/>
                </a:cxn>
                <a:cxn ang="0">
                  <a:pos x="121" y="335"/>
                </a:cxn>
                <a:cxn ang="0">
                  <a:pos x="154" y="343"/>
                </a:cxn>
              </a:cxnLst>
              <a:rect l="0" t="0" r="r" b="b"/>
              <a:pathLst>
                <a:path w="342" h="344">
                  <a:moveTo>
                    <a:pt x="171" y="344"/>
                  </a:moveTo>
                  <a:lnTo>
                    <a:pt x="189" y="343"/>
                  </a:lnTo>
                  <a:lnTo>
                    <a:pt x="206" y="340"/>
                  </a:lnTo>
                  <a:lnTo>
                    <a:pt x="222" y="335"/>
                  </a:lnTo>
                  <a:lnTo>
                    <a:pt x="238" y="329"/>
                  </a:lnTo>
                  <a:lnTo>
                    <a:pt x="253" y="322"/>
                  </a:lnTo>
                  <a:lnTo>
                    <a:pt x="267" y="314"/>
                  </a:lnTo>
                  <a:lnTo>
                    <a:pt x="280" y="304"/>
                  </a:lnTo>
                  <a:lnTo>
                    <a:pt x="292" y="293"/>
                  </a:lnTo>
                  <a:lnTo>
                    <a:pt x="304" y="280"/>
                  </a:lnTo>
                  <a:lnTo>
                    <a:pt x="313" y="267"/>
                  </a:lnTo>
                  <a:lnTo>
                    <a:pt x="322" y="253"/>
                  </a:lnTo>
                  <a:lnTo>
                    <a:pt x="329" y="239"/>
                  </a:lnTo>
                  <a:lnTo>
                    <a:pt x="335" y="222"/>
                  </a:lnTo>
                  <a:lnTo>
                    <a:pt x="339" y="206"/>
                  </a:lnTo>
                  <a:lnTo>
                    <a:pt x="341" y="190"/>
                  </a:lnTo>
                  <a:lnTo>
                    <a:pt x="342" y="171"/>
                  </a:lnTo>
                  <a:lnTo>
                    <a:pt x="341" y="154"/>
                  </a:lnTo>
                  <a:lnTo>
                    <a:pt x="339" y="138"/>
                  </a:lnTo>
                  <a:lnTo>
                    <a:pt x="335" y="122"/>
                  </a:lnTo>
                  <a:lnTo>
                    <a:pt x="329" y="105"/>
                  </a:lnTo>
                  <a:lnTo>
                    <a:pt x="322" y="90"/>
                  </a:lnTo>
                  <a:lnTo>
                    <a:pt x="313" y="76"/>
                  </a:lnTo>
                  <a:lnTo>
                    <a:pt x="304" y="63"/>
                  </a:lnTo>
                  <a:lnTo>
                    <a:pt x="292" y="51"/>
                  </a:lnTo>
                  <a:lnTo>
                    <a:pt x="280" y="40"/>
                  </a:lnTo>
                  <a:lnTo>
                    <a:pt x="267" y="30"/>
                  </a:lnTo>
                  <a:lnTo>
                    <a:pt x="253" y="22"/>
                  </a:lnTo>
                  <a:lnTo>
                    <a:pt x="238" y="13"/>
                  </a:lnTo>
                  <a:lnTo>
                    <a:pt x="222" y="8"/>
                  </a:lnTo>
                  <a:lnTo>
                    <a:pt x="206" y="4"/>
                  </a:lnTo>
                  <a:lnTo>
                    <a:pt x="189" y="1"/>
                  </a:lnTo>
                  <a:lnTo>
                    <a:pt x="171" y="0"/>
                  </a:lnTo>
                  <a:lnTo>
                    <a:pt x="154" y="1"/>
                  </a:lnTo>
                  <a:lnTo>
                    <a:pt x="137" y="4"/>
                  </a:lnTo>
                  <a:lnTo>
                    <a:pt x="121" y="8"/>
                  </a:lnTo>
                  <a:lnTo>
                    <a:pt x="105" y="13"/>
                  </a:lnTo>
                  <a:lnTo>
                    <a:pt x="90" y="22"/>
                  </a:lnTo>
                  <a:lnTo>
                    <a:pt x="76" y="30"/>
                  </a:lnTo>
                  <a:lnTo>
                    <a:pt x="63" y="40"/>
                  </a:lnTo>
                  <a:lnTo>
                    <a:pt x="50" y="51"/>
                  </a:lnTo>
                  <a:lnTo>
                    <a:pt x="39" y="63"/>
                  </a:lnTo>
                  <a:lnTo>
                    <a:pt x="30" y="76"/>
                  </a:lnTo>
                  <a:lnTo>
                    <a:pt x="21" y="90"/>
                  </a:lnTo>
                  <a:lnTo>
                    <a:pt x="14" y="105"/>
                  </a:lnTo>
                  <a:lnTo>
                    <a:pt x="9" y="122"/>
                  </a:lnTo>
                  <a:lnTo>
                    <a:pt x="4" y="138"/>
                  </a:lnTo>
                  <a:lnTo>
                    <a:pt x="2" y="154"/>
                  </a:lnTo>
                  <a:lnTo>
                    <a:pt x="0" y="171"/>
                  </a:lnTo>
                  <a:lnTo>
                    <a:pt x="2" y="190"/>
                  </a:lnTo>
                  <a:lnTo>
                    <a:pt x="4" y="206"/>
                  </a:lnTo>
                  <a:lnTo>
                    <a:pt x="9" y="222"/>
                  </a:lnTo>
                  <a:lnTo>
                    <a:pt x="14" y="239"/>
                  </a:lnTo>
                  <a:lnTo>
                    <a:pt x="21" y="253"/>
                  </a:lnTo>
                  <a:lnTo>
                    <a:pt x="30" y="267"/>
                  </a:lnTo>
                  <a:lnTo>
                    <a:pt x="39" y="280"/>
                  </a:lnTo>
                  <a:lnTo>
                    <a:pt x="50" y="293"/>
                  </a:lnTo>
                  <a:lnTo>
                    <a:pt x="63" y="304"/>
                  </a:lnTo>
                  <a:lnTo>
                    <a:pt x="76" y="314"/>
                  </a:lnTo>
                  <a:lnTo>
                    <a:pt x="90" y="322"/>
                  </a:lnTo>
                  <a:lnTo>
                    <a:pt x="105" y="329"/>
                  </a:lnTo>
                  <a:lnTo>
                    <a:pt x="121" y="335"/>
                  </a:lnTo>
                  <a:lnTo>
                    <a:pt x="137" y="340"/>
                  </a:lnTo>
                  <a:lnTo>
                    <a:pt x="154" y="343"/>
                  </a:lnTo>
                  <a:lnTo>
                    <a:pt x="171"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5" name="Freeform 11">
              <a:extLst>
                <a:ext uri="{FF2B5EF4-FFF2-40B4-BE49-F238E27FC236}">
                  <a16:creationId xmlns:a16="http://schemas.microsoft.com/office/drawing/2014/main" id="{8986392D-C96F-414D-A357-6407C6AF8C84}"/>
                </a:ext>
              </a:extLst>
            </p:cNvPr>
            <p:cNvSpPr>
              <a:spLocks/>
            </p:cNvSpPr>
            <p:nvPr/>
          </p:nvSpPr>
          <p:spPr bwMode="gray">
            <a:xfrm>
              <a:off x="10761142" y="1445314"/>
              <a:ext cx="36513" cy="36513"/>
            </a:xfrm>
            <a:custGeom>
              <a:avLst/>
              <a:gdLst/>
              <a:ahLst/>
              <a:cxnLst>
                <a:cxn ang="0">
                  <a:pos x="189" y="343"/>
                </a:cxn>
                <a:cxn ang="0">
                  <a:pos x="222" y="335"/>
                </a:cxn>
                <a:cxn ang="0">
                  <a:pos x="253" y="322"/>
                </a:cxn>
                <a:cxn ang="0">
                  <a:pos x="280" y="304"/>
                </a:cxn>
                <a:cxn ang="0">
                  <a:pos x="303" y="280"/>
                </a:cxn>
                <a:cxn ang="0">
                  <a:pos x="321" y="253"/>
                </a:cxn>
                <a:cxn ang="0">
                  <a:pos x="335" y="222"/>
                </a:cxn>
                <a:cxn ang="0">
                  <a:pos x="342" y="190"/>
                </a:cxn>
                <a:cxn ang="0">
                  <a:pos x="342" y="154"/>
                </a:cxn>
                <a:cxn ang="0">
                  <a:pos x="335" y="122"/>
                </a:cxn>
                <a:cxn ang="0">
                  <a:pos x="321" y="90"/>
                </a:cxn>
                <a:cxn ang="0">
                  <a:pos x="303" y="63"/>
                </a:cxn>
                <a:cxn ang="0">
                  <a:pos x="280" y="40"/>
                </a:cxn>
                <a:cxn ang="0">
                  <a:pos x="253" y="22"/>
                </a:cxn>
                <a:cxn ang="0">
                  <a:pos x="222" y="8"/>
                </a:cxn>
                <a:cxn ang="0">
                  <a:pos x="189" y="1"/>
                </a:cxn>
                <a:cxn ang="0">
                  <a:pos x="154" y="1"/>
                </a:cxn>
                <a:cxn ang="0">
                  <a:pos x="121" y="8"/>
                </a:cxn>
                <a:cxn ang="0">
                  <a:pos x="90" y="22"/>
                </a:cxn>
                <a:cxn ang="0">
                  <a:pos x="63" y="40"/>
                </a:cxn>
                <a:cxn ang="0">
                  <a:pos x="40" y="63"/>
                </a:cxn>
                <a:cxn ang="0">
                  <a:pos x="21" y="90"/>
                </a:cxn>
                <a:cxn ang="0">
                  <a:pos x="8" y="122"/>
                </a:cxn>
                <a:cxn ang="0">
                  <a:pos x="1" y="154"/>
                </a:cxn>
                <a:cxn ang="0">
                  <a:pos x="1" y="190"/>
                </a:cxn>
                <a:cxn ang="0">
                  <a:pos x="8" y="222"/>
                </a:cxn>
                <a:cxn ang="0">
                  <a:pos x="21" y="253"/>
                </a:cxn>
                <a:cxn ang="0">
                  <a:pos x="40" y="280"/>
                </a:cxn>
                <a:cxn ang="0">
                  <a:pos x="63" y="304"/>
                </a:cxn>
                <a:cxn ang="0">
                  <a:pos x="90" y="322"/>
                </a:cxn>
                <a:cxn ang="0">
                  <a:pos x="121" y="335"/>
                </a:cxn>
                <a:cxn ang="0">
                  <a:pos x="154" y="343"/>
                </a:cxn>
              </a:cxnLst>
              <a:rect l="0" t="0" r="r" b="b"/>
              <a:pathLst>
                <a:path w="343" h="344">
                  <a:moveTo>
                    <a:pt x="172" y="344"/>
                  </a:moveTo>
                  <a:lnTo>
                    <a:pt x="189" y="343"/>
                  </a:lnTo>
                  <a:lnTo>
                    <a:pt x="205" y="340"/>
                  </a:lnTo>
                  <a:lnTo>
                    <a:pt x="222" y="335"/>
                  </a:lnTo>
                  <a:lnTo>
                    <a:pt x="238" y="329"/>
                  </a:lnTo>
                  <a:lnTo>
                    <a:pt x="253" y="322"/>
                  </a:lnTo>
                  <a:lnTo>
                    <a:pt x="267" y="314"/>
                  </a:lnTo>
                  <a:lnTo>
                    <a:pt x="280" y="304"/>
                  </a:lnTo>
                  <a:lnTo>
                    <a:pt x="292" y="293"/>
                  </a:lnTo>
                  <a:lnTo>
                    <a:pt x="303" y="280"/>
                  </a:lnTo>
                  <a:lnTo>
                    <a:pt x="313" y="267"/>
                  </a:lnTo>
                  <a:lnTo>
                    <a:pt x="321" y="253"/>
                  </a:lnTo>
                  <a:lnTo>
                    <a:pt x="330" y="239"/>
                  </a:lnTo>
                  <a:lnTo>
                    <a:pt x="335" y="222"/>
                  </a:lnTo>
                  <a:lnTo>
                    <a:pt x="339" y="206"/>
                  </a:lnTo>
                  <a:lnTo>
                    <a:pt x="342" y="190"/>
                  </a:lnTo>
                  <a:lnTo>
                    <a:pt x="343" y="171"/>
                  </a:lnTo>
                  <a:lnTo>
                    <a:pt x="342" y="154"/>
                  </a:lnTo>
                  <a:lnTo>
                    <a:pt x="339" y="138"/>
                  </a:lnTo>
                  <a:lnTo>
                    <a:pt x="335" y="122"/>
                  </a:lnTo>
                  <a:lnTo>
                    <a:pt x="330" y="105"/>
                  </a:lnTo>
                  <a:lnTo>
                    <a:pt x="321" y="90"/>
                  </a:lnTo>
                  <a:lnTo>
                    <a:pt x="313" y="76"/>
                  </a:lnTo>
                  <a:lnTo>
                    <a:pt x="303" y="63"/>
                  </a:lnTo>
                  <a:lnTo>
                    <a:pt x="292" y="51"/>
                  </a:lnTo>
                  <a:lnTo>
                    <a:pt x="280" y="40"/>
                  </a:lnTo>
                  <a:lnTo>
                    <a:pt x="267" y="30"/>
                  </a:lnTo>
                  <a:lnTo>
                    <a:pt x="253" y="22"/>
                  </a:lnTo>
                  <a:lnTo>
                    <a:pt x="238" y="13"/>
                  </a:lnTo>
                  <a:lnTo>
                    <a:pt x="222" y="8"/>
                  </a:lnTo>
                  <a:lnTo>
                    <a:pt x="205" y="4"/>
                  </a:lnTo>
                  <a:lnTo>
                    <a:pt x="189" y="1"/>
                  </a:lnTo>
                  <a:lnTo>
                    <a:pt x="172" y="0"/>
                  </a:lnTo>
                  <a:lnTo>
                    <a:pt x="154" y="1"/>
                  </a:lnTo>
                  <a:lnTo>
                    <a:pt x="137" y="4"/>
                  </a:lnTo>
                  <a:lnTo>
                    <a:pt x="121" y="8"/>
                  </a:lnTo>
                  <a:lnTo>
                    <a:pt x="105" y="13"/>
                  </a:lnTo>
                  <a:lnTo>
                    <a:pt x="90" y="22"/>
                  </a:lnTo>
                  <a:lnTo>
                    <a:pt x="76" y="30"/>
                  </a:lnTo>
                  <a:lnTo>
                    <a:pt x="63" y="40"/>
                  </a:lnTo>
                  <a:lnTo>
                    <a:pt x="51" y="51"/>
                  </a:lnTo>
                  <a:lnTo>
                    <a:pt x="40" y="63"/>
                  </a:lnTo>
                  <a:lnTo>
                    <a:pt x="30" y="76"/>
                  </a:lnTo>
                  <a:lnTo>
                    <a:pt x="21" y="90"/>
                  </a:lnTo>
                  <a:lnTo>
                    <a:pt x="14" y="105"/>
                  </a:lnTo>
                  <a:lnTo>
                    <a:pt x="8" y="122"/>
                  </a:lnTo>
                  <a:lnTo>
                    <a:pt x="4" y="138"/>
                  </a:lnTo>
                  <a:lnTo>
                    <a:pt x="1" y="154"/>
                  </a:lnTo>
                  <a:lnTo>
                    <a:pt x="0" y="171"/>
                  </a:lnTo>
                  <a:lnTo>
                    <a:pt x="1" y="190"/>
                  </a:lnTo>
                  <a:lnTo>
                    <a:pt x="4" y="206"/>
                  </a:lnTo>
                  <a:lnTo>
                    <a:pt x="8" y="222"/>
                  </a:lnTo>
                  <a:lnTo>
                    <a:pt x="14" y="239"/>
                  </a:lnTo>
                  <a:lnTo>
                    <a:pt x="21" y="253"/>
                  </a:lnTo>
                  <a:lnTo>
                    <a:pt x="30" y="267"/>
                  </a:lnTo>
                  <a:lnTo>
                    <a:pt x="40" y="280"/>
                  </a:lnTo>
                  <a:lnTo>
                    <a:pt x="51" y="293"/>
                  </a:lnTo>
                  <a:lnTo>
                    <a:pt x="63" y="304"/>
                  </a:lnTo>
                  <a:lnTo>
                    <a:pt x="76" y="314"/>
                  </a:lnTo>
                  <a:lnTo>
                    <a:pt x="90" y="322"/>
                  </a:lnTo>
                  <a:lnTo>
                    <a:pt x="105" y="329"/>
                  </a:lnTo>
                  <a:lnTo>
                    <a:pt x="121" y="335"/>
                  </a:lnTo>
                  <a:lnTo>
                    <a:pt x="137" y="340"/>
                  </a:lnTo>
                  <a:lnTo>
                    <a:pt x="154" y="343"/>
                  </a:lnTo>
                  <a:lnTo>
                    <a:pt x="17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6" name="Freeform 12">
              <a:extLst>
                <a:ext uri="{FF2B5EF4-FFF2-40B4-BE49-F238E27FC236}">
                  <a16:creationId xmlns:a16="http://schemas.microsoft.com/office/drawing/2014/main" id="{9D39CD4F-621F-4364-901B-17BB47A503D2}"/>
                </a:ext>
              </a:extLst>
            </p:cNvPr>
            <p:cNvSpPr>
              <a:spLocks/>
            </p:cNvSpPr>
            <p:nvPr/>
          </p:nvSpPr>
          <p:spPr bwMode="gray">
            <a:xfrm>
              <a:off x="10813529" y="1445314"/>
              <a:ext cx="36513" cy="36513"/>
            </a:xfrm>
            <a:custGeom>
              <a:avLst/>
              <a:gdLst/>
              <a:ahLst/>
              <a:cxnLst>
                <a:cxn ang="0">
                  <a:pos x="188" y="343"/>
                </a:cxn>
                <a:cxn ang="0">
                  <a:pos x="221" y="335"/>
                </a:cxn>
                <a:cxn ang="0">
                  <a:pos x="252" y="322"/>
                </a:cxn>
                <a:cxn ang="0">
                  <a:pos x="279" y="304"/>
                </a:cxn>
                <a:cxn ang="0">
                  <a:pos x="303" y="280"/>
                </a:cxn>
                <a:cxn ang="0">
                  <a:pos x="321" y="253"/>
                </a:cxn>
                <a:cxn ang="0">
                  <a:pos x="334" y="222"/>
                </a:cxn>
                <a:cxn ang="0">
                  <a:pos x="340" y="190"/>
                </a:cxn>
                <a:cxn ang="0">
                  <a:pos x="340" y="154"/>
                </a:cxn>
                <a:cxn ang="0">
                  <a:pos x="334" y="122"/>
                </a:cxn>
                <a:cxn ang="0">
                  <a:pos x="321" y="90"/>
                </a:cxn>
                <a:cxn ang="0">
                  <a:pos x="303" y="63"/>
                </a:cxn>
                <a:cxn ang="0">
                  <a:pos x="279" y="40"/>
                </a:cxn>
                <a:cxn ang="0">
                  <a:pos x="252" y="22"/>
                </a:cxn>
                <a:cxn ang="0">
                  <a:pos x="221" y="8"/>
                </a:cxn>
                <a:cxn ang="0">
                  <a:pos x="188" y="1"/>
                </a:cxn>
                <a:cxn ang="0">
                  <a:pos x="153" y="1"/>
                </a:cxn>
                <a:cxn ang="0">
                  <a:pos x="120" y="8"/>
                </a:cxn>
                <a:cxn ang="0">
                  <a:pos x="89" y="22"/>
                </a:cxn>
                <a:cxn ang="0">
                  <a:pos x="62" y="40"/>
                </a:cxn>
                <a:cxn ang="0">
                  <a:pos x="38" y="63"/>
                </a:cxn>
                <a:cxn ang="0">
                  <a:pos x="20" y="90"/>
                </a:cxn>
                <a:cxn ang="0">
                  <a:pos x="7" y="122"/>
                </a:cxn>
                <a:cxn ang="0">
                  <a:pos x="1" y="154"/>
                </a:cxn>
                <a:cxn ang="0">
                  <a:pos x="1" y="190"/>
                </a:cxn>
                <a:cxn ang="0">
                  <a:pos x="7" y="222"/>
                </a:cxn>
                <a:cxn ang="0">
                  <a:pos x="20" y="253"/>
                </a:cxn>
                <a:cxn ang="0">
                  <a:pos x="38" y="280"/>
                </a:cxn>
                <a:cxn ang="0">
                  <a:pos x="62" y="304"/>
                </a:cxn>
                <a:cxn ang="0">
                  <a:pos x="89" y="322"/>
                </a:cxn>
                <a:cxn ang="0">
                  <a:pos x="120" y="335"/>
                </a:cxn>
                <a:cxn ang="0">
                  <a:pos x="153" y="343"/>
                </a:cxn>
              </a:cxnLst>
              <a:rect l="0" t="0" r="r" b="b"/>
              <a:pathLst>
                <a:path w="341" h="344">
                  <a:moveTo>
                    <a:pt x="170" y="344"/>
                  </a:moveTo>
                  <a:lnTo>
                    <a:pt x="188" y="343"/>
                  </a:lnTo>
                  <a:lnTo>
                    <a:pt x="205" y="340"/>
                  </a:lnTo>
                  <a:lnTo>
                    <a:pt x="221" y="335"/>
                  </a:lnTo>
                  <a:lnTo>
                    <a:pt x="237" y="329"/>
                  </a:lnTo>
                  <a:lnTo>
                    <a:pt x="252" y="322"/>
                  </a:lnTo>
                  <a:lnTo>
                    <a:pt x="266" y="314"/>
                  </a:lnTo>
                  <a:lnTo>
                    <a:pt x="279" y="304"/>
                  </a:lnTo>
                  <a:lnTo>
                    <a:pt x="291" y="293"/>
                  </a:lnTo>
                  <a:lnTo>
                    <a:pt x="303" y="280"/>
                  </a:lnTo>
                  <a:lnTo>
                    <a:pt x="312" y="267"/>
                  </a:lnTo>
                  <a:lnTo>
                    <a:pt x="321" y="253"/>
                  </a:lnTo>
                  <a:lnTo>
                    <a:pt x="328" y="239"/>
                  </a:lnTo>
                  <a:lnTo>
                    <a:pt x="334" y="222"/>
                  </a:lnTo>
                  <a:lnTo>
                    <a:pt x="338" y="206"/>
                  </a:lnTo>
                  <a:lnTo>
                    <a:pt x="340" y="190"/>
                  </a:lnTo>
                  <a:lnTo>
                    <a:pt x="341" y="171"/>
                  </a:lnTo>
                  <a:lnTo>
                    <a:pt x="340" y="154"/>
                  </a:lnTo>
                  <a:lnTo>
                    <a:pt x="338" y="138"/>
                  </a:lnTo>
                  <a:lnTo>
                    <a:pt x="334" y="122"/>
                  </a:lnTo>
                  <a:lnTo>
                    <a:pt x="328" y="105"/>
                  </a:lnTo>
                  <a:lnTo>
                    <a:pt x="321" y="90"/>
                  </a:lnTo>
                  <a:lnTo>
                    <a:pt x="312" y="76"/>
                  </a:lnTo>
                  <a:lnTo>
                    <a:pt x="303" y="63"/>
                  </a:lnTo>
                  <a:lnTo>
                    <a:pt x="291" y="51"/>
                  </a:lnTo>
                  <a:lnTo>
                    <a:pt x="279" y="40"/>
                  </a:lnTo>
                  <a:lnTo>
                    <a:pt x="266" y="30"/>
                  </a:lnTo>
                  <a:lnTo>
                    <a:pt x="252" y="22"/>
                  </a:lnTo>
                  <a:lnTo>
                    <a:pt x="237" y="13"/>
                  </a:lnTo>
                  <a:lnTo>
                    <a:pt x="221" y="8"/>
                  </a:lnTo>
                  <a:lnTo>
                    <a:pt x="205" y="4"/>
                  </a:lnTo>
                  <a:lnTo>
                    <a:pt x="188" y="1"/>
                  </a:lnTo>
                  <a:lnTo>
                    <a:pt x="170" y="0"/>
                  </a:lnTo>
                  <a:lnTo>
                    <a:pt x="153" y="1"/>
                  </a:lnTo>
                  <a:lnTo>
                    <a:pt x="136" y="4"/>
                  </a:lnTo>
                  <a:lnTo>
                    <a:pt x="120" y="8"/>
                  </a:lnTo>
                  <a:lnTo>
                    <a:pt x="104" y="13"/>
                  </a:lnTo>
                  <a:lnTo>
                    <a:pt x="89" y="22"/>
                  </a:lnTo>
                  <a:lnTo>
                    <a:pt x="75" y="30"/>
                  </a:lnTo>
                  <a:lnTo>
                    <a:pt x="62" y="40"/>
                  </a:lnTo>
                  <a:lnTo>
                    <a:pt x="49" y="51"/>
                  </a:lnTo>
                  <a:lnTo>
                    <a:pt x="38" y="63"/>
                  </a:lnTo>
                  <a:lnTo>
                    <a:pt x="29" y="76"/>
                  </a:lnTo>
                  <a:lnTo>
                    <a:pt x="20" y="90"/>
                  </a:lnTo>
                  <a:lnTo>
                    <a:pt x="13" y="105"/>
                  </a:lnTo>
                  <a:lnTo>
                    <a:pt x="7" y="122"/>
                  </a:lnTo>
                  <a:lnTo>
                    <a:pt x="3" y="138"/>
                  </a:lnTo>
                  <a:lnTo>
                    <a:pt x="1" y="154"/>
                  </a:lnTo>
                  <a:lnTo>
                    <a:pt x="0" y="171"/>
                  </a:lnTo>
                  <a:lnTo>
                    <a:pt x="1" y="190"/>
                  </a:lnTo>
                  <a:lnTo>
                    <a:pt x="3" y="206"/>
                  </a:lnTo>
                  <a:lnTo>
                    <a:pt x="7" y="222"/>
                  </a:lnTo>
                  <a:lnTo>
                    <a:pt x="13" y="239"/>
                  </a:lnTo>
                  <a:lnTo>
                    <a:pt x="20" y="253"/>
                  </a:lnTo>
                  <a:lnTo>
                    <a:pt x="29" y="267"/>
                  </a:lnTo>
                  <a:lnTo>
                    <a:pt x="38" y="280"/>
                  </a:lnTo>
                  <a:lnTo>
                    <a:pt x="49" y="293"/>
                  </a:lnTo>
                  <a:lnTo>
                    <a:pt x="62" y="304"/>
                  </a:lnTo>
                  <a:lnTo>
                    <a:pt x="75" y="314"/>
                  </a:lnTo>
                  <a:lnTo>
                    <a:pt x="89" y="322"/>
                  </a:lnTo>
                  <a:lnTo>
                    <a:pt x="104" y="329"/>
                  </a:lnTo>
                  <a:lnTo>
                    <a:pt x="120" y="335"/>
                  </a:lnTo>
                  <a:lnTo>
                    <a:pt x="136" y="340"/>
                  </a:lnTo>
                  <a:lnTo>
                    <a:pt x="153" y="343"/>
                  </a:lnTo>
                  <a:lnTo>
                    <a:pt x="170"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7" name="Freeform 13">
              <a:extLst>
                <a:ext uri="{FF2B5EF4-FFF2-40B4-BE49-F238E27FC236}">
                  <a16:creationId xmlns:a16="http://schemas.microsoft.com/office/drawing/2014/main" id="{F7325663-E764-4DCD-9647-EC19AD83CE84}"/>
                </a:ext>
              </a:extLst>
            </p:cNvPr>
            <p:cNvSpPr>
              <a:spLocks/>
            </p:cNvSpPr>
            <p:nvPr/>
          </p:nvSpPr>
          <p:spPr bwMode="gray">
            <a:xfrm>
              <a:off x="10867504" y="1445314"/>
              <a:ext cx="36513" cy="36513"/>
            </a:xfrm>
            <a:custGeom>
              <a:avLst/>
              <a:gdLst/>
              <a:ahLst/>
              <a:cxnLst>
                <a:cxn ang="0">
                  <a:pos x="189" y="343"/>
                </a:cxn>
                <a:cxn ang="0">
                  <a:pos x="222" y="335"/>
                </a:cxn>
                <a:cxn ang="0">
                  <a:pos x="253" y="322"/>
                </a:cxn>
                <a:cxn ang="0">
                  <a:pos x="280" y="304"/>
                </a:cxn>
                <a:cxn ang="0">
                  <a:pos x="303" y="280"/>
                </a:cxn>
                <a:cxn ang="0">
                  <a:pos x="322" y="253"/>
                </a:cxn>
                <a:cxn ang="0">
                  <a:pos x="335" y="222"/>
                </a:cxn>
                <a:cxn ang="0">
                  <a:pos x="342" y="190"/>
                </a:cxn>
                <a:cxn ang="0">
                  <a:pos x="342" y="154"/>
                </a:cxn>
                <a:cxn ang="0">
                  <a:pos x="335" y="122"/>
                </a:cxn>
                <a:cxn ang="0">
                  <a:pos x="322" y="90"/>
                </a:cxn>
                <a:cxn ang="0">
                  <a:pos x="303" y="63"/>
                </a:cxn>
                <a:cxn ang="0">
                  <a:pos x="280" y="40"/>
                </a:cxn>
                <a:cxn ang="0">
                  <a:pos x="253" y="22"/>
                </a:cxn>
                <a:cxn ang="0">
                  <a:pos x="222" y="8"/>
                </a:cxn>
                <a:cxn ang="0">
                  <a:pos x="189" y="1"/>
                </a:cxn>
                <a:cxn ang="0">
                  <a:pos x="154" y="1"/>
                </a:cxn>
                <a:cxn ang="0">
                  <a:pos x="121" y="8"/>
                </a:cxn>
                <a:cxn ang="0">
                  <a:pos x="90" y="22"/>
                </a:cxn>
                <a:cxn ang="0">
                  <a:pos x="63" y="40"/>
                </a:cxn>
                <a:cxn ang="0">
                  <a:pos x="40" y="63"/>
                </a:cxn>
                <a:cxn ang="0">
                  <a:pos x="21" y="90"/>
                </a:cxn>
                <a:cxn ang="0">
                  <a:pos x="8" y="122"/>
                </a:cxn>
                <a:cxn ang="0">
                  <a:pos x="1" y="154"/>
                </a:cxn>
                <a:cxn ang="0">
                  <a:pos x="1" y="190"/>
                </a:cxn>
                <a:cxn ang="0">
                  <a:pos x="8" y="222"/>
                </a:cxn>
                <a:cxn ang="0">
                  <a:pos x="21" y="253"/>
                </a:cxn>
                <a:cxn ang="0">
                  <a:pos x="40" y="280"/>
                </a:cxn>
                <a:cxn ang="0">
                  <a:pos x="63" y="304"/>
                </a:cxn>
                <a:cxn ang="0">
                  <a:pos x="90" y="322"/>
                </a:cxn>
                <a:cxn ang="0">
                  <a:pos x="121" y="335"/>
                </a:cxn>
                <a:cxn ang="0">
                  <a:pos x="154" y="343"/>
                </a:cxn>
              </a:cxnLst>
              <a:rect l="0" t="0" r="r" b="b"/>
              <a:pathLst>
                <a:path w="343" h="344">
                  <a:moveTo>
                    <a:pt x="172" y="344"/>
                  </a:moveTo>
                  <a:lnTo>
                    <a:pt x="189" y="343"/>
                  </a:lnTo>
                  <a:lnTo>
                    <a:pt x="206" y="340"/>
                  </a:lnTo>
                  <a:lnTo>
                    <a:pt x="222" y="335"/>
                  </a:lnTo>
                  <a:lnTo>
                    <a:pt x="238" y="329"/>
                  </a:lnTo>
                  <a:lnTo>
                    <a:pt x="253" y="322"/>
                  </a:lnTo>
                  <a:lnTo>
                    <a:pt x="267" y="314"/>
                  </a:lnTo>
                  <a:lnTo>
                    <a:pt x="280" y="304"/>
                  </a:lnTo>
                  <a:lnTo>
                    <a:pt x="292" y="293"/>
                  </a:lnTo>
                  <a:lnTo>
                    <a:pt x="303" y="280"/>
                  </a:lnTo>
                  <a:lnTo>
                    <a:pt x="313" y="267"/>
                  </a:lnTo>
                  <a:lnTo>
                    <a:pt x="322" y="253"/>
                  </a:lnTo>
                  <a:lnTo>
                    <a:pt x="329" y="239"/>
                  </a:lnTo>
                  <a:lnTo>
                    <a:pt x="335" y="222"/>
                  </a:lnTo>
                  <a:lnTo>
                    <a:pt x="339" y="206"/>
                  </a:lnTo>
                  <a:lnTo>
                    <a:pt x="342" y="190"/>
                  </a:lnTo>
                  <a:lnTo>
                    <a:pt x="343" y="171"/>
                  </a:lnTo>
                  <a:lnTo>
                    <a:pt x="342" y="154"/>
                  </a:lnTo>
                  <a:lnTo>
                    <a:pt x="339" y="138"/>
                  </a:lnTo>
                  <a:lnTo>
                    <a:pt x="335" y="122"/>
                  </a:lnTo>
                  <a:lnTo>
                    <a:pt x="329" y="105"/>
                  </a:lnTo>
                  <a:lnTo>
                    <a:pt x="322" y="90"/>
                  </a:lnTo>
                  <a:lnTo>
                    <a:pt x="313" y="76"/>
                  </a:lnTo>
                  <a:lnTo>
                    <a:pt x="303" y="63"/>
                  </a:lnTo>
                  <a:lnTo>
                    <a:pt x="292" y="51"/>
                  </a:lnTo>
                  <a:lnTo>
                    <a:pt x="280" y="40"/>
                  </a:lnTo>
                  <a:lnTo>
                    <a:pt x="267" y="30"/>
                  </a:lnTo>
                  <a:lnTo>
                    <a:pt x="253" y="22"/>
                  </a:lnTo>
                  <a:lnTo>
                    <a:pt x="238" y="13"/>
                  </a:lnTo>
                  <a:lnTo>
                    <a:pt x="222" y="8"/>
                  </a:lnTo>
                  <a:lnTo>
                    <a:pt x="206" y="4"/>
                  </a:lnTo>
                  <a:lnTo>
                    <a:pt x="189" y="1"/>
                  </a:lnTo>
                  <a:lnTo>
                    <a:pt x="172" y="0"/>
                  </a:lnTo>
                  <a:lnTo>
                    <a:pt x="154" y="1"/>
                  </a:lnTo>
                  <a:lnTo>
                    <a:pt x="137" y="4"/>
                  </a:lnTo>
                  <a:lnTo>
                    <a:pt x="121" y="8"/>
                  </a:lnTo>
                  <a:lnTo>
                    <a:pt x="105" y="13"/>
                  </a:lnTo>
                  <a:lnTo>
                    <a:pt x="90" y="22"/>
                  </a:lnTo>
                  <a:lnTo>
                    <a:pt x="76" y="30"/>
                  </a:lnTo>
                  <a:lnTo>
                    <a:pt x="63" y="40"/>
                  </a:lnTo>
                  <a:lnTo>
                    <a:pt x="51" y="51"/>
                  </a:lnTo>
                  <a:lnTo>
                    <a:pt x="40" y="63"/>
                  </a:lnTo>
                  <a:lnTo>
                    <a:pt x="30" y="76"/>
                  </a:lnTo>
                  <a:lnTo>
                    <a:pt x="21" y="90"/>
                  </a:lnTo>
                  <a:lnTo>
                    <a:pt x="14" y="105"/>
                  </a:lnTo>
                  <a:lnTo>
                    <a:pt x="8" y="122"/>
                  </a:lnTo>
                  <a:lnTo>
                    <a:pt x="4" y="138"/>
                  </a:lnTo>
                  <a:lnTo>
                    <a:pt x="1" y="154"/>
                  </a:lnTo>
                  <a:lnTo>
                    <a:pt x="0" y="171"/>
                  </a:lnTo>
                  <a:lnTo>
                    <a:pt x="1" y="190"/>
                  </a:lnTo>
                  <a:lnTo>
                    <a:pt x="4" y="206"/>
                  </a:lnTo>
                  <a:lnTo>
                    <a:pt x="8" y="222"/>
                  </a:lnTo>
                  <a:lnTo>
                    <a:pt x="14" y="239"/>
                  </a:lnTo>
                  <a:lnTo>
                    <a:pt x="21" y="253"/>
                  </a:lnTo>
                  <a:lnTo>
                    <a:pt x="30" y="267"/>
                  </a:lnTo>
                  <a:lnTo>
                    <a:pt x="40" y="280"/>
                  </a:lnTo>
                  <a:lnTo>
                    <a:pt x="51" y="293"/>
                  </a:lnTo>
                  <a:lnTo>
                    <a:pt x="63" y="304"/>
                  </a:lnTo>
                  <a:lnTo>
                    <a:pt x="76" y="314"/>
                  </a:lnTo>
                  <a:lnTo>
                    <a:pt x="90" y="322"/>
                  </a:lnTo>
                  <a:lnTo>
                    <a:pt x="105" y="329"/>
                  </a:lnTo>
                  <a:lnTo>
                    <a:pt x="121" y="335"/>
                  </a:lnTo>
                  <a:lnTo>
                    <a:pt x="137" y="340"/>
                  </a:lnTo>
                  <a:lnTo>
                    <a:pt x="154" y="343"/>
                  </a:lnTo>
                  <a:lnTo>
                    <a:pt x="17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sp>
        <p:nvSpPr>
          <p:cNvPr id="23" name="Freeform 15">
            <a:extLst>
              <a:ext uri="{FF2B5EF4-FFF2-40B4-BE49-F238E27FC236}">
                <a16:creationId xmlns:a16="http://schemas.microsoft.com/office/drawing/2014/main" id="{77B3D510-3793-4F69-A95E-C80FCDB51974}"/>
              </a:ext>
            </a:extLst>
          </p:cNvPr>
          <p:cNvSpPr>
            <a:spLocks noEditPoints="1"/>
          </p:cNvSpPr>
          <p:nvPr/>
        </p:nvSpPr>
        <p:spPr bwMode="gray">
          <a:xfrm>
            <a:off x="6368691" y="5778793"/>
            <a:ext cx="467629" cy="65698"/>
          </a:xfrm>
          <a:custGeom>
            <a:avLst/>
            <a:gdLst/>
            <a:ahLst/>
            <a:cxnLst>
              <a:cxn ang="0">
                <a:pos x="15920" y="2437"/>
              </a:cxn>
              <a:cxn ang="0">
                <a:pos x="16066" y="2370"/>
              </a:cxn>
              <a:cxn ang="0">
                <a:pos x="16180" y="2261"/>
              </a:cxn>
              <a:cxn ang="0">
                <a:pos x="16254" y="2119"/>
              </a:cxn>
              <a:cxn ang="0">
                <a:pos x="16275" y="473"/>
              </a:cxn>
              <a:cxn ang="0">
                <a:pos x="16247" y="311"/>
              </a:cxn>
              <a:cxn ang="0">
                <a:pos x="16166" y="173"/>
              </a:cxn>
              <a:cxn ang="0">
                <a:pos x="16047" y="69"/>
              </a:cxn>
              <a:cxn ang="0">
                <a:pos x="15897" y="10"/>
              </a:cxn>
              <a:cxn ang="0">
                <a:pos x="425" y="2"/>
              </a:cxn>
              <a:cxn ang="0">
                <a:pos x="269" y="46"/>
              </a:cxn>
              <a:cxn ang="0">
                <a:pos x="139" y="139"/>
              </a:cxn>
              <a:cxn ang="0">
                <a:pos x="47" y="268"/>
              </a:cxn>
              <a:cxn ang="0">
                <a:pos x="2" y="425"/>
              </a:cxn>
              <a:cxn ang="0">
                <a:pos x="9" y="2073"/>
              </a:cxn>
              <a:cxn ang="0">
                <a:pos x="68" y="2224"/>
              </a:cxn>
              <a:cxn ang="0">
                <a:pos x="173" y="2344"/>
              </a:cxn>
              <a:cxn ang="0">
                <a:pos x="310" y="2423"/>
              </a:cxn>
              <a:cxn ang="0">
                <a:pos x="473" y="2452"/>
              </a:cxn>
              <a:cxn ang="0">
                <a:pos x="14525" y="1969"/>
              </a:cxn>
              <a:cxn ang="0">
                <a:pos x="14616" y="1928"/>
              </a:cxn>
              <a:cxn ang="0">
                <a:pos x="14686" y="1860"/>
              </a:cxn>
              <a:cxn ang="0">
                <a:pos x="14732" y="1772"/>
              </a:cxn>
              <a:cxn ang="0">
                <a:pos x="14745" y="753"/>
              </a:cxn>
              <a:cxn ang="0">
                <a:pos x="14727" y="654"/>
              </a:cxn>
              <a:cxn ang="0">
                <a:pos x="14678" y="568"/>
              </a:cxn>
              <a:cxn ang="0">
                <a:pos x="14604" y="503"/>
              </a:cxn>
              <a:cxn ang="0">
                <a:pos x="14511" y="466"/>
              </a:cxn>
              <a:cxn ang="0">
                <a:pos x="7552" y="462"/>
              </a:cxn>
              <a:cxn ang="0">
                <a:pos x="7455" y="490"/>
              </a:cxn>
              <a:cxn ang="0">
                <a:pos x="7375" y="547"/>
              </a:cxn>
              <a:cxn ang="0">
                <a:pos x="7318" y="627"/>
              </a:cxn>
              <a:cxn ang="0">
                <a:pos x="7290" y="724"/>
              </a:cxn>
              <a:cxn ang="0">
                <a:pos x="7295" y="1744"/>
              </a:cxn>
              <a:cxn ang="0">
                <a:pos x="7332" y="1837"/>
              </a:cxn>
              <a:cxn ang="0">
                <a:pos x="7396" y="1911"/>
              </a:cxn>
              <a:cxn ang="0">
                <a:pos x="7481" y="1961"/>
              </a:cxn>
              <a:cxn ang="0">
                <a:pos x="7582" y="1978"/>
              </a:cxn>
              <a:cxn ang="0">
                <a:pos x="3118" y="1766"/>
              </a:cxn>
              <a:cxn ang="0">
                <a:pos x="3301" y="1672"/>
              </a:cxn>
              <a:cxn ang="0">
                <a:pos x="3442" y="1524"/>
              </a:cxn>
              <a:cxn ang="0">
                <a:pos x="3528" y="1334"/>
              </a:cxn>
              <a:cxn ang="0">
                <a:pos x="3544" y="1119"/>
              </a:cxn>
              <a:cxn ang="0">
                <a:pos x="3487" y="917"/>
              </a:cxn>
              <a:cxn ang="0">
                <a:pos x="3368" y="749"/>
              </a:cxn>
              <a:cxn ang="0">
                <a:pos x="3200" y="630"/>
              </a:cxn>
              <a:cxn ang="0">
                <a:pos x="2999" y="573"/>
              </a:cxn>
              <a:cxn ang="0">
                <a:pos x="2784" y="589"/>
              </a:cxn>
              <a:cxn ang="0">
                <a:pos x="2595" y="675"/>
              </a:cxn>
              <a:cxn ang="0">
                <a:pos x="2446" y="816"/>
              </a:cxn>
              <a:cxn ang="0">
                <a:pos x="2353" y="1000"/>
              </a:cxn>
              <a:cxn ang="0">
                <a:pos x="2326" y="1213"/>
              </a:cxn>
              <a:cxn ang="0">
                <a:pos x="2373" y="1420"/>
              </a:cxn>
              <a:cxn ang="0">
                <a:pos x="2484" y="1593"/>
              </a:cxn>
              <a:cxn ang="0">
                <a:pos x="2646" y="1719"/>
              </a:cxn>
              <a:cxn ang="0">
                <a:pos x="2843" y="1787"/>
              </a:cxn>
            </a:cxnLst>
            <a:rect l="0" t="0" r="r" b="b"/>
            <a:pathLst>
              <a:path w="16275" h="2452">
                <a:moveTo>
                  <a:pt x="473" y="2452"/>
                </a:moveTo>
                <a:lnTo>
                  <a:pt x="15802" y="2452"/>
                </a:lnTo>
                <a:lnTo>
                  <a:pt x="15826" y="2451"/>
                </a:lnTo>
                <a:lnTo>
                  <a:pt x="15850" y="2450"/>
                </a:lnTo>
                <a:lnTo>
                  <a:pt x="15874" y="2447"/>
                </a:lnTo>
                <a:lnTo>
                  <a:pt x="15897" y="2443"/>
                </a:lnTo>
                <a:lnTo>
                  <a:pt x="15920" y="2437"/>
                </a:lnTo>
                <a:lnTo>
                  <a:pt x="15942" y="2431"/>
                </a:lnTo>
                <a:lnTo>
                  <a:pt x="15964" y="2423"/>
                </a:lnTo>
                <a:lnTo>
                  <a:pt x="15986" y="2414"/>
                </a:lnTo>
                <a:lnTo>
                  <a:pt x="16006" y="2405"/>
                </a:lnTo>
                <a:lnTo>
                  <a:pt x="16027" y="2395"/>
                </a:lnTo>
                <a:lnTo>
                  <a:pt x="16047" y="2384"/>
                </a:lnTo>
                <a:lnTo>
                  <a:pt x="16066" y="2370"/>
                </a:lnTo>
                <a:lnTo>
                  <a:pt x="16085" y="2357"/>
                </a:lnTo>
                <a:lnTo>
                  <a:pt x="16102" y="2344"/>
                </a:lnTo>
                <a:lnTo>
                  <a:pt x="16119" y="2329"/>
                </a:lnTo>
                <a:lnTo>
                  <a:pt x="16136" y="2312"/>
                </a:lnTo>
                <a:lnTo>
                  <a:pt x="16152" y="2296"/>
                </a:lnTo>
                <a:lnTo>
                  <a:pt x="16166" y="2279"/>
                </a:lnTo>
                <a:lnTo>
                  <a:pt x="16180" y="2261"/>
                </a:lnTo>
                <a:lnTo>
                  <a:pt x="16194" y="2243"/>
                </a:lnTo>
                <a:lnTo>
                  <a:pt x="16206" y="2224"/>
                </a:lnTo>
                <a:lnTo>
                  <a:pt x="16218" y="2203"/>
                </a:lnTo>
                <a:lnTo>
                  <a:pt x="16228" y="2183"/>
                </a:lnTo>
                <a:lnTo>
                  <a:pt x="16237" y="2163"/>
                </a:lnTo>
                <a:lnTo>
                  <a:pt x="16247" y="2141"/>
                </a:lnTo>
                <a:lnTo>
                  <a:pt x="16254" y="2119"/>
                </a:lnTo>
                <a:lnTo>
                  <a:pt x="16260" y="2096"/>
                </a:lnTo>
                <a:lnTo>
                  <a:pt x="16265" y="2073"/>
                </a:lnTo>
                <a:lnTo>
                  <a:pt x="16270" y="2051"/>
                </a:lnTo>
                <a:lnTo>
                  <a:pt x="16273" y="2026"/>
                </a:lnTo>
                <a:lnTo>
                  <a:pt x="16274" y="2003"/>
                </a:lnTo>
                <a:lnTo>
                  <a:pt x="16275" y="1978"/>
                </a:lnTo>
                <a:lnTo>
                  <a:pt x="16275" y="473"/>
                </a:lnTo>
                <a:lnTo>
                  <a:pt x="16274" y="449"/>
                </a:lnTo>
                <a:lnTo>
                  <a:pt x="16273" y="425"/>
                </a:lnTo>
                <a:lnTo>
                  <a:pt x="16270" y="401"/>
                </a:lnTo>
                <a:lnTo>
                  <a:pt x="16265" y="379"/>
                </a:lnTo>
                <a:lnTo>
                  <a:pt x="16260" y="355"/>
                </a:lnTo>
                <a:lnTo>
                  <a:pt x="16254" y="333"/>
                </a:lnTo>
                <a:lnTo>
                  <a:pt x="16247" y="311"/>
                </a:lnTo>
                <a:lnTo>
                  <a:pt x="16237" y="289"/>
                </a:lnTo>
                <a:lnTo>
                  <a:pt x="16228" y="268"/>
                </a:lnTo>
                <a:lnTo>
                  <a:pt x="16218" y="248"/>
                </a:lnTo>
                <a:lnTo>
                  <a:pt x="16206" y="228"/>
                </a:lnTo>
                <a:lnTo>
                  <a:pt x="16194" y="209"/>
                </a:lnTo>
                <a:lnTo>
                  <a:pt x="16180" y="190"/>
                </a:lnTo>
                <a:lnTo>
                  <a:pt x="16166" y="173"/>
                </a:lnTo>
                <a:lnTo>
                  <a:pt x="16152" y="155"/>
                </a:lnTo>
                <a:lnTo>
                  <a:pt x="16136" y="139"/>
                </a:lnTo>
                <a:lnTo>
                  <a:pt x="16119" y="123"/>
                </a:lnTo>
                <a:lnTo>
                  <a:pt x="16102" y="109"/>
                </a:lnTo>
                <a:lnTo>
                  <a:pt x="16085" y="94"/>
                </a:lnTo>
                <a:lnTo>
                  <a:pt x="16066" y="81"/>
                </a:lnTo>
                <a:lnTo>
                  <a:pt x="16047" y="69"/>
                </a:lnTo>
                <a:lnTo>
                  <a:pt x="16027" y="57"/>
                </a:lnTo>
                <a:lnTo>
                  <a:pt x="16006" y="46"/>
                </a:lnTo>
                <a:lnTo>
                  <a:pt x="15986" y="37"/>
                </a:lnTo>
                <a:lnTo>
                  <a:pt x="15964" y="28"/>
                </a:lnTo>
                <a:lnTo>
                  <a:pt x="15942" y="21"/>
                </a:lnTo>
                <a:lnTo>
                  <a:pt x="15920" y="15"/>
                </a:lnTo>
                <a:lnTo>
                  <a:pt x="15897" y="10"/>
                </a:lnTo>
                <a:lnTo>
                  <a:pt x="15874" y="5"/>
                </a:lnTo>
                <a:lnTo>
                  <a:pt x="15850" y="2"/>
                </a:lnTo>
                <a:lnTo>
                  <a:pt x="15826" y="1"/>
                </a:lnTo>
                <a:lnTo>
                  <a:pt x="15802" y="0"/>
                </a:lnTo>
                <a:lnTo>
                  <a:pt x="473" y="0"/>
                </a:lnTo>
                <a:lnTo>
                  <a:pt x="449" y="1"/>
                </a:lnTo>
                <a:lnTo>
                  <a:pt x="425" y="2"/>
                </a:lnTo>
                <a:lnTo>
                  <a:pt x="401" y="5"/>
                </a:lnTo>
                <a:lnTo>
                  <a:pt x="378" y="10"/>
                </a:lnTo>
                <a:lnTo>
                  <a:pt x="355" y="15"/>
                </a:lnTo>
                <a:lnTo>
                  <a:pt x="333" y="21"/>
                </a:lnTo>
                <a:lnTo>
                  <a:pt x="310" y="28"/>
                </a:lnTo>
                <a:lnTo>
                  <a:pt x="289" y="37"/>
                </a:lnTo>
                <a:lnTo>
                  <a:pt x="269" y="46"/>
                </a:lnTo>
                <a:lnTo>
                  <a:pt x="248" y="57"/>
                </a:lnTo>
                <a:lnTo>
                  <a:pt x="228" y="69"/>
                </a:lnTo>
                <a:lnTo>
                  <a:pt x="209" y="81"/>
                </a:lnTo>
                <a:lnTo>
                  <a:pt x="190" y="94"/>
                </a:lnTo>
                <a:lnTo>
                  <a:pt x="173" y="109"/>
                </a:lnTo>
                <a:lnTo>
                  <a:pt x="156" y="123"/>
                </a:lnTo>
                <a:lnTo>
                  <a:pt x="139" y="139"/>
                </a:lnTo>
                <a:lnTo>
                  <a:pt x="123" y="155"/>
                </a:lnTo>
                <a:lnTo>
                  <a:pt x="108" y="173"/>
                </a:lnTo>
                <a:lnTo>
                  <a:pt x="95" y="190"/>
                </a:lnTo>
                <a:lnTo>
                  <a:pt x="81" y="209"/>
                </a:lnTo>
                <a:lnTo>
                  <a:pt x="68" y="228"/>
                </a:lnTo>
                <a:lnTo>
                  <a:pt x="57" y="248"/>
                </a:lnTo>
                <a:lnTo>
                  <a:pt x="47" y="268"/>
                </a:lnTo>
                <a:lnTo>
                  <a:pt x="38" y="289"/>
                </a:lnTo>
                <a:lnTo>
                  <a:pt x="28" y="311"/>
                </a:lnTo>
                <a:lnTo>
                  <a:pt x="21" y="333"/>
                </a:lnTo>
                <a:lnTo>
                  <a:pt x="15" y="355"/>
                </a:lnTo>
                <a:lnTo>
                  <a:pt x="9" y="379"/>
                </a:lnTo>
                <a:lnTo>
                  <a:pt x="5" y="401"/>
                </a:lnTo>
                <a:lnTo>
                  <a:pt x="2" y="425"/>
                </a:lnTo>
                <a:lnTo>
                  <a:pt x="1" y="449"/>
                </a:lnTo>
                <a:lnTo>
                  <a:pt x="0" y="473"/>
                </a:lnTo>
                <a:lnTo>
                  <a:pt x="0" y="1978"/>
                </a:lnTo>
                <a:lnTo>
                  <a:pt x="1" y="2003"/>
                </a:lnTo>
                <a:lnTo>
                  <a:pt x="2" y="2026"/>
                </a:lnTo>
                <a:lnTo>
                  <a:pt x="5" y="2051"/>
                </a:lnTo>
                <a:lnTo>
                  <a:pt x="9" y="2073"/>
                </a:lnTo>
                <a:lnTo>
                  <a:pt x="15" y="2096"/>
                </a:lnTo>
                <a:lnTo>
                  <a:pt x="21" y="2119"/>
                </a:lnTo>
                <a:lnTo>
                  <a:pt x="28" y="2141"/>
                </a:lnTo>
                <a:lnTo>
                  <a:pt x="38" y="2163"/>
                </a:lnTo>
                <a:lnTo>
                  <a:pt x="47" y="2183"/>
                </a:lnTo>
                <a:lnTo>
                  <a:pt x="57" y="2203"/>
                </a:lnTo>
                <a:lnTo>
                  <a:pt x="68" y="2224"/>
                </a:lnTo>
                <a:lnTo>
                  <a:pt x="81" y="2243"/>
                </a:lnTo>
                <a:lnTo>
                  <a:pt x="95" y="2261"/>
                </a:lnTo>
                <a:lnTo>
                  <a:pt x="108" y="2279"/>
                </a:lnTo>
                <a:lnTo>
                  <a:pt x="123" y="2296"/>
                </a:lnTo>
                <a:lnTo>
                  <a:pt x="139" y="2312"/>
                </a:lnTo>
                <a:lnTo>
                  <a:pt x="156" y="2329"/>
                </a:lnTo>
                <a:lnTo>
                  <a:pt x="173" y="2344"/>
                </a:lnTo>
                <a:lnTo>
                  <a:pt x="190" y="2357"/>
                </a:lnTo>
                <a:lnTo>
                  <a:pt x="209" y="2370"/>
                </a:lnTo>
                <a:lnTo>
                  <a:pt x="228" y="2384"/>
                </a:lnTo>
                <a:lnTo>
                  <a:pt x="248" y="2395"/>
                </a:lnTo>
                <a:lnTo>
                  <a:pt x="269" y="2405"/>
                </a:lnTo>
                <a:lnTo>
                  <a:pt x="289" y="2414"/>
                </a:lnTo>
                <a:lnTo>
                  <a:pt x="310" y="2423"/>
                </a:lnTo>
                <a:lnTo>
                  <a:pt x="333" y="2431"/>
                </a:lnTo>
                <a:lnTo>
                  <a:pt x="355" y="2437"/>
                </a:lnTo>
                <a:lnTo>
                  <a:pt x="378" y="2443"/>
                </a:lnTo>
                <a:lnTo>
                  <a:pt x="401" y="2447"/>
                </a:lnTo>
                <a:lnTo>
                  <a:pt x="425" y="2450"/>
                </a:lnTo>
                <a:lnTo>
                  <a:pt x="449" y="2451"/>
                </a:lnTo>
                <a:lnTo>
                  <a:pt x="473" y="2452"/>
                </a:lnTo>
                <a:close/>
                <a:moveTo>
                  <a:pt x="7582" y="1978"/>
                </a:moveTo>
                <a:lnTo>
                  <a:pt x="14452" y="1978"/>
                </a:lnTo>
                <a:lnTo>
                  <a:pt x="14467" y="1978"/>
                </a:lnTo>
                <a:lnTo>
                  <a:pt x="14482" y="1977"/>
                </a:lnTo>
                <a:lnTo>
                  <a:pt x="14497" y="1975"/>
                </a:lnTo>
                <a:lnTo>
                  <a:pt x="14511" y="1972"/>
                </a:lnTo>
                <a:lnTo>
                  <a:pt x="14525" y="1969"/>
                </a:lnTo>
                <a:lnTo>
                  <a:pt x="14539" y="1965"/>
                </a:lnTo>
                <a:lnTo>
                  <a:pt x="14553" y="1961"/>
                </a:lnTo>
                <a:lnTo>
                  <a:pt x="14566" y="1955"/>
                </a:lnTo>
                <a:lnTo>
                  <a:pt x="14578" y="1950"/>
                </a:lnTo>
                <a:lnTo>
                  <a:pt x="14592" y="1943"/>
                </a:lnTo>
                <a:lnTo>
                  <a:pt x="14604" y="1935"/>
                </a:lnTo>
                <a:lnTo>
                  <a:pt x="14616" y="1928"/>
                </a:lnTo>
                <a:lnTo>
                  <a:pt x="14627" y="1920"/>
                </a:lnTo>
                <a:lnTo>
                  <a:pt x="14638" y="1911"/>
                </a:lnTo>
                <a:lnTo>
                  <a:pt x="14649" y="1902"/>
                </a:lnTo>
                <a:lnTo>
                  <a:pt x="14659" y="1893"/>
                </a:lnTo>
                <a:lnTo>
                  <a:pt x="14669" y="1882"/>
                </a:lnTo>
                <a:lnTo>
                  <a:pt x="14678" y="1871"/>
                </a:lnTo>
                <a:lnTo>
                  <a:pt x="14686" y="1860"/>
                </a:lnTo>
                <a:lnTo>
                  <a:pt x="14694" y="1849"/>
                </a:lnTo>
                <a:lnTo>
                  <a:pt x="14702" y="1837"/>
                </a:lnTo>
                <a:lnTo>
                  <a:pt x="14710" y="1824"/>
                </a:lnTo>
                <a:lnTo>
                  <a:pt x="14716" y="1812"/>
                </a:lnTo>
                <a:lnTo>
                  <a:pt x="14722" y="1799"/>
                </a:lnTo>
                <a:lnTo>
                  <a:pt x="14727" y="1786"/>
                </a:lnTo>
                <a:lnTo>
                  <a:pt x="14732" y="1772"/>
                </a:lnTo>
                <a:lnTo>
                  <a:pt x="14736" y="1758"/>
                </a:lnTo>
                <a:lnTo>
                  <a:pt x="14739" y="1744"/>
                </a:lnTo>
                <a:lnTo>
                  <a:pt x="14741" y="1730"/>
                </a:lnTo>
                <a:lnTo>
                  <a:pt x="14743" y="1715"/>
                </a:lnTo>
                <a:lnTo>
                  <a:pt x="14744" y="1700"/>
                </a:lnTo>
                <a:lnTo>
                  <a:pt x="14745" y="1685"/>
                </a:lnTo>
                <a:lnTo>
                  <a:pt x="14745" y="753"/>
                </a:lnTo>
                <a:lnTo>
                  <a:pt x="14744" y="739"/>
                </a:lnTo>
                <a:lnTo>
                  <a:pt x="14743" y="724"/>
                </a:lnTo>
                <a:lnTo>
                  <a:pt x="14741" y="710"/>
                </a:lnTo>
                <a:lnTo>
                  <a:pt x="14739" y="695"/>
                </a:lnTo>
                <a:lnTo>
                  <a:pt x="14736" y="681"/>
                </a:lnTo>
                <a:lnTo>
                  <a:pt x="14732" y="667"/>
                </a:lnTo>
                <a:lnTo>
                  <a:pt x="14727" y="654"/>
                </a:lnTo>
                <a:lnTo>
                  <a:pt x="14722" y="640"/>
                </a:lnTo>
                <a:lnTo>
                  <a:pt x="14716" y="627"/>
                </a:lnTo>
                <a:lnTo>
                  <a:pt x="14710" y="614"/>
                </a:lnTo>
                <a:lnTo>
                  <a:pt x="14702" y="602"/>
                </a:lnTo>
                <a:lnTo>
                  <a:pt x="14694" y="590"/>
                </a:lnTo>
                <a:lnTo>
                  <a:pt x="14686" y="579"/>
                </a:lnTo>
                <a:lnTo>
                  <a:pt x="14678" y="568"/>
                </a:lnTo>
                <a:lnTo>
                  <a:pt x="14669" y="557"/>
                </a:lnTo>
                <a:lnTo>
                  <a:pt x="14659" y="547"/>
                </a:lnTo>
                <a:lnTo>
                  <a:pt x="14649" y="537"/>
                </a:lnTo>
                <a:lnTo>
                  <a:pt x="14638" y="528"/>
                </a:lnTo>
                <a:lnTo>
                  <a:pt x="14627" y="519"/>
                </a:lnTo>
                <a:lnTo>
                  <a:pt x="14616" y="511"/>
                </a:lnTo>
                <a:lnTo>
                  <a:pt x="14604" y="503"/>
                </a:lnTo>
                <a:lnTo>
                  <a:pt x="14592" y="496"/>
                </a:lnTo>
                <a:lnTo>
                  <a:pt x="14578" y="490"/>
                </a:lnTo>
                <a:lnTo>
                  <a:pt x="14566" y="483"/>
                </a:lnTo>
                <a:lnTo>
                  <a:pt x="14553" y="478"/>
                </a:lnTo>
                <a:lnTo>
                  <a:pt x="14539" y="474"/>
                </a:lnTo>
                <a:lnTo>
                  <a:pt x="14525" y="470"/>
                </a:lnTo>
                <a:lnTo>
                  <a:pt x="14511" y="466"/>
                </a:lnTo>
                <a:lnTo>
                  <a:pt x="14497" y="464"/>
                </a:lnTo>
                <a:lnTo>
                  <a:pt x="14482" y="462"/>
                </a:lnTo>
                <a:lnTo>
                  <a:pt x="14467" y="461"/>
                </a:lnTo>
                <a:lnTo>
                  <a:pt x="14452" y="461"/>
                </a:lnTo>
                <a:lnTo>
                  <a:pt x="7582" y="461"/>
                </a:lnTo>
                <a:lnTo>
                  <a:pt x="7567" y="461"/>
                </a:lnTo>
                <a:lnTo>
                  <a:pt x="7552" y="462"/>
                </a:lnTo>
                <a:lnTo>
                  <a:pt x="7537" y="464"/>
                </a:lnTo>
                <a:lnTo>
                  <a:pt x="7523" y="466"/>
                </a:lnTo>
                <a:lnTo>
                  <a:pt x="7509" y="470"/>
                </a:lnTo>
                <a:lnTo>
                  <a:pt x="7495" y="474"/>
                </a:lnTo>
                <a:lnTo>
                  <a:pt x="7481" y="478"/>
                </a:lnTo>
                <a:lnTo>
                  <a:pt x="7468" y="483"/>
                </a:lnTo>
                <a:lnTo>
                  <a:pt x="7455" y="490"/>
                </a:lnTo>
                <a:lnTo>
                  <a:pt x="7443" y="496"/>
                </a:lnTo>
                <a:lnTo>
                  <a:pt x="7431" y="503"/>
                </a:lnTo>
                <a:lnTo>
                  <a:pt x="7418" y="511"/>
                </a:lnTo>
                <a:lnTo>
                  <a:pt x="7407" y="519"/>
                </a:lnTo>
                <a:lnTo>
                  <a:pt x="7396" y="527"/>
                </a:lnTo>
                <a:lnTo>
                  <a:pt x="7385" y="537"/>
                </a:lnTo>
                <a:lnTo>
                  <a:pt x="7375" y="547"/>
                </a:lnTo>
                <a:lnTo>
                  <a:pt x="7365" y="557"/>
                </a:lnTo>
                <a:lnTo>
                  <a:pt x="7356" y="568"/>
                </a:lnTo>
                <a:lnTo>
                  <a:pt x="7347" y="579"/>
                </a:lnTo>
                <a:lnTo>
                  <a:pt x="7339" y="590"/>
                </a:lnTo>
                <a:lnTo>
                  <a:pt x="7332" y="602"/>
                </a:lnTo>
                <a:lnTo>
                  <a:pt x="7325" y="614"/>
                </a:lnTo>
                <a:lnTo>
                  <a:pt x="7318" y="627"/>
                </a:lnTo>
                <a:lnTo>
                  <a:pt x="7312" y="640"/>
                </a:lnTo>
                <a:lnTo>
                  <a:pt x="7306" y="654"/>
                </a:lnTo>
                <a:lnTo>
                  <a:pt x="7302" y="667"/>
                </a:lnTo>
                <a:lnTo>
                  <a:pt x="7298" y="681"/>
                </a:lnTo>
                <a:lnTo>
                  <a:pt x="7295" y="695"/>
                </a:lnTo>
                <a:lnTo>
                  <a:pt x="7292" y="710"/>
                </a:lnTo>
                <a:lnTo>
                  <a:pt x="7290" y="724"/>
                </a:lnTo>
                <a:lnTo>
                  <a:pt x="7289" y="739"/>
                </a:lnTo>
                <a:lnTo>
                  <a:pt x="7289" y="753"/>
                </a:lnTo>
                <a:lnTo>
                  <a:pt x="7289" y="1685"/>
                </a:lnTo>
                <a:lnTo>
                  <a:pt x="7289" y="1700"/>
                </a:lnTo>
                <a:lnTo>
                  <a:pt x="7290" y="1715"/>
                </a:lnTo>
                <a:lnTo>
                  <a:pt x="7292" y="1730"/>
                </a:lnTo>
                <a:lnTo>
                  <a:pt x="7295" y="1744"/>
                </a:lnTo>
                <a:lnTo>
                  <a:pt x="7298" y="1758"/>
                </a:lnTo>
                <a:lnTo>
                  <a:pt x="7302" y="1772"/>
                </a:lnTo>
                <a:lnTo>
                  <a:pt x="7306" y="1786"/>
                </a:lnTo>
                <a:lnTo>
                  <a:pt x="7312" y="1799"/>
                </a:lnTo>
                <a:lnTo>
                  <a:pt x="7318" y="1812"/>
                </a:lnTo>
                <a:lnTo>
                  <a:pt x="7325" y="1824"/>
                </a:lnTo>
                <a:lnTo>
                  <a:pt x="7332" y="1837"/>
                </a:lnTo>
                <a:lnTo>
                  <a:pt x="7339" y="1849"/>
                </a:lnTo>
                <a:lnTo>
                  <a:pt x="7347" y="1860"/>
                </a:lnTo>
                <a:lnTo>
                  <a:pt x="7356" y="1871"/>
                </a:lnTo>
                <a:lnTo>
                  <a:pt x="7365" y="1882"/>
                </a:lnTo>
                <a:lnTo>
                  <a:pt x="7375" y="1893"/>
                </a:lnTo>
                <a:lnTo>
                  <a:pt x="7385" y="1902"/>
                </a:lnTo>
                <a:lnTo>
                  <a:pt x="7396" y="1911"/>
                </a:lnTo>
                <a:lnTo>
                  <a:pt x="7407" y="1920"/>
                </a:lnTo>
                <a:lnTo>
                  <a:pt x="7418" y="1928"/>
                </a:lnTo>
                <a:lnTo>
                  <a:pt x="7431" y="1935"/>
                </a:lnTo>
                <a:lnTo>
                  <a:pt x="7443" y="1943"/>
                </a:lnTo>
                <a:lnTo>
                  <a:pt x="7455" y="1950"/>
                </a:lnTo>
                <a:lnTo>
                  <a:pt x="7468" y="1955"/>
                </a:lnTo>
                <a:lnTo>
                  <a:pt x="7481" y="1961"/>
                </a:lnTo>
                <a:lnTo>
                  <a:pt x="7495" y="1965"/>
                </a:lnTo>
                <a:lnTo>
                  <a:pt x="7509" y="1969"/>
                </a:lnTo>
                <a:lnTo>
                  <a:pt x="7523" y="1972"/>
                </a:lnTo>
                <a:lnTo>
                  <a:pt x="7537" y="1975"/>
                </a:lnTo>
                <a:lnTo>
                  <a:pt x="7552" y="1977"/>
                </a:lnTo>
                <a:lnTo>
                  <a:pt x="7567" y="1978"/>
                </a:lnTo>
                <a:lnTo>
                  <a:pt x="7582" y="1978"/>
                </a:lnTo>
                <a:close/>
                <a:moveTo>
                  <a:pt x="2937" y="1794"/>
                </a:moveTo>
                <a:lnTo>
                  <a:pt x="2967" y="1793"/>
                </a:lnTo>
                <a:lnTo>
                  <a:pt x="2999" y="1791"/>
                </a:lnTo>
                <a:lnTo>
                  <a:pt x="3029" y="1787"/>
                </a:lnTo>
                <a:lnTo>
                  <a:pt x="3059" y="1782"/>
                </a:lnTo>
                <a:lnTo>
                  <a:pt x="3088" y="1774"/>
                </a:lnTo>
                <a:lnTo>
                  <a:pt x="3118" y="1766"/>
                </a:lnTo>
                <a:lnTo>
                  <a:pt x="3146" y="1756"/>
                </a:lnTo>
                <a:lnTo>
                  <a:pt x="3174" y="1746"/>
                </a:lnTo>
                <a:lnTo>
                  <a:pt x="3200" y="1734"/>
                </a:lnTo>
                <a:lnTo>
                  <a:pt x="3227" y="1719"/>
                </a:lnTo>
                <a:lnTo>
                  <a:pt x="3252" y="1705"/>
                </a:lnTo>
                <a:lnTo>
                  <a:pt x="3277" y="1689"/>
                </a:lnTo>
                <a:lnTo>
                  <a:pt x="3301" y="1672"/>
                </a:lnTo>
                <a:lnTo>
                  <a:pt x="3324" y="1654"/>
                </a:lnTo>
                <a:lnTo>
                  <a:pt x="3347" y="1635"/>
                </a:lnTo>
                <a:lnTo>
                  <a:pt x="3368" y="1614"/>
                </a:lnTo>
                <a:lnTo>
                  <a:pt x="3388" y="1593"/>
                </a:lnTo>
                <a:lnTo>
                  <a:pt x="3408" y="1571"/>
                </a:lnTo>
                <a:lnTo>
                  <a:pt x="3425" y="1547"/>
                </a:lnTo>
                <a:lnTo>
                  <a:pt x="3442" y="1524"/>
                </a:lnTo>
                <a:lnTo>
                  <a:pt x="3458" y="1498"/>
                </a:lnTo>
                <a:lnTo>
                  <a:pt x="3473" y="1473"/>
                </a:lnTo>
                <a:lnTo>
                  <a:pt x="3487" y="1446"/>
                </a:lnTo>
                <a:lnTo>
                  <a:pt x="3499" y="1420"/>
                </a:lnTo>
                <a:lnTo>
                  <a:pt x="3509" y="1392"/>
                </a:lnTo>
                <a:lnTo>
                  <a:pt x="3519" y="1364"/>
                </a:lnTo>
                <a:lnTo>
                  <a:pt x="3528" y="1334"/>
                </a:lnTo>
                <a:lnTo>
                  <a:pt x="3535" y="1305"/>
                </a:lnTo>
                <a:lnTo>
                  <a:pt x="3540" y="1275"/>
                </a:lnTo>
                <a:lnTo>
                  <a:pt x="3544" y="1245"/>
                </a:lnTo>
                <a:lnTo>
                  <a:pt x="3546" y="1213"/>
                </a:lnTo>
                <a:lnTo>
                  <a:pt x="3547" y="1181"/>
                </a:lnTo>
                <a:lnTo>
                  <a:pt x="3546" y="1150"/>
                </a:lnTo>
                <a:lnTo>
                  <a:pt x="3544" y="1119"/>
                </a:lnTo>
                <a:lnTo>
                  <a:pt x="3540" y="1089"/>
                </a:lnTo>
                <a:lnTo>
                  <a:pt x="3535" y="1059"/>
                </a:lnTo>
                <a:lnTo>
                  <a:pt x="3528" y="1030"/>
                </a:lnTo>
                <a:lnTo>
                  <a:pt x="3519" y="1000"/>
                </a:lnTo>
                <a:lnTo>
                  <a:pt x="3509" y="972"/>
                </a:lnTo>
                <a:lnTo>
                  <a:pt x="3499" y="944"/>
                </a:lnTo>
                <a:lnTo>
                  <a:pt x="3487" y="917"/>
                </a:lnTo>
                <a:lnTo>
                  <a:pt x="3473" y="890"/>
                </a:lnTo>
                <a:lnTo>
                  <a:pt x="3458" y="865"/>
                </a:lnTo>
                <a:lnTo>
                  <a:pt x="3442" y="840"/>
                </a:lnTo>
                <a:lnTo>
                  <a:pt x="3425" y="816"/>
                </a:lnTo>
                <a:lnTo>
                  <a:pt x="3408" y="793"/>
                </a:lnTo>
                <a:lnTo>
                  <a:pt x="3388" y="771"/>
                </a:lnTo>
                <a:lnTo>
                  <a:pt x="3368" y="749"/>
                </a:lnTo>
                <a:lnTo>
                  <a:pt x="3347" y="729"/>
                </a:lnTo>
                <a:lnTo>
                  <a:pt x="3324" y="710"/>
                </a:lnTo>
                <a:lnTo>
                  <a:pt x="3301" y="691"/>
                </a:lnTo>
                <a:lnTo>
                  <a:pt x="3277" y="675"/>
                </a:lnTo>
                <a:lnTo>
                  <a:pt x="3252" y="659"/>
                </a:lnTo>
                <a:lnTo>
                  <a:pt x="3227" y="643"/>
                </a:lnTo>
                <a:lnTo>
                  <a:pt x="3200" y="630"/>
                </a:lnTo>
                <a:lnTo>
                  <a:pt x="3174" y="618"/>
                </a:lnTo>
                <a:lnTo>
                  <a:pt x="3146" y="607"/>
                </a:lnTo>
                <a:lnTo>
                  <a:pt x="3118" y="598"/>
                </a:lnTo>
                <a:lnTo>
                  <a:pt x="3088" y="589"/>
                </a:lnTo>
                <a:lnTo>
                  <a:pt x="3059" y="582"/>
                </a:lnTo>
                <a:lnTo>
                  <a:pt x="3029" y="577"/>
                </a:lnTo>
                <a:lnTo>
                  <a:pt x="2999" y="573"/>
                </a:lnTo>
                <a:lnTo>
                  <a:pt x="2967" y="570"/>
                </a:lnTo>
                <a:lnTo>
                  <a:pt x="2937" y="570"/>
                </a:lnTo>
                <a:lnTo>
                  <a:pt x="2905" y="570"/>
                </a:lnTo>
                <a:lnTo>
                  <a:pt x="2874" y="573"/>
                </a:lnTo>
                <a:lnTo>
                  <a:pt x="2843" y="577"/>
                </a:lnTo>
                <a:lnTo>
                  <a:pt x="2814" y="582"/>
                </a:lnTo>
                <a:lnTo>
                  <a:pt x="2784" y="589"/>
                </a:lnTo>
                <a:lnTo>
                  <a:pt x="2755" y="598"/>
                </a:lnTo>
                <a:lnTo>
                  <a:pt x="2726" y="607"/>
                </a:lnTo>
                <a:lnTo>
                  <a:pt x="2699" y="618"/>
                </a:lnTo>
                <a:lnTo>
                  <a:pt x="2671" y="630"/>
                </a:lnTo>
                <a:lnTo>
                  <a:pt x="2646" y="643"/>
                </a:lnTo>
                <a:lnTo>
                  <a:pt x="2619" y="659"/>
                </a:lnTo>
                <a:lnTo>
                  <a:pt x="2595" y="675"/>
                </a:lnTo>
                <a:lnTo>
                  <a:pt x="2570" y="691"/>
                </a:lnTo>
                <a:lnTo>
                  <a:pt x="2548" y="710"/>
                </a:lnTo>
                <a:lnTo>
                  <a:pt x="2526" y="729"/>
                </a:lnTo>
                <a:lnTo>
                  <a:pt x="2504" y="749"/>
                </a:lnTo>
                <a:lnTo>
                  <a:pt x="2484" y="771"/>
                </a:lnTo>
                <a:lnTo>
                  <a:pt x="2465" y="793"/>
                </a:lnTo>
                <a:lnTo>
                  <a:pt x="2446" y="816"/>
                </a:lnTo>
                <a:lnTo>
                  <a:pt x="2430" y="840"/>
                </a:lnTo>
                <a:lnTo>
                  <a:pt x="2414" y="865"/>
                </a:lnTo>
                <a:lnTo>
                  <a:pt x="2399" y="890"/>
                </a:lnTo>
                <a:lnTo>
                  <a:pt x="2385" y="917"/>
                </a:lnTo>
                <a:lnTo>
                  <a:pt x="2373" y="944"/>
                </a:lnTo>
                <a:lnTo>
                  <a:pt x="2362" y="972"/>
                </a:lnTo>
                <a:lnTo>
                  <a:pt x="2353" y="1000"/>
                </a:lnTo>
                <a:lnTo>
                  <a:pt x="2345" y="1030"/>
                </a:lnTo>
                <a:lnTo>
                  <a:pt x="2337" y="1059"/>
                </a:lnTo>
                <a:lnTo>
                  <a:pt x="2332" y="1089"/>
                </a:lnTo>
                <a:lnTo>
                  <a:pt x="2328" y="1119"/>
                </a:lnTo>
                <a:lnTo>
                  <a:pt x="2326" y="1150"/>
                </a:lnTo>
                <a:lnTo>
                  <a:pt x="2325" y="1181"/>
                </a:lnTo>
                <a:lnTo>
                  <a:pt x="2326" y="1213"/>
                </a:lnTo>
                <a:lnTo>
                  <a:pt x="2328" y="1245"/>
                </a:lnTo>
                <a:lnTo>
                  <a:pt x="2332" y="1275"/>
                </a:lnTo>
                <a:lnTo>
                  <a:pt x="2337" y="1305"/>
                </a:lnTo>
                <a:lnTo>
                  <a:pt x="2345" y="1334"/>
                </a:lnTo>
                <a:lnTo>
                  <a:pt x="2353" y="1364"/>
                </a:lnTo>
                <a:lnTo>
                  <a:pt x="2362" y="1392"/>
                </a:lnTo>
                <a:lnTo>
                  <a:pt x="2373" y="1420"/>
                </a:lnTo>
                <a:lnTo>
                  <a:pt x="2385" y="1446"/>
                </a:lnTo>
                <a:lnTo>
                  <a:pt x="2399" y="1473"/>
                </a:lnTo>
                <a:lnTo>
                  <a:pt x="2414" y="1498"/>
                </a:lnTo>
                <a:lnTo>
                  <a:pt x="2430" y="1524"/>
                </a:lnTo>
                <a:lnTo>
                  <a:pt x="2446" y="1547"/>
                </a:lnTo>
                <a:lnTo>
                  <a:pt x="2465" y="1571"/>
                </a:lnTo>
                <a:lnTo>
                  <a:pt x="2484" y="1593"/>
                </a:lnTo>
                <a:lnTo>
                  <a:pt x="2504" y="1614"/>
                </a:lnTo>
                <a:lnTo>
                  <a:pt x="2526" y="1635"/>
                </a:lnTo>
                <a:lnTo>
                  <a:pt x="2548" y="1654"/>
                </a:lnTo>
                <a:lnTo>
                  <a:pt x="2570" y="1672"/>
                </a:lnTo>
                <a:lnTo>
                  <a:pt x="2595" y="1689"/>
                </a:lnTo>
                <a:lnTo>
                  <a:pt x="2619" y="1705"/>
                </a:lnTo>
                <a:lnTo>
                  <a:pt x="2646" y="1719"/>
                </a:lnTo>
                <a:lnTo>
                  <a:pt x="2671" y="1734"/>
                </a:lnTo>
                <a:lnTo>
                  <a:pt x="2699" y="1746"/>
                </a:lnTo>
                <a:lnTo>
                  <a:pt x="2726" y="1756"/>
                </a:lnTo>
                <a:lnTo>
                  <a:pt x="2755" y="1766"/>
                </a:lnTo>
                <a:lnTo>
                  <a:pt x="2784" y="1774"/>
                </a:lnTo>
                <a:lnTo>
                  <a:pt x="2814" y="1782"/>
                </a:lnTo>
                <a:lnTo>
                  <a:pt x="2843" y="1787"/>
                </a:lnTo>
                <a:lnTo>
                  <a:pt x="2874" y="1791"/>
                </a:lnTo>
                <a:lnTo>
                  <a:pt x="2905" y="1793"/>
                </a:lnTo>
                <a:lnTo>
                  <a:pt x="2937" y="1794"/>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 name="矩形 39">
            <a:extLst>
              <a:ext uri="{FF2B5EF4-FFF2-40B4-BE49-F238E27FC236}">
                <a16:creationId xmlns:a16="http://schemas.microsoft.com/office/drawing/2014/main" id="{99472E11-5C59-4589-BCBF-A08A634F9AA0}"/>
              </a:ext>
            </a:extLst>
          </p:cNvPr>
          <p:cNvSpPr/>
          <p:nvPr/>
        </p:nvSpPr>
        <p:spPr bwMode="gray">
          <a:xfrm>
            <a:off x="6883480" y="5776195"/>
            <a:ext cx="798180" cy="307777"/>
          </a:xfrm>
          <a:prstGeom prst="rect">
            <a:avLst/>
          </a:prstGeom>
        </p:spPr>
        <p:txBody>
          <a:bodyPr wrap="square">
            <a:spAutoFit/>
          </a:bodyPr>
          <a:lstStyle/>
          <a:p>
            <a:pPr lvl="0" algn="ctr" defTabSz="457200" fontAlgn="base">
              <a:spcBef>
                <a:spcPct val="0"/>
              </a:spcBef>
              <a:spcAft>
                <a:spcPct val="0"/>
              </a:spcAft>
              <a:defRPr/>
            </a:pPr>
            <a:r>
              <a:rPr lang="en-US" altLang="zh-CN" sz="1400" kern="0" dirty="0">
                <a:solidFill>
                  <a:srgbClr val="FFFFFF"/>
                </a:solidFill>
                <a:ea typeface="微软雅黑" panose="020B0503020204020204" pitchFamily="34" charset="-122"/>
              </a:rPr>
              <a:t>Router</a:t>
            </a:r>
          </a:p>
        </p:txBody>
      </p:sp>
      <p:sp>
        <p:nvSpPr>
          <p:cNvPr id="42" name="Freeform 46">
            <a:extLst>
              <a:ext uri="{FF2B5EF4-FFF2-40B4-BE49-F238E27FC236}">
                <a16:creationId xmlns:a16="http://schemas.microsoft.com/office/drawing/2014/main" id="{79270BC6-5F4D-4FD0-BF32-EBA0D8B38B1B}"/>
              </a:ext>
            </a:extLst>
          </p:cNvPr>
          <p:cNvSpPr>
            <a:spLocks noEditPoints="1"/>
          </p:cNvSpPr>
          <p:nvPr/>
        </p:nvSpPr>
        <p:spPr bwMode="gray">
          <a:xfrm>
            <a:off x="8113976" y="5921236"/>
            <a:ext cx="162108" cy="66464"/>
          </a:xfrm>
          <a:custGeom>
            <a:avLst/>
            <a:gdLst/>
            <a:ahLst/>
            <a:cxnLst>
              <a:cxn ang="0">
                <a:pos x="192" y="60"/>
              </a:cxn>
              <a:cxn ang="0">
                <a:pos x="192" y="0"/>
              </a:cxn>
              <a:cxn ang="0">
                <a:pos x="38" y="0"/>
              </a:cxn>
              <a:cxn ang="0">
                <a:pos x="38" y="0"/>
              </a:cxn>
              <a:cxn ang="0">
                <a:pos x="30" y="0"/>
              </a:cxn>
              <a:cxn ang="0">
                <a:pos x="24" y="2"/>
              </a:cxn>
              <a:cxn ang="0">
                <a:pos x="16" y="6"/>
              </a:cxn>
              <a:cxn ang="0">
                <a:pos x="10" y="10"/>
              </a:cxn>
              <a:cxn ang="0">
                <a:pos x="6" y="14"/>
              </a:cxn>
              <a:cxn ang="0">
                <a:pos x="2" y="20"/>
              </a:cxn>
              <a:cxn ang="0">
                <a:pos x="0" y="28"/>
              </a:cxn>
              <a:cxn ang="0">
                <a:pos x="0" y="34"/>
              </a:cxn>
              <a:cxn ang="0">
                <a:pos x="0" y="48"/>
              </a:cxn>
              <a:cxn ang="0">
                <a:pos x="0" y="48"/>
              </a:cxn>
              <a:cxn ang="0">
                <a:pos x="0" y="54"/>
              </a:cxn>
              <a:cxn ang="0">
                <a:pos x="2" y="62"/>
              </a:cxn>
              <a:cxn ang="0">
                <a:pos x="6" y="68"/>
              </a:cxn>
              <a:cxn ang="0">
                <a:pos x="10" y="72"/>
              </a:cxn>
              <a:cxn ang="0">
                <a:pos x="16" y="76"/>
              </a:cxn>
              <a:cxn ang="0">
                <a:pos x="24" y="80"/>
              </a:cxn>
              <a:cxn ang="0">
                <a:pos x="30" y="82"/>
              </a:cxn>
              <a:cxn ang="0">
                <a:pos x="38" y="82"/>
              </a:cxn>
              <a:cxn ang="0">
                <a:pos x="200" y="82"/>
              </a:cxn>
              <a:cxn ang="0">
                <a:pos x="200" y="82"/>
              </a:cxn>
              <a:cxn ang="0">
                <a:pos x="194" y="72"/>
              </a:cxn>
              <a:cxn ang="0">
                <a:pos x="192" y="60"/>
              </a:cxn>
              <a:cxn ang="0">
                <a:pos x="192" y="60"/>
              </a:cxn>
              <a:cxn ang="0">
                <a:pos x="48" y="54"/>
              </a:cxn>
              <a:cxn ang="0">
                <a:pos x="48" y="54"/>
              </a:cxn>
              <a:cxn ang="0">
                <a:pos x="44" y="54"/>
              </a:cxn>
              <a:cxn ang="0">
                <a:pos x="38" y="50"/>
              </a:cxn>
              <a:cxn ang="0">
                <a:pos x="36" y="46"/>
              </a:cxn>
              <a:cxn ang="0">
                <a:pos x="34" y="40"/>
              </a:cxn>
              <a:cxn ang="0">
                <a:pos x="34" y="40"/>
              </a:cxn>
              <a:cxn ang="0">
                <a:pos x="36" y="36"/>
              </a:cxn>
              <a:cxn ang="0">
                <a:pos x="38" y="32"/>
              </a:cxn>
              <a:cxn ang="0">
                <a:pos x="44" y="28"/>
              </a:cxn>
              <a:cxn ang="0">
                <a:pos x="48" y="28"/>
              </a:cxn>
              <a:cxn ang="0">
                <a:pos x="48" y="28"/>
              </a:cxn>
              <a:cxn ang="0">
                <a:pos x="54" y="28"/>
              </a:cxn>
              <a:cxn ang="0">
                <a:pos x="58" y="32"/>
              </a:cxn>
              <a:cxn ang="0">
                <a:pos x="60" y="36"/>
              </a:cxn>
              <a:cxn ang="0">
                <a:pos x="62" y="40"/>
              </a:cxn>
              <a:cxn ang="0">
                <a:pos x="62" y="40"/>
              </a:cxn>
              <a:cxn ang="0">
                <a:pos x="60" y="46"/>
              </a:cxn>
              <a:cxn ang="0">
                <a:pos x="58" y="50"/>
              </a:cxn>
              <a:cxn ang="0">
                <a:pos x="54" y="54"/>
              </a:cxn>
              <a:cxn ang="0">
                <a:pos x="48" y="54"/>
              </a:cxn>
              <a:cxn ang="0">
                <a:pos x="48" y="54"/>
              </a:cxn>
            </a:cxnLst>
            <a:rect l="0" t="0" r="r" b="b"/>
            <a:pathLst>
              <a:path w="200" h="82">
                <a:moveTo>
                  <a:pt x="192" y="60"/>
                </a:moveTo>
                <a:lnTo>
                  <a:pt x="192" y="0"/>
                </a:lnTo>
                <a:lnTo>
                  <a:pt x="38" y="0"/>
                </a:lnTo>
                <a:lnTo>
                  <a:pt x="38" y="0"/>
                </a:lnTo>
                <a:lnTo>
                  <a:pt x="30" y="0"/>
                </a:lnTo>
                <a:lnTo>
                  <a:pt x="24" y="2"/>
                </a:lnTo>
                <a:lnTo>
                  <a:pt x="16" y="6"/>
                </a:lnTo>
                <a:lnTo>
                  <a:pt x="10" y="10"/>
                </a:lnTo>
                <a:lnTo>
                  <a:pt x="6" y="14"/>
                </a:lnTo>
                <a:lnTo>
                  <a:pt x="2" y="20"/>
                </a:lnTo>
                <a:lnTo>
                  <a:pt x="0" y="28"/>
                </a:lnTo>
                <a:lnTo>
                  <a:pt x="0" y="34"/>
                </a:lnTo>
                <a:lnTo>
                  <a:pt x="0" y="48"/>
                </a:lnTo>
                <a:lnTo>
                  <a:pt x="0" y="48"/>
                </a:lnTo>
                <a:lnTo>
                  <a:pt x="0" y="54"/>
                </a:lnTo>
                <a:lnTo>
                  <a:pt x="2" y="62"/>
                </a:lnTo>
                <a:lnTo>
                  <a:pt x="6" y="68"/>
                </a:lnTo>
                <a:lnTo>
                  <a:pt x="10" y="72"/>
                </a:lnTo>
                <a:lnTo>
                  <a:pt x="16" y="76"/>
                </a:lnTo>
                <a:lnTo>
                  <a:pt x="24" y="80"/>
                </a:lnTo>
                <a:lnTo>
                  <a:pt x="30" y="82"/>
                </a:lnTo>
                <a:lnTo>
                  <a:pt x="38" y="82"/>
                </a:lnTo>
                <a:lnTo>
                  <a:pt x="200" y="82"/>
                </a:lnTo>
                <a:lnTo>
                  <a:pt x="200" y="82"/>
                </a:lnTo>
                <a:lnTo>
                  <a:pt x="194" y="72"/>
                </a:lnTo>
                <a:lnTo>
                  <a:pt x="192" y="60"/>
                </a:lnTo>
                <a:lnTo>
                  <a:pt x="192" y="60"/>
                </a:lnTo>
                <a:close/>
                <a:moveTo>
                  <a:pt x="48" y="54"/>
                </a:moveTo>
                <a:lnTo>
                  <a:pt x="48" y="54"/>
                </a:lnTo>
                <a:lnTo>
                  <a:pt x="44" y="54"/>
                </a:lnTo>
                <a:lnTo>
                  <a:pt x="38" y="50"/>
                </a:lnTo>
                <a:lnTo>
                  <a:pt x="36" y="46"/>
                </a:lnTo>
                <a:lnTo>
                  <a:pt x="34" y="40"/>
                </a:lnTo>
                <a:lnTo>
                  <a:pt x="34" y="40"/>
                </a:lnTo>
                <a:lnTo>
                  <a:pt x="36" y="36"/>
                </a:lnTo>
                <a:lnTo>
                  <a:pt x="38" y="32"/>
                </a:lnTo>
                <a:lnTo>
                  <a:pt x="44" y="28"/>
                </a:lnTo>
                <a:lnTo>
                  <a:pt x="48" y="28"/>
                </a:lnTo>
                <a:lnTo>
                  <a:pt x="48" y="28"/>
                </a:lnTo>
                <a:lnTo>
                  <a:pt x="54" y="28"/>
                </a:lnTo>
                <a:lnTo>
                  <a:pt x="58" y="32"/>
                </a:lnTo>
                <a:lnTo>
                  <a:pt x="60" y="36"/>
                </a:lnTo>
                <a:lnTo>
                  <a:pt x="62" y="40"/>
                </a:lnTo>
                <a:lnTo>
                  <a:pt x="62" y="40"/>
                </a:lnTo>
                <a:lnTo>
                  <a:pt x="60" y="46"/>
                </a:lnTo>
                <a:lnTo>
                  <a:pt x="58" y="50"/>
                </a:lnTo>
                <a:lnTo>
                  <a:pt x="54" y="54"/>
                </a:lnTo>
                <a:lnTo>
                  <a:pt x="48" y="54"/>
                </a:lnTo>
                <a:lnTo>
                  <a:pt x="48" y="54"/>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3" name="Freeform 47">
            <a:extLst>
              <a:ext uri="{FF2B5EF4-FFF2-40B4-BE49-F238E27FC236}">
                <a16:creationId xmlns:a16="http://schemas.microsoft.com/office/drawing/2014/main" id="{4DE9F71B-301C-4720-A38F-ACE64B7D379D}"/>
              </a:ext>
            </a:extLst>
          </p:cNvPr>
          <p:cNvSpPr>
            <a:spLocks noEditPoints="1"/>
          </p:cNvSpPr>
          <p:nvPr/>
        </p:nvSpPr>
        <p:spPr bwMode="gray">
          <a:xfrm>
            <a:off x="8113976" y="5840181"/>
            <a:ext cx="244783" cy="68086"/>
          </a:xfrm>
          <a:custGeom>
            <a:avLst/>
            <a:gdLst/>
            <a:ahLst/>
            <a:cxnLst>
              <a:cxn ang="0">
                <a:pos x="286" y="16"/>
              </a:cxn>
              <a:cxn ang="0">
                <a:pos x="272" y="20"/>
              </a:cxn>
              <a:cxn ang="0">
                <a:pos x="268" y="32"/>
              </a:cxn>
              <a:cxn ang="0">
                <a:pos x="302" y="52"/>
              </a:cxn>
              <a:cxn ang="0">
                <a:pos x="302" y="32"/>
              </a:cxn>
              <a:cxn ang="0">
                <a:pos x="298" y="20"/>
              </a:cxn>
              <a:cxn ang="0">
                <a:pos x="286" y="16"/>
              </a:cxn>
              <a:cxn ang="0">
                <a:pos x="0" y="36"/>
              </a:cxn>
              <a:cxn ang="0">
                <a:pos x="0" y="48"/>
              </a:cxn>
              <a:cxn ang="0">
                <a:pos x="2" y="62"/>
              </a:cxn>
              <a:cxn ang="0">
                <a:pos x="10" y="74"/>
              </a:cxn>
              <a:cxn ang="0">
                <a:pos x="24" y="80"/>
              </a:cxn>
              <a:cxn ang="0">
                <a:pos x="38" y="84"/>
              </a:cxn>
              <a:cxn ang="0">
                <a:pos x="192" y="84"/>
              </a:cxn>
              <a:cxn ang="0">
                <a:pos x="200" y="66"/>
              </a:cxn>
              <a:cxn ang="0">
                <a:pos x="214" y="56"/>
              </a:cxn>
              <a:cxn ang="0">
                <a:pos x="214" y="32"/>
              </a:cxn>
              <a:cxn ang="0">
                <a:pos x="222" y="0"/>
              </a:cxn>
              <a:cxn ang="0">
                <a:pos x="38" y="0"/>
              </a:cxn>
              <a:cxn ang="0">
                <a:pos x="24" y="2"/>
              </a:cxn>
              <a:cxn ang="0">
                <a:pos x="10" y="10"/>
              </a:cxn>
              <a:cxn ang="0">
                <a:pos x="2" y="22"/>
              </a:cxn>
              <a:cxn ang="0">
                <a:pos x="0" y="36"/>
              </a:cxn>
              <a:cxn ang="0">
                <a:pos x="48" y="28"/>
              </a:cxn>
              <a:cxn ang="0">
                <a:pos x="54" y="30"/>
              </a:cxn>
              <a:cxn ang="0">
                <a:pos x="60" y="36"/>
              </a:cxn>
              <a:cxn ang="0">
                <a:pos x="62" y="42"/>
              </a:cxn>
              <a:cxn ang="0">
                <a:pos x="58" y="52"/>
              </a:cxn>
              <a:cxn ang="0">
                <a:pos x="48" y="56"/>
              </a:cxn>
              <a:cxn ang="0">
                <a:pos x="44" y="54"/>
              </a:cxn>
              <a:cxn ang="0">
                <a:pos x="36" y="48"/>
              </a:cxn>
              <a:cxn ang="0">
                <a:pos x="34" y="42"/>
              </a:cxn>
              <a:cxn ang="0">
                <a:pos x="38" y="32"/>
              </a:cxn>
              <a:cxn ang="0">
                <a:pos x="48" y="28"/>
              </a:cxn>
            </a:cxnLst>
            <a:rect l="0" t="0" r="r" b="b"/>
            <a:pathLst>
              <a:path w="302" h="84">
                <a:moveTo>
                  <a:pt x="286" y="16"/>
                </a:moveTo>
                <a:lnTo>
                  <a:pt x="286" y="16"/>
                </a:lnTo>
                <a:lnTo>
                  <a:pt x="278" y="16"/>
                </a:lnTo>
                <a:lnTo>
                  <a:pt x="272" y="20"/>
                </a:lnTo>
                <a:lnTo>
                  <a:pt x="270" y="26"/>
                </a:lnTo>
                <a:lnTo>
                  <a:pt x="268" y="32"/>
                </a:lnTo>
                <a:lnTo>
                  <a:pt x="268" y="52"/>
                </a:lnTo>
                <a:lnTo>
                  <a:pt x="302" y="52"/>
                </a:lnTo>
                <a:lnTo>
                  <a:pt x="302" y="32"/>
                </a:lnTo>
                <a:lnTo>
                  <a:pt x="302" y="32"/>
                </a:lnTo>
                <a:lnTo>
                  <a:pt x="302" y="26"/>
                </a:lnTo>
                <a:lnTo>
                  <a:pt x="298" y="20"/>
                </a:lnTo>
                <a:lnTo>
                  <a:pt x="292" y="16"/>
                </a:lnTo>
                <a:lnTo>
                  <a:pt x="286" y="16"/>
                </a:lnTo>
                <a:lnTo>
                  <a:pt x="286" y="16"/>
                </a:lnTo>
                <a:close/>
                <a:moveTo>
                  <a:pt x="0" y="36"/>
                </a:moveTo>
                <a:lnTo>
                  <a:pt x="0" y="48"/>
                </a:lnTo>
                <a:lnTo>
                  <a:pt x="0" y="48"/>
                </a:lnTo>
                <a:lnTo>
                  <a:pt x="0" y="56"/>
                </a:lnTo>
                <a:lnTo>
                  <a:pt x="2" y="62"/>
                </a:lnTo>
                <a:lnTo>
                  <a:pt x="6" y="68"/>
                </a:lnTo>
                <a:lnTo>
                  <a:pt x="10" y="74"/>
                </a:lnTo>
                <a:lnTo>
                  <a:pt x="16" y="78"/>
                </a:lnTo>
                <a:lnTo>
                  <a:pt x="24" y="80"/>
                </a:lnTo>
                <a:lnTo>
                  <a:pt x="30" y="82"/>
                </a:lnTo>
                <a:lnTo>
                  <a:pt x="38" y="84"/>
                </a:lnTo>
                <a:lnTo>
                  <a:pt x="192" y="84"/>
                </a:lnTo>
                <a:lnTo>
                  <a:pt x="192" y="84"/>
                </a:lnTo>
                <a:lnTo>
                  <a:pt x="194" y="74"/>
                </a:lnTo>
                <a:lnTo>
                  <a:pt x="200" y="66"/>
                </a:lnTo>
                <a:lnTo>
                  <a:pt x="206" y="60"/>
                </a:lnTo>
                <a:lnTo>
                  <a:pt x="214" y="56"/>
                </a:lnTo>
                <a:lnTo>
                  <a:pt x="214" y="32"/>
                </a:lnTo>
                <a:lnTo>
                  <a:pt x="214" y="32"/>
                </a:lnTo>
                <a:lnTo>
                  <a:pt x="216" y="16"/>
                </a:lnTo>
                <a:lnTo>
                  <a:pt x="222" y="0"/>
                </a:lnTo>
                <a:lnTo>
                  <a:pt x="38" y="0"/>
                </a:lnTo>
                <a:lnTo>
                  <a:pt x="38" y="0"/>
                </a:lnTo>
                <a:lnTo>
                  <a:pt x="30" y="0"/>
                </a:lnTo>
                <a:lnTo>
                  <a:pt x="24" y="2"/>
                </a:lnTo>
                <a:lnTo>
                  <a:pt x="16" y="6"/>
                </a:lnTo>
                <a:lnTo>
                  <a:pt x="10" y="10"/>
                </a:lnTo>
                <a:lnTo>
                  <a:pt x="6" y="16"/>
                </a:lnTo>
                <a:lnTo>
                  <a:pt x="2" y="22"/>
                </a:lnTo>
                <a:lnTo>
                  <a:pt x="0" y="28"/>
                </a:lnTo>
                <a:lnTo>
                  <a:pt x="0" y="36"/>
                </a:lnTo>
                <a:lnTo>
                  <a:pt x="0" y="36"/>
                </a:lnTo>
                <a:close/>
                <a:moveTo>
                  <a:pt x="48" y="28"/>
                </a:moveTo>
                <a:lnTo>
                  <a:pt x="48" y="28"/>
                </a:lnTo>
                <a:lnTo>
                  <a:pt x="54" y="30"/>
                </a:lnTo>
                <a:lnTo>
                  <a:pt x="58" y="32"/>
                </a:lnTo>
                <a:lnTo>
                  <a:pt x="60" y="36"/>
                </a:lnTo>
                <a:lnTo>
                  <a:pt x="62" y="42"/>
                </a:lnTo>
                <a:lnTo>
                  <a:pt x="62" y="42"/>
                </a:lnTo>
                <a:lnTo>
                  <a:pt x="60" y="48"/>
                </a:lnTo>
                <a:lnTo>
                  <a:pt x="58" y="52"/>
                </a:lnTo>
                <a:lnTo>
                  <a:pt x="54" y="54"/>
                </a:lnTo>
                <a:lnTo>
                  <a:pt x="48" y="56"/>
                </a:lnTo>
                <a:lnTo>
                  <a:pt x="48" y="56"/>
                </a:lnTo>
                <a:lnTo>
                  <a:pt x="44" y="54"/>
                </a:lnTo>
                <a:lnTo>
                  <a:pt x="38" y="52"/>
                </a:lnTo>
                <a:lnTo>
                  <a:pt x="36" y="48"/>
                </a:lnTo>
                <a:lnTo>
                  <a:pt x="34" y="42"/>
                </a:lnTo>
                <a:lnTo>
                  <a:pt x="34" y="42"/>
                </a:lnTo>
                <a:lnTo>
                  <a:pt x="36" y="36"/>
                </a:lnTo>
                <a:lnTo>
                  <a:pt x="38" y="32"/>
                </a:lnTo>
                <a:lnTo>
                  <a:pt x="44" y="30"/>
                </a:lnTo>
                <a:lnTo>
                  <a:pt x="48" y="28"/>
                </a:lnTo>
                <a:lnTo>
                  <a:pt x="48" y="2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4" name="Freeform 48">
            <a:extLst>
              <a:ext uri="{FF2B5EF4-FFF2-40B4-BE49-F238E27FC236}">
                <a16:creationId xmlns:a16="http://schemas.microsoft.com/office/drawing/2014/main" id="{15D3FCCD-BCE6-400F-AD68-E9DAC6C90AAA}"/>
              </a:ext>
            </a:extLst>
          </p:cNvPr>
          <p:cNvSpPr>
            <a:spLocks noEditPoints="1"/>
          </p:cNvSpPr>
          <p:nvPr/>
        </p:nvSpPr>
        <p:spPr bwMode="gray">
          <a:xfrm>
            <a:off x="8113976" y="5755885"/>
            <a:ext cx="259373" cy="68086"/>
          </a:xfrm>
          <a:custGeom>
            <a:avLst/>
            <a:gdLst/>
            <a:ahLst/>
            <a:cxnLst>
              <a:cxn ang="0">
                <a:pos x="286" y="62"/>
              </a:cxn>
              <a:cxn ang="0">
                <a:pos x="314" y="68"/>
              </a:cxn>
              <a:cxn ang="0">
                <a:pos x="318" y="60"/>
              </a:cxn>
              <a:cxn ang="0">
                <a:pos x="320" y="36"/>
              </a:cxn>
              <a:cxn ang="0">
                <a:pos x="320" y="28"/>
              </a:cxn>
              <a:cxn ang="0">
                <a:pos x="314" y="16"/>
              </a:cxn>
              <a:cxn ang="0">
                <a:pos x="304" y="6"/>
              </a:cxn>
              <a:cxn ang="0">
                <a:pos x="290" y="2"/>
              </a:cxn>
              <a:cxn ang="0">
                <a:pos x="38" y="0"/>
              </a:cxn>
              <a:cxn ang="0">
                <a:pos x="30" y="2"/>
              </a:cxn>
              <a:cxn ang="0">
                <a:pos x="16" y="6"/>
              </a:cxn>
              <a:cxn ang="0">
                <a:pos x="6" y="16"/>
              </a:cxn>
              <a:cxn ang="0">
                <a:pos x="0" y="28"/>
              </a:cxn>
              <a:cxn ang="0">
                <a:pos x="0" y="48"/>
              </a:cxn>
              <a:cxn ang="0">
                <a:pos x="0" y="56"/>
              </a:cxn>
              <a:cxn ang="0">
                <a:pos x="6" y="68"/>
              </a:cxn>
              <a:cxn ang="0">
                <a:pos x="16" y="78"/>
              </a:cxn>
              <a:cxn ang="0">
                <a:pos x="30" y="84"/>
              </a:cxn>
              <a:cxn ang="0">
                <a:pos x="234" y="84"/>
              </a:cxn>
              <a:cxn ang="0">
                <a:pos x="244" y="74"/>
              </a:cxn>
              <a:cxn ang="0">
                <a:pos x="270" y="64"/>
              </a:cxn>
              <a:cxn ang="0">
                <a:pos x="286" y="62"/>
              </a:cxn>
              <a:cxn ang="0">
                <a:pos x="48" y="56"/>
              </a:cxn>
              <a:cxn ang="0">
                <a:pos x="38" y="52"/>
              </a:cxn>
              <a:cxn ang="0">
                <a:pos x="34" y="42"/>
              </a:cxn>
              <a:cxn ang="0">
                <a:pos x="36" y="36"/>
              </a:cxn>
              <a:cxn ang="0">
                <a:pos x="44" y="30"/>
              </a:cxn>
              <a:cxn ang="0">
                <a:pos x="48" y="28"/>
              </a:cxn>
              <a:cxn ang="0">
                <a:pos x="58" y="32"/>
              </a:cxn>
              <a:cxn ang="0">
                <a:pos x="62" y="42"/>
              </a:cxn>
              <a:cxn ang="0">
                <a:pos x="60" y="48"/>
              </a:cxn>
              <a:cxn ang="0">
                <a:pos x="54" y="54"/>
              </a:cxn>
              <a:cxn ang="0">
                <a:pos x="48" y="56"/>
              </a:cxn>
            </a:cxnLst>
            <a:rect l="0" t="0" r="r" b="b"/>
            <a:pathLst>
              <a:path w="320" h="84">
                <a:moveTo>
                  <a:pt x="286" y="62"/>
                </a:moveTo>
                <a:lnTo>
                  <a:pt x="286" y="62"/>
                </a:lnTo>
                <a:lnTo>
                  <a:pt x="300" y="64"/>
                </a:lnTo>
                <a:lnTo>
                  <a:pt x="314" y="68"/>
                </a:lnTo>
                <a:lnTo>
                  <a:pt x="314" y="68"/>
                </a:lnTo>
                <a:lnTo>
                  <a:pt x="318" y="60"/>
                </a:lnTo>
                <a:lnTo>
                  <a:pt x="320" y="48"/>
                </a:lnTo>
                <a:lnTo>
                  <a:pt x="320" y="36"/>
                </a:lnTo>
                <a:lnTo>
                  <a:pt x="320" y="36"/>
                </a:lnTo>
                <a:lnTo>
                  <a:pt x="320" y="28"/>
                </a:lnTo>
                <a:lnTo>
                  <a:pt x="318" y="22"/>
                </a:lnTo>
                <a:lnTo>
                  <a:pt x="314" y="16"/>
                </a:lnTo>
                <a:lnTo>
                  <a:pt x="308" y="10"/>
                </a:lnTo>
                <a:lnTo>
                  <a:pt x="304" y="6"/>
                </a:lnTo>
                <a:lnTo>
                  <a:pt x="296" y="4"/>
                </a:lnTo>
                <a:lnTo>
                  <a:pt x="290" y="2"/>
                </a:lnTo>
                <a:lnTo>
                  <a:pt x="282" y="0"/>
                </a:lnTo>
                <a:lnTo>
                  <a:pt x="38" y="0"/>
                </a:lnTo>
                <a:lnTo>
                  <a:pt x="38" y="0"/>
                </a:lnTo>
                <a:lnTo>
                  <a:pt x="30" y="2"/>
                </a:lnTo>
                <a:lnTo>
                  <a:pt x="24" y="4"/>
                </a:lnTo>
                <a:lnTo>
                  <a:pt x="16" y="6"/>
                </a:lnTo>
                <a:lnTo>
                  <a:pt x="10" y="10"/>
                </a:lnTo>
                <a:lnTo>
                  <a:pt x="6" y="16"/>
                </a:lnTo>
                <a:lnTo>
                  <a:pt x="2" y="22"/>
                </a:lnTo>
                <a:lnTo>
                  <a:pt x="0" y="28"/>
                </a:lnTo>
                <a:lnTo>
                  <a:pt x="0" y="36"/>
                </a:lnTo>
                <a:lnTo>
                  <a:pt x="0" y="48"/>
                </a:lnTo>
                <a:lnTo>
                  <a:pt x="0" y="48"/>
                </a:lnTo>
                <a:lnTo>
                  <a:pt x="0" y="56"/>
                </a:lnTo>
                <a:lnTo>
                  <a:pt x="2" y="62"/>
                </a:lnTo>
                <a:lnTo>
                  <a:pt x="6" y="68"/>
                </a:lnTo>
                <a:lnTo>
                  <a:pt x="10" y="74"/>
                </a:lnTo>
                <a:lnTo>
                  <a:pt x="16" y="78"/>
                </a:lnTo>
                <a:lnTo>
                  <a:pt x="24" y="82"/>
                </a:lnTo>
                <a:lnTo>
                  <a:pt x="30" y="84"/>
                </a:lnTo>
                <a:lnTo>
                  <a:pt x="38" y="84"/>
                </a:lnTo>
                <a:lnTo>
                  <a:pt x="234" y="84"/>
                </a:lnTo>
                <a:lnTo>
                  <a:pt x="234" y="84"/>
                </a:lnTo>
                <a:lnTo>
                  <a:pt x="244" y="74"/>
                </a:lnTo>
                <a:lnTo>
                  <a:pt x="256" y="68"/>
                </a:lnTo>
                <a:lnTo>
                  <a:pt x="270" y="64"/>
                </a:lnTo>
                <a:lnTo>
                  <a:pt x="286" y="62"/>
                </a:lnTo>
                <a:lnTo>
                  <a:pt x="286" y="62"/>
                </a:lnTo>
                <a:close/>
                <a:moveTo>
                  <a:pt x="48" y="56"/>
                </a:moveTo>
                <a:lnTo>
                  <a:pt x="48" y="56"/>
                </a:lnTo>
                <a:lnTo>
                  <a:pt x="44" y="54"/>
                </a:lnTo>
                <a:lnTo>
                  <a:pt x="38" y="52"/>
                </a:lnTo>
                <a:lnTo>
                  <a:pt x="36" y="48"/>
                </a:lnTo>
                <a:lnTo>
                  <a:pt x="34" y="42"/>
                </a:lnTo>
                <a:lnTo>
                  <a:pt x="34" y="42"/>
                </a:lnTo>
                <a:lnTo>
                  <a:pt x="36" y="36"/>
                </a:lnTo>
                <a:lnTo>
                  <a:pt x="38" y="32"/>
                </a:lnTo>
                <a:lnTo>
                  <a:pt x="44" y="30"/>
                </a:lnTo>
                <a:lnTo>
                  <a:pt x="48" y="28"/>
                </a:lnTo>
                <a:lnTo>
                  <a:pt x="48" y="28"/>
                </a:lnTo>
                <a:lnTo>
                  <a:pt x="54" y="30"/>
                </a:lnTo>
                <a:lnTo>
                  <a:pt x="58" y="32"/>
                </a:lnTo>
                <a:lnTo>
                  <a:pt x="60" y="36"/>
                </a:lnTo>
                <a:lnTo>
                  <a:pt x="62" y="42"/>
                </a:lnTo>
                <a:lnTo>
                  <a:pt x="62" y="42"/>
                </a:lnTo>
                <a:lnTo>
                  <a:pt x="60" y="48"/>
                </a:lnTo>
                <a:lnTo>
                  <a:pt x="58" y="52"/>
                </a:lnTo>
                <a:lnTo>
                  <a:pt x="54" y="54"/>
                </a:lnTo>
                <a:lnTo>
                  <a:pt x="48" y="56"/>
                </a:lnTo>
                <a:lnTo>
                  <a:pt x="48" y="56"/>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5" name="Freeform 49">
            <a:extLst>
              <a:ext uri="{FF2B5EF4-FFF2-40B4-BE49-F238E27FC236}">
                <a16:creationId xmlns:a16="http://schemas.microsoft.com/office/drawing/2014/main" id="{D16C9589-75B6-4CBA-B24E-763A3B6C88CF}"/>
              </a:ext>
            </a:extLst>
          </p:cNvPr>
          <p:cNvSpPr>
            <a:spLocks noEditPoints="1"/>
          </p:cNvSpPr>
          <p:nvPr/>
        </p:nvSpPr>
        <p:spPr bwMode="gray">
          <a:xfrm>
            <a:off x="8280947" y="5893677"/>
            <a:ext cx="129687" cy="94023"/>
          </a:xfrm>
          <a:custGeom>
            <a:avLst/>
            <a:gdLst/>
            <a:ahLst/>
            <a:cxnLst>
              <a:cxn ang="0">
                <a:pos x="22" y="0"/>
              </a:cxn>
              <a:cxn ang="0">
                <a:pos x="14" y="2"/>
              </a:cxn>
              <a:cxn ang="0">
                <a:pos x="2" y="14"/>
              </a:cxn>
              <a:cxn ang="0">
                <a:pos x="0" y="94"/>
              </a:cxn>
              <a:cxn ang="0">
                <a:pos x="2" y="102"/>
              </a:cxn>
              <a:cxn ang="0">
                <a:pos x="14" y="114"/>
              </a:cxn>
              <a:cxn ang="0">
                <a:pos x="136" y="116"/>
              </a:cxn>
              <a:cxn ang="0">
                <a:pos x="146" y="114"/>
              </a:cxn>
              <a:cxn ang="0">
                <a:pos x="158" y="102"/>
              </a:cxn>
              <a:cxn ang="0">
                <a:pos x="160" y="22"/>
              </a:cxn>
              <a:cxn ang="0">
                <a:pos x="158" y="14"/>
              </a:cxn>
              <a:cxn ang="0">
                <a:pos x="146" y="2"/>
              </a:cxn>
              <a:cxn ang="0">
                <a:pos x="136" y="0"/>
              </a:cxn>
              <a:cxn ang="0">
                <a:pos x="28" y="26"/>
              </a:cxn>
              <a:cxn ang="0">
                <a:pos x="26" y="92"/>
              </a:cxn>
              <a:cxn ang="0">
                <a:pos x="24" y="96"/>
              </a:cxn>
              <a:cxn ang="0">
                <a:pos x="20" y="96"/>
              </a:cxn>
              <a:cxn ang="0">
                <a:pos x="14" y="92"/>
              </a:cxn>
              <a:cxn ang="0">
                <a:pos x="14" y="28"/>
              </a:cxn>
              <a:cxn ang="0">
                <a:pos x="18" y="18"/>
              </a:cxn>
              <a:cxn ang="0">
                <a:pos x="28" y="16"/>
              </a:cxn>
              <a:cxn ang="0">
                <a:pos x="30" y="16"/>
              </a:cxn>
              <a:cxn ang="0">
                <a:pos x="32" y="20"/>
              </a:cxn>
              <a:cxn ang="0">
                <a:pos x="28" y="26"/>
              </a:cxn>
              <a:cxn ang="0">
                <a:pos x="88" y="58"/>
              </a:cxn>
              <a:cxn ang="0">
                <a:pos x="88" y="78"/>
              </a:cxn>
              <a:cxn ang="0">
                <a:pos x="86" y="84"/>
              </a:cxn>
              <a:cxn ang="0">
                <a:pos x="80" y="88"/>
              </a:cxn>
              <a:cxn ang="0">
                <a:pos x="76" y="86"/>
              </a:cxn>
              <a:cxn ang="0">
                <a:pos x="70" y="82"/>
              </a:cxn>
              <a:cxn ang="0">
                <a:pos x="70" y="58"/>
              </a:cxn>
              <a:cxn ang="0">
                <a:pos x="66" y="54"/>
              </a:cxn>
              <a:cxn ang="0">
                <a:pos x="64" y="46"/>
              </a:cxn>
              <a:cxn ang="0">
                <a:pos x="68" y="34"/>
              </a:cxn>
              <a:cxn ang="0">
                <a:pos x="80" y="30"/>
              </a:cxn>
              <a:cxn ang="0">
                <a:pos x="86" y="32"/>
              </a:cxn>
              <a:cxn ang="0">
                <a:pos x="94" y="40"/>
              </a:cxn>
              <a:cxn ang="0">
                <a:pos x="96" y="46"/>
              </a:cxn>
              <a:cxn ang="0">
                <a:pos x="88" y="58"/>
              </a:cxn>
            </a:cxnLst>
            <a:rect l="0" t="0" r="r" b="b"/>
            <a:pathLst>
              <a:path w="160" h="116">
                <a:moveTo>
                  <a:pt x="136" y="0"/>
                </a:moveTo>
                <a:lnTo>
                  <a:pt x="22" y="0"/>
                </a:lnTo>
                <a:lnTo>
                  <a:pt x="22" y="0"/>
                </a:lnTo>
                <a:lnTo>
                  <a:pt x="14" y="2"/>
                </a:lnTo>
                <a:lnTo>
                  <a:pt x="6" y="8"/>
                </a:lnTo>
                <a:lnTo>
                  <a:pt x="2" y="14"/>
                </a:lnTo>
                <a:lnTo>
                  <a:pt x="0" y="22"/>
                </a:lnTo>
                <a:lnTo>
                  <a:pt x="0" y="94"/>
                </a:lnTo>
                <a:lnTo>
                  <a:pt x="0" y="94"/>
                </a:lnTo>
                <a:lnTo>
                  <a:pt x="2" y="102"/>
                </a:lnTo>
                <a:lnTo>
                  <a:pt x="6" y="110"/>
                </a:lnTo>
                <a:lnTo>
                  <a:pt x="14" y="114"/>
                </a:lnTo>
                <a:lnTo>
                  <a:pt x="22" y="116"/>
                </a:lnTo>
                <a:lnTo>
                  <a:pt x="136" y="116"/>
                </a:lnTo>
                <a:lnTo>
                  <a:pt x="136" y="116"/>
                </a:lnTo>
                <a:lnTo>
                  <a:pt x="146" y="114"/>
                </a:lnTo>
                <a:lnTo>
                  <a:pt x="152" y="110"/>
                </a:lnTo>
                <a:lnTo>
                  <a:pt x="158" y="102"/>
                </a:lnTo>
                <a:lnTo>
                  <a:pt x="160" y="94"/>
                </a:lnTo>
                <a:lnTo>
                  <a:pt x="160" y="22"/>
                </a:lnTo>
                <a:lnTo>
                  <a:pt x="160" y="22"/>
                </a:lnTo>
                <a:lnTo>
                  <a:pt x="158" y="14"/>
                </a:lnTo>
                <a:lnTo>
                  <a:pt x="152" y="8"/>
                </a:lnTo>
                <a:lnTo>
                  <a:pt x="146" y="2"/>
                </a:lnTo>
                <a:lnTo>
                  <a:pt x="136" y="0"/>
                </a:lnTo>
                <a:lnTo>
                  <a:pt x="136" y="0"/>
                </a:lnTo>
                <a:close/>
                <a:moveTo>
                  <a:pt x="28" y="26"/>
                </a:moveTo>
                <a:lnTo>
                  <a:pt x="28" y="26"/>
                </a:lnTo>
                <a:lnTo>
                  <a:pt x="26" y="28"/>
                </a:lnTo>
                <a:lnTo>
                  <a:pt x="26" y="92"/>
                </a:lnTo>
                <a:lnTo>
                  <a:pt x="26" y="92"/>
                </a:lnTo>
                <a:lnTo>
                  <a:pt x="24" y="96"/>
                </a:lnTo>
                <a:lnTo>
                  <a:pt x="20" y="96"/>
                </a:lnTo>
                <a:lnTo>
                  <a:pt x="20" y="96"/>
                </a:lnTo>
                <a:lnTo>
                  <a:pt x="16" y="96"/>
                </a:lnTo>
                <a:lnTo>
                  <a:pt x="14" y="92"/>
                </a:lnTo>
                <a:lnTo>
                  <a:pt x="14" y="28"/>
                </a:lnTo>
                <a:lnTo>
                  <a:pt x="14" y="28"/>
                </a:lnTo>
                <a:lnTo>
                  <a:pt x="16" y="22"/>
                </a:lnTo>
                <a:lnTo>
                  <a:pt x="18" y="18"/>
                </a:lnTo>
                <a:lnTo>
                  <a:pt x="22" y="16"/>
                </a:lnTo>
                <a:lnTo>
                  <a:pt x="28" y="16"/>
                </a:lnTo>
                <a:lnTo>
                  <a:pt x="28" y="16"/>
                </a:lnTo>
                <a:lnTo>
                  <a:pt x="30" y="16"/>
                </a:lnTo>
                <a:lnTo>
                  <a:pt x="32" y="20"/>
                </a:lnTo>
                <a:lnTo>
                  <a:pt x="32" y="20"/>
                </a:lnTo>
                <a:lnTo>
                  <a:pt x="30" y="24"/>
                </a:lnTo>
                <a:lnTo>
                  <a:pt x="28" y="26"/>
                </a:lnTo>
                <a:lnTo>
                  <a:pt x="28" y="26"/>
                </a:lnTo>
                <a:close/>
                <a:moveTo>
                  <a:pt x="88" y="58"/>
                </a:moveTo>
                <a:lnTo>
                  <a:pt x="88" y="78"/>
                </a:lnTo>
                <a:lnTo>
                  <a:pt x="88" y="78"/>
                </a:lnTo>
                <a:lnTo>
                  <a:pt x="88" y="82"/>
                </a:lnTo>
                <a:lnTo>
                  <a:pt x="86" y="84"/>
                </a:lnTo>
                <a:lnTo>
                  <a:pt x="84" y="86"/>
                </a:lnTo>
                <a:lnTo>
                  <a:pt x="80" y="88"/>
                </a:lnTo>
                <a:lnTo>
                  <a:pt x="80" y="88"/>
                </a:lnTo>
                <a:lnTo>
                  <a:pt x="76" y="86"/>
                </a:lnTo>
                <a:lnTo>
                  <a:pt x="72" y="84"/>
                </a:lnTo>
                <a:lnTo>
                  <a:pt x="70" y="82"/>
                </a:lnTo>
                <a:lnTo>
                  <a:pt x="70" y="78"/>
                </a:lnTo>
                <a:lnTo>
                  <a:pt x="70" y="58"/>
                </a:lnTo>
                <a:lnTo>
                  <a:pt x="70" y="58"/>
                </a:lnTo>
                <a:lnTo>
                  <a:pt x="66" y="54"/>
                </a:lnTo>
                <a:lnTo>
                  <a:pt x="64" y="46"/>
                </a:lnTo>
                <a:lnTo>
                  <a:pt x="64" y="46"/>
                </a:lnTo>
                <a:lnTo>
                  <a:pt x="64" y="40"/>
                </a:lnTo>
                <a:lnTo>
                  <a:pt x="68" y="34"/>
                </a:lnTo>
                <a:lnTo>
                  <a:pt x="74" y="32"/>
                </a:lnTo>
                <a:lnTo>
                  <a:pt x="80" y="30"/>
                </a:lnTo>
                <a:lnTo>
                  <a:pt x="80" y="30"/>
                </a:lnTo>
                <a:lnTo>
                  <a:pt x="86" y="32"/>
                </a:lnTo>
                <a:lnTo>
                  <a:pt x="90" y="34"/>
                </a:lnTo>
                <a:lnTo>
                  <a:pt x="94" y="40"/>
                </a:lnTo>
                <a:lnTo>
                  <a:pt x="96" y="46"/>
                </a:lnTo>
                <a:lnTo>
                  <a:pt x="96" y="46"/>
                </a:lnTo>
                <a:lnTo>
                  <a:pt x="94" y="54"/>
                </a:lnTo>
                <a:lnTo>
                  <a:pt x="88" y="58"/>
                </a:lnTo>
                <a:lnTo>
                  <a:pt x="88" y="5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6" name="Freeform 50">
            <a:extLst>
              <a:ext uri="{FF2B5EF4-FFF2-40B4-BE49-F238E27FC236}">
                <a16:creationId xmlns:a16="http://schemas.microsoft.com/office/drawing/2014/main" id="{CAD71B52-DF50-48C7-97BC-3F5E54F4C827}"/>
              </a:ext>
            </a:extLst>
          </p:cNvPr>
          <p:cNvSpPr>
            <a:spLocks/>
          </p:cNvSpPr>
          <p:nvPr/>
        </p:nvSpPr>
        <p:spPr bwMode="gray">
          <a:xfrm>
            <a:off x="8298779" y="5820728"/>
            <a:ext cx="92402" cy="66464"/>
          </a:xfrm>
          <a:custGeom>
            <a:avLst/>
            <a:gdLst/>
            <a:ahLst/>
            <a:cxnLst>
              <a:cxn ang="0">
                <a:pos x="26" y="56"/>
              </a:cxn>
              <a:cxn ang="0">
                <a:pos x="26" y="56"/>
              </a:cxn>
              <a:cxn ang="0">
                <a:pos x="26" y="50"/>
              </a:cxn>
              <a:cxn ang="0">
                <a:pos x="28" y="44"/>
              </a:cxn>
              <a:cxn ang="0">
                <a:pos x="36" y="34"/>
              </a:cxn>
              <a:cxn ang="0">
                <a:pos x="46" y="28"/>
              </a:cxn>
              <a:cxn ang="0">
                <a:pos x="52" y="26"/>
              </a:cxn>
              <a:cxn ang="0">
                <a:pos x="58" y="26"/>
              </a:cxn>
              <a:cxn ang="0">
                <a:pos x="58" y="26"/>
              </a:cxn>
              <a:cxn ang="0">
                <a:pos x="64" y="26"/>
              </a:cxn>
              <a:cxn ang="0">
                <a:pos x="70" y="28"/>
              </a:cxn>
              <a:cxn ang="0">
                <a:pos x="80" y="34"/>
              </a:cxn>
              <a:cxn ang="0">
                <a:pos x="86" y="44"/>
              </a:cxn>
              <a:cxn ang="0">
                <a:pos x="88" y="50"/>
              </a:cxn>
              <a:cxn ang="0">
                <a:pos x="88" y="56"/>
              </a:cxn>
              <a:cxn ang="0">
                <a:pos x="88" y="82"/>
              </a:cxn>
              <a:cxn ang="0">
                <a:pos x="114" y="82"/>
              </a:cxn>
              <a:cxn ang="0">
                <a:pos x="114" y="56"/>
              </a:cxn>
              <a:cxn ang="0">
                <a:pos x="114" y="56"/>
              </a:cxn>
              <a:cxn ang="0">
                <a:pos x="112" y="46"/>
              </a:cxn>
              <a:cxn ang="0">
                <a:pos x="110" y="34"/>
              </a:cxn>
              <a:cxn ang="0">
                <a:pos x="104" y="26"/>
              </a:cxn>
              <a:cxn ang="0">
                <a:pos x="98" y="16"/>
              </a:cxn>
              <a:cxn ang="0">
                <a:pos x="90" y="10"/>
              </a:cxn>
              <a:cxn ang="0">
                <a:pos x="80" y="4"/>
              </a:cxn>
              <a:cxn ang="0">
                <a:pos x="68" y="2"/>
              </a:cxn>
              <a:cxn ang="0">
                <a:pos x="58" y="0"/>
              </a:cxn>
              <a:cxn ang="0">
                <a:pos x="58" y="0"/>
              </a:cxn>
              <a:cxn ang="0">
                <a:pos x="46" y="2"/>
              </a:cxn>
              <a:cxn ang="0">
                <a:pos x="36" y="4"/>
              </a:cxn>
              <a:cxn ang="0">
                <a:pos x="26" y="10"/>
              </a:cxn>
              <a:cxn ang="0">
                <a:pos x="18" y="16"/>
              </a:cxn>
              <a:cxn ang="0">
                <a:pos x="10" y="26"/>
              </a:cxn>
              <a:cxn ang="0">
                <a:pos x="6" y="34"/>
              </a:cxn>
              <a:cxn ang="0">
                <a:pos x="2" y="46"/>
              </a:cxn>
              <a:cxn ang="0">
                <a:pos x="0" y="56"/>
              </a:cxn>
              <a:cxn ang="0">
                <a:pos x="0" y="82"/>
              </a:cxn>
              <a:cxn ang="0">
                <a:pos x="26" y="82"/>
              </a:cxn>
              <a:cxn ang="0">
                <a:pos x="26" y="56"/>
              </a:cxn>
            </a:cxnLst>
            <a:rect l="0" t="0" r="r" b="b"/>
            <a:pathLst>
              <a:path w="114" h="82">
                <a:moveTo>
                  <a:pt x="26" y="56"/>
                </a:moveTo>
                <a:lnTo>
                  <a:pt x="26" y="56"/>
                </a:lnTo>
                <a:lnTo>
                  <a:pt x="26" y="50"/>
                </a:lnTo>
                <a:lnTo>
                  <a:pt x="28" y="44"/>
                </a:lnTo>
                <a:lnTo>
                  <a:pt x="36" y="34"/>
                </a:lnTo>
                <a:lnTo>
                  <a:pt x="46" y="28"/>
                </a:lnTo>
                <a:lnTo>
                  <a:pt x="52" y="26"/>
                </a:lnTo>
                <a:lnTo>
                  <a:pt x="58" y="26"/>
                </a:lnTo>
                <a:lnTo>
                  <a:pt x="58" y="26"/>
                </a:lnTo>
                <a:lnTo>
                  <a:pt x="64" y="26"/>
                </a:lnTo>
                <a:lnTo>
                  <a:pt x="70" y="28"/>
                </a:lnTo>
                <a:lnTo>
                  <a:pt x="80" y="34"/>
                </a:lnTo>
                <a:lnTo>
                  <a:pt x="86" y="44"/>
                </a:lnTo>
                <a:lnTo>
                  <a:pt x="88" y="50"/>
                </a:lnTo>
                <a:lnTo>
                  <a:pt x="88" y="56"/>
                </a:lnTo>
                <a:lnTo>
                  <a:pt x="88" y="82"/>
                </a:lnTo>
                <a:lnTo>
                  <a:pt x="114" y="82"/>
                </a:lnTo>
                <a:lnTo>
                  <a:pt x="114" y="56"/>
                </a:lnTo>
                <a:lnTo>
                  <a:pt x="114" y="56"/>
                </a:lnTo>
                <a:lnTo>
                  <a:pt x="112" y="46"/>
                </a:lnTo>
                <a:lnTo>
                  <a:pt x="110" y="34"/>
                </a:lnTo>
                <a:lnTo>
                  <a:pt x="104" y="26"/>
                </a:lnTo>
                <a:lnTo>
                  <a:pt x="98" y="16"/>
                </a:lnTo>
                <a:lnTo>
                  <a:pt x="90" y="10"/>
                </a:lnTo>
                <a:lnTo>
                  <a:pt x="80" y="4"/>
                </a:lnTo>
                <a:lnTo>
                  <a:pt x="68" y="2"/>
                </a:lnTo>
                <a:lnTo>
                  <a:pt x="58" y="0"/>
                </a:lnTo>
                <a:lnTo>
                  <a:pt x="58" y="0"/>
                </a:lnTo>
                <a:lnTo>
                  <a:pt x="46" y="2"/>
                </a:lnTo>
                <a:lnTo>
                  <a:pt x="36" y="4"/>
                </a:lnTo>
                <a:lnTo>
                  <a:pt x="26" y="10"/>
                </a:lnTo>
                <a:lnTo>
                  <a:pt x="18" y="16"/>
                </a:lnTo>
                <a:lnTo>
                  <a:pt x="10" y="26"/>
                </a:lnTo>
                <a:lnTo>
                  <a:pt x="6" y="34"/>
                </a:lnTo>
                <a:lnTo>
                  <a:pt x="2" y="46"/>
                </a:lnTo>
                <a:lnTo>
                  <a:pt x="0" y="56"/>
                </a:lnTo>
                <a:lnTo>
                  <a:pt x="0" y="82"/>
                </a:lnTo>
                <a:lnTo>
                  <a:pt x="26" y="82"/>
                </a:lnTo>
                <a:lnTo>
                  <a:pt x="26" y="56"/>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7" name="矩形 46">
            <a:extLst>
              <a:ext uri="{FF2B5EF4-FFF2-40B4-BE49-F238E27FC236}">
                <a16:creationId xmlns:a16="http://schemas.microsoft.com/office/drawing/2014/main" id="{01A626E7-39D9-4573-AFC6-2D15F8182846}"/>
              </a:ext>
            </a:extLst>
          </p:cNvPr>
          <p:cNvSpPr/>
          <p:nvPr/>
        </p:nvSpPr>
        <p:spPr bwMode="gray">
          <a:xfrm>
            <a:off x="8370404" y="5642919"/>
            <a:ext cx="1034248" cy="523220"/>
          </a:xfrm>
          <a:prstGeom prst="rect">
            <a:avLst/>
          </a:prstGeom>
        </p:spPr>
        <p:txBody>
          <a:bodyPr wrap="square">
            <a:spAutoFit/>
          </a:bodyPr>
          <a:lstStyle/>
          <a:p>
            <a:pPr lvl="0" algn="ctr" defTabSz="457200" fontAlgn="base">
              <a:spcBef>
                <a:spcPct val="0"/>
              </a:spcBef>
              <a:spcAft>
                <a:spcPct val="0"/>
              </a:spcAft>
              <a:defRPr/>
            </a:pPr>
            <a:r>
              <a:rPr lang="en-US" altLang="zh-CN" sz="1400" kern="0" dirty="0">
                <a:solidFill>
                  <a:srgbClr val="FFFFFF"/>
                </a:solidFill>
                <a:ea typeface="微软雅黑" panose="020B0503020204020204" pitchFamily="34" charset="-122"/>
              </a:rPr>
              <a:t>Security Gateway</a:t>
            </a:r>
          </a:p>
        </p:txBody>
      </p:sp>
      <p:sp>
        <p:nvSpPr>
          <p:cNvPr id="49" name="立方体 48">
            <a:extLst>
              <a:ext uri="{FF2B5EF4-FFF2-40B4-BE49-F238E27FC236}">
                <a16:creationId xmlns:a16="http://schemas.microsoft.com/office/drawing/2014/main" id="{0C6A125E-AC16-497B-A462-B52F13923A4F}"/>
              </a:ext>
            </a:extLst>
          </p:cNvPr>
          <p:cNvSpPr/>
          <p:nvPr/>
        </p:nvSpPr>
        <p:spPr bwMode="gray">
          <a:xfrm>
            <a:off x="10004811" y="5829592"/>
            <a:ext cx="435080" cy="188370"/>
          </a:xfrm>
          <a:prstGeom prst="cube">
            <a:avLst>
              <a:gd name="adj" fmla="val 49850"/>
            </a:avLst>
          </a:prstGeom>
          <a:solidFill>
            <a:schemeClr val="bg1">
              <a:alpha val="4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0" name="立方体 49">
            <a:extLst>
              <a:ext uri="{FF2B5EF4-FFF2-40B4-BE49-F238E27FC236}">
                <a16:creationId xmlns:a16="http://schemas.microsoft.com/office/drawing/2014/main" id="{8ED09BF5-7C5C-47E0-802F-8F9C16E2660C}"/>
              </a:ext>
            </a:extLst>
          </p:cNvPr>
          <p:cNvSpPr/>
          <p:nvPr/>
        </p:nvSpPr>
        <p:spPr bwMode="gray">
          <a:xfrm>
            <a:off x="10004811" y="5735407"/>
            <a:ext cx="435080" cy="188370"/>
          </a:xfrm>
          <a:prstGeom prst="cube">
            <a:avLst>
              <a:gd name="adj" fmla="val 49850"/>
            </a:avLst>
          </a:prstGeom>
          <a:solidFill>
            <a:schemeClr val="bg1">
              <a:alpha val="4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1" name="矩形 50">
            <a:extLst>
              <a:ext uri="{FF2B5EF4-FFF2-40B4-BE49-F238E27FC236}">
                <a16:creationId xmlns:a16="http://schemas.microsoft.com/office/drawing/2014/main" id="{67C32A8E-4282-4B8B-8764-F80CBB4E9967}"/>
              </a:ext>
            </a:extLst>
          </p:cNvPr>
          <p:cNvSpPr/>
          <p:nvPr/>
        </p:nvSpPr>
        <p:spPr bwMode="gray">
          <a:xfrm>
            <a:off x="10453563" y="5768651"/>
            <a:ext cx="615688" cy="307777"/>
          </a:xfrm>
          <a:prstGeom prst="rect">
            <a:avLst/>
          </a:prstGeom>
        </p:spPr>
        <p:txBody>
          <a:bodyPr wrap="square">
            <a:spAutoFit/>
          </a:bodyPr>
          <a:lstStyle/>
          <a:p>
            <a:pPr lvl="0" algn="ctr" defTabSz="457200" fontAlgn="base">
              <a:spcBef>
                <a:spcPct val="0"/>
              </a:spcBef>
              <a:spcAft>
                <a:spcPct val="0"/>
              </a:spcAft>
              <a:defRPr/>
            </a:pPr>
            <a:r>
              <a:rPr lang="en-US" altLang="zh-CN" sz="1400" kern="0" dirty="0">
                <a:solidFill>
                  <a:srgbClr val="FFFFFF"/>
                </a:solidFill>
                <a:ea typeface="微软雅黑" panose="020B0503020204020204" pitchFamily="34" charset="-122"/>
              </a:rPr>
              <a:t>VNF</a:t>
            </a:r>
          </a:p>
        </p:txBody>
      </p:sp>
      <p:sp>
        <p:nvSpPr>
          <p:cNvPr id="83" name="Rectangle 9">
            <a:extLst>
              <a:ext uri="{FF2B5EF4-FFF2-40B4-BE49-F238E27FC236}">
                <a16:creationId xmlns:a16="http://schemas.microsoft.com/office/drawing/2014/main" id="{71F203B1-A255-44C8-862B-284CEC726DEF}"/>
              </a:ext>
            </a:extLst>
          </p:cNvPr>
          <p:cNvSpPr/>
          <p:nvPr/>
        </p:nvSpPr>
        <p:spPr bwMode="gray">
          <a:xfrm>
            <a:off x="816337" y="2636011"/>
            <a:ext cx="10503666" cy="463683"/>
          </a:xfrm>
          <a:prstGeom prst="rect">
            <a:avLst/>
          </a:prstGeom>
          <a:noFill/>
          <a:ln w="12700" cap="flat" cmpd="sng" algn="ctr">
            <a:solidFill>
              <a:srgbClr val="94DAE2"/>
            </a:solidFill>
            <a:prstDash val="solid"/>
          </a:ln>
          <a:effectLst/>
        </p:spPr>
        <p:txBody>
          <a:bodyPr rtlCol="0" anchor="ctr"/>
          <a:lstStyle/>
          <a:p>
            <a:pPr lvl="0" algn="ctr" defTabSz="457200" fontAlgn="base">
              <a:spcBef>
                <a:spcPct val="0"/>
              </a:spcBef>
              <a:spcAft>
                <a:spcPct val="0"/>
              </a:spcAft>
              <a:defRPr/>
            </a:pPr>
            <a:endParaRPr kumimoji="0" lang="en-US" sz="1200" b="0" i="0" u="none" strike="noStrike" kern="0" cap="none" spc="0" normalizeH="0" baseline="0" noProof="0" dirty="0">
              <a:ln>
                <a:noFill/>
              </a:ln>
              <a:solidFill>
                <a:srgbClr val="FFFFFF"/>
              </a:solidFill>
              <a:effectLst/>
              <a:uLnTx/>
              <a:uFillTx/>
              <a:ea typeface="微软雅黑" panose="020B0503020204020204" pitchFamily="34" charset="-122"/>
            </a:endParaRPr>
          </a:p>
        </p:txBody>
      </p:sp>
      <p:sp>
        <p:nvSpPr>
          <p:cNvPr id="84" name="矩形 83">
            <a:extLst>
              <a:ext uri="{FF2B5EF4-FFF2-40B4-BE49-F238E27FC236}">
                <a16:creationId xmlns:a16="http://schemas.microsoft.com/office/drawing/2014/main" id="{EB1887F9-4F52-4077-B71F-D7A31841B0EC}"/>
              </a:ext>
            </a:extLst>
          </p:cNvPr>
          <p:cNvSpPr/>
          <p:nvPr/>
        </p:nvSpPr>
        <p:spPr bwMode="gray">
          <a:xfrm>
            <a:off x="1445538" y="2703046"/>
            <a:ext cx="1103187" cy="338554"/>
          </a:xfrm>
          <a:prstGeom prst="rect">
            <a:avLst/>
          </a:prstGeom>
        </p:spPr>
        <p:txBody>
          <a:bodyPr wrap="none">
            <a:spAutoFit/>
          </a:bodyPr>
          <a:lstStyle/>
          <a:p>
            <a:pPr>
              <a:buClrTx/>
              <a:buFontTx/>
              <a:buNone/>
            </a:pPr>
            <a:r>
              <a:rPr lang="en-US" altLang="zh-CN" sz="1600" kern="0" dirty="0"/>
              <a:t>NBI Plane</a:t>
            </a:r>
            <a:endParaRPr lang="zh-CN" altLang="en-US" sz="1600" kern="0" dirty="0"/>
          </a:p>
        </p:txBody>
      </p:sp>
      <p:sp>
        <p:nvSpPr>
          <p:cNvPr id="85" name="TextBox 205">
            <a:extLst>
              <a:ext uri="{FF2B5EF4-FFF2-40B4-BE49-F238E27FC236}">
                <a16:creationId xmlns:a16="http://schemas.microsoft.com/office/drawing/2014/main" id="{3E2669C8-B707-4A15-BFDE-0193EBA10C38}"/>
              </a:ext>
            </a:extLst>
          </p:cNvPr>
          <p:cNvSpPr txBox="1"/>
          <p:nvPr/>
        </p:nvSpPr>
        <p:spPr bwMode="gray">
          <a:xfrm>
            <a:off x="3090884" y="2699174"/>
            <a:ext cx="1437574" cy="342426"/>
          </a:xfrm>
          <a:prstGeom prst="rect">
            <a:avLst/>
          </a:prstGeom>
          <a:solidFill>
            <a:srgbClr val="56C4D2"/>
          </a:solidFill>
          <a:ln w="12700" cap="flat" cmpd="sng" algn="ctr">
            <a:noFill/>
            <a:prstDash val="solid"/>
          </a:ln>
          <a:effectLst/>
        </p:spPr>
        <p:txBody>
          <a:bodyPr rtlCol="0" anchor="ctr"/>
          <a:lstStyle>
            <a:defPPr>
              <a:defRPr lang="en-US"/>
            </a:defPPr>
            <a:lvl1pPr lvl="0" algn="ctr" defTabSz="457200" fontAlgn="base">
              <a:spcBef>
                <a:spcPct val="0"/>
              </a:spcBef>
              <a:spcAft>
                <a:spcPct val="0"/>
              </a:spcAft>
              <a:defRPr sz="1500" b="1" kern="0">
                <a:solidFill>
                  <a:schemeClr val="bg1"/>
                </a:solidFill>
                <a:ea typeface="微软雅黑" panose="020B0503020204020204" pitchFamily="34" charset="-122"/>
              </a:defRPr>
            </a:lvl1pPr>
          </a:lstStyle>
          <a:p>
            <a:r>
              <a:rPr lang="en-US" altLang="zh-CN" sz="1400" dirty="0"/>
              <a:t>RESTful</a:t>
            </a:r>
            <a:endParaRPr lang="zh-CN" altLang="en-US" sz="1400" dirty="0"/>
          </a:p>
        </p:txBody>
      </p:sp>
      <p:sp>
        <p:nvSpPr>
          <p:cNvPr id="86" name="TextBox 207">
            <a:extLst>
              <a:ext uri="{FF2B5EF4-FFF2-40B4-BE49-F238E27FC236}">
                <a16:creationId xmlns:a16="http://schemas.microsoft.com/office/drawing/2014/main" id="{42E4B99C-EE80-4DA2-8A42-436258109AE5}"/>
              </a:ext>
            </a:extLst>
          </p:cNvPr>
          <p:cNvSpPr txBox="1"/>
          <p:nvPr/>
        </p:nvSpPr>
        <p:spPr bwMode="gray">
          <a:xfrm>
            <a:off x="6180228" y="2699174"/>
            <a:ext cx="1745342" cy="342426"/>
          </a:xfrm>
          <a:prstGeom prst="rect">
            <a:avLst/>
          </a:prstGeom>
          <a:solidFill>
            <a:srgbClr val="56C4D2"/>
          </a:solidFill>
          <a:ln w="12700" cap="flat" cmpd="sng" algn="ctr">
            <a:noFill/>
            <a:prstDash val="solid"/>
          </a:ln>
          <a:effectLst/>
        </p:spPr>
        <p:txBody>
          <a:bodyPr rtlCol="0" anchor="ctr"/>
          <a:lstStyle>
            <a:defPPr>
              <a:defRPr lang="en-US"/>
            </a:defPPr>
            <a:lvl1pPr lvl="0" algn="ctr" defTabSz="457200" fontAlgn="base">
              <a:spcBef>
                <a:spcPct val="0"/>
              </a:spcBef>
              <a:spcAft>
                <a:spcPct val="0"/>
              </a:spcAft>
              <a:defRPr sz="1400" b="0" kern="0">
                <a:ea typeface="微软雅黑" panose="020B0503020204020204" pitchFamily="34" charset="-122"/>
              </a:defRPr>
            </a:lvl1pPr>
          </a:lstStyle>
          <a:p>
            <a:r>
              <a:rPr lang="en-US" altLang="zh-CN" b="1">
                <a:solidFill>
                  <a:schemeClr val="bg1"/>
                </a:solidFill>
              </a:rPr>
              <a:t> MTOSI/CORBA</a:t>
            </a:r>
          </a:p>
        </p:txBody>
      </p:sp>
      <p:sp>
        <p:nvSpPr>
          <p:cNvPr id="87" name="TextBox 209">
            <a:extLst>
              <a:ext uri="{FF2B5EF4-FFF2-40B4-BE49-F238E27FC236}">
                <a16:creationId xmlns:a16="http://schemas.microsoft.com/office/drawing/2014/main" id="{7B21FDF7-5450-41CF-9BAD-C26067EDC8EE}"/>
              </a:ext>
            </a:extLst>
          </p:cNvPr>
          <p:cNvSpPr txBox="1"/>
          <p:nvPr/>
        </p:nvSpPr>
        <p:spPr bwMode="gray">
          <a:xfrm>
            <a:off x="7979865" y="2699174"/>
            <a:ext cx="1498968" cy="342426"/>
          </a:xfrm>
          <a:prstGeom prst="rect">
            <a:avLst/>
          </a:prstGeom>
          <a:solidFill>
            <a:srgbClr val="56C4D2"/>
          </a:solidFill>
          <a:ln w="12700" cap="flat" cmpd="sng" algn="ctr">
            <a:noFill/>
            <a:prstDash val="solid"/>
          </a:ln>
          <a:effectLst/>
        </p:spPr>
        <p:txBody>
          <a:bodyPr rtlCol="0" anchor="ctr"/>
          <a:lstStyle>
            <a:defPPr>
              <a:defRPr lang="en-US"/>
            </a:defPPr>
            <a:lvl1pPr lvl="0" algn="ctr" defTabSz="457200" fontAlgn="base">
              <a:spcBef>
                <a:spcPct val="0"/>
              </a:spcBef>
              <a:spcAft>
                <a:spcPct val="0"/>
              </a:spcAft>
              <a:defRPr sz="1400" b="0" kern="0">
                <a:ea typeface="微软雅黑" panose="020B0503020204020204" pitchFamily="34" charset="-122"/>
              </a:defRPr>
            </a:lvl1pPr>
          </a:lstStyle>
          <a:p>
            <a:r>
              <a:rPr lang="en-US" altLang="zh-CN" b="1" dirty="0">
                <a:solidFill>
                  <a:schemeClr val="bg1"/>
                </a:solidFill>
              </a:rPr>
              <a:t>Kafka/SFTP</a:t>
            </a:r>
            <a:endParaRPr lang="zh-CN" altLang="en-US" b="1" dirty="0">
              <a:solidFill>
                <a:schemeClr val="bg1"/>
              </a:solidFill>
            </a:endParaRPr>
          </a:p>
        </p:txBody>
      </p:sp>
      <p:sp>
        <p:nvSpPr>
          <p:cNvPr id="88" name="Rectangle 7">
            <a:extLst>
              <a:ext uri="{FF2B5EF4-FFF2-40B4-BE49-F238E27FC236}">
                <a16:creationId xmlns:a16="http://schemas.microsoft.com/office/drawing/2014/main" id="{81662334-3FA3-48F6-BFC2-B567AB4617E3}"/>
              </a:ext>
            </a:extLst>
          </p:cNvPr>
          <p:cNvSpPr/>
          <p:nvPr/>
        </p:nvSpPr>
        <p:spPr bwMode="gray">
          <a:xfrm>
            <a:off x="2164243" y="1918433"/>
            <a:ext cx="9155704" cy="640080"/>
          </a:xfrm>
          <a:prstGeom prst="rect">
            <a:avLst/>
          </a:prstGeom>
          <a:noFill/>
          <a:ln w="12700" cap="flat" cmpd="sng" algn="ctr">
            <a:solidFill>
              <a:srgbClr val="94DAE2"/>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effectLst/>
              <a:uLnTx/>
              <a:uFillTx/>
            </a:endParaRPr>
          </a:p>
        </p:txBody>
      </p:sp>
      <p:sp>
        <p:nvSpPr>
          <p:cNvPr id="89" name="Freeform 45">
            <a:extLst>
              <a:ext uri="{FF2B5EF4-FFF2-40B4-BE49-F238E27FC236}">
                <a16:creationId xmlns:a16="http://schemas.microsoft.com/office/drawing/2014/main" id="{969BE53D-22EC-42AF-82AC-8C99982370DF}"/>
              </a:ext>
            </a:extLst>
          </p:cNvPr>
          <p:cNvSpPr>
            <a:spLocks noEditPoints="1"/>
          </p:cNvSpPr>
          <p:nvPr/>
        </p:nvSpPr>
        <p:spPr bwMode="gray">
          <a:xfrm>
            <a:off x="2997324" y="2097017"/>
            <a:ext cx="446746" cy="307402"/>
          </a:xfrm>
          <a:custGeom>
            <a:avLst/>
            <a:gdLst>
              <a:gd name="T0" fmla="*/ 3277 w 3277"/>
              <a:gd name="T1" fmla="*/ 1741 h 2253"/>
              <a:gd name="T2" fmla="*/ 2765 w 3277"/>
              <a:gd name="T3" fmla="*/ 2253 h 2253"/>
              <a:gd name="T4" fmla="*/ 1024 w 3277"/>
              <a:gd name="T5" fmla="*/ 2253 h 2253"/>
              <a:gd name="T6" fmla="*/ 1024 w 3277"/>
              <a:gd name="T7" fmla="*/ 2250 h 2253"/>
              <a:gd name="T8" fmla="*/ 614 w 3277"/>
              <a:gd name="T9" fmla="*/ 1840 h 2253"/>
              <a:gd name="T10" fmla="*/ 1024 w 3277"/>
              <a:gd name="T11" fmla="*/ 1430 h 2253"/>
              <a:gd name="T12" fmla="*/ 1024 w 3277"/>
              <a:gd name="T13" fmla="*/ 1427 h 2253"/>
              <a:gd name="T14" fmla="*/ 1025 w 3277"/>
              <a:gd name="T15" fmla="*/ 1427 h 2253"/>
              <a:gd name="T16" fmla="*/ 1536 w 3277"/>
              <a:gd name="T17" fmla="*/ 922 h 2253"/>
              <a:gd name="T18" fmla="*/ 1707 w 3277"/>
              <a:gd name="T19" fmla="*/ 953 h 2253"/>
              <a:gd name="T20" fmla="*/ 2253 w 3277"/>
              <a:gd name="T21" fmla="*/ 614 h 2253"/>
              <a:gd name="T22" fmla="*/ 2867 w 3277"/>
              <a:gd name="T23" fmla="*/ 1229 h 2253"/>
              <a:gd name="T24" fmla="*/ 2866 w 3277"/>
              <a:gd name="T25" fmla="*/ 1239 h 2253"/>
              <a:gd name="T26" fmla="*/ 3277 w 3277"/>
              <a:gd name="T27" fmla="*/ 1741 h 2253"/>
              <a:gd name="T28" fmla="*/ 845 w 3277"/>
              <a:gd name="T29" fmla="*/ 1251 h 2253"/>
              <a:gd name="T30" fmla="*/ 851 w 3277"/>
              <a:gd name="T31" fmla="*/ 1225 h 2253"/>
              <a:gd name="T32" fmla="*/ 1612 w 3277"/>
              <a:gd name="T33" fmla="*/ 721 h 2253"/>
              <a:gd name="T34" fmla="*/ 2216 w 3277"/>
              <a:gd name="T35" fmla="*/ 414 h 2253"/>
              <a:gd name="T36" fmla="*/ 1638 w 3277"/>
              <a:gd name="T37" fmla="*/ 0 h 2253"/>
              <a:gd name="T38" fmla="*/ 1092 w 3277"/>
              <a:gd name="T39" fmla="*/ 338 h 2253"/>
              <a:gd name="T40" fmla="*/ 922 w 3277"/>
              <a:gd name="T41" fmla="*/ 307 h 2253"/>
              <a:gd name="T42" fmla="*/ 410 w 3277"/>
              <a:gd name="T43" fmla="*/ 813 h 2253"/>
              <a:gd name="T44" fmla="*/ 410 w 3277"/>
              <a:gd name="T45" fmla="*/ 813 h 2253"/>
              <a:gd name="T46" fmla="*/ 410 w 3277"/>
              <a:gd name="T47" fmla="*/ 816 h 2253"/>
              <a:gd name="T48" fmla="*/ 0 w 3277"/>
              <a:gd name="T49" fmla="*/ 1226 h 2253"/>
              <a:gd name="T50" fmla="*/ 410 w 3277"/>
              <a:gd name="T51" fmla="*/ 1635 h 2253"/>
              <a:gd name="T52" fmla="*/ 410 w 3277"/>
              <a:gd name="T53" fmla="*/ 1638 h 2253"/>
              <a:gd name="T54" fmla="*/ 444 w 3277"/>
              <a:gd name="T55" fmla="*/ 1638 h 2253"/>
              <a:gd name="T56" fmla="*/ 819 w 3277"/>
              <a:gd name="T57" fmla="*/ 1261 h 2253"/>
              <a:gd name="T58" fmla="*/ 845 w 3277"/>
              <a:gd name="T59" fmla="*/ 1251 h 2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77" h="2253">
                <a:moveTo>
                  <a:pt x="3277" y="1741"/>
                </a:moveTo>
                <a:cubicBezTo>
                  <a:pt x="3277" y="2024"/>
                  <a:pt x="3048" y="2253"/>
                  <a:pt x="2765" y="2253"/>
                </a:cubicBezTo>
                <a:cubicBezTo>
                  <a:pt x="1024" y="2253"/>
                  <a:pt x="1024" y="2253"/>
                  <a:pt x="1024" y="2253"/>
                </a:cubicBezTo>
                <a:cubicBezTo>
                  <a:pt x="1024" y="2250"/>
                  <a:pt x="1024" y="2250"/>
                  <a:pt x="1024" y="2250"/>
                </a:cubicBezTo>
                <a:cubicBezTo>
                  <a:pt x="798" y="2250"/>
                  <a:pt x="614" y="2066"/>
                  <a:pt x="614" y="1840"/>
                </a:cubicBezTo>
                <a:cubicBezTo>
                  <a:pt x="614" y="1614"/>
                  <a:pt x="798" y="1430"/>
                  <a:pt x="1024" y="1430"/>
                </a:cubicBezTo>
                <a:cubicBezTo>
                  <a:pt x="1024" y="1427"/>
                  <a:pt x="1024" y="1427"/>
                  <a:pt x="1024" y="1427"/>
                </a:cubicBezTo>
                <a:cubicBezTo>
                  <a:pt x="1025" y="1427"/>
                  <a:pt x="1025" y="1427"/>
                  <a:pt x="1025" y="1427"/>
                </a:cubicBezTo>
                <a:cubicBezTo>
                  <a:pt x="1028" y="1147"/>
                  <a:pt x="1255" y="922"/>
                  <a:pt x="1536" y="922"/>
                </a:cubicBezTo>
                <a:cubicBezTo>
                  <a:pt x="1596" y="922"/>
                  <a:pt x="1653" y="934"/>
                  <a:pt x="1707" y="953"/>
                </a:cubicBezTo>
                <a:cubicBezTo>
                  <a:pt x="1808" y="753"/>
                  <a:pt x="2013" y="614"/>
                  <a:pt x="2253" y="614"/>
                </a:cubicBezTo>
                <a:cubicBezTo>
                  <a:pt x="2592" y="614"/>
                  <a:pt x="2867" y="889"/>
                  <a:pt x="2867" y="1229"/>
                </a:cubicBezTo>
                <a:cubicBezTo>
                  <a:pt x="2867" y="1232"/>
                  <a:pt x="2866" y="1236"/>
                  <a:pt x="2866" y="1239"/>
                </a:cubicBezTo>
                <a:cubicBezTo>
                  <a:pt x="3100" y="1286"/>
                  <a:pt x="3277" y="1493"/>
                  <a:pt x="3277" y="1741"/>
                </a:cubicBezTo>
                <a:close/>
                <a:moveTo>
                  <a:pt x="845" y="1251"/>
                </a:moveTo>
                <a:cubicBezTo>
                  <a:pt x="851" y="1225"/>
                  <a:pt x="851" y="1225"/>
                  <a:pt x="851" y="1225"/>
                </a:cubicBezTo>
                <a:cubicBezTo>
                  <a:pt x="948" y="908"/>
                  <a:pt x="1266" y="683"/>
                  <a:pt x="1612" y="721"/>
                </a:cubicBezTo>
                <a:cubicBezTo>
                  <a:pt x="1758" y="536"/>
                  <a:pt x="1978" y="424"/>
                  <a:pt x="2216" y="414"/>
                </a:cubicBezTo>
                <a:cubicBezTo>
                  <a:pt x="2133" y="174"/>
                  <a:pt x="1907" y="0"/>
                  <a:pt x="1638" y="0"/>
                </a:cubicBezTo>
                <a:cubicBezTo>
                  <a:pt x="1399" y="0"/>
                  <a:pt x="1194" y="138"/>
                  <a:pt x="1092" y="338"/>
                </a:cubicBezTo>
                <a:cubicBezTo>
                  <a:pt x="1039" y="320"/>
                  <a:pt x="982" y="307"/>
                  <a:pt x="922" y="307"/>
                </a:cubicBezTo>
                <a:cubicBezTo>
                  <a:pt x="641" y="307"/>
                  <a:pt x="414" y="533"/>
                  <a:pt x="410" y="813"/>
                </a:cubicBezTo>
                <a:cubicBezTo>
                  <a:pt x="410" y="813"/>
                  <a:pt x="410" y="813"/>
                  <a:pt x="410" y="813"/>
                </a:cubicBezTo>
                <a:cubicBezTo>
                  <a:pt x="410" y="816"/>
                  <a:pt x="410" y="816"/>
                  <a:pt x="410" y="816"/>
                </a:cubicBezTo>
                <a:cubicBezTo>
                  <a:pt x="183" y="816"/>
                  <a:pt x="0" y="999"/>
                  <a:pt x="0" y="1226"/>
                </a:cubicBezTo>
                <a:cubicBezTo>
                  <a:pt x="0" y="1452"/>
                  <a:pt x="183" y="1635"/>
                  <a:pt x="410" y="1635"/>
                </a:cubicBezTo>
                <a:cubicBezTo>
                  <a:pt x="410" y="1638"/>
                  <a:pt x="410" y="1638"/>
                  <a:pt x="410" y="1638"/>
                </a:cubicBezTo>
                <a:cubicBezTo>
                  <a:pt x="444" y="1638"/>
                  <a:pt x="444" y="1638"/>
                  <a:pt x="444" y="1638"/>
                </a:cubicBezTo>
                <a:cubicBezTo>
                  <a:pt x="506" y="1463"/>
                  <a:pt x="644" y="1323"/>
                  <a:pt x="819" y="1261"/>
                </a:cubicBezTo>
                <a:cubicBezTo>
                  <a:pt x="845" y="1251"/>
                  <a:pt x="845" y="1251"/>
                  <a:pt x="845" y="1251"/>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1400"/>
          </a:p>
        </p:txBody>
      </p:sp>
      <p:sp>
        <p:nvSpPr>
          <p:cNvPr id="90" name="文本框 89">
            <a:extLst>
              <a:ext uri="{FF2B5EF4-FFF2-40B4-BE49-F238E27FC236}">
                <a16:creationId xmlns:a16="http://schemas.microsoft.com/office/drawing/2014/main" id="{2580B51A-E1AA-4E96-AFA2-90F368496F61}"/>
              </a:ext>
            </a:extLst>
          </p:cNvPr>
          <p:cNvSpPr txBox="1"/>
          <p:nvPr/>
        </p:nvSpPr>
        <p:spPr bwMode="gray">
          <a:xfrm>
            <a:off x="3500878" y="2132601"/>
            <a:ext cx="866288" cy="307777"/>
          </a:xfrm>
          <a:prstGeom prst="rect">
            <a:avLst/>
          </a:prstGeom>
          <a:noFill/>
        </p:spPr>
        <p:txBody>
          <a:bodyPr wrap="square" rtlCol="0">
            <a:spAutoFit/>
          </a:bodyPr>
          <a:lstStyle/>
          <a:p>
            <a:r>
              <a:rPr lang="zh-CN" altLang="en-US" sz="1400" dirty="0"/>
              <a:t>云平台</a:t>
            </a:r>
          </a:p>
        </p:txBody>
      </p:sp>
      <p:sp>
        <p:nvSpPr>
          <p:cNvPr id="91" name="文本框 90">
            <a:extLst>
              <a:ext uri="{FF2B5EF4-FFF2-40B4-BE49-F238E27FC236}">
                <a16:creationId xmlns:a16="http://schemas.microsoft.com/office/drawing/2014/main" id="{30ABFA7E-0642-47A2-8E95-98BCAC39961F}"/>
              </a:ext>
            </a:extLst>
          </p:cNvPr>
          <p:cNvSpPr txBox="1"/>
          <p:nvPr/>
        </p:nvSpPr>
        <p:spPr bwMode="gray">
          <a:xfrm>
            <a:off x="5514040" y="2149858"/>
            <a:ext cx="866288" cy="307777"/>
          </a:xfrm>
          <a:prstGeom prst="rect">
            <a:avLst/>
          </a:prstGeom>
          <a:noFill/>
        </p:spPr>
        <p:txBody>
          <a:bodyPr wrap="square" rtlCol="0">
            <a:spAutoFit/>
          </a:bodyPr>
          <a:lstStyle/>
          <a:p>
            <a:r>
              <a:rPr lang="en-US" altLang="zh-CN" sz="1400" dirty="0"/>
              <a:t>EMS</a:t>
            </a:r>
            <a:endParaRPr lang="zh-CN" altLang="en-US" sz="1400" dirty="0"/>
          </a:p>
        </p:txBody>
      </p:sp>
      <p:pic>
        <p:nvPicPr>
          <p:cNvPr id="92" name="图片 91">
            <a:extLst>
              <a:ext uri="{FF2B5EF4-FFF2-40B4-BE49-F238E27FC236}">
                <a16:creationId xmlns:a16="http://schemas.microsoft.com/office/drawing/2014/main" id="{34E8E205-C2D1-4268-81F2-222FCBB99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5057019" y="2090916"/>
            <a:ext cx="348826" cy="348826"/>
          </a:xfrm>
          <a:prstGeom prst="rect">
            <a:avLst/>
          </a:prstGeom>
          <a:solidFill>
            <a:srgbClr val="00B0F0"/>
          </a:solidFill>
        </p:spPr>
      </p:pic>
      <p:pic>
        <p:nvPicPr>
          <p:cNvPr id="93" name="图片 92">
            <a:extLst>
              <a:ext uri="{FF2B5EF4-FFF2-40B4-BE49-F238E27FC236}">
                <a16:creationId xmlns:a16="http://schemas.microsoft.com/office/drawing/2014/main" id="{85B3DA29-C41F-4FD8-A494-B6ED1D5A2B3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6794601" y="2062574"/>
            <a:ext cx="428213" cy="428213"/>
          </a:xfrm>
          <a:prstGeom prst="rect">
            <a:avLst/>
          </a:prstGeom>
          <a:solidFill>
            <a:srgbClr val="00B0F0"/>
          </a:solidFill>
        </p:spPr>
      </p:pic>
      <p:sp>
        <p:nvSpPr>
          <p:cNvPr id="94" name="文本框 93">
            <a:extLst>
              <a:ext uri="{FF2B5EF4-FFF2-40B4-BE49-F238E27FC236}">
                <a16:creationId xmlns:a16="http://schemas.microsoft.com/office/drawing/2014/main" id="{11AD11D0-C2DA-42F5-B11A-683976A0CE1B}"/>
              </a:ext>
            </a:extLst>
          </p:cNvPr>
          <p:cNvSpPr txBox="1"/>
          <p:nvPr/>
        </p:nvSpPr>
        <p:spPr bwMode="gray">
          <a:xfrm>
            <a:off x="7203213" y="2167001"/>
            <a:ext cx="1406093" cy="307777"/>
          </a:xfrm>
          <a:prstGeom prst="rect">
            <a:avLst/>
          </a:prstGeom>
          <a:noFill/>
        </p:spPr>
        <p:txBody>
          <a:bodyPr wrap="square" rtlCol="0">
            <a:spAutoFit/>
          </a:bodyPr>
          <a:lstStyle/>
          <a:p>
            <a:pPr algn="ctr" defTabSz="669981" eaLnBrk="0" fontAlgn="base" hangingPunct="0">
              <a:spcBef>
                <a:spcPct val="0"/>
              </a:spcBef>
              <a:spcAft>
                <a:spcPct val="0"/>
              </a:spcAft>
              <a:buClr>
                <a:srgbClr val="CC9900"/>
              </a:buClr>
              <a:defRPr/>
            </a:pPr>
            <a:r>
              <a:rPr lang="en-US" altLang="zh-CN" sz="1400" kern="0" dirty="0">
                <a:ea typeface="微软雅黑" panose="020B0503020204020204" pitchFamily="34" charset="-122"/>
                <a:sym typeface="Arial" panose="020B0604020202020204" pitchFamily="34" charset="0"/>
              </a:rPr>
              <a:t>Orchestration</a:t>
            </a:r>
            <a:endParaRPr lang="zh-CN" altLang="en-US" sz="1400" kern="0" dirty="0">
              <a:ea typeface="微软雅黑" panose="020B0503020204020204" pitchFamily="34" charset="-122"/>
              <a:sym typeface="Arial" panose="020B0604020202020204" pitchFamily="34" charset="0"/>
            </a:endParaRPr>
          </a:p>
        </p:txBody>
      </p:sp>
      <p:sp>
        <p:nvSpPr>
          <p:cNvPr id="95" name="文本框 94">
            <a:extLst>
              <a:ext uri="{FF2B5EF4-FFF2-40B4-BE49-F238E27FC236}">
                <a16:creationId xmlns:a16="http://schemas.microsoft.com/office/drawing/2014/main" id="{D522E8EA-23E7-4D8D-944E-1D7498D939C6}"/>
              </a:ext>
            </a:extLst>
          </p:cNvPr>
          <p:cNvSpPr txBox="1"/>
          <p:nvPr/>
        </p:nvSpPr>
        <p:spPr bwMode="gray">
          <a:xfrm>
            <a:off x="9417944" y="2205993"/>
            <a:ext cx="1406093" cy="307777"/>
          </a:xfrm>
          <a:prstGeom prst="rect">
            <a:avLst/>
          </a:prstGeom>
          <a:noFill/>
        </p:spPr>
        <p:txBody>
          <a:bodyPr wrap="square" rtlCol="0">
            <a:spAutoFit/>
          </a:bodyPr>
          <a:lstStyle/>
          <a:p>
            <a:pPr algn="ctr" defTabSz="669981" eaLnBrk="0" fontAlgn="base" hangingPunct="0">
              <a:spcBef>
                <a:spcPct val="0"/>
              </a:spcBef>
              <a:spcAft>
                <a:spcPct val="0"/>
              </a:spcAft>
              <a:buClr>
                <a:srgbClr val="CC9900"/>
              </a:buClr>
              <a:defRPr/>
            </a:pPr>
            <a:r>
              <a:rPr lang="en-US" altLang="zh-CN" sz="1400" kern="0" dirty="0">
                <a:ea typeface="微软雅黑" panose="020B0503020204020204" pitchFamily="34" charset="-122"/>
                <a:sym typeface="Arial" panose="020B0604020202020204" pitchFamily="34" charset="0"/>
              </a:rPr>
              <a:t>Apps</a:t>
            </a:r>
            <a:endParaRPr lang="zh-CN" altLang="en-US" sz="1400" kern="0" dirty="0">
              <a:ea typeface="微软雅黑" panose="020B0503020204020204" pitchFamily="34" charset="-122"/>
              <a:sym typeface="Arial" panose="020B0604020202020204" pitchFamily="34" charset="0"/>
            </a:endParaRPr>
          </a:p>
        </p:txBody>
      </p:sp>
      <p:pic>
        <p:nvPicPr>
          <p:cNvPr id="96" name="图片 95">
            <a:extLst>
              <a:ext uri="{FF2B5EF4-FFF2-40B4-BE49-F238E27FC236}">
                <a16:creationId xmlns:a16="http://schemas.microsoft.com/office/drawing/2014/main" id="{04970566-FE99-45D0-8C4F-C1E1D1FFD90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316843" y="2083444"/>
            <a:ext cx="392408" cy="392408"/>
          </a:xfrm>
          <a:prstGeom prst="rect">
            <a:avLst/>
          </a:prstGeom>
          <a:solidFill>
            <a:srgbClr val="00B0F0"/>
          </a:solidFill>
        </p:spPr>
      </p:pic>
      <p:sp>
        <p:nvSpPr>
          <p:cNvPr id="7" name="Rectangle 9">
            <a:extLst>
              <a:ext uri="{FF2B5EF4-FFF2-40B4-BE49-F238E27FC236}">
                <a16:creationId xmlns:a16="http://schemas.microsoft.com/office/drawing/2014/main" id="{D02E283A-D014-4FE3-AB4E-67B16CD6AAF3}"/>
              </a:ext>
            </a:extLst>
          </p:cNvPr>
          <p:cNvSpPr/>
          <p:nvPr/>
        </p:nvSpPr>
        <p:spPr bwMode="gray">
          <a:xfrm>
            <a:off x="876227" y="5064159"/>
            <a:ext cx="1034993" cy="472876"/>
          </a:xfrm>
          <a:prstGeom prst="rect">
            <a:avLst/>
          </a:prstGeom>
          <a:solidFill>
            <a:srgbClr val="56C4D2"/>
          </a:solidFill>
          <a:ln w="12700" cap="flat" cmpd="sng" algn="ctr">
            <a:noFill/>
            <a:prstDash val="solid"/>
          </a:ln>
          <a:effectLst/>
        </p:spPr>
        <p:txBody>
          <a:bodyPr rtlCol="0" anchor="ctr"/>
          <a:lstStyle/>
          <a:p>
            <a:pPr algn="ctr" defTabSz="457200" fontAlgn="base">
              <a:spcBef>
                <a:spcPct val="0"/>
              </a:spcBef>
              <a:spcAft>
                <a:spcPct val="0"/>
              </a:spcAft>
            </a:pPr>
            <a:r>
              <a:rPr lang="en-US" sz="1400" b="1" kern="0" dirty="0">
                <a:solidFill>
                  <a:schemeClr val="bg1"/>
                </a:solidFill>
                <a:ea typeface="微软雅黑" panose="020B0503020204020204" pitchFamily="34" charset="-122"/>
              </a:rPr>
              <a:t>PCEP</a:t>
            </a:r>
          </a:p>
          <a:p>
            <a:pPr algn="ctr" defTabSz="457200" fontAlgn="base">
              <a:spcBef>
                <a:spcPct val="0"/>
              </a:spcBef>
              <a:spcAft>
                <a:spcPct val="0"/>
              </a:spcAft>
            </a:pPr>
            <a:r>
              <a:rPr lang="en-US" sz="1400" b="1" kern="0" dirty="0">
                <a:solidFill>
                  <a:schemeClr val="bg1"/>
                </a:solidFill>
                <a:ea typeface="微软雅黑" panose="020B0503020204020204" pitchFamily="34" charset="-122"/>
              </a:rPr>
              <a:t>Interface</a:t>
            </a:r>
          </a:p>
        </p:txBody>
      </p:sp>
      <p:sp>
        <p:nvSpPr>
          <p:cNvPr id="8" name="Rectangle 9">
            <a:extLst>
              <a:ext uri="{FF2B5EF4-FFF2-40B4-BE49-F238E27FC236}">
                <a16:creationId xmlns:a16="http://schemas.microsoft.com/office/drawing/2014/main" id="{3E8A77B7-E9EB-4CF2-8A06-FA95CAE7D9EE}"/>
              </a:ext>
            </a:extLst>
          </p:cNvPr>
          <p:cNvSpPr/>
          <p:nvPr/>
        </p:nvSpPr>
        <p:spPr bwMode="gray">
          <a:xfrm>
            <a:off x="2014433" y="5064159"/>
            <a:ext cx="1189023" cy="472876"/>
          </a:xfrm>
          <a:prstGeom prst="rect">
            <a:avLst/>
          </a:prstGeom>
          <a:solidFill>
            <a:srgbClr val="56C4D2"/>
          </a:solidFill>
          <a:ln w="12700" cap="flat" cmpd="sng" algn="ctr">
            <a:noFill/>
            <a:prstDash val="solid"/>
          </a:ln>
          <a:effectLst/>
        </p:spPr>
        <p:txBody>
          <a:bodyPr rtlCol="0" anchor="ctr"/>
          <a:lstStyle/>
          <a:p>
            <a:pPr algn="ctr" defTabSz="457200" fontAlgn="base">
              <a:spcBef>
                <a:spcPct val="0"/>
              </a:spcBef>
              <a:spcAft>
                <a:spcPct val="0"/>
              </a:spcAft>
            </a:pPr>
            <a:r>
              <a:rPr lang="en-US" sz="1400" b="1" kern="0" dirty="0">
                <a:solidFill>
                  <a:srgbClr val="FF0000"/>
                </a:solidFill>
                <a:ea typeface="微软雅黑" panose="020B0503020204020204" pitchFamily="34" charset="-122"/>
              </a:rPr>
              <a:t>NETCONF</a:t>
            </a:r>
          </a:p>
          <a:p>
            <a:pPr algn="ctr" defTabSz="457200" fontAlgn="base">
              <a:spcBef>
                <a:spcPct val="0"/>
              </a:spcBef>
              <a:spcAft>
                <a:spcPct val="0"/>
              </a:spcAft>
            </a:pPr>
            <a:r>
              <a:rPr lang="en-US" sz="1400" b="1" kern="0" dirty="0">
                <a:solidFill>
                  <a:srgbClr val="FF0000"/>
                </a:solidFill>
                <a:ea typeface="微软雅黑" panose="020B0503020204020204" pitchFamily="34" charset="-122"/>
              </a:rPr>
              <a:t>Interface</a:t>
            </a:r>
          </a:p>
        </p:txBody>
      </p:sp>
      <p:sp>
        <p:nvSpPr>
          <p:cNvPr id="9" name="Rectangle 9">
            <a:extLst>
              <a:ext uri="{FF2B5EF4-FFF2-40B4-BE49-F238E27FC236}">
                <a16:creationId xmlns:a16="http://schemas.microsoft.com/office/drawing/2014/main" id="{5E17D229-241E-451A-A583-783098E29C1D}"/>
              </a:ext>
            </a:extLst>
          </p:cNvPr>
          <p:cNvSpPr/>
          <p:nvPr/>
        </p:nvSpPr>
        <p:spPr bwMode="gray">
          <a:xfrm>
            <a:off x="3306669" y="5064159"/>
            <a:ext cx="1189023" cy="472876"/>
          </a:xfrm>
          <a:prstGeom prst="rect">
            <a:avLst/>
          </a:prstGeom>
          <a:solidFill>
            <a:srgbClr val="56C4D2"/>
          </a:solidFill>
          <a:ln w="12700" cap="flat" cmpd="sng" algn="ctr">
            <a:noFill/>
            <a:prstDash val="solid"/>
          </a:ln>
          <a:effectLst/>
        </p:spPr>
        <p:txBody>
          <a:bodyPr rtlCol="0" anchor="ctr"/>
          <a:lstStyle/>
          <a:p>
            <a:pPr algn="ctr" defTabSz="457200" fontAlgn="base">
              <a:spcBef>
                <a:spcPct val="0"/>
              </a:spcBef>
              <a:spcAft>
                <a:spcPct val="0"/>
              </a:spcAft>
            </a:pPr>
            <a:r>
              <a:rPr lang="en-US" sz="1400" b="1" kern="0" dirty="0">
                <a:solidFill>
                  <a:srgbClr val="FF0000"/>
                </a:solidFill>
                <a:ea typeface="微软雅黑" panose="020B0503020204020204" pitchFamily="34" charset="-122"/>
              </a:rPr>
              <a:t>OpenFlow</a:t>
            </a:r>
          </a:p>
          <a:p>
            <a:pPr algn="ctr" defTabSz="457200" fontAlgn="base">
              <a:spcBef>
                <a:spcPct val="0"/>
              </a:spcBef>
              <a:spcAft>
                <a:spcPct val="0"/>
              </a:spcAft>
            </a:pPr>
            <a:r>
              <a:rPr lang="en-US" sz="1400" b="1" kern="0" dirty="0">
                <a:solidFill>
                  <a:srgbClr val="FF0000"/>
                </a:solidFill>
                <a:ea typeface="微软雅黑" panose="020B0503020204020204" pitchFamily="34" charset="-122"/>
              </a:rPr>
              <a:t>Interface</a:t>
            </a:r>
          </a:p>
        </p:txBody>
      </p:sp>
      <p:sp>
        <p:nvSpPr>
          <p:cNvPr id="10" name="Rectangle 9">
            <a:extLst>
              <a:ext uri="{FF2B5EF4-FFF2-40B4-BE49-F238E27FC236}">
                <a16:creationId xmlns:a16="http://schemas.microsoft.com/office/drawing/2014/main" id="{56FD025F-610C-4EC2-91EB-58002B32288C}"/>
              </a:ext>
            </a:extLst>
          </p:cNvPr>
          <p:cNvSpPr/>
          <p:nvPr/>
        </p:nvSpPr>
        <p:spPr bwMode="gray">
          <a:xfrm>
            <a:off x="4598905" y="5064159"/>
            <a:ext cx="1011256" cy="472876"/>
          </a:xfrm>
          <a:prstGeom prst="rect">
            <a:avLst/>
          </a:prstGeom>
          <a:solidFill>
            <a:srgbClr val="56C4D2"/>
          </a:solidFill>
          <a:ln w="12700" cap="flat" cmpd="sng" algn="ctr">
            <a:noFill/>
            <a:prstDash val="solid"/>
          </a:ln>
          <a:effectLst/>
        </p:spPr>
        <p:txBody>
          <a:bodyPr rtlCol="0" anchor="ctr"/>
          <a:lstStyle/>
          <a:p>
            <a:pPr algn="ctr" defTabSz="457200" fontAlgn="base">
              <a:spcBef>
                <a:spcPct val="0"/>
              </a:spcBef>
              <a:spcAft>
                <a:spcPct val="0"/>
              </a:spcAft>
            </a:pPr>
            <a:r>
              <a:rPr lang="en-US" sz="1400" b="1" kern="0" dirty="0">
                <a:solidFill>
                  <a:srgbClr val="FF0000"/>
                </a:solidFill>
                <a:ea typeface="微软雅黑" panose="020B0503020204020204" pitchFamily="34" charset="-122"/>
              </a:rPr>
              <a:t>BGP-LS</a:t>
            </a:r>
          </a:p>
          <a:p>
            <a:pPr algn="ctr" defTabSz="457200" fontAlgn="base">
              <a:spcBef>
                <a:spcPct val="0"/>
              </a:spcBef>
              <a:spcAft>
                <a:spcPct val="0"/>
              </a:spcAft>
            </a:pPr>
            <a:r>
              <a:rPr lang="en-US" sz="1400" b="1" kern="0" dirty="0">
                <a:solidFill>
                  <a:srgbClr val="FF0000"/>
                </a:solidFill>
                <a:ea typeface="微软雅黑" panose="020B0503020204020204" pitchFamily="34" charset="-122"/>
              </a:rPr>
              <a:t>Interface</a:t>
            </a:r>
          </a:p>
        </p:txBody>
      </p:sp>
      <p:sp>
        <p:nvSpPr>
          <p:cNvPr id="52" name="Rectangle 9">
            <a:extLst>
              <a:ext uri="{FF2B5EF4-FFF2-40B4-BE49-F238E27FC236}">
                <a16:creationId xmlns:a16="http://schemas.microsoft.com/office/drawing/2014/main" id="{A4CAC1F4-0458-4004-929C-0C76147F6C3F}"/>
              </a:ext>
            </a:extLst>
          </p:cNvPr>
          <p:cNvSpPr/>
          <p:nvPr/>
        </p:nvSpPr>
        <p:spPr bwMode="gray">
          <a:xfrm>
            <a:off x="5713374" y="5064159"/>
            <a:ext cx="1011256" cy="472876"/>
          </a:xfrm>
          <a:prstGeom prst="rect">
            <a:avLst/>
          </a:prstGeom>
          <a:solidFill>
            <a:srgbClr val="56C4D2"/>
          </a:solidFill>
          <a:ln w="12700" cap="flat" cmpd="sng" algn="ctr">
            <a:noFill/>
            <a:prstDash val="solid"/>
          </a:ln>
          <a:effectLst/>
        </p:spPr>
        <p:txBody>
          <a:bodyPr rtlCol="0" anchor="ctr"/>
          <a:lstStyle/>
          <a:p>
            <a:pPr algn="ctr" defTabSz="457200" fontAlgn="base">
              <a:spcBef>
                <a:spcPct val="0"/>
              </a:spcBef>
              <a:spcAft>
                <a:spcPct val="0"/>
              </a:spcAft>
            </a:pPr>
            <a:r>
              <a:rPr lang="en-US" sz="1400" b="1" kern="0" dirty="0">
                <a:solidFill>
                  <a:schemeClr val="bg1"/>
                </a:solidFill>
                <a:ea typeface="微软雅黑" panose="020B0503020204020204" pitchFamily="34" charset="-122"/>
              </a:rPr>
              <a:t>OVSDB</a:t>
            </a:r>
          </a:p>
          <a:p>
            <a:pPr algn="ctr" defTabSz="457200" fontAlgn="base">
              <a:spcBef>
                <a:spcPct val="0"/>
              </a:spcBef>
              <a:spcAft>
                <a:spcPct val="0"/>
              </a:spcAft>
            </a:pPr>
            <a:r>
              <a:rPr lang="en-US" sz="1400" b="1" kern="0" dirty="0">
                <a:solidFill>
                  <a:schemeClr val="bg1"/>
                </a:solidFill>
                <a:ea typeface="微软雅黑" panose="020B0503020204020204" pitchFamily="34" charset="-122"/>
              </a:rPr>
              <a:t>Interface</a:t>
            </a:r>
          </a:p>
        </p:txBody>
      </p:sp>
      <p:sp>
        <p:nvSpPr>
          <p:cNvPr id="54" name="Rectangle 9">
            <a:extLst>
              <a:ext uri="{FF2B5EF4-FFF2-40B4-BE49-F238E27FC236}">
                <a16:creationId xmlns:a16="http://schemas.microsoft.com/office/drawing/2014/main" id="{4FC5677F-6FA8-4319-82B4-A0E88B5101F9}"/>
              </a:ext>
            </a:extLst>
          </p:cNvPr>
          <p:cNvSpPr/>
          <p:nvPr/>
        </p:nvSpPr>
        <p:spPr bwMode="gray">
          <a:xfrm>
            <a:off x="6827843" y="5064159"/>
            <a:ext cx="1011256" cy="472876"/>
          </a:xfrm>
          <a:prstGeom prst="rect">
            <a:avLst/>
          </a:prstGeom>
          <a:solidFill>
            <a:srgbClr val="56C4D2"/>
          </a:solidFill>
          <a:ln w="12700" cap="flat" cmpd="sng" algn="ctr">
            <a:noFill/>
            <a:prstDash val="solid"/>
          </a:ln>
          <a:effectLst/>
        </p:spPr>
        <p:txBody>
          <a:bodyPr rtlCol="0" anchor="ctr"/>
          <a:lstStyle/>
          <a:p>
            <a:pPr algn="ctr" defTabSz="457200" fontAlgn="base">
              <a:spcBef>
                <a:spcPct val="0"/>
              </a:spcBef>
              <a:spcAft>
                <a:spcPct val="0"/>
              </a:spcAft>
            </a:pPr>
            <a:r>
              <a:rPr lang="en-US" altLang="zh-CN" sz="1400" b="1" kern="0" dirty="0">
                <a:solidFill>
                  <a:srgbClr val="FF0000"/>
                </a:solidFill>
                <a:ea typeface="微软雅黑" panose="020B0503020204020204" pitchFamily="34" charset="-122"/>
              </a:rPr>
              <a:t>SNMP</a:t>
            </a:r>
            <a:endParaRPr lang="en-US" sz="1400" b="1" kern="0" dirty="0">
              <a:solidFill>
                <a:srgbClr val="FF0000"/>
              </a:solidFill>
              <a:ea typeface="微软雅黑" panose="020B0503020204020204" pitchFamily="34" charset="-122"/>
            </a:endParaRPr>
          </a:p>
          <a:p>
            <a:pPr algn="ctr" defTabSz="457200" fontAlgn="base">
              <a:spcBef>
                <a:spcPct val="0"/>
              </a:spcBef>
              <a:spcAft>
                <a:spcPct val="0"/>
              </a:spcAft>
            </a:pPr>
            <a:r>
              <a:rPr lang="en-US" sz="1400" b="1" kern="0" dirty="0">
                <a:solidFill>
                  <a:srgbClr val="FF0000"/>
                </a:solidFill>
                <a:ea typeface="微软雅黑" panose="020B0503020204020204" pitchFamily="34" charset="-122"/>
              </a:rPr>
              <a:t>Interface</a:t>
            </a:r>
          </a:p>
        </p:txBody>
      </p:sp>
      <p:sp>
        <p:nvSpPr>
          <p:cNvPr id="55" name="Rectangle 9">
            <a:extLst>
              <a:ext uri="{FF2B5EF4-FFF2-40B4-BE49-F238E27FC236}">
                <a16:creationId xmlns:a16="http://schemas.microsoft.com/office/drawing/2014/main" id="{4EA3C8DA-AFE0-449B-A0ED-C73AC3999173}"/>
              </a:ext>
            </a:extLst>
          </p:cNvPr>
          <p:cNvSpPr/>
          <p:nvPr/>
        </p:nvSpPr>
        <p:spPr bwMode="gray">
          <a:xfrm>
            <a:off x="7942312" y="5064159"/>
            <a:ext cx="1011256" cy="472876"/>
          </a:xfrm>
          <a:prstGeom prst="rect">
            <a:avLst/>
          </a:prstGeom>
          <a:solidFill>
            <a:srgbClr val="56C4D2"/>
          </a:solidFill>
          <a:ln w="12700" cap="flat" cmpd="sng" algn="ctr">
            <a:noFill/>
            <a:prstDash val="solid"/>
          </a:ln>
          <a:effectLst/>
        </p:spPr>
        <p:txBody>
          <a:bodyPr rtlCol="0" anchor="ctr"/>
          <a:lstStyle/>
          <a:p>
            <a:pPr algn="ctr" defTabSz="457200" fontAlgn="base">
              <a:spcBef>
                <a:spcPct val="0"/>
              </a:spcBef>
              <a:spcAft>
                <a:spcPct val="0"/>
              </a:spcAft>
            </a:pPr>
            <a:r>
              <a:rPr lang="en-US" altLang="zh-CN" sz="1400" b="1" kern="0">
                <a:solidFill>
                  <a:schemeClr val="bg1"/>
                </a:solidFill>
                <a:ea typeface="微软雅黑" panose="020B0503020204020204" pitchFamily="34" charset="-122"/>
              </a:rPr>
              <a:t>BGP</a:t>
            </a:r>
            <a:endParaRPr lang="en-US" sz="1400" b="1" kern="0" dirty="0">
              <a:solidFill>
                <a:schemeClr val="bg1"/>
              </a:solidFill>
              <a:ea typeface="微软雅黑" panose="020B0503020204020204" pitchFamily="34" charset="-122"/>
            </a:endParaRPr>
          </a:p>
          <a:p>
            <a:pPr algn="ctr" defTabSz="457200" fontAlgn="base">
              <a:spcBef>
                <a:spcPct val="0"/>
              </a:spcBef>
              <a:spcAft>
                <a:spcPct val="0"/>
              </a:spcAft>
            </a:pPr>
            <a:r>
              <a:rPr lang="en-US" sz="1400" b="1" kern="0" dirty="0">
                <a:solidFill>
                  <a:schemeClr val="bg1"/>
                </a:solidFill>
                <a:ea typeface="微软雅黑" panose="020B0503020204020204" pitchFamily="34" charset="-122"/>
              </a:rPr>
              <a:t>Interface</a:t>
            </a:r>
          </a:p>
        </p:txBody>
      </p:sp>
      <p:sp>
        <p:nvSpPr>
          <p:cNvPr id="56" name="Rectangle 9">
            <a:extLst>
              <a:ext uri="{FF2B5EF4-FFF2-40B4-BE49-F238E27FC236}">
                <a16:creationId xmlns:a16="http://schemas.microsoft.com/office/drawing/2014/main" id="{0596F689-E936-430C-A38E-268793CAF596}"/>
              </a:ext>
            </a:extLst>
          </p:cNvPr>
          <p:cNvSpPr/>
          <p:nvPr/>
        </p:nvSpPr>
        <p:spPr bwMode="gray">
          <a:xfrm>
            <a:off x="9056781" y="5064159"/>
            <a:ext cx="1011256" cy="472876"/>
          </a:xfrm>
          <a:prstGeom prst="rect">
            <a:avLst/>
          </a:prstGeom>
          <a:solidFill>
            <a:srgbClr val="56C4D2"/>
          </a:solidFill>
          <a:ln w="12700" cap="flat" cmpd="sng" algn="ctr">
            <a:noFill/>
            <a:prstDash val="solid"/>
          </a:ln>
          <a:effectLst/>
        </p:spPr>
        <p:txBody>
          <a:bodyPr rtlCol="0" anchor="ctr"/>
          <a:lstStyle/>
          <a:p>
            <a:pPr algn="ctr" defTabSz="457200" fontAlgn="base">
              <a:spcBef>
                <a:spcPct val="0"/>
              </a:spcBef>
              <a:spcAft>
                <a:spcPct val="0"/>
              </a:spcAft>
            </a:pPr>
            <a:r>
              <a:rPr lang="en-US" altLang="zh-CN" sz="1400" b="1" kern="0">
                <a:solidFill>
                  <a:schemeClr val="bg1"/>
                </a:solidFill>
                <a:ea typeface="微软雅黑" panose="020B0503020204020204" pitchFamily="34" charset="-122"/>
              </a:rPr>
              <a:t>JsonRPC</a:t>
            </a:r>
            <a:endParaRPr lang="en-US" sz="1400" b="1" kern="0" dirty="0">
              <a:solidFill>
                <a:schemeClr val="bg1"/>
              </a:solidFill>
              <a:ea typeface="微软雅黑" panose="020B0503020204020204" pitchFamily="34" charset="-122"/>
            </a:endParaRPr>
          </a:p>
          <a:p>
            <a:pPr algn="ctr" defTabSz="457200" fontAlgn="base">
              <a:spcBef>
                <a:spcPct val="0"/>
              </a:spcBef>
              <a:spcAft>
                <a:spcPct val="0"/>
              </a:spcAft>
            </a:pPr>
            <a:r>
              <a:rPr lang="en-US" sz="1400" b="1" kern="0" dirty="0">
                <a:solidFill>
                  <a:schemeClr val="bg1"/>
                </a:solidFill>
                <a:ea typeface="微软雅黑" panose="020B0503020204020204" pitchFamily="34" charset="-122"/>
              </a:rPr>
              <a:t>Interface</a:t>
            </a:r>
          </a:p>
        </p:txBody>
      </p:sp>
      <p:sp>
        <p:nvSpPr>
          <p:cNvPr id="97" name="Rectangle 9">
            <a:extLst>
              <a:ext uri="{FF2B5EF4-FFF2-40B4-BE49-F238E27FC236}">
                <a16:creationId xmlns:a16="http://schemas.microsoft.com/office/drawing/2014/main" id="{C593AF92-314E-4C2E-AFE7-D717B58E6A57}"/>
              </a:ext>
            </a:extLst>
          </p:cNvPr>
          <p:cNvSpPr/>
          <p:nvPr/>
        </p:nvSpPr>
        <p:spPr bwMode="gray">
          <a:xfrm>
            <a:off x="10171249" y="5064159"/>
            <a:ext cx="1107221" cy="472876"/>
          </a:xfrm>
          <a:prstGeom prst="rect">
            <a:avLst/>
          </a:prstGeom>
          <a:solidFill>
            <a:srgbClr val="56C4D2"/>
          </a:solidFill>
          <a:ln w="12700" cap="flat" cmpd="sng" algn="ctr">
            <a:noFill/>
            <a:prstDash val="solid"/>
          </a:ln>
          <a:effectLst/>
        </p:spPr>
        <p:txBody>
          <a:bodyPr rtlCol="0" anchor="ctr"/>
          <a:lstStyle/>
          <a:p>
            <a:pPr algn="ctr" defTabSz="457200" fontAlgn="base">
              <a:spcBef>
                <a:spcPct val="0"/>
              </a:spcBef>
              <a:spcAft>
                <a:spcPct val="0"/>
              </a:spcAft>
            </a:pPr>
            <a:r>
              <a:rPr lang="en-US" sz="1400" b="1" kern="0" dirty="0">
                <a:solidFill>
                  <a:srgbClr val="FF0000"/>
                </a:solidFill>
                <a:ea typeface="微软雅黑" panose="020B0503020204020204" pitchFamily="34" charset="-122"/>
              </a:rPr>
              <a:t>T</a:t>
            </a:r>
            <a:r>
              <a:rPr lang="en-US" altLang="zh-CN" sz="1400" b="1" kern="0" dirty="0">
                <a:solidFill>
                  <a:srgbClr val="FF0000"/>
                </a:solidFill>
                <a:ea typeface="微软雅黑" panose="020B0503020204020204" pitchFamily="34" charset="-122"/>
              </a:rPr>
              <a:t>elemetry</a:t>
            </a:r>
            <a:endParaRPr lang="en-US" sz="1400" b="1" kern="0" dirty="0">
              <a:solidFill>
                <a:srgbClr val="FF0000"/>
              </a:solidFill>
              <a:ea typeface="微软雅黑" panose="020B0503020204020204" pitchFamily="34" charset="-122"/>
            </a:endParaRPr>
          </a:p>
        </p:txBody>
      </p:sp>
      <p:grpSp>
        <p:nvGrpSpPr>
          <p:cNvPr id="109" name="组合 108">
            <a:extLst>
              <a:ext uri="{FF2B5EF4-FFF2-40B4-BE49-F238E27FC236}">
                <a16:creationId xmlns:a16="http://schemas.microsoft.com/office/drawing/2014/main" id="{F409B359-432F-4ABB-B7E2-A9D28CECC3CA}"/>
              </a:ext>
            </a:extLst>
          </p:cNvPr>
          <p:cNvGrpSpPr/>
          <p:nvPr/>
        </p:nvGrpSpPr>
        <p:grpSpPr bwMode="gray">
          <a:xfrm>
            <a:off x="816336" y="4546240"/>
            <a:ext cx="10503611" cy="369332"/>
            <a:chOff x="816336" y="5362372"/>
            <a:chExt cx="10503611" cy="369332"/>
          </a:xfrm>
        </p:grpSpPr>
        <p:cxnSp>
          <p:nvCxnSpPr>
            <p:cNvPr id="98" name="Straight Connector 50">
              <a:extLst>
                <a:ext uri="{FF2B5EF4-FFF2-40B4-BE49-F238E27FC236}">
                  <a16:creationId xmlns:a16="http://schemas.microsoft.com/office/drawing/2014/main" id="{32146411-2BD4-47A3-A8CB-02A9DB8091E0}"/>
                </a:ext>
              </a:extLst>
            </p:cNvPr>
            <p:cNvCxnSpPr>
              <a:cxnSpLocks noChangeShapeType="1"/>
            </p:cNvCxnSpPr>
            <p:nvPr/>
          </p:nvCxnSpPr>
          <p:spPr bwMode="gray">
            <a:xfrm>
              <a:off x="816336" y="5564082"/>
              <a:ext cx="10503611" cy="0"/>
            </a:xfrm>
            <a:prstGeom prst="line">
              <a:avLst/>
            </a:prstGeom>
            <a:noFill/>
            <a:ln w="25400">
              <a:solidFill>
                <a:schemeClr val="tx1"/>
              </a:solidFill>
              <a:round/>
              <a:headEnd/>
              <a:tailEnd/>
            </a:ln>
            <a:effectLst>
              <a:outerShdw dist="20000" dir="5400000" rotWithShape="0">
                <a:srgbClr val="808080">
                  <a:alpha val="37999"/>
                </a:srgbClr>
              </a:outerShdw>
            </a:effectLst>
          </p:spPr>
        </p:cxnSp>
        <p:sp>
          <p:nvSpPr>
            <p:cNvPr id="99" name="TextBox 23">
              <a:extLst>
                <a:ext uri="{FF2B5EF4-FFF2-40B4-BE49-F238E27FC236}">
                  <a16:creationId xmlns:a16="http://schemas.microsoft.com/office/drawing/2014/main" id="{F59BB1A1-1E74-4C99-84BD-23C4E6D05418}"/>
                </a:ext>
              </a:extLst>
            </p:cNvPr>
            <p:cNvSpPr txBox="1">
              <a:spLocks noChangeArrowheads="1"/>
            </p:cNvSpPr>
            <p:nvPr/>
          </p:nvSpPr>
          <p:spPr bwMode="gray">
            <a:xfrm>
              <a:off x="5065411" y="5362372"/>
              <a:ext cx="1569660" cy="369332"/>
            </a:xfrm>
            <a:prstGeom prst="rect">
              <a:avLst/>
            </a:prstGeom>
            <a:solidFill>
              <a:srgbClr val="FFD17D"/>
            </a:solidFill>
            <a:ln w="9525">
              <a:solidFill>
                <a:srgbClr val="FFD17D"/>
              </a:solidFill>
              <a:miter lim="800000"/>
              <a:headEnd/>
              <a:tailEnd/>
            </a:ln>
          </p:spPr>
          <p:txBody>
            <a:bodyPr wrap="none">
              <a:spAutoFit/>
            </a:bodyPr>
            <a:lstStyle>
              <a:defPPr>
                <a:defRPr lang="en-US"/>
              </a:defPPr>
              <a:lvl1pPr>
                <a:defRPr b="0"/>
              </a:lvl1pPr>
            </a:lstStyle>
            <a:p>
              <a:r>
                <a:rPr lang="zh-CN" altLang="en-US" dirty="0"/>
                <a:t>南向</a:t>
              </a:r>
              <a:r>
                <a:rPr lang="zh-CN" altLang="en-US"/>
                <a:t>开放接口</a:t>
              </a:r>
              <a:endParaRPr lang="en-US" altLang="zh-CN" dirty="0"/>
            </a:p>
          </p:txBody>
        </p:sp>
      </p:grpSp>
      <p:grpSp>
        <p:nvGrpSpPr>
          <p:cNvPr id="108" name="组合 107">
            <a:extLst>
              <a:ext uri="{FF2B5EF4-FFF2-40B4-BE49-F238E27FC236}">
                <a16:creationId xmlns:a16="http://schemas.microsoft.com/office/drawing/2014/main" id="{ADA5C32F-3876-4E2B-8605-DD9BF5EDBDC5}"/>
              </a:ext>
            </a:extLst>
          </p:cNvPr>
          <p:cNvGrpSpPr/>
          <p:nvPr/>
        </p:nvGrpSpPr>
        <p:grpSpPr bwMode="gray">
          <a:xfrm>
            <a:off x="816336" y="3139258"/>
            <a:ext cx="10503611" cy="369332"/>
            <a:chOff x="816336" y="2296029"/>
            <a:chExt cx="10503611" cy="369332"/>
          </a:xfrm>
        </p:grpSpPr>
        <p:cxnSp>
          <p:nvCxnSpPr>
            <p:cNvPr id="101" name="Straight Connector 50">
              <a:extLst>
                <a:ext uri="{FF2B5EF4-FFF2-40B4-BE49-F238E27FC236}">
                  <a16:creationId xmlns:a16="http://schemas.microsoft.com/office/drawing/2014/main" id="{5328DD1A-8836-4A63-882D-B8E3AC485033}"/>
                </a:ext>
              </a:extLst>
            </p:cNvPr>
            <p:cNvCxnSpPr>
              <a:cxnSpLocks noChangeShapeType="1"/>
            </p:cNvCxnSpPr>
            <p:nvPr/>
          </p:nvCxnSpPr>
          <p:spPr bwMode="gray">
            <a:xfrm>
              <a:off x="816336" y="2485864"/>
              <a:ext cx="10503611" cy="0"/>
            </a:xfrm>
            <a:prstGeom prst="line">
              <a:avLst/>
            </a:prstGeom>
            <a:noFill/>
            <a:ln w="25400">
              <a:solidFill>
                <a:schemeClr val="tx1"/>
              </a:solidFill>
              <a:round/>
              <a:headEnd/>
              <a:tailEnd/>
            </a:ln>
            <a:effectLst>
              <a:outerShdw dist="20000" dir="5400000" rotWithShape="0">
                <a:srgbClr val="808080">
                  <a:alpha val="37999"/>
                </a:srgbClr>
              </a:outerShdw>
            </a:effectLst>
          </p:spPr>
        </p:cxnSp>
        <p:sp>
          <p:nvSpPr>
            <p:cNvPr id="102" name="TextBox 23">
              <a:extLst>
                <a:ext uri="{FF2B5EF4-FFF2-40B4-BE49-F238E27FC236}">
                  <a16:creationId xmlns:a16="http://schemas.microsoft.com/office/drawing/2014/main" id="{B26AEF1C-5398-4448-8FF5-A546A73D1441}"/>
                </a:ext>
              </a:extLst>
            </p:cNvPr>
            <p:cNvSpPr txBox="1">
              <a:spLocks noChangeArrowheads="1"/>
            </p:cNvSpPr>
            <p:nvPr/>
          </p:nvSpPr>
          <p:spPr bwMode="gray">
            <a:xfrm>
              <a:off x="5065411" y="2296029"/>
              <a:ext cx="1569660" cy="369332"/>
            </a:xfrm>
            <a:prstGeom prst="rect">
              <a:avLst/>
            </a:prstGeom>
            <a:solidFill>
              <a:srgbClr val="FFD17D"/>
            </a:solidFill>
            <a:ln w="9525">
              <a:solidFill>
                <a:srgbClr val="FFD17D"/>
              </a:solidFill>
              <a:miter lim="800000"/>
              <a:headEnd/>
              <a:tailEnd/>
            </a:ln>
          </p:spPr>
          <p:txBody>
            <a:bodyPr wrap="none">
              <a:spAutoFit/>
            </a:bodyPr>
            <a:lstStyle>
              <a:defPPr>
                <a:defRPr lang="en-US"/>
              </a:defPPr>
              <a:lvl1pPr>
                <a:defRPr b="1">
                  <a:solidFill>
                    <a:schemeClr val="bg1"/>
                  </a:solidFill>
                </a:defRPr>
              </a:lvl1pPr>
            </a:lstStyle>
            <a:p>
              <a:r>
                <a:rPr lang="zh-CN" altLang="en-US" b="0">
                  <a:solidFill>
                    <a:schemeClr val="tx1"/>
                  </a:solidFill>
                </a:rPr>
                <a:t>北向开放接口</a:t>
              </a:r>
              <a:endParaRPr lang="en-US" altLang="zh-CN" b="0" dirty="0">
                <a:solidFill>
                  <a:schemeClr val="tx1"/>
                </a:solidFill>
              </a:endParaRPr>
            </a:p>
          </p:txBody>
        </p:sp>
      </p:grpSp>
      <p:sp>
        <p:nvSpPr>
          <p:cNvPr id="113" name="TextBox 207">
            <a:extLst>
              <a:ext uri="{FF2B5EF4-FFF2-40B4-BE49-F238E27FC236}">
                <a16:creationId xmlns:a16="http://schemas.microsoft.com/office/drawing/2014/main" id="{D45CE9C8-9208-4762-AB8C-FD9D2474A4EF}"/>
              </a:ext>
            </a:extLst>
          </p:cNvPr>
          <p:cNvSpPr txBox="1"/>
          <p:nvPr/>
        </p:nvSpPr>
        <p:spPr bwMode="gray">
          <a:xfrm>
            <a:off x="4582754" y="2699174"/>
            <a:ext cx="1543178" cy="342426"/>
          </a:xfrm>
          <a:prstGeom prst="rect">
            <a:avLst/>
          </a:prstGeom>
          <a:solidFill>
            <a:srgbClr val="56C4D2"/>
          </a:solidFill>
          <a:ln w="12700" cap="flat" cmpd="sng" algn="ctr">
            <a:noFill/>
            <a:prstDash val="solid"/>
          </a:ln>
          <a:effectLst/>
        </p:spPr>
        <p:txBody>
          <a:bodyPr rtlCol="0" anchor="ctr"/>
          <a:lstStyle>
            <a:defPPr>
              <a:defRPr lang="en-US"/>
            </a:defPPr>
            <a:lvl1pPr lvl="0" algn="ctr" defTabSz="457200" fontAlgn="base">
              <a:spcBef>
                <a:spcPct val="0"/>
              </a:spcBef>
              <a:spcAft>
                <a:spcPct val="0"/>
              </a:spcAft>
              <a:defRPr sz="1400" b="0" kern="0">
                <a:ea typeface="微软雅黑" panose="020B0503020204020204" pitchFamily="34" charset="-122"/>
              </a:defRPr>
            </a:lvl1pPr>
          </a:lstStyle>
          <a:p>
            <a:r>
              <a:rPr lang="en-US" altLang="zh-CN" b="1" dirty="0">
                <a:solidFill>
                  <a:schemeClr val="bg1"/>
                </a:solidFill>
              </a:rPr>
              <a:t>SNMP</a:t>
            </a:r>
            <a:endParaRPr lang="zh-CN" altLang="en-US" b="1" dirty="0">
              <a:solidFill>
                <a:schemeClr val="bg1"/>
              </a:solidFill>
            </a:endParaRPr>
          </a:p>
        </p:txBody>
      </p:sp>
      <p:sp>
        <p:nvSpPr>
          <p:cNvPr id="114" name="TextBox 207">
            <a:extLst>
              <a:ext uri="{FF2B5EF4-FFF2-40B4-BE49-F238E27FC236}">
                <a16:creationId xmlns:a16="http://schemas.microsoft.com/office/drawing/2014/main" id="{CFEB600A-E433-4F11-BAF8-2E5656232F60}"/>
              </a:ext>
            </a:extLst>
          </p:cNvPr>
          <p:cNvSpPr txBox="1"/>
          <p:nvPr/>
        </p:nvSpPr>
        <p:spPr bwMode="gray">
          <a:xfrm>
            <a:off x="9533128" y="2699174"/>
            <a:ext cx="1745342" cy="342426"/>
          </a:xfrm>
          <a:prstGeom prst="rect">
            <a:avLst/>
          </a:prstGeom>
          <a:solidFill>
            <a:srgbClr val="56C4D2"/>
          </a:solidFill>
          <a:ln w="12700" cap="flat" cmpd="sng" algn="ctr">
            <a:noFill/>
            <a:prstDash val="solid"/>
          </a:ln>
          <a:effectLst/>
        </p:spPr>
        <p:txBody>
          <a:bodyPr rtlCol="0" anchor="ctr"/>
          <a:lstStyle>
            <a:defPPr>
              <a:defRPr lang="en-US"/>
            </a:defPPr>
            <a:lvl1pPr lvl="0" algn="ctr" defTabSz="457200" fontAlgn="base">
              <a:spcBef>
                <a:spcPct val="0"/>
              </a:spcBef>
              <a:spcAft>
                <a:spcPct val="0"/>
              </a:spcAft>
              <a:defRPr sz="1400" b="0" kern="0">
                <a:ea typeface="微软雅黑" panose="020B0503020204020204" pitchFamily="34" charset="-122"/>
              </a:defRPr>
            </a:lvl1pPr>
          </a:lstStyle>
          <a:p>
            <a:r>
              <a:rPr lang="en-US" altLang="zh-CN" b="1">
                <a:solidFill>
                  <a:schemeClr val="bg1"/>
                </a:solidFill>
              </a:rPr>
              <a:t>RESTCONF</a:t>
            </a:r>
            <a:endParaRPr lang="zh-CN" altLang="en-US" b="1" dirty="0">
              <a:solidFill>
                <a:schemeClr val="bg1"/>
              </a:solidFill>
            </a:endParaRPr>
          </a:p>
        </p:txBody>
      </p:sp>
      <p:pic>
        <p:nvPicPr>
          <p:cNvPr id="82" name="图片 81">
            <a:extLst>
              <a:ext uri="{FF2B5EF4-FFF2-40B4-BE49-F238E27FC236}">
                <a16:creationId xmlns:a16="http://schemas.microsoft.com/office/drawing/2014/main" id="{879E8BBC-9F93-4DCD-BD8B-9D504F419BD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4428006" y="3784085"/>
            <a:ext cx="2734546" cy="504323"/>
          </a:xfrm>
          <a:prstGeom prst="rect">
            <a:avLst/>
          </a:prstGeom>
        </p:spPr>
      </p:pic>
    </p:spTree>
    <p:extLst>
      <p:ext uri="{BB962C8B-B14F-4D97-AF65-F5344CB8AC3E}">
        <p14:creationId xmlns:p14="http://schemas.microsoft.com/office/powerpoint/2010/main" val="838021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2E8BB6-9A9E-4961-A5E3-2A659AC971A0}"/>
              </a:ext>
            </a:extLst>
          </p:cNvPr>
          <p:cNvSpPr>
            <a:spLocks noGrp="1"/>
          </p:cNvSpPr>
          <p:nvPr>
            <p:ph type="title"/>
          </p:nvPr>
        </p:nvSpPr>
        <p:spPr bwMode="gray"/>
        <p:txBody>
          <a:bodyPr/>
          <a:lstStyle/>
          <a:p>
            <a:r>
              <a:rPr lang="zh-CN" altLang="en-US" dirty="0"/>
              <a:t>华为</a:t>
            </a:r>
            <a:r>
              <a:rPr lang="en-US" altLang="zh-CN" dirty="0"/>
              <a:t>SDN</a:t>
            </a:r>
            <a:r>
              <a:rPr lang="zh-CN" altLang="en-US" dirty="0"/>
              <a:t>解决方案：管、控、析构建智简网络</a:t>
            </a:r>
          </a:p>
        </p:txBody>
      </p:sp>
      <p:cxnSp>
        <p:nvCxnSpPr>
          <p:cNvPr id="3" name="直接连接符 2">
            <a:extLst>
              <a:ext uri="{FF2B5EF4-FFF2-40B4-BE49-F238E27FC236}">
                <a16:creationId xmlns:a16="http://schemas.microsoft.com/office/drawing/2014/main" id="{4D8DEFD4-4C9E-4976-8288-9FF9FBE2C4E1}"/>
              </a:ext>
            </a:extLst>
          </p:cNvPr>
          <p:cNvCxnSpPr/>
          <p:nvPr/>
        </p:nvCxnSpPr>
        <p:spPr bwMode="gray">
          <a:xfrm>
            <a:off x="8198551" y="5148887"/>
            <a:ext cx="737209" cy="22378"/>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B3AA4DAF-F6CF-4676-A8F8-10E99328AA5F}"/>
              </a:ext>
            </a:extLst>
          </p:cNvPr>
          <p:cNvCxnSpPr/>
          <p:nvPr/>
        </p:nvCxnSpPr>
        <p:spPr bwMode="gray">
          <a:xfrm>
            <a:off x="4114503" y="5155369"/>
            <a:ext cx="782504" cy="15896"/>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sp>
        <p:nvSpPr>
          <p:cNvPr id="5" name="圆角矩形 241">
            <a:extLst>
              <a:ext uri="{FF2B5EF4-FFF2-40B4-BE49-F238E27FC236}">
                <a16:creationId xmlns:a16="http://schemas.microsoft.com/office/drawing/2014/main" id="{3FD5CF84-A7F0-4A4D-95F0-8A579FA749AD}"/>
              </a:ext>
            </a:extLst>
          </p:cNvPr>
          <p:cNvSpPr/>
          <p:nvPr/>
        </p:nvSpPr>
        <p:spPr bwMode="gray">
          <a:xfrm>
            <a:off x="1537632" y="2379593"/>
            <a:ext cx="10127117" cy="1090954"/>
          </a:xfrm>
          <a:prstGeom prst="roundRect">
            <a:avLst>
              <a:gd name="adj" fmla="val 0"/>
            </a:avLst>
          </a:prstGeom>
          <a:noFill/>
          <a:ln w="12700">
            <a:solidFill>
              <a:srgbClr val="94DAE2"/>
            </a:solidFill>
            <a:prstDash val="solid"/>
          </a:ln>
          <a:effectLst/>
        </p:spPr>
        <p:style>
          <a:lnRef idx="3">
            <a:schemeClr val="lt1"/>
          </a:lnRef>
          <a:fillRef idx="1">
            <a:schemeClr val="accent1"/>
          </a:fillRef>
          <a:effectRef idx="1">
            <a:schemeClr val="accent1"/>
          </a:effectRef>
          <a:fontRef idx="minor">
            <a:schemeClr val="lt1"/>
          </a:fontRef>
        </p:style>
        <p:txBody>
          <a:bodyPr lIns="47963" tIns="47963" rIns="47963" bIns="47963" anchor="ctr" anchorCtr="1"/>
          <a:lstStyle/>
          <a:p>
            <a:pPr indent="-138940" algn="ctr" defTabSz="798001" eaLnBrk="0" fontAlgn="base" hangingPunct="0">
              <a:spcBef>
                <a:spcPct val="0"/>
              </a:spcBef>
              <a:spcAft>
                <a:spcPct val="0"/>
              </a:spcAft>
              <a:buClr>
                <a:srgbClr val="1F497D"/>
              </a:buClr>
            </a:pPr>
            <a:endParaRPr kumimoji="1" lang="zh-CN" altLang="en-US" sz="1600" kern="0" dirty="0">
              <a:solidFill>
                <a:schemeClr val="tx1"/>
              </a:solidFill>
              <a:cs typeface="+mn-ea"/>
              <a:sym typeface="+mn-lt"/>
            </a:endParaRPr>
          </a:p>
        </p:txBody>
      </p:sp>
      <p:sp>
        <p:nvSpPr>
          <p:cNvPr id="6" name="圆角矩形 242">
            <a:extLst>
              <a:ext uri="{FF2B5EF4-FFF2-40B4-BE49-F238E27FC236}">
                <a16:creationId xmlns:a16="http://schemas.microsoft.com/office/drawing/2014/main" id="{33EC6F21-CCB4-4F8E-A4E5-AF7AF1378308}"/>
              </a:ext>
            </a:extLst>
          </p:cNvPr>
          <p:cNvSpPr/>
          <p:nvPr/>
        </p:nvSpPr>
        <p:spPr bwMode="gray">
          <a:xfrm>
            <a:off x="1537634" y="1339477"/>
            <a:ext cx="10127116" cy="829185"/>
          </a:xfrm>
          <a:prstGeom prst="roundRect">
            <a:avLst>
              <a:gd name="adj" fmla="val 0"/>
            </a:avLst>
          </a:prstGeom>
          <a:noFill/>
          <a:ln w="12700">
            <a:solidFill>
              <a:srgbClr val="94DAE2"/>
            </a:solidFill>
            <a:prstDash val="solid"/>
          </a:ln>
          <a:effectLst/>
        </p:spPr>
        <p:style>
          <a:lnRef idx="3">
            <a:schemeClr val="lt1"/>
          </a:lnRef>
          <a:fillRef idx="1">
            <a:schemeClr val="accent1"/>
          </a:fillRef>
          <a:effectRef idx="1">
            <a:schemeClr val="accent1"/>
          </a:effectRef>
          <a:fontRef idx="minor">
            <a:schemeClr val="lt1"/>
          </a:fontRef>
        </p:style>
        <p:txBody>
          <a:bodyPr lIns="47963" tIns="47963" rIns="47963" bIns="47963" anchor="ctr" anchorCtr="1"/>
          <a:lstStyle/>
          <a:p>
            <a:pPr indent="-138940" algn="ctr" defTabSz="798001" eaLnBrk="0" fontAlgn="base" hangingPunct="0">
              <a:spcBef>
                <a:spcPct val="0"/>
              </a:spcBef>
              <a:spcAft>
                <a:spcPct val="0"/>
              </a:spcAft>
              <a:buClr>
                <a:srgbClr val="1F497D"/>
              </a:buClr>
              <a:defRPr/>
            </a:pPr>
            <a:endParaRPr kumimoji="1" lang="en-US" altLang="zh-CN" sz="1600" kern="0" dirty="0">
              <a:solidFill>
                <a:schemeClr val="tx1"/>
              </a:solidFill>
              <a:cs typeface="+mn-ea"/>
              <a:sym typeface="+mn-lt"/>
            </a:endParaRPr>
          </a:p>
        </p:txBody>
      </p:sp>
      <p:sp>
        <p:nvSpPr>
          <p:cNvPr id="7" name="433369346">
            <a:extLst>
              <a:ext uri="{FF2B5EF4-FFF2-40B4-BE49-F238E27FC236}">
                <a16:creationId xmlns:a16="http://schemas.microsoft.com/office/drawing/2014/main" id="{7E8C4528-2537-4FDA-8A93-BC6604E093EE}"/>
              </a:ext>
            </a:extLst>
          </p:cNvPr>
          <p:cNvSpPr txBox="1">
            <a:spLocks noChangeArrowheads="1"/>
          </p:cNvSpPr>
          <p:nvPr/>
        </p:nvSpPr>
        <p:spPr bwMode="gray">
          <a:xfrm>
            <a:off x="5196619" y="1521483"/>
            <a:ext cx="672225" cy="584775"/>
          </a:xfrm>
          <a:prstGeom prst="rect">
            <a:avLst/>
          </a:prstGeom>
          <a:noFill/>
          <a:ln w="9525">
            <a:noFill/>
            <a:miter lim="800000"/>
            <a:headEnd/>
            <a:tailEnd/>
          </a:ln>
        </p:spPr>
        <p:txBody>
          <a:bodyPr wrap="square">
            <a:spAutoFit/>
          </a:bodyPr>
          <a:lstStyle/>
          <a:p>
            <a:pPr algn="ctr" defTabSz="1219150">
              <a:buSzPct val="100000"/>
            </a:pPr>
            <a:r>
              <a:rPr lang="zh-CN" altLang="en-US" sz="1600" dirty="0">
                <a:cs typeface="+mn-ea"/>
                <a:sym typeface="+mn-lt"/>
              </a:rPr>
              <a:t>自助</a:t>
            </a:r>
            <a:endParaRPr lang="en-US" altLang="zh-CN" sz="1600" dirty="0">
              <a:cs typeface="+mn-ea"/>
              <a:sym typeface="+mn-lt"/>
            </a:endParaRPr>
          </a:p>
          <a:p>
            <a:pPr algn="ctr" defTabSz="1219150">
              <a:buSzPct val="100000"/>
            </a:pPr>
            <a:r>
              <a:rPr lang="zh-CN" altLang="en-US" sz="1600" dirty="0">
                <a:cs typeface="+mn-ea"/>
                <a:sym typeface="+mn-lt"/>
              </a:rPr>
              <a:t>门户</a:t>
            </a:r>
            <a:endParaRPr lang="zh-CN" altLang="zh-CN" sz="1600" dirty="0">
              <a:cs typeface="+mn-ea"/>
              <a:sym typeface="+mn-lt"/>
            </a:endParaRPr>
          </a:p>
        </p:txBody>
      </p:sp>
      <p:sp>
        <p:nvSpPr>
          <p:cNvPr id="8" name="Freeform 13">
            <a:extLst>
              <a:ext uri="{FF2B5EF4-FFF2-40B4-BE49-F238E27FC236}">
                <a16:creationId xmlns:a16="http://schemas.microsoft.com/office/drawing/2014/main" id="{5F25E1FC-A160-4E1F-A2B0-661FBE85A3F2}"/>
              </a:ext>
            </a:extLst>
          </p:cNvPr>
          <p:cNvSpPr>
            <a:spLocks noEditPoints="1"/>
          </p:cNvSpPr>
          <p:nvPr/>
        </p:nvSpPr>
        <p:spPr bwMode="gray">
          <a:xfrm>
            <a:off x="6594684" y="1514374"/>
            <a:ext cx="130450" cy="236939"/>
          </a:xfrm>
          <a:custGeom>
            <a:avLst/>
            <a:gdLst>
              <a:gd name="T0" fmla="*/ 217 w 245"/>
              <a:gd name="T1" fmla="*/ 0 h 420"/>
              <a:gd name="T2" fmla="*/ 28 w 245"/>
              <a:gd name="T3" fmla="*/ 0 h 420"/>
              <a:gd name="T4" fmla="*/ 0 w 245"/>
              <a:gd name="T5" fmla="*/ 27 h 420"/>
              <a:gd name="T6" fmla="*/ 0 w 245"/>
              <a:gd name="T7" fmla="*/ 393 h 420"/>
              <a:gd name="T8" fmla="*/ 28 w 245"/>
              <a:gd name="T9" fmla="*/ 420 h 420"/>
              <a:gd name="T10" fmla="*/ 217 w 245"/>
              <a:gd name="T11" fmla="*/ 420 h 420"/>
              <a:gd name="T12" fmla="*/ 245 w 245"/>
              <a:gd name="T13" fmla="*/ 393 h 420"/>
              <a:gd name="T14" fmla="*/ 245 w 245"/>
              <a:gd name="T15" fmla="*/ 27 h 420"/>
              <a:gd name="T16" fmla="*/ 217 w 245"/>
              <a:gd name="T17" fmla="*/ 0 h 420"/>
              <a:gd name="T18" fmla="*/ 85 w 245"/>
              <a:gd name="T19" fmla="*/ 25 h 420"/>
              <a:gd name="T20" fmla="*/ 160 w 245"/>
              <a:gd name="T21" fmla="*/ 25 h 420"/>
              <a:gd name="T22" fmla="*/ 167 w 245"/>
              <a:gd name="T23" fmla="*/ 31 h 420"/>
              <a:gd name="T24" fmla="*/ 160 w 245"/>
              <a:gd name="T25" fmla="*/ 37 h 420"/>
              <a:gd name="T26" fmla="*/ 85 w 245"/>
              <a:gd name="T27" fmla="*/ 37 h 420"/>
              <a:gd name="T28" fmla="*/ 79 w 245"/>
              <a:gd name="T29" fmla="*/ 31 h 420"/>
              <a:gd name="T30" fmla="*/ 85 w 245"/>
              <a:gd name="T31" fmla="*/ 25 h 420"/>
              <a:gd name="T32" fmla="*/ 123 w 245"/>
              <a:gd name="T33" fmla="*/ 403 h 420"/>
              <a:gd name="T34" fmla="*/ 103 w 245"/>
              <a:gd name="T35" fmla="*/ 384 h 420"/>
              <a:gd name="T36" fmla="*/ 123 w 245"/>
              <a:gd name="T37" fmla="*/ 364 h 420"/>
              <a:gd name="T38" fmla="*/ 142 w 245"/>
              <a:gd name="T39" fmla="*/ 384 h 420"/>
              <a:gd name="T40" fmla="*/ 123 w 245"/>
              <a:gd name="T41" fmla="*/ 403 h 420"/>
              <a:gd name="T42" fmla="*/ 216 w 245"/>
              <a:gd name="T43" fmla="*/ 344 h 420"/>
              <a:gd name="T44" fmla="*/ 30 w 245"/>
              <a:gd name="T45" fmla="*/ 344 h 420"/>
              <a:gd name="T46" fmla="*/ 30 w 245"/>
              <a:gd name="T47" fmla="*/ 59 h 420"/>
              <a:gd name="T48" fmla="*/ 216 w 245"/>
              <a:gd name="T49" fmla="*/ 59 h 420"/>
              <a:gd name="T50" fmla="*/ 216 w 245"/>
              <a:gd name="T51" fmla="*/ 344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420">
                <a:moveTo>
                  <a:pt x="217" y="0"/>
                </a:moveTo>
                <a:cubicBezTo>
                  <a:pt x="28" y="0"/>
                  <a:pt x="28" y="0"/>
                  <a:pt x="28" y="0"/>
                </a:cubicBezTo>
                <a:cubicBezTo>
                  <a:pt x="13" y="0"/>
                  <a:pt x="0" y="12"/>
                  <a:pt x="0" y="27"/>
                </a:cubicBezTo>
                <a:cubicBezTo>
                  <a:pt x="0" y="393"/>
                  <a:pt x="0" y="393"/>
                  <a:pt x="0" y="393"/>
                </a:cubicBezTo>
                <a:cubicBezTo>
                  <a:pt x="0" y="408"/>
                  <a:pt x="13" y="420"/>
                  <a:pt x="28" y="420"/>
                </a:cubicBezTo>
                <a:cubicBezTo>
                  <a:pt x="217" y="420"/>
                  <a:pt x="217" y="420"/>
                  <a:pt x="217" y="420"/>
                </a:cubicBezTo>
                <a:cubicBezTo>
                  <a:pt x="233" y="420"/>
                  <a:pt x="245" y="408"/>
                  <a:pt x="245" y="393"/>
                </a:cubicBezTo>
                <a:cubicBezTo>
                  <a:pt x="245" y="27"/>
                  <a:pt x="245" y="27"/>
                  <a:pt x="245" y="27"/>
                </a:cubicBezTo>
                <a:cubicBezTo>
                  <a:pt x="245" y="12"/>
                  <a:pt x="233" y="0"/>
                  <a:pt x="217" y="0"/>
                </a:cubicBezTo>
                <a:close/>
                <a:moveTo>
                  <a:pt x="85" y="25"/>
                </a:moveTo>
                <a:cubicBezTo>
                  <a:pt x="160" y="25"/>
                  <a:pt x="160" y="25"/>
                  <a:pt x="160" y="25"/>
                </a:cubicBezTo>
                <a:cubicBezTo>
                  <a:pt x="164" y="25"/>
                  <a:pt x="167" y="27"/>
                  <a:pt x="167" y="31"/>
                </a:cubicBezTo>
                <a:cubicBezTo>
                  <a:pt x="167" y="34"/>
                  <a:pt x="164" y="37"/>
                  <a:pt x="160" y="37"/>
                </a:cubicBezTo>
                <a:cubicBezTo>
                  <a:pt x="85" y="37"/>
                  <a:pt x="85" y="37"/>
                  <a:pt x="85" y="37"/>
                </a:cubicBezTo>
                <a:cubicBezTo>
                  <a:pt x="81" y="37"/>
                  <a:pt x="79" y="34"/>
                  <a:pt x="79" y="31"/>
                </a:cubicBezTo>
                <a:cubicBezTo>
                  <a:pt x="79" y="27"/>
                  <a:pt x="81" y="25"/>
                  <a:pt x="85" y="25"/>
                </a:cubicBezTo>
                <a:close/>
                <a:moveTo>
                  <a:pt x="123" y="403"/>
                </a:moveTo>
                <a:cubicBezTo>
                  <a:pt x="112" y="403"/>
                  <a:pt x="103" y="394"/>
                  <a:pt x="103" y="384"/>
                </a:cubicBezTo>
                <a:cubicBezTo>
                  <a:pt x="103" y="373"/>
                  <a:pt x="112" y="364"/>
                  <a:pt x="123" y="364"/>
                </a:cubicBezTo>
                <a:cubicBezTo>
                  <a:pt x="133" y="364"/>
                  <a:pt x="142" y="373"/>
                  <a:pt x="142" y="384"/>
                </a:cubicBezTo>
                <a:cubicBezTo>
                  <a:pt x="142" y="394"/>
                  <a:pt x="133" y="403"/>
                  <a:pt x="123" y="403"/>
                </a:cubicBezTo>
                <a:close/>
                <a:moveTo>
                  <a:pt x="216" y="344"/>
                </a:moveTo>
                <a:cubicBezTo>
                  <a:pt x="30" y="344"/>
                  <a:pt x="30" y="344"/>
                  <a:pt x="30" y="344"/>
                </a:cubicBezTo>
                <a:cubicBezTo>
                  <a:pt x="30" y="59"/>
                  <a:pt x="30" y="59"/>
                  <a:pt x="30" y="59"/>
                </a:cubicBezTo>
                <a:cubicBezTo>
                  <a:pt x="216" y="59"/>
                  <a:pt x="216" y="59"/>
                  <a:pt x="216" y="59"/>
                </a:cubicBezTo>
                <a:lnTo>
                  <a:pt x="216" y="344"/>
                </a:lnTo>
                <a:close/>
              </a:path>
            </a:pathLst>
          </a:custGeom>
          <a:solidFill>
            <a:srgbClr val="00B0F0"/>
          </a:solidFill>
          <a:ln>
            <a:solidFill>
              <a:srgbClr val="0070C0"/>
            </a:solidFill>
          </a:ln>
        </p:spPr>
        <p:txBody>
          <a:bodyPr vert="horz" wrap="square" lIns="91458" tIns="45730" rIns="91458" bIns="45730" numCol="1" anchor="t" anchorCtr="0" compatLnSpc="1">
            <a:prstTxWarp prst="textNoShape">
              <a:avLst/>
            </a:prstTxWarp>
          </a:bodyPr>
          <a:lstStyle/>
          <a:p>
            <a:pPr algn="ctr" defTabSz="1219394">
              <a:defRPr/>
            </a:pPr>
            <a:endParaRPr lang="zh-CN" altLang="en-US" sz="1600" kern="0">
              <a:cs typeface="+mn-ea"/>
              <a:sym typeface="+mn-lt"/>
            </a:endParaRPr>
          </a:p>
        </p:txBody>
      </p:sp>
      <p:sp>
        <p:nvSpPr>
          <p:cNvPr id="9" name="409847224">
            <a:extLst>
              <a:ext uri="{FF2B5EF4-FFF2-40B4-BE49-F238E27FC236}">
                <a16:creationId xmlns:a16="http://schemas.microsoft.com/office/drawing/2014/main" id="{EE33759B-5358-47F3-B7F0-2ACD46580B53}"/>
              </a:ext>
            </a:extLst>
          </p:cNvPr>
          <p:cNvSpPr txBox="1">
            <a:spLocks noChangeArrowheads="1"/>
          </p:cNvSpPr>
          <p:nvPr/>
        </p:nvSpPr>
        <p:spPr bwMode="gray">
          <a:xfrm>
            <a:off x="6769357" y="1531890"/>
            <a:ext cx="705617" cy="584775"/>
          </a:xfrm>
          <a:prstGeom prst="rect">
            <a:avLst/>
          </a:prstGeom>
          <a:noFill/>
          <a:ln w="9525">
            <a:noFill/>
            <a:miter lim="800000"/>
            <a:headEnd/>
            <a:tailEnd/>
          </a:ln>
        </p:spPr>
        <p:txBody>
          <a:bodyPr wrap="square">
            <a:spAutoFit/>
          </a:bodyPr>
          <a:lstStyle/>
          <a:p>
            <a:pPr algn="ctr" defTabSz="1219150">
              <a:buSzPct val="100000"/>
            </a:pPr>
            <a:r>
              <a:rPr lang="zh-CN" altLang="en-US" sz="1600" dirty="0">
                <a:cs typeface="+mn-ea"/>
                <a:sym typeface="+mn-lt"/>
              </a:rPr>
              <a:t>移动</a:t>
            </a:r>
            <a:endParaRPr lang="en-US" altLang="zh-CN" sz="1600" dirty="0">
              <a:cs typeface="+mn-ea"/>
              <a:sym typeface="+mn-lt"/>
            </a:endParaRPr>
          </a:p>
          <a:p>
            <a:pPr algn="ctr" defTabSz="1219150">
              <a:buSzPct val="100000"/>
            </a:pPr>
            <a:r>
              <a:rPr lang="en-US" altLang="zh-CN" sz="1600" dirty="0">
                <a:cs typeface="+mn-ea"/>
                <a:sym typeface="+mn-lt"/>
              </a:rPr>
              <a:t>APP</a:t>
            </a:r>
            <a:endParaRPr lang="zh-CN" altLang="zh-CN" sz="1600" dirty="0">
              <a:cs typeface="+mn-ea"/>
              <a:sym typeface="+mn-lt"/>
            </a:endParaRPr>
          </a:p>
        </p:txBody>
      </p:sp>
      <p:sp>
        <p:nvSpPr>
          <p:cNvPr id="11" name="1197933812">
            <a:extLst>
              <a:ext uri="{FF2B5EF4-FFF2-40B4-BE49-F238E27FC236}">
                <a16:creationId xmlns:a16="http://schemas.microsoft.com/office/drawing/2014/main" id="{33591F1A-D886-4748-83F4-CA923CC77875}"/>
              </a:ext>
            </a:extLst>
          </p:cNvPr>
          <p:cNvSpPr txBox="1">
            <a:spLocks noChangeArrowheads="1"/>
          </p:cNvSpPr>
          <p:nvPr/>
        </p:nvSpPr>
        <p:spPr bwMode="gray">
          <a:xfrm>
            <a:off x="8403988" y="1540107"/>
            <a:ext cx="1069204" cy="584775"/>
          </a:xfrm>
          <a:prstGeom prst="rect">
            <a:avLst/>
          </a:prstGeom>
          <a:noFill/>
          <a:ln w="9525">
            <a:noFill/>
            <a:miter lim="800000"/>
            <a:headEnd/>
            <a:tailEnd/>
          </a:ln>
        </p:spPr>
        <p:txBody>
          <a:bodyPr wrap="square">
            <a:spAutoFit/>
          </a:bodyPr>
          <a:lstStyle/>
          <a:p>
            <a:pPr algn="ctr" defTabSz="1219150">
              <a:buSzPct val="100000"/>
            </a:pPr>
            <a:r>
              <a:rPr lang="zh-CN" altLang="en-US" sz="1600" dirty="0">
                <a:cs typeface="+mn-ea"/>
                <a:sym typeface="+mn-lt"/>
              </a:rPr>
              <a:t>第三方</a:t>
            </a:r>
            <a:r>
              <a:rPr lang="en-US" altLang="zh-CN" sz="1600" dirty="0">
                <a:cs typeface="+mn-ea"/>
                <a:sym typeface="+mn-lt"/>
              </a:rPr>
              <a:t> APP</a:t>
            </a:r>
            <a:endParaRPr lang="zh-CN" altLang="zh-CN" sz="1600" dirty="0">
              <a:cs typeface="+mn-ea"/>
              <a:sym typeface="+mn-lt"/>
            </a:endParaRPr>
          </a:p>
        </p:txBody>
      </p:sp>
      <p:sp>
        <p:nvSpPr>
          <p:cNvPr id="12" name="弧形 11">
            <a:extLst>
              <a:ext uri="{FF2B5EF4-FFF2-40B4-BE49-F238E27FC236}">
                <a16:creationId xmlns:a16="http://schemas.microsoft.com/office/drawing/2014/main" id="{EF1B09CD-CEB4-4B0C-A07E-546C6DC18A89}"/>
              </a:ext>
            </a:extLst>
          </p:cNvPr>
          <p:cNvSpPr/>
          <p:nvPr/>
        </p:nvSpPr>
        <p:spPr bwMode="gray">
          <a:xfrm>
            <a:off x="5070845" y="1512070"/>
            <a:ext cx="975241" cy="565988"/>
          </a:xfrm>
          <a:prstGeom prst="arc">
            <a:avLst>
              <a:gd name="adj1" fmla="val 14445679"/>
              <a:gd name="adj2" fmla="val 10762572"/>
            </a:avLst>
          </a:prstGeom>
          <a:noFill/>
          <a:ln w="12700">
            <a:solidFill>
              <a:srgbClr val="94DAE2"/>
            </a:solidFill>
          </a:ln>
          <a:effectLst/>
        </p:spPr>
        <p:txBody>
          <a:bodyPr vert="horz" wrap="square" lIns="0" tIns="0" rIns="0" bIns="0" numCol="1" rtlCol="0" anchor="ctr" anchorCtr="0" compatLnSpc="1">
            <a:prstTxWarp prst="textNoShape">
              <a:avLst/>
            </a:prstTxWarp>
          </a:bodyPr>
          <a:lstStyle/>
          <a:p>
            <a:pPr algn="ctr" defTabSz="488284" fontAlgn="base">
              <a:spcBef>
                <a:spcPct val="0"/>
              </a:spcBef>
              <a:spcAft>
                <a:spcPct val="0"/>
              </a:spcAft>
              <a:buClr>
                <a:srgbClr val="CC9900"/>
              </a:buClr>
            </a:pPr>
            <a:endParaRPr lang="zh-CN" altLang="en-US" sz="1600">
              <a:cs typeface="+mn-ea"/>
              <a:sym typeface="+mn-lt"/>
            </a:endParaRPr>
          </a:p>
        </p:txBody>
      </p:sp>
      <p:sp>
        <p:nvSpPr>
          <p:cNvPr id="13" name="弧形 12">
            <a:extLst>
              <a:ext uri="{FF2B5EF4-FFF2-40B4-BE49-F238E27FC236}">
                <a16:creationId xmlns:a16="http://schemas.microsoft.com/office/drawing/2014/main" id="{EB13D1E1-A3F6-4206-A63A-F4F745F7A367}"/>
              </a:ext>
            </a:extLst>
          </p:cNvPr>
          <p:cNvSpPr/>
          <p:nvPr/>
        </p:nvSpPr>
        <p:spPr bwMode="gray">
          <a:xfrm>
            <a:off x="6641692" y="1512070"/>
            <a:ext cx="975241" cy="565988"/>
          </a:xfrm>
          <a:prstGeom prst="arc">
            <a:avLst>
              <a:gd name="adj1" fmla="val 14445679"/>
              <a:gd name="adj2" fmla="val 10762572"/>
            </a:avLst>
          </a:prstGeom>
          <a:noFill/>
          <a:ln w="12700">
            <a:solidFill>
              <a:srgbClr val="94DAE2"/>
            </a:solidFill>
          </a:ln>
          <a:effectLst/>
        </p:spPr>
        <p:txBody>
          <a:bodyPr vert="horz" wrap="square" lIns="0" tIns="0" rIns="0" bIns="0" numCol="1" rtlCol="0" anchor="ctr" anchorCtr="0" compatLnSpc="1">
            <a:prstTxWarp prst="textNoShape">
              <a:avLst/>
            </a:prstTxWarp>
          </a:bodyPr>
          <a:lstStyle/>
          <a:p>
            <a:pPr algn="ctr" defTabSz="488284" fontAlgn="base">
              <a:spcBef>
                <a:spcPct val="0"/>
              </a:spcBef>
              <a:spcAft>
                <a:spcPct val="0"/>
              </a:spcAft>
              <a:buClr>
                <a:srgbClr val="CC9900"/>
              </a:buClr>
            </a:pPr>
            <a:endParaRPr lang="zh-CN" altLang="en-US" sz="1600">
              <a:cs typeface="+mn-ea"/>
              <a:sym typeface="+mn-lt"/>
            </a:endParaRPr>
          </a:p>
        </p:txBody>
      </p:sp>
      <p:sp>
        <p:nvSpPr>
          <p:cNvPr id="14" name="弧形 13">
            <a:extLst>
              <a:ext uri="{FF2B5EF4-FFF2-40B4-BE49-F238E27FC236}">
                <a16:creationId xmlns:a16="http://schemas.microsoft.com/office/drawing/2014/main" id="{A79EAEB3-2E97-42BE-A8DD-8FBE1F2F1888}"/>
              </a:ext>
            </a:extLst>
          </p:cNvPr>
          <p:cNvSpPr/>
          <p:nvPr/>
        </p:nvSpPr>
        <p:spPr bwMode="gray">
          <a:xfrm>
            <a:off x="8409050" y="1512070"/>
            <a:ext cx="975241" cy="565988"/>
          </a:xfrm>
          <a:prstGeom prst="arc">
            <a:avLst>
              <a:gd name="adj1" fmla="val 14445679"/>
              <a:gd name="adj2" fmla="val 10762572"/>
            </a:avLst>
          </a:prstGeom>
          <a:noFill/>
          <a:ln w="12700">
            <a:solidFill>
              <a:srgbClr val="94DAE2"/>
            </a:solidFill>
          </a:ln>
          <a:effectLst/>
        </p:spPr>
        <p:txBody>
          <a:bodyPr vert="horz" wrap="square" lIns="0" tIns="0" rIns="0" bIns="0" numCol="1" rtlCol="0" anchor="ctr" anchorCtr="0" compatLnSpc="1">
            <a:prstTxWarp prst="textNoShape">
              <a:avLst/>
            </a:prstTxWarp>
          </a:bodyPr>
          <a:lstStyle/>
          <a:p>
            <a:pPr algn="ctr" defTabSz="488284" fontAlgn="base">
              <a:spcBef>
                <a:spcPct val="0"/>
              </a:spcBef>
              <a:spcAft>
                <a:spcPct val="0"/>
              </a:spcAft>
              <a:buClr>
                <a:srgbClr val="CC9900"/>
              </a:buClr>
            </a:pPr>
            <a:endParaRPr lang="zh-CN" altLang="en-US" sz="1600">
              <a:cs typeface="+mn-ea"/>
              <a:sym typeface="+mn-lt"/>
            </a:endParaRPr>
          </a:p>
        </p:txBody>
      </p:sp>
      <p:sp>
        <p:nvSpPr>
          <p:cNvPr id="15" name="482455449">
            <a:extLst>
              <a:ext uri="{FF2B5EF4-FFF2-40B4-BE49-F238E27FC236}">
                <a16:creationId xmlns:a16="http://schemas.microsoft.com/office/drawing/2014/main" id="{AC7AEA93-98A4-4679-AC05-2FC24B4F1C89}"/>
              </a:ext>
            </a:extLst>
          </p:cNvPr>
          <p:cNvSpPr txBox="1">
            <a:spLocks noChangeArrowheads="1"/>
          </p:cNvSpPr>
          <p:nvPr/>
        </p:nvSpPr>
        <p:spPr bwMode="gray">
          <a:xfrm>
            <a:off x="3473828" y="1602983"/>
            <a:ext cx="796960" cy="338554"/>
          </a:xfrm>
          <a:prstGeom prst="rect">
            <a:avLst/>
          </a:prstGeom>
          <a:noFill/>
          <a:ln w="9525">
            <a:noFill/>
            <a:miter lim="800000"/>
            <a:headEnd/>
            <a:tailEnd/>
          </a:ln>
        </p:spPr>
        <p:txBody>
          <a:bodyPr wrap="square">
            <a:spAutoFit/>
          </a:bodyPr>
          <a:lstStyle/>
          <a:p>
            <a:pPr algn="ctr" defTabSz="1219394">
              <a:buSzPct val="100000"/>
              <a:defRPr/>
            </a:pPr>
            <a:r>
              <a:rPr lang="zh-CN" altLang="en-US" sz="1600" kern="0" dirty="0">
                <a:cs typeface="+mn-ea"/>
                <a:sym typeface="+mn-lt"/>
              </a:rPr>
              <a:t>云平台</a:t>
            </a:r>
            <a:endParaRPr lang="zh-CN" altLang="zh-CN" sz="1600" kern="0" dirty="0">
              <a:cs typeface="+mn-ea"/>
              <a:sym typeface="+mn-lt"/>
            </a:endParaRPr>
          </a:p>
        </p:txBody>
      </p:sp>
      <p:sp>
        <p:nvSpPr>
          <p:cNvPr id="16" name="弧形 15">
            <a:extLst>
              <a:ext uri="{FF2B5EF4-FFF2-40B4-BE49-F238E27FC236}">
                <a16:creationId xmlns:a16="http://schemas.microsoft.com/office/drawing/2014/main" id="{5131ECB0-FD84-4486-9705-D00317395C92}"/>
              </a:ext>
            </a:extLst>
          </p:cNvPr>
          <p:cNvSpPr/>
          <p:nvPr/>
        </p:nvSpPr>
        <p:spPr bwMode="gray">
          <a:xfrm>
            <a:off x="3383731" y="1513046"/>
            <a:ext cx="975241" cy="565988"/>
          </a:xfrm>
          <a:prstGeom prst="arc">
            <a:avLst>
              <a:gd name="adj1" fmla="val 14445679"/>
              <a:gd name="adj2" fmla="val 10762572"/>
            </a:avLst>
          </a:prstGeom>
          <a:noFill/>
          <a:ln w="12700">
            <a:solidFill>
              <a:srgbClr val="94DAE2"/>
            </a:solidFill>
          </a:ln>
          <a:effectLst/>
        </p:spPr>
        <p:txBody>
          <a:bodyPr vert="horz" wrap="square" lIns="0" tIns="0" rIns="0" bIns="0" numCol="1" rtlCol="0" anchor="ctr" anchorCtr="0" compatLnSpc="1">
            <a:prstTxWarp prst="textNoShape">
              <a:avLst/>
            </a:prstTxWarp>
          </a:bodyPr>
          <a:lstStyle/>
          <a:p>
            <a:pPr algn="ctr" defTabSz="488284" fontAlgn="base">
              <a:spcBef>
                <a:spcPct val="0"/>
              </a:spcBef>
              <a:spcAft>
                <a:spcPct val="0"/>
              </a:spcAft>
              <a:buClr>
                <a:srgbClr val="CC9900"/>
              </a:buClr>
            </a:pPr>
            <a:endParaRPr lang="zh-CN" altLang="en-US" sz="1600">
              <a:cs typeface="+mn-ea"/>
              <a:sym typeface="+mn-lt"/>
            </a:endParaRPr>
          </a:p>
        </p:txBody>
      </p:sp>
      <p:sp>
        <p:nvSpPr>
          <p:cNvPr id="17" name="圆角矩形 288">
            <a:extLst>
              <a:ext uri="{FF2B5EF4-FFF2-40B4-BE49-F238E27FC236}">
                <a16:creationId xmlns:a16="http://schemas.microsoft.com/office/drawing/2014/main" id="{021B5729-1481-4466-A9BC-6FE364677294}"/>
              </a:ext>
            </a:extLst>
          </p:cNvPr>
          <p:cNvSpPr/>
          <p:nvPr/>
        </p:nvSpPr>
        <p:spPr bwMode="gray">
          <a:xfrm>
            <a:off x="5156751" y="3633265"/>
            <a:ext cx="2823240" cy="2528281"/>
          </a:xfrm>
          <a:prstGeom prst="roundRect">
            <a:avLst>
              <a:gd name="adj" fmla="val 0"/>
            </a:avLst>
          </a:prstGeom>
          <a:noFill/>
          <a:ln w="12700">
            <a:solidFill>
              <a:srgbClr val="94DAE2"/>
            </a:solidFill>
            <a:prstDash val="solid"/>
          </a:ln>
          <a:effectLst/>
        </p:spPr>
        <p:style>
          <a:lnRef idx="3">
            <a:schemeClr val="lt1"/>
          </a:lnRef>
          <a:fillRef idx="1">
            <a:schemeClr val="accent1"/>
          </a:fillRef>
          <a:effectRef idx="1">
            <a:schemeClr val="accent1"/>
          </a:effectRef>
          <a:fontRef idx="minor">
            <a:schemeClr val="lt1"/>
          </a:fontRef>
        </p:style>
        <p:txBody>
          <a:bodyPr lIns="47963" tIns="47963" rIns="47963" bIns="47963" anchor="ctr" anchorCtr="1"/>
          <a:lstStyle/>
          <a:p>
            <a:pPr indent="-138940" algn="ctr" defTabSz="798001" eaLnBrk="0" fontAlgn="base" hangingPunct="0">
              <a:spcBef>
                <a:spcPct val="0"/>
              </a:spcBef>
              <a:spcAft>
                <a:spcPct val="0"/>
              </a:spcAft>
              <a:buClr>
                <a:srgbClr val="1F497D"/>
              </a:buClr>
            </a:pPr>
            <a:endParaRPr kumimoji="1" lang="en-US" sz="1600" kern="0">
              <a:cs typeface="+mn-ea"/>
              <a:sym typeface="+mn-lt"/>
            </a:endParaRPr>
          </a:p>
        </p:txBody>
      </p:sp>
      <p:sp>
        <p:nvSpPr>
          <p:cNvPr id="18" name="Freeform 309">
            <a:extLst>
              <a:ext uri="{FF2B5EF4-FFF2-40B4-BE49-F238E27FC236}">
                <a16:creationId xmlns:a16="http://schemas.microsoft.com/office/drawing/2014/main" id="{02EA6855-BF93-45FE-8E41-B7814F7FCD0A}"/>
              </a:ext>
            </a:extLst>
          </p:cNvPr>
          <p:cNvSpPr>
            <a:spLocks/>
          </p:cNvSpPr>
          <p:nvPr/>
        </p:nvSpPr>
        <p:spPr bwMode="gray">
          <a:xfrm rot="536204">
            <a:off x="4423421" y="4506599"/>
            <a:ext cx="1279651" cy="825050"/>
          </a:xfrm>
          <a:custGeom>
            <a:avLst/>
            <a:gdLst>
              <a:gd name="T0" fmla="*/ 52417 w 3217"/>
              <a:gd name="T1" fmla="*/ 221271 h 2156"/>
              <a:gd name="T2" fmla="*/ 23420 w 3217"/>
              <a:gd name="T3" fmla="*/ 242443 h 2156"/>
              <a:gd name="T4" fmla="*/ 6413 w 3217"/>
              <a:gd name="T5" fmla="*/ 269282 h 2156"/>
              <a:gd name="T6" fmla="*/ 0 w 3217"/>
              <a:gd name="T7" fmla="*/ 301489 h 2156"/>
              <a:gd name="T8" fmla="*/ 11710 w 3217"/>
              <a:gd name="T9" fmla="*/ 345325 h 2156"/>
              <a:gd name="T10" fmla="*/ 44889 w 3217"/>
              <a:gd name="T11" fmla="*/ 378128 h 2156"/>
              <a:gd name="T12" fmla="*/ 27602 w 3217"/>
              <a:gd name="T13" fmla="*/ 400792 h 2156"/>
              <a:gd name="T14" fmla="*/ 19796 w 3217"/>
              <a:gd name="T15" fmla="*/ 432998 h 2156"/>
              <a:gd name="T16" fmla="*/ 25093 w 3217"/>
              <a:gd name="T17" fmla="*/ 467292 h 2156"/>
              <a:gd name="T18" fmla="*/ 43216 w 3217"/>
              <a:gd name="T19" fmla="*/ 496517 h 2156"/>
              <a:gd name="T20" fmla="*/ 71097 w 3217"/>
              <a:gd name="T21" fmla="*/ 516497 h 2156"/>
              <a:gd name="T22" fmla="*/ 105949 w 3217"/>
              <a:gd name="T23" fmla="*/ 525145 h 2156"/>
              <a:gd name="T24" fmla="*/ 132157 w 3217"/>
              <a:gd name="T25" fmla="*/ 542143 h 2156"/>
              <a:gd name="T26" fmla="*/ 188198 w 3217"/>
              <a:gd name="T27" fmla="*/ 587470 h 2156"/>
              <a:gd name="T28" fmla="*/ 227789 w 3217"/>
              <a:gd name="T29" fmla="*/ 601188 h 2156"/>
              <a:gd name="T30" fmla="*/ 270448 w 3217"/>
              <a:gd name="T31" fmla="*/ 603574 h 2156"/>
              <a:gd name="T32" fmla="*/ 312827 w 3217"/>
              <a:gd name="T33" fmla="*/ 595522 h 2156"/>
              <a:gd name="T34" fmla="*/ 347121 w 3217"/>
              <a:gd name="T35" fmla="*/ 588663 h 2156"/>
              <a:gd name="T36" fmla="*/ 400095 w 3217"/>
              <a:gd name="T37" fmla="*/ 630412 h 2156"/>
              <a:gd name="T38" fmla="*/ 464222 w 3217"/>
              <a:gd name="T39" fmla="*/ 642341 h 2156"/>
              <a:gd name="T40" fmla="*/ 507995 w 3217"/>
              <a:gd name="T41" fmla="*/ 633693 h 2156"/>
              <a:gd name="T42" fmla="*/ 545914 w 3217"/>
              <a:gd name="T43" fmla="*/ 612520 h 2156"/>
              <a:gd name="T44" fmla="*/ 576025 w 3217"/>
              <a:gd name="T45" fmla="*/ 580611 h 2156"/>
              <a:gd name="T46" fmla="*/ 592475 w 3217"/>
              <a:gd name="T47" fmla="*/ 546318 h 2156"/>
              <a:gd name="T48" fmla="*/ 651862 w 3217"/>
              <a:gd name="T49" fmla="*/ 563315 h 2156"/>
              <a:gd name="T50" fmla="*/ 697309 w 3217"/>
              <a:gd name="T51" fmla="*/ 556457 h 2156"/>
              <a:gd name="T52" fmla="*/ 736342 w 3217"/>
              <a:gd name="T53" fmla="*/ 533793 h 2156"/>
              <a:gd name="T54" fmla="*/ 764224 w 3217"/>
              <a:gd name="T55" fmla="*/ 498306 h 2156"/>
              <a:gd name="T56" fmla="*/ 775934 w 3217"/>
              <a:gd name="T57" fmla="*/ 453575 h 2156"/>
              <a:gd name="T58" fmla="*/ 813016 w 3217"/>
              <a:gd name="T59" fmla="*/ 436875 h 2156"/>
              <a:gd name="T60" fmla="*/ 854280 w 3217"/>
              <a:gd name="T61" fmla="*/ 410036 h 2156"/>
              <a:gd name="T62" fmla="*/ 882997 w 3217"/>
              <a:gd name="T63" fmla="*/ 371269 h 2156"/>
              <a:gd name="T64" fmla="*/ 896380 w 3217"/>
              <a:gd name="T65" fmla="*/ 324152 h 2156"/>
              <a:gd name="T66" fmla="*/ 892756 w 3217"/>
              <a:gd name="T67" fmla="*/ 277930 h 2156"/>
              <a:gd name="T68" fmla="*/ 874354 w 3217"/>
              <a:gd name="T69" fmla="*/ 237374 h 2156"/>
              <a:gd name="T70" fmla="*/ 874912 w 3217"/>
              <a:gd name="T71" fmla="*/ 201291 h 2156"/>
              <a:gd name="T72" fmla="*/ 874075 w 3217"/>
              <a:gd name="T73" fmla="*/ 162822 h 2156"/>
              <a:gd name="T74" fmla="*/ 861250 w 3217"/>
              <a:gd name="T75" fmla="*/ 130317 h 2156"/>
              <a:gd name="T76" fmla="*/ 835042 w 3217"/>
              <a:gd name="T77" fmla="*/ 100496 h 2156"/>
              <a:gd name="T78" fmla="*/ 799075 w 3217"/>
              <a:gd name="T79" fmla="*/ 82305 h 2156"/>
              <a:gd name="T80" fmla="*/ 787365 w 3217"/>
              <a:gd name="T81" fmla="*/ 55467 h 2156"/>
              <a:gd name="T82" fmla="*/ 767012 w 3217"/>
              <a:gd name="T83" fmla="*/ 28032 h 2156"/>
              <a:gd name="T84" fmla="*/ 734948 w 3217"/>
              <a:gd name="T85" fmla="*/ 7455 h 2156"/>
              <a:gd name="T86" fmla="*/ 700654 w 3217"/>
              <a:gd name="T87" fmla="*/ 0 h 2156"/>
              <a:gd name="T88" fmla="*/ 658275 w 3217"/>
              <a:gd name="T89" fmla="*/ 6859 h 2156"/>
              <a:gd name="T90" fmla="*/ 622587 w 3217"/>
              <a:gd name="T91" fmla="*/ 30119 h 2156"/>
              <a:gd name="T92" fmla="*/ 596379 w 3217"/>
              <a:gd name="T93" fmla="*/ 13718 h 2156"/>
              <a:gd name="T94" fmla="*/ 557903 w 3217"/>
              <a:gd name="T95" fmla="*/ 596 h 2156"/>
              <a:gd name="T96" fmla="*/ 510226 w 3217"/>
              <a:gd name="T97" fmla="*/ 7455 h 2156"/>
              <a:gd name="T98" fmla="*/ 472307 w 3217"/>
              <a:gd name="T99" fmla="*/ 38171 h 2156"/>
              <a:gd name="T100" fmla="*/ 444984 w 3217"/>
              <a:gd name="T101" fmla="*/ 34294 h 2156"/>
              <a:gd name="T102" fmla="*/ 404835 w 3217"/>
              <a:gd name="T103" fmla="*/ 20576 h 2156"/>
              <a:gd name="T104" fmla="*/ 351861 w 3217"/>
              <a:gd name="T105" fmla="*/ 25049 h 2156"/>
              <a:gd name="T106" fmla="*/ 303069 w 3217"/>
              <a:gd name="T107" fmla="*/ 58151 h 2156"/>
              <a:gd name="T108" fmla="*/ 260968 w 3217"/>
              <a:gd name="T109" fmla="*/ 64413 h 2156"/>
              <a:gd name="T110" fmla="*/ 224165 w 3217"/>
              <a:gd name="T111" fmla="*/ 58151 h 2156"/>
              <a:gd name="T112" fmla="*/ 171748 w 3217"/>
              <a:gd name="T113" fmla="*/ 66799 h 2156"/>
              <a:gd name="T114" fmla="*/ 125187 w 3217"/>
              <a:gd name="T115" fmla="*/ 93637 h 2156"/>
              <a:gd name="T116" fmla="*/ 92844 w 3217"/>
              <a:gd name="T117" fmla="*/ 135983 h 2156"/>
              <a:gd name="T118" fmla="*/ 79740 w 3217"/>
              <a:gd name="T119" fmla="*/ 188169 h 21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17" h="2156">
                <a:moveTo>
                  <a:pt x="291" y="715"/>
                </a:moveTo>
                <a:lnTo>
                  <a:pt x="276" y="717"/>
                </a:lnTo>
                <a:lnTo>
                  <a:pt x="261" y="719"/>
                </a:lnTo>
                <a:lnTo>
                  <a:pt x="245" y="723"/>
                </a:lnTo>
                <a:lnTo>
                  <a:pt x="230" y="727"/>
                </a:lnTo>
                <a:lnTo>
                  <a:pt x="216" y="731"/>
                </a:lnTo>
                <a:lnTo>
                  <a:pt x="203" y="736"/>
                </a:lnTo>
                <a:lnTo>
                  <a:pt x="188" y="742"/>
                </a:lnTo>
                <a:lnTo>
                  <a:pt x="176" y="748"/>
                </a:lnTo>
                <a:lnTo>
                  <a:pt x="163" y="754"/>
                </a:lnTo>
                <a:lnTo>
                  <a:pt x="149" y="761"/>
                </a:lnTo>
                <a:lnTo>
                  <a:pt x="138" y="769"/>
                </a:lnTo>
                <a:lnTo>
                  <a:pt x="126" y="777"/>
                </a:lnTo>
                <a:lnTo>
                  <a:pt x="103" y="794"/>
                </a:lnTo>
                <a:lnTo>
                  <a:pt x="94" y="802"/>
                </a:lnTo>
                <a:lnTo>
                  <a:pt x="84" y="813"/>
                </a:lnTo>
                <a:lnTo>
                  <a:pt x="74" y="823"/>
                </a:lnTo>
                <a:lnTo>
                  <a:pt x="65" y="832"/>
                </a:lnTo>
                <a:lnTo>
                  <a:pt x="55" y="844"/>
                </a:lnTo>
                <a:lnTo>
                  <a:pt x="48" y="855"/>
                </a:lnTo>
                <a:lnTo>
                  <a:pt x="40" y="867"/>
                </a:lnTo>
                <a:lnTo>
                  <a:pt x="34" y="878"/>
                </a:lnTo>
                <a:lnTo>
                  <a:pt x="28" y="890"/>
                </a:lnTo>
                <a:lnTo>
                  <a:pt x="23" y="903"/>
                </a:lnTo>
                <a:lnTo>
                  <a:pt x="17" y="915"/>
                </a:lnTo>
                <a:lnTo>
                  <a:pt x="13" y="928"/>
                </a:lnTo>
                <a:lnTo>
                  <a:pt x="9" y="942"/>
                </a:lnTo>
                <a:lnTo>
                  <a:pt x="5" y="955"/>
                </a:lnTo>
                <a:lnTo>
                  <a:pt x="4" y="968"/>
                </a:lnTo>
                <a:lnTo>
                  <a:pt x="2" y="984"/>
                </a:lnTo>
                <a:lnTo>
                  <a:pt x="0" y="997"/>
                </a:lnTo>
                <a:lnTo>
                  <a:pt x="0" y="1011"/>
                </a:lnTo>
                <a:lnTo>
                  <a:pt x="0" y="1030"/>
                </a:lnTo>
                <a:lnTo>
                  <a:pt x="2" y="1051"/>
                </a:lnTo>
                <a:lnTo>
                  <a:pt x="5" y="1070"/>
                </a:lnTo>
                <a:lnTo>
                  <a:pt x="11" y="1087"/>
                </a:lnTo>
                <a:lnTo>
                  <a:pt x="17" y="1107"/>
                </a:lnTo>
                <a:lnTo>
                  <a:pt x="25" y="1124"/>
                </a:lnTo>
                <a:lnTo>
                  <a:pt x="32" y="1141"/>
                </a:lnTo>
                <a:lnTo>
                  <a:pt x="42" y="1158"/>
                </a:lnTo>
                <a:lnTo>
                  <a:pt x="53" y="1174"/>
                </a:lnTo>
                <a:lnTo>
                  <a:pt x="65" y="1191"/>
                </a:lnTo>
                <a:lnTo>
                  <a:pt x="78" y="1204"/>
                </a:lnTo>
                <a:lnTo>
                  <a:pt x="94" y="1220"/>
                </a:lnTo>
                <a:lnTo>
                  <a:pt x="109" y="1233"/>
                </a:lnTo>
                <a:lnTo>
                  <a:pt x="124" y="1245"/>
                </a:lnTo>
                <a:lnTo>
                  <a:pt x="142" y="1256"/>
                </a:lnTo>
                <a:lnTo>
                  <a:pt x="161" y="1268"/>
                </a:lnTo>
                <a:lnTo>
                  <a:pt x="159" y="1264"/>
                </a:lnTo>
                <a:lnTo>
                  <a:pt x="147" y="1273"/>
                </a:lnTo>
                <a:lnTo>
                  <a:pt x="138" y="1285"/>
                </a:lnTo>
                <a:lnTo>
                  <a:pt x="130" y="1297"/>
                </a:lnTo>
                <a:lnTo>
                  <a:pt x="121" y="1308"/>
                </a:lnTo>
                <a:lnTo>
                  <a:pt x="113" y="1320"/>
                </a:lnTo>
                <a:lnTo>
                  <a:pt x="105" y="1331"/>
                </a:lnTo>
                <a:lnTo>
                  <a:pt x="99" y="1344"/>
                </a:lnTo>
                <a:lnTo>
                  <a:pt x="94" y="1358"/>
                </a:lnTo>
                <a:lnTo>
                  <a:pt x="88" y="1369"/>
                </a:lnTo>
                <a:lnTo>
                  <a:pt x="84" y="1383"/>
                </a:lnTo>
                <a:lnTo>
                  <a:pt x="80" y="1396"/>
                </a:lnTo>
                <a:lnTo>
                  <a:pt x="76" y="1410"/>
                </a:lnTo>
                <a:lnTo>
                  <a:pt x="74" y="1423"/>
                </a:lnTo>
                <a:lnTo>
                  <a:pt x="73" y="1437"/>
                </a:lnTo>
                <a:lnTo>
                  <a:pt x="71" y="1452"/>
                </a:lnTo>
                <a:lnTo>
                  <a:pt x="71" y="1465"/>
                </a:lnTo>
                <a:lnTo>
                  <a:pt x="71" y="1481"/>
                </a:lnTo>
                <a:lnTo>
                  <a:pt x="73" y="1496"/>
                </a:lnTo>
                <a:lnTo>
                  <a:pt x="74" y="1511"/>
                </a:lnTo>
                <a:lnTo>
                  <a:pt x="76" y="1525"/>
                </a:lnTo>
                <a:lnTo>
                  <a:pt x="80" y="1540"/>
                </a:lnTo>
                <a:lnTo>
                  <a:pt x="86" y="1554"/>
                </a:lnTo>
                <a:lnTo>
                  <a:pt x="90" y="1567"/>
                </a:lnTo>
                <a:lnTo>
                  <a:pt x="96" y="1580"/>
                </a:lnTo>
                <a:lnTo>
                  <a:pt x="103" y="1594"/>
                </a:lnTo>
                <a:lnTo>
                  <a:pt x="109" y="1607"/>
                </a:lnTo>
                <a:lnTo>
                  <a:pt x="119" y="1619"/>
                </a:lnTo>
                <a:lnTo>
                  <a:pt x="126" y="1630"/>
                </a:lnTo>
                <a:lnTo>
                  <a:pt x="136" y="1642"/>
                </a:lnTo>
                <a:lnTo>
                  <a:pt x="145" y="1653"/>
                </a:lnTo>
                <a:lnTo>
                  <a:pt x="155" y="1665"/>
                </a:lnTo>
                <a:lnTo>
                  <a:pt x="167" y="1674"/>
                </a:lnTo>
                <a:lnTo>
                  <a:pt x="176" y="1684"/>
                </a:lnTo>
                <a:lnTo>
                  <a:pt x="190" y="1694"/>
                </a:lnTo>
                <a:lnTo>
                  <a:pt x="201" y="1701"/>
                </a:lnTo>
                <a:lnTo>
                  <a:pt x="215" y="1711"/>
                </a:lnTo>
                <a:lnTo>
                  <a:pt x="226" y="1719"/>
                </a:lnTo>
                <a:lnTo>
                  <a:pt x="241" y="1724"/>
                </a:lnTo>
                <a:lnTo>
                  <a:pt x="255" y="1732"/>
                </a:lnTo>
                <a:lnTo>
                  <a:pt x="268" y="1738"/>
                </a:lnTo>
                <a:lnTo>
                  <a:pt x="284" y="1743"/>
                </a:lnTo>
                <a:lnTo>
                  <a:pt x="299" y="1747"/>
                </a:lnTo>
                <a:lnTo>
                  <a:pt x="314" y="1751"/>
                </a:lnTo>
                <a:lnTo>
                  <a:pt x="330" y="1755"/>
                </a:lnTo>
                <a:lnTo>
                  <a:pt x="345" y="1757"/>
                </a:lnTo>
                <a:lnTo>
                  <a:pt x="362" y="1759"/>
                </a:lnTo>
                <a:lnTo>
                  <a:pt x="380" y="1761"/>
                </a:lnTo>
                <a:lnTo>
                  <a:pt x="395" y="1761"/>
                </a:lnTo>
                <a:lnTo>
                  <a:pt x="414" y="1761"/>
                </a:lnTo>
                <a:lnTo>
                  <a:pt x="433" y="1759"/>
                </a:lnTo>
                <a:lnTo>
                  <a:pt x="431" y="1761"/>
                </a:lnTo>
                <a:lnTo>
                  <a:pt x="441" y="1776"/>
                </a:lnTo>
                <a:lnTo>
                  <a:pt x="452" y="1791"/>
                </a:lnTo>
                <a:lnTo>
                  <a:pt x="462" y="1805"/>
                </a:lnTo>
                <a:lnTo>
                  <a:pt x="474" y="1818"/>
                </a:lnTo>
                <a:lnTo>
                  <a:pt x="498" y="1845"/>
                </a:lnTo>
                <a:lnTo>
                  <a:pt x="523" y="1872"/>
                </a:lnTo>
                <a:lnTo>
                  <a:pt x="550" y="1895"/>
                </a:lnTo>
                <a:lnTo>
                  <a:pt x="581" y="1916"/>
                </a:lnTo>
                <a:lnTo>
                  <a:pt x="610" y="1937"/>
                </a:lnTo>
                <a:lnTo>
                  <a:pt x="642" y="1955"/>
                </a:lnTo>
                <a:lnTo>
                  <a:pt x="658" y="1962"/>
                </a:lnTo>
                <a:lnTo>
                  <a:pt x="675" y="1970"/>
                </a:lnTo>
                <a:lnTo>
                  <a:pt x="692" y="1978"/>
                </a:lnTo>
                <a:lnTo>
                  <a:pt x="710" y="1985"/>
                </a:lnTo>
                <a:lnTo>
                  <a:pt x="727" y="1991"/>
                </a:lnTo>
                <a:lnTo>
                  <a:pt x="744" y="1997"/>
                </a:lnTo>
                <a:lnTo>
                  <a:pt x="761" y="2002"/>
                </a:lnTo>
                <a:lnTo>
                  <a:pt x="781" y="2006"/>
                </a:lnTo>
                <a:lnTo>
                  <a:pt x="798" y="2012"/>
                </a:lnTo>
                <a:lnTo>
                  <a:pt x="817" y="2016"/>
                </a:lnTo>
                <a:lnTo>
                  <a:pt x="836" y="2018"/>
                </a:lnTo>
                <a:lnTo>
                  <a:pt x="853" y="2022"/>
                </a:lnTo>
                <a:lnTo>
                  <a:pt x="873" y="2024"/>
                </a:lnTo>
                <a:lnTo>
                  <a:pt x="892" y="2024"/>
                </a:lnTo>
                <a:lnTo>
                  <a:pt x="911" y="2026"/>
                </a:lnTo>
                <a:lnTo>
                  <a:pt x="930" y="2026"/>
                </a:lnTo>
                <a:lnTo>
                  <a:pt x="949" y="2026"/>
                </a:lnTo>
                <a:lnTo>
                  <a:pt x="970" y="2024"/>
                </a:lnTo>
                <a:lnTo>
                  <a:pt x="990" y="2024"/>
                </a:lnTo>
                <a:lnTo>
                  <a:pt x="1009" y="2022"/>
                </a:lnTo>
                <a:lnTo>
                  <a:pt x="1028" y="2018"/>
                </a:lnTo>
                <a:lnTo>
                  <a:pt x="1047" y="2014"/>
                </a:lnTo>
                <a:lnTo>
                  <a:pt x="1066" y="2010"/>
                </a:lnTo>
                <a:lnTo>
                  <a:pt x="1084" y="2006"/>
                </a:lnTo>
                <a:lnTo>
                  <a:pt x="1103" y="2001"/>
                </a:lnTo>
                <a:lnTo>
                  <a:pt x="1122" y="1997"/>
                </a:lnTo>
                <a:lnTo>
                  <a:pt x="1139" y="1989"/>
                </a:lnTo>
                <a:lnTo>
                  <a:pt x="1157" y="1983"/>
                </a:lnTo>
                <a:lnTo>
                  <a:pt x="1176" y="1976"/>
                </a:lnTo>
                <a:lnTo>
                  <a:pt x="1193" y="1968"/>
                </a:lnTo>
                <a:lnTo>
                  <a:pt x="1210" y="1958"/>
                </a:lnTo>
                <a:lnTo>
                  <a:pt x="1228" y="1951"/>
                </a:lnTo>
                <a:lnTo>
                  <a:pt x="1226" y="1951"/>
                </a:lnTo>
                <a:lnTo>
                  <a:pt x="1245" y="1974"/>
                </a:lnTo>
                <a:lnTo>
                  <a:pt x="1264" y="1997"/>
                </a:lnTo>
                <a:lnTo>
                  <a:pt x="1285" y="2018"/>
                </a:lnTo>
                <a:lnTo>
                  <a:pt x="1306" y="2037"/>
                </a:lnTo>
                <a:lnTo>
                  <a:pt x="1331" y="2054"/>
                </a:lnTo>
                <a:lnTo>
                  <a:pt x="1354" y="2072"/>
                </a:lnTo>
                <a:lnTo>
                  <a:pt x="1381" y="2087"/>
                </a:lnTo>
                <a:lnTo>
                  <a:pt x="1406" y="2100"/>
                </a:lnTo>
                <a:lnTo>
                  <a:pt x="1435" y="2114"/>
                </a:lnTo>
                <a:lnTo>
                  <a:pt x="1462" y="2123"/>
                </a:lnTo>
                <a:lnTo>
                  <a:pt x="1492" y="2133"/>
                </a:lnTo>
                <a:lnTo>
                  <a:pt x="1521" y="2141"/>
                </a:lnTo>
                <a:lnTo>
                  <a:pt x="1552" y="2146"/>
                </a:lnTo>
                <a:lnTo>
                  <a:pt x="1582" y="2152"/>
                </a:lnTo>
                <a:lnTo>
                  <a:pt x="1613" y="2154"/>
                </a:lnTo>
                <a:lnTo>
                  <a:pt x="1644" y="2156"/>
                </a:lnTo>
                <a:lnTo>
                  <a:pt x="1665" y="2154"/>
                </a:lnTo>
                <a:lnTo>
                  <a:pt x="1686" y="2154"/>
                </a:lnTo>
                <a:lnTo>
                  <a:pt x="1705" y="2152"/>
                </a:lnTo>
                <a:lnTo>
                  <a:pt x="1726" y="2148"/>
                </a:lnTo>
                <a:lnTo>
                  <a:pt x="1746" y="2146"/>
                </a:lnTo>
                <a:lnTo>
                  <a:pt x="1765" y="2141"/>
                </a:lnTo>
                <a:lnTo>
                  <a:pt x="1784" y="2137"/>
                </a:lnTo>
                <a:lnTo>
                  <a:pt x="1803" y="2131"/>
                </a:lnTo>
                <a:lnTo>
                  <a:pt x="1822" y="2125"/>
                </a:lnTo>
                <a:lnTo>
                  <a:pt x="1841" y="2118"/>
                </a:lnTo>
                <a:lnTo>
                  <a:pt x="1859" y="2110"/>
                </a:lnTo>
                <a:lnTo>
                  <a:pt x="1876" y="2102"/>
                </a:lnTo>
                <a:lnTo>
                  <a:pt x="1893" y="2095"/>
                </a:lnTo>
                <a:lnTo>
                  <a:pt x="1911" y="2085"/>
                </a:lnTo>
                <a:lnTo>
                  <a:pt x="1928" y="2075"/>
                </a:lnTo>
                <a:lnTo>
                  <a:pt x="1943" y="2064"/>
                </a:lnTo>
                <a:lnTo>
                  <a:pt x="1958" y="2054"/>
                </a:lnTo>
                <a:lnTo>
                  <a:pt x="1974" y="2041"/>
                </a:lnTo>
                <a:lnTo>
                  <a:pt x="1989" y="2029"/>
                </a:lnTo>
                <a:lnTo>
                  <a:pt x="2003" y="2018"/>
                </a:lnTo>
                <a:lnTo>
                  <a:pt x="2016" y="2004"/>
                </a:lnTo>
                <a:lnTo>
                  <a:pt x="2029" y="1991"/>
                </a:lnTo>
                <a:lnTo>
                  <a:pt x="2043" y="1976"/>
                </a:lnTo>
                <a:lnTo>
                  <a:pt x="2054" y="1960"/>
                </a:lnTo>
                <a:lnTo>
                  <a:pt x="2066" y="1947"/>
                </a:lnTo>
                <a:lnTo>
                  <a:pt x="2076" y="1930"/>
                </a:lnTo>
                <a:lnTo>
                  <a:pt x="2085" y="1914"/>
                </a:lnTo>
                <a:lnTo>
                  <a:pt x="2095" y="1899"/>
                </a:lnTo>
                <a:lnTo>
                  <a:pt x="2104" y="1882"/>
                </a:lnTo>
                <a:lnTo>
                  <a:pt x="2112" y="1864"/>
                </a:lnTo>
                <a:lnTo>
                  <a:pt x="2118" y="1847"/>
                </a:lnTo>
                <a:lnTo>
                  <a:pt x="2125" y="1828"/>
                </a:lnTo>
                <a:lnTo>
                  <a:pt x="2125" y="1832"/>
                </a:lnTo>
                <a:lnTo>
                  <a:pt x="2152" y="1845"/>
                </a:lnTo>
                <a:lnTo>
                  <a:pt x="2179" y="1857"/>
                </a:lnTo>
                <a:lnTo>
                  <a:pt x="2206" y="1866"/>
                </a:lnTo>
                <a:lnTo>
                  <a:pt x="2235" y="1876"/>
                </a:lnTo>
                <a:lnTo>
                  <a:pt x="2264" y="1882"/>
                </a:lnTo>
                <a:lnTo>
                  <a:pt x="2294" y="1887"/>
                </a:lnTo>
                <a:lnTo>
                  <a:pt x="2323" y="1889"/>
                </a:lnTo>
                <a:lnTo>
                  <a:pt x="2338" y="1889"/>
                </a:lnTo>
                <a:lnTo>
                  <a:pt x="2354" y="1891"/>
                </a:lnTo>
                <a:lnTo>
                  <a:pt x="2377" y="1889"/>
                </a:lnTo>
                <a:lnTo>
                  <a:pt x="2398" y="1887"/>
                </a:lnTo>
                <a:lnTo>
                  <a:pt x="2419" y="1885"/>
                </a:lnTo>
                <a:lnTo>
                  <a:pt x="2440" y="1882"/>
                </a:lnTo>
                <a:lnTo>
                  <a:pt x="2461" y="1878"/>
                </a:lnTo>
                <a:lnTo>
                  <a:pt x="2480" y="1872"/>
                </a:lnTo>
                <a:lnTo>
                  <a:pt x="2501" y="1866"/>
                </a:lnTo>
                <a:lnTo>
                  <a:pt x="2521" y="1861"/>
                </a:lnTo>
                <a:lnTo>
                  <a:pt x="2540" y="1853"/>
                </a:lnTo>
                <a:lnTo>
                  <a:pt x="2559" y="1843"/>
                </a:lnTo>
                <a:lnTo>
                  <a:pt x="2576" y="1834"/>
                </a:lnTo>
                <a:lnTo>
                  <a:pt x="2594" y="1824"/>
                </a:lnTo>
                <a:lnTo>
                  <a:pt x="2611" y="1813"/>
                </a:lnTo>
                <a:lnTo>
                  <a:pt x="2626" y="1801"/>
                </a:lnTo>
                <a:lnTo>
                  <a:pt x="2641" y="1790"/>
                </a:lnTo>
                <a:lnTo>
                  <a:pt x="2657" y="1776"/>
                </a:lnTo>
                <a:lnTo>
                  <a:pt x="2672" y="1763"/>
                </a:lnTo>
                <a:lnTo>
                  <a:pt x="2686" y="1749"/>
                </a:lnTo>
                <a:lnTo>
                  <a:pt x="2697" y="1734"/>
                </a:lnTo>
                <a:lnTo>
                  <a:pt x="2711" y="1719"/>
                </a:lnTo>
                <a:lnTo>
                  <a:pt x="2722" y="1703"/>
                </a:lnTo>
                <a:lnTo>
                  <a:pt x="2732" y="1686"/>
                </a:lnTo>
                <a:lnTo>
                  <a:pt x="2741" y="1671"/>
                </a:lnTo>
                <a:lnTo>
                  <a:pt x="2749" y="1653"/>
                </a:lnTo>
                <a:lnTo>
                  <a:pt x="2759" y="1634"/>
                </a:lnTo>
                <a:lnTo>
                  <a:pt x="2764" y="1617"/>
                </a:lnTo>
                <a:lnTo>
                  <a:pt x="2770" y="1598"/>
                </a:lnTo>
                <a:lnTo>
                  <a:pt x="2776" y="1580"/>
                </a:lnTo>
                <a:lnTo>
                  <a:pt x="2780" y="1561"/>
                </a:lnTo>
                <a:lnTo>
                  <a:pt x="2782" y="1540"/>
                </a:lnTo>
                <a:lnTo>
                  <a:pt x="2783" y="1521"/>
                </a:lnTo>
                <a:lnTo>
                  <a:pt x="2785" y="1502"/>
                </a:lnTo>
                <a:lnTo>
                  <a:pt x="2783" y="1500"/>
                </a:lnTo>
                <a:lnTo>
                  <a:pt x="2806" y="1496"/>
                </a:lnTo>
                <a:lnTo>
                  <a:pt x="2830" y="1492"/>
                </a:lnTo>
                <a:lnTo>
                  <a:pt x="2853" y="1486"/>
                </a:lnTo>
                <a:lnTo>
                  <a:pt x="2874" y="1481"/>
                </a:lnTo>
                <a:lnTo>
                  <a:pt x="2895" y="1473"/>
                </a:lnTo>
                <a:lnTo>
                  <a:pt x="2916" y="1465"/>
                </a:lnTo>
                <a:lnTo>
                  <a:pt x="2937" y="1456"/>
                </a:lnTo>
                <a:lnTo>
                  <a:pt x="2956" y="1448"/>
                </a:lnTo>
                <a:lnTo>
                  <a:pt x="2975" y="1437"/>
                </a:lnTo>
                <a:lnTo>
                  <a:pt x="2995" y="1425"/>
                </a:lnTo>
                <a:lnTo>
                  <a:pt x="3012" y="1414"/>
                </a:lnTo>
                <a:lnTo>
                  <a:pt x="3031" y="1402"/>
                </a:lnTo>
                <a:lnTo>
                  <a:pt x="3046" y="1389"/>
                </a:lnTo>
                <a:lnTo>
                  <a:pt x="3064" y="1375"/>
                </a:lnTo>
                <a:lnTo>
                  <a:pt x="3079" y="1360"/>
                </a:lnTo>
                <a:lnTo>
                  <a:pt x="3094" y="1346"/>
                </a:lnTo>
                <a:lnTo>
                  <a:pt x="3108" y="1331"/>
                </a:lnTo>
                <a:lnTo>
                  <a:pt x="3121" y="1314"/>
                </a:lnTo>
                <a:lnTo>
                  <a:pt x="3135" y="1298"/>
                </a:lnTo>
                <a:lnTo>
                  <a:pt x="3146" y="1281"/>
                </a:lnTo>
                <a:lnTo>
                  <a:pt x="3156" y="1264"/>
                </a:lnTo>
                <a:lnTo>
                  <a:pt x="3167" y="1245"/>
                </a:lnTo>
                <a:lnTo>
                  <a:pt x="3177" y="1227"/>
                </a:lnTo>
                <a:lnTo>
                  <a:pt x="3184" y="1208"/>
                </a:lnTo>
                <a:lnTo>
                  <a:pt x="3192" y="1189"/>
                </a:lnTo>
                <a:lnTo>
                  <a:pt x="3198" y="1168"/>
                </a:lnTo>
                <a:lnTo>
                  <a:pt x="3204" y="1149"/>
                </a:lnTo>
                <a:lnTo>
                  <a:pt x="3209" y="1128"/>
                </a:lnTo>
                <a:lnTo>
                  <a:pt x="3213" y="1109"/>
                </a:lnTo>
                <a:lnTo>
                  <a:pt x="3215" y="1087"/>
                </a:lnTo>
                <a:lnTo>
                  <a:pt x="3217" y="1066"/>
                </a:lnTo>
                <a:lnTo>
                  <a:pt x="3217" y="1045"/>
                </a:lnTo>
                <a:lnTo>
                  <a:pt x="3217" y="1026"/>
                </a:lnTo>
                <a:lnTo>
                  <a:pt x="3215" y="1007"/>
                </a:lnTo>
                <a:lnTo>
                  <a:pt x="3213" y="988"/>
                </a:lnTo>
                <a:lnTo>
                  <a:pt x="3209" y="968"/>
                </a:lnTo>
                <a:lnTo>
                  <a:pt x="3206" y="951"/>
                </a:lnTo>
                <a:lnTo>
                  <a:pt x="3202" y="932"/>
                </a:lnTo>
                <a:lnTo>
                  <a:pt x="3196" y="915"/>
                </a:lnTo>
                <a:lnTo>
                  <a:pt x="3190" y="896"/>
                </a:lnTo>
                <a:lnTo>
                  <a:pt x="3183" y="878"/>
                </a:lnTo>
                <a:lnTo>
                  <a:pt x="3175" y="861"/>
                </a:lnTo>
                <a:lnTo>
                  <a:pt x="3167" y="844"/>
                </a:lnTo>
                <a:lnTo>
                  <a:pt x="3158" y="828"/>
                </a:lnTo>
                <a:lnTo>
                  <a:pt x="3148" y="811"/>
                </a:lnTo>
                <a:lnTo>
                  <a:pt x="3136" y="796"/>
                </a:lnTo>
                <a:lnTo>
                  <a:pt x="3125" y="779"/>
                </a:lnTo>
                <a:lnTo>
                  <a:pt x="3113" y="765"/>
                </a:lnTo>
                <a:lnTo>
                  <a:pt x="3112" y="763"/>
                </a:lnTo>
                <a:lnTo>
                  <a:pt x="3119" y="746"/>
                </a:lnTo>
                <a:lnTo>
                  <a:pt x="3125" y="729"/>
                </a:lnTo>
                <a:lnTo>
                  <a:pt x="3131" y="711"/>
                </a:lnTo>
                <a:lnTo>
                  <a:pt x="3136" y="694"/>
                </a:lnTo>
                <a:lnTo>
                  <a:pt x="3138" y="675"/>
                </a:lnTo>
                <a:lnTo>
                  <a:pt x="3142" y="658"/>
                </a:lnTo>
                <a:lnTo>
                  <a:pt x="3144" y="638"/>
                </a:lnTo>
                <a:lnTo>
                  <a:pt x="3144" y="621"/>
                </a:lnTo>
                <a:lnTo>
                  <a:pt x="3144" y="606"/>
                </a:lnTo>
                <a:lnTo>
                  <a:pt x="3142" y="591"/>
                </a:lnTo>
                <a:lnTo>
                  <a:pt x="3140" y="575"/>
                </a:lnTo>
                <a:lnTo>
                  <a:pt x="3138" y="560"/>
                </a:lnTo>
                <a:lnTo>
                  <a:pt x="3135" y="546"/>
                </a:lnTo>
                <a:lnTo>
                  <a:pt x="3131" y="531"/>
                </a:lnTo>
                <a:lnTo>
                  <a:pt x="3127" y="518"/>
                </a:lnTo>
                <a:lnTo>
                  <a:pt x="3123" y="502"/>
                </a:lnTo>
                <a:lnTo>
                  <a:pt x="3117" y="489"/>
                </a:lnTo>
                <a:lnTo>
                  <a:pt x="3112" y="475"/>
                </a:lnTo>
                <a:lnTo>
                  <a:pt x="3104" y="462"/>
                </a:lnTo>
                <a:lnTo>
                  <a:pt x="3096" y="449"/>
                </a:lnTo>
                <a:lnTo>
                  <a:pt x="3089" y="437"/>
                </a:lnTo>
                <a:lnTo>
                  <a:pt x="3081" y="424"/>
                </a:lnTo>
                <a:lnTo>
                  <a:pt x="3071" y="412"/>
                </a:lnTo>
                <a:lnTo>
                  <a:pt x="3062" y="401"/>
                </a:lnTo>
                <a:lnTo>
                  <a:pt x="3052" y="389"/>
                </a:lnTo>
                <a:lnTo>
                  <a:pt x="3042" y="378"/>
                </a:lnTo>
                <a:lnTo>
                  <a:pt x="3031" y="368"/>
                </a:lnTo>
                <a:lnTo>
                  <a:pt x="3019" y="356"/>
                </a:lnTo>
                <a:lnTo>
                  <a:pt x="2995" y="337"/>
                </a:lnTo>
                <a:lnTo>
                  <a:pt x="2970" y="320"/>
                </a:lnTo>
                <a:lnTo>
                  <a:pt x="2956" y="312"/>
                </a:lnTo>
                <a:lnTo>
                  <a:pt x="2943" y="305"/>
                </a:lnTo>
                <a:lnTo>
                  <a:pt x="2927" y="297"/>
                </a:lnTo>
                <a:lnTo>
                  <a:pt x="2912" y="291"/>
                </a:lnTo>
                <a:lnTo>
                  <a:pt x="2899" y="286"/>
                </a:lnTo>
                <a:lnTo>
                  <a:pt x="2883" y="280"/>
                </a:lnTo>
                <a:lnTo>
                  <a:pt x="2866" y="276"/>
                </a:lnTo>
                <a:lnTo>
                  <a:pt x="2851" y="270"/>
                </a:lnTo>
                <a:lnTo>
                  <a:pt x="2853" y="270"/>
                </a:lnTo>
                <a:lnTo>
                  <a:pt x="2849" y="255"/>
                </a:lnTo>
                <a:lnTo>
                  <a:pt x="2845" y="241"/>
                </a:lnTo>
                <a:lnTo>
                  <a:pt x="2841" y="226"/>
                </a:lnTo>
                <a:lnTo>
                  <a:pt x="2835" y="213"/>
                </a:lnTo>
                <a:lnTo>
                  <a:pt x="2830" y="199"/>
                </a:lnTo>
                <a:lnTo>
                  <a:pt x="2824" y="186"/>
                </a:lnTo>
                <a:lnTo>
                  <a:pt x="2816" y="174"/>
                </a:lnTo>
                <a:lnTo>
                  <a:pt x="2808" y="161"/>
                </a:lnTo>
                <a:lnTo>
                  <a:pt x="2801" y="149"/>
                </a:lnTo>
                <a:lnTo>
                  <a:pt x="2791" y="138"/>
                </a:lnTo>
                <a:lnTo>
                  <a:pt x="2782" y="126"/>
                </a:lnTo>
                <a:lnTo>
                  <a:pt x="2772" y="115"/>
                </a:lnTo>
                <a:lnTo>
                  <a:pt x="2762" y="105"/>
                </a:lnTo>
                <a:lnTo>
                  <a:pt x="2751" y="94"/>
                </a:lnTo>
                <a:lnTo>
                  <a:pt x="2728" y="76"/>
                </a:lnTo>
                <a:lnTo>
                  <a:pt x="2716" y="67"/>
                </a:lnTo>
                <a:lnTo>
                  <a:pt x="2703" y="59"/>
                </a:lnTo>
                <a:lnTo>
                  <a:pt x="2691" y="51"/>
                </a:lnTo>
                <a:lnTo>
                  <a:pt x="2678" y="44"/>
                </a:lnTo>
                <a:lnTo>
                  <a:pt x="2665" y="36"/>
                </a:lnTo>
                <a:lnTo>
                  <a:pt x="2651" y="30"/>
                </a:lnTo>
                <a:lnTo>
                  <a:pt x="2636" y="25"/>
                </a:lnTo>
                <a:lnTo>
                  <a:pt x="2622" y="19"/>
                </a:lnTo>
                <a:lnTo>
                  <a:pt x="2607" y="15"/>
                </a:lnTo>
                <a:lnTo>
                  <a:pt x="2592" y="11"/>
                </a:lnTo>
                <a:lnTo>
                  <a:pt x="2576" y="7"/>
                </a:lnTo>
                <a:lnTo>
                  <a:pt x="2561" y="4"/>
                </a:lnTo>
                <a:lnTo>
                  <a:pt x="2546" y="2"/>
                </a:lnTo>
                <a:lnTo>
                  <a:pt x="2528" y="0"/>
                </a:lnTo>
                <a:lnTo>
                  <a:pt x="2513" y="0"/>
                </a:lnTo>
                <a:lnTo>
                  <a:pt x="2496" y="0"/>
                </a:lnTo>
                <a:lnTo>
                  <a:pt x="2477" y="0"/>
                </a:lnTo>
                <a:lnTo>
                  <a:pt x="2457" y="2"/>
                </a:lnTo>
                <a:lnTo>
                  <a:pt x="2436" y="4"/>
                </a:lnTo>
                <a:lnTo>
                  <a:pt x="2417" y="7"/>
                </a:lnTo>
                <a:lnTo>
                  <a:pt x="2400" y="11"/>
                </a:lnTo>
                <a:lnTo>
                  <a:pt x="2381" y="17"/>
                </a:lnTo>
                <a:lnTo>
                  <a:pt x="2361" y="23"/>
                </a:lnTo>
                <a:lnTo>
                  <a:pt x="2344" y="28"/>
                </a:lnTo>
                <a:lnTo>
                  <a:pt x="2327" y="38"/>
                </a:lnTo>
                <a:lnTo>
                  <a:pt x="2310" y="46"/>
                </a:lnTo>
                <a:lnTo>
                  <a:pt x="2294" y="55"/>
                </a:lnTo>
                <a:lnTo>
                  <a:pt x="2277" y="67"/>
                </a:lnTo>
                <a:lnTo>
                  <a:pt x="2262" y="76"/>
                </a:lnTo>
                <a:lnTo>
                  <a:pt x="2248" y="90"/>
                </a:lnTo>
                <a:lnTo>
                  <a:pt x="2233" y="101"/>
                </a:lnTo>
                <a:lnTo>
                  <a:pt x="2221" y="115"/>
                </a:lnTo>
                <a:lnTo>
                  <a:pt x="2221" y="117"/>
                </a:lnTo>
                <a:lnTo>
                  <a:pt x="2210" y="103"/>
                </a:lnTo>
                <a:lnTo>
                  <a:pt x="2196" y="90"/>
                </a:lnTo>
                <a:lnTo>
                  <a:pt x="2183" y="78"/>
                </a:lnTo>
                <a:lnTo>
                  <a:pt x="2170" y="67"/>
                </a:lnTo>
                <a:lnTo>
                  <a:pt x="2154" y="55"/>
                </a:lnTo>
                <a:lnTo>
                  <a:pt x="2139" y="46"/>
                </a:lnTo>
                <a:lnTo>
                  <a:pt x="2123" y="38"/>
                </a:lnTo>
                <a:lnTo>
                  <a:pt x="2106" y="30"/>
                </a:lnTo>
                <a:lnTo>
                  <a:pt x="2089" y="23"/>
                </a:lnTo>
                <a:lnTo>
                  <a:pt x="2072" y="17"/>
                </a:lnTo>
                <a:lnTo>
                  <a:pt x="2054" y="11"/>
                </a:lnTo>
                <a:lnTo>
                  <a:pt x="2037" y="7"/>
                </a:lnTo>
                <a:lnTo>
                  <a:pt x="2018" y="4"/>
                </a:lnTo>
                <a:lnTo>
                  <a:pt x="2001" y="2"/>
                </a:lnTo>
                <a:lnTo>
                  <a:pt x="1982" y="0"/>
                </a:lnTo>
                <a:lnTo>
                  <a:pt x="1962" y="0"/>
                </a:lnTo>
                <a:lnTo>
                  <a:pt x="1939" y="0"/>
                </a:lnTo>
                <a:lnTo>
                  <a:pt x="1916" y="2"/>
                </a:lnTo>
                <a:lnTo>
                  <a:pt x="1895" y="5"/>
                </a:lnTo>
                <a:lnTo>
                  <a:pt x="1872" y="11"/>
                </a:lnTo>
                <a:lnTo>
                  <a:pt x="1851" y="17"/>
                </a:lnTo>
                <a:lnTo>
                  <a:pt x="1830" y="25"/>
                </a:lnTo>
                <a:lnTo>
                  <a:pt x="1811" y="32"/>
                </a:lnTo>
                <a:lnTo>
                  <a:pt x="1792" y="44"/>
                </a:lnTo>
                <a:lnTo>
                  <a:pt x="1772" y="55"/>
                </a:lnTo>
                <a:lnTo>
                  <a:pt x="1755" y="67"/>
                </a:lnTo>
                <a:lnTo>
                  <a:pt x="1738" y="80"/>
                </a:lnTo>
                <a:lnTo>
                  <a:pt x="1723" y="96"/>
                </a:lnTo>
                <a:lnTo>
                  <a:pt x="1707" y="111"/>
                </a:lnTo>
                <a:lnTo>
                  <a:pt x="1694" y="128"/>
                </a:lnTo>
                <a:lnTo>
                  <a:pt x="1682" y="145"/>
                </a:lnTo>
                <a:lnTo>
                  <a:pt x="1671" y="163"/>
                </a:lnTo>
                <a:lnTo>
                  <a:pt x="1673" y="168"/>
                </a:lnTo>
                <a:lnTo>
                  <a:pt x="1659" y="155"/>
                </a:lnTo>
                <a:lnTo>
                  <a:pt x="1644" y="144"/>
                </a:lnTo>
                <a:lnTo>
                  <a:pt x="1629" y="134"/>
                </a:lnTo>
                <a:lnTo>
                  <a:pt x="1613" y="124"/>
                </a:lnTo>
                <a:lnTo>
                  <a:pt x="1596" y="115"/>
                </a:lnTo>
                <a:lnTo>
                  <a:pt x="1579" y="105"/>
                </a:lnTo>
                <a:lnTo>
                  <a:pt x="1561" y="98"/>
                </a:lnTo>
                <a:lnTo>
                  <a:pt x="1544" y="92"/>
                </a:lnTo>
                <a:lnTo>
                  <a:pt x="1527" y="84"/>
                </a:lnTo>
                <a:lnTo>
                  <a:pt x="1508" y="80"/>
                </a:lnTo>
                <a:lnTo>
                  <a:pt x="1490" y="74"/>
                </a:lnTo>
                <a:lnTo>
                  <a:pt x="1471" y="71"/>
                </a:lnTo>
                <a:lnTo>
                  <a:pt x="1452" y="69"/>
                </a:lnTo>
                <a:lnTo>
                  <a:pt x="1433" y="65"/>
                </a:lnTo>
                <a:lnTo>
                  <a:pt x="1414" y="65"/>
                </a:lnTo>
                <a:lnTo>
                  <a:pt x="1394" y="65"/>
                </a:lnTo>
                <a:lnTo>
                  <a:pt x="1368" y="65"/>
                </a:lnTo>
                <a:lnTo>
                  <a:pt x="1339" y="67"/>
                </a:lnTo>
                <a:lnTo>
                  <a:pt x="1314" y="71"/>
                </a:lnTo>
                <a:lnTo>
                  <a:pt x="1287" y="78"/>
                </a:lnTo>
                <a:lnTo>
                  <a:pt x="1262" y="84"/>
                </a:lnTo>
                <a:lnTo>
                  <a:pt x="1237" y="94"/>
                </a:lnTo>
                <a:lnTo>
                  <a:pt x="1212" y="103"/>
                </a:lnTo>
                <a:lnTo>
                  <a:pt x="1189" y="115"/>
                </a:lnTo>
                <a:lnTo>
                  <a:pt x="1166" y="128"/>
                </a:lnTo>
                <a:lnTo>
                  <a:pt x="1145" y="144"/>
                </a:lnTo>
                <a:lnTo>
                  <a:pt x="1126" y="159"/>
                </a:lnTo>
                <a:lnTo>
                  <a:pt x="1107" y="176"/>
                </a:lnTo>
                <a:lnTo>
                  <a:pt x="1087" y="195"/>
                </a:lnTo>
                <a:lnTo>
                  <a:pt x="1072" y="215"/>
                </a:lnTo>
                <a:lnTo>
                  <a:pt x="1057" y="234"/>
                </a:lnTo>
                <a:lnTo>
                  <a:pt x="1043" y="257"/>
                </a:lnTo>
                <a:lnTo>
                  <a:pt x="1041" y="259"/>
                </a:lnTo>
                <a:lnTo>
                  <a:pt x="1013" y="243"/>
                </a:lnTo>
                <a:lnTo>
                  <a:pt x="982" y="232"/>
                </a:lnTo>
                <a:lnTo>
                  <a:pt x="951" y="220"/>
                </a:lnTo>
                <a:lnTo>
                  <a:pt x="936" y="216"/>
                </a:lnTo>
                <a:lnTo>
                  <a:pt x="919" y="213"/>
                </a:lnTo>
                <a:lnTo>
                  <a:pt x="903" y="209"/>
                </a:lnTo>
                <a:lnTo>
                  <a:pt x="888" y="205"/>
                </a:lnTo>
                <a:lnTo>
                  <a:pt x="871" y="203"/>
                </a:lnTo>
                <a:lnTo>
                  <a:pt x="853" y="199"/>
                </a:lnTo>
                <a:lnTo>
                  <a:pt x="838" y="197"/>
                </a:lnTo>
                <a:lnTo>
                  <a:pt x="821" y="197"/>
                </a:lnTo>
                <a:lnTo>
                  <a:pt x="804" y="195"/>
                </a:lnTo>
                <a:lnTo>
                  <a:pt x="788" y="195"/>
                </a:lnTo>
                <a:lnTo>
                  <a:pt x="761" y="197"/>
                </a:lnTo>
                <a:lnTo>
                  <a:pt x="736" y="199"/>
                </a:lnTo>
                <a:lnTo>
                  <a:pt x="711" y="201"/>
                </a:lnTo>
                <a:lnTo>
                  <a:pt x="687" y="205"/>
                </a:lnTo>
                <a:lnTo>
                  <a:pt x="662" y="211"/>
                </a:lnTo>
                <a:lnTo>
                  <a:pt x="639" y="216"/>
                </a:lnTo>
                <a:lnTo>
                  <a:pt x="616" y="224"/>
                </a:lnTo>
                <a:lnTo>
                  <a:pt x="593" y="232"/>
                </a:lnTo>
                <a:lnTo>
                  <a:pt x="569" y="241"/>
                </a:lnTo>
                <a:lnTo>
                  <a:pt x="548" y="251"/>
                </a:lnTo>
                <a:lnTo>
                  <a:pt x="527" y="262"/>
                </a:lnTo>
                <a:lnTo>
                  <a:pt x="506" y="274"/>
                </a:lnTo>
                <a:lnTo>
                  <a:pt x="487" y="287"/>
                </a:lnTo>
                <a:lnTo>
                  <a:pt x="468" y="301"/>
                </a:lnTo>
                <a:lnTo>
                  <a:pt x="449" y="314"/>
                </a:lnTo>
                <a:lnTo>
                  <a:pt x="431" y="330"/>
                </a:lnTo>
                <a:lnTo>
                  <a:pt x="416" y="347"/>
                </a:lnTo>
                <a:lnTo>
                  <a:pt x="399" y="362"/>
                </a:lnTo>
                <a:lnTo>
                  <a:pt x="385" y="380"/>
                </a:lnTo>
                <a:lnTo>
                  <a:pt x="370" y="399"/>
                </a:lnTo>
                <a:lnTo>
                  <a:pt x="358" y="416"/>
                </a:lnTo>
                <a:lnTo>
                  <a:pt x="345" y="435"/>
                </a:lnTo>
                <a:lnTo>
                  <a:pt x="333" y="456"/>
                </a:lnTo>
                <a:lnTo>
                  <a:pt x="324" y="475"/>
                </a:lnTo>
                <a:lnTo>
                  <a:pt x="314" y="497"/>
                </a:lnTo>
                <a:lnTo>
                  <a:pt x="307" y="518"/>
                </a:lnTo>
                <a:lnTo>
                  <a:pt x="301" y="541"/>
                </a:lnTo>
                <a:lnTo>
                  <a:pt x="295" y="562"/>
                </a:lnTo>
                <a:lnTo>
                  <a:pt x="291" y="585"/>
                </a:lnTo>
                <a:lnTo>
                  <a:pt x="287" y="608"/>
                </a:lnTo>
                <a:lnTo>
                  <a:pt x="286" y="631"/>
                </a:lnTo>
                <a:lnTo>
                  <a:pt x="286" y="654"/>
                </a:lnTo>
                <a:lnTo>
                  <a:pt x="286" y="669"/>
                </a:lnTo>
                <a:lnTo>
                  <a:pt x="286" y="686"/>
                </a:lnTo>
                <a:lnTo>
                  <a:pt x="287" y="702"/>
                </a:lnTo>
                <a:lnTo>
                  <a:pt x="289" y="717"/>
                </a:lnTo>
                <a:lnTo>
                  <a:pt x="291" y="715"/>
                </a:lnTo>
                <a:close/>
              </a:path>
            </a:pathLst>
          </a:custGeom>
          <a:solidFill>
            <a:schemeClr val="bg1"/>
          </a:solidFill>
          <a:ln w="28575" cmpd="sng">
            <a:solidFill>
              <a:srgbClr val="56C4D2"/>
            </a:solidFill>
            <a:round/>
            <a:headEnd/>
            <a:tailEnd/>
          </a:ln>
        </p:spPr>
        <p:txBody>
          <a:bodyPr/>
          <a:lstStyle/>
          <a:p>
            <a:pPr defTabSz="1218906"/>
            <a:endParaRPr lang="en-GB" sz="1600">
              <a:cs typeface="+mn-ea"/>
              <a:sym typeface="+mn-lt"/>
            </a:endParaRPr>
          </a:p>
        </p:txBody>
      </p:sp>
      <p:sp>
        <p:nvSpPr>
          <p:cNvPr id="19" name="矩形 18">
            <a:extLst>
              <a:ext uri="{FF2B5EF4-FFF2-40B4-BE49-F238E27FC236}">
                <a16:creationId xmlns:a16="http://schemas.microsoft.com/office/drawing/2014/main" id="{CC80A8E7-3BEA-44CD-B1EE-073203FACA9E}"/>
              </a:ext>
            </a:extLst>
          </p:cNvPr>
          <p:cNvSpPr/>
          <p:nvPr/>
        </p:nvSpPr>
        <p:spPr bwMode="gray">
          <a:xfrm>
            <a:off x="4482604" y="4760965"/>
            <a:ext cx="1207538" cy="338554"/>
          </a:xfrm>
          <a:prstGeom prst="rect">
            <a:avLst/>
          </a:prstGeom>
          <a:ln>
            <a:noFill/>
          </a:ln>
        </p:spPr>
        <p:txBody>
          <a:bodyPr wrap="square">
            <a:spAutoFit/>
          </a:bodyPr>
          <a:lstStyle/>
          <a:p>
            <a:pPr algn="ctr" defTabSz="914373"/>
            <a:r>
              <a:rPr lang="en-US" altLang="zh-CN" sz="1600" kern="0" dirty="0">
                <a:cs typeface="+mn-ea"/>
                <a:sym typeface="+mn-lt"/>
              </a:rPr>
              <a:t>WAN/DCI</a:t>
            </a:r>
            <a:endParaRPr lang="zh-CN" altLang="en-US" sz="1600" kern="0" dirty="0">
              <a:cs typeface="+mn-ea"/>
              <a:sym typeface="+mn-lt"/>
            </a:endParaRPr>
          </a:p>
        </p:txBody>
      </p:sp>
      <p:sp>
        <p:nvSpPr>
          <p:cNvPr id="20" name="圆角矩形 291">
            <a:extLst>
              <a:ext uri="{FF2B5EF4-FFF2-40B4-BE49-F238E27FC236}">
                <a16:creationId xmlns:a16="http://schemas.microsoft.com/office/drawing/2014/main" id="{F9175EE9-16FA-47BC-977D-575CC2C4111A}"/>
              </a:ext>
            </a:extLst>
          </p:cNvPr>
          <p:cNvSpPr/>
          <p:nvPr/>
        </p:nvSpPr>
        <p:spPr bwMode="gray">
          <a:xfrm>
            <a:off x="1527933" y="3673830"/>
            <a:ext cx="2115537" cy="2453540"/>
          </a:xfrm>
          <a:prstGeom prst="roundRect">
            <a:avLst>
              <a:gd name="adj" fmla="val 0"/>
            </a:avLst>
          </a:prstGeom>
          <a:noFill/>
          <a:ln w="12700">
            <a:solidFill>
              <a:srgbClr val="94DAE2"/>
            </a:solidFill>
            <a:prstDash val="solid"/>
          </a:ln>
          <a:effectLst/>
        </p:spPr>
        <p:style>
          <a:lnRef idx="3">
            <a:schemeClr val="lt1"/>
          </a:lnRef>
          <a:fillRef idx="1">
            <a:schemeClr val="accent1"/>
          </a:fillRef>
          <a:effectRef idx="1">
            <a:schemeClr val="accent1"/>
          </a:effectRef>
          <a:fontRef idx="minor">
            <a:schemeClr val="lt1"/>
          </a:fontRef>
        </p:style>
        <p:txBody>
          <a:bodyPr lIns="47963" tIns="47963" rIns="47963" bIns="47963" anchor="ctr" anchorCtr="1"/>
          <a:lstStyle/>
          <a:p>
            <a:pPr indent="-138940" algn="ctr" defTabSz="798001" eaLnBrk="0" fontAlgn="base" hangingPunct="0">
              <a:spcBef>
                <a:spcPct val="0"/>
              </a:spcBef>
              <a:spcAft>
                <a:spcPct val="0"/>
              </a:spcAft>
              <a:buClr>
                <a:srgbClr val="1F497D"/>
              </a:buClr>
            </a:pPr>
            <a:endParaRPr kumimoji="1" lang="en-US" sz="1600" kern="0">
              <a:cs typeface="+mn-ea"/>
              <a:sym typeface="+mn-lt"/>
            </a:endParaRPr>
          </a:p>
        </p:txBody>
      </p:sp>
      <p:sp>
        <p:nvSpPr>
          <p:cNvPr id="21" name="Freeform 78">
            <a:extLst>
              <a:ext uri="{FF2B5EF4-FFF2-40B4-BE49-F238E27FC236}">
                <a16:creationId xmlns:a16="http://schemas.microsoft.com/office/drawing/2014/main" id="{3AAAC39F-57EC-417D-B91F-779E9366D979}"/>
              </a:ext>
            </a:extLst>
          </p:cNvPr>
          <p:cNvSpPr>
            <a:spLocks noEditPoints="1"/>
          </p:cNvSpPr>
          <p:nvPr/>
        </p:nvSpPr>
        <p:spPr bwMode="gray">
          <a:xfrm>
            <a:off x="1784817" y="4005321"/>
            <a:ext cx="491985" cy="298685"/>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solidFill>
            <a:srgbClr val="00B0F0"/>
          </a:solidFill>
          <a:ln>
            <a:noFill/>
          </a:ln>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600">
              <a:cs typeface="+mn-ea"/>
              <a:sym typeface="+mn-lt"/>
            </a:endParaRPr>
          </a:p>
        </p:txBody>
      </p:sp>
      <p:grpSp>
        <p:nvGrpSpPr>
          <p:cNvPr id="22" name="组合 63">
            <a:extLst>
              <a:ext uri="{FF2B5EF4-FFF2-40B4-BE49-F238E27FC236}">
                <a16:creationId xmlns:a16="http://schemas.microsoft.com/office/drawing/2014/main" id="{CB349897-3B98-42EA-A592-977EC1DF01C6}"/>
              </a:ext>
            </a:extLst>
          </p:cNvPr>
          <p:cNvGrpSpPr/>
          <p:nvPr/>
        </p:nvGrpSpPr>
        <p:grpSpPr bwMode="gray">
          <a:xfrm>
            <a:off x="1853008" y="5304487"/>
            <a:ext cx="374269" cy="292567"/>
            <a:chOff x="1162859" y="3772128"/>
            <a:chExt cx="427038" cy="447675"/>
          </a:xfrm>
          <a:solidFill>
            <a:srgbClr val="00B0F0"/>
          </a:solidFill>
        </p:grpSpPr>
        <p:sp>
          <p:nvSpPr>
            <p:cNvPr id="23" name="Freeform 12">
              <a:extLst>
                <a:ext uri="{FF2B5EF4-FFF2-40B4-BE49-F238E27FC236}">
                  <a16:creationId xmlns:a16="http://schemas.microsoft.com/office/drawing/2014/main" id="{5066C2F0-EE50-4454-B72C-AF31EEB0AEEE}"/>
                </a:ext>
              </a:extLst>
            </p:cNvPr>
            <p:cNvSpPr>
              <a:spLocks/>
            </p:cNvSpPr>
            <p:nvPr/>
          </p:nvSpPr>
          <p:spPr bwMode="gray">
            <a:xfrm>
              <a:off x="1162859" y="3772128"/>
              <a:ext cx="425450" cy="179388"/>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4" name="Freeform 13">
              <a:extLst>
                <a:ext uri="{FF2B5EF4-FFF2-40B4-BE49-F238E27FC236}">
                  <a16:creationId xmlns:a16="http://schemas.microsoft.com/office/drawing/2014/main" id="{874A4A6C-D8E2-4CA8-AF10-CEA2EB2703CD}"/>
                </a:ext>
              </a:extLst>
            </p:cNvPr>
            <p:cNvSpPr>
              <a:spLocks noEditPoints="1"/>
            </p:cNvSpPr>
            <p:nvPr/>
          </p:nvSpPr>
          <p:spPr bwMode="gray">
            <a:xfrm>
              <a:off x="1162859" y="3973740"/>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sp>
        <p:nvSpPr>
          <p:cNvPr id="25" name="矩形 24">
            <a:extLst>
              <a:ext uri="{FF2B5EF4-FFF2-40B4-BE49-F238E27FC236}">
                <a16:creationId xmlns:a16="http://schemas.microsoft.com/office/drawing/2014/main" id="{22B758A2-3F87-4C80-BB89-3655A3074F05}"/>
              </a:ext>
            </a:extLst>
          </p:cNvPr>
          <p:cNvSpPr/>
          <p:nvPr/>
        </p:nvSpPr>
        <p:spPr bwMode="gray">
          <a:xfrm>
            <a:off x="1564175" y="4281450"/>
            <a:ext cx="933269" cy="338554"/>
          </a:xfrm>
          <a:prstGeom prst="rect">
            <a:avLst/>
          </a:prstGeom>
        </p:spPr>
        <p:txBody>
          <a:bodyPr wrap="none">
            <a:spAutoFit/>
          </a:bodyPr>
          <a:lstStyle/>
          <a:p>
            <a:pPr algn="ctr" defTabSz="914373"/>
            <a:r>
              <a:rPr lang="en-US" altLang="zh-CN" sz="1600" kern="0" dirty="0">
                <a:cs typeface="+mn-ea"/>
                <a:sym typeface="+mn-lt"/>
              </a:rPr>
              <a:t>Campus</a:t>
            </a:r>
          </a:p>
        </p:txBody>
      </p:sp>
      <p:sp>
        <p:nvSpPr>
          <p:cNvPr id="26" name="矩形 25">
            <a:extLst>
              <a:ext uri="{FF2B5EF4-FFF2-40B4-BE49-F238E27FC236}">
                <a16:creationId xmlns:a16="http://schemas.microsoft.com/office/drawing/2014/main" id="{C6A630E9-6F2E-4219-9DE5-74ADC102DDB5}"/>
              </a:ext>
            </a:extLst>
          </p:cNvPr>
          <p:cNvSpPr/>
          <p:nvPr/>
        </p:nvSpPr>
        <p:spPr bwMode="gray">
          <a:xfrm>
            <a:off x="1613868" y="5587504"/>
            <a:ext cx="833883" cy="338554"/>
          </a:xfrm>
          <a:prstGeom prst="rect">
            <a:avLst/>
          </a:prstGeom>
        </p:spPr>
        <p:txBody>
          <a:bodyPr wrap="none">
            <a:spAutoFit/>
          </a:bodyPr>
          <a:lstStyle/>
          <a:p>
            <a:pPr algn="ctr" defTabSz="914373"/>
            <a:r>
              <a:rPr lang="en-US" altLang="zh-CN" sz="1600" kern="0" dirty="0">
                <a:cs typeface="+mn-ea"/>
                <a:sym typeface="+mn-lt"/>
              </a:rPr>
              <a:t>Branch</a:t>
            </a:r>
          </a:p>
        </p:txBody>
      </p:sp>
      <p:sp>
        <p:nvSpPr>
          <p:cNvPr id="27" name="Freeform 116">
            <a:extLst>
              <a:ext uri="{FF2B5EF4-FFF2-40B4-BE49-F238E27FC236}">
                <a16:creationId xmlns:a16="http://schemas.microsoft.com/office/drawing/2014/main" id="{D3D62899-F7DF-4FB7-94A9-5180D5AB5991}"/>
              </a:ext>
            </a:extLst>
          </p:cNvPr>
          <p:cNvSpPr>
            <a:spLocks noEditPoints="1"/>
          </p:cNvSpPr>
          <p:nvPr/>
        </p:nvSpPr>
        <p:spPr bwMode="gray">
          <a:xfrm>
            <a:off x="2843638" y="4079950"/>
            <a:ext cx="260551" cy="61740"/>
          </a:xfrm>
          <a:custGeom>
            <a:avLst/>
            <a:gdLst>
              <a:gd name="T0" fmla="*/ 20 w 1007"/>
              <a:gd name="T1" fmla="*/ 1 h 241"/>
              <a:gd name="T2" fmla="*/ 0 w 1007"/>
              <a:gd name="T3" fmla="*/ 25 h 241"/>
              <a:gd name="T4" fmla="*/ 3 w 1007"/>
              <a:gd name="T5" fmla="*/ 224 h 241"/>
              <a:gd name="T6" fmla="*/ 31 w 1007"/>
              <a:gd name="T7" fmla="*/ 241 h 241"/>
              <a:gd name="T8" fmla="*/ 989 w 1007"/>
              <a:gd name="T9" fmla="*/ 239 h 241"/>
              <a:gd name="T10" fmla="*/ 1007 w 1007"/>
              <a:gd name="T11" fmla="*/ 215 h 241"/>
              <a:gd name="T12" fmla="*/ 1006 w 1007"/>
              <a:gd name="T13" fmla="*/ 14 h 241"/>
              <a:gd name="T14" fmla="*/ 978 w 1007"/>
              <a:gd name="T15" fmla="*/ 0 h 241"/>
              <a:gd name="T16" fmla="*/ 86 w 1007"/>
              <a:gd name="T17" fmla="*/ 162 h 241"/>
              <a:gd name="T18" fmla="*/ 66 w 1007"/>
              <a:gd name="T19" fmla="*/ 148 h 241"/>
              <a:gd name="T20" fmla="*/ 58 w 1007"/>
              <a:gd name="T21" fmla="*/ 129 h 241"/>
              <a:gd name="T22" fmla="*/ 69 w 1007"/>
              <a:gd name="T23" fmla="*/ 106 h 241"/>
              <a:gd name="T24" fmla="*/ 93 w 1007"/>
              <a:gd name="T25" fmla="*/ 96 h 241"/>
              <a:gd name="T26" fmla="*/ 111 w 1007"/>
              <a:gd name="T27" fmla="*/ 102 h 241"/>
              <a:gd name="T28" fmla="*/ 126 w 1007"/>
              <a:gd name="T29" fmla="*/ 122 h 241"/>
              <a:gd name="T30" fmla="*/ 124 w 1007"/>
              <a:gd name="T31" fmla="*/ 142 h 241"/>
              <a:gd name="T32" fmla="*/ 106 w 1007"/>
              <a:gd name="T33" fmla="*/ 160 h 241"/>
              <a:gd name="T34" fmla="*/ 329 w 1007"/>
              <a:gd name="T35" fmla="*/ 215 h 241"/>
              <a:gd name="T36" fmla="*/ 261 w 1007"/>
              <a:gd name="T37" fmla="*/ 212 h 241"/>
              <a:gd name="T38" fmla="*/ 263 w 1007"/>
              <a:gd name="T39" fmla="*/ 201 h 241"/>
              <a:gd name="T40" fmla="*/ 333 w 1007"/>
              <a:gd name="T41" fmla="*/ 201 h 241"/>
              <a:gd name="T42" fmla="*/ 334 w 1007"/>
              <a:gd name="T43" fmla="*/ 212 h 241"/>
              <a:gd name="T44" fmla="*/ 494 w 1007"/>
              <a:gd name="T45" fmla="*/ 215 h 241"/>
              <a:gd name="T46" fmla="*/ 424 w 1007"/>
              <a:gd name="T47" fmla="*/ 212 h 241"/>
              <a:gd name="T48" fmla="*/ 428 w 1007"/>
              <a:gd name="T49" fmla="*/ 201 h 241"/>
              <a:gd name="T50" fmla="*/ 497 w 1007"/>
              <a:gd name="T51" fmla="*/ 201 h 241"/>
              <a:gd name="T52" fmla="*/ 499 w 1007"/>
              <a:gd name="T53" fmla="*/ 212 h 241"/>
              <a:gd name="T54" fmla="*/ 654 w 1007"/>
              <a:gd name="T55" fmla="*/ 215 h 241"/>
              <a:gd name="T56" fmla="*/ 585 w 1007"/>
              <a:gd name="T57" fmla="*/ 212 h 241"/>
              <a:gd name="T58" fmla="*/ 589 w 1007"/>
              <a:gd name="T59" fmla="*/ 201 h 241"/>
              <a:gd name="T60" fmla="*/ 656 w 1007"/>
              <a:gd name="T61" fmla="*/ 201 h 241"/>
              <a:gd name="T62" fmla="*/ 660 w 1007"/>
              <a:gd name="T63" fmla="*/ 212 h 241"/>
              <a:gd name="T64" fmla="*/ 713 w 1007"/>
              <a:gd name="T65" fmla="*/ 69 h 241"/>
              <a:gd name="T66" fmla="*/ 201 w 1007"/>
              <a:gd name="T67" fmla="*/ 67 h 241"/>
              <a:gd name="T68" fmla="*/ 826 w 1007"/>
              <a:gd name="T69" fmla="*/ 215 h 241"/>
              <a:gd name="T70" fmla="*/ 819 w 1007"/>
              <a:gd name="T71" fmla="*/ 208 h 241"/>
              <a:gd name="T72" fmla="*/ 826 w 1007"/>
              <a:gd name="T73" fmla="*/ 201 h 241"/>
              <a:gd name="T74" fmla="*/ 938 w 1007"/>
              <a:gd name="T75" fmla="*/ 203 h 241"/>
              <a:gd name="T76" fmla="*/ 936 w 1007"/>
              <a:gd name="T77" fmla="*/ 214 h 241"/>
              <a:gd name="T78" fmla="*/ 982 w 1007"/>
              <a:gd name="T79" fmla="*/ 182 h 241"/>
              <a:gd name="T80" fmla="*/ 982 w 1007"/>
              <a:gd name="T81" fmla="*/ 54 h 241"/>
              <a:gd name="T82" fmla="*/ 702 w 1007"/>
              <a:gd name="T83" fmla="*/ 175 h 241"/>
              <a:gd name="T84" fmla="*/ 214 w 1007"/>
              <a:gd name="T85" fmla="*/ 175 h 241"/>
              <a:gd name="T86" fmla="*/ 600 w 1007"/>
              <a:gd name="T87" fmla="*/ 100 h 241"/>
              <a:gd name="T88" fmla="*/ 607 w 1007"/>
              <a:gd name="T89" fmla="*/ 89 h 241"/>
              <a:gd name="T90" fmla="*/ 640 w 1007"/>
              <a:gd name="T91" fmla="*/ 89 h 241"/>
              <a:gd name="T92" fmla="*/ 647 w 1007"/>
              <a:gd name="T93" fmla="*/ 104 h 241"/>
              <a:gd name="T94" fmla="*/ 570 w 1007"/>
              <a:gd name="T95" fmla="*/ 104 h 241"/>
              <a:gd name="T96" fmla="*/ 439 w 1007"/>
              <a:gd name="T97" fmla="*/ 100 h 241"/>
              <a:gd name="T98" fmla="*/ 451 w 1007"/>
              <a:gd name="T99" fmla="*/ 87 h 241"/>
              <a:gd name="T100" fmla="*/ 483 w 1007"/>
              <a:gd name="T101" fmla="*/ 91 h 241"/>
              <a:gd name="T102" fmla="*/ 515 w 1007"/>
              <a:gd name="T103" fmla="*/ 104 h 241"/>
              <a:gd name="T104" fmla="*/ 248 w 1007"/>
              <a:gd name="T105" fmla="*/ 104 h 241"/>
              <a:gd name="T106" fmla="*/ 280 w 1007"/>
              <a:gd name="T107" fmla="*/ 95 h 241"/>
              <a:gd name="T108" fmla="*/ 314 w 1007"/>
              <a:gd name="T109" fmla="*/ 87 h 241"/>
              <a:gd name="T110" fmla="*/ 325 w 1007"/>
              <a:gd name="T111" fmla="*/ 95 h 241"/>
              <a:gd name="T112" fmla="*/ 355 w 1007"/>
              <a:gd name="T113" fmla="*/ 159 h 241"/>
              <a:gd name="T114" fmla="*/ 973 w 1007"/>
              <a:gd name="T115" fmla="*/ 173 h 241"/>
              <a:gd name="T116" fmla="*/ 819 w 1007"/>
              <a:gd name="T117" fmla="*/ 98 h 241"/>
              <a:gd name="T118" fmla="*/ 854 w 1007"/>
              <a:gd name="T119" fmla="*/ 87 h 241"/>
              <a:gd name="T120" fmla="*/ 892 w 1007"/>
              <a:gd name="T121" fmla="*/ 80 h 241"/>
              <a:gd name="T122" fmla="*/ 905 w 1007"/>
              <a:gd name="T123" fmla="*/ 87 h 241"/>
              <a:gd name="T124" fmla="*/ 940 w 1007"/>
              <a:gd name="T125" fmla="*/ 16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7" h="241">
                <a:moveTo>
                  <a:pt x="978" y="0"/>
                </a:moveTo>
                <a:lnTo>
                  <a:pt x="31" y="0"/>
                </a:lnTo>
                <a:lnTo>
                  <a:pt x="31" y="0"/>
                </a:lnTo>
                <a:lnTo>
                  <a:pt x="20" y="1"/>
                </a:lnTo>
                <a:lnTo>
                  <a:pt x="9" y="7"/>
                </a:lnTo>
                <a:lnTo>
                  <a:pt x="3" y="14"/>
                </a:lnTo>
                <a:lnTo>
                  <a:pt x="2" y="20"/>
                </a:lnTo>
                <a:lnTo>
                  <a:pt x="0" y="25"/>
                </a:lnTo>
                <a:lnTo>
                  <a:pt x="0" y="215"/>
                </a:lnTo>
                <a:lnTo>
                  <a:pt x="0" y="215"/>
                </a:lnTo>
                <a:lnTo>
                  <a:pt x="2" y="221"/>
                </a:lnTo>
                <a:lnTo>
                  <a:pt x="3" y="224"/>
                </a:lnTo>
                <a:lnTo>
                  <a:pt x="9" y="234"/>
                </a:lnTo>
                <a:lnTo>
                  <a:pt x="20" y="239"/>
                </a:lnTo>
                <a:lnTo>
                  <a:pt x="25" y="241"/>
                </a:lnTo>
                <a:lnTo>
                  <a:pt x="31" y="241"/>
                </a:lnTo>
                <a:lnTo>
                  <a:pt x="978" y="241"/>
                </a:lnTo>
                <a:lnTo>
                  <a:pt x="978" y="241"/>
                </a:lnTo>
                <a:lnTo>
                  <a:pt x="984" y="241"/>
                </a:lnTo>
                <a:lnTo>
                  <a:pt x="989" y="239"/>
                </a:lnTo>
                <a:lnTo>
                  <a:pt x="998" y="234"/>
                </a:lnTo>
                <a:lnTo>
                  <a:pt x="1006" y="224"/>
                </a:lnTo>
                <a:lnTo>
                  <a:pt x="1007" y="221"/>
                </a:lnTo>
                <a:lnTo>
                  <a:pt x="1007" y="215"/>
                </a:lnTo>
                <a:lnTo>
                  <a:pt x="1007" y="25"/>
                </a:lnTo>
                <a:lnTo>
                  <a:pt x="1007" y="25"/>
                </a:lnTo>
                <a:lnTo>
                  <a:pt x="1007" y="20"/>
                </a:lnTo>
                <a:lnTo>
                  <a:pt x="1006" y="14"/>
                </a:lnTo>
                <a:lnTo>
                  <a:pt x="998" y="7"/>
                </a:lnTo>
                <a:lnTo>
                  <a:pt x="989" y="1"/>
                </a:lnTo>
                <a:lnTo>
                  <a:pt x="984" y="0"/>
                </a:lnTo>
                <a:lnTo>
                  <a:pt x="978" y="0"/>
                </a:lnTo>
                <a:lnTo>
                  <a:pt x="978" y="0"/>
                </a:lnTo>
                <a:close/>
                <a:moveTo>
                  <a:pt x="93" y="162"/>
                </a:moveTo>
                <a:lnTo>
                  <a:pt x="93" y="162"/>
                </a:lnTo>
                <a:lnTo>
                  <a:pt x="86" y="162"/>
                </a:lnTo>
                <a:lnTo>
                  <a:pt x="80" y="160"/>
                </a:lnTo>
                <a:lnTo>
                  <a:pt x="75" y="157"/>
                </a:lnTo>
                <a:lnTo>
                  <a:pt x="69" y="153"/>
                </a:lnTo>
                <a:lnTo>
                  <a:pt x="66" y="148"/>
                </a:lnTo>
                <a:lnTo>
                  <a:pt x="62" y="142"/>
                </a:lnTo>
                <a:lnTo>
                  <a:pt x="60" y="137"/>
                </a:lnTo>
                <a:lnTo>
                  <a:pt x="58" y="129"/>
                </a:lnTo>
                <a:lnTo>
                  <a:pt x="58" y="129"/>
                </a:lnTo>
                <a:lnTo>
                  <a:pt x="60" y="122"/>
                </a:lnTo>
                <a:lnTo>
                  <a:pt x="62" y="117"/>
                </a:lnTo>
                <a:lnTo>
                  <a:pt x="66" y="111"/>
                </a:lnTo>
                <a:lnTo>
                  <a:pt x="69" y="106"/>
                </a:lnTo>
                <a:lnTo>
                  <a:pt x="75" y="102"/>
                </a:lnTo>
                <a:lnTo>
                  <a:pt x="80" y="98"/>
                </a:lnTo>
                <a:lnTo>
                  <a:pt x="86" y="96"/>
                </a:lnTo>
                <a:lnTo>
                  <a:pt x="93" y="96"/>
                </a:lnTo>
                <a:lnTo>
                  <a:pt x="93" y="96"/>
                </a:lnTo>
                <a:lnTo>
                  <a:pt x="100" y="96"/>
                </a:lnTo>
                <a:lnTo>
                  <a:pt x="106" y="98"/>
                </a:lnTo>
                <a:lnTo>
                  <a:pt x="111" y="102"/>
                </a:lnTo>
                <a:lnTo>
                  <a:pt x="117" y="106"/>
                </a:lnTo>
                <a:lnTo>
                  <a:pt x="122" y="111"/>
                </a:lnTo>
                <a:lnTo>
                  <a:pt x="124" y="117"/>
                </a:lnTo>
                <a:lnTo>
                  <a:pt x="126" y="122"/>
                </a:lnTo>
                <a:lnTo>
                  <a:pt x="128" y="129"/>
                </a:lnTo>
                <a:lnTo>
                  <a:pt x="128" y="129"/>
                </a:lnTo>
                <a:lnTo>
                  <a:pt x="126" y="137"/>
                </a:lnTo>
                <a:lnTo>
                  <a:pt x="124" y="142"/>
                </a:lnTo>
                <a:lnTo>
                  <a:pt x="122" y="148"/>
                </a:lnTo>
                <a:lnTo>
                  <a:pt x="117" y="153"/>
                </a:lnTo>
                <a:lnTo>
                  <a:pt x="111" y="157"/>
                </a:lnTo>
                <a:lnTo>
                  <a:pt x="106" y="160"/>
                </a:lnTo>
                <a:lnTo>
                  <a:pt x="100" y="162"/>
                </a:lnTo>
                <a:lnTo>
                  <a:pt x="93" y="162"/>
                </a:lnTo>
                <a:lnTo>
                  <a:pt x="93" y="162"/>
                </a:lnTo>
                <a:close/>
                <a:moveTo>
                  <a:pt x="329" y="215"/>
                </a:moveTo>
                <a:lnTo>
                  <a:pt x="265" y="215"/>
                </a:lnTo>
                <a:lnTo>
                  <a:pt x="265" y="215"/>
                </a:lnTo>
                <a:lnTo>
                  <a:pt x="263" y="214"/>
                </a:lnTo>
                <a:lnTo>
                  <a:pt x="261" y="212"/>
                </a:lnTo>
                <a:lnTo>
                  <a:pt x="259" y="208"/>
                </a:lnTo>
                <a:lnTo>
                  <a:pt x="259" y="208"/>
                </a:lnTo>
                <a:lnTo>
                  <a:pt x="261" y="203"/>
                </a:lnTo>
                <a:lnTo>
                  <a:pt x="263" y="201"/>
                </a:lnTo>
                <a:lnTo>
                  <a:pt x="265" y="201"/>
                </a:lnTo>
                <a:lnTo>
                  <a:pt x="329" y="201"/>
                </a:lnTo>
                <a:lnTo>
                  <a:pt x="329" y="201"/>
                </a:lnTo>
                <a:lnTo>
                  <a:pt x="333" y="201"/>
                </a:lnTo>
                <a:lnTo>
                  <a:pt x="334" y="203"/>
                </a:lnTo>
                <a:lnTo>
                  <a:pt x="336" y="208"/>
                </a:lnTo>
                <a:lnTo>
                  <a:pt x="336" y="208"/>
                </a:lnTo>
                <a:lnTo>
                  <a:pt x="334" y="212"/>
                </a:lnTo>
                <a:lnTo>
                  <a:pt x="333" y="214"/>
                </a:lnTo>
                <a:lnTo>
                  <a:pt x="329" y="215"/>
                </a:lnTo>
                <a:lnTo>
                  <a:pt x="329" y="215"/>
                </a:lnTo>
                <a:close/>
                <a:moveTo>
                  <a:pt x="494" y="215"/>
                </a:moveTo>
                <a:lnTo>
                  <a:pt x="430" y="215"/>
                </a:lnTo>
                <a:lnTo>
                  <a:pt x="430" y="215"/>
                </a:lnTo>
                <a:lnTo>
                  <a:pt x="428" y="214"/>
                </a:lnTo>
                <a:lnTo>
                  <a:pt x="424" y="212"/>
                </a:lnTo>
                <a:lnTo>
                  <a:pt x="422" y="208"/>
                </a:lnTo>
                <a:lnTo>
                  <a:pt x="422" y="208"/>
                </a:lnTo>
                <a:lnTo>
                  <a:pt x="424" y="203"/>
                </a:lnTo>
                <a:lnTo>
                  <a:pt x="428" y="201"/>
                </a:lnTo>
                <a:lnTo>
                  <a:pt x="430" y="201"/>
                </a:lnTo>
                <a:lnTo>
                  <a:pt x="494" y="201"/>
                </a:lnTo>
                <a:lnTo>
                  <a:pt x="494" y="201"/>
                </a:lnTo>
                <a:lnTo>
                  <a:pt x="497" y="201"/>
                </a:lnTo>
                <a:lnTo>
                  <a:pt x="499" y="203"/>
                </a:lnTo>
                <a:lnTo>
                  <a:pt x="501" y="208"/>
                </a:lnTo>
                <a:lnTo>
                  <a:pt x="501" y="208"/>
                </a:lnTo>
                <a:lnTo>
                  <a:pt x="499" y="212"/>
                </a:lnTo>
                <a:lnTo>
                  <a:pt x="497" y="214"/>
                </a:lnTo>
                <a:lnTo>
                  <a:pt x="494" y="215"/>
                </a:lnTo>
                <a:lnTo>
                  <a:pt x="494" y="215"/>
                </a:lnTo>
                <a:close/>
                <a:moveTo>
                  <a:pt x="654" y="215"/>
                </a:moveTo>
                <a:lnTo>
                  <a:pt x="590" y="215"/>
                </a:lnTo>
                <a:lnTo>
                  <a:pt x="590" y="215"/>
                </a:lnTo>
                <a:lnTo>
                  <a:pt x="589" y="214"/>
                </a:lnTo>
                <a:lnTo>
                  <a:pt x="585" y="212"/>
                </a:lnTo>
                <a:lnTo>
                  <a:pt x="583" y="208"/>
                </a:lnTo>
                <a:lnTo>
                  <a:pt x="583" y="208"/>
                </a:lnTo>
                <a:lnTo>
                  <a:pt x="585" y="203"/>
                </a:lnTo>
                <a:lnTo>
                  <a:pt x="589" y="201"/>
                </a:lnTo>
                <a:lnTo>
                  <a:pt x="590" y="201"/>
                </a:lnTo>
                <a:lnTo>
                  <a:pt x="654" y="201"/>
                </a:lnTo>
                <a:lnTo>
                  <a:pt x="654" y="201"/>
                </a:lnTo>
                <a:lnTo>
                  <a:pt x="656" y="201"/>
                </a:lnTo>
                <a:lnTo>
                  <a:pt x="660" y="203"/>
                </a:lnTo>
                <a:lnTo>
                  <a:pt x="662" y="208"/>
                </a:lnTo>
                <a:lnTo>
                  <a:pt x="662" y="208"/>
                </a:lnTo>
                <a:lnTo>
                  <a:pt x="660" y="212"/>
                </a:lnTo>
                <a:lnTo>
                  <a:pt x="656" y="214"/>
                </a:lnTo>
                <a:lnTo>
                  <a:pt x="654" y="215"/>
                </a:lnTo>
                <a:lnTo>
                  <a:pt x="654" y="215"/>
                </a:lnTo>
                <a:close/>
                <a:moveTo>
                  <a:pt x="713" y="69"/>
                </a:moveTo>
                <a:lnTo>
                  <a:pt x="713" y="182"/>
                </a:lnTo>
                <a:lnTo>
                  <a:pt x="201" y="182"/>
                </a:lnTo>
                <a:lnTo>
                  <a:pt x="201" y="182"/>
                </a:lnTo>
                <a:lnTo>
                  <a:pt x="201" y="67"/>
                </a:lnTo>
                <a:lnTo>
                  <a:pt x="715" y="69"/>
                </a:lnTo>
                <a:lnTo>
                  <a:pt x="713" y="69"/>
                </a:lnTo>
                <a:close/>
                <a:moveTo>
                  <a:pt x="934" y="215"/>
                </a:moveTo>
                <a:lnTo>
                  <a:pt x="826" y="215"/>
                </a:lnTo>
                <a:lnTo>
                  <a:pt x="826" y="215"/>
                </a:lnTo>
                <a:lnTo>
                  <a:pt x="823" y="214"/>
                </a:lnTo>
                <a:lnTo>
                  <a:pt x="821" y="212"/>
                </a:lnTo>
                <a:lnTo>
                  <a:pt x="819" y="208"/>
                </a:lnTo>
                <a:lnTo>
                  <a:pt x="819" y="208"/>
                </a:lnTo>
                <a:lnTo>
                  <a:pt x="821" y="203"/>
                </a:lnTo>
                <a:lnTo>
                  <a:pt x="823" y="201"/>
                </a:lnTo>
                <a:lnTo>
                  <a:pt x="826" y="201"/>
                </a:lnTo>
                <a:lnTo>
                  <a:pt x="934" y="201"/>
                </a:lnTo>
                <a:lnTo>
                  <a:pt x="934" y="201"/>
                </a:lnTo>
                <a:lnTo>
                  <a:pt x="936" y="201"/>
                </a:lnTo>
                <a:lnTo>
                  <a:pt x="938" y="203"/>
                </a:lnTo>
                <a:lnTo>
                  <a:pt x="940" y="208"/>
                </a:lnTo>
                <a:lnTo>
                  <a:pt x="940" y="208"/>
                </a:lnTo>
                <a:lnTo>
                  <a:pt x="938" y="212"/>
                </a:lnTo>
                <a:lnTo>
                  <a:pt x="936" y="214"/>
                </a:lnTo>
                <a:lnTo>
                  <a:pt x="934" y="215"/>
                </a:lnTo>
                <a:lnTo>
                  <a:pt x="934" y="215"/>
                </a:lnTo>
                <a:close/>
                <a:moveTo>
                  <a:pt x="982" y="54"/>
                </a:moveTo>
                <a:lnTo>
                  <a:pt x="982" y="182"/>
                </a:lnTo>
                <a:lnTo>
                  <a:pt x="779" y="182"/>
                </a:lnTo>
                <a:lnTo>
                  <a:pt x="779" y="182"/>
                </a:lnTo>
                <a:lnTo>
                  <a:pt x="779" y="54"/>
                </a:lnTo>
                <a:lnTo>
                  <a:pt x="982" y="54"/>
                </a:lnTo>
                <a:lnTo>
                  <a:pt x="976" y="60"/>
                </a:lnTo>
                <a:lnTo>
                  <a:pt x="976" y="60"/>
                </a:lnTo>
                <a:lnTo>
                  <a:pt x="982" y="54"/>
                </a:lnTo>
                <a:close/>
                <a:moveTo>
                  <a:pt x="702" y="175"/>
                </a:moveTo>
                <a:lnTo>
                  <a:pt x="702" y="76"/>
                </a:lnTo>
                <a:lnTo>
                  <a:pt x="214" y="76"/>
                </a:lnTo>
                <a:lnTo>
                  <a:pt x="214" y="175"/>
                </a:lnTo>
                <a:lnTo>
                  <a:pt x="214" y="175"/>
                </a:lnTo>
                <a:lnTo>
                  <a:pt x="702" y="175"/>
                </a:lnTo>
                <a:close/>
                <a:moveTo>
                  <a:pt x="570" y="104"/>
                </a:moveTo>
                <a:lnTo>
                  <a:pt x="600" y="104"/>
                </a:lnTo>
                <a:lnTo>
                  <a:pt x="600" y="100"/>
                </a:lnTo>
                <a:lnTo>
                  <a:pt x="600" y="100"/>
                </a:lnTo>
                <a:lnTo>
                  <a:pt x="600" y="95"/>
                </a:lnTo>
                <a:lnTo>
                  <a:pt x="603" y="91"/>
                </a:lnTo>
                <a:lnTo>
                  <a:pt x="607" y="89"/>
                </a:lnTo>
                <a:lnTo>
                  <a:pt x="611" y="87"/>
                </a:lnTo>
                <a:lnTo>
                  <a:pt x="634" y="87"/>
                </a:lnTo>
                <a:lnTo>
                  <a:pt x="634" y="87"/>
                </a:lnTo>
                <a:lnTo>
                  <a:pt x="640" y="89"/>
                </a:lnTo>
                <a:lnTo>
                  <a:pt x="644" y="91"/>
                </a:lnTo>
                <a:lnTo>
                  <a:pt x="645" y="95"/>
                </a:lnTo>
                <a:lnTo>
                  <a:pt x="647" y="100"/>
                </a:lnTo>
                <a:lnTo>
                  <a:pt x="647" y="104"/>
                </a:lnTo>
                <a:lnTo>
                  <a:pt x="676" y="104"/>
                </a:lnTo>
                <a:lnTo>
                  <a:pt x="676" y="159"/>
                </a:lnTo>
                <a:lnTo>
                  <a:pt x="570" y="159"/>
                </a:lnTo>
                <a:lnTo>
                  <a:pt x="570" y="104"/>
                </a:lnTo>
                <a:close/>
                <a:moveTo>
                  <a:pt x="409" y="104"/>
                </a:moveTo>
                <a:lnTo>
                  <a:pt x="439" y="104"/>
                </a:lnTo>
                <a:lnTo>
                  <a:pt x="439" y="100"/>
                </a:lnTo>
                <a:lnTo>
                  <a:pt x="439" y="100"/>
                </a:lnTo>
                <a:lnTo>
                  <a:pt x="440" y="95"/>
                </a:lnTo>
                <a:lnTo>
                  <a:pt x="442" y="91"/>
                </a:lnTo>
                <a:lnTo>
                  <a:pt x="446" y="89"/>
                </a:lnTo>
                <a:lnTo>
                  <a:pt x="451" y="87"/>
                </a:lnTo>
                <a:lnTo>
                  <a:pt x="473" y="87"/>
                </a:lnTo>
                <a:lnTo>
                  <a:pt x="473" y="87"/>
                </a:lnTo>
                <a:lnTo>
                  <a:pt x="479" y="89"/>
                </a:lnTo>
                <a:lnTo>
                  <a:pt x="483" y="91"/>
                </a:lnTo>
                <a:lnTo>
                  <a:pt x="484" y="95"/>
                </a:lnTo>
                <a:lnTo>
                  <a:pt x="486" y="100"/>
                </a:lnTo>
                <a:lnTo>
                  <a:pt x="486" y="104"/>
                </a:lnTo>
                <a:lnTo>
                  <a:pt x="515" y="104"/>
                </a:lnTo>
                <a:lnTo>
                  <a:pt x="515" y="159"/>
                </a:lnTo>
                <a:lnTo>
                  <a:pt x="409" y="159"/>
                </a:lnTo>
                <a:lnTo>
                  <a:pt x="409" y="104"/>
                </a:lnTo>
                <a:close/>
                <a:moveTo>
                  <a:pt x="248" y="104"/>
                </a:moveTo>
                <a:lnTo>
                  <a:pt x="278" y="104"/>
                </a:lnTo>
                <a:lnTo>
                  <a:pt x="278" y="100"/>
                </a:lnTo>
                <a:lnTo>
                  <a:pt x="278" y="100"/>
                </a:lnTo>
                <a:lnTo>
                  <a:pt x="280" y="95"/>
                </a:lnTo>
                <a:lnTo>
                  <a:pt x="281" y="91"/>
                </a:lnTo>
                <a:lnTo>
                  <a:pt x="287" y="89"/>
                </a:lnTo>
                <a:lnTo>
                  <a:pt x="291" y="87"/>
                </a:lnTo>
                <a:lnTo>
                  <a:pt x="314" y="87"/>
                </a:lnTo>
                <a:lnTo>
                  <a:pt x="314" y="87"/>
                </a:lnTo>
                <a:lnTo>
                  <a:pt x="318" y="89"/>
                </a:lnTo>
                <a:lnTo>
                  <a:pt x="322" y="91"/>
                </a:lnTo>
                <a:lnTo>
                  <a:pt x="325" y="95"/>
                </a:lnTo>
                <a:lnTo>
                  <a:pt x="325" y="100"/>
                </a:lnTo>
                <a:lnTo>
                  <a:pt x="325" y="104"/>
                </a:lnTo>
                <a:lnTo>
                  <a:pt x="355" y="104"/>
                </a:lnTo>
                <a:lnTo>
                  <a:pt x="355" y="159"/>
                </a:lnTo>
                <a:lnTo>
                  <a:pt x="248" y="159"/>
                </a:lnTo>
                <a:lnTo>
                  <a:pt x="248" y="104"/>
                </a:lnTo>
                <a:close/>
                <a:moveTo>
                  <a:pt x="786" y="173"/>
                </a:moveTo>
                <a:lnTo>
                  <a:pt x="973" y="173"/>
                </a:lnTo>
                <a:lnTo>
                  <a:pt x="973" y="62"/>
                </a:lnTo>
                <a:lnTo>
                  <a:pt x="786" y="62"/>
                </a:lnTo>
                <a:lnTo>
                  <a:pt x="786" y="173"/>
                </a:lnTo>
                <a:close/>
                <a:moveTo>
                  <a:pt x="819" y="98"/>
                </a:moveTo>
                <a:lnTo>
                  <a:pt x="852" y="98"/>
                </a:lnTo>
                <a:lnTo>
                  <a:pt x="852" y="93"/>
                </a:lnTo>
                <a:lnTo>
                  <a:pt x="852" y="93"/>
                </a:lnTo>
                <a:lnTo>
                  <a:pt x="854" y="87"/>
                </a:lnTo>
                <a:lnTo>
                  <a:pt x="858" y="84"/>
                </a:lnTo>
                <a:lnTo>
                  <a:pt x="861" y="80"/>
                </a:lnTo>
                <a:lnTo>
                  <a:pt x="867" y="80"/>
                </a:lnTo>
                <a:lnTo>
                  <a:pt x="892" y="80"/>
                </a:lnTo>
                <a:lnTo>
                  <a:pt x="892" y="80"/>
                </a:lnTo>
                <a:lnTo>
                  <a:pt x="898" y="80"/>
                </a:lnTo>
                <a:lnTo>
                  <a:pt x="901" y="84"/>
                </a:lnTo>
                <a:lnTo>
                  <a:pt x="905" y="87"/>
                </a:lnTo>
                <a:lnTo>
                  <a:pt x="905" y="93"/>
                </a:lnTo>
                <a:lnTo>
                  <a:pt x="905" y="98"/>
                </a:lnTo>
                <a:lnTo>
                  <a:pt x="940" y="98"/>
                </a:lnTo>
                <a:lnTo>
                  <a:pt x="940" y="160"/>
                </a:lnTo>
                <a:lnTo>
                  <a:pt x="819" y="160"/>
                </a:lnTo>
                <a:lnTo>
                  <a:pt x="819" y="98"/>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8" name="Freeform 116">
            <a:extLst>
              <a:ext uri="{FF2B5EF4-FFF2-40B4-BE49-F238E27FC236}">
                <a16:creationId xmlns:a16="http://schemas.microsoft.com/office/drawing/2014/main" id="{3FE4FC27-A6B4-44FF-8C7F-51DC12659C9B}"/>
              </a:ext>
            </a:extLst>
          </p:cNvPr>
          <p:cNvSpPr>
            <a:spLocks noEditPoints="1"/>
          </p:cNvSpPr>
          <p:nvPr/>
        </p:nvSpPr>
        <p:spPr bwMode="gray">
          <a:xfrm>
            <a:off x="2855847" y="4465285"/>
            <a:ext cx="260551" cy="61740"/>
          </a:xfrm>
          <a:custGeom>
            <a:avLst/>
            <a:gdLst>
              <a:gd name="T0" fmla="*/ 20 w 1007"/>
              <a:gd name="T1" fmla="*/ 1 h 241"/>
              <a:gd name="T2" fmla="*/ 0 w 1007"/>
              <a:gd name="T3" fmla="*/ 25 h 241"/>
              <a:gd name="T4" fmla="*/ 3 w 1007"/>
              <a:gd name="T5" fmla="*/ 224 h 241"/>
              <a:gd name="T6" fmla="*/ 31 w 1007"/>
              <a:gd name="T7" fmla="*/ 241 h 241"/>
              <a:gd name="T8" fmla="*/ 989 w 1007"/>
              <a:gd name="T9" fmla="*/ 239 h 241"/>
              <a:gd name="T10" fmla="*/ 1007 w 1007"/>
              <a:gd name="T11" fmla="*/ 215 h 241"/>
              <a:gd name="T12" fmla="*/ 1006 w 1007"/>
              <a:gd name="T13" fmla="*/ 14 h 241"/>
              <a:gd name="T14" fmla="*/ 978 w 1007"/>
              <a:gd name="T15" fmla="*/ 0 h 241"/>
              <a:gd name="T16" fmla="*/ 86 w 1007"/>
              <a:gd name="T17" fmla="*/ 162 h 241"/>
              <a:gd name="T18" fmla="*/ 66 w 1007"/>
              <a:gd name="T19" fmla="*/ 148 h 241"/>
              <a:gd name="T20" fmla="*/ 58 w 1007"/>
              <a:gd name="T21" fmla="*/ 129 h 241"/>
              <a:gd name="T22" fmla="*/ 69 w 1007"/>
              <a:gd name="T23" fmla="*/ 106 h 241"/>
              <a:gd name="T24" fmla="*/ 93 w 1007"/>
              <a:gd name="T25" fmla="*/ 96 h 241"/>
              <a:gd name="T26" fmla="*/ 111 w 1007"/>
              <a:gd name="T27" fmla="*/ 102 h 241"/>
              <a:gd name="T28" fmla="*/ 126 w 1007"/>
              <a:gd name="T29" fmla="*/ 122 h 241"/>
              <a:gd name="T30" fmla="*/ 124 w 1007"/>
              <a:gd name="T31" fmla="*/ 142 h 241"/>
              <a:gd name="T32" fmla="*/ 106 w 1007"/>
              <a:gd name="T33" fmla="*/ 160 h 241"/>
              <a:gd name="T34" fmla="*/ 329 w 1007"/>
              <a:gd name="T35" fmla="*/ 215 h 241"/>
              <a:gd name="T36" fmla="*/ 261 w 1007"/>
              <a:gd name="T37" fmla="*/ 212 h 241"/>
              <a:gd name="T38" fmla="*/ 263 w 1007"/>
              <a:gd name="T39" fmla="*/ 201 h 241"/>
              <a:gd name="T40" fmla="*/ 333 w 1007"/>
              <a:gd name="T41" fmla="*/ 201 h 241"/>
              <a:gd name="T42" fmla="*/ 334 w 1007"/>
              <a:gd name="T43" fmla="*/ 212 h 241"/>
              <a:gd name="T44" fmla="*/ 494 w 1007"/>
              <a:gd name="T45" fmla="*/ 215 h 241"/>
              <a:gd name="T46" fmla="*/ 424 w 1007"/>
              <a:gd name="T47" fmla="*/ 212 h 241"/>
              <a:gd name="T48" fmla="*/ 428 w 1007"/>
              <a:gd name="T49" fmla="*/ 201 h 241"/>
              <a:gd name="T50" fmla="*/ 497 w 1007"/>
              <a:gd name="T51" fmla="*/ 201 h 241"/>
              <a:gd name="T52" fmla="*/ 499 w 1007"/>
              <a:gd name="T53" fmla="*/ 212 h 241"/>
              <a:gd name="T54" fmla="*/ 654 w 1007"/>
              <a:gd name="T55" fmla="*/ 215 h 241"/>
              <a:gd name="T56" fmla="*/ 585 w 1007"/>
              <a:gd name="T57" fmla="*/ 212 h 241"/>
              <a:gd name="T58" fmla="*/ 589 w 1007"/>
              <a:gd name="T59" fmla="*/ 201 h 241"/>
              <a:gd name="T60" fmla="*/ 656 w 1007"/>
              <a:gd name="T61" fmla="*/ 201 h 241"/>
              <a:gd name="T62" fmla="*/ 660 w 1007"/>
              <a:gd name="T63" fmla="*/ 212 h 241"/>
              <a:gd name="T64" fmla="*/ 713 w 1007"/>
              <a:gd name="T65" fmla="*/ 69 h 241"/>
              <a:gd name="T66" fmla="*/ 201 w 1007"/>
              <a:gd name="T67" fmla="*/ 67 h 241"/>
              <a:gd name="T68" fmla="*/ 826 w 1007"/>
              <a:gd name="T69" fmla="*/ 215 h 241"/>
              <a:gd name="T70" fmla="*/ 819 w 1007"/>
              <a:gd name="T71" fmla="*/ 208 h 241"/>
              <a:gd name="T72" fmla="*/ 826 w 1007"/>
              <a:gd name="T73" fmla="*/ 201 h 241"/>
              <a:gd name="T74" fmla="*/ 938 w 1007"/>
              <a:gd name="T75" fmla="*/ 203 h 241"/>
              <a:gd name="T76" fmla="*/ 936 w 1007"/>
              <a:gd name="T77" fmla="*/ 214 h 241"/>
              <a:gd name="T78" fmla="*/ 982 w 1007"/>
              <a:gd name="T79" fmla="*/ 182 h 241"/>
              <a:gd name="T80" fmla="*/ 982 w 1007"/>
              <a:gd name="T81" fmla="*/ 54 h 241"/>
              <a:gd name="T82" fmla="*/ 702 w 1007"/>
              <a:gd name="T83" fmla="*/ 175 h 241"/>
              <a:gd name="T84" fmla="*/ 214 w 1007"/>
              <a:gd name="T85" fmla="*/ 175 h 241"/>
              <a:gd name="T86" fmla="*/ 600 w 1007"/>
              <a:gd name="T87" fmla="*/ 100 h 241"/>
              <a:gd name="T88" fmla="*/ 607 w 1007"/>
              <a:gd name="T89" fmla="*/ 89 h 241"/>
              <a:gd name="T90" fmla="*/ 640 w 1007"/>
              <a:gd name="T91" fmla="*/ 89 h 241"/>
              <a:gd name="T92" fmla="*/ 647 w 1007"/>
              <a:gd name="T93" fmla="*/ 104 h 241"/>
              <a:gd name="T94" fmla="*/ 570 w 1007"/>
              <a:gd name="T95" fmla="*/ 104 h 241"/>
              <a:gd name="T96" fmla="*/ 439 w 1007"/>
              <a:gd name="T97" fmla="*/ 100 h 241"/>
              <a:gd name="T98" fmla="*/ 451 w 1007"/>
              <a:gd name="T99" fmla="*/ 87 h 241"/>
              <a:gd name="T100" fmla="*/ 483 w 1007"/>
              <a:gd name="T101" fmla="*/ 91 h 241"/>
              <a:gd name="T102" fmla="*/ 515 w 1007"/>
              <a:gd name="T103" fmla="*/ 104 h 241"/>
              <a:gd name="T104" fmla="*/ 248 w 1007"/>
              <a:gd name="T105" fmla="*/ 104 h 241"/>
              <a:gd name="T106" fmla="*/ 280 w 1007"/>
              <a:gd name="T107" fmla="*/ 95 h 241"/>
              <a:gd name="T108" fmla="*/ 314 w 1007"/>
              <a:gd name="T109" fmla="*/ 87 h 241"/>
              <a:gd name="T110" fmla="*/ 325 w 1007"/>
              <a:gd name="T111" fmla="*/ 95 h 241"/>
              <a:gd name="T112" fmla="*/ 355 w 1007"/>
              <a:gd name="T113" fmla="*/ 159 h 241"/>
              <a:gd name="T114" fmla="*/ 973 w 1007"/>
              <a:gd name="T115" fmla="*/ 173 h 241"/>
              <a:gd name="T116" fmla="*/ 819 w 1007"/>
              <a:gd name="T117" fmla="*/ 98 h 241"/>
              <a:gd name="T118" fmla="*/ 854 w 1007"/>
              <a:gd name="T119" fmla="*/ 87 h 241"/>
              <a:gd name="T120" fmla="*/ 892 w 1007"/>
              <a:gd name="T121" fmla="*/ 80 h 241"/>
              <a:gd name="T122" fmla="*/ 905 w 1007"/>
              <a:gd name="T123" fmla="*/ 87 h 241"/>
              <a:gd name="T124" fmla="*/ 940 w 1007"/>
              <a:gd name="T125" fmla="*/ 16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7" h="241">
                <a:moveTo>
                  <a:pt x="978" y="0"/>
                </a:moveTo>
                <a:lnTo>
                  <a:pt x="31" y="0"/>
                </a:lnTo>
                <a:lnTo>
                  <a:pt x="31" y="0"/>
                </a:lnTo>
                <a:lnTo>
                  <a:pt x="20" y="1"/>
                </a:lnTo>
                <a:lnTo>
                  <a:pt x="9" y="7"/>
                </a:lnTo>
                <a:lnTo>
                  <a:pt x="3" y="14"/>
                </a:lnTo>
                <a:lnTo>
                  <a:pt x="2" y="20"/>
                </a:lnTo>
                <a:lnTo>
                  <a:pt x="0" y="25"/>
                </a:lnTo>
                <a:lnTo>
                  <a:pt x="0" y="215"/>
                </a:lnTo>
                <a:lnTo>
                  <a:pt x="0" y="215"/>
                </a:lnTo>
                <a:lnTo>
                  <a:pt x="2" y="221"/>
                </a:lnTo>
                <a:lnTo>
                  <a:pt x="3" y="224"/>
                </a:lnTo>
                <a:lnTo>
                  <a:pt x="9" y="234"/>
                </a:lnTo>
                <a:lnTo>
                  <a:pt x="20" y="239"/>
                </a:lnTo>
                <a:lnTo>
                  <a:pt x="25" y="241"/>
                </a:lnTo>
                <a:lnTo>
                  <a:pt x="31" y="241"/>
                </a:lnTo>
                <a:lnTo>
                  <a:pt x="978" y="241"/>
                </a:lnTo>
                <a:lnTo>
                  <a:pt x="978" y="241"/>
                </a:lnTo>
                <a:lnTo>
                  <a:pt x="984" y="241"/>
                </a:lnTo>
                <a:lnTo>
                  <a:pt x="989" y="239"/>
                </a:lnTo>
                <a:lnTo>
                  <a:pt x="998" y="234"/>
                </a:lnTo>
                <a:lnTo>
                  <a:pt x="1006" y="224"/>
                </a:lnTo>
                <a:lnTo>
                  <a:pt x="1007" y="221"/>
                </a:lnTo>
                <a:lnTo>
                  <a:pt x="1007" y="215"/>
                </a:lnTo>
                <a:lnTo>
                  <a:pt x="1007" y="25"/>
                </a:lnTo>
                <a:lnTo>
                  <a:pt x="1007" y="25"/>
                </a:lnTo>
                <a:lnTo>
                  <a:pt x="1007" y="20"/>
                </a:lnTo>
                <a:lnTo>
                  <a:pt x="1006" y="14"/>
                </a:lnTo>
                <a:lnTo>
                  <a:pt x="998" y="7"/>
                </a:lnTo>
                <a:lnTo>
                  <a:pt x="989" y="1"/>
                </a:lnTo>
                <a:lnTo>
                  <a:pt x="984" y="0"/>
                </a:lnTo>
                <a:lnTo>
                  <a:pt x="978" y="0"/>
                </a:lnTo>
                <a:lnTo>
                  <a:pt x="978" y="0"/>
                </a:lnTo>
                <a:close/>
                <a:moveTo>
                  <a:pt x="93" y="162"/>
                </a:moveTo>
                <a:lnTo>
                  <a:pt x="93" y="162"/>
                </a:lnTo>
                <a:lnTo>
                  <a:pt x="86" y="162"/>
                </a:lnTo>
                <a:lnTo>
                  <a:pt x="80" y="160"/>
                </a:lnTo>
                <a:lnTo>
                  <a:pt x="75" y="157"/>
                </a:lnTo>
                <a:lnTo>
                  <a:pt x="69" y="153"/>
                </a:lnTo>
                <a:lnTo>
                  <a:pt x="66" y="148"/>
                </a:lnTo>
                <a:lnTo>
                  <a:pt x="62" y="142"/>
                </a:lnTo>
                <a:lnTo>
                  <a:pt x="60" y="137"/>
                </a:lnTo>
                <a:lnTo>
                  <a:pt x="58" y="129"/>
                </a:lnTo>
                <a:lnTo>
                  <a:pt x="58" y="129"/>
                </a:lnTo>
                <a:lnTo>
                  <a:pt x="60" y="122"/>
                </a:lnTo>
                <a:lnTo>
                  <a:pt x="62" y="117"/>
                </a:lnTo>
                <a:lnTo>
                  <a:pt x="66" y="111"/>
                </a:lnTo>
                <a:lnTo>
                  <a:pt x="69" y="106"/>
                </a:lnTo>
                <a:lnTo>
                  <a:pt x="75" y="102"/>
                </a:lnTo>
                <a:lnTo>
                  <a:pt x="80" y="98"/>
                </a:lnTo>
                <a:lnTo>
                  <a:pt x="86" y="96"/>
                </a:lnTo>
                <a:lnTo>
                  <a:pt x="93" y="96"/>
                </a:lnTo>
                <a:lnTo>
                  <a:pt x="93" y="96"/>
                </a:lnTo>
                <a:lnTo>
                  <a:pt x="100" y="96"/>
                </a:lnTo>
                <a:lnTo>
                  <a:pt x="106" y="98"/>
                </a:lnTo>
                <a:lnTo>
                  <a:pt x="111" y="102"/>
                </a:lnTo>
                <a:lnTo>
                  <a:pt x="117" y="106"/>
                </a:lnTo>
                <a:lnTo>
                  <a:pt x="122" y="111"/>
                </a:lnTo>
                <a:lnTo>
                  <a:pt x="124" y="117"/>
                </a:lnTo>
                <a:lnTo>
                  <a:pt x="126" y="122"/>
                </a:lnTo>
                <a:lnTo>
                  <a:pt x="128" y="129"/>
                </a:lnTo>
                <a:lnTo>
                  <a:pt x="128" y="129"/>
                </a:lnTo>
                <a:lnTo>
                  <a:pt x="126" y="137"/>
                </a:lnTo>
                <a:lnTo>
                  <a:pt x="124" y="142"/>
                </a:lnTo>
                <a:lnTo>
                  <a:pt x="122" y="148"/>
                </a:lnTo>
                <a:lnTo>
                  <a:pt x="117" y="153"/>
                </a:lnTo>
                <a:lnTo>
                  <a:pt x="111" y="157"/>
                </a:lnTo>
                <a:lnTo>
                  <a:pt x="106" y="160"/>
                </a:lnTo>
                <a:lnTo>
                  <a:pt x="100" y="162"/>
                </a:lnTo>
                <a:lnTo>
                  <a:pt x="93" y="162"/>
                </a:lnTo>
                <a:lnTo>
                  <a:pt x="93" y="162"/>
                </a:lnTo>
                <a:close/>
                <a:moveTo>
                  <a:pt x="329" y="215"/>
                </a:moveTo>
                <a:lnTo>
                  <a:pt x="265" y="215"/>
                </a:lnTo>
                <a:lnTo>
                  <a:pt x="265" y="215"/>
                </a:lnTo>
                <a:lnTo>
                  <a:pt x="263" y="214"/>
                </a:lnTo>
                <a:lnTo>
                  <a:pt x="261" y="212"/>
                </a:lnTo>
                <a:lnTo>
                  <a:pt x="259" y="208"/>
                </a:lnTo>
                <a:lnTo>
                  <a:pt x="259" y="208"/>
                </a:lnTo>
                <a:lnTo>
                  <a:pt x="261" y="203"/>
                </a:lnTo>
                <a:lnTo>
                  <a:pt x="263" y="201"/>
                </a:lnTo>
                <a:lnTo>
                  <a:pt x="265" y="201"/>
                </a:lnTo>
                <a:lnTo>
                  <a:pt x="329" y="201"/>
                </a:lnTo>
                <a:lnTo>
                  <a:pt x="329" y="201"/>
                </a:lnTo>
                <a:lnTo>
                  <a:pt x="333" y="201"/>
                </a:lnTo>
                <a:lnTo>
                  <a:pt x="334" y="203"/>
                </a:lnTo>
                <a:lnTo>
                  <a:pt x="336" y="208"/>
                </a:lnTo>
                <a:lnTo>
                  <a:pt x="336" y="208"/>
                </a:lnTo>
                <a:lnTo>
                  <a:pt x="334" y="212"/>
                </a:lnTo>
                <a:lnTo>
                  <a:pt x="333" y="214"/>
                </a:lnTo>
                <a:lnTo>
                  <a:pt x="329" y="215"/>
                </a:lnTo>
                <a:lnTo>
                  <a:pt x="329" y="215"/>
                </a:lnTo>
                <a:close/>
                <a:moveTo>
                  <a:pt x="494" y="215"/>
                </a:moveTo>
                <a:lnTo>
                  <a:pt x="430" y="215"/>
                </a:lnTo>
                <a:lnTo>
                  <a:pt x="430" y="215"/>
                </a:lnTo>
                <a:lnTo>
                  <a:pt x="428" y="214"/>
                </a:lnTo>
                <a:lnTo>
                  <a:pt x="424" y="212"/>
                </a:lnTo>
                <a:lnTo>
                  <a:pt x="422" y="208"/>
                </a:lnTo>
                <a:lnTo>
                  <a:pt x="422" y="208"/>
                </a:lnTo>
                <a:lnTo>
                  <a:pt x="424" y="203"/>
                </a:lnTo>
                <a:lnTo>
                  <a:pt x="428" y="201"/>
                </a:lnTo>
                <a:lnTo>
                  <a:pt x="430" y="201"/>
                </a:lnTo>
                <a:lnTo>
                  <a:pt x="494" y="201"/>
                </a:lnTo>
                <a:lnTo>
                  <a:pt x="494" y="201"/>
                </a:lnTo>
                <a:lnTo>
                  <a:pt x="497" y="201"/>
                </a:lnTo>
                <a:lnTo>
                  <a:pt x="499" y="203"/>
                </a:lnTo>
                <a:lnTo>
                  <a:pt x="501" y="208"/>
                </a:lnTo>
                <a:lnTo>
                  <a:pt x="501" y="208"/>
                </a:lnTo>
                <a:lnTo>
                  <a:pt x="499" y="212"/>
                </a:lnTo>
                <a:lnTo>
                  <a:pt x="497" y="214"/>
                </a:lnTo>
                <a:lnTo>
                  <a:pt x="494" y="215"/>
                </a:lnTo>
                <a:lnTo>
                  <a:pt x="494" y="215"/>
                </a:lnTo>
                <a:close/>
                <a:moveTo>
                  <a:pt x="654" y="215"/>
                </a:moveTo>
                <a:lnTo>
                  <a:pt x="590" y="215"/>
                </a:lnTo>
                <a:lnTo>
                  <a:pt x="590" y="215"/>
                </a:lnTo>
                <a:lnTo>
                  <a:pt x="589" y="214"/>
                </a:lnTo>
                <a:lnTo>
                  <a:pt x="585" y="212"/>
                </a:lnTo>
                <a:lnTo>
                  <a:pt x="583" y="208"/>
                </a:lnTo>
                <a:lnTo>
                  <a:pt x="583" y="208"/>
                </a:lnTo>
                <a:lnTo>
                  <a:pt x="585" y="203"/>
                </a:lnTo>
                <a:lnTo>
                  <a:pt x="589" y="201"/>
                </a:lnTo>
                <a:lnTo>
                  <a:pt x="590" y="201"/>
                </a:lnTo>
                <a:lnTo>
                  <a:pt x="654" y="201"/>
                </a:lnTo>
                <a:lnTo>
                  <a:pt x="654" y="201"/>
                </a:lnTo>
                <a:lnTo>
                  <a:pt x="656" y="201"/>
                </a:lnTo>
                <a:lnTo>
                  <a:pt x="660" y="203"/>
                </a:lnTo>
                <a:lnTo>
                  <a:pt x="662" y="208"/>
                </a:lnTo>
                <a:lnTo>
                  <a:pt x="662" y="208"/>
                </a:lnTo>
                <a:lnTo>
                  <a:pt x="660" y="212"/>
                </a:lnTo>
                <a:lnTo>
                  <a:pt x="656" y="214"/>
                </a:lnTo>
                <a:lnTo>
                  <a:pt x="654" y="215"/>
                </a:lnTo>
                <a:lnTo>
                  <a:pt x="654" y="215"/>
                </a:lnTo>
                <a:close/>
                <a:moveTo>
                  <a:pt x="713" y="69"/>
                </a:moveTo>
                <a:lnTo>
                  <a:pt x="713" y="182"/>
                </a:lnTo>
                <a:lnTo>
                  <a:pt x="201" y="182"/>
                </a:lnTo>
                <a:lnTo>
                  <a:pt x="201" y="182"/>
                </a:lnTo>
                <a:lnTo>
                  <a:pt x="201" y="67"/>
                </a:lnTo>
                <a:lnTo>
                  <a:pt x="715" y="69"/>
                </a:lnTo>
                <a:lnTo>
                  <a:pt x="713" y="69"/>
                </a:lnTo>
                <a:close/>
                <a:moveTo>
                  <a:pt x="934" y="215"/>
                </a:moveTo>
                <a:lnTo>
                  <a:pt x="826" y="215"/>
                </a:lnTo>
                <a:lnTo>
                  <a:pt x="826" y="215"/>
                </a:lnTo>
                <a:lnTo>
                  <a:pt x="823" y="214"/>
                </a:lnTo>
                <a:lnTo>
                  <a:pt x="821" y="212"/>
                </a:lnTo>
                <a:lnTo>
                  <a:pt x="819" y="208"/>
                </a:lnTo>
                <a:lnTo>
                  <a:pt x="819" y="208"/>
                </a:lnTo>
                <a:lnTo>
                  <a:pt x="821" y="203"/>
                </a:lnTo>
                <a:lnTo>
                  <a:pt x="823" y="201"/>
                </a:lnTo>
                <a:lnTo>
                  <a:pt x="826" y="201"/>
                </a:lnTo>
                <a:lnTo>
                  <a:pt x="934" y="201"/>
                </a:lnTo>
                <a:lnTo>
                  <a:pt x="934" y="201"/>
                </a:lnTo>
                <a:lnTo>
                  <a:pt x="936" y="201"/>
                </a:lnTo>
                <a:lnTo>
                  <a:pt x="938" y="203"/>
                </a:lnTo>
                <a:lnTo>
                  <a:pt x="940" y="208"/>
                </a:lnTo>
                <a:lnTo>
                  <a:pt x="940" y="208"/>
                </a:lnTo>
                <a:lnTo>
                  <a:pt x="938" y="212"/>
                </a:lnTo>
                <a:lnTo>
                  <a:pt x="936" y="214"/>
                </a:lnTo>
                <a:lnTo>
                  <a:pt x="934" y="215"/>
                </a:lnTo>
                <a:lnTo>
                  <a:pt x="934" y="215"/>
                </a:lnTo>
                <a:close/>
                <a:moveTo>
                  <a:pt x="982" y="54"/>
                </a:moveTo>
                <a:lnTo>
                  <a:pt x="982" y="182"/>
                </a:lnTo>
                <a:lnTo>
                  <a:pt x="779" y="182"/>
                </a:lnTo>
                <a:lnTo>
                  <a:pt x="779" y="182"/>
                </a:lnTo>
                <a:lnTo>
                  <a:pt x="779" y="54"/>
                </a:lnTo>
                <a:lnTo>
                  <a:pt x="982" y="54"/>
                </a:lnTo>
                <a:lnTo>
                  <a:pt x="976" y="60"/>
                </a:lnTo>
                <a:lnTo>
                  <a:pt x="976" y="60"/>
                </a:lnTo>
                <a:lnTo>
                  <a:pt x="982" y="54"/>
                </a:lnTo>
                <a:close/>
                <a:moveTo>
                  <a:pt x="702" y="175"/>
                </a:moveTo>
                <a:lnTo>
                  <a:pt x="702" y="76"/>
                </a:lnTo>
                <a:lnTo>
                  <a:pt x="214" y="76"/>
                </a:lnTo>
                <a:lnTo>
                  <a:pt x="214" y="175"/>
                </a:lnTo>
                <a:lnTo>
                  <a:pt x="214" y="175"/>
                </a:lnTo>
                <a:lnTo>
                  <a:pt x="702" y="175"/>
                </a:lnTo>
                <a:close/>
                <a:moveTo>
                  <a:pt x="570" y="104"/>
                </a:moveTo>
                <a:lnTo>
                  <a:pt x="600" y="104"/>
                </a:lnTo>
                <a:lnTo>
                  <a:pt x="600" y="100"/>
                </a:lnTo>
                <a:lnTo>
                  <a:pt x="600" y="100"/>
                </a:lnTo>
                <a:lnTo>
                  <a:pt x="600" y="95"/>
                </a:lnTo>
                <a:lnTo>
                  <a:pt x="603" y="91"/>
                </a:lnTo>
                <a:lnTo>
                  <a:pt x="607" y="89"/>
                </a:lnTo>
                <a:lnTo>
                  <a:pt x="611" y="87"/>
                </a:lnTo>
                <a:lnTo>
                  <a:pt x="634" y="87"/>
                </a:lnTo>
                <a:lnTo>
                  <a:pt x="634" y="87"/>
                </a:lnTo>
                <a:lnTo>
                  <a:pt x="640" y="89"/>
                </a:lnTo>
                <a:lnTo>
                  <a:pt x="644" y="91"/>
                </a:lnTo>
                <a:lnTo>
                  <a:pt x="645" y="95"/>
                </a:lnTo>
                <a:lnTo>
                  <a:pt x="647" y="100"/>
                </a:lnTo>
                <a:lnTo>
                  <a:pt x="647" y="104"/>
                </a:lnTo>
                <a:lnTo>
                  <a:pt x="676" y="104"/>
                </a:lnTo>
                <a:lnTo>
                  <a:pt x="676" y="159"/>
                </a:lnTo>
                <a:lnTo>
                  <a:pt x="570" y="159"/>
                </a:lnTo>
                <a:lnTo>
                  <a:pt x="570" y="104"/>
                </a:lnTo>
                <a:close/>
                <a:moveTo>
                  <a:pt x="409" y="104"/>
                </a:moveTo>
                <a:lnTo>
                  <a:pt x="439" y="104"/>
                </a:lnTo>
                <a:lnTo>
                  <a:pt x="439" y="100"/>
                </a:lnTo>
                <a:lnTo>
                  <a:pt x="439" y="100"/>
                </a:lnTo>
                <a:lnTo>
                  <a:pt x="440" y="95"/>
                </a:lnTo>
                <a:lnTo>
                  <a:pt x="442" y="91"/>
                </a:lnTo>
                <a:lnTo>
                  <a:pt x="446" y="89"/>
                </a:lnTo>
                <a:lnTo>
                  <a:pt x="451" y="87"/>
                </a:lnTo>
                <a:lnTo>
                  <a:pt x="473" y="87"/>
                </a:lnTo>
                <a:lnTo>
                  <a:pt x="473" y="87"/>
                </a:lnTo>
                <a:lnTo>
                  <a:pt x="479" y="89"/>
                </a:lnTo>
                <a:lnTo>
                  <a:pt x="483" y="91"/>
                </a:lnTo>
                <a:lnTo>
                  <a:pt x="484" y="95"/>
                </a:lnTo>
                <a:lnTo>
                  <a:pt x="486" y="100"/>
                </a:lnTo>
                <a:lnTo>
                  <a:pt x="486" y="104"/>
                </a:lnTo>
                <a:lnTo>
                  <a:pt x="515" y="104"/>
                </a:lnTo>
                <a:lnTo>
                  <a:pt x="515" y="159"/>
                </a:lnTo>
                <a:lnTo>
                  <a:pt x="409" y="159"/>
                </a:lnTo>
                <a:lnTo>
                  <a:pt x="409" y="104"/>
                </a:lnTo>
                <a:close/>
                <a:moveTo>
                  <a:pt x="248" y="104"/>
                </a:moveTo>
                <a:lnTo>
                  <a:pt x="278" y="104"/>
                </a:lnTo>
                <a:lnTo>
                  <a:pt x="278" y="100"/>
                </a:lnTo>
                <a:lnTo>
                  <a:pt x="278" y="100"/>
                </a:lnTo>
                <a:lnTo>
                  <a:pt x="280" y="95"/>
                </a:lnTo>
                <a:lnTo>
                  <a:pt x="281" y="91"/>
                </a:lnTo>
                <a:lnTo>
                  <a:pt x="287" y="89"/>
                </a:lnTo>
                <a:lnTo>
                  <a:pt x="291" y="87"/>
                </a:lnTo>
                <a:lnTo>
                  <a:pt x="314" y="87"/>
                </a:lnTo>
                <a:lnTo>
                  <a:pt x="314" y="87"/>
                </a:lnTo>
                <a:lnTo>
                  <a:pt x="318" y="89"/>
                </a:lnTo>
                <a:lnTo>
                  <a:pt x="322" y="91"/>
                </a:lnTo>
                <a:lnTo>
                  <a:pt x="325" y="95"/>
                </a:lnTo>
                <a:lnTo>
                  <a:pt x="325" y="100"/>
                </a:lnTo>
                <a:lnTo>
                  <a:pt x="325" y="104"/>
                </a:lnTo>
                <a:lnTo>
                  <a:pt x="355" y="104"/>
                </a:lnTo>
                <a:lnTo>
                  <a:pt x="355" y="159"/>
                </a:lnTo>
                <a:lnTo>
                  <a:pt x="248" y="159"/>
                </a:lnTo>
                <a:lnTo>
                  <a:pt x="248" y="104"/>
                </a:lnTo>
                <a:close/>
                <a:moveTo>
                  <a:pt x="786" y="173"/>
                </a:moveTo>
                <a:lnTo>
                  <a:pt x="973" y="173"/>
                </a:lnTo>
                <a:lnTo>
                  <a:pt x="973" y="62"/>
                </a:lnTo>
                <a:lnTo>
                  <a:pt x="786" y="62"/>
                </a:lnTo>
                <a:lnTo>
                  <a:pt x="786" y="173"/>
                </a:lnTo>
                <a:close/>
                <a:moveTo>
                  <a:pt x="819" y="98"/>
                </a:moveTo>
                <a:lnTo>
                  <a:pt x="852" y="98"/>
                </a:lnTo>
                <a:lnTo>
                  <a:pt x="852" y="93"/>
                </a:lnTo>
                <a:lnTo>
                  <a:pt x="852" y="93"/>
                </a:lnTo>
                <a:lnTo>
                  <a:pt x="854" y="87"/>
                </a:lnTo>
                <a:lnTo>
                  <a:pt x="858" y="84"/>
                </a:lnTo>
                <a:lnTo>
                  <a:pt x="861" y="80"/>
                </a:lnTo>
                <a:lnTo>
                  <a:pt x="867" y="80"/>
                </a:lnTo>
                <a:lnTo>
                  <a:pt x="892" y="80"/>
                </a:lnTo>
                <a:lnTo>
                  <a:pt x="892" y="80"/>
                </a:lnTo>
                <a:lnTo>
                  <a:pt x="898" y="80"/>
                </a:lnTo>
                <a:lnTo>
                  <a:pt x="901" y="84"/>
                </a:lnTo>
                <a:lnTo>
                  <a:pt x="905" y="87"/>
                </a:lnTo>
                <a:lnTo>
                  <a:pt x="905" y="93"/>
                </a:lnTo>
                <a:lnTo>
                  <a:pt x="905" y="98"/>
                </a:lnTo>
                <a:lnTo>
                  <a:pt x="940" y="98"/>
                </a:lnTo>
                <a:lnTo>
                  <a:pt x="940" y="160"/>
                </a:lnTo>
                <a:lnTo>
                  <a:pt x="819" y="160"/>
                </a:lnTo>
                <a:lnTo>
                  <a:pt x="819" y="98"/>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nvGrpSpPr>
          <p:cNvPr id="29" name="组合 594">
            <a:extLst>
              <a:ext uri="{FF2B5EF4-FFF2-40B4-BE49-F238E27FC236}">
                <a16:creationId xmlns:a16="http://schemas.microsoft.com/office/drawing/2014/main" id="{F213EEBF-1C1D-4423-A0EB-DA755F293CF2}"/>
              </a:ext>
            </a:extLst>
          </p:cNvPr>
          <p:cNvGrpSpPr/>
          <p:nvPr/>
        </p:nvGrpSpPr>
        <p:grpSpPr bwMode="gray">
          <a:xfrm>
            <a:off x="2471453" y="3965479"/>
            <a:ext cx="125122" cy="110325"/>
            <a:chOff x="10096500" y="3467100"/>
            <a:chExt cx="238125" cy="212725"/>
          </a:xfrm>
          <a:solidFill>
            <a:srgbClr val="0076B1"/>
          </a:solidFill>
        </p:grpSpPr>
        <p:sp>
          <p:nvSpPr>
            <p:cNvPr id="30" name="Freeform 511">
              <a:extLst>
                <a:ext uri="{FF2B5EF4-FFF2-40B4-BE49-F238E27FC236}">
                  <a16:creationId xmlns:a16="http://schemas.microsoft.com/office/drawing/2014/main" id="{974D9CFB-1A85-4CBC-8493-1C520E0A5610}"/>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31" name="Freeform 512">
              <a:extLst>
                <a:ext uri="{FF2B5EF4-FFF2-40B4-BE49-F238E27FC236}">
                  <a16:creationId xmlns:a16="http://schemas.microsoft.com/office/drawing/2014/main" id="{35FAEFDA-0067-4FEE-BD07-6CA85671CEB1}"/>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32" name="Freeform 513">
              <a:extLst>
                <a:ext uri="{FF2B5EF4-FFF2-40B4-BE49-F238E27FC236}">
                  <a16:creationId xmlns:a16="http://schemas.microsoft.com/office/drawing/2014/main" id="{94ADB85B-1430-4E55-97B8-47567AD33899}"/>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33" name="Freeform 515">
              <a:extLst>
                <a:ext uri="{FF2B5EF4-FFF2-40B4-BE49-F238E27FC236}">
                  <a16:creationId xmlns:a16="http://schemas.microsoft.com/office/drawing/2014/main" id="{9085E220-7ACA-426F-8087-497B3997CA9D}"/>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grpSp>
        <p:nvGrpSpPr>
          <p:cNvPr id="34" name="组合 594">
            <a:extLst>
              <a:ext uri="{FF2B5EF4-FFF2-40B4-BE49-F238E27FC236}">
                <a16:creationId xmlns:a16="http://schemas.microsoft.com/office/drawing/2014/main" id="{29EA4E84-5AD3-41F4-978F-09B26EEA92C1}"/>
              </a:ext>
            </a:extLst>
          </p:cNvPr>
          <p:cNvGrpSpPr/>
          <p:nvPr/>
        </p:nvGrpSpPr>
        <p:grpSpPr bwMode="gray">
          <a:xfrm>
            <a:off x="2565304" y="4152648"/>
            <a:ext cx="125122" cy="110325"/>
            <a:chOff x="10096500" y="3467100"/>
            <a:chExt cx="238125" cy="212725"/>
          </a:xfrm>
          <a:solidFill>
            <a:srgbClr val="0076B1"/>
          </a:solidFill>
        </p:grpSpPr>
        <p:sp>
          <p:nvSpPr>
            <p:cNvPr id="35" name="Freeform 511">
              <a:extLst>
                <a:ext uri="{FF2B5EF4-FFF2-40B4-BE49-F238E27FC236}">
                  <a16:creationId xmlns:a16="http://schemas.microsoft.com/office/drawing/2014/main" id="{12ED8991-9A5F-473C-B3F2-A82C0EC9CB8C}"/>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36" name="Freeform 512">
              <a:extLst>
                <a:ext uri="{FF2B5EF4-FFF2-40B4-BE49-F238E27FC236}">
                  <a16:creationId xmlns:a16="http://schemas.microsoft.com/office/drawing/2014/main" id="{B9C75C8C-B835-48D6-AC17-9DF39621712B}"/>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37" name="Freeform 513">
              <a:extLst>
                <a:ext uri="{FF2B5EF4-FFF2-40B4-BE49-F238E27FC236}">
                  <a16:creationId xmlns:a16="http://schemas.microsoft.com/office/drawing/2014/main" id="{CBEE49E4-5BB5-4A2D-8993-43CD9182195E}"/>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38" name="Freeform 515">
              <a:extLst>
                <a:ext uri="{FF2B5EF4-FFF2-40B4-BE49-F238E27FC236}">
                  <a16:creationId xmlns:a16="http://schemas.microsoft.com/office/drawing/2014/main" id="{6BAEEBFF-0BEA-4DF0-8055-280B43C02C04}"/>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grpSp>
        <p:nvGrpSpPr>
          <p:cNvPr id="39" name="组合 594">
            <a:extLst>
              <a:ext uri="{FF2B5EF4-FFF2-40B4-BE49-F238E27FC236}">
                <a16:creationId xmlns:a16="http://schemas.microsoft.com/office/drawing/2014/main" id="{869CDAA0-D726-4A56-B016-26FCC9F2EB0C}"/>
              </a:ext>
            </a:extLst>
          </p:cNvPr>
          <p:cNvGrpSpPr/>
          <p:nvPr/>
        </p:nvGrpSpPr>
        <p:grpSpPr bwMode="gray">
          <a:xfrm>
            <a:off x="2460585" y="4339817"/>
            <a:ext cx="125122" cy="110325"/>
            <a:chOff x="10096500" y="3467100"/>
            <a:chExt cx="238125" cy="212725"/>
          </a:xfrm>
          <a:solidFill>
            <a:srgbClr val="0076B1"/>
          </a:solidFill>
        </p:grpSpPr>
        <p:sp>
          <p:nvSpPr>
            <p:cNvPr id="40" name="Freeform 511">
              <a:extLst>
                <a:ext uri="{FF2B5EF4-FFF2-40B4-BE49-F238E27FC236}">
                  <a16:creationId xmlns:a16="http://schemas.microsoft.com/office/drawing/2014/main" id="{5A834CDD-4C1F-4570-B8AF-30686E36258D}"/>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41" name="Freeform 512">
              <a:extLst>
                <a:ext uri="{FF2B5EF4-FFF2-40B4-BE49-F238E27FC236}">
                  <a16:creationId xmlns:a16="http://schemas.microsoft.com/office/drawing/2014/main" id="{2C62D05B-83FC-428A-B551-FD673CF14913}"/>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42" name="Freeform 513">
              <a:extLst>
                <a:ext uri="{FF2B5EF4-FFF2-40B4-BE49-F238E27FC236}">
                  <a16:creationId xmlns:a16="http://schemas.microsoft.com/office/drawing/2014/main" id="{62DA00B1-6418-453D-9F71-A46CF16B52FB}"/>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43" name="Freeform 515">
              <a:extLst>
                <a:ext uri="{FF2B5EF4-FFF2-40B4-BE49-F238E27FC236}">
                  <a16:creationId xmlns:a16="http://schemas.microsoft.com/office/drawing/2014/main" id="{654679A9-8723-4D01-9AEC-D04022EE454F}"/>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cxnSp>
        <p:nvCxnSpPr>
          <p:cNvPr id="44" name="直接连接符 43">
            <a:extLst>
              <a:ext uri="{FF2B5EF4-FFF2-40B4-BE49-F238E27FC236}">
                <a16:creationId xmlns:a16="http://schemas.microsoft.com/office/drawing/2014/main" id="{6F4407FD-EB61-4357-B753-618BA7B0A422}"/>
              </a:ext>
            </a:extLst>
          </p:cNvPr>
          <p:cNvCxnSpPr/>
          <p:nvPr/>
        </p:nvCxnSpPr>
        <p:spPr bwMode="gray">
          <a:xfrm>
            <a:off x="3319244" y="4316830"/>
            <a:ext cx="176884"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C893AEE-F536-49D6-B019-1F81BF3FC574}"/>
              </a:ext>
            </a:extLst>
          </p:cNvPr>
          <p:cNvCxnSpPr/>
          <p:nvPr/>
        </p:nvCxnSpPr>
        <p:spPr bwMode="gray">
          <a:xfrm>
            <a:off x="3121602" y="4110820"/>
            <a:ext cx="88442"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EF5BD758-7698-4609-B93C-72194FFB1EAC}"/>
              </a:ext>
            </a:extLst>
          </p:cNvPr>
          <p:cNvCxnSpPr/>
          <p:nvPr/>
        </p:nvCxnSpPr>
        <p:spPr bwMode="gray">
          <a:xfrm>
            <a:off x="3127878" y="4496116"/>
            <a:ext cx="88442"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7B4EEBBE-0619-463C-9748-6B96D474BF71}"/>
              </a:ext>
            </a:extLst>
          </p:cNvPr>
          <p:cNvCxnSpPr/>
          <p:nvPr/>
        </p:nvCxnSpPr>
        <p:spPr bwMode="gray">
          <a:xfrm>
            <a:off x="2667569" y="4578250"/>
            <a:ext cx="8844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8" name="组合 594">
            <a:extLst>
              <a:ext uri="{FF2B5EF4-FFF2-40B4-BE49-F238E27FC236}">
                <a16:creationId xmlns:a16="http://schemas.microsoft.com/office/drawing/2014/main" id="{E7B0C507-C279-487F-96E0-FD49F6BA6396}"/>
              </a:ext>
            </a:extLst>
          </p:cNvPr>
          <p:cNvGrpSpPr/>
          <p:nvPr/>
        </p:nvGrpSpPr>
        <p:grpSpPr bwMode="gray">
          <a:xfrm>
            <a:off x="2539192" y="4526986"/>
            <a:ext cx="125122" cy="110325"/>
            <a:chOff x="10096500" y="3467100"/>
            <a:chExt cx="238125" cy="212725"/>
          </a:xfrm>
          <a:solidFill>
            <a:srgbClr val="0076B1"/>
          </a:solidFill>
        </p:grpSpPr>
        <p:sp>
          <p:nvSpPr>
            <p:cNvPr id="49" name="Freeform 511">
              <a:extLst>
                <a:ext uri="{FF2B5EF4-FFF2-40B4-BE49-F238E27FC236}">
                  <a16:creationId xmlns:a16="http://schemas.microsoft.com/office/drawing/2014/main" id="{E76ACA34-CA91-435C-8BF3-937ACBE19149}"/>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50" name="Freeform 512">
              <a:extLst>
                <a:ext uri="{FF2B5EF4-FFF2-40B4-BE49-F238E27FC236}">
                  <a16:creationId xmlns:a16="http://schemas.microsoft.com/office/drawing/2014/main" id="{C95B6C33-8005-461D-AB39-76EC866A334B}"/>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51" name="Freeform 513">
              <a:extLst>
                <a:ext uri="{FF2B5EF4-FFF2-40B4-BE49-F238E27FC236}">
                  <a16:creationId xmlns:a16="http://schemas.microsoft.com/office/drawing/2014/main" id="{B575283B-FFDC-4C78-BE0C-9C9BC224344E}"/>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52" name="Freeform 515">
              <a:extLst>
                <a:ext uri="{FF2B5EF4-FFF2-40B4-BE49-F238E27FC236}">
                  <a16:creationId xmlns:a16="http://schemas.microsoft.com/office/drawing/2014/main" id="{DE07CE15-B0FD-4CA4-940F-B52D7566C8EE}"/>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cxnSp>
        <p:nvCxnSpPr>
          <p:cNvPr id="53" name="直接连接符 52">
            <a:extLst>
              <a:ext uri="{FF2B5EF4-FFF2-40B4-BE49-F238E27FC236}">
                <a16:creationId xmlns:a16="http://schemas.microsoft.com/office/drawing/2014/main" id="{39A521C4-A726-4CFA-839E-A9B252CF7811}"/>
              </a:ext>
            </a:extLst>
          </p:cNvPr>
          <p:cNvCxnSpPr/>
          <p:nvPr/>
        </p:nvCxnSpPr>
        <p:spPr bwMode="gray">
          <a:xfrm>
            <a:off x="2614265" y="4385930"/>
            <a:ext cx="141663"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282F7800-C134-44A2-8794-771360176460}"/>
              </a:ext>
            </a:extLst>
          </p:cNvPr>
          <p:cNvCxnSpPr/>
          <p:nvPr/>
        </p:nvCxnSpPr>
        <p:spPr bwMode="gray">
          <a:xfrm>
            <a:off x="2614265" y="4021466"/>
            <a:ext cx="141663"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BE780B69-7FDA-4638-BB50-AEE9E20E8FE6}"/>
              </a:ext>
            </a:extLst>
          </p:cNvPr>
          <p:cNvCxnSpPr/>
          <p:nvPr/>
        </p:nvCxnSpPr>
        <p:spPr bwMode="gray">
          <a:xfrm>
            <a:off x="2667569" y="4234533"/>
            <a:ext cx="88442"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A2A6406-32B4-4310-B66D-6ABA4D71D707}"/>
              </a:ext>
            </a:extLst>
          </p:cNvPr>
          <p:cNvCxnSpPr/>
          <p:nvPr/>
        </p:nvCxnSpPr>
        <p:spPr bwMode="gray">
          <a:xfrm>
            <a:off x="2752052" y="4022368"/>
            <a:ext cx="0" cy="56581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7A1CEEEA-065F-4879-A6F6-B77600D040E1}"/>
              </a:ext>
            </a:extLst>
          </p:cNvPr>
          <p:cNvCxnSpPr/>
          <p:nvPr/>
        </p:nvCxnSpPr>
        <p:spPr bwMode="gray">
          <a:xfrm>
            <a:off x="2756010" y="4110820"/>
            <a:ext cx="88442"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45120BDE-ED37-4D2C-B3C7-810C608B0FC3}"/>
              </a:ext>
            </a:extLst>
          </p:cNvPr>
          <p:cNvCxnSpPr/>
          <p:nvPr/>
        </p:nvCxnSpPr>
        <p:spPr bwMode="gray">
          <a:xfrm>
            <a:off x="2756010" y="4496116"/>
            <a:ext cx="88442"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3AE30EA6-00BB-493B-B221-3F8333EF84F2}"/>
              </a:ext>
            </a:extLst>
          </p:cNvPr>
          <p:cNvCxnSpPr/>
          <p:nvPr/>
        </p:nvCxnSpPr>
        <p:spPr bwMode="gray">
          <a:xfrm>
            <a:off x="3211227" y="4110861"/>
            <a:ext cx="0" cy="38529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60" name="Freeform 116">
            <a:extLst>
              <a:ext uri="{FF2B5EF4-FFF2-40B4-BE49-F238E27FC236}">
                <a16:creationId xmlns:a16="http://schemas.microsoft.com/office/drawing/2014/main" id="{89F49F8E-BACF-49D4-8A56-3AEFF1B16657}"/>
              </a:ext>
            </a:extLst>
          </p:cNvPr>
          <p:cNvSpPr>
            <a:spLocks noEditPoints="1"/>
          </p:cNvSpPr>
          <p:nvPr/>
        </p:nvSpPr>
        <p:spPr bwMode="gray">
          <a:xfrm>
            <a:off x="3026041" y="4286001"/>
            <a:ext cx="260551" cy="61740"/>
          </a:xfrm>
          <a:custGeom>
            <a:avLst/>
            <a:gdLst>
              <a:gd name="T0" fmla="*/ 20 w 1007"/>
              <a:gd name="T1" fmla="*/ 1 h 241"/>
              <a:gd name="T2" fmla="*/ 0 w 1007"/>
              <a:gd name="T3" fmla="*/ 25 h 241"/>
              <a:gd name="T4" fmla="*/ 3 w 1007"/>
              <a:gd name="T5" fmla="*/ 224 h 241"/>
              <a:gd name="T6" fmla="*/ 31 w 1007"/>
              <a:gd name="T7" fmla="*/ 241 h 241"/>
              <a:gd name="T8" fmla="*/ 989 w 1007"/>
              <a:gd name="T9" fmla="*/ 239 h 241"/>
              <a:gd name="T10" fmla="*/ 1007 w 1007"/>
              <a:gd name="T11" fmla="*/ 215 h 241"/>
              <a:gd name="T12" fmla="*/ 1006 w 1007"/>
              <a:gd name="T13" fmla="*/ 14 h 241"/>
              <a:gd name="T14" fmla="*/ 978 w 1007"/>
              <a:gd name="T15" fmla="*/ 0 h 241"/>
              <a:gd name="T16" fmla="*/ 86 w 1007"/>
              <a:gd name="T17" fmla="*/ 162 h 241"/>
              <a:gd name="T18" fmla="*/ 66 w 1007"/>
              <a:gd name="T19" fmla="*/ 148 h 241"/>
              <a:gd name="T20" fmla="*/ 58 w 1007"/>
              <a:gd name="T21" fmla="*/ 129 h 241"/>
              <a:gd name="T22" fmla="*/ 69 w 1007"/>
              <a:gd name="T23" fmla="*/ 106 h 241"/>
              <a:gd name="T24" fmla="*/ 93 w 1007"/>
              <a:gd name="T25" fmla="*/ 96 h 241"/>
              <a:gd name="T26" fmla="*/ 111 w 1007"/>
              <a:gd name="T27" fmla="*/ 102 h 241"/>
              <a:gd name="T28" fmla="*/ 126 w 1007"/>
              <a:gd name="T29" fmla="*/ 122 h 241"/>
              <a:gd name="T30" fmla="*/ 124 w 1007"/>
              <a:gd name="T31" fmla="*/ 142 h 241"/>
              <a:gd name="T32" fmla="*/ 106 w 1007"/>
              <a:gd name="T33" fmla="*/ 160 h 241"/>
              <a:gd name="T34" fmla="*/ 329 w 1007"/>
              <a:gd name="T35" fmla="*/ 215 h 241"/>
              <a:gd name="T36" fmla="*/ 261 w 1007"/>
              <a:gd name="T37" fmla="*/ 212 h 241"/>
              <a:gd name="T38" fmla="*/ 263 w 1007"/>
              <a:gd name="T39" fmla="*/ 201 h 241"/>
              <a:gd name="T40" fmla="*/ 333 w 1007"/>
              <a:gd name="T41" fmla="*/ 201 h 241"/>
              <a:gd name="T42" fmla="*/ 334 w 1007"/>
              <a:gd name="T43" fmla="*/ 212 h 241"/>
              <a:gd name="T44" fmla="*/ 494 w 1007"/>
              <a:gd name="T45" fmla="*/ 215 h 241"/>
              <a:gd name="T46" fmla="*/ 424 w 1007"/>
              <a:gd name="T47" fmla="*/ 212 h 241"/>
              <a:gd name="T48" fmla="*/ 428 w 1007"/>
              <a:gd name="T49" fmla="*/ 201 h 241"/>
              <a:gd name="T50" fmla="*/ 497 w 1007"/>
              <a:gd name="T51" fmla="*/ 201 h 241"/>
              <a:gd name="T52" fmla="*/ 499 w 1007"/>
              <a:gd name="T53" fmla="*/ 212 h 241"/>
              <a:gd name="T54" fmla="*/ 654 w 1007"/>
              <a:gd name="T55" fmla="*/ 215 h 241"/>
              <a:gd name="T56" fmla="*/ 585 w 1007"/>
              <a:gd name="T57" fmla="*/ 212 h 241"/>
              <a:gd name="T58" fmla="*/ 589 w 1007"/>
              <a:gd name="T59" fmla="*/ 201 h 241"/>
              <a:gd name="T60" fmla="*/ 656 w 1007"/>
              <a:gd name="T61" fmla="*/ 201 h 241"/>
              <a:gd name="T62" fmla="*/ 660 w 1007"/>
              <a:gd name="T63" fmla="*/ 212 h 241"/>
              <a:gd name="T64" fmla="*/ 713 w 1007"/>
              <a:gd name="T65" fmla="*/ 69 h 241"/>
              <a:gd name="T66" fmla="*/ 201 w 1007"/>
              <a:gd name="T67" fmla="*/ 67 h 241"/>
              <a:gd name="T68" fmla="*/ 826 w 1007"/>
              <a:gd name="T69" fmla="*/ 215 h 241"/>
              <a:gd name="T70" fmla="*/ 819 w 1007"/>
              <a:gd name="T71" fmla="*/ 208 h 241"/>
              <a:gd name="T72" fmla="*/ 826 w 1007"/>
              <a:gd name="T73" fmla="*/ 201 h 241"/>
              <a:gd name="T74" fmla="*/ 938 w 1007"/>
              <a:gd name="T75" fmla="*/ 203 h 241"/>
              <a:gd name="T76" fmla="*/ 936 w 1007"/>
              <a:gd name="T77" fmla="*/ 214 h 241"/>
              <a:gd name="T78" fmla="*/ 982 w 1007"/>
              <a:gd name="T79" fmla="*/ 182 h 241"/>
              <a:gd name="T80" fmla="*/ 982 w 1007"/>
              <a:gd name="T81" fmla="*/ 54 h 241"/>
              <a:gd name="T82" fmla="*/ 702 w 1007"/>
              <a:gd name="T83" fmla="*/ 175 h 241"/>
              <a:gd name="T84" fmla="*/ 214 w 1007"/>
              <a:gd name="T85" fmla="*/ 175 h 241"/>
              <a:gd name="T86" fmla="*/ 600 w 1007"/>
              <a:gd name="T87" fmla="*/ 100 h 241"/>
              <a:gd name="T88" fmla="*/ 607 w 1007"/>
              <a:gd name="T89" fmla="*/ 89 h 241"/>
              <a:gd name="T90" fmla="*/ 640 w 1007"/>
              <a:gd name="T91" fmla="*/ 89 h 241"/>
              <a:gd name="T92" fmla="*/ 647 w 1007"/>
              <a:gd name="T93" fmla="*/ 104 h 241"/>
              <a:gd name="T94" fmla="*/ 570 w 1007"/>
              <a:gd name="T95" fmla="*/ 104 h 241"/>
              <a:gd name="T96" fmla="*/ 439 w 1007"/>
              <a:gd name="T97" fmla="*/ 100 h 241"/>
              <a:gd name="T98" fmla="*/ 451 w 1007"/>
              <a:gd name="T99" fmla="*/ 87 h 241"/>
              <a:gd name="T100" fmla="*/ 483 w 1007"/>
              <a:gd name="T101" fmla="*/ 91 h 241"/>
              <a:gd name="T102" fmla="*/ 515 w 1007"/>
              <a:gd name="T103" fmla="*/ 104 h 241"/>
              <a:gd name="T104" fmla="*/ 248 w 1007"/>
              <a:gd name="T105" fmla="*/ 104 h 241"/>
              <a:gd name="T106" fmla="*/ 280 w 1007"/>
              <a:gd name="T107" fmla="*/ 95 h 241"/>
              <a:gd name="T108" fmla="*/ 314 w 1007"/>
              <a:gd name="T109" fmla="*/ 87 h 241"/>
              <a:gd name="T110" fmla="*/ 325 w 1007"/>
              <a:gd name="T111" fmla="*/ 95 h 241"/>
              <a:gd name="T112" fmla="*/ 355 w 1007"/>
              <a:gd name="T113" fmla="*/ 159 h 241"/>
              <a:gd name="T114" fmla="*/ 973 w 1007"/>
              <a:gd name="T115" fmla="*/ 173 h 241"/>
              <a:gd name="T116" fmla="*/ 819 w 1007"/>
              <a:gd name="T117" fmla="*/ 98 h 241"/>
              <a:gd name="T118" fmla="*/ 854 w 1007"/>
              <a:gd name="T119" fmla="*/ 87 h 241"/>
              <a:gd name="T120" fmla="*/ 892 w 1007"/>
              <a:gd name="T121" fmla="*/ 80 h 241"/>
              <a:gd name="T122" fmla="*/ 905 w 1007"/>
              <a:gd name="T123" fmla="*/ 87 h 241"/>
              <a:gd name="T124" fmla="*/ 940 w 1007"/>
              <a:gd name="T125" fmla="*/ 16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7" h="241">
                <a:moveTo>
                  <a:pt x="978" y="0"/>
                </a:moveTo>
                <a:lnTo>
                  <a:pt x="31" y="0"/>
                </a:lnTo>
                <a:lnTo>
                  <a:pt x="31" y="0"/>
                </a:lnTo>
                <a:lnTo>
                  <a:pt x="20" y="1"/>
                </a:lnTo>
                <a:lnTo>
                  <a:pt x="9" y="7"/>
                </a:lnTo>
                <a:lnTo>
                  <a:pt x="3" y="14"/>
                </a:lnTo>
                <a:lnTo>
                  <a:pt x="2" y="20"/>
                </a:lnTo>
                <a:lnTo>
                  <a:pt x="0" y="25"/>
                </a:lnTo>
                <a:lnTo>
                  <a:pt x="0" y="215"/>
                </a:lnTo>
                <a:lnTo>
                  <a:pt x="0" y="215"/>
                </a:lnTo>
                <a:lnTo>
                  <a:pt x="2" y="221"/>
                </a:lnTo>
                <a:lnTo>
                  <a:pt x="3" y="224"/>
                </a:lnTo>
                <a:lnTo>
                  <a:pt x="9" y="234"/>
                </a:lnTo>
                <a:lnTo>
                  <a:pt x="20" y="239"/>
                </a:lnTo>
                <a:lnTo>
                  <a:pt x="25" y="241"/>
                </a:lnTo>
                <a:lnTo>
                  <a:pt x="31" y="241"/>
                </a:lnTo>
                <a:lnTo>
                  <a:pt x="978" y="241"/>
                </a:lnTo>
                <a:lnTo>
                  <a:pt x="978" y="241"/>
                </a:lnTo>
                <a:lnTo>
                  <a:pt x="984" y="241"/>
                </a:lnTo>
                <a:lnTo>
                  <a:pt x="989" y="239"/>
                </a:lnTo>
                <a:lnTo>
                  <a:pt x="998" y="234"/>
                </a:lnTo>
                <a:lnTo>
                  <a:pt x="1006" y="224"/>
                </a:lnTo>
                <a:lnTo>
                  <a:pt x="1007" y="221"/>
                </a:lnTo>
                <a:lnTo>
                  <a:pt x="1007" y="215"/>
                </a:lnTo>
                <a:lnTo>
                  <a:pt x="1007" y="25"/>
                </a:lnTo>
                <a:lnTo>
                  <a:pt x="1007" y="25"/>
                </a:lnTo>
                <a:lnTo>
                  <a:pt x="1007" y="20"/>
                </a:lnTo>
                <a:lnTo>
                  <a:pt x="1006" y="14"/>
                </a:lnTo>
                <a:lnTo>
                  <a:pt x="998" y="7"/>
                </a:lnTo>
                <a:lnTo>
                  <a:pt x="989" y="1"/>
                </a:lnTo>
                <a:lnTo>
                  <a:pt x="984" y="0"/>
                </a:lnTo>
                <a:lnTo>
                  <a:pt x="978" y="0"/>
                </a:lnTo>
                <a:lnTo>
                  <a:pt x="978" y="0"/>
                </a:lnTo>
                <a:close/>
                <a:moveTo>
                  <a:pt x="93" y="162"/>
                </a:moveTo>
                <a:lnTo>
                  <a:pt x="93" y="162"/>
                </a:lnTo>
                <a:lnTo>
                  <a:pt x="86" y="162"/>
                </a:lnTo>
                <a:lnTo>
                  <a:pt x="80" y="160"/>
                </a:lnTo>
                <a:lnTo>
                  <a:pt x="75" y="157"/>
                </a:lnTo>
                <a:lnTo>
                  <a:pt x="69" y="153"/>
                </a:lnTo>
                <a:lnTo>
                  <a:pt x="66" y="148"/>
                </a:lnTo>
                <a:lnTo>
                  <a:pt x="62" y="142"/>
                </a:lnTo>
                <a:lnTo>
                  <a:pt x="60" y="137"/>
                </a:lnTo>
                <a:lnTo>
                  <a:pt x="58" y="129"/>
                </a:lnTo>
                <a:lnTo>
                  <a:pt x="58" y="129"/>
                </a:lnTo>
                <a:lnTo>
                  <a:pt x="60" y="122"/>
                </a:lnTo>
                <a:lnTo>
                  <a:pt x="62" y="117"/>
                </a:lnTo>
                <a:lnTo>
                  <a:pt x="66" y="111"/>
                </a:lnTo>
                <a:lnTo>
                  <a:pt x="69" y="106"/>
                </a:lnTo>
                <a:lnTo>
                  <a:pt x="75" y="102"/>
                </a:lnTo>
                <a:lnTo>
                  <a:pt x="80" y="98"/>
                </a:lnTo>
                <a:lnTo>
                  <a:pt x="86" y="96"/>
                </a:lnTo>
                <a:lnTo>
                  <a:pt x="93" y="96"/>
                </a:lnTo>
                <a:lnTo>
                  <a:pt x="93" y="96"/>
                </a:lnTo>
                <a:lnTo>
                  <a:pt x="100" y="96"/>
                </a:lnTo>
                <a:lnTo>
                  <a:pt x="106" y="98"/>
                </a:lnTo>
                <a:lnTo>
                  <a:pt x="111" y="102"/>
                </a:lnTo>
                <a:lnTo>
                  <a:pt x="117" y="106"/>
                </a:lnTo>
                <a:lnTo>
                  <a:pt x="122" y="111"/>
                </a:lnTo>
                <a:lnTo>
                  <a:pt x="124" y="117"/>
                </a:lnTo>
                <a:lnTo>
                  <a:pt x="126" y="122"/>
                </a:lnTo>
                <a:lnTo>
                  <a:pt x="128" y="129"/>
                </a:lnTo>
                <a:lnTo>
                  <a:pt x="128" y="129"/>
                </a:lnTo>
                <a:lnTo>
                  <a:pt x="126" y="137"/>
                </a:lnTo>
                <a:lnTo>
                  <a:pt x="124" y="142"/>
                </a:lnTo>
                <a:lnTo>
                  <a:pt x="122" y="148"/>
                </a:lnTo>
                <a:lnTo>
                  <a:pt x="117" y="153"/>
                </a:lnTo>
                <a:lnTo>
                  <a:pt x="111" y="157"/>
                </a:lnTo>
                <a:lnTo>
                  <a:pt x="106" y="160"/>
                </a:lnTo>
                <a:lnTo>
                  <a:pt x="100" y="162"/>
                </a:lnTo>
                <a:lnTo>
                  <a:pt x="93" y="162"/>
                </a:lnTo>
                <a:lnTo>
                  <a:pt x="93" y="162"/>
                </a:lnTo>
                <a:close/>
                <a:moveTo>
                  <a:pt x="329" y="215"/>
                </a:moveTo>
                <a:lnTo>
                  <a:pt x="265" y="215"/>
                </a:lnTo>
                <a:lnTo>
                  <a:pt x="265" y="215"/>
                </a:lnTo>
                <a:lnTo>
                  <a:pt x="263" y="214"/>
                </a:lnTo>
                <a:lnTo>
                  <a:pt x="261" y="212"/>
                </a:lnTo>
                <a:lnTo>
                  <a:pt x="259" y="208"/>
                </a:lnTo>
                <a:lnTo>
                  <a:pt x="259" y="208"/>
                </a:lnTo>
                <a:lnTo>
                  <a:pt x="261" y="203"/>
                </a:lnTo>
                <a:lnTo>
                  <a:pt x="263" y="201"/>
                </a:lnTo>
                <a:lnTo>
                  <a:pt x="265" y="201"/>
                </a:lnTo>
                <a:lnTo>
                  <a:pt x="329" y="201"/>
                </a:lnTo>
                <a:lnTo>
                  <a:pt x="329" y="201"/>
                </a:lnTo>
                <a:lnTo>
                  <a:pt x="333" y="201"/>
                </a:lnTo>
                <a:lnTo>
                  <a:pt x="334" y="203"/>
                </a:lnTo>
                <a:lnTo>
                  <a:pt x="336" y="208"/>
                </a:lnTo>
                <a:lnTo>
                  <a:pt x="336" y="208"/>
                </a:lnTo>
                <a:lnTo>
                  <a:pt x="334" y="212"/>
                </a:lnTo>
                <a:lnTo>
                  <a:pt x="333" y="214"/>
                </a:lnTo>
                <a:lnTo>
                  <a:pt x="329" y="215"/>
                </a:lnTo>
                <a:lnTo>
                  <a:pt x="329" y="215"/>
                </a:lnTo>
                <a:close/>
                <a:moveTo>
                  <a:pt x="494" y="215"/>
                </a:moveTo>
                <a:lnTo>
                  <a:pt x="430" y="215"/>
                </a:lnTo>
                <a:lnTo>
                  <a:pt x="430" y="215"/>
                </a:lnTo>
                <a:lnTo>
                  <a:pt x="428" y="214"/>
                </a:lnTo>
                <a:lnTo>
                  <a:pt x="424" y="212"/>
                </a:lnTo>
                <a:lnTo>
                  <a:pt x="422" y="208"/>
                </a:lnTo>
                <a:lnTo>
                  <a:pt x="422" y="208"/>
                </a:lnTo>
                <a:lnTo>
                  <a:pt x="424" y="203"/>
                </a:lnTo>
                <a:lnTo>
                  <a:pt x="428" y="201"/>
                </a:lnTo>
                <a:lnTo>
                  <a:pt x="430" y="201"/>
                </a:lnTo>
                <a:lnTo>
                  <a:pt x="494" y="201"/>
                </a:lnTo>
                <a:lnTo>
                  <a:pt x="494" y="201"/>
                </a:lnTo>
                <a:lnTo>
                  <a:pt x="497" y="201"/>
                </a:lnTo>
                <a:lnTo>
                  <a:pt x="499" y="203"/>
                </a:lnTo>
                <a:lnTo>
                  <a:pt x="501" y="208"/>
                </a:lnTo>
                <a:lnTo>
                  <a:pt x="501" y="208"/>
                </a:lnTo>
                <a:lnTo>
                  <a:pt x="499" y="212"/>
                </a:lnTo>
                <a:lnTo>
                  <a:pt x="497" y="214"/>
                </a:lnTo>
                <a:lnTo>
                  <a:pt x="494" y="215"/>
                </a:lnTo>
                <a:lnTo>
                  <a:pt x="494" y="215"/>
                </a:lnTo>
                <a:close/>
                <a:moveTo>
                  <a:pt x="654" y="215"/>
                </a:moveTo>
                <a:lnTo>
                  <a:pt x="590" y="215"/>
                </a:lnTo>
                <a:lnTo>
                  <a:pt x="590" y="215"/>
                </a:lnTo>
                <a:lnTo>
                  <a:pt x="589" y="214"/>
                </a:lnTo>
                <a:lnTo>
                  <a:pt x="585" y="212"/>
                </a:lnTo>
                <a:lnTo>
                  <a:pt x="583" y="208"/>
                </a:lnTo>
                <a:lnTo>
                  <a:pt x="583" y="208"/>
                </a:lnTo>
                <a:lnTo>
                  <a:pt x="585" y="203"/>
                </a:lnTo>
                <a:lnTo>
                  <a:pt x="589" y="201"/>
                </a:lnTo>
                <a:lnTo>
                  <a:pt x="590" y="201"/>
                </a:lnTo>
                <a:lnTo>
                  <a:pt x="654" y="201"/>
                </a:lnTo>
                <a:lnTo>
                  <a:pt x="654" y="201"/>
                </a:lnTo>
                <a:lnTo>
                  <a:pt x="656" y="201"/>
                </a:lnTo>
                <a:lnTo>
                  <a:pt x="660" y="203"/>
                </a:lnTo>
                <a:lnTo>
                  <a:pt x="662" y="208"/>
                </a:lnTo>
                <a:lnTo>
                  <a:pt x="662" y="208"/>
                </a:lnTo>
                <a:lnTo>
                  <a:pt x="660" y="212"/>
                </a:lnTo>
                <a:lnTo>
                  <a:pt x="656" y="214"/>
                </a:lnTo>
                <a:lnTo>
                  <a:pt x="654" y="215"/>
                </a:lnTo>
                <a:lnTo>
                  <a:pt x="654" y="215"/>
                </a:lnTo>
                <a:close/>
                <a:moveTo>
                  <a:pt x="713" y="69"/>
                </a:moveTo>
                <a:lnTo>
                  <a:pt x="713" y="182"/>
                </a:lnTo>
                <a:lnTo>
                  <a:pt x="201" y="182"/>
                </a:lnTo>
                <a:lnTo>
                  <a:pt x="201" y="182"/>
                </a:lnTo>
                <a:lnTo>
                  <a:pt x="201" y="67"/>
                </a:lnTo>
                <a:lnTo>
                  <a:pt x="715" y="69"/>
                </a:lnTo>
                <a:lnTo>
                  <a:pt x="713" y="69"/>
                </a:lnTo>
                <a:close/>
                <a:moveTo>
                  <a:pt x="934" y="215"/>
                </a:moveTo>
                <a:lnTo>
                  <a:pt x="826" y="215"/>
                </a:lnTo>
                <a:lnTo>
                  <a:pt x="826" y="215"/>
                </a:lnTo>
                <a:lnTo>
                  <a:pt x="823" y="214"/>
                </a:lnTo>
                <a:lnTo>
                  <a:pt x="821" y="212"/>
                </a:lnTo>
                <a:lnTo>
                  <a:pt x="819" y="208"/>
                </a:lnTo>
                <a:lnTo>
                  <a:pt x="819" y="208"/>
                </a:lnTo>
                <a:lnTo>
                  <a:pt x="821" y="203"/>
                </a:lnTo>
                <a:lnTo>
                  <a:pt x="823" y="201"/>
                </a:lnTo>
                <a:lnTo>
                  <a:pt x="826" y="201"/>
                </a:lnTo>
                <a:lnTo>
                  <a:pt x="934" y="201"/>
                </a:lnTo>
                <a:lnTo>
                  <a:pt x="934" y="201"/>
                </a:lnTo>
                <a:lnTo>
                  <a:pt x="936" y="201"/>
                </a:lnTo>
                <a:lnTo>
                  <a:pt x="938" y="203"/>
                </a:lnTo>
                <a:lnTo>
                  <a:pt x="940" y="208"/>
                </a:lnTo>
                <a:lnTo>
                  <a:pt x="940" y="208"/>
                </a:lnTo>
                <a:lnTo>
                  <a:pt x="938" y="212"/>
                </a:lnTo>
                <a:lnTo>
                  <a:pt x="936" y="214"/>
                </a:lnTo>
                <a:lnTo>
                  <a:pt x="934" y="215"/>
                </a:lnTo>
                <a:lnTo>
                  <a:pt x="934" y="215"/>
                </a:lnTo>
                <a:close/>
                <a:moveTo>
                  <a:pt x="982" y="54"/>
                </a:moveTo>
                <a:lnTo>
                  <a:pt x="982" y="182"/>
                </a:lnTo>
                <a:lnTo>
                  <a:pt x="779" y="182"/>
                </a:lnTo>
                <a:lnTo>
                  <a:pt x="779" y="182"/>
                </a:lnTo>
                <a:lnTo>
                  <a:pt x="779" y="54"/>
                </a:lnTo>
                <a:lnTo>
                  <a:pt x="982" y="54"/>
                </a:lnTo>
                <a:lnTo>
                  <a:pt x="976" y="60"/>
                </a:lnTo>
                <a:lnTo>
                  <a:pt x="976" y="60"/>
                </a:lnTo>
                <a:lnTo>
                  <a:pt x="982" y="54"/>
                </a:lnTo>
                <a:close/>
                <a:moveTo>
                  <a:pt x="702" y="175"/>
                </a:moveTo>
                <a:lnTo>
                  <a:pt x="702" y="76"/>
                </a:lnTo>
                <a:lnTo>
                  <a:pt x="214" y="76"/>
                </a:lnTo>
                <a:lnTo>
                  <a:pt x="214" y="175"/>
                </a:lnTo>
                <a:lnTo>
                  <a:pt x="214" y="175"/>
                </a:lnTo>
                <a:lnTo>
                  <a:pt x="702" y="175"/>
                </a:lnTo>
                <a:close/>
                <a:moveTo>
                  <a:pt x="570" y="104"/>
                </a:moveTo>
                <a:lnTo>
                  <a:pt x="600" y="104"/>
                </a:lnTo>
                <a:lnTo>
                  <a:pt x="600" y="100"/>
                </a:lnTo>
                <a:lnTo>
                  <a:pt x="600" y="100"/>
                </a:lnTo>
                <a:lnTo>
                  <a:pt x="600" y="95"/>
                </a:lnTo>
                <a:lnTo>
                  <a:pt x="603" y="91"/>
                </a:lnTo>
                <a:lnTo>
                  <a:pt x="607" y="89"/>
                </a:lnTo>
                <a:lnTo>
                  <a:pt x="611" y="87"/>
                </a:lnTo>
                <a:lnTo>
                  <a:pt x="634" y="87"/>
                </a:lnTo>
                <a:lnTo>
                  <a:pt x="634" y="87"/>
                </a:lnTo>
                <a:lnTo>
                  <a:pt x="640" y="89"/>
                </a:lnTo>
                <a:lnTo>
                  <a:pt x="644" y="91"/>
                </a:lnTo>
                <a:lnTo>
                  <a:pt x="645" y="95"/>
                </a:lnTo>
                <a:lnTo>
                  <a:pt x="647" y="100"/>
                </a:lnTo>
                <a:lnTo>
                  <a:pt x="647" y="104"/>
                </a:lnTo>
                <a:lnTo>
                  <a:pt x="676" y="104"/>
                </a:lnTo>
                <a:lnTo>
                  <a:pt x="676" y="159"/>
                </a:lnTo>
                <a:lnTo>
                  <a:pt x="570" y="159"/>
                </a:lnTo>
                <a:lnTo>
                  <a:pt x="570" y="104"/>
                </a:lnTo>
                <a:close/>
                <a:moveTo>
                  <a:pt x="409" y="104"/>
                </a:moveTo>
                <a:lnTo>
                  <a:pt x="439" y="104"/>
                </a:lnTo>
                <a:lnTo>
                  <a:pt x="439" y="100"/>
                </a:lnTo>
                <a:lnTo>
                  <a:pt x="439" y="100"/>
                </a:lnTo>
                <a:lnTo>
                  <a:pt x="440" y="95"/>
                </a:lnTo>
                <a:lnTo>
                  <a:pt x="442" y="91"/>
                </a:lnTo>
                <a:lnTo>
                  <a:pt x="446" y="89"/>
                </a:lnTo>
                <a:lnTo>
                  <a:pt x="451" y="87"/>
                </a:lnTo>
                <a:lnTo>
                  <a:pt x="473" y="87"/>
                </a:lnTo>
                <a:lnTo>
                  <a:pt x="473" y="87"/>
                </a:lnTo>
                <a:lnTo>
                  <a:pt x="479" y="89"/>
                </a:lnTo>
                <a:lnTo>
                  <a:pt x="483" y="91"/>
                </a:lnTo>
                <a:lnTo>
                  <a:pt x="484" y="95"/>
                </a:lnTo>
                <a:lnTo>
                  <a:pt x="486" y="100"/>
                </a:lnTo>
                <a:lnTo>
                  <a:pt x="486" y="104"/>
                </a:lnTo>
                <a:lnTo>
                  <a:pt x="515" y="104"/>
                </a:lnTo>
                <a:lnTo>
                  <a:pt x="515" y="159"/>
                </a:lnTo>
                <a:lnTo>
                  <a:pt x="409" y="159"/>
                </a:lnTo>
                <a:lnTo>
                  <a:pt x="409" y="104"/>
                </a:lnTo>
                <a:close/>
                <a:moveTo>
                  <a:pt x="248" y="104"/>
                </a:moveTo>
                <a:lnTo>
                  <a:pt x="278" y="104"/>
                </a:lnTo>
                <a:lnTo>
                  <a:pt x="278" y="100"/>
                </a:lnTo>
                <a:lnTo>
                  <a:pt x="278" y="100"/>
                </a:lnTo>
                <a:lnTo>
                  <a:pt x="280" y="95"/>
                </a:lnTo>
                <a:lnTo>
                  <a:pt x="281" y="91"/>
                </a:lnTo>
                <a:lnTo>
                  <a:pt x="287" y="89"/>
                </a:lnTo>
                <a:lnTo>
                  <a:pt x="291" y="87"/>
                </a:lnTo>
                <a:lnTo>
                  <a:pt x="314" y="87"/>
                </a:lnTo>
                <a:lnTo>
                  <a:pt x="314" y="87"/>
                </a:lnTo>
                <a:lnTo>
                  <a:pt x="318" y="89"/>
                </a:lnTo>
                <a:lnTo>
                  <a:pt x="322" y="91"/>
                </a:lnTo>
                <a:lnTo>
                  <a:pt x="325" y="95"/>
                </a:lnTo>
                <a:lnTo>
                  <a:pt x="325" y="100"/>
                </a:lnTo>
                <a:lnTo>
                  <a:pt x="325" y="104"/>
                </a:lnTo>
                <a:lnTo>
                  <a:pt x="355" y="104"/>
                </a:lnTo>
                <a:lnTo>
                  <a:pt x="355" y="159"/>
                </a:lnTo>
                <a:lnTo>
                  <a:pt x="248" y="159"/>
                </a:lnTo>
                <a:lnTo>
                  <a:pt x="248" y="104"/>
                </a:lnTo>
                <a:close/>
                <a:moveTo>
                  <a:pt x="786" y="173"/>
                </a:moveTo>
                <a:lnTo>
                  <a:pt x="973" y="173"/>
                </a:lnTo>
                <a:lnTo>
                  <a:pt x="973" y="62"/>
                </a:lnTo>
                <a:lnTo>
                  <a:pt x="786" y="62"/>
                </a:lnTo>
                <a:lnTo>
                  <a:pt x="786" y="173"/>
                </a:lnTo>
                <a:close/>
                <a:moveTo>
                  <a:pt x="819" y="98"/>
                </a:moveTo>
                <a:lnTo>
                  <a:pt x="852" y="98"/>
                </a:lnTo>
                <a:lnTo>
                  <a:pt x="852" y="93"/>
                </a:lnTo>
                <a:lnTo>
                  <a:pt x="852" y="93"/>
                </a:lnTo>
                <a:lnTo>
                  <a:pt x="854" y="87"/>
                </a:lnTo>
                <a:lnTo>
                  <a:pt x="858" y="84"/>
                </a:lnTo>
                <a:lnTo>
                  <a:pt x="861" y="80"/>
                </a:lnTo>
                <a:lnTo>
                  <a:pt x="867" y="80"/>
                </a:lnTo>
                <a:lnTo>
                  <a:pt x="892" y="80"/>
                </a:lnTo>
                <a:lnTo>
                  <a:pt x="892" y="80"/>
                </a:lnTo>
                <a:lnTo>
                  <a:pt x="898" y="80"/>
                </a:lnTo>
                <a:lnTo>
                  <a:pt x="901" y="84"/>
                </a:lnTo>
                <a:lnTo>
                  <a:pt x="905" y="87"/>
                </a:lnTo>
                <a:lnTo>
                  <a:pt x="905" y="93"/>
                </a:lnTo>
                <a:lnTo>
                  <a:pt x="905" y="98"/>
                </a:lnTo>
                <a:lnTo>
                  <a:pt x="940" y="98"/>
                </a:lnTo>
                <a:lnTo>
                  <a:pt x="940" y="160"/>
                </a:lnTo>
                <a:lnTo>
                  <a:pt x="819" y="160"/>
                </a:lnTo>
                <a:lnTo>
                  <a:pt x="819" y="98"/>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nvGrpSpPr>
          <p:cNvPr id="61" name="组合 594">
            <a:extLst>
              <a:ext uri="{FF2B5EF4-FFF2-40B4-BE49-F238E27FC236}">
                <a16:creationId xmlns:a16="http://schemas.microsoft.com/office/drawing/2014/main" id="{B39357EC-A998-4040-8515-7009AEE63E8F}"/>
              </a:ext>
            </a:extLst>
          </p:cNvPr>
          <p:cNvGrpSpPr/>
          <p:nvPr/>
        </p:nvGrpSpPr>
        <p:grpSpPr bwMode="gray">
          <a:xfrm>
            <a:off x="2477797" y="5395032"/>
            <a:ext cx="125122" cy="110325"/>
            <a:chOff x="10096500" y="3467100"/>
            <a:chExt cx="238125" cy="212725"/>
          </a:xfrm>
          <a:solidFill>
            <a:srgbClr val="0076B1"/>
          </a:solidFill>
        </p:grpSpPr>
        <p:sp>
          <p:nvSpPr>
            <p:cNvPr id="62" name="Freeform 511">
              <a:extLst>
                <a:ext uri="{FF2B5EF4-FFF2-40B4-BE49-F238E27FC236}">
                  <a16:creationId xmlns:a16="http://schemas.microsoft.com/office/drawing/2014/main" id="{9DC2829B-025C-4D36-B09F-CE121AE22918}"/>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63" name="Freeform 512">
              <a:extLst>
                <a:ext uri="{FF2B5EF4-FFF2-40B4-BE49-F238E27FC236}">
                  <a16:creationId xmlns:a16="http://schemas.microsoft.com/office/drawing/2014/main" id="{47D61B56-44F6-456B-8659-E9BEF04DE333}"/>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64" name="Freeform 513">
              <a:extLst>
                <a:ext uri="{FF2B5EF4-FFF2-40B4-BE49-F238E27FC236}">
                  <a16:creationId xmlns:a16="http://schemas.microsoft.com/office/drawing/2014/main" id="{65DF08B5-2ABE-4E49-995F-33FE7F244F1F}"/>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65" name="Freeform 515">
              <a:extLst>
                <a:ext uri="{FF2B5EF4-FFF2-40B4-BE49-F238E27FC236}">
                  <a16:creationId xmlns:a16="http://schemas.microsoft.com/office/drawing/2014/main" id="{04B6D2CF-BF99-4AD9-BEFD-B932AF51B73B}"/>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grpSp>
        <p:nvGrpSpPr>
          <p:cNvPr id="66" name="组合 594">
            <a:extLst>
              <a:ext uri="{FF2B5EF4-FFF2-40B4-BE49-F238E27FC236}">
                <a16:creationId xmlns:a16="http://schemas.microsoft.com/office/drawing/2014/main" id="{AC48EB20-1C8A-48B4-817E-BA8330933A5D}"/>
              </a:ext>
            </a:extLst>
          </p:cNvPr>
          <p:cNvGrpSpPr/>
          <p:nvPr/>
        </p:nvGrpSpPr>
        <p:grpSpPr bwMode="gray">
          <a:xfrm>
            <a:off x="2559775" y="5549487"/>
            <a:ext cx="125122" cy="110325"/>
            <a:chOff x="10096500" y="3467100"/>
            <a:chExt cx="238125" cy="212725"/>
          </a:xfrm>
          <a:solidFill>
            <a:srgbClr val="0076B1"/>
          </a:solidFill>
        </p:grpSpPr>
        <p:sp>
          <p:nvSpPr>
            <p:cNvPr id="67" name="Freeform 511">
              <a:extLst>
                <a:ext uri="{FF2B5EF4-FFF2-40B4-BE49-F238E27FC236}">
                  <a16:creationId xmlns:a16="http://schemas.microsoft.com/office/drawing/2014/main" id="{AA48B973-6A41-4C6F-BF0F-C4BB970BFAC8}"/>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68" name="Freeform 512">
              <a:extLst>
                <a:ext uri="{FF2B5EF4-FFF2-40B4-BE49-F238E27FC236}">
                  <a16:creationId xmlns:a16="http://schemas.microsoft.com/office/drawing/2014/main" id="{50ECD797-5755-447F-A635-BE4C46B3F435}"/>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69" name="Freeform 513">
              <a:extLst>
                <a:ext uri="{FF2B5EF4-FFF2-40B4-BE49-F238E27FC236}">
                  <a16:creationId xmlns:a16="http://schemas.microsoft.com/office/drawing/2014/main" id="{77F55ACB-AFFB-47D7-AD79-58E707A80588}"/>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70" name="Freeform 515">
              <a:extLst>
                <a:ext uri="{FF2B5EF4-FFF2-40B4-BE49-F238E27FC236}">
                  <a16:creationId xmlns:a16="http://schemas.microsoft.com/office/drawing/2014/main" id="{69668196-0397-487D-AAC5-4C6D43C15321}"/>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cxnSp>
        <p:nvCxnSpPr>
          <p:cNvPr id="71" name="直接连接符 70">
            <a:extLst>
              <a:ext uri="{FF2B5EF4-FFF2-40B4-BE49-F238E27FC236}">
                <a16:creationId xmlns:a16="http://schemas.microsoft.com/office/drawing/2014/main" id="{6461124C-9D46-40AA-AE82-BA778A82D2C5}"/>
              </a:ext>
            </a:extLst>
          </p:cNvPr>
          <p:cNvCxnSpPr/>
          <p:nvPr/>
        </p:nvCxnSpPr>
        <p:spPr bwMode="gray">
          <a:xfrm>
            <a:off x="3336655" y="5523926"/>
            <a:ext cx="176884"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72" name="Freeform 116">
            <a:extLst>
              <a:ext uri="{FF2B5EF4-FFF2-40B4-BE49-F238E27FC236}">
                <a16:creationId xmlns:a16="http://schemas.microsoft.com/office/drawing/2014/main" id="{35B6CF09-C68F-40B5-8763-EBE1D53D0B50}"/>
              </a:ext>
            </a:extLst>
          </p:cNvPr>
          <p:cNvSpPr>
            <a:spLocks noEditPoints="1"/>
          </p:cNvSpPr>
          <p:nvPr/>
        </p:nvSpPr>
        <p:spPr bwMode="gray">
          <a:xfrm>
            <a:off x="3040578" y="5493096"/>
            <a:ext cx="260551" cy="61740"/>
          </a:xfrm>
          <a:custGeom>
            <a:avLst/>
            <a:gdLst>
              <a:gd name="T0" fmla="*/ 20 w 1007"/>
              <a:gd name="T1" fmla="*/ 1 h 241"/>
              <a:gd name="T2" fmla="*/ 0 w 1007"/>
              <a:gd name="T3" fmla="*/ 25 h 241"/>
              <a:gd name="T4" fmla="*/ 3 w 1007"/>
              <a:gd name="T5" fmla="*/ 224 h 241"/>
              <a:gd name="T6" fmla="*/ 31 w 1007"/>
              <a:gd name="T7" fmla="*/ 241 h 241"/>
              <a:gd name="T8" fmla="*/ 989 w 1007"/>
              <a:gd name="T9" fmla="*/ 239 h 241"/>
              <a:gd name="T10" fmla="*/ 1007 w 1007"/>
              <a:gd name="T11" fmla="*/ 215 h 241"/>
              <a:gd name="T12" fmla="*/ 1006 w 1007"/>
              <a:gd name="T13" fmla="*/ 14 h 241"/>
              <a:gd name="T14" fmla="*/ 978 w 1007"/>
              <a:gd name="T15" fmla="*/ 0 h 241"/>
              <a:gd name="T16" fmla="*/ 86 w 1007"/>
              <a:gd name="T17" fmla="*/ 162 h 241"/>
              <a:gd name="T18" fmla="*/ 66 w 1007"/>
              <a:gd name="T19" fmla="*/ 148 h 241"/>
              <a:gd name="T20" fmla="*/ 58 w 1007"/>
              <a:gd name="T21" fmla="*/ 129 h 241"/>
              <a:gd name="T22" fmla="*/ 69 w 1007"/>
              <a:gd name="T23" fmla="*/ 106 h 241"/>
              <a:gd name="T24" fmla="*/ 93 w 1007"/>
              <a:gd name="T25" fmla="*/ 96 h 241"/>
              <a:gd name="T26" fmla="*/ 111 w 1007"/>
              <a:gd name="T27" fmla="*/ 102 h 241"/>
              <a:gd name="T28" fmla="*/ 126 w 1007"/>
              <a:gd name="T29" fmla="*/ 122 h 241"/>
              <a:gd name="T30" fmla="*/ 124 w 1007"/>
              <a:gd name="T31" fmla="*/ 142 h 241"/>
              <a:gd name="T32" fmla="*/ 106 w 1007"/>
              <a:gd name="T33" fmla="*/ 160 h 241"/>
              <a:gd name="T34" fmla="*/ 329 w 1007"/>
              <a:gd name="T35" fmla="*/ 215 h 241"/>
              <a:gd name="T36" fmla="*/ 261 w 1007"/>
              <a:gd name="T37" fmla="*/ 212 h 241"/>
              <a:gd name="T38" fmla="*/ 263 w 1007"/>
              <a:gd name="T39" fmla="*/ 201 h 241"/>
              <a:gd name="T40" fmla="*/ 333 w 1007"/>
              <a:gd name="T41" fmla="*/ 201 h 241"/>
              <a:gd name="T42" fmla="*/ 334 w 1007"/>
              <a:gd name="T43" fmla="*/ 212 h 241"/>
              <a:gd name="T44" fmla="*/ 494 w 1007"/>
              <a:gd name="T45" fmla="*/ 215 h 241"/>
              <a:gd name="T46" fmla="*/ 424 w 1007"/>
              <a:gd name="T47" fmla="*/ 212 h 241"/>
              <a:gd name="T48" fmla="*/ 428 w 1007"/>
              <a:gd name="T49" fmla="*/ 201 h 241"/>
              <a:gd name="T50" fmla="*/ 497 w 1007"/>
              <a:gd name="T51" fmla="*/ 201 h 241"/>
              <a:gd name="T52" fmla="*/ 499 w 1007"/>
              <a:gd name="T53" fmla="*/ 212 h 241"/>
              <a:gd name="T54" fmla="*/ 654 w 1007"/>
              <a:gd name="T55" fmla="*/ 215 h 241"/>
              <a:gd name="T56" fmla="*/ 585 w 1007"/>
              <a:gd name="T57" fmla="*/ 212 h 241"/>
              <a:gd name="T58" fmla="*/ 589 w 1007"/>
              <a:gd name="T59" fmla="*/ 201 h 241"/>
              <a:gd name="T60" fmla="*/ 656 w 1007"/>
              <a:gd name="T61" fmla="*/ 201 h 241"/>
              <a:gd name="T62" fmla="*/ 660 w 1007"/>
              <a:gd name="T63" fmla="*/ 212 h 241"/>
              <a:gd name="T64" fmla="*/ 713 w 1007"/>
              <a:gd name="T65" fmla="*/ 69 h 241"/>
              <a:gd name="T66" fmla="*/ 201 w 1007"/>
              <a:gd name="T67" fmla="*/ 67 h 241"/>
              <a:gd name="T68" fmla="*/ 826 w 1007"/>
              <a:gd name="T69" fmla="*/ 215 h 241"/>
              <a:gd name="T70" fmla="*/ 819 w 1007"/>
              <a:gd name="T71" fmla="*/ 208 h 241"/>
              <a:gd name="T72" fmla="*/ 826 w 1007"/>
              <a:gd name="T73" fmla="*/ 201 h 241"/>
              <a:gd name="T74" fmla="*/ 938 w 1007"/>
              <a:gd name="T75" fmla="*/ 203 h 241"/>
              <a:gd name="T76" fmla="*/ 936 w 1007"/>
              <a:gd name="T77" fmla="*/ 214 h 241"/>
              <a:gd name="T78" fmla="*/ 982 w 1007"/>
              <a:gd name="T79" fmla="*/ 182 h 241"/>
              <a:gd name="T80" fmla="*/ 982 w 1007"/>
              <a:gd name="T81" fmla="*/ 54 h 241"/>
              <a:gd name="T82" fmla="*/ 702 w 1007"/>
              <a:gd name="T83" fmla="*/ 175 h 241"/>
              <a:gd name="T84" fmla="*/ 214 w 1007"/>
              <a:gd name="T85" fmla="*/ 175 h 241"/>
              <a:gd name="T86" fmla="*/ 600 w 1007"/>
              <a:gd name="T87" fmla="*/ 100 h 241"/>
              <a:gd name="T88" fmla="*/ 607 w 1007"/>
              <a:gd name="T89" fmla="*/ 89 h 241"/>
              <a:gd name="T90" fmla="*/ 640 w 1007"/>
              <a:gd name="T91" fmla="*/ 89 h 241"/>
              <a:gd name="T92" fmla="*/ 647 w 1007"/>
              <a:gd name="T93" fmla="*/ 104 h 241"/>
              <a:gd name="T94" fmla="*/ 570 w 1007"/>
              <a:gd name="T95" fmla="*/ 104 h 241"/>
              <a:gd name="T96" fmla="*/ 439 w 1007"/>
              <a:gd name="T97" fmla="*/ 100 h 241"/>
              <a:gd name="T98" fmla="*/ 451 w 1007"/>
              <a:gd name="T99" fmla="*/ 87 h 241"/>
              <a:gd name="T100" fmla="*/ 483 w 1007"/>
              <a:gd name="T101" fmla="*/ 91 h 241"/>
              <a:gd name="T102" fmla="*/ 515 w 1007"/>
              <a:gd name="T103" fmla="*/ 104 h 241"/>
              <a:gd name="T104" fmla="*/ 248 w 1007"/>
              <a:gd name="T105" fmla="*/ 104 h 241"/>
              <a:gd name="T106" fmla="*/ 280 w 1007"/>
              <a:gd name="T107" fmla="*/ 95 h 241"/>
              <a:gd name="T108" fmla="*/ 314 w 1007"/>
              <a:gd name="T109" fmla="*/ 87 h 241"/>
              <a:gd name="T110" fmla="*/ 325 w 1007"/>
              <a:gd name="T111" fmla="*/ 95 h 241"/>
              <a:gd name="T112" fmla="*/ 355 w 1007"/>
              <a:gd name="T113" fmla="*/ 159 h 241"/>
              <a:gd name="T114" fmla="*/ 973 w 1007"/>
              <a:gd name="T115" fmla="*/ 173 h 241"/>
              <a:gd name="T116" fmla="*/ 819 w 1007"/>
              <a:gd name="T117" fmla="*/ 98 h 241"/>
              <a:gd name="T118" fmla="*/ 854 w 1007"/>
              <a:gd name="T119" fmla="*/ 87 h 241"/>
              <a:gd name="T120" fmla="*/ 892 w 1007"/>
              <a:gd name="T121" fmla="*/ 80 h 241"/>
              <a:gd name="T122" fmla="*/ 905 w 1007"/>
              <a:gd name="T123" fmla="*/ 87 h 241"/>
              <a:gd name="T124" fmla="*/ 940 w 1007"/>
              <a:gd name="T125" fmla="*/ 16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7" h="241">
                <a:moveTo>
                  <a:pt x="978" y="0"/>
                </a:moveTo>
                <a:lnTo>
                  <a:pt x="31" y="0"/>
                </a:lnTo>
                <a:lnTo>
                  <a:pt x="31" y="0"/>
                </a:lnTo>
                <a:lnTo>
                  <a:pt x="20" y="1"/>
                </a:lnTo>
                <a:lnTo>
                  <a:pt x="9" y="7"/>
                </a:lnTo>
                <a:lnTo>
                  <a:pt x="3" y="14"/>
                </a:lnTo>
                <a:lnTo>
                  <a:pt x="2" y="20"/>
                </a:lnTo>
                <a:lnTo>
                  <a:pt x="0" y="25"/>
                </a:lnTo>
                <a:lnTo>
                  <a:pt x="0" y="215"/>
                </a:lnTo>
                <a:lnTo>
                  <a:pt x="0" y="215"/>
                </a:lnTo>
                <a:lnTo>
                  <a:pt x="2" y="221"/>
                </a:lnTo>
                <a:lnTo>
                  <a:pt x="3" y="224"/>
                </a:lnTo>
                <a:lnTo>
                  <a:pt x="9" y="234"/>
                </a:lnTo>
                <a:lnTo>
                  <a:pt x="20" y="239"/>
                </a:lnTo>
                <a:lnTo>
                  <a:pt x="25" y="241"/>
                </a:lnTo>
                <a:lnTo>
                  <a:pt x="31" y="241"/>
                </a:lnTo>
                <a:lnTo>
                  <a:pt x="978" y="241"/>
                </a:lnTo>
                <a:lnTo>
                  <a:pt x="978" y="241"/>
                </a:lnTo>
                <a:lnTo>
                  <a:pt x="984" y="241"/>
                </a:lnTo>
                <a:lnTo>
                  <a:pt x="989" y="239"/>
                </a:lnTo>
                <a:lnTo>
                  <a:pt x="998" y="234"/>
                </a:lnTo>
                <a:lnTo>
                  <a:pt x="1006" y="224"/>
                </a:lnTo>
                <a:lnTo>
                  <a:pt x="1007" y="221"/>
                </a:lnTo>
                <a:lnTo>
                  <a:pt x="1007" y="215"/>
                </a:lnTo>
                <a:lnTo>
                  <a:pt x="1007" y="25"/>
                </a:lnTo>
                <a:lnTo>
                  <a:pt x="1007" y="25"/>
                </a:lnTo>
                <a:lnTo>
                  <a:pt x="1007" y="20"/>
                </a:lnTo>
                <a:lnTo>
                  <a:pt x="1006" y="14"/>
                </a:lnTo>
                <a:lnTo>
                  <a:pt x="998" y="7"/>
                </a:lnTo>
                <a:lnTo>
                  <a:pt x="989" y="1"/>
                </a:lnTo>
                <a:lnTo>
                  <a:pt x="984" y="0"/>
                </a:lnTo>
                <a:lnTo>
                  <a:pt x="978" y="0"/>
                </a:lnTo>
                <a:lnTo>
                  <a:pt x="978" y="0"/>
                </a:lnTo>
                <a:close/>
                <a:moveTo>
                  <a:pt x="93" y="162"/>
                </a:moveTo>
                <a:lnTo>
                  <a:pt x="93" y="162"/>
                </a:lnTo>
                <a:lnTo>
                  <a:pt x="86" y="162"/>
                </a:lnTo>
                <a:lnTo>
                  <a:pt x="80" y="160"/>
                </a:lnTo>
                <a:lnTo>
                  <a:pt x="75" y="157"/>
                </a:lnTo>
                <a:lnTo>
                  <a:pt x="69" y="153"/>
                </a:lnTo>
                <a:lnTo>
                  <a:pt x="66" y="148"/>
                </a:lnTo>
                <a:lnTo>
                  <a:pt x="62" y="142"/>
                </a:lnTo>
                <a:lnTo>
                  <a:pt x="60" y="137"/>
                </a:lnTo>
                <a:lnTo>
                  <a:pt x="58" y="129"/>
                </a:lnTo>
                <a:lnTo>
                  <a:pt x="58" y="129"/>
                </a:lnTo>
                <a:lnTo>
                  <a:pt x="60" y="122"/>
                </a:lnTo>
                <a:lnTo>
                  <a:pt x="62" y="117"/>
                </a:lnTo>
                <a:lnTo>
                  <a:pt x="66" y="111"/>
                </a:lnTo>
                <a:lnTo>
                  <a:pt x="69" y="106"/>
                </a:lnTo>
                <a:lnTo>
                  <a:pt x="75" y="102"/>
                </a:lnTo>
                <a:lnTo>
                  <a:pt x="80" y="98"/>
                </a:lnTo>
                <a:lnTo>
                  <a:pt x="86" y="96"/>
                </a:lnTo>
                <a:lnTo>
                  <a:pt x="93" y="96"/>
                </a:lnTo>
                <a:lnTo>
                  <a:pt x="93" y="96"/>
                </a:lnTo>
                <a:lnTo>
                  <a:pt x="100" y="96"/>
                </a:lnTo>
                <a:lnTo>
                  <a:pt x="106" y="98"/>
                </a:lnTo>
                <a:lnTo>
                  <a:pt x="111" y="102"/>
                </a:lnTo>
                <a:lnTo>
                  <a:pt x="117" y="106"/>
                </a:lnTo>
                <a:lnTo>
                  <a:pt x="122" y="111"/>
                </a:lnTo>
                <a:lnTo>
                  <a:pt x="124" y="117"/>
                </a:lnTo>
                <a:lnTo>
                  <a:pt x="126" y="122"/>
                </a:lnTo>
                <a:lnTo>
                  <a:pt x="128" y="129"/>
                </a:lnTo>
                <a:lnTo>
                  <a:pt x="128" y="129"/>
                </a:lnTo>
                <a:lnTo>
                  <a:pt x="126" y="137"/>
                </a:lnTo>
                <a:lnTo>
                  <a:pt x="124" y="142"/>
                </a:lnTo>
                <a:lnTo>
                  <a:pt x="122" y="148"/>
                </a:lnTo>
                <a:lnTo>
                  <a:pt x="117" y="153"/>
                </a:lnTo>
                <a:lnTo>
                  <a:pt x="111" y="157"/>
                </a:lnTo>
                <a:lnTo>
                  <a:pt x="106" y="160"/>
                </a:lnTo>
                <a:lnTo>
                  <a:pt x="100" y="162"/>
                </a:lnTo>
                <a:lnTo>
                  <a:pt x="93" y="162"/>
                </a:lnTo>
                <a:lnTo>
                  <a:pt x="93" y="162"/>
                </a:lnTo>
                <a:close/>
                <a:moveTo>
                  <a:pt x="329" y="215"/>
                </a:moveTo>
                <a:lnTo>
                  <a:pt x="265" y="215"/>
                </a:lnTo>
                <a:lnTo>
                  <a:pt x="265" y="215"/>
                </a:lnTo>
                <a:lnTo>
                  <a:pt x="263" y="214"/>
                </a:lnTo>
                <a:lnTo>
                  <a:pt x="261" y="212"/>
                </a:lnTo>
                <a:lnTo>
                  <a:pt x="259" y="208"/>
                </a:lnTo>
                <a:lnTo>
                  <a:pt x="259" y="208"/>
                </a:lnTo>
                <a:lnTo>
                  <a:pt x="261" y="203"/>
                </a:lnTo>
                <a:lnTo>
                  <a:pt x="263" y="201"/>
                </a:lnTo>
                <a:lnTo>
                  <a:pt x="265" y="201"/>
                </a:lnTo>
                <a:lnTo>
                  <a:pt x="329" y="201"/>
                </a:lnTo>
                <a:lnTo>
                  <a:pt x="329" y="201"/>
                </a:lnTo>
                <a:lnTo>
                  <a:pt x="333" y="201"/>
                </a:lnTo>
                <a:lnTo>
                  <a:pt x="334" y="203"/>
                </a:lnTo>
                <a:lnTo>
                  <a:pt x="336" y="208"/>
                </a:lnTo>
                <a:lnTo>
                  <a:pt x="336" y="208"/>
                </a:lnTo>
                <a:lnTo>
                  <a:pt x="334" y="212"/>
                </a:lnTo>
                <a:lnTo>
                  <a:pt x="333" y="214"/>
                </a:lnTo>
                <a:lnTo>
                  <a:pt x="329" y="215"/>
                </a:lnTo>
                <a:lnTo>
                  <a:pt x="329" y="215"/>
                </a:lnTo>
                <a:close/>
                <a:moveTo>
                  <a:pt x="494" y="215"/>
                </a:moveTo>
                <a:lnTo>
                  <a:pt x="430" y="215"/>
                </a:lnTo>
                <a:lnTo>
                  <a:pt x="430" y="215"/>
                </a:lnTo>
                <a:lnTo>
                  <a:pt x="428" y="214"/>
                </a:lnTo>
                <a:lnTo>
                  <a:pt x="424" y="212"/>
                </a:lnTo>
                <a:lnTo>
                  <a:pt x="422" y="208"/>
                </a:lnTo>
                <a:lnTo>
                  <a:pt x="422" y="208"/>
                </a:lnTo>
                <a:lnTo>
                  <a:pt x="424" y="203"/>
                </a:lnTo>
                <a:lnTo>
                  <a:pt x="428" y="201"/>
                </a:lnTo>
                <a:lnTo>
                  <a:pt x="430" y="201"/>
                </a:lnTo>
                <a:lnTo>
                  <a:pt x="494" y="201"/>
                </a:lnTo>
                <a:lnTo>
                  <a:pt x="494" y="201"/>
                </a:lnTo>
                <a:lnTo>
                  <a:pt x="497" y="201"/>
                </a:lnTo>
                <a:lnTo>
                  <a:pt x="499" y="203"/>
                </a:lnTo>
                <a:lnTo>
                  <a:pt x="501" y="208"/>
                </a:lnTo>
                <a:lnTo>
                  <a:pt x="501" y="208"/>
                </a:lnTo>
                <a:lnTo>
                  <a:pt x="499" y="212"/>
                </a:lnTo>
                <a:lnTo>
                  <a:pt x="497" y="214"/>
                </a:lnTo>
                <a:lnTo>
                  <a:pt x="494" y="215"/>
                </a:lnTo>
                <a:lnTo>
                  <a:pt x="494" y="215"/>
                </a:lnTo>
                <a:close/>
                <a:moveTo>
                  <a:pt x="654" y="215"/>
                </a:moveTo>
                <a:lnTo>
                  <a:pt x="590" y="215"/>
                </a:lnTo>
                <a:lnTo>
                  <a:pt x="590" y="215"/>
                </a:lnTo>
                <a:lnTo>
                  <a:pt x="589" y="214"/>
                </a:lnTo>
                <a:lnTo>
                  <a:pt x="585" y="212"/>
                </a:lnTo>
                <a:lnTo>
                  <a:pt x="583" y="208"/>
                </a:lnTo>
                <a:lnTo>
                  <a:pt x="583" y="208"/>
                </a:lnTo>
                <a:lnTo>
                  <a:pt x="585" y="203"/>
                </a:lnTo>
                <a:lnTo>
                  <a:pt x="589" y="201"/>
                </a:lnTo>
                <a:lnTo>
                  <a:pt x="590" y="201"/>
                </a:lnTo>
                <a:lnTo>
                  <a:pt x="654" y="201"/>
                </a:lnTo>
                <a:lnTo>
                  <a:pt x="654" y="201"/>
                </a:lnTo>
                <a:lnTo>
                  <a:pt x="656" y="201"/>
                </a:lnTo>
                <a:lnTo>
                  <a:pt x="660" y="203"/>
                </a:lnTo>
                <a:lnTo>
                  <a:pt x="662" y="208"/>
                </a:lnTo>
                <a:lnTo>
                  <a:pt x="662" y="208"/>
                </a:lnTo>
                <a:lnTo>
                  <a:pt x="660" y="212"/>
                </a:lnTo>
                <a:lnTo>
                  <a:pt x="656" y="214"/>
                </a:lnTo>
                <a:lnTo>
                  <a:pt x="654" y="215"/>
                </a:lnTo>
                <a:lnTo>
                  <a:pt x="654" y="215"/>
                </a:lnTo>
                <a:close/>
                <a:moveTo>
                  <a:pt x="713" y="69"/>
                </a:moveTo>
                <a:lnTo>
                  <a:pt x="713" y="182"/>
                </a:lnTo>
                <a:lnTo>
                  <a:pt x="201" y="182"/>
                </a:lnTo>
                <a:lnTo>
                  <a:pt x="201" y="182"/>
                </a:lnTo>
                <a:lnTo>
                  <a:pt x="201" y="67"/>
                </a:lnTo>
                <a:lnTo>
                  <a:pt x="715" y="69"/>
                </a:lnTo>
                <a:lnTo>
                  <a:pt x="713" y="69"/>
                </a:lnTo>
                <a:close/>
                <a:moveTo>
                  <a:pt x="934" y="215"/>
                </a:moveTo>
                <a:lnTo>
                  <a:pt x="826" y="215"/>
                </a:lnTo>
                <a:lnTo>
                  <a:pt x="826" y="215"/>
                </a:lnTo>
                <a:lnTo>
                  <a:pt x="823" y="214"/>
                </a:lnTo>
                <a:lnTo>
                  <a:pt x="821" y="212"/>
                </a:lnTo>
                <a:lnTo>
                  <a:pt x="819" y="208"/>
                </a:lnTo>
                <a:lnTo>
                  <a:pt x="819" y="208"/>
                </a:lnTo>
                <a:lnTo>
                  <a:pt x="821" y="203"/>
                </a:lnTo>
                <a:lnTo>
                  <a:pt x="823" y="201"/>
                </a:lnTo>
                <a:lnTo>
                  <a:pt x="826" y="201"/>
                </a:lnTo>
                <a:lnTo>
                  <a:pt x="934" y="201"/>
                </a:lnTo>
                <a:lnTo>
                  <a:pt x="934" y="201"/>
                </a:lnTo>
                <a:lnTo>
                  <a:pt x="936" y="201"/>
                </a:lnTo>
                <a:lnTo>
                  <a:pt x="938" y="203"/>
                </a:lnTo>
                <a:lnTo>
                  <a:pt x="940" y="208"/>
                </a:lnTo>
                <a:lnTo>
                  <a:pt x="940" y="208"/>
                </a:lnTo>
                <a:lnTo>
                  <a:pt x="938" y="212"/>
                </a:lnTo>
                <a:lnTo>
                  <a:pt x="936" y="214"/>
                </a:lnTo>
                <a:lnTo>
                  <a:pt x="934" y="215"/>
                </a:lnTo>
                <a:lnTo>
                  <a:pt x="934" y="215"/>
                </a:lnTo>
                <a:close/>
                <a:moveTo>
                  <a:pt x="982" y="54"/>
                </a:moveTo>
                <a:lnTo>
                  <a:pt x="982" y="182"/>
                </a:lnTo>
                <a:lnTo>
                  <a:pt x="779" y="182"/>
                </a:lnTo>
                <a:lnTo>
                  <a:pt x="779" y="182"/>
                </a:lnTo>
                <a:lnTo>
                  <a:pt x="779" y="54"/>
                </a:lnTo>
                <a:lnTo>
                  <a:pt x="982" y="54"/>
                </a:lnTo>
                <a:lnTo>
                  <a:pt x="976" y="60"/>
                </a:lnTo>
                <a:lnTo>
                  <a:pt x="976" y="60"/>
                </a:lnTo>
                <a:lnTo>
                  <a:pt x="982" y="54"/>
                </a:lnTo>
                <a:close/>
                <a:moveTo>
                  <a:pt x="702" y="175"/>
                </a:moveTo>
                <a:lnTo>
                  <a:pt x="702" y="76"/>
                </a:lnTo>
                <a:lnTo>
                  <a:pt x="214" y="76"/>
                </a:lnTo>
                <a:lnTo>
                  <a:pt x="214" y="175"/>
                </a:lnTo>
                <a:lnTo>
                  <a:pt x="214" y="175"/>
                </a:lnTo>
                <a:lnTo>
                  <a:pt x="702" y="175"/>
                </a:lnTo>
                <a:close/>
                <a:moveTo>
                  <a:pt x="570" y="104"/>
                </a:moveTo>
                <a:lnTo>
                  <a:pt x="600" y="104"/>
                </a:lnTo>
                <a:lnTo>
                  <a:pt x="600" y="100"/>
                </a:lnTo>
                <a:lnTo>
                  <a:pt x="600" y="100"/>
                </a:lnTo>
                <a:lnTo>
                  <a:pt x="600" y="95"/>
                </a:lnTo>
                <a:lnTo>
                  <a:pt x="603" y="91"/>
                </a:lnTo>
                <a:lnTo>
                  <a:pt x="607" y="89"/>
                </a:lnTo>
                <a:lnTo>
                  <a:pt x="611" y="87"/>
                </a:lnTo>
                <a:lnTo>
                  <a:pt x="634" y="87"/>
                </a:lnTo>
                <a:lnTo>
                  <a:pt x="634" y="87"/>
                </a:lnTo>
                <a:lnTo>
                  <a:pt x="640" y="89"/>
                </a:lnTo>
                <a:lnTo>
                  <a:pt x="644" y="91"/>
                </a:lnTo>
                <a:lnTo>
                  <a:pt x="645" y="95"/>
                </a:lnTo>
                <a:lnTo>
                  <a:pt x="647" y="100"/>
                </a:lnTo>
                <a:lnTo>
                  <a:pt x="647" y="104"/>
                </a:lnTo>
                <a:lnTo>
                  <a:pt x="676" y="104"/>
                </a:lnTo>
                <a:lnTo>
                  <a:pt x="676" y="159"/>
                </a:lnTo>
                <a:lnTo>
                  <a:pt x="570" y="159"/>
                </a:lnTo>
                <a:lnTo>
                  <a:pt x="570" y="104"/>
                </a:lnTo>
                <a:close/>
                <a:moveTo>
                  <a:pt x="409" y="104"/>
                </a:moveTo>
                <a:lnTo>
                  <a:pt x="439" y="104"/>
                </a:lnTo>
                <a:lnTo>
                  <a:pt x="439" y="100"/>
                </a:lnTo>
                <a:lnTo>
                  <a:pt x="439" y="100"/>
                </a:lnTo>
                <a:lnTo>
                  <a:pt x="440" y="95"/>
                </a:lnTo>
                <a:lnTo>
                  <a:pt x="442" y="91"/>
                </a:lnTo>
                <a:lnTo>
                  <a:pt x="446" y="89"/>
                </a:lnTo>
                <a:lnTo>
                  <a:pt x="451" y="87"/>
                </a:lnTo>
                <a:lnTo>
                  <a:pt x="473" y="87"/>
                </a:lnTo>
                <a:lnTo>
                  <a:pt x="473" y="87"/>
                </a:lnTo>
                <a:lnTo>
                  <a:pt x="479" y="89"/>
                </a:lnTo>
                <a:lnTo>
                  <a:pt x="483" y="91"/>
                </a:lnTo>
                <a:lnTo>
                  <a:pt x="484" y="95"/>
                </a:lnTo>
                <a:lnTo>
                  <a:pt x="486" y="100"/>
                </a:lnTo>
                <a:lnTo>
                  <a:pt x="486" y="104"/>
                </a:lnTo>
                <a:lnTo>
                  <a:pt x="515" y="104"/>
                </a:lnTo>
                <a:lnTo>
                  <a:pt x="515" y="159"/>
                </a:lnTo>
                <a:lnTo>
                  <a:pt x="409" y="159"/>
                </a:lnTo>
                <a:lnTo>
                  <a:pt x="409" y="104"/>
                </a:lnTo>
                <a:close/>
                <a:moveTo>
                  <a:pt x="248" y="104"/>
                </a:moveTo>
                <a:lnTo>
                  <a:pt x="278" y="104"/>
                </a:lnTo>
                <a:lnTo>
                  <a:pt x="278" y="100"/>
                </a:lnTo>
                <a:lnTo>
                  <a:pt x="278" y="100"/>
                </a:lnTo>
                <a:lnTo>
                  <a:pt x="280" y="95"/>
                </a:lnTo>
                <a:lnTo>
                  <a:pt x="281" y="91"/>
                </a:lnTo>
                <a:lnTo>
                  <a:pt x="287" y="89"/>
                </a:lnTo>
                <a:lnTo>
                  <a:pt x="291" y="87"/>
                </a:lnTo>
                <a:lnTo>
                  <a:pt x="314" y="87"/>
                </a:lnTo>
                <a:lnTo>
                  <a:pt x="314" y="87"/>
                </a:lnTo>
                <a:lnTo>
                  <a:pt x="318" y="89"/>
                </a:lnTo>
                <a:lnTo>
                  <a:pt x="322" y="91"/>
                </a:lnTo>
                <a:lnTo>
                  <a:pt x="325" y="95"/>
                </a:lnTo>
                <a:lnTo>
                  <a:pt x="325" y="100"/>
                </a:lnTo>
                <a:lnTo>
                  <a:pt x="325" y="104"/>
                </a:lnTo>
                <a:lnTo>
                  <a:pt x="355" y="104"/>
                </a:lnTo>
                <a:lnTo>
                  <a:pt x="355" y="159"/>
                </a:lnTo>
                <a:lnTo>
                  <a:pt x="248" y="159"/>
                </a:lnTo>
                <a:lnTo>
                  <a:pt x="248" y="104"/>
                </a:lnTo>
                <a:close/>
                <a:moveTo>
                  <a:pt x="786" y="173"/>
                </a:moveTo>
                <a:lnTo>
                  <a:pt x="973" y="173"/>
                </a:lnTo>
                <a:lnTo>
                  <a:pt x="973" y="62"/>
                </a:lnTo>
                <a:lnTo>
                  <a:pt x="786" y="62"/>
                </a:lnTo>
                <a:lnTo>
                  <a:pt x="786" y="173"/>
                </a:lnTo>
                <a:close/>
                <a:moveTo>
                  <a:pt x="819" y="98"/>
                </a:moveTo>
                <a:lnTo>
                  <a:pt x="852" y="98"/>
                </a:lnTo>
                <a:lnTo>
                  <a:pt x="852" y="93"/>
                </a:lnTo>
                <a:lnTo>
                  <a:pt x="852" y="93"/>
                </a:lnTo>
                <a:lnTo>
                  <a:pt x="854" y="87"/>
                </a:lnTo>
                <a:lnTo>
                  <a:pt x="858" y="84"/>
                </a:lnTo>
                <a:lnTo>
                  <a:pt x="861" y="80"/>
                </a:lnTo>
                <a:lnTo>
                  <a:pt x="867" y="80"/>
                </a:lnTo>
                <a:lnTo>
                  <a:pt x="892" y="80"/>
                </a:lnTo>
                <a:lnTo>
                  <a:pt x="892" y="80"/>
                </a:lnTo>
                <a:lnTo>
                  <a:pt x="898" y="80"/>
                </a:lnTo>
                <a:lnTo>
                  <a:pt x="901" y="84"/>
                </a:lnTo>
                <a:lnTo>
                  <a:pt x="905" y="87"/>
                </a:lnTo>
                <a:lnTo>
                  <a:pt x="905" y="93"/>
                </a:lnTo>
                <a:lnTo>
                  <a:pt x="905" y="98"/>
                </a:lnTo>
                <a:lnTo>
                  <a:pt x="940" y="98"/>
                </a:lnTo>
                <a:lnTo>
                  <a:pt x="940" y="160"/>
                </a:lnTo>
                <a:lnTo>
                  <a:pt x="819" y="160"/>
                </a:lnTo>
                <a:lnTo>
                  <a:pt x="819" y="98"/>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cxnSp>
        <p:nvCxnSpPr>
          <p:cNvPr id="73" name="直接连接符 72">
            <a:extLst>
              <a:ext uri="{FF2B5EF4-FFF2-40B4-BE49-F238E27FC236}">
                <a16:creationId xmlns:a16="http://schemas.microsoft.com/office/drawing/2014/main" id="{44254E82-6E53-4071-BC4C-149D052BF119}"/>
              </a:ext>
            </a:extLst>
          </p:cNvPr>
          <p:cNvCxnSpPr/>
          <p:nvPr/>
        </p:nvCxnSpPr>
        <p:spPr bwMode="gray">
          <a:xfrm>
            <a:off x="2808099" y="5523926"/>
            <a:ext cx="176884"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A63CD788-374B-43D1-8DC1-CDECA996AD48}"/>
              </a:ext>
            </a:extLst>
          </p:cNvPr>
          <p:cNvSpPr/>
          <p:nvPr/>
        </p:nvSpPr>
        <p:spPr bwMode="gray">
          <a:xfrm flipH="1">
            <a:off x="3098545" y="4466979"/>
            <a:ext cx="660470" cy="338554"/>
          </a:xfrm>
          <a:prstGeom prst="rect">
            <a:avLst/>
          </a:prstGeom>
        </p:spPr>
        <p:txBody>
          <a:bodyPr wrap="square">
            <a:spAutoFit/>
          </a:bodyPr>
          <a:lstStyle/>
          <a:p>
            <a:pPr algn="ctr" defTabSz="914373"/>
            <a:r>
              <a:rPr lang="en-US" altLang="zh-CN" sz="1600" kern="0" dirty="0">
                <a:cs typeface="+mn-ea"/>
                <a:sym typeface="+mn-lt"/>
              </a:rPr>
              <a:t>CPE</a:t>
            </a:r>
          </a:p>
        </p:txBody>
      </p:sp>
      <p:grpSp>
        <p:nvGrpSpPr>
          <p:cNvPr id="75" name="组合 167">
            <a:extLst>
              <a:ext uri="{FF2B5EF4-FFF2-40B4-BE49-F238E27FC236}">
                <a16:creationId xmlns:a16="http://schemas.microsoft.com/office/drawing/2014/main" id="{3AB43C9D-B1C8-4C5E-B0B5-FDDA6F119773}"/>
              </a:ext>
            </a:extLst>
          </p:cNvPr>
          <p:cNvGrpSpPr/>
          <p:nvPr/>
        </p:nvGrpSpPr>
        <p:grpSpPr bwMode="gray">
          <a:xfrm>
            <a:off x="3478702" y="4196243"/>
            <a:ext cx="275353" cy="263444"/>
            <a:chOff x="3833193" y="3926598"/>
            <a:chExt cx="611915" cy="593154"/>
          </a:xfrm>
        </p:grpSpPr>
        <p:sp>
          <p:nvSpPr>
            <p:cNvPr id="76" name="椭圆 75">
              <a:extLst>
                <a:ext uri="{FF2B5EF4-FFF2-40B4-BE49-F238E27FC236}">
                  <a16:creationId xmlns:a16="http://schemas.microsoft.com/office/drawing/2014/main" id="{1BE1160C-B4FA-4AFA-AE4D-C9E421CE0C02}"/>
                </a:ext>
              </a:extLst>
            </p:cNvPr>
            <p:cNvSpPr/>
            <p:nvPr/>
          </p:nvSpPr>
          <p:spPr bwMode="gray">
            <a:xfrm>
              <a:off x="3833193" y="3926598"/>
              <a:ext cx="593154" cy="593154"/>
            </a:xfrm>
            <a:prstGeom prst="ellipse">
              <a:avLst/>
            </a:prstGeom>
            <a:solidFill>
              <a:schemeClr val="bg1"/>
            </a:solidFill>
            <a:ln>
              <a:noFill/>
            </a:ln>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buClr>
                  <a:srgbClr val="CC9900"/>
                </a:buClr>
              </a:pPr>
              <a:endParaRPr lang="zh-CN" altLang="en-US" sz="1600" dirty="0">
                <a:cs typeface="+mn-ea"/>
                <a:sym typeface="+mn-lt"/>
              </a:endParaRPr>
            </a:p>
          </p:txBody>
        </p:sp>
        <p:sp>
          <p:nvSpPr>
            <p:cNvPr id="77" name="Freeform 26">
              <a:extLst>
                <a:ext uri="{FF2B5EF4-FFF2-40B4-BE49-F238E27FC236}">
                  <a16:creationId xmlns:a16="http://schemas.microsoft.com/office/drawing/2014/main" id="{FCCCC3BC-9B50-496E-B3F2-DEB164E7B7ED}"/>
                </a:ext>
              </a:extLst>
            </p:cNvPr>
            <p:cNvSpPr>
              <a:spLocks noEditPoints="1"/>
            </p:cNvSpPr>
            <p:nvPr/>
          </p:nvSpPr>
          <p:spPr bwMode="gray">
            <a:xfrm>
              <a:off x="3924864" y="3975079"/>
              <a:ext cx="520244" cy="496184"/>
            </a:xfrm>
            <a:custGeom>
              <a:avLst/>
              <a:gdLst/>
              <a:ahLst/>
              <a:cxnLst>
                <a:cxn ang="0">
                  <a:pos x="140" y="0"/>
                </a:cxn>
                <a:cxn ang="0">
                  <a:pos x="0" y="140"/>
                </a:cxn>
                <a:cxn ang="0">
                  <a:pos x="140" y="280"/>
                </a:cxn>
                <a:cxn ang="0">
                  <a:pos x="280" y="140"/>
                </a:cxn>
                <a:cxn ang="0">
                  <a:pos x="140" y="0"/>
                </a:cxn>
                <a:cxn ang="0">
                  <a:pos x="71" y="152"/>
                </a:cxn>
                <a:cxn ang="0">
                  <a:pos x="71" y="163"/>
                </a:cxn>
                <a:cxn ang="0">
                  <a:pos x="31" y="140"/>
                </a:cxn>
                <a:cxn ang="0">
                  <a:pos x="71" y="114"/>
                </a:cxn>
                <a:cxn ang="0">
                  <a:pos x="71" y="126"/>
                </a:cxn>
                <a:cxn ang="0">
                  <a:pos x="102" y="126"/>
                </a:cxn>
                <a:cxn ang="0">
                  <a:pos x="102" y="152"/>
                </a:cxn>
                <a:cxn ang="0">
                  <a:pos x="71" y="152"/>
                </a:cxn>
                <a:cxn ang="0">
                  <a:pos x="153" y="244"/>
                </a:cxn>
                <a:cxn ang="0">
                  <a:pos x="128" y="244"/>
                </a:cxn>
                <a:cxn ang="0">
                  <a:pos x="128" y="212"/>
                </a:cxn>
                <a:cxn ang="0">
                  <a:pos x="116" y="212"/>
                </a:cxn>
                <a:cxn ang="0">
                  <a:pos x="139" y="173"/>
                </a:cxn>
                <a:cxn ang="0">
                  <a:pos x="165" y="213"/>
                </a:cxn>
                <a:cxn ang="0">
                  <a:pos x="153" y="213"/>
                </a:cxn>
                <a:cxn ang="0">
                  <a:pos x="153" y="244"/>
                </a:cxn>
                <a:cxn ang="0">
                  <a:pos x="139" y="102"/>
                </a:cxn>
                <a:cxn ang="0">
                  <a:pos x="116" y="63"/>
                </a:cxn>
                <a:cxn ang="0">
                  <a:pos x="128" y="63"/>
                </a:cxn>
                <a:cxn ang="0">
                  <a:pos x="128" y="31"/>
                </a:cxn>
                <a:cxn ang="0">
                  <a:pos x="153" y="32"/>
                </a:cxn>
                <a:cxn ang="0">
                  <a:pos x="153" y="63"/>
                </a:cxn>
                <a:cxn ang="0">
                  <a:pos x="165" y="63"/>
                </a:cxn>
                <a:cxn ang="0">
                  <a:pos x="139" y="102"/>
                </a:cxn>
                <a:cxn ang="0">
                  <a:pos x="208" y="163"/>
                </a:cxn>
                <a:cxn ang="0">
                  <a:pos x="208" y="152"/>
                </a:cxn>
                <a:cxn ang="0">
                  <a:pos x="177" y="152"/>
                </a:cxn>
                <a:cxn ang="0">
                  <a:pos x="177" y="126"/>
                </a:cxn>
                <a:cxn ang="0">
                  <a:pos x="208" y="126"/>
                </a:cxn>
                <a:cxn ang="0">
                  <a:pos x="208" y="114"/>
                </a:cxn>
                <a:cxn ang="0">
                  <a:pos x="248" y="140"/>
                </a:cxn>
                <a:cxn ang="0">
                  <a:pos x="208" y="163"/>
                </a:cxn>
              </a:cxnLst>
              <a:rect l="0" t="0" r="r" b="b"/>
              <a:pathLst>
                <a:path w="280" h="280">
                  <a:moveTo>
                    <a:pt x="140" y="0"/>
                  </a:moveTo>
                  <a:cubicBezTo>
                    <a:pt x="63" y="0"/>
                    <a:pt x="0" y="63"/>
                    <a:pt x="0" y="140"/>
                  </a:cubicBezTo>
                  <a:cubicBezTo>
                    <a:pt x="0" y="217"/>
                    <a:pt x="63" y="280"/>
                    <a:pt x="140" y="280"/>
                  </a:cubicBezTo>
                  <a:cubicBezTo>
                    <a:pt x="217" y="280"/>
                    <a:pt x="280" y="217"/>
                    <a:pt x="280" y="140"/>
                  </a:cubicBezTo>
                  <a:cubicBezTo>
                    <a:pt x="280" y="63"/>
                    <a:pt x="217" y="0"/>
                    <a:pt x="140" y="0"/>
                  </a:cubicBezTo>
                  <a:close/>
                  <a:moveTo>
                    <a:pt x="71" y="152"/>
                  </a:moveTo>
                  <a:cubicBezTo>
                    <a:pt x="71" y="163"/>
                    <a:pt x="71" y="163"/>
                    <a:pt x="71" y="163"/>
                  </a:cubicBezTo>
                  <a:cubicBezTo>
                    <a:pt x="31" y="140"/>
                    <a:pt x="31" y="140"/>
                    <a:pt x="31" y="140"/>
                  </a:cubicBezTo>
                  <a:cubicBezTo>
                    <a:pt x="71" y="114"/>
                    <a:pt x="71" y="114"/>
                    <a:pt x="71" y="114"/>
                  </a:cubicBezTo>
                  <a:cubicBezTo>
                    <a:pt x="71" y="126"/>
                    <a:pt x="71" y="126"/>
                    <a:pt x="71" y="126"/>
                  </a:cubicBezTo>
                  <a:cubicBezTo>
                    <a:pt x="102" y="126"/>
                    <a:pt x="102" y="126"/>
                    <a:pt x="102" y="126"/>
                  </a:cubicBezTo>
                  <a:cubicBezTo>
                    <a:pt x="102" y="152"/>
                    <a:pt x="102" y="152"/>
                    <a:pt x="102" y="152"/>
                  </a:cubicBezTo>
                  <a:lnTo>
                    <a:pt x="71" y="152"/>
                  </a:lnTo>
                  <a:close/>
                  <a:moveTo>
                    <a:pt x="153" y="244"/>
                  </a:moveTo>
                  <a:cubicBezTo>
                    <a:pt x="128" y="244"/>
                    <a:pt x="128" y="244"/>
                    <a:pt x="128" y="244"/>
                  </a:cubicBezTo>
                  <a:cubicBezTo>
                    <a:pt x="128" y="212"/>
                    <a:pt x="128" y="212"/>
                    <a:pt x="128" y="212"/>
                  </a:cubicBezTo>
                  <a:cubicBezTo>
                    <a:pt x="116" y="212"/>
                    <a:pt x="116" y="212"/>
                    <a:pt x="116" y="212"/>
                  </a:cubicBezTo>
                  <a:cubicBezTo>
                    <a:pt x="139" y="173"/>
                    <a:pt x="139" y="173"/>
                    <a:pt x="139" y="173"/>
                  </a:cubicBezTo>
                  <a:cubicBezTo>
                    <a:pt x="165" y="213"/>
                    <a:pt x="165" y="213"/>
                    <a:pt x="165" y="213"/>
                  </a:cubicBezTo>
                  <a:cubicBezTo>
                    <a:pt x="153" y="213"/>
                    <a:pt x="153" y="213"/>
                    <a:pt x="153" y="213"/>
                  </a:cubicBezTo>
                  <a:lnTo>
                    <a:pt x="153" y="244"/>
                  </a:lnTo>
                  <a:close/>
                  <a:moveTo>
                    <a:pt x="139" y="102"/>
                  </a:moveTo>
                  <a:cubicBezTo>
                    <a:pt x="116" y="63"/>
                    <a:pt x="116" y="63"/>
                    <a:pt x="116" y="63"/>
                  </a:cubicBezTo>
                  <a:cubicBezTo>
                    <a:pt x="128" y="63"/>
                    <a:pt x="128" y="63"/>
                    <a:pt x="128" y="63"/>
                  </a:cubicBezTo>
                  <a:cubicBezTo>
                    <a:pt x="128" y="31"/>
                    <a:pt x="128" y="31"/>
                    <a:pt x="128" y="31"/>
                  </a:cubicBezTo>
                  <a:cubicBezTo>
                    <a:pt x="153" y="32"/>
                    <a:pt x="153" y="32"/>
                    <a:pt x="153" y="32"/>
                  </a:cubicBezTo>
                  <a:cubicBezTo>
                    <a:pt x="153" y="63"/>
                    <a:pt x="153" y="63"/>
                    <a:pt x="153" y="63"/>
                  </a:cubicBezTo>
                  <a:cubicBezTo>
                    <a:pt x="165" y="63"/>
                    <a:pt x="165" y="63"/>
                    <a:pt x="165" y="63"/>
                  </a:cubicBezTo>
                  <a:lnTo>
                    <a:pt x="139" y="102"/>
                  </a:lnTo>
                  <a:close/>
                  <a:moveTo>
                    <a:pt x="208" y="163"/>
                  </a:moveTo>
                  <a:cubicBezTo>
                    <a:pt x="208" y="152"/>
                    <a:pt x="208" y="152"/>
                    <a:pt x="208" y="152"/>
                  </a:cubicBezTo>
                  <a:cubicBezTo>
                    <a:pt x="177" y="152"/>
                    <a:pt x="177" y="152"/>
                    <a:pt x="177" y="152"/>
                  </a:cubicBezTo>
                  <a:cubicBezTo>
                    <a:pt x="177" y="126"/>
                    <a:pt x="177" y="126"/>
                    <a:pt x="177" y="126"/>
                  </a:cubicBezTo>
                  <a:cubicBezTo>
                    <a:pt x="208" y="126"/>
                    <a:pt x="208" y="126"/>
                    <a:pt x="208" y="126"/>
                  </a:cubicBezTo>
                  <a:cubicBezTo>
                    <a:pt x="208" y="114"/>
                    <a:pt x="208" y="114"/>
                    <a:pt x="208" y="114"/>
                  </a:cubicBezTo>
                  <a:cubicBezTo>
                    <a:pt x="248" y="140"/>
                    <a:pt x="248" y="140"/>
                    <a:pt x="248" y="140"/>
                  </a:cubicBezTo>
                  <a:lnTo>
                    <a:pt x="208" y="163"/>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3840" tIns="121920" rIns="243840" bIns="121920" numCol="1" spcCol="0" rtlCol="0" fromWordArt="0" anchor="ctr" anchorCtr="0" forceAA="0" compatLnSpc="1">
              <a:prstTxWarp prst="textNoShape">
                <a:avLst/>
              </a:prstTxWarp>
              <a:noAutofit/>
            </a:bodyPr>
            <a:lstStyle/>
            <a:p>
              <a:pPr algn="ctr" defTabSz="1219088"/>
              <a:endParaRPr lang="zh-CN" altLang="en-US" sz="1600" noProof="1">
                <a:solidFill>
                  <a:schemeClr val="tx1"/>
                </a:solidFill>
                <a:cs typeface="+mn-ea"/>
                <a:sym typeface="+mn-lt"/>
              </a:endParaRPr>
            </a:p>
          </p:txBody>
        </p:sp>
      </p:grpSp>
      <p:sp>
        <p:nvSpPr>
          <p:cNvPr id="78" name="矩形 77">
            <a:extLst>
              <a:ext uri="{FF2B5EF4-FFF2-40B4-BE49-F238E27FC236}">
                <a16:creationId xmlns:a16="http://schemas.microsoft.com/office/drawing/2014/main" id="{B964546D-2C69-43DB-A2D6-4A00EEA2B4AE}"/>
              </a:ext>
            </a:extLst>
          </p:cNvPr>
          <p:cNvSpPr/>
          <p:nvPr/>
        </p:nvSpPr>
        <p:spPr bwMode="gray">
          <a:xfrm flipH="1">
            <a:off x="3077078" y="5738359"/>
            <a:ext cx="660470" cy="338554"/>
          </a:xfrm>
          <a:prstGeom prst="rect">
            <a:avLst/>
          </a:prstGeom>
        </p:spPr>
        <p:txBody>
          <a:bodyPr wrap="square">
            <a:spAutoFit/>
          </a:bodyPr>
          <a:lstStyle/>
          <a:p>
            <a:pPr algn="ctr" defTabSz="914373"/>
            <a:r>
              <a:rPr lang="en-US" altLang="zh-CN" sz="1600" kern="0" dirty="0">
                <a:cs typeface="+mn-ea"/>
                <a:sym typeface="+mn-lt"/>
              </a:rPr>
              <a:t>CPE</a:t>
            </a:r>
          </a:p>
        </p:txBody>
      </p:sp>
      <p:grpSp>
        <p:nvGrpSpPr>
          <p:cNvPr id="79" name="组合 167">
            <a:extLst>
              <a:ext uri="{FF2B5EF4-FFF2-40B4-BE49-F238E27FC236}">
                <a16:creationId xmlns:a16="http://schemas.microsoft.com/office/drawing/2014/main" id="{E8A3684C-E7E0-48DB-9AC4-71287DDA787E}"/>
              </a:ext>
            </a:extLst>
          </p:cNvPr>
          <p:cNvGrpSpPr/>
          <p:nvPr/>
        </p:nvGrpSpPr>
        <p:grpSpPr bwMode="gray">
          <a:xfrm>
            <a:off x="3465404" y="5360532"/>
            <a:ext cx="275353" cy="263444"/>
            <a:chOff x="3833193" y="3926598"/>
            <a:chExt cx="611915" cy="593154"/>
          </a:xfrm>
        </p:grpSpPr>
        <p:sp>
          <p:nvSpPr>
            <p:cNvPr id="80" name="椭圆 79">
              <a:extLst>
                <a:ext uri="{FF2B5EF4-FFF2-40B4-BE49-F238E27FC236}">
                  <a16:creationId xmlns:a16="http://schemas.microsoft.com/office/drawing/2014/main" id="{6C6824F9-828B-452A-905E-88FB8C1879AB}"/>
                </a:ext>
              </a:extLst>
            </p:cNvPr>
            <p:cNvSpPr/>
            <p:nvPr/>
          </p:nvSpPr>
          <p:spPr bwMode="gray">
            <a:xfrm>
              <a:off x="3833193" y="3926598"/>
              <a:ext cx="593154" cy="593154"/>
            </a:xfrm>
            <a:prstGeom prst="ellipse">
              <a:avLst/>
            </a:prstGeom>
            <a:solidFill>
              <a:schemeClr val="bg1"/>
            </a:solidFill>
            <a:ln>
              <a:noFill/>
            </a:ln>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buClr>
                  <a:srgbClr val="CC9900"/>
                </a:buClr>
              </a:pPr>
              <a:endParaRPr lang="zh-CN" altLang="en-US" sz="1600" dirty="0">
                <a:cs typeface="+mn-ea"/>
                <a:sym typeface="+mn-lt"/>
              </a:endParaRPr>
            </a:p>
          </p:txBody>
        </p:sp>
        <p:sp>
          <p:nvSpPr>
            <p:cNvPr id="81" name="Freeform 26">
              <a:extLst>
                <a:ext uri="{FF2B5EF4-FFF2-40B4-BE49-F238E27FC236}">
                  <a16:creationId xmlns:a16="http://schemas.microsoft.com/office/drawing/2014/main" id="{614CFDE9-7AC9-46B4-B06C-248884554C8F}"/>
                </a:ext>
              </a:extLst>
            </p:cNvPr>
            <p:cNvSpPr>
              <a:spLocks noEditPoints="1"/>
            </p:cNvSpPr>
            <p:nvPr/>
          </p:nvSpPr>
          <p:spPr bwMode="gray">
            <a:xfrm>
              <a:off x="3924864" y="3975079"/>
              <a:ext cx="520244" cy="496184"/>
            </a:xfrm>
            <a:custGeom>
              <a:avLst/>
              <a:gdLst/>
              <a:ahLst/>
              <a:cxnLst>
                <a:cxn ang="0">
                  <a:pos x="140" y="0"/>
                </a:cxn>
                <a:cxn ang="0">
                  <a:pos x="0" y="140"/>
                </a:cxn>
                <a:cxn ang="0">
                  <a:pos x="140" y="280"/>
                </a:cxn>
                <a:cxn ang="0">
                  <a:pos x="280" y="140"/>
                </a:cxn>
                <a:cxn ang="0">
                  <a:pos x="140" y="0"/>
                </a:cxn>
                <a:cxn ang="0">
                  <a:pos x="71" y="152"/>
                </a:cxn>
                <a:cxn ang="0">
                  <a:pos x="71" y="163"/>
                </a:cxn>
                <a:cxn ang="0">
                  <a:pos x="31" y="140"/>
                </a:cxn>
                <a:cxn ang="0">
                  <a:pos x="71" y="114"/>
                </a:cxn>
                <a:cxn ang="0">
                  <a:pos x="71" y="126"/>
                </a:cxn>
                <a:cxn ang="0">
                  <a:pos x="102" y="126"/>
                </a:cxn>
                <a:cxn ang="0">
                  <a:pos x="102" y="152"/>
                </a:cxn>
                <a:cxn ang="0">
                  <a:pos x="71" y="152"/>
                </a:cxn>
                <a:cxn ang="0">
                  <a:pos x="153" y="244"/>
                </a:cxn>
                <a:cxn ang="0">
                  <a:pos x="128" y="244"/>
                </a:cxn>
                <a:cxn ang="0">
                  <a:pos x="128" y="212"/>
                </a:cxn>
                <a:cxn ang="0">
                  <a:pos x="116" y="212"/>
                </a:cxn>
                <a:cxn ang="0">
                  <a:pos x="139" y="173"/>
                </a:cxn>
                <a:cxn ang="0">
                  <a:pos x="165" y="213"/>
                </a:cxn>
                <a:cxn ang="0">
                  <a:pos x="153" y="213"/>
                </a:cxn>
                <a:cxn ang="0">
                  <a:pos x="153" y="244"/>
                </a:cxn>
                <a:cxn ang="0">
                  <a:pos x="139" y="102"/>
                </a:cxn>
                <a:cxn ang="0">
                  <a:pos x="116" y="63"/>
                </a:cxn>
                <a:cxn ang="0">
                  <a:pos x="128" y="63"/>
                </a:cxn>
                <a:cxn ang="0">
                  <a:pos x="128" y="31"/>
                </a:cxn>
                <a:cxn ang="0">
                  <a:pos x="153" y="32"/>
                </a:cxn>
                <a:cxn ang="0">
                  <a:pos x="153" y="63"/>
                </a:cxn>
                <a:cxn ang="0">
                  <a:pos x="165" y="63"/>
                </a:cxn>
                <a:cxn ang="0">
                  <a:pos x="139" y="102"/>
                </a:cxn>
                <a:cxn ang="0">
                  <a:pos x="208" y="163"/>
                </a:cxn>
                <a:cxn ang="0">
                  <a:pos x="208" y="152"/>
                </a:cxn>
                <a:cxn ang="0">
                  <a:pos x="177" y="152"/>
                </a:cxn>
                <a:cxn ang="0">
                  <a:pos x="177" y="126"/>
                </a:cxn>
                <a:cxn ang="0">
                  <a:pos x="208" y="126"/>
                </a:cxn>
                <a:cxn ang="0">
                  <a:pos x="208" y="114"/>
                </a:cxn>
                <a:cxn ang="0">
                  <a:pos x="248" y="140"/>
                </a:cxn>
                <a:cxn ang="0">
                  <a:pos x="208" y="163"/>
                </a:cxn>
              </a:cxnLst>
              <a:rect l="0" t="0" r="r" b="b"/>
              <a:pathLst>
                <a:path w="280" h="280">
                  <a:moveTo>
                    <a:pt x="140" y="0"/>
                  </a:moveTo>
                  <a:cubicBezTo>
                    <a:pt x="63" y="0"/>
                    <a:pt x="0" y="63"/>
                    <a:pt x="0" y="140"/>
                  </a:cubicBezTo>
                  <a:cubicBezTo>
                    <a:pt x="0" y="217"/>
                    <a:pt x="63" y="280"/>
                    <a:pt x="140" y="280"/>
                  </a:cubicBezTo>
                  <a:cubicBezTo>
                    <a:pt x="217" y="280"/>
                    <a:pt x="280" y="217"/>
                    <a:pt x="280" y="140"/>
                  </a:cubicBezTo>
                  <a:cubicBezTo>
                    <a:pt x="280" y="63"/>
                    <a:pt x="217" y="0"/>
                    <a:pt x="140" y="0"/>
                  </a:cubicBezTo>
                  <a:close/>
                  <a:moveTo>
                    <a:pt x="71" y="152"/>
                  </a:moveTo>
                  <a:cubicBezTo>
                    <a:pt x="71" y="163"/>
                    <a:pt x="71" y="163"/>
                    <a:pt x="71" y="163"/>
                  </a:cubicBezTo>
                  <a:cubicBezTo>
                    <a:pt x="31" y="140"/>
                    <a:pt x="31" y="140"/>
                    <a:pt x="31" y="140"/>
                  </a:cubicBezTo>
                  <a:cubicBezTo>
                    <a:pt x="71" y="114"/>
                    <a:pt x="71" y="114"/>
                    <a:pt x="71" y="114"/>
                  </a:cubicBezTo>
                  <a:cubicBezTo>
                    <a:pt x="71" y="126"/>
                    <a:pt x="71" y="126"/>
                    <a:pt x="71" y="126"/>
                  </a:cubicBezTo>
                  <a:cubicBezTo>
                    <a:pt x="102" y="126"/>
                    <a:pt x="102" y="126"/>
                    <a:pt x="102" y="126"/>
                  </a:cubicBezTo>
                  <a:cubicBezTo>
                    <a:pt x="102" y="152"/>
                    <a:pt x="102" y="152"/>
                    <a:pt x="102" y="152"/>
                  </a:cubicBezTo>
                  <a:lnTo>
                    <a:pt x="71" y="152"/>
                  </a:lnTo>
                  <a:close/>
                  <a:moveTo>
                    <a:pt x="153" y="244"/>
                  </a:moveTo>
                  <a:cubicBezTo>
                    <a:pt x="128" y="244"/>
                    <a:pt x="128" y="244"/>
                    <a:pt x="128" y="244"/>
                  </a:cubicBezTo>
                  <a:cubicBezTo>
                    <a:pt x="128" y="212"/>
                    <a:pt x="128" y="212"/>
                    <a:pt x="128" y="212"/>
                  </a:cubicBezTo>
                  <a:cubicBezTo>
                    <a:pt x="116" y="212"/>
                    <a:pt x="116" y="212"/>
                    <a:pt x="116" y="212"/>
                  </a:cubicBezTo>
                  <a:cubicBezTo>
                    <a:pt x="139" y="173"/>
                    <a:pt x="139" y="173"/>
                    <a:pt x="139" y="173"/>
                  </a:cubicBezTo>
                  <a:cubicBezTo>
                    <a:pt x="165" y="213"/>
                    <a:pt x="165" y="213"/>
                    <a:pt x="165" y="213"/>
                  </a:cubicBezTo>
                  <a:cubicBezTo>
                    <a:pt x="153" y="213"/>
                    <a:pt x="153" y="213"/>
                    <a:pt x="153" y="213"/>
                  </a:cubicBezTo>
                  <a:lnTo>
                    <a:pt x="153" y="244"/>
                  </a:lnTo>
                  <a:close/>
                  <a:moveTo>
                    <a:pt x="139" y="102"/>
                  </a:moveTo>
                  <a:cubicBezTo>
                    <a:pt x="116" y="63"/>
                    <a:pt x="116" y="63"/>
                    <a:pt x="116" y="63"/>
                  </a:cubicBezTo>
                  <a:cubicBezTo>
                    <a:pt x="128" y="63"/>
                    <a:pt x="128" y="63"/>
                    <a:pt x="128" y="63"/>
                  </a:cubicBezTo>
                  <a:cubicBezTo>
                    <a:pt x="128" y="31"/>
                    <a:pt x="128" y="31"/>
                    <a:pt x="128" y="31"/>
                  </a:cubicBezTo>
                  <a:cubicBezTo>
                    <a:pt x="153" y="32"/>
                    <a:pt x="153" y="32"/>
                    <a:pt x="153" y="32"/>
                  </a:cubicBezTo>
                  <a:cubicBezTo>
                    <a:pt x="153" y="63"/>
                    <a:pt x="153" y="63"/>
                    <a:pt x="153" y="63"/>
                  </a:cubicBezTo>
                  <a:cubicBezTo>
                    <a:pt x="165" y="63"/>
                    <a:pt x="165" y="63"/>
                    <a:pt x="165" y="63"/>
                  </a:cubicBezTo>
                  <a:lnTo>
                    <a:pt x="139" y="102"/>
                  </a:lnTo>
                  <a:close/>
                  <a:moveTo>
                    <a:pt x="208" y="163"/>
                  </a:moveTo>
                  <a:cubicBezTo>
                    <a:pt x="208" y="152"/>
                    <a:pt x="208" y="152"/>
                    <a:pt x="208" y="152"/>
                  </a:cubicBezTo>
                  <a:cubicBezTo>
                    <a:pt x="177" y="152"/>
                    <a:pt x="177" y="152"/>
                    <a:pt x="177" y="152"/>
                  </a:cubicBezTo>
                  <a:cubicBezTo>
                    <a:pt x="177" y="126"/>
                    <a:pt x="177" y="126"/>
                    <a:pt x="177" y="126"/>
                  </a:cubicBezTo>
                  <a:cubicBezTo>
                    <a:pt x="208" y="126"/>
                    <a:pt x="208" y="126"/>
                    <a:pt x="208" y="126"/>
                  </a:cubicBezTo>
                  <a:cubicBezTo>
                    <a:pt x="208" y="114"/>
                    <a:pt x="208" y="114"/>
                    <a:pt x="208" y="114"/>
                  </a:cubicBezTo>
                  <a:cubicBezTo>
                    <a:pt x="248" y="140"/>
                    <a:pt x="248" y="140"/>
                    <a:pt x="248" y="140"/>
                  </a:cubicBezTo>
                  <a:lnTo>
                    <a:pt x="208" y="163"/>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3840" tIns="121920" rIns="243840" bIns="121920" numCol="1" spcCol="0" rtlCol="0" fromWordArt="0" anchor="ctr" anchorCtr="0" forceAA="0" compatLnSpc="1">
              <a:prstTxWarp prst="textNoShape">
                <a:avLst/>
              </a:prstTxWarp>
              <a:noAutofit/>
            </a:bodyPr>
            <a:lstStyle/>
            <a:p>
              <a:pPr algn="ctr" defTabSz="1219088"/>
              <a:endParaRPr lang="zh-CN" altLang="en-US" sz="1600" noProof="1">
                <a:solidFill>
                  <a:schemeClr val="tx1"/>
                </a:solidFill>
                <a:cs typeface="+mn-ea"/>
                <a:sym typeface="+mn-lt"/>
              </a:endParaRPr>
            </a:p>
          </p:txBody>
        </p:sp>
      </p:grpSp>
      <p:cxnSp>
        <p:nvCxnSpPr>
          <p:cNvPr id="82" name="直接连接符 81">
            <a:extLst>
              <a:ext uri="{FF2B5EF4-FFF2-40B4-BE49-F238E27FC236}">
                <a16:creationId xmlns:a16="http://schemas.microsoft.com/office/drawing/2014/main" id="{9019D6B6-85FE-41B5-A470-22F23FE1A1AC}"/>
              </a:ext>
            </a:extLst>
          </p:cNvPr>
          <p:cNvCxnSpPr/>
          <p:nvPr/>
        </p:nvCxnSpPr>
        <p:spPr bwMode="gray">
          <a:xfrm>
            <a:off x="4102642" y="4613690"/>
            <a:ext cx="465813" cy="8087"/>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94F9AB1-C2B0-48F6-8399-AF1882DFEF06}"/>
              </a:ext>
            </a:extLst>
          </p:cNvPr>
          <p:cNvCxnSpPr/>
          <p:nvPr/>
        </p:nvCxnSpPr>
        <p:spPr bwMode="gray">
          <a:xfrm>
            <a:off x="3729584" y="4316830"/>
            <a:ext cx="373058" cy="0"/>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39DD1FEF-F7F0-4300-BC3F-883C071A4AA8}"/>
              </a:ext>
            </a:extLst>
          </p:cNvPr>
          <p:cNvCxnSpPr/>
          <p:nvPr/>
        </p:nvCxnSpPr>
        <p:spPr bwMode="gray">
          <a:xfrm>
            <a:off x="4108186" y="4316830"/>
            <a:ext cx="0" cy="315133"/>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69CD8094-0059-4279-9406-204062756E99}"/>
              </a:ext>
            </a:extLst>
          </p:cNvPr>
          <p:cNvCxnSpPr/>
          <p:nvPr/>
        </p:nvCxnSpPr>
        <p:spPr bwMode="gray">
          <a:xfrm>
            <a:off x="3714966" y="5536482"/>
            <a:ext cx="403421" cy="0"/>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0B19112F-9AB9-4892-A2CA-26E5618059C3}"/>
              </a:ext>
            </a:extLst>
          </p:cNvPr>
          <p:cNvCxnSpPr/>
          <p:nvPr/>
        </p:nvCxnSpPr>
        <p:spPr bwMode="gray">
          <a:xfrm flipH="1">
            <a:off x="4118387" y="5157420"/>
            <a:ext cx="1" cy="392067"/>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sp>
        <p:nvSpPr>
          <p:cNvPr id="87" name="Freeform 6">
            <a:extLst>
              <a:ext uri="{FF2B5EF4-FFF2-40B4-BE49-F238E27FC236}">
                <a16:creationId xmlns:a16="http://schemas.microsoft.com/office/drawing/2014/main" id="{74686061-C5C2-4DD6-8AE6-FC1B0718C3D2}"/>
              </a:ext>
            </a:extLst>
          </p:cNvPr>
          <p:cNvSpPr>
            <a:spLocks/>
          </p:cNvSpPr>
          <p:nvPr/>
        </p:nvSpPr>
        <p:spPr bwMode="gray">
          <a:xfrm>
            <a:off x="5685451" y="5033636"/>
            <a:ext cx="1727070" cy="955944"/>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 name="connsiteX0" fmla="*/ 8299 w 9710"/>
              <a:gd name="connsiteY0" fmla="*/ 9268 h 9273"/>
              <a:gd name="connsiteX1" fmla="*/ 312 w 9710"/>
              <a:gd name="connsiteY1" fmla="*/ 9160 h 9273"/>
              <a:gd name="connsiteX2" fmla="*/ 50 w 9710"/>
              <a:gd name="connsiteY2" fmla="*/ 6449 h 9273"/>
              <a:gd name="connsiteX3" fmla="*/ 1489 w 9710"/>
              <a:gd name="connsiteY3" fmla="*/ 3797 h 9273"/>
              <a:gd name="connsiteX4" fmla="*/ 3657 w 9710"/>
              <a:gd name="connsiteY4" fmla="*/ 88 h 9273"/>
              <a:gd name="connsiteX5" fmla="*/ 6535 w 9710"/>
              <a:gd name="connsiteY5" fmla="*/ 2401 h 9273"/>
              <a:gd name="connsiteX6" fmla="*/ 8472 w 9710"/>
              <a:gd name="connsiteY6" fmla="*/ 2328 h 9273"/>
              <a:gd name="connsiteX7" fmla="*/ 8905 w 9710"/>
              <a:gd name="connsiteY7" fmla="*/ 5153 h 9273"/>
              <a:gd name="connsiteX8" fmla="*/ 9692 w 9710"/>
              <a:gd name="connsiteY8" fmla="*/ 7557 h 9273"/>
              <a:gd name="connsiteX9" fmla="*/ 8299 w 9710"/>
              <a:gd name="connsiteY9" fmla="*/ 9268 h 9273"/>
              <a:gd name="connsiteX0" fmla="*/ 9077 w 9999"/>
              <a:gd name="connsiteY0" fmla="*/ 9995 h 10000"/>
              <a:gd name="connsiteX1" fmla="*/ 321 w 9999"/>
              <a:gd name="connsiteY1" fmla="*/ 9878 h 10000"/>
              <a:gd name="connsiteX2" fmla="*/ 51 w 9999"/>
              <a:gd name="connsiteY2" fmla="*/ 6955 h 10000"/>
              <a:gd name="connsiteX3" fmla="*/ 1533 w 9999"/>
              <a:gd name="connsiteY3" fmla="*/ 4095 h 10000"/>
              <a:gd name="connsiteX4" fmla="*/ 3766 w 9999"/>
              <a:gd name="connsiteY4" fmla="*/ 95 h 10000"/>
              <a:gd name="connsiteX5" fmla="*/ 6730 w 9999"/>
              <a:gd name="connsiteY5" fmla="*/ 2589 h 10000"/>
              <a:gd name="connsiteX6" fmla="*/ 8725 w 9999"/>
              <a:gd name="connsiteY6" fmla="*/ 2511 h 10000"/>
              <a:gd name="connsiteX7" fmla="*/ 9171 w 9999"/>
              <a:gd name="connsiteY7" fmla="*/ 5557 h 10000"/>
              <a:gd name="connsiteX8" fmla="*/ 9981 w 9999"/>
              <a:gd name="connsiteY8" fmla="*/ 8149 h 10000"/>
              <a:gd name="connsiteX9" fmla="*/ 9077 w 9999"/>
              <a:gd name="connsiteY9" fmla="*/ 9995 h 10000"/>
              <a:gd name="connsiteX0" fmla="*/ 8904 w 10000"/>
              <a:gd name="connsiteY0" fmla="*/ 9995 h 10000"/>
              <a:gd name="connsiteX1" fmla="*/ 321 w 10000"/>
              <a:gd name="connsiteY1" fmla="*/ 9878 h 10000"/>
              <a:gd name="connsiteX2" fmla="*/ 51 w 10000"/>
              <a:gd name="connsiteY2" fmla="*/ 6955 h 10000"/>
              <a:gd name="connsiteX3" fmla="*/ 1533 w 10000"/>
              <a:gd name="connsiteY3" fmla="*/ 4095 h 10000"/>
              <a:gd name="connsiteX4" fmla="*/ 3766 w 10000"/>
              <a:gd name="connsiteY4" fmla="*/ 95 h 10000"/>
              <a:gd name="connsiteX5" fmla="*/ 6731 w 10000"/>
              <a:gd name="connsiteY5" fmla="*/ 2589 h 10000"/>
              <a:gd name="connsiteX6" fmla="*/ 8726 w 10000"/>
              <a:gd name="connsiteY6" fmla="*/ 2511 h 10000"/>
              <a:gd name="connsiteX7" fmla="*/ 9172 w 10000"/>
              <a:gd name="connsiteY7" fmla="*/ 5557 h 10000"/>
              <a:gd name="connsiteX8" fmla="*/ 9982 w 10000"/>
              <a:gd name="connsiteY8" fmla="*/ 8149 h 10000"/>
              <a:gd name="connsiteX9" fmla="*/ 8904 w 10000"/>
              <a:gd name="connsiteY9" fmla="*/ 9995 h 10000"/>
              <a:gd name="connsiteX0" fmla="*/ 8904 w 10002"/>
              <a:gd name="connsiteY0" fmla="*/ 9995 h 10000"/>
              <a:gd name="connsiteX1" fmla="*/ 321 w 10002"/>
              <a:gd name="connsiteY1" fmla="*/ 9878 h 10000"/>
              <a:gd name="connsiteX2" fmla="*/ 51 w 10002"/>
              <a:gd name="connsiteY2" fmla="*/ 6955 h 10000"/>
              <a:gd name="connsiteX3" fmla="*/ 1533 w 10002"/>
              <a:gd name="connsiteY3" fmla="*/ 4095 h 10000"/>
              <a:gd name="connsiteX4" fmla="*/ 3766 w 10002"/>
              <a:gd name="connsiteY4" fmla="*/ 95 h 10000"/>
              <a:gd name="connsiteX5" fmla="*/ 6731 w 10002"/>
              <a:gd name="connsiteY5" fmla="*/ 2589 h 10000"/>
              <a:gd name="connsiteX6" fmla="*/ 8726 w 10002"/>
              <a:gd name="connsiteY6" fmla="*/ 2511 h 10000"/>
              <a:gd name="connsiteX7" fmla="*/ 9266 w 10002"/>
              <a:gd name="connsiteY7" fmla="*/ 5557 h 10000"/>
              <a:gd name="connsiteX8" fmla="*/ 9982 w 10002"/>
              <a:gd name="connsiteY8" fmla="*/ 8149 h 10000"/>
              <a:gd name="connsiteX9" fmla="*/ 8904 w 10002"/>
              <a:gd name="connsiteY9" fmla="*/ 9995 h 10000"/>
              <a:gd name="connsiteX0" fmla="*/ 9670 w 10002"/>
              <a:gd name="connsiteY0" fmla="*/ 9995 h 10000"/>
              <a:gd name="connsiteX1" fmla="*/ 321 w 10002"/>
              <a:gd name="connsiteY1" fmla="*/ 9878 h 10000"/>
              <a:gd name="connsiteX2" fmla="*/ 51 w 10002"/>
              <a:gd name="connsiteY2" fmla="*/ 6955 h 10000"/>
              <a:gd name="connsiteX3" fmla="*/ 1533 w 10002"/>
              <a:gd name="connsiteY3" fmla="*/ 4095 h 10000"/>
              <a:gd name="connsiteX4" fmla="*/ 3766 w 10002"/>
              <a:gd name="connsiteY4" fmla="*/ 95 h 10000"/>
              <a:gd name="connsiteX5" fmla="*/ 6731 w 10002"/>
              <a:gd name="connsiteY5" fmla="*/ 2589 h 10000"/>
              <a:gd name="connsiteX6" fmla="*/ 8726 w 10002"/>
              <a:gd name="connsiteY6" fmla="*/ 2511 h 10000"/>
              <a:gd name="connsiteX7" fmla="*/ 9266 w 10002"/>
              <a:gd name="connsiteY7" fmla="*/ 5557 h 10000"/>
              <a:gd name="connsiteX8" fmla="*/ 9982 w 10002"/>
              <a:gd name="connsiteY8" fmla="*/ 8149 h 10000"/>
              <a:gd name="connsiteX9" fmla="*/ 9670 w 10002"/>
              <a:gd name="connsiteY9" fmla="*/ 9995 h 10000"/>
              <a:gd name="connsiteX0" fmla="*/ 9703 w 10002"/>
              <a:gd name="connsiteY0" fmla="*/ 9995 h 10000"/>
              <a:gd name="connsiteX1" fmla="*/ 321 w 10002"/>
              <a:gd name="connsiteY1" fmla="*/ 9878 h 10000"/>
              <a:gd name="connsiteX2" fmla="*/ 51 w 10002"/>
              <a:gd name="connsiteY2" fmla="*/ 6955 h 10000"/>
              <a:gd name="connsiteX3" fmla="*/ 1533 w 10002"/>
              <a:gd name="connsiteY3" fmla="*/ 4095 h 10000"/>
              <a:gd name="connsiteX4" fmla="*/ 3766 w 10002"/>
              <a:gd name="connsiteY4" fmla="*/ 95 h 10000"/>
              <a:gd name="connsiteX5" fmla="*/ 6731 w 10002"/>
              <a:gd name="connsiteY5" fmla="*/ 2589 h 10000"/>
              <a:gd name="connsiteX6" fmla="*/ 8726 w 10002"/>
              <a:gd name="connsiteY6" fmla="*/ 2511 h 10000"/>
              <a:gd name="connsiteX7" fmla="*/ 9266 w 10002"/>
              <a:gd name="connsiteY7" fmla="*/ 5557 h 10000"/>
              <a:gd name="connsiteX8" fmla="*/ 9982 w 10002"/>
              <a:gd name="connsiteY8" fmla="*/ 8149 h 10000"/>
              <a:gd name="connsiteX9" fmla="*/ 9703 w 10002"/>
              <a:gd name="connsiteY9" fmla="*/ 9995 h 10000"/>
              <a:gd name="connsiteX0" fmla="*/ 9703 w 10002"/>
              <a:gd name="connsiteY0" fmla="*/ 9931 h 9942"/>
              <a:gd name="connsiteX1" fmla="*/ 321 w 10002"/>
              <a:gd name="connsiteY1" fmla="*/ 9878 h 9942"/>
              <a:gd name="connsiteX2" fmla="*/ 51 w 10002"/>
              <a:gd name="connsiteY2" fmla="*/ 6955 h 9942"/>
              <a:gd name="connsiteX3" fmla="*/ 1533 w 10002"/>
              <a:gd name="connsiteY3" fmla="*/ 4095 h 9942"/>
              <a:gd name="connsiteX4" fmla="*/ 3766 w 10002"/>
              <a:gd name="connsiteY4" fmla="*/ 95 h 9942"/>
              <a:gd name="connsiteX5" fmla="*/ 6731 w 10002"/>
              <a:gd name="connsiteY5" fmla="*/ 2589 h 9942"/>
              <a:gd name="connsiteX6" fmla="*/ 8726 w 10002"/>
              <a:gd name="connsiteY6" fmla="*/ 2511 h 9942"/>
              <a:gd name="connsiteX7" fmla="*/ 9266 w 10002"/>
              <a:gd name="connsiteY7" fmla="*/ 5557 h 9942"/>
              <a:gd name="connsiteX8" fmla="*/ 9982 w 10002"/>
              <a:gd name="connsiteY8" fmla="*/ 8149 h 9942"/>
              <a:gd name="connsiteX9" fmla="*/ 9703 w 10002"/>
              <a:gd name="connsiteY9" fmla="*/ 9931 h 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2" h="9942">
                <a:moveTo>
                  <a:pt x="9703" y="9931"/>
                </a:moveTo>
                <a:lnTo>
                  <a:pt x="321" y="9878"/>
                </a:lnTo>
                <a:cubicBezTo>
                  <a:pt x="321" y="9878"/>
                  <a:pt x="-153" y="9397"/>
                  <a:pt x="51" y="6955"/>
                </a:cubicBezTo>
                <a:cubicBezTo>
                  <a:pt x="283" y="4304"/>
                  <a:pt x="1533" y="4095"/>
                  <a:pt x="1533" y="4095"/>
                </a:cubicBezTo>
                <a:cubicBezTo>
                  <a:pt x="1533" y="4095"/>
                  <a:pt x="1609" y="796"/>
                  <a:pt x="3766" y="95"/>
                </a:cubicBezTo>
                <a:cubicBezTo>
                  <a:pt x="5871" y="-581"/>
                  <a:pt x="6731" y="2589"/>
                  <a:pt x="6731" y="2589"/>
                </a:cubicBezTo>
                <a:cubicBezTo>
                  <a:pt x="6731" y="2589"/>
                  <a:pt x="7810" y="1082"/>
                  <a:pt x="8726" y="2511"/>
                </a:cubicBezTo>
                <a:cubicBezTo>
                  <a:pt x="9490" y="3681"/>
                  <a:pt x="9266" y="5557"/>
                  <a:pt x="9266" y="5557"/>
                </a:cubicBezTo>
                <a:cubicBezTo>
                  <a:pt x="9266" y="5557"/>
                  <a:pt x="10146" y="6278"/>
                  <a:pt x="9982" y="8149"/>
                </a:cubicBezTo>
                <a:cubicBezTo>
                  <a:pt x="9804" y="10203"/>
                  <a:pt x="9703" y="9931"/>
                  <a:pt x="9703" y="9931"/>
                </a:cubicBezTo>
                <a:close/>
              </a:path>
            </a:pathLst>
          </a:custGeom>
          <a:noFill/>
          <a:ln w="19050" cap="flat">
            <a:solidFill>
              <a:srgbClr val="56C4D2"/>
            </a:solidFill>
            <a:prstDash val="solid"/>
            <a:miter lim="800000"/>
            <a:headEnd/>
            <a:tailEnd/>
          </a:ln>
        </p:spPr>
        <p:txBody>
          <a:bodyPr vert="horz" wrap="square" lIns="91416" tIns="45708" rIns="91416" bIns="45708" numCol="1" anchor="t" anchorCtr="0" compatLnSpc="1">
            <a:prstTxWarp prst="textNoShape">
              <a:avLst/>
            </a:prstTxWarp>
          </a:bodyPr>
          <a:lstStyle/>
          <a:p>
            <a:pPr defTabSz="914373">
              <a:defRPr/>
            </a:pPr>
            <a:endParaRPr lang="zh-CN" altLang="en-US" sz="1600" kern="0">
              <a:cs typeface="+mn-ea"/>
              <a:sym typeface="+mn-lt"/>
            </a:endParaRPr>
          </a:p>
        </p:txBody>
      </p:sp>
      <p:sp>
        <p:nvSpPr>
          <p:cNvPr id="88" name="矩形 87">
            <a:extLst>
              <a:ext uri="{FF2B5EF4-FFF2-40B4-BE49-F238E27FC236}">
                <a16:creationId xmlns:a16="http://schemas.microsoft.com/office/drawing/2014/main" id="{F1AF3898-8428-4CB1-A070-AF5F0E7918DB}"/>
              </a:ext>
            </a:extLst>
          </p:cNvPr>
          <p:cNvSpPr/>
          <p:nvPr/>
        </p:nvSpPr>
        <p:spPr bwMode="gray">
          <a:xfrm>
            <a:off x="5906981" y="5242462"/>
            <a:ext cx="1194917" cy="338554"/>
          </a:xfrm>
          <a:prstGeom prst="rect">
            <a:avLst/>
          </a:prstGeom>
        </p:spPr>
        <p:txBody>
          <a:bodyPr wrap="square">
            <a:spAutoFit/>
          </a:bodyPr>
          <a:lstStyle/>
          <a:p>
            <a:pPr algn="ctr" defTabSz="914373"/>
            <a:r>
              <a:rPr lang="en-US" altLang="zh-CN" sz="1600" kern="0" dirty="0">
                <a:cs typeface="+mn-ea"/>
                <a:sym typeface="+mn-lt"/>
              </a:rPr>
              <a:t>DC Fabric</a:t>
            </a:r>
          </a:p>
        </p:txBody>
      </p:sp>
      <p:grpSp>
        <p:nvGrpSpPr>
          <p:cNvPr id="89" name="组合 58">
            <a:extLst>
              <a:ext uri="{FF2B5EF4-FFF2-40B4-BE49-F238E27FC236}">
                <a16:creationId xmlns:a16="http://schemas.microsoft.com/office/drawing/2014/main" id="{3C3E40EB-3435-45D0-8CA4-7B6A0F350CB7}"/>
              </a:ext>
            </a:extLst>
          </p:cNvPr>
          <p:cNvGrpSpPr/>
          <p:nvPr/>
        </p:nvGrpSpPr>
        <p:grpSpPr bwMode="gray">
          <a:xfrm>
            <a:off x="6133585" y="5557382"/>
            <a:ext cx="314408" cy="337526"/>
            <a:chOff x="6389297" y="1972462"/>
            <a:chExt cx="3812876" cy="3623095"/>
          </a:xfrm>
        </p:grpSpPr>
        <p:grpSp>
          <p:nvGrpSpPr>
            <p:cNvPr id="90" name="组合 103">
              <a:extLst>
                <a:ext uri="{FF2B5EF4-FFF2-40B4-BE49-F238E27FC236}">
                  <a16:creationId xmlns:a16="http://schemas.microsoft.com/office/drawing/2014/main" id="{2F486083-81BD-4EFD-AE22-1F4768E9E957}"/>
                </a:ext>
              </a:extLst>
            </p:cNvPr>
            <p:cNvGrpSpPr/>
            <p:nvPr/>
          </p:nvGrpSpPr>
          <p:grpSpPr bwMode="gray">
            <a:xfrm>
              <a:off x="6389297" y="1972462"/>
              <a:ext cx="3812876" cy="3623095"/>
              <a:chOff x="2682814" y="2216988"/>
              <a:chExt cx="3812876" cy="3623095"/>
            </a:xfrm>
          </p:grpSpPr>
          <p:sp>
            <p:nvSpPr>
              <p:cNvPr id="93" name="八边形 92">
                <a:extLst>
                  <a:ext uri="{FF2B5EF4-FFF2-40B4-BE49-F238E27FC236}">
                    <a16:creationId xmlns:a16="http://schemas.microsoft.com/office/drawing/2014/main" id="{659F2B99-0043-4F96-809D-6EC1DDE81174}"/>
                  </a:ext>
                </a:extLst>
              </p:cNvPr>
              <p:cNvSpPr/>
              <p:nvPr/>
            </p:nvSpPr>
            <p:spPr bwMode="gray">
              <a:xfrm>
                <a:off x="2812211" y="2346385"/>
                <a:ext cx="3554083" cy="3364302"/>
              </a:xfrm>
              <a:prstGeom prst="octagon">
                <a:avLst/>
              </a:prstGeom>
              <a:no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94" name="椭圆 93">
                <a:extLst>
                  <a:ext uri="{FF2B5EF4-FFF2-40B4-BE49-F238E27FC236}">
                    <a16:creationId xmlns:a16="http://schemas.microsoft.com/office/drawing/2014/main" id="{A7B8FA21-0380-407E-A196-96BBCC523B6D}"/>
                  </a:ext>
                </a:extLst>
              </p:cNvPr>
              <p:cNvSpPr/>
              <p:nvPr/>
            </p:nvSpPr>
            <p:spPr bwMode="gray">
              <a:xfrm>
                <a:off x="3657600" y="2216988"/>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95" name="椭圆 94">
                <a:extLst>
                  <a:ext uri="{FF2B5EF4-FFF2-40B4-BE49-F238E27FC236}">
                    <a16:creationId xmlns:a16="http://schemas.microsoft.com/office/drawing/2014/main" id="{D453B52B-0796-41BB-8135-74496F64700F}"/>
                  </a:ext>
                </a:extLst>
              </p:cNvPr>
              <p:cNvSpPr/>
              <p:nvPr/>
            </p:nvSpPr>
            <p:spPr bwMode="gray">
              <a:xfrm>
                <a:off x="5244861" y="5581290"/>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96" name="椭圆 95">
                <a:extLst>
                  <a:ext uri="{FF2B5EF4-FFF2-40B4-BE49-F238E27FC236}">
                    <a16:creationId xmlns:a16="http://schemas.microsoft.com/office/drawing/2014/main" id="{6FC3B332-8A18-4CA0-8D28-7C1A1B221014}"/>
                  </a:ext>
                </a:extLst>
              </p:cNvPr>
              <p:cNvSpPr/>
              <p:nvPr/>
            </p:nvSpPr>
            <p:spPr bwMode="gray">
              <a:xfrm>
                <a:off x="5244861" y="2216988"/>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97" name="椭圆 96">
                <a:extLst>
                  <a:ext uri="{FF2B5EF4-FFF2-40B4-BE49-F238E27FC236}">
                    <a16:creationId xmlns:a16="http://schemas.microsoft.com/office/drawing/2014/main" id="{F13D2DF6-8D8F-45C6-83FD-A2793416316C}"/>
                  </a:ext>
                </a:extLst>
              </p:cNvPr>
              <p:cNvSpPr/>
              <p:nvPr/>
            </p:nvSpPr>
            <p:spPr bwMode="gray">
              <a:xfrm>
                <a:off x="3657600" y="5581289"/>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98" name="椭圆 97">
                <a:extLst>
                  <a:ext uri="{FF2B5EF4-FFF2-40B4-BE49-F238E27FC236}">
                    <a16:creationId xmlns:a16="http://schemas.microsoft.com/office/drawing/2014/main" id="{716BBB44-33C4-49CB-A485-1C5B2BBFED32}"/>
                  </a:ext>
                </a:extLst>
              </p:cNvPr>
              <p:cNvSpPr/>
              <p:nvPr/>
            </p:nvSpPr>
            <p:spPr bwMode="gray">
              <a:xfrm>
                <a:off x="2682814" y="4537491"/>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99" name="椭圆 98">
                <a:extLst>
                  <a:ext uri="{FF2B5EF4-FFF2-40B4-BE49-F238E27FC236}">
                    <a16:creationId xmlns:a16="http://schemas.microsoft.com/office/drawing/2014/main" id="{1E2DE540-7DB8-4C58-8E33-5D6C7BC35EA8}"/>
                  </a:ext>
                </a:extLst>
              </p:cNvPr>
              <p:cNvSpPr/>
              <p:nvPr/>
            </p:nvSpPr>
            <p:spPr bwMode="gray">
              <a:xfrm>
                <a:off x="2682814" y="3191770"/>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00" name="椭圆 99">
                <a:extLst>
                  <a:ext uri="{FF2B5EF4-FFF2-40B4-BE49-F238E27FC236}">
                    <a16:creationId xmlns:a16="http://schemas.microsoft.com/office/drawing/2014/main" id="{90A5A2BD-797B-4FCC-8ABF-15BEB69DAD53}"/>
                  </a:ext>
                </a:extLst>
              </p:cNvPr>
              <p:cNvSpPr/>
              <p:nvPr/>
            </p:nvSpPr>
            <p:spPr bwMode="gray">
              <a:xfrm>
                <a:off x="6236897" y="3191770"/>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01" name="椭圆 100">
                <a:extLst>
                  <a:ext uri="{FF2B5EF4-FFF2-40B4-BE49-F238E27FC236}">
                    <a16:creationId xmlns:a16="http://schemas.microsoft.com/office/drawing/2014/main" id="{3BBF6363-FFAE-44DF-964B-A28A226F8950}"/>
                  </a:ext>
                </a:extLst>
              </p:cNvPr>
              <p:cNvSpPr/>
              <p:nvPr/>
            </p:nvSpPr>
            <p:spPr bwMode="gray">
              <a:xfrm>
                <a:off x="6236897" y="4597872"/>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cxnSp>
            <p:nvCxnSpPr>
              <p:cNvPr id="102" name="直接连接符 101">
                <a:extLst>
                  <a:ext uri="{FF2B5EF4-FFF2-40B4-BE49-F238E27FC236}">
                    <a16:creationId xmlns:a16="http://schemas.microsoft.com/office/drawing/2014/main" id="{36A334F8-DC9E-49AC-9BAA-F5E0DAC66D55}"/>
                  </a:ext>
                </a:extLst>
              </p:cNvPr>
              <p:cNvCxnSpPr>
                <a:stCxn id="94" idx="5"/>
                <a:endCxn id="95" idx="1"/>
              </p:cNvCxnSpPr>
              <p:nvPr/>
            </p:nvCxnSpPr>
            <p:spPr bwMode="gray">
              <a:xfrm>
                <a:off x="3878494" y="2437882"/>
                <a:ext cx="1404266" cy="3181307"/>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1FF1525-F951-497A-A6C8-B14449AF6C45}"/>
                  </a:ext>
                </a:extLst>
              </p:cNvPr>
              <p:cNvCxnSpPr>
                <a:endCxn id="97" idx="7"/>
              </p:cNvCxnSpPr>
              <p:nvPr/>
            </p:nvCxnSpPr>
            <p:spPr bwMode="gray">
              <a:xfrm flipH="1">
                <a:off x="3878494" y="2475781"/>
                <a:ext cx="1487137" cy="3143407"/>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142B7C48-4B3E-4506-BBDD-6C435D1A140C}"/>
                  </a:ext>
                </a:extLst>
              </p:cNvPr>
              <p:cNvCxnSpPr/>
              <p:nvPr/>
            </p:nvCxnSpPr>
            <p:spPr bwMode="gray">
              <a:xfrm flipH="1">
                <a:off x="2941607" y="3321166"/>
                <a:ext cx="3424687" cy="0"/>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B2F6D11A-CB57-4F66-B294-888E59AAF2F4}"/>
                  </a:ext>
                </a:extLst>
              </p:cNvPr>
              <p:cNvCxnSpPr>
                <a:endCxn id="99" idx="5"/>
              </p:cNvCxnSpPr>
              <p:nvPr/>
            </p:nvCxnSpPr>
            <p:spPr bwMode="gray">
              <a:xfrm flipH="1" flipV="1">
                <a:off x="2903708" y="3412664"/>
                <a:ext cx="3333189" cy="1254224"/>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4C415624-34EF-488D-84E1-838FF18002C5}"/>
                  </a:ext>
                </a:extLst>
              </p:cNvPr>
              <p:cNvCxnSpPr>
                <a:endCxn id="98" idx="6"/>
              </p:cNvCxnSpPr>
              <p:nvPr/>
            </p:nvCxnSpPr>
            <p:spPr bwMode="gray">
              <a:xfrm flipH="1">
                <a:off x="2941607" y="3393716"/>
                <a:ext cx="3295290" cy="1273172"/>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5F72EEB-4CAB-4A7A-9232-DAD3DED6F2C6}"/>
                  </a:ext>
                </a:extLst>
              </p:cNvPr>
              <p:cNvCxnSpPr/>
              <p:nvPr/>
            </p:nvCxnSpPr>
            <p:spPr bwMode="gray">
              <a:xfrm flipH="1">
                <a:off x="2941607" y="4727268"/>
                <a:ext cx="3424687" cy="0"/>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EE29EF7-A58F-4698-A31F-552C2749DF11}"/>
                  </a:ext>
                </a:extLst>
              </p:cNvPr>
              <p:cNvCxnSpPr>
                <a:stCxn id="97" idx="0"/>
                <a:endCxn id="94" idx="4"/>
              </p:cNvCxnSpPr>
              <p:nvPr/>
            </p:nvCxnSpPr>
            <p:spPr bwMode="gray">
              <a:xfrm flipV="1">
                <a:off x="3786997" y="2475781"/>
                <a:ext cx="0" cy="3105508"/>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DCB08DFF-D3ED-454F-9069-D278C5A93AF7}"/>
                  </a:ext>
                </a:extLst>
              </p:cNvPr>
              <p:cNvCxnSpPr/>
              <p:nvPr/>
            </p:nvCxnSpPr>
            <p:spPr bwMode="gray">
              <a:xfrm flipV="1">
                <a:off x="5400137" y="2475781"/>
                <a:ext cx="0" cy="3105508"/>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37E3500D-85C2-4B82-83FC-0CB39991A3CE}"/>
                  </a:ext>
                </a:extLst>
              </p:cNvPr>
              <p:cNvCxnSpPr>
                <a:stCxn id="96" idx="3"/>
                <a:endCxn id="98" idx="7"/>
              </p:cNvCxnSpPr>
              <p:nvPr/>
            </p:nvCxnSpPr>
            <p:spPr bwMode="gray">
              <a:xfrm flipH="1">
                <a:off x="2903708" y="2437882"/>
                <a:ext cx="2379052" cy="2137508"/>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B74F2A08-BBA1-43C9-8DB9-76CD0801EBEF}"/>
                  </a:ext>
                </a:extLst>
              </p:cNvPr>
              <p:cNvCxnSpPr>
                <a:stCxn id="100" idx="3"/>
              </p:cNvCxnSpPr>
              <p:nvPr/>
            </p:nvCxnSpPr>
            <p:spPr bwMode="gray">
              <a:xfrm flipH="1">
                <a:off x="3722298" y="3412664"/>
                <a:ext cx="2552498" cy="2383358"/>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grpSp>
        <p:cxnSp>
          <p:nvCxnSpPr>
            <p:cNvPr id="91" name="直接连接符 90">
              <a:extLst>
                <a:ext uri="{FF2B5EF4-FFF2-40B4-BE49-F238E27FC236}">
                  <a16:creationId xmlns:a16="http://schemas.microsoft.com/office/drawing/2014/main" id="{12378BF0-DBBB-4E18-A5A4-67A5F685B8DE}"/>
                </a:ext>
              </a:extLst>
            </p:cNvPr>
            <p:cNvCxnSpPr>
              <a:endCxn id="94" idx="7"/>
            </p:cNvCxnSpPr>
            <p:nvPr/>
          </p:nvCxnSpPr>
          <p:spPr bwMode="gray">
            <a:xfrm flipH="1" flipV="1">
              <a:off x="7584977" y="2010361"/>
              <a:ext cx="2548702" cy="2533285"/>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3775A2EF-3A95-4A13-9B1A-7B62628B0986}"/>
                </a:ext>
              </a:extLst>
            </p:cNvPr>
            <p:cNvCxnSpPr>
              <a:stCxn id="95" idx="1"/>
              <a:endCxn id="99" idx="4"/>
            </p:cNvCxnSpPr>
            <p:nvPr/>
          </p:nvCxnSpPr>
          <p:spPr bwMode="gray">
            <a:xfrm flipH="1" flipV="1">
              <a:off x="6518694" y="3206037"/>
              <a:ext cx="2470549" cy="2168626"/>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121" name="圆角矩形 427">
            <a:extLst>
              <a:ext uri="{FF2B5EF4-FFF2-40B4-BE49-F238E27FC236}">
                <a16:creationId xmlns:a16="http://schemas.microsoft.com/office/drawing/2014/main" id="{EEFD56B2-4317-4A3A-80FE-2691F0F813A5}"/>
              </a:ext>
            </a:extLst>
          </p:cNvPr>
          <p:cNvSpPr/>
          <p:nvPr/>
        </p:nvSpPr>
        <p:spPr bwMode="gray">
          <a:xfrm>
            <a:off x="6559380" y="5536482"/>
            <a:ext cx="287505" cy="116621"/>
          </a:xfrm>
          <a:prstGeom prst="round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dirty="0">
              <a:solidFill>
                <a:schemeClr val="tx2"/>
              </a:solidFill>
              <a:cs typeface="+mn-ea"/>
              <a:sym typeface="+mn-lt"/>
            </a:endParaRPr>
          </a:p>
        </p:txBody>
      </p:sp>
      <p:grpSp>
        <p:nvGrpSpPr>
          <p:cNvPr id="122" name="组合 94">
            <a:extLst>
              <a:ext uri="{FF2B5EF4-FFF2-40B4-BE49-F238E27FC236}">
                <a16:creationId xmlns:a16="http://schemas.microsoft.com/office/drawing/2014/main" id="{47F12B5F-E849-4D7A-AD9E-E0BD47979E0E}"/>
              </a:ext>
            </a:extLst>
          </p:cNvPr>
          <p:cNvGrpSpPr/>
          <p:nvPr/>
        </p:nvGrpSpPr>
        <p:grpSpPr bwMode="gray">
          <a:xfrm>
            <a:off x="6960020" y="5566315"/>
            <a:ext cx="236748" cy="385363"/>
            <a:chOff x="1952864" y="2443060"/>
            <a:chExt cx="439738" cy="671513"/>
          </a:xfrm>
          <a:solidFill>
            <a:srgbClr val="00B0F0"/>
          </a:solidFill>
        </p:grpSpPr>
        <p:sp>
          <p:nvSpPr>
            <p:cNvPr id="123" name="Line 157">
              <a:extLst>
                <a:ext uri="{FF2B5EF4-FFF2-40B4-BE49-F238E27FC236}">
                  <a16:creationId xmlns:a16="http://schemas.microsoft.com/office/drawing/2014/main" id="{18295334-BD3F-4977-9104-81741A6F1C01}"/>
                </a:ext>
              </a:extLst>
            </p:cNvPr>
            <p:cNvSpPr>
              <a:spLocks noChangeShapeType="1"/>
            </p:cNvSpPr>
            <p:nvPr/>
          </p:nvSpPr>
          <p:spPr bwMode="gray">
            <a:xfrm>
              <a:off x="2184639" y="309076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24" name="Line 158">
              <a:extLst>
                <a:ext uri="{FF2B5EF4-FFF2-40B4-BE49-F238E27FC236}">
                  <a16:creationId xmlns:a16="http://schemas.microsoft.com/office/drawing/2014/main" id="{C1CF64A9-5BD2-4A20-89EE-83BD1D93A108}"/>
                </a:ext>
              </a:extLst>
            </p:cNvPr>
            <p:cNvSpPr>
              <a:spLocks noChangeShapeType="1"/>
            </p:cNvSpPr>
            <p:nvPr/>
          </p:nvSpPr>
          <p:spPr bwMode="gray">
            <a:xfrm>
              <a:off x="2184639" y="309076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25" name="Freeform 159">
              <a:extLst>
                <a:ext uri="{FF2B5EF4-FFF2-40B4-BE49-F238E27FC236}">
                  <a16:creationId xmlns:a16="http://schemas.microsoft.com/office/drawing/2014/main" id="{5BFDB691-ADE8-4AEA-97D3-B6BA2B7F8D3A}"/>
                </a:ext>
              </a:extLst>
            </p:cNvPr>
            <p:cNvSpPr>
              <a:spLocks noEditPoints="1"/>
            </p:cNvSpPr>
            <p:nvPr/>
          </p:nvSpPr>
          <p:spPr bwMode="gray">
            <a:xfrm>
              <a:off x="1952864" y="2443060"/>
              <a:ext cx="439738" cy="649288"/>
            </a:xfrm>
            <a:custGeom>
              <a:avLst/>
              <a:gdLst>
                <a:gd name="T0" fmla="*/ 226 w 277"/>
                <a:gd name="T1" fmla="*/ 151 h 409"/>
                <a:gd name="T2" fmla="*/ 269 w 277"/>
                <a:gd name="T3" fmla="*/ 122 h 409"/>
                <a:gd name="T4" fmla="*/ 273 w 277"/>
                <a:gd name="T5" fmla="*/ 53 h 409"/>
                <a:gd name="T6" fmla="*/ 245 w 277"/>
                <a:gd name="T7" fmla="*/ 20 h 409"/>
                <a:gd name="T8" fmla="*/ 137 w 277"/>
                <a:gd name="T9" fmla="*/ 0 h 409"/>
                <a:gd name="T10" fmla="*/ 39 w 277"/>
                <a:gd name="T11" fmla="*/ 17 h 409"/>
                <a:gd name="T12" fmla="*/ 2 w 277"/>
                <a:gd name="T13" fmla="*/ 47 h 409"/>
                <a:gd name="T14" fmla="*/ 2 w 277"/>
                <a:gd name="T15" fmla="*/ 117 h 409"/>
                <a:gd name="T16" fmla="*/ 39 w 277"/>
                <a:gd name="T17" fmla="*/ 147 h 409"/>
                <a:gd name="T18" fmla="*/ 137 w 277"/>
                <a:gd name="T19" fmla="*/ 164 h 409"/>
                <a:gd name="T20" fmla="*/ 46 w 277"/>
                <a:gd name="T21" fmla="*/ 122 h 409"/>
                <a:gd name="T22" fmla="*/ 58 w 277"/>
                <a:gd name="T23" fmla="*/ 110 h 409"/>
                <a:gd name="T24" fmla="*/ 69 w 277"/>
                <a:gd name="T25" fmla="*/ 127 h 409"/>
                <a:gd name="T26" fmla="*/ 8 w 277"/>
                <a:gd name="T27" fmla="*/ 50 h 409"/>
                <a:gd name="T28" fmla="*/ 97 w 277"/>
                <a:gd name="T29" fmla="*/ 85 h 409"/>
                <a:gd name="T30" fmla="*/ 200 w 277"/>
                <a:gd name="T31" fmla="*/ 82 h 409"/>
                <a:gd name="T32" fmla="*/ 270 w 277"/>
                <a:gd name="T33" fmla="*/ 50 h 409"/>
                <a:gd name="T34" fmla="*/ 183 w 277"/>
                <a:gd name="T35" fmla="*/ 91 h 409"/>
                <a:gd name="T36" fmla="*/ 75 w 277"/>
                <a:gd name="T37" fmla="*/ 86 h 409"/>
                <a:gd name="T38" fmla="*/ 8 w 277"/>
                <a:gd name="T39" fmla="*/ 50 h 409"/>
                <a:gd name="T40" fmla="*/ 170 w 277"/>
                <a:gd name="T41" fmla="*/ 402 h 409"/>
                <a:gd name="T42" fmla="*/ 276 w 277"/>
                <a:gd name="T43" fmla="*/ 403 h 409"/>
                <a:gd name="T44" fmla="*/ 267 w 277"/>
                <a:gd name="T45" fmla="*/ 391 h 409"/>
                <a:gd name="T46" fmla="*/ 216 w 277"/>
                <a:gd name="T47" fmla="*/ 242 h 409"/>
                <a:gd name="T48" fmla="*/ 265 w 277"/>
                <a:gd name="T49" fmla="*/ 216 h 409"/>
                <a:gd name="T50" fmla="*/ 274 w 277"/>
                <a:gd name="T51" fmla="*/ 148 h 409"/>
                <a:gd name="T52" fmla="*/ 262 w 277"/>
                <a:gd name="T53" fmla="*/ 154 h 409"/>
                <a:gd name="T54" fmla="*/ 188 w 277"/>
                <a:gd name="T55" fmla="*/ 186 h 409"/>
                <a:gd name="T56" fmla="*/ 65 w 277"/>
                <a:gd name="T57" fmla="*/ 182 h 409"/>
                <a:gd name="T58" fmla="*/ 8 w 277"/>
                <a:gd name="T59" fmla="*/ 149 h 409"/>
                <a:gd name="T60" fmla="*/ 0 w 277"/>
                <a:gd name="T61" fmla="*/ 193 h 409"/>
                <a:gd name="T62" fmla="*/ 15 w 277"/>
                <a:gd name="T63" fmla="*/ 221 h 409"/>
                <a:gd name="T64" fmla="*/ 82 w 277"/>
                <a:gd name="T65" fmla="*/ 248 h 409"/>
                <a:gd name="T66" fmla="*/ 63 w 277"/>
                <a:gd name="T67" fmla="*/ 200 h 409"/>
                <a:gd name="T68" fmla="*/ 66 w 277"/>
                <a:gd name="T69" fmla="*/ 220 h 409"/>
                <a:gd name="T70" fmla="*/ 47 w 277"/>
                <a:gd name="T71" fmla="*/ 216 h 409"/>
                <a:gd name="T72" fmla="*/ 58 w 277"/>
                <a:gd name="T73" fmla="*/ 200 h 409"/>
                <a:gd name="T74" fmla="*/ 3 w 277"/>
                <a:gd name="T75" fmla="*/ 394 h 409"/>
                <a:gd name="T76" fmla="*/ 7 w 277"/>
                <a:gd name="T77" fmla="*/ 409 h 409"/>
                <a:gd name="T78" fmla="*/ 105 w 277"/>
                <a:gd name="T79" fmla="*/ 396 h 409"/>
                <a:gd name="T80" fmla="*/ 274 w 277"/>
                <a:gd name="T81" fmla="*/ 231 h 409"/>
                <a:gd name="T82" fmla="*/ 258 w 277"/>
                <a:gd name="T83" fmla="*/ 248 h 409"/>
                <a:gd name="T84" fmla="*/ 164 w 277"/>
                <a:gd name="T85" fmla="*/ 277 h 409"/>
                <a:gd name="T86" fmla="*/ 45 w 277"/>
                <a:gd name="T87" fmla="*/ 263 h 409"/>
                <a:gd name="T88" fmla="*/ 5 w 277"/>
                <a:gd name="T89" fmla="*/ 232 h 409"/>
                <a:gd name="T90" fmla="*/ 0 w 277"/>
                <a:gd name="T91" fmla="*/ 281 h 409"/>
                <a:gd name="T92" fmla="*/ 21 w 277"/>
                <a:gd name="T93" fmla="*/ 313 h 409"/>
                <a:gd name="T94" fmla="*/ 102 w 277"/>
                <a:gd name="T95" fmla="*/ 339 h 409"/>
                <a:gd name="T96" fmla="*/ 138 w 277"/>
                <a:gd name="T97" fmla="*/ 363 h 409"/>
                <a:gd name="T98" fmla="*/ 199 w 277"/>
                <a:gd name="T99" fmla="*/ 334 h 409"/>
                <a:gd name="T100" fmla="*/ 266 w 277"/>
                <a:gd name="T101" fmla="*/ 304 h 409"/>
                <a:gd name="T102" fmla="*/ 58 w 277"/>
                <a:gd name="T103" fmla="*/ 313 h 409"/>
                <a:gd name="T104" fmla="*/ 46 w 277"/>
                <a:gd name="T105" fmla="*/ 301 h 409"/>
                <a:gd name="T106" fmla="*/ 63 w 277"/>
                <a:gd name="T107" fmla="*/ 291 h 409"/>
                <a:gd name="T108" fmla="*/ 66 w 277"/>
                <a:gd name="T109" fmla="*/ 31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7" h="409">
                  <a:moveTo>
                    <a:pt x="137" y="164"/>
                  </a:moveTo>
                  <a:lnTo>
                    <a:pt x="137" y="164"/>
                  </a:lnTo>
                  <a:lnTo>
                    <a:pt x="166" y="163"/>
                  </a:lnTo>
                  <a:lnTo>
                    <a:pt x="192" y="160"/>
                  </a:lnTo>
                  <a:lnTo>
                    <a:pt x="216" y="154"/>
                  </a:lnTo>
                  <a:lnTo>
                    <a:pt x="226" y="151"/>
                  </a:lnTo>
                  <a:lnTo>
                    <a:pt x="236" y="147"/>
                  </a:lnTo>
                  <a:lnTo>
                    <a:pt x="245" y="142"/>
                  </a:lnTo>
                  <a:lnTo>
                    <a:pt x="253" y="138"/>
                  </a:lnTo>
                  <a:lnTo>
                    <a:pt x="259" y="133"/>
                  </a:lnTo>
                  <a:lnTo>
                    <a:pt x="265" y="128"/>
                  </a:lnTo>
                  <a:lnTo>
                    <a:pt x="269" y="122"/>
                  </a:lnTo>
                  <a:lnTo>
                    <a:pt x="272" y="117"/>
                  </a:lnTo>
                  <a:lnTo>
                    <a:pt x="273" y="110"/>
                  </a:lnTo>
                  <a:lnTo>
                    <a:pt x="274" y="105"/>
                  </a:lnTo>
                  <a:lnTo>
                    <a:pt x="274" y="59"/>
                  </a:lnTo>
                  <a:lnTo>
                    <a:pt x="274" y="59"/>
                  </a:lnTo>
                  <a:lnTo>
                    <a:pt x="273" y="53"/>
                  </a:lnTo>
                  <a:lnTo>
                    <a:pt x="272" y="47"/>
                  </a:lnTo>
                  <a:lnTo>
                    <a:pt x="269" y="41"/>
                  </a:lnTo>
                  <a:lnTo>
                    <a:pt x="265" y="36"/>
                  </a:lnTo>
                  <a:lnTo>
                    <a:pt x="259" y="30"/>
                  </a:lnTo>
                  <a:lnTo>
                    <a:pt x="253" y="26"/>
                  </a:lnTo>
                  <a:lnTo>
                    <a:pt x="245" y="20"/>
                  </a:lnTo>
                  <a:lnTo>
                    <a:pt x="236" y="17"/>
                  </a:lnTo>
                  <a:lnTo>
                    <a:pt x="226" y="13"/>
                  </a:lnTo>
                  <a:lnTo>
                    <a:pt x="216" y="9"/>
                  </a:lnTo>
                  <a:lnTo>
                    <a:pt x="192" y="4"/>
                  </a:lnTo>
                  <a:lnTo>
                    <a:pt x="166" y="1"/>
                  </a:lnTo>
                  <a:lnTo>
                    <a:pt x="137" y="0"/>
                  </a:lnTo>
                  <a:lnTo>
                    <a:pt x="137" y="0"/>
                  </a:lnTo>
                  <a:lnTo>
                    <a:pt x="109" y="1"/>
                  </a:lnTo>
                  <a:lnTo>
                    <a:pt x="82" y="4"/>
                  </a:lnTo>
                  <a:lnTo>
                    <a:pt x="58" y="9"/>
                  </a:lnTo>
                  <a:lnTo>
                    <a:pt x="48" y="13"/>
                  </a:lnTo>
                  <a:lnTo>
                    <a:pt x="39" y="17"/>
                  </a:lnTo>
                  <a:lnTo>
                    <a:pt x="30" y="20"/>
                  </a:lnTo>
                  <a:lnTo>
                    <a:pt x="22" y="26"/>
                  </a:lnTo>
                  <a:lnTo>
                    <a:pt x="15" y="30"/>
                  </a:lnTo>
                  <a:lnTo>
                    <a:pt x="10" y="36"/>
                  </a:lnTo>
                  <a:lnTo>
                    <a:pt x="6" y="41"/>
                  </a:lnTo>
                  <a:lnTo>
                    <a:pt x="2" y="47"/>
                  </a:lnTo>
                  <a:lnTo>
                    <a:pt x="1" y="53"/>
                  </a:lnTo>
                  <a:lnTo>
                    <a:pt x="0" y="59"/>
                  </a:lnTo>
                  <a:lnTo>
                    <a:pt x="0" y="105"/>
                  </a:lnTo>
                  <a:lnTo>
                    <a:pt x="0" y="105"/>
                  </a:lnTo>
                  <a:lnTo>
                    <a:pt x="1" y="110"/>
                  </a:lnTo>
                  <a:lnTo>
                    <a:pt x="2" y="117"/>
                  </a:lnTo>
                  <a:lnTo>
                    <a:pt x="6" y="122"/>
                  </a:lnTo>
                  <a:lnTo>
                    <a:pt x="10" y="128"/>
                  </a:lnTo>
                  <a:lnTo>
                    <a:pt x="15" y="133"/>
                  </a:lnTo>
                  <a:lnTo>
                    <a:pt x="22" y="138"/>
                  </a:lnTo>
                  <a:lnTo>
                    <a:pt x="30" y="142"/>
                  </a:lnTo>
                  <a:lnTo>
                    <a:pt x="39" y="147"/>
                  </a:lnTo>
                  <a:lnTo>
                    <a:pt x="48" y="151"/>
                  </a:lnTo>
                  <a:lnTo>
                    <a:pt x="58" y="154"/>
                  </a:lnTo>
                  <a:lnTo>
                    <a:pt x="82" y="160"/>
                  </a:lnTo>
                  <a:lnTo>
                    <a:pt x="109" y="163"/>
                  </a:lnTo>
                  <a:lnTo>
                    <a:pt x="137" y="164"/>
                  </a:lnTo>
                  <a:lnTo>
                    <a:pt x="137" y="164"/>
                  </a:lnTo>
                  <a:close/>
                  <a:moveTo>
                    <a:pt x="58" y="135"/>
                  </a:moveTo>
                  <a:lnTo>
                    <a:pt x="58" y="135"/>
                  </a:lnTo>
                  <a:lnTo>
                    <a:pt x="54" y="133"/>
                  </a:lnTo>
                  <a:lnTo>
                    <a:pt x="49" y="130"/>
                  </a:lnTo>
                  <a:lnTo>
                    <a:pt x="47" y="127"/>
                  </a:lnTo>
                  <a:lnTo>
                    <a:pt x="46" y="122"/>
                  </a:lnTo>
                  <a:lnTo>
                    <a:pt x="46" y="122"/>
                  </a:lnTo>
                  <a:lnTo>
                    <a:pt x="47" y="118"/>
                  </a:lnTo>
                  <a:lnTo>
                    <a:pt x="49" y="115"/>
                  </a:lnTo>
                  <a:lnTo>
                    <a:pt x="54" y="111"/>
                  </a:lnTo>
                  <a:lnTo>
                    <a:pt x="58" y="110"/>
                  </a:lnTo>
                  <a:lnTo>
                    <a:pt x="58" y="110"/>
                  </a:lnTo>
                  <a:lnTo>
                    <a:pt x="63" y="111"/>
                  </a:lnTo>
                  <a:lnTo>
                    <a:pt x="66" y="115"/>
                  </a:lnTo>
                  <a:lnTo>
                    <a:pt x="69" y="118"/>
                  </a:lnTo>
                  <a:lnTo>
                    <a:pt x="69" y="122"/>
                  </a:lnTo>
                  <a:lnTo>
                    <a:pt x="69" y="122"/>
                  </a:lnTo>
                  <a:lnTo>
                    <a:pt x="69" y="127"/>
                  </a:lnTo>
                  <a:lnTo>
                    <a:pt x="66" y="130"/>
                  </a:lnTo>
                  <a:lnTo>
                    <a:pt x="63" y="133"/>
                  </a:lnTo>
                  <a:lnTo>
                    <a:pt x="58" y="135"/>
                  </a:lnTo>
                  <a:lnTo>
                    <a:pt x="58" y="135"/>
                  </a:lnTo>
                  <a:close/>
                  <a:moveTo>
                    <a:pt x="8" y="50"/>
                  </a:moveTo>
                  <a:lnTo>
                    <a:pt x="8" y="50"/>
                  </a:lnTo>
                  <a:lnTo>
                    <a:pt x="18" y="58"/>
                  </a:lnTo>
                  <a:lnTo>
                    <a:pt x="30" y="65"/>
                  </a:lnTo>
                  <a:lnTo>
                    <a:pt x="44" y="72"/>
                  </a:lnTo>
                  <a:lnTo>
                    <a:pt x="60" y="77"/>
                  </a:lnTo>
                  <a:lnTo>
                    <a:pt x="78" y="82"/>
                  </a:lnTo>
                  <a:lnTo>
                    <a:pt x="97" y="85"/>
                  </a:lnTo>
                  <a:lnTo>
                    <a:pt x="118" y="87"/>
                  </a:lnTo>
                  <a:lnTo>
                    <a:pt x="138" y="87"/>
                  </a:lnTo>
                  <a:lnTo>
                    <a:pt x="138" y="87"/>
                  </a:lnTo>
                  <a:lnTo>
                    <a:pt x="160" y="87"/>
                  </a:lnTo>
                  <a:lnTo>
                    <a:pt x="181" y="85"/>
                  </a:lnTo>
                  <a:lnTo>
                    <a:pt x="200" y="82"/>
                  </a:lnTo>
                  <a:lnTo>
                    <a:pt x="217" y="77"/>
                  </a:lnTo>
                  <a:lnTo>
                    <a:pt x="234" y="72"/>
                  </a:lnTo>
                  <a:lnTo>
                    <a:pt x="248" y="65"/>
                  </a:lnTo>
                  <a:lnTo>
                    <a:pt x="260" y="58"/>
                  </a:lnTo>
                  <a:lnTo>
                    <a:pt x="270" y="50"/>
                  </a:lnTo>
                  <a:lnTo>
                    <a:pt x="270" y="50"/>
                  </a:lnTo>
                  <a:lnTo>
                    <a:pt x="261" y="59"/>
                  </a:lnTo>
                  <a:lnTo>
                    <a:pt x="250" y="68"/>
                  </a:lnTo>
                  <a:lnTo>
                    <a:pt x="236" y="75"/>
                  </a:lnTo>
                  <a:lnTo>
                    <a:pt x="221" y="82"/>
                  </a:lnTo>
                  <a:lnTo>
                    <a:pt x="203" y="86"/>
                  </a:lnTo>
                  <a:lnTo>
                    <a:pt x="183" y="91"/>
                  </a:lnTo>
                  <a:lnTo>
                    <a:pt x="161" y="93"/>
                  </a:lnTo>
                  <a:lnTo>
                    <a:pt x="138" y="94"/>
                  </a:lnTo>
                  <a:lnTo>
                    <a:pt x="138" y="94"/>
                  </a:lnTo>
                  <a:lnTo>
                    <a:pt x="116" y="93"/>
                  </a:lnTo>
                  <a:lnTo>
                    <a:pt x="94" y="91"/>
                  </a:lnTo>
                  <a:lnTo>
                    <a:pt x="75" y="86"/>
                  </a:lnTo>
                  <a:lnTo>
                    <a:pt x="57" y="82"/>
                  </a:lnTo>
                  <a:lnTo>
                    <a:pt x="42" y="75"/>
                  </a:lnTo>
                  <a:lnTo>
                    <a:pt x="28" y="68"/>
                  </a:lnTo>
                  <a:lnTo>
                    <a:pt x="17" y="59"/>
                  </a:lnTo>
                  <a:lnTo>
                    <a:pt x="8" y="50"/>
                  </a:lnTo>
                  <a:lnTo>
                    <a:pt x="8" y="50"/>
                  </a:lnTo>
                  <a:close/>
                  <a:moveTo>
                    <a:pt x="267" y="391"/>
                  </a:moveTo>
                  <a:lnTo>
                    <a:pt x="171" y="391"/>
                  </a:lnTo>
                  <a:lnTo>
                    <a:pt x="171" y="391"/>
                  </a:lnTo>
                  <a:lnTo>
                    <a:pt x="171" y="396"/>
                  </a:lnTo>
                  <a:lnTo>
                    <a:pt x="171" y="396"/>
                  </a:lnTo>
                  <a:lnTo>
                    <a:pt x="170" y="402"/>
                  </a:lnTo>
                  <a:lnTo>
                    <a:pt x="168" y="409"/>
                  </a:lnTo>
                  <a:lnTo>
                    <a:pt x="267" y="409"/>
                  </a:lnTo>
                  <a:lnTo>
                    <a:pt x="267" y="409"/>
                  </a:lnTo>
                  <a:lnTo>
                    <a:pt x="271" y="409"/>
                  </a:lnTo>
                  <a:lnTo>
                    <a:pt x="273" y="407"/>
                  </a:lnTo>
                  <a:lnTo>
                    <a:pt x="276" y="403"/>
                  </a:lnTo>
                  <a:lnTo>
                    <a:pt x="277" y="400"/>
                  </a:lnTo>
                  <a:lnTo>
                    <a:pt x="277" y="400"/>
                  </a:lnTo>
                  <a:lnTo>
                    <a:pt x="276" y="397"/>
                  </a:lnTo>
                  <a:lnTo>
                    <a:pt x="273" y="394"/>
                  </a:lnTo>
                  <a:lnTo>
                    <a:pt x="271" y="391"/>
                  </a:lnTo>
                  <a:lnTo>
                    <a:pt x="267" y="391"/>
                  </a:lnTo>
                  <a:lnTo>
                    <a:pt x="267" y="391"/>
                  </a:lnTo>
                  <a:close/>
                  <a:moveTo>
                    <a:pt x="137" y="253"/>
                  </a:moveTo>
                  <a:lnTo>
                    <a:pt x="137" y="253"/>
                  </a:lnTo>
                  <a:lnTo>
                    <a:pt x="166" y="251"/>
                  </a:lnTo>
                  <a:lnTo>
                    <a:pt x="192" y="248"/>
                  </a:lnTo>
                  <a:lnTo>
                    <a:pt x="216" y="242"/>
                  </a:lnTo>
                  <a:lnTo>
                    <a:pt x="226" y="239"/>
                  </a:lnTo>
                  <a:lnTo>
                    <a:pt x="236" y="236"/>
                  </a:lnTo>
                  <a:lnTo>
                    <a:pt x="245" y="231"/>
                  </a:lnTo>
                  <a:lnTo>
                    <a:pt x="253" y="227"/>
                  </a:lnTo>
                  <a:lnTo>
                    <a:pt x="259" y="221"/>
                  </a:lnTo>
                  <a:lnTo>
                    <a:pt x="265" y="216"/>
                  </a:lnTo>
                  <a:lnTo>
                    <a:pt x="269" y="210"/>
                  </a:lnTo>
                  <a:lnTo>
                    <a:pt x="272" y="205"/>
                  </a:lnTo>
                  <a:lnTo>
                    <a:pt x="273" y="199"/>
                  </a:lnTo>
                  <a:lnTo>
                    <a:pt x="274" y="193"/>
                  </a:lnTo>
                  <a:lnTo>
                    <a:pt x="274" y="148"/>
                  </a:lnTo>
                  <a:lnTo>
                    <a:pt x="274" y="148"/>
                  </a:lnTo>
                  <a:lnTo>
                    <a:pt x="274" y="143"/>
                  </a:lnTo>
                  <a:lnTo>
                    <a:pt x="272" y="139"/>
                  </a:lnTo>
                  <a:lnTo>
                    <a:pt x="272" y="139"/>
                  </a:lnTo>
                  <a:lnTo>
                    <a:pt x="270" y="144"/>
                  </a:lnTo>
                  <a:lnTo>
                    <a:pt x="267" y="149"/>
                  </a:lnTo>
                  <a:lnTo>
                    <a:pt x="262" y="154"/>
                  </a:lnTo>
                  <a:lnTo>
                    <a:pt x="258" y="159"/>
                  </a:lnTo>
                  <a:lnTo>
                    <a:pt x="251" y="163"/>
                  </a:lnTo>
                  <a:lnTo>
                    <a:pt x="245" y="167"/>
                  </a:lnTo>
                  <a:lnTo>
                    <a:pt x="228" y="175"/>
                  </a:lnTo>
                  <a:lnTo>
                    <a:pt x="210" y="182"/>
                  </a:lnTo>
                  <a:lnTo>
                    <a:pt x="188" y="186"/>
                  </a:lnTo>
                  <a:lnTo>
                    <a:pt x="164" y="189"/>
                  </a:lnTo>
                  <a:lnTo>
                    <a:pt x="137" y="191"/>
                  </a:lnTo>
                  <a:lnTo>
                    <a:pt x="137" y="191"/>
                  </a:lnTo>
                  <a:lnTo>
                    <a:pt x="111" y="189"/>
                  </a:lnTo>
                  <a:lnTo>
                    <a:pt x="87" y="186"/>
                  </a:lnTo>
                  <a:lnTo>
                    <a:pt x="65" y="182"/>
                  </a:lnTo>
                  <a:lnTo>
                    <a:pt x="46" y="175"/>
                  </a:lnTo>
                  <a:lnTo>
                    <a:pt x="30" y="167"/>
                  </a:lnTo>
                  <a:lnTo>
                    <a:pt x="23" y="163"/>
                  </a:lnTo>
                  <a:lnTo>
                    <a:pt x="17" y="159"/>
                  </a:lnTo>
                  <a:lnTo>
                    <a:pt x="12" y="154"/>
                  </a:lnTo>
                  <a:lnTo>
                    <a:pt x="8" y="149"/>
                  </a:lnTo>
                  <a:lnTo>
                    <a:pt x="5" y="144"/>
                  </a:lnTo>
                  <a:lnTo>
                    <a:pt x="2" y="139"/>
                  </a:lnTo>
                  <a:lnTo>
                    <a:pt x="2" y="139"/>
                  </a:lnTo>
                  <a:lnTo>
                    <a:pt x="0" y="143"/>
                  </a:lnTo>
                  <a:lnTo>
                    <a:pt x="0" y="148"/>
                  </a:lnTo>
                  <a:lnTo>
                    <a:pt x="0" y="193"/>
                  </a:lnTo>
                  <a:lnTo>
                    <a:pt x="0" y="193"/>
                  </a:lnTo>
                  <a:lnTo>
                    <a:pt x="1" y="199"/>
                  </a:lnTo>
                  <a:lnTo>
                    <a:pt x="2" y="205"/>
                  </a:lnTo>
                  <a:lnTo>
                    <a:pt x="6" y="210"/>
                  </a:lnTo>
                  <a:lnTo>
                    <a:pt x="10" y="216"/>
                  </a:lnTo>
                  <a:lnTo>
                    <a:pt x="15" y="221"/>
                  </a:lnTo>
                  <a:lnTo>
                    <a:pt x="22" y="227"/>
                  </a:lnTo>
                  <a:lnTo>
                    <a:pt x="30" y="231"/>
                  </a:lnTo>
                  <a:lnTo>
                    <a:pt x="39" y="236"/>
                  </a:lnTo>
                  <a:lnTo>
                    <a:pt x="48" y="239"/>
                  </a:lnTo>
                  <a:lnTo>
                    <a:pt x="58" y="242"/>
                  </a:lnTo>
                  <a:lnTo>
                    <a:pt x="82" y="248"/>
                  </a:lnTo>
                  <a:lnTo>
                    <a:pt x="109" y="251"/>
                  </a:lnTo>
                  <a:lnTo>
                    <a:pt x="137" y="253"/>
                  </a:lnTo>
                  <a:lnTo>
                    <a:pt x="137" y="253"/>
                  </a:lnTo>
                  <a:close/>
                  <a:moveTo>
                    <a:pt x="58" y="200"/>
                  </a:moveTo>
                  <a:lnTo>
                    <a:pt x="58" y="200"/>
                  </a:lnTo>
                  <a:lnTo>
                    <a:pt x="63" y="200"/>
                  </a:lnTo>
                  <a:lnTo>
                    <a:pt x="66" y="204"/>
                  </a:lnTo>
                  <a:lnTo>
                    <a:pt x="69" y="207"/>
                  </a:lnTo>
                  <a:lnTo>
                    <a:pt x="69" y="211"/>
                  </a:lnTo>
                  <a:lnTo>
                    <a:pt x="69" y="211"/>
                  </a:lnTo>
                  <a:lnTo>
                    <a:pt x="69" y="216"/>
                  </a:lnTo>
                  <a:lnTo>
                    <a:pt x="66" y="220"/>
                  </a:lnTo>
                  <a:lnTo>
                    <a:pt x="63" y="222"/>
                  </a:lnTo>
                  <a:lnTo>
                    <a:pt x="58" y="223"/>
                  </a:lnTo>
                  <a:lnTo>
                    <a:pt x="58" y="223"/>
                  </a:lnTo>
                  <a:lnTo>
                    <a:pt x="54" y="222"/>
                  </a:lnTo>
                  <a:lnTo>
                    <a:pt x="49" y="220"/>
                  </a:lnTo>
                  <a:lnTo>
                    <a:pt x="47" y="216"/>
                  </a:lnTo>
                  <a:lnTo>
                    <a:pt x="46" y="211"/>
                  </a:lnTo>
                  <a:lnTo>
                    <a:pt x="46" y="211"/>
                  </a:lnTo>
                  <a:lnTo>
                    <a:pt x="47" y="207"/>
                  </a:lnTo>
                  <a:lnTo>
                    <a:pt x="49" y="204"/>
                  </a:lnTo>
                  <a:lnTo>
                    <a:pt x="54" y="200"/>
                  </a:lnTo>
                  <a:lnTo>
                    <a:pt x="58" y="200"/>
                  </a:lnTo>
                  <a:lnTo>
                    <a:pt x="58" y="200"/>
                  </a:lnTo>
                  <a:close/>
                  <a:moveTo>
                    <a:pt x="107" y="391"/>
                  </a:moveTo>
                  <a:lnTo>
                    <a:pt x="10" y="391"/>
                  </a:lnTo>
                  <a:lnTo>
                    <a:pt x="10" y="391"/>
                  </a:lnTo>
                  <a:lnTo>
                    <a:pt x="7" y="391"/>
                  </a:lnTo>
                  <a:lnTo>
                    <a:pt x="3" y="394"/>
                  </a:lnTo>
                  <a:lnTo>
                    <a:pt x="1" y="397"/>
                  </a:lnTo>
                  <a:lnTo>
                    <a:pt x="0" y="400"/>
                  </a:lnTo>
                  <a:lnTo>
                    <a:pt x="0" y="400"/>
                  </a:lnTo>
                  <a:lnTo>
                    <a:pt x="1" y="403"/>
                  </a:lnTo>
                  <a:lnTo>
                    <a:pt x="3" y="407"/>
                  </a:lnTo>
                  <a:lnTo>
                    <a:pt x="7" y="409"/>
                  </a:lnTo>
                  <a:lnTo>
                    <a:pt x="10" y="409"/>
                  </a:lnTo>
                  <a:lnTo>
                    <a:pt x="109" y="409"/>
                  </a:lnTo>
                  <a:lnTo>
                    <a:pt x="109" y="409"/>
                  </a:lnTo>
                  <a:lnTo>
                    <a:pt x="107" y="402"/>
                  </a:lnTo>
                  <a:lnTo>
                    <a:pt x="105" y="396"/>
                  </a:lnTo>
                  <a:lnTo>
                    <a:pt x="105" y="396"/>
                  </a:lnTo>
                  <a:lnTo>
                    <a:pt x="107" y="391"/>
                  </a:lnTo>
                  <a:lnTo>
                    <a:pt x="107" y="391"/>
                  </a:lnTo>
                  <a:close/>
                  <a:moveTo>
                    <a:pt x="274" y="281"/>
                  </a:moveTo>
                  <a:lnTo>
                    <a:pt x="274" y="236"/>
                  </a:lnTo>
                  <a:lnTo>
                    <a:pt x="274" y="236"/>
                  </a:lnTo>
                  <a:lnTo>
                    <a:pt x="274" y="231"/>
                  </a:lnTo>
                  <a:lnTo>
                    <a:pt x="273" y="227"/>
                  </a:lnTo>
                  <a:lnTo>
                    <a:pt x="273" y="227"/>
                  </a:lnTo>
                  <a:lnTo>
                    <a:pt x="270" y="232"/>
                  </a:lnTo>
                  <a:lnTo>
                    <a:pt x="267" y="238"/>
                  </a:lnTo>
                  <a:lnTo>
                    <a:pt x="262" y="242"/>
                  </a:lnTo>
                  <a:lnTo>
                    <a:pt x="258" y="248"/>
                  </a:lnTo>
                  <a:lnTo>
                    <a:pt x="251" y="252"/>
                  </a:lnTo>
                  <a:lnTo>
                    <a:pt x="245" y="256"/>
                  </a:lnTo>
                  <a:lnTo>
                    <a:pt x="228" y="263"/>
                  </a:lnTo>
                  <a:lnTo>
                    <a:pt x="210" y="270"/>
                  </a:lnTo>
                  <a:lnTo>
                    <a:pt x="188" y="274"/>
                  </a:lnTo>
                  <a:lnTo>
                    <a:pt x="164" y="277"/>
                  </a:lnTo>
                  <a:lnTo>
                    <a:pt x="137" y="278"/>
                  </a:lnTo>
                  <a:lnTo>
                    <a:pt x="137" y="278"/>
                  </a:lnTo>
                  <a:lnTo>
                    <a:pt x="111" y="277"/>
                  </a:lnTo>
                  <a:lnTo>
                    <a:pt x="87" y="274"/>
                  </a:lnTo>
                  <a:lnTo>
                    <a:pt x="65" y="270"/>
                  </a:lnTo>
                  <a:lnTo>
                    <a:pt x="45" y="263"/>
                  </a:lnTo>
                  <a:lnTo>
                    <a:pt x="30" y="256"/>
                  </a:lnTo>
                  <a:lnTo>
                    <a:pt x="23" y="252"/>
                  </a:lnTo>
                  <a:lnTo>
                    <a:pt x="17" y="248"/>
                  </a:lnTo>
                  <a:lnTo>
                    <a:pt x="11" y="242"/>
                  </a:lnTo>
                  <a:lnTo>
                    <a:pt x="8" y="238"/>
                  </a:lnTo>
                  <a:lnTo>
                    <a:pt x="5" y="232"/>
                  </a:lnTo>
                  <a:lnTo>
                    <a:pt x="1" y="227"/>
                  </a:lnTo>
                  <a:lnTo>
                    <a:pt x="1" y="227"/>
                  </a:lnTo>
                  <a:lnTo>
                    <a:pt x="0" y="231"/>
                  </a:lnTo>
                  <a:lnTo>
                    <a:pt x="0" y="236"/>
                  </a:lnTo>
                  <a:lnTo>
                    <a:pt x="0" y="281"/>
                  </a:lnTo>
                  <a:lnTo>
                    <a:pt x="0" y="281"/>
                  </a:lnTo>
                  <a:lnTo>
                    <a:pt x="1" y="287"/>
                  </a:lnTo>
                  <a:lnTo>
                    <a:pt x="2" y="293"/>
                  </a:lnTo>
                  <a:lnTo>
                    <a:pt x="6" y="298"/>
                  </a:lnTo>
                  <a:lnTo>
                    <a:pt x="10" y="304"/>
                  </a:lnTo>
                  <a:lnTo>
                    <a:pt x="14" y="309"/>
                  </a:lnTo>
                  <a:lnTo>
                    <a:pt x="21" y="313"/>
                  </a:lnTo>
                  <a:lnTo>
                    <a:pt x="28" y="318"/>
                  </a:lnTo>
                  <a:lnTo>
                    <a:pt x="36" y="322"/>
                  </a:lnTo>
                  <a:lnTo>
                    <a:pt x="45" y="326"/>
                  </a:lnTo>
                  <a:lnTo>
                    <a:pt x="55" y="330"/>
                  </a:lnTo>
                  <a:lnTo>
                    <a:pt x="77" y="335"/>
                  </a:lnTo>
                  <a:lnTo>
                    <a:pt x="102" y="339"/>
                  </a:lnTo>
                  <a:lnTo>
                    <a:pt x="130" y="341"/>
                  </a:lnTo>
                  <a:lnTo>
                    <a:pt x="130" y="364"/>
                  </a:lnTo>
                  <a:lnTo>
                    <a:pt x="130" y="364"/>
                  </a:lnTo>
                  <a:lnTo>
                    <a:pt x="134" y="364"/>
                  </a:lnTo>
                  <a:lnTo>
                    <a:pt x="138" y="363"/>
                  </a:lnTo>
                  <a:lnTo>
                    <a:pt x="138" y="363"/>
                  </a:lnTo>
                  <a:lnTo>
                    <a:pt x="143" y="364"/>
                  </a:lnTo>
                  <a:lnTo>
                    <a:pt x="148" y="364"/>
                  </a:lnTo>
                  <a:lnTo>
                    <a:pt x="148" y="341"/>
                  </a:lnTo>
                  <a:lnTo>
                    <a:pt x="148" y="341"/>
                  </a:lnTo>
                  <a:lnTo>
                    <a:pt x="175" y="339"/>
                  </a:lnTo>
                  <a:lnTo>
                    <a:pt x="199" y="334"/>
                  </a:lnTo>
                  <a:lnTo>
                    <a:pt x="221" y="329"/>
                  </a:lnTo>
                  <a:lnTo>
                    <a:pt x="239" y="322"/>
                  </a:lnTo>
                  <a:lnTo>
                    <a:pt x="247" y="318"/>
                  </a:lnTo>
                  <a:lnTo>
                    <a:pt x="254" y="313"/>
                  </a:lnTo>
                  <a:lnTo>
                    <a:pt x="260" y="308"/>
                  </a:lnTo>
                  <a:lnTo>
                    <a:pt x="266" y="304"/>
                  </a:lnTo>
                  <a:lnTo>
                    <a:pt x="269" y="298"/>
                  </a:lnTo>
                  <a:lnTo>
                    <a:pt x="272" y="293"/>
                  </a:lnTo>
                  <a:lnTo>
                    <a:pt x="273" y="287"/>
                  </a:lnTo>
                  <a:lnTo>
                    <a:pt x="274" y="281"/>
                  </a:lnTo>
                  <a:lnTo>
                    <a:pt x="274" y="281"/>
                  </a:lnTo>
                  <a:close/>
                  <a:moveTo>
                    <a:pt x="58" y="313"/>
                  </a:moveTo>
                  <a:lnTo>
                    <a:pt x="58" y="313"/>
                  </a:lnTo>
                  <a:lnTo>
                    <a:pt x="54" y="312"/>
                  </a:lnTo>
                  <a:lnTo>
                    <a:pt x="49" y="310"/>
                  </a:lnTo>
                  <a:lnTo>
                    <a:pt x="47" y="306"/>
                  </a:lnTo>
                  <a:lnTo>
                    <a:pt x="46" y="301"/>
                  </a:lnTo>
                  <a:lnTo>
                    <a:pt x="46" y="301"/>
                  </a:lnTo>
                  <a:lnTo>
                    <a:pt x="47" y="297"/>
                  </a:lnTo>
                  <a:lnTo>
                    <a:pt x="49" y="294"/>
                  </a:lnTo>
                  <a:lnTo>
                    <a:pt x="54" y="291"/>
                  </a:lnTo>
                  <a:lnTo>
                    <a:pt x="58" y="290"/>
                  </a:lnTo>
                  <a:lnTo>
                    <a:pt x="58" y="290"/>
                  </a:lnTo>
                  <a:lnTo>
                    <a:pt x="63" y="291"/>
                  </a:lnTo>
                  <a:lnTo>
                    <a:pt x="66" y="294"/>
                  </a:lnTo>
                  <a:lnTo>
                    <a:pt x="69" y="297"/>
                  </a:lnTo>
                  <a:lnTo>
                    <a:pt x="69" y="301"/>
                  </a:lnTo>
                  <a:lnTo>
                    <a:pt x="69" y="301"/>
                  </a:lnTo>
                  <a:lnTo>
                    <a:pt x="69" y="306"/>
                  </a:lnTo>
                  <a:lnTo>
                    <a:pt x="66" y="310"/>
                  </a:lnTo>
                  <a:lnTo>
                    <a:pt x="63" y="312"/>
                  </a:lnTo>
                  <a:lnTo>
                    <a:pt x="58" y="313"/>
                  </a:lnTo>
                  <a:lnTo>
                    <a:pt x="58" y="3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26" name="Freeform 160">
              <a:extLst>
                <a:ext uri="{FF2B5EF4-FFF2-40B4-BE49-F238E27FC236}">
                  <a16:creationId xmlns:a16="http://schemas.microsoft.com/office/drawing/2014/main" id="{2028427A-DAEB-4B36-83FE-1B3CD5239E3E}"/>
                </a:ext>
              </a:extLst>
            </p:cNvPr>
            <p:cNvSpPr>
              <a:spLocks/>
            </p:cNvSpPr>
            <p:nvPr/>
          </p:nvSpPr>
          <p:spPr bwMode="gray">
            <a:xfrm>
              <a:off x="2130664" y="3027260"/>
              <a:ext cx="85725" cy="87313"/>
            </a:xfrm>
            <a:custGeom>
              <a:avLst/>
              <a:gdLst>
                <a:gd name="T0" fmla="*/ 54 w 54"/>
                <a:gd name="T1" fmla="*/ 28 h 55"/>
                <a:gd name="T2" fmla="*/ 54 w 54"/>
                <a:gd name="T3" fmla="*/ 28 h 55"/>
                <a:gd name="T4" fmla="*/ 53 w 54"/>
                <a:gd name="T5" fmla="*/ 33 h 55"/>
                <a:gd name="T6" fmla="*/ 52 w 54"/>
                <a:gd name="T7" fmla="*/ 39 h 55"/>
                <a:gd name="T8" fmla="*/ 49 w 54"/>
                <a:gd name="T9" fmla="*/ 43 h 55"/>
                <a:gd name="T10" fmla="*/ 46 w 54"/>
                <a:gd name="T11" fmla="*/ 46 h 55"/>
                <a:gd name="T12" fmla="*/ 42 w 54"/>
                <a:gd name="T13" fmla="*/ 50 h 55"/>
                <a:gd name="T14" fmla="*/ 37 w 54"/>
                <a:gd name="T15" fmla="*/ 53 h 55"/>
                <a:gd name="T16" fmla="*/ 32 w 54"/>
                <a:gd name="T17" fmla="*/ 54 h 55"/>
                <a:gd name="T18" fmla="*/ 26 w 54"/>
                <a:gd name="T19" fmla="*/ 55 h 55"/>
                <a:gd name="T20" fmla="*/ 26 w 54"/>
                <a:gd name="T21" fmla="*/ 55 h 55"/>
                <a:gd name="T22" fmla="*/ 21 w 54"/>
                <a:gd name="T23" fmla="*/ 54 h 55"/>
                <a:gd name="T24" fmla="*/ 17 w 54"/>
                <a:gd name="T25" fmla="*/ 53 h 55"/>
                <a:gd name="T26" fmla="*/ 11 w 54"/>
                <a:gd name="T27" fmla="*/ 50 h 55"/>
                <a:gd name="T28" fmla="*/ 8 w 54"/>
                <a:gd name="T29" fmla="*/ 46 h 55"/>
                <a:gd name="T30" fmla="*/ 4 w 54"/>
                <a:gd name="T31" fmla="*/ 43 h 55"/>
                <a:gd name="T32" fmla="*/ 1 w 54"/>
                <a:gd name="T33" fmla="*/ 39 h 55"/>
                <a:gd name="T34" fmla="*/ 0 w 54"/>
                <a:gd name="T35" fmla="*/ 33 h 55"/>
                <a:gd name="T36" fmla="*/ 0 w 54"/>
                <a:gd name="T37" fmla="*/ 28 h 55"/>
                <a:gd name="T38" fmla="*/ 0 w 54"/>
                <a:gd name="T39" fmla="*/ 28 h 55"/>
                <a:gd name="T40" fmla="*/ 0 w 54"/>
                <a:gd name="T41" fmla="*/ 22 h 55"/>
                <a:gd name="T42" fmla="*/ 1 w 54"/>
                <a:gd name="T43" fmla="*/ 17 h 55"/>
                <a:gd name="T44" fmla="*/ 4 w 54"/>
                <a:gd name="T45" fmla="*/ 12 h 55"/>
                <a:gd name="T46" fmla="*/ 8 w 54"/>
                <a:gd name="T47" fmla="*/ 9 h 55"/>
                <a:gd name="T48" fmla="*/ 11 w 54"/>
                <a:gd name="T49" fmla="*/ 6 h 55"/>
                <a:gd name="T50" fmla="*/ 17 w 54"/>
                <a:gd name="T51" fmla="*/ 3 h 55"/>
                <a:gd name="T52" fmla="*/ 21 w 54"/>
                <a:gd name="T53" fmla="*/ 1 h 55"/>
                <a:gd name="T54" fmla="*/ 26 w 54"/>
                <a:gd name="T55" fmla="*/ 0 h 55"/>
                <a:gd name="T56" fmla="*/ 26 w 54"/>
                <a:gd name="T57" fmla="*/ 0 h 55"/>
                <a:gd name="T58" fmla="*/ 32 w 54"/>
                <a:gd name="T59" fmla="*/ 1 h 55"/>
                <a:gd name="T60" fmla="*/ 37 w 54"/>
                <a:gd name="T61" fmla="*/ 3 h 55"/>
                <a:gd name="T62" fmla="*/ 42 w 54"/>
                <a:gd name="T63" fmla="*/ 6 h 55"/>
                <a:gd name="T64" fmla="*/ 46 w 54"/>
                <a:gd name="T65" fmla="*/ 9 h 55"/>
                <a:gd name="T66" fmla="*/ 49 w 54"/>
                <a:gd name="T67" fmla="*/ 12 h 55"/>
                <a:gd name="T68" fmla="*/ 52 w 54"/>
                <a:gd name="T69" fmla="*/ 17 h 55"/>
                <a:gd name="T70" fmla="*/ 53 w 54"/>
                <a:gd name="T71" fmla="*/ 22 h 55"/>
                <a:gd name="T72" fmla="*/ 54 w 54"/>
                <a:gd name="T73" fmla="*/ 28 h 55"/>
                <a:gd name="T74" fmla="*/ 54 w 54"/>
                <a:gd name="T75" fmla="*/ 2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4" h="55">
                  <a:moveTo>
                    <a:pt x="54" y="28"/>
                  </a:moveTo>
                  <a:lnTo>
                    <a:pt x="54" y="28"/>
                  </a:lnTo>
                  <a:lnTo>
                    <a:pt x="53" y="33"/>
                  </a:lnTo>
                  <a:lnTo>
                    <a:pt x="52" y="39"/>
                  </a:lnTo>
                  <a:lnTo>
                    <a:pt x="49" y="43"/>
                  </a:lnTo>
                  <a:lnTo>
                    <a:pt x="46" y="46"/>
                  </a:lnTo>
                  <a:lnTo>
                    <a:pt x="42" y="50"/>
                  </a:lnTo>
                  <a:lnTo>
                    <a:pt x="37" y="53"/>
                  </a:lnTo>
                  <a:lnTo>
                    <a:pt x="32" y="54"/>
                  </a:lnTo>
                  <a:lnTo>
                    <a:pt x="26" y="55"/>
                  </a:lnTo>
                  <a:lnTo>
                    <a:pt x="26" y="55"/>
                  </a:lnTo>
                  <a:lnTo>
                    <a:pt x="21" y="54"/>
                  </a:lnTo>
                  <a:lnTo>
                    <a:pt x="17" y="53"/>
                  </a:lnTo>
                  <a:lnTo>
                    <a:pt x="11" y="50"/>
                  </a:lnTo>
                  <a:lnTo>
                    <a:pt x="8" y="46"/>
                  </a:lnTo>
                  <a:lnTo>
                    <a:pt x="4" y="43"/>
                  </a:lnTo>
                  <a:lnTo>
                    <a:pt x="1" y="39"/>
                  </a:lnTo>
                  <a:lnTo>
                    <a:pt x="0" y="33"/>
                  </a:lnTo>
                  <a:lnTo>
                    <a:pt x="0" y="28"/>
                  </a:lnTo>
                  <a:lnTo>
                    <a:pt x="0" y="28"/>
                  </a:lnTo>
                  <a:lnTo>
                    <a:pt x="0" y="22"/>
                  </a:lnTo>
                  <a:lnTo>
                    <a:pt x="1" y="17"/>
                  </a:lnTo>
                  <a:lnTo>
                    <a:pt x="4" y="12"/>
                  </a:lnTo>
                  <a:lnTo>
                    <a:pt x="8" y="9"/>
                  </a:lnTo>
                  <a:lnTo>
                    <a:pt x="11" y="6"/>
                  </a:lnTo>
                  <a:lnTo>
                    <a:pt x="17" y="3"/>
                  </a:lnTo>
                  <a:lnTo>
                    <a:pt x="21" y="1"/>
                  </a:lnTo>
                  <a:lnTo>
                    <a:pt x="26" y="0"/>
                  </a:lnTo>
                  <a:lnTo>
                    <a:pt x="26" y="0"/>
                  </a:lnTo>
                  <a:lnTo>
                    <a:pt x="32" y="1"/>
                  </a:lnTo>
                  <a:lnTo>
                    <a:pt x="37" y="3"/>
                  </a:lnTo>
                  <a:lnTo>
                    <a:pt x="42" y="6"/>
                  </a:lnTo>
                  <a:lnTo>
                    <a:pt x="46" y="9"/>
                  </a:lnTo>
                  <a:lnTo>
                    <a:pt x="49" y="12"/>
                  </a:lnTo>
                  <a:lnTo>
                    <a:pt x="52" y="17"/>
                  </a:lnTo>
                  <a:lnTo>
                    <a:pt x="53" y="22"/>
                  </a:lnTo>
                  <a:lnTo>
                    <a:pt x="54" y="28"/>
                  </a:lnTo>
                  <a:lnTo>
                    <a:pt x="54"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grpSp>
        <p:nvGrpSpPr>
          <p:cNvPr id="127" name="组合 387">
            <a:extLst>
              <a:ext uri="{FF2B5EF4-FFF2-40B4-BE49-F238E27FC236}">
                <a16:creationId xmlns:a16="http://schemas.microsoft.com/office/drawing/2014/main" id="{0D462109-8684-4263-8F76-80294EAAF4AE}"/>
              </a:ext>
            </a:extLst>
          </p:cNvPr>
          <p:cNvGrpSpPr/>
          <p:nvPr/>
        </p:nvGrpSpPr>
        <p:grpSpPr bwMode="gray">
          <a:xfrm>
            <a:off x="5769338" y="5592512"/>
            <a:ext cx="292119" cy="304893"/>
            <a:chOff x="4622166" y="3061494"/>
            <a:chExt cx="489584" cy="615667"/>
          </a:xfrm>
          <a:solidFill>
            <a:srgbClr val="00B0F0"/>
          </a:solidFill>
        </p:grpSpPr>
        <p:grpSp>
          <p:nvGrpSpPr>
            <p:cNvPr id="128" name="组合 376">
              <a:extLst>
                <a:ext uri="{FF2B5EF4-FFF2-40B4-BE49-F238E27FC236}">
                  <a16:creationId xmlns:a16="http://schemas.microsoft.com/office/drawing/2014/main" id="{252A7F20-074A-4AB6-BF23-16C25682EA77}"/>
                </a:ext>
              </a:extLst>
            </p:cNvPr>
            <p:cNvGrpSpPr/>
            <p:nvPr/>
          </p:nvGrpSpPr>
          <p:grpSpPr bwMode="gray">
            <a:xfrm>
              <a:off x="4622166" y="3467100"/>
              <a:ext cx="489584" cy="210061"/>
              <a:chOff x="3298897" y="4095287"/>
              <a:chExt cx="1257750" cy="591162"/>
            </a:xfrm>
            <a:grpFill/>
          </p:grpSpPr>
          <p:sp>
            <p:nvSpPr>
              <p:cNvPr id="135" name="Freeform 13">
                <a:extLst>
                  <a:ext uri="{FF2B5EF4-FFF2-40B4-BE49-F238E27FC236}">
                    <a16:creationId xmlns:a16="http://schemas.microsoft.com/office/drawing/2014/main" id="{682EB80C-47C1-4C8E-965F-02AEF62E5A1B}"/>
                  </a:ext>
                </a:extLst>
              </p:cNvPr>
              <p:cNvSpPr>
                <a:spLocks noEditPoints="1"/>
              </p:cNvSpPr>
              <p:nvPr/>
            </p:nvSpPr>
            <p:spPr bwMode="gray">
              <a:xfrm>
                <a:off x="3298897" y="40952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sp>
            <p:nvSpPr>
              <p:cNvPr id="136" name="Freeform 13">
                <a:extLst>
                  <a:ext uri="{FF2B5EF4-FFF2-40B4-BE49-F238E27FC236}">
                    <a16:creationId xmlns:a16="http://schemas.microsoft.com/office/drawing/2014/main" id="{AFF51986-3114-439E-A6A8-AD2C95842F6F}"/>
                  </a:ext>
                </a:extLst>
              </p:cNvPr>
              <p:cNvSpPr>
                <a:spLocks noEditPoints="1"/>
              </p:cNvSpPr>
              <p:nvPr/>
            </p:nvSpPr>
            <p:spPr bwMode="gray">
              <a:xfrm>
                <a:off x="3298897" y="43873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grpSp>
        <p:grpSp>
          <p:nvGrpSpPr>
            <p:cNvPr id="129" name="组合 379">
              <a:extLst>
                <a:ext uri="{FF2B5EF4-FFF2-40B4-BE49-F238E27FC236}">
                  <a16:creationId xmlns:a16="http://schemas.microsoft.com/office/drawing/2014/main" id="{3B67131C-151B-43F3-B2E7-AC2A7B2FE37F}"/>
                </a:ext>
              </a:extLst>
            </p:cNvPr>
            <p:cNvGrpSpPr/>
            <p:nvPr/>
          </p:nvGrpSpPr>
          <p:grpSpPr bwMode="gray">
            <a:xfrm>
              <a:off x="4622166" y="3263900"/>
              <a:ext cx="489584" cy="210061"/>
              <a:chOff x="3298897" y="4095287"/>
              <a:chExt cx="1257750" cy="591162"/>
            </a:xfrm>
            <a:grpFill/>
          </p:grpSpPr>
          <p:sp>
            <p:nvSpPr>
              <p:cNvPr id="133" name="Freeform 13">
                <a:extLst>
                  <a:ext uri="{FF2B5EF4-FFF2-40B4-BE49-F238E27FC236}">
                    <a16:creationId xmlns:a16="http://schemas.microsoft.com/office/drawing/2014/main" id="{477D734E-2915-435E-84BE-174DD2F1DB9B}"/>
                  </a:ext>
                </a:extLst>
              </p:cNvPr>
              <p:cNvSpPr>
                <a:spLocks noEditPoints="1"/>
              </p:cNvSpPr>
              <p:nvPr/>
            </p:nvSpPr>
            <p:spPr bwMode="gray">
              <a:xfrm>
                <a:off x="3298897" y="40952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sp>
            <p:nvSpPr>
              <p:cNvPr id="134" name="Freeform 13">
                <a:extLst>
                  <a:ext uri="{FF2B5EF4-FFF2-40B4-BE49-F238E27FC236}">
                    <a16:creationId xmlns:a16="http://schemas.microsoft.com/office/drawing/2014/main" id="{C47523CF-2F98-49E0-BB59-45F89EECCB6F}"/>
                  </a:ext>
                </a:extLst>
              </p:cNvPr>
              <p:cNvSpPr>
                <a:spLocks noEditPoints="1"/>
              </p:cNvSpPr>
              <p:nvPr/>
            </p:nvSpPr>
            <p:spPr bwMode="gray">
              <a:xfrm>
                <a:off x="3298897" y="43873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grpSp>
        <p:grpSp>
          <p:nvGrpSpPr>
            <p:cNvPr id="130" name="组合 388">
              <a:extLst>
                <a:ext uri="{FF2B5EF4-FFF2-40B4-BE49-F238E27FC236}">
                  <a16:creationId xmlns:a16="http://schemas.microsoft.com/office/drawing/2014/main" id="{EDE062E9-B1DE-487F-9BC4-981F331809EE}"/>
                </a:ext>
              </a:extLst>
            </p:cNvPr>
            <p:cNvGrpSpPr/>
            <p:nvPr/>
          </p:nvGrpSpPr>
          <p:grpSpPr bwMode="gray">
            <a:xfrm>
              <a:off x="4622166" y="3061494"/>
              <a:ext cx="489584" cy="210061"/>
              <a:chOff x="3298897" y="4095287"/>
              <a:chExt cx="1257750" cy="591162"/>
            </a:xfrm>
            <a:grpFill/>
          </p:grpSpPr>
          <p:sp>
            <p:nvSpPr>
              <p:cNvPr id="131" name="Freeform 13">
                <a:extLst>
                  <a:ext uri="{FF2B5EF4-FFF2-40B4-BE49-F238E27FC236}">
                    <a16:creationId xmlns:a16="http://schemas.microsoft.com/office/drawing/2014/main" id="{8F661D35-567A-48C8-92D6-7B20986A34CA}"/>
                  </a:ext>
                </a:extLst>
              </p:cNvPr>
              <p:cNvSpPr>
                <a:spLocks noEditPoints="1"/>
              </p:cNvSpPr>
              <p:nvPr/>
            </p:nvSpPr>
            <p:spPr bwMode="gray">
              <a:xfrm>
                <a:off x="3298897" y="40952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sp>
            <p:nvSpPr>
              <p:cNvPr id="132" name="Freeform 13">
                <a:extLst>
                  <a:ext uri="{FF2B5EF4-FFF2-40B4-BE49-F238E27FC236}">
                    <a16:creationId xmlns:a16="http://schemas.microsoft.com/office/drawing/2014/main" id="{6A47FBAE-9C60-459A-BE30-4A692252F920}"/>
                  </a:ext>
                </a:extLst>
              </p:cNvPr>
              <p:cNvSpPr>
                <a:spLocks noEditPoints="1"/>
              </p:cNvSpPr>
              <p:nvPr/>
            </p:nvSpPr>
            <p:spPr bwMode="gray">
              <a:xfrm>
                <a:off x="3298897" y="43873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grpSp>
      </p:grpSp>
      <p:sp>
        <p:nvSpPr>
          <p:cNvPr id="137" name="Freeform 6">
            <a:extLst>
              <a:ext uri="{FF2B5EF4-FFF2-40B4-BE49-F238E27FC236}">
                <a16:creationId xmlns:a16="http://schemas.microsoft.com/office/drawing/2014/main" id="{7BD5F8AF-7FF8-40FE-A472-0F65AFF8C7AD}"/>
              </a:ext>
            </a:extLst>
          </p:cNvPr>
          <p:cNvSpPr>
            <a:spLocks/>
          </p:cNvSpPr>
          <p:nvPr/>
        </p:nvSpPr>
        <p:spPr bwMode="gray">
          <a:xfrm>
            <a:off x="5688981" y="3745649"/>
            <a:ext cx="1727070" cy="955944"/>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 name="connsiteX0" fmla="*/ 8299 w 9710"/>
              <a:gd name="connsiteY0" fmla="*/ 9268 h 9273"/>
              <a:gd name="connsiteX1" fmla="*/ 312 w 9710"/>
              <a:gd name="connsiteY1" fmla="*/ 9160 h 9273"/>
              <a:gd name="connsiteX2" fmla="*/ 50 w 9710"/>
              <a:gd name="connsiteY2" fmla="*/ 6449 h 9273"/>
              <a:gd name="connsiteX3" fmla="*/ 1489 w 9710"/>
              <a:gd name="connsiteY3" fmla="*/ 3797 h 9273"/>
              <a:gd name="connsiteX4" fmla="*/ 3657 w 9710"/>
              <a:gd name="connsiteY4" fmla="*/ 88 h 9273"/>
              <a:gd name="connsiteX5" fmla="*/ 6535 w 9710"/>
              <a:gd name="connsiteY5" fmla="*/ 2401 h 9273"/>
              <a:gd name="connsiteX6" fmla="*/ 8472 w 9710"/>
              <a:gd name="connsiteY6" fmla="*/ 2328 h 9273"/>
              <a:gd name="connsiteX7" fmla="*/ 8905 w 9710"/>
              <a:gd name="connsiteY7" fmla="*/ 5153 h 9273"/>
              <a:gd name="connsiteX8" fmla="*/ 9692 w 9710"/>
              <a:gd name="connsiteY8" fmla="*/ 7557 h 9273"/>
              <a:gd name="connsiteX9" fmla="*/ 8299 w 9710"/>
              <a:gd name="connsiteY9" fmla="*/ 9268 h 9273"/>
              <a:gd name="connsiteX0" fmla="*/ 9077 w 9999"/>
              <a:gd name="connsiteY0" fmla="*/ 9995 h 10000"/>
              <a:gd name="connsiteX1" fmla="*/ 321 w 9999"/>
              <a:gd name="connsiteY1" fmla="*/ 9878 h 10000"/>
              <a:gd name="connsiteX2" fmla="*/ 51 w 9999"/>
              <a:gd name="connsiteY2" fmla="*/ 6955 h 10000"/>
              <a:gd name="connsiteX3" fmla="*/ 1533 w 9999"/>
              <a:gd name="connsiteY3" fmla="*/ 4095 h 10000"/>
              <a:gd name="connsiteX4" fmla="*/ 3766 w 9999"/>
              <a:gd name="connsiteY4" fmla="*/ 95 h 10000"/>
              <a:gd name="connsiteX5" fmla="*/ 6730 w 9999"/>
              <a:gd name="connsiteY5" fmla="*/ 2589 h 10000"/>
              <a:gd name="connsiteX6" fmla="*/ 8725 w 9999"/>
              <a:gd name="connsiteY6" fmla="*/ 2511 h 10000"/>
              <a:gd name="connsiteX7" fmla="*/ 9171 w 9999"/>
              <a:gd name="connsiteY7" fmla="*/ 5557 h 10000"/>
              <a:gd name="connsiteX8" fmla="*/ 9981 w 9999"/>
              <a:gd name="connsiteY8" fmla="*/ 8149 h 10000"/>
              <a:gd name="connsiteX9" fmla="*/ 9077 w 9999"/>
              <a:gd name="connsiteY9" fmla="*/ 9995 h 10000"/>
              <a:gd name="connsiteX0" fmla="*/ 8904 w 10000"/>
              <a:gd name="connsiteY0" fmla="*/ 9995 h 10000"/>
              <a:gd name="connsiteX1" fmla="*/ 321 w 10000"/>
              <a:gd name="connsiteY1" fmla="*/ 9878 h 10000"/>
              <a:gd name="connsiteX2" fmla="*/ 51 w 10000"/>
              <a:gd name="connsiteY2" fmla="*/ 6955 h 10000"/>
              <a:gd name="connsiteX3" fmla="*/ 1533 w 10000"/>
              <a:gd name="connsiteY3" fmla="*/ 4095 h 10000"/>
              <a:gd name="connsiteX4" fmla="*/ 3766 w 10000"/>
              <a:gd name="connsiteY4" fmla="*/ 95 h 10000"/>
              <a:gd name="connsiteX5" fmla="*/ 6731 w 10000"/>
              <a:gd name="connsiteY5" fmla="*/ 2589 h 10000"/>
              <a:gd name="connsiteX6" fmla="*/ 8726 w 10000"/>
              <a:gd name="connsiteY6" fmla="*/ 2511 h 10000"/>
              <a:gd name="connsiteX7" fmla="*/ 9172 w 10000"/>
              <a:gd name="connsiteY7" fmla="*/ 5557 h 10000"/>
              <a:gd name="connsiteX8" fmla="*/ 9982 w 10000"/>
              <a:gd name="connsiteY8" fmla="*/ 8149 h 10000"/>
              <a:gd name="connsiteX9" fmla="*/ 8904 w 10000"/>
              <a:gd name="connsiteY9" fmla="*/ 9995 h 10000"/>
              <a:gd name="connsiteX0" fmla="*/ 8904 w 10002"/>
              <a:gd name="connsiteY0" fmla="*/ 9995 h 10000"/>
              <a:gd name="connsiteX1" fmla="*/ 321 w 10002"/>
              <a:gd name="connsiteY1" fmla="*/ 9878 h 10000"/>
              <a:gd name="connsiteX2" fmla="*/ 51 w 10002"/>
              <a:gd name="connsiteY2" fmla="*/ 6955 h 10000"/>
              <a:gd name="connsiteX3" fmla="*/ 1533 w 10002"/>
              <a:gd name="connsiteY3" fmla="*/ 4095 h 10000"/>
              <a:gd name="connsiteX4" fmla="*/ 3766 w 10002"/>
              <a:gd name="connsiteY4" fmla="*/ 95 h 10000"/>
              <a:gd name="connsiteX5" fmla="*/ 6731 w 10002"/>
              <a:gd name="connsiteY5" fmla="*/ 2589 h 10000"/>
              <a:gd name="connsiteX6" fmla="*/ 8726 w 10002"/>
              <a:gd name="connsiteY6" fmla="*/ 2511 h 10000"/>
              <a:gd name="connsiteX7" fmla="*/ 9266 w 10002"/>
              <a:gd name="connsiteY7" fmla="*/ 5557 h 10000"/>
              <a:gd name="connsiteX8" fmla="*/ 9982 w 10002"/>
              <a:gd name="connsiteY8" fmla="*/ 8149 h 10000"/>
              <a:gd name="connsiteX9" fmla="*/ 8904 w 10002"/>
              <a:gd name="connsiteY9" fmla="*/ 9995 h 10000"/>
              <a:gd name="connsiteX0" fmla="*/ 9670 w 10002"/>
              <a:gd name="connsiteY0" fmla="*/ 9995 h 10000"/>
              <a:gd name="connsiteX1" fmla="*/ 321 w 10002"/>
              <a:gd name="connsiteY1" fmla="*/ 9878 h 10000"/>
              <a:gd name="connsiteX2" fmla="*/ 51 w 10002"/>
              <a:gd name="connsiteY2" fmla="*/ 6955 h 10000"/>
              <a:gd name="connsiteX3" fmla="*/ 1533 w 10002"/>
              <a:gd name="connsiteY3" fmla="*/ 4095 h 10000"/>
              <a:gd name="connsiteX4" fmla="*/ 3766 w 10002"/>
              <a:gd name="connsiteY4" fmla="*/ 95 h 10000"/>
              <a:gd name="connsiteX5" fmla="*/ 6731 w 10002"/>
              <a:gd name="connsiteY5" fmla="*/ 2589 h 10000"/>
              <a:gd name="connsiteX6" fmla="*/ 8726 w 10002"/>
              <a:gd name="connsiteY6" fmla="*/ 2511 h 10000"/>
              <a:gd name="connsiteX7" fmla="*/ 9266 w 10002"/>
              <a:gd name="connsiteY7" fmla="*/ 5557 h 10000"/>
              <a:gd name="connsiteX8" fmla="*/ 9982 w 10002"/>
              <a:gd name="connsiteY8" fmla="*/ 8149 h 10000"/>
              <a:gd name="connsiteX9" fmla="*/ 9670 w 10002"/>
              <a:gd name="connsiteY9" fmla="*/ 9995 h 10000"/>
              <a:gd name="connsiteX0" fmla="*/ 9703 w 10002"/>
              <a:gd name="connsiteY0" fmla="*/ 9995 h 10000"/>
              <a:gd name="connsiteX1" fmla="*/ 321 w 10002"/>
              <a:gd name="connsiteY1" fmla="*/ 9878 h 10000"/>
              <a:gd name="connsiteX2" fmla="*/ 51 w 10002"/>
              <a:gd name="connsiteY2" fmla="*/ 6955 h 10000"/>
              <a:gd name="connsiteX3" fmla="*/ 1533 w 10002"/>
              <a:gd name="connsiteY3" fmla="*/ 4095 h 10000"/>
              <a:gd name="connsiteX4" fmla="*/ 3766 w 10002"/>
              <a:gd name="connsiteY4" fmla="*/ 95 h 10000"/>
              <a:gd name="connsiteX5" fmla="*/ 6731 w 10002"/>
              <a:gd name="connsiteY5" fmla="*/ 2589 h 10000"/>
              <a:gd name="connsiteX6" fmla="*/ 8726 w 10002"/>
              <a:gd name="connsiteY6" fmla="*/ 2511 h 10000"/>
              <a:gd name="connsiteX7" fmla="*/ 9266 w 10002"/>
              <a:gd name="connsiteY7" fmla="*/ 5557 h 10000"/>
              <a:gd name="connsiteX8" fmla="*/ 9982 w 10002"/>
              <a:gd name="connsiteY8" fmla="*/ 8149 h 10000"/>
              <a:gd name="connsiteX9" fmla="*/ 9703 w 10002"/>
              <a:gd name="connsiteY9" fmla="*/ 9995 h 10000"/>
              <a:gd name="connsiteX0" fmla="*/ 9703 w 10002"/>
              <a:gd name="connsiteY0" fmla="*/ 9931 h 9942"/>
              <a:gd name="connsiteX1" fmla="*/ 321 w 10002"/>
              <a:gd name="connsiteY1" fmla="*/ 9878 h 9942"/>
              <a:gd name="connsiteX2" fmla="*/ 51 w 10002"/>
              <a:gd name="connsiteY2" fmla="*/ 6955 h 9942"/>
              <a:gd name="connsiteX3" fmla="*/ 1533 w 10002"/>
              <a:gd name="connsiteY3" fmla="*/ 4095 h 9942"/>
              <a:gd name="connsiteX4" fmla="*/ 3766 w 10002"/>
              <a:gd name="connsiteY4" fmla="*/ 95 h 9942"/>
              <a:gd name="connsiteX5" fmla="*/ 6731 w 10002"/>
              <a:gd name="connsiteY5" fmla="*/ 2589 h 9942"/>
              <a:gd name="connsiteX6" fmla="*/ 8726 w 10002"/>
              <a:gd name="connsiteY6" fmla="*/ 2511 h 9942"/>
              <a:gd name="connsiteX7" fmla="*/ 9266 w 10002"/>
              <a:gd name="connsiteY7" fmla="*/ 5557 h 9942"/>
              <a:gd name="connsiteX8" fmla="*/ 9982 w 10002"/>
              <a:gd name="connsiteY8" fmla="*/ 8149 h 9942"/>
              <a:gd name="connsiteX9" fmla="*/ 9703 w 10002"/>
              <a:gd name="connsiteY9" fmla="*/ 9931 h 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2" h="9942">
                <a:moveTo>
                  <a:pt x="9703" y="9931"/>
                </a:moveTo>
                <a:lnTo>
                  <a:pt x="321" y="9878"/>
                </a:lnTo>
                <a:cubicBezTo>
                  <a:pt x="321" y="9878"/>
                  <a:pt x="-153" y="9397"/>
                  <a:pt x="51" y="6955"/>
                </a:cubicBezTo>
                <a:cubicBezTo>
                  <a:pt x="283" y="4304"/>
                  <a:pt x="1533" y="4095"/>
                  <a:pt x="1533" y="4095"/>
                </a:cubicBezTo>
                <a:cubicBezTo>
                  <a:pt x="1533" y="4095"/>
                  <a:pt x="1609" y="796"/>
                  <a:pt x="3766" y="95"/>
                </a:cubicBezTo>
                <a:cubicBezTo>
                  <a:pt x="5871" y="-581"/>
                  <a:pt x="6731" y="2589"/>
                  <a:pt x="6731" y="2589"/>
                </a:cubicBezTo>
                <a:cubicBezTo>
                  <a:pt x="6731" y="2589"/>
                  <a:pt x="7810" y="1082"/>
                  <a:pt x="8726" y="2511"/>
                </a:cubicBezTo>
                <a:cubicBezTo>
                  <a:pt x="9490" y="3681"/>
                  <a:pt x="9266" y="5557"/>
                  <a:pt x="9266" y="5557"/>
                </a:cubicBezTo>
                <a:cubicBezTo>
                  <a:pt x="9266" y="5557"/>
                  <a:pt x="10146" y="6278"/>
                  <a:pt x="9982" y="8149"/>
                </a:cubicBezTo>
                <a:cubicBezTo>
                  <a:pt x="9804" y="10203"/>
                  <a:pt x="9703" y="9931"/>
                  <a:pt x="9703" y="9931"/>
                </a:cubicBezTo>
                <a:close/>
              </a:path>
            </a:pathLst>
          </a:custGeom>
          <a:noFill/>
          <a:ln w="19050" cap="flat">
            <a:solidFill>
              <a:srgbClr val="56C4D2"/>
            </a:solidFill>
            <a:prstDash val="solid"/>
            <a:miter lim="800000"/>
            <a:headEnd/>
            <a:tailEnd/>
          </a:ln>
        </p:spPr>
        <p:txBody>
          <a:bodyPr vert="horz" wrap="square" lIns="91416" tIns="45708" rIns="91416" bIns="45708" numCol="1" anchor="t" anchorCtr="0" compatLnSpc="1">
            <a:prstTxWarp prst="textNoShape">
              <a:avLst/>
            </a:prstTxWarp>
          </a:bodyPr>
          <a:lstStyle/>
          <a:p>
            <a:pPr defTabSz="914373">
              <a:defRPr/>
            </a:pPr>
            <a:endParaRPr lang="zh-CN" altLang="en-US" sz="1600" kern="0">
              <a:cs typeface="+mn-ea"/>
              <a:sym typeface="+mn-lt"/>
            </a:endParaRPr>
          </a:p>
        </p:txBody>
      </p:sp>
      <p:sp>
        <p:nvSpPr>
          <p:cNvPr id="138" name="矩形 137">
            <a:extLst>
              <a:ext uri="{FF2B5EF4-FFF2-40B4-BE49-F238E27FC236}">
                <a16:creationId xmlns:a16="http://schemas.microsoft.com/office/drawing/2014/main" id="{481DB040-A84F-487A-87AD-308D09B91345}"/>
              </a:ext>
            </a:extLst>
          </p:cNvPr>
          <p:cNvSpPr/>
          <p:nvPr/>
        </p:nvSpPr>
        <p:spPr bwMode="gray">
          <a:xfrm>
            <a:off x="5910510" y="3954475"/>
            <a:ext cx="1194917" cy="338554"/>
          </a:xfrm>
          <a:prstGeom prst="rect">
            <a:avLst/>
          </a:prstGeom>
        </p:spPr>
        <p:txBody>
          <a:bodyPr wrap="square">
            <a:spAutoFit/>
          </a:bodyPr>
          <a:lstStyle/>
          <a:p>
            <a:pPr algn="ctr" defTabSz="914373"/>
            <a:r>
              <a:rPr lang="en-US" altLang="zh-CN" sz="1600" kern="0" dirty="0">
                <a:cs typeface="+mn-ea"/>
                <a:sym typeface="+mn-lt"/>
              </a:rPr>
              <a:t>DC Fabric</a:t>
            </a:r>
          </a:p>
        </p:txBody>
      </p:sp>
      <p:grpSp>
        <p:nvGrpSpPr>
          <p:cNvPr id="139" name="组合 58">
            <a:extLst>
              <a:ext uri="{FF2B5EF4-FFF2-40B4-BE49-F238E27FC236}">
                <a16:creationId xmlns:a16="http://schemas.microsoft.com/office/drawing/2014/main" id="{180744BF-7989-485A-82F8-EDA07F5A69CD}"/>
              </a:ext>
            </a:extLst>
          </p:cNvPr>
          <p:cNvGrpSpPr/>
          <p:nvPr/>
        </p:nvGrpSpPr>
        <p:grpSpPr bwMode="gray">
          <a:xfrm>
            <a:off x="6126724" y="4269395"/>
            <a:ext cx="314408" cy="337526"/>
            <a:chOff x="6389297" y="1972462"/>
            <a:chExt cx="3812876" cy="3623095"/>
          </a:xfrm>
        </p:grpSpPr>
        <p:grpSp>
          <p:nvGrpSpPr>
            <p:cNvPr id="140" name="组合 103">
              <a:extLst>
                <a:ext uri="{FF2B5EF4-FFF2-40B4-BE49-F238E27FC236}">
                  <a16:creationId xmlns:a16="http://schemas.microsoft.com/office/drawing/2014/main" id="{F153ADF0-6D37-4E30-8915-51A66AA96D9A}"/>
                </a:ext>
              </a:extLst>
            </p:cNvPr>
            <p:cNvGrpSpPr/>
            <p:nvPr/>
          </p:nvGrpSpPr>
          <p:grpSpPr bwMode="gray">
            <a:xfrm>
              <a:off x="6389297" y="1972462"/>
              <a:ext cx="3812876" cy="3623095"/>
              <a:chOff x="2682814" y="2216988"/>
              <a:chExt cx="3812876" cy="3623095"/>
            </a:xfrm>
          </p:grpSpPr>
          <p:sp>
            <p:nvSpPr>
              <p:cNvPr id="143" name="八边形 142">
                <a:extLst>
                  <a:ext uri="{FF2B5EF4-FFF2-40B4-BE49-F238E27FC236}">
                    <a16:creationId xmlns:a16="http://schemas.microsoft.com/office/drawing/2014/main" id="{77D59B88-7813-4D41-B639-B9C5BCEEC5B9}"/>
                  </a:ext>
                </a:extLst>
              </p:cNvPr>
              <p:cNvSpPr/>
              <p:nvPr/>
            </p:nvSpPr>
            <p:spPr bwMode="gray">
              <a:xfrm>
                <a:off x="2812211" y="2346385"/>
                <a:ext cx="3554083" cy="3364302"/>
              </a:xfrm>
              <a:prstGeom prst="octagon">
                <a:avLst/>
              </a:prstGeom>
              <a:no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44" name="椭圆 143">
                <a:extLst>
                  <a:ext uri="{FF2B5EF4-FFF2-40B4-BE49-F238E27FC236}">
                    <a16:creationId xmlns:a16="http://schemas.microsoft.com/office/drawing/2014/main" id="{E3FCA612-975B-4EF1-BAFB-6B7A3E415D5E}"/>
                  </a:ext>
                </a:extLst>
              </p:cNvPr>
              <p:cNvSpPr/>
              <p:nvPr/>
            </p:nvSpPr>
            <p:spPr bwMode="gray">
              <a:xfrm>
                <a:off x="3657600" y="2216988"/>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45" name="椭圆 144">
                <a:extLst>
                  <a:ext uri="{FF2B5EF4-FFF2-40B4-BE49-F238E27FC236}">
                    <a16:creationId xmlns:a16="http://schemas.microsoft.com/office/drawing/2014/main" id="{20FC2A58-3F2B-4790-8129-662DD4CDC59E}"/>
                  </a:ext>
                </a:extLst>
              </p:cNvPr>
              <p:cNvSpPr/>
              <p:nvPr/>
            </p:nvSpPr>
            <p:spPr bwMode="gray">
              <a:xfrm>
                <a:off x="5244861" y="5581290"/>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46" name="椭圆 145">
                <a:extLst>
                  <a:ext uri="{FF2B5EF4-FFF2-40B4-BE49-F238E27FC236}">
                    <a16:creationId xmlns:a16="http://schemas.microsoft.com/office/drawing/2014/main" id="{367858DA-887A-4BFE-B23E-8813871220F1}"/>
                  </a:ext>
                </a:extLst>
              </p:cNvPr>
              <p:cNvSpPr/>
              <p:nvPr/>
            </p:nvSpPr>
            <p:spPr bwMode="gray">
              <a:xfrm>
                <a:off x="5244861" y="2216988"/>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47" name="椭圆 146">
                <a:extLst>
                  <a:ext uri="{FF2B5EF4-FFF2-40B4-BE49-F238E27FC236}">
                    <a16:creationId xmlns:a16="http://schemas.microsoft.com/office/drawing/2014/main" id="{5811EAFD-6EA7-4AE0-8025-FF386D5D06B5}"/>
                  </a:ext>
                </a:extLst>
              </p:cNvPr>
              <p:cNvSpPr/>
              <p:nvPr/>
            </p:nvSpPr>
            <p:spPr bwMode="gray">
              <a:xfrm>
                <a:off x="3657600" y="5581289"/>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48" name="椭圆 147">
                <a:extLst>
                  <a:ext uri="{FF2B5EF4-FFF2-40B4-BE49-F238E27FC236}">
                    <a16:creationId xmlns:a16="http://schemas.microsoft.com/office/drawing/2014/main" id="{D5B68ABE-FE4B-4CB7-85B7-89FFD9969B6E}"/>
                  </a:ext>
                </a:extLst>
              </p:cNvPr>
              <p:cNvSpPr/>
              <p:nvPr/>
            </p:nvSpPr>
            <p:spPr bwMode="gray">
              <a:xfrm>
                <a:off x="2682814" y="4537491"/>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49" name="椭圆 148">
                <a:extLst>
                  <a:ext uri="{FF2B5EF4-FFF2-40B4-BE49-F238E27FC236}">
                    <a16:creationId xmlns:a16="http://schemas.microsoft.com/office/drawing/2014/main" id="{1881E0A2-7399-44CC-99B4-B85DDCD770A6}"/>
                  </a:ext>
                </a:extLst>
              </p:cNvPr>
              <p:cNvSpPr/>
              <p:nvPr/>
            </p:nvSpPr>
            <p:spPr bwMode="gray">
              <a:xfrm>
                <a:off x="2682814" y="3191770"/>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50" name="椭圆 149">
                <a:extLst>
                  <a:ext uri="{FF2B5EF4-FFF2-40B4-BE49-F238E27FC236}">
                    <a16:creationId xmlns:a16="http://schemas.microsoft.com/office/drawing/2014/main" id="{BD19CFE1-8A66-41DA-A9DC-D19E3D5A6802}"/>
                  </a:ext>
                </a:extLst>
              </p:cNvPr>
              <p:cNvSpPr/>
              <p:nvPr/>
            </p:nvSpPr>
            <p:spPr bwMode="gray">
              <a:xfrm>
                <a:off x="6236897" y="3191770"/>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51" name="椭圆 150">
                <a:extLst>
                  <a:ext uri="{FF2B5EF4-FFF2-40B4-BE49-F238E27FC236}">
                    <a16:creationId xmlns:a16="http://schemas.microsoft.com/office/drawing/2014/main" id="{4D0A42F6-9B11-4B24-9DBE-2933DD4AA154}"/>
                  </a:ext>
                </a:extLst>
              </p:cNvPr>
              <p:cNvSpPr/>
              <p:nvPr/>
            </p:nvSpPr>
            <p:spPr bwMode="gray">
              <a:xfrm>
                <a:off x="6236897" y="4597872"/>
                <a:ext cx="258793" cy="258793"/>
              </a:xfrm>
              <a:prstGeom prst="ellipse">
                <a:avLst/>
              </a:prstGeom>
              <a:solidFill>
                <a:schemeClr val="bg1"/>
              </a:solid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cxnSp>
            <p:nvCxnSpPr>
              <p:cNvPr id="152" name="直接连接符 151">
                <a:extLst>
                  <a:ext uri="{FF2B5EF4-FFF2-40B4-BE49-F238E27FC236}">
                    <a16:creationId xmlns:a16="http://schemas.microsoft.com/office/drawing/2014/main" id="{2F3B4974-6291-44D5-AFE7-85CD8ED034C9}"/>
                  </a:ext>
                </a:extLst>
              </p:cNvPr>
              <p:cNvCxnSpPr>
                <a:stCxn id="144" idx="5"/>
                <a:endCxn id="145" idx="1"/>
              </p:cNvCxnSpPr>
              <p:nvPr/>
            </p:nvCxnSpPr>
            <p:spPr bwMode="gray">
              <a:xfrm>
                <a:off x="3878494" y="2437882"/>
                <a:ext cx="1404266" cy="3181307"/>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27C98BE4-A24E-423F-B41B-C2656B2D4BC1}"/>
                  </a:ext>
                </a:extLst>
              </p:cNvPr>
              <p:cNvCxnSpPr>
                <a:endCxn id="147" idx="7"/>
              </p:cNvCxnSpPr>
              <p:nvPr/>
            </p:nvCxnSpPr>
            <p:spPr bwMode="gray">
              <a:xfrm flipH="1">
                <a:off x="3878494" y="2475781"/>
                <a:ext cx="1487137" cy="3143407"/>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0D0AEBE0-9B78-465B-AF67-2093888A840B}"/>
                  </a:ext>
                </a:extLst>
              </p:cNvPr>
              <p:cNvCxnSpPr/>
              <p:nvPr/>
            </p:nvCxnSpPr>
            <p:spPr bwMode="gray">
              <a:xfrm flipH="1">
                <a:off x="2941607" y="3321166"/>
                <a:ext cx="3424687" cy="0"/>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7FFA6510-166B-4EA6-BA34-EE7064BD137A}"/>
                  </a:ext>
                </a:extLst>
              </p:cNvPr>
              <p:cNvCxnSpPr>
                <a:endCxn id="149" idx="5"/>
              </p:cNvCxnSpPr>
              <p:nvPr/>
            </p:nvCxnSpPr>
            <p:spPr bwMode="gray">
              <a:xfrm flipH="1" flipV="1">
                <a:off x="2903708" y="3412664"/>
                <a:ext cx="3333189" cy="1254224"/>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C57234F2-CC28-4C98-BAFB-7F71997746F7}"/>
                  </a:ext>
                </a:extLst>
              </p:cNvPr>
              <p:cNvCxnSpPr>
                <a:endCxn id="148" idx="6"/>
              </p:cNvCxnSpPr>
              <p:nvPr/>
            </p:nvCxnSpPr>
            <p:spPr bwMode="gray">
              <a:xfrm flipH="1">
                <a:off x="2941607" y="3393716"/>
                <a:ext cx="3295290" cy="1273172"/>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F6A9F4B9-9907-4302-8175-56DC95726EE5}"/>
                  </a:ext>
                </a:extLst>
              </p:cNvPr>
              <p:cNvCxnSpPr/>
              <p:nvPr/>
            </p:nvCxnSpPr>
            <p:spPr bwMode="gray">
              <a:xfrm flipH="1">
                <a:off x="2941607" y="4727268"/>
                <a:ext cx="3424687" cy="0"/>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AE2E565E-4661-41BA-841A-17E234356271}"/>
                  </a:ext>
                </a:extLst>
              </p:cNvPr>
              <p:cNvCxnSpPr>
                <a:stCxn id="147" idx="0"/>
                <a:endCxn id="144" idx="4"/>
              </p:cNvCxnSpPr>
              <p:nvPr/>
            </p:nvCxnSpPr>
            <p:spPr bwMode="gray">
              <a:xfrm flipV="1">
                <a:off x="3786997" y="2475781"/>
                <a:ext cx="0" cy="3105508"/>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12A49F97-7475-4826-A73F-45A848BD96A1}"/>
                  </a:ext>
                </a:extLst>
              </p:cNvPr>
              <p:cNvCxnSpPr/>
              <p:nvPr/>
            </p:nvCxnSpPr>
            <p:spPr bwMode="gray">
              <a:xfrm flipV="1">
                <a:off x="5400137" y="2475781"/>
                <a:ext cx="0" cy="3105508"/>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F9D4452C-4D4D-4E41-B67B-818A757375B9}"/>
                  </a:ext>
                </a:extLst>
              </p:cNvPr>
              <p:cNvCxnSpPr>
                <a:stCxn id="146" idx="3"/>
                <a:endCxn id="148" idx="7"/>
              </p:cNvCxnSpPr>
              <p:nvPr/>
            </p:nvCxnSpPr>
            <p:spPr bwMode="gray">
              <a:xfrm flipH="1">
                <a:off x="2903708" y="2437882"/>
                <a:ext cx="2379052" cy="2137508"/>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272BE5CE-84D9-48EC-9E37-B6849982A2C4}"/>
                  </a:ext>
                </a:extLst>
              </p:cNvPr>
              <p:cNvCxnSpPr>
                <a:stCxn id="150" idx="3"/>
              </p:cNvCxnSpPr>
              <p:nvPr/>
            </p:nvCxnSpPr>
            <p:spPr bwMode="gray">
              <a:xfrm flipH="1">
                <a:off x="3722298" y="3412664"/>
                <a:ext cx="2552498" cy="2383358"/>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grpSp>
        <p:cxnSp>
          <p:nvCxnSpPr>
            <p:cNvPr id="141" name="直接连接符 140">
              <a:extLst>
                <a:ext uri="{FF2B5EF4-FFF2-40B4-BE49-F238E27FC236}">
                  <a16:creationId xmlns:a16="http://schemas.microsoft.com/office/drawing/2014/main" id="{AFB33763-64C7-41C8-9748-8BC2CBC710E8}"/>
                </a:ext>
              </a:extLst>
            </p:cNvPr>
            <p:cNvCxnSpPr>
              <a:endCxn id="144" idx="7"/>
            </p:cNvCxnSpPr>
            <p:nvPr/>
          </p:nvCxnSpPr>
          <p:spPr bwMode="gray">
            <a:xfrm flipH="1" flipV="1">
              <a:off x="7584977" y="2010361"/>
              <a:ext cx="2548702" cy="2533285"/>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FEA2B6A7-67F7-4900-A0B1-E3A87A127FFA}"/>
                </a:ext>
              </a:extLst>
            </p:cNvPr>
            <p:cNvCxnSpPr>
              <a:stCxn id="145" idx="1"/>
              <a:endCxn id="149" idx="4"/>
            </p:cNvCxnSpPr>
            <p:nvPr/>
          </p:nvCxnSpPr>
          <p:spPr bwMode="gray">
            <a:xfrm flipH="1" flipV="1">
              <a:off x="6518694" y="3206037"/>
              <a:ext cx="2470549" cy="2168626"/>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62" name="组合 195">
            <a:extLst>
              <a:ext uri="{FF2B5EF4-FFF2-40B4-BE49-F238E27FC236}">
                <a16:creationId xmlns:a16="http://schemas.microsoft.com/office/drawing/2014/main" id="{E122533A-738E-4BA5-B9EA-FA7BB93F9A60}"/>
              </a:ext>
            </a:extLst>
          </p:cNvPr>
          <p:cNvGrpSpPr>
            <a:grpSpLocks noChangeAspect="1"/>
          </p:cNvGrpSpPr>
          <p:nvPr/>
        </p:nvGrpSpPr>
        <p:grpSpPr bwMode="gray">
          <a:xfrm>
            <a:off x="6552639" y="4379787"/>
            <a:ext cx="290238" cy="268952"/>
            <a:chOff x="171393" y="3704832"/>
            <a:chExt cx="325829" cy="302898"/>
          </a:xfrm>
        </p:grpSpPr>
        <p:grpSp>
          <p:nvGrpSpPr>
            <p:cNvPr id="163" name="组合 923">
              <a:extLst>
                <a:ext uri="{FF2B5EF4-FFF2-40B4-BE49-F238E27FC236}">
                  <a16:creationId xmlns:a16="http://schemas.microsoft.com/office/drawing/2014/main" id="{A6E32FE0-9605-4A65-A512-393BDF155DA0}"/>
                </a:ext>
              </a:extLst>
            </p:cNvPr>
            <p:cNvGrpSpPr/>
            <p:nvPr/>
          </p:nvGrpSpPr>
          <p:grpSpPr bwMode="gray">
            <a:xfrm>
              <a:off x="336339" y="3704832"/>
              <a:ext cx="160883" cy="299720"/>
              <a:chOff x="5046989" y="3939464"/>
              <a:chExt cx="185575" cy="402656"/>
            </a:xfrm>
          </p:grpSpPr>
          <p:sp>
            <p:nvSpPr>
              <p:cNvPr id="165" name="圆角矩形 471">
                <a:extLst>
                  <a:ext uri="{FF2B5EF4-FFF2-40B4-BE49-F238E27FC236}">
                    <a16:creationId xmlns:a16="http://schemas.microsoft.com/office/drawing/2014/main" id="{412873A1-645B-470E-8A42-03BDE7D0167F}"/>
                  </a:ext>
                </a:extLst>
              </p:cNvPr>
              <p:cNvSpPr/>
              <p:nvPr/>
            </p:nvSpPr>
            <p:spPr bwMode="gray">
              <a:xfrm>
                <a:off x="5046989" y="3939464"/>
                <a:ext cx="185575" cy="121999"/>
              </a:xfrm>
              <a:prstGeom prst="roundRect">
                <a:avLst/>
              </a:prstGeom>
              <a:solidFill>
                <a:srgbClr val="00B0F0"/>
              </a:solidFill>
              <a:ln>
                <a:noFill/>
              </a:ln>
              <a:effectLst/>
            </p:spPr>
            <p:txBody>
              <a:bodyPr vert="horz" wrap="square" lIns="91440" tIns="0" rIns="91440" bIns="45720" numCol="1" rtlCol="0" anchor="ctr" anchorCtr="0" compatLnSpc="1">
                <a:prstTxWarp prst="textNoShape">
                  <a:avLst/>
                </a:prstTxWarp>
              </a:bodyPr>
              <a:lstStyle/>
              <a:p>
                <a:pPr algn="ctr">
                  <a:lnSpc>
                    <a:spcPct val="140000"/>
                  </a:lnSpc>
                  <a:buClr>
                    <a:srgbClr val="CC9900"/>
                  </a:buClr>
                  <a:buSzPct val="60000"/>
                </a:pPr>
                <a:endParaRPr lang="zh-CN" altLang="en-US" sz="1600" b="1" dirty="0">
                  <a:cs typeface="+mn-ea"/>
                  <a:sym typeface="+mn-lt"/>
                </a:endParaRPr>
              </a:p>
            </p:txBody>
          </p:sp>
          <p:sp>
            <p:nvSpPr>
              <p:cNvPr id="167" name="圆角矩形 473">
                <a:extLst>
                  <a:ext uri="{FF2B5EF4-FFF2-40B4-BE49-F238E27FC236}">
                    <a16:creationId xmlns:a16="http://schemas.microsoft.com/office/drawing/2014/main" id="{22571AB9-5583-4B9F-A0FA-4BD899828E9E}"/>
                  </a:ext>
                </a:extLst>
              </p:cNvPr>
              <p:cNvSpPr/>
              <p:nvPr/>
            </p:nvSpPr>
            <p:spPr bwMode="gray">
              <a:xfrm>
                <a:off x="5046989" y="4077482"/>
                <a:ext cx="185575" cy="121999"/>
              </a:xfrm>
              <a:prstGeom prst="roundRect">
                <a:avLst/>
              </a:prstGeom>
              <a:solidFill>
                <a:srgbClr val="00B0F0"/>
              </a:solidFill>
              <a:ln>
                <a:noFill/>
              </a:ln>
              <a:effectLst/>
            </p:spPr>
            <p:txBody>
              <a:bodyPr vert="horz" wrap="square" lIns="91440" tIns="0" rIns="91440" bIns="45720" numCol="1" rtlCol="0" anchor="ctr" anchorCtr="0" compatLnSpc="1">
                <a:prstTxWarp prst="textNoShape">
                  <a:avLst/>
                </a:prstTxWarp>
              </a:bodyPr>
              <a:lstStyle/>
              <a:p>
                <a:pPr algn="ctr">
                  <a:lnSpc>
                    <a:spcPct val="140000"/>
                  </a:lnSpc>
                  <a:buClr>
                    <a:srgbClr val="CC9900"/>
                  </a:buClr>
                  <a:buSzPct val="60000"/>
                </a:pPr>
                <a:endParaRPr lang="zh-CN" altLang="en-US" sz="1600" b="1" dirty="0">
                  <a:cs typeface="+mn-ea"/>
                  <a:sym typeface="+mn-lt"/>
                </a:endParaRPr>
              </a:p>
            </p:txBody>
          </p:sp>
          <p:sp>
            <p:nvSpPr>
              <p:cNvPr id="168" name="圆角矩形 474">
                <a:extLst>
                  <a:ext uri="{FF2B5EF4-FFF2-40B4-BE49-F238E27FC236}">
                    <a16:creationId xmlns:a16="http://schemas.microsoft.com/office/drawing/2014/main" id="{53EAF2FC-EAA7-49E7-B5AA-19D36EE4350C}"/>
                  </a:ext>
                </a:extLst>
              </p:cNvPr>
              <p:cNvSpPr/>
              <p:nvPr/>
            </p:nvSpPr>
            <p:spPr bwMode="gray">
              <a:xfrm>
                <a:off x="5046989" y="4220121"/>
                <a:ext cx="185575" cy="121999"/>
              </a:xfrm>
              <a:prstGeom prst="roundRect">
                <a:avLst/>
              </a:prstGeom>
              <a:solidFill>
                <a:srgbClr val="00B0F0"/>
              </a:solidFill>
              <a:ln>
                <a:noFill/>
              </a:ln>
              <a:effectLst/>
            </p:spPr>
            <p:txBody>
              <a:bodyPr vert="horz" wrap="square" lIns="91440" tIns="0" rIns="91440" bIns="45720" numCol="1" rtlCol="0" anchor="ctr" anchorCtr="0" compatLnSpc="1">
                <a:prstTxWarp prst="textNoShape">
                  <a:avLst/>
                </a:prstTxWarp>
              </a:bodyPr>
              <a:lstStyle/>
              <a:p>
                <a:pPr algn="ctr">
                  <a:lnSpc>
                    <a:spcPct val="140000"/>
                  </a:lnSpc>
                  <a:buClr>
                    <a:srgbClr val="CC9900"/>
                  </a:buClr>
                  <a:buSzPct val="60000"/>
                </a:pPr>
                <a:endParaRPr lang="zh-CN" altLang="en-US" sz="1600" b="1" dirty="0">
                  <a:cs typeface="+mn-ea"/>
                  <a:sym typeface="+mn-lt"/>
                </a:endParaRPr>
              </a:p>
            </p:txBody>
          </p:sp>
        </p:grpSp>
        <p:sp>
          <p:nvSpPr>
            <p:cNvPr id="164" name="Freeform 151">
              <a:extLst>
                <a:ext uri="{FF2B5EF4-FFF2-40B4-BE49-F238E27FC236}">
                  <a16:creationId xmlns:a16="http://schemas.microsoft.com/office/drawing/2014/main" id="{B05599D4-9B9A-435F-A20C-BC408B56B586}"/>
                </a:ext>
              </a:extLst>
            </p:cNvPr>
            <p:cNvSpPr>
              <a:spLocks noEditPoints="1"/>
            </p:cNvSpPr>
            <p:nvPr/>
          </p:nvSpPr>
          <p:spPr bwMode="gray">
            <a:xfrm>
              <a:off x="171393" y="3707174"/>
              <a:ext cx="155004" cy="300556"/>
            </a:xfrm>
            <a:custGeom>
              <a:avLst/>
              <a:gdLst/>
              <a:ahLst/>
              <a:cxnLst>
                <a:cxn ang="0">
                  <a:pos x="7285" y="81"/>
                </a:cxn>
                <a:cxn ang="0">
                  <a:pos x="7441" y="325"/>
                </a:cxn>
                <a:cxn ang="0">
                  <a:pos x="7400" y="16492"/>
                </a:cxn>
                <a:cxn ang="0">
                  <a:pos x="7183" y="16680"/>
                </a:cxn>
                <a:cxn ang="0">
                  <a:pos x="266" y="16680"/>
                </a:cxn>
                <a:cxn ang="0">
                  <a:pos x="49" y="16492"/>
                </a:cxn>
                <a:cxn ang="0">
                  <a:pos x="8" y="325"/>
                </a:cxn>
                <a:cxn ang="0">
                  <a:pos x="163" y="81"/>
                </a:cxn>
                <a:cxn ang="0">
                  <a:pos x="5939" y="1613"/>
                </a:cxn>
                <a:cxn ang="0">
                  <a:pos x="6201" y="1711"/>
                </a:cxn>
                <a:cxn ang="0">
                  <a:pos x="6328" y="1952"/>
                </a:cxn>
                <a:cxn ang="0">
                  <a:pos x="6263" y="3222"/>
                </a:cxn>
                <a:cxn ang="0">
                  <a:pos x="6036" y="3376"/>
                </a:cxn>
                <a:cxn ang="0">
                  <a:pos x="1341" y="3351"/>
                </a:cxn>
                <a:cxn ang="0">
                  <a:pos x="1150" y="3157"/>
                </a:cxn>
                <a:cxn ang="0">
                  <a:pos x="1137" y="1878"/>
                </a:cxn>
                <a:cxn ang="0">
                  <a:pos x="1307" y="1667"/>
                </a:cxn>
                <a:cxn ang="0">
                  <a:pos x="5979" y="3879"/>
                </a:cxn>
                <a:cxn ang="0">
                  <a:pos x="6228" y="4001"/>
                </a:cxn>
                <a:cxn ang="0">
                  <a:pos x="6330" y="4255"/>
                </a:cxn>
                <a:cxn ang="0">
                  <a:pos x="6240" y="5515"/>
                </a:cxn>
                <a:cxn ang="0">
                  <a:pos x="5999" y="5647"/>
                </a:cxn>
                <a:cxn ang="0">
                  <a:pos x="1307" y="5597"/>
                </a:cxn>
                <a:cxn ang="0">
                  <a:pos x="1137" y="5386"/>
                </a:cxn>
                <a:cxn ang="0">
                  <a:pos x="1150" y="4107"/>
                </a:cxn>
                <a:cxn ang="0">
                  <a:pos x="1341" y="3914"/>
                </a:cxn>
                <a:cxn ang="0">
                  <a:pos x="6018" y="6147"/>
                </a:cxn>
                <a:cxn ang="0">
                  <a:pos x="6252" y="6293"/>
                </a:cxn>
                <a:cxn ang="0">
                  <a:pos x="6329" y="7557"/>
                </a:cxn>
                <a:cxn ang="0">
                  <a:pos x="6215" y="7804"/>
                </a:cxn>
                <a:cxn ang="0">
                  <a:pos x="5959" y="7915"/>
                </a:cxn>
                <a:cxn ang="0">
                  <a:pos x="1277" y="7841"/>
                </a:cxn>
                <a:cxn ang="0">
                  <a:pos x="1128" y="7614"/>
                </a:cxn>
                <a:cxn ang="0">
                  <a:pos x="1166" y="6339"/>
                </a:cxn>
                <a:cxn ang="0">
                  <a:pos x="1376" y="6163"/>
                </a:cxn>
                <a:cxn ang="0">
                  <a:pos x="6055" y="8420"/>
                </a:cxn>
                <a:cxn ang="0">
                  <a:pos x="6272" y="8586"/>
                </a:cxn>
                <a:cxn ang="0">
                  <a:pos x="6325" y="9859"/>
                </a:cxn>
                <a:cxn ang="0">
                  <a:pos x="6187" y="10093"/>
                </a:cxn>
                <a:cxn ang="0">
                  <a:pos x="1510" y="10180"/>
                </a:cxn>
                <a:cxn ang="0">
                  <a:pos x="1248" y="10081"/>
                </a:cxn>
                <a:cxn ang="0">
                  <a:pos x="1121" y="9840"/>
                </a:cxn>
                <a:cxn ang="0">
                  <a:pos x="1186" y="8571"/>
                </a:cxn>
                <a:cxn ang="0">
                  <a:pos x="1413" y="8415"/>
                </a:cxn>
                <a:cxn ang="0">
                  <a:pos x="3942" y="14477"/>
                </a:cxn>
                <a:cxn ang="0">
                  <a:pos x="4188" y="14735"/>
                </a:cxn>
                <a:cxn ang="0">
                  <a:pos x="4196" y="15102"/>
                </a:cxn>
                <a:cxn ang="0">
                  <a:pos x="3964" y="15372"/>
                </a:cxn>
                <a:cxn ang="0">
                  <a:pos x="3599" y="15417"/>
                </a:cxn>
                <a:cxn ang="0">
                  <a:pos x="3308" y="15211"/>
                </a:cxn>
                <a:cxn ang="0">
                  <a:pos x="3228" y="14854"/>
                </a:cxn>
                <a:cxn ang="0">
                  <a:pos x="3406" y="14543"/>
                </a:cxn>
                <a:cxn ang="0">
                  <a:pos x="1277" y="12777"/>
                </a:cxn>
                <a:cxn ang="0">
                  <a:pos x="6299" y="12881"/>
                </a:cxn>
                <a:cxn ang="0">
                  <a:pos x="6222" y="13140"/>
                </a:cxn>
                <a:cxn ang="0">
                  <a:pos x="1169" y="13093"/>
                </a:cxn>
                <a:cxn ang="0">
                  <a:pos x="1186" y="12815"/>
                </a:cxn>
                <a:cxn ang="0">
                  <a:pos x="6234" y="12232"/>
                </a:cxn>
                <a:cxn ang="0">
                  <a:pos x="6295" y="12500"/>
                </a:cxn>
                <a:cxn ang="0">
                  <a:pos x="1263" y="12589"/>
                </a:cxn>
                <a:cxn ang="0">
                  <a:pos x="1147" y="12461"/>
                </a:cxn>
                <a:cxn ang="0">
                  <a:pos x="1251" y="12220"/>
                </a:cxn>
              </a:cxnLst>
              <a:rect l="0" t="0" r="r" b="b"/>
              <a:pathLst>
                <a:path w="7449" h="16705">
                  <a:moveTo>
                    <a:pt x="406" y="0"/>
                  </a:moveTo>
                  <a:lnTo>
                    <a:pt x="7043" y="0"/>
                  </a:lnTo>
                  <a:lnTo>
                    <a:pt x="7064" y="1"/>
                  </a:lnTo>
                  <a:lnTo>
                    <a:pt x="7085" y="2"/>
                  </a:lnTo>
                  <a:lnTo>
                    <a:pt x="7104" y="5"/>
                  </a:lnTo>
                  <a:lnTo>
                    <a:pt x="7124" y="8"/>
                  </a:lnTo>
                  <a:lnTo>
                    <a:pt x="7144" y="13"/>
                  </a:lnTo>
                  <a:lnTo>
                    <a:pt x="7164" y="19"/>
                  </a:lnTo>
                  <a:lnTo>
                    <a:pt x="7183" y="25"/>
                  </a:lnTo>
                  <a:lnTo>
                    <a:pt x="7201" y="32"/>
                  </a:lnTo>
                  <a:lnTo>
                    <a:pt x="7218" y="41"/>
                  </a:lnTo>
                  <a:lnTo>
                    <a:pt x="7236" y="49"/>
                  </a:lnTo>
                  <a:lnTo>
                    <a:pt x="7253" y="60"/>
                  </a:lnTo>
                  <a:lnTo>
                    <a:pt x="7269" y="70"/>
                  </a:lnTo>
                  <a:lnTo>
                    <a:pt x="7285" y="81"/>
                  </a:lnTo>
                  <a:lnTo>
                    <a:pt x="7301" y="93"/>
                  </a:lnTo>
                  <a:lnTo>
                    <a:pt x="7315" y="105"/>
                  </a:lnTo>
                  <a:lnTo>
                    <a:pt x="7330" y="119"/>
                  </a:lnTo>
                  <a:lnTo>
                    <a:pt x="7344" y="134"/>
                  </a:lnTo>
                  <a:lnTo>
                    <a:pt x="7356" y="148"/>
                  </a:lnTo>
                  <a:lnTo>
                    <a:pt x="7368" y="164"/>
                  </a:lnTo>
                  <a:lnTo>
                    <a:pt x="7379" y="180"/>
                  </a:lnTo>
                  <a:lnTo>
                    <a:pt x="7389" y="196"/>
                  </a:lnTo>
                  <a:lnTo>
                    <a:pt x="7400" y="213"/>
                  </a:lnTo>
                  <a:lnTo>
                    <a:pt x="7408" y="231"/>
                  </a:lnTo>
                  <a:lnTo>
                    <a:pt x="7417" y="248"/>
                  </a:lnTo>
                  <a:lnTo>
                    <a:pt x="7424" y="266"/>
                  </a:lnTo>
                  <a:lnTo>
                    <a:pt x="7430" y="285"/>
                  </a:lnTo>
                  <a:lnTo>
                    <a:pt x="7436" y="305"/>
                  </a:lnTo>
                  <a:lnTo>
                    <a:pt x="7441" y="325"/>
                  </a:lnTo>
                  <a:lnTo>
                    <a:pt x="7444" y="345"/>
                  </a:lnTo>
                  <a:lnTo>
                    <a:pt x="7447" y="364"/>
                  </a:lnTo>
                  <a:lnTo>
                    <a:pt x="7448" y="385"/>
                  </a:lnTo>
                  <a:lnTo>
                    <a:pt x="7449" y="406"/>
                  </a:lnTo>
                  <a:lnTo>
                    <a:pt x="7449" y="16299"/>
                  </a:lnTo>
                  <a:lnTo>
                    <a:pt x="7448" y="16320"/>
                  </a:lnTo>
                  <a:lnTo>
                    <a:pt x="7447" y="16341"/>
                  </a:lnTo>
                  <a:lnTo>
                    <a:pt x="7444" y="16362"/>
                  </a:lnTo>
                  <a:lnTo>
                    <a:pt x="7441" y="16381"/>
                  </a:lnTo>
                  <a:lnTo>
                    <a:pt x="7436" y="16400"/>
                  </a:lnTo>
                  <a:lnTo>
                    <a:pt x="7430" y="16420"/>
                  </a:lnTo>
                  <a:lnTo>
                    <a:pt x="7424" y="16439"/>
                  </a:lnTo>
                  <a:lnTo>
                    <a:pt x="7417" y="16457"/>
                  </a:lnTo>
                  <a:lnTo>
                    <a:pt x="7408" y="16475"/>
                  </a:lnTo>
                  <a:lnTo>
                    <a:pt x="7400" y="16492"/>
                  </a:lnTo>
                  <a:lnTo>
                    <a:pt x="7389" y="16510"/>
                  </a:lnTo>
                  <a:lnTo>
                    <a:pt x="7379" y="16525"/>
                  </a:lnTo>
                  <a:lnTo>
                    <a:pt x="7368" y="16542"/>
                  </a:lnTo>
                  <a:lnTo>
                    <a:pt x="7356" y="16557"/>
                  </a:lnTo>
                  <a:lnTo>
                    <a:pt x="7344" y="16571"/>
                  </a:lnTo>
                  <a:lnTo>
                    <a:pt x="7330" y="16586"/>
                  </a:lnTo>
                  <a:lnTo>
                    <a:pt x="7315" y="16600"/>
                  </a:lnTo>
                  <a:lnTo>
                    <a:pt x="7301" y="16612"/>
                  </a:lnTo>
                  <a:lnTo>
                    <a:pt x="7285" y="16625"/>
                  </a:lnTo>
                  <a:lnTo>
                    <a:pt x="7269" y="16635"/>
                  </a:lnTo>
                  <a:lnTo>
                    <a:pt x="7253" y="16647"/>
                  </a:lnTo>
                  <a:lnTo>
                    <a:pt x="7236" y="16656"/>
                  </a:lnTo>
                  <a:lnTo>
                    <a:pt x="7218" y="16665"/>
                  </a:lnTo>
                  <a:lnTo>
                    <a:pt x="7201" y="16673"/>
                  </a:lnTo>
                  <a:lnTo>
                    <a:pt x="7183" y="16680"/>
                  </a:lnTo>
                  <a:lnTo>
                    <a:pt x="7164" y="16686"/>
                  </a:lnTo>
                  <a:lnTo>
                    <a:pt x="7144" y="16692"/>
                  </a:lnTo>
                  <a:lnTo>
                    <a:pt x="7124" y="16697"/>
                  </a:lnTo>
                  <a:lnTo>
                    <a:pt x="7104" y="16701"/>
                  </a:lnTo>
                  <a:lnTo>
                    <a:pt x="7085" y="16703"/>
                  </a:lnTo>
                  <a:lnTo>
                    <a:pt x="7064" y="16705"/>
                  </a:lnTo>
                  <a:lnTo>
                    <a:pt x="7043" y="16705"/>
                  </a:lnTo>
                  <a:lnTo>
                    <a:pt x="406" y="16705"/>
                  </a:lnTo>
                  <a:lnTo>
                    <a:pt x="385" y="16705"/>
                  </a:lnTo>
                  <a:lnTo>
                    <a:pt x="364" y="16703"/>
                  </a:lnTo>
                  <a:lnTo>
                    <a:pt x="345" y="16701"/>
                  </a:lnTo>
                  <a:lnTo>
                    <a:pt x="324" y="16697"/>
                  </a:lnTo>
                  <a:lnTo>
                    <a:pt x="305" y="16692"/>
                  </a:lnTo>
                  <a:lnTo>
                    <a:pt x="285" y="16686"/>
                  </a:lnTo>
                  <a:lnTo>
                    <a:pt x="266" y="16680"/>
                  </a:lnTo>
                  <a:lnTo>
                    <a:pt x="248" y="16673"/>
                  </a:lnTo>
                  <a:lnTo>
                    <a:pt x="230" y="16665"/>
                  </a:lnTo>
                  <a:lnTo>
                    <a:pt x="213" y="16656"/>
                  </a:lnTo>
                  <a:lnTo>
                    <a:pt x="195" y="16647"/>
                  </a:lnTo>
                  <a:lnTo>
                    <a:pt x="180" y="16635"/>
                  </a:lnTo>
                  <a:lnTo>
                    <a:pt x="163" y="16625"/>
                  </a:lnTo>
                  <a:lnTo>
                    <a:pt x="148" y="16612"/>
                  </a:lnTo>
                  <a:lnTo>
                    <a:pt x="134" y="16600"/>
                  </a:lnTo>
                  <a:lnTo>
                    <a:pt x="119" y="16586"/>
                  </a:lnTo>
                  <a:lnTo>
                    <a:pt x="105" y="16571"/>
                  </a:lnTo>
                  <a:lnTo>
                    <a:pt x="93" y="16557"/>
                  </a:lnTo>
                  <a:lnTo>
                    <a:pt x="80" y="16542"/>
                  </a:lnTo>
                  <a:lnTo>
                    <a:pt x="70" y="16525"/>
                  </a:lnTo>
                  <a:lnTo>
                    <a:pt x="58" y="16510"/>
                  </a:lnTo>
                  <a:lnTo>
                    <a:pt x="49" y="16492"/>
                  </a:lnTo>
                  <a:lnTo>
                    <a:pt x="40" y="16475"/>
                  </a:lnTo>
                  <a:lnTo>
                    <a:pt x="32" y="16457"/>
                  </a:lnTo>
                  <a:lnTo>
                    <a:pt x="25" y="16439"/>
                  </a:lnTo>
                  <a:lnTo>
                    <a:pt x="19" y="16420"/>
                  </a:lnTo>
                  <a:lnTo>
                    <a:pt x="13" y="16400"/>
                  </a:lnTo>
                  <a:lnTo>
                    <a:pt x="8" y="16381"/>
                  </a:lnTo>
                  <a:lnTo>
                    <a:pt x="4" y="16362"/>
                  </a:lnTo>
                  <a:lnTo>
                    <a:pt x="2" y="16341"/>
                  </a:lnTo>
                  <a:lnTo>
                    <a:pt x="0" y="16320"/>
                  </a:lnTo>
                  <a:lnTo>
                    <a:pt x="0" y="16299"/>
                  </a:lnTo>
                  <a:lnTo>
                    <a:pt x="0" y="406"/>
                  </a:lnTo>
                  <a:lnTo>
                    <a:pt x="0" y="385"/>
                  </a:lnTo>
                  <a:lnTo>
                    <a:pt x="2" y="364"/>
                  </a:lnTo>
                  <a:lnTo>
                    <a:pt x="4" y="345"/>
                  </a:lnTo>
                  <a:lnTo>
                    <a:pt x="8" y="325"/>
                  </a:lnTo>
                  <a:lnTo>
                    <a:pt x="13" y="305"/>
                  </a:lnTo>
                  <a:lnTo>
                    <a:pt x="19" y="285"/>
                  </a:lnTo>
                  <a:lnTo>
                    <a:pt x="25" y="266"/>
                  </a:lnTo>
                  <a:lnTo>
                    <a:pt x="32" y="248"/>
                  </a:lnTo>
                  <a:lnTo>
                    <a:pt x="40" y="231"/>
                  </a:lnTo>
                  <a:lnTo>
                    <a:pt x="49" y="213"/>
                  </a:lnTo>
                  <a:lnTo>
                    <a:pt x="58" y="196"/>
                  </a:lnTo>
                  <a:lnTo>
                    <a:pt x="70" y="180"/>
                  </a:lnTo>
                  <a:lnTo>
                    <a:pt x="80" y="164"/>
                  </a:lnTo>
                  <a:lnTo>
                    <a:pt x="93" y="148"/>
                  </a:lnTo>
                  <a:lnTo>
                    <a:pt x="105" y="134"/>
                  </a:lnTo>
                  <a:lnTo>
                    <a:pt x="119" y="119"/>
                  </a:lnTo>
                  <a:lnTo>
                    <a:pt x="134" y="105"/>
                  </a:lnTo>
                  <a:lnTo>
                    <a:pt x="148" y="93"/>
                  </a:lnTo>
                  <a:lnTo>
                    <a:pt x="163" y="81"/>
                  </a:lnTo>
                  <a:lnTo>
                    <a:pt x="180" y="70"/>
                  </a:lnTo>
                  <a:lnTo>
                    <a:pt x="195" y="60"/>
                  </a:lnTo>
                  <a:lnTo>
                    <a:pt x="213" y="49"/>
                  </a:lnTo>
                  <a:lnTo>
                    <a:pt x="230" y="41"/>
                  </a:lnTo>
                  <a:lnTo>
                    <a:pt x="248" y="32"/>
                  </a:lnTo>
                  <a:lnTo>
                    <a:pt x="266" y="25"/>
                  </a:lnTo>
                  <a:lnTo>
                    <a:pt x="285" y="19"/>
                  </a:lnTo>
                  <a:lnTo>
                    <a:pt x="305" y="13"/>
                  </a:lnTo>
                  <a:lnTo>
                    <a:pt x="324" y="8"/>
                  </a:lnTo>
                  <a:lnTo>
                    <a:pt x="345" y="5"/>
                  </a:lnTo>
                  <a:lnTo>
                    <a:pt x="364" y="2"/>
                  </a:lnTo>
                  <a:lnTo>
                    <a:pt x="385" y="1"/>
                  </a:lnTo>
                  <a:lnTo>
                    <a:pt x="406" y="0"/>
                  </a:lnTo>
                  <a:close/>
                  <a:moveTo>
                    <a:pt x="1510" y="1613"/>
                  </a:moveTo>
                  <a:lnTo>
                    <a:pt x="5939" y="1613"/>
                  </a:lnTo>
                  <a:lnTo>
                    <a:pt x="5959" y="1613"/>
                  </a:lnTo>
                  <a:lnTo>
                    <a:pt x="5979" y="1615"/>
                  </a:lnTo>
                  <a:lnTo>
                    <a:pt x="5999" y="1617"/>
                  </a:lnTo>
                  <a:lnTo>
                    <a:pt x="6018" y="1620"/>
                  </a:lnTo>
                  <a:lnTo>
                    <a:pt x="6036" y="1625"/>
                  </a:lnTo>
                  <a:lnTo>
                    <a:pt x="6055" y="1630"/>
                  </a:lnTo>
                  <a:lnTo>
                    <a:pt x="6073" y="1636"/>
                  </a:lnTo>
                  <a:lnTo>
                    <a:pt x="6091" y="1642"/>
                  </a:lnTo>
                  <a:lnTo>
                    <a:pt x="6108" y="1650"/>
                  </a:lnTo>
                  <a:lnTo>
                    <a:pt x="6125" y="1658"/>
                  </a:lnTo>
                  <a:lnTo>
                    <a:pt x="6141" y="1667"/>
                  </a:lnTo>
                  <a:lnTo>
                    <a:pt x="6158" y="1678"/>
                  </a:lnTo>
                  <a:lnTo>
                    <a:pt x="6172" y="1688"/>
                  </a:lnTo>
                  <a:lnTo>
                    <a:pt x="6187" y="1700"/>
                  </a:lnTo>
                  <a:lnTo>
                    <a:pt x="6201" y="1711"/>
                  </a:lnTo>
                  <a:lnTo>
                    <a:pt x="6215" y="1724"/>
                  </a:lnTo>
                  <a:lnTo>
                    <a:pt x="6228" y="1737"/>
                  </a:lnTo>
                  <a:lnTo>
                    <a:pt x="6240" y="1751"/>
                  </a:lnTo>
                  <a:lnTo>
                    <a:pt x="6252" y="1764"/>
                  </a:lnTo>
                  <a:lnTo>
                    <a:pt x="6263" y="1780"/>
                  </a:lnTo>
                  <a:lnTo>
                    <a:pt x="6272" y="1795"/>
                  </a:lnTo>
                  <a:lnTo>
                    <a:pt x="6282" y="1810"/>
                  </a:lnTo>
                  <a:lnTo>
                    <a:pt x="6291" y="1827"/>
                  </a:lnTo>
                  <a:lnTo>
                    <a:pt x="6299" y="1844"/>
                  </a:lnTo>
                  <a:lnTo>
                    <a:pt x="6306" y="1861"/>
                  </a:lnTo>
                  <a:lnTo>
                    <a:pt x="6312" y="1878"/>
                  </a:lnTo>
                  <a:lnTo>
                    <a:pt x="6317" y="1896"/>
                  </a:lnTo>
                  <a:lnTo>
                    <a:pt x="6321" y="1915"/>
                  </a:lnTo>
                  <a:lnTo>
                    <a:pt x="6325" y="1934"/>
                  </a:lnTo>
                  <a:lnTo>
                    <a:pt x="6328" y="1952"/>
                  </a:lnTo>
                  <a:lnTo>
                    <a:pt x="6329" y="1971"/>
                  </a:lnTo>
                  <a:lnTo>
                    <a:pt x="6330" y="1990"/>
                  </a:lnTo>
                  <a:lnTo>
                    <a:pt x="6330" y="3011"/>
                  </a:lnTo>
                  <a:lnTo>
                    <a:pt x="6329" y="3030"/>
                  </a:lnTo>
                  <a:lnTo>
                    <a:pt x="6328" y="3049"/>
                  </a:lnTo>
                  <a:lnTo>
                    <a:pt x="6325" y="3068"/>
                  </a:lnTo>
                  <a:lnTo>
                    <a:pt x="6321" y="3086"/>
                  </a:lnTo>
                  <a:lnTo>
                    <a:pt x="6317" y="3105"/>
                  </a:lnTo>
                  <a:lnTo>
                    <a:pt x="6312" y="3123"/>
                  </a:lnTo>
                  <a:lnTo>
                    <a:pt x="6306" y="3141"/>
                  </a:lnTo>
                  <a:lnTo>
                    <a:pt x="6299" y="3157"/>
                  </a:lnTo>
                  <a:lnTo>
                    <a:pt x="6291" y="3174"/>
                  </a:lnTo>
                  <a:lnTo>
                    <a:pt x="6282" y="3191"/>
                  </a:lnTo>
                  <a:lnTo>
                    <a:pt x="6272" y="3206"/>
                  </a:lnTo>
                  <a:lnTo>
                    <a:pt x="6263" y="3222"/>
                  </a:lnTo>
                  <a:lnTo>
                    <a:pt x="6252" y="3237"/>
                  </a:lnTo>
                  <a:lnTo>
                    <a:pt x="6240" y="3250"/>
                  </a:lnTo>
                  <a:lnTo>
                    <a:pt x="6228" y="3265"/>
                  </a:lnTo>
                  <a:lnTo>
                    <a:pt x="6215" y="3277"/>
                  </a:lnTo>
                  <a:lnTo>
                    <a:pt x="6201" y="3290"/>
                  </a:lnTo>
                  <a:lnTo>
                    <a:pt x="6187" y="3302"/>
                  </a:lnTo>
                  <a:lnTo>
                    <a:pt x="6172" y="3313"/>
                  </a:lnTo>
                  <a:lnTo>
                    <a:pt x="6158" y="3323"/>
                  </a:lnTo>
                  <a:lnTo>
                    <a:pt x="6141" y="3334"/>
                  </a:lnTo>
                  <a:lnTo>
                    <a:pt x="6125" y="3343"/>
                  </a:lnTo>
                  <a:lnTo>
                    <a:pt x="6108" y="3351"/>
                  </a:lnTo>
                  <a:lnTo>
                    <a:pt x="6091" y="3359"/>
                  </a:lnTo>
                  <a:lnTo>
                    <a:pt x="6073" y="3365"/>
                  </a:lnTo>
                  <a:lnTo>
                    <a:pt x="6055" y="3371"/>
                  </a:lnTo>
                  <a:lnTo>
                    <a:pt x="6036" y="3376"/>
                  </a:lnTo>
                  <a:lnTo>
                    <a:pt x="6018" y="3381"/>
                  </a:lnTo>
                  <a:lnTo>
                    <a:pt x="5999" y="3384"/>
                  </a:lnTo>
                  <a:lnTo>
                    <a:pt x="5979" y="3387"/>
                  </a:lnTo>
                  <a:lnTo>
                    <a:pt x="5959" y="3388"/>
                  </a:lnTo>
                  <a:lnTo>
                    <a:pt x="5939" y="3388"/>
                  </a:lnTo>
                  <a:lnTo>
                    <a:pt x="1510" y="3388"/>
                  </a:lnTo>
                  <a:lnTo>
                    <a:pt x="1490" y="3388"/>
                  </a:lnTo>
                  <a:lnTo>
                    <a:pt x="1470" y="3387"/>
                  </a:lnTo>
                  <a:lnTo>
                    <a:pt x="1450" y="3384"/>
                  </a:lnTo>
                  <a:lnTo>
                    <a:pt x="1431" y="3381"/>
                  </a:lnTo>
                  <a:lnTo>
                    <a:pt x="1413" y="3376"/>
                  </a:lnTo>
                  <a:lnTo>
                    <a:pt x="1394" y="3371"/>
                  </a:lnTo>
                  <a:lnTo>
                    <a:pt x="1376" y="3365"/>
                  </a:lnTo>
                  <a:lnTo>
                    <a:pt x="1358" y="3359"/>
                  </a:lnTo>
                  <a:lnTo>
                    <a:pt x="1341" y="3351"/>
                  </a:lnTo>
                  <a:lnTo>
                    <a:pt x="1324" y="3343"/>
                  </a:lnTo>
                  <a:lnTo>
                    <a:pt x="1307" y="3334"/>
                  </a:lnTo>
                  <a:lnTo>
                    <a:pt x="1291" y="3323"/>
                  </a:lnTo>
                  <a:lnTo>
                    <a:pt x="1277" y="3313"/>
                  </a:lnTo>
                  <a:lnTo>
                    <a:pt x="1262" y="3302"/>
                  </a:lnTo>
                  <a:lnTo>
                    <a:pt x="1248" y="3290"/>
                  </a:lnTo>
                  <a:lnTo>
                    <a:pt x="1234" y="3277"/>
                  </a:lnTo>
                  <a:lnTo>
                    <a:pt x="1221" y="3265"/>
                  </a:lnTo>
                  <a:lnTo>
                    <a:pt x="1209" y="3250"/>
                  </a:lnTo>
                  <a:lnTo>
                    <a:pt x="1197" y="3237"/>
                  </a:lnTo>
                  <a:lnTo>
                    <a:pt x="1186" y="3222"/>
                  </a:lnTo>
                  <a:lnTo>
                    <a:pt x="1176" y="3206"/>
                  </a:lnTo>
                  <a:lnTo>
                    <a:pt x="1166" y="3191"/>
                  </a:lnTo>
                  <a:lnTo>
                    <a:pt x="1158" y="3174"/>
                  </a:lnTo>
                  <a:lnTo>
                    <a:pt x="1150" y="3157"/>
                  </a:lnTo>
                  <a:lnTo>
                    <a:pt x="1143" y="3141"/>
                  </a:lnTo>
                  <a:lnTo>
                    <a:pt x="1137" y="3123"/>
                  </a:lnTo>
                  <a:lnTo>
                    <a:pt x="1132" y="3105"/>
                  </a:lnTo>
                  <a:lnTo>
                    <a:pt x="1128" y="3086"/>
                  </a:lnTo>
                  <a:lnTo>
                    <a:pt x="1123" y="3068"/>
                  </a:lnTo>
                  <a:lnTo>
                    <a:pt x="1121" y="3049"/>
                  </a:lnTo>
                  <a:lnTo>
                    <a:pt x="1120" y="3030"/>
                  </a:lnTo>
                  <a:lnTo>
                    <a:pt x="1119" y="3011"/>
                  </a:lnTo>
                  <a:lnTo>
                    <a:pt x="1119" y="1990"/>
                  </a:lnTo>
                  <a:lnTo>
                    <a:pt x="1120" y="1971"/>
                  </a:lnTo>
                  <a:lnTo>
                    <a:pt x="1121" y="1952"/>
                  </a:lnTo>
                  <a:lnTo>
                    <a:pt x="1123" y="1934"/>
                  </a:lnTo>
                  <a:lnTo>
                    <a:pt x="1128" y="1915"/>
                  </a:lnTo>
                  <a:lnTo>
                    <a:pt x="1132" y="1896"/>
                  </a:lnTo>
                  <a:lnTo>
                    <a:pt x="1137" y="1878"/>
                  </a:lnTo>
                  <a:lnTo>
                    <a:pt x="1143" y="1861"/>
                  </a:lnTo>
                  <a:lnTo>
                    <a:pt x="1150" y="1844"/>
                  </a:lnTo>
                  <a:lnTo>
                    <a:pt x="1158" y="1827"/>
                  </a:lnTo>
                  <a:lnTo>
                    <a:pt x="1166" y="1810"/>
                  </a:lnTo>
                  <a:lnTo>
                    <a:pt x="1176" y="1795"/>
                  </a:lnTo>
                  <a:lnTo>
                    <a:pt x="1186" y="1780"/>
                  </a:lnTo>
                  <a:lnTo>
                    <a:pt x="1197" y="1764"/>
                  </a:lnTo>
                  <a:lnTo>
                    <a:pt x="1209" y="1751"/>
                  </a:lnTo>
                  <a:lnTo>
                    <a:pt x="1221" y="1737"/>
                  </a:lnTo>
                  <a:lnTo>
                    <a:pt x="1234" y="1724"/>
                  </a:lnTo>
                  <a:lnTo>
                    <a:pt x="1248" y="1711"/>
                  </a:lnTo>
                  <a:lnTo>
                    <a:pt x="1262" y="1700"/>
                  </a:lnTo>
                  <a:lnTo>
                    <a:pt x="1277" y="1688"/>
                  </a:lnTo>
                  <a:lnTo>
                    <a:pt x="1291" y="1678"/>
                  </a:lnTo>
                  <a:lnTo>
                    <a:pt x="1307" y="1667"/>
                  </a:lnTo>
                  <a:lnTo>
                    <a:pt x="1324" y="1658"/>
                  </a:lnTo>
                  <a:lnTo>
                    <a:pt x="1341" y="1650"/>
                  </a:lnTo>
                  <a:lnTo>
                    <a:pt x="1358" y="1642"/>
                  </a:lnTo>
                  <a:lnTo>
                    <a:pt x="1376" y="1636"/>
                  </a:lnTo>
                  <a:lnTo>
                    <a:pt x="1394" y="1630"/>
                  </a:lnTo>
                  <a:lnTo>
                    <a:pt x="1413" y="1625"/>
                  </a:lnTo>
                  <a:lnTo>
                    <a:pt x="1431" y="1620"/>
                  </a:lnTo>
                  <a:lnTo>
                    <a:pt x="1450" y="1617"/>
                  </a:lnTo>
                  <a:lnTo>
                    <a:pt x="1470" y="1615"/>
                  </a:lnTo>
                  <a:lnTo>
                    <a:pt x="1490" y="1613"/>
                  </a:lnTo>
                  <a:lnTo>
                    <a:pt x="1510" y="1613"/>
                  </a:lnTo>
                  <a:close/>
                  <a:moveTo>
                    <a:pt x="1510" y="3877"/>
                  </a:moveTo>
                  <a:lnTo>
                    <a:pt x="5939" y="3877"/>
                  </a:lnTo>
                  <a:lnTo>
                    <a:pt x="5959" y="3877"/>
                  </a:lnTo>
                  <a:lnTo>
                    <a:pt x="5979" y="3879"/>
                  </a:lnTo>
                  <a:lnTo>
                    <a:pt x="5999" y="3881"/>
                  </a:lnTo>
                  <a:lnTo>
                    <a:pt x="6018" y="3884"/>
                  </a:lnTo>
                  <a:lnTo>
                    <a:pt x="6036" y="3888"/>
                  </a:lnTo>
                  <a:lnTo>
                    <a:pt x="6055" y="3893"/>
                  </a:lnTo>
                  <a:lnTo>
                    <a:pt x="6073" y="3900"/>
                  </a:lnTo>
                  <a:lnTo>
                    <a:pt x="6091" y="3906"/>
                  </a:lnTo>
                  <a:lnTo>
                    <a:pt x="6108" y="3914"/>
                  </a:lnTo>
                  <a:lnTo>
                    <a:pt x="6125" y="3923"/>
                  </a:lnTo>
                  <a:lnTo>
                    <a:pt x="6141" y="3931"/>
                  </a:lnTo>
                  <a:lnTo>
                    <a:pt x="6158" y="3941"/>
                  </a:lnTo>
                  <a:lnTo>
                    <a:pt x="6172" y="3952"/>
                  </a:lnTo>
                  <a:lnTo>
                    <a:pt x="6187" y="3963"/>
                  </a:lnTo>
                  <a:lnTo>
                    <a:pt x="6201" y="3975"/>
                  </a:lnTo>
                  <a:lnTo>
                    <a:pt x="6215" y="3987"/>
                  </a:lnTo>
                  <a:lnTo>
                    <a:pt x="6228" y="4001"/>
                  </a:lnTo>
                  <a:lnTo>
                    <a:pt x="6240" y="4014"/>
                  </a:lnTo>
                  <a:lnTo>
                    <a:pt x="6252" y="4029"/>
                  </a:lnTo>
                  <a:lnTo>
                    <a:pt x="6263" y="4044"/>
                  </a:lnTo>
                  <a:lnTo>
                    <a:pt x="6272" y="4058"/>
                  </a:lnTo>
                  <a:lnTo>
                    <a:pt x="6282" y="4075"/>
                  </a:lnTo>
                  <a:lnTo>
                    <a:pt x="6291" y="4091"/>
                  </a:lnTo>
                  <a:lnTo>
                    <a:pt x="6299" y="4107"/>
                  </a:lnTo>
                  <a:lnTo>
                    <a:pt x="6306" y="4125"/>
                  </a:lnTo>
                  <a:lnTo>
                    <a:pt x="6312" y="4142"/>
                  </a:lnTo>
                  <a:lnTo>
                    <a:pt x="6317" y="4160"/>
                  </a:lnTo>
                  <a:lnTo>
                    <a:pt x="6321" y="4178"/>
                  </a:lnTo>
                  <a:lnTo>
                    <a:pt x="6325" y="4197"/>
                  </a:lnTo>
                  <a:lnTo>
                    <a:pt x="6328" y="4216"/>
                  </a:lnTo>
                  <a:lnTo>
                    <a:pt x="6329" y="4235"/>
                  </a:lnTo>
                  <a:lnTo>
                    <a:pt x="6330" y="4255"/>
                  </a:lnTo>
                  <a:lnTo>
                    <a:pt x="6330" y="5275"/>
                  </a:lnTo>
                  <a:lnTo>
                    <a:pt x="6329" y="5293"/>
                  </a:lnTo>
                  <a:lnTo>
                    <a:pt x="6328" y="5313"/>
                  </a:lnTo>
                  <a:lnTo>
                    <a:pt x="6325" y="5332"/>
                  </a:lnTo>
                  <a:lnTo>
                    <a:pt x="6321" y="5350"/>
                  </a:lnTo>
                  <a:lnTo>
                    <a:pt x="6317" y="5369"/>
                  </a:lnTo>
                  <a:lnTo>
                    <a:pt x="6312" y="5386"/>
                  </a:lnTo>
                  <a:lnTo>
                    <a:pt x="6306" y="5404"/>
                  </a:lnTo>
                  <a:lnTo>
                    <a:pt x="6299" y="5421"/>
                  </a:lnTo>
                  <a:lnTo>
                    <a:pt x="6291" y="5437"/>
                  </a:lnTo>
                  <a:lnTo>
                    <a:pt x="6282" y="5454"/>
                  </a:lnTo>
                  <a:lnTo>
                    <a:pt x="6272" y="5470"/>
                  </a:lnTo>
                  <a:lnTo>
                    <a:pt x="6263" y="5486"/>
                  </a:lnTo>
                  <a:lnTo>
                    <a:pt x="6252" y="5500"/>
                  </a:lnTo>
                  <a:lnTo>
                    <a:pt x="6240" y="5515"/>
                  </a:lnTo>
                  <a:lnTo>
                    <a:pt x="6228" y="5528"/>
                  </a:lnTo>
                  <a:lnTo>
                    <a:pt x="6215" y="5541"/>
                  </a:lnTo>
                  <a:lnTo>
                    <a:pt x="6201" y="5553"/>
                  </a:lnTo>
                  <a:lnTo>
                    <a:pt x="6187" y="5566"/>
                  </a:lnTo>
                  <a:lnTo>
                    <a:pt x="6172" y="5576"/>
                  </a:lnTo>
                  <a:lnTo>
                    <a:pt x="6158" y="5588"/>
                  </a:lnTo>
                  <a:lnTo>
                    <a:pt x="6141" y="5597"/>
                  </a:lnTo>
                  <a:lnTo>
                    <a:pt x="6125" y="5607"/>
                  </a:lnTo>
                  <a:lnTo>
                    <a:pt x="6108" y="5615"/>
                  </a:lnTo>
                  <a:lnTo>
                    <a:pt x="6091" y="5622"/>
                  </a:lnTo>
                  <a:lnTo>
                    <a:pt x="6073" y="5630"/>
                  </a:lnTo>
                  <a:lnTo>
                    <a:pt x="6055" y="5635"/>
                  </a:lnTo>
                  <a:lnTo>
                    <a:pt x="6036" y="5640"/>
                  </a:lnTo>
                  <a:lnTo>
                    <a:pt x="6018" y="5644"/>
                  </a:lnTo>
                  <a:lnTo>
                    <a:pt x="5999" y="5647"/>
                  </a:lnTo>
                  <a:lnTo>
                    <a:pt x="5979" y="5650"/>
                  </a:lnTo>
                  <a:lnTo>
                    <a:pt x="5959" y="5652"/>
                  </a:lnTo>
                  <a:lnTo>
                    <a:pt x="5939" y="5653"/>
                  </a:lnTo>
                  <a:lnTo>
                    <a:pt x="1510" y="5653"/>
                  </a:lnTo>
                  <a:lnTo>
                    <a:pt x="1490" y="5652"/>
                  </a:lnTo>
                  <a:lnTo>
                    <a:pt x="1470" y="5650"/>
                  </a:lnTo>
                  <a:lnTo>
                    <a:pt x="1450" y="5647"/>
                  </a:lnTo>
                  <a:lnTo>
                    <a:pt x="1431" y="5644"/>
                  </a:lnTo>
                  <a:lnTo>
                    <a:pt x="1413" y="5640"/>
                  </a:lnTo>
                  <a:lnTo>
                    <a:pt x="1394" y="5635"/>
                  </a:lnTo>
                  <a:lnTo>
                    <a:pt x="1376" y="5630"/>
                  </a:lnTo>
                  <a:lnTo>
                    <a:pt x="1358" y="5622"/>
                  </a:lnTo>
                  <a:lnTo>
                    <a:pt x="1341" y="5615"/>
                  </a:lnTo>
                  <a:lnTo>
                    <a:pt x="1324" y="5607"/>
                  </a:lnTo>
                  <a:lnTo>
                    <a:pt x="1307" y="5597"/>
                  </a:lnTo>
                  <a:lnTo>
                    <a:pt x="1291" y="5588"/>
                  </a:lnTo>
                  <a:lnTo>
                    <a:pt x="1277" y="5576"/>
                  </a:lnTo>
                  <a:lnTo>
                    <a:pt x="1262" y="5566"/>
                  </a:lnTo>
                  <a:lnTo>
                    <a:pt x="1248" y="5553"/>
                  </a:lnTo>
                  <a:lnTo>
                    <a:pt x="1234" y="5541"/>
                  </a:lnTo>
                  <a:lnTo>
                    <a:pt x="1221" y="5528"/>
                  </a:lnTo>
                  <a:lnTo>
                    <a:pt x="1209" y="5515"/>
                  </a:lnTo>
                  <a:lnTo>
                    <a:pt x="1197" y="5500"/>
                  </a:lnTo>
                  <a:lnTo>
                    <a:pt x="1186" y="5486"/>
                  </a:lnTo>
                  <a:lnTo>
                    <a:pt x="1176" y="5470"/>
                  </a:lnTo>
                  <a:lnTo>
                    <a:pt x="1166" y="5454"/>
                  </a:lnTo>
                  <a:lnTo>
                    <a:pt x="1158" y="5437"/>
                  </a:lnTo>
                  <a:lnTo>
                    <a:pt x="1150" y="5421"/>
                  </a:lnTo>
                  <a:lnTo>
                    <a:pt x="1143" y="5404"/>
                  </a:lnTo>
                  <a:lnTo>
                    <a:pt x="1137" y="5386"/>
                  </a:lnTo>
                  <a:lnTo>
                    <a:pt x="1132" y="5369"/>
                  </a:lnTo>
                  <a:lnTo>
                    <a:pt x="1128" y="5350"/>
                  </a:lnTo>
                  <a:lnTo>
                    <a:pt x="1123" y="5332"/>
                  </a:lnTo>
                  <a:lnTo>
                    <a:pt x="1121" y="5313"/>
                  </a:lnTo>
                  <a:lnTo>
                    <a:pt x="1120" y="5293"/>
                  </a:lnTo>
                  <a:lnTo>
                    <a:pt x="1119" y="5275"/>
                  </a:lnTo>
                  <a:lnTo>
                    <a:pt x="1119" y="4255"/>
                  </a:lnTo>
                  <a:lnTo>
                    <a:pt x="1120" y="4235"/>
                  </a:lnTo>
                  <a:lnTo>
                    <a:pt x="1121" y="4216"/>
                  </a:lnTo>
                  <a:lnTo>
                    <a:pt x="1123" y="4197"/>
                  </a:lnTo>
                  <a:lnTo>
                    <a:pt x="1128" y="4178"/>
                  </a:lnTo>
                  <a:lnTo>
                    <a:pt x="1132" y="4160"/>
                  </a:lnTo>
                  <a:lnTo>
                    <a:pt x="1137" y="4142"/>
                  </a:lnTo>
                  <a:lnTo>
                    <a:pt x="1143" y="4125"/>
                  </a:lnTo>
                  <a:lnTo>
                    <a:pt x="1150" y="4107"/>
                  </a:lnTo>
                  <a:lnTo>
                    <a:pt x="1158" y="4091"/>
                  </a:lnTo>
                  <a:lnTo>
                    <a:pt x="1166" y="4075"/>
                  </a:lnTo>
                  <a:lnTo>
                    <a:pt x="1176" y="4058"/>
                  </a:lnTo>
                  <a:lnTo>
                    <a:pt x="1186" y="4044"/>
                  </a:lnTo>
                  <a:lnTo>
                    <a:pt x="1197" y="4029"/>
                  </a:lnTo>
                  <a:lnTo>
                    <a:pt x="1209" y="4014"/>
                  </a:lnTo>
                  <a:lnTo>
                    <a:pt x="1221" y="4001"/>
                  </a:lnTo>
                  <a:lnTo>
                    <a:pt x="1234" y="3987"/>
                  </a:lnTo>
                  <a:lnTo>
                    <a:pt x="1248" y="3975"/>
                  </a:lnTo>
                  <a:lnTo>
                    <a:pt x="1262" y="3963"/>
                  </a:lnTo>
                  <a:lnTo>
                    <a:pt x="1277" y="3952"/>
                  </a:lnTo>
                  <a:lnTo>
                    <a:pt x="1291" y="3941"/>
                  </a:lnTo>
                  <a:lnTo>
                    <a:pt x="1307" y="3931"/>
                  </a:lnTo>
                  <a:lnTo>
                    <a:pt x="1324" y="3923"/>
                  </a:lnTo>
                  <a:lnTo>
                    <a:pt x="1341" y="3914"/>
                  </a:lnTo>
                  <a:lnTo>
                    <a:pt x="1358" y="3906"/>
                  </a:lnTo>
                  <a:lnTo>
                    <a:pt x="1376" y="3900"/>
                  </a:lnTo>
                  <a:lnTo>
                    <a:pt x="1394" y="3893"/>
                  </a:lnTo>
                  <a:lnTo>
                    <a:pt x="1413" y="3888"/>
                  </a:lnTo>
                  <a:lnTo>
                    <a:pt x="1431" y="3884"/>
                  </a:lnTo>
                  <a:lnTo>
                    <a:pt x="1450" y="3881"/>
                  </a:lnTo>
                  <a:lnTo>
                    <a:pt x="1470" y="3879"/>
                  </a:lnTo>
                  <a:lnTo>
                    <a:pt x="1490" y="3877"/>
                  </a:lnTo>
                  <a:lnTo>
                    <a:pt x="1510" y="3877"/>
                  </a:lnTo>
                  <a:close/>
                  <a:moveTo>
                    <a:pt x="1510" y="6140"/>
                  </a:moveTo>
                  <a:lnTo>
                    <a:pt x="5939" y="6140"/>
                  </a:lnTo>
                  <a:lnTo>
                    <a:pt x="5959" y="6140"/>
                  </a:lnTo>
                  <a:lnTo>
                    <a:pt x="5979" y="6142"/>
                  </a:lnTo>
                  <a:lnTo>
                    <a:pt x="5999" y="6144"/>
                  </a:lnTo>
                  <a:lnTo>
                    <a:pt x="6018" y="6147"/>
                  </a:lnTo>
                  <a:lnTo>
                    <a:pt x="6036" y="6152"/>
                  </a:lnTo>
                  <a:lnTo>
                    <a:pt x="6055" y="6157"/>
                  </a:lnTo>
                  <a:lnTo>
                    <a:pt x="6073" y="6163"/>
                  </a:lnTo>
                  <a:lnTo>
                    <a:pt x="6091" y="6169"/>
                  </a:lnTo>
                  <a:lnTo>
                    <a:pt x="6108" y="6178"/>
                  </a:lnTo>
                  <a:lnTo>
                    <a:pt x="6125" y="6186"/>
                  </a:lnTo>
                  <a:lnTo>
                    <a:pt x="6141" y="6194"/>
                  </a:lnTo>
                  <a:lnTo>
                    <a:pt x="6158" y="6205"/>
                  </a:lnTo>
                  <a:lnTo>
                    <a:pt x="6172" y="6215"/>
                  </a:lnTo>
                  <a:lnTo>
                    <a:pt x="6187" y="6227"/>
                  </a:lnTo>
                  <a:lnTo>
                    <a:pt x="6201" y="6238"/>
                  </a:lnTo>
                  <a:lnTo>
                    <a:pt x="6215" y="6251"/>
                  </a:lnTo>
                  <a:lnTo>
                    <a:pt x="6228" y="6264"/>
                  </a:lnTo>
                  <a:lnTo>
                    <a:pt x="6240" y="6278"/>
                  </a:lnTo>
                  <a:lnTo>
                    <a:pt x="6252" y="6293"/>
                  </a:lnTo>
                  <a:lnTo>
                    <a:pt x="6263" y="6307"/>
                  </a:lnTo>
                  <a:lnTo>
                    <a:pt x="6272" y="6322"/>
                  </a:lnTo>
                  <a:lnTo>
                    <a:pt x="6282" y="6339"/>
                  </a:lnTo>
                  <a:lnTo>
                    <a:pt x="6291" y="6354"/>
                  </a:lnTo>
                  <a:lnTo>
                    <a:pt x="6299" y="6371"/>
                  </a:lnTo>
                  <a:lnTo>
                    <a:pt x="6306" y="6389"/>
                  </a:lnTo>
                  <a:lnTo>
                    <a:pt x="6312" y="6405"/>
                  </a:lnTo>
                  <a:lnTo>
                    <a:pt x="6317" y="6424"/>
                  </a:lnTo>
                  <a:lnTo>
                    <a:pt x="6321" y="6442"/>
                  </a:lnTo>
                  <a:lnTo>
                    <a:pt x="6325" y="6461"/>
                  </a:lnTo>
                  <a:lnTo>
                    <a:pt x="6328" y="6479"/>
                  </a:lnTo>
                  <a:lnTo>
                    <a:pt x="6329" y="6498"/>
                  </a:lnTo>
                  <a:lnTo>
                    <a:pt x="6330" y="6518"/>
                  </a:lnTo>
                  <a:lnTo>
                    <a:pt x="6330" y="7538"/>
                  </a:lnTo>
                  <a:lnTo>
                    <a:pt x="6329" y="7557"/>
                  </a:lnTo>
                  <a:lnTo>
                    <a:pt x="6328" y="7577"/>
                  </a:lnTo>
                  <a:lnTo>
                    <a:pt x="6325" y="7596"/>
                  </a:lnTo>
                  <a:lnTo>
                    <a:pt x="6321" y="7614"/>
                  </a:lnTo>
                  <a:lnTo>
                    <a:pt x="6317" y="7632"/>
                  </a:lnTo>
                  <a:lnTo>
                    <a:pt x="6312" y="7650"/>
                  </a:lnTo>
                  <a:lnTo>
                    <a:pt x="6306" y="7668"/>
                  </a:lnTo>
                  <a:lnTo>
                    <a:pt x="6299" y="7684"/>
                  </a:lnTo>
                  <a:lnTo>
                    <a:pt x="6291" y="7701"/>
                  </a:lnTo>
                  <a:lnTo>
                    <a:pt x="6282" y="7718"/>
                  </a:lnTo>
                  <a:lnTo>
                    <a:pt x="6272" y="7733"/>
                  </a:lnTo>
                  <a:lnTo>
                    <a:pt x="6263" y="7749"/>
                  </a:lnTo>
                  <a:lnTo>
                    <a:pt x="6252" y="7764"/>
                  </a:lnTo>
                  <a:lnTo>
                    <a:pt x="6240" y="7778"/>
                  </a:lnTo>
                  <a:lnTo>
                    <a:pt x="6228" y="7792"/>
                  </a:lnTo>
                  <a:lnTo>
                    <a:pt x="6215" y="7804"/>
                  </a:lnTo>
                  <a:lnTo>
                    <a:pt x="6201" y="7817"/>
                  </a:lnTo>
                  <a:lnTo>
                    <a:pt x="6187" y="7829"/>
                  </a:lnTo>
                  <a:lnTo>
                    <a:pt x="6172" y="7841"/>
                  </a:lnTo>
                  <a:lnTo>
                    <a:pt x="6158" y="7851"/>
                  </a:lnTo>
                  <a:lnTo>
                    <a:pt x="6141" y="7861"/>
                  </a:lnTo>
                  <a:lnTo>
                    <a:pt x="6125" y="7870"/>
                  </a:lnTo>
                  <a:lnTo>
                    <a:pt x="6108" y="7878"/>
                  </a:lnTo>
                  <a:lnTo>
                    <a:pt x="6091" y="7886"/>
                  </a:lnTo>
                  <a:lnTo>
                    <a:pt x="6073" y="7893"/>
                  </a:lnTo>
                  <a:lnTo>
                    <a:pt x="6055" y="7898"/>
                  </a:lnTo>
                  <a:lnTo>
                    <a:pt x="6036" y="7904"/>
                  </a:lnTo>
                  <a:lnTo>
                    <a:pt x="6018" y="7908"/>
                  </a:lnTo>
                  <a:lnTo>
                    <a:pt x="5999" y="7912"/>
                  </a:lnTo>
                  <a:lnTo>
                    <a:pt x="5979" y="7914"/>
                  </a:lnTo>
                  <a:lnTo>
                    <a:pt x="5959" y="7915"/>
                  </a:lnTo>
                  <a:lnTo>
                    <a:pt x="5939" y="7916"/>
                  </a:lnTo>
                  <a:lnTo>
                    <a:pt x="1510" y="7916"/>
                  </a:lnTo>
                  <a:lnTo>
                    <a:pt x="1490" y="7915"/>
                  </a:lnTo>
                  <a:lnTo>
                    <a:pt x="1470" y="7914"/>
                  </a:lnTo>
                  <a:lnTo>
                    <a:pt x="1450" y="7912"/>
                  </a:lnTo>
                  <a:lnTo>
                    <a:pt x="1431" y="7908"/>
                  </a:lnTo>
                  <a:lnTo>
                    <a:pt x="1413" y="7904"/>
                  </a:lnTo>
                  <a:lnTo>
                    <a:pt x="1394" y="7898"/>
                  </a:lnTo>
                  <a:lnTo>
                    <a:pt x="1376" y="7893"/>
                  </a:lnTo>
                  <a:lnTo>
                    <a:pt x="1358" y="7886"/>
                  </a:lnTo>
                  <a:lnTo>
                    <a:pt x="1341" y="7878"/>
                  </a:lnTo>
                  <a:lnTo>
                    <a:pt x="1324" y="7870"/>
                  </a:lnTo>
                  <a:lnTo>
                    <a:pt x="1307" y="7861"/>
                  </a:lnTo>
                  <a:lnTo>
                    <a:pt x="1291" y="7851"/>
                  </a:lnTo>
                  <a:lnTo>
                    <a:pt x="1277" y="7841"/>
                  </a:lnTo>
                  <a:lnTo>
                    <a:pt x="1262" y="7829"/>
                  </a:lnTo>
                  <a:lnTo>
                    <a:pt x="1248" y="7817"/>
                  </a:lnTo>
                  <a:lnTo>
                    <a:pt x="1234" y="7804"/>
                  </a:lnTo>
                  <a:lnTo>
                    <a:pt x="1221" y="7792"/>
                  </a:lnTo>
                  <a:lnTo>
                    <a:pt x="1209" y="7778"/>
                  </a:lnTo>
                  <a:lnTo>
                    <a:pt x="1197" y="7764"/>
                  </a:lnTo>
                  <a:lnTo>
                    <a:pt x="1186" y="7749"/>
                  </a:lnTo>
                  <a:lnTo>
                    <a:pt x="1176" y="7733"/>
                  </a:lnTo>
                  <a:lnTo>
                    <a:pt x="1166" y="7718"/>
                  </a:lnTo>
                  <a:lnTo>
                    <a:pt x="1158" y="7701"/>
                  </a:lnTo>
                  <a:lnTo>
                    <a:pt x="1150" y="7684"/>
                  </a:lnTo>
                  <a:lnTo>
                    <a:pt x="1143" y="7668"/>
                  </a:lnTo>
                  <a:lnTo>
                    <a:pt x="1137" y="7650"/>
                  </a:lnTo>
                  <a:lnTo>
                    <a:pt x="1132" y="7632"/>
                  </a:lnTo>
                  <a:lnTo>
                    <a:pt x="1128" y="7614"/>
                  </a:lnTo>
                  <a:lnTo>
                    <a:pt x="1123" y="7596"/>
                  </a:lnTo>
                  <a:lnTo>
                    <a:pt x="1121" y="7577"/>
                  </a:lnTo>
                  <a:lnTo>
                    <a:pt x="1120" y="7557"/>
                  </a:lnTo>
                  <a:lnTo>
                    <a:pt x="1119" y="7538"/>
                  </a:lnTo>
                  <a:lnTo>
                    <a:pt x="1119" y="6518"/>
                  </a:lnTo>
                  <a:lnTo>
                    <a:pt x="1120" y="6498"/>
                  </a:lnTo>
                  <a:lnTo>
                    <a:pt x="1121" y="6479"/>
                  </a:lnTo>
                  <a:lnTo>
                    <a:pt x="1123" y="6461"/>
                  </a:lnTo>
                  <a:lnTo>
                    <a:pt x="1128" y="6442"/>
                  </a:lnTo>
                  <a:lnTo>
                    <a:pt x="1132" y="6424"/>
                  </a:lnTo>
                  <a:lnTo>
                    <a:pt x="1137" y="6405"/>
                  </a:lnTo>
                  <a:lnTo>
                    <a:pt x="1143" y="6389"/>
                  </a:lnTo>
                  <a:lnTo>
                    <a:pt x="1150" y="6371"/>
                  </a:lnTo>
                  <a:lnTo>
                    <a:pt x="1158" y="6354"/>
                  </a:lnTo>
                  <a:lnTo>
                    <a:pt x="1166" y="6339"/>
                  </a:lnTo>
                  <a:lnTo>
                    <a:pt x="1176" y="6322"/>
                  </a:lnTo>
                  <a:lnTo>
                    <a:pt x="1186" y="6307"/>
                  </a:lnTo>
                  <a:lnTo>
                    <a:pt x="1197" y="6293"/>
                  </a:lnTo>
                  <a:lnTo>
                    <a:pt x="1209" y="6278"/>
                  </a:lnTo>
                  <a:lnTo>
                    <a:pt x="1221" y="6264"/>
                  </a:lnTo>
                  <a:lnTo>
                    <a:pt x="1234" y="6251"/>
                  </a:lnTo>
                  <a:lnTo>
                    <a:pt x="1248" y="6238"/>
                  </a:lnTo>
                  <a:lnTo>
                    <a:pt x="1262" y="6227"/>
                  </a:lnTo>
                  <a:lnTo>
                    <a:pt x="1277" y="6215"/>
                  </a:lnTo>
                  <a:lnTo>
                    <a:pt x="1291" y="6205"/>
                  </a:lnTo>
                  <a:lnTo>
                    <a:pt x="1307" y="6194"/>
                  </a:lnTo>
                  <a:lnTo>
                    <a:pt x="1324" y="6186"/>
                  </a:lnTo>
                  <a:lnTo>
                    <a:pt x="1341" y="6178"/>
                  </a:lnTo>
                  <a:lnTo>
                    <a:pt x="1358" y="6169"/>
                  </a:lnTo>
                  <a:lnTo>
                    <a:pt x="1376" y="6163"/>
                  </a:lnTo>
                  <a:lnTo>
                    <a:pt x="1394" y="6157"/>
                  </a:lnTo>
                  <a:lnTo>
                    <a:pt x="1413" y="6152"/>
                  </a:lnTo>
                  <a:lnTo>
                    <a:pt x="1431" y="6147"/>
                  </a:lnTo>
                  <a:lnTo>
                    <a:pt x="1450" y="6144"/>
                  </a:lnTo>
                  <a:lnTo>
                    <a:pt x="1470" y="6142"/>
                  </a:lnTo>
                  <a:lnTo>
                    <a:pt x="1490" y="6140"/>
                  </a:lnTo>
                  <a:lnTo>
                    <a:pt x="1510" y="6140"/>
                  </a:lnTo>
                  <a:close/>
                  <a:moveTo>
                    <a:pt x="1510" y="8404"/>
                  </a:moveTo>
                  <a:lnTo>
                    <a:pt x="5939" y="8404"/>
                  </a:lnTo>
                  <a:lnTo>
                    <a:pt x="5959" y="8404"/>
                  </a:lnTo>
                  <a:lnTo>
                    <a:pt x="5979" y="8406"/>
                  </a:lnTo>
                  <a:lnTo>
                    <a:pt x="5999" y="8408"/>
                  </a:lnTo>
                  <a:lnTo>
                    <a:pt x="6018" y="8411"/>
                  </a:lnTo>
                  <a:lnTo>
                    <a:pt x="6036" y="8415"/>
                  </a:lnTo>
                  <a:lnTo>
                    <a:pt x="6055" y="8420"/>
                  </a:lnTo>
                  <a:lnTo>
                    <a:pt x="6073" y="8427"/>
                  </a:lnTo>
                  <a:lnTo>
                    <a:pt x="6091" y="8433"/>
                  </a:lnTo>
                  <a:lnTo>
                    <a:pt x="6108" y="8441"/>
                  </a:lnTo>
                  <a:lnTo>
                    <a:pt x="6125" y="8450"/>
                  </a:lnTo>
                  <a:lnTo>
                    <a:pt x="6141" y="8459"/>
                  </a:lnTo>
                  <a:lnTo>
                    <a:pt x="6158" y="8468"/>
                  </a:lnTo>
                  <a:lnTo>
                    <a:pt x="6172" y="8479"/>
                  </a:lnTo>
                  <a:lnTo>
                    <a:pt x="6187" y="8490"/>
                  </a:lnTo>
                  <a:lnTo>
                    <a:pt x="6201" y="8502"/>
                  </a:lnTo>
                  <a:lnTo>
                    <a:pt x="6215" y="8514"/>
                  </a:lnTo>
                  <a:lnTo>
                    <a:pt x="6228" y="8528"/>
                  </a:lnTo>
                  <a:lnTo>
                    <a:pt x="6240" y="8541"/>
                  </a:lnTo>
                  <a:lnTo>
                    <a:pt x="6252" y="8556"/>
                  </a:lnTo>
                  <a:lnTo>
                    <a:pt x="6263" y="8571"/>
                  </a:lnTo>
                  <a:lnTo>
                    <a:pt x="6272" y="8586"/>
                  </a:lnTo>
                  <a:lnTo>
                    <a:pt x="6282" y="8602"/>
                  </a:lnTo>
                  <a:lnTo>
                    <a:pt x="6291" y="8618"/>
                  </a:lnTo>
                  <a:lnTo>
                    <a:pt x="6299" y="8634"/>
                  </a:lnTo>
                  <a:lnTo>
                    <a:pt x="6306" y="8652"/>
                  </a:lnTo>
                  <a:lnTo>
                    <a:pt x="6312" y="8670"/>
                  </a:lnTo>
                  <a:lnTo>
                    <a:pt x="6317" y="8688"/>
                  </a:lnTo>
                  <a:lnTo>
                    <a:pt x="6321" y="8705"/>
                  </a:lnTo>
                  <a:lnTo>
                    <a:pt x="6325" y="8724"/>
                  </a:lnTo>
                  <a:lnTo>
                    <a:pt x="6328" y="8743"/>
                  </a:lnTo>
                  <a:lnTo>
                    <a:pt x="6329" y="8762"/>
                  </a:lnTo>
                  <a:lnTo>
                    <a:pt x="6330" y="8782"/>
                  </a:lnTo>
                  <a:lnTo>
                    <a:pt x="6330" y="9802"/>
                  </a:lnTo>
                  <a:lnTo>
                    <a:pt x="6329" y="9820"/>
                  </a:lnTo>
                  <a:lnTo>
                    <a:pt x="6328" y="9840"/>
                  </a:lnTo>
                  <a:lnTo>
                    <a:pt x="6325" y="9859"/>
                  </a:lnTo>
                  <a:lnTo>
                    <a:pt x="6321" y="9878"/>
                  </a:lnTo>
                  <a:lnTo>
                    <a:pt x="6317" y="9896"/>
                  </a:lnTo>
                  <a:lnTo>
                    <a:pt x="6312" y="9913"/>
                  </a:lnTo>
                  <a:lnTo>
                    <a:pt x="6306" y="9931"/>
                  </a:lnTo>
                  <a:lnTo>
                    <a:pt x="6299" y="9948"/>
                  </a:lnTo>
                  <a:lnTo>
                    <a:pt x="6291" y="9965"/>
                  </a:lnTo>
                  <a:lnTo>
                    <a:pt x="6282" y="9981"/>
                  </a:lnTo>
                  <a:lnTo>
                    <a:pt x="6272" y="9997"/>
                  </a:lnTo>
                  <a:lnTo>
                    <a:pt x="6263" y="10013"/>
                  </a:lnTo>
                  <a:lnTo>
                    <a:pt x="6252" y="10027"/>
                  </a:lnTo>
                  <a:lnTo>
                    <a:pt x="6240" y="10042"/>
                  </a:lnTo>
                  <a:lnTo>
                    <a:pt x="6228" y="10055"/>
                  </a:lnTo>
                  <a:lnTo>
                    <a:pt x="6215" y="10068"/>
                  </a:lnTo>
                  <a:lnTo>
                    <a:pt x="6201" y="10081"/>
                  </a:lnTo>
                  <a:lnTo>
                    <a:pt x="6187" y="10093"/>
                  </a:lnTo>
                  <a:lnTo>
                    <a:pt x="6172" y="10104"/>
                  </a:lnTo>
                  <a:lnTo>
                    <a:pt x="6158" y="10115"/>
                  </a:lnTo>
                  <a:lnTo>
                    <a:pt x="6141" y="10124"/>
                  </a:lnTo>
                  <a:lnTo>
                    <a:pt x="6125" y="10134"/>
                  </a:lnTo>
                  <a:lnTo>
                    <a:pt x="6108" y="10142"/>
                  </a:lnTo>
                  <a:lnTo>
                    <a:pt x="6091" y="10149"/>
                  </a:lnTo>
                  <a:lnTo>
                    <a:pt x="6073" y="10157"/>
                  </a:lnTo>
                  <a:lnTo>
                    <a:pt x="6055" y="10162"/>
                  </a:lnTo>
                  <a:lnTo>
                    <a:pt x="6036" y="10167"/>
                  </a:lnTo>
                  <a:lnTo>
                    <a:pt x="6018" y="10171"/>
                  </a:lnTo>
                  <a:lnTo>
                    <a:pt x="5999" y="10175"/>
                  </a:lnTo>
                  <a:lnTo>
                    <a:pt x="5979" y="10178"/>
                  </a:lnTo>
                  <a:lnTo>
                    <a:pt x="5959" y="10179"/>
                  </a:lnTo>
                  <a:lnTo>
                    <a:pt x="5939" y="10180"/>
                  </a:lnTo>
                  <a:lnTo>
                    <a:pt x="1510" y="10180"/>
                  </a:lnTo>
                  <a:lnTo>
                    <a:pt x="1490" y="10179"/>
                  </a:lnTo>
                  <a:lnTo>
                    <a:pt x="1470" y="10178"/>
                  </a:lnTo>
                  <a:lnTo>
                    <a:pt x="1450" y="10175"/>
                  </a:lnTo>
                  <a:lnTo>
                    <a:pt x="1431" y="10171"/>
                  </a:lnTo>
                  <a:lnTo>
                    <a:pt x="1413" y="10167"/>
                  </a:lnTo>
                  <a:lnTo>
                    <a:pt x="1394" y="10162"/>
                  </a:lnTo>
                  <a:lnTo>
                    <a:pt x="1376" y="10157"/>
                  </a:lnTo>
                  <a:lnTo>
                    <a:pt x="1358" y="10149"/>
                  </a:lnTo>
                  <a:lnTo>
                    <a:pt x="1341" y="10142"/>
                  </a:lnTo>
                  <a:lnTo>
                    <a:pt x="1324" y="10134"/>
                  </a:lnTo>
                  <a:lnTo>
                    <a:pt x="1307" y="10124"/>
                  </a:lnTo>
                  <a:lnTo>
                    <a:pt x="1291" y="10115"/>
                  </a:lnTo>
                  <a:lnTo>
                    <a:pt x="1277" y="10104"/>
                  </a:lnTo>
                  <a:lnTo>
                    <a:pt x="1262" y="10093"/>
                  </a:lnTo>
                  <a:lnTo>
                    <a:pt x="1248" y="10081"/>
                  </a:lnTo>
                  <a:lnTo>
                    <a:pt x="1234" y="10068"/>
                  </a:lnTo>
                  <a:lnTo>
                    <a:pt x="1221" y="10055"/>
                  </a:lnTo>
                  <a:lnTo>
                    <a:pt x="1209" y="10042"/>
                  </a:lnTo>
                  <a:lnTo>
                    <a:pt x="1197" y="10027"/>
                  </a:lnTo>
                  <a:lnTo>
                    <a:pt x="1186" y="10013"/>
                  </a:lnTo>
                  <a:lnTo>
                    <a:pt x="1176" y="9997"/>
                  </a:lnTo>
                  <a:lnTo>
                    <a:pt x="1166" y="9981"/>
                  </a:lnTo>
                  <a:lnTo>
                    <a:pt x="1158" y="9965"/>
                  </a:lnTo>
                  <a:lnTo>
                    <a:pt x="1150" y="9948"/>
                  </a:lnTo>
                  <a:lnTo>
                    <a:pt x="1143" y="9931"/>
                  </a:lnTo>
                  <a:lnTo>
                    <a:pt x="1137" y="9913"/>
                  </a:lnTo>
                  <a:lnTo>
                    <a:pt x="1132" y="9896"/>
                  </a:lnTo>
                  <a:lnTo>
                    <a:pt x="1128" y="9878"/>
                  </a:lnTo>
                  <a:lnTo>
                    <a:pt x="1123" y="9859"/>
                  </a:lnTo>
                  <a:lnTo>
                    <a:pt x="1121" y="9840"/>
                  </a:lnTo>
                  <a:lnTo>
                    <a:pt x="1120" y="9820"/>
                  </a:lnTo>
                  <a:lnTo>
                    <a:pt x="1119" y="9802"/>
                  </a:lnTo>
                  <a:lnTo>
                    <a:pt x="1119" y="8782"/>
                  </a:lnTo>
                  <a:lnTo>
                    <a:pt x="1120" y="8762"/>
                  </a:lnTo>
                  <a:lnTo>
                    <a:pt x="1121" y="8743"/>
                  </a:lnTo>
                  <a:lnTo>
                    <a:pt x="1123" y="8724"/>
                  </a:lnTo>
                  <a:lnTo>
                    <a:pt x="1128" y="8705"/>
                  </a:lnTo>
                  <a:lnTo>
                    <a:pt x="1132" y="8688"/>
                  </a:lnTo>
                  <a:lnTo>
                    <a:pt x="1137" y="8670"/>
                  </a:lnTo>
                  <a:lnTo>
                    <a:pt x="1143" y="8652"/>
                  </a:lnTo>
                  <a:lnTo>
                    <a:pt x="1150" y="8634"/>
                  </a:lnTo>
                  <a:lnTo>
                    <a:pt x="1158" y="8618"/>
                  </a:lnTo>
                  <a:lnTo>
                    <a:pt x="1166" y="8602"/>
                  </a:lnTo>
                  <a:lnTo>
                    <a:pt x="1176" y="8586"/>
                  </a:lnTo>
                  <a:lnTo>
                    <a:pt x="1186" y="8571"/>
                  </a:lnTo>
                  <a:lnTo>
                    <a:pt x="1197" y="8556"/>
                  </a:lnTo>
                  <a:lnTo>
                    <a:pt x="1209" y="8541"/>
                  </a:lnTo>
                  <a:lnTo>
                    <a:pt x="1221" y="8528"/>
                  </a:lnTo>
                  <a:lnTo>
                    <a:pt x="1234" y="8514"/>
                  </a:lnTo>
                  <a:lnTo>
                    <a:pt x="1248" y="8502"/>
                  </a:lnTo>
                  <a:lnTo>
                    <a:pt x="1262" y="8490"/>
                  </a:lnTo>
                  <a:lnTo>
                    <a:pt x="1277" y="8479"/>
                  </a:lnTo>
                  <a:lnTo>
                    <a:pt x="1291" y="8468"/>
                  </a:lnTo>
                  <a:lnTo>
                    <a:pt x="1307" y="8459"/>
                  </a:lnTo>
                  <a:lnTo>
                    <a:pt x="1324" y="8450"/>
                  </a:lnTo>
                  <a:lnTo>
                    <a:pt x="1341" y="8441"/>
                  </a:lnTo>
                  <a:lnTo>
                    <a:pt x="1358" y="8433"/>
                  </a:lnTo>
                  <a:lnTo>
                    <a:pt x="1376" y="8427"/>
                  </a:lnTo>
                  <a:lnTo>
                    <a:pt x="1394" y="8420"/>
                  </a:lnTo>
                  <a:lnTo>
                    <a:pt x="1413" y="8415"/>
                  </a:lnTo>
                  <a:lnTo>
                    <a:pt x="1431" y="8411"/>
                  </a:lnTo>
                  <a:lnTo>
                    <a:pt x="1450" y="8408"/>
                  </a:lnTo>
                  <a:lnTo>
                    <a:pt x="1470" y="8406"/>
                  </a:lnTo>
                  <a:lnTo>
                    <a:pt x="1490" y="8404"/>
                  </a:lnTo>
                  <a:lnTo>
                    <a:pt x="1510" y="8404"/>
                  </a:lnTo>
                  <a:close/>
                  <a:moveTo>
                    <a:pt x="3725" y="14428"/>
                  </a:moveTo>
                  <a:lnTo>
                    <a:pt x="3750" y="14428"/>
                  </a:lnTo>
                  <a:lnTo>
                    <a:pt x="3776" y="14430"/>
                  </a:lnTo>
                  <a:lnTo>
                    <a:pt x="3801" y="14433"/>
                  </a:lnTo>
                  <a:lnTo>
                    <a:pt x="3825" y="14438"/>
                  </a:lnTo>
                  <a:lnTo>
                    <a:pt x="3849" y="14444"/>
                  </a:lnTo>
                  <a:lnTo>
                    <a:pt x="3873" y="14451"/>
                  </a:lnTo>
                  <a:lnTo>
                    <a:pt x="3897" y="14458"/>
                  </a:lnTo>
                  <a:lnTo>
                    <a:pt x="3919" y="14468"/>
                  </a:lnTo>
                  <a:lnTo>
                    <a:pt x="3942" y="14477"/>
                  </a:lnTo>
                  <a:lnTo>
                    <a:pt x="3964" y="14488"/>
                  </a:lnTo>
                  <a:lnTo>
                    <a:pt x="3985" y="14501"/>
                  </a:lnTo>
                  <a:lnTo>
                    <a:pt x="4005" y="14514"/>
                  </a:lnTo>
                  <a:lnTo>
                    <a:pt x="4025" y="14528"/>
                  </a:lnTo>
                  <a:lnTo>
                    <a:pt x="4043" y="14543"/>
                  </a:lnTo>
                  <a:lnTo>
                    <a:pt x="4062" y="14558"/>
                  </a:lnTo>
                  <a:lnTo>
                    <a:pt x="4080" y="14575"/>
                  </a:lnTo>
                  <a:lnTo>
                    <a:pt x="4096" y="14593"/>
                  </a:lnTo>
                  <a:lnTo>
                    <a:pt x="4112" y="14611"/>
                  </a:lnTo>
                  <a:lnTo>
                    <a:pt x="4127" y="14630"/>
                  </a:lnTo>
                  <a:lnTo>
                    <a:pt x="4141" y="14649"/>
                  </a:lnTo>
                  <a:lnTo>
                    <a:pt x="4154" y="14670"/>
                  </a:lnTo>
                  <a:lnTo>
                    <a:pt x="4166" y="14691"/>
                  </a:lnTo>
                  <a:lnTo>
                    <a:pt x="4177" y="14713"/>
                  </a:lnTo>
                  <a:lnTo>
                    <a:pt x="4188" y="14735"/>
                  </a:lnTo>
                  <a:lnTo>
                    <a:pt x="4196" y="14758"/>
                  </a:lnTo>
                  <a:lnTo>
                    <a:pt x="4204" y="14781"/>
                  </a:lnTo>
                  <a:lnTo>
                    <a:pt x="4212" y="14805"/>
                  </a:lnTo>
                  <a:lnTo>
                    <a:pt x="4217" y="14829"/>
                  </a:lnTo>
                  <a:lnTo>
                    <a:pt x="4221" y="14854"/>
                  </a:lnTo>
                  <a:lnTo>
                    <a:pt x="4224" y="14879"/>
                  </a:lnTo>
                  <a:lnTo>
                    <a:pt x="4226" y="14904"/>
                  </a:lnTo>
                  <a:lnTo>
                    <a:pt x="4227" y="14930"/>
                  </a:lnTo>
                  <a:lnTo>
                    <a:pt x="4226" y="14956"/>
                  </a:lnTo>
                  <a:lnTo>
                    <a:pt x="4224" y="14981"/>
                  </a:lnTo>
                  <a:lnTo>
                    <a:pt x="4221" y="15006"/>
                  </a:lnTo>
                  <a:lnTo>
                    <a:pt x="4217" y="15031"/>
                  </a:lnTo>
                  <a:lnTo>
                    <a:pt x="4212" y="15055"/>
                  </a:lnTo>
                  <a:lnTo>
                    <a:pt x="4204" y="15079"/>
                  </a:lnTo>
                  <a:lnTo>
                    <a:pt x="4196" y="15102"/>
                  </a:lnTo>
                  <a:lnTo>
                    <a:pt x="4188" y="15125"/>
                  </a:lnTo>
                  <a:lnTo>
                    <a:pt x="4177" y="15147"/>
                  </a:lnTo>
                  <a:lnTo>
                    <a:pt x="4166" y="15169"/>
                  </a:lnTo>
                  <a:lnTo>
                    <a:pt x="4154" y="15190"/>
                  </a:lnTo>
                  <a:lnTo>
                    <a:pt x="4141" y="15211"/>
                  </a:lnTo>
                  <a:lnTo>
                    <a:pt x="4127" y="15231"/>
                  </a:lnTo>
                  <a:lnTo>
                    <a:pt x="4112" y="15250"/>
                  </a:lnTo>
                  <a:lnTo>
                    <a:pt x="4096" y="15267"/>
                  </a:lnTo>
                  <a:lnTo>
                    <a:pt x="4080" y="15285"/>
                  </a:lnTo>
                  <a:lnTo>
                    <a:pt x="4062" y="15302"/>
                  </a:lnTo>
                  <a:lnTo>
                    <a:pt x="4043" y="15317"/>
                  </a:lnTo>
                  <a:lnTo>
                    <a:pt x="4025" y="15333"/>
                  </a:lnTo>
                  <a:lnTo>
                    <a:pt x="4005" y="15347"/>
                  </a:lnTo>
                  <a:lnTo>
                    <a:pt x="3985" y="15360"/>
                  </a:lnTo>
                  <a:lnTo>
                    <a:pt x="3964" y="15372"/>
                  </a:lnTo>
                  <a:lnTo>
                    <a:pt x="3942" y="15383"/>
                  </a:lnTo>
                  <a:lnTo>
                    <a:pt x="3919" y="15393"/>
                  </a:lnTo>
                  <a:lnTo>
                    <a:pt x="3897" y="15402"/>
                  </a:lnTo>
                  <a:lnTo>
                    <a:pt x="3873" y="15410"/>
                  </a:lnTo>
                  <a:lnTo>
                    <a:pt x="3849" y="15417"/>
                  </a:lnTo>
                  <a:lnTo>
                    <a:pt x="3825" y="15423"/>
                  </a:lnTo>
                  <a:lnTo>
                    <a:pt x="3801" y="15427"/>
                  </a:lnTo>
                  <a:lnTo>
                    <a:pt x="3776" y="15430"/>
                  </a:lnTo>
                  <a:lnTo>
                    <a:pt x="3750" y="15432"/>
                  </a:lnTo>
                  <a:lnTo>
                    <a:pt x="3725" y="15432"/>
                  </a:lnTo>
                  <a:lnTo>
                    <a:pt x="3699" y="15432"/>
                  </a:lnTo>
                  <a:lnTo>
                    <a:pt x="3673" y="15430"/>
                  </a:lnTo>
                  <a:lnTo>
                    <a:pt x="3648" y="15427"/>
                  </a:lnTo>
                  <a:lnTo>
                    <a:pt x="3624" y="15423"/>
                  </a:lnTo>
                  <a:lnTo>
                    <a:pt x="3599" y="15417"/>
                  </a:lnTo>
                  <a:lnTo>
                    <a:pt x="3576" y="15410"/>
                  </a:lnTo>
                  <a:lnTo>
                    <a:pt x="3552" y="15402"/>
                  </a:lnTo>
                  <a:lnTo>
                    <a:pt x="3529" y="15393"/>
                  </a:lnTo>
                  <a:lnTo>
                    <a:pt x="3507" y="15383"/>
                  </a:lnTo>
                  <a:lnTo>
                    <a:pt x="3485" y="15372"/>
                  </a:lnTo>
                  <a:lnTo>
                    <a:pt x="3464" y="15360"/>
                  </a:lnTo>
                  <a:lnTo>
                    <a:pt x="3444" y="15347"/>
                  </a:lnTo>
                  <a:lnTo>
                    <a:pt x="3424" y="15333"/>
                  </a:lnTo>
                  <a:lnTo>
                    <a:pt x="3406" y="15317"/>
                  </a:lnTo>
                  <a:lnTo>
                    <a:pt x="3387" y="15302"/>
                  </a:lnTo>
                  <a:lnTo>
                    <a:pt x="3369" y="15285"/>
                  </a:lnTo>
                  <a:lnTo>
                    <a:pt x="3352" y="15267"/>
                  </a:lnTo>
                  <a:lnTo>
                    <a:pt x="3337" y="15250"/>
                  </a:lnTo>
                  <a:lnTo>
                    <a:pt x="3322" y="15231"/>
                  </a:lnTo>
                  <a:lnTo>
                    <a:pt x="3308" y="15211"/>
                  </a:lnTo>
                  <a:lnTo>
                    <a:pt x="3295" y="15190"/>
                  </a:lnTo>
                  <a:lnTo>
                    <a:pt x="3282" y="15169"/>
                  </a:lnTo>
                  <a:lnTo>
                    <a:pt x="3272" y="15147"/>
                  </a:lnTo>
                  <a:lnTo>
                    <a:pt x="3261" y="15125"/>
                  </a:lnTo>
                  <a:lnTo>
                    <a:pt x="3252" y="15102"/>
                  </a:lnTo>
                  <a:lnTo>
                    <a:pt x="3245" y="15079"/>
                  </a:lnTo>
                  <a:lnTo>
                    <a:pt x="3237" y="15055"/>
                  </a:lnTo>
                  <a:lnTo>
                    <a:pt x="3232" y="15031"/>
                  </a:lnTo>
                  <a:lnTo>
                    <a:pt x="3228" y="15006"/>
                  </a:lnTo>
                  <a:lnTo>
                    <a:pt x="3225" y="14981"/>
                  </a:lnTo>
                  <a:lnTo>
                    <a:pt x="3223" y="14956"/>
                  </a:lnTo>
                  <a:lnTo>
                    <a:pt x="3222" y="14930"/>
                  </a:lnTo>
                  <a:lnTo>
                    <a:pt x="3223" y="14904"/>
                  </a:lnTo>
                  <a:lnTo>
                    <a:pt x="3225" y="14879"/>
                  </a:lnTo>
                  <a:lnTo>
                    <a:pt x="3228" y="14854"/>
                  </a:lnTo>
                  <a:lnTo>
                    <a:pt x="3232" y="14829"/>
                  </a:lnTo>
                  <a:lnTo>
                    <a:pt x="3237" y="14805"/>
                  </a:lnTo>
                  <a:lnTo>
                    <a:pt x="3245" y="14781"/>
                  </a:lnTo>
                  <a:lnTo>
                    <a:pt x="3252" y="14758"/>
                  </a:lnTo>
                  <a:lnTo>
                    <a:pt x="3261" y="14735"/>
                  </a:lnTo>
                  <a:lnTo>
                    <a:pt x="3272" y="14713"/>
                  </a:lnTo>
                  <a:lnTo>
                    <a:pt x="3282" y="14691"/>
                  </a:lnTo>
                  <a:lnTo>
                    <a:pt x="3295" y="14670"/>
                  </a:lnTo>
                  <a:lnTo>
                    <a:pt x="3308" y="14649"/>
                  </a:lnTo>
                  <a:lnTo>
                    <a:pt x="3322" y="14630"/>
                  </a:lnTo>
                  <a:lnTo>
                    <a:pt x="3337" y="14611"/>
                  </a:lnTo>
                  <a:lnTo>
                    <a:pt x="3352" y="14593"/>
                  </a:lnTo>
                  <a:lnTo>
                    <a:pt x="3369" y="14575"/>
                  </a:lnTo>
                  <a:lnTo>
                    <a:pt x="3387" y="14558"/>
                  </a:lnTo>
                  <a:lnTo>
                    <a:pt x="3406" y="14543"/>
                  </a:lnTo>
                  <a:lnTo>
                    <a:pt x="3424" y="14528"/>
                  </a:lnTo>
                  <a:lnTo>
                    <a:pt x="3444" y="14514"/>
                  </a:lnTo>
                  <a:lnTo>
                    <a:pt x="3464" y="14501"/>
                  </a:lnTo>
                  <a:lnTo>
                    <a:pt x="3485" y="14488"/>
                  </a:lnTo>
                  <a:lnTo>
                    <a:pt x="3507" y="14477"/>
                  </a:lnTo>
                  <a:lnTo>
                    <a:pt x="3529" y="14468"/>
                  </a:lnTo>
                  <a:lnTo>
                    <a:pt x="3552" y="14458"/>
                  </a:lnTo>
                  <a:lnTo>
                    <a:pt x="3576" y="14451"/>
                  </a:lnTo>
                  <a:lnTo>
                    <a:pt x="3599" y="14444"/>
                  </a:lnTo>
                  <a:lnTo>
                    <a:pt x="3624" y="14438"/>
                  </a:lnTo>
                  <a:lnTo>
                    <a:pt x="3648" y="14433"/>
                  </a:lnTo>
                  <a:lnTo>
                    <a:pt x="3673" y="14430"/>
                  </a:lnTo>
                  <a:lnTo>
                    <a:pt x="3699" y="14428"/>
                  </a:lnTo>
                  <a:lnTo>
                    <a:pt x="3725" y="14428"/>
                  </a:lnTo>
                  <a:close/>
                  <a:moveTo>
                    <a:pt x="1277" y="12777"/>
                  </a:moveTo>
                  <a:lnTo>
                    <a:pt x="6172" y="12777"/>
                  </a:lnTo>
                  <a:lnTo>
                    <a:pt x="6186" y="12777"/>
                  </a:lnTo>
                  <a:lnTo>
                    <a:pt x="6198" y="12779"/>
                  </a:lnTo>
                  <a:lnTo>
                    <a:pt x="6211" y="12782"/>
                  </a:lnTo>
                  <a:lnTo>
                    <a:pt x="6222" y="12787"/>
                  </a:lnTo>
                  <a:lnTo>
                    <a:pt x="6234" y="12793"/>
                  </a:lnTo>
                  <a:lnTo>
                    <a:pt x="6244" y="12799"/>
                  </a:lnTo>
                  <a:lnTo>
                    <a:pt x="6255" y="12806"/>
                  </a:lnTo>
                  <a:lnTo>
                    <a:pt x="6263" y="12815"/>
                  </a:lnTo>
                  <a:lnTo>
                    <a:pt x="6271" y="12824"/>
                  </a:lnTo>
                  <a:lnTo>
                    <a:pt x="6279" y="12834"/>
                  </a:lnTo>
                  <a:lnTo>
                    <a:pt x="6286" y="12845"/>
                  </a:lnTo>
                  <a:lnTo>
                    <a:pt x="6291" y="12856"/>
                  </a:lnTo>
                  <a:lnTo>
                    <a:pt x="6295" y="12868"/>
                  </a:lnTo>
                  <a:lnTo>
                    <a:pt x="6299" y="12881"/>
                  </a:lnTo>
                  <a:lnTo>
                    <a:pt x="6301" y="12893"/>
                  </a:lnTo>
                  <a:lnTo>
                    <a:pt x="6302" y="12906"/>
                  </a:lnTo>
                  <a:lnTo>
                    <a:pt x="6302" y="13021"/>
                  </a:lnTo>
                  <a:lnTo>
                    <a:pt x="6301" y="13034"/>
                  </a:lnTo>
                  <a:lnTo>
                    <a:pt x="6299" y="13047"/>
                  </a:lnTo>
                  <a:lnTo>
                    <a:pt x="6295" y="13059"/>
                  </a:lnTo>
                  <a:lnTo>
                    <a:pt x="6291" y="13071"/>
                  </a:lnTo>
                  <a:lnTo>
                    <a:pt x="6286" y="13082"/>
                  </a:lnTo>
                  <a:lnTo>
                    <a:pt x="6279" y="13093"/>
                  </a:lnTo>
                  <a:lnTo>
                    <a:pt x="6271" y="13103"/>
                  </a:lnTo>
                  <a:lnTo>
                    <a:pt x="6263" y="13112"/>
                  </a:lnTo>
                  <a:lnTo>
                    <a:pt x="6255" y="13121"/>
                  </a:lnTo>
                  <a:lnTo>
                    <a:pt x="6244" y="13128"/>
                  </a:lnTo>
                  <a:lnTo>
                    <a:pt x="6234" y="13134"/>
                  </a:lnTo>
                  <a:lnTo>
                    <a:pt x="6222" y="13140"/>
                  </a:lnTo>
                  <a:lnTo>
                    <a:pt x="6211" y="13145"/>
                  </a:lnTo>
                  <a:lnTo>
                    <a:pt x="6198" y="13148"/>
                  </a:lnTo>
                  <a:lnTo>
                    <a:pt x="6186" y="13149"/>
                  </a:lnTo>
                  <a:lnTo>
                    <a:pt x="6172" y="13150"/>
                  </a:lnTo>
                  <a:lnTo>
                    <a:pt x="1277" y="13150"/>
                  </a:lnTo>
                  <a:lnTo>
                    <a:pt x="1263" y="13149"/>
                  </a:lnTo>
                  <a:lnTo>
                    <a:pt x="1251" y="13148"/>
                  </a:lnTo>
                  <a:lnTo>
                    <a:pt x="1238" y="13145"/>
                  </a:lnTo>
                  <a:lnTo>
                    <a:pt x="1227" y="13140"/>
                  </a:lnTo>
                  <a:lnTo>
                    <a:pt x="1215" y="13134"/>
                  </a:lnTo>
                  <a:lnTo>
                    <a:pt x="1205" y="13128"/>
                  </a:lnTo>
                  <a:lnTo>
                    <a:pt x="1194" y="13121"/>
                  </a:lnTo>
                  <a:lnTo>
                    <a:pt x="1186" y="13112"/>
                  </a:lnTo>
                  <a:lnTo>
                    <a:pt x="1178" y="13103"/>
                  </a:lnTo>
                  <a:lnTo>
                    <a:pt x="1169" y="13093"/>
                  </a:lnTo>
                  <a:lnTo>
                    <a:pt x="1163" y="13082"/>
                  </a:lnTo>
                  <a:lnTo>
                    <a:pt x="1158" y="13071"/>
                  </a:lnTo>
                  <a:lnTo>
                    <a:pt x="1154" y="13059"/>
                  </a:lnTo>
                  <a:lnTo>
                    <a:pt x="1150" y="13047"/>
                  </a:lnTo>
                  <a:lnTo>
                    <a:pt x="1148" y="13034"/>
                  </a:lnTo>
                  <a:lnTo>
                    <a:pt x="1147" y="13021"/>
                  </a:lnTo>
                  <a:lnTo>
                    <a:pt x="1147" y="12906"/>
                  </a:lnTo>
                  <a:lnTo>
                    <a:pt x="1148" y="12893"/>
                  </a:lnTo>
                  <a:lnTo>
                    <a:pt x="1150" y="12881"/>
                  </a:lnTo>
                  <a:lnTo>
                    <a:pt x="1154" y="12868"/>
                  </a:lnTo>
                  <a:lnTo>
                    <a:pt x="1158" y="12856"/>
                  </a:lnTo>
                  <a:lnTo>
                    <a:pt x="1163" y="12845"/>
                  </a:lnTo>
                  <a:lnTo>
                    <a:pt x="1169" y="12834"/>
                  </a:lnTo>
                  <a:lnTo>
                    <a:pt x="1178" y="12824"/>
                  </a:lnTo>
                  <a:lnTo>
                    <a:pt x="1186" y="12815"/>
                  </a:lnTo>
                  <a:lnTo>
                    <a:pt x="1194" y="12806"/>
                  </a:lnTo>
                  <a:lnTo>
                    <a:pt x="1205" y="12799"/>
                  </a:lnTo>
                  <a:lnTo>
                    <a:pt x="1215" y="12793"/>
                  </a:lnTo>
                  <a:lnTo>
                    <a:pt x="1227" y="12787"/>
                  </a:lnTo>
                  <a:lnTo>
                    <a:pt x="1238" y="12782"/>
                  </a:lnTo>
                  <a:lnTo>
                    <a:pt x="1251" y="12779"/>
                  </a:lnTo>
                  <a:lnTo>
                    <a:pt x="1263" y="12777"/>
                  </a:lnTo>
                  <a:lnTo>
                    <a:pt x="1277" y="12777"/>
                  </a:lnTo>
                  <a:close/>
                  <a:moveTo>
                    <a:pt x="1277" y="12217"/>
                  </a:moveTo>
                  <a:lnTo>
                    <a:pt x="6172" y="12217"/>
                  </a:lnTo>
                  <a:lnTo>
                    <a:pt x="6186" y="12218"/>
                  </a:lnTo>
                  <a:lnTo>
                    <a:pt x="6198" y="12220"/>
                  </a:lnTo>
                  <a:lnTo>
                    <a:pt x="6211" y="12223"/>
                  </a:lnTo>
                  <a:lnTo>
                    <a:pt x="6222" y="12227"/>
                  </a:lnTo>
                  <a:lnTo>
                    <a:pt x="6234" y="12232"/>
                  </a:lnTo>
                  <a:lnTo>
                    <a:pt x="6244" y="12240"/>
                  </a:lnTo>
                  <a:lnTo>
                    <a:pt x="6255" y="12247"/>
                  </a:lnTo>
                  <a:lnTo>
                    <a:pt x="6263" y="12255"/>
                  </a:lnTo>
                  <a:lnTo>
                    <a:pt x="6271" y="12265"/>
                  </a:lnTo>
                  <a:lnTo>
                    <a:pt x="6279" y="12274"/>
                  </a:lnTo>
                  <a:lnTo>
                    <a:pt x="6286" y="12284"/>
                  </a:lnTo>
                  <a:lnTo>
                    <a:pt x="6291" y="12296"/>
                  </a:lnTo>
                  <a:lnTo>
                    <a:pt x="6295" y="12307"/>
                  </a:lnTo>
                  <a:lnTo>
                    <a:pt x="6299" y="12320"/>
                  </a:lnTo>
                  <a:lnTo>
                    <a:pt x="6301" y="12334"/>
                  </a:lnTo>
                  <a:lnTo>
                    <a:pt x="6302" y="12346"/>
                  </a:lnTo>
                  <a:lnTo>
                    <a:pt x="6302" y="12461"/>
                  </a:lnTo>
                  <a:lnTo>
                    <a:pt x="6301" y="12474"/>
                  </a:lnTo>
                  <a:lnTo>
                    <a:pt x="6299" y="12487"/>
                  </a:lnTo>
                  <a:lnTo>
                    <a:pt x="6295" y="12500"/>
                  </a:lnTo>
                  <a:lnTo>
                    <a:pt x="6291" y="12511"/>
                  </a:lnTo>
                  <a:lnTo>
                    <a:pt x="6286" y="12522"/>
                  </a:lnTo>
                  <a:lnTo>
                    <a:pt x="6279" y="12533"/>
                  </a:lnTo>
                  <a:lnTo>
                    <a:pt x="6271" y="12543"/>
                  </a:lnTo>
                  <a:lnTo>
                    <a:pt x="6263" y="12552"/>
                  </a:lnTo>
                  <a:lnTo>
                    <a:pt x="6255" y="12561"/>
                  </a:lnTo>
                  <a:lnTo>
                    <a:pt x="6244" y="12568"/>
                  </a:lnTo>
                  <a:lnTo>
                    <a:pt x="6234" y="12575"/>
                  </a:lnTo>
                  <a:lnTo>
                    <a:pt x="6222" y="12580"/>
                  </a:lnTo>
                  <a:lnTo>
                    <a:pt x="6211" y="12584"/>
                  </a:lnTo>
                  <a:lnTo>
                    <a:pt x="6198" y="12587"/>
                  </a:lnTo>
                  <a:lnTo>
                    <a:pt x="6186" y="12589"/>
                  </a:lnTo>
                  <a:lnTo>
                    <a:pt x="6172" y="12590"/>
                  </a:lnTo>
                  <a:lnTo>
                    <a:pt x="1277" y="12590"/>
                  </a:lnTo>
                  <a:lnTo>
                    <a:pt x="1263" y="12589"/>
                  </a:lnTo>
                  <a:lnTo>
                    <a:pt x="1251" y="12587"/>
                  </a:lnTo>
                  <a:lnTo>
                    <a:pt x="1238" y="12584"/>
                  </a:lnTo>
                  <a:lnTo>
                    <a:pt x="1227" y="12580"/>
                  </a:lnTo>
                  <a:lnTo>
                    <a:pt x="1215" y="12575"/>
                  </a:lnTo>
                  <a:lnTo>
                    <a:pt x="1205" y="12568"/>
                  </a:lnTo>
                  <a:lnTo>
                    <a:pt x="1194" y="12561"/>
                  </a:lnTo>
                  <a:lnTo>
                    <a:pt x="1186" y="12552"/>
                  </a:lnTo>
                  <a:lnTo>
                    <a:pt x="1178" y="12543"/>
                  </a:lnTo>
                  <a:lnTo>
                    <a:pt x="1169" y="12533"/>
                  </a:lnTo>
                  <a:lnTo>
                    <a:pt x="1163" y="12522"/>
                  </a:lnTo>
                  <a:lnTo>
                    <a:pt x="1158" y="12511"/>
                  </a:lnTo>
                  <a:lnTo>
                    <a:pt x="1154" y="12500"/>
                  </a:lnTo>
                  <a:lnTo>
                    <a:pt x="1150" y="12487"/>
                  </a:lnTo>
                  <a:lnTo>
                    <a:pt x="1148" y="12474"/>
                  </a:lnTo>
                  <a:lnTo>
                    <a:pt x="1147" y="12461"/>
                  </a:lnTo>
                  <a:lnTo>
                    <a:pt x="1147" y="12346"/>
                  </a:lnTo>
                  <a:lnTo>
                    <a:pt x="1148" y="12334"/>
                  </a:lnTo>
                  <a:lnTo>
                    <a:pt x="1150" y="12320"/>
                  </a:lnTo>
                  <a:lnTo>
                    <a:pt x="1154" y="12307"/>
                  </a:lnTo>
                  <a:lnTo>
                    <a:pt x="1158" y="12296"/>
                  </a:lnTo>
                  <a:lnTo>
                    <a:pt x="1163" y="12284"/>
                  </a:lnTo>
                  <a:lnTo>
                    <a:pt x="1169" y="12274"/>
                  </a:lnTo>
                  <a:lnTo>
                    <a:pt x="1178" y="12265"/>
                  </a:lnTo>
                  <a:lnTo>
                    <a:pt x="1186" y="12255"/>
                  </a:lnTo>
                  <a:lnTo>
                    <a:pt x="1194" y="12247"/>
                  </a:lnTo>
                  <a:lnTo>
                    <a:pt x="1205" y="12240"/>
                  </a:lnTo>
                  <a:lnTo>
                    <a:pt x="1215" y="12232"/>
                  </a:lnTo>
                  <a:lnTo>
                    <a:pt x="1227" y="12227"/>
                  </a:lnTo>
                  <a:lnTo>
                    <a:pt x="1238" y="12223"/>
                  </a:lnTo>
                  <a:lnTo>
                    <a:pt x="1251" y="12220"/>
                  </a:lnTo>
                  <a:lnTo>
                    <a:pt x="1263" y="12218"/>
                  </a:lnTo>
                  <a:lnTo>
                    <a:pt x="1277" y="12217"/>
                  </a:lnTo>
                  <a:close/>
                </a:path>
              </a:pathLst>
            </a:custGeom>
            <a:solidFill>
              <a:srgbClr val="00B0F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dirty="0">
                <a:cs typeface="+mn-ea"/>
                <a:sym typeface="+mn-lt"/>
              </a:endParaRPr>
            </a:p>
          </p:txBody>
        </p:sp>
      </p:grpSp>
      <p:sp>
        <p:nvSpPr>
          <p:cNvPr id="171" name="圆角矩形 477">
            <a:extLst>
              <a:ext uri="{FF2B5EF4-FFF2-40B4-BE49-F238E27FC236}">
                <a16:creationId xmlns:a16="http://schemas.microsoft.com/office/drawing/2014/main" id="{8529F2B7-6BBF-4E42-8161-2CB004CD8C70}"/>
              </a:ext>
            </a:extLst>
          </p:cNvPr>
          <p:cNvSpPr/>
          <p:nvPr/>
        </p:nvSpPr>
        <p:spPr bwMode="gray">
          <a:xfrm>
            <a:off x="6552519" y="4248495"/>
            <a:ext cx="287505" cy="116621"/>
          </a:xfrm>
          <a:prstGeom prst="round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dirty="0">
              <a:solidFill>
                <a:schemeClr val="tx2"/>
              </a:solidFill>
              <a:cs typeface="+mn-ea"/>
              <a:sym typeface="+mn-lt"/>
            </a:endParaRPr>
          </a:p>
        </p:txBody>
      </p:sp>
      <p:grpSp>
        <p:nvGrpSpPr>
          <p:cNvPr id="172" name="组合 94">
            <a:extLst>
              <a:ext uri="{FF2B5EF4-FFF2-40B4-BE49-F238E27FC236}">
                <a16:creationId xmlns:a16="http://schemas.microsoft.com/office/drawing/2014/main" id="{71FEB463-D7AD-4364-8379-38EDB2E7E4D1}"/>
              </a:ext>
            </a:extLst>
          </p:cNvPr>
          <p:cNvGrpSpPr/>
          <p:nvPr/>
        </p:nvGrpSpPr>
        <p:grpSpPr bwMode="gray">
          <a:xfrm>
            <a:off x="6953159" y="4278328"/>
            <a:ext cx="236748" cy="385363"/>
            <a:chOff x="1952864" y="2443060"/>
            <a:chExt cx="439738" cy="671513"/>
          </a:xfrm>
          <a:solidFill>
            <a:srgbClr val="00B0F0"/>
          </a:solidFill>
        </p:grpSpPr>
        <p:sp>
          <p:nvSpPr>
            <p:cNvPr id="173" name="Line 157">
              <a:extLst>
                <a:ext uri="{FF2B5EF4-FFF2-40B4-BE49-F238E27FC236}">
                  <a16:creationId xmlns:a16="http://schemas.microsoft.com/office/drawing/2014/main" id="{5708C119-E17D-4AEA-8FA4-2D382212816B}"/>
                </a:ext>
              </a:extLst>
            </p:cNvPr>
            <p:cNvSpPr>
              <a:spLocks noChangeShapeType="1"/>
            </p:cNvSpPr>
            <p:nvPr/>
          </p:nvSpPr>
          <p:spPr bwMode="gray">
            <a:xfrm>
              <a:off x="2184639" y="309076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74" name="Line 158">
              <a:extLst>
                <a:ext uri="{FF2B5EF4-FFF2-40B4-BE49-F238E27FC236}">
                  <a16:creationId xmlns:a16="http://schemas.microsoft.com/office/drawing/2014/main" id="{32071BBA-D1EA-42FE-9FF7-E47D5D76F21D}"/>
                </a:ext>
              </a:extLst>
            </p:cNvPr>
            <p:cNvSpPr>
              <a:spLocks noChangeShapeType="1"/>
            </p:cNvSpPr>
            <p:nvPr/>
          </p:nvSpPr>
          <p:spPr bwMode="gray">
            <a:xfrm>
              <a:off x="2184639" y="309076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75" name="Freeform 159">
              <a:extLst>
                <a:ext uri="{FF2B5EF4-FFF2-40B4-BE49-F238E27FC236}">
                  <a16:creationId xmlns:a16="http://schemas.microsoft.com/office/drawing/2014/main" id="{36468E32-94CE-4E4B-97D9-C4EF995D6E57}"/>
                </a:ext>
              </a:extLst>
            </p:cNvPr>
            <p:cNvSpPr>
              <a:spLocks noEditPoints="1"/>
            </p:cNvSpPr>
            <p:nvPr/>
          </p:nvSpPr>
          <p:spPr bwMode="gray">
            <a:xfrm>
              <a:off x="1952864" y="2443060"/>
              <a:ext cx="439738" cy="649288"/>
            </a:xfrm>
            <a:custGeom>
              <a:avLst/>
              <a:gdLst>
                <a:gd name="T0" fmla="*/ 226 w 277"/>
                <a:gd name="T1" fmla="*/ 151 h 409"/>
                <a:gd name="T2" fmla="*/ 269 w 277"/>
                <a:gd name="T3" fmla="*/ 122 h 409"/>
                <a:gd name="T4" fmla="*/ 273 w 277"/>
                <a:gd name="T5" fmla="*/ 53 h 409"/>
                <a:gd name="T6" fmla="*/ 245 w 277"/>
                <a:gd name="T7" fmla="*/ 20 h 409"/>
                <a:gd name="T8" fmla="*/ 137 w 277"/>
                <a:gd name="T9" fmla="*/ 0 h 409"/>
                <a:gd name="T10" fmla="*/ 39 w 277"/>
                <a:gd name="T11" fmla="*/ 17 h 409"/>
                <a:gd name="T12" fmla="*/ 2 w 277"/>
                <a:gd name="T13" fmla="*/ 47 h 409"/>
                <a:gd name="T14" fmla="*/ 2 w 277"/>
                <a:gd name="T15" fmla="*/ 117 h 409"/>
                <a:gd name="T16" fmla="*/ 39 w 277"/>
                <a:gd name="T17" fmla="*/ 147 h 409"/>
                <a:gd name="T18" fmla="*/ 137 w 277"/>
                <a:gd name="T19" fmla="*/ 164 h 409"/>
                <a:gd name="T20" fmla="*/ 46 w 277"/>
                <a:gd name="T21" fmla="*/ 122 h 409"/>
                <a:gd name="T22" fmla="*/ 58 w 277"/>
                <a:gd name="T23" fmla="*/ 110 h 409"/>
                <a:gd name="T24" fmla="*/ 69 w 277"/>
                <a:gd name="T25" fmla="*/ 127 h 409"/>
                <a:gd name="T26" fmla="*/ 8 w 277"/>
                <a:gd name="T27" fmla="*/ 50 h 409"/>
                <a:gd name="T28" fmla="*/ 97 w 277"/>
                <a:gd name="T29" fmla="*/ 85 h 409"/>
                <a:gd name="T30" fmla="*/ 200 w 277"/>
                <a:gd name="T31" fmla="*/ 82 h 409"/>
                <a:gd name="T32" fmla="*/ 270 w 277"/>
                <a:gd name="T33" fmla="*/ 50 h 409"/>
                <a:gd name="T34" fmla="*/ 183 w 277"/>
                <a:gd name="T35" fmla="*/ 91 h 409"/>
                <a:gd name="T36" fmla="*/ 75 w 277"/>
                <a:gd name="T37" fmla="*/ 86 h 409"/>
                <a:gd name="T38" fmla="*/ 8 w 277"/>
                <a:gd name="T39" fmla="*/ 50 h 409"/>
                <a:gd name="T40" fmla="*/ 170 w 277"/>
                <a:gd name="T41" fmla="*/ 402 h 409"/>
                <a:gd name="T42" fmla="*/ 276 w 277"/>
                <a:gd name="T43" fmla="*/ 403 h 409"/>
                <a:gd name="T44" fmla="*/ 267 w 277"/>
                <a:gd name="T45" fmla="*/ 391 h 409"/>
                <a:gd name="T46" fmla="*/ 216 w 277"/>
                <a:gd name="T47" fmla="*/ 242 h 409"/>
                <a:gd name="T48" fmla="*/ 265 w 277"/>
                <a:gd name="T49" fmla="*/ 216 h 409"/>
                <a:gd name="T50" fmla="*/ 274 w 277"/>
                <a:gd name="T51" fmla="*/ 148 h 409"/>
                <a:gd name="T52" fmla="*/ 262 w 277"/>
                <a:gd name="T53" fmla="*/ 154 h 409"/>
                <a:gd name="T54" fmla="*/ 188 w 277"/>
                <a:gd name="T55" fmla="*/ 186 h 409"/>
                <a:gd name="T56" fmla="*/ 65 w 277"/>
                <a:gd name="T57" fmla="*/ 182 h 409"/>
                <a:gd name="T58" fmla="*/ 8 w 277"/>
                <a:gd name="T59" fmla="*/ 149 h 409"/>
                <a:gd name="T60" fmla="*/ 0 w 277"/>
                <a:gd name="T61" fmla="*/ 193 h 409"/>
                <a:gd name="T62" fmla="*/ 15 w 277"/>
                <a:gd name="T63" fmla="*/ 221 h 409"/>
                <a:gd name="T64" fmla="*/ 82 w 277"/>
                <a:gd name="T65" fmla="*/ 248 h 409"/>
                <a:gd name="T66" fmla="*/ 63 w 277"/>
                <a:gd name="T67" fmla="*/ 200 h 409"/>
                <a:gd name="T68" fmla="*/ 66 w 277"/>
                <a:gd name="T69" fmla="*/ 220 h 409"/>
                <a:gd name="T70" fmla="*/ 47 w 277"/>
                <a:gd name="T71" fmla="*/ 216 h 409"/>
                <a:gd name="T72" fmla="*/ 58 w 277"/>
                <a:gd name="T73" fmla="*/ 200 h 409"/>
                <a:gd name="T74" fmla="*/ 3 w 277"/>
                <a:gd name="T75" fmla="*/ 394 h 409"/>
                <a:gd name="T76" fmla="*/ 7 w 277"/>
                <a:gd name="T77" fmla="*/ 409 h 409"/>
                <a:gd name="T78" fmla="*/ 105 w 277"/>
                <a:gd name="T79" fmla="*/ 396 h 409"/>
                <a:gd name="T80" fmla="*/ 274 w 277"/>
                <a:gd name="T81" fmla="*/ 231 h 409"/>
                <a:gd name="T82" fmla="*/ 258 w 277"/>
                <a:gd name="T83" fmla="*/ 248 h 409"/>
                <a:gd name="T84" fmla="*/ 164 w 277"/>
                <a:gd name="T85" fmla="*/ 277 h 409"/>
                <a:gd name="T86" fmla="*/ 45 w 277"/>
                <a:gd name="T87" fmla="*/ 263 h 409"/>
                <a:gd name="T88" fmla="*/ 5 w 277"/>
                <a:gd name="T89" fmla="*/ 232 h 409"/>
                <a:gd name="T90" fmla="*/ 0 w 277"/>
                <a:gd name="T91" fmla="*/ 281 h 409"/>
                <a:gd name="T92" fmla="*/ 21 w 277"/>
                <a:gd name="T93" fmla="*/ 313 h 409"/>
                <a:gd name="T94" fmla="*/ 102 w 277"/>
                <a:gd name="T95" fmla="*/ 339 h 409"/>
                <a:gd name="T96" fmla="*/ 138 w 277"/>
                <a:gd name="T97" fmla="*/ 363 h 409"/>
                <a:gd name="T98" fmla="*/ 199 w 277"/>
                <a:gd name="T99" fmla="*/ 334 h 409"/>
                <a:gd name="T100" fmla="*/ 266 w 277"/>
                <a:gd name="T101" fmla="*/ 304 h 409"/>
                <a:gd name="T102" fmla="*/ 58 w 277"/>
                <a:gd name="T103" fmla="*/ 313 h 409"/>
                <a:gd name="T104" fmla="*/ 46 w 277"/>
                <a:gd name="T105" fmla="*/ 301 h 409"/>
                <a:gd name="T106" fmla="*/ 63 w 277"/>
                <a:gd name="T107" fmla="*/ 291 h 409"/>
                <a:gd name="T108" fmla="*/ 66 w 277"/>
                <a:gd name="T109" fmla="*/ 31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7" h="409">
                  <a:moveTo>
                    <a:pt x="137" y="164"/>
                  </a:moveTo>
                  <a:lnTo>
                    <a:pt x="137" y="164"/>
                  </a:lnTo>
                  <a:lnTo>
                    <a:pt x="166" y="163"/>
                  </a:lnTo>
                  <a:lnTo>
                    <a:pt x="192" y="160"/>
                  </a:lnTo>
                  <a:lnTo>
                    <a:pt x="216" y="154"/>
                  </a:lnTo>
                  <a:lnTo>
                    <a:pt x="226" y="151"/>
                  </a:lnTo>
                  <a:lnTo>
                    <a:pt x="236" y="147"/>
                  </a:lnTo>
                  <a:lnTo>
                    <a:pt x="245" y="142"/>
                  </a:lnTo>
                  <a:lnTo>
                    <a:pt x="253" y="138"/>
                  </a:lnTo>
                  <a:lnTo>
                    <a:pt x="259" y="133"/>
                  </a:lnTo>
                  <a:lnTo>
                    <a:pt x="265" y="128"/>
                  </a:lnTo>
                  <a:lnTo>
                    <a:pt x="269" y="122"/>
                  </a:lnTo>
                  <a:lnTo>
                    <a:pt x="272" y="117"/>
                  </a:lnTo>
                  <a:lnTo>
                    <a:pt x="273" y="110"/>
                  </a:lnTo>
                  <a:lnTo>
                    <a:pt x="274" y="105"/>
                  </a:lnTo>
                  <a:lnTo>
                    <a:pt x="274" y="59"/>
                  </a:lnTo>
                  <a:lnTo>
                    <a:pt x="274" y="59"/>
                  </a:lnTo>
                  <a:lnTo>
                    <a:pt x="273" y="53"/>
                  </a:lnTo>
                  <a:lnTo>
                    <a:pt x="272" y="47"/>
                  </a:lnTo>
                  <a:lnTo>
                    <a:pt x="269" y="41"/>
                  </a:lnTo>
                  <a:lnTo>
                    <a:pt x="265" y="36"/>
                  </a:lnTo>
                  <a:lnTo>
                    <a:pt x="259" y="30"/>
                  </a:lnTo>
                  <a:lnTo>
                    <a:pt x="253" y="26"/>
                  </a:lnTo>
                  <a:lnTo>
                    <a:pt x="245" y="20"/>
                  </a:lnTo>
                  <a:lnTo>
                    <a:pt x="236" y="17"/>
                  </a:lnTo>
                  <a:lnTo>
                    <a:pt x="226" y="13"/>
                  </a:lnTo>
                  <a:lnTo>
                    <a:pt x="216" y="9"/>
                  </a:lnTo>
                  <a:lnTo>
                    <a:pt x="192" y="4"/>
                  </a:lnTo>
                  <a:lnTo>
                    <a:pt x="166" y="1"/>
                  </a:lnTo>
                  <a:lnTo>
                    <a:pt x="137" y="0"/>
                  </a:lnTo>
                  <a:lnTo>
                    <a:pt x="137" y="0"/>
                  </a:lnTo>
                  <a:lnTo>
                    <a:pt x="109" y="1"/>
                  </a:lnTo>
                  <a:lnTo>
                    <a:pt x="82" y="4"/>
                  </a:lnTo>
                  <a:lnTo>
                    <a:pt x="58" y="9"/>
                  </a:lnTo>
                  <a:lnTo>
                    <a:pt x="48" y="13"/>
                  </a:lnTo>
                  <a:lnTo>
                    <a:pt x="39" y="17"/>
                  </a:lnTo>
                  <a:lnTo>
                    <a:pt x="30" y="20"/>
                  </a:lnTo>
                  <a:lnTo>
                    <a:pt x="22" y="26"/>
                  </a:lnTo>
                  <a:lnTo>
                    <a:pt x="15" y="30"/>
                  </a:lnTo>
                  <a:lnTo>
                    <a:pt x="10" y="36"/>
                  </a:lnTo>
                  <a:lnTo>
                    <a:pt x="6" y="41"/>
                  </a:lnTo>
                  <a:lnTo>
                    <a:pt x="2" y="47"/>
                  </a:lnTo>
                  <a:lnTo>
                    <a:pt x="1" y="53"/>
                  </a:lnTo>
                  <a:lnTo>
                    <a:pt x="0" y="59"/>
                  </a:lnTo>
                  <a:lnTo>
                    <a:pt x="0" y="105"/>
                  </a:lnTo>
                  <a:lnTo>
                    <a:pt x="0" y="105"/>
                  </a:lnTo>
                  <a:lnTo>
                    <a:pt x="1" y="110"/>
                  </a:lnTo>
                  <a:lnTo>
                    <a:pt x="2" y="117"/>
                  </a:lnTo>
                  <a:lnTo>
                    <a:pt x="6" y="122"/>
                  </a:lnTo>
                  <a:lnTo>
                    <a:pt x="10" y="128"/>
                  </a:lnTo>
                  <a:lnTo>
                    <a:pt x="15" y="133"/>
                  </a:lnTo>
                  <a:lnTo>
                    <a:pt x="22" y="138"/>
                  </a:lnTo>
                  <a:lnTo>
                    <a:pt x="30" y="142"/>
                  </a:lnTo>
                  <a:lnTo>
                    <a:pt x="39" y="147"/>
                  </a:lnTo>
                  <a:lnTo>
                    <a:pt x="48" y="151"/>
                  </a:lnTo>
                  <a:lnTo>
                    <a:pt x="58" y="154"/>
                  </a:lnTo>
                  <a:lnTo>
                    <a:pt x="82" y="160"/>
                  </a:lnTo>
                  <a:lnTo>
                    <a:pt x="109" y="163"/>
                  </a:lnTo>
                  <a:lnTo>
                    <a:pt x="137" y="164"/>
                  </a:lnTo>
                  <a:lnTo>
                    <a:pt x="137" y="164"/>
                  </a:lnTo>
                  <a:close/>
                  <a:moveTo>
                    <a:pt x="58" y="135"/>
                  </a:moveTo>
                  <a:lnTo>
                    <a:pt x="58" y="135"/>
                  </a:lnTo>
                  <a:lnTo>
                    <a:pt x="54" y="133"/>
                  </a:lnTo>
                  <a:lnTo>
                    <a:pt x="49" y="130"/>
                  </a:lnTo>
                  <a:lnTo>
                    <a:pt x="47" y="127"/>
                  </a:lnTo>
                  <a:lnTo>
                    <a:pt x="46" y="122"/>
                  </a:lnTo>
                  <a:lnTo>
                    <a:pt x="46" y="122"/>
                  </a:lnTo>
                  <a:lnTo>
                    <a:pt x="47" y="118"/>
                  </a:lnTo>
                  <a:lnTo>
                    <a:pt x="49" y="115"/>
                  </a:lnTo>
                  <a:lnTo>
                    <a:pt x="54" y="111"/>
                  </a:lnTo>
                  <a:lnTo>
                    <a:pt x="58" y="110"/>
                  </a:lnTo>
                  <a:lnTo>
                    <a:pt x="58" y="110"/>
                  </a:lnTo>
                  <a:lnTo>
                    <a:pt x="63" y="111"/>
                  </a:lnTo>
                  <a:lnTo>
                    <a:pt x="66" y="115"/>
                  </a:lnTo>
                  <a:lnTo>
                    <a:pt x="69" y="118"/>
                  </a:lnTo>
                  <a:lnTo>
                    <a:pt x="69" y="122"/>
                  </a:lnTo>
                  <a:lnTo>
                    <a:pt x="69" y="122"/>
                  </a:lnTo>
                  <a:lnTo>
                    <a:pt x="69" y="127"/>
                  </a:lnTo>
                  <a:lnTo>
                    <a:pt x="66" y="130"/>
                  </a:lnTo>
                  <a:lnTo>
                    <a:pt x="63" y="133"/>
                  </a:lnTo>
                  <a:lnTo>
                    <a:pt x="58" y="135"/>
                  </a:lnTo>
                  <a:lnTo>
                    <a:pt x="58" y="135"/>
                  </a:lnTo>
                  <a:close/>
                  <a:moveTo>
                    <a:pt x="8" y="50"/>
                  </a:moveTo>
                  <a:lnTo>
                    <a:pt x="8" y="50"/>
                  </a:lnTo>
                  <a:lnTo>
                    <a:pt x="18" y="58"/>
                  </a:lnTo>
                  <a:lnTo>
                    <a:pt x="30" y="65"/>
                  </a:lnTo>
                  <a:lnTo>
                    <a:pt x="44" y="72"/>
                  </a:lnTo>
                  <a:lnTo>
                    <a:pt x="60" y="77"/>
                  </a:lnTo>
                  <a:lnTo>
                    <a:pt x="78" y="82"/>
                  </a:lnTo>
                  <a:lnTo>
                    <a:pt x="97" y="85"/>
                  </a:lnTo>
                  <a:lnTo>
                    <a:pt x="118" y="87"/>
                  </a:lnTo>
                  <a:lnTo>
                    <a:pt x="138" y="87"/>
                  </a:lnTo>
                  <a:lnTo>
                    <a:pt x="138" y="87"/>
                  </a:lnTo>
                  <a:lnTo>
                    <a:pt x="160" y="87"/>
                  </a:lnTo>
                  <a:lnTo>
                    <a:pt x="181" y="85"/>
                  </a:lnTo>
                  <a:lnTo>
                    <a:pt x="200" y="82"/>
                  </a:lnTo>
                  <a:lnTo>
                    <a:pt x="217" y="77"/>
                  </a:lnTo>
                  <a:lnTo>
                    <a:pt x="234" y="72"/>
                  </a:lnTo>
                  <a:lnTo>
                    <a:pt x="248" y="65"/>
                  </a:lnTo>
                  <a:lnTo>
                    <a:pt x="260" y="58"/>
                  </a:lnTo>
                  <a:lnTo>
                    <a:pt x="270" y="50"/>
                  </a:lnTo>
                  <a:lnTo>
                    <a:pt x="270" y="50"/>
                  </a:lnTo>
                  <a:lnTo>
                    <a:pt x="261" y="59"/>
                  </a:lnTo>
                  <a:lnTo>
                    <a:pt x="250" y="68"/>
                  </a:lnTo>
                  <a:lnTo>
                    <a:pt x="236" y="75"/>
                  </a:lnTo>
                  <a:lnTo>
                    <a:pt x="221" y="82"/>
                  </a:lnTo>
                  <a:lnTo>
                    <a:pt x="203" y="86"/>
                  </a:lnTo>
                  <a:lnTo>
                    <a:pt x="183" y="91"/>
                  </a:lnTo>
                  <a:lnTo>
                    <a:pt x="161" y="93"/>
                  </a:lnTo>
                  <a:lnTo>
                    <a:pt x="138" y="94"/>
                  </a:lnTo>
                  <a:lnTo>
                    <a:pt x="138" y="94"/>
                  </a:lnTo>
                  <a:lnTo>
                    <a:pt x="116" y="93"/>
                  </a:lnTo>
                  <a:lnTo>
                    <a:pt x="94" y="91"/>
                  </a:lnTo>
                  <a:lnTo>
                    <a:pt x="75" y="86"/>
                  </a:lnTo>
                  <a:lnTo>
                    <a:pt x="57" y="82"/>
                  </a:lnTo>
                  <a:lnTo>
                    <a:pt x="42" y="75"/>
                  </a:lnTo>
                  <a:lnTo>
                    <a:pt x="28" y="68"/>
                  </a:lnTo>
                  <a:lnTo>
                    <a:pt x="17" y="59"/>
                  </a:lnTo>
                  <a:lnTo>
                    <a:pt x="8" y="50"/>
                  </a:lnTo>
                  <a:lnTo>
                    <a:pt x="8" y="50"/>
                  </a:lnTo>
                  <a:close/>
                  <a:moveTo>
                    <a:pt x="267" y="391"/>
                  </a:moveTo>
                  <a:lnTo>
                    <a:pt x="171" y="391"/>
                  </a:lnTo>
                  <a:lnTo>
                    <a:pt x="171" y="391"/>
                  </a:lnTo>
                  <a:lnTo>
                    <a:pt x="171" y="396"/>
                  </a:lnTo>
                  <a:lnTo>
                    <a:pt x="171" y="396"/>
                  </a:lnTo>
                  <a:lnTo>
                    <a:pt x="170" y="402"/>
                  </a:lnTo>
                  <a:lnTo>
                    <a:pt x="168" y="409"/>
                  </a:lnTo>
                  <a:lnTo>
                    <a:pt x="267" y="409"/>
                  </a:lnTo>
                  <a:lnTo>
                    <a:pt x="267" y="409"/>
                  </a:lnTo>
                  <a:lnTo>
                    <a:pt x="271" y="409"/>
                  </a:lnTo>
                  <a:lnTo>
                    <a:pt x="273" y="407"/>
                  </a:lnTo>
                  <a:lnTo>
                    <a:pt x="276" y="403"/>
                  </a:lnTo>
                  <a:lnTo>
                    <a:pt x="277" y="400"/>
                  </a:lnTo>
                  <a:lnTo>
                    <a:pt x="277" y="400"/>
                  </a:lnTo>
                  <a:lnTo>
                    <a:pt x="276" y="397"/>
                  </a:lnTo>
                  <a:lnTo>
                    <a:pt x="273" y="394"/>
                  </a:lnTo>
                  <a:lnTo>
                    <a:pt x="271" y="391"/>
                  </a:lnTo>
                  <a:lnTo>
                    <a:pt x="267" y="391"/>
                  </a:lnTo>
                  <a:lnTo>
                    <a:pt x="267" y="391"/>
                  </a:lnTo>
                  <a:close/>
                  <a:moveTo>
                    <a:pt x="137" y="253"/>
                  </a:moveTo>
                  <a:lnTo>
                    <a:pt x="137" y="253"/>
                  </a:lnTo>
                  <a:lnTo>
                    <a:pt x="166" y="251"/>
                  </a:lnTo>
                  <a:lnTo>
                    <a:pt x="192" y="248"/>
                  </a:lnTo>
                  <a:lnTo>
                    <a:pt x="216" y="242"/>
                  </a:lnTo>
                  <a:lnTo>
                    <a:pt x="226" y="239"/>
                  </a:lnTo>
                  <a:lnTo>
                    <a:pt x="236" y="236"/>
                  </a:lnTo>
                  <a:lnTo>
                    <a:pt x="245" y="231"/>
                  </a:lnTo>
                  <a:lnTo>
                    <a:pt x="253" y="227"/>
                  </a:lnTo>
                  <a:lnTo>
                    <a:pt x="259" y="221"/>
                  </a:lnTo>
                  <a:lnTo>
                    <a:pt x="265" y="216"/>
                  </a:lnTo>
                  <a:lnTo>
                    <a:pt x="269" y="210"/>
                  </a:lnTo>
                  <a:lnTo>
                    <a:pt x="272" y="205"/>
                  </a:lnTo>
                  <a:lnTo>
                    <a:pt x="273" y="199"/>
                  </a:lnTo>
                  <a:lnTo>
                    <a:pt x="274" y="193"/>
                  </a:lnTo>
                  <a:lnTo>
                    <a:pt x="274" y="148"/>
                  </a:lnTo>
                  <a:lnTo>
                    <a:pt x="274" y="148"/>
                  </a:lnTo>
                  <a:lnTo>
                    <a:pt x="274" y="143"/>
                  </a:lnTo>
                  <a:lnTo>
                    <a:pt x="272" y="139"/>
                  </a:lnTo>
                  <a:lnTo>
                    <a:pt x="272" y="139"/>
                  </a:lnTo>
                  <a:lnTo>
                    <a:pt x="270" y="144"/>
                  </a:lnTo>
                  <a:lnTo>
                    <a:pt x="267" y="149"/>
                  </a:lnTo>
                  <a:lnTo>
                    <a:pt x="262" y="154"/>
                  </a:lnTo>
                  <a:lnTo>
                    <a:pt x="258" y="159"/>
                  </a:lnTo>
                  <a:lnTo>
                    <a:pt x="251" y="163"/>
                  </a:lnTo>
                  <a:lnTo>
                    <a:pt x="245" y="167"/>
                  </a:lnTo>
                  <a:lnTo>
                    <a:pt x="228" y="175"/>
                  </a:lnTo>
                  <a:lnTo>
                    <a:pt x="210" y="182"/>
                  </a:lnTo>
                  <a:lnTo>
                    <a:pt x="188" y="186"/>
                  </a:lnTo>
                  <a:lnTo>
                    <a:pt x="164" y="189"/>
                  </a:lnTo>
                  <a:lnTo>
                    <a:pt x="137" y="191"/>
                  </a:lnTo>
                  <a:lnTo>
                    <a:pt x="137" y="191"/>
                  </a:lnTo>
                  <a:lnTo>
                    <a:pt x="111" y="189"/>
                  </a:lnTo>
                  <a:lnTo>
                    <a:pt x="87" y="186"/>
                  </a:lnTo>
                  <a:lnTo>
                    <a:pt x="65" y="182"/>
                  </a:lnTo>
                  <a:lnTo>
                    <a:pt x="46" y="175"/>
                  </a:lnTo>
                  <a:lnTo>
                    <a:pt x="30" y="167"/>
                  </a:lnTo>
                  <a:lnTo>
                    <a:pt x="23" y="163"/>
                  </a:lnTo>
                  <a:lnTo>
                    <a:pt x="17" y="159"/>
                  </a:lnTo>
                  <a:lnTo>
                    <a:pt x="12" y="154"/>
                  </a:lnTo>
                  <a:lnTo>
                    <a:pt x="8" y="149"/>
                  </a:lnTo>
                  <a:lnTo>
                    <a:pt x="5" y="144"/>
                  </a:lnTo>
                  <a:lnTo>
                    <a:pt x="2" y="139"/>
                  </a:lnTo>
                  <a:lnTo>
                    <a:pt x="2" y="139"/>
                  </a:lnTo>
                  <a:lnTo>
                    <a:pt x="0" y="143"/>
                  </a:lnTo>
                  <a:lnTo>
                    <a:pt x="0" y="148"/>
                  </a:lnTo>
                  <a:lnTo>
                    <a:pt x="0" y="193"/>
                  </a:lnTo>
                  <a:lnTo>
                    <a:pt x="0" y="193"/>
                  </a:lnTo>
                  <a:lnTo>
                    <a:pt x="1" y="199"/>
                  </a:lnTo>
                  <a:lnTo>
                    <a:pt x="2" y="205"/>
                  </a:lnTo>
                  <a:lnTo>
                    <a:pt x="6" y="210"/>
                  </a:lnTo>
                  <a:lnTo>
                    <a:pt x="10" y="216"/>
                  </a:lnTo>
                  <a:lnTo>
                    <a:pt x="15" y="221"/>
                  </a:lnTo>
                  <a:lnTo>
                    <a:pt x="22" y="227"/>
                  </a:lnTo>
                  <a:lnTo>
                    <a:pt x="30" y="231"/>
                  </a:lnTo>
                  <a:lnTo>
                    <a:pt x="39" y="236"/>
                  </a:lnTo>
                  <a:lnTo>
                    <a:pt x="48" y="239"/>
                  </a:lnTo>
                  <a:lnTo>
                    <a:pt x="58" y="242"/>
                  </a:lnTo>
                  <a:lnTo>
                    <a:pt x="82" y="248"/>
                  </a:lnTo>
                  <a:lnTo>
                    <a:pt x="109" y="251"/>
                  </a:lnTo>
                  <a:lnTo>
                    <a:pt x="137" y="253"/>
                  </a:lnTo>
                  <a:lnTo>
                    <a:pt x="137" y="253"/>
                  </a:lnTo>
                  <a:close/>
                  <a:moveTo>
                    <a:pt x="58" y="200"/>
                  </a:moveTo>
                  <a:lnTo>
                    <a:pt x="58" y="200"/>
                  </a:lnTo>
                  <a:lnTo>
                    <a:pt x="63" y="200"/>
                  </a:lnTo>
                  <a:lnTo>
                    <a:pt x="66" y="204"/>
                  </a:lnTo>
                  <a:lnTo>
                    <a:pt x="69" y="207"/>
                  </a:lnTo>
                  <a:lnTo>
                    <a:pt x="69" y="211"/>
                  </a:lnTo>
                  <a:lnTo>
                    <a:pt x="69" y="211"/>
                  </a:lnTo>
                  <a:lnTo>
                    <a:pt x="69" y="216"/>
                  </a:lnTo>
                  <a:lnTo>
                    <a:pt x="66" y="220"/>
                  </a:lnTo>
                  <a:lnTo>
                    <a:pt x="63" y="222"/>
                  </a:lnTo>
                  <a:lnTo>
                    <a:pt x="58" y="223"/>
                  </a:lnTo>
                  <a:lnTo>
                    <a:pt x="58" y="223"/>
                  </a:lnTo>
                  <a:lnTo>
                    <a:pt x="54" y="222"/>
                  </a:lnTo>
                  <a:lnTo>
                    <a:pt x="49" y="220"/>
                  </a:lnTo>
                  <a:lnTo>
                    <a:pt x="47" y="216"/>
                  </a:lnTo>
                  <a:lnTo>
                    <a:pt x="46" y="211"/>
                  </a:lnTo>
                  <a:lnTo>
                    <a:pt x="46" y="211"/>
                  </a:lnTo>
                  <a:lnTo>
                    <a:pt x="47" y="207"/>
                  </a:lnTo>
                  <a:lnTo>
                    <a:pt x="49" y="204"/>
                  </a:lnTo>
                  <a:lnTo>
                    <a:pt x="54" y="200"/>
                  </a:lnTo>
                  <a:lnTo>
                    <a:pt x="58" y="200"/>
                  </a:lnTo>
                  <a:lnTo>
                    <a:pt x="58" y="200"/>
                  </a:lnTo>
                  <a:close/>
                  <a:moveTo>
                    <a:pt x="107" y="391"/>
                  </a:moveTo>
                  <a:lnTo>
                    <a:pt x="10" y="391"/>
                  </a:lnTo>
                  <a:lnTo>
                    <a:pt x="10" y="391"/>
                  </a:lnTo>
                  <a:lnTo>
                    <a:pt x="7" y="391"/>
                  </a:lnTo>
                  <a:lnTo>
                    <a:pt x="3" y="394"/>
                  </a:lnTo>
                  <a:lnTo>
                    <a:pt x="1" y="397"/>
                  </a:lnTo>
                  <a:lnTo>
                    <a:pt x="0" y="400"/>
                  </a:lnTo>
                  <a:lnTo>
                    <a:pt x="0" y="400"/>
                  </a:lnTo>
                  <a:lnTo>
                    <a:pt x="1" y="403"/>
                  </a:lnTo>
                  <a:lnTo>
                    <a:pt x="3" y="407"/>
                  </a:lnTo>
                  <a:lnTo>
                    <a:pt x="7" y="409"/>
                  </a:lnTo>
                  <a:lnTo>
                    <a:pt x="10" y="409"/>
                  </a:lnTo>
                  <a:lnTo>
                    <a:pt x="109" y="409"/>
                  </a:lnTo>
                  <a:lnTo>
                    <a:pt x="109" y="409"/>
                  </a:lnTo>
                  <a:lnTo>
                    <a:pt x="107" y="402"/>
                  </a:lnTo>
                  <a:lnTo>
                    <a:pt x="105" y="396"/>
                  </a:lnTo>
                  <a:lnTo>
                    <a:pt x="105" y="396"/>
                  </a:lnTo>
                  <a:lnTo>
                    <a:pt x="107" y="391"/>
                  </a:lnTo>
                  <a:lnTo>
                    <a:pt x="107" y="391"/>
                  </a:lnTo>
                  <a:close/>
                  <a:moveTo>
                    <a:pt x="274" y="281"/>
                  </a:moveTo>
                  <a:lnTo>
                    <a:pt x="274" y="236"/>
                  </a:lnTo>
                  <a:lnTo>
                    <a:pt x="274" y="236"/>
                  </a:lnTo>
                  <a:lnTo>
                    <a:pt x="274" y="231"/>
                  </a:lnTo>
                  <a:lnTo>
                    <a:pt x="273" y="227"/>
                  </a:lnTo>
                  <a:lnTo>
                    <a:pt x="273" y="227"/>
                  </a:lnTo>
                  <a:lnTo>
                    <a:pt x="270" y="232"/>
                  </a:lnTo>
                  <a:lnTo>
                    <a:pt x="267" y="238"/>
                  </a:lnTo>
                  <a:lnTo>
                    <a:pt x="262" y="242"/>
                  </a:lnTo>
                  <a:lnTo>
                    <a:pt x="258" y="248"/>
                  </a:lnTo>
                  <a:lnTo>
                    <a:pt x="251" y="252"/>
                  </a:lnTo>
                  <a:lnTo>
                    <a:pt x="245" y="256"/>
                  </a:lnTo>
                  <a:lnTo>
                    <a:pt x="228" y="263"/>
                  </a:lnTo>
                  <a:lnTo>
                    <a:pt x="210" y="270"/>
                  </a:lnTo>
                  <a:lnTo>
                    <a:pt x="188" y="274"/>
                  </a:lnTo>
                  <a:lnTo>
                    <a:pt x="164" y="277"/>
                  </a:lnTo>
                  <a:lnTo>
                    <a:pt x="137" y="278"/>
                  </a:lnTo>
                  <a:lnTo>
                    <a:pt x="137" y="278"/>
                  </a:lnTo>
                  <a:lnTo>
                    <a:pt x="111" y="277"/>
                  </a:lnTo>
                  <a:lnTo>
                    <a:pt x="87" y="274"/>
                  </a:lnTo>
                  <a:lnTo>
                    <a:pt x="65" y="270"/>
                  </a:lnTo>
                  <a:lnTo>
                    <a:pt x="45" y="263"/>
                  </a:lnTo>
                  <a:lnTo>
                    <a:pt x="30" y="256"/>
                  </a:lnTo>
                  <a:lnTo>
                    <a:pt x="23" y="252"/>
                  </a:lnTo>
                  <a:lnTo>
                    <a:pt x="17" y="248"/>
                  </a:lnTo>
                  <a:lnTo>
                    <a:pt x="11" y="242"/>
                  </a:lnTo>
                  <a:lnTo>
                    <a:pt x="8" y="238"/>
                  </a:lnTo>
                  <a:lnTo>
                    <a:pt x="5" y="232"/>
                  </a:lnTo>
                  <a:lnTo>
                    <a:pt x="1" y="227"/>
                  </a:lnTo>
                  <a:lnTo>
                    <a:pt x="1" y="227"/>
                  </a:lnTo>
                  <a:lnTo>
                    <a:pt x="0" y="231"/>
                  </a:lnTo>
                  <a:lnTo>
                    <a:pt x="0" y="236"/>
                  </a:lnTo>
                  <a:lnTo>
                    <a:pt x="0" y="281"/>
                  </a:lnTo>
                  <a:lnTo>
                    <a:pt x="0" y="281"/>
                  </a:lnTo>
                  <a:lnTo>
                    <a:pt x="1" y="287"/>
                  </a:lnTo>
                  <a:lnTo>
                    <a:pt x="2" y="293"/>
                  </a:lnTo>
                  <a:lnTo>
                    <a:pt x="6" y="298"/>
                  </a:lnTo>
                  <a:lnTo>
                    <a:pt x="10" y="304"/>
                  </a:lnTo>
                  <a:lnTo>
                    <a:pt x="14" y="309"/>
                  </a:lnTo>
                  <a:lnTo>
                    <a:pt x="21" y="313"/>
                  </a:lnTo>
                  <a:lnTo>
                    <a:pt x="28" y="318"/>
                  </a:lnTo>
                  <a:lnTo>
                    <a:pt x="36" y="322"/>
                  </a:lnTo>
                  <a:lnTo>
                    <a:pt x="45" y="326"/>
                  </a:lnTo>
                  <a:lnTo>
                    <a:pt x="55" y="330"/>
                  </a:lnTo>
                  <a:lnTo>
                    <a:pt x="77" y="335"/>
                  </a:lnTo>
                  <a:lnTo>
                    <a:pt x="102" y="339"/>
                  </a:lnTo>
                  <a:lnTo>
                    <a:pt x="130" y="341"/>
                  </a:lnTo>
                  <a:lnTo>
                    <a:pt x="130" y="364"/>
                  </a:lnTo>
                  <a:lnTo>
                    <a:pt x="130" y="364"/>
                  </a:lnTo>
                  <a:lnTo>
                    <a:pt x="134" y="364"/>
                  </a:lnTo>
                  <a:lnTo>
                    <a:pt x="138" y="363"/>
                  </a:lnTo>
                  <a:lnTo>
                    <a:pt x="138" y="363"/>
                  </a:lnTo>
                  <a:lnTo>
                    <a:pt x="143" y="364"/>
                  </a:lnTo>
                  <a:lnTo>
                    <a:pt x="148" y="364"/>
                  </a:lnTo>
                  <a:lnTo>
                    <a:pt x="148" y="341"/>
                  </a:lnTo>
                  <a:lnTo>
                    <a:pt x="148" y="341"/>
                  </a:lnTo>
                  <a:lnTo>
                    <a:pt x="175" y="339"/>
                  </a:lnTo>
                  <a:lnTo>
                    <a:pt x="199" y="334"/>
                  </a:lnTo>
                  <a:lnTo>
                    <a:pt x="221" y="329"/>
                  </a:lnTo>
                  <a:lnTo>
                    <a:pt x="239" y="322"/>
                  </a:lnTo>
                  <a:lnTo>
                    <a:pt x="247" y="318"/>
                  </a:lnTo>
                  <a:lnTo>
                    <a:pt x="254" y="313"/>
                  </a:lnTo>
                  <a:lnTo>
                    <a:pt x="260" y="308"/>
                  </a:lnTo>
                  <a:lnTo>
                    <a:pt x="266" y="304"/>
                  </a:lnTo>
                  <a:lnTo>
                    <a:pt x="269" y="298"/>
                  </a:lnTo>
                  <a:lnTo>
                    <a:pt x="272" y="293"/>
                  </a:lnTo>
                  <a:lnTo>
                    <a:pt x="273" y="287"/>
                  </a:lnTo>
                  <a:lnTo>
                    <a:pt x="274" y="281"/>
                  </a:lnTo>
                  <a:lnTo>
                    <a:pt x="274" y="281"/>
                  </a:lnTo>
                  <a:close/>
                  <a:moveTo>
                    <a:pt x="58" y="313"/>
                  </a:moveTo>
                  <a:lnTo>
                    <a:pt x="58" y="313"/>
                  </a:lnTo>
                  <a:lnTo>
                    <a:pt x="54" y="312"/>
                  </a:lnTo>
                  <a:lnTo>
                    <a:pt x="49" y="310"/>
                  </a:lnTo>
                  <a:lnTo>
                    <a:pt x="47" y="306"/>
                  </a:lnTo>
                  <a:lnTo>
                    <a:pt x="46" y="301"/>
                  </a:lnTo>
                  <a:lnTo>
                    <a:pt x="46" y="301"/>
                  </a:lnTo>
                  <a:lnTo>
                    <a:pt x="47" y="297"/>
                  </a:lnTo>
                  <a:lnTo>
                    <a:pt x="49" y="294"/>
                  </a:lnTo>
                  <a:lnTo>
                    <a:pt x="54" y="291"/>
                  </a:lnTo>
                  <a:lnTo>
                    <a:pt x="58" y="290"/>
                  </a:lnTo>
                  <a:lnTo>
                    <a:pt x="58" y="290"/>
                  </a:lnTo>
                  <a:lnTo>
                    <a:pt x="63" y="291"/>
                  </a:lnTo>
                  <a:lnTo>
                    <a:pt x="66" y="294"/>
                  </a:lnTo>
                  <a:lnTo>
                    <a:pt x="69" y="297"/>
                  </a:lnTo>
                  <a:lnTo>
                    <a:pt x="69" y="301"/>
                  </a:lnTo>
                  <a:lnTo>
                    <a:pt x="69" y="301"/>
                  </a:lnTo>
                  <a:lnTo>
                    <a:pt x="69" y="306"/>
                  </a:lnTo>
                  <a:lnTo>
                    <a:pt x="66" y="310"/>
                  </a:lnTo>
                  <a:lnTo>
                    <a:pt x="63" y="312"/>
                  </a:lnTo>
                  <a:lnTo>
                    <a:pt x="58" y="313"/>
                  </a:lnTo>
                  <a:lnTo>
                    <a:pt x="58" y="3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76" name="Freeform 160">
              <a:extLst>
                <a:ext uri="{FF2B5EF4-FFF2-40B4-BE49-F238E27FC236}">
                  <a16:creationId xmlns:a16="http://schemas.microsoft.com/office/drawing/2014/main" id="{3BD142D9-5A28-4C77-96F3-AA58C36A1F66}"/>
                </a:ext>
              </a:extLst>
            </p:cNvPr>
            <p:cNvSpPr>
              <a:spLocks/>
            </p:cNvSpPr>
            <p:nvPr/>
          </p:nvSpPr>
          <p:spPr bwMode="gray">
            <a:xfrm>
              <a:off x="2130664" y="3027260"/>
              <a:ext cx="85725" cy="87313"/>
            </a:xfrm>
            <a:custGeom>
              <a:avLst/>
              <a:gdLst>
                <a:gd name="T0" fmla="*/ 54 w 54"/>
                <a:gd name="T1" fmla="*/ 28 h 55"/>
                <a:gd name="T2" fmla="*/ 54 w 54"/>
                <a:gd name="T3" fmla="*/ 28 h 55"/>
                <a:gd name="T4" fmla="*/ 53 w 54"/>
                <a:gd name="T5" fmla="*/ 33 h 55"/>
                <a:gd name="T6" fmla="*/ 52 w 54"/>
                <a:gd name="T7" fmla="*/ 39 h 55"/>
                <a:gd name="T8" fmla="*/ 49 w 54"/>
                <a:gd name="T9" fmla="*/ 43 h 55"/>
                <a:gd name="T10" fmla="*/ 46 w 54"/>
                <a:gd name="T11" fmla="*/ 46 h 55"/>
                <a:gd name="T12" fmla="*/ 42 w 54"/>
                <a:gd name="T13" fmla="*/ 50 h 55"/>
                <a:gd name="T14" fmla="*/ 37 w 54"/>
                <a:gd name="T15" fmla="*/ 53 h 55"/>
                <a:gd name="T16" fmla="*/ 32 w 54"/>
                <a:gd name="T17" fmla="*/ 54 h 55"/>
                <a:gd name="T18" fmla="*/ 26 w 54"/>
                <a:gd name="T19" fmla="*/ 55 h 55"/>
                <a:gd name="T20" fmla="*/ 26 w 54"/>
                <a:gd name="T21" fmla="*/ 55 h 55"/>
                <a:gd name="T22" fmla="*/ 21 w 54"/>
                <a:gd name="T23" fmla="*/ 54 h 55"/>
                <a:gd name="T24" fmla="*/ 17 w 54"/>
                <a:gd name="T25" fmla="*/ 53 h 55"/>
                <a:gd name="T26" fmla="*/ 11 w 54"/>
                <a:gd name="T27" fmla="*/ 50 h 55"/>
                <a:gd name="T28" fmla="*/ 8 w 54"/>
                <a:gd name="T29" fmla="*/ 46 h 55"/>
                <a:gd name="T30" fmla="*/ 4 w 54"/>
                <a:gd name="T31" fmla="*/ 43 h 55"/>
                <a:gd name="T32" fmla="*/ 1 w 54"/>
                <a:gd name="T33" fmla="*/ 39 h 55"/>
                <a:gd name="T34" fmla="*/ 0 w 54"/>
                <a:gd name="T35" fmla="*/ 33 h 55"/>
                <a:gd name="T36" fmla="*/ 0 w 54"/>
                <a:gd name="T37" fmla="*/ 28 h 55"/>
                <a:gd name="T38" fmla="*/ 0 w 54"/>
                <a:gd name="T39" fmla="*/ 28 h 55"/>
                <a:gd name="T40" fmla="*/ 0 w 54"/>
                <a:gd name="T41" fmla="*/ 22 h 55"/>
                <a:gd name="T42" fmla="*/ 1 w 54"/>
                <a:gd name="T43" fmla="*/ 17 h 55"/>
                <a:gd name="T44" fmla="*/ 4 w 54"/>
                <a:gd name="T45" fmla="*/ 12 h 55"/>
                <a:gd name="T46" fmla="*/ 8 w 54"/>
                <a:gd name="T47" fmla="*/ 9 h 55"/>
                <a:gd name="T48" fmla="*/ 11 w 54"/>
                <a:gd name="T49" fmla="*/ 6 h 55"/>
                <a:gd name="T50" fmla="*/ 17 w 54"/>
                <a:gd name="T51" fmla="*/ 3 h 55"/>
                <a:gd name="T52" fmla="*/ 21 w 54"/>
                <a:gd name="T53" fmla="*/ 1 h 55"/>
                <a:gd name="T54" fmla="*/ 26 w 54"/>
                <a:gd name="T55" fmla="*/ 0 h 55"/>
                <a:gd name="T56" fmla="*/ 26 w 54"/>
                <a:gd name="T57" fmla="*/ 0 h 55"/>
                <a:gd name="T58" fmla="*/ 32 w 54"/>
                <a:gd name="T59" fmla="*/ 1 h 55"/>
                <a:gd name="T60" fmla="*/ 37 w 54"/>
                <a:gd name="T61" fmla="*/ 3 h 55"/>
                <a:gd name="T62" fmla="*/ 42 w 54"/>
                <a:gd name="T63" fmla="*/ 6 h 55"/>
                <a:gd name="T64" fmla="*/ 46 w 54"/>
                <a:gd name="T65" fmla="*/ 9 h 55"/>
                <a:gd name="T66" fmla="*/ 49 w 54"/>
                <a:gd name="T67" fmla="*/ 12 h 55"/>
                <a:gd name="T68" fmla="*/ 52 w 54"/>
                <a:gd name="T69" fmla="*/ 17 h 55"/>
                <a:gd name="T70" fmla="*/ 53 w 54"/>
                <a:gd name="T71" fmla="*/ 22 h 55"/>
                <a:gd name="T72" fmla="*/ 54 w 54"/>
                <a:gd name="T73" fmla="*/ 28 h 55"/>
                <a:gd name="T74" fmla="*/ 54 w 54"/>
                <a:gd name="T75" fmla="*/ 2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4" h="55">
                  <a:moveTo>
                    <a:pt x="54" y="28"/>
                  </a:moveTo>
                  <a:lnTo>
                    <a:pt x="54" y="28"/>
                  </a:lnTo>
                  <a:lnTo>
                    <a:pt x="53" y="33"/>
                  </a:lnTo>
                  <a:lnTo>
                    <a:pt x="52" y="39"/>
                  </a:lnTo>
                  <a:lnTo>
                    <a:pt x="49" y="43"/>
                  </a:lnTo>
                  <a:lnTo>
                    <a:pt x="46" y="46"/>
                  </a:lnTo>
                  <a:lnTo>
                    <a:pt x="42" y="50"/>
                  </a:lnTo>
                  <a:lnTo>
                    <a:pt x="37" y="53"/>
                  </a:lnTo>
                  <a:lnTo>
                    <a:pt x="32" y="54"/>
                  </a:lnTo>
                  <a:lnTo>
                    <a:pt x="26" y="55"/>
                  </a:lnTo>
                  <a:lnTo>
                    <a:pt x="26" y="55"/>
                  </a:lnTo>
                  <a:lnTo>
                    <a:pt x="21" y="54"/>
                  </a:lnTo>
                  <a:lnTo>
                    <a:pt x="17" y="53"/>
                  </a:lnTo>
                  <a:lnTo>
                    <a:pt x="11" y="50"/>
                  </a:lnTo>
                  <a:lnTo>
                    <a:pt x="8" y="46"/>
                  </a:lnTo>
                  <a:lnTo>
                    <a:pt x="4" y="43"/>
                  </a:lnTo>
                  <a:lnTo>
                    <a:pt x="1" y="39"/>
                  </a:lnTo>
                  <a:lnTo>
                    <a:pt x="0" y="33"/>
                  </a:lnTo>
                  <a:lnTo>
                    <a:pt x="0" y="28"/>
                  </a:lnTo>
                  <a:lnTo>
                    <a:pt x="0" y="28"/>
                  </a:lnTo>
                  <a:lnTo>
                    <a:pt x="0" y="22"/>
                  </a:lnTo>
                  <a:lnTo>
                    <a:pt x="1" y="17"/>
                  </a:lnTo>
                  <a:lnTo>
                    <a:pt x="4" y="12"/>
                  </a:lnTo>
                  <a:lnTo>
                    <a:pt x="8" y="9"/>
                  </a:lnTo>
                  <a:lnTo>
                    <a:pt x="11" y="6"/>
                  </a:lnTo>
                  <a:lnTo>
                    <a:pt x="17" y="3"/>
                  </a:lnTo>
                  <a:lnTo>
                    <a:pt x="21" y="1"/>
                  </a:lnTo>
                  <a:lnTo>
                    <a:pt x="26" y="0"/>
                  </a:lnTo>
                  <a:lnTo>
                    <a:pt x="26" y="0"/>
                  </a:lnTo>
                  <a:lnTo>
                    <a:pt x="32" y="1"/>
                  </a:lnTo>
                  <a:lnTo>
                    <a:pt x="37" y="3"/>
                  </a:lnTo>
                  <a:lnTo>
                    <a:pt x="42" y="6"/>
                  </a:lnTo>
                  <a:lnTo>
                    <a:pt x="46" y="9"/>
                  </a:lnTo>
                  <a:lnTo>
                    <a:pt x="49" y="12"/>
                  </a:lnTo>
                  <a:lnTo>
                    <a:pt x="52" y="17"/>
                  </a:lnTo>
                  <a:lnTo>
                    <a:pt x="53" y="22"/>
                  </a:lnTo>
                  <a:lnTo>
                    <a:pt x="54" y="28"/>
                  </a:lnTo>
                  <a:lnTo>
                    <a:pt x="54"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grpSp>
        <p:nvGrpSpPr>
          <p:cNvPr id="177" name="组合 387">
            <a:extLst>
              <a:ext uri="{FF2B5EF4-FFF2-40B4-BE49-F238E27FC236}">
                <a16:creationId xmlns:a16="http://schemas.microsoft.com/office/drawing/2014/main" id="{D5E254E9-FF88-46F7-B68A-EAE9124CA28E}"/>
              </a:ext>
            </a:extLst>
          </p:cNvPr>
          <p:cNvGrpSpPr/>
          <p:nvPr/>
        </p:nvGrpSpPr>
        <p:grpSpPr bwMode="gray">
          <a:xfrm>
            <a:off x="5762476" y="4304524"/>
            <a:ext cx="292119" cy="304893"/>
            <a:chOff x="4622166" y="3061494"/>
            <a:chExt cx="489584" cy="615667"/>
          </a:xfrm>
          <a:solidFill>
            <a:srgbClr val="00B0F0"/>
          </a:solidFill>
        </p:grpSpPr>
        <p:grpSp>
          <p:nvGrpSpPr>
            <p:cNvPr id="178" name="组合 376">
              <a:extLst>
                <a:ext uri="{FF2B5EF4-FFF2-40B4-BE49-F238E27FC236}">
                  <a16:creationId xmlns:a16="http://schemas.microsoft.com/office/drawing/2014/main" id="{C6A5FB93-FACF-448F-BA9F-F9B6768854AC}"/>
                </a:ext>
              </a:extLst>
            </p:cNvPr>
            <p:cNvGrpSpPr/>
            <p:nvPr/>
          </p:nvGrpSpPr>
          <p:grpSpPr bwMode="gray">
            <a:xfrm>
              <a:off x="4622166" y="3467100"/>
              <a:ext cx="489584" cy="210061"/>
              <a:chOff x="3298897" y="4095287"/>
              <a:chExt cx="1257750" cy="591162"/>
            </a:xfrm>
            <a:grpFill/>
          </p:grpSpPr>
          <p:sp>
            <p:nvSpPr>
              <p:cNvPr id="185" name="Freeform 13">
                <a:extLst>
                  <a:ext uri="{FF2B5EF4-FFF2-40B4-BE49-F238E27FC236}">
                    <a16:creationId xmlns:a16="http://schemas.microsoft.com/office/drawing/2014/main" id="{63FAE2B6-D956-4255-9759-7D2E7FBF2E75}"/>
                  </a:ext>
                </a:extLst>
              </p:cNvPr>
              <p:cNvSpPr>
                <a:spLocks noEditPoints="1"/>
              </p:cNvSpPr>
              <p:nvPr/>
            </p:nvSpPr>
            <p:spPr bwMode="gray">
              <a:xfrm>
                <a:off x="3298897" y="40952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sp>
            <p:nvSpPr>
              <p:cNvPr id="186" name="Freeform 13">
                <a:extLst>
                  <a:ext uri="{FF2B5EF4-FFF2-40B4-BE49-F238E27FC236}">
                    <a16:creationId xmlns:a16="http://schemas.microsoft.com/office/drawing/2014/main" id="{ACFC16CC-9A90-4C50-85D1-BF150810AD4E}"/>
                  </a:ext>
                </a:extLst>
              </p:cNvPr>
              <p:cNvSpPr>
                <a:spLocks noEditPoints="1"/>
              </p:cNvSpPr>
              <p:nvPr/>
            </p:nvSpPr>
            <p:spPr bwMode="gray">
              <a:xfrm>
                <a:off x="3298897" y="43873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grpSp>
        <p:grpSp>
          <p:nvGrpSpPr>
            <p:cNvPr id="179" name="组合 379">
              <a:extLst>
                <a:ext uri="{FF2B5EF4-FFF2-40B4-BE49-F238E27FC236}">
                  <a16:creationId xmlns:a16="http://schemas.microsoft.com/office/drawing/2014/main" id="{C2E17C0D-E83F-4ABC-804B-75EBF375F1BA}"/>
                </a:ext>
              </a:extLst>
            </p:cNvPr>
            <p:cNvGrpSpPr/>
            <p:nvPr/>
          </p:nvGrpSpPr>
          <p:grpSpPr bwMode="gray">
            <a:xfrm>
              <a:off x="4622166" y="3263900"/>
              <a:ext cx="489584" cy="210061"/>
              <a:chOff x="3298897" y="4095287"/>
              <a:chExt cx="1257750" cy="591162"/>
            </a:xfrm>
            <a:grpFill/>
          </p:grpSpPr>
          <p:sp>
            <p:nvSpPr>
              <p:cNvPr id="183" name="Freeform 13">
                <a:extLst>
                  <a:ext uri="{FF2B5EF4-FFF2-40B4-BE49-F238E27FC236}">
                    <a16:creationId xmlns:a16="http://schemas.microsoft.com/office/drawing/2014/main" id="{6F98920B-EA37-46E6-9939-D149509AD147}"/>
                  </a:ext>
                </a:extLst>
              </p:cNvPr>
              <p:cNvSpPr>
                <a:spLocks noEditPoints="1"/>
              </p:cNvSpPr>
              <p:nvPr/>
            </p:nvSpPr>
            <p:spPr bwMode="gray">
              <a:xfrm>
                <a:off x="3298897" y="40952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sp>
            <p:nvSpPr>
              <p:cNvPr id="184" name="Freeform 13">
                <a:extLst>
                  <a:ext uri="{FF2B5EF4-FFF2-40B4-BE49-F238E27FC236}">
                    <a16:creationId xmlns:a16="http://schemas.microsoft.com/office/drawing/2014/main" id="{A2A4B620-17D5-4BC3-8735-2FA0F595F98B}"/>
                  </a:ext>
                </a:extLst>
              </p:cNvPr>
              <p:cNvSpPr>
                <a:spLocks noEditPoints="1"/>
              </p:cNvSpPr>
              <p:nvPr/>
            </p:nvSpPr>
            <p:spPr bwMode="gray">
              <a:xfrm>
                <a:off x="3298897" y="43873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grpSp>
        <p:grpSp>
          <p:nvGrpSpPr>
            <p:cNvPr id="180" name="组合 388">
              <a:extLst>
                <a:ext uri="{FF2B5EF4-FFF2-40B4-BE49-F238E27FC236}">
                  <a16:creationId xmlns:a16="http://schemas.microsoft.com/office/drawing/2014/main" id="{EE66373C-4162-47C9-AAB9-97284FD4AF44}"/>
                </a:ext>
              </a:extLst>
            </p:cNvPr>
            <p:cNvGrpSpPr/>
            <p:nvPr/>
          </p:nvGrpSpPr>
          <p:grpSpPr bwMode="gray">
            <a:xfrm>
              <a:off x="4622166" y="3061494"/>
              <a:ext cx="489584" cy="210061"/>
              <a:chOff x="3298897" y="4095287"/>
              <a:chExt cx="1257750" cy="591162"/>
            </a:xfrm>
            <a:grpFill/>
          </p:grpSpPr>
          <p:sp>
            <p:nvSpPr>
              <p:cNvPr id="181" name="Freeform 13">
                <a:extLst>
                  <a:ext uri="{FF2B5EF4-FFF2-40B4-BE49-F238E27FC236}">
                    <a16:creationId xmlns:a16="http://schemas.microsoft.com/office/drawing/2014/main" id="{95D2F6F8-4DDF-44DE-BCA7-13279C364A6E}"/>
                  </a:ext>
                </a:extLst>
              </p:cNvPr>
              <p:cNvSpPr>
                <a:spLocks noEditPoints="1"/>
              </p:cNvSpPr>
              <p:nvPr/>
            </p:nvSpPr>
            <p:spPr bwMode="gray">
              <a:xfrm>
                <a:off x="3298897" y="40952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sp>
            <p:nvSpPr>
              <p:cNvPr id="182" name="Freeform 13">
                <a:extLst>
                  <a:ext uri="{FF2B5EF4-FFF2-40B4-BE49-F238E27FC236}">
                    <a16:creationId xmlns:a16="http://schemas.microsoft.com/office/drawing/2014/main" id="{70184FAA-0274-4653-8984-C5D84996D039}"/>
                  </a:ext>
                </a:extLst>
              </p:cNvPr>
              <p:cNvSpPr>
                <a:spLocks noEditPoints="1"/>
              </p:cNvSpPr>
              <p:nvPr/>
            </p:nvSpPr>
            <p:spPr bwMode="gray">
              <a:xfrm>
                <a:off x="3298897" y="4387387"/>
                <a:ext cx="1257750" cy="299062"/>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defTabSz="1828906">
                  <a:defRPr/>
                </a:pPr>
                <a:endParaRPr lang="zh-CN" altLang="en-US" sz="1600" kern="0" dirty="0">
                  <a:cs typeface="+mn-ea"/>
                  <a:sym typeface="+mn-lt"/>
                </a:endParaRPr>
              </a:p>
            </p:txBody>
          </p:sp>
        </p:grpSp>
      </p:grpSp>
      <p:sp>
        <p:nvSpPr>
          <p:cNvPr id="187" name="圆角矩形 493">
            <a:extLst>
              <a:ext uri="{FF2B5EF4-FFF2-40B4-BE49-F238E27FC236}">
                <a16:creationId xmlns:a16="http://schemas.microsoft.com/office/drawing/2014/main" id="{FCAE0F1F-A8D7-4CFC-806D-0882CD2E6FAE}"/>
              </a:ext>
            </a:extLst>
          </p:cNvPr>
          <p:cNvSpPr/>
          <p:nvPr/>
        </p:nvSpPr>
        <p:spPr bwMode="gray">
          <a:xfrm flipH="1">
            <a:off x="9566377" y="3646207"/>
            <a:ext cx="2101602" cy="2453540"/>
          </a:xfrm>
          <a:prstGeom prst="roundRect">
            <a:avLst>
              <a:gd name="adj" fmla="val 0"/>
            </a:avLst>
          </a:prstGeom>
          <a:noFill/>
          <a:ln w="12700">
            <a:solidFill>
              <a:srgbClr val="94DAE2"/>
            </a:solidFill>
            <a:prstDash val="solid"/>
          </a:ln>
          <a:effectLst/>
        </p:spPr>
        <p:style>
          <a:lnRef idx="3">
            <a:schemeClr val="lt1"/>
          </a:lnRef>
          <a:fillRef idx="1">
            <a:schemeClr val="accent1"/>
          </a:fillRef>
          <a:effectRef idx="1">
            <a:schemeClr val="accent1"/>
          </a:effectRef>
          <a:fontRef idx="minor">
            <a:schemeClr val="lt1"/>
          </a:fontRef>
        </p:style>
        <p:txBody>
          <a:bodyPr lIns="47963" tIns="47963" rIns="47963" bIns="47963" anchor="ctr" anchorCtr="1"/>
          <a:lstStyle/>
          <a:p>
            <a:pPr indent="-138940" algn="ctr" defTabSz="798001" eaLnBrk="0" fontAlgn="base" hangingPunct="0">
              <a:spcBef>
                <a:spcPct val="0"/>
              </a:spcBef>
              <a:spcAft>
                <a:spcPct val="0"/>
              </a:spcAft>
              <a:buClr>
                <a:srgbClr val="1F497D"/>
              </a:buClr>
            </a:pPr>
            <a:endParaRPr kumimoji="1" lang="en-US" sz="1600" kern="0">
              <a:cs typeface="+mn-ea"/>
              <a:sym typeface="+mn-lt"/>
            </a:endParaRPr>
          </a:p>
        </p:txBody>
      </p:sp>
      <p:sp>
        <p:nvSpPr>
          <p:cNvPr id="188" name="Freeform 116">
            <a:extLst>
              <a:ext uri="{FF2B5EF4-FFF2-40B4-BE49-F238E27FC236}">
                <a16:creationId xmlns:a16="http://schemas.microsoft.com/office/drawing/2014/main" id="{8A1FB3E5-CC45-4A0A-AB15-8D7FC1022C23}"/>
              </a:ext>
            </a:extLst>
          </p:cNvPr>
          <p:cNvSpPr>
            <a:spLocks noEditPoints="1"/>
          </p:cNvSpPr>
          <p:nvPr/>
        </p:nvSpPr>
        <p:spPr bwMode="gray">
          <a:xfrm flipH="1">
            <a:off x="10096611" y="4063816"/>
            <a:ext cx="258834" cy="61740"/>
          </a:xfrm>
          <a:custGeom>
            <a:avLst/>
            <a:gdLst>
              <a:gd name="T0" fmla="*/ 20 w 1007"/>
              <a:gd name="T1" fmla="*/ 1 h 241"/>
              <a:gd name="T2" fmla="*/ 0 w 1007"/>
              <a:gd name="T3" fmla="*/ 25 h 241"/>
              <a:gd name="T4" fmla="*/ 3 w 1007"/>
              <a:gd name="T5" fmla="*/ 224 h 241"/>
              <a:gd name="T6" fmla="*/ 31 w 1007"/>
              <a:gd name="T7" fmla="*/ 241 h 241"/>
              <a:gd name="T8" fmla="*/ 989 w 1007"/>
              <a:gd name="T9" fmla="*/ 239 h 241"/>
              <a:gd name="T10" fmla="*/ 1007 w 1007"/>
              <a:gd name="T11" fmla="*/ 215 h 241"/>
              <a:gd name="T12" fmla="*/ 1006 w 1007"/>
              <a:gd name="T13" fmla="*/ 14 h 241"/>
              <a:gd name="T14" fmla="*/ 978 w 1007"/>
              <a:gd name="T15" fmla="*/ 0 h 241"/>
              <a:gd name="T16" fmla="*/ 86 w 1007"/>
              <a:gd name="T17" fmla="*/ 162 h 241"/>
              <a:gd name="T18" fmla="*/ 66 w 1007"/>
              <a:gd name="T19" fmla="*/ 148 h 241"/>
              <a:gd name="T20" fmla="*/ 58 w 1007"/>
              <a:gd name="T21" fmla="*/ 129 h 241"/>
              <a:gd name="T22" fmla="*/ 69 w 1007"/>
              <a:gd name="T23" fmla="*/ 106 h 241"/>
              <a:gd name="T24" fmla="*/ 93 w 1007"/>
              <a:gd name="T25" fmla="*/ 96 h 241"/>
              <a:gd name="T26" fmla="*/ 111 w 1007"/>
              <a:gd name="T27" fmla="*/ 102 h 241"/>
              <a:gd name="T28" fmla="*/ 126 w 1007"/>
              <a:gd name="T29" fmla="*/ 122 h 241"/>
              <a:gd name="T30" fmla="*/ 124 w 1007"/>
              <a:gd name="T31" fmla="*/ 142 h 241"/>
              <a:gd name="T32" fmla="*/ 106 w 1007"/>
              <a:gd name="T33" fmla="*/ 160 h 241"/>
              <a:gd name="T34" fmla="*/ 329 w 1007"/>
              <a:gd name="T35" fmla="*/ 215 h 241"/>
              <a:gd name="T36" fmla="*/ 261 w 1007"/>
              <a:gd name="T37" fmla="*/ 212 h 241"/>
              <a:gd name="T38" fmla="*/ 263 w 1007"/>
              <a:gd name="T39" fmla="*/ 201 h 241"/>
              <a:gd name="T40" fmla="*/ 333 w 1007"/>
              <a:gd name="T41" fmla="*/ 201 h 241"/>
              <a:gd name="T42" fmla="*/ 334 w 1007"/>
              <a:gd name="T43" fmla="*/ 212 h 241"/>
              <a:gd name="T44" fmla="*/ 494 w 1007"/>
              <a:gd name="T45" fmla="*/ 215 h 241"/>
              <a:gd name="T46" fmla="*/ 424 w 1007"/>
              <a:gd name="T47" fmla="*/ 212 h 241"/>
              <a:gd name="T48" fmla="*/ 428 w 1007"/>
              <a:gd name="T49" fmla="*/ 201 h 241"/>
              <a:gd name="T50" fmla="*/ 497 w 1007"/>
              <a:gd name="T51" fmla="*/ 201 h 241"/>
              <a:gd name="T52" fmla="*/ 499 w 1007"/>
              <a:gd name="T53" fmla="*/ 212 h 241"/>
              <a:gd name="T54" fmla="*/ 654 w 1007"/>
              <a:gd name="T55" fmla="*/ 215 h 241"/>
              <a:gd name="T56" fmla="*/ 585 w 1007"/>
              <a:gd name="T57" fmla="*/ 212 h 241"/>
              <a:gd name="T58" fmla="*/ 589 w 1007"/>
              <a:gd name="T59" fmla="*/ 201 h 241"/>
              <a:gd name="T60" fmla="*/ 656 w 1007"/>
              <a:gd name="T61" fmla="*/ 201 h 241"/>
              <a:gd name="T62" fmla="*/ 660 w 1007"/>
              <a:gd name="T63" fmla="*/ 212 h 241"/>
              <a:gd name="T64" fmla="*/ 713 w 1007"/>
              <a:gd name="T65" fmla="*/ 69 h 241"/>
              <a:gd name="T66" fmla="*/ 201 w 1007"/>
              <a:gd name="T67" fmla="*/ 67 h 241"/>
              <a:gd name="T68" fmla="*/ 826 w 1007"/>
              <a:gd name="T69" fmla="*/ 215 h 241"/>
              <a:gd name="T70" fmla="*/ 819 w 1007"/>
              <a:gd name="T71" fmla="*/ 208 h 241"/>
              <a:gd name="T72" fmla="*/ 826 w 1007"/>
              <a:gd name="T73" fmla="*/ 201 h 241"/>
              <a:gd name="T74" fmla="*/ 938 w 1007"/>
              <a:gd name="T75" fmla="*/ 203 h 241"/>
              <a:gd name="T76" fmla="*/ 936 w 1007"/>
              <a:gd name="T77" fmla="*/ 214 h 241"/>
              <a:gd name="T78" fmla="*/ 982 w 1007"/>
              <a:gd name="T79" fmla="*/ 182 h 241"/>
              <a:gd name="T80" fmla="*/ 982 w 1007"/>
              <a:gd name="T81" fmla="*/ 54 h 241"/>
              <a:gd name="T82" fmla="*/ 702 w 1007"/>
              <a:gd name="T83" fmla="*/ 175 h 241"/>
              <a:gd name="T84" fmla="*/ 214 w 1007"/>
              <a:gd name="T85" fmla="*/ 175 h 241"/>
              <a:gd name="T86" fmla="*/ 600 w 1007"/>
              <a:gd name="T87" fmla="*/ 100 h 241"/>
              <a:gd name="T88" fmla="*/ 607 w 1007"/>
              <a:gd name="T89" fmla="*/ 89 h 241"/>
              <a:gd name="T90" fmla="*/ 640 w 1007"/>
              <a:gd name="T91" fmla="*/ 89 h 241"/>
              <a:gd name="T92" fmla="*/ 647 w 1007"/>
              <a:gd name="T93" fmla="*/ 104 h 241"/>
              <a:gd name="T94" fmla="*/ 570 w 1007"/>
              <a:gd name="T95" fmla="*/ 104 h 241"/>
              <a:gd name="T96" fmla="*/ 439 w 1007"/>
              <a:gd name="T97" fmla="*/ 100 h 241"/>
              <a:gd name="T98" fmla="*/ 451 w 1007"/>
              <a:gd name="T99" fmla="*/ 87 h 241"/>
              <a:gd name="T100" fmla="*/ 483 w 1007"/>
              <a:gd name="T101" fmla="*/ 91 h 241"/>
              <a:gd name="T102" fmla="*/ 515 w 1007"/>
              <a:gd name="T103" fmla="*/ 104 h 241"/>
              <a:gd name="T104" fmla="*/ 248 w 1007"/>
              <a:gd name="T105" fmla="*/ 104 h 241"/>
              <a:gd name="T106" fmla="*/ 280 w 1007"/>
              <a:gd name="T107" fmla="*/ 95 h 241"/>
              <a:gd name="T108" fmla="*/ 314 w 1007"/>
              <a:gd name="T109" fmla="*/ 87 h 241"/>
              <a:gd name="T110" fmla="*/ 325 w 1007"/>
              <a:gd name="T111" fmla="*/ 95 h 241"/>
              <a:gd name="T112" fmla="*/ 355 w 1007"/>
              <a:gd name="T113" fmla="*/ 159 h 241"/>
              <a:gd name="T114" fmla="*/ 973 w 1007"/>
              <a:gd name="T115" fmla="*/ 173 h 241"/>
              <a:gd name="T116" fmla="*/ 819 w 1007"/>
              <a:gd name="T117" fmla="*/ 98 h 241"/>
              <a:gd name="T118" fmla="*/ 854 w 1007"/>
              <a:gd name="T119" fmla="*/ 87 h 241"/>
              <a:gd name="T120" fmla="*/ 892 w 1007"/>
              <a:gd name="T121" fmla="*/ 80 h 241"/>
              <a:gd name="T122" fmla="*/ 905 w 1007"/>
              <a:gd name="T123" fmla="*/ 87 h 241"/>
              <a:gd name="T124" fmla="*/ 940 w 1007"/>
              <a:gd name="T125" fmla="*/ 16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7" h="241">
                <a:moveTo>
                  <a:pt x="978" y="0"/>
                </a:moveTo>
                <a:lnTo>
                  <a:pt x="31" y="0"/>
                </a:lnTo>
                <a:lnTo>
                  <a:pt x="31" y="0"/>
                </a:lnTo>
                <a:lnTo>
                  <a:pt x="20" y="1"/>
                </a:lnTo>
                <a:lnTo>
                  <a:pt x="9" y="7"/>
                </a:lnTo>
                <a:lnTo>
                  <a:pt x="3" y="14"/>
                </a:lnTo>
                <a:lnTo>
                  <a:pt x="2" y="20"/>
                </a:lnTo>
                <a:lnTo>
                  <a:pt x="0" y="25"/>
                </a:lnTo>
                <a:lnTo>
                  <a:pt x="0" y="215"/>
                </a:lnTo>
                <a:lnTo>
                  <a:pt x="0" y="215"/>
                </a:lnTo>
                <a:lnTo>
                  <a:pt x="2" y="221"/>
                </a:lnTo>
                <a:lnTo>
                  <a:pt x="3" y="224"/>
                </a:lnTo>
                <a:lnTo>
                  <a:pt x="9" y="234"/>
                </a:lnTo>
                <a:lnTo>
                  <a:pt x="20" y="239"/>
                </a:lnTo>
                <a:lnTo>
                  <a:pt x="25" y="241"/>
                </a:lnTo>
                <a:lnTo>
                  <a:pt x="31" y="241"/>
                </a:lnTo>
                <a:lnTo>
                  <a:pt x="978" y="241"/>
                </a:lnTo>
                <a:lnTo>
                  <a:pt x="978" y="241"/>
                </a:lnTo>
                <a:lnTo>
                  <a:pt x="984" y="241"/>
                </a:lnTo>
                <a:lnTo>
                  <a:pt x="989" y="239"/>
                </a:lnTo>
                <a:lnTo>
                  <a:pt x="998" y="234"/>
                </a:lnTo>
                <a:lnTo>
                  <a:pt x="1006" y="224"/>
                </a:lnTo>
                <a:lnTo>
                  <a:pt x="1007" y="221"/>
                </a:lnTo>
                <a:lnTo>
                  <a:pt x="1007" y="215"/>
                </a:lnTo>
                <a:lnTo>
                  <a:pt x="1007" y="25"/>
                </a:lnTo>
                <a:lnTo>
                  <a:pt x="1007" y="25"/>
                </a:lnTo>
                <a:lnTo>
                  <a:pt x="1007" y="20"/>
                </a:lnTo>
                <a:lnTo>
                  <a:pt x="1006" y="14"/>
                </a:lnTo>
                <a:lnTo>
                  <a:pt x="998" y="7"/>
                </a:lnTo>
                <a:lnTo>
                  <a:pt x="989" y="1"/>
                </a:lnTo>
                <a:lnTo>
                  <a:pt x="984" y="0"/>
                </a:lnTo>
                <a:lnTo>
                  <a:pt x="978" y="0"/>
                </a:lnTo>
                <a:lnTo>
                  <a:pt x="978" y="0"/>
                </a:lnTo>
                <a:close/>
                <a:moveTo>
                  <a:pt x="93" y="162"/>
                </a:moveTo>
                <a:lnTo>
                  <a:pt x="93" y="162"/>
                </a:lnTo>
                <a:lnTo>
                  <a:pt x="86" y="162"/>
                </a:lnTo>
                <a:lnTo>
                  <a:pt x="80" y="160"/>
                </a:lnTo>
                <a:lnTo>
                  <a:pt x="75" y="157"/>
                </a:lnTo>
                <a:lnTo>
                  <a:pt x="69" y="153"/>
                </a:lnTo>
                <a:lnTo>
                  <a:pt x="66" y="148"/>
                </a:lnTo>
                <a:lnTo>
                  <a:pt x="62" y="142"/>
                </a:lnTo>
                <a:lnTo>
                  <a:pt x="60" y="137"/>
                </a:lnTo>
                <a:lnTo>
                  <a:pt x="58" y="129"/>
                </a:lnTo>
                <a:lnTo>
                  <a:pt x="58" y="129"/>
                </a:lnTo>
                <a:lnTo>
                  <a:pt x="60" y="122"/>
                </a:lnTo>
                <a:lnTo>
                  <a:pt x="62" y="117"/>
                </a:lnTo>
                <a:lnTo>
                  <a:pt x="66" y="111"/>
                </a:lnTo>
                <a:lnTo>
                  <a:pt x="69" y="106"/>
                </a:lnTo>
                <a:lnTo>
                  <a:pt x="75" y="102"/>
                </a:lnTo>
                <a:lnTo>
                  <a:pt x="80" y="98"/>
                </a:lnTo>
                <a:lnTo>
                  <a:pt x="86" y="96"/>
                </a:lnTo>
                <a:lnTo>
                  <a:pt x="93" y="96"/>
                </a:lnTo>
                <a:lnTo>
                  <a:pt x="93" y="96"/>
                </a:lnTo>
                <a:lnTo>
                  <a:pt x="100" y="96"/>
                </a:lnTo>
                <a:lnTo>
                  <a:pt x="106" y="98"/>
                </a:lnTo>
                <a:lnTo>
                  <a:pt x="111" y="102"/>
                </a:lnTo>
                <a:lnTo>
                  <a:pt x="117" y="106"/>
                </a:lnTo>
                <a:lnTo>
                  <a:pt x="122" y="111"/>
                </a:lnTo>
                <a:lnTo>
                  <a:pt x="124" y="117"/>
                </a:lnTo>
                <a:lnTo>
                  <a:pt x="126" y="122"/>
                </a:lnTo>
                <a:lnTo>
                  <a:pt x="128" y="129"/>
                </a:lnTo>
                <a:lnTo>
                  <a:pt x="128" y="129"/>
                </a:lnTo>
                <a:lnTo>
                  <a:pt x="126" y="137"/>
                </a:lnTo>
                <a:lnTo>
                  <a:pt x="124" y="142"/>
                </a:lnTo>
                <a:lnTo>
                  <a:pt x="122" y="148"/>
                </a:lnTo>
                <a:lnTo>
                  <a:pt x="117" y="153"/>
                </a:lnTo>
                <a:lnTo>
                  <a:pt x="111" y="157"/>
                </a:lnTo>
                <a:lnTo>
                  <a:pt x="106" y="160"/>
                </a:lnTo>
                <a:lnTo>
                  <a:pt x="100" y="162"/>
                </a:lnTo>
                <a:lnTo>
                  <a:pt x="93" y="162"/>
                </a:lnTo>
                <a:lnTo>
                  <a:pt x="93" y="162"/>
                </a:lnTo>
                <a:close/>
                <a:moveTo>
                  <a:pt x="329" y="215"/>
                </a:moveTo>
                <a:lnTo>
                  <a:pt x="265" y="215"/>
                </a:lnTo>
                <a:lnTo>
                  <a:pt x="265" y="215"/>
                </a:lnTo>
                <a:lnTo>
                  <a:pt x="263" y="214"/>
                </a:lnTo>
                <a:lnTo>
                  <a:pt x="261" y="212"/>
                </a:lnTo>
                <a:lnTo>
                  <a:pt x="259" y="208"/>
                </a:lnTo>
                <a:lnTo>
                  <a:pt x="259" y="208"/>
                </a:lnTo>
                <a:lnTo>
                  <a:pt x="261" y="203"/>
                </a:lnTo>
                <a:lnTo>
                  <a:pt x="263" y="201"/>
                </a:lnTo>
                <a:lnTo>
                  <a:pt x="265" y="201"/>
                </a:lnTo>
                <a:lnTo>
                  <a:pt x="329" y="201"/>
                </a:lnTo>
                <a:lnTo>
                  <a:pt x="329" y="201"/>
                </a:lnTo>
                <a:lnTo>
                  <a:pt x="333" y="201"/>
                </a:lnTo>
                <a:lnTo>
                  <a:pt x="334" y="203"/>
                </a:lnTo>
                <a:lnTo>
                  <a:pt x="336" y="208"/>
                </a:lnTo>
                <a:lnTo>
                  <a:pt x="336" y="208"/>
                </a:lnTo>
                <a:lnTo>
                  <a:pt x="334" y="212"/>
                </a:lnTo>
                <a:lnTo>
                  <a:pt x="333" y="214"/>
                </a:lnTo>
                <a:lnTo>
                  <a:pt x="329" y="215"/>
                </a:lnTo>
                <a:lnTo>
                  <a:pt x="329" y="215"/>
                </a:lnTo>
                <a:close/>
                <a:moveTo>
                  <a:pt x="494" y="215"/>
                </a:moveTo>
                <a:lnTo>
                  <a:pt x="430" y="215"/>
                </a:lnTo>
                <a:lnTo>
                  <a:pt x="430" y="215"/>
                </a:lnTo>
                <a:lnTo>
                  <a:pt x="428" y="214"/>
                </a:lnTo>
                <a:lnTo>
                  <a:pt x="424" y="212"/>
                </a:lnTo>
                <a:lnTo>
                  <a:pt x="422" y="208"/>
                </a:lnTo>
                <a:lnTo>
                  <a:pt x="422" y="208"/>
                </a:lnTo>
                <a:lnTo>
                  <a:pt x="424" y="203"/>
                </a:lnTo>
                <a:lnTo>
                  <a:pt x="428" y="201"/>
                </a:lnTo>
                <a:lnTo>
                  <a:pt x="430" y="201"/>
                </a:lnTo>
                <a:lnTo>
                  <a:pt x="494" y="201"/>
                </a:lnTo>
                <a:lnTo>
                  <a:pt x="494" y="201"/>
                </a:lnTo>
                <a:lnTo>
                  <a:pt x="497" y="201"/>
                </a:lnTo>
                <a:lnTo>
                  <a:pt x="499" y="203"/>
                </a:lnTo>
                <a:lnTo>
                  <a:pt x="501" y="208"/>
                </a:lnTo>
                <a:lnTo>
                  <a:pt x="501" y="208"/>
                </a:lnTo>
                <a:lnTo>
                  <a:pt x="499" y="212"/>
                </a:lnTo>
                <a:lnTo>
                  <a:pt x="497" y="214"/>
                </a:lnTo>
                <a:lnTo>
                  <a:pt x="494" y="215"/>
                </a:lnTo>
                <a:lnTo>
                  <a:pt x="494" y="215"/>
                </a:lnTo>
                <a:close/>
                <a:moveTo>
                  <a:pt x="654" y="215"/>
                </a:moveTo>
                <a:lnTo>
                  <a:pt x="590" y="215"/>
                </a:lnTo>
                <a:lnTo>
                  <a:pt x="590" y="215"/>
                </a:lnTo>
                <a:lnTo>
                  <a:pt x="589" y="214"/>
                </a:lnTo>
                <a:lnTo>
                  <a:pt x="585" y="212"/>
                </a:lnTo>
                <a:lnTo>
                  <a:pt x="583" y="208"/>
                </a:lnTo>
                <a:lnTo>
                  <a:pt x="583" y="208"/>
                </a:lnTo>
                <a:lnTo>
                  <a:pt x="585" y="203"/>
                </a:lnTo>
                <a:lnTo>
                  <a:pt x="589" y="201"/>
                </a:lnTo>
                <a:lnTo>
                  <a:pt x="590" y="201"/>
                </a:lnTo>
                <a:lnTo>
                  <a:pt x="654" y="201"/>
                </a:lnTo>
                <a:lnTo>
                  <a:pt x="654" y="201"/>
                </a:lnTo>
                <a:lnTo>
                  <a:pt x="656" y="201"/>
                </a:lnTo>
                <a:lnTo>
                  <a:pt x="660" y="203"/>
                </a:lnTo>
                <a:lnTo>
                  <a:pt x="662" y="208"/>
                </a:lnTo>
                <a:lnTo>
                  <a:pt x="662" y="208"/>
                </a:lnTo>
                <a:lnTo>
                  <a:pt x="660" y="212"/>
                </a:lnTo>
                <a:lnTo>
                  <a:pt x="656" y="214"/>
                </a:lnTo>
                <a:lnTo>
                  <a:pt x="654" y="215"/>
                </a:lnTo>
                <a:lnTo>
                  <a:pt x="654" y="215"/>
                </a:lnTo>
                <a:close/>
                <a:moveTo>
                  <a:pt x="713" y="69"/>
                </a:moveTo>
                <a:lnTo>
                  <a:pt x="713" y="182"/>
                </a:lnTo>
                <a:lnTo>
                  <a:pt x="201" y="182"/>
                </a:lnTo>
                <a:lnTo>
                  <a:pt x="201" y="182"/>
                </a:lnTo>
                <a:lnTo>
                  <a:pt x="201" y="67"/>
                </a:lnTo>
                <a:lnTo>
                  <a:pt x="715" y="69"/>
                </a:lnTo>
                <a:lnTo>
                  <a:pt x="713" y="69"/>
                </a:lnTo>
                <a:close/>
                <a:moveTo>
                  <a:pt x="934" y="215"/>
                </a:moveTo>
                <a:lnTo>
                  <a:pt x="826" y="215"/>
                </a:lnTo>
                <a:lnTo>
                  <a:pt x="826" y="215"/>
                </a:lnTo>
                <a:lnTo>
                  <a:pt x="823" y="214"/>
                </a:lnTo>
                <a:lnTo>
                  <a:pt x="821" y="212"/>
                </a:lnTo>
                <a:lnTo>
                  <a:pt x="819" y="208"/>
                </a:lnTo>
                <a:lnTo>
                  <a:pt x="819" y="208"/>
                </a:lnTo>
                <a:lnTo>
                  <a:pt x="821" y="203"/>
                </a:lnTo>
                <a:lnTo>
                  <a:pt x="823" y="201"/>
                </a:lnTo>
                <a:lnTo>
                  <a:pt x="826" y="201"/>
                </a:lnTo>
                <a:lnTo>
                  <a:pt x="934" y="201"/>
                </a:lnTo>
                <a:lnTo>
                  <a:pt x="934" y="201"/>
                </a:lnTo>
                <a:lnTo>
                  <a:pt x="936" y="201"/>
                </a:lnTo>
                <a:lnTo>
                  <a:pt x="938" y="203"/>
                </a:lnTo>
                <a:lnTo>
                  <a:pt x="940" y="208"/>
                </a:lnTo>
                <a:lnTo>
                  <a:pt x="940" y="208"/>
                </a:lnTo>
                <a:lnTo>
                  <a:pt x="938" y="212"/>
                </a:lnTo>
                <a:lnTo>
                  <a:pt x="936" y="214"/>
                </a:lnTo>
                <a:lnTo>
                  <a:pt x="934" y="215"/>
                </a:lnTo>
                <a:lnTo>
                  <a:pt x="934" y="215"/>
                </a:lnTo>
                <a:close/>
                <a:moveTo>
                  <a:pt x="982" y="54"/>
                </a:moveTo>
                <a:lnTo>
                  <a:pt x="982" y="182"/>
                </a:lnTo>
                <a:lnTo>
                  <a:pt x="779" y="182"/>
                </a:lnTo>
                <a:lnTo>
                  <a:pt x="779" y="182"/>
                </a:lnTo>
                <a:lnTo>
                  <a:pt x="779" y="54"/>
                </a:lnTo>
                <a:lnTo>
                  <a:pt x="982" y="54"/>
                </a:lnTo>
                <a:lnTo>
                  <a:pt x="976" y="60"/>
                </a:lnTo>
                <a:lnTo>
                  <a:pt x="976" y="60"/>
                </a:lnTo>
                <a:lnTo>
                  <a:pt x="982" y="54"/>
                </a:lnTo>
                <a:close/>
                <a:moveTo>
                  <a:pt x="702" y="175"/>
                </a:moveTo>
                <a:lnTo>
                  <a:pt x="702" y="76"/>
                </a:lnTo>
                <a:lnTo>
                  <a:pt x="214" y="76"/>
                </a:lnTo>
                <a:lnTo>
                  <a:pt x="214" y="175"/>
                </a:lnTo>
                <a:lnTo>
                  <a:pt x="214" y="175"/>
                </a:lnTo>
                <a:lnTo>
                  <a:pt x="702" y="175"/>
                </a:lnTo>
                <a:close/>
                <a:moveTo>
                  <a:pt x="570" y="104"/>
                </a:moveTo>
                <a:lnTo>
                  <a:pt x="600" y="104"/>
                </a:lnTo>
                <a:lnTo>
                  <a:pt x="600" y="100"/>
                </a:lnTo>
                <a:lnTo>
                  <a:pt x="600" y="100"/>
                </a:lnTo>
                <a:lnTo>
                  <a:pt x="600" y="95"/>
                </a:lnTo>
                <a:lnTo>
                  <a:pt x="603" y="91"/>
                </a:lnTo>
                <a:lnTo>
                  <a:pt x="607" y="89"/>
                </a:lnTo>
                <a:lnTo>
                  <a:pt x="611" y="87"/>
                </a:lnTo>
                <a:lnTo>
                  <a:pt x="634" y="87"/>
                </a:lnTo>
                <a:lnTo>
                  <a:pt x="634" y="87"/>
                </a:lnTo>
                <a:lnTo>
                  <a:pt x="640" y="89"/>
                </a:lnTo>
                <a:lnTo>
                  <a:pt x="644" y="91"/>
                </a:lnTo>
                <a:lnTo>
                  <a:pt x="645" y="95"/>
                </a:lnTo>
                <a:lnTo>
                  <a:pt x="647" y="100"/>
                </a:lnTo>
                <a:lnTo>
                  <a:pt x="647" y="104"/>
                </a:lnTo>
                <a:lnTo>
                  <a:pt x="676" y="104"/>
                </a:lnTo>
                <a:lnTo>
                  <a:pt x="676" y="159"/>
                </a:lnTo>
                <a:lnTo>
                  <a:pt x="570" y="159"/>
                </a:lnTo>
                <a:lnTo>
                  <a:pt x="570" y="104"/>
                </a:lnTo>
                <a:close/>
                <a:moveTo>
                  <a:pt x="409" y="104"/>
                </a:moveTo>
                <a:lnTo>
                  <a:pt x="439" y="104"/>
                </a:lnTo>
                <a:lnTo>
                  <a:pt x="439" y="100"/>
                </a:lnTo>
                <a:lnTo>
                  <a:pt x="439" y="100"/>
                </a:lnTo>
                <a:lnTo>
                  <a:pt x="440" y="95"/>
                </a:lnTo>
                <a:lnTo>
                  <a:pt x="442" y="91"/>
                </a:lnTo>
                <a:lnTo>
                  <a:pt x="446" y="89"/>
                </a:lnTo>
                <a:lnTo>
                  <a:pt x="451" y="87"/>
                </a:lnTo>
                <a:lnTo>
                  <a:pt x="473" y="87"/>
                </a:lnTo>
                <a:lnTo>
                  <a:pt x="473" y="87"/>
                </a:lnTo>
                <a:lnTo>
                  <a:pt x="479" y="89"/>
                </a:lnTo>
                <a:lnTo>
                  <a:pt x="483" y="91"/>
                </a:lnTo>
                <a:lnTo>
                  <a:pt x="484" y="95"/>
                </a:lnTo>
                <a:lnTo>
                  <a:pt x="486" y="100"/>
                </a:lnTo>
                <a:lnTo>
                  <a:pt x="486" y="104"/>
                </a:lnTo>
                <a:lnTo>
                  <a:pt x="515" y="104"/>
                </a:lnTo>
                <a:lnTo>
                  <a:pt x="515" y="159"/>
                </a:lnTo>
                <a:lnTo>
                  <a:pt x="409" y="159"/>
                </a:lnTo>
                <a:lnTo>
                  <a:pt x="409" y="104"/>
                </a:lnTo>
                <a:close/>
                <a:moveTo>
                  <a:pt x="248" y="104"/>
                </a:moveTo>
                <a:lnTo>
                  <a:pt x="278" y="104"/>
                </a:lnTo>
                <a:lnTo>
                  <a:pt x="278" y="100"/>
                </a:lnTo>
                <a:lnTo>
                  <a:pt x="278" y="100"/>
                </a:lnTo>
                <a:lnTo>
                  <a:pt x="280" y="95"/>
                </a:lnTo>
                <a:lnTo>
                  <a:pt x="281" y="91"/>
                </a:lnTo>
                <a:lnTo>
                  <a:pt x="287" y="89"/>
                </a:lnTo>
                <a:lnTo>
                  <a:pt x="291" y="87"/>
                </a:lnTo>
                <a:lnTo>
                  <a:pt x="314" y="87"/>
                </a:lnTo>
                <a:lnTo>
                  <a:pt x="314" y="87"/>
                </a:lnTo>
                <a:lnTo>
                  <a:pt x="318" y="89"/>
                </a:lnTo>
                <a:lnTo>
                  <a:pt x="322" y="91"/>
                </a:lnTo>
                <a:lnTo>
                  <a:pt x="325" y="95"/>
                </a:lnTo>
                <a:lnTo>
                  <a:pt x="325" y="100"/>
                </a:lnTo>
                <a:lnTo>
                  <a:pt x="325" y="104"/>
                </a:lnTo>
                <a:lnTo>
                  <a:pt x="355" y="104"/>
                </a:lnTo>
                <a:lnTo>
                  <a:pt x="355" y="159"/>
                </a:lnTo>
                <a:lnTo>
                  <a:pt x="248" y="159"/>
                </a:lnTo>
                <a:lnTo>
                  <a:pt x="248" y="104"/>
                </a:lnTo>
                <a:close/>
                <a:moveTo>
                  <a:pt x="786" y="173"/>
                </a:moveTo>
                <a:lnTo>
                  <a:pt x="973" y="173"/>
                </a:lnTo>
                <a:lnTo>
                  <a:pt x="973" y="62"/>
                </a:lnTo>
                <a:lnTo>
                  <a:pt x="786" y="62"/>
                </a:lnTo>
                <a:lnTo>
                  <a:pt x="786" y="173"/>
                </a:lnTo>
                <a:close/>
                <a:moveTo>
                  <a:pt x="819" y="98"/>
                </a:moveTo>
                <a:lnTo>
                  <a:pt x="852" y="98"/>
                </a:lnTo>
                <a:lnTo>
                  <a:pt x="852" y="93"/>
                </a:lnTo>
                <a:lnTo>
                  <a:pt x="852" y="93"/>
                </a:lnTo>
                <a:lnTo>
                  <a:pt x="854" y="87"/>
                </a:lnTo>
                <a:lnTo>
                  <a:pt x="858" y="84"/>
                </a:lnTo>
                <a:lnTo>
                  <a:pt x="861" y="80"/>
                </a:lnTo>
                <a:lnTo>
                  <a:pt x="867" y="80"/>
                </a:lnTo>
                <a:lnTo>
                  <a:pt x="892" y="80"/>
                </a:lnTo>
                <a:lnTo>
                  <a:pt x="892" y="80"/>
                </a:lnTo>
                <a:lnTo>
                  <a:pt x="898" y="80"/>
                </a:lnTo>
                <a:lnTo>
                  <a:pt x="901" y="84"/>
                </a:lnTo>
                <a:lnTo>
                  <a:pt x="905" y="87"/>
                </a:lnTo>
                <a:lnTo>
                  <a:pt x="905" y="93"/>
                </a:lnTo>
                <a:lnTo>
                  <a:pt x="905" y="98"/>
                </a:lnTo>
                <a:lnTo>
                  <a:pt x="940" y="98"/>
                </a:lnTo>
                <a:lnTo>
                  <a:pt x="940" y="160"/>
                </a:lnTo>
                <a:lnTo>
                  <a:pt x="819" y="160"/>
                </a:lnTo>
                <a:lnTo>
                  <a:pt x="819" y="98"/>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89" name="Freeform 116">
            <a:extLst>
              <a:ext uri="{FF2B5EF4-FFF2-40B4-BE49-F238E27FC236}">
                <a16:creationId xmlns:a16="http://schemas.microsoft.com/office/drawing/2014/main" id="{E38A83B7-2B47-486F-83AB-836C9057AFF3}"/>
              </a:ext>
            </a:extLst>
          </p:cNvPr>
          <p:cNvSpPr>
            <a:spLocks noEditPoints="1"/>
          </p:cNvSpPr>
          <p:nvPr/>
        </p:nvSpPr>
        <p:spPr bwMode="gray">
          <a:xfrm flipH="1">
            <a:off x="10084482" y="4449151"/>
            <a:ext cx="258834" cy="61740"/>
          </a:xfrm>
          <a:custGeom>
            <a:avLst/>
            <a:gdLst>
              <a:gd name="T0" fmla="*/ 20 w 1007"/>
              <a:gd name="T1" fmla="*/ 1 h 241"/>
              <a:gd name="T2" fmla="*/ 0 w 1007"/>
              <a:gd name="T3" fmla="*/ 25 h 241"/>
              <a:gd name="T4" fmla="*/ 3 w 1007"/>
              <a:gd name="T5" fmla="*/ 224 h 241"/>
              <a:gd name="T6" fmla="*/ 31 w 1007"/>
              <a:gd name="T7" fmla="*/ 241 h 241"/>
              <a:gd name="T8" fmla="*/ 989 w 1007"/>
              <a:gd name="T9" fmla="*/ 239 h 241"/>
              <a:gd name="T10" fmla="*/ 1007 w 1007"/>
              <a:gd name="T11" fmla="*/ 215 h 241"/>
              <a:gd name="T12" fmla="*/ 1006 w 1007"/>
              <a:gd name="T13" fmla="*/ 14 h 241"/>
              <a:gd name="T14" fmla="*/ 978 w 1007"/>
              <a:gd name="T15" fmla="*/ 0 h 241"/>
              <a:gd name="T16" fmla="*/ 86 w 1007"/>
              <a:gd name="T17" fmla="*/ 162 h 241"/>
              <a:gd name="T18" fmla="*/ 66 w 1007"/>
              <a:gd name="T19" fmla="*/ 148 h 241"/>
              <a:gd name="T20" fmla="*/ 58 w 1007"/>
              <a:gd name="T21" fmla="*/ 129 h 241"/>
              <a:gd name="T22" fmla="*/ 69 w 1007"/>
              <a:gd name="T23" fmla="*/ 106 h 241"/>
              <a:gd name="T24" fmla="*/ 93 w 1007"/>
              <a:gd name="T25" fmla="*/ 96 h 241"/>
              <a:gd name="T26" fmla="*/ 111 w 1007"/>
              <a:gd name="T27" fmla="*/ 102 h 241"/>
              <a:gd name="T28" fmla="*/ 126 w 1007"/>
              <a:gd name="T29" fmla="*/ 122 h 241"/>
              <a:gd name="T30" fmla="*/ 124 w 1007"/>
              <a:gd name="T31" fmla="*/ 142 h 241"/>
              <a:gd name="T32" fmla="*/ 106 w 1007"/>
              <a:gd name="T33" fmla="*/ 160 h 241"/>
              <a:gd name="T34" fmla="*/ 329 w 1007"/>
              <a:gd name="T35" fmla="*/ 215 h 241"/>
              <a:gd name="T36" fmla="*/ 261 w 1007"/>
              <a:gd name="T37" fmla="*/ 212 h 241"/>
              <a:gd name="T38" fmla="*/ 263 w 1007"/>
              <a:gd name="T39" fmla="*/ 201 h 241"/>
              <a:gd name="T40" fmla="*/ 333 w 1007"/>
              <a:gd name="T41" fmla="*/ 201 h 241"/>
              <a:gd name="T42" fmla="*/ 334 w 1007"/>
              <a:gd name="T43" fmla="*/ 212 h 241"/>
              <a:gd name="T44" fmla="*/ 494 w 1007"/>
              <a:gd name="T45" fmla="*/ 215 h 241"/>
              <a:gd name="T46" fmla="*/ 424 w 1007"/>
              <a:gd name="T47" fmla="*/ 212 h 241"/>
              <a:gd name="T48" fmla="*/ 428 w 1007"/>
              <a:gd name="T49" fmla="*/ 201 h 241"/>
              <a:gd name="T50" fmla="*/ 497 w 1007"/>
              <a:gd name="T51" fmla="*/ 201 h 241"/>
              <a:gd name="T52" fmla="*/ 499 w 1007"/>
              <a:gd name="T53" fmla="*/ 212 h 241"/>
              <a:gd name="T54" fmla="*/ 654 w 1007"/>
              <a:gd name="T55" fmla="*/ 215 h 241"/>
              <a:gd name="T56" fmla="*/ 585 w 1007"/>
              <a:gd name="T57" fmla="*/ 212 h 241"/>
              <a:gd name="T58" fmla="*/ 589 w 1007"/>
              <a:gd name="T59" fmla="*/ 201 h 241"/>
              <a:gd name="T60" fmla="*/ 656 w 1007"/>
              <a:gd name="T61" fmla="*/ 201 h 241"/>
              <a:gd name="T62" fmla="*/ 660 w 1007"/>
              <a:gd name="T63" fmla="*/ 212 h 241"/>
              <a:gd name="T64" fmla="*/ 713 w 1007"/>
              <a:gd name="T65" fmla="*/ 69 h 241"/>
              <a:gd name="T66" fmla="*/ 201 w 1007"/>
              <a:gd name="T67" fmla="*/ 67 h 241"/>
              <a:gd name="T68" fmla="*/ 826 w 1007"/>
              <a:gd name="T69" fmla="*/ 215 h 241"/>
              <a:gd name="T70" fmla="*/ 819 w 1007"/>
              <a:gd name="T71" fmla="*/ 208 h 241"/>
              <a:gd name="T72" fmla="*/ 826 w 1007"/>
              <a:gd name="T73" fmla="*/ 201 h 241"/>
              <a:gd name="T74" fmla="*/ 938 w 1007"/>
              <a:gd name="T75" fmla="*/ 203 h 241"/>
              <a:gd name="T76" fmla="*/ 936 w 1007"/>
              <a:gd name="T77" fmla="*/ 214 h 241"/>
              <a:gd name="T78" fmla="*/ 982 w 1007"/>
              <a:gd name="T79" fmla="*/ 182 h 241"/>
              <a:gd name="T80" fmla="*/ 982 w 1007"/>
              <a:gd name="T81" fmla="*/ 54 h 241"/>
              <a:gd name="T82" fmla="*/ 702 w 1007"/>
              <a:gd name="T83" fmla="*/ 175 h 241"/>
              <a:gd name="T84" fmla="*/ 214 w 1007"/>
              <a:gd name="T85" fmla="*/ 175 h 241"/>
              <a:gd name="T86" fmla="*/ 600 w 1007"/>
              <a:gd name="T87" fmla="*/ 100 h 241"/>
              <a:gd name="T88" fmla="*/ 607 w 1007"/>
              <a:gd name="T89" fmla="*/ 89 h 241"/>
              <a:gd name="T90" fmla="*/ 640 w 1007"/>
              <a:gd name="T91" fmla="*/ 89 h 241"/>
              <a:gd name="T92" fmla="*/ 647 w 1007"/>
              <a:gd name="T93" fmla="*/ 104 h 241"/>
              <a:gd name="T94" fmla="*/ 570 w 1007"/>
              <a:gd name="T95" fmla="*/ 104 h 241"/>
              <a:gd name="T96" fmla="*/ 439 w 1007"/>
              <a:gd name="T97" fmla="*/ 100 h 241"/>
              <a:gd name="T98" fmla="*/ 451 w 1007"/>
              <a:gd name="T99" fmla="*/ 87 h 241"/>
              <a:gd name="T100" fmla="*/ 483 w 1007"/>
              <a:gd name="T101" fmla="*/ 91 h 241"/>
              <a:gd name="T102" fmla="*/ 515 w 1007"/>
              <a:gd name="T103" fmla="*/ 104 h 241"/>
              <a:gd name="T104" fmla="*/ 248 w 1007"/>
              <a:gd name="T105" fmla="*/ 104 h 241"/>
              <a:gd name="T106" fmla="*/ 280 w 1007"/>
              <a:gd name="T107" fmla="*/ 95 h 241"/>
              <a:gd name="T108" fmla="*/ 314 w 1007"/>
              <a:gd name="T109" fmla="*/ 87 h 241"/>
              <a:gd name="T110" fmla="*/ 325 w 1007"/>
              <a:gd name="T111" fmla="*/ 95 h 241"/>
              <a:gd name="T112" fmla="*/ 355 w 1007"/>
              <a:gd name="T113" fmla="*/ 159 h 241"/>
              <a:gd name="T114" fmla="*/ 973 w 1007"/>
              <a:gd name="T115" fmla="*/ 173 h 241"/>
              <a:gd name="T116" fmla="*/ 819 w 1007"/>
              <a:gd name="T117" fmla="*/ 98 h 241"/>
              <a:gd name="T118" fmla="*/ 854 w 1007"/>
              <a:gd name="T119" fmla="*/ 87 h 241"/>
              <a:gd name="T120" fmla="*/ 892 w 1007"/>
              <a:gd name="T121" fmla="*/ 80 h 241"/>
              <a:gd name="T122" fmla="*/ 905 w 1007"/>
              <a:gd name="T123" fmla="*/ 87 h 241"/>
              <a:gd name="T124" fmla="*/ 940 w 1007"/>
              <a:gd name="T125" fmla="*/ 16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7" h="241">
                <a:moveTo>
                  <a:pt x="978" y="0"/>
                </a:moveTo>
                <a:lnTo>
                  <a:pt x="31" y="0"/>
                </a:lnTo>
                <a:lnTo>
                  <a:pt x="31" y="0"/>
                </a:lnTo>
                <a:lnTo>
                  <a:pt x="20" y="1"/>
                </a:lnTo>
                <a:lnTo>
                  <a:pt x="9" y="7"/>
                </a:lnTo>
                <a:lnTo>
                  <a:pt x="3" y="14"/>
                </a:lnTo>
                <a:lnTo>
                  <a:pt x="2" y="20"/>
                </a:lnTo>
                <a:lnTo>
                  <a:pt x="0" y="25"/>
                </a:lnTo>
                <a:lnTo>
                  <a:pt x="0" y="215"/>
                </a:lnTo>
                <a:lnTo>
                  <a:pt x="0" y="215"/>
                </a:lnTo>
                <a:lnTo>
                  <a:pt x="2" y="221"/>
                </a:lnTo>
                <a:lnTo>
                  <a:pt x="3" y="224"/>
                </a:lnTo>
                <a:lnTo>
                  <a:pt x="9" y="234"/>
                </a:lnTo>
                <a:lnTo>
                  <a:pt x="20" y="239"/>
                </a:lnTo>
                <a:lnTo>
                  <a:pt x="25" y="241"/>
                </a:lnTo>
                <a:lnTo>
                  <a:pt x="31" y="241"/>
                </a:lnTo>
                <a:lnTo>
                  <a:pt x="978" y="241"/>
                </a:lnTo>
                <a:lnTo>
                  <a:pt x="978" y="241"/>
                </a:lnTo>
                <a:lnTo>
                  <a:pt x="984" y="241"/>
                </a:lnTo>
                <a:lnTo>
                  <a:pt x="989" y="239"/>
                </a:lnTo>
                <a:lnTo>
                  <a:pt x="998" y="234"/>
                </a:lnTo>
                <a:lnTo>
                  <a:pt x="1006" y="224"/>
                </a:lnTo>
                <a:lnTo>
                  <a:pt x="1007" y="221"/>
                </a:lnTo>
                <a:lnTo>
                  <a:pt x="1007" y="215"/>
                </a:lnTo>
                <a:lnTo>
                  <a:pt x="1007" y="25"/>
                </a:lnTo>
                <a:lnTo>
                  <a:pt x="1007" y="25"/>
                </a:lnTo>
                <a:lnTo>
                  <a:pt x="1007" y="20"/>
                </a:lnTo>
                <a:lnTo>
                  <a:pt x="1006" y="14"/>
                </a:lnTo>
                <a:lnTo>
                  <a:pt x="998" y="7"/>
                </a:lnTo>
                <a:lnTo>
                  <a:pt x="989" y="1"/>
                </a:lnTo>
                <a:lnTo>
                  <a:pt x="984" y="0"/>
                </a:lnTo>
                <a:lnTo>
                  <a:pt x="978" y="0"/>
                </a:lnTo>
                <a:lnTo>
                  <a:pt x="978" y="0"/>
                </a:lnTo>
                <a:close/>
                <a:moveTo>
                  <a:pt x="93" y="162"/>
                </a:moveTo>
                <a:lnTo>
                  <a:pt x="93" y="162"/>
                </a:lnTo>
                <a:lnTo>
                  <a:pt x="86" y="162"/>
                </a:lnTo>
                <a:lnTo>
                  <a:pt x="80" y="160"/>
                </a:lnTo>
                <a:lnTo>
                  <a:pt x="75" y="157"/>
                </a:lnTo>
                <a:lnTo>
                  <a:pt x="69" y="153"/>
                </a:lnTo>
                <a:lnTo>
                  <a:pt x="66" y="148"/>
                </a:lnTo>
                <a:lnTo>
                  <a:pt x="62" y="142"/>
                </a:lnTo>
                <a:lnTo>
                  <a:pt x="60" y="137"/>
                </a:lnTo>
                <a:lnTo>
                  <a:pt x="58" y="129"/>
                </a:lnTo>
                <a:lnTo>
                  <a:pt x="58" y="129"/>
                </a:lnTo>
                <a:lnTo>
                  <a:pt x="60" y="122"/>
                </a:lnTo>
                <a:lnTo>
                  <a:pt x="62" y="117"/>
                </a:lnTo>
                <a:lnTo>
                  <a:pt x="66" y="111"/>
                </a:lnTo>
                <a:lnTo>
                  <a:pt x="69" y="106"/>
                </a:lnTo>
                <a:lnTo>
                  <a:pt x="75" y="102"/>
                </a:lnTo>
                <a:lnTo>
                  <a:pt x="80" y="98"/>
                </a:lnTo>
                <a:lnTo>
                  <a:pt x="86" y="96"/>
                </a:lnTo>
                <a:lnTo>
                  <a:pt x="93" y="96"/>
                </a:lnTo>
                <a:lnTo>
                  <a:pt x="93" y="96"/>
                </a:lnTo>
                <a:lnTo>
                  <a:pt x="100" y="96"/>
                </a:lnTo>
                <a:lnTo>
                  <a:pt x="106" y="98"/>
                </a:lnTo>
                <a:lnTo>
                  <a:pt x="111" y="102"/>
                </a:lnTo>
                <a:lnTo>
                  <a:pt x="117" y="106"/>
                </a:lnTo>
                <a:lnTo>
                  <a:pt x="122" y="111"/>
                </a:lnTo>
                <a:lnTo>
                  <a:pt x="124" y="117"/>
                </a:lnTo>
                <a:lnTo>
                  <a:pt x="126" y="122"/>
                </a:lnTo>
                <a:lnTo>
                  <a:pt x="128" y="129"/>
                </a:lnTo>
                <a:lnTo>
                  <a:pt x="128" y="129"/>
                </a:lnTo>
                <a:lnTo>
                  <a:pt x="126" y="137"/>
                </a:lnTo>
                <a:lnTo>
                  <a:pt x="124" y="142"/>
                </a:lnTo>
                <a:lnTo>
                  <a:pt x="122" y="148"/>
                </a:lnTo>
                <a:lnTo>
                  <a:pt x="117" y="153"/>
                </a:lnTo>
                <a:lnTo>
                  <a:pt x="111" y="157"/>
                </a:lnTo>
                <a:lnTo>
                  <a:pt x="106" y="160"/>
                </a:lnTo>
                <a:lnTo>
                  <a:pt x="100" y="162"/>
                </a:lnTo>
                <a:lnTo>
                  <a:pt x="93" y="162"/>
                </a:lnTo>
                <a:lnTo>
                  <a:pt x="93" y="162"/>
                </a:lnTo>
                <a:close/>
                <a:moveTo>
                  <a:pt x="329" y="215"/>
                </a:moveTo>
                <a:lnTo>
                  <a:pt x="265" y="215"/>
                </a:lnTo>
                <a:lnTo>
                  <a:pt x="265" y="215"/>
                </a:lnTo>
                <a:lnTo>
                  <a:pt x="263" y="214"/>
                </a:lnTo>
                <a:lnTo>
                  <a:pt x="261" y="212"/>
                </a:lnTo>
                <a:lnTo>
                  <a:pt x="259" y="208"/>
                </a:lnTo>
                <a:lnTo>
                  <a:pt x="259" y="208"/>
                </a:lnTo>
                <a:lnTo>
                  <a:pt x="261" y="203"/>
                </a:lnTo>
                <a:lnTo>
                  <a:pt x="263" y="201"/>
                </a:lnTo>
                <a:lnTo>
                  <a:pt x="265" y="201"/>
                </a:lnTo>
                <a:lnTo>
                  <a:pt x="329" y="201"/>
                </a:lnTo>
                <a:lnTo>
                  <a:pt x="329" y="201"/>
                </a:lnTo>
                <a:lnTo>
                  <a:pt x="333" y="201"/>
                </a:lnTo>
                <a:lnTo>
                  <a:pt x="334" y="203"/>
                </a:lnTo>
                <a:lnTo>
                  <a:pt x="336" y="208"/>
                </a:lnTo>
                <a:lnTo>
                  <a:pt x="336" y="208"/>
                </a:lnTo>
                <a:lnTo>
                  <a:pt x="334" y="212"/>
                </a:lnTo>
                <a:lnTo>
                  <a:pt x="333" y="214"/>
                </a:lnTo>
                <a:lnTo>
                  <a:pt x="329" y="215"/>
                </a:lnTo>
                <a:lnTo>
                  <a:pt x="329" y="215"/>
                </a:lnTo>
                <a:close/>
                <a:moveTo>
                  <a:pt x="494" y="215"/>
                </a:moveTo>
                <a:lnTo>
                  <a:pt x="430" y="215"/>
                </a:lnTo>
                <a:lnTo>
                  <a:pt x="430" y="215"/>
                </a:lnTo>
                <a:lnTo>
                  <a:pt x="428" y="214"/>
                </a:lnTo>
                <a:lnTo>
                  <a:pt x="424" y="212"/>
                </a:lnTo>
                <a:lnTo>
                  <a:pt x="422" y="208"/>
                </a:lnTo>
                <a:lnTo>
                  <a:pt x="422" y="208"/>
                </a:lnTo>
                <a:lnTo>
                  <a:pt x="424" y="203"/>
                </a:lnTo>
                <a:lnTo>
                  <a:pt x="428" y="201"/>
                </a:lnTo>
                <a:lnTo>
                  <a:pt x="430" y="201"/>
                </a:lnTo>
                <a:lnTo>
                  <a:pt x="494" y="201"/>
                </a:lnTo>
                <a:lnTo>
                  <a:pt x="494" y="201"/>
                </a:lnTo>
                <a:lnTo>
                  <a:pt x="497" y="201"/>
                </a:lnTo>
                <a:lnTo>
                  <a:pt x="499" y="203"/>
                </a:lnTo>
                <a:lnTo>
                  <a:pt x="501" y="208"/>
                </a:lnTo>
                <a:lnTo>
                  <a:pt x="501" y="208"/>
                </a:lnTo>
                <a:lnTo>
                  <a:pt x="499" y="212"/>
                </a:lnTo>
                <a:lnTo>
                  <a:pt x="497" y="214"/>
                </a:lnTo>
                <a:lnTo>
                  <a:pt x="494" y="215"/>
                </a:lnTo>
                <a:lnTo>
                  <a:pt x="494" y="215"/>
                </a:lnTo>
                <a:close/>
                <a:moveTo>
                  <a:pt x="654" y="215"/>
                </a:moveTo>
                <a:lnTo>
                  <a:pt x="590" y="215"/>
                </a:lnTo>
                <a:lnTo>
                  <a:pt x="590" y="215"/>
                </a:lnTo>
                <a:lnTo>
                  <a:pt x="589" y="214"/>
                </a:lnTo>
                <a:lnTo>
                  <a:pt x="585" y="212"/>
                </a:lnTo>
                <a:lnTo>
                  <a:pt x="583" y="208"/>
                </a:lnTo>
                <a:lnTo>
                  <a:pt x="583" y="208"/>
                </a:lnTo>
                <a:lnTo>
                  <a:pt x="585" y="203"/>
                </a:lnTo>
                <a:lnTo>
                  <a:pt x="589" y="201"/>
                </a:lnTo>
                <a:lnTo>
                  <a:pt x="590" y="201"/>
                </a:lnTo>
                <a:lnTo>
                  <a:pt x="654" y="201"/>
                </a:lnTo>
                <a:lnTo>
                  <a:pt x="654" y="201"/>
                </a:lnTo>
                <a:lnTo>
                  <a:pt x="656" y="201"/>
                </a:lnTo>
                <a:lnTo>
                  <a:pt x="660" y="203"/>
                </a:lnTo>
                <a:lnTo>
                  <a:pt x="662" y="208"/>
                </a:lnTo>
                <a:lnTo>
                  <a:pt x="662" y="208"/>
                </a:lnTo>
                <a:lnTo>
                  <a:pt x="660" y="212"/>
                </a:lnTo>
                <a:lnTo>
                  <a:pt x="656" y="214"/>
                </a:lnTo>
                <a:lnTo>
                  <a:pt x="654" y="215"/>
                </a:lnTo>
                <a:lnTo>
                  <a:pt x="654" y="215"/>
                </a:lnTo>
                <a:close/>
                <a:moveTo>
                  <a:pt x="713" y="69"/>
                </a:moveTo>
                <a:lnTo>
                  <a:pt x="713" y="182"/>
                </a:lnTo>
                <a:lnTo>
                  <a:pt x="201" y="182"/>
                </a:lnTo>
                <a:lnTo>
                  <a:pt x="201" y="182"/>
                </a:lnTo>
                <a:lnTo>
                  <a:pt x="201" y="67"/>
                </a:lnTo>
                <a:lnTo>
                  <a:pt x="715" y="69"/>
                </a:lnTo>
                <a:lnTo>
                  <a:pt x="713" y="69"/>
                </a:lnTo>
                <a:close/>
                <a:moveTo>
                  <a:pt x="934" y="215"/>
                </a:moveTo>
                <a:lnTo>
                  <a:pt x="826" y="215"/>
                </a:lnTo>
                <a:lnTo>
                  <a:pt x="826" y="215"/>
                </a:lnTo>
                <a:lnTo>
                  <a:pt x="823" y="214"/>
                </a:lnTo>
                <a:lnTo>
                  <a:pt x="821" y="212"/>
                </a:lnTo>
                <a:lnTo>
                  <a:pt x="819" y="208"/>
                </a:lnTo>
                <a:lnTo>
                  <a:pt x="819" y="208"/>
                </a:lnTo>
                <a:lnTo>
                  <a:pt x="821" y="203"/>
                </a:lnTo>
                <a:lnTo>
                  <a:pt x="823" y="201"/>
                </a:lnTo>
                <a:lnTo>
                  <a:pt x="826" y="201"/>
                </a:lnTo>
                <a:lnTo>
                  <a:pt x="934" y="201"/>
                </a:lnTo>
                <a:lnTo>
                  <a:pt x="934" y="201"/>
                </a:lnTo>
                <a:lnTo>
                  <a:pt x="936" y="201"/>
                </a:lnTo>
                <a:lnTo>
                  <a:pt x="938" y="203"/>
                </a:lnTo>
                <a:lnTo>
                  <a:pt x="940" y="208"/>
                </a:lnTo>
                <a:lnTo>
                  <a:pt x="940" y="208"/>
                </a:lnTo>
                <a:lnTo>
                  <a:pt x="938" y="212"/>
                </a:lnTo>
                <a:lnTo>
                  <a:pt x="936" y="214"/>
                </a:lnTo>
                <a:lnTo>
                  <a:pt x="934" y="215"/>
                </a:lnTo>
                <a:lnTo>
                  <a:pt x="934" y="215"/>
                </a:lnTo>
                <a:close/>
                <a:moveTo>
                  <a:pt x="982" y="54"/>
                </a:moveTo>
                <a:lnTo>
                  <a:pt x="982" y="182"/>
                </a:lnTo>
                <a:lnTo>
                  <a:pt x="779" y="182"/>
                </a:lnTo>
                <a:lnTo>
                  <a:pt x="779" y="182"/>
                </a:lnTo>
                <a:lnTo>
                  <a:pt x="779" y="54"/>
                </a:lnTo>
                <a:lnTo>
                  <a:pt x="982" y="54"/>
                </a:lnTo>
                <a:lnTo>
                  <a:pt x="976" y="60"/>
                </a:lnTo>
                <a:lnTo>
                  <a:pt x="976" y="60"/>
                </a:lnTo>
                <a:lnTo>
                  <a:pt x="982" y="54"/>
                </a:lnTo>
                <a:close/>
                <a:moveTo>
                  <a:pt x="702" y="175"/>
                </a:moveTo>
                <a:lnTo>
                  <a:pt x="702" y="76"/>
                </a:lnTo>
                <a:lnTo>
                  <a:pt x="214" y="76"/>
                </a:lnTo>
                <a:lnTo>
                  <a:pt x="214" y="175"/>
                </a:lnTo>
                <a:lnTo>
                  <a:pt x="214" y="175"/>
                </a:lnTo>
                <a:lnTo>
                  <a:pt x="702" y="175"/>
                </a:lnTo>
                <a:close/>
                <a:moveTo>
                  <a:pt x="570" y="104"/>
                </a:moveTo>
                <a:lnTo>
                  <a:pt x="600" y="104"/>
                </a:lnTo>
                <a:lnTo>
                  <a:pt x="600" y="100"/>
                </a:lnTo>
                <a:lnTo>
                  <a:pt x="600" y="100"/>
                </a:lnTo>
                <a:lnTo>
                  <a:pt x="600" y="95"/>
                </a:lnTo>
                <a:lnTo>
                  <a:pt x="603" y="91"/>
                </a:lnTo>
                <a:lnTo>
                  <a:pt x="607" y="89"/>
                </a:lnTo>
                <a:lnTo>
                  <a:pt x="611" y="87"/>
                </a:lnTo>
                <a:lnTo>
                  <a:pt x="634" y="87"/>
                </a:lnTo>
                <a:lnTo>
                  <a:pt x="634" y="87"/>
                </a:lnTo>
                <a:lnTo>
                  <a:pt x="640" y="89"/>
                </a:lnTo>
                <a:lnTo>
                  <a:pt x="644" y="91"/>
                </a:lnTo>
                <a:lnTo>
                  <a:pt x="645" y="95"/>
                </a:lnTo>
                <a:lnTo>
                  <a:pt x="647" y="100"/>
                </a:lnTo>
                <a:lnTo>
                  <a:pt x="647" y="104"/>
                </a:lnTo>
                <a:lnTo>
                  <a:pt x="676" y="104"/>
                </a:lnTo>
                <a:lnTo>
                  <a:pt x="676" y="159"/>
                </a:lnTo>
                <a:lnTo>
                  <a:pt x="570" y="159"/>
                </a:lnTo>
                <a:lnTo>
                  <a:pt x="570" y="104"/>
                </a:lnTo>
                <a:close/>
                <a:moveTo>
                  <a:pt x="409" y="104"/>
                </a:moveTo>
                <a:lnTo>
                  <a:pt x="439" y="104"/>
                </a:lnTo>
                <a:lnTo>
                  <a:pt x="439" y="100"/>
                </a:lnTo>
                <a:lnTo>
                  <a:pt x="439" y="100"/>
                </a:lnTo>
                <a:lnTo>
                  <a:pt x="440" y="95"/>
                </a:lnTo>
                <a:lnTo>
                  <a:pt x="442" y="91"/>
                </a:lnTo>
                <a:lnTo>
                  <a:pt x="446" y="89"/>
                </a:lnTo>
                <a:lnTo>
                  <a:pt x="451" y="87"/>
                </a:lnTo>
                <a:lnTo>
                  <a:pt x="473" y="87"/>
                </a:lnTo>
                <a:lnTo>
                  <a:pt x="473" y="87"/>
                </a:lnTo>
                <a:lnTo>
                  <a:pt x="479" y="89"/>
                </a:lnTo>
                <a:lnTo>
                  <a:pt x="483" y="91"/>
                </a:lnTo>
                <a:lnTo>
                  <a:pt x="484" y="95"/>
                </a:lnTo>
                <a:lnTo>
                  <a:pt x="486" y="100"/>
                </a:lnTo>
                <a:lnTo>
                  <a:pt x="486" y="104"/>
                </a:lnTo>
                <a:lnTo>
                  <a:pt x="515" y="104"/>
                </a:lnTo>
                <a:lnTo>
                  <a:pt x="515" y="159"/>
                </a:lnTo>
                <a:lnTo>
                  <a:pt x="409" y="159"/>
                </a:lnTo>
                <a:lnTo>
                  <a:pt x="409" y="104"/>
                </a:lnTo>
                <a:close/>
                <a:moveTo>
                  <a:pt x="248" y="104"/>
                </a:moveTo>
                <a:lnTo>
                  <a:pt x="278" y="104"/>
                </a:lnTo>
                <a:lnTo>
                  <a:pt x="278" y="100"/>
                </a:lnTo>
                <a:lnTo>
                  <a:pt x="278" y="100"/>
                </a:lnTo>
                <a:lnTo>
                  <a:pt x="280" y="95"/>
                </a:lnTo>
                <a:lnTo>
                  <a:pt x="281" y="91"/>
                </a:lnTo>
                <a:lnTo>
                  <a:pt x="287" y="89"/>
                </a:lnTo>
                <a:lnTo>
                  <a:pt x="291" y="87"/>
                </a:lnTo>
                <a:lnTo>
                  <a:pt x="314" y="87"/>
                </a:lnTo>
                <a:lnTo>
                  <a:pt x="314" y="87"/>
                </a:lnTo>
                <a:lnTo>
                  <a:pt x="318" y="89"/>
                </a:lnTo>
                <a:lnTo>
                  <a:pt x="322" y="91"/>
                </a:lnTo>
                <a:lnTo>
                  <a:pt x="325" y="95"/>
                </a:lnTo>
                <a:lnTo>
                  <a:pt x="325" y="100"/>
                </a:lnTo>
                <a:lnTo>
                  <a:pt x="325" y="104"/>
                </a:lnTo>
                <a:lnTo>
                  <a:pt x="355" y="104"/>
                </a:lnTo>
                <a:lnTo>
                  <a:pt x="355" y="159"/>
                </a:lnTo>
                <a:lnTo>
                  <a:pt x="248" y="159"/>
                </a:lnTo>
                <a:lnTo>
                  <a:pt x="248" y="104"/>
                </a:lnTo>
                <a:close/>
                <a:moveTo>
                  <a:pt x="786" y="173"/>
                </a:moveTo>
                <a:lnTo>
                  <a:pt x="973" y="173"/>
                </a:lnTo>
                <a:lnTo>
                  <a:pt x="973" y="62"/>
                </a:lnTo>
                <a:lnTo>
                  <a:pt x="786" y="62"/>
                </a:lnTo>
                <a:lnTo>
                  <a:pt x="786" y="173"/>
                </a:lnTo>
                <a:close/>
                <a:moveTo>
                  <a:pt x="819" y="98"/>
                </a:moveTo>
                <a:lnTo>
                  <a:pt x="852" y="98"/>
                </a:lnTo>
                <a:lnTo>
                  <a:pt x="852" y="93"/>
                </a:lnTo>
                <a:lnTo>
                  <a:pt x="852" y="93"/>
                </a:lnTo>
                <a:lnTo>
                  <a:pt x="854" y="87"/>
                </a:lnTo>
                <a:lnTo>
                  <a:pt x="858" y="84"/>
                </a:lnTo>
                <a:lnTo>
                  <a:pt x="861" y="80"/>
                </a:lnTo>
                <a:lnTo>
                  <a:pt x="867" y="80"/>
                </a:lnTo>
                <a:lnTo>
                  <a:pt x="892" y="80"/>
                </a:lnTo>
                <a:lnTo>
                  <a:pt x="892" y="80"/>
                </a:lnTo>
                <a:lnTo>
                  <a:pt x="898" y="80"/>
                </a:lnTo>
                <a:lnTo>
                  <a:pt x="901" y="84"/>
                </a:lnTo>
                <a:lnTo>
                  <a:pt x="905" y="87"/>
                </a:lnTo>
                <a:lnTo>
                  <a:pt x="905" y="93"/>
                </a:lnTo>
                <a:lnTo>
                  <a:pt x="905" y="98"/>
                </a:lnTo>
                <a:lnTo>
                  <a:pt x="940" y="98"/>
                </a:lnTo>
                <a:lnTo>
                  <a:pt x="940" y="160"/>
                </a:lnTo>
                <a:lnTo>
                  <a:pt x="819" y="160"/>
                </a:lnTo>
                <a:lnTo>
                  <a:pt x="819" y="98"/>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nvGrpSpPr>
          <p:cNvPr id="190" name="组合 594">
            <a:extLst>
              <a:ext uri="{FF2B5EF4-FFF2-40B4-BE49-F238E27FC236}">
                <a16:creationId xmlns:a16="http://schemas.microsoft.com/office/drawing/2014/main" id="{C586B95D-4000-4A7E-B1D7-D111EEDDC3FC}"/>
              </a:ext>
            </a:extLst>
          </p:cNvPr>
          <p:cNvGrpSpPr/>
          <p:nvPr/>
        </p:nvGrpSpPr>
        <p:grpSpPr bwMode="gray">
          <a:xfrm flipH="1">
            <a:off x="10600880" y="3949346"/>
            <a:ext cx="124297" cy="110325"/>
            <a:chOff x="10096500" y="3467100"/>
            <a:chExt cx="238125" cy="212725"/>
          </a:xfrm>
          <a:solidFill>
            <a:srgbClr val="00B0F0"/>
          </a:solidFill>
        </p:grpSpPr>
        <p:sp>
          <p:nvSpPr>
            <p:cNvPr id="191" name="Freeform 511">
              <a:extLst>
                <a:ext uri="{FF2B5EF4-FFF2-40B4-BE49-F238E27FC236}">
                  <a16:creationId xmlns:a16="http://schemas.microsoft.com/office/drawing/2014/main" id="{AADD1D13-23C3-436A-A672-357FA8701D58}"/>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92" name="Freeform 512">
              <a:extLst>
                <a:ext uri="{FF2B5EF4-FFF2-40B4-BE49-F238E27FC236}">
                  <a16:creationId xmlns:a16="http://schemas.microsoft.com/office/drawing/2014/main" id="{2A7DE607-7938-4F6F-9938-950D233508AF}"/>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93" name="Freeform 513">
              <a:extLst>
                <a:ext uri="{FF2B5EF4-FFF2-40B4-BE49-F238E27FC236}">
                  <a16:creationId xmlns:a16="http://schemas.microsoft.com/office/drawing/2014/main" id="{9917A06A-1BC7-466C-8549-270549387EED}"/>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94" name="Freeform 515">
              <a:extLst>
                <a:ext uri="{FF2B5EF4-FFF2-40B4-BE49-F238E27FC236}">
                  <a16:creationId xmlns:a16="http://schemas.microsoft.com/office/drawing/2014/main" id="{B687A380-AC06-40CE-8680-E0362E990078}"/>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grpSp>
        <p:nvGrpSpPr>
          <p:cNvPr id="195" name="组合 594">
            <a:extLst>
              <a:ext uri="{FF2B5EF4-FFF2-40B4-BE49-F238E27FC236}">
                <a16:creationId xmlns:a16="http://schemas.microsoft.com/office/drawing/2014/main" id="{130EA3C6-0D4E-4F09-BEFF-EED47353D29E}"/>
              </a:ext>
            </a:extLst>
          </p:cNvPr>
          <p:cNvGrpSpPr/>
          <p:nvPr/>
        </p:nvGrpSpPr>
        <p:grpSpPr bwMode="gray">
          <a:xfrm flipH="1">
            <a:off x="10507648" y="4136514"/>
            <a:ext cx="124297" cy="110325"/>
            <a:chOff x="10096500" y="3467100"/>
            <a:chExt cx="238125" cy="212725"/>
          </a:xfrm>
          <a:solidFill>
            <a:srgbClr val="00B0F0"/>
          </a:solidFill>
        </p:grpSpPr>
        <p:sp>
          <p:nvSpPr>
            <p:cNvPr id="196" name="Freeform 511">
              <a:extLst>
                <a:ext uri="{FF2B5EF4-FFF2-40B4-BE49-F238E27FC236}">
                  <a16:creationId xmlns:a16="http://schemas.microsoft.com/office/drawing/2014/main" id="{6F4E42EF-4ADB-4852-B135-EB768747C26B}"/>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97" name="Freeform 512">
              <a:extLst>
                <a:ext uri="{FF2B5EF4-FFF2-40B4-BE49-F238E27FC236}">
                  <a16:creationId xmlns:a16="http://schemas.microsoft.com/office/drawing/2014/main" id="{946BD442-2CCC-4B5B-974B-2BC5E74C148A}"/>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98" name="Freeform 513">
              <a:extLst>
                <a:ext uri="{FF2B5EF4-FFF2-40B4-BE49-F238E27FC236}">
                  <a16:creationId xmlns:a16="http://schemas.microsoft.com/office/drawing/2014/main" id="{D9AAA6E6-0234-4809-A67F-BD3B16C0B779}"/>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199" name="Freeform 515">
              <a:extLst>
                <a:ext uri="{FF2B5EF4-FFF2-40B4-BE49-F238E27FC236}">
                  <a16:creationId xmlns:a16="http://schemas.microsoft.com/office/drawing/2014/main" id="{07D83CD2-FEA8-4D8E-BF97-F4415A286AB4}"/>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grpSp>
        <p:nvGrpSpPr>
          <p:cNvPr id="200" name="组合 594">
            <a:extLst>
              <a:ext uri="{FF2B5EF4-FFF2-40B4-BE49-F238E27FC236}">
                <a16:creationId xmlns:a16="http://schemas.microsoft.com/office/drawing/2014/main" id="{63504E7D-41C5-444B-AA43-0142E6206961}"/>
              </a:ext>
            </a:extLst>
          </p:cNvPr>
          <p:cNvGrpSpPr/>
          <p:nvPr/>
        </p:nvGrpSpPr>
        <p:grpSpPr bwMode="gray">
          <a:xfrm flipH="1">
            <a:off x="10611677" y="4323683"/>
            <a:ext cx="124297" cy="110325"/>
            <a:chOff x="10096500" y="3467100"/>
            <a:chExt cx="238125" cy="212725"/>
          </a:xfrm>
          <a:solidFill>
            <a:srgbClr val="00B0F0"/>
          </a:solidFill>
        </p:grpSpPr>
        <p:sp>
          <p:nvSpPr>
            <p:cNvPr id="201" name="Freeform 511">
              <a:extLst>
                <a:ext uri="{FF2B5EF4-FFF2-40B4-BE49-F238E27FC236}">
                  <a16:creationId xmlns:a16="http://schemas.microsoft.com/office/drawing/2014/main" id="{1E23A5F9-A6F1-4175-BB54-A2695AFE5223}"/>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02" name="Freeform 512">
              <a:extLst>
                <a:ext uri="{FF2B5EF4-FFF2-40B4-BE49-F238E27FC236}">
                  <a16:creationId xmlns:a16="http://schemas.microsoft.com/office/drawing/2014/main" id="{2F235E65-AF8D-4DEB-AD68-987A5F69A0E8}"/>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03" name="Freeform 513">
              <a:extLst>
                <a:ext uri="{FF2B5EF4-FFF2-40B4-BE49-F238E27FC236}">
                  <a16:creationId xmlns:a16="http://schemas.microsoft.com/office/drawing/2014/main" id="{0ECDEC22-2640-4B78-B436-DCC033C3A0DD}"/>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04" name="Freeform 515">
              <a:extLst>
                <a:ext uri="{FF2B5EF4-FFF2-40B4-BE49-F238E27FC236}">
                  <a16:creationId xmlns:a16="http://schemas.microsoft.com/office/drawing/2014/main" id="{DC9148D3-56FC-43D0-B0B1-A867C8E61408}"/>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cxnSp>
        <p:nvCxnSpPr>
          <p:cNvPr id="205" name="直接连接符 204">
            <a:extLst>
              <a:ext uri="{FF2B5EF4-FFF2-40B4-BE49-F238E27FC236}">
                <a16:creationId xmlns:a16="http://schemas.microsoft.com/office/drawing/2014/main" id="{8954BAD4-94BC-4632-B4E0-470CEFF1815C}"/>
              </a:ext>
            </a:extLst>
          </p:cNvPr>
          <p:cNvCxnSpPr/>
          <p:nvPr/>
        </p:nvCxnSpPr>
        <p:spPr bwMode="gray">
          <a:xfrm flipH="1">
            <a:off x="9707254" y="4300697"/>
            <a:ext cx="17571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3E4FC111-4888-444A-A01B-D45270F72CAC}"/>
              </a:ext>
            </a:extLst>
          </p:cNvPr>
          <p:cNvCxnSpPr/>
          <p:nvPr/>
        </p:nvCxnSpPr>
        <p:spPr bwMode="gray">
          <a:xfrm flipH="1">
            <a:off x="9991453" y="4094686"/>
            <a:ext cx="8786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id="{5B4B91A0-F664-44F7-83FB-8A586F719EE4}"/>
              </a:ext>
            </a:extLst>
          </p:cNvPr>
          <p:cNvCxnSpPr/>
          <p:nvPr/>
        </p:nvCxnSpPr>
        <p:spPr bwMode="gray">
          <a:xfrm flipH="1">
            <a:off x="9985217" y="4479982"/>
            <a:ext cx="8786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8" name="直接连接符 207">
            <a:extLst>
              <a:ext uri="{FF2B5EF4-FFF2-40B4-BE49-F238E27FC236}">
                <a16:creationId xmlns:a16="http://schemas.microsoft.com/office/drawing/2014/main" id="{ED911478-F097-4947-A5BE-3829B0D35848}"/>
              </a:ext>
            </a:extLst>
          </p:cNvPr>
          <p:cNvCxnSpPr/>
          <p:nvPr/>
        </p:nvCxnSpPr>
        <p:spPr bwMode="gray">
          <a:xfrm flipH="1">
            <a:off x="10442495" y="4562116"/>
            <a:ext cx="8786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09" name="组合 594">
            <a:extLst>
              <a:ext uri="{FF2B5EF4-FFF2-40B4-BE49-F238E27FC236}">
                <a16:creationId xmlns:a16="http://schemas.microsoft.com/office/drawing/2014/main" id="{3D80A9D3-5955-4C31-931F-3B56C94A5783}"/>
              </a:ext>
            </a:extLst>
          </p:cNvPr>
          <p:cNvGrpSpPr/>
          <p:nvPr/>
        </p:nvGrpSpPr>
        <p:grpSpPr bwMode="gray">
          <a:xfrm flipH="1">
            <a:off x="10533588" y="4510853"/>
            <a:ext cx="124297" cy="110325"/>
            <a:chOff x="10096500" y="3467100"/>
            <a:chExt cx="238125" cy="212725"/>
          </a:xfrm>
          <a:solidFill>
            <a:srgbClr val="00B0F0"/>
          </a:solidFill>
        </p:grpSpPr>
        <p:sp>
          <p:nvSpPr>
            <p:cNvPr id="210" name="Freeform 511">
              <a:extLst>
                <a:ext uri="{FF2B5EF4-FFF2-40B4-BE49-F238E27FC236}">
                  <a16:creationId xmlns:a16="http://schemas.microsoft.com/office/drawing/2014/main" id="{71D786FE-6A21-4E1D-BA17-AF548FDC74D7}"/>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11" name="Freeform 512">
              <a:extLst>
                <a:ext uri="{FF2B5EF4-FFF2-40B4-BE49-F238E27FC236}">
                  <a16:creationId xmlns:a16="http://schemas.microsoft.com/office/drawing/2014/main" id="{7DD4CCEF-0995-46E8-B5B1-6D2EBF1FB650}"/>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12" name="Freeform 513">
              <a:extLst>
                <a:ext uri="{FF2B5EF4-FFF2-40B4-BE49-F238E27FC236}">
                  <a16:creationId xmlns:a16="http://schemas.microsoft.com/office/drawing/2014/main" id="{9C313CC6-E5EA-42D4-BD82-C3C1FA3785CF}"/>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13" name="Freeform 515">
              <a:extLst>
                <a:ext uri="{FF2B5EF4-FFF2-40B4-BE49-F238E27FC236}">
                  <a16:creationId xmlns:a16="http://schemas.microsoft.com/office/drawing/2014/main" id="{655765ED-5B2B-432A-A9CD-4101858843E9}"/>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cxnSp>
        <p:nvCxnSpPr>
          <p:cNvPr id="214" name="直接连接符 213">
            <a:extLst>
              <a:ext uri="{FF2B5EF4-FFF2-40B4-BE49-F238E27FC236}">
                <a16:creationId xmlns:a16="http://schemas.microsoft.com/office/drawing/2014/main" id="{F50A4F92-848F-475B-BC11-4587B0D80ADB}"/>
              </a:ext>
            </a:extLst>
          </p:cNvPr>
          <p:cNvCxnSpPr/>
          <p:nvPr/>
        </p:nvCxnSpPr>
        <p:spPr bwMode="gray">
          <a:xfrm flipH="1">
            <a:off x="10442576" y="4369797"/>
            <a:ext cx="140729"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85174CF7-10E8-4095-817C-13893F04CF45}"/>
              </a:ext>
            </a:extLst>
          </p:cNvPr>
          <p:cNvCxnSpPr/>
          <p:nvPr/>
        </p:nvCxnSpPr>
        <p:spPr bwMode="gray">
          <a:xfrm flipH="1">
            <a:off x="10442576" y="4005332"/>
            <a:ext cx="140729"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132D67BA-6355-4F92-96F3-8FEA568F86A0}"/>
              </a:ext>
            </a:extLst>
          </p:cNvPr>
          <p:cNvCxnSpPr/>
          <p:nvPr/>
        </p:nvCxnSpPr>
        <p:spPr bwMode="gray">
          <a:xfrm flipH="1">
            <a:off x="10442495" y="4218400"/>
            <a:ext cx="8786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53F44E00-AAA4-480F-A487-A5511D0619AB}"/>
              </a:ext>
            </a:extLst>
          </p:cNvPr>
          <p:cNvCxnSpPr/>
          <p:nvPr/>
        </p:nvCxnSpPr>
        <p:spPr bwMode="gray">
          <a:xfrm flipH="1">
            <a:off x="10446427" y="4006234"/>
            <a:ext cx="0" cy="56581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98DAE314-8A35-4418-A174-B17348B314CD}"/>
              </a:ext>
            </a:extLst>
          </p:cNvPr>
          <p:cNvCxnSpPr/>
          <p:nvPr/>
        </p:nvCxnSpPr>
        <p:spPr bwMode="gray">
          <a:xfrm flipH="1">
            <a:off x="10354635" y="4094686"/>
            <a:ext cx="8786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EDFBEC49-918A-48C0-9F93-4D8E926A1828}"/>
              </a:ext>
            </a:extLst>
          </p:cNvPr>
          <p:cNvCxnSpPr/>
          <p:nvPr/>
        </p:nvCxnSpPr>
        <p:spPr bwMode="gray">
          <a:xfrm flipH="1">
            <a:off x="10354635" y="4479982"/>
            <a:ext cx="8786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D7AA6C88-6339-4B30-9BFD-E94508F8F7A2}"/>
              </a:ext>
            </a:extLst>
          </p:cNvPr>
          <p:cNvCxnSpPr/>
          <p:nvPr/>
        </p:nvCxnSpPr>
        <p:spPr bwMode="gray">
          <a:xfrm flipH="1">
            <a:off x="9990277" y="4094728"/>
            <a:ext cx="0" cy="38529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21" name="Freeform 116">
            <a:extLst>
              <a:ext uri="{FF2B5EF4-FFF2-40B4-BE49-F238E27FC236}">
                <a16:creationId xmlns:a16="http://schemas.microsoft.com/office/drawing/2014/main" id="{05731D00-B175-40C1-A65E-32E914C52224}"/>
              </a:ext>
            </a:extLst>
          </p:cNvPr>
          <p:cNvSpPr>
            <a:spLocks noEditPoints="1"/>
          </p:cNvSpPr>
          <p:nvPr/>
        </p:nvSpPr>
        <p:spPr bwMode="gray">
          <a:xfrm flipH="1">
            <a:off x="9915409" y="4269868"/>
            <a:ext cx="258834" cy="61740"/>
          </a:xfrm>
          <a:custGeom>
            <a:avLst/>
            <a:gdLst>
              <a:gd name="T0" fmla="*/ 20 w 1007"/>
              <a:gd name="T1" fmla="*/ 1 h 241"/>
              <a:gd name="T2" fmla="*/ 0 w 1007"/>
              <a:gd name="T3" fmla="*/ 25 h 241"/>
              <a:gd name="T4" fmla="*/ 3 w 1007"/>
              <a:gd name="T5" fmla="*/ 224 h 241"/>
              <a:gd name="T6" fmla="*/ 31 w 1007"/>
              <a:gd name="T7" fmla="*/ 241 h 241"/>
              <a:gd name="T8" fmla="*/ 989 w 1007"/>
              <a:gd name="T9" fmla="*/ 239 h 241"/>
              <a:gd name="T10" fmla="*/ 1007 w 1007"/>
              <a:gd name="T11" fmla="*/ 215 h 241"/>
              <a:gd name="T12" fmla="*/ 1006 w 1007"/>
              <a:gd name="T13" fmla="*/ 14 h 241"/>
              <a:gd name="T14" fmla="*/ 978 w 1007"/>
              <a:gd name="T15" fmla="*/ 0 h 241"/>
              <a:gd name="T16" fmla="*/ 86 w 1007"/>
              <a:gd name="T17" fmla="*/ 162 h 241"/>
              <a:gd name="T18" fmla="*/ 66 w 1007"/>
              <a:gd name="T19" fmla="*/ 148 h 241"/>
              <a:gd name="T20" fmla="*/ 58 w 1007"/>
              <a:gd name="T21" fmla="*/ 129 h 241"/>
              <a:gd name="T22" fmla="*/ 69 w 1007"/>
              <a:gd name="T23" fmla="*/ 106 h 241"/>
              <a:gd name="T24" fmla="*/ 93 w 1007"/>
              <a:gd name="T25" fmla="*/ 96 h 241"/>
              <a:gd name="T26" fmla="*/ 111 w 1007"/>
              <a:gd name="T27" fmla="*/ 102 h 241"/>
              <a:gd name="T28" fmla="*/ 126 w 1007"/>
              <a:gd name="T29" fmla="*/ 122 h 241"/>
              <a:gd name="T30" fmla="*/ 124 w 1007"/>
              <a:gd name="T31" fmla="*/ 142 h 241"/>
              <a:gd name="T32" fmla="*/ 106 w 1007"/>
              <a:gd name="T33" fmla="*/ 160 h 241"/>
              <a:gd name="T34" fmla="*/ 329 w 1007"/>
              <a:gd name="T35" fmla="*/ 215 h 241"/>
              <a:gd name="T36" fmla="*/ 261 w 1007"/>
              <a:gd name="T37" fmla="*/ 212 h 241"/>
              <a:gd name="T38" fmla="*/ 263 w 1007"/>
              <a:gd name="T39" fmla="*/ 201 h 241"/>
              <a:gd name="T40" fmla="*/ 333 w 1007"/>
              <a:gd name="T41" fmla="*/ 201 h 241"/>
              <a:gd name="T42" fmla="*/ 334 w 1007"/>
              <a:gd name="T43" fmla="*/ 212 h 241"/>
              <a:gd name="T44" fmla="*/ 494 w 1007"/>
              <a:gd name="T45" fmla="*/ 215 h 241"/>
              <a:gd name="T46" fmla="*/ 424 w 1007"/>
              <a:gd name="T47" fmla="*/ 212 h 241"/>
              <a:gd name="T48" fmla="*/ 428 w 1007"/>
              <a:gd name="T49" fmla="*/ 201 h 241"/>
              <a:gd name="T50" fmla="*/ 497 w 1007"/>
              <a:gd name="T51" fmla="*/ 201 h 241"/>
              <a:gd name="T52" fmla="*/ 499 w 1007"/>
              <a:gd name="T53" fmla="*/ 212 h 241"/>
              <a:gd name="T54" fmla="*/ 654 w 1007"/>
              <a:gd name="T55" fmla="*/ 215 h 241"/>
              <a:gd name="T56" fmla="*/ 585 w 1007"/>
              <a:gd name="T57" fmla="*/ 212 h 241"/>
              <a:gd name="T58" fmla="*/ 589 w 1007"/>
              <a:gd name="T59" fmla="*/ 201 h 241"/>
              <a:gd name="T60" fmla="*/ 656 w 1007"/>
              <a:gd name="T61" fmla="*/ 201 h 241"/>
              <a:gd name="T62" fmla="*/ 660 w 1007"/>
              <a:gd name="T63" fmla="*/ 212 h 241"/>
              <a:gd name="T64" fmla="*/ 713 w 1007"/>
              <a:gd name="T65" fmla="*/ 69 h 241"/>
              <a:gd name="T66" fmla="*/ 201 w 1007"/>
              <a:gd name="T67" fmla="*/ 67 h 241"/>
              <a:gd name="T68" fmla="*/ 826 w 1007"/>
              <a:gd name="T69" fmla="*/ 215 h 241"/>
              <a:gd name="T70" fmla="*/ 819 w 1007"/>
              <a:gd name="T71" fmla="*/ 208 h 241"/>
              <a:gd name="T72" fmla="*/ 826 w 1007"/>
              <a:gd name="T73" fmla="*/ 201 h 241"/>
              <a:gd name="T74" fmla="*/ 938 w 1007"/>
              <a:gd name="T75" fmla="*/ 203 h 241"/>
              <a:gd name="T76" fmla="*/ 936 w 1007"/>
              <a:gd name="T77" fmla="*/ 214 h 241"/>
              <a:gd name="T78" fmla="*/ 982 w 1007"/>
              <a:gd name="T79" fmla="*/ 182 h 241"/>
              <a:gd name="T80" fmla="*/ 982 w 1007"/>
              <a:gd name="T81" fmla="*/ 54 h 241"/>
              <a:gd name="T82" fmla="*/ 702 w 1007"/>
              <a:gd name="T83" fmla="*/ 175 h 241"/>
              <a:gd name="T84" fmla="*/ 214 w 1007"/>
              <a:gd name="T85" fmla="*/ 175 h 241"/>
              <a:gd name="T86" fmla="*/ 600 w 1007"/>
              <a:gd name="T87" fmla="*/ 100 h 241"/>
              <a:gd name="T88" fmla="*/ 607 w 1007"/>
              <a:gd name="T89" fmla="*/ 89 h 241"/>
              <a:gd name="T90" fmla="*/ 640 w 1007"/>
              <a:gd name="T91" fmla="*/ 89 h 241"/>
              <a:gd name="T92" fmla="*/ 647 w 1007"/>
              <a:gd name="T93" fmla="*/ 104 h 241"/>
              <a:gd name="T94" fmla="*/ 570 w 1007"/>
              <a:gd name="T95" fmla="*/ 104 h 241"/>
              <a:gd name="T96" fmla="*/ 439 w 1007"/>
              <a:gd name="T97" fmla="*/ 100 h 241"/>
              <a:gd name="T98" fmla="*/ 451 w 1007"/>
              <a:gd name="T99" fmla="*/ 87 h 241"/>
              <a:gd name="T100" fmla="*/ 483 w 1007"/>
              <a:gd name="T101" fmla="*/ 91 h 241"/>
              <a:gd name="T102" fmla="*/ 515 w 1007"/>
              <a:gd name="T103" fmla="*/ 104 h 241"/>
              <a:gd name="T104" fmla="*/ 248 w 1007"/>
              <a:gd name="T105" fmla="*/ 104 h 241"/>
              <a:gd name="T106" fmla="*/ 280 w 1007"/>
              <a:gd name="T107" fmla="*/ 95 h 241"/>
              <a:gd name="T108" fmla="*/ 314 w 1007"/>
              <a:gd name="T109" fmla="*/ 87 h 241"/>
              <a:gd name="T110" fmla="*/ 325 w 1007"/>
              <a:gd name="T111" fmla="*/ 95 h 241"/>
              <a:gd name="T112" fmla="*/ 355 w 1007"/>
              <a:gd name="T113" fmla="*/ 159 h 241"/>
              <a:gd name="T114" fmla="*/ 973 w 1007"/>
              <a:gd name="T115" fmla="*/ 173 h 241"/>
              <a:gd name="T116" fmla="*/ 819 w 1007"/>
              <a:gd name="T117" fmla="*/ 98 h 241"/>
              <a:gd name="T118" fmla="*/ 854 w 1007"/>
              <a:gd name="T119" fmla="*/ 87 h 241"/>
              <a:gd name="T120" fmla="*/ 892 w 1007"/>
              <a:gd name="T121" fmla="*/ 80 h 241"/>
              <a:gd name="T122" fmla="*/ 905 w 1007"/>
              <a:gd name="T123" fmla="*/ 87 h 241"/>
              <a:gd name="T124" fmla="*/ 940 w 1007"/>
              <a:gd name="T125" fmla="*/ 16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7" h="241">
                <a:moveTo>
                  <a:pt x="978" y="0"/>
                </a:moveTo>
                <a:lnTo>
                  <a:pt x="31" y="0"/>
                </a:lnTo>
                <a:lnTo>
                  <a:pt x="31" y="0"/>
                </a:lnTo>
                <a:lnTo>
                  <a:pt x="20" y="1"/>
                </a:lnTo>
                <a:lnTo>
                  <a:pt x="9" y="7"/>
                </a:lnTo>
                <a:lnTo>
                  <a:pt x="3" y="14"/>
                </a:lnTo>
                <a:lnTo>
                  <a:pt x="2" y="20"/>
                </a:lnTo>
                <a:lnTo>
                  <a:pt x="0" y="25"/>
                </a:lnTo>
                <a:lnTo>
                  <a:pt x="0" y="215"/>
                </a:lnTo>
                <a:lnTo>
                  <a:pt x="0" y="215"/>
                </a:lnTo>
                <a:lnTo>
                  <a:pt x="2" y="221"/>
                </a:lnTo>
                <a:lnTo>
                  <a:pt x="3" y="224"/>
                </a:lnTo>
                <a:lnTo>
                  <a:pt x="9" y="234"/>
                </a:lnTo>
                <a:lnTo>
                  <a:pt x="20" y="239"/>
                </a:lnTo>
                <a:lnTo>
                  <a:pt x="25" y="241"/>
                </a:lnTo>
                <a:lnTo>
                  <a:pt x="31" y="241"/>
                </a:lnTo>
                <a:lnTo>
                  <a:pt x="978" y="241"/>
                </a:lnTo>
                <a:lnTo>
                  <a:pt x="978" y="241"/>
                </a:lnTo>
                <a:lnTo>
                  <a:pt x="984" y="241"/>
                </a:lnTo>
                <a:lnTo>
                  <a:pt x="989" y="239"/>
                </a:lnTo>
                <a:lnTo>
                  <a:pt x="998" y="234"/>
                </a:lnTo>
                <a:lnTo>
                  <a:pt x="1006" y="224"/>
                </a:lnTo>
                <a:lnTo>
                  <a:pt x="1007" y="221"/>
                </a:lnTo>
                <a:lnTo>
                  <a:pt x="1007" y="215"/>
                </a:lnTo>
                <a:lnTo>
                  <a:pt x="1007" y="25"/>
                </a:lnTo>
                <a:lnTo>
                  <a:pt x="1007" y="25"/>
                </a:lnTo>
                <a:lnTo>
                  <a:pt x="1007" y="20"/>
                </a:lnTo>
                <a:lnTo>
                  <a:pt x="1006" y="14"/>
                </a:lnTo>
                <a:lnTo>
                  <a:pt x="998" y="7"/>
                </a:lnTo>
                <a:lnTo>
                  <a:pt x="989" y="1"/>
                </a:lnTo>
                <a:lnTo>
                  <a:pt x="984" y="0"/>
                </a:lnTo>
                <a:lnTo>
                  <a:pt x="978" y="0"/>
                </a:lnTo>
                <a:lnTo>
                  <a:pt x="978" y="0"/>
                </a:lnTo>
                <a:close/>
                <a:moveTo>
                  <a:pt x="93" y="162"/>
                </a:moveTo>
                <a:lnTo>
                  <a:pt x="93" y="162"/>
                </a:lnTo>
                <a:lnTo>
                  <a:pt x="86" y="162"/>
                </a:lnTo>
                <a:lnTo>
                  <a:pt x="80" y="160"/>
                </a:lnTo>
                <a:lnTo>
                  <a:pt x="75" y="157"/>
                </a:lnTo>
                <a:lnTo>
                  <a:pt x="69" y="153"/>
                </a:lnTo>
                <a:lnTo>
                  <a:pt x="66" y="148"/>
                </a:lnTo>
                <a:lnTo>
                  <a:pt x="62" y="142"/>
                </a:lnTo>
                <a:lnTo>
                  <a:pt x="60" y="137"/>
                </a:lnTo>
                <a:lnTo>
                  <a:pt x="58" y="129"/>
                </a:lnTo>
                <a:lnTo>
                  <a:pt x="58" y="129"/>
                </a:lnTo>
                <a:lnTo>
                  <a:pt x="60" y="122"/>
                </a:lnTo>
                <a:lnTo>
                  <a:pt x="62" y="117"/>
                </a:lnTo>
                <a:lnTo>
                  <a:pt x="66" y="111"/>
                </a:lnTo>
                <a:lnTo>
                  <a:pt x="69" y="106"/>
                </a:lnTo>
                <a:lnTo>
                  <a:pt x="75" y="102"/>
                </a:lnTo>
                <a:lnTo>
                  <a:pt x="80" y="98"/>
                </a:lnTo>
                <a:lnTo>
                  <a:pt x="86" y="96"/>
                </a:lnTo>
                <a:lnTo>
                  <a:pt x="93" y="96"/>
                </a:lnTo>
                <a:lnTo>
                  <a:pt x="93" y="96"/>
                </a:lnTo>
                <a:lnTo>
                  <a:pt x="100" y="96"/>
                </a:lnTo>
                <a:lnTo>
                  <a:pt x="106" y="98"/>
                </a:lnTo>
                <a:lnTo>
                  <a:pt x="111" y="102"/>
                </a:lnTo>
                <a:lnTo>
                  <a:pt x="117" y="106"/>
                </a:lnTo>
                <a:lnTo>
                  <a:pt x="122" y="111"/>
                </a:lnTo>
                <a:lnTo>
                  <a:pt x="124" y="117"/>
                </a:lnTo>
                <a:lnTo>
                  <a:pt x="126" y="122"/>
                </a:lnTo>
                <a:lnTo>
                  <a:pt x="128" y="129"/>
                </a:lnTo>
                <a:lnTo>
                  <a:pt x="128" y="129"/>
                </a:lnTo>
                <a:lnTo>
                  <a:pt x="126" y="137"/>
                </a:lnTo>
                <a:lnTo>
                  <a:pt x="124" y="142"/>
                </a:lnTo>
                <a:lnTo>
                  <a:pt x="122" y="148"/>
                </a:lnTo>
                <a:lnTo>
                  <a:pt x="117" y="153"/>
                </a:lnTo>
                <a:lnTo>
                  <a:pt x="111" y="157"/>
                </a:lnTo>
                <a:lnTo>
                  <a:pt x="106" y="160"/>
                </a:lnTo>
                <a:lnTo>
                  <a:pt x="100" y="162"/>
                </a:lnTo>
                <a:lnTo>
                  <a:pt x="93" y="162"/>
                </a:lnTo>
                <a:lnTo>
                  <a:pt x="93" y="162"/>
                </a:lnTo>
                <a:close/>
                <a:moveTo>
                  <a:pt x="329" y="215"/>
                </a:moveTo>
                <a:lnTo>
                  <a:pt x="265" y="215"/>
                </a:lnTo>
                <a:lnTo>
                  <a:pt x="265" y="215"/>
                </a:lnTo>
                <a:lnTo>
                  <a:pt x="263" y="214"/>
                </a:lnTo>
                <a:lnTo>
                  <a:pt x="261" y="212"/>
                </a:lnTo>
                <a:lnTo>
                  <a:pt x="259" y="208"/>
                </a:lnTo>
                <a:lnTo>
                  <a:pt x="259" y="208"/>
                </a:lnTo>
                <a:lnTo>
                  <a:pt x="261" y="203"/>
                </a:lnTo>
                <a:lnTo>
                  <a:pt x="263" y="201"/>
                </a:lnTo>
                <a:lnTo>
                  <a:pt x="265" y="201"/>
                </a:lnTo>
                <a:lnTo>
                  <a:pt x="329" y="201"/>
                </a:lnTo>
                <a:lnTo>
                  <a:pt x="329" y="201"/>
                </a:lnTo>
                <a:lnTo>
                  <a:pt x="333" y="201"/>
                </a:lnTo>
                <a:lnTo>
                  <a:pt x="334" y="203"/>
                </a:lnTo>
                <a:lnTo>
                  <a:pt x="336" y="208"/>
                </a:lnTo>
                <a:lnTo>
                  <a:pt x="336" y="208"/>
                </a:lnTo>
                <a:lnTo>
                  <a:pt x="334" y="212"/>
                </a:lnTo>
                <a:lnTo>
                  <a:pt x="333" y="214"/>
                </a:lnTo>
                <a:lnTo>
                  <a:pt x="329" y="215"/>
                </a:lnTo>
                <a:lnTo>
                  <a:pt x="329" y="215"/>
                </a:lnTo>
                <a:close/>
                <a:moveTo>
                  <a:pt x="494" y="215"/>
                </a:moveTo>
                <a:lnTo>
                  <a:pt x="430" y="215"/>
                </a:lnTo>
                <a:lnTo>
                  <a:pt x="430" y="215"/>
                </a:lnTo>
                <a:lnTo>
                  <a:pt x="428" y="214"/>
                </a:lnTo>
                <a:lnTo>
                  <a:pt x="424" y="212"/>
                </a:lnTo>
                <a:lnTo>
                  <a:pt x="422" y="208"/>
                </a:lnTo>
                <a:lnTo>
                  <a:pt x="422" y="208"/>
                </a:lnTo>
                <a:lnTo>
                  <a:pt x="424" y="203"/>
                </a:lnTo>
                <a:lnTo>
                  <a:pt x="428" y="201"/>
                </a:lnTo>
                <a:lnTo>
                  <a:pt x="430" y="201"/>
                </a:lnTo>
                <a:lnTo>
                  <a:pt x="494" y="201"/>
                </a:lnTo>
                <a:lnTo>
                  <a:pt x="494" y="201"/>
                </a:lnTo>
                <a:lnTo>
                  <a:pt x="497" y="201"/>
                </a:lnTo>
                <a:lnTo>
                  <a:pt x="499" y="203"/>
                </a:lnTo>
                <a:lnTo>
                  <a:pt x="501" y="208"/>
                </a:lnTo>
                <a:lnTo>
                  <a:pt x="501" y="208"/>
                </a:lnTo>
                <a:lnTo>
                  <a:pt x="499" y="212"/>
                </a:lnTo>
                <a:lnTo>
                  <a:pt x="497" y="214"/>
                </a:lnTo>
                <a:lnTo>
                  <a:pt x="494" y="215"/>
                </a:lnTo>
                <a:lnTo>
                  <a:pt x="494" y="215"/>
                </a:lnTo>
                <a:close/>
                <a:moveTo>
                  <a:pt x="654" y="215"/>
                </a:moveTo>
                <a:lnTo>
                  <a:pt x="590" y="215"/>
                </a:lnTo>
                <a:lnTo>
                  <a:pt x="590" y="215"/>
                </a:lnTo>
                <a:lnTo>
                  <a:pt x="589" y="214"/>
                </a:lnTo>
                <a:lnTo>
                  <a:pt x="585" y="212"/>
                </a:lnTo>
                <a:lnTo>
                  <a:pt x="583" y="208"/>
                </a:lnTo>
                <a:lnTo>
                  <a:pt x="583" y="208"/>
                </a:lnTo>
                <a:lnTo>
                  <a:pt x="585" y="203"/>
                </a:lnTo>
                <a:lnTo>
                  <a:pt x="589" y="201"/>
                </a:lnTo>
                <a:lnTo>
                  <a:pt x="590" y="201"/>
                </a:lnTo>
                <a:lnTo>
                  <a:pt x="654" y="201"/>
                </a:lnTo>
                <a:lnTo>
                  <a:pt x="654" y="201"/>
                </a:lnTo>
                <a:lnTo>
                  <a:pt x="656" y="201"/>
                </a:lnTo>
                <a:lnTo>
                  <a:pt x="660" y="203"/>
                </a:lnTo>
                <a:lnTo>
                  <a:pt x="662" y="208"/>
                </a:lnTo>
                <a:lnTo>
                  <a:pt x="662" y="208"/>
                </a:lnTo>
                <a:lnTo>
                  <a:pt x="660" y="212"/>
                </a:lnTo>
                <a:lnTo>
                  <a:pt x="656" y="214"/>
                </a:lnTo>
                <a:lnTo>
                  <a:pt x="654" y="215"/>
                </a:lnTo>
                <a:lnTo>
                  <a:pt x="654" y="215"/>
                </a:lnTo>
                <a:close/>
                <a:moveTo>
                  <a:pt x="713" y="69"/>
                </a:moveTo>
                <a:lnTo>
                  <a:pt x="713" y="182"/>
                </a:lnTo>
                <a:lnTo>
                  <a:pt x="201" y="182"/>
                </a:lnTo>
                <a:lnTo>
                  <a:pt x="201" y="182"/>
                </a:lnTo>
                <a:lnTo>
                  <a:pt x="201" y="67"/>
                </a:lnTo>
                <a:lnTo>
                  <a:pt x="715" y="69"/>
                </a:lnTo>
                <a:lnTo>
                  <a:pt x="713" y="69"/>
                </a:lnTo>
                <a:close/>
                <a:moveTo>
                  <a:pt x="934" y="215"/>
                </a:moveTo>
                <a:lnTo>
                  <a:pt x="826" y="215"/>
                </a:lnTo>
                <a:lnTo>
                  <a:pt x="826" y="215"/>
                </a:lnTo>
                <a:lnTo>
                  <a:pt x="823" y="214"/>
                </a:lnTo>
                <a:lnTo>
                  <a:pt x="821" y="212"/>
                </a:lnTo>
                <a:lnTo>
                  <a:pt x="819" y="208"/>
                </a:lnTo>
                <a:lnTo>
                  <a:pt x="819" y="208"/>
                </a:lnTo>
                <a:lnTo>
                  <a:pt x="821" y="203"/>
                </a:lnTo>
                <a:lnTo>
                  <a:pt x="823" y="201"/>
                </a:lnTo>
                <a:lnTo>
                  <a:pt x="826" y="201"/>
                </a:lnTo>
                <a:lnTo>
                  <a:pt x="934" y="201"/>
                </a:lnTo>
                <a:lnTo>
                  <a:pt x="934" y="201"/>
                </a:lnTo>
                <a:lnTo>
                  <a:pt x="936" y="201"/>
                </a:lnTo>
                <a:lnTo>
                  <a:pt x="938" y="203"/>
                </a:lnTo>
                <a:lnTo>
                  <a:pt x="940" y="208"/>
                </a:lnTo>
                <a:lnTo>
                  <a:pt x="940" y="208"/>
                </a:lnTo>
                <a:lnTo>
                  <a:pt x="938" y="212"/>
                </a:lnTo>
                <a:lnTo>
                  <a:pt x="936" y="214"/>
                </a:lnTo>
                <a:lnTo>
                  <a:pt x="934" y="215"/>
                </a:lnTo>
                <a:lnTo>
                  <a:pt x="934" y="215"/>
                </a:lnTo>
                <a:close/>
                <a:moveTo>
                  <a:pt x="982" y="54"/>
                </a:moveTo>
                <a:lnTo>
                  <a:pt x="982" y="182"/>
                </a:lnTo>
                <a:lnTo>
                  <a:pt x="779" y="182"/>
                </a:lnTo>
                <a:lnTo>
                  <a:pt x="779" y="182"/>
                </a:lnTo>
                <a:lnTo>
                  <a:pt x="779" y="54"/>
                </a:lnTo>
                <a:lnTo>
                  <a:pt x="982" y="54"/>
                </a:lnTo>
                <a:lnTo>
                  <a:pt x="976" y="60"/>
                </a:lnTo>
                <a:lnTo>
                  <a:pt x="976" y="60"/>
                </a:lnTo>
                <a:lnTo>
                  <a:pt x="982" y="54"/>
                </a:lnTo>
                <a:close/>
                <a:moveTo>
                  <a:pt x="702" y="175"/>
                </a:moveTo>
                <a:lnTo>
                  <a:pt x="702" y="76"/>
                </a:lnTo>
                <a:lnTo>
                  <a:pt x="214" y="76"/>
                </a:lnTo>
                <a:lnTo>
                  <a:pt x="214" y="175"/>
                </a:lnTo>
                <a:lnTo>
                  <a:pt x="214" y="175"/>
                </a:lnTo>
                <a:lnTo>
                  <a:pt x="702" y="175"/>
                </a:lnTo>
                <a:close/>
                <a:moveTo>
                  <a:pt x="570" y="104"/>
                </a:moveTo>
                <a:lnTo>
                  <a:pt x="600" y="104"/>
                </a:lnTo>
                <a:lnTo>
                  <a:pt x="600" y="100"/>
                </a:lnTo>
                <a:lnTo>
                  <a:pt x="600" y="100"/>
                </a:lnTo>
                <a:lnTo>
                  <a:pt x="600" y="95"/>
                </a:lnTo>
                <a:lnTo>
                  <a:pt x="603" y="91"/>
                </a:lnTo>
                <a:lnTo>
                  <a:pt x="607" y="89"/>
                </a:lnTo>
                <a:lnTo>
                  <a:pt x="611" y="87"/>
                </a:lnTo>
                <a:lnTo>
                  <a:pt x="634" y="87"/>
                </a:lnTo>
                <a:lnTo>
                  <a:pt x="634" y="87"/>
                </a:lnTo>
                <a:lnTo>
                  <a:pt x="640" y="89"/>
                </a:lnTo>
                <a:lnTo>
                  <a:pt x="644" y="91"/>
                </a:lnTo>
                <a:lnTo>
                  <a:pt x="645" y="95"/>
                </a:lnTo>
                <a:lnTo>
                  <a:pt x="647" y="100"/>
                </a:lnTo>
                <a:lnTo>
                  <a:pt x="647" y="104"/>
                </a:lnTo>
                <a:lnTo>
                  <a:pt x="676" y="104"/>
                </a:lnTo>
                <a:lnTo>
                  <a:pt x="676" y="159"/>
                </a:lnTo>
                <a:lnTo>
                  <a:pt x="570" y="159"/>
                </a:lnTo>
                <a:lnTo>
                  <a:pt x="570" y="104"/>
                </a:lnTo>
                <a:close/>
                <a:moveTo>
                  <a:pt x="409" y="104"/>
                </a:moveTo>
                <a:lnTo>
                  <a:pt x="439" y="104"/>
                </a:lnTo>
                <a:lnTo>
                  <a:pt x="439" y="100"/>
                </a:lnTo>
                <a:lnTo>
                  <a:pt x="439" y="100"/>
                </a:lnTo>
                <a:lnTo>
                  <a:pt x="440" y="95"/>
                </a:lnTo>
                <a:lnTo>
                  <a:pt x="442" y="91"/>
                </a:lnTo>
                <a:lnTo>
                  <a:pt x="446" y="89"/>
                </a:lnTo>
                <a:lnTo>
                  <a:pt x="451" y="87"/>
                </a:lnTo>
                <a:lnTo>
                  <a:pt x="473" y="87"/>
                </a:lnTo>
                <a:lnTo>
                  <a:pt x="473" y="87"/>
                </a:lnTo>
                <a:lnTo>
                  <a:pt x="479" y="89"/>
                </a:lnTo>
                <a:lnTo>
                  <a:pt x="483" y="91"/>
                </a:lnTo>
                <a:lnTo>
                  <a:pt x="484" y="95"/>
                </a:lnTo>
                <a:lnTo>
                  <a:pt x="486" y="100"/>
                </a:lnTo>
                <a:lnTo>
                  <a:pt x="486" y="104"/>
                </a:lnTo>
                <a:lnTo>
                  <a:pt x="515" y="104"/>
                </a:lnTo>
                <a:lnTo>
                  <a:pt x="515" y="159"/>
                </a:lnTo>
                <a:lnTo>
                  <a:pt x="409" y="159"/>
                </a:lnTo>
                <a:lnTo>
                  <a:pt x="409" y="104"/>
                </a:lnTo>
                <a:close/>
                <a:moveTo>
                  <a:pt x="248" y="104"/>
                </a:moveTo>
                <a:lnTo>
                  <a:pt x="278" y="104"/>
                </a:lnTo>
                <a:lnTo>
                  <a:pt x="278" y="100"/>
                </a:lnTo>
                <a:lnTo>
                  <a:pt x="278" y="100"/>
                </a:lnTo>
                <a:lnTo>
                  <a:pt x="280" y="95"/>
                </a:lnTo>
                <a:lnTo>
                  <a:pt x="281" y="91"/>
                </a:lnTo>
                <a:lnTo>
                  <a:pt x="287" y="89"/>
                </a:lnTo>
                <a:lnTo>
                  <a:pt x="291" y="87"/>
                </a:lnTo>
                <a:lnTo>
                  <a:pt x="314" y="87"/>
                </a:lnTo>
                <a:lnTo>
                  <a:pt x="314" y="87"/>
                </a:lnTo>
                <a:lnTo>
                  <a:pt x="318" y="89"/>
                </a:lnTo>
                <a:lnTo>
                  <a:pt x="322" y="91"/>
                </a:lnTo>
                <a:lnTo>
                  <a:pt x="325" y="95"/>
                </a:lnTo>
                <a:lnTo>
                  <a:pt x="325" y="100"/>
                </a:lnTo>
                <a:lnTo>
                  <a:pt x="325" y="104"/>
                </a:lnTo>
                <a:lnTo>
                  <a:pt x="355" y="104"/>
                </a:lnTo>
                <a:lnTo>
                  <a:pt x="355" y="159"/>
                </a:lnTo>
                <a:lnTo>
                  <a:pt x="248" y="159"/>
                </a:lnTo>
                <a:lnTo>
                  <a:pt x="248" y="104"/>
                </a:lnTo>
                <a:close/>
                <a:moveTo>
                  <a:pt x="786" y="173"/>
                </a:moveTo>
                <a:lnTo>
                  <a:pt x="973" y="173"/>
                </a:lnTo>
                <a:lnTo>
                  <a:pt x="973" y="62"/>
                </a:lnTo>
                <a:lnTo>
                  <a:pt x="786" y="62"/>
                </a:lnTo>
                <a:lnTo>
                  <a:pt x="786" y="173"/>
                </a:lnTo>
                <a:close/>
                <a:moveTo>
                  <a:pt x="819" y="98"/>
                </a:moveTo>
                <a:lnTo>
                  <a:pt x="852" y="98"/>
                </a:lnTo>
                <a:lnTo>
                  <a:pt x="852" y="93"/>
                </a:lnTo>
                <a:lnTo>
                  <a:pt x="852" y="93"/>
                </a:lnTo>
                <a:lnTo>
                  <a:pt x="854" y="87"/>
                </a:lnTo>
                <a:lnTo>
                  <a:pt x="858" y="84"/>
                </a:lnTo>
                <a:lnTo>
                  <a:pt x="861" y="80"/>
                </a:lnTo>
                <a:lnTo>
                  <a:pt x="867" y="80"/>
                </a:lnTo>
                <a:lnTo>
                  <a:pt x="892" y="80"/>
                </a:lnTo>
                <a:lnTo>
                  <a:pt x="892" y="80"/>
                </a:lnTo>
                <a:lnTo>
                  <a:pt x="898" y="80"/>
                </a:lnTo>
                <a:lnTo>
                  <a:pt x="901" y="84"/>
                </a:lnTo>
                <a:lnTo>
                  <a:pt x="905" y="87"/>
                </a:lnTo>
                <a:lnTo>
                  <a:pt x="905" y="93"/>
                </a:lnTo>
                <a:lnTo>
                  <a:pt x="905" y="98"/>
                </a:lnTo>
                <a:lnTo>
                  <a:pt x="940" y="98"/>
                </a:lnTo>
                <a:lnTo>
                  <a:pt x="940" y="160"/>
                </a:lnTo>
                <a:lnTo>
                  <a:pt x="819" y="160"/>
                </a:lnTo>
                <a:lnTo>
                  <a:pt x="819" y="98"/>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nvGrpSpPr>
          <p:cNvPr id="222" name="组合 594">
            <a:extLst>
              <a:ext uri="{FF2B5EF4-FFF2-40B4-BE49-F238E27FC236}">
                <a16:creationId xmlns:a16="http://schemas.microsoft.com/office/drawing/2014/main" id="{8DA954FE-7A52-4E3F-A49C-E59A160D5E51}"/>
              </a:ext>
            </a:extLst>
          </p:cNvPr>
          <p:cNvGrpSpPr/>
          <p:nvPr/>
        </p:nvGrpSpPr>
        <p:grpSpPr bwMode="gray">
          <a:xfrm flipH="1">
            <a:off x="10642893" y="5464387"/>
            <a:ext cx="124297" cy="110325"/>
            <a:chOff x="10096500" y="3467100"/>
            <a:chExt cx="238125" cy="212725"/>
          </a:xfrm>
          <a:solidFill>
            <a:srgbClr val="00B0F0"/>
          </a:solidFill>
        </p:grpSpPr>
        <p:sp>
          <p:nvSpPr>
            <p:cNvPr id="223" name="Freeform 511">
              <a:extLst>
                <a:ext uri="{FF2B5EF4-FFF2-40B4-BE49-F238E27FC236}">
                  <a16:creationId xmlns:a16="http://schemas.microsoft.com/office/drawing/2014/main" id="{EFB29A94-6502-472D-83C6-924AE24451CD}"/>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24" name="Freeform 512">
              <a:extLst>
                <a:ext uri="{FF2B5EF4-FFF2-40B4-BE49-F238E27FC236}">
                  <a16:creationId xmlns:a16="http://schemas.microsoft.com/office/drawing/2014/main" id="{891B52D8-4CD0-49D0-8F87-1CB558A68212}"/>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25" name="Freeform 513">
              <a:extLst>
                <a:ext uri="{FF2B5EF4-FFF2-40B4-BE49-F238E27FC236}">
                  <a16:creationId xmlns:a16="http://schemas.microsoft.com/office/drawing/2014/main" id="{13DB5C3A-A6F0-45F0-86BA-585B4F6F4CE6}"/>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26" name="Freeform 515">
              <a:extLst>
                <a:ext uri="{FF2B5EF4-FFF2-40B4-BE49-F238E27FC236}">
                  <a16:creationId xmlns:a16="http://schemas.microsoft.com/office/drawing/2014/main" id="{F3A31E3B-25B8-458A-A834-E67E326AAA3B}"/>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grpSp>
        <p:nvGrpSpPr>
          <p:cNvPr id="227" name="组合 594">
            <a:extLst>
              <a:ext uri="{FF2B5EF4-FFF2-40B4-BE49-F238E27FC236}">
                <a16:creationId xmlns:a16="http://schemas.microsoft.com/office/drawing/2014/main" id="{F1D1EC88-7215-41B7-A214-F73828034621}"/>
              </a:ext>
            </a:extLst>
          </p:cNvPr>
          <p:cNvGrpSpPr/>
          <p:nvPr/>
        </p:nvGrpSpPr>
        <p:grpSpPr bwMode="gray">
          <a:xfrm flipH="1">
            <a:off x="10561455" y="5618843"/>
            <a:ext cx="124297" cy="110325"/>
            <a:chOff x="10096500" y="3467100"/>
            <a:chExt cx="238125" cy="212725"/>
          </a:xfrm>
          <a:solidFill>
            <a:srgbClr val="00B0F0"/>
          </a:solidFill>
        </p:grpSpPr>
        <p:sp>
          <p:nvSpPr>
            <p:cNvPr id="228" name="Freeform 511">
              <a:extLst>
                <a:ext uri="{FF2B5EF4-FFF2-40B4-BE49-F238E27FC236}">
                  <a16:creationId xmlns:a16="http://schemas.microsoft.com/office/drawing/2014/main" id="{3A232E1D-F224-411A-95D5-AD44D0A0BDF7}"/>
                </a:ext>
              </a:extLst>
            </p:cNvPr>
            <p:cNvSpPr>
              <a:spLocks/>
            </p:cNvSpPr>
            <p:nvPr/>
          </p:nvSpPr>
          <p:spPr bwMode="gray">
            <a:xfrm>
              <a:off x="10096500" y="3467100"/>
              <a:ext cx="238125" cy="60325"/>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29" name="Freeform 512">
              <a:extLst>
                <a:ext uri="{FF2B5EF4-FFF2-40B4-BE49-F238E27FC236}">
                  <a16:creationId xmlns:a16="http://schemas.microsoft.com/office/drawing/2014/main" id="{1DFC7703-A3C9-4623-B7B8-130425F789FD}"/>
                </a:ext>
              </a:extLst>
            </p:cNvPr>
            <p:cNvSpPr>
              <a:spLocks/>
            </p:cNvSpPr>
            <p:nvPr/>
          </p:nvSpPr>
          <p:spPr bwMode="gray">
            <a:xfrm>
              <a:off x="10125075" y="3524250"/>
              <a:ext cx="180975" cy="50800"/>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30" name="Freeform 513">
              <a:extLst>
                <a:ext uri="{FF2B5EF4-FFF2-40B4-BE49-F238E27FC236}">
                  <a16:creationId xmlns:a16="http://schemas.microsoft.com/office/drawing/2014/main" id="{2C525ACA-5538-45B6-A00B-45D56E76A8E3}"/>
                </a:ext>
              </a:extLst>
            </p:cNvPr>
            <p:cNvSpPr>
              <a:spLocks/>
            </p:cNvSpPr>
            <p:nvPr/>
          </p:nvSpPr>
          <p:spPr bwMode="gray">
            <a:xfrm>
              <a:off x="10156825" y="3581400"/>
              <a:ext cx="120650" cy="47625"/>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31" name="Freeform 515">
              <a:extLst>
                <a:ext uri="{FF2B5EF4-FFF2-40B4-BE49-F238E27FC236}">
                  <a16:creationId xmlns:a16="http://schemas.microsoft.com/office/drawing/2014/main" id="{DDB7A378-DFBC-44BF-ADC9-47B1A7ACD295}"/>
                </a:ext>
              </a:extLst>
            </p:cNvPr>
            <p:cNvSpPr>
              <a:spLocks/>
            </p:cNvSpPr>
            <p:nvPr/>
          </p:nvSpPr>
          <p:spPr bwMode="gray">
            <a:xfrm>
              <a:off x="10194925" y="3635375"/>
              <a:ext cx="44450" cy="44450"/>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cxnSp>
        <p:nvCxnSpPr>
          <p:cNvPr id="232" name="直接连接符 231">
            <a:extLst>
              <a:ext uri="{FF2B5EF4-FFF2-40B4-BE49-F238E27FC236}">
                <a16:creationId xmlns:a16="http://schemas.microsoft.com/office/drawing/2014/main" id="{B315C404-7A06-4538-A42C-F15CC36C1EEB}"/>
              </a:ext>
            </a:extLst>
          </p:cNvPr>
          <p:cNvCxnSpPr/>
          <p:nvPr/>
        </p:nvCxnSpPr>
        <p:spPr bwMode="gray">
          <a:xfrm flipH="1">
            <a:off x="9738272" y="5593282"/>
            <a:ext cx="17571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33" name="Freeform 116">
            <a:extLst>
              <a:ext uri="{FF2B5EF4-FFF2-40B4-BE49-F238E27FC236}">
                <a16:creationId xmlns:a16="http://schemas.microsoft.com/office/drawing/2014/main" id="{A075301C-2027-432D-B42D-41C07EABEF7D}"/>
              </a:ext>
            </a:extLst>
          </p:cNvPr>
          <p:cNvSpPr>
            <a:spLocks noEditPoints="1"/>
          </p:cNvSpPr>
          <p:nvPr/>
        </p:nvSpPr>
        <p:spPr bwMode="gray">
          <a:xfrm flipH="1">
            <a:off x="9949282" y="5562452"/>
            <a:ext cx="258834" cy="61740"/>
          </a:xfrm>
          <a:custGeom>
            <a:avLst/>
            <a:gdLst>
              <a:gd name="T0" fmla="*/ 20 w 1007"/>
              <a:gd name="T1" fmla="*/ 1 h 241"/>
              <a:gd name="T2" fmla="*/ 0 w 1007"/>
              <a:gd name="T3" fmla="*/ 25 h 241"/>
              <a:gd name="T4" fmla="*/ 3 w 1007"/>
              <a:gd name="T5" fmla="*/ 224 h 241"/>
              <a:gd name="T6" fmla="*/ 31 w 1007"/>
              <a:gd name="T7" fmla="*/ 241 h 241"/>
              <a:gd name="T8" fmla="*/ 989 w 1007"/>
              <a:gd name="T9" fmla="*/ 239 h 241"/>
              <a:gd name="T10" fmla="*/ 1007 w 1007"/>
              <a:gd name="T11" fmla="*/ 215 h 241"/>
              <a:gd name="T12" fmla="*/ 1006 w 1007"/>
              <a:gd name="T13" fmla="*/ 14 h 241"/>
              <a:gd name="T14" fmla="*/ 978 w 1007"/>
              <a:gd name="T15" fmla="*/ 0 h 241"/>
              <a:gd name="T16" fmla="*/ 86 w 1007"/>
              <a:gd name="T17" fmla="*/ 162 h 241"/>
              <a:gd name="T18" fmla="*/ 66 w 1007"/>
              <a:gd name="T19" fmla="*/ 148 h 241"/>
              <a:gd name="T20" fmla="*/ 58 w 1007"/>
              <a:gd name="T21" fmla="*/ 129 h 241"/>
              <a:gd name="T22" fmla="*/ 69 w 1007"/>
              <a:gd name="T23" fmla="*/ 106 h 241"/>
              <a:gd name="T24" fmla="*/ 93 w 1007"/>
              <a:gd name="T25" fmla="*/ 96 h 241"/>
              <a:gd name="T26" fmla="*/ 111 w 1007"/>
              <a:gd name="T27" fmla="*/ 102 h 241"/>
              <a:gd name="T28" fmla="*/ 126 w 1007"/>
              <a:gd name="T29" fmla="*/ 122 h 241"/>
              <a:gd name="T30" fmla="*/ 124 w 1007"/>
              <a:gd name="T31" fmla="*/ 142 h 241"/>
              <a:gd name="T32" fmla="*/ 106 w 1007"/>
              <a:gd name="T33" fmla="*/ 160 h 241"/>
              <a:gd name="T34" fmla="*/ 329 w 1007"/>
              <a:gd name="T35" fmla="*/ 215 h 241"/>
              <a:gd name="T36" fmla="*/ 261 w 1007"/>
              <a:gd name="T37" fmla="*/ 212 h 241"/>
              <a:gd name="T38" fmla="*/ 263 w 1007"/>
              <a:gd name="T39" fmla="*/ 201 h 241"/>
              <a:gd name="T40" fmla="*/ 333 w 1007"/>
              <a:gd name="T41" fmla="*/ 201 h 241"/>
              <a:gd name="T42" fmla="*/ 334 w 1007"/>
              <a:gd name="T43" fmla="*/ 212 h 241"/>
              <a:gd name="T44" fmla="*/ 494 w 1007"/>
              <a:gd name="T45" fmla="*/ 215 h 241"/>
              <a:gd name="T46" fmla="*/ 424 w 1007"/>
              <a:gd name="T47" fmla="*/ 212 h 241"/>
              <a:gd name="T48" fmla="*/ 428 w 1007"/>
              <a:gd name="T49" fmla="*/ 201 h 241"/>
              <a:gd name="T50" fmla="*/ 497 w 1007"/>
              <a:gd name="T51" fmla="*/ 201 h 241"/>
              <a:gd name="T52" fmla="*/ 499 w 1007"/>
              <a:gd name="T53" fmla="*/ 212 h 241"/>
              <a:gd name="T54" fmla="*/ 654 w 1007"/>
              <a:gd name="T55" fmla="*/ 215 h 241"/>
              <a:gd name="T56" fmla="*/ 585 w 1007"/>
              <a:gd name="T57" fmla="*/ 212 h 241"/>
              <a:gd name="T58" fmla="*/ 589 w 1007"/>
              <a:gd name="T59" fmla="*/ 201 h 241"/>
              <a:gd name="T60" fmla="*/ 656 w 1007"/>
              <a:gd name="T61" fmla="*/ 201 h 241"/>
              <a:gd name="T62" fmla="*/ 660 w 1007"/>
              <a:gd name="T63" fmla="*/ 212 h 241"/>
              <a:gd name="T64" fmla="*/ 713 w 1007"/>
              <a:gd name="T65" fmla="*/ 69 h 241"/>
              <a:gd name="T66" fmla="*/ 201 w 1007"/>
              <a:gd name="T67" fmla="*/ 67 h 241"/>
              <a:gd name="T68" fmla="*/ 826 w 1007"/>
              <a:gd name="T69" fmla="*/ 215 h 241"/>
              <a:gd name="T70" fmla="*/ 819 w 1007"/>
              <a:gd name="T71" fmla="*/ 208 h 241"/>
              <a:gd name="T72" fmla="*/ 826 w 1007"/>
              <a:gd name="T73" fmla="*/ 201 h 241"/>
              <a:gd name="T74" fmla="*/ 938 w 1007"/>
              <a:gd name="T75" fmla="*/ 203 h 241"/>
              <a:gd name="T76" fmla="*/ 936 w 1007"/>
              <a:gd name="T77" fmla="*/ 214 h 241"/>
              <a:gd name="T78" fmla="*/ 982 w 1007"/>
              <a:gd name="T79" fmla="*/ 182 h 241"/>
              <a:gd name="T80" fmla="*/ 982 w 1007"/>
              <a:gd name="T81" fmla="*/ 54 h 241"/>
              <a:gd name="T82" fmla="*/ 702 w 1007"/>
              <a:gd name="T83" fmla="*/ 175 h 241"/>
              <a:gd name="T84" fmla="*/ 214 w 1007"/>
              <a:gd name="T85" fmla="*/ 175 h 241"/>
              <a:gd name="T86" fmla="*/ 600 w 1007"/>
              <a:gd name="T87" fmla="*/ 100 h 241"/>
              <a:gd name="T88" fmla="*/ 607 w 1007"/>
              <a:gd name="T89" fmla="*/ 89 h 241"/>
              <a:gd name="T90" fmla="*/ 640 w 1007"/>
              <a:gd name="T91" fmla="*/ 89 h 241"/>
              <a:gd name="T92" fmla="*/ 647 w 1007"/>
              <a:gd name="T93" fmla="*/ 104 h 241"/>
              <a:gd name="T94" fmla="*/ 570 w 1007"/>
              <a:gd name="T95" fmla="*/ 104 h 241"/>
              <a:gd name="T96" fmla="*/ 439 w 1007"/>
              <a:gd name="T97" fmla="*/ 100 h 241"/>
              <a:gd name="T98" fmla="*/ 451 w 1007"/>
              <a:gd name="T99" fmla="*/ 87 h 241"/>
              <a:gd name="T100" fmla="*/ 483 w 1007"/>
              <a:gd name="T101" fmla="*/ 91 h 241"/>
              <a:gd name="T102" fmla="*/ 515 w 1007"/>
              <a:gd name="T103" fmla="*/ 104 h 241"/>
              <a:gd name="T104" fmla="*/ 248 w 1007"/>
              <a:gd name="T105" fmla="*/ 104 h 241"/>
              <a:gd name="T106" fmla="*/ 280 w 1007"/>
              <a:gd name="T107" fmla="*/ 95 h 241"/>
              <a:gd name="T108" fmla="*/ 314 w 1007"/>
              <a:gd name="T109" fmla="*/ 87 h 241"/>
              <a:gd name="T110" fmla="*/ 325 w 1007"/>
              <a:gd name="T111" fmla="*/ 95 h 241"/>
              <a:gd name="T112" fmla="*/ 355 w 1007"/>
              <a:gd name="T113" fmla="*/ 159 h 241"/>
              <a:gd name="T114" fmla="*/ 973 w 1007"/>
              <a:gd name="T115" fmla="*/ 173 h 241"/>
              <a:gd name="T116" fmla="*/ 819 w 1007"/>
              <a:gd name="T117" fmla="*/ 98 h 241"/>
              <a:gd name="T118" fmla="*/ 854 w 1007"/>
              <a:gd name="T119" fmla="*/ 87 h 241"/>
              <a:gd name="T120" fmla="*/ 892 w 1007"/>
              <a:gd name="T121" fmla="*/ 80 h 241"/>
              <a:gd name="T122" fmla="*/ 905 w 1007"/>
              <a:gd name="T123" fmla="*/ 87 h 241"/>
              <a:gd name="T124" fmla="*/ 940 w 1007"/>
              <a:gd name="T125" fmla="*/ 16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7" h="241">
                <a:moveTo>
                  <a:pt x="978" y="0"/>
                </a:moveTo>
                <a:lnTo>
                  <a:pt x="31" y="0"/>
                </a:lnTo>
                <a:lnTo>
                  <a:pt x="31" y="0"/>
                </a:lnTo>
                <a:lnTo>
                  <a:pt x="20" y="1"/>
                </a:lnTo>
                <a:lnTo>
                  <a:pt x="9" y="7"/>
                </a:lnTo>
                <a:lnTo>
                  <a:pt x="3" y="14"/>
                </a:lnTo>
                <a:lnTo>
                  <a:pt x="2" y="20"/>
                </a:lnTo>
                <a:lnTo>
                  <a:pt x="0" y="25"/>
                </a:lnTo>
                <a:lnTo>
                  <a:pt x="0" y="215"/>
                </a:lnTo>
                <a:lnTo>
                  <a:pt x="0" y="215"/>
                </a:lnTo>
                <a:lnTo>
                  <a:pt x="2" y="221"/>
                </a:lnTo>
                <a:lnTo>
                  <a:pt x="3" y="224"/>
                </a:lnTo>
                <a:lnTo>
                  <a:pt x="9" y="234"/>
                </a:lnTo>
                <a:lnTo>
                  <a:pt x="20" y="239"/>
                </a:lnTo>
                <a:lnTo>
                  <a:pt x="25" y="241"/>
                </a:lnTo>
                <a:lnTo>
                  <a:pt x="31" y="241"/>
                </a:lnTo>
                <a:lnTo>
                  <a:pt x="978" y="241"/>
                </a:lnTo>
                <a:lnTo>
                  <a:pt x="978" y="241"/>
                </a:lnTo>
                <a:lnTo>
                  <a:pt x="984" y="241"/>
                </a:lnTo>
                <a:lnTo>
                  <a:pt x="989" y="239"/>
                </a:lnTo>
                <a:lnTo>
                  <a:pt x="998" y="234"/>
                </a:lnTo>
                <a:lnTo>
                  <a:pt x="1006" y="224"/>
                </a:lnTo>
                <a:lnTo>
                  <a:pt x="1007" y="221"/>
                </a:lnTo>
                <a:lnTo>
                  <a:pt x="1007" y="215"/>
                </a:lnTo>
                <a:lnTo>
                  <a:pt x="1007" y="25"/>
                </a:lnTo>
                <a:lnTo>
                  <a:pt x="1007" y="25"/>
                </a:lnTo>
                <a:lnTo>
                  <a:pt x="1007" y="20"/>
                </a:lnTo>
                <a:lnTo>
                  <a:pt x="1006" y="14"/>
                </a:lnTo>
                <a:lnTo>
                  <a:pt x="998" y="7"/>
                </a:lnTo>
                <a:lnTo>
                  <a:pt x="989" y="1"/>
                </a:lnTo>
                <a:lnTo>
                  <a:pt x="984" y="0"/>
                </a:lnTo>
                <a:lnTo>
                  <a:pt x="978" y="0"/>
                </a:lnTo>
                <a:lnTo>
                  <a:pt x="978" y="0"/>
                </a:lnTo>
                <a:close/>
                <a:moveTo>
                  <a:pt x="93" y="162"/>
                </a:moveTo>
                <a:lnTo>
                  <a:pt x="93" y="162"/>
                </a:lnTo>
                <a:lnTo>
                  <a:pt x="86" y="162"/>
                </a:lnTo>
                <a:lnTo>
                  <a:pt x="80" y="160"/>
                </a:lnTo>
                <a:lnTo>
                  <a:pt x="75" y="157"/>
                </a:lnTo>
                <a:lnTo>
                  <a:pt x="69" y="153"/>
                </a:lnTo>
                <a:lnTo>
                  <a:pt x="66" y="148"/>
                </a:lnTo>
                <a:lnTo>
                  <a:pt x="62" y="142"/>
                </a:lnTo>
                <a:lnTo>
                  <a:pt x="60" y="137"/>
                </a:lnTo>
                <a:lnTo>
                  <a:pt x="58" y="129"/>
                </a:lnTo>
                <a:lnTo>
                  <a:pt x="58" y="129"/>
                </a:lnTo>
                <a:lnTo>
                  <a:pt x="60" y="122"/>
                </a:lnTo>
                <a:lnTo>
                  <a:pt x="62" y="117"/>
                </a:lnTo>
                <a:lnTo>
                  <a:pt x="66" y="111"/>
                </a:lnTo>
                <a:lnTo>
                  <a:pt x="69" y="106"/>
                </a:lnTo>
                <a:lnTo>
                  <a:pt x="75" y="102"/>
                </a:lnTo>
                <a:lnTo>
                  <a:pt x="80" y="98"/>
                </a:lnTo>
                <a:lnTo>
                  <a:pt x="86" y="96"/>
                </a:lnTo>
                <a:lnTo>
                  <a:pt x="93" y="96"/>
                </a:lnTo>
                <a:lnTo>
                  <a:pt x="93" y="96"/>
                </a:lnTo>
                <a:lnTo>
                  <a:pt x="100" y="96"/>
                </a:lnTo>
                <a:lnTo>
                  <a:pt x="106" y="98"/>
                </a:lnTo>
                <a:lnTo>
                  <a:pt x="111" y="102"/>
                </a:lnTo>
                <a:lnTo>
                  <a:pt x="117" y="106"/>
                </a:lnTo>
                <a:lnTo>
                  <a:pt x="122" y="111"/>
                </a:lnTo>
                <a:lnTo>
                  <a:pt x="124" y="117"/>
                </a:lnTo>
                <a:lnTo>
                  <a:pt x="126" y="122"/>
                </a:lnTo>
                <a:lnTo>
                  <a:pt x="128" y="129"/>
                </a:lnTo>
                <a:lnTo>
                  <a:pt x="128" y="129"/>
                </a:lnTo>
                <a:lnTo>
                  <a:pt x="126" y="137"/>
                </a:lnTo>
                <a:lnTo>
                  <a:pt x="124" y="142"/>
                </a:lnTo>
                <a:lnTo>
                  <a:pt x="122" y="148"/>
                </a:lnTo>
                <a:lnTo>
                  <a:pt x="117" y="153"/>
                </a:lnTo>
                <a:lnTo>
                  <a:pt x="111" y="157"/>
                </a:lnTo>
                <a:lnTo>
                  <a:pt x="106" y="160"/>
                </a:lnTo>
                <a:lnTo>
                  <a:pt x="100" y="162"/>
                </a:lnTo>
                <a:lnTo>
                  <a:pt x="93" y="162"/>
                </a:lnTo>
                <a:lnTo>
                  <a:pt x="93" y="162"/>
                </a:lnTo>
                <a:close/>
                <a:moveTo>
                  <a:pt x="329" y="215"/>
                </a:moveTo>
                <a:lnTo>
                  <a:pt x="265" y="215"/>
                </a:lnTo>
                <a:lnTo>
                  <a:pt x="265" y="215"/>
                </a:lnTo>
                <a:lnTo>
                  <a:pt x="263" y="214"/>
                </a:lnTo>
                <a:lnTo>
                  <a:pt x="261" y="212"/>
                </a:lnTo>
                <a:lnTo>
                  <a:pt x="259" y="208"/>
                </a:lnTo>
                <a:lnTo>
                  <a:pt x="259" y="208"/>
                </a:lnTo>
                <a:lnTo>
                  <a:pt x="261" y="203"/>
                </a:lnTo>
                <a:lnTo>
                  <a:pt x="263" y="201"/>
                </a:lnTo>
                <a:lnTo>
                  <a:pt x="265" y="201"/>
                </a:lnTo>
                <a:lnTo>
                  <a:pt x="329" y="201"/>
                </a:lnTo>
                <a:lnTo>
                  <a:pt x="329" y="201"/>
                </a:lnTo>
                <a:lnTo>
                  <a:pt x="333" y="201"/>
                </a:lnTo>
                <a:lnTo>
                  <a:pt x="334" y="203"/>
                </a:lnTo>
                <a:lnTo>
                  <a:pt x="336" y="208"/>
                </a:lnTo>
                <a:lnTo>
                  <a:pt x="336" y="208"/>
                </a:lnTo>
                <a:lnTo>
                  <a:pt x="334" y="212"/>
                </a:lnTo>
                <a:lnTo>
                  <a:pt x="333" y="214"/>
                </a:lnTo>
                <a:lnTo>
                  <a:pt x="329" y="215"/>
                </a:lnTo>
                <a:lnTo>
                  <a:pt x="329" y="215"/>
                </a:lnTo>
                <a:close/>
                <a:moveTo>
                  <a:pt x="494" y="215"/>
                </a:moveTo>
                <a:lnTo>
                  <a:pt x="430" y="215"/>
                </a:lnTo>
                <a:lnTo>
                  <a:pt x="430" y="215"/>
                </a:lnTo>
                <a:lnTo>
                  <a:pt x="428" y="214"/>
                </a:lnTo>
                <a:lnTo>
                  <a:pt x="424" y="212"/>
                </a:lnTo>
                <a:lnTo>
                  <a:pt x="422" y="208"/>
                </a:lnTo>
                <a:lnTo>
                  <a:pt x="422" y="208"/>
                </a:lnTo>
                <a:lnTo>
                  <a:pt x="424" y="203"/>
                </a:lnTo>
                <a:lnTo>
                  <a:pt x="428" y="201"/>
                </a:lnTo>
                <a:lnTo>
                  <a:pt x="430" y="201"/>
                </a:lnTo>
                <a:lnTo>
                  <a:pt x="494" y="201"/>
                </a:lnTo>
                <a:lnTo>
                  <a:pt x="494" y="201"/>
                </a:lnTo>
                <a:lnTo>
                  <a:pt x="497" y="201"/>
                </a:lnTo>
                <a:lnTo>
                  <a:pt x="499" y="203"/>
                </a:lnTo>
                <a:lnTo>
                  <a:pt x="501" y="208"/>
                </a:lnTo>
                <a:lnTo>
                  <a:pt x="501" y="208"/>
                </a:lnTo>
                <a:lnTo>
                  <a:pt x="499" y="212"/>
                </a:lnTo>
                <a:lnTo>
                  <a:pt x="497" y="214"/>
                </a:lnTo>
                <a:lnTo>
                  <a:pt x="494" y="215"/>
                </a:lnTo>
                <a:lnTo>
                  <a:pt x="494" y="215"/>
                </a:lnTo>
                <a:close/>
                <a:moveTo>
                  <a:pt x="654" y="215"/>
                </a:moveTo>
                <a:lnTo>
                  <a:pt x="590" y="215"/>
                </a:lnTo>
                <a:lnTo>
                  <a:pt x="590" y="215"/>
                </a:lnTo>
                <a:lnTo>
                  <a:pt x="589" y="214"/>
                </a:lnTo>
                <a:lnTo>
                  <a:pt x="585" y="212"/>
                </a:lnTo>
                <a:lnTo>
                  <a:pt x="583" y="208"/>
                </a:lnTo>
                <a:lnTo>
                  <a:pt x="583" y="208"/>
                </a:lnTo>
                <a:lnTo>
                  <a:pt x="585" y="203"/>
                </a:lnTo>
                <a:lnTo>
                  <a:pt x="589" y="201"/>
                </a:lnTo>
                <a:lnTo>
                  <a:pt x="590" y="201"/>
                </a:lnTo>
                <a:lnTo>
                  <a:pt x="654" y="201"/>
                </a:lnTo>
                <a:lnTo>
                  <a:pt x="654" y="201"/>
                </a:lnTo>
                <a:lnTo>
                  <a:pt x="656" y="201"/>
                </a:lnTo>
                <a:lnTo>
                  <a:pt x="660" y="203"/>
                </a:lnTo>
                <a:lnTo>
                  <a:pt x="662" y="208"/>
                </a:lnTo>
                <a:lnTo>
                  <a:pt x="662" y="208"/>
                </a:lnTo>
                <a:lnTo>
                  <a:pt x="660" y="212"/>
                </a:lnTo>
                <a:lnTo>
                  <a:pt x="656" y="214"/>
                </a:lnTo>
                <a:lnTo>
                  <a:pt x="654" y="215"/>
                </a:lnTo>
                <a:lnTo>
                  <a:pt x="654" y="215"/>
                </a:lnTo>
                <a:close/>
                <a:moveTo>
                  <a:pt x="713" y="69"/>
                </a:moveTo>
                <a:lnTo>
                  <a:pt x="713" y="182"/>
                </a:lnTo>
                <a:lnTo>
                  <a:pt x="201" y="182"/>
                </a:lnTo>
                <a:lnTo>
                  <a:pt x="201" y="182"/>
                </a:lnTo>
                <a:lnTo>
                  <a:pt x="201" y="67"/>
                </a:lnTo>
                <a:lnTo>
                  <a:pt x="715" y="69"/>
                </a:lnTo>
                <a:lnTo>
                  <a:pt x="713" y="69"/>
                </a:lnTo>
                <a:close/>
                <a:moveTo>
                  <a:pt x="934" y="215"/>
                </a:moveTo>
                <a:lnTo>
                  <a:pt x="826" y="215"/>
                </a:lnTo>
                <a:lnTo>
                  <a:pt x="826" y="215"/>
                </a:lnTo>
                <a:lnTo>
                  <a:pt x="823" y="214"/>
                </a:lnTo>
                <a:lnTo>
                  <a:pt x="821" y="212"/>
                </a:lnTo>
                <a:lnTo>
                  <a:pt x="819" y="208"/>
                </a:lnTo>
                <a:lnTo>
                  <a:pt x="819" y="208"/>
                </a:lnTo>
                <a:lnTo>
                  <a:pt x="821" y="203"/>
                </a:lnTo>
                <a:lnTo>
                  <a:pt x="823" y="201"/>
                </a:lnTo>
                <a:lnTo>
                  <a:pt x="826" y="201"/>
                </a:lnTo>
                <a:lnTo>
                  <a:pt x="934" y="201"/>
                </a:lnTo>
                <a:lnTo>
                  <a:pt x="934" y="201"/>
                </a:lnTo>
                <a:lnTo>
                  <a:pt x="936" y="201"/>
                </a:lnTo>
                <a:lnTo>
                  <a:pt x="938" y="203"/>
                </a:lnTo>
                <a:lnTo>
                  <a:pt x="940" y="208"/>
                </a:lnTo>
                <a:lnTo>
                  <a:pt x="940" y="208"/>
                </a:lnTo>
                <a:lnTo>
                  <a:pt x="938" y="212"/>
                </a:lnTo>
                <a:lnTo>
                  <a:pt x="936" y="214"/>
                </a:lnTo>
                <a:lnTo>
                  <a:pt x="934" y="215"/>
                </a:lnTo>
                <a:lnTo>
                  <a:pt x="934" y="215"/>
                </a:lnTo>
                <a:close/>
                <a:moveTo>
                  <a:pt x="982" y="54"/>
                </a:moveTo>
                <a:lnTo>
                  <a:pt x="982" y="182"/>
                </a:lnTo>
                <a:lnTo>
                  <a:pt x="779" y="182"/>
                </a:lnTo>
                <a:lnTo>
                  <a:pt x="779" y="182"/>
                </a:lnTo>
                <a:lnTo>
                  <a:pt x="779" y="54"/>
                </a:lnTo>
                <a:lnTo>
                  <a:pt x="982" y="54"/>
                </a:lnTo>
                <a:lnTo>
                  <a:pt x="976" y="60"/>
                </a:lnTo>
                <a:lnTo>
                  <a:pt x="976" y="60"/>
                </a:lnTo>
                <a:lnTo>
                  <a:pt x="982" y="54"/>
                </a:lnTo>
                <a:close/>
                <a:moveTo>
                  <a:pt x="702" y="175"/>
                </a:moveTo>
                <a:lnTo>
                  <a:pt x="702" y="76"/>
                </a:lnTo>
                <a:lnTo>
                  <a:pt x="214" y="76"/>
                </a:lnTo>
                <a:lnTo>
                  <a:pt x="214" y="175"/>
                </a:lnTo>
                <a:lnTo>
                  <a:pt x="214" y="175"/>
                </a:lnTo>
                <a:lnTo>
                  <a:pt x="702" y="175"/>
                </a:lnTo>
                <a:close/>
                <a:moveTo>
                  <a:pt x="570" y="104"/>
                </a:moveTo>
                <a:lnTo>
                  <a:pt x="600" y="104"/>
                </a:lnTo>
                <a:lnTo>
                  <a:pt x="600" y="100"/>
                </a:lnTo>
                <a:lnTo>
                  <a:pt x="600" y="100"/>
                </a:lnTo>
                <a:lnTo>
                  <a:pt x="600" y="95"/>
                </a:lnTo>
                <a:lnTo>
                  <a:pt x="603" y="91"/>
                </a:lnTo>
                <a:lnTo>
                  <a:pt x="607" y="89"/>
                </a:lnTo>
                <a:lnTo>
                  <a:pt x="611" y="87"/>
                </a:lnTo>
                <a:lnTo>
                  <a:pt x="634" y="87"/>
                </a:lnTo>
                <a:lnTo>
                  <a:pt x="634" y="87"/>
                </a:lnTo>
                <a:lnTo>
                  <a:pt x="640" y="89"/>
                </a:lnTo>
                <a:lnTo>
                  <a:pt x="644" y="91"/>
                </a:lnTo>
                <a:lnTo>
                  <a:pt x="645" y="95"/>
                </a:lnTo>
                <a:lnTo>
                  <a:pt x="647" y="100"/>
                </a:lnTo>
                <a:lnTo>
                  <a:pt x="647" y="104"/>
                </a:lnTo>
                <a:lnTo>
                  <a:pt x="676" y="104"/>
                </a:lnTo>
                <a:lnTo>
                  <a:pt x="676" y="159"/>
                </a:lnTo>
                <a:lnTo>
                  <a:pt x="570" y="159"/>
                </a:lnTo>
                <a:lnTo>
                  <a:pt x="570" y="104"/>
                </a:lnTo>
                <a:close/>
                <a:moveTo>
                  <a:pt x="409" y="104"/>
                </a:moveTo>
                <a:lnTo>
                  <a:pt x="439" y="104"/>
                </a:lnTo>
                <a:lnTo>
                  <a:pt x="439" y="100"/>
                </a:lnTo>
                <a:lnTo>
                  <a:pt x="439" y="100"/>
                </a:lnTo>
                <a:lnTo>
                  <a:pt x="440" y="95"/>
                </a:lnTo>
                <a:lnTo>
                  <a:pt x="442" y="91"/>
                </a:lnTo>
                <a:lnTo>
                  <a:pt x="446" y="89"/>
                </a:lnTo>
                <a:lnTo>
                  <a:pt x="451" y="87"/>
                </a:lnTo>
                <a:lnTo>
                  <a:pt x="473" y="87"/>
                </a:lnTo>
                <a:lnTo>
                  <a:pt x="473" y="87"/>
                </a:lnTo>
                <a:lnTo>
                  <a:pt x="479" y="89"/>
                </a:lnTo>
                <a:lnTo>
                  <a:pt x="483" y="91"/>
                </a:lnTo>
                <a:lnTo>
                  <a:pt x="484" y="95"/>
                </a:lnTo>
                <a:lnTo>
                  <a:pt x="486" y="100"/>
                </a:lnTo>
                <a:lnTo>
                  <a:pt x="486" y="104"/>
                </a:lnTo>
                <a:lnTo>
                  <a:pt x="515" y="104"/>
                </a:lnTo>
                <a:lnTo>
                  <a:pt x="515" y="159"/>
                </a:lnTo>
                <a:lnTo>
                  <a:pt x="409" y="159"/>
                </a:lnTo>
                <a:lnTo>
                  <a:pt x="409" y="104"/>
                </a:lnTo>
                <a:close/>
                <a:moveTo>
                  <a:pt x="248" y="104"/>
                </a:moveTo>
                <a:lnTo>
                  <a:pt x="278" y="104"/>
                </a:lnTo>
                <a:lnTo>
                  <a:pt x="278" y="100"/>
                </a:lnTo>
                <a:lnTo>
                  <a:pt x="278" y="100"/>
                </a:lnTo>
                <a:lnTo>
                  <a:pt x="280" y="95"/>
                </a:lnTo>
                <a:lnTo>
                  <a:pt x="281" y="91"/>
                </a:lnTo>
                <a:lnTo>
                  <a:pt x="287" y="89"/>
                </a:lnTo>
                <a:lnTo>
                  <a:pt x="291" y="87"/>
                </a:lnTo>
                <a:lnTo>
                  <a:pt x="314" y="87"/>
                </a:lnTo>
                <a:lnTo>
                  <a:pt x="314" y="87"/>
                </a:lnTo>
                <a:lnTo>
                  <a:pt x="318" y="89"/>
                </a:lnTo>
                <a:lnTo>
                  <a:pt x="322" y="91"/>
                </a:lnTo>
                <a:lnTo>
                  <a:pt x="325" y="95"/>
                </a:lnTo>
                <a:lnTo>
                  <a:pt x="325" y="100"/>
                </a:lnTo>
                <a:lnTo>
                  <a:pt x="325" y="104"/>
                </a:lnTo>
                <a:lnTo>
                  <a:pt x="355" y="104"/>
                </a:lnTo>
                <a:lnTo>
                  <a:pt x="355" y="159"/>
                </a:lnTo>
                <a:lnTo>
                  <a:pt x="248" y="159"/>
                </a:lnTo>
                <a:lnTo>
                  <a:pt x="248" y="104"/>
                </a:lnTo>
                <a:close/>
                <a:moveTo>
                  <a:pt x="786" y="173"/>
                </a:moveTo>
                <a:lnTo>
                  <a:pt x="973" y="173"/>
                </a:lnTo>
                <a:lnTo>
                  <a:pt x="973" y="62"/>
                </a:lnTo>
                <a:lnTo>
                  <a:pt x="786" y="62"/>
                </a:lnTo>
                <a:lnTo>
                  <a:pt x="786" y="173"/>
                </a:lnTo>
                <a:close/>
                <a:moveTo>
                  <a:pt x="819" y="98"/>
                </a:moveTo>
                <a:lnTo>
                  <a:pt x="852" y="98"/>
                </a:lnTo>
                <a:lnTo>
                  <a:pt x="852" y="93"/>
                </a:lnTo>
                <a:lnTo>
                  <a:pt x="852" y="93"/>
                </a:lnTo>
                <a:lnTo>
                  <a:pt x="854" y="87"/>
                </a:lnTo>
                <a:lnTo>
                  <a:pt x="858" y="84"/>
                </a:lnTo>
                <a:lnTo>
                  <a:pt x="861" y="80"/>
                </a:lnTo>
                <a:lnTo>
                  <a:pt x="867" y="80"/>
                </a:lnTo>
                <a:lnTo>
                  <a:pt x="892" y="80"/>
                </a:lnTo>
                <a:lnTo>
                  <a:pt x="892" y="80"/>
                </a:lnTo>
                <a:lnTo>
                  <a:pt x="898" y="80"/>
                </a:lnTo>
                <a:lnTo>
                  <a:pt x="901" y="84"/>
                </a:lnTo>
                <a:lnTo>
                  <a:pt x="905" y="87"/>
                </a:lnTo>
                <a:lnTo>
                  <a:pt x="905" y="93"/>
                </a:lnTo>
                <a:lnTo>
                  <a:pt x="905" y="98"/>
                </a:lnTo>
                <a:lnTo>
                  <a:pt x="940" y="98"/>
                </a:lnTo>
                <a:lnTo>
                  <a:pt x="940" y="160"/>
                </a:lnTo>
                <a:lnTo>
                  <a:pt x="819" y="160"/>
                </a:lnTo>
                <a:lnTo>
                  <a:pt x="819" y="98"/>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cxnSp>
        <p:nvCxnSpPr>
          <p:cNvPr id="234" name="直接连接符 233">
            <a:extLst>
              <a:ext uri="{FF2B5EF4-FFF2-40B4-BE49-F238E27FC236}">
                <a16:creationId xmlns:a16="http://schemas.microsoft.com/office/drawing/2014/main" id="{EC57A526-4F56-4542-990E-36D42B6D5C8C}"/>
              </a:ext>
            </a:extLst>
          </p:cNvPr>
          <p:cNvCxnSpPr/>
          <p:nvPr/>
        </p:nvCxnSpPr>
        <p:spPr bwMode="gray">
          <a:xfrm flipH="1">
            <a:off x="10263346" y="5593282"/>
            <a:ext cx="17571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35" name="矩形 234">
            <a:extLst>
              <a:ext uri="{FF2B5EF4-FFF2-40B4-BE49-F238E27FC236}">
                <a16:creationId xmlns:a16="http://schemas.microsoft.com/office/drawing/2014/main" id="{F894E853-C43F-478B-985D-94CD81F2B413}"/>
              </a:ext>
            </a:extLst>
          </p:cNvPr>
          <p:cNvSpPr/>
          <p:nvPr/>
        </p:nvSpPr>
        <p:spPr bwMode="gray">
          <a:xfrm>
            <a:off x="9550934" y="5702548"/>
            <a:ext cx="656119" cy="338554"/>
          </a:xfrm>
          <a:prstGeom prst="rect">
            <a:avLst/>
          </a:prstGeom>
        </p:spPr>
        <p:txBody>
          <a:bodyPr wrap="square">
            <a:spAutoFit/>
          </a:bodyPr>
          <a:lstStyle/>
          <a:p>
            <a:pPr algn="ctr" defTabSz="914373"/>
            <a:r>
              <a:rPr lang="en-US" altLang="zh-CN" sz="1600" kern="0" dirty="0">
                <a:cs typeface="+mn-ea"/>
                <a:sym typeface="+mn-lt"/>
              </a:rPr>
              <a:t>CPE</a:t>
            </a:r>
          </a:p>
        </p:txBody>
      </p:sp>
      <p:sp>
        <p:nvSpPr>
          <p:cNvPr id="236" name="矩形 235">
            <a:extLst>
              <a:ext uri="{FF2B5EF4-FFF2-40B4-BE49-F238E27FC236}">
                <a16:creationId xmlns:a16="http://schemas.microsoft.com/office/drawing/2014/main" id="{F6CB6B80-AF11-4E26-8555-F48118FCDEA2}"/>
              </a:ext>
            </a:extLst>
          </p:cNvPr>
          <p:cNvSpPr/>
          <p:nvPr/>
        </p:nvSpPr>
        <p:spPr bwMode="gray">
          <a:xfrm>
            <a:off x="9495895" y="4450845"/>
            <a:ext cx="656119" cy="338554"/>
          </a:xfrm>
          <a:prstGeom prst="rect">
            <a:avLst/>
          </a:prstGeom>
        </p:spPr>
        <p:txBody>
          <a:bodyPr wrap="square">
            <a:spAutoFit/>
          </a:bodyPr>
          <a:lstStyle/>
          <a:p>
            <a:pPr algn="ctr" defTabSz="914373"/>
            <a:r>
              <a:rPr lang="en-US" altLang="zh-CN" sz="1600" kern="0" dirty="0">
                <a:cs typeface="+mn-ea"/>
                <a:sym typeface="+mn-lt"/>
              </a:rPr>
              <a:t>CPE</a:t>
            </a:r>
          </a:p>
        </p:txBody>
      </p:sp>
      <p:grpSp>
        <p:nvGrpSpPr>
          <p:cNvPr id="237" name="组合 167">
            <a:extLst>
              <a:ext uri="{FF2B5EF4-FFF2-40B4-BE49-F238E27FC236}">
                <a16:creationId xmlns:a16="http://schemas.microsoft.com/office/drawing/2014/main" id="{7F8A8A42-531B-4A2F-BAE0-96A29DC0E62F}"/>
              </a:ext>
            </a:extLst>
          </p:cNvPr>
          <p:cNvGrpSpPr/>
          <p:nvPr/>
        </p:nvGrpSpPr>
        <p:grpSpPr bwMode="gray">
          <a:xfrm flipH="1">
            <a:off x="9451025" y="4180109"/>
            <a:ext cx="273539" cy="263444"/>
            <a:chOff x="3833193" y="3926598"/>
            <a:chExt cx="611915" cy="593154"/>
          </a:xfrm>
        </p:grpSpPr>
        <p:sp>
          <p:nvSpPr>
            <p:cNvPr id="238" name="椭圆 237">
              <a:extLst>
                <a:ext uri="{FF2B5EF4-FFF2-40B4-BE49-F238E27FC236}">
                  <a16:creationId xmlns:a16="http://schemas.microsoft.com/office/drawing/2014/main" id="{C628C39F-1965-4943-B5F9-83F973BE3138}"/>
                </a:ext>
              </a:extLst>
            </p:cNvPr>
            <p:cNvSpPr/>
            <p:nvPr/>
          </p:nvSpPr>
          <p:spPr bwMode="gray">
            <a:xfrm>
              <a:off x="3833193" y="3926598"/>
              <a:ext cx="593154" cy="593154"/>
            </a:xfrm>
            <a:prstGeom prst="ellipse">
              <a:avLst/>
            </a:prstGeom>
            <a:solidFill>
              <a:schemeClr val="bg1"/>
            </a:solidFill>
            <a:ln>
              <a:noFill/>
            </a:ln>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buClr>
                  <a:srgbClr val="CC9900"/>
                </a:buClr>
              </a:pPr>
              <a:endParaRPr lang="zh-CN" altLang="en-US" sz="1600" dirty="0">
                <a:cs typeface="+mn-ea"/>
                <a:sym typeface="+mn-lt"/>
              </a:endParaRPr>
            </a:p>
          </p:txBody>
        </p:sp>
        <p:sp>
          <p:nvSpPr>
            <p:cNvPr id="239" name="Freeform 26">
              <a:extLst>
                <a:ext uri="{FF2B5EF4-FFF2-40B4-BE49-F238E27FC236}">
                  <a16:creationId xmlns:a16="http://schemas.microsoft.com/office/drawing/2014/main" id="{E74BE1F0-4B74-4836-B3B4-92156579F937}"/>
                </a:ext>
              </a:extLst>
            </p:cNvPr>
            <p:cNvSpPr>
              <a:spLocks noEditPoints="1"/>
            </p:cNvSpPr>
            <p:nvPr/>
          </p:nvSpPr>
          <p:spPr bwMode="gray">
            <a:xfrm>
              <a:off x="3924864" y="3975079"/>
              <a:ext cx="520244" cy="496184"/>
            </a:xfrm>
            <a:custGeom>
              <a:avLst/>
              <a:gdLst/>
              <a:ahLst/>
              <a:cxnLst>
                <a:cxn ang="0">
                  <a:pos x="140" y="0"/>
                </a:cxn>
                <a:cxn ang="0">
                  <a:pos x="0" y="140"/>
                </a:cxn>
                <a:cxn ang="0">
                  <a:pos x="140" y="280"/>
                </a:cxn>
                <a:cxn ang="0">
                  <a:pos x="280" y="140"/>
                </a:cxn>
                <a:cxn ang="0">
                  <a:pos x="140" y="0"/>
                </a:cxn>
                <a:cxn ang="0">
                  <a:pos x="71" y="152"/>
                </a:cxn>
                <a:cxn ang="0">
                  <a:pos x="71" y="163"/>
                </a:cxn>
                <a:cxn ang="0">
                  <a:pos x="31" y="140"/>
                </a:cxn>
                <a:cxn ang="0">
                  <a:pos x="71" y="114"/>
                </a:cxn>
                <a:cxn ang="0">
                  <a:pos x="71" y="126"/>
                </a:cxn>
                <a:cxn ang="0">
                  <a:pos x="102" y="126"/>
                </a:cxn>
                <a:cxn ang="0">
                  <a:pos x="102" y="152"/>
                </a:cxn>
                <a:cxn ang="0">
                  <a:pos x="71" y="152"/>
                </a:cxn>
                <a:cxn ang="0">
                  <a:pos x="153" y="244"/>
                </a:cxn>
                <a:cxn ang="0">
                  <a:pos x="128" y="244"/>
                </a:cxn>
                <a:cxn ang="0">
                  <a:pos x="128" y="212"/>
                </a:cxn>
                <a:cxn ang="0">
                  <a:pos x="116" y="212"/>
                </a:cxn>
                <a:cxn ang="0">
                  <a:pos x="139" y="173"/>
                </a:cxn>
                <a:cxn ang="0">
                  <a:pos x="165" y="213"/>
                </a:cxn>
                <a:cxn ang="0">
                  <a:pos x="153" y="213"/>
                </a:cxn>
                <a:cxn ang="0">
                  <a:pos x="153" y="244"/>
                </a:cxn>
                <a:cxn ang="0">
                  <a:pos x="139" y="102"/>
                </a:cxn>
                <a:cxn ang="0">
                  <a:pos x="116" y="63"/>
                </a:cxn>
                <a:cxn ang="0">
                  <a:pos x="128" y="63"/>
                </a:cxn>
                <a:cxn ang="0">
                  <a:pos x="128" y="31"/>
                </a:cxn>
                <a:cxn ang="0">
                  <a:pos x="153" y="32"/>
                </a:cxn>
                <a:cxn ang="0">
                  <a:pos x="153" y="63"/>
                </a:cxn>
                <a:cxn ang="0">
                  <a:pos x="165" y="63"/>
                </a:cxn>
                <a:cxn ang="0">
                  <a:pos x="139" y="102"/>
                </a:cxn>
                <a:cxn ang="0">
                  <a:pos x="208" y="163"/>
                </a:cxn>
                <a:cxn ang="0">
                  <a:pos x="208" y="152"/>
                </a:cxn>
                <a:cxn ang="0">
                  <a:pos x="177" y="152"/>
                </a:cxn>
                <a:cxn ang="0">
                  <a:pos x="177" y="126"/>
                </a:cxn>
                <a:cxn ang="0">
                  <a:pos x="208" y="126"/>
                </a:cxn>
                <a:cxn ang="0">
                  <a:pos x="208" y="114"/>
                </a:cxn>
                <a:cxn ang="0">
                  <a:pos x="248" y="140"/>
                </a:cxn>
                <a:cxn ang="0">
                  <a:pos x="208" y="163"/>
                </a:cxn>
              </a:cxnLst>
              <a:rect l="0" t="0" r="r" b="b"/>
              <a:pathLst>
                <a:path w="280" h="280">
                  <a:moveTo>
                    <a:pt x="140" y="0"/>
                  </a:moveTo>
                  <a:cubicBezTo>
                    <a:pt x="63" y="0"/>
                    <a:pt x="0" y="63"/>
                    <a:pt x="0" y="140"/>
                  </a:cubicBezTo>
                  <a:cubicBezTo>
                    <a:pt x="0" y="217"/>
                    <a:pt x="63" y="280"/>
                    <a:pt x="140" y="280"/>
                  </a:cubicBezTo>
                  <a:cubicBezTo>
                    <a:pt x="217" y="280"/>
                    <a:pt x="280" y="217"/>
                    <a:pt x="280" y="140"/>
                  </a:cubicBezTo>
                  <a:cubicBezTo>
                    <a:pt x="280" y="63"/>
                    <a:pt x="217" y="0"/>
                    <a:pt x="140" y="0"/>
                  </a:cubicBezTo>
                  <a:close/>
                  <a:moveTo>
                    <a:pt x="71" y="152"/>
                  </a:moveTo>
                  <a:cubicBezTo>
                    <a:pt x="71" y="163"/>
                    <a:pt x="71" y="163"/>
                    <a:pt x="71" y="163"/>
                  </a:cubicBezTo>
                  <a:cubicBezTo>
                    <a:pt x="31" y="140"/>
                    <a:pt x="31" y="140"/>
                    <a:pt x="31" y="140"/>
                  </a:cubicBezTo>
                  <a:cubicBezTo>
                    <a:pt x="71" y="114"/>
                    <a:pt x="71" y="114"/>
                    <a:pt x="71" y="114"/>
                  </a:cubicBezTo>
                  <a:cubicBezTo>
                    <a:pt x="71" y="126"/>
                    <a:pt x="71" y="126"/>
                    <a:pt x="71" y="126"/>
                  </a:cubicBezTo>
                  <a:cubicBezTo>
                    <a:pt x="102" y="126"/>
                    <a:pt x="102" y="126"/>
                    <a:pt x="102" y="126"/>
                  </a:cubicBezTo>
                  <a:cubicBezTo>
                    <a:pt x="102" y="152"/>
                    <a:pt x="102" y="152"/>
                    <a:pt x="102" y="152"/>
                  </a:cubicBezTo>
                  <a:lnTo>
                    <a:pt x="71" y="152"/>
                  </a:lnTo>
                  <a:close/>
                  <a:moveTo>
                    <a:pt x="153" y="244"/>
                  </a:moveTo>
                  <a:cubicBezTo>
                    <a:pt x="128" y="244"/>
                    <a:pt x="128" y="244"/>
                    <a:pt x="128" y="244"/>
                  </a:cubicBezTo>
                  <a:cubicBezTo>
                    <a:pt x="128" y="212"/>
                    <a:pt x="128" y="212"/>
                    <a:pt x="128" y="212"/>
                  </a:cubicBezTo>
                  <a:cubicBezTo>
                    <a:pt x="116" y="212"/>
                    <a:pt x="116" y="212"/>
                    <a:pt x="116" y="212"/>
                  </a:cubicBezTo>
                  <a:cubicBezTo>
                    <a:pt x="139" y="173"/>
                    <a:pt x="139" y="173"/>
                    <a:pt x="139" y="173"/>
                  </a:cubicBezTo>
                  <a:cubicBezTo>
                    <a:pt x="165" y="213"/>
                    <a:pt x="165" y="213"/>
                    <a:pt x="165" y="213"/>
                  </a:cubicBezTo>
                  <a:cubicBezTo>
                    <a:pt x="153" y="213"/>
                    <a:pt x="153" y="213"/>
                    <a:pt x="153" y="213"/>
                  </a:cubicBezTo>
                  <a:lnTo>
                    <a:pt x="153" y="244"/>
                  </a:lnTo>
                  <a:close/>
                  <a:moveTo>
                    <a:pt x="139" y="102"/>
                  </a:moveTo>
                  <a:cubicBezTo>
                    <a:pt x="116" y="63"/>
                    <a:pt x="116" y="63"/>
                    <a:pt x="116" y="63"/>
                  </a:cubicBezTo>
                  <a:cubicBezTo>
                    <a:pt x="128" y="63"/>
                    <a:pt x="128" y="63"/>
                    <a:pt x="128" y="63"/>
                  </a:cubicBezTo>
                  <a:cubicBezTo>
                    <a:pt x="128" y="31"/>
                    <a:pt x="128" y="31"/>
                    <a:pt x="128" y="31"/>
                  </a:cubicBezTo>
                  <a:cubicBezTo>
                    <a:pt x="153" y="32"/>
                    <a:pt x="153" y="32"/>
                    <a:pt x="153" y="32"/>
                  </a:cubicBezTo>
                  <a:cubicBezTo>
                    <a:pt x="153" y="63"/>
                    <a:pt x="153" y="63"/>
                    <a:pt x="153" y="63"/>
                  </a:cubicBezTo>
                  <a:cubicBezTo>
                    <a:pt x="165" y="63"/>
                    <a:pt x="165" y="63"/>
                    <a:pt x="165" y="63"/>
                  </a:cubicBezTo>
                  <a:lnTo>
                    <a:pt x="139" y="102"/>
                  </a:lnTo>
                  <a:close/>
                  <a:moveTo>
                    <a:pt x="208" y="163"/>
                  </a:moveTo>
                  <a:cubicBezTo>
                    <a:pt x="208" y="152"/>
                    <a:pt x="208" y="152"/>
                    <a:pt x="208" y="152"/>
                  </a:cubicBezTo>
                  <a:cubicBezTo>
                    <a:pt x="177" y="152"/>
                    <a:pt x="177" y="152"/>
                    <a:pt x="177" y="152"/>
                  </a:cubicBezTo>
                  <a:cubicBezTo>
                    <a:pt x="177" y="126"/>
                    <a:pt x="177" y="126"/>
                    <a:pt x="177" y="126"/>
                  </a:cubicBezTo>
                  <a:cubicBezTo>
                    <a:pt x="208" y="126"/>
                    <a:pt x="208" y="126"/>
                    <a:pt x="208" y="126"/>
                  </a:cubicBezTo>
                  <a:cubicBezTo>
                    <a:pt x="208" y="114"/>
                    <a:pt x="208" y="114"/>
                    <a:pt x="208" y="114"/>
                  </a:cubicBezTo>
                  <a:cubicBezTo>
                    <a:pt x="248" y="140"/>
                    <a:pt x="248" y="140"/>
                    <a:pt x="248" y="140"/>
                  </a:cubicBezTo>
                  <a:lnTo>
                    <a:pt x="208" y="163"/>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3840" tIns="121920" rIns="243840" bIns="121920" numCol="1" spcCol="0" rtlCol="0" fromWordArt="0" anchor="ctr" anchorCtr="0" forceAA="0" compatLnSpc="1">
              <a:prstTxWarp prst="textNoShape">
                <a:avLst/>
              </a:prstTxWarp>
              <a:noAutofit/>
            </a:bodyPr>
            <a:lstStyle/>
            <a:p>
              <a:pPr algn="ctr" defTabSz="1219088"/>
              <a:endParaRPr lang="zh-CN" altLang="en-US" sz="1600" noProof="1">
                <a:solidFill>
                  <a:schemeClr val="tx1"/>
                </a:solidFill>
                <a:cs typeface="+mn-ea"/>
                <a:sym typeface="+mn-lt"/>
              </a:endParaRPr>
            </a:p>
          </p:txBody>
        </p:sp>
      </p:grpSp>
      <p:grpSp>
        <p:nvGrpSpPr>
          <p:cNvPr id="240" name="组合 167">
            <a:extLst>
              <a:ext uri="{FF2B5EF4-FFF2-40B4-BE49-F238E27FC236}">
                <a16:creationId xmlns:a16="http://schemas.microsoft.com/office/drawing/2014/main" id="{ABFDB194-C388-4E2A-99F6-0FA9C9B37023}"/>
              </a:ext>
            </a:extLst>
          </p:cNvPr>
          <p:cNvGrpSpPr/>
          <p:nvPr/>
        </p:nvGrpSpPr>
        <p:grpSpPr bwMode="gray">
          <a:xfrm flipH="1">
            <a:off x="9451415" y="5480705"/>
            <a:ext cx="273539" cy="263444"/>
            <a:chOff x="3833193" y="3926598"/>
            <a:chExt cx="611915" cy="593154"/>
          </a:xfrm>
        </p:grpSpPr>
        <p:sp>
          <p:nvSpPr>
            <p:cNvPr id="241" name="椭圆 240">
              <a:extLst>
                <a:ext uri="{FF2B5EF4-FFF2-40B4-BE49-F238E27FC236}">
                  <a16:creationId xmlns:a16="http://schemas.microsoft.com/office/drawing/2014/main" id="{9246E52D-6771-4195-B51A-38787F6CF1E1}"/>
                </a:ext>
              </a:extLst>
            </p:cNvPr>
            <p:cNvSpPr/>
            <p:nvPr/>
          </p:nvSpPr>
          <p:spPr bwMode="gray">
            <a:xfrm>
              <a:off x="3833193" y="3926598"/>
              <a:ext cx="593154" cy="593154"/>
            </a:xfrm>
            <a:prstGeom prst="ellipse">
              <a:avLst/>
            </a:prstGeom>
            <a:solidFill>
              <a:schemeClr val="bg1"/>
            </a:solidFill>
            <a:ln>
              <a:noFill/>
            </a:ln>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buClr>
                  <a:srgbClr val="CC9900"/>
                </a:buClr>
              </a:pPr>
              <a:endParaRPr lang="zh-CN" altLang="en-US" sz="1600" dirty="0">
                <a:cs typeface="+mn-ea"/>
                <a:sym typeface="+mn-lt"/>
              </a:endParaRPr>
            </a:p>
          </p:txBody>
        </p:sp>
        <p:sp>
          <p:nvSpPr>
            <p:cNvPr id="242" name="Freeform 26">
              <a:extLst>
                <a:ext uri="{FF2B5EF4-FFF2-40B4-BE49-F238E27FC236}">
                  <a16:creationId xmlns:a16="http://schemas.microsoft.com/office/drawing/2014/main" id="{8979F11C-B55D-4AE3-982C-6395529B2538}"/>
                </a:ext>
              </a:extLst>
            </p:cNvPr>
            <p:cNvSpPr>
              <a:spLocks noEditPoints="1"/>
            </p:cNvSpPr>
            <p:nvPr/>
          </p:nvSpPr>
          <p:spPr bwMode="gray">
            <a:xfrm>
              <a:off x="3924864" y="3975079"/>
              <a:ext cx="520244" cy="496184"/>
            </a:xfrm>
            <a:custGeom>
              <a:avLst/>
              <a:gdLst/>
              <a:ahLst/>
              <a:cxnLst>
                <a:cxn ang="0">
                  <a:pos x="140" y="0"/>
                </a:cxn>
                <a:cxn ang="0">
                  <a:pos x="0" y="140"/>
                </a:cxn>
                <a:cxn ang="0">
                  <a:pos x="140" y="280"/>
                </a:cxn>
                <a:cxn ang="0">
                  <a:pos x="280" y="140"/>
                </a:cxn>
                <a:cxn ang="0">
                  <a:pos x="140" y="0"/>
                </a:cxn>
                <a:cxn ang="0">
                  <a:pos x="71" y="152"/>
                </a:cxn>
                <a:cxn ang="0">
                  <a:pos x="71" y="163"/>
                </a:cxn>
                <a:cxn ang="0">
                  <a:pos x="31" y="140"/>
                </a:cxn>
                <a:cxn ang="0">
                  <a:pos x="71" y="114"/>
                </a:cxn>
                <a:cxn ang="0">
                  <a:pos x="71" y="126"/>
                </a:cxn>
                <a:cxn ang="0">
                  <a:pos x="102" y="126"/>
                </a:cxn>
                <a:cxn ang="0">
                  <a:pos x="102" y="152"/>
                </a:cxn>
                <a:cxn ang="0">
                  <a:pos x="71" y="152"/>
                </a:cxn>
                <a:cxn ang="0">
                  <a:pos x="153" y="244"/>
                </a:cxn>
                <a:cxn ang="0">
                  <a:pos x="128" y="244"/>
                </a:cxn>
                <a:cxn ang="0">
                  <a:pos x="128" y="212"/>
                </a:cxn>
                <a:cxn ang="0">
                  <a:pos x="116" y="212"/>
                </a:cxn>
                <a:cxn ang="0">
                  <a:pos x="139" y="173"/>
                </a:cxn>
                <a:cxn ang="0">
                  <a:pos x="165" y="213"/>
                </a:cxn>
                <a:cxn ang="0">
                  <a:pos x="153" y="213"/>
                </a:cxn>
                <a:cxn ang="0">
                  <a:pos x="153" y="244"/>
                </a:cxn>
                <a:cxn ang="0">
                  <a:pos x="139" y="102"/>
                </a:cxn>
                <a:cxn ang="0">
                  <a:pos x="116" y="63"/>
                </a:cxn>
                <a:cxn ang="0">
                  <a:pos x="128" y="63"/>
                </a:cxn>
                <a:cxn ang="0">
                  <a:pos x="128" y="31"/>
                </a:cxn>
                <a:cxn ang="0">
                  <a:pos x="153" y="32"/>
                </a:cxn>
                <a:cxn ang="0">
                  <a:pos x="153" y="63"/>
                </a:cxn>
                <a:cxn ang="0">
                  <a:pos x="165" y="63"/>
                </a:cxn>
                <a:cxn ang="0">
                  <a:pos x="139" y="102"/>
                </a:cxn>
                <a:cxn ang="0">
                  <a:pos x="208" y="163"/>
                </a:cxn>
                <a:cxn ang="0">
                  <a:pos x="208" y="152"/>
                </a:cxn>
                <a:cxn ang="0">
                  <a:pos x="177" y="152"/>
                </a:cxn>
                <a:cxn ang="0">
                  <a:pos x="177" y="126"/>
                </a:cxn>
                <a:cxn ang="0">
                  <a:pos x="208" y="126"/>
                </a:cxn>
                <a:cxn ang="0">
                  <a:pos x="208" y="114"/>
                </a:cxn>
                <a:cxn ang="0">
                  <a:pos x="248" y="140"/>
                </a:cxn>
                <a:cxn ang="0">
                  <a:pos x="208" y="163"/>
                </a:cxn>
              </a:cxnLst>
              <a:rect l="0" t="0" r="r" b="b"/>
              <a:pathLst>
                <a:path w="280" h="280">
                  <a:moveTo>
                    <a:pt x="140" y="0"/>
                  </a:moveTo>
                  <a:cubicBezTo>
                    <a:pt x="63" y="0"/>
                    <a:pt x="0" y="63"/>
                    <a:pt x="0" y="140"/>
                  </a:cubicBezTo>
                  <a:cubicBezTo>
                    <a:pt x="0" y="217"/>
                    <a:pt x="63" y="280"/>
                    <a:pt x="140" y="280"/>
                  </a:cubicBezTo>
                  <a:cubicBezTo>
                    <a:pt x="217" y="280"/>
                    <a:pt x="280" y="217"/>
                    <a:pt x="280" y="140"/>
                  </a:cubicBezTo>
                  <a:cubicBezTo>
                    <a:pt x="280" y="63"/>
                    <a:pt x="217" y="0"/>
                    <a:pt x="140" y="0"/>
                  </a:cubicBezTo>
                  <a:close/>
                  <a:moveTo>
                    <a:pt x="71" y="152"/>
                  </a:moveTo>
                  <a:cubicBezTo>
                    <a:pt x="71" y="163"/>
                    <a:pt x="71" y="163"/>
                    <a:pt x="71" y="163"/>
                  </a:cubicBezTo>
                  <a:cubicBezTo>
                    <a:pt x="31" y="140"/>
                    <a:pt x="31" y="140"/>
                    <a:pt x="31" y="140"/>
                  </a:cubicBezTo>
                  <a:cubicBezTo>
                    <a:pt x="71" y="114"/>
                    <a:pt x="71" y="114"/>
                    <a:pt x="71" y="114"/>
                  </a:cubicBezTo>
                  <a:cubicBezTo>
                    <a:pt x="71" y="126"/>
                    <a:pt x="71" y="126"/>
                    <a:pt x="71" y="126"/>
                  </a:cubicBezTo>
                  <a:cubicBezTo>
                    <a:pt x="102" y="126"/>
                    <a:pt x="102" y="126"/>
                    <a:pt x="102" y="126"/>
                  </a:cubicBezTo>
                  <a:cubicBezTo>
                    <a:pt x="102" y="152"/>
                    <a:pt x="102" y="152"/>
                    <a:pt x="102" y="152"/>
                  </a:cubicBezTo>
                  <a:lnTo>
                    <a:pt x="71" y="152"/>
                  </a:lnTo>
                  <a:close/>
                  <a:moveTo>
                    <a:pt x="153" y="244"/>
                  </a:moveTo>
                  <a:cubicBezTo>
                    <a:pt x="128" y="244"/>
                    <a:pt x="128" y="244"/>
                    <a:pt x="128" y="244"/>
                  </a:cubicBezTo>
                  <a:cubicBezTo>
                    <a:pt x="128" y="212"/>
                    <a:pt x="128" y="212"/>
                    <a:pt x="128" y="212"/>
                  </a:cubicBezTo>
                  <a:cubicBezTo>
                    <a:pt x="116" y="212"/>
                    <a:pt x="116" y="212"/>
                    <a:pt x="116" y="212"/>
                  </a:cubicBezTo>
                  <a:cubicBezTo>
                    <a:pt x="139" y="173"/>
                    <a:pt x="139" y="173"/>
                    <a:pt x="139" y="173"/>
                  </a:cubicBezTo>
                  <a:cubicBezTo>
                    <a:pt x="165" y="213"/>
                    <a:pt x="165" y="213"/>
                    <a:pt x="165" y="213"/>
                  </a:cubicBezTo>
                  <a:cubicBezTo>
                    <a:pt x="153" y="213"/>
                    <a:pt x="153" y="213"/>
                    <a:pt x="153" y="213"/>
                  </a:cubicBezTo>
                  <a:lnTo>
                    <a:pt x="153" y="244"/>
                  </a:lnTo>
                  <a:close/>
                  <a:moveTo>
                    <a:pt x="139" y="102"/>
                  </a:moveTo>
                  <a:cubicBezTo>
                    <a:pt x="116" y="63"/>
                    <a:pt x="116" y="63"/>
                    <a:pt x="116" y="63"/>
                  </a:cubicBezTo>
                  <a:cubicBezTo>
                    <a:pt x="128" y="63"/>
                    <a:pt x="128" y="63"/>
                    <a:pt x="128" y="63"/>
                  </a:cubicBezTo>
                  <a:cubicBezTo>
                    <a:pt x="128" y="31"/>
                    <a:pt x="128" y="31"/>
                    <a:pt x="128" y="31"/>
                  </a:cubicBezTo>
                  <a:cubicBezTo>
                    <a:pt x="153" y="32"/>
                    <a:pt x="153" y="32"/>
                    <a:pt x="153" y="32"/>
                  </a:cubicBezTo>
                  <a:cubicBezTo>
                    <a:pt x="153" y="63"/>
                    <a:pt x="153" y="63"/>
                    <a:pt x="153" y="63"/>
                  </a:cubicBezTo>
                  <a:cubicBezTo>
                    <a:pt x="165" y="63"/>
                    <a:pt x="165" y="63"/>
                    <a:pt x="165" y="63"/>
                  </a:cubicBezTo>
                  <a:lnTo>
                    <a:pt x="139" y="102"/>
                  </a:lnTo>
                  <a:close/>
                  <a:moveTo>
                    <a:pt x="208" y="163"/>
                  </a:moveTo>
                  <a:cubicBezTo>
                    <a:pt x="208" y="152"/>
                    <a:pt x="208" y="152"/>
                    <a:pt x="208" y="152"/>
                  </a:cubicBezTo>
                  <a:cubicBezTo>
                    <a:pt x="177" y="152"/>
                    <a:pt x="177" y="152"/>
                    <a:pt x="177" y="152"/>
                  </a:cubicBezTo>
                  <a:cubicBezTo>
                    <a:pt x="177" y="126"/>
                    <a:pt x="177" y="126"/>
                    <a:pt x="177" y="126"/>
                  </a:cubicBezTo>
                  <a:cubicBezTo>
                    <a:pt x="208" y="126"/>
                    <a:pt x="208" y="126"/>
                    <a:pt x="208" y="126"/>
                  </a:cubicBezTo>
                  <a:cubicBezTo>
                    <a:pt x="208" y="114"/>
                    <a:pt x="208" y="114"/>
                    <a:pt x="208" y="114"/>
                  </a:cubicBezTo>
                  <a:cubicBezTo>
                    <a:pt x="248" y="140"/>
                    <a:pt x="248" y="140"/>
                    <a:pt x="248" y="140"/>
                  </a:cubicBezTo>
                  <a:lnTo>
                    <a:pt x="208" y="163"/>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3840" tIns="121920" rIns="243840" bIns="121920" numCol="1" spcCol="0" rtlCol="0" fromWordArt="0" anchor="ctr" anchorCtr="0" forceAA="0" compatLnSpc="1">
              <a:prstTxWarp prst="textNoShape">
                <a:avLst/>
              </a:prstTxWarp>
              <a:noAutofit/>
            </a:bodyPr>
            <a:lstStyle/>
            <a:p>
              <a:pPr algn="ctr" defTabSz="1219088"/>
              <a:endParaRPr lang="zh-CN" altLang="en-US" sz="1600" noProof="1">
                <a:solidFill>
                  <a:schemeClr val="tx1"/>
                </a:solidFill>
                <a:cs typeface="+mn-ea"/>
                <a:sym typeface="+mn-lt"/>
              </a:endParaRPr>
            </a:p>
          </p:txBody>
        </p:sp>
      </p:grpSp>
      <p:cxnSp>
        <p:nvCxnSpPr>
          <p:cNvPr id="243" name="直接连接符 242">
            <a:extLst>
              <a:ext uri="{FF2B5EF4-FFF2-40B4-BE49-F238E27FC236}">
                <a16:creationId xmlns:a16="http://schemas.microsoft.com/office/drawing/2014/main" id="{E44C690E-03B6-4F7C-9099-AF77D377955A}"/>
              </a:ext>
            </a:extLst>
          </p:cNvPr>
          <p:cNvCxnSpPr/>
          <p:nvPr/>
        </p:nvCxnSpPr>
        <p:spPr bwMode="gray">
          <a:xfrm flipH="1" flipV="1">
            <a:off x="8335136" y="4774417"/>
            <a:ext cx="576202" cy="7005"/>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44" name="直接连接符 243">
            <a:extLst>
              <a:ext uri="{FF2B5EF4-FFF2-40B4-BE49-F238E27FC236}">
                <a16:creationId xmlns:a16="http://schemas.microsoft.com/office/drawing/2014/main" id="{CECC77A7-5DC5-40B3-A954-57A36506D35C}"/>
              </a:ext>
            </a:extLst>
          </p:cNvPr>
          <p:cNvCxnSpPr/>
          <p:nvPr/>
        </p:nvCxnSpPr>
        <p:spPr bwMode="gray">
          <a:xfrm flipH="1" flipV="1">
            <a:off x="8911338" y="4309710"/>
            <a:ext cx="561023" cy="0"/>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45" name="直接连接符 244">
            <a:extLst>
              <a:ext uri="{FF2B5EF4-FFF2-40B4-BE49-F238E27FC236}">
                <a16:creationId xmlns:a16="http://schemas.microsoft.com/office/drawing/2014/main" id="{964C30A4-557C-4DFF-BAAF-B61BB4C1CA65}"/>
              </a:ext>
            </a:extLst>
          </p:cNvPr>
          <p:cNvCxnSpPr/>
          <p:nvPr/>
        </p:nvCxnSpPr>
        <p:spPr bwMode="gray">
          <a:xfrm flipH="1">
            <a:off x="8922358" y="4317737"/>
            <a:ext cx="3109" cy="455825"/>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46" name="直接连接符 245">
            <a:extLst>
              <a:ext uri="{FF2B5EF4-FFF2-40B4-BE49-F238E27FC236}">
                <a16:creationId xmlns:a16="http://schemas.microsoft.com/office/drawing/2014/main" id="{660E07F7-F9B5-428A-B2A0-B25A17504F06}"/>
              </a:ext>
            </a:extLst>
          </p:cNvPr>
          <p:cNvCxnSpPr/>
          <p:nvPr/>
        </p:nvCxnSpPr>
        <p:spPr bwMode="gray">
          <a:xfrm flipH="1" flipV="1">
            <a:off x="8935760" y="5624869"/>
            <a:ext cx="519377" cy="2620"/>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47" name="直接连接符 246">
            <a:extLst>
              <a:ext uri="{FF2B5EF4-FFF2-40B4-BE49-F238E27FC236}">
                <a16:creationId xmlns:a16="http://schemas.microsoft.com/office/drawing/2014/main" id="{96E9064A-E2A8-4A4B-B6BA-46D673A1DFEA}"/>
              </a:ext>
            </a:extLst>
          </p:cNvPr>
          <p:cNvCxnSpPr/>
          <p:nvPr/>
        </p:nvCxnSpPr>
        <p:spPr bwMode="gray">
          <a:xfrm>
            <a:off x="8935760" y="5171265"/>
            <a:ext cx="0" cy="456224"/>
          </a:xfrm>
          <a:prstGeom prst="line">
            <a:avLst/>
          </a:prstGeom>
          <a:ln w="12700">
            <a:solidFill>
              <a:srgbClr val="56C4D2"/>
            </a:solidFill>
          </a:ln>
        </p:spPr>
        <p:style>
          <a:lnRef idx="1">
            <a:schemeClr val="accent1"/>
          </a:lnRef>
          <a:fillRef idx="0">
            <a:schemeClr val="accent1"/>
          </a:fillRef>
          <a:effectRef idx="0">
            <a:schemeClr val="accent1"/>
          </a:effectRef>
          <a:fontRef idx="minor">
            <a:schemeClr val="tx1"/>
          </a:fontRef>
        </p:style>
      </p:cxnSp>
      <p:sp>
        <p:nvSpPr>
          <p:cNvPr id="248" name="Freeform 377">
            <a:extLst>
              <a:ext uri="{FF2B5EF4-FFF2-40B4-BE49-F238E27FC236}">
                <a16:creationId xmlns:a16="http://schemas.microsoft.com/office/drawing/2014/main" id="{C7D747D8-C473-4BDC-8839-5DC8CC8F20A7}"/>
              </a:ext>
            </a:extLst>
          </p:cNvPr>
          <p:cNvSpPr>
            <a:spLocks/>
          </p:cNvSpPr>
          <p:nvPr/>
        </p:nvSpPr>
        <p:spPr bwMode="gray">
          <a:xfrm>
            <a:off x="3332307" y="1504303"/>
            <a:ext cx="34584" cy="217745"/>
          </a:xfrm>
          <a:custGeom>
            <a:avLst/>
            <a:gdLst>
              <a:gd name="T0" fmla="*/ 0 w 57"/>
              <a:gd name="T1" fmla="*/ 6 h 393"/>
              <a:gd name="T2" fmla="*/ 0 w 57"/>
              <a:gd name="T3" fmla="*/ 6 h 393"/>
              <a:gd name="T4" fmla="*/ 0 w 57"/>
              <a:gd name="T5" fmla="*/ 3 h 393"/>
              <a:gd name="T6" fmla="*/ 1 w 57"/>
              <a:gd name="T7" fmla="*/ 0 h 393"/>
              <a:gd name="T8" fmla="*/ 2 w 57"/>
              <a:gd name="T9" fmla="*/ 0 h 393"/>
              <a:gd name="T10" fmla="*/ 3 w 57"/>
              <a:gd name="T11" fmla="*/ 2 h 393"/>
              <a:gd name="T12" fmla="*/ 3 w 57"/>
              <a:gd name="T13" fmla="*/ 2 h 393"/>
              <a:gd name="T14" fmla="*/ 53 w 57"/>
              <a:gd name="T15" fmla="*/ 27 h 393"/>
              <a:gd name="T16" fmla="*/ 53 w 57"/>
              <a:gd name="T17" fmla="*/ 27 h 393"/>
              <a:gd name="T18" fmla="*/ 56 w 57"/>
              <a:gd name="T19" fmla="*/ 29 h 393"/>
              <a:gd name="T20" fmla="*/ 56 w 57"/>
              <a:gd name="T21" fmla="*/ 31 h 393"/>
              <a:gd name="T22" fmla="*/ 57 w 57"/>
              <a:gd name="T23" fmla="*/ 33 h 393"/>
              <a:gd name="T24" fmla="*/ 57 w 57"/>
              <a:gd name="T25" fmla="*/ 33 h 393"/>
              <a:gd name="T26" fmla="*/ 56 w 57"/>
              <a:gd name="T27" fmla="*/ 201 h 393"/>
              <a:gd name="T28" fmla="*/ 56 w 57"/>
              <a:gd name="T29" fmla="*/ 201 h 393"/>
              <a:gd name="T30" fmla="*/ 55 w 57"/>
              <a:gd name="T31" fmla="*/ 368 h 393"/>
              <a:gd name="T32" fmla="*/ 55 w 57"/>
              <a:gd name="T33" fmla="*/ 368 h 393"/>
              <a:gd name="T34" fmla="*/ 55 w 57"/>
              <a:gd name="T35" fmla="*/ 372 h 393"/>
              <a:gd name="T36" fmla="*/ 54 w 57"/>
              <a:gd name="T37" fmla="*/ 373 h 393"/>
              <a:gd name="T38" fmla="*/ 51 w 57"/>
              <a:gd name="T39" fmla="*/ 374 h 393"/>
              <a:gd name="T40" fmla="*/ 51 w 57"/>
              <a:gd name="T41" fmla="*/ 374 h 393"/>
              <a:gd name="T42" fmla="*/ 3 w 57"/>
              <a:gd name="T43" fmla="*/ 393 h 393"/>
              <a:gd name="T44" fmla="*/ 3 w 57"/>
              <a:gd name="T45" fmla="*/ 393 h 393"/>
              <a:gd name="T46" fmla="*/ 2 w 57"/>
              <a:gd name="T47" fmla="*/ 393 h 393"/>
              <a:gd name="T48" fmla="*/ 1 w 57"/>
              <a:gd name="T49" fmla="*/ 393 h 393"/>
              <a:gd name="T50" fmla="*/ 0 w 57"/>
              <a:gd name="T51" fmla="*/ 391 h 393"/>
              <a:gd name="T52" fmla="*/ 0 w 57"/>
              <a:gd name="T53" fmla="*/ 387 h 393"/>
              <a:gd name="T54" fmla="*/ 0 w 57"/>
              <a:gd name="T55" fmla="*/ 6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 h="393">
                <a:moveTo>
                  <a:pt x="0" y="6"/>
                </a:moveTo>
                <a:lnTo>
                  <a:pt x="0" y="6"/>
                </a:lnTo>
                <a:lnTo>
                  <a:pt x="0" y="3"/>
                </a:lnTo>
                <a:lnTo>
                  <a:pt x="1" y="0"/>
                </a:lnTo>
                <a:lnTo>
                  <a:pt x="2" y="0"/>
                </a:lnTo>
                <a:lnTo>
                  <a:pt x="3" y="2"/>
                </a:lnTo>
                <a:lnTo>
                  <a:pt x="3" y="2"/>
                </a:lnTo>
                <a:lnTo>
                  <a:pt x="53" y="27"/>
                </a:lnTo>
                <a:lnTo>
                  <a:pt x="53" y="27"/>
                </a:lnTo>
                <a:lnTo>
                  <a:pt x="56" y="29"/>
                </a:lnTo>
                <a:lnTo>
                  <a:pt x="56" y="31"/>
                </a:lnTo>
                <a:lnTo>
                  <a:pt x="57" y="33"/>
                </a:lnTo>
                <a:lnTo>
                  <a:pt x="57" y="33"/>
                </a:lnTo>
                <a:lnTo>
                  <a:pt x="56" y="201"/>
                </a:lnTo>
                <a:lnTo>
                  <a:pt x="56" y="201"/>
                </a:lnTo>
                <a:lnTo>
                  <a:pt x="55" y="368"/>
                </a:lnTo>
                <a:lnTo>
                  <a:pt x="55" y="368"/>
                </a:lnTo>
                <a:lnTo>
                  <a:pt x="55" y="372"/>
                </a:lnTo>
                <a:lnTo>
                  <a:pt x="54" y="373"/>
                </a:lnTo>
                <a:lnTo>
                  <a:pt x="51" y="374"/>
                </a:lnTo>
                <a:lnTo>
                  <a:pt x="51" y="374"/>
                </a:lnTo>
                <a:lnTo>
                  <a:pt x="3" y="393"/>
                </a:lnTo>
                <a:lnTo>
                  <a:pt x="3" y="393"/>
                </a:lnTo>
                <a:lnTo>
                  <a:pt x="2" y="393"/>
                </a:lnTo>
                <a:lnTo>
                  <a:pt x="1" y="393"/>
                </a:lnTo>
                <a:lnTo>
                  <a:pt x="0" y="391"/>
                </a:lnTo>
                <a:lnTo>
                  <a:pt x="0" y="387"/>
                </a:lnTo>
                <a:lnTo>
                  <a:pt x="0" y="6"/>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49" name="Freeform 378">
            <a:extLst>
              <a:ext uri="{FF2B5EF4-FFF2-40B4-BE49-F238E27FC236}">
                <a16:creationId xmlns:a16="http://schemas.microsoft.com/office/drawing/2014/main" id="{2E35192B-45AB-4487-B12A-6CA5E487657A}"/>
              </a:ext>
            </a:extLst>
          </p:cNvPr>
          <p:cNvSpPr>
            <a:spLocks/>
          </p:cNvSpPr>
          <p:nvPr/>
        </p:nvSpPr>
        <p:spPr bwMode="gray">
          <a:xfrm>
            <a:off x="3332307" y="1504303"/>
            <a:ext cx="34584" cy="217745"/>
          </a:xfrm>
          <a:custGeom>
            <a:avLst/>
            <a:gdLst>
              <a:gd name="T0" fmla="*/ 0 w 57"/>
              <a:gd name="T1" fmla="*/ 6 h 393"/>
              <a:gd name="T2" fmla="*/ 0 w 57"/>
              <a:gd name="T3" fmla="*/ 6 h 393"/>
              <a:gd name="T4" fmla="*/ 0 w 57"/>
              <a:gd name="T5" fmla="*/ 3 h 393"/>
              <a:gd name="T6" fmla="*/ 1 w 57"/>
              <a:gd name="T7" fmla="*/ 0 h 393"/>
              <a:gd name="T8" fmla="*/ 2 w 57"/>
              <a:gd name="T9" fmla="*/ 0 h 393"/>
              <a:gd name="T10" fmla="*/ 3 w 57"/>
              <a:gd name="T11" fmla="*/ 2 h 393"/>
              <a:gd name="T12" fmla="*/ 3 w 57"/>
              <a:gd name="T13" fmla="*/ 2 h 393"/>
              <a:gd name="T14" fmla="*/ 53 w 57"/>
              <a:gd name="T15" fmla="*/ 27 h 393"/>
              <a:gd name="T16" fmla="*/ 53 w 57"/>
              <a:gd name="T17" fmla="*/ 27 h 393"/>
              <a:gd name="T18" fmla="*/ 56 w 57"/>
              <a:gd name="T19" fmla="*/ 29 h 393"/>
              <a:gd name="T20" fmla="*/ 56 w 57"/>
              <a:gd name="T21" fmla="*/ 31 h 393"/>
              <a:gd name="T22" fmla="*/ 57 w 57"/>
              <a:gd name="T23" fmla="*/ 33 h 393"/>
              <a:gd name="T24" fmla="*/ 57 w 57"/>
              <a:gd name="T25" fmla="*/ 33 h 393"/>
              <a:gd name="T26" fmla="*/ 56 w 57"/>
              <a:gd name="T27" fmla="*/ 201 h 393"/>
              <a:gd name="T28" fmla="*/ 56 w 57"/>
              <a:gd name="T29" fmla="*/ 201 h 393"/>
              <a:gd name="T30" fmla="*/ 55 w 57"/>
              <a:gd name="T31" fmla="*/ 368 h 393"/>
              <a:gd name="T32" fmla="*/ 55 w 57"/>
              <a:gd name="T33" fmla="*/ 368 h 393"/>
              <a:gd name="T34" fmla="*/ 55 w 57"/>
              <a:gd name="T35" fmla="*/ 372 h 393"/>
              <a:gd name="T36" fmla="*/ 54 w 57"/>
              <a:gd name="T37" fmla="*/ 373 h 393"/>
              <a:gd name="T38" fmla="*/ 51 w 57"/>
              <a:gd name="T39" fmla="*/ 374 h 393"/>
              <a:gd name="T40" fmla="*/ 51 w 57"/>
              <a:gd name="T41" fmla="*/ 374 h 393"/>
              <a:gd name="T42" fmla="*/ 3 w 57"/>
              <a:gd name="T43" fmla="*/ 393 h 393"/>
              <a:gd name="T44" fmla="*/ 3 w 57"/>
              <a:gd name="T45" fmla="*/ 393 h 393"/>
              <a:gd name="T46" fmla="*/ 2 w 57"/>
              <a:gd name="T47" fmla="*/ 393 h 393"/>
              <a:gd name="T48" fmla="*/ 1 w 57"/>
              <a:gd name="T49" fmla="*/ 393 h 393"/>
              <a:gd name="T50" fmla="*/ 0 w 57"/>
              <a:gd name="T51" fmla="*/ 391 h 393"/>
              <a:gd name="T52" fmla="*/ 0 w 57"/>
              <a:gd name="T53" fmla="*/ 387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7" h="393">
                <a:moveTo>
                  <a:pt x="0" y="6"/>
                </a:moveTo>
                <a:lnTo>
                  <a:pt x="0" y="6"/>
                </a:lnTo>
                <a:lnTo>
                  <a:pt x="0" y="3"/>
                </a:lnTo>
                <a:lnTo>
                  <a:pt x="1" y="0"/>
                </a:lnTo>
                <a:lnTo>
                  <a:pt x="2" y="0"/>
                </a:lnTo>
                <a:lnTo>
                  <a:pt x="3" y="2"/>
                </a:lnTo>
                <a:lnTo>
                  <a:pt x="3" y="2"/>
                </a:lnTo>
                <a:lnTo>
                  <a:pt x="53" y="27"/>
                </a:lnTo>
                <a:lnTo>
                  <a:pt x="53" y="27"/>
                </a:lnTo>
                <a:lnTo>
                  <a:pt x="56" y="29"/>
                </a:lnTo>
                <a:lnTo>
                  <a:pt x="56" y="31"/>
                </a:lnTo>
                <a:lnTo>
                  <a:pt x="57" y="33"/>
                </a:lnTo>
                <a:lnTo>
                  <a:pt x="57" y="33"/>
                </a:lnTo>
                <a:lnTo>
                  <a:pt x="56" y="201"/>
                </a:lnTo>
                <a:lnTo>
                  <a:pt x="56" y="201"/>
                </a:lnTo>
                <a:lnTo>
                  <a:pt x="55" y="368"/>
                </a:lnTo>
                <a:lnTo>
                  <a:pt x="55" y="368"/>
                </a:lnTo>
                <a:lnTo>
                  <a:pt x="55" y="372"/>
                </a:lnTo>
                <a:lnTo>
                  <a:pt x="54" y="373"/>
                </a:lnTo>
                <a:lnTo>
                  <a:pt x="51" y="374"/>
                </a:lnTo>
                <a:lnTo>
                  <a:pt x="51" y="374"/>
                </a:lnTo>
                <a:lnTo>
                  <a:pt x="3" y="393"/>
                </a:lnTo>
                <a:lnTo>
                  <a:pt x="3" y="393"/>
                </a:lnTo>
                <a:lnTo>
                  <a:pt x="2" y="393"/>
                </a:lnTo>
                <a:lnTo>
                  <a:pt x="1" y="393"/>
                </a:lnTo>
                <a:lnTo>
                  <a:pt x="0" y="391"/>
                </a:lnTo>
                <a:lnTo>
                  <a:pt x="0" y="387"/>
                </a:lnTo>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0" name="Freeform 379">
            <a:extLst>
              <a:ext uri="{FF2B5EF4-FFF2-40B4-BE49-F238E27FC236}">
                <a16:creationId xmlns:a16="http://schemas.microsoft.com/office/drawing/2014/main" id="{F8F94B51-F0A4-422E-99DD-299F4B5AB736}"/>
              </a:ext>
            </a:extLst>
          </p:cNvPr>
          <p:cNvSpPr>
            <a:spLocks/>
          </p:cNvSpPr>
          <p:nvPr/>
        </p:nvSpPr>
        <p:spPr bwMode="gray">
          <a:xfrm>
            <a:off x="3338375" y="1525356"/>
            <a:ext cx="23056" cy="34352"/>
          </a:xfrm>
          <a:custGeom>
            <a:avLst/>
            <a:gdLst>
              <a:gd name="T0" fmla="*/ 1 w 38"/>
              <a:gd name="T1" fmla="*/ 0 h 62"/>
              <a:gd name="T2" fmla="*/ 1 w 38"/>
              <a:gd name="T3" fmla="*/ 0 h 62"/>
              <a:gd name="T4" fmla="*/ 36 w 38"/>
              <a:gd name="T5" fmla="*/ 15 h 62"/>
              <a:gd name="T6" fmla="*/ 36 w 38"/>
              <a:gd name="T7" fmla="*/ 15 h 62"/>
              <a:gd name="T8" fmla="*/ 37 w 38"/>
              <a:gd name="T9" fmla="*/ 17 h 62"/>
              <a:gd name="T10" fmla="*/ 38 w 38"/>
              <a:gd name="T11" fmla="*/ 21 h 62"/>
              <a:gd name="T12" fmla="*/ 38 w 38"/>
              <a:gd name="T13" fmla="*/ 21 h 62"/>
              <a:gd name="T14" fmla="*/ 38 w 38"/>
              <a:gd name="T15" fmla="*/ 56 h 62"/>
              <a:gd name="T16" fmla="*/ 38 w 38"/>
              <a:gd name="T17" fmla="*/ 56 h 62"/>
              <a:gd name="T18" fmla="*/ 37 w 38"/>
              <a:gd name="T19" fmla="*/ 61 h 62"/>
              <a:gd name="T20" fmla="*/ 36 w 38"/>
              <a:gd name="T21" fmla="*/ 62 h 62"/>
              <a:gd name="T22" fmla="*/ 36 w 38"/>
              <a:gd name="T23" fmla="*/ 62 h 62"/>
              <a:gd name="T24" fmla="*/ 1 w 38"/>
              <a:gd name="T25" fmla="*/ 50 h 62"/>
              <a:gd name="T26" fmla="*/ 1 w 38"/>
              <a:gd name="T27" fmla="*/ 50 h 62"/>
              <a:gd name="T28" fmla="*/ 0 w 38"/>
              <a:gd name="T29" fmla="*/ 48 h 62"/>
              <a:gd name="T30" fmla="*/ 0 w 38"/>
              <a:gd name="T31" fmla="*/ 45 h 62"/>
              <a:gd name="T32" fmla="*/ 0 w 38"/>
              <a:gd name="T33" fmla="*/ 45 h 62"/>
              <a:gd name="T34" fmla="*/ 0 w 38"/>
              <a:gd name="T35" fmla="*/ 5 h 62"/>
              <a:gd name="T36" fmla="*/ 0 w 38"/>
              <a:gd name="T37" fmla="*/ 5 h 62"/>
              <a:gd name="T38" fmla="*/ 0 w 38"/>
              <a:gd name="T39" fmla="*/ 1 h 62"/>
              <a:gd name="T40" fmla="*/ 1 w 38"/>
              <a:gd name="T41" fmla="*/ 0 h 62"/>
              <a:gd name="T42" fmla="*/ 1 w 38"/>
              <a:gd name="T43" fmla="*/ 0 h 62"/>
              <a:gd name="T44" fmla="*/ 1 w 38"/>
              <a:gd name="T45"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 h="62">
                <a:moveTo>
                  <a:pt x="1" y="0"/>
                </a:moveTo>
                <a:lnTo>
                  <a:pt x="1" y="0"/>
                </a:lnTo>
                <a:lnTo>
                  <a:pt x="36" y="15"/>
                </a:lnTo>
                <a:lnTo>
                  <a:pt x="36" y="15"/>
                </a:lnTo>
                <a:lnTo>
                  <a:pt x="37" y="17"/>
                </a:lnTo>
                <a:lnTo>
                  <a:pt x="38" y="21"/>
                </a:lnTo>
                <a:lnTo>
                  <a:pt x="38" y="21"/>
                </a:lnTo>
                <a:lnTo>
                  <a:pt x="38" y="56"/>
                </a:lnTo>
                <a:lnTo>
                  <a:pt x="38" y="56"/>
                </a:lnTo>
                <a:lnTo>
                  <a:pt x="37" y="61"/>
                </a:lnTo>
                <a:lnTo>
                  <a:pt x="36" y="62"/>
                </a:lnTo>
                <a:lnTo>
                  <a:pt x="36" y="62"/>
                </a:lnTo>
                <a:lnTo>
                  <a:pt x="1" y="50"/>
                </a:lnTo>
                <a:lnTo>
                  <a:pt x="1" y="50"/>
                </a:lnTo>
                <a:lnTo>
                  <a:pt x="0" y="48"/>
                </a:lnTo>
                <a:lnTo>
                  <a:pt x="0" y="45"/>
                </a:lnTo>
                <a:lnTo>
                  <a:pt x="0" y="45"/>
                </a:lnTo>
                <a:lnTo>
                  <a:pt x="0" y="5"/>
                </a:lnTo>
                <a:lnTo>
                  <a:pt x="0" y="5"/>
                </a:lnTo>
                <a:lnTo>
                  <a:pt x="0" y="1"/>
                </a:lnTo>
                <a:lnTo>
                  <a:pt x="1" y="0"/>
                </a:lnTo>
                <a:lnTo>
                  <a:pt x="1" y="0"/>
                </a:lnTo>
                <a:lnTo>
                  <a:pt x="1"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1" name="Freeform 380">
            <a:extLst>
              <a:ext uri="{FF2B5EF4-FFF2-40B4-BE49-F238E27FC236}">
                <a16:creationId xmlns:a16="http://schemas.microsoft.com/office/drawing/2014/main" id="{057A35A8-6624-4CFE-860A-0487518BB2B3}"/>
              </a:ext>
            </a:extLst>
          </p:cNvPr>
          <p:cNvSpPr>
            <a:spLocks/>
          </p:cNvSpPr>
          <p:nvPr/>
        </p:nvSpPr>
        <p:spPr bwMode="gray">
          <a:xfrm>
            <a:off x="3337769" y="1563587"/>
            <a:ext cx="23056" cy="30473"/>
          </a:xfrm>
          <a:custGeom>
            <a:avLst/>
            <a:gdLst>
              <a:gd name="T0" fmla="*/ 2 w 38"/>
              <a:gd name="T1" fmla="*/ 0 h 55"/>
              <a:gd name="T2" fmla="*/ 2 w 38"/>
              <a:gd name="T3" fmla="*/ 0 h 55"/>
              <a:gd name="T4" fmla="*/ 37 w 38"/>
              <a:gd name="T5" fmla="*/ 9 h 55"/>
              <a:gd name="T6" fmla="*/ 37 w 38"/>
              <a:gd name="T7" fmla="*/ 9 h 55"/>
              <a:gd name="T8" fmla="*/ 38 w 38"/>
              <a:gd name="T9" fmla="*/ 10 h 55"/>
              <a:gd name="T10" fmla="*/ 38 w 38"/>
              <a:gd name="T11" fmla="*/ 15 h 55"/>
              <a:gd name="T12" fmla="*/ 38 w 38"/>
              <a:gd name="T13" fmla="*/ 15 h 55"/>
              <a:gd name="T14" fmla="*/ 38 w 38"/>
              <a:gd name="T15" fmla="*/ 50 h 55"/>
              <a:gd name="T16" fmla="*/ 38 w 38"/>
              <a:gd name="T17" fmla="*/ 50 h 55"/>
              <a:gd name="T18" fmla="*/ 38 w 38"/>
              <a:gd name="T19" fmla="*/ 54 h 55"/>
              <a:gd name="T20" fmla="*/ 37 w 38"/>
              <a:gd name="T21" fmla="*/ 55 h 55"/>
              <a:gd name="T22" fmla="*/ 37 w 38"/>
              <a:gd name="T23" fmla="*/ 55 h 55"/>
              <a:gd name="T24" fmla="*/ 2 w 38"/>
              <a:gd name="T25" fmla="*/ 50 h 55"/>
              <a:gd name="T26" fmla="*/ 2 w 38"/>
              <a:gd name="T27" fmla="*/ 50 h 55"/>
              <a:gd name="T28" fmla="*/ 1 w 38"/>
              <a:gd name="T29" fmla="*/ 48 h 55"/>
              <a:gd name="T30" fmla="*/ 0 w 38"/>
              <a:gd name="T31" fmla="*/ 44 h 55"/>
              <a:gd name="T32" fmla="*/ 0 w 38"/>
              <a:gd name="T33" fmla="*/ 44 h 55"/>
              <a:gd name="T34" fmla="*/ 0 w 38"/>
              <a:gd name="T35" fmla="*/ 4 h 55"/>
              <a:gd name="T36" fmla="*/ 0 w 38"/>
              <a:gd name="T37" fmla="*/ 4 h 55"/>
              <a:gd name="T38" fmla="*/ 1 w 38"/>
              <a:gd name="T39" fmla="*/ 1 h 55"/>
              <a:gd name="T40" fmla="*/ 2 w 38"/>
              <a:gd name="T41" fmla="*/ 0 h 55"/>
              <a:gd name="T42" fmla="*/ 2 w 38"/>
              <a:gd name="T43"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55">
                <a:moveTo>
                  <a:pt x="2" y="0"/>
                </a:moveTo>
                <a:lnTo>
                  <a:pt x="2" y="0"/>
                </a:lnTo>
                <a:lnTo>
                  <a:pt x="37" y="9"/>
                </a:lnTo>
                <a:lnTo>
                  <a:pt x="37" y="9"/>
                </a:lnTo>
                <a:lnTo>
                  <a:pt x="38" y="10"/>
                </a:lnTo>
                <a:lnTo>
                  <a:pt x="38" y="15"/>
                </a:lnTo>
                <a:lnTo>
                  <a:pt x="38" y="15"/>
                </a:lnTo>
                <a:lnTo>
                  <a:pt x="38" y="50"/>
                </a:lnTo>
                <a:lnTo>
                  <a:pt x="38" y="50"/>
                </a:lnTo>
                <a:lnTo>
                  <a:pt x="38" y="54"/>
                </a:lnTo>
                <a:lnTo>
                  <a:pt x="37" y="55"/>
                </a:lnTo>
                <a:lnTo>
                  <a:pt x="37" y="55"/>
                </a:lnTo>
                <a:lnTo>
                  <a:pt x="2" y="50"/>
                </a:lnTo>
                <a:lnTo>
                  <a:pt x="2" y="50"/>
                </a:lnTo>
                <a:lnTo>
                  <a:pt x="1" y="48"/>
                </a:lnTo>
                <a:lnTo>
                  <a:pt x="0" y="44"/>
                </a:lnTo>
                <a:lnTo>
                  <a:pt x="0" y="44"/>
                </a:lnTo>
                <a:lnTo>
                  <a:pt x="0" y="4"/>
                </a:lnTo>
                <a:lnTo>
                  <a:pt x="0" y="4"/>
                </a:lnTo>
                <a:lnTo>
                  <a:pt x="1" y="1"/>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2" name="Freeform 381">
            <a:extLst>
              <a:ext uri="{FF2B5EF4-FFF2-40B4-BE49-F238E27FC236}">
                <a16:creationId xmlns:a16="http://schemas.microsoft.com/office/drawing/2014/main" id="{2C7A329B-27B7-43E4-8805-D81843C8D28D}"/>
              </a:ext>
            </a:extLst>
          </p:cNvPr>
          <p:cNvSpPr>
            <a:spLocks/>
          </p:cNvSpPr>
          <p:nvPr/>
        </p:nvSpPr>
        <p:spPr bwMode="gray">
          <a:xfrm>
            <a:off x="3337769" y="1601262"/>
            <a:ext cx="23056" cy="27703"/>
          </a:xfrm>
          <a:custGeom>
            <a:avLst/>
            <a:gdLst>
              <a:gd name="T0" fmla="*/ 1 w 38"/>
              <a:gd name="T1" fmla="*/ 0 h 50"/>
              <a:gd name="T2" fmla="*/ 1 w 38"/>
              <a:gd name="T3" fmla="*/ 0 h 50"/>
              <a:gd name="T4" fmla="*/ 37 w 38"/>
              <a:gd name="T5" fmla="*/ 4 h 50"/>
              <a:gd name="T6" fmla="*/ 37 w 38"/>
              <a:gd name="T7" fmla="*/ 4 h 50"/>
              <a:gd name="T8" fmla="*/ 38 w 38"/>
              <a:gd name="T9" fmla="*/ 5 h 50"/>
              <a:gd name="T10" fmla="*/ 38 w 38"/>
              <a:gd name="T11" fmla="*/ 9 h 50"/>
              <a:gd name="T12" fmla="*/ 38 w 38"/>
              <a:gd name="T13" fmla="*/ 9 h 50"/>
              <a:gd name="T14" fmla="*/ 38 w 38"/>
              <a:gd name="T15" fmla="*/ 45 h 50"/>
              <a:gd name="T16" fmla="*/ 38 w 38"/>
              <a:gd name="T17" fmla="*/ 45 h 50"/>
              <a:gd name="T18" fmla="*/ 37 w 38"/>
              <a:gd name="T19" fmla="*/ 49 h 50"/>
              <a:gd name="T20" fmla="*/ 36 w 38"/>
              <a:gd name="T21" fmla="*/ 50 h 50"/>
              <a:gd name="T22" fmla="*/ 36 w 38"/>
              <a:gd name="T23" fmla="*/ 50 h 50"/>
              <a:gd name="T24" fmla="*/ 1 w 38"/>
              <a:gd name="T25" fmla="*/ 50 h 50"/>
              <a:gd name="T26" fmla="*/ 1 w 38"/>
              <a:gd name="T27" fmla="*/ 50 h 50"/>
              <a:gd name="T28" fmla="*/ 0 w 38"/>
              <a:gd name="T29" fmla="*/ 49 h 50"/>
              <a:gd name="T30" fmla="*/ 0 w 38"/>
              <a:gd name="T31" fmla="*/ 45 h 50"/>
              <a:gd name="T32" fmla="*/ 0 w 38"/>
              <a:gd name="T33" fmla="*/ 45 h 50"/>
              <a:gd name="T34" fmla="*/ 0 w 38"/>
              <a:gd name="T35" fmla="*/ 5 h 50"/>
              <a:gd name="T36" fmla="*/ 0 w 38"/>
              <a:gd name="T37" fmla="*/ 5 h 50"/>
              <a:gd name="T38" fmla="*/ 0 w 38"/>
              <a:gd name="T39" fmla="*/ 1 h 50"/>
              <a:gd name="T40" fmla="*/ 1 w 38"/>
              <a:gd name="T41" fmla="*/ 0 h 50"/>
              <a:gd name="T42" fmla="*/ 1 w 38"/>
              <a:gd name="T43"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50">
                <a:moveTo>
                  <a:pt x="1" y="0"/>
                </a:moveTo>
                <a:lnTo>
                  <a:pt x="1" y="0"/>
                </a:lnTo>
                <a:lnTo>
                  <a:pt x="37" y="4"/>
                </a:lnTo>
                <a:lnTo>
                  <a:pt x="37" y="4"/>
                </a:lnTo>
                <a:lnTo>
                  <a:pt x="38" y="5"/>
                </a:lnTo>
                <a:lnTo>
                  <a:pt x="38" y="9"/>
                </a:lnTo>
                <a:lnTo>
                  <a:pt x="38" y="9"/>
                </a:lnTo>
                <a:lnTo>
                  <a:pt x="38" y="45"/>
                </a:lnTo>
                <a:lnTo>
                  <a:pt x="38" y="45"/>
                </a:lnTo>
                <a:lnTo>
                  <a:pt x="37" y="49"/>
                </a:lnTo>
                <a:lnTo>
                  <a:pt x="36" y="50"/>
                </a:lnTo>
                <a:lnTo>
                  <a:pt x="36" y="50"/>
                </a:lnTo>
                <a:lnTo>
                  <a:pt x="1" y="50"/>
                </a:lnTo>
                <a:lnTo>
                  <a:pt x="1" y="50"/>
                </a:lnTo>
                <a:lnTo>
                  <a:pt x="0" y="49"/>
                </a:lnTo>
                <a:lnTo>
                  <a:pt x="0" y="45"/>
                </a:lnTo>
                <a:lnTo>
                  <a:pt x="0" y="45"/>
                </a:lnTo>
                <a:lnTo>
                  <a:pt x="0" y="5"/>
                </a:lnTo>
                <a:lnTo>
                  <a:pt x="0" y="5"/>
                </a:lnTo>
                <a:lnTo>
                  <a:pt x="0" y="1"/>
                </a:lnTo>
                <a:lnTo>
                  <a:pt x="1" y="0"/>
                </a:lnTo>
                <a:lnTo>
                  <a:pt x="1"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3" name="Freeform 382">
            <a:extLst>
              <a:ext uri="{FF2B5EF4-FFF2-40B4-BE49-F238E27FC236}">
                <a16:creationId xmlns:a16="http://schemas.microsoft.com/office/drawing/2014/main" id="{C0E5ABBD-F145-4C58-A1D2-FB4B79F00006}"/>
              </a:ext>
            </a:extLst>
          </p:cNvPr>
          <p:cNvSpPr>
            <a:spLocks/>
          </p:cNvSpPr>
          <p:nvPr/>
        </p:nvSpPr>
        <p:spPr bwMode="gray">
          <a:xfrm>
            <a:off x="3337162" y="1638385"/>
            <a:ext cx="23663" cy="28811"/>
          </a:xfrm>
          <a:custGeom>
            <a:avLst/>
            <a:gdLst>
              <a:gd name="T0" fmla="*/ 2 w 39"/>
              <a:gd name="T1" fmla="*/ 1 h 52"/>
              <a:gd name="T2" fmla="*/ 2 w 39"/>
              <a:gd name="T3" fmla="*/ 1 h 52"/>
              <a:gd name="T4" fmla="*/ 37 w 39"/>
              <a:gd name="T5" fmla="*/ 0 h 52"/>
              <a:gd name="T6" fmla="*/ 37 w 39"/>
              <a:gd name="T7" fmla="*/ 0 h 52"/>
              <a:gd name="T8" fmla="*/ 38 w 39"/>
              <a:gd name="T9" fmla="*/ 1 h 52"/>
              <a:gd name="T10" fmla="*/ 39 w 39"/>
              <a:gd name="T11" fmla="*/ 5 h 52"/>
              <a:gd name="T12" fmla="*/ 39 w 39"/>
              <a:gd name="T13" fmla="*/ 5 h 52"/>
              <a:gd name="T14" fmla="*/ 39 w 39"/>
              <a:gd name="T15" fmla="*/ 41 h 52"/>
              <a:gd name="T16" fmla="*/ 39 w 39"/>
              <a:gd name="T17" fmla="*/ 41 h 52"/>
              <a:gd name="T18" fmla="*/ 38 w 39"/>
              <a:gd name="T19" fmla="*/ 45 h 52"/>
              <a:gd name="T20" fmla="*/ 37 w 39"/>
              <a:gd name="T21" fmla="*/ 46 h 52"/>
              <a:gd name="T22" fmla="*/ 37 w 39"/>
              <a:gd name="T23" fmla="*/ 46 h 52"/>
              <a:gd name="T24" fmla="*/ 2 w 39"/>
              <a:gd name="T25" fmla="*/ 52 h 52"/>
              <a:gd name="T26" fmla="*/ 2 w 39"/>
              <a:gd name="T27" fmla="*/ 52 h 52"/>
              <a:gd name="T28" fmla="*/ 1 w 39"/>
              <a:gd name="T29" fmla="*/ 50 h 52"/>
              <a:gd name="T30" fmla="*/ 0 w 39"/>
              <a:gd name="T31" fmla="*/ 47 h 52"/>
              <a:gd name="T32" fmla="*/ 0 w 39"/>
              <a:gd name="T33" fmla="*/ 47 h 52"/>
              <a:gd name="T34" fmla="*/ 0 w 39"/>
              <a:gd name="T35" fmla="*/ 7 h 52"/>
              <a:gd name="T36" fmla="*/ 0 w 39"/>
              <a:gd name="T37" fmla="*/ 7 h 52"/>
              <a:gd name="T38" fmla="*/ 1 w 39"/>
              <a:gd name="T39" fmla="*/ 3 h 52"/>
              <a:gd name="T40" fmla="*/ 2 w 39"/>
              <a:gd name="T41" fmla="*/ 1 h 52"/>
              <a:gd name="T42" fmla="*/ 2 w 39"/>
              <a:gd name="T43" fmla="*/ 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2">
                <a:moveTo>
                  <a:pt x="2" y="1"/>
                </a:moveTo>
                <a:lnTo>
                  <a:pt x="2" y="1"/>
                </a:lnTo>
                <a:lnTo>
                  <a:pt x="37" y="0"/>
                </a:lnTo>
                <a:lnTo>
                  <a:pt x="37" y="0"/>
                </a:lnTo>
                <a:lnTo>
                  <a:pt x="38" y="1"/>
                </a:lnTo>
                <a:lnTo>
                  <a:pt x="39" y="5"/>
                </a:lnTo>
                <a:lnTo>
                  <a:pt x="39" y="5"/>
                </a:lnTo>
                <a:lnTo>
                  <a:pt x="39" y="41"/>
                </a:lnTo>
                <a:lnTo>
                  <a:pt x="39" y="41"/>
                </a:lnTo>
                <a:lnTo>
                  <a:pt x="38" y="45"/>
                </a:lnTo>
                <a:lnTo>
                  <a:pt x="37" y="46"/>
                </a:lnTo>
                <a:lnTo>
                  <a:pt x="37" y="46"/>
                </a:lnTo>
                <a:lnTo>
                  <a:pt x="2" y="52"/>
                </a:lnTo>
                <a:lnTo>
                  <a:pt x="2" y="52"/>
                </a:lnTo>
                <a:lnTo>
                  <a:pt x="1" y="50"/>
                </a:lnTo>
                <a:lnTo>
                  <a:pt x="0" y="47"/>
                </a:lnTo>
                <a:lnTo>
                  <a:pt x="0" y="47"/>
                </a:lnTo>
                <a:lnTo>
                  <a:pt x="0" y="7"/>
                </a:lnTo>
                <a:lnTo>
                  <a:pt x="0" y="7"/>
                </a:lnTo>
                <a:lnTo>
                  <a:pt x="1" y="3"/>
                </a:lnTo>
                <a:lnTo>
                  <a:pt x="2" y="1"/>
                </a:lnTo>
                <a:lnTo>
                  <a:pt x="2" y="1"/>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4" name="Freeform 383">
            <a:extLst>
              <a:ext uri="{FF2B5EF4-FFF2-40B4-BE49-F238E27FC236}">
                <a16:creationId xmlns:a16="http://schemas.microsoft.com/office/drawing/2014/main" id="{1B794452-1A8C-4721-BBA3-239A6A30351E}"/>
              </a:ext>
            </a:extLst>
          </p:cNvPr>
          <p:cNvSpPr>
            <a:spLocks/>
          </p:cNvSpPr>
          <p:nvPr/>
        </p:nvSpPr>
        <p:spPr bwMode="gray">
          <a:xfrm>
            <a:off x="3337162" y="1677722"/>
            <a:ext cx="23056" cy="12189"/>
          </a:xfrm>
          <a:custGeom>
            <a:avLst/>
            <a:gdLst>
              <a:gd name="T0" fmla="*/ 2 w 38"/>
              <a:gd name="T1" fmla="*/ 7 h 22"/>
              <a:gd name="T2" fmla="*/ 2 w 38"/>
              <a:gd name="T3" fmla="*/ 7 h 22"/>
              <a:gd name="T4" fmla="*/ 37 w 38"/>
              <a:gd name="T5" fmla="*/ 0 h 22"/>
              <a:gd name="T6" fmla="*/ 37 w 38"/>
              <a:gd name="T7" fmla="*/ 0 h 22"/>
              <a:gd name="T8" fmla="*/ 38 w 38"/>
              <a:gd name="T9" fmla="*/ 1 h 22"/>
              <a:gd name="T10" fmla="*/ 38 w 38"/>
              <a:gd name="T11" fmla="*/ 4 h 22"/>
              <a:gd name="T12" fmla="*/ 38 w 38"/>
              <a:gd name="T13" fmla="*/ 4 h 22"/>
              <a:gd name="T14" fmla="*/ 38 w 38"/>
              <a:gd name="T15" fmla="*/ 8 h 22"/>
              <a:gd name="T16" fmla="*/ 38 w 38"/>
              <a:gd name="T17" fmla="*/ 8 h 22"/>
              <a:gd name="T18" fmla="*/ 38 w 38"/>
              <a:gd name="T19" fmla="*/ 11 h 22"/>
              <a:gd name="T20" fmla="*/ 37 w 38"/>
              <a:gd name="T21" fmla="*/ 13 h 22"/>
              <a:gd name="T22" fmla="*/ 37 w 38"/>
              <a:gd name="T23" fmla="*/ 13 h 22"/>
              <a:gd name="T24" fmla="*/ 1 w 38"/>
              <a:gd name="T25" fmla="*/ 22 h 22"/>
              <a:gd name="T26" fmla="*/ 1 w 38"/>
              <a:gd name="T27" fmla="*/ 22 h 22"/>
              <a:gd name="T28" fmla="*/ 0 w 38"/>
              <a:gd name="T29" fmla="*/ 21 h 22"/>
              <a:gd name="T30" fmla="*/ 0 w 38"/>
              <a:gd name="T31" fmla="*/ 18 h 22"/>
              <a:gd name="T32" fmla="*/ 0 w 38"/>
              <a:gd name="T33" fmla="*/ 18 h 22"/>
              <a:gd name="T34" fmla="*/ 0 w 38"/>
              <a:gd name="T35" fmla="*/ 13 h 22"/>
              <a:gd name="T36" fmla="*/ 0 w 38"/>
              <a:gd name="T37" fmla="*/ 13 h 22"/>
              <a:gd name="T38" fmla="*/ 0 w 38"/>
              <a:gd name="T39" fmla="*/ 9 h 22"/>
              <a:gd name="T40" fmla="*/ 2 w 38"/>
              <a:gd name="T41" fmla="*/ 7 h 22"/>
              <a:gd name="T42" fmla="*/ 2 w 38"/>
              <a:gd name="T43" fmla="*/ 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22">
                <a:moveTo>
                  <a:pt x="2" y="7"/>
                </a:moveTo>
                <a:lnTo>
                  <a:pt x="2" y="7"/>
                </a:lnTo>
                <a:lnTo>
                  <a:pt x="37" y="0"/>
                </a:lnTo>
                <a:lnTo>
                  <a:pt x="37" y="0"/>
                </a:lnTo>
                <a:lnTo>
                  <a:pt x="38" y="1"/>
                </a:lnTo>
                <a:lnTo>
                  <a:pt x="38" y="4"/>
                </a:lnTo>
                <a:lnTo>
                  <a:pt x="38" y="4"/>
                </a:lnTo>
                <a:lnTo>
                  <a:pt x="38" y="8"/>
                </a:lnTo>
                <a:lnTo>
                  <a:pt x="38" y="8"/>
                </a:lnTo>
                <a:lnTo>
                  <a:pt x="38" y="11"/>
                </a:lnTo>
                <a:lnTo>
                  <a:pt x="37" y="13"/>
                </a:lnTo>
                <a:lnTo>
                  <a:pt x="37" y="13"/>
                </a:lnTo>
                <a:lnTo>
                  <a:pt x="1" y="22"/>
                </a:lnTo>
                <a:lnTo>
                  <a:pt x="1" y="22"/>
                </a:lnTo>
                <a:lnTo>
                  <a:pt x="0" y="21"/>
                </a:lnTo>
                <a:lnTo>
                  <a:pt x="0" y="18"/>
                </a:lnTo>
                <a:lnTo>
                  <a:pt x="0" y="18"/>
                </a:lnTo>
                <a:lnTo>
                  <a:pt x="0" y="13"/>
                </a:lnTo>
                <a:lnTo>
                  <a:pt x="0" y="13"/>
                </a:lnTo>
                <a:lnTo>
                  <a:pt x="0" y="9"/>
                </a:lnTo>
                <a:lnTo>
                  <a:pt x="2" y="7"/>
                </a:lnTo>
                <a:lnTo>
                  <a:pt x="2" y="7"/>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5" name="Freeform 384">
            <a:extLst>
              <a:ext uri="{FF2B5EF4-FFF2-40B4-BE49-F238E27FC236}">
                <a16:creationId xmlns:a16="http://schemas.microsoft.com/office/drawing/2014/main" id="{355E8302-BD9C-4805-BEFA-A451FCFDB0AB}"/>
              </a:ext>
            </a:extLst>
          </p:cNvPr>
          <p:cNvSpPr>
            <a:spLocks/>
          </p:cNvSpPr>
          <p:nvPr/>
        </p:nvSpPr>
        <p:spPr bwMode="gray">
          <a:xfrm>
            <a:off x="3337162" y="1690465"/>
            <a:ext cx="23056" cy="13297"/>
          </a:xfrm>
          <a:custGeom>
            <a:avLst/>
            <a:gdLst>
              <a:gd name="T0" fmla="*/ 1 w 38"/>
              <a:gd name="T1" fmla="*/ 9 h 24"/>
              <a:gd name="T2" fmla="*/ 1 w 38"/>
              <a:gd name="T3" fmla="*/ 9 h 24"/>
              <a:gd name="T4" fmla="*/ 37 w 38"/>
              <a:gd name="T5" fmla="*/ 0 h 24"/>
              <a:gd name="T6" fmla="*/ 37 w 38"/>
              <a:gd name="T7" fmla="*/ 0 h 24"/>
              <a:gd name="T8" fmla="*/ 38 w 38"/>
              <a:gd name="T9" fmla="*/ 1 h 24"/>
              <a:gd name="T10" fmla="*/ 38 w 38"/>
              <a:gd name="T11" fmla="*/ 4 h 24"/>
              <a:gd name="T12" fmla="*/ 38 w 38"/>
              <a:gd name="T13" fmla="*/ 4 h 24"/>
              <a:gd name="T14" fmla="*/ 38 w 38"/>
              <a:gd name="T15" fmla="*/ 8 h 24"/>
              <a:gd name="T16" fmla="*/ 38 w 38"/>
              <a:gd name="T17" fmla="*/ 8 h 24"/>
              <a:gd name="T18" fmla="*/ 38 w 38"/>
              <a:gd name="T19" fmla="*/ 11 h 24"/>
              <a:gd name="T20" fmla="*/ 37 w 38"/>
              <a:gd name="T21" fmla="*/ 13 h 24"/>
              <a:gd name="T22" fmla="*/ 37 w 38"/>
              <a:gd name="T23" fmla="*/ 13 h 24"/>
              <a:gd name="T24" fmla="*/ 1 w 38"/>
              <a:gd name="T25" fmla="*/ 24 h 24"/>
              <a:gd name="T26" fmla="*/ 1 w 38"/>
              <a:gd name="T27" fmla="*/ 24 h 24"/>
              <a:gd name="T28" fmla="*/ 0 w 38"/>
              <a:gd name="T29" fmla="*/ 23 h 24"/>
              <a:gd name="T30" fmla="*/ 0 w 38"/>
              <a:gd name="T31" fmla="*/ 19 h 24"/>
              <a:gd name="T32" fmla="*/ 0 w 38"/>
              <a:gd name="T33" fmla="*/ 19 h 24"/>
              <a:gd name="T34" fmla="*/ 0 w 38"/>
              <a:gd name="T35" fmla="*/ 15 h 24"/>
              <a:gd name="T36" fmla="*/ 0 w 38"/>
              <a:gd name="T37" fmla="*/ 15 h 24"/>
              <a:gd name="T38" fmla="*/ 0 w 38"/>
              <a:gd name="T39" fmla="*/ 11 h 24"/>
              <a:gd name="T40" fmla="*/ 1 w 38"/>
              <a:gd name="T41" fmla="*/ 9 h 24"/>
              <a:gd name="T42" fmla="*/ 1 w 38"/>
              <a:gd name="T43"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24">
                <a:moveTo>
                  <a:pt x="1" y="9"/>
                </a:moveTo>
                <a:lnTo>
                  <a:pt x="1" y="9"/>
                </a:lnTo>
                <a:lnTo>
                  <a:pt x="37" y="0"/>
                </a:lnTo>
                <a:lnTo>
                  <a:pt x="37" y="0"/>
                </a:lnTo>
                <a:lnTo>
                  <a:pt x="38" y="1"/>
                </a:lnTo>
                <a:lnTo>
                  <a:pt x="38" y="4"/>
                </a:lnTo>
                <a:lnTo>
                  <a:pt x="38" y="4"/>
                </a:lnTo>
                <a:lnTo>
                  <a:pt x="38" y="8"/>
                </a:lnTo>
                <a:lnTo>
                  <a:pt x="38" y="8"/>
                </a:lnTo>
                <a:lnTo>
                  <a:pt x="38" y="11"/>
                </a:lnTo>
                <a:lnTo>
                  <a:pt x="37" y="13"/>
                </a:lnTo>
                <a:lnTo>
                  <a:pt x="37" y="13"/>
                </a:lnTo>
                <a:lnTo>
                  <a:pt x="1" y="24"/>
                </a:lnTo>
                <a:lnTo>
                  <a:pt x="1" y="24"/>
                </a:lnTo>
                <a:lnTo>
                  <a:pt x="0" y="23"/>
                </a:lnTo>
                <a:lnTo>
                  <a:pt x="0" y="19"/>
                </a:lnTo>
                <a:lnTo>
                  <a:pt x="0" y="19"/>
                </a:lnTo>
                <a:lnTo>
                  <a:pt x="0" y="15"/>
                </a:lnTo>
                <a:lnTo>
                  <a:pt x="0" y="15"/>
                </a:lnTo>
                <a:lnTo>
                  <a:pt x="0" y="11"/>
                </a:lnTo>
                <a:lnTo>
                  <a:pt x="1" y="9"/>
                </a:lnTo>
                <a:lnTo>
                  <a:pt x="1" y="9"/>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6" name="Freeform 385">
            <a:extLst>
              <a:ext uri="{FF2B5EF4-FFF2-40B4-BE49-F238E27FC236}">
                <a16:creationId xmlns:a16="http://schemas.microsoft.com/office/drawing/2014/main" id="{B31BC02A-509A-425E-937D-88AF4AA2D475}"/>
              </a:ext>
            </a:extLst>
          </p:cNvPr>
          <p:cNvSpPr>
            <a:spLocks/>
          </p:cNvSpPr>
          <p:nvPr/>
        </p:nvSpPr>
        <p:spPr bwMode="gray">
          <a:xfrm>
            <a:off x="3369319" y="1522587"/>
            <a:ext cx="34584" cy="186718"/>
          </a:xfrm>
          <a:custGeom>
            <a:avLst/>
            <a:gdLst>
              <a:gd name="T0" fmla="*/ 6 w 57"/>
              <a:gd name="T1" fmla="*/ 1 h 337"/>
              <a:gd name="T2" fmla="*/ 6 w 57"/>
              <a:gd name="T3" fmla="*/ 1 h 337"/>
              <a:gd name="T4" fmla="*/ 54 w 57"/>
              <a:gd name="T5" fmla="*/ 25 h 337"/>
              <a:gd name="T6" fmla="*/ 54 w 57"/>
              <a:gd name="T7" fmla="*/ 25 h 337"/>
              <a:gd name="T8" fmla="*/ 57 w 57"/>
              <a:gd name="T9" fmla="*/ 26 h 337"/>
              <a:gd name="T10" fmla="*/ 57 w 57"/>
              <a:gd name="T11" fmla="*/ 28 h 337"/>
              <a:gd name="T12" fmla="*/ 57 w 57"/>
              <a:gd name="T13" fmla="*/ 30 h 337"/>
              <a:gd name="T14" fmla="*/ 57 w 57"/>
              <a:gd name="T15" fmla="*/ 30 h 337"/>
              <a:gd name="T16" fmla="*/ 57 w 57"/>
              <a:gd name="T17" fmla="*/ 172 h 337"/>
              <a:gd name="T18" fmla="*/ 57 w 57"/>
              <a:gd name="T19" fmla="*/ 172 h 337"/>
              <a:gd name="T20" fmla="*/ 56 w 57"/>
              <a:gd name="T21" fmla="*/ 312 h 337"/>
              <a:gd name="T22" fmla="*/ 56 w 57"/>
              <a:gd name="T23" fmla="*/ 312 h 337"/>
              <a:gd name="T24" fmla="*/ 56 w 57"/>
              <a:gd name="T25" fmla="*/ 315 h 337"/>
              <a:gd name="T26" fmla="*/ 55 w 57"/>
              <a:gd name="T27" fmla="*/ 316 h 337"/>
              <a:gd name="T28" fmla="*/ 53 w 57"/>
              <a:gd name="T29" fmla="*/ 318 h 337"/>
              <a:gd name="T30" fmla="*/ 53 w 57"/>
              <a:gd name="T31" fmla="*/ 318 h 337"/>
              <a:gd name="T32" fmla="*/ 3 w 57"/>
              <a:gd name="T33" fmla="*/ 337 h 337"/>
              <a:gd name="T34" fmla="*/ 3 w 57"/>
              <a:gd name="T35" fmla="*/ 337 h 337"/>
              <a:gd name="T36" fmla="*/ 2 w 57"/>
              <a:gd name="T37" fmla="*/ 337 h 337"/>
              <a:gd name="T38" fmla="*/ 1 w 57"/>
              <a:gd name="T39" fmla="*/ 336 h 337"/>
              <a:gd name="T40" fmla="*/ 0 w 57"/>
              <a:gd name="T41" fmla="*/ 334 h 337"/>
              <a:gd name="T42" fmla="*/ 0 w 57"/>
              <a:gd name="T43" fmla="*/ 331 h 337"/>
              <a:gd name="T44" fmla="*/ 0 w 57"/>
              <a:gd name="T45" fmla="*/ 331 h 337"/>
              <a:gd name="T46" fmla="*/ 1 w 57"/>
              <a:gd name="T47" fmla="*/ 168 h 337"/>
              <a:gd name="T48" fmla="*/ 1 w 57"/>
              <a:gd name="T49" fmla="*/ 168 h 337"/>
              <a:gd name="T50" fmla="*/ 2 w 57"/>
              <a:gd name="T51" fmla="*/ 4 h 337"/>
              <a:gd name="T52" fmla="*/ 2 w 57"/>
              <a:gd name="T53" fmla="*/ 4 h 337"/>
              <a:gd name="T54" fmla="*/ 2 w 57"/>
              <a:gd name="T55" fmla="*/ 1 h 337"/>
              <a:gd name="T56" fmla="*/ 3 w 57"/>
              <a:gd name="T57" fmla="*/ 0 h 337"/>
              <a:gd name="T58" fmla="*/ 4 w 57"/>
              <a:gd name="T59" fmla="*/ 0 h 337"/>
              <a:gd name="T60" fmla="*/ 6 w 57"/>
              <a:gd name="T61" fmla="*/ 1 h 337"/>
              <a:gd name="T62" fmla="*/ 6 w 57"/>
              <a:gd name="T63" fmla="*/ 1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7" h="337">
                <a:moveTo>
                  <a:pt x="6" y="1"/>
                </a:moveTo>
                <a:lnTo>
                  <a:pt x="6" y="1"/>
                </a:lnTo>
                <a:lnTo>
                  <a:pt x="54" y="25"/>
                </a:lnTo>
                <a:lnTo>
                  <a:pt x="54" y="25"/>
                </a:lnTo>
                <a:lnTo>
                  <a:pt x="57" y="26"/>
                </a:lnTo>
                <a:lnTo>
                  <a:pt x="57" y="28"/>
                </a:lnTo>
                <a:lnTo>
                  <a:pt x="57" y="30"/>
                </a:lnTo>
                <a:lnTo>
                  <a:pt x="57" y="30"/>
                </a:lnTo>
                <a:lnTo>
                  <a:pt x="57" y="172"/>
                </a:lnTo>
                <a:lnTo>
                  <a:pt x="57" y="172"/>
                </a:lnTo>
                <a:lnTo>
                  <a:pt x="56" y="312"/>
                </a:lnTo>
                <a:lnTo>
                  <a:pt x="56" y="312"/>
                </a:lnTo>
                <a:lnTo>
                  <a:pt x="56" y="315"/>
                </a:lnTo>
                <a:lnTo>
                  <a:pt x="55" y="316"/>
                </a:lnTo>
                <a:lnTo>
                  <a:pt x="53" y="318"/>
                </a:lnTo>
                <a:lnTo>
                  <a:pt x="53" y="318"/>
                </a:lnTo>
                <a:lnTo>
                  <a:pt x="3" y="337"/>
                </a:lnTo>
                <a:lnTo>
                  <a:pt x="3" y="337"/>
                </a:lnTo>
                <a:lnTo>
                  <a:pt x="2" y="337"/>
                </a:lnTo>
                <a:lnTo>
                  <a:pt x="1" y="336"/>
                </a:lnTo>
                <a:lnTo>
                  <a:pt x="0" y="334"/>
                </a:lnTo>
                <a:lnTo>
                  <a:pt x="0" y="331"/>
                </a:lnTo>
                <a:lnTo>
                  <a:pt x="0" y="331"/>
                </a:lnTo>
                <a:lnTo>
                  <a:pt x="1" y="168"/>
                </a:lnTo>
                <a:lnTo>
                  <a:pt x="1" y="168"/>
                </a:lnTo>
                <a:lnTo>
                  <a:pt x="2" y="4"/>
                </a:lnTo>
                <a:lnTo>
                  <a:pt x="2" y="4"/>
                </a:lnTo>
                <a:lnTo>
                  <a:pt x="2" y="1"/>
                </a:lnTo>
                <a:lnTo>
                  <a:pt x="3" y="0"/>
                </a:lnTo>
                <a:lnTo>
                  <a:pt x="4" y="0"/>
                </a:lnTo>
                <a:lnTo>
                  <a:pt x="6" y="1"/>
                </a:lnTo>
                <a:lnTo>
                  <a:pt x="6" y="1"/>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7" name="Freeform 386">
            <a:extLst>
              <a:ext uri="{FF2B5EF4-FFF2-40B4-BE49-F238E27FC236}">
                <a16:creationId xmlns:a16="http://schemas.microsoft.com/office/drawing/2014/main" id="{0C373951-00D3-4523-A800-2FFCD5DFBA75}"/>
              </a:ext>
            </a:extLst>
          </p:cNvPr>
          <p:cNvSpPr>
            <a:spLocks/>
          </p:cNvSpPr>
          <p:nvPr/>
        </p:nvSpPr>
        <p:spPr bwMode="gray">
          <a:xfrm>
            <a:off x="3375386" y="1540316"/>
            <a:ext cx="23056" cy="29919"/>
          </a:xfrm>
          <a:custGeom>
            <a:avLst/>
            <a:gdLst>
              <a:gd name="T0" fmla="*/ 2 w 38"/>
              <a:gd name="T1" fmla="*/ 0 h 54"/>
              <a:gd name="T2" fmla="*/ 2 w 38"/>
              <a:gd name="T3" fmla="*/ 0 h 54"/>
              <a:gd name="T4" fmla="*/ 36 w 38"/>
              <a:gd name="T5" fmla="*/ 15 h 54"/>
              <a:gd name="T6" fmla="*/ 36 w 38"/>
              <a:gd name="T7" fmla="*/ 15 h 54"/>
              <a:gd name="T8" fmla="*/ 37 w 38"/>
              <a:gd name="T9" fmla="*/ 16 h 54"/>
              <a:gd name="T10" fmla="*/ 38 w 38"/>
              <a:gd name="T11" fmla="*/ 19 h 54"/>
              <a:gd name="T12" fmla="*/ 38 w 38"/>
              <a:gd name="T13" fmla="*/ 19 h 54"/>
              <a:gd name="T14" fmla="*/ 38 w 38"/>
              <a:gd name="T15" fmla="*/ 50 h 54"/>
              <a:gd name="T16" fmla="*/ 38 w 38"/>
              <a:gd name="T17" fmla="*/ 50 h 54"/>
              <a:gd name="T18" fmla="*/ 37 w 38"/>
              <a:gd name="T19" fmla="*/ 52 h 54"/>
              <a:gd name="T20" fmla="*/ 36 w 38"/>
              <a:gd name="T21" fmla="*/ 54 h 54"/>
              <a:gd name="T22" fmla="*/ 36 w 38"/>
              <a:gd name="T23" fmla="*/ 54 h 54"/>
              <a:gd name="T24" fmla="*/ 2 w 38"/>
              <a:gd name="T25" fmla="*/ 43 h 54"/>
              <a:gd name="T26" fmla="*/ 2 w 38"/>
              <a:gd name="T27" fmla="*/ 43 h 54"/>
              <a:gd name="T28" fmla="*/ 1 w 38"/>
              <a:gd name="T29" fmla="*/ 41 h 54"/>
              <a:gd name="T30" fmla="*/ 0 w 38"/>
              <a:gd name="T31" fmla="*/ 38 h 54"/>
              <a:gd name="T32" fmla="*/ 0 w 38"/>
              <a:gd name="T33" fmla="*/ 38 h 54"/>
              <a:gd name="T34" fmla="*/ 1 w 38"/>
              <a:gd name="T35" fmla="*/ 3 h 54"/>
              <a:gd name="T36" fmla="*/ 1 w 38"/>
              <a:gd name="T37" fmla="*/ 3 h 54"/>
              <a:gd name="T38" fmla="*/ 1 w 38"/>
              <a:gd name="T39" fmla="*/ 0 h 54"/>
              <a:gd name="T40" fmla="*/ 2 w 38"/>
              <a:gd name="T41" fmla="*/ 0 h 54"/>
              <a:gd name="T42" fmla="*/ 2 w 38"/>
              <a:gd name="T43"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54">
                <a:moveTo>
                  <a:pt x="2" y="0"/>
                </a:moveTo>
                <a:lnTo>
                  <a:pt x="2" y="0"/>
                </a:lnTo>
                <a:lnTo>
                  <a:pt x="36" y="15"/>
                </a:lnTo>
                <a:lnTo>
                  <a:pt x="36" y="15"/>
                </a:lnTo>
                <a:lnTo>
                  <a:pt x="37" y="16"/>
                </a:lnTo>
                <a:lnTo>
                  <a:pt x="38" y="19"/>
                </a:lnTo>
                <a:lnTo>
                  <a:pt x="38" y="19"/>
                </a:lnTo>
                <a:lnTo>
                  <a:pt x="38" y="50"/>
                </a:lnTo>
                <a:lnTo>
                  <a:pt x="38" y="50"/>
                </a:lnTo>
                <a:lnTo>
                  <a:pt x="37" y="52"/>
                </a:lnTo>
                <a:lnTo>
                  <a:pt x="36" y="54"/>
                </a:lnTo>
                <a:lnTo>
                  <a:pt x="36" y="54"/>
                </a:lnTo>
                <a:lnTo>
                  <a:pt x="2" y="43"/>
                </a:lnTo>
                <a:lnTo>
                  <a:pt x="2" y="43"/>
                </a:lnTo>
                <a:lnTo>
                  <a:pt x="1" y="41"/>
                </a:lnTo>
                <a:lnTo>
                  <a:pt x="0" y="38"/>
                </a:lnTo>
                <a:lnTo>
                  <a:pt x="0" y="38"/>
                </a:lnTo>
                <a:lnTo>
                  <a:pt x="1" y="3"/>
                </a:lnTo>
                <a:lnTo>
                  <a:pt x="1" y="3"/>
                </a:lnTo>
                <a:lnTo>
                  <a:pt x="1" y="0"/>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8" name="Freeform 387">
            <a:extLst>
              <a:ext uri="{FF2B5EF4-FFF2-40B4-BE49-F238E27FC236}">
                <a16:creationId xmlns:a16="http://schemas.microsoft.com/office/drawing/2014/main" id="{CE07F081-B41E-45F8-805F-17B38D97C3A3}"/>
              </a:ext>
            </a:extLst>
          </p:cNvPr>
          <p:cNvSpPr>
            <a:spLocks/>
          </p:cNvSpPr>
          <p:nvPr/>
        </p:nvSpPr>
        <p:spPr bwMode="gray">
          <a:xfrm>
            <a:off x="3375386" y="1573006"/>
            <a:ext cx="22449" cy="26595"/>
          </a:xfrm>
          <a:custGeom>
            <a:avLst/>
            <a:gdLst>
              <a:gd name="T0" fmla="*/ 2 w 37"/>
              <a:gd name="T1" fmla="*/ 0 h 48"/>
              <a:gd name="T2" fmla="*/ 2 w 37"/>
              <a:gd name="T3" fmla="*/ 0 h 48"/>
              <a:gd name="T4" fmla="*/ 36 w 37"/>
              <a:gd name="T5" fmla="*/ 9 h 48"/>
              <a:gd name="T6" fmla="*/ 36 w 37"/>
              <a:gd name="T7" fmla="*/ 9 h 48"/>
              <a:gd name="T8" fmla="*/ 37 w 37"/>
              <a:gd name="T9" fmla="*/ 10 h 48"/>
              <a:gd name="T10" fmla="*/ 37 w 37"/>
              <a:gd name="T11" fmla="*/ 13 h 48"/>
              <a:gd name="T12" fmla="*/ 37 w 37"/>
              <a:gd name="T13" fmla="*/ 13 h 48"/>
              <a:gd name="T14" fmla="*/ 37 w 37"/>
              <a:gd name="T15" fmla="*/ 45 h 48"/>
              <a:gd name="T16" fmla="*/ 37 w 37"/>
              <a:gd name="T17" fmla="*/ 45 h 48"/>
              <a:gd name="T18" fmla="*/ 37 w 37"/>
              <a:gd name="T19" fmla="*/ 47 h 48"/>
              <a:gd name="T20" fmla="*/ 36 w 37"/>
              <a:gd name="T21" fmla="*/ 48 h 48"/>
              <a:gd name="T22" fmla="*/ 36 w 37"/>
              <a:gd name="T23" fmla="*/ 48 h 48"/>
              <a:gd name="T24" fmla="*/ 2 w 37"/>
              <a:gd name="T25" fmla="*/ 43 h 48"/>
              <a:gd name="T26" fmla="*/ 2 w 37"/>
              <a:gd name="T27" fmla="*/ 43 h 48"/>
              <a:gd name="T28" fmla="*/ 1 w 37"/>
              <a:gd name="T29" fmla="*/ 42 h 48"/>
              <a:gd name="T30" fmla="*/ 0 w 37"/>
              <a:gd name="T31" fmla="*/ 37 h 48"/>
              <a:gd name="T32" fmla="*/ 0 w 37"/>
              <a:gd name="T33" fmla="*/ 37 h 48"/>
              <a:gd name="T34" fmla="*/ 0 w 37"/>
              <a:gd name="T35" fmla="*/ 4 h 48"/>
              <a:gd name="T36" fmla="*/ 0 w 37"/>
              <a:gd name="T37" fmla="*/ 4 h 48"/>
              <a:gd name="T38" fmla="*/ 1 w 37"/>
              <a:gd name="T39" fmla="*/ 1 h 48"/>
              <a:gd name="T40" fmla="*/ 2 w 37"/>
              <a:gd name="T41" fmla="*/ 0 h 48"/>
              <a:gd name="T42" fmla="*/ 2 w 37"/>
              <a:gd name="T4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48">
                <a:moveTo>
                  <a:pt x="2" y="0"/>
                </a:moveTo>
                <a:lnTo>
                  <a:pt x="2" y="0"/>
                </a:lnTo>
                <a:lnTo>
                  <a:pt x="36" y="9"/>
                </a:lnTo>
                <a:lnTo>
                  <a:pt x="36" y="9"/>
                </a:lnTo>
                <a:lnTo>
                  <a:pt x="37" y="10"/>
                </a:lnTo>
                <a:lnTo>
                  <a:pt x="37" y="13"/>
                </a:lnTo>
                <a:lnTo>
                  <a:pt x="37" y="13"/>
                </a:lnTo>
                <a:lnTo>
                  <a:pt x="37" y="45"/>
                </a:lnTo>
                <a:lnTo>
                  <a:pt x="37" y="45"/>
                </a:lnTo>
                <a:lnTo>
                  <a:pt x="37" y="47"/>
                </a:lnTo>
                <a:lnTo>
                  <a:pt x="36" y="48"/>
                </a:lnTo>
                <a:lnTo>
                  <a:pt x="36" y="48"/>
                </a:lnTo>
                <a:lnTo>
                  <a:pt x="2" y="43"/>
                </a:lnTo>
                <a:lnTo>
                  <a:pt x="2" y="43"/>
                </a:lnTo>
                <a:lnTo>
                  <a:pt x="1" y="42"/>
                </a:lnTo>
                <a:lnTo>
                  <a:pt x="0" y="37"/>
                </a:lnTo>
                <a:lnTo>
                  <a:pt x="0" y="37"/>
                </a:lnTo>
                <a:lnTo>
                  <a:pt x="0" y="4"/>
                </a:lnTo>
                <a:lnTo>
                  <a:pt x="0" y="4"/>
                </a:lnTo>
                <a:lnTo>
                  <a:pt x="1" y="1"/>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59" name="Freeform 388">
            <a:extLst>
              <a:ext uri="{FF2B5EF4-FFF2-40B4-BE49-F238E27FC236}">
                <a16:creationId xmlns:a16="http://schemas.microsoft.com/office/drawing/2014/main" id="{E2EB4FAA-1BA7-4894-A79B-36F14F823E34}"/>
              </a:ext>
            </a:extLst>
          </p:cNvPr>
          <p:cNvSpPr>
            <a:spLocks/>
          </p:cNvSpPr>
          <p:nvPr/>
        </p:nvSpPr>
        <p:spPr bwMode="gray">
          <a:xfrm>
            <a:off x="3375386" y="1605141"/>
            <a:ext cx="22449" cy="23825"/>
          </a:xfrm>
          <a:custGeom>
            <a:avLst/>
            <a:gdLst>
              <a:gd name="T0" fmla="*/ 1 w 37"/>
              <a:gd name="T1" fmla="*/ 0 h 43"/>
              <a:gd name="T2" fmla="*/ 1 w 37"/>
              <a:gd name="T3" fmla="*/ 0 h 43"/>
              <a:gd name="T4" fmla="*/ 36 w 37"/>
              <a:gd name="T5" fmla="*/ 4 h 43"/>
              <a:gd name="T6" fmla="*/ 36 w 37"/>
              <a:gd name="T7" fmla="*/ 4 h 43"/>
              <a:gd name="T8" fmla="*/ 37 w 37"/>
              <a:gd name="T9" fmla="*/ 5 h 43"/>
              <a:gd name="T10" fmla="*/ 37 w 37"/>
              <a:gd name="T11" fmla="*/ 9 h 43"/>
              <a:gd name="T12" fmla="*/ 37 w 37"/>
              <a:gd name="T13" fmla="*/ 9 h 43"/>
              <a:gd name="T14" fmla="*/ 37 w 37"/>
              <a:gd name="T15" fmla="*/ 39 h 43"/>
              <a:gd name="T16" fmla="*/ 37 w 37"/>
              <a:gd name="T17" fmla="*/ 39 h 43"/>
              <a:gd name="T18" fmla="*/ 37 w 37"/>
              <a:gd name="T19" fmla="*/ 42 h 43"/>
              <a:gd name="T20" fmla="*/ 35 w 37"/>
              <a:gd name="T21" fmla="*/ 43 h 43"/>
              <a:gd name="T22" fmla="*/ 35 w 37"/>
              <a:gd name="T23" fmla="*/ 43 h 43"/>
              <a:gd name="T24" fmla="*/ 1 w 37"/>
              <a:gd name="T25" fmla="*/ 43 h 43"/>
              <a:gd name="T26" fmla="*/ 1 w 37"/>
              <a:gd name="T27" fmla="*/ 43 h 43"/>
              <a:gd name="T28" fmla="*/ 0 w 37"/>
              <a:gd name="T29" fmla="*/ 42 h 43"/>
              <a:gd name="T30" fmla="*/ 0 w 37"/>
              <a:gd name="T31" fmla="*/ 39 h 43"/>
              <a:gd name="T32" fmla="*/ 0 w 37"/>
              <a:gd name="T33" fmla="*/ 39 h 43"/>
              <a:gd name="T34" fmla="*/ 0 w 37"/>
              <a:gd name="T35" fmla="*/ 4 h 43"/>
              <a:gd name="T36" fmla="*/ 0 w 37"/>
              <a:gd name="T37" fmla="*/ 4 h 43"/>
              <a:gd name="T38" fmla="*/ 0 w 37"/>
              <a:gd name="T39" fmla="*/ 1 h 43"/>
              <a:gd name="T40" fmla="*/ 1 w 37"/>
              <a:gd name="T41" fmla="*/ 0 h 43"/>
              <a:gd name="T42" fmla="*/ 1 w 37"/>
              <a:gd name="T4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43">
                <a:moveTo>
                  <a:pt x="1" y="0"/>
                </a:moveTo>
                <a:lnTo>
                  <a:pt x="1" y="0"/>
                </a:lnTo>
                <a:lnTo>
                  <a:pt x="36" y="4"/>
                </a:lnTo>
                <a:lnTo>
                  <a:pt x="36" y="4"/>
                </a:lnTo>
                <a:lnTo>
                  <a:pt x="37" y="5"/>
                </a:lnTo>
                <a:lnTo>
                  <a:pt x="37" y="9"/>
                </a:lnTo>
                <a:lnTo>
                  <a:pt x="37" y="9"/>
                </a:lnTo>
                <a:lnTo>
                  <a:pt x="37" y="39"/>
                </a:lnTo>
                <a:lnTo>
                  <a:pt x="37" y="39"/>
                </a:lnTo>
                <a:lnTo>
                  <a:pt x="37" y="42"/>
                </a:lnTo>
                <a:lnTo>
                  <a:pt x="35" y="43"/>
                </a:lnTo>
                <a:lnTo>
                  <a:pt x="35" y="43"/>
                </a:lnTo>
                <a:lnTo>
                  <a:pt x="1" y="43"/>
                </a:lnTo>
                <a:lnTo>
                  <a:pt x="1" y="43"/>
                </a:lnTo>
                <a:lnTo>
                  <a:pt x="0" y="42"/>
                </a:lnTo>
                <a:lnTo>
                  <a:pt x="0" y="39"/>
                </a:lnTo>
                <a:lnTo>
                  <a:pt x="0" y="39"/>
                </a:lnTo>
                <a:lnTo>
                  <a:pt x="0" y="4"/>
                </a:lnTo>
                <a:lnTo>
                  <a:pt x="0" y="4"/>
                </a:lnTo>
                <a:lnTo>
                  <a:pt x="0" y="1"/>
                </a:lnTo>
                <a:lnTo>
                  <a:pt x="1" y="0"/>
                </a:lnTo>
                <a:lnTo>
                  <a:pt x="1"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0" name="Freeform 389">
            <a:extLst>
              <a:ext uri="{FF2B5EF4-FFF2-40B4-BE49-F238E27FC236}">
                <a16:creationId xmlns:a16="http://schemas.microsoft.com/office/drawing/2014/main" id="{54852235-CC75-441D-9EDB-080EC2E90FD9}"/>
              </a:ext>
            </a:extLst>
          </p:cNvPr>
          <p:cNvSpPr>
            <a:spLocks/>
          </p:cNvSpPr>
          <p:nvPr/>
        </p:nvSpPr>
        <p:spPr bwMode="gray">
          <a:xfrm>
            <a:off x="3374779" y="1637276"/>
            <a:ext cx="23056" cy="24379"/>
          </a:xfrm>
          <a:custGeom>
            <a:avLst/>
            <a:gdLst>
              <a:gd name="T0" fmla="*/ 2 w 38"/>
              <a:gd name="T1" fmla="*/ 1 h 44"/>
              <a:gd name="T2" fmla="*/ 2 w 38"/>
              <a:gd name="T3" fmla="*/ 1 h 44"/>
              <a:gd name="T4" fmla="*/ 36 w 38"/>
              <a:gd name="T5" fmla="*/ 0 h 44"/>
              <a:gd name="T6" fmla="*/ 36 w 38"/>
              <a:gd name="T7" fmla="*/ 0 h 44"/>
              <a:gd name="T8" fmla="*/ 37 w 38"/>
              <a:gd name="T9" fmla="*/ 1 h 44"/>
              <a:gd name="T10" fmla="*/ 38 w 38"/>
              <a:gd name="T11" fmla="*/ 4 h 44"/>
              <a:gd name="T12" fmla="*/ 38 w 38"/>
              <a:gd name="T13" fmla="*/ 4 h 44"/>
              <a:gd name="T14" fmla="*/ 38 w 38"/>
              <a:gd name="T15" fmla="*/ 34 h 44"/>
              <a:gd name="T16" fmla="*/ 38 w 38"/>
              <a:gd name="T17" fmla="*/ 34 h 44"/>
              <a:gd name="T18" fmla="*/ 37 w 38"/>
              <a:gd name="T19" fmla="*/ 37 h 44"/>
              <a:gd name="T20" fmla="*/ 36 w 38"/>
              <a:gd name="T21" fmla="*/ 38 h 44"/>
              <a:gd name="T22" fmla="*/ 36 w 38"/>
              <a:gd name="T23" fmla="*/ 38 h 44"/>
              <a:gd name="T24" fmla="*/ 2 w 38"/>
              <a:gd name="T25" fmla="*/ 44 h 44"/>
              <a:gd name="T26" fmla="*/ 2 w 38"/>
              <a:gd name="T27" fmla="*/ 44 h 44"/>
              <a:gd name="T28" fmla="*/ 1 w 38"/>
              <a:gd name="T29" fmla="*/ 43 h 44"/>
              <a:gd name="T30" fmla="*/ 0 w 38"/>
              <a:gd name="T31" fmla="*/ 39 h 44"/>
              <a:gd name="T32" fmla="*/ 0 w 38"/>
              <a:gd name="T33" fmla="*/ 39 h 44"/>
              <a:gd name="T34" fmla="*/ 1 w 38"/>
              <a:gd name="T35" fmla="*/ 6 h 44"/>
              <a:gd name="T36" fmla="*/ 1 w 38"/>
              <a:gd name="T37" fmla="*/ 6 h 44"/>
              <a:gd name="T38" fmla="*/ 1 w 38"/>
              <a:gd name="T39" fmla="*/ 2 h 44"/>
              <a:gd name="T40" fmla="*/ 2 w 38"/>
              <a:gd name="T41" fmla="*/ 1 h 44"/>
              <a:gd name="T42" fmla="*/ 2 w 38"/>
              <a:gd name="T43" fmla="*/ 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44">
                <a:moveTo>
                  <a:pt x="2" y="1"/>
                </a:moveTo>
                <a:lnTo>
                  <a:pt x="2" y="1"/>
                </a:lnTo>
                <a:lnTo>
                  <a:pt x="36" y="0"/>
                </a:lnTo>
                <a:lnTo>
                  <a:pt x="36" y="0"/>
                </a:lnTo>
                <a:lnTo>
                  <a:pt x="37" y="1"/>
                </a:lnTo>
                <a:lnTo>
                  <a:pt x="38" y="4"/>
                </a:lnTo>
                <a:lnTo>
                  <a:pt x="38" y="4"/>
                </a:lnTo>
                <a:lnTo>
                  <a:pt x="38" y="34"/>
                </a:lnTo>
                <a:lnTo>
                  <a:pt x="38" y="34"/>
                </a:lnTo>
                <a:lnTo>
                  <a:pt x="37" y="37"/>
                </a:lnTo>
                <a:lnTo>
                  <a:pt x="36" y="38"/>
                </a:lnTo>
                <a:lnTo>
                  <a:pt x="36" y="38"/>
                </a:lnTo>
                <a:lnTo>
                  <a:pt x="2" y="44"/>
                </a:lnTo>
                <a:lnTo>
                  <a:pt x="2" y="44"/>
                </a:lnTo>
                <a:lnTo>
                  <a:pt x="1" y="43"/>
                </a:lnTo>
                <a:lnTo>
                  <a:pt x="0" y="39"/>
                </a:lnTo>
                <a:lnTo>
                  <a:pt x="0" y="39"/>
                </a:lnTo>
                <a:lnTo>
                  <a:pt x="1" y="6"/>
                </a:lnTo>
                <a:lnTo>
                  <a:pt x="1" y="6"/>
                </a:lnTo>
                <a:lnTo>
                  <a:pt x="1" y="2"/>
                </a:lnTo>
                <a:lnTo>
                  <a:pt x="2" y="1"/>
                </a:lnTo>
                <a:lnTo>
                  <a:pt x="2" y="1"/>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1" name="Freeform 390">
            <a:extLst>
              <a:ext uri="{FF2B5EF4-FFF2-40B4-BE49-F238E27FC236}">
                <a16:creationId xmlns:a16="http://schemas.microsoft.com/office/drawing/2014/main" id="{FDB32A2F-9AB0-4E63-98AB-53986D25F710}"/>
              </a:ext>
            </a:extLst>
          </p:cNvPr>
          <p:cNvSpPr>
            <a:spLocks/>
          </p:cNvSpPr>
          <p:nvPr/>
        </p:nvSpPr>
        <p:spPr bwMode="gray">
          <a:xfrm>
            <a:off x="3374779" y="1669965"/>
            <a:ext cx="23056" cy="11635"/>
          </a:xfrm>
          <a:custGeom>
            <a:avLst/>
            <a:gdLst>
              <a:gd name="T0" fmla="*/ 2 w 38"/>
              <a:gd name="T1" fmla="*/ 8 h 21"/>
              <a:gd name="T2" fmla="*/ 2 w 38"/>
              <a:gd name="T3" fmla="*/ 8 h 21"/>
              <a:gd name="T4" fmla="*/ 36 w 38"/>
              <a:gd name="T5" fmla="*/ 0 h 21"/>
              <a:gd name="T6" fmla="*/ 36 w 38"/>
              <a:gd name="T7" fmla="*/ 0 h 21"/>
              <a:gd name="T8" fmla="*/ 37 w 38"/>
              <a:gd name="T9" fmla="*/ 1 h 21"/>
              <a:gd name="T10" fmla="*/ 38 w 38"/>
              <a:gd name="T11" fmla="*/ 4 h 21"/>
              <a:gd name="T12" fmla="*/ 38 w 38"/>
              <a:gd name="T13" fmla="*/ 4 h 21"/>
              <a:gd name="T14" fmla="*/ 38 w 38"/>
              <a:gd name="T15" fmla="*/ 8 h 21"/>
              <a:gd name="T16" fmla="*/ 38 w 38"/>
              <a:gd name="T17" fmla="*/ 8 h 21"/>
              <a:gd name="T18" fmla="*/ 37 w 38"/>
              <a:gd name="T19" fmla="*/ 11 h 21"/>
              <a:gd name="T20" fmla="*/ 36 w 38"/>
              <a:gd name="T21" fmla="*/ 12 h 21"/>
              <a:gd name="T22" fmla="*/ 36 w 38"/>
              <a:gd name="T23" fmla="*/ 12 h 21"/>
              <a:gd name="T24" fmla="*/ 2 w 38"/>
              <a:gd name="T25" fmla="*/ 21 h 21"/>
              <a:gd name="T26" fmla="*/ 2 w 38"/>
              <a:gd name="T27" fmla="*/ 21 h 21"/>
              <a:gd name="T28" fmla="*/ 1 w 38"/>
              <a:gd name="T29" fmla="*/ 19 h 21"/>
              <a:gd name="T30" fmla="*/ 0 w 38"/>
              <a:gd name="T31" fmla="*/ 16 h 21"/>
              <a:gd name="T32" fmla="*/ 0 w 38"/>
              <a:gd name="T33" fmla="*/ 16 h 21"/>
              <a:gd name="T34" fmla="*/ 0 w 38"/>
              <a:gd name="T35" fmla="*/ 13 h 21"/>
              <a:gd name="T36" fmla="*/ 0 w 38"/>
              <a:gd name="T37" fmla="*/ 13 h 21"/>
              <a:gd name="T38" fmla="*/ 1 w 38"/>
              <a:gd name="T39" fmla="*/ 10 h 21"/>
              <a:gd name="T40" fmla="*/ 2 w 38"/>
              <a:gd name="T41" fmla="*/ 8 h 21"/>
              <a:gd name="T42" fmla="*/ 2 w 38"/>
              <a:gd name="T43" fmla="*/ 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21">
                <a:moveTo>
                  <a:pt x="2" y="8"/>
                </a:moveTo>
                <a:lnTo>
                  <a:pt x="2" y="8"/>
                </a:lnTo>
                <a:lnTo>
                  <a:pt x="36" y="0"/>
                </a:lnTo>
                <a:lnTo>
                  <a:pt x="36" y="0"/>
                </a:lnTo>
                <a:lnTo>
                  <a:pt x="37" y="1"/>
                </a:lnTo>
                <a:lnTo>
                  <a:pt x="38" y="4"/>
                </a:lnTo>
                <a:lnTo>
                  <a:pt x="38" y="4"/>
                </a:lnTo>
                <a:lnTo>
                  <a:pt x="38" y="8"/>
                </a:lnTo>
                <a:lnTo>
                  <a:pt x="38" y="8"/>
                </a:lnTo>
                <a:lnTo>
                  <a:pt x="37" y="11"/>
                </a:lnTo>
                <a:lnTo>
                  <a:pt x="36" y="12"/>
                </a:lnTo>
                <a:lnTo>
                  <a:pt x="36" y="12"/>
                </a:lnTo>
                <a:lnTo>
                  <a:pt x="2" y="21"/>
                </a:lnTo>
                <a:lnTo>
                  <a:pt x="2" y="21"/>
                </a:lnTo>
                <a:lnTo>
                  <a:pt x="1" y="19"/>
                </a:lnTo>
                <a:lnTo>
                  <a:pt x="0" y="16"/>
                </a:lnTo>
                <a:lnTo>
                  <a:pt x="0" y="16"/>
                </a:lnTo>
                <a:lnTo>
                  <a:pt x="0" y="13"/>
                </a:lnTo>
                <a:lnTo>
                  <a:pt x="0" y="13"/>
                </a:lnTo>
                <a:lnTo>
                  <a:pt x="1" y="10"/>
                </a:lnTo>
                <a:lnTo>
                  <a:pt x="2" y="8"/>
                </a:lnTo>
                <a:lnTo>
                  <a:pt x="2" y="8"/>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2" name="Freeform 391">
            <a:extLst>
              <a:ext uri="{FF2B5EF4-FFF2-40B4-BE49-F238E27FC236}">
                <a16:creationId xmlns:a16="http://schemas.microsoft.com/office/drawing/2014/main" id="{240363BE-7E21-4C76-8071-0483C990541A}"/>
              </a:ext>
            </a:extLst>
          </p:cNvPr>
          <p:cNvSpPr>
            <a:spLocks/>
          </p:cNvSpPr>
          <p:nvPr/>
        </p:nvSpPr>
        <p:spPr bwMode="gray">
          <a:xfrm>
            <a:off x="3374779" y="1681048"/>
            <a:ext cx="23056" cy="12189"/>
          </a:xfrm>
          <a:custGeom>
            <a:avLst/>
            <a:gdLst>
              <a:gd name="T0" fmla="*/ 2 w 38"/>
              <a:gd name="T1" fmla="*/ 9 h 22"/>
              <a:gd name="T2" fmla="*/ 2 w 38"/>
              <a:gd name="T3" fmla="*/ 9 h 22"/>
              <a:gd name="T4" fmla="*/ 36 w 38"/>
              <a:gd name="T5" fmla="*/ 0 h 22"/>
              <a:gd name="T6" fmla="*/ 36 w 38"/>
              <a:gd name="T7" fmla="*/ 0 h 22"/>
              <a:gd name="T8" fmla="*/ 37 w 38"/>
              <a:gd name="T9" fmla="*/ 1 h 22"/>
              <a:gd name="T10" fmla="*/ 38 w 38"/>
              <a:gd name="T11" fmla="*/ 3 h 22"/>
              <a:gd name="T12" fmla="*/ 38 w 38"/>
              <a:gd name="T13" fmla="*/ 3 h 22"/>
              <a:gd name="T14" fmla="*/ 38 w 38"/>
              <a:gd name="T15" fmla="*/ 6 h 22"/>
              <a:gd name="T16" fmla="*/ 38 w 38"/>
              <a:gd name="T17" fmla="*/ 6 h 22"/>
              <a:gd name="T18" fmla="*/ 37 w 38"/>
              <a:gd name="T19" fmla="*/ 9 h 22"/>
              <a:gd name="T20" fmla="*/ 36 w 38"/>
              <a:gd name="T21" fmla="*/ 12 h 22"/>
              <a:gd name="T22" fmla="*/ 36 w 38"/>
              <a:gd name="T23" fmla="*/ 12 h 22"/>
              <a:gd name="T24" fmla="*/ 2 w 38"/>
              <a:gd name="T25" fmla="*/ 22 h 22"/>
              <a:gd name="T26" fmla="*/ 2 w 38"/>
              <a:gd name="T27" fmla="*/ 22 h 22"/>
              <a:gd name="T28" fmla="*/ 1 w 38"/>
              <a:gd name="T29" fmla="*/ 21 h 22"/>
              <a:gd name="T30" fmla="*/ 0 w 38"/>
              <a:gd name="T31" fmla="*/ 18 h 22"/>
              <a:gd name="T32" fmla="*/ 0 w 38"/>
              <a:gd name="T33" fmla="*/ 18 h 22"/>
              <a:gd name="T34" fmla="*/ 0 w 38"/>
              <a:gd name="T35" fmla="*/ 15 h 22"/>
              <a:gd name="T36" fmla="*/ 0 w 38"/>
              <a:gd name="T37" fmla="*/ 15 h 22"/>
              <a:gd name="T38" fmla="*/ 1 w 38"/>
              <a:gd name="T39" fmla="*/ 11 h 22"/>
              <a:gd name="T40" fmla="*/ 2 w 38"/>
              <a:gd name="T41" fmla="*/ 9 h 22"/>
              <a:gd name="T42" fmla="*/ 2 w 38"/>
              <a:gd name="T43"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22">
                <a:moveTo>
                  <a:pt x="2" y="9"/>
                </a:moveTo>
                <a:lnTo>
                  <a:pt x="2" y="9"/>
                </a:lnTo>
                <a:lnTo>
                  <a:pt x="36" y="0"/>
                </a:lnTo>
                <a:lnTo>
                  <a:pt x="36" y="0"/>
                </a:lnTo>
                <a:lnTo>
                  <a:pt x="37" y="1"/>
                </a:lnTo>
                <a:lnTo>
                  <a:pt x="38" y="3"/>
                </a:lnTo>
                <a:lnTo>
                  <a:pt x="38" y="3"/>
                </a:lnTo>
                <a:lnTo>
                  <a:pt x="38" y="6"/>
                </a:lnTo>
                <a:lnTo>
                  <a:pt x="38" y="6"/>
                </a:lnTo>
                <a:lnTo>
                  <a:pt x="37" y="9"/>
                </a:lnTo>
                <a:lnTo>
                  <a:pt x="36" y="12"/>
                </a:lnTo>
                <a:lnTo>
                  <a:pt x="36" y="12"/>
                </a:lnTo>
                <a:lnTo>
                  <a:pt x="2" y="22"/>
                </a:lnTo>
                <a:lnTo>
                  <a:pt x="2" y="22"/>
                </a:lnTo>
                <a:lnTo>
                  <a:pt x="1" y="21"/>
                </a:lnTo>
                <a:lnTo>
                  <a:pt x="0" y="18"/>
                </a:lnTo>
                <a:lnTo>
                  <a:pt x="0" y="18"/>
                </a:lnTo>
                <a:lnTo>
                  <a:pt x="0" y="15"/>
                </a:lnTo>
                <a:lnTo>
                  <a:pt x="0" y="15"/>
                </a:lnTo>
                <a:lnTo>
                  <a:pt x="1" y="11"/>
                </a:lnTo>
                <a:lnTo>
                  <a:pt x="2" y="9"/>
                </a:lnTo>
                <a:lnTo>
                  <a:pt x="2" y="9"/>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3" name="Freeform 392">
            <a:extLst>
              <a:ext uri="{FF2B5EF4-FFF2-40B4-BE49-F238E27FC236}">
                <a16:creationId xmlns:a16="http://schemas.microsoft.com/office/drawing/2014/main" id="{2670881B-16F9-475A-8DFC-2E2E4260659C}"/>
              </a:ext>
            </a:extLst>
          </p:cNvPr>
          <p:cNvSpPr>
            <a:spLocks/>
          </p:cNvSpPr>
          <p:nvPr/>
        </p:nvSpPr>
        <p:spPr bwMode="gray">
          <a:xfrm>
            <a:off x="3407542" y="1539762"/>
            <a:ext cx="33370" cy="156244"/>
          </a:xfrm>
          <a:custGeom>
            <a:avLst/>
            <a:gdLst>
              <a:gd name="T0" fmla="*/ 4 w 55"/>
              <a:gd name="T1" fmla="*/ 1 h 282"/>
              <a:gd name="T2" fmla="*/ 4 w 55"/>
              <a:gd name="T3" fmla="*/ 1 h 282"/>
              <a:gd name="T4" fmla="*/ 52 w 55"/>
              <a:gd name="T5" fmla="*/ 25 h 282"/>
              <a:gd name="T6" fmla="*/ 52 w 55"/>
              <a:gd name="T7" fmla="*/ 25 h 282"/>
              <a:gd name="T8" fmla="*/ 55 w 55"/>
              <a:gd name="T9" fmla="*/ 26 h 282"/>
              <a:gd name="T10" fmla="*/ 55 w 55"/>
              <a:gd name="T11" fmla="*/ 28 h 282"/>
              <a:gd name="T12" fmla="*/ 55 w 55"/>
              <a:gd name="T13" fmla="*/ 30 h 282"/>
              <a:gd name="T14" fmla="*/ 55 w 55"/>
              <a:gd name="T15" fmla="*/ 30 h 282"/>
              <a:gd name="T16" fmla="*/ 55 w 55"/>
              <a:gd name="T17" fmla="*/ 145 h 282"/>
              <a:gd name="T18" fmla="*/ 55 w 55"/>
              <a:gd name="T19" fmla="*/ 145 h 282"/>
              <a:gd name="T20" fmla="*/ 55 w 55"/>
              <a:gd name="T21" fmla="*/ 257 h 282"/>
              <a:gd name="T22" fmla="*/ 55 w 55"/>
              <a:gd name="T23" fmla="*/ 257 h 282"/>
              <a:gd name="T24" fmla="*/ 54 w 55"/>
              <a:gd name="T25" fmla="*/ 260 h 282"/>
              <a:gd name="T26" fmla="*/ 54 w 55"/>
              <a:gd name="T27" fmla="*/ 262 h 282"/>
              <a:gd name="T28" fmla="*/ 51 w 55"/>
              <a:gd name="T29" fmla="*/ 264 h 282"/>
              <a:gd name="T30" fmla="*/ 51 w 55"/>
              <a:gd name="T31" fmla="*/ 264 h 282"/>
              <a:gd name="T32" fmla="*/ 3 w 55"/>
              <a:gd name="T33" fmla="*/ 282 h 282"/>
              <a:gd name="T34" fmla="*/ 3 w 55"/>
              <a:gd name="T35" fmla="*/ 282 h 282"/>
              <a:gd name="T36" fmla="*/ 1 w 55"/>
              <a:gd name="T37" fmla="*/ 282 h 282"/>
              <a:gd name="T38" fmla="*/ 0 w 55"/>
              <a:gd name="T39" fmla="*/ 281 h 282"/>
              <a:gd name="T40" fmla="*/ 0 w 55"/>
              <a:gd name="T41" fmla="*/ 275 h 282"/>
              <a:gd name="T42" fmla="*/ 0 w 55"/>
              <a:gd name="T43" fmla="*/ 275 h 282"/>
              <a:gd name="T44" fmla="*/ 0 w 55"/>
              <a:gd name="T45" fmla="*/ 141 h 282"/>
              <a:gd name="T46" fmla="*/ 0 w 55"/>
              <a:gd name="T47" fmla="*/ 141 h 282"/>
              <a:gd name="T48" fmla="*/ 1 w 55"/>
              <a:gd name="T49" fmla="*/ 4 h 282"/>
              <a:gd name="T50" fmla="*/ 1 w 55"/>
              <a:gd name="T51" fmla="*/ 4 h 282"/>
              <a:gd name="T52" fmla="*/ 1 w 55"/>
              <a:gd name="T53" fmla="*/ 2 h 282"/>
              <a:gd name="T54" fmla="*/ 2 w 55"/>
              <a:gd name="T55" fmla="*/ 0 h 282"/>
              <a:gd name="T56" fmla="*/ 3 w 55"/>
              <a:gd name="T57" fmla="*/ 0 h 282"/>
              <a:gd name="T58" fmla="*/ 4 w 55"/>
              <a:gd name="T59" fmla="*/ 1 h 282"/>
              <a:gd name="T60" fmla="*/ 4 w 55"/>
              <a:gd name="T61" fmla="*/ 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 h="282">
                <a:moveTo>
                  <a:pt x="4" y="1"/>
                </a:moveTo>
                <a:lnTo>
                  <a:pt x="4" y="1"/>
                </a:lnTo>
                <a:lnTo>
                  <a:pt x="52" y="25"/>
                </a:lnTo>
                <a:lnTo>
                  <a:pt x="52" y="25"/>
                </a:lnTo>
                <a:lnTo>
                  <a:pt x="55" y="26"/>
                </a:lnTo>
                <a:lnTo>
                  <a:pt x="55" y="28"/>
                </a:lnTo>
                <a:lnTo>
                  <a:pt x="55" y="30"/>
                </a:lnTo>
                <a:lnTo>
                  <a:pt x="55" y="30"/>
                </a:lnTo>
                <a:lnTo>
                  <a:pt x="55" y="145"/>
                </a:lnTo>
                <a:lnTo>
                  <a:pt x="55" y="145"/>
                </a:lnTo>
                <a:lnTo>
                  <a:pt x="55" y="257"/>
                </a:lnTo>
                <a:lnTo>
                  <a:pt x="55" y="257"/>
                </a:lnTo>
                <a:lnTo>
                  <a:pt x="54" y="260"/>
                </a:lnTo>
                <a:lnTo>
                  <a:pt x="54" y="262"/>
                </a:lnTo>
                <a:lnTo>
                  <a:pt x="51" y="264"/>
                </a:lnTo>
                <a:lnTo>
                  <a:pt x="51" y="264"/>
                </a:lnTo>
                <a:lnTo>
                  <a:pt x="3" y="282"/>
                </a:lnTo>
                <a:lnTo>
                  <a:pt x="3" y="282"/>
                </a:lnTo>
                <a:lnTo>
                  <a:pt x="1" y="282"/>
                </a:lnTo>
                <a:lnTo>
                  <a:pt x="0" y="281"/>
                </a:lnTo>
                <a:lnTo>
                  <a:pt x="0" y="275"/>
                </a:lnTo>
                <a:lnTo>
                  <a:pt x="0" y="275"/>
                </a:lnTo>
                <a:lnTo>
                  <a:pt x="0" y="141"/>
                </a:lnTo>
                <a:lnTo>
                  <a:pt x="0" y="141"/>
                </a:lnTo>
                <a:lnTo>
                  <a:pt x="1" y="4"/>
                </a:lnTo>
                <a:lnTo>
                  <a:pt x="1" y="4"/>
                </a:lnTo>
                <a:lnTo>
                  <a:pt x="1" y="2"/>
                </a:lnTo>
                <a:lnTo>
                  <a:pt x="2" y="0"/>
                </a:lnTo>
                <a:lnTo>
                  <a:pt x="3" y="0"/>
                </a:lnTo>
                <a:lnTo>
                  <a:pt x="4" y="1"/>
                </a:lnTo>
                <a:lnTo>
                  <a:pt x="4" y="1"/>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4" name="Freeform 393">
            <a:extLst>
              <a:ext uri="{FF2B5EF4-FFF2-40B4-BE49-F238E27FC236}">
                <a16:creationId xmlns:a16="http://schemas.microsoft.com/office/drawing/2014/main" id="{5DF833C2-C60D-4183-827B-C2A37524ED33}"/>
              </a:ext>
            </a:extLst>
          </p:cNvPr>
          <p:cNvSpPr>
            <a:spLocks/>
          </p:cNvSpPr>
          <p:nvPr/>
        </p:nvSpPr>
        <p:spPr bwMode="gray">
          <a:xfrm>
            <a:off x="3412396" y="1554721"/>
            <a:ext cx="23663" cy="26041"/>
          </a:xfrm>
          <a:custGeom>
            <a:avLst/>
            <a:gdLst>
              <a:gd name="T0" fmla="*/ 2 w 39"/>
              <a:gd name="T1" fmla="*/ 0 h 47"/>
              <a:gd name="T2" fmla="*/ 2 w 39"/>
              <a:gd name="T3" fmla="*/ 0 h 47"/>
              <a:gd name="T4" fmla="*/ 37 w 39"/>
              <a:gd name="T5" fmla="*/ 15 h 47"/>
              <a:gd name="T6" fmla="*/ 37 w 39"/>
              <a:gd name="T7" fmla="*/ 15 h 47"/>
              <a:gd name="T8" fmla="*/ 38 w 39"/>
              <a:gd name="T9" fmla="*/ 17 h 47"/>
              <a:gd name="T10" fmla="*/ 39 w 39"/>
              <a:gd name="T11" fmla="*/ 19 h 47"/>
              <a:gd name="T12" fmla="*/ 39 w 39"/>
              <a:gd name="T13" fmla="*/ 19 h 47"/>
              <a:gd name="T14" fmla="*/ 39 w 39"/>
              <a:gd name="T15" fmla="*/ 44 h 47"/>
              <a:gd name="T16" fmla="*/ 39 w 39"/>
              <a:gd name="T17" fmla="*/ 44 h 47"/>
              <a:gd name="T18" fmla="*/ 38 w 39"/>
              <a:gd name="T19" fmla="*/ 46 h 47"/>
              <a:gd name="T20" fmla="*/ 37 w 39"/>
              <a:gd name="T21" fmla="*/ 47 h 47"/>
              <a:gd name="T22" fmla="*/ 37 w 39"/>
              <a:gd name="T23" fmla="*/ 47 h 47"/>
              <a:gd name="T24" fmla="*/ 2 w 39"/>
              <a:gd name="T25" fmla="*/ 37 h 47"/>
              <a:gd name="T26" fmla="*/ 2 w 39"/>
              <a:gd name="T27" fmla="*/ 37 h 47"/>
              <a:gd name="T28" fmla="*/ 1 w 39"/>
              <a:gd name="T29" fmla="*/ 35 h 47"/>
              <a:gd name="T30" fmla="*/ 0 w 39"/>
              <a:gd name="T31" fmla="*/ 32 h 47"/>
              <a:gd name="T32" fmla="*/ 0 w 39"/>
              <a:gd name="T33" fmla="*/ 32 h 47"/>
              <a:gd name="T34" fmla="*/ 1 w 39"/>
              <a:gd name="T35" fmla="*/ 3 h 47"/>
              <a:gd name="T36" fmla="*/ 1 w 39"/>
              <a:gd name="T37" fmla="*/ 3 h 47"/>
              <a:gd name="T38" fmla="*/ 1 w 39"/>
              <a:gd name="T39" fmla="*/ 1 h 47"/>
              <a:gd name="T40" fmla="*/ 2 w 39"/>
              <a:gd name="T41" fmla="*/ 0 h 47"/>
              <a:gd name="T42" fmla="*/ 2 w 39"/>
              <a:gd name="T43"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47">
                <a:moveTo>
                  <a:pt x="2" y="0"/>
                </a:moveTo>
                <a:lnTo>
                  <a:pt x="2" y="0"/>
                </a:lnTo>
                <a:lnTo>
                  <a:pt x="37" y="15"/>
                </a:lnTo>
                <a:lnTo>
                  <a:pt x="37" y="15"/>
                </a:lnTo>
                <a:lnTo>
                  <a:pt x="38" y="17"/>
                </a:lnTo>
                <a:lnTo>
                  <a:pt x="39" y="19"/>
                </a:lnTo>
                <a:lnTo>
                  <a:pt x="39" y="19"/>
                </a:lnTo>
                <a:lnTo>
                  <a:pt x="39" y="44"/>
                </a:lnTo>
                <a:lnTo>
                  <a:pt x="39" y="44"/>
                </a:lnTo>
                <a:lnTo>
                  <a:pt x="38" y="46"/>
                </a:lnTo>
                <a:lnTo>
                  <a:pt x="37" y="47"/>
                </a:lnTo>
                <a:lnTo>
                  <a:pt x="37" y="47"/>
                </a:lnTo>
                <a:lnTo>
                  <a:pt x="2" y="37"/>
                </a:lnTo>
                <a:lnTo>
                  <a:pt x="2" y="37"/>
                </a:lnTo>
                <a:lnTo>
                  <a:pt x="1" y="35"/>
                </a:lnTo>
                <a:lnTo>
                  <a:pt x="0" y="32"/>
                </a:lnTo>
                <a:lnTo>
                  <a:pt x="0" y="32"/>
                </a:lnTo>
                <a:lnTo>
                  <a:pt x="1" y="3"/>
                </a:lnTo>
                <a:lnTo>
                  <a:pt x="1" y="3"/>
                </a:lnTo>
                <a:lnTo>
                  <a:pt x="1" y="1"/>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5" name="Freeform 394">
            <a:extLst>
              <a:ext uri="{FF2B5EF4-FFF2-40B4-BE49-F238E27FC236}">
                <a16:creationId xmlns:a16="http://schemas.microsoft.com/office/drawing/2014/main" id="{0CBDC215-5A33-4356-A905-3AEF04D5FC4A}"/>
              </a:ext>
            </a:extLst>
          </p:cNvPr>
          <p:cNvSpPr>
            <a:spLocks/>
          </p:cNvSpPr>
          <p:nvPr/>
        </p:nvSpPr>
        <p:spPr bwMode="gray">
          <a:xfrm>
            <a:off x="3412396" y="1581870"/>
            <a:ext cx="23663" cy="23270"/>
          </a:xfrm>
          <a:custGeom>
            <a:avLst/>
            <a:gdLst>
              <a:gd name="T0" fmla="*/ 2 w 39"/>
              <a:gd name="T1" fmla="*/ 0 h 42"/>
              <a:gd name="T2" fmla="*/ 2 w 39"/>
              <a:gd name="T3" fmla="*/ 0 h 42"/>
              <a:gd name="T4" fmla="*/ 37 w 39"/>
              <a:gd name="T5" fmla="*/ 10 h 42"/>
              <a:gd name="T6" fmla="*/ 37 w 39"/>
              <a:gd name="T7" fmla="*/ 10 h 42"/>
              <a:gd name="T8" fmla="*/ 38 w 39"/>
              <a:gd name="T9" fmla="*/ 11 h 42"/>
              <a:gd name="T10" fmla="*/ 39 w 39"/>
              <a:gd name="T11" fmla="*/ 14 h 42"/>
              <a:gd name="T12" fmla="*/ 39 w 39"/>
              <a:gd name="T13" fmla="*/ 14 h 42"/>
              <a:gd name="T14" fmla="*/ 38 w 39"/>
              <a:gd name="T15" fmla="*/ 39 h 42"/>
              <a:gd name="T16" fmla="*/ 38 w 39"/>
              <a:gd name="T17" fmla="*/ 39 h 42"/>
              <a:gd name="T18" fmla="*/ 38 w 39"/>
              <a:gd name="T19" fmla="*/ 41 h 42"/>
              <a:gd name="T20" fmla="*/ 37 w 39"/>
              <a:gd name="T21" fmla="*/ 42 h 42"/>
              <a:gd name="T22" fmla="*/ 37 w 39"/>
              <a:gd name="T23" fmla="*/ 42 h 42"/>
              <a:gd name="T24" fmla="*/ 2 w 39"/>
              <a:gd name="T25" fmla="*/ 36 h 42"/>
              <a:gd name="T26" fmla="*/ 2 w 39"/>
              <a:gd name="T27" fmla="*/ 36 h 42"/>
              <a:gd name="T28" fmla="*/ 1 w 39"/>
              <a:gd name="T29" fmla="*/ 35 h 42"/>
              <a:gd name="T30" fmla="*/ 0 w 39"/>
              <a:gd name="T31" fmla="*/ 32 h 42"/>
              <a:gd name="T32" fmla="*/ 0 w 39"/>
              <a:gd name="T33" fmla="*/ 32 h 42"/>
              <a:gd name="T34" fmla="*/ 0 w 39"/>
              <a:gd name="T35" fmla="*/ 4 h 42"/>
              <a:gd name="T36" fmla="*/ 0 w 39"/>
              <a:gd name="T37" fmla="*/ 4 h 42"/>
              <a:gd name="T38" fmla="*/ 1 w 39"/>
              <a:gd name="T39" fmla="*/ 1 h 42"/>
              <a:gd name="T40" fmla="*/ 2 w 39"/>
              <a:gd name="T41" fmla="*/ 0 h 42"/>
              <a:gd name="T42" fmla="*/ 2 w 39"/>
              <a:gd name="T4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42">
                <a:moveTo>
                  <a:pt x="2" y="0"/>
                </a:moveTo>
                <a:lnTo>
                  <a:pt x="2" y="0"/>
                </a:lnTo>
                <a:lnTo>
                  <a:pt x="37" y="10"/>
                </a:lnTo>
                <a:lnTo>
                  <a:pt x="37" y="10"/>
                </a:lnTo>
                <a:lnTo>
                  <a:pt x="38" y="11"/>
                </a:lnTo>
                <a:lnTo>
                  <a:pt x="39" y="14"/>
                </a:lnTo>
                <a:lnTo>
                  <a:pt x="39" y="14"/>
                </a:lnTo>
                <a:lnTo>
                  <a:pt x="38" y="39"/>
                </a:lnTo>
                <a:lnTo>
                  <a:pt x="38" y="39"/>
                </a:lnTo>
                <a:lnTo>
                  <a:pt x="38" y="41"/>
                </a:lnTo>
                <a:lnTo>
                  <a:pt x="37" y="42"/>
                </a:lnTo>
                <a:lnTo>
                  <a:pt x="37" y="42"/>
                </a:lnTo>
                <a:lnTo>
                  <a:pt x="2" y="36"/>
                </a:lnTo>
                <a:lnTo>
                  <a:pt x="2" y="36"/>
                </a:lnTo>
                <a:lnTo>
                  <a:pt x="1" y="35"/>
                </a:lnTo>
                <a:lnTo>
                  <a:pt x="0" y="32"/>
                </a:lnTo>
                <a:lnTo>
                  <a:pt x="0" y="32"/>
                </a:lnTo>
                <a:lnTo>
                  <a:pt x="0" y="4"/>
                </a:lnTo>
                <a:lnTo>
                  <a:pt x="0" y="4"/>
                </a:lnTo>
                <a:lnTo>
                  <a:pt x="1" y="1"/>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6" name="Freeform 395">
            <a:extLst>
              <a:ext uri="{FF2B5EF4-FFF2-40B4-BE49-F238E27FC236}">
                <a16:creationId xmlns:a16="http://schemas.microsoft.com/office/drawing/2014/main" id="{36BB9F3D-D418-4F30-B4E4-0DEAD8D7EC65}"/>
              </a:ext>
            </a:extLst>
          </p:cNvPr>
          <p:cNvSpPr>
            <a:spLocks/>
          </p:cNvSpPr>
          <p:nvPr/>
        </p:nvSpPr>
        <p:spPr bwMode="gray">
          <a:xfrm>
            <a:off x="3412396" y="1609573"/>
            <a:ext cx="23056" cy="19392"/>
          </a:xfrm>
          <a:custGeom>
            <a:avLst/>
            <a:gdLst>
              <a:gd name="T0" fmla="*/ 2 w 38"/>
              <a:gd name="T1" fmla="*/ 0 h 35"/>
              <a:gd name="T2" fmla="*/ 2 w 38"/>
              <a:gd name="T3" fmla="*/ 0 h 35"/>
              <a:gd name="T4" fmla="*/ 37 w 38"/>
              <a:gd name="T5" fmla="*/ 4 h 35"/>
              <a:gd name="T6" fmla="*/ 37 w 38"/>
              <a:gd name="T7" fmla="*/ 4 h 35"/>
              <a:gd name="T8" fmla="*/ 38 w 38"/>
              <a:gd name="T9" fmla="*/ 5 h 35"/>
              <a:gd name="T10" fmla="*/ 38 w 38"/>
              <a:gd name="T11" fmla="*/ 7 h 35"/>
              <a:gd name="T12" fmla="*/ 38 w 38"/>
              <a:gd name="T13" fmla="*/ 7 h 35"/>
              <a:gd name="T14" fmla="*/ 38 w 38"/>
              <a:gd name="T15" fmla="*/ 32 h 35"/>
              <a:gd name="T16" fmla="*/ 38 w 38"/>
              <a:gd name="T17" fmla="*/ 32 h 35"/>
              <a:gd name="T18" fmla="*/ 38 w 38"/>
              <a:gd name="T19" fmla="*/ 34 h 35"/>
              <a:gd name="T20" fmla="*/ 37 w 38"/>
              <a:gd name="T21" fmla="*/ 35 h 35"/>
              <a:gd name="T22" fmla="*/ 37 w 38"/>
              <a:gd name="T23" fmla="*/ 35 h 35"/>
              <a:gd name="T24" fmla="*/ 2 w 38"/>
              <a:gd name="T25" fmla="*/ 35 h 35"/>
              <a:gd name="T26" fmla="*/ 2 w 38"/>
              <a:gd name="T27" fmla="*/ 35 h 35"/>
              <a:gd name="T28" fmla="*/ 0 w 38"/>
              <a:gd name="T29" fmla="*/ 34 h 35"/>
              <a:gd name="T30" fmla="*/ 0 w 38"/>
              <a:gd name="T31" fmla="*/ 32 h 35"/>
              <a:gd name="T32" fmla="*/ 0 w 38"/>
              <a:gd name="T33" fmla="*/ 32 h 35"/>
              <a:gd name="T34" fmla="*/ 0 w 38"/>
              <a:gd name="T35" fmla="*/ 3 h 35"/>
              <a:gd name="T36" fmla="*/ 0 w 38"/>
              <a:gd name="T37" fmla="*/ 3 h 35"/>
              <a:gd name="T38" fmla="*/ 1 w 38"/>
              <a:gd name="T39" fmla="*/ 1 h 35"/>
              <a:gd name="T40" fmla="*/ 2 w 38"/>
              <a:gd name="T41" fmla="*/ 0 h 35"/>
              <a:gd name="T42" fmla="*/ 2 w 38"/>
              <a:gd name="T4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35">
                <a:moveTo>
                  <a:pt x="2" y="0"/>
                </a:moveTo>
                <a:lnTo>
                  <a:pt x="2" y="0"/>
                </a:lnTo>
                <a:lnTo>
                  <a:pt x="37" y="4"/>
                </a:lnTo>
                <a:lnTo>
                  <a:pt x="37" y="4"/>
                </a:lnTo>
                <a:lnTo>
                  <a:pt x="38" y="5"/>
                </a:lnTo>
                <a:lnTo>
                  <a:pt x="38" y="7"/>
                </a:lnTo>
                <a:lnTo>
                  <a:pt x="38" y="7"/>
                </a:lnTo>
                <a:lnTo>
                  <a:pt x="38" y="32"/>
                </a:lnTo>
                <a:lnTo>
                  <a:pt x="38" y="32"/>
                </a:lnTo>
                <a:lnTo>
                  <a:pt x="38" y="34"/>
                </a:lnTo>
                <a:lnTo>
                  <a:pt x="37" y="35"/>
                </a:lnTo>
                <a:lnTo>
                  <a:pt x="37" y="35"/>
                </a:lnTo>
                <a:lnTo>
                  <a:pt x="2" y="35"/>
                </a:lnTo>
                <a:lnTo>
                  <a:pt x="2" y="35"/>
                </a:lnTo>
                <a:lnTo>
                  <a:pt x="0" y="34"/>
                </a:lnTo>
                <a:lnTo>
                  <a:pt x="0" y="32"/>
                </a:lnTo>
                <a:lnTo>
                  <a:pt x="0" y="32"/>
                </a:lnTo>
                <a:lnTo>
                  <a:pt x="0" y="3"/>
                </a:lnTo>
                <a:lnTo>
                  <a:pt x="0" y="3"/>
                </a:lnTo>
                <a:lnTo>
                  <a:pt x="1" y="1"/>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7" name="Freeform 396">
            <a:extLst>
              <a:ext uri="{FF2B5EF4-FFF2-40B4-BE49-F238E27FC236}">
                <a16:creationId xmlns:a16="http://schemas.microsoft.com/office/drawing/2014/main" id="{8168F35E-8BE0-4B87-A08E-6DD09B7079E6}"/>
              </a:ext>
            </a:extLst>
          </p:cNvPr>
          <p:cNvSpPr>
            <a:spLocks/>
          </p:cNvSpPr>
          <p:nvPr/>
        </p:nvSpPr>
        <p:spPr bwMode="gray">
          <a:xfrm>
            <a:off x="3412396" y="1635615"/>
            <a:ext cx="23056" cy="20500"/>
          </a:xfrm>
          <a:custGeom>
            <a:avLst/>
            <a:gdLst>
              <a:gd name="T0" fmla="*/ 1 w 38"/>
              <a:gd name="T1" fmla="*/ 2 h 37"/>
              <a:gd name="T2" fmla="*/ 1 w 38"/>
              <a:gd name="T3" fmla="*/ 2 h 37"/>
              <a:gd name="T4" fmla="*/ 37 w 38"/>
              <a:gd name="T5" fmla="*/ 0 h 37"/>
              <a:gd name="T6" fmla="*/ 37 w 38"/>
              <a:gd name="T7" fmla="*/ 0 h 37"/>
              <a:gd name="T8" fmla="*/ 38 w 38"/>
              <a:gd name="T9" fmla="*/ 1 h 37"/>
              <a:gd name="T10" fmla="*/ 38 w 38"/>
              <a:gd name="T11" fmla="*/ 4 h 37"/>
              <a:gd name="T12" fmla="*/ 38 w 38"/>
              <a:gd name="T13" fmla="*/ 4 h 37"/>
              <a:gd name="T14" fmla="*/ 38 w 38"/>
              <a:gd name="T15" fmla="*/ 28 h 37"/>
              <a:gd name="T16" fmla="*/ 38 w 38"/>
              <a:gd name="T17" fmla="*/ 28 h 37"/>
              <a:gd name="T18" fmla="*/ 38 w 38"/>
              <a:gd name="T19" fmla="*/ 31 h 37"/>
              <a:gd name="T20" fmla="*/ 37 w 38"/>
              <a:gd name="T21" fmla="*/ 32 h 37"/>
              <a:gd name="T22" fmla="*/ 37 w 38"/>
              <a:gd name="T23" fmla="*/ 32 h 37"/>
              <a:gd name="T24" fmla="*/ 1 w 38"/>
              <a:gd name="T25" fmla="*/ 37 h 37"/>
              <a:gd name="T26" fmla="*/ 1 w 38"/>
              <a:gd name="T27" fmla="*/ 37 h 37"/>
              <a:gd name="T28" fmla="*/ 0 w 38"/>
              <a:gd name="T29" fmla="*/ 36 h 37"/>
              <a:gd name="T30" fmla="*/ 0 w 38"/>
              <a:gd name="T31" fmla="*/ 34 h 37"/>
              <a:gd name="T32" fmla="*/ 0 w 38"/>
              <a:gd name="T33" fmla="*/ 34 h 37"/>
              <a:gd name="T34" fmla="*/ 0 w 38"/>
              <a:gd name="T35" fmla="*/ 5 h 37"/>
              <a:gd name="T36" fmla="*/ 0 w 38"/>
              <a:gd name="T37" fmla="*/ 5 h 37"/>
              <a:gd name="T38" fmla="*/ 0 w 38"/>
              <a:gd name="T39" fmla="*/ 3 h 37"/>
              <a:gd name="T40" fmla="*/ 1 w 38"/>
              <a:gd name="T41" fmla="*/ 2 h 37"/>
              <a:gd name="T42" fmla="*/ 1 w 38"/>
              <a:gd name="T43"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37">
                <a:moveTo>
                  <a:pt x="1" y="2"/>
                </a:moveTo>
                <a:lnTo>
                  <a:pt x="1" y="2"/>
                </a:lnTo>
                <a:lnTo>
                  <a:pt x="37" y="0"/>
                </a:lnTo>
                <a:lnTo>
                  <a:pt x="37" y="0"/>
                </a:lnTo>
                <a:lnTo>
                  <a:pt x="38" y="1"/>
                </a:lnTo>
                <a:lnTo>
                  <a:pt x="38" y="4"/>
                </a:lnTo>
                <a:lnTo>
                  <a:pt x="38" y="4"/>
                </a:lnTo>
                <a:lnTo>
                  <a:pt x="38" y="28"/>
                </a:lnTo>
                <a:lnTo>
                  <a:pt x="38" y="28"/>
                </a:lnTo>
                <a:lnTo>
                  <a:pt x="38" y="31"/>
                </a:lnTo>
                <a:lnTo>
                  <a:pt x="37" y="32"/>
                </a:lnTo>
                <a:lnTo>
                  <a:pt x="37" y="32"/>
                </a:lnTo>
                <a:lnTo>
                  <a:pt x="1" y="37"/>
                </a:lnTo>
                <a:lnTo>
                  <a:pt x="1" y="37"/>
                </a:lnTo>
                <a:lnTo>
                  <a:pt x="0" y="36"/>
                </a:lnTo>
                <a:lnTo>
                  <a:pt x="0" y="34"/>
                </a:lnTo>
                <a:lnTo>
                  <a:pt x="0" y="34"/>
                </a:lnTo>
                <a:lnTo>
                  <a:pt x="0" y="5"/>
                </a:lnTo>
                <a:lnTo>
                  <a:pt x="0" y="5"/>
                </a:lnTo>
                <a:lnTo>
                  <a:pt x="0" y="3"/>
                </a:lnTo>
                <a:lnTo>
                  <a:pt x="1" y="2"/>
                </a:lnTo>
                <a:lnTo>
                  <a:pt x="1" y="2"/>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8" name="Freeform 397">
            <a:extLst>
              <a:ext uri="{FF2B5EF4-FFF2-40B4-BE49-F238E27FC236}">
                <a16:creationId xmlns:a16="http://schemas.microsoft.com/office/drawing/2014/main" id="{4A20B242-43DA-409D-B192-64621D48C089}"/>
              </a:ext>
            </a:extLst>
          </p:cNvPr>
          <p:cNvSpPr>
            <a:spLocks/>
          </p:cNvSpPr>
          <p:nvPr/>
        </p:nvSpPr>
        <p:spPr bwMode="gray">
          <a:xfrm>
            <a:off x="3412396" y="1662763"/>
            <a:ext cx="23056" cy="9973"/>
          </a:xfrm>
          <a:custGeom>
            <a:avLst/>
            <a:gdLst>
              <a:gd name="T0" fmla="*/ 1 w 38"/>
              <a:gd name="T1" fmla="*/ 8 h 18"/>
              <a:gd name="T2" fmla="*/ 1 w 38"/>
              <a:gd name="T3" fmla="*/ 8 h 18"/>
              <a:gd name="T4" fmla="*/ 37 w 38"/>
              <a:gd name="T5" fmla="*/ 0 h 18"/>
              <a:gd name="T6" fmla="*/ 37 w 38"/>
              <a:gd name="T7" fmla="*/ 0 h 18"/>
              <a:gd name="T8" fmla="*/ 38 w 38"/>
              <a:gd name="T9" fmla="*/ 1 h 18"/>
              <a:gd name="T10" fmla="*/ 38 w 38"/>
              <a:gd name="T11" fmla="*/ 3 h 18"/>
              <a:gd name="T12" fmla="*/ 38 w 38"/>
              <a:gd name="T13" fmla="*/ 3 h 18"/>
              <a:gd name="T14" fmla="*/ 38 w 38"/>
              <a:gd name="T15" fmla="*/ 6 h 18"/>
              <a:gd name="T16" fmla="*/ 38 w 38"/>
              <a:gd name="T17" fmla="*/ 6 h 18"/>
              <a:gd name="T18" fmla="*/ 38 w 38"/>
              <a:gd name="T19" fmla="*/ 8 h 18"/>
              <a:gd name="T20" fmla="*/ 37 w 38"/>
              <a:gd name="T21" fmla="*/ 9 h 18"/>
              <a:gd name="T22" fmla="*/ 37 w 38"/>
              <a:gd name="T23" fmla="*/ 9 h 18"/>
              <a:gd name="T24" fmla="*/ 1 w 38"/>
              <a:gd name="T25" fmla="*/ 18 h 18"/>
              <a:gd name="T26" fmla="*/ 1 w 38"/>
              <a:gd name="T27" fmla="*/ 18 h 18"/>
              <a:gd name="T28" fmla="*/ 0 w 38"/>
              <a:gd name="T29" fmla="*/ 17 h 18"/>
              <a:gd name="T30" fmla="*/ 0 w 38"/>
              <a:gd name="T31" fmla="*/ 14 h 18"/>
              <a:gd name="T32" fmla="*/ 0 w 38"/>
              <a:gd name="T33" fmla="*/ 14 h 18"/>
              <a:gd name="T34" fmla="*/ 0 w 38"/>
              <a:gd name="T35" fmla="*/ 11 h 18"/>
              <a:gd name="T36" fmla="*/ 0 w 38"/>
              <a:gd name="T37" fmla="*/ 11 h 18"/>
              <a:gd name="T38" fmla="*/ 0 w 38"/>
              <a:gd name="T39" fmla="*/ 9 h 18"/>
              <a:gd name="T40" fmla="*/ 1 w 38"/>
              <a:gd name="T41" fmla="*/ 8 h 18"/>
              <a:gd name="T42" fmla="*/ 1 w 38"/>
              <a:gd name="T43"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18">
                <a:moveTo>
                  <a:pt x="1" y="8"/>
                </a:moveTo>
                <a:lnTo>
                  <a:pt x="1" y="8"/>
                </a:lnTo>
                <a:lnTo>
                  <a:pt x="37" y="0"/>
                </a:lnTo>
                <a:lnTo>
                  <a:pt x="37" y="0"/>
                </a:lnTo>
                <a:lnTo>
                  <a:pt x="38" y="1"/>
                </a:lnTo>
                <a:lnTo>
                  <a:pt x="38" y="3"/>
                </a:lnTo>
                <a:lnTo>
                  <a:pt x="38" y="3"/>
                </a:lnTo>
                <a:lnTo>
                  <a:pt x="38" y="6"/>
                </a:lnTo>
                <a:lnTo>
                  <a:pt x="38" y="6"/>
                </a:lnTo>
                <a:lnTo>
                  <a:pt x="38" y="8"/>
                </a:lnTo>
                <a:lnTo>
                  <a:pt x="37" y="9"/>
                </a:lnTo>
                <a:lnTo>
                  <a:pt x="37" y="9"/>
                </a:lnTo>
                <a:lnTo>
                  <a:pt x="1" y="18"/>
                </a:lnTo>
                <a:lnTo>
                  <a:pt x="1" y="18"/>
                </a:lnTo>
                <a:lnTo>
                  <a:pt x="0" y="17"/>
                </a:lnTo>
                <a:lnTo>
                  <a:pt x="0" y="14"/>
                </a:lnTo>
                <a:lnTo>
                  <a:pt x="0" y="14"/>
                </a:lnTo>
                <a:lnTo>
                  <a:pt x="0" y="11"/>
                </a:lnTo>
                <a:lnTo>
                  <a:pt x="0" y="11"/>
                </a:lnTo>
                <a:lnTo>
                  <a:pt x="0" y="9"/>
                </a:lnTo>
                <a:lnTo>
                  <a:pt x="1" y="8"/>
                </a:lnTo>
                <a:lnTo>
                  <a:pt x="1" y="8"/>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69" name="Freeform 398">
            <a:extLst>
              <a:ext uri="{FF2B5EF4-FFF2-40B4-BE49-F238E27FC236}">
                <a16:creationId xmlns:a16="http://schemas.microsoft.com/office/drawing/2014/main" id="{6F42673D-D52D-47EC-B5F8-0ADEA0CC7304}"/>
              </a:ext>
            </a:extLst>
          </p:cNvPr>
          <p:cNvSpPr>
            <a:spLocks/>
          </p:cNvSpPr>
          <p:nvPr/>
        </p:nvSpPr>
        <p:spPr bwMode="gray">
          <a:xfrm>
            <a:off x="3412396" y="1671073"/>
            <a:ext cx="23056" cy="11635"/>
          </a:xfrm>
          <a:custGeom>
            <a:avLst/>
            <a:gdLst>
              <a:gd name="T0" fmla="*/ 1 w 38"/>
              <a:gd name="T1" fmla="*/ 10 h 21"/>
              <a:gd name="T2" fmla="*/ 1 w 38"/>
              <a:gd name="T3" fmla="*/ 10 h 21"/>
              <a:gd name="T4" fmla="*/ 37 w 38"/>
              <a:gd name="T5" fmla="*/ 0 h 21"/>
              <a:gd name="T6" fmla="*/ 37 w 38"/>
              <a:gd name="T7" fmla="*/ 0 h 21"/>
              <a:gd name="T8" fmla="*/ 38 w 38"/>
              <a:gd name="T9" fmla="*/ 1 h 21"/>
              <a:gd name="T10" fmla="*/ 38 w 38"/>
              <a:gd name="T11" fmla="*/ 3 h 21"/>
              <a:gd name="T12" fmla="*/ 38 w 38"/>
              <a:gd name="T13" fmla="*/ 3 h 21"/>
              <a:gd name="T14" fmla="*/ 38 w 38"/>
              <a:gd name="T15" fmla="*/ 7 h 21"/>
              <a:gd name="T16" fmla="*/ 38 w 38"/>
              <a:gd name="T17" fmla="*/ 7 h 21"/>
              <a:gd name="T18" fmla="*/ 38 w 38"/>
              <a:gd name="T19" fmla="*/ 9 h 21"/>
              <a:gd name="T20" fmla="*/ 36 w 38"/>
              <a:gd name="T21" fmla="*/ 10 h 21"/>
              <a:gd name="T22" fmla="*/ 36 w 38"/>
              <a:gd name="T23" fmla="*/ 10 h 21"/>
              <a:gd name="T24" fmla="*/ 1 w 38"/>
              <a:gd name="T25" fmla="*/ 21 h 21"/>
              <a:gd name="T26" fmla="*/ 1 w 38"/>
              <a:gd name="T27" fmla="*/ 21 h 21"/>
              <a:gd name="T28" fmla="*/ 0 w 38"/>
              <a:gd name="T29" fmla="*/ 20 h 21"/>
              <a:gd name="T30" fmla="*/ 0 w 38"/>
              <a:gd name="T31" fmla="*/ 17 h 21"/>
              <a:gd name="T32" fmla="*/ 0 w 38"/>
              <a:gd name="T33" fmla="*/ 17 h 21"/>
              <a:gd name="T34" fmla="*/ 0 w 38"/>
              <a:gd name="T35" fmla="*/ 15 h 21"/>
              <a:gd name="T36" fmla="*/ 0 w 38"/>
              <a:gd name="T37" fmla="*/ 15 h 21"/>
              <a:gd name="T38" fmla="*/ 0 w 38"/>
              <a:gd name="T39" fmla="*/ 12 h 21"/>
              <a:gd name="T40" fmla="*/ 1 w 38"/>
              <a:gd name="T41" fmla="*/ 10 h 21"/>
              <a:gd name="T42" fmla="*/ 1 w 38"/>
              <a:gd name="T43" fmla="*/ 1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21">
                <a:moveTo>
                  <a:pt x="1" y="10"/>
                </a:moveTo>
                <a:lnTo>
                  <a:pt x="1" y="10"/>
                </a:lnTo>
                <a:lnTo>
                  <a:pt x="37" y="0"/>
                </a:lnTo>
                <a:lnTo>
                  <a:pt x="37" y="0"/>
                </a:lnTo>
                <a:lnTo>
                  <a:pt x="38" y="1"/>
                </a:lnTo>
                <a:lnTo>
                  <a:pt x="38" y="3"/>
                </a:lnTo>
                <a:lnTo>
                  <a:pt x="38" y="3"/>
                </a:lnTo>
                <a:lnTo>
                  <a:pt x="38" y="7"/>
                </a:lnTo>
                <a:lnTo>
                  <a:pt x="38" y="7"/>
                </a:lnTo>
                <a:lnTo>
                  <a:pt x="38" y="9"/>
                </a:lnTo>
                <a:lnTo>
                  <a:pt x="36" y="10"/>
                </a:lnTo>
                <a:lnTo>
                  <a:pt x="36" y="10"/>
                </a:lnTo>
                <a:lnTo>
                  <a:pt x="1" y="21"/>
                </a:lnTo>
                <a:lnTo>
                  <a:pt x="1" y="21"/>
                </a:lnTo>
                <a:lnTo>
                  <a:pt x="0" y="20"/>
                </a:lnTo>
                <a:lnTo>
                  <a:pt x="0" y="17"/>
                </a:lnTo>
                <a:lnTo>
                  <a:pt x="0" y="17"/>
                </a:lnTo>
                <a:lnTo>
                  <a:pt x="0" y="15"/>
                </a:lnTo>
                <a:lnTo>
                  <a:pt x="0" y="15"/>
                </a:lnTo>
                <a:lnTo>
                  <a:pt x="0" y="12"/>
                </a:lnTo>
                <a:lnTo>
                  <a:pt x="1" y="10"/>
                </a:lnTo>
                <a:lnTo>
                  <a:pt x="1" y="1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0" name="Freeform 399">
            <a:extLst>
              <a:ext uri="{FF2B5EF4-FFF2-40B4-BE49-F238E27FC236}">
                <a16:creationId xmlns:a16="http://schemas.microsoft.com/office/drawing/2014/main" id="{BBCD545A-8689-4206-BAE1-5FF5E927F553}"/>
              </a:ext>
            </a:extLst>
          </p:cNvPr>
          <p:cNvSpPr>
            <a:spLocks/>
          </p:cNvSpPr>
          <p:nvPr/>
        </p:nvSpPr>
        <p:spPr bwMode="gray">
          <a:xfrm>
            <a:off x="3445159" y="1557492"/>
            <a:ext cx="33370" cy="125771"/>
          </a:xfrm>
          <a:custGeom>
            <a:avLst/>
            <a:gdLst>
              <a:gd name="T0" fmla="*/ 4 w 55"/>
              <a:gd name="T1" fmla="*/ 1 h 227"/>
              <a:gd name="T2" fmla="*/ 4 w 55"/>
              <a:gd name="T3" fmla="*/ 1 h 227"/>
              <a:gd name="T4" fmla="*/ 52 w 55"/>
              <a:gd name="T5" fmla="*/ 25 h 227"/>
              <a:gd name="T6" fmla="*/ 52 w 55"/>
              <a:gd name="T7" fmla="*/ 25 h 227"/>
              <a:gd name="T8" fmla="*/ 54 w 55"/>
              <a:gd name="T9" fmla="*/ 27 h 227"/>
              <a:gd name="T10" fmla="*/ 55 w 55"/>
              <a:gd name="T11" fmla="*/ 30 h 227"/>
              <a:gd name="T12" fmla="*/ 55 w 55"/>
              <a:gd name="T13" fmla="*/ 30 h 227"/>
              <a:gd name="T14" fmla="*/ 55 w 55"/>
              <a:gd name="T15" fmla="*/ 117 h 227"/>
              <a:gd name="T16" fmla="*/ 55 w 55"/>
              <a:gd name="T17" fmla="*/ 117 h 227"/>
              <a:gd name="T18" fmla="*/ 55 w 55"/>
              <a:gd name="T19" fmla="*/ 202 h 227"/>
              <a:gd name="T20" fmla="*/ 55 w 55"/>
              <a:gd name="T21" fmla="*/ 202 h 227"/>
              <a:gd name="T22" fmla="*/ 54 w 55"/>
              <a:gd name="T23" fmla="*/ 206 h 227"/>
              <a:gd name="T24" fmla="*/ 53 w 55"/>
              <a:gd name="T25" fmla="*/ 207 h 227"/>
              <a:gd name="T26" fmla="*/ 52 w 55"/>
              <a:gd name="T27" fmla="*/ 208 h 227"/>
              <a:gd name="T28" fmla="*/ 52 w 55"/>
              <a:gd name="T29" fmla="*/ 208 h 227"/>
              <a:gd name="T30" fmla="*/ 3 w 55"/>
              <a:gd name="T31" fmla="*/ 227 h 227"/>
              <a:gd name="T32" fmla="*/ 3 w 55"/>
              <a:gd name="T33" fmla="*/ 227 h 227"/>
              <a:gd name="T34" fmla="*/ 2 w 55"/>
              <a:gd name="T35" fmla="*/ 227 h 227"/>
              <a:gd name="T36" fmla="*/ 1 w 55"/>
              <a:gd name="T37" fmla="*/ 226 h 227"/>
              <a:gd name="T38" fmla="*/ 0 w 55"/>
              <a:gd name="T39" fmla="*/ 224 h 227"/>
              <a:gd name="T40" fmla="*/ 0 w 55"/>
              <a:gd name="T41" fmla="*/ 221 h 227"/>
              <a:gd name="T42" fmla="*/ 0 w 55"/>
              <a:gd name="T43" fmla="*/ 221 h 227"/>
              <a:gd name="T44" fmla="*/ 0 w 55"/>
              <a:gd name="T45" fmla="*/ 113 h 227"/>
              <a:gd name="T46" fmla="*/ 0 w 55"/>
              <a:gd name="T47" fmla="*/ 113 h 227"/>
              <a:gd name="T48" fmla="*/ 1 w 55"/>
              <a:gd name="T49" fmla="*/ 4 h 227"/>
              <a:gd name="T50" fmla="*/ 1 w 55"/>
              <a:gd name="T51" fmla="*/ 4 h 227"/>
              <a:gd name="T52" fmla="*/ 1 w 55"/>
              <a:gd name="T53" fmla="*/ 2 h 227"/>
              <a:gd name="T54" fmla="*/ 2 w 55"/>
              <a:gd name="T55" fmla="*/ 1 h 227"/>
              <a:gd name="T56" fmla="*/ 3 w 55"/>
              <a:gd name="T57" fmla="*/ 0 h 227"/>
              <a:gd name="T58" fmla="*/ 4 w 55"/>
              <a:gd name="T59" fmla="*/ 1 h 227"/>
              <a:gd name="T60" fmla="*/ 4 w 55"/>
              <a:gd name="T61" fmla="*/ 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 h="227">
                <a:moveTo>
                  <a:pt x="4" y="1"/>
                </a:moveTo>
                <a:lnTo>
                  <a:pt x="4" y="1"/>
                </a:lnTo>
                <a:lnTo>
                  <a:pt x="52" y="25"/>
                </a:lnTo>
                <a:lnTo>
                  <a:pt x="52" y="25"/>
                </a:lnTo>
                <a:lnTo>
                  <a:pt x="54" y="27"/>
                </a:lnTo>
                <a:lnTo>
                  <a:pt x="55" y="30"/>
                </a:lnTo>
                <a:lnTo>
                  <a:pt x="55" y="30"/>
                </a:lnTo>
                <a:lnTo>
                  <a:pt x="55" y="117"/>
                </a:lnTo>
                <a:lnTo>
                  <a:pt x="55" y="117"/>
                </a:lnTo>
                <a:lnTo>
                  <a:pt x="55" y="202"/>
                </a:lnTo>
                <a:lnTo>
                  <a:pt x="55" y="202"/>
                </a:lnTo>
                <a:lnTo>
                  <a:pt x="54" y="206"/>
                </a:lnTo>
                <a:lnTo>
                  <a:pt x="53" y="207"/>
                </a:lnTo>
                <a:lnTo>
                  <a:pt x="52" y="208"/>
                </a:lnTo>
                <a:lnTo>
                  <a:pt x="52" y="208"/>
                </a:lnTo>
                <a:lnTo>
                  <a:pt x="3" y="227"/>
                </a:lnTo>
                <a:lnTo>
                  <a:pt x="3" y="227"/>
                </a:lnTo>
                <a:lnTo>
                  <a:pt x="2" y="227"/>
                </a:lnTo>
                <a:lnTo>
                  <a:pt x="1" y="226"/>
                </a:lnTo>
                <a:lnTo>
                  <a:pt x="0" y="224"/>
                </a:lnTo>
                <a:lnTo>
                  <a:pt x="0" y="221"/>
                </a:lnTo>
                <a:lnTo>
                  <a:pt x="0" y="221"/>
                </a:lnTo>
                <a:lnTo>
                  <a:pt x="0" y="113"/>
                </a:lnTo>
                <a:lnTo>
                  <a:pt x="0" y="113"/>
                </a:lnTo>
                <a:lnTo>
                  <a:pt x="1" y="4"/>
                </a:lnTo>
                <a:lnTo>
                  <a:pt x="1" y="4"/>
                </a:lnTo>
                <a:lnTo>
                  <a:pt x="1" y="2"/>
                </a:lnTo>
                <a:lnTo>
                  <a:pt x="2" y="1"/>
                </a:lnTo>
                <a:lnTo>
                  <a:pt x="3" y="0"/>
                </a:lnTo>
                <a:lnTo>
                  <a:pt x="4" y="1"/>
                </a:lnTo>
                <a:lnTo>
                  <a:pt x="4" y="1"/>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1" name="Freeform 400">
            <a:extLst>
              <a:ext uri="{FF2B5EF4-FFF2-40B4-BE49-F238E27FC236}">
                <a16:creationId xmlns:a16="http://schemas.microsoft.com/office/drawing/2014/main" id="{12559FB7-D8AE-42E4-B74D-533302E99A41}"/>
              </a:ext>
            </a:extLst>
          </p:cNvPr>
          <p:cNvSpPr>
            <a:spLocks/>
          </p:cNvSpPr>
          <p:nvPr/>
        </p:nvSpPr>
        <p:spPr bwMode="gray">
          <a:xfrm>
            <a:off x="3450013" y="1570236"/>
            <a:ext cx="23663" cy="21608"/>
          </a:xfrm>
          <a:custGeom>
            <a:avLst/>
            <a:gdLst>
              <a:gd name="T0" fmla="*/ 2 w 39"/>
              <a:gd name="T1" fmla="*/ 0 h 39"/>
              <a:gd name="T2" fmla="*/ 2 w 39"/>
              <a:gd name="T3" fmla="*/ 0 h 39"/>
              <a:gd name="T4" fmla="*/ 37 w 39"/>
              <a:gd name="T5" fmla="*/ 14 h 39"/>
              <a:gd name="T6" fmla="*/ 37 w 39"/>
              <a:gd name="T7" fmla="*/ 14 h 39"/>
              <a:gd name="T8" fmla="*/ 38 w 39"/>
              <a:gd name="T9" fmla="*/ 15 h 39"/>
              <a:gd name="T10" fmla="*/ 39 w 39"/>
              <a:gd name="T11" fmla="*/ 17 h 39"/>
              <a:gd name="T12" fmla="*/ 39 w 39"/>
              <a:gd name="T13" fmla="*/ 17 h 39"/>
              <a:gd name="T14" fmla="*/ 38 w 39"/>
              <a:gd name="T15" fmla="*/ 37 h 39"/>
              <a:gd name="T16" fmla="*/ 38 w 39"/>
              <a:gd name="T17" fmla="*/ 37 h 39"/>
              <a:gd name="T18" fmla="*/ 38 w 39"/>
              <a:gd name="T19" fmla="*/ 38 h 39"/>
              <a:gd name="T20" fmla="*/ 37 w 39"/>
              <a:gd name="T21" fmla="*/ 39 h 39"/>
              <a:gd name="T22" fmla="*/ 37 w 39"/>
              <a:gd name="T23" fmla="*/ 39 h 39"/>
              <a:gd name="T24" fmla="*/ 2 w 39"/>
              <a:gd name="T25" fmla="*/ 28 h 39"/>
              <a:gd name="T26" fmla="*/ 2 w 39"/>
              <a:gd name="T27" fmla="*/ 28 h 39"/>
              <a:gd name="T28" fmla="*/ 1 w 39"/>
              <a:gd name="T29" fmla="*/ 27 h 39"/>
              <a:gd name="T30" fmla="*/ 0 w 39"/>
              <a:gd name="T31" fmla="*/ 25 h 39"/>
              <a:gd name="T32" fmla="*/ 0 w 39"/>
              <a:gd name="T33" fmla="*/ 25 h 39"/>
              <a:gd name="T34" fmla="*/ 0 w 39"/>
              <a:gd name="T35" fmla="*/ 2 h 39"/>
              <a:gd name="T36" fmla="*/ 0 w 39"/>
              <a:gd name="T37" fmla="*/ 2 h 39"/>
              <a:gd name="T38" fmla="*/ 1 w 39"/>
              <a:gd name="T39" fmla="*/ 0 h 39"/>
              <a:gd name="T40" fmla="*/ 2 w 39"/>
              <a:gd name="T41" fmla="*/ 0 h 39"/>
              <a:gd name="T42" fmla="*/ 2 w 39"/>
              <a:gd name="T4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39">
                <a:moveTo>
                  <a:pt x="2" y="0"/>
                </a:moveTo>
                <a:lnTo>
                  <a:pt x="2" y="0"/>
                </a:lnTo>
                <a:lnTo>
                  <a:pt x="37" y="14"/>
                </a:lnTo>
                <a:lnTo>
                  <a:pt x="37" y="14"/>
                </a:lnTo>
                <a:lnTo>
                  <a:pt x="38" y="15"/>
                </a:lnTo>
                <a:lnTo>
                  <a:pt x="39" y="17"/>
                </a:lnTo>
                <a:lnTo>
                  <a:pt x="39" y="17"/>
                </a:lnTo>
                <a:lnTo>
                  <a:pt x="38" y="37"/>
                </a:lnTo>
                <a:lnTo>
                  <a:pt x="38" y="37"/>
                </a:lnTo>
                <a:lnTo>
                  <a:pt x="38" y="38"/>
                </a:lnTo>
                <a:lnTo>
                  <a:pt x="37" y="39"/>
                </a:lnTo>
                <a:lnTo>
                  <a:pt x="37" y="39"/>
                </a:lnTo>
                <a:lnTo>
                  <a:pt x="2" y="28"/>
                </a:lnTo>
                <a:lnTo>
                  <a:pt x="2" y="28"/>
                </a:lnTo>
                <a:lnTo>
                  <a:pt x="1" y="27"/>
                </a:lnTo>
                <a:lnTo>
                  <a:pt x="0" y="25"/>
                </a:lnTo>
                <a:lnTo>
                  <a:pt x="0" y="25"/>
                </a:lnTo>
                <a:lnTo>
                  <a:pt x="0" y="2"/>
                </a:lnTo>
                <a:lnTo>
                  <a:pt x="0" y="2"/>
                </a:lnTo>
                <a:lnTo>
                  <a:pt x="1" y="0"/>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2" name="Freeform 401">
            <a:extLst>
              <a:ext uri="{FF2B5EF4-FFF2-40B4-BE49-F238E27FC236}">
                <a16:creationId xmlns:a16="http://schemas.microsoft.com/office/drawing/2014/main" id="{E0145F00-1162-44D7-92BA-2E206F168746}"/>
              </a:ext>
            </a:extLst>
          </p:cNvPr>
          <p:cNvSpPr>
            <a:spLocks/>
          </p:cNvSpPr>
          <p:nvPr/>
        </p:nvSpPr>
        <p:spPr bwMode="gray">
          <a:xfrm>
            <a:off x="3450013" y="1591289"/>
            <a:ext cx="23056" cy="19392"/>
          </a:xfrm>
          <a:custGeom>
            <a:avLst/>
            <a:gdLst>
              <a:gd name="T0" fmla="*/ 2 w 38"/>
              <a:gd name="T1" fmla="*/ 0 h 35"/>
              <a:gd name="T2" fmla="*/ 2 w 38"/>
              <a:gd name="T3" fmla="*/ 0 h 35"/>
              <a:gd name="T4" fmla="*/ 37 w 38"/>
              <a:gd name="T5" fmla="*/ 10 h 35"/>
              <a:gd name="T6" fmla="*/ 37 w 38"/>
              <a:gd name="T7" fmla="*/ 10 h 35"/>
              <a:gd name="T8" fmla="*/ 38 w 38"/>
              <a:gd name="T9" fmla="*/ 11 h 35"/>
              <a:gd name="T10" fmla="*/ 38 w 38"/>
              <a:gd name="T11" fmla="*/ 13 h 35"/>
              <a:gd name="T12" fmla="*/ 38 w 38"/>
              <a:gd name="T13" fmla="*/ 13 h 35"/>
              <a:gd name="T14" fmla="*/ 38 w 38"/>
              <a:gd name="T15" fmla="*/ 33 h 35"/>
              <a:gd name="T16" fmla="*/ 38 w 38"/>
              <a:gd name="T17" fmla="*/ 33 h 35"/>
              <a:gd name="T18" fmla="*/ 38 w 38"/>
              <a:gd name="T19" fmla="*/ 34 h 35"/>
              <a:gd name="T20" fmla="*/ 37 w 38"/>
              <a:gd name="T21" fmla="*/ 35 h 35"/>
              <a:gd name="T22" fmla="*/ 37 w 38"/>
              <a:gd name="T23" fmla="*/ 35 h 35"/>
              <a:gd name="T24" fmla="*/ 2 w 38"/>
              <a:gd name="T25" fmla="*/ 29 h 35"/>
              <a:gd name="T26" fmla="*/ 2 w 38"/>
              <a:gd name="T27" fmla="*/ 29 h 35"/>
              <a:gd name="T28" fmla="*/ 1 w 38"/>
              <a:gd name="T29" fmla="*/ 28 h 35"/>
              <a:gd name="T30" fmla="*/ 0 w 38"/>
              <a:gd name="T31" fmla="*/ 26 h 35"/>
              <a:gd name="T32" fmla="*/ 0 w 38"/>
              <a:gd name="T33" fmla="*/ 26 h 35"/>
              <a:gd name="T34" fmla="*/ 0 w 38"/>
              <a:gd name="T35" fmla="*/ 3 h 35"/>
              <a:gd name="T36" fmla="*/ 0 w 38"/>
              <a:gd name="T37" fmla="*/ 3 h 35"/>
              <a:gd name="T38" fmla="*/ 1 w 38"/>
              <a:gd name="T39" fmla="*/ 1 h 35"/>
              <a:gd name="T40" fmla="*/ 2 w 38"/>
              <a:gd name="T41" fmla="*/ 0 h 35"/>
              <a:gd name="T42" fmla="*/ 2 w 38"/>
              <a:gd name="T43"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35">
                <a:moveTo>
                  <a:pt x="2" y="0"/>
                </a:moveTo>
                <a:lnTo>
                  <a:pt x="2" y="0"/>
                </a:lnTo>
                <a:lnTo>
                  <a:pt x="37" y="10"/>
                </a:lnTo>
                <a:lnTo>
                  <a:pt x="37" y="10"/>
                </a:lnTo>
                <a:lnTo>
                  <a:pt x="38" y="11"/>
                </a:lnTo>
                <a:lnTo>
                  <a:pt x="38" y="13"/>
                </a:lnTo>
                <a:lnTo>
                  <a:pt x="38" y="13"/>
                </a:lnTo>
                <a:lnTo>
                  <a:pt x="38" y="33"/>
                </a:lnTo>
                <a:lnTo>
                  <a:pt x="38" y="33"/>
                </a:lnTo>
                <a:lnTo>
                  <a:pt x="38" y="34"/>
                </a:lnTo>
                <a:lnTo>
                  <a:pt x="37" y="35"/>
                </a:lnTo>
                <a:lnTo>
                  <a:pt x="37" y="35"/>
                </a:lnTo>
                <a:lnTo>
                  <a:pt x="2" y="29"/>
                </a:lnTo>
                <a:lnTo>
                  <a:pt x="2" y="29"/>
                </a:lnTo>
                <a:lnTo>
                  <a:pt x="1" y="28"/>
                </a:lnTo>
                <a:lnTo>
                  <a:pt x="0" y="26"/>
                </a:lnTo>
                <a:lnTo>
                  <a:pt x="0" y="26"/>
                </a:lnTo>
                <a:lnTo>
                  <a:pt x="0" y="3"/>
                </a:lnTo>
                <a:lnTo>
                  <a:pt x="0" y="3"/>
                </a:lnTo>
                <a:lnTo>
                  <a:pt x="1" y="1"/>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3" name="Freeform 402">
            <a:extLst>
              <a:ext uri="{FF2B5EF4-FFF2-40B4-BE49-F238E27FC236}">
                <a16:creationId xmlns:a16="http://schemas.microsoft.com/office/drawing/2014/main" id="{51BA70CE-57AF-42BC-869A-B3C8D91DAA0B}"/>
              </a:ext>
            </a:extLst>
          </p:cNvPr>
          <p:cNvSpPr>
            <a:spLocks/>
          </p:cNvSpPr>
          <p:nvPr/>
        </p:nvSpPr>
        <p:spPr bwMode="gray">
          <a:xfrm>
            <a:off x="3450013" y="1613450"/>
            <a:ext cx="23056" cy="15514"/>
          </a:xfrm>
          <a:custGeom>
            <a:avLst/>
            <a:gdLst>
              <a:gd name="T0" fmla="*/ 2 w 38"/>
              <a:gd name="T1" fmla="*/ 0 h 28"/>
              <a:gd name="T2" fmla="*/ 2 w 38"/>
              <a:gd name="T3" fmla="*/ 0 h 28"/>
              <a:gd name="T4" fmla="*/ 37 w 38"/>
              <a:gd name="T5" fmla="*/ 4 h 28"/>
              <a:gd name="T6" fmla="*/ 37 w 38"/>
              <a:gd name="T7" fmla="*/ 4 h 28"/>
              <a:gd name="T8" fmla="*/ 38 w 38"/>
              <a:gd name="T9" fmla="*/ 4 h 28"/>
              <a:gd name="T10" fmla="*/ 38 w 38"/>
              <a:gd name="T11" fmla="*/ 6 h 28"/>
              <a:gd name="T12" fmla="*/ 38 w 38"/>
              <a:gd name="T13" fmla="*/ 6 h 28"/>
              <a:gd name="T14" fmla="*/ 38 w 38"/>
              <a:gd name="T15" fmla="*/ 26 h 28"/>
              <a:gd name="T16" fmla="*/ 38 w 38"/>
              <a:gd name="T17" fmla="*/ 26 h 28"/>
              <a:gd name="T18" fmla="*/ 38 w 38"/>
              <a:gd name="T19" fmla="*/ 28 h 28"/>
              <a:gd name="T20" fmla="*/ 37 w 38"/>
              <a:gd name="T21" fmla="*/ 28 h 28"/>
              <a:gd name="T22" fmla="*/ 37 w 38"/>
              <a:gd name="T23" fmla="*/ 28 h 28"/>
              <a:gd name="T24" fmla="*/ 2 w 38"/>
              <a:gd name="T25" fmla="*/ 28 h 28"/>
              <a:gd name="T26" fmla="*/ 2 w 38"/>
              <a:gd name="T27" fmla="*/ 28 h 28"/>
              <a:gd name="T28" fmla="*/ 1 w 38"/>
              <a:gd name="T29" fmla="*/ 27 h 28"/>
              <a:gd name="T30" fmla="*/ 0 w 38"/>
              <a:gd name="T31" fmla="*/ 25 h 28"/>
              <a:gd name="T32" fmla="*/ 0 w 38"/>
              <a:gd name="T33" fmla="*/ 25 h 28"/>
              <a:gd name="T34" fmla="*/ 0 w 38"/>
              <a:gd name="T35" fmla="*/ 2 h 28"/>
              <a:gd name="T36" fmla="*/ 0 w 38"/>
              <a:gd name="T37" fmla="*/ 2 h 28"/>
              <a:gd name="T38" fmla="*/ 1 w 38"/>
              <a:gd name="T39" fmla="*/ 0 h 28"/>
              <a:gd name="T40" fmla="*/ 2 w 38"/>
              <a:gd name="T41" fmla="*/ 0 h 28"/>
              <a:gd name="T42" fmla="*/ 2 w 38"/>
              <a:gd name="T43"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28">
                <a:moveTo>
                  <a:pt x="2" y="0"/>
                </a:moveTo>
                <a:lnTo>
                  <a:pt x="2" y="0"/>
                </a:lnTo>
                <a:lnTo>
                  <a:pt x="37" y="4"/>
                </a:lnTo>
                <a:lnTo>
                  <a:pt x="37" y="4"/>
                </a:lnTo>
                <a:lnTo>
                  <a:pt x="38" y="4"/>
                </a:lnTo>
                <a:lnTo>
                  <a:pt x="38" y="6"/>
                </a:lnTo>
                <a:lnTo>
                  <a:pt x="38" y="6"/>
                </a:lnTo>
                <a:lnTo>
                  <a:pt x="38" y="26"/>
                </a:lnTo>
                <a:lnTo>
                  <a:pt x="38" y="26"/>
                </a:lnTo>
                <a:lnTo>
                  <a:pt x="38" y="28"/>
                </a:lnTo>
                <a:lnTo>
                  <a:pt x="37" y="28"/>
                </a:lnTo>
                <a:lnTo>
                  <a:pt x="37" y="28"/>
                </a:lnTo>
                <a:lnTo>
                  <a:pt x="2" y="28"/>
                </a:lnTo>
                <a:lnTo>
                  <a:pt x="2" y="28"/>
                </a:lnTo>
                <a:lnTo>
                  <a:pt x="1" y="27"/>
                </a:lnTo>
                <a:lnTo>
                  <a:pt x="0" y="25"/>
                </a:lnTo>
                <a:lnTo>
                  <a:pt x="0" y="25"/>
                </a:lnTo>
                <a:lnTo>
                  <a:pt x="0" y="2"/>
                </a:lnTo>
                <a:lnTo>
                  <a:pt x="0" y="2"/>
                </a:lnTo>
                <a:lnTo>
                  <a:pt x="1" y="0"/>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4" name="Freeform 403">
            <a:extLst>
              <a:ext uri="{FF2B5EF4-FFF2-40B4-BE49-F238E27FC236}">
                <a16:creationId xmlns:a16="http://schemas.microsoft.com/office/drawing/2014/main" id="{936A666B-AA80-4195-A490-1B9A6CB2AE28}"/>
              </a:ext>
            </a:extLst>
          </p:cNvPr>
          <p:cNvSpPr>
            <a:spLocks/>
          </p:cNvSpPr>
          <p:nvPr/>
        </p:nvSpPr>
        <p:spPr bwMode="gray">
          <a:xfrm>
            <a:off x="3450013" y="1633950"/>
            <a:ext cx="23056" cy="17176"/>
          </a:xfrm>
          <a:custGeom>
            <a:avLst/>
            <a:gdLst>
              <a:gd name="T0" fmla="*/ 2 w 38"/>
              <a:gd name="T1" fmla="*/ 2 h 31"/>
              <a:gd name="T2" fmla="*/ 2 w 38"/>
              <a:gd name="T3" fmla="*/ 2 h 31"/>
              <a:gd name="T4" fmla="*/ 37 w 38"/>
              <a:gd name="T5" fmla="*/ 0 h 31"/>
              <a:gd name="T6" fmla="*/ 37 w 38"/>
              <a:gd name="T7" fmla="*/ 0 h 31"/>
              <a:gd name="T8" fmla="*/ 38 w 38"/>
              <a:gd name="T9" fmla="*/ 2 h 31"/>
              <a:gd name="T10" fmla="*/ 38 w 38"/>
              <a:gd name="T11" fmla="*/ 3 h 31"/>
              <a:gd name="T12" fmla="*/ 38 w 38"/>
              <a:gd name="T13" fmla="*/ 3 h 31"/>
              <a:gd name="T14" fmla="*/ 38 w 38"/>
              <a:gd name="T15" fmla="*/ 22 h 31"/>
              <a:gd name="T16" fmla="*/ 38 w 38"/>
              <a:gd name="T17" fmla="*/ 22 h 31"/>
              <a:gd name="T18" fmla="*/ 38 w 38"/>
              <a:gd name="T19" fmla="*/ 24 h 31"/>
              <a:gd name="T20" fmla="*/ 37 w 38"/>
              <a:gd name="T21" fmla="*/ 26 h 31"/>
              <a:gd name="T22" fmla="*/ 37 w 38"/>
              <a:gd name="T23" fmla="*/ 26 h 31"/>
              <a:gd name="T24" fmla="*/ 2 w 38"/>
              <a:gd name="T25" fmla="*/ 31 h 31"/>
              <a:gd name="T26" fmla="*/ 2 w 38"/>
              <a:gd name="T27" fmla="*/ 31 h 31"/>
              <a:gd name="T28" fmla="*/ 0 w 38"/>
              <a:gd name="T29" fmla="*/ 30 h 31"/>
              <a:gd name="T30" fmla="*/ 0 w 38"/>
              <a:gd name="T31" fmla="*/ 28 h 31"/>
              <a:gd name="T32" fmla="*/ 0 w 38"/>
              <a:gd name="T33" fmla="*/ 28 h 31"/>
              <a:gd name="T34" fmla="*/ 0 w 38"/>
              <a:gd name="T35" fmla="*/ 5 h 31"/>
              <a:gd name="T36" fmla="*/ 0 w 38"/>
              <a:gd name="T37" fmla="*/ 5 h 31"/>
              <a:gd name="T38" fmla="*/ 1 w 38"/>
              <a:gd name="T39" fmla="*/ 3 h 31"/>
              <a:gd name="T40" fmla="*/ 2 w 38"/>
              <a:gd name="T41" fmla="*/ 2 h 31"/>
              <a:gd name="T42" fmla="*/ 2 w 38"/>
              <a:gd name="T43"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31">
                <a:moveTo>
                  <a:pt x="2" y="2"/>
                </a:moveTo>
                <a:lnTo>
                  <a:pt x="2" y="2"/>
                </a:lnTo>
                <a:lnTo>
                  <a:pt x="37" y="0"/>
                </a:lnTo>
                <a:lnTo>
                  <a:pt x="37" y="0"/>
                </a:lnTo>
                <a:lnTo>
                  <a:pt x="38" y="2"/>
                </a:lnTo>
                <a:lnTo>
                  <a:pt x="38" y="3"/>
                </a:lnTo>
                <a:lnTo>
                  <a:pt x="38" y="3"/>
                </a:lnTo>
                <a:lnTo>
                  <a:pt x="38" y="22"/>
                </a:lnTo>
                <a:lnTo>
                  <a:pt x="38" y="22"/>
                </a:lnTo>
                <a:lnTo>
                  <a:pt x="38" y="24"/>
                </a:lnTo>
                <a:lnTo>
                  <a:pt x="37" y="26"/>
                </a:lnTo>
                <a:lnTo>
                  <a:pt x="37" y="26"/>
                </a:lnTo>
                <a:lnTo>
                  <a:pt x="2" y="31"/>
                </a:lnTo>
                <a:lnTo>
                  <a:pt x="2" y="31"/>
                </a:lnTo>
                <a:lnTo>
                  <a:pt x="0" y="30"/>
                </a:lnTo>
                <a:lnTo>
                  <a:pt x="0" y="28"/>
                </a:lnTo>
                <a:lnTo>
                  <a:pt x="0" y="28"/>
                </a:lnTo>
                <a:lnTo>
                  <a:pt x="0" y="5"/>
                </a:lnTo>
                <a:lnTo>
                  <a:pt x="0" y="5"/>
                </a:lnTo>
                <a:lnTo>
                  <a:pt x="1" y="3"/>
                </a:lnTo>
                <a:lnTo>
                  <a:pt x="2" y="2"/>
                </a:lnTo>
                <a:lnTo>
                  <a:pt x="2" y="2"/>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5" name="Freeform 404">
            <a:extLst>
              <a:ext uri="{FF2B5EF4-FFF2-40B4-BE49-F238E27FC236}">
                <a16:creationId xmlns:a16="http://schemas.microsoft.com/office/drawing/2014/main" id="{8FEF25AC-935F-4CFD-805D-E2B2B1E66E9D}"/>
              </a:ext>
            </a:extLst>
          </p:cNvPr>
          <p:cNvSpPr>
            <a:spLocks/>
          </p:cNvSpPr>
          <p:nvPr/>
        </p:nvSpPr>
        <p:spPr bwMode="gray">
          <a:xfrm>
            <a:off x="3450013" y="1655007"/>
            <a:ext cx="23056" cy="9419"/>
          </a:xfrm>
          <a:custGeom>
            <a:avLst/>
            <a:gdLst>
              <a:gd name="T0" fmla="*/ 1 w 38"/>
              <a:gd name="T1" fmla="*/ 8 h 17"/>
              <a:gd name="T2" fmla="*/ 1 w 38"/>
              <a:gd name="T3" fmla="*/ 8 h 17"/>
              <a:gd name="T4" fmla="*/ 37 w 38"/>
              <a:gd name="T5" fmla="*/ 0 h 17"/>
              <a:gd name="T6" fmla="*/ 37 w 38"/>
              <a:gd name="T7" fmla="*/ 0 h 17"/>
              <a:gd name="T8" fmla="*/ 38 w 38"/>
              <a:gd name="T9" fmla="*/ 1 h 17"/>
              <a:gd name="T10" fmla="*/ 38 w 38"/>
              <a:gd name="T11" fmla="*/ 3 h 17"/>
              <a:gd name="T12" fmla="*/ 38 w 38"/>
              <a:gd name="T13" fmla="*/ 3 h 17"/>
              <a:gd name="T14" fmla="*/ 38 w 38"/>
              <a:gd name="T15" fmla="*/ 5 h 17"/>
              <a:gd name="T16" fmla="*/ 38 w 38"/>
              <a:gd name="T17" fmla="*/ 5 h 17"/>
              <a:gd name="T18" fmla="*/ 38 w 38"/>
              <a:gd name="T19" fmla="*/ 6 h 17"/>
              <a:gd name="T20" fmla="*/ 37 w 38"/>
              <a:gd name="T21" fmla="*/ 7 h 17"/>
              <a:gd name="T22" fmla="*/ 37 w 38"/>
              <a:gd name="T23" fmla="*/ 7 h 17"/>
              <a:gd name="T24" fmla="*/ 1 w 38"/>
              <a:gd name="T25" fmla="*/ 17 h 17"/>
              <a:gd name="T26" fmla="*/ 1 w 38"/>
              <a:gd name="T27" fmla="*/ 17 h 17"/>
              <a:gd name="T28" fmla="*/ 0 w 38"/>
              <a:gd name="T29" fmla="*/ 16 h 17"/>
              <a:gd name="T30" fmla="*/ 0 w 38"/>
              <a:gd name="T31" fmla="*/ 14 h 17"/>
              <a:gd name="T32" fmla="*/ 0 w 38"/>
              <a:gd name="T33" fmla="*/ 14 h 17"/>
              <a:gd name="T34" fmla="*/ 0 w 38"/>
              <a:gd name="T35" fmla="*/ 12 h 17"/>
              <a:gd name="T36" fmla="*/ 0 w 38"/>
              <a:gd name="T37" fmla="*/ 12 h 17"/>
              <a:gd name="T38" fmla="*/ 0 w 38"/>
              <a:gd name="T39" fmla="*/ 9 h 17"/>
              <a:gd name="T40" fmla="*/ 1 w 38"/>
              <a:gd name="T41" fmla="*/ 8 h 17"/>
              <a:gd name="T42" fmla="*/ 1 w 38"/>
              <a:gd name="T43"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17">
                <a:moveTo>
                  <a:pt x="1" y="8"/>
                </a:moveTo>
                <a:lnTo>
                  <a:pt x="1" y="8"/>
                </a:lnTo>
                <a:lnTo>
                  <a:pt x="37" y="0"/>
                </a:lnTo>
                <a:lnTo>
                  <a:pt x="37" y="0"/>
                </a:lnTo>
                <a:lnTo>
                  <a:pt x="38" y="1"/>
                </a:lnTo>
                <a:lnTo>
                  <a:pt x="38" y="3"/>
                </a:lnTo>
                <a:lnTo>
                  <a:pt x="38" y="3"/>
                </a:lnTo>
                <a:lnTo>
                  <a:pt x="38" y="5"/>
                </a:lnTo>
                <a:lnTo>
                  <a:pt x="38" y="5"/>
                </a:lnTo>
                <a:lnTo>
                  <a:pt x="38" y="6"/>
                </a:lnTo>
                <a:lnTo>
                  <a:pt x="37" y="7"/>
                </a:lnTo>
                <a:lnTo>
                  <a:pt x="37" y="7"/>
                </a:lnTo>
                <a:lnTo>
                  <a:pt x="1" y="17"/>
                </a:lnTo>
                <a:lnTo>
                  <a:pt x="1" y="17"/>
                </a:lnTo>
                <a:lnTo>
                  <a:pt x="0" y="16"/>
                </a:lnTo>
                <a:lnTo>
                  <a:pt x="0" y="14"/>
                </a:lnTo>
                <a:lnTo>
                  <a:pt x="0" y="14"/>
                </a:lnTo>
                <a:lnTo>
                  <a:pt x="0" y="12"/>
                </a:lnTo>
                <a:lnTo>
                  <a:pt x="0" y="12"/>
                </a:lnTo>
                <a:lnTo>
                  <a:pt x="0" y="9"/>
                </a:lnTo>
                <a:lnTo>
                  <a:pt x="1" y="8"/>
                </a:lnTo>
                <a:lnTo>
                  <a:pt x="1" y="8"/>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6" name="Freeform 405">
            <a:extLst>
              <a:ext uri="{FF2B5EF4-FFF2-40B4-BE49-F238E27FC236}">
                <a16:creationId xmlns:a16="http://schemas.microsoft.com/office/drawing/2014/main" id="{F933F20F-C79F-44D8-A511-049F6DE4B4B1}"/>
              </a:ext>
            </a:extLst>
          </p:cNvPr>
          <p:cNvSpPr>
            <a:spLocks/>
          </p:cNvSpPr>
          <p:nvPr/>
        </p:nvSpPr>
        <p:spPr bwMode="gray">
          <a:xfrm>
            <a:off x="3450013" y="1662209"/>
            <a:ext cx="23056" cy="9419"/>
          </a:xfrm>
          <a:custGeom>
            <a:avLst/>
            <a:gdLst>
              <a:gd name="T0" fmla="*/ 1 w 38"/>
              <a:gd name="T1" fmla="*/ 9 h 17"/>
              <a:gd name="T2" fmla="*/ 1 w 38"/>
              <a:gd name="T3" fmla="*/ 9 h 17"/>
              <a:gd name="T4" fmla="*/ 37 w 38"/>
              <a:gd name="T5" fmla="*/ 0 h 17"/>
              <a:gd name="T6" fmla="*/ 37 w 38"/>
              <a:gd name="T7" fmla="*/ 0 h 17"/>
              <a:gd name="T8" fmla="*/ 38 w 38"/>
              <a:gd name="T9" fmla="*/ 1 h 17"/>
              <a:gd name="T10" fmla="*/ 38 w 38"/>
              <a:gd name="T11" fmla="*/ 2 h 17"/>
              <a:gd name="T12" fmla="*/ 38 w 38"/>
              <a:gd name="T13" fmla="*/ 2 h 17"/>
              <a:gd name="T14" fmla="*/ 38 w 38"/>
              <a:gd name="T15" fmla="*/ 4 h 17"/>
              <a:gd name="T16" fmla="*/ 38 w 38"/>
              <a:gd name="T17" fmla="*/ 4 h 17"/>
              <a:gd name="T18" fmla="*/ 38 w 38"/>
              <a:gd name="T19" fmla="*/ 6 h 17"/>
              <a:gd name="T20" fmla="*/ 37 w 38"/>
              <a:gd name="T21" fmla="*/ 7 h 17"/>
              <a:gd name="T22" fmla="*/ 37 w 38"/>
              <a:gd name="T23" fmla="*/ 7 h 17"/>
              <a:gd name="T24" fmla="*/ 1 w 38"/>
              <a:gd name="T25" fmla="*/ 17 h 17"/>
              <a:gd name="T26" fmla="*/ 1 w 38"/>
              <a:gd name="T27" fmla="*/ 17 h 17"/>
              <a:gd name="T28" fmla="*/ 0 w 38"/>
              <a:gd name="T29" fmla="*/ 17 h 17"/>
              <a:gd name="T30" fmla="*/ 0 w 38"/>
              <a:gd name="T31" fmla="*/ 15 h 17"/>
              <a:gd name="T32" fmla="*/ 0 w 38"/>
              <a:gd name="T33" fmla="*/ 15 h 17"/>
              <a:gd name="T34" fmla="*/ 0 w 38"/>
              <a:gd name="T35" fmla="*/ 13 h 17"/>
              <a:gd name="T36" fmla="*/ 0 w 38"/>
              <a:gd name="T37" fmla="*/ 13 h 17"/>
              <a:gd name="T38" fmla="*/ 0 w 38"/>
              <a:gd name="T39" fmla="*/ 10 h 17"/>
              <a:gd name="T40" fmla="*/ 1 w 38"/>
              <a:gd name="T41" fmla="*/ 9 h 17"/>
              <a:gd name="T42" fmla="*/ 1 w 38"/>
              <a:gd name="T43"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 h="17">
                <a:moveTo>
                  <a:pt x="1" y="9"/>
                </a:moveTo>
                <a:lnTo>
                  <a:pt x="1" y="9"/>
                </a:lnTo>
                <a:lnTo>
                  <a:pt x="37" y="0"/>
                </a:lnTo>
                <a:lnTo>
                  <a:pt x="37" y="0"/>
                </a:lnTo>
                <a:lnTo>
                  <a:pt x="38" y="1"/>
                </a:lnTo>
                <a:lnTo>
                  <a:pt x="38" y="2"/>
                </a:lnTo>
                <a:lnTo>
                  <a:pt x="38" y="2"/>
                </a:lnTo>
                <a:lnTo>
                  <a:pt x="38" y="4"/>
                </a:lnTo>
                <a:lnTo>
                  <a:pt x="38" y="4"/>
                </a:lnTo>
                <a:lnTo>
                  <a:pt x="38" y="6"/>
                </a:lnTo>
                <a:lnTo>
                  <a:pt x="37" y="7"/>
                </a:lnTo>
                <a:lnTo>
                  <a:pt x="37" y="7"/>
                </a:lnTo>
                <a:lnTo>
                  <a:pt x="1" y="17"/>
                </a:lnTo>
                <a:lnTo>
                  <a:pt x="1" y="17"/>
                </a:lnTo>
                <a:lnTo>
                  <a:pt x="0" y="17"/>
                </a:lnTo>
                <a:lnTo>
                  <a:pt x="0" y="15"/>
                </a:lnTo>
                <a:lnTo>
                  <a:pt x="0" y="15"/>
                </a:lnTo>
                <a:lnTo>
                  <a:pt x="0" y="13"/>
                </a:lnTo>
                <a:lnTo>
                  <a:pt x="0" y="13"/>
                </a:lnTo>
                <a:lnTo>
                  <a:pt x="0" y="10"/>
                </a:lnTo>
                <a:lnTo>
                  <a:pt x="1" y="9"/>
                </a:lnTo>
                <a:lnTo>
                  <a:pt x="1" y="9"/>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7" name="Freeform 406">
            <a:extLst>
              <a:ext uri="{FF2B5EF4-FFF2-40B4-BE49-F238E27FC236}">
                <a16:creationId xmlns:a16="http://schemas.microsoft.com/office/drawing/2014/main" id="{F688DD7F-7BB2-4E02-9CBC-0D5995D0CAEF}"/>
              </a:ext>
            </a:extLst>
          </p:cNvPr>
          <p:cNvSpPr>
            <a:spLocks/>
          </p:cNvSpPr>
          <p:nvPr/>
        </p:nvSpPr>
        <p:spPr bwMode="gray">
          <a:xfrm>
            <a:off x="3482171" y="1574667"/>
            <a:ext cx="33977" cy="95298"/>
          </a:xfrm>
          <a:custGeom>
            <a:avLst/>
            <a:gdLst>
              <a:gd name="T0" fmla="*/ 5 w 56"/>
              <a:gd name="T1" fmla="*/ 0 h 172"/>
              <a:gd name="T2" fmla="*/ 5 w 56"/>
              <a:gd name="T3" fmla="*/ 0 h 172"/>
              <a:gd name="T4" fmla="*/ 53 w 56"/>
              <a:gd name="T5" fmla="*/ 25 h 172"/>
              <a:gd name="T6" fmla="*/ 53 w 56"/>
              <a:gd name="T7" fmla="*/ 25 h 172"/>
              <a:gd name="T8" fmla="*/ 55 w 56"/>
              <a:gd name="T9" fmla="*/ 27 h 172"/>
              <a:gd name="T10" fmla="*/ 56 w 56"/>
              <a:gd name="T11" fmla="*/ 30 h 172"/>
              <a:gd name="T12" fmla="*/ 56 w 56"/>
              <a:gd name="T13" fmla="*/ 30 h 172"/>
              <a:gd name="T14" fmla="*/ 56 w 56"/>
              <a:gd name="T15" fmla="*/ 90 h 172"/>
              <a:gd name="T16" fmla="*/ 56 w 56"/>
              <a:gd name="T17" fmla="*/ 90 h 172"/>
              <a:gd name="T18" fmla="*/ 56 w 56"/>
              <a:gd name="T19" fmla="*/ 149 h 172"/>
              <a:gd name="T20" fmla="*/ 56 w 56"/>
              <a:gd name="T21" fmla="*/ 149 h 172"/>
              <a:gd name="T22" fmla="*/ 55 w 56"/>
              <a:gd name="T23" fmla="*/ 152 h 172"/>
              <a:gd name="T24" fmla="*/ 53 w 56"/>
              <a:gd name="T25" fmla="*/ 154 h 172"/>
              <a:gd name="T26" fmla="*/ 53 w 56"/>
              <a:gd name="T27" fmla="*/ 154 h 172"/>
              <a:gd name="T28" fmla="*/ 5 w 56"/>
              <a:gd name="T29" fmla="*/ 172 h 172"/>
              <a:gd name="T30" fmla="*/ 5 w 56"/>
              <a:gd name="T31" fmla="*/ 172 h 172"/>
              <a:gd name="T32" fmla="*/ 2 w 56"/>
              <a:gd name="T33" fmla="*/ 172 h 172"/>
              <a:gd name="T34" fmla="*/ 1 w 56"/>
              <a:gd name="T35" fmla="*/ 172 h 172"/>
              <a:gd name="T36" fmla="*/ 0 w 56"/>
              <a:gd name="T37" fmla="*/ 170 h 172"/>
              <a:gd name="T38" fmla="*/ 0 w 56"/>
              <a:gd name="T39" fmla="*/ 169 h 172"/>
              <a:gd name="T40" fmla="*/ 0 w 56"/>
              <a:gd name="T41" fmla="*/ 169 h 172"/>
              <a:gd name="T42" fmla="*/ 0 w 56"/>
              <a:gd name="T43" fmla="*/ 87 h 172"/>
              <a:gd name="T44" fmla="*/ 0 w 56"/>
              <a:gd name="T45" fmla="*/ 87 h 172"/>
              <a:gd name="T46" fmla="*/ 0 w 56"/>
              <a:gd name="T47" fmla="*/ 4 h 172"/>
              <a:gd name="T48" fmla="*/ 0 w 56"/>
              <a:gd name="T49" fmla="*/ 4 h 172"/>
              <a:gd name="T50" fmla="*/ 1 w 56"/>
              <a:gd name="T51" fmla="*/ 2 h 172"/>
              <a:gd name="T52" fmla="*/ 1 w 56"/>
              <a:gd name="T53" fmla="*/ 1 h 172"/>
              <a:gd name="T54" fmla="*/ 2 w 56"/>
              <a:gd name="T55" fmla="*/ 0 h 172"/>
              <a:gd name="T56" fmla="*/ 5 w 56"/>
              <a:gd name="T57" fmla="*/ 0 h 172"/>
              <a:gd name="T58" fmla="*/ 5 w 56"/>
              <a:gd name="T59"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 h="172">
                <a:moveTo>
                  <a:pt x="5" y="0"/>
                </a:moveTo>
                <a:lnTo>
                  <a:pt x="5" y="0"/>
                </a:lnTo>
                <a:lnTo>
                  <a:pt x="53" y="25"/>
                </a:lnTo>
                <a:lnTo>
                  <a:pt x="53" y="25"/>
                </a:lnTo>
                <a:lnTo>
                  <a:pt x="55" y="27"/>
                </a:lnTo>
                <a:lnTo>
                  <a:pt x="56" y="30"/>
                </a:lnTo>
                <a:lnTo>
                  <a:pt x="56" y="30"/>
                </a:lnTo>
                <a:lnTo>
                  <a:pt x="56" y="90"/>
                </a:lnTo>
                <a:lnTo>
                  <a:pt x="56" y="90"/>
                </a:lnTo>
                <a:lnTo>
                  <a:pt x="56" y="149"/>
                </a:lnTo>
                <a:lnTo>
                  <a:pt x="56" y="149"/>
                </a:lnTo>
                <a:lnTo>
                  <a:pt x="55" y="152"/>
                </a:lnTo>
                <a:lnTo>
                  <a:pt x="53" y="154"/>
                </a:lnTo>
                <a:lnTo>
                  <a:pt x="53" y="154"/>
                </a:lnTo>
                <a:lnTo>
                  <a:pt x="5" y="172"/>
                </a:lnTo>
                <a:lnTo>
                  <a:pt x="5" y="172"/>
                </a:lnTo>
                <a:lnTo>
                  <a:pt x="2" y="172"/>
                </a:lnTo>
                <a:lnTo>
                  <a:pt x="1" y="172"/>
                </a:lnTo>
                <a:lnTo>
                  <a:pt x="0" y="170"/>
                </a:lnTo>
                <a:lnTo>
                  <a:pt x="0" y="169"/>
                </a:lnTo>
                <a:lnTo>
                  <a:pt x="0" y="169"/>
                </a:lnTo>
                <a:lnTo>
                  <a:pt x="0" y="87"/>
                </a:lnTo>
                <a:lnTo>
                  <a:pt x="0" y="87"/>
                </a:lnTo>
                <a:lnTo>
                  <a:pt x="0" y="4"/>
                </a:lnTo>
                <a:lnTo>
                  <a:pt x="0" y="4"/>
                </a:lnTo>
                <a:lnTo>
                  <a:pt x="1" y="2"/>
                </a:lnTo>
                <a:lnTo>
                  <a:pt x="1" y="1"/>
                </a:lnTo>
                <a:lnTo>
                  <a:pt x="2" y="0"/>
                </a:lnTo>
                <a:lnTo>
                  <a:pt x="5" y="0"/>
                </a:lnTo>
                <a:lnTo>
                  <a:pt x="5"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8" name="Freeform 407">
            <a:extLst>
              <a:ext uri="{FF2B5EF4-FFF2-40B4-BE49-F238E27FC236}">
                <a16:creationId xmlns:a16="http://schemas.microsoft.com/office/drawing/2014/main" id="{2E575491-12F9-41BA-AFD7-2FD917A3CA82}"/>
              </a:ext>
            </a:extLst>
          </p:cNvPr>
          <p:cNvSpPr>
            <a:spLocks/>
          </p:cNvSpPr>
          <p:nvPr/>
        </p:nvSpPr>
        <p:spPr bwMode="gray">
          <a:xfrm>
            <a:off x="3487631" y="1584641"/>
            <a:ext cx="22449" cy="17730"/>
          </a:xfrm>
          <a:custGeom>
            <a:avLst/>
            <a:gdLst>
              <a:gd name="T0" fmla="*/ 2 w 37"/>
              <a:gd name="T1" fmla="*/ 0 h 32"/>
              <a:gd name="T2" fmla="*/ 2 w 37"/>
              <a:gd name="T3" fmla="*/ 0 h 32"/>
              <a:gd name="T4" fmla="*/ 36 w 37"/>
              <a:gd name="T5" fmla="*/ 14 h 32"/>
              <a:gd name="T6" fmla="*/ 36 w 37"/>
              <a:gd name="T7" fmla="*/ 14 h 32"/>
              <a:gd name="T8" fmla="*/ 37 w 37"/>
              <a:gd name="T9" fmla="*/ 15 h 32"/>
              <a:gd name="T10" fmla="*/ 37 w 37"/>
              <a:gd name="T11" fmla="*/ 17 h 32"/>
              <a:gd name="T12" fmla="*/ 37 w 37"/>
              <a:gd name="T13" fmla="*/ 17 h 32"/>
              <a:gd name="T14" fmla="*/ 37 w 37"/>
              <a:gd name="T15" fmla="*/ 31 h 32"/>
              <a:gd name="T16" fmla="*/ 37 w 37"/>
              <a:gd name="T17" fmla="*/ 31 h 32"/>
              <a:gd name="T18" fmla="*/ 37 w 37"/>
              <a:gd name="T19" fmla="*/ 32 h 32"/>
              <a:gd name="T20" fmla="*/ 36 w 37"/>
              <a:gd name="T21" fmla="*/ 32 h 32"/>
              <a:gd name="T22" fmla="*/ 36 w 37"/>
              <a:gd name="T23" fmla="*/ 32 h 32"/>
              <a:gd name="T24" fmla="*/ 2 w 37"/>
              <a:gd name="T25" fmla="*/ 22 h 32"/>
              <a:gd name="T26" fmla="*/ 2 w 37"/>
              <a:gd name="T27" fmla="*/ 22 h 32"/>
              <a:gd name="T28" fmla="*/ 1 w 37"/>
              <a:gd name="T29" fmla="*/ 21 h 32"/>
              <a:gd name="T30" fmla="*/ 0 w 37"/>
              <a:gd name="T31" fmla="*/ 18 h 32"/>
              <a:gd name="T32" fmla="*/ 0 w 37"/>
              <a:gd name="T33" fmla="*/ 18 h 32"/>
              <a:gd name="T34" fmla="*/ 0 w 37"/>
              <a:gd name="T35" fmla="*/ 2 h 32"/>
              <a:gd name="T36" fmla="*/ 0 w 37"/>
              <a:gd name="T37" fmla="*/ 2 h 32"/>
              <a:gd name="T38" fmla="*/ 1 w 37"/>
              <a:gd name="T39" fmla="*/ 0 h 32"/>
              <a:gd name="T40" fmla="*/ 2 w 37"/>
              <a:gd name="T41" fmla="*/ 0 h 32"/>
              <a:gd name="T42" fmla="*/ 2 w 37"/>
              <a:gd name="T4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32">
                <a:moveTo>
                  <a:pt x="2" y="0"/>
                </a:moveTo>
                <a:lnTo>
                  <a:pt x="2" y="0"/>
                </a:lnTo>
                <a:lnTo>
                  <a:pt x="36" y="14"/>
                </a:lnTo>
                <a:lnTo>
                  <a:pt x="36" y="14"/>
                </a:lnTo>
                <a:lnTo>
                  <a:pt x="37" y="15"/>
                </a:lnTo>
                <a:lnTo>
                  <a:pt x="37" y="17"/>
                </a:lnTo>
                <a:lnTo>
                  <a:pt x="37" y="17"/>
                </a:lnTo>
                <a:lnTo>
                  <a:pt x="37" y="31"/>
                </a:lnTo>
                <a:lnTo>
                  <a:pt x="37" y="31"/>
                </a:lnTo>
                <a:lnTo>
                  <a:pt x="37" y="32"/>
                </a:lnTo>
                <a:lnTo>
                  <a:pt x="36" y="32"/>
                </a:lnTo>
                <a:lnTo>
                  <a:pt x="36" y="32"/>
                </a:lnTo>
                <a:lnTo>
                  <a:pt x="2" y="22"/>
                </a:lnTo>
                <a:lnTo>
                  <a:pt x="2" y="22"/>
                </a:lnTo>
                <a:lnTo>
                  <a:pt x="1" y="21"/>
                </a:lnTo>
                <a:lnTo>
                  <a:pt x="0" y="18"/>
                </a:lnTo>
                <a:lnTo>
                  <a:pt x="0" y="18"/>
                </a:lnTo>
                <a:lnTo>
                  <a:pt x="0" y="2"/>
                </a:lnTo>
                <a:lnTo>
                  <a:pt x="0" y="2"/>
                </a:lnTo>
                <a:lnTo>
                  <a:pt x="1" y="0"/>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79" name="Freeform 408">
            <a:extLst>
              <a:ext uri="{FF2B5EF4-FFF2-40B4-BE49-F238E27FC236}">
                <a16:creationId xmlns:a16="http://schemas.microsoft.com/office/drawing/2014/main" id="{70030341-B4A9-4380-8A69-EB55296FBB1C}"/>
              </a:ext>
            </a:extLst>
          </p:cNvPr>
          <p:cNvSpPr>
            <a:spLocks/>
          </p:cNvSpPr>
          <p:nvPr/>
        </p:nvSpPr>
        <p:spPr bwMode="gray">
          <a:xfrm>
            <a:off x="3487631" y="1600708"/>
            <a:ext cx="22449" cy="14960"/>
          </a:xfrm>
          <a:custGeom>
            <a:avLst/>
            <a:gdLst>
              <a:gd name="T0" fmla="*/ 2 w 37"/>
              <a:gd name="T1" fmla="*/ 0 h 27"/>
              <a:gd name="T2" fmla="*/ 2 w 37"/>
              <a:gd name="T3" fmla="*/ 0 h 27"/>
              <a:gd name="T4" fmla="*/ 36 w 37"/>
              <a:gd name="T5" fmla="*/ 9 h 27"/>
              <a:gd name="T6" fmla="*/ 36 w 37"/>
              <a:gd name="T7" fmla="*/ 9 h 27"/>
              <a:gd name="T8" fmla="*/ 37 w 37"/>
              <a:gd name="T9" fmla="*/ 10 h 27"/>
              <a:gd name="T10" fmla="*/ 37 w 37"/>
              <a:gd name="T11" fmla="*/ 12 h 27"/>
              <a:gd name="T12" fmla="*/ 37 w 37"/>
              <a:gd name="T13" fmla="*/ 12 h 27"/>
              <a:gd name="T14" fmla="*/ 37 w 37"/>
              <a:gd name="T15" fmla="*/ 26 h 27"/>
              <a:gd name="T16" fmla="*/ 37 w 37"/>
              <a:gd name="T17" fmla="*/ 26 h 27"/>
              <a:gd name="T18" fmla="*/ 37 w 37"/>
              <a:gd name="T19" fmla="*/ 27 h 27"/>
              <a:gd name="T20" fmla="*/ 36 w 37"/>
              <a:gd name="T21" fmla="*/ 27 h 27"/>
              <a:gd name="T22" fmla="*/ 36 w 37"/>
              <a:gd name="T23" fmla="*/ 27 h 27"/>
              <a:gd name="T24" fmla="*/ 2 w 37"/>
              <a:gd name="T25" fmla="*/ 22 h 27"/>
              <a:gd name="T26" fmla="*/ 2 w 37"/>
              <a:gd name="T27" fmla="*/ 22 h 27"/>
              <a:gd name="T28" fmla="*/ 1 w 37"/>
              <a:gd name="T29" fmla="*/ 21 h 27"/>
              <a:gd name="T30" fmla="*/ 0 w 37"/>
              <a:gd name="T31" fmla="*/ 20 h 27"/>
              <a:gd name="T32" fmla="*/ 0 w 37"/>
              <a:gd name="T33" fmla="*/ 20 h 27"/>
              <a:gd name="T34" fmla="*/ 0 w 37"/>
              <a:gd name="T35" fmla="*/ 2 h 27"/>
              <a:gd name="T36" fmla="*/ 0 w 37"/>
              <a:gd name="T37" fmla="*/ 2 h 27"/>
              <a:gd name="T38" fmla="*/ 1 w 37"/>
              <a:gd name="T39" fmla="*/ 1 h 27"/>
              <a:gd name="T40" fmla="*/ 2 w 37"/>
              <a:gd name="T41" fmla="*/ 0 h 27"/>
              <a:gd name="T42" fmla="*/ 2 w 37"/>
              <a:gd name="T4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27">
                <a:moveTo>
                  <a:pt x="2" y="0"/>
                </a:moveTo>
                <a:lnTo>
                  <a:pt x="2" y="0"/>
                </a:lnTo>
                <a:lnTo>
                  <a:pt x="36" y="9"/>
                </a:lnTo>
                <a:lnTo>
                  <a:pt x="36" y="9"/>
                </a:lnTo>
                <a:lnTo>
                  <a:pt x="37" y="10"/>
                </a:lnTo>
                <a:lnTo>
                  <a:pt x="37" y="12"/>
                </a:lnTo>
                <a:lnTo>
                  <a:pt x="37" y="12"/>
                </a:lnTo>
                <a:lnTo>
                  <a:pt x="37" y="26"/>
                </a:lnTo>
                <a:lnTo>
                  <a:pt x="37" y="26"/>
                </a:lnTo>
                <a:lnTo>
                  <a:pt x="37" y="27"/>
                </a:lnTo>
                <a:lnTo>
                  <a:pt x="36" y="27"/>
                </a:lnTo>
                <a:lnTo>
                  <a:pt x="36" y="27"/>
                </a:lnTo>
                <a:lnTo>
                  <a:pt x="2" y="22"/>
                </a:lnTo>
                <a:lnTo>
                  <a:pt x="2" y="22"/>
                </a:lnTo>
                <a:lnTo>
                  <a:pt x="1" y="21"/>
                </a:lnTo>
                <a:lnTo>
                  <a:pt x="0" y="20"/>
                </a:lnTo>
                <a:lnTo>
                  <a:pt x="0" y="20"/>
                </a:lnTo>
                <a:lnTo>
                  <a:pt x="0" y="2"/>
                </a:lnTo>
                <a:lnTo>
                  <a:pt x="0" y="2"/>
                </a:lnTo>
                <a:lnTo>
                  <a:pt x="1" y="1"/>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80" name="Freeform 409">
            <a:extLst>
              <a:ext uri="{FF2B5EF4-FFF2-40B4-BE49-F238E27FC236}">
                <a16:creationId xmlns:a16="http://schemas.microsoft.com/office/drawing/2014/main" id="{6D53E711-FD48-407A-A3E0-661F84B90A8F}"/>
              </a:ext>
            </a:extLst>
          </p:cNvPr>
          <p:cNvSpPr>
            <a:spLocks/>
          </p:cNvSpPr>
          <p:nvPr/>
        </p:nvSpPr>
        <p:spPr bwMode="gray">
          <a:xfrm>
            <a:off x="3487631" y="1617330"/>
            <a:ext cx="22449" cy="11635"/>
          </a:xfrm>
          <a:custGeom>
            <a:avLst/>
            <a:gdLst>
              <a:gd name="T0" fmla="*/ 2 w 37"/>
              <a:gd name="T1" fmla="*/ 0 h 21"/>
              <a:gd name="T2" fmla="*/ 2 w 37"/>
              <a:gd name="T3" fmla="*/ 0 h 21"/>
              <a:gd name="T4" fmla="*/ 36 w 37"/>
              <a:gd name="T5" fmla="*/ 3 h 21"/>
              <a:gd name="T6" fmla="*/ 36 w 37"/>
              <a:gd name="T7" fmla="*/ 3 h 21"/>
              <a:gd name="T8" fmla="*/ 37 w 37"/>
              <a:gd name="T9" fmla="*/ 4 h 21"/>
              <a:gd name="T10" fmla="*/ 37 w 37"/>
              <a:gd name="T11" fmla="*/ 5 h 21"/>
              <a:gd name="T12" fmla="*/ 37 w 37"/>
              <a:gd name="T13" fmla="*/ 5 h 21"/>
              <a:gd name="T14" fmla="*/ 37 w 37"/>
              <a:gd name="T15" fmla="*/ 20 h 21"/>
              <a:gd name="T16" fmla="*/ 37 w 37"/>
              <a:gd name="T17" fmla="*/ 20 h 21"/>
              <a:gd name="T18" fmla="*/ 37 w 37"/>
              <a:gd name="T19" fmla="*/ 21 h 21"/>
              <a:gd name="T20" fmla="*/ 36 w 37"/>
              <a:gd name="T21" fmla="*/ 21 h 21"/>
              <a:gd name="T22" fmla="*/ 36 w 37"/>
              <a:gd name="T23" fmla="*/ 21 h 21"/>
              <a:gd name="T24" fmla="*/ 2 w 37"/>
              <a:gd name="T25" fmla="*/ 21 h 21"/>
              <a:gd name="T26" fmla="*/ 2 w 37"/>
              <a:gd name="T27" fmla="*/ 21 h 21"/>
              <a:gd name="T28" fmla="*/ 1 w 37"/>
              <a:gd name="T29" fmla="*/ 21 h 21"/>
              <a:gd name="T30" fmla="*/ 0 w 37"/>
              <a:gd name="T31" fmla="*/ 19 h 21"/>
              <a:gd name="T32" fmla="*/ 0 w 37"/>
              <a:gd name="T33" fmla="*/ 19 h 21"/>
              <a:gd name="T34" fmla="*/ 0 w 37"/>
              <a:gd name="T35" fmla="*/ 2 h 21"/>
              <a:gd name="T36" fmla="*/ 0 w 37"/>
              <a:gd name="T37" fmla="*/ 2 h 21"/>
              <a:gd name="T38" fmla="*/ 1 w 37"/>
              <a:gd name="T39" fmla="*/ 0 h 21"/>
              <a:gd name="T40" fmla="*/ 2 w 37"/>
              <a:gd name="T41" fmla="*/ 0 h 21"/>
              <a:gd name="T42" fmla="*/ 2 w 37"/>
              <a:gd name="T4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21">
                <a:moveTo>
                  <a:pt x="2" y="0"/>
                </a:moveTo>
                <a:lnTo>
                  <a:pt x="2" y="0"/>
                </a:lnTo>
                <a:lnTo>
                  <a:pt x="36" y="3"/>
                </a:lnTo>
                <a:lnTo>
                  <a:pt x="36" y="3"/>
                </a:lnTo>
                <a:lnTo>
                  <a:pt x="37" y="4"/>
                </a:lnTo>
                <a:lnTo>
                  <a:pt x="37" y="5"/>
                </a:lnTo>
                <a:lnTo>
                  <a:pt x="37" y="5"/>
                </a:lnTo>
                <a:lnTo>
                  <a:pt x="37" y="20"/>
                </a:lnTo>
                <a:lnTo>
                  <a:pt x="37" y="20"/>
                </a:lnTo>
                <a:lnTo>
                  <a:pt x="37" y="21"/>
                </a:lnTo>
                <a:lnTo>
                  <a:pt x="36" y="21"/>
                </a:lnTo>
                <a:lnTo>
                  <a:pt x="36" y="21"/>
                </a:lnTo>
                <a:lnTo>
                  <a:pt x="2" y="21"/>
                </a:lnTo>
                <a:lnTo>
                  <a:pt x="2" y="21"/>
                </a:lnTo>
                <a:lnTo>
                  <a:pt x="1" y="21"/>
                </a:lnTo>
                <a:lnTo>
                  <a:pt x="0" y="19"/>
                </a:lnTo>
                <a:lnTo>
                  <a:pt x="0" y="19"/>
                </a:lnTo>
                <a:lnTo>
                  <a:pt x="0" y="2"/>
                </a:lnTo>
                <a:lnTo>
                  <a:pt x="0" y="2"/>
                </a:lnTo>
                <a:lnTo>
                  <a:pt x="1" y="0"/>
                </a:lnTo>
                <a:lnTo>
                  <a:pt x="2" y="0"/>
                </a:lnTo>
                <a:lnTo>
                  <a:pt x="2" y="0"/>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81" name="Freeform 410">
            <a:extLst>
              <a:ext uri="{FF2B5EF4-FFF2-40B4-BE49-F238E27FC236}">
                <a16:creationId xmlns:a16="http://schemas.microsoft.com/office/drawing/2014/main" id="{3E366B20-9023-412D-9C19-7274C885056C}"/>
              </a:ext>
            </a:extLst>
          </p:cNvPr>
          <p:cNvSpPr>
            <a:spLocks/>
          </p:cNvSpPr>
          <p:nvPr/>
        </p:nvSpPr>
        <p:spPr bwMode="gray">
          <a:xfrm>
            <a:off x="3487631" y="1632844"/>
            <a:ext cx="22449" cy="12743"/>
          </a:xfrm>
          <a:custGeom>
            <a:avLst/>
            <a:gdLst>
              <a:gd name="T0" fmla="*/ 2 w 37"/>
              <a:gd name="T1" fmla="*/ 1 h 23"/>
              <a:gd name="T2" fmla="*/ 2 w 37"/>
              <a:gd name="T3" fmla="*/ 1 h 23"/>
              <a:gd name="T4" fmla="*/ 36 w 37"/>
              <a:gd name="T5" fmla="*/ 0 h 23"/>
              <a:gd name="T6" fmla="*/ 36 w 37"/>
              <a:gd name="T7" fmla="*/ 0 h 23"/>
              <a:gd name="T8" fmla="*/ 37 w 37"/>
              <a:gd name="T9" fmla="*/ 0 h 23"/>
              <a:gd name="T10" fmla="*/ 37 w 37"/>
              <a:gd name="T11" fmla="*/ 1 h 23"/>
              <a:gd name="T12" fmla="*/ 37 w 37"/>
              <a:gd name="T13" fmla="*/ 1 h 23"/>
              <a:gd name="T14" fmla="*/ 37 w 37"/>
              <a:gd name="T15" fmla="*/ 16 h 23"/>
              <a:gd name="T16" fmla="*/ 37 w 37"/>
              <a:gd name="T17" fmla="*/ 16 h 23"/>
              <a:gd name="T18" fmla="*/ 37 w 37"/>
              <a:gd name="T19" fmla="*/ 17 h 23"/>
              <a:gd name="T20" fmla="*/ 36 w 37"/>
              <a:gd name="T21" fmla="*/ 18 h 23"/>
              <a:gd name="T22" fmla="*/ 36 w 37"/>
              <a:gd name="T23" fmla="*/ 18 h 23"/>
              <a:gd name="T24" fmla="*/ 2 w 37"/>
              <a:gd name="T25" fmla="*/ 23 h 23"/>
              <a:gd name="T26" fmla="*/ 2 w 37"/>
              <a:gd name="T27" fmla="*/ 23 h 23"/>
              <a:gd name="T28" fmla="*/ 1 w 37"/>
              <a:gd name="T29" fmla="*/ 22 h 23"/>
              <a:gd name="T30" fmla="*/ 0 w 37"/>
              <a:gd name="T31" fmla="*/ 21 h 23"/>
              <a:gd name="T32" fmla="*/ 0 w 37"/>
              <a:gd name="T33" fmla="*/ 21 h 23"/>
              <a:gd name="T34" fmla="*/ 0 w 37"/>
              <a:gd name="T35" fmla="*/ 4 h 23"/>
              <a:gd name="T36" fmla="*/ 0 w 37"/>
              <a:gd name="T37" fmla="*/ 4 h 23"/>
              <a:gd name="T38" fmla="*/ 1 w 37"/>
              <a:gd name="T39" fmla="*/ 2 h 23"/>
              <a:gd name="T40" fmla="*/ 2 w 37"/>
              <a:gd name="T41" fmla="*/ 1 h 23"/>
              <a:gd name="T42" fmla="*/ 2 w 37"/>
              <a:gd name="T43"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23">
                <a:moveTo>
                  <a:pt x="2" y="1"/>
                </a:moveTo>
                <a:lnTo>
                  <a:pt x="2" y="1"/>
                </a:lnTo>
                <a:lnTo>
                  <a:pt x="36" y="0"/>
                </a:lnTo>
                <a:lnTo>
                  <a:pt x="36" y="0"/>
                </a:lnTo>
                <a:lnTo>
                  <a:pt x="37" y="0"/>
                </a:lnTo>
                <a:lnTo>
                  <a:pt x="37" y="1"/>
                </a:lnTo>
                <a:lnTo>
                  <a:pt x="37" y="1"/>
                </a:lnTo>
                <a:lnTo>
                  <a:pt x="37" y="16"/>
                </a:lnTo>
                <a:lnTo>
                  <a:pt x="37" y="16"/>
                </a:lnTo>
                <a:lnTo>
                  <a:pt x="37" y="17"/>
                </a:lnTo>
                <a:lnTo>
                  <a:pt x="36" y="18"/>
                </a:lnTo>
                <a:lnTo>
                  <a:pt x="36" y="18"/>
                </a:lnTo>
                <a:lnTo>
                  <a:pt x="2" y="23"/>
                </a:lnTo>
                <a:lnTo>
                  <a:pt x="2" y="23"/>
                </a:lnTo>
                <a:lnTo>
                  <a:pt x="1" y="22"/>
                </a:lnTo>
                <a:lnTo>
                  <a:pt x="0" y="21"/>
                </a:lnTo>
                <a:lnTo>
                  <a:pt x="0" y="21"/>
                </a:lnTo>
                <a:lnTo>
                  <a:pt x="0" y="4"/>
                </a:lnTo>
                <a:lnTo>
                  <a:pt x="0" y="4"/>
                </a:lnTo>
                <a:lnTo>
                  <a:pt x="1" y="2"/>
                </a:lnTo>
                <a:lnTo>
                  <a:pt x="2" y="1"/>
                </a:lnTo>
                <a:lnTo>
                  <a:pt x="2" y="1"/>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82" name="Freeform 411">
            <a:extLst>
              <a:ext uri="{FF2B5EF4-FFF2-40B4-BE49-F238E27FC236}">
                <a16:creationId xmlns:a16="http://schemas.microsoft.com/office/drawing/2014/main" id="{B294A5D9-C342-43E6-935A-575B2E6186C1}"/>
              </a:ext>
            </a:extLst>
          </p:cNvPr>
          <p:cNvSpPr>
            <a:spLocks/>
          </p:cNvSpPr>
          <p:nvPr/>
        </p:nvSpPr>
        <p:spPr bwMode="gray">
          <a:xfrm>
            <a:off x="3487631" y="1648358"/>
            <a:ext cx="22449" cy="7203"/>
          </a:xfrm>
          <a:custGeom>
            <a:avLst/>
            <a:gdLst>
              <a:gd name="T0" fmla="*/ 2 w 37"/>
              <a:gd name="T1" fmla="*/ 7 h 13"/>
              <a:gd name="T2" fmla="*/ 2 w 37"/>
              <a:gd name="T3" fmla="*/ 7 h 13"/>
              <a:gd name="T4" fmla="*/ 36 w 37"/>
              <a:gd name="T5" fmla="*/ 0 h 13"/>
              <a:gd name="T6" fmla="*/ 36 w 37"/>
              <a:gd name="T7" fmla="*/ 0 h 13"/>
              <a:gd name="T8" fmla="*/ 37 w 37"/>
              <a:gd name="T9" fmla="*/ 0 h 13"/>
              <a:gd name="T10" fmla="*/ 37 w 37"/>
              <a:gd name="T11" fmla="*/ 1 h 13"/>
              <a:gd name="T12" fmla="*/ 37 w 37"/>
              <a:gd name="T13" fmla="*/ 1 h 13"/>
              <a:gd name="T14" fmla="*/ 37 w 37"/>
              <a:gd name="T15" fmla="*/ 2 h 13"/>
              <a:gd name="T16" fmla="*/ 37 w 37"/>
              <a:gd name="T17" fmla="*/ 2 h 13"/>
              <a:gd name="T18" fmla="*/ 37 w 37"/>
              <a:gd name="T19" fmla="*/ 4 h 13"/>
              <a:gd name="T20" fmla="*/ 36 w 37"/>
              <a:gd name="T21" fmla="*/ 5 h 13"/>
              <a:gd name="T22" fmla="*/ 36 w 37"/>
              <a:gd name="T23" fmla="*/ 5 h 13"/>
              <a:gd name="T24" fmla="*/ 2 w 37"/>
              <a:gd name="T25" fmla="*/ 13 h 13"/>
              <a:gd name="T26" fmla="*/ 2 w 37"/>
              <a:gd name="T27" fmla="*/ 13 h 13"/>
              <a:gd name="T28" fmla="*/ 1 w 37"/>
              <a:gd name="T29" fmla="*/ 13 h 13"/>
              <a:gd name="T30" fmla="*/ 0 w 37"/>
              <a:gd name="T31" fmla="*/ 11 h 13"/>
              <a:gd name="T32" fmla="*/ 0 w 37"/>
              <a:gd name="T33" fmla="*/ 11 h 13"/>
              <a:gd name="T34" fmla="*/ 0 w 37"/>
              <a:gd name="T35" fmla="*/ 9 h 13"/>
              <a:gd name="T36" fmla="*/ 0 w 37"/>
              <a:gd name="T37" fmla="*/ 9 h 13"/>
              <a:gd name="T38" fmla="*/ 1 w 37"/>
              <a:gd name="T39" fmla="*/ 8 h 13"/>
              <a:gd name="T40" fmla="*/ 2 w 37"/>
              <a:gd name="T41" fmla="*/ 7 h 13"/>
              <a:gd name="T42" fmla="*/ 2 w 37"/>
              <a:gd name="T43" fmla="*/ 7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13">
                <a:moveTo>
                  <a:pt x="2" y="7"/>
                </a:moveTo>
                <a:lnTo>
                  <a:pt x="2" y="7"/>
                </a:lnTo>
                <a:lnTo>
                  <a:pt x="36" y="0"/>
                </a:lnTo>
                <a:lnTo>
                  <a:pt x="36" y="0"/>
                </a:lnTo>
                <a:lnTo>
                  <a:pt x="37" y="0"/>
                </a:lnTo>
                <a:lnTo>
                  <a:pt x="37" y="1"/>
                </a:lnTo>
                <a:lnTo>
                  <a:pt x="37" y="1"/>
                </a:lnTo>
                <a:lnTo>
                  <a:pt x="37" y="2"/>
                </a:lnTo>
                <a:lnTo>
                  <a:pt x="37" y="2"/>
                </a:lnTo>
                <a:lnTo>
                  <a:pt x="37" y="4"/>
                </a:lnTo>
                <a:lnTo>
                  <a:pt x="36" y="5"/>
                </a:lnTo>
                <a:lnTo>
                  <a:pt x="36" y="5"/>
                </a:lnTo>
                <a:lnTo>
                  <a:pt x="2" y="13"/>
                </a:lnTo>
                <a:lnTo>
                  <a:pt x="2" y="13"/>
                </a:lnTo>
                <a:lnTo>
                  <a:pt x="1" y="13"/>
                </a:lnTo>
                <a:lnTo>
                  <a:pt x="0" y="11"/>
                </a:lnTo>
                <a:lnTo>
                  <a:pt x="0" y="11"/>
                </a:lnTo>
                <a:lnTo>
                  <a:pt x="0" y="9"/>
                </a:lnTo>
                <a:lnTo>
                  <a:pt x="0" y="9"/>
                </a:lnTo>
                <a:lnTo>
                  <a:pt x="1" y="8"/>
                </a:lnTo>
                <a:lnTo>
                  <a:pt x="2" y="7"/>
                </a:lnTo>
                <a:lnTo>
                  <a:pt x="2" y="7"/>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83" name="Freeform 412">
            <a:extLst>
              <a:ext uri="{FF2B5EF4-FFF2-40B4-BE49-F238E27FC236}">
                <a16:creationId xmlns:a16="http://schemas.microsoft.com/office/drawing/2014/main" id="{5D517F2E-A1C9-4E14-B6DF-D9A3D37577E1}"/>
              </a:ext>
            </a:extLst>
          </p:cNvPr>
          <p:cNvSpPr>
            <a:spLocks/>
          </p:cNvSpPr>
          <p:nvPr/>
        </p:nvSpPr>
        <p:spPr bwMode="gray">
          <a:xfrm>
            <a:off x="3487631" y="1652790"/>
            <a:ext cx="22449" cy="8865"/>
          </a:xfrm>
          <a:custGeom>
            <a:avLst/>
            <a:gdLst>
              <a:gd name="T0" fmla="*/ 2 w 37"/>
              <a:gd name="T1" fmla="*/ 9 h 16"/>
              <a:gd name="T2" fmla="*/ 2 w 37"/>
              <a:gd name="T3" fmla="*/ 9 h 16"/>
              <a:gd name="T4" fmla="*/ 36 w 37"/>
              <a:gd name="T5" fmla="*/ 0 h 16"/>
              <a:gd name="T6" fmla="*/ 36 w 37"/>
              <a:gd name="T7" fmla="*/ 0 h 16"/>
              <a:gd name="T8" fmla="*/ 37 w 37"/>
              <a:gd name="T9" fmla="*/ 0 h 16"/>
              <a:gd name="T10" fmla="*/ 37 w 37"/>
              <a:gd name="T11" fmla="*/ 1 h 16"/>
              <a:gd name="T12" fmla="*/ 37 w 37"/>
              <a:gd name="T13" fmla="*/ 1 h 16"/>
              <a:gd name="T14" fmla="*/ 37 w 37"/>
              <a:gd name="T15" fmla="*/ 3 h 16"/>
              <a:gd name="T16" fmla="*/ 37 w 37"/>
              <a:gd name="T17" fmla="*/ 3 h 16"/>
              <a:gd name="T18" fmla="*/ 37 w 37"/>
              <a:gd name="T19" fmla="*/ 4 h 16"/>
              <a:gd name="T20" fmla="*/ 36 w 37"/>
              <a:gd name="T21" fmla="*/ 5 h 16"/>
              <a:gd name="T22" fmla="*/ 36 w 37"/>
              <a:gd name="T23" fmla="*/ 5 h 16"/>
              <a:gd name="T24" fmla="*/ 2 w 37"/>
              <a:gd name="T25" fmla="*/ 16 h 16"/>
              <a:gd name="T26" fmla="*/ 2 w 37"/>
              <a:gd name="T27" fmla="*/ 16 h 16"/>
              <a:gd name="T28" fmla="*/ 1 w 37"/>
              <a:gd name="T29" fmla="*/ 16 h 16"/>
              <a:gd name="T30" fmla="*/ 0 w 37"/>
              <a:gd name="T31" fmla="*/ 13 h 16"/>
              <a:gd name="T32" fmla="*/ 0 w 37"/>
              <a:gd name="T33" fmla="*/ 13 h 16"/>
              <a:gd name="T34" fmla="*/ 0 w 37"/>
              <a:gd name="T35" fmla="*/ 12 h 16"/>
              <a:gd name="T36" fmla="*/ 0 w 37"/>
              <a:gd name="T37" fmla="*/ 12 h 16"/>
              <a:gd name="T38" fmla="*/ 1 w 37"/>
              <a:gd name="T39" fmla="*/ 10 h 16"/>
              <a:gd name="T40" fmla="*/ 2 w 37"/>
              <a:gd name="T41" fmla="*/ 9 h 16"/>
              <a:gd name="T42" fmla="*/ 2 w 37"/>
              <a:gd name="T43"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16">
                <a:moveTo>
                  <a:pt x="2" y="9"/>
                </a:moveTo>
                <a:lnTo>
                  <a:pt x="2" y="9"/>
                </a:lnTo>
                <a:lnTo>
                  <a:pt x="36" y="0"/>
                </a:lnTo>
                <a:lnTo>
                  <a:pt x="36" y="0"/>
                </a:lnTo>
                <a:lnTo>
                  <a:pt x="37" y="0"/>
                </a:lnTo>
                <a:lnTo>
                  <a:pt x="37" y="1"/>
                </a:lnTo>
                <a:lnTo>
                  <a:pt x="37" y="1"/>
                </a:lnTo>
                <a:lnTo>
                  <a:pt x="37" y="3"/>
                </a:lnTo>
                <a:lnTo>
                  <a:pt x="37" y="3"/>
                </a:lnTo>
                <a:lnTo>
                  <a:pt x="37" y="4"/>
                </a:lnTo>
                <a:lnTo>
                  <a:pt x="36" y="5"/>
                </a:lnTo>
                <a:lnTo>
                  <a:pt x="36" y="5"/>
                </a:lnTo>
                <a:lnTo>
                  <a:pt x="2" y="16"/>
                </a:lnTo>
                <a:lnTo>
                  <a:pt x="2" y="16"/>
                </a:lnTo>
                <a:lnTo>
                  <a:pt x="1" y="16"/>
                </a:lnTo>
                <a:lnTo>
                  <a:pt x="0" y="13"/>
                </a:lnTo>
                <a:lnTo>
                  <a:pt x="0" y="13"/>
                </a:lnTo>
                <a:lnTo>
                  <a:pt x="0" y="12"/>
                </a:lnTo>
                <a:lnTo>
                  <a:pt x="0" y="12"/>
                </a:lnTo>
                <a:lnTo>
                  <a:pt x="1" y="10"/>
                </a:lnTo>
                <a:lnTo>
                  <a:pt x="2" y="9"/>
                </a:lnTo>
                <a:lnTo>
                  <a:pt x="2" y="9"/>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84" name="Freeform 413">
            <a:extLst>
              <a:ext uri="{FF2B5EF4-FFF2-40B4-BE49-F238E27FC236}">
                <a16:creationId xmlns:a16="http://schemas.microsoft.com/office/drawing/2014/main" id="{B574EF51-003B-4732-B64C-02E687DA180B}"/>
              </a:ext>
            </a:extLst>
          </p:cNvPr>
          <p:cNvSpPr>
            <a:spLocks/>
          </p:cNvSpPr>
          <p:nvPr/>
        </p:nvSpPr>
        <p:spPr bwMode="gray">
          <a:xfrm>
            <a:off x="3269815" y="1502640"/>
            <a:ext cx="63100" cy="219961"/>
          </a:xfrm>
          <a:custGeom>
            <a:avLst/>
            <a:gdLst>
              <a:gd name="T0" fmla="*/ 104 w 104"/>
              <a:gd name="T1" fmla="*/ 397 h 397"/>
              <a:gd name="T2" fmla="*/ 0 w 104"/>
              <a:gd name="T3" fmla="*/ 392 h 397"/>
              <a:gd name="T4" fmla="*/ 0 w 104"/>
              <a:gd name="T5" fmla="*/ 0 h 397"/>
              <a:gd name="T6" fmla="*/ 104 w 104"/>
              <a:gd name="T7" fmla="*/ 3 h 397"/>
              <a:gd name="T8" fmla="*/ 104 w 104"/>
              <a:gd name="T9" fmla="*/ 397 h 397"/>
            </a:gdLst>
            <a:ahLst/>
            <a:cxnLst>
              <a:cxn ang="0">
                <a:pos x="T0" y="T1"/>
              </a:cxn>
              <a:cxn ang="0">
                <a:pos x="T2" y="T3"/>
              </a:cxn>
              <a:cxn ang="0">
                <a:pos x="T4" y="T5"/>
              </a:cxn>
              <a:cxn ang="0">
                <a:pos x="T6" y="T7"/>
              </a:cxn>
              <a:cxn ang="0">
                <a:pos x="T8" y="T9"/>
              </a:cxn>
            </a:cxnLst>
            <a:rect l="0" t="0" r="r" b="b"/>
            <a:pathLst>
              <a:path w="104" h="397">
                <a:moveTo>
                  <a:pt x="104" y="397"/>
                </a:moveTo>
                <a:lnTo>
                  <a:pt x="0" y="392"/>
                </a:lnTo>
                <a:lnTo>
                  <a:pt x="0" y="0"/>
                </a:lnTo>
                <a:lnTo>
                  <a:pt x="104" y="3"/>
                </a:lnTo>
                <a:lnTo>
                  <a:pt x="104" y="397"/>
                </a:lnTo>
                <a:close/>
              </a:path>
            </a:pathLst>
          </a:custGeom>
          <a:solidFill>
            <a:schemeClr val="bg1"/>
          </a:solidFill>
          <a:ln>
            <a:solidFill>
              <a:srgbClr val="00B0F0"/>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ln>
                <a:solidFill>
                  <a:schemeClr val="bg1"/>
                </a:solidFill>
              </a:ln>
              <a:cs typeface="+mn-ea"/>
              <a:sym typeface="+mn-lt"/>
            </a:endParaRPr>
          </a:p>
        </p:txBody>
      </p:sp>
      <p:sp>
        <p:nvSpPr>
          <p:cNvPr id="285" name="矩形 284">
            <a:extLst>
              <a:ext uri="{FF2B5EF4-FFF2-40B4-BE49-F238E27FC236}">
                <a16:creationId xmlns:a16="http://schemas.microsoft.com/office/drawing/2014/main" id="{C14DA554-0D2E-4781-A6CA-CA05996DDDFF}"/>
              </a:ext>
            </a:extLst>
          </p:cNvPr>
          <p:cNvSpPr/>
          <p:nvPr/>
        </p:nvSpPr>
        <p:spPr bwMode="gray">
          <a:xfrm>
            <a:off x="3738850" y="5545023"/>
            <a:ext cx="1207538" cy="338554"/>
          </a:xfrm>
          <a:prstGeom prst="rect">
            <a:avLst/>
          </a:prstGeom>
          <a:ln>
            <a:noFill/>
          </a:ln>
        </p:spPr>
        <p:txBody>
          <a:bodyPr wrap="square">
            <a:spAutoFit/>
          </a:bodyPr>
          <a:lstStyle/>
          <a:p>
            <a:pPr algn="ctr" defTabSz="914373"/>
            <a:r>
              <a:rPr lang="en-US" altLang="zh-CN" sz="1600" kern="0" dirty="0">
                <a:cs typeface="+mn-ea"/>
                <a:sym typeface="+mn-lt"/>
              </a:rPr>
              <a:t>SD-WAN</a:t>
            </a:r>
            <a:endParaRPr lang="zh-CN" altLang="en-US" sz="1600" kern="0" dirty="0">
              <a:cs typeface="+mn-ea"/>
              <a:sym typeface="+mn-lt"/>
            </a:endParaRPr>
          </a:p>
        </p:txBody>
      </p:sp>
      <p:sp>
        <p:nvSpPr>
          <p:cNvPr id="286" name="矩形 285">
            <a:extLst>
              <a:ext uri="{FF2B5EF4-FFF2-40B4-BE49-F238E27FC236}">
                <a16:creationId xmlns:a16="http://schemas.microsoft.com/office/drawing/2014/main" id="{3A0ED00D-FA6B-455F-8410-AFAFB2DDB4D0}"/>
              </a:ext>
            </a:extLst>
          </p:cNvPr>
          <p:cNvSpPr/>
          <p:nvPr/>
        </p:nvSpPr>
        <p:spPr bwMode="gray">
          <a:xfrm flipH="1">
            <a:off x="2552833" y="3705284"/>
            <a:ext cx="508406" cy="338554"/>
          </a:xfrm>
          <a:prstGeom prst="rect">
            <a:avLst/>
          </a:prstGeom>
        </p:spPr>
        <p:txBody>
          <a:bodyPr wrap="square">
            <a:spAutoFit/>
          </a:bodyPr>
          <a:lstStyle/>
          <a:p>
            <a:pPr algn="ctr" defTabSz="914373"/>
            <a:r>
              <a:rPr lang="en-US" altLang="zh-CN" sz="1600" kern="0" dirty="0">
                <a:cs typeface="+mn-ea"/>
                <a:sym typeface="+mn-lt"/>
              </a:rPr>
              <a:t>AP</a:t>
            </a:r>
          </a:p>
        </p:txBody>
      </p:sp>
      <p:sp>
        <p:nvSpPr>
          <p:cNvPr id="287" name="矩形 286">
            <a:extLst>
              <a:ext uri="{FF2B5EF4-FFF2-40B4-BE49-F238E27FC236}">
                <a16:creationId xmlns:a16="http://schemas.microsoft.com/office/drawing/2014/main" id="{BE443161-D9EB-4BCF-86E0-592C6B08777B}"/>
              </a:ext>
            </a:extLst>
          </p:cNvPr>
          <p:cNvSpPr/>
          <p:nvPr/>
        </p:nvSpPr>
        <p:spPr bwMode="gray">
          <a:xfrm flipH="1">
            <a:off x="10268361" y="3670071"/>
            <a:ext cx="508406" cy="338554"/>
          </a:xfrm>
          <a:prstGeom prst="rect">
            <a:avLst/>
          </a:prstGeom>
        </p:spPr>
        <p:txBody>
          <a:bodyPr wrap="square">
            <a:spAutoFit/>
          </a:bodyPr>
          <a:lstStyle/>
          <a:p>
            <a:pPr algn="ctr" defTabSz="914373"/>
            <a:r>
              <a:rPr lang="en-US" altLang="zh-CN" sz="1600" kern="0" dirty="0">
                <a:cs typeface="+mn-ea"/>
                <a:sym typeface="+mn-lt"/>
              </a:rPr>
              <a:t>AP</a:t>
            </a:r>
          </a:p>
        </p:txBody>
      </p:sp>
      <p:sp>
        <p:nvSpPr>
          <p:cNvPr id="288" name="Freeform 309">
            <a:extLst>
              <a:ext uri="{FF2B5EF4-FFF2-40B4-BE49-F238E27FC236}">
                <a16:creationId xmlns:a16="http://schemas.microsoft.com/office/drawing/2014/main" id="{1B6AA344-BC99-4A79-878E-F2D6388C6BF3}"/>
              </a:ext>
            </a:extLst>
          </p:cNvPr>
          <p:cNvSpPr>
            <a:spLocks/>
          </p:cNvSpPr>
          <p:nvPr/>
        </p:nvSpPr>
        <p:spPr bwMode="gray">
          <a:xfrm rot="536204">
            <a:off x="7356516" y="4538986"/>
            <a:ext cx="1279651" cy="825050"/>
          </a:xfrm>
          <a:custGeom>
            <a:avLst/>
            <a:gdLst>
              <a:gd name="T0" fmla="*/ 52417 w 3217"/>
              <a:gd name="T1" fmla="*/ 221271 h 2156"/>
              <a:gd name="T2" fmla="*/ 23420 w 3217"/>
              <a:gd name="T3" fmla="*/ 242443 h 2156"/>
              <a:gd name="T4" fmla="*/ 6413 w 3217"/>
              <a:gd name="T5" fmla="*/ 269282 h 2156"/>
              <a:gd name="T6" fmla="*/ 0 w 3217"/>
              <a:gd name="T7" fmla="*/ 301489 h 2156"/>
              <a:gd name="T8" fmla="*/ 11710 w 3217"/>
              <a:gd name="T9" fmla="*/ 345325 h 2156"/>
              <a:gd name="T10" fmla="*/ 44889 w 3217"/>
              <a:gd name="T11" fmla="*/ 378128 h 2156"/>
              <a:gd name="T12" fmla="*/ 27602 w 3217"/>
              <a:gd name="T13" fmla="*/ 400792 h 2156"/>
              <a:gd name="T14" fmla="*/ 19796 w 3217"/>
              <a:gd name="T15" fmla="*/ 432998 h 2156"/>
              <a:gd name="T16" fmla="*/ 25093 w 3217"/>
              <a:gd name="T17" fmla="*/ 467292 h 2156"/>
              <a:gd name="T18" fmla="*/ 43216 w 3217"/>
              <a:gd name="T19" fmla="*/ 496517 h 2156"/>
              <a:gd name="T20" fmla="*/ 71097 w 3217"/>
              <a:gd name="T21" fmla="*/ 516497 h 2156"/>
              <a:gd name="T22" fmla="*/ 105949 w 3217"/>
              <a:gd name="T23" fmla="*/ 525145 h 2156"/>
              <a:gd name="T24" fmla="*/ 132157 w 3217"/>
              <a:gd name="T25" fmla="*/ 542143 h 2156"/>
              <a:gd name="T26" fmla="*/ 188198 w 3217"/>
              <a:gd name="T27" fmla="*/ 587470 h 2156"/>
              <a:gd name="T28" fmla="*/ 227789 w 3217"/>
              <a:gd name="T29" fmla="*/ 601188 h 2156"/>
              <a:gd name="T30" fmla="*/ 270448 w 3217"/>
              <a:gd name="T31" fmla="*/ 603574 h 2156"/>
              <a:gd name="T32" fmla="*/ 312827 w 3217"/>
              <a:gd name="T33" fmla="*/ 595522 h 2156"/>
              <a:gd name="T34" fmla="*/ 347121 w 3217"/>
              <a:gd name="T35" fmla="*/ 588663 h 2156"/>
              <a:gd name="T36" fmla="*/ 400095 w 3217"/>
              <a:gd name="T37" fmla="*/ 630412 h 2156"/>
              <a:gd name="T38" fmla="*/ 464222 w 3217"/>
              <a:gd name="T39" fmla="*/ 642341 h 2156"/>
              <a:gd name="T40" fmla="*/ 507995 w 3217"/>
              <a:gd name="T41" fmla="*/ 633693 h 2156"/>
              <a:gd name="T42" fmla="*/ 545914 w 3217"/>
              <a:gd name="T43" fmla="*/ 612520 h 2156"/>
              <a:gd name="T44" fmla="*/ 576025 w 3217"/>
              <a:gd name="T45" fmla="*/ 580611 h 2156"/>
              <a:gd name="T46" fmla="*/ 592475 w 3217"/>
              <a:gd name="T47" fmla="*/ 546318 h 2156"/>
              <a:gd name="T48" fmla="*/ 651862 w 3217"/>
              <a:gd name="T49" fmla="*/ 563315 h 2156"/>
              <a:gd name="T50" fmla="*/ 697309 w 3217"/>
              <a:gd name="T51" fmla="*/ 556457 h 2156"/>
              <a:gd name="T52" fmla="*/ 736342 w 3217"/>
              <a:gd name="T53" fmla="*/ 533793 h 2156"/>
              <a:gd name="T54" fmla="*/ 764224 w 3217"/>
              <a:gd name="T55" fmla="*/ 498306 h 2156"/>
              <a:gd name="T56" fmla="*/ 775934 w 3217"/>
              <a:gd name="T57" fmla="*/ 453575 h 2156"/>
              <a:gd name="T58" fmla="*/ 813016 w 3217"/>
              <a:gd name="T59" fmla="*/ 436875 h 2156"/>
              <a:gd name="T60" fmla="*/ 854280 w 3217"/>
              <a:gd name="T61" fmla="*/ 410036 h 2156"/>
              <a:gd name="T62" fmla="*/ 882997 w 3217"/>
              <a:gd name="T63" fmla="*/ 371269 h 2156"/>
              <a:gd name="T64" fmla="*/ 896380 w 3217"/>
              <a:gd name="T65" fmla="*/ 324152 h 2156"/>
              <a:gd name="T66" fmla="*/ 892756 w 3217"/>
              <a:gd name="T67" fmla="*/ 277930 h 2156"/>
              <a:gd name="T68" fmla="*/ 874354 w 3217"/>
              <a:gd name="T69" fmla="*/ 237374 h 2156"/>
              <a:gd name="T70" fmla="*/ 874912 w 3217"/>
              <a:gd name="T71" fmla="*/ 201291 h 2156"/>
              <a:gd name="T72" fmla="*/ 874075 w 3217"/>
              <a:gd name="T73" fmla="*/ 162822 h 2156"/>
              <a:gd name="T74" fmla="*/ 861250 w 3217"/>
              <a:gd name="T75" fmla="*/ 130317 h 2156"/>
              <a:gd name="T76" fmla="*/ 835042 w 3217"/>
              <a:gd name="T77" fmla="*/ 100496 h 2156"/>
              <a:gd name="T78" fmla="*/ 799075 w 3217"/>
              <a:gd name="T79" fmla="*/ 82305 h 2156"/>
              <a:gd name="T80" fmla="*/ 787365 w 3217"/>
              <a:gd name="T81" fmla="*/ 55467 h 2156"/>
              <a:gd name="T82" fmla="*/ 767012 w 3217"/>
              <a:gd name="T83" fmla="*/ 28032 h 2156"/>
              <a:gd name="T84" fmla="*/ 734948 w 3217"/>
              <a:gd name="T85" fmla="*/ 7455 h 2156"/>
              <a:gd name="T86" fmla="*/ 700654 w 3217"/>
              <a:gd name="T87" fmla="*/ 0 h 2156"/>
              <a:gd name="T88" fmla="*/ 658275 w 3217"/>
              <a:gd name="T89" fmla="*/ 6859 h 2156"/>
              <a:gd name="T90" fmla="*/ 622587 w 3217"/>
              <a:gd name="T91" fmla="*/ 30119 h 2156"/>
              <a:gd name="T92" fmla="*/ 596379 w 3217"/>
              <a:gd name="T93" fmla="*/ 13718 h 2156"/>
              <a:gd name="T94" fmla="*/ 557903 w 3217"/>
              <a:gd name="T95" fmla="*/ 596 h 2156"/>
              <a:gd name="T96" fmla="*/ 510226 w 3217"/>
              <a:gd name="T97" fmla="*/ 7455 h 2156"/>
              <a:gd name="T98" fmla="*/ 472307 w 3217"/>
              <a:gd name="T99" fmla="*/ 38171 h 2156"/>
              <a:gd name="T100" fmla="*/ 444984 w 3217"/>
              <a:gd name="T101" fmla="*/ 34294 h 2156"/>
              <a:gd name="T102" fmla="*/ 404835 w 3217"/>
              <a:gd name="T103" fmla="*/ 20576 h 2156"/>
              <a:gd name="T104" fmla="*/ 351861 w 3217"/>
              <a:gd name="T105" fmla="*/ 25049 h 2156"/>
              <a:gd name="T106" fmla="*/ 303069 w 3217"/>
              <a:gd name="T107" fmla="*/ 58151 h 2156"/>
              <a:gd name="T108" fmla="*/ 260968 w 3217"/>
              <a:gd name="T109" fmla="*/ 64413 h 2156"/>
              <a:gd name="T110" fmla="*/ 224165 w 3217"/>
              <a:gd name="T111" fmla="*/ 58151 h 2156"/>
              <a:gd name="T112" fmla="*/ 171748 w 3217"/>
              <a:gd name="T113" fmla="*/ 66799 h 2156"/>
              <a:gd name="T114" fmla="*/ 125187 w 3217"/>
              <a:gd name="T115" fmla="*/ 93637 h 2156"/>
              <a:gd name="T116" fmla="*/ 92844 w 3217"/>
              <a:gd name="T117" fmla="*/ 135983 h 2156"/>
              <a:gd name="T118" fmla="*/ 79740 w 3217"/>
              <a:gd name="T119" fmla="*/ 188169 h 21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17" h="2156">
                <a:moveTo>
                  <a:pt x="291" y="715"/>
                </a:moveTo>
                <a:lnTo>
                  <a:pt x="276" y="717"/>
                </a:lnTo>
                <a:lnTo>
                  <a:pt x="261" y="719"/>
                </a:lnTo>
                <a:lnTo>
                  <a:pt x="245" y="723"/>
                </a:lnTo>
                <a:lnTo>
                  <a:pt x="230" y="727"/>
                </a:lnTo>
                <a:lnTo>
                  <a:pt x="216" y="731"/>
                </a:lnTo>
                <a:lnTo>
                  <a:pt x="203" y="736"/>
                </a:lnTo>
                <a:lnTo>
                  <a:pt x="188" y="742"/>
                </a:lnTo>
                <a:lnTo>
                  <a:pt x="176" y="748"/>
                </a:lnTo>
                <a:lnTo>
                  <a:pt x="163" y="754"/>
                </a:lnTo>
                <a:lnTo>
                  <a:pt x="149" y="761"/>
                </a:lnTo>
                <a:lnTo>
                  <a:pt x="138" y="769"/>
                </a:lnTo>
                <a:lnTo>
                  <a:pt x="126" y="777"/>
                </a:lnTo>
                <a:lnTo>
                  <a:pt x="103" y="794"/>
                </a:lnTo>
                <a:lnTo>
                  <a:pt x="94" y="802"/>
                </a:lnTo>
                <a:lnTo>
                  <a:pt x="84" y="813"/>
                </a:lnTo>
                <a:lnTo>
                  <a:pt x="74" y="823"/>
                </a:lnTo>
                <a:lnTo>
                  <a:pt x="65" y="832"/>
                </a:lnTo>
                <a:lnTo>
                  <a:pt x="55" y="844"/>
                </a:lnTo>
                <a:lnTo>
                  <a:pt x="48" y="855"/>
                </a:lnTo>
                <a:lnTo>
                  <a:pt x="40" y="867"/>
                </a:lnTo>
                <a:lnTo>
                  <a:pt x="34" y="878"/>
                </a:lnTo>
                <a:lnTo>
                  <a:pt x="28" y="890"/>
                </a:lnTo>
                <a:lnTo>
                  <a:pt x="23" y="903"/>
                </a:lnTo>
                <a:lnTo>
                  <a:pt x="17" y="915"/>
                </a:lnTo>
                <a:lnTo>
                  <a:pt x="13" y="928"/>
                </a:lnTo>
                <a:lnTo>
                  <a:pt x="9" y="942"/>
                </a:lnTo>
                <a:lnTo>
                  <a:pt x="5" y="955"/>
                </a:lnTo>
                <a:lnTo>
                  <a:pt x="4" y="968"/>
                </a:lnTo>
                <a:lnTo>
                  <a:pt x="2" y="984"/>
                </a:lnTo>
                <a:lnTo>
                  <a:pt x="0" y="997"/>
                </a:lnTo>
                <a:lnTo>
                  <a:pt x="0" y="1011"/>
                </a:lnTo>
                <a:lnTo>
                  <a:pt x="0" y="1030"/>
                </a:lnTo>
                <a:lnTo>
                  <a:pt x="2" y="1051"/>
                </a:lnTo>
                <a:lnTo>
                  <a:pt x="5" y="1070"/>
                </a:lnTo>
                <a:lnTo>
                  <a:pt x="11" y="1087"/>
                </a:lnTo>
                <a:lnTo>
                  <a:pt x="17" y="1107"/>
                </a:lnTo>
                <a:lnTo>
                  <a:pt x="25" y="1124"/>
                </a:lnTo>
                <a:lnTo>
                  <a:pt x="32" y="1141"/>
                </a:lnTo>
                <a:lnTo>
                  <a:pt x="42" y="1158"/>
                </a:lnTo>
                <a:lnTo>
                  <a:pt x="53" y="1174"/>
                </a:lnTo>
                <a:lnTo>
                  <a:pt x="65" y="1191"/>
                </a:lnTo>
                <a:lnTo>
                  <a:pt x="78" y="1204"/>
                </a:lnTo>
                <a:lnTo>
                  <a:pt x="94" y="1220"/>
                </a:lnTo>
                <a:lnTo>
                  <a:pt x="109" y="1233"/>
                </a:lnTo>
                <a:lnTo>
                  <a:pt x="124" y="1245"/>
                </a:lnTo>
                <a:lnTo>
                  <a:pt x="142" y="1256"/>
                </a:lnTo>
                <a:lnTo>
                  <a:pt x="161" y="1268"/>
                </a:lnTo>
                <a:lnTo>
                  <a:pt x="159" y="1264"/>
                </a:lnTo>
                <a:lnTo>
                  <a:pt x="147" y="1273"/>
                </a:lnTo>
                <a:lnTo>
                  <a:pt x="138" y="1285"/>
                </a:lnTo>
                <a:lnTo>
                  <a:pt x="130" y="1297"/>
                </a:lnTo>
                <a:lnTo>
                  <a:pt x="121" y="1308"/>
                </a:lnTo>
                <a:lnTo>
                  <a:pt x="113" y="1320"/>
                </a:lnTo>
                <a:lnTo>
                  <a:pt x="105" y="1331"/>
                </a:lnTo>
                <a:lnTo>
                  <a:pt x="99" y="1344"/>
                </a:lnTo>
                <a:lnTo>
                  <a:pt x="94" y="1358"/>
                </a:lnTo>
                <a:lnTo>
                  <a:pt x="88" y="1369"/>
                </a:lnTo>
                <a:lnTo>
                  <a:pt x="84" y="1383"/>
                </a:lnTo>
                <a:lnTo>
                  <a:pt x="80" y="1396"/>
                </a:lnTo>
                <a:lnTo>
                  <a:pt x="76" y="1410"/>
                </a:lnTo>
                <a:lnTo>
                  <a:pt x="74" y="1423"/>
                </a:lnTo>
                <a:lnTo>
                  <a:pt x="73" y="1437"/>
                </a:lnTo>
                <a:lnTo>
                  <a:pt x="71" y="1452"/>
                </a:lnTo>
                <a:lnTo>
                  <a:pt x="71" y="1465"/>
                </a:lnTo>
                <a:lnTo>
                  <a:pt x="71" y="1481"/>
                </a:lnTo>
                <a:lnTo>
                  <a:pt x="73" y="1496"/>
                </a:lnTo>
                <a:lnTo>
                  <a:pt x="74" y="1511"/>
                </a:lnTo>
                <a:lnTo>
                  <a:pt x="76" y="1525"/>
                </a:lnTo>
                <a:lnTo>
                  <a:pt x="80" y="1540"/>
                </a:lnTo>
                <a:lnTo>
                  <a:pt x="86" y="1554"/>
                </a:lnTo>
                <a:lnTo>
                  <a:pt x="90" y="1567"/>
                </a:lnTo>
                <a:lnTo>
                  <a:pt x="96" y="1580"/>
                </a:lnTo>
                <a:lnTo>
                  <a:pt x="103" y="1594"/>
                </a:lnTo>
                <a:lnTo>
                  <a:pt x="109" y="1607"/>
                </a:lnTo>
                <a:lnTo>
                  <a:pt x="119" y="1619"/>
                </a:lnTo>
                <a:lnTo>
                  <a:pt x="126" y="1630"/>
                </a:lnTo>
                <a:lnTo>
                  <a:pt x="136" y="1642"/>
                </a:lnTo>
                <a:lnTo>
                  <a:pt x="145" y="1653"/>
                </a:lnTo>
                <a:lnTo>
                  <a:pt x="155" y="1665"/>
                </a:lnTo>
                <a:lnTo>
                  <a:pt x="167" y="1674"/>
                </a:lnTo>
                <a:lnTo>
                  <a:pt x="176" y="1684"/>
                </a:lnTo>
                <a:lnTo>
                  <a:pt x="190" y="1694"/>
                </a:lnTo>
                <a:lnTo>
                  <a:pt x="201" y="1701"/>
                </a:lnTo>
                <a:lnTo>
                  <a:pt x="215" y="1711"/>
                </a:lnTo>
                <a:lnTo>
                  <a:pt x="226" y="1719"/>
                </a:lnTo>
                <a:lnTo>
                  <a:pt x="241" y="1724"/>
                </a:lnTo>
                <a:lnTo>
                  <a:pt x="255" y="1732"/>
                </a:lnTo>
                <a:lnTo>
                  <a:pt x="268" y="1738"/>
                </a:lnTo>
                <a:lnTo>
                  <a:pt x="284" y="1743"/>
                </a:lnTo>
                <a:lnTo>
                  <a:pt x="299" y="1747"/>
                </a:lnTo>
                <a:lnTo>
                  <a:pt x="314" y="1751"/>
                </a:lnTo>
                <a:lnTo>
                  <a:pt x="330" y="1755"/>
                </a:lnTo>
                <a:lnTo>
                  <a:pt x="345" y="1757"/>
                </a:lnTo>
                <a:lnTo>
                  <a:pt x="362" y="1759"/>
                </a:lnTo>
                <a:lnTo>
                  <a:pt x="380" y="1761"/>
                </a:lnTo>
                <a:lnTo>
                  <a:pt x="395" y="1761"/>
                </a:lnTo>
                <a:lnTo>
                  <a:pt x="414" y="1761"/>
                </a:lnTo>
                <a:lnTo>
                  <a:pt x="433" y="1759"/>
                </a:lnTo>
                <a:lnTo>
                  <a:pt x="431" y="1761"/>
                </a:lnTo>
                <a:lnTo>
                  <a:pt x="441" y="1776"/>
                </a:lnTo>
                <a:lnTo>
                  <a:pt x="452" y="1791"/>
                </a:lnTo>
                <a:lnTo>
                  <a:pt x="462" y="1805"/>
                </a:lnTo>
                <a:lnTo>
                  <a:pt x="474" y="1818"/>
                </a:lnTo>
                <a:lnTo>
                  <a:pt x="498" y="1845"/>
                </a:lnTo>
                <a:lnTo>
                  <a:pt x="523" y="1872"/>
                </a:lnTo>
                <a:lnTo>
                  <a:pt x="550" y="1895"/>
                </a:lnTo>
                <a:lnTo>
                  <a:pt x="581" y="1916"/>
                </a:lnTo>
                <a:lnTo>
                  <a:pt x="610" y="1937"/>
                </a:lnTo>
                <a:lnTo>
                  <a:pt x="642" y="1955"/>
                </a:lnTo>
                <a:lnTo>
                  <a:pt x="658" y="1962"/>
                </a:lnTo>
                <a:lnTo>
                  <a:pt x="675" y="1970"/>
                </a:lnTo>
                <a:lnTo>
                  <a:pt x="692" y="1978"/>
                </a:lnTo>
                <a:lnTo>
                  <a:pt x="710" y="1985"/>
                </a:lnTo>
                <a:lnTo>
                  <a:pt x="727" y="1991"/>
                </a:lnTo>
                <a:lnTo>
                  <a:pt x="744" y="1997"/>
                </a:lnTo>
                <a:lnTo>
                  <a:pt x="761" y="2002"/>
                </a:lnTo>
                <a:lnTo>
                  <a:pt x="781" y="2006"/>
                </a:lnTo>
                <a:lnTo>
                  <a:pt x="798" y="2012"/>
                </a:lnTo>
                <a:lnTo>
                  <a:pt x="817" y="2016"/>
                </a:lnTo>
                <a:lnTo>
                  <a:pt x="836" y="2018"/>
                </a:lnTo>
                <a:lnTo>
                  <a:pt x="853" y="2022"/>
                </a:lnTo>
                <a:lnTo>
                  <a:pt x="873" y="2024"/>
                </a:lnTo>
                <a:lnTo>
                  <a:pt x="892" y="2024"/>
                </a:lnTo>
                <a:lnTo>
                  <a:pt x="911" y="2026"/>
                </a:lnTo>
                <a:lnTo>
                  <a:pt x="930" y="2026"/>
                </a:lnTo>
                <a:lnTo>
                  <a:pt x="949" y="2026"/>
                </a:lnTo>
                <a:lnTo>
                  <a:pt x="970" y="2024"/>
                </a:lnTo>
                <a:lnTo>
                  <a:pt x="990" y="2024"/>
                </a:lnTo>
                <a:lnTo>
                  <a:pt x="1009" y="2022"/>
                </a:lnTo>
                <a:lnTo>
                  <a:pt x="1028" y="2018"/>
                </a:lnTo>
                <a:lnTo>
                  <a:pt x="1047" y="2014"/>
                </a:lnTo>
                <a:lnTo>
                  <a:pt x="1066" y="2010"/>
                </a:lnTo>
                <a:lnTo>
                  <a:pt x="1084" y="2006"/>
                </a:lnTo>
                <a:lnTo>
                  <a:pt x="1103" y="2001"/>
                </a:lnTo>
                <a:lnTo>
                  <a:pt x="1122" y="1997"/>
                </a:lnTo>
                <a:lnTo>
                  <a:pt x="1139" y="1989"/>
                </a:lnTo>
                <a:lnTo>
                  <a:pt x="1157" y="1983"/>
                </a:lnTo>
                <a:lnTo>
                  <a:pt x="1176" y="1976"/>
                </a:lnTo>
                <a:lnTo>
                  <a:pt x="1193" y="1968"/>
                </a:lnTo>
                <a:lnTo>
                  <a:pt x="1210" y="1958"/>
                </a:lnTo>
                <a:lnTo>
                  <a:pt x="1228" y="1951"/>
                </a:lnTo>
                <a:lnTo>
                  <a:pt x="1226" y="1951"/>
                </a:lnTo>
                <a:lnTo>
                  <a:pt x="1245" y="1974"/>
                </a:lnTo>
                <a:lnTo>
                  <a:pt x="1264" y="1997"/>
                </a:lnTo>
                <a:lnTo>
                  <a:pt x="1285" y="2018"/>
                </a:lnTo>
                <a:lnTo>
                  <a:pt x="1306" y="2037"/>
                </a:lnTo>
                <a:lnTo>
                  <a:pt x="1331" y="2054"/>
                </a:lnTo>
                <a:lnTo>
                  <a:pt x="1354" y="2072"/>
                </a:lnTo>
                <a:lnTo>
                  <a:pt x="1381" y="2087"/>
                </a:lnTo>
                <a:lnTo>
                  <a:pt x="1406" y="2100"/>
                </a:lnTo>
                <a:lnTo>
                  <a:pt x="1435" y="2114"/>
                </a:lnTo>
                <a:lnTo>
                  <a:pt x="1462" y="2123"/>
                </a:lnTo>
                <a:lnTo>
                  <a:pt x="1492" y="2133"/>
                </a:lnTo>
                <a:lnTo>
                  <a:pt x="1521" y="2141"/>
                </a:lnTo>
                <a:lnTo>
                  <a:pt x="1552" y="2146"/>
                </a:lnTo>
                <a:lnTo>
                  <a:pt x="1582" y="2152"/>
                </a:lnTo>
                <a:lnTo>
                  <a:pt x="1613" y="2154"/>
                </a:lnTo>
                <a:lnTo>
                  <a:pt x="1644" y="2156"/>
                </a:lnTo>
                <a:lnTo>
                  <a:pt x="1665" y="2154"/>
                </a:lnTo>
                <a:lnTo>
                  <a:pt x="1686" y="2154"/>
                </a:lnTo>
                <a:lnTo>
                  <a:pt x="1705" y="2152"/>
                </a:lnTo>
                <a:lnTo>
                  <a:pt x="1726" y="2148"/>
                </a:lnTo>
                <a:lnTo>
                  <a:pt x="1746" y="2146"/>
                </a:lnTo>
                <a:lnTo>
                  <a:pt x="1765" y="2141"/>
                </a:lnTo>
                <a:lnTo>
                  <a:pt x="1784" y="2137"/>
                </a:lnTo>
                <a:lnTo>
                  <a:pt x="1803" y="2131"/>
                </a:lnTo>
                <a:lnTo>
                  <a:pt x="1822" y="2125"/>
                </a:lnTo>
                <a:lnTo>
                  <a:pt x="1841" y="2118"/>
                </a:lnTo>
                <a:lnTo>
                  <a:pt x="1859" y="2110"/>
                </a:lnTo>
                <a:lnTo>
                  <a:pt x="1876" y="2102"/>
                </a:lnTo>
                <a:lnTo>
                  <a:pt x="1893" y="2095"/>
                </a:lnTo>
                <a:lnTo>
                  <a:pt x="1911" y="2085"/>
                </a:lnTo>
                <a:lnTo>
                  <a:pt x="1928" y="2075"/>
                </a:lnTo>
                <a:lnTo>
                  <a:pt x="1943" y="2064"/>
                </a:lnTo>
                <a:lnTo>
                  <a:pt x="1958" y="2054"/>
                </a:lnTo>
                <a:lnTo>
                  <a:pt x="1974" y="2041"/>
                </a:lnTo>
                <a:lnTo>
                  <a:pt x="1989" y="2029"/>
                </a:lnTo>
                <a:lnTo>
                  <a:pt x="2003" y="2018"/>
                </a:lnTo>
                <a:lnTo>
                  <a:pt x="2016" y="2004"/>
                </a:lnTo>
                <a:lnTo>
                  <a:pt x="2029" y="1991"/>
                </a:lnTo>
                <a:lnTo>
                  <a:pt x="2043" y="1976"/>
                </a:lnTo>
                <a:lnTo>
                  <a:pt x="2054" y="1960"/>
                </a:lnTo>
                <a:lnTo>
                  <a:pt x="2066" y="1947"/>
                </a:lnTo>
                <a:lnTo>
                  <a:pt x="2076" y="1930"/>
                </a:lnTo>
                <a:lnTo>
                  <a:pt x="2085" y="1914"/>
                </a:lnTo>
                <a:lnTo>
                  <a:pt x="2095" y="1899"/>
                </a:lnTo>
                <a:lnTo>
                  <a:pt x="2104" y="1882"/>
                </a:lnTo>
                <a:lnTo>
                  <a:pt x="2112" y="1864"/>
                </a:lnTo>
                <a:lnTo>
                  <a:pt x="2118" y="1847"/>
                </a:lnTo>
                <a:lnTo>
                  <a:pt x="2125" y="1828"/>
                </a:lnTo>
                <a:lnTo>
                  <a:pt x="2125" y="1832"/>
                </a:lnTo>
                <a:lnTo>
                  <a:pt x="2152" y="1845"/>
                </a:lnTo>
                <a:lnTo>
                  <a:pt x="2179" y="1857"/>
                </a:lnTo>
                <a:lnTo>
                  <a:pt x="2206" y="1866"/>
                </a:lnTo>
                <a:lnTo>
                  <a:pt x="2235" y="1876"/>
                </a:lnTo>
                <a:lnTo>
                  <a:pt x="2264" y="1882"/>
                </a:lnTo>
                <a:lnTo>
                  <a:pt x="2294" y="1887"/>
                </a:lnTo>
                <a:lnTo>
                  <a:pt x="2323" y="1889"/>
                </a:lnTo>
                <a:lnTo>
                  <a:pt x="2338" y="1889"/>
                </a:lnTo>
                <a:lnTo>
                  <a:pt x="2354" y="1891"/>
                </a:lnTo>
                <a:lnTo>
                  <a:pt x="2377" y="1889"/>
                </a:lnTo>
                <a:lnTo>
                  <a:pt x="2398" y="1887"/>
                </a:lnTo>
                <a:lnTo>
                  <a:pt x="2419" y="1885"/>
                </a:lnTo>
                <a:lnTo>
                  <a:pt x="2440" y="1882"/>
                </a:lnTo>
                <a:lnTo>
                  <a:pt x="2461" y="1878"/>
                </a:lnTo>
                <a:lnTo>
                  <a:pt x="2480" y="1872"/>
                </a:lnTo>
                <a:lnTo>
                  <a:pt x="2501" y="1866"/>
                </a:lnTo>
                <a:lnTo>
                  <a:pt x="2521" y="1861"/>
                </a:lnTo>
                <a:lnTo>
                  <a:pt x="2540" y="1853"/>
                </a:lnTo>
                <a:lnTo>
                  <a:pt x="2559" y="1843"/>
                </a:lnTo>
                <a:lnTo>
                  <a:pt x="2576" y="1834"/>
                </a:lnTo>
                <a:lnTo>
                  <a:pt x="2594" y="1824"/>
                </a:lnTo>
                <a:lnTo>
                  <a:pt x="2611" y="1813"/>
                </a:lnTo>
                <a:lnTo>
                  <a:pt x="2626" y="1801"/>
                </a:lnTo>
                <a:lnTo>
                  <a:pt x="2641" y="1790"/>
                </a:lnTo>
                <a:lnTo>
                  <a:pt x="2657" y="1776"/>
                </a:lnTo>
                <a:lnTo>
                  <a:pt x="2672" y="1763"/>
                </a:lnTo>
                <a:lnTo>
                  <a:pt x="2686" y="1749"/>
                </a:lnTo>
                <a:lnTo>
                  <a:pt x="2697" y="1734"/>
                </a:lnTo>
                <a:lnTo>
                  <a:pt x="2711" y="1719"/>
                </a:lnTo>
                <a:lnTo>
                  <a:pt x="2722" y="1703"/>
                </a:lnTo>
                <a:lnTo>
                  <a:pt x="2732" y="1686"/>
                </a:lnTo>
                <a:lnTo>
                  <a:pt x="2741" y="1671"/>
                </a:lnTo>
                <a:lnTo>
                  <a:pt x="2749" y="1653"/>
                </a:lnTo>
                <a:lnTo>
                  <a:pt x="2759" y="1634"/>
                </a:lnTo>
                <a:lnTo>
                  <a:pt x="2764" y="1617"/>
                </a:lnTo>
                <a:lnTo>
                  <a:pt x="2770" y="1598"/>
                </a:lnTo>
                <a:lnTo>
                  <a:pt x="2776" y="1580"/>
                </a:lnTo>
                <a:lnTo>
                  <a:pt x="2780" y="1561"/>
                </a:lnTo>
                <a:lnTo>
                  <a:pt x="2782" y="1540"/>
                </a:lnTo>
                <a:lnTo>
                  <a:pt x="2783" y="1521"/>
                </a:lnTo>
                <a:lnTo>
                  <a:pt x="2785" y="1502"/>
                </a:lnTo>
                <a:lnTo>
                  <a:pt x="2783" y="1500"/>
                </a:lnTo>
                <a:lnTo>
                  <a:pt x="2806" y="1496"/>
                </a:lnTo>
                <a:lnTo>
                  <a:pt x="2830" y="1492"/>
                </a:lnTo>
                <a:lnTo>
                  <a:pt x="2853" y="1486"/>
                </a:lnTo>
                <a:lnTo>
                  <a:pt x="2874" y="1481"/>
                </a:lnTo>
                <a:lnTo>
                  <a:pt x="2895" y="1473"/>
                </a:lnTo>
                <a:lnTo>
                  <a:pt x="2916" y="1465"/>
                </a:lnTo>
                <a:lnTo>
                  <a:pt x="2937" y="1456"/>
                </a:lnTo>
                <a:lnTo>
                  <a:pt x="2956" y="1448"/>
                </a:lnTo>
                <a:lnTo>
                  <a:pt x="2975" y="1437"/>
                </a:lnTo>
                <a:lnTo>
                  <a:pt x="2995" y="1425"/>
                </a:lnTo>
                <a:lnTo>
                  <a:pt x="3012" y="1414"/>
                </a:lnTo>
                <a:lnTo>
                  <a:pt x="3031" y="1402"/>
                </a:lnTo>
                <a:lnTo>
                  <a:pt x="3046" y="1389"/>
                </a:lnTo>
                <a:lnTo>
                  <a:pt x="3064" y="1375"/>
                </a:lnTo>
                <a:lnTo>
                  <a:pt x="3079" y="1360"/>
                </a:lnTo>
                <a:lnTo>
                  <a:pt x="3094" y="1346"/>
                </a:lnTo>
                <a:lnTo>
                  <a:pt x="3108" y="1331"/>
                </a:lnTo>
                <a:lnTo>
                  <a:pt x="3121" y="1314"/>
                </a:lnTo>
                <a:lnTo>
                  <a:pt x="3135" y="1298"/>
                </a:lnTo>
                <a:lnTo>
                  <a:pt x="3146" y="1281"/>
                </a:lnTo>
                <a:lnTo>
                  <a:pt x="3156" y="1264"/>
                </a:lnTo>
                <a:lnTo>
                  <a:pt x="3167" y="1245"/>
                </a:lnTo>
                <a:lnTo>
                  <a:pt x="3177" y="1227"/>
                </a:lnTo>
                <a:lnTo>
                  <a:pt x="3184" y="1208"/>
                </a:lnTo>
                <a:lnTo>
                  <a:pt x="3192" y="1189"/>
                </a:lnTo>
                <a:lnTo>
                  <a:pt x="3198" y="1168"/>
                </a:lnTo>
                <a:lnTo>
                  <a:pt x="3204" y="1149"/>
                </a:lnTo>
                <a:lnTo>
                  <a:pt x="3209" y="1128"/>
                </a:lnTo>
                <a:lnTo>
                  <a:pt x="3213" y="1109"/>
                </a:lnTo>
                <a:lnTo>
                  <a:pt x="3215" y="1087"/>
                </a:lnTo>
                <a:lnTo>
                  <a:pt x="3217" y="1066"/>
                </a:lnTo>
                <a:lnTo>
                  <a:pt x="3217" y="1045"/>
                </a:lnTo>
                <a:lnTo>
                  <a:pt x="3217" y="1026"/>
                </a:lnTo>
                <a:lnTo>
                  <a:pt x="3215" y="1007"/>
                </a:lnTo>
                <a:lnTo>
                  <a:pt x="3213" y="988"/>
                </a:lnTo>
                <a:lnTo>
                  <a:pt x="3209" y="968"/>
                </a:lnTo>
                <a:lnTo>
                  <a:pt x="3206" y="951"/>
                </a:lnTo>
                <a:lnTo>
                  <a:pt x="3202" y="932"/>
                </a:lnTo>
                <a:lnTo>
                  <a:pt x="3196" y="915"/>
                </a:lnTo>
                <a:lnTo>
                  <a:pt x="3190" y="896"/>
                </a:lnTo>
                <a:lnTo>
                  <a:pt x="3183" y="878"/>
                </a:lnTo>
                <a:lnTo>
                  <a:pt x="3175" y="861"/>
                </a:lnTo>
                <a:lnTo>
                  <a:pt x="3167" y="844"/>
                </a:lnTo>
                <a:lnTo>
                  <a:pt x="3158" y="828"/>
                </a:lnTo>
                <a:lnTo>
                  <a:pt x="3148" y="811"/>
                </a:lnTo>
                <a:lnTo>
                  <a:pt x="3136" y="796"/>
                </a:lnTo>
                <a:lnTo>
                  <a:pt x="3125" y="779"/>
                </a:lnTo>
                <a:lnTo>
                  <a:pt x="3113" y="765"/>
                </a:lnTo>
                <a:lnTo>
                  <a:pt x="3112" y="763"/>
                </a:lnTo>
                <a:lnTo>
                  <a:pt x="3119" y="746"/>
                </a:lnTo>
                <a:lnTo>
                  <a:pt x="3125" y="729"/>
                </a:lnTo>
                <a:lnTo>
                  <a:pt x="3131" y="711"/>
                </a:lnTo>
                <a:lnTo>
                  <a:pt x="3136" y="694"/>
                </a:lnTo>
                <a:lnTo>
                  <a:pt x="3138" y="675"/>
                </a:lnTo>
                <a:lnTo>
                  <a:pt x="3142" y="658"/>
                </a:lnTo>
                <a:lnTo>
                  <a:pt x="3144" y="638"/>
                </a:lnTo>
                <a:lnTo>
                  <a:pt x="3144" y="621"/>
                </a:lnTo>
                <a:lnTo>
                  <a:pt x="3144" y="606"/>
                </a:lnTo>
                <a:lnTo>
                  <a:pt x="3142" y="591"/>
                </a:lnTo>
                <a:lnTo>
                  <a:pt x="3140" y="575"/>
                </a:lnTo>
                <a:lnTo>
                  <a:pt x="3138" y="560"/>
                </a:lnTo>
                <a:lnTo>
                  <a:pt x="3135" y="546"/>
                </a:lnTo>
                <a:lnTo>
                  <a:pt x="3131" y="531"/>
                </a:lnTo>
                <a:lnTo>
                  <a:pt x="3127" y="518"/>
                </a:lnTo>
                <a:lnTo>
                  <a:pt x="3123" y="502"/>
                </a:lnTo>
                <a:lnTo>
                  <a:pt x="3117" y="489"/>
                </a:lnTo>
                <a:lnTo>
                  <a:pt x="3112" y="475"/>
                </a:lnTo>
                <a:lnTo>
                  <a:pt x="3104" y="462"/>
                </a:lnTo>
                <a:lnTo>
                  <a:pt x="3096" y="449"/>
                </a:lnTo>
                <a:lnTo>
                  <a:pt x="3089" y="437"/>
                </a:lnTo>
                <a:lnTo>
                  <a:pt x="3081" y="424"/>
                </a:lnTo>
                <a:lnTo>
                  <a:pt x="3071" y="412"/>
                </a:lnTo>
                <a:lnTo>
                  <a:pt x="3062" y="401"/>
                </a:lnTo>
                <a:lnTo>
                  <a:pt x="3052" y="389"/>
                </a:lnTo>
                <a:lnTo>
                  <a:pt x="3042" y="378"/>
                </a:lnTo>
                <a:lnTo>
                  <a:pt x="3031" y="368"/>
                </a:lnTo>
                <a:lnTo>
                  <a:pt x="3019" y="356"/>
                </a:lnTo>
                <a:lnTo>
                  <a:pt x="2995" y="337"/>
                </a:lnTo>
                <a:lnTo>
                  <a:pt x="2970" y="320"/>
                </a:lnTo>
                <a:lnTo>
                  <a:pt x="2956" y="312"/>
                </a:lnTo>
                <a:lnTo>
                  <a:pt x="2943" y="305"/>
                </a:lnTo>
                <a:lnTo>
                  <a:pt x="2927" y="297"/>
                </a:lnTo>
                <a:lnTo>
                  <a:pt x="2912" y="291"/>
                </a:lnTo>
                <a:lnTo>
                  <a:pt x="2899" y="286"/>
                </a:lnTo>
                <a:lnTo>
                  <a:pt x="2883" y="280"/>
                </a:lnTo>
                <a:lnTo>
                  <a:pt x="2866" y="276"/>
                </a:lnTo>
                <a:lnTo>
                  <a:pt x="2851" y="270"/>
                </a:lnTo>
                <a:lnTo>
                  <a:pt x="2853" y="270"/>
                </a:lnTo>
                <a:lnTo>
                  <a:pt x="2849" y="255"/>
                </a:lnTo>
                <a:lnTo>
                  <a:pt x="2845" y="241"/>
                </a:lnTo>
                <a:lnTo>
                  <a:pt x="2841" y="226"/>
                </a:lnTo>
                <a:lnTo>
                  <a:pt x="2835" y="213"/>
                </a:lnTo>
                <a:lnTo>
                  <a:pt x="2830" y="199"/>
                </a:lnTo>
                <a:lnTo>
                  <a:pt x="2824" y="186"/>
                </a:lnTo>
                <a:lnTo>
                  <a:pt x="2816" y="174"/>
                </a:lnTo>
                <a:lnTo>
                  <a:pt x="2808" y="161"/>
                </a:lnTo>
                <a:lnTo>
                  <a:pt x="2801" y="149"/>
                </a:lnTo>
                <a:lnTo>
                  <a:pt x="2791" y="138"/>
                </a:lnTo>
                <a:lnTo>
                  <a:pt x="2782" y="126"/>
                </a:lnTo>
                <a:lnTo>
                  <a:pt x="2772" y="115"/>
                </a:lnTo>
                <a:lnTo>
                  <a:pt x="2762" y="105"/>
                </a:lnTo>
                <a:lnTo>
                  <a:pt x="2751" y="94"/>
                </a:lnTo>
                <a:lnTo>
                  <a:pt x="2728" y="76"/>
                </a:lnTo>
                <a:lnTo>
                  <a:pt x="2716" y="67"/>
                </a:lnTo>
                <a:lnTo>
                  <a:pt x="2703" y="59"/>
                </a:lnTo>
                <a:lnTo>
                  <a:pt x="2691" y="51"/>
                </a:lnTo>
                <a:lnTo>
                  <a:pt x="2678" y="44"/>
                </a:lnTo>
                <a:lnTo>
                  <a:pt x="2665" y="36"/>
                </a:lnTo>
                <a:lnTo>
                  <a:pt x="2651" y="30"/>
                </a:lnTo>
                <a:lnTo>
                  <a:pt x="2636" y="25"/>
                </a:lnTo>
                <a:lnTo>
                  <a:pt x="2622" y="19"/>
                </a:lnTo>
                <a:lnTo>
                  <a:pt x="2607" y="15"/>
                </a:lnTo>
                <a:lnTo>
                  <a:pt x="2592" y="11"/>
                </a:lnTo>
                <a:lnTo>
                  <a:pt x="2576" y="7"/>
                </a:lnTo>
                <a:lnTo>
                  <a:pt x="2561" y="4"/>
                </a:lnTo>
                <a:lnTo>
                  <a:pt x="2546" y="2"/>
                </a:lnTo>
                <a:lnTo>
                  <a:pt x="2528" y="0"/>
                </a:lnTo>
                <a:lnTo>
                  <a:pt x="2513" y="0"/>
                </a:lnTo>
                <a:lnTo>
                  <a:pt x="2496" y="0"/>
                </a:lnTo>
                <a:lnTo>
                  <a:pt x="2477" y="0"/>
                </a:lnTo>
                <a:lnTo>
                  <a:pt x="2457" y="2"/>
                </a:lnTo>
                <a:lnTo>
                  <a:pt x="2436" y="4"/>
                </a:lnTo>
                <a:lnTo>
                  <a:pt x="2417" y="7"/>
                </a:lnTo>
                <a:lnTo>
                  <a:pt x="2400" y="11"/>
                </a:lnTo>
                <a:lnTo>
                  <a:pt x="2381" y="17"/>
                </a:lnTo>
                <a:lnTo>
                  <a:pt x="2361" y="23"/>
                </a:lnTo>
                <a:lnTo>
                  <a:pt x="2344" y="28"/>
                </a:lnTo>
                <a:lnTo>
                  <a:pt x="2327" y="38"/>
                </a:lnTo>
                <a:lnTo>
                  <a:pt x="2310" y="46"/>
                </a:lnTo>
                <a:lnTo>
                  <a:pt x="2294" y="55"/>
                </a:lnTo>
                <a:lnTo>
                  <a:pt x="2277" y="67"/>
                </a:lnTo>
                <a:lnTo>
                  <a:pt x="2262" y="76"/>
                </a:lnTo>
                <a:lnTo>
                  <a:pt x="2248" y="90"/>
                </a:lnTo>
                <a:lnTo>
                  <a:pt x="2233" y="101"/>
                </a:lnTo>
                <a:lnTo>
                  <a:pt x="2221" y="115"/>
                </a:lnTo>
                <a:lnTo>
                  <a:pt x="2221" y="117"/>
                </a:lnTo>
                <a:lnTo>
                  <a:pt x="2210" y="103"/>
                </a:lnTo>
                <a:lnTo>
                  <a:pt x="2196" y="90"/>
                </a:lnTo>
                <a:lnTo>
                  <a:pt x="2183" y="78"/>
                </a:lnTo>
                <a:lnTo>
                  <a:pt x="2170" y="67"/>
                </a:lnTo>
                <a:lnTo>
                  <a:pt x="2154" y="55"/>
                </a:lnTo>
                <a:lnTo>
                  <a:pt x="2139" y="46"/>
                </a:lnTo>
                <a:lnTo>
                  <a:pt x="2123" y="38"/>
                </a:lnTo>
                <a:lnTo>
                  <a:pt x="2106" y="30"/>
                </a:lnTo>
                <a:lnTo>
                  <a:pt x="2089" y="23"/>
                </a:lnTo>
                <a:lnTo>
                  <a:pt x="2072" y="17"/>
                </a:lnTo>
                <a:lnTo>
                  <a:pt x="2054" y="11"/>
                </a:lnTo>
                <a:lnTo>
                  <a:pt x="2037" y="7"/>
                </a:lnTo>
                <a:lnTo>
                  <a:pt x="2018" y="4"/>
                </a:lnTo>
                <a:lnTo>
                  <a:pt x="2001" y="2"/>
                </a:lnTo>
                <a:lnTo>
                  <a:pt x="1982" y="0"/>
                </a:lnTo>
                <a:lnTo>
                  <a:pt x="1962" y="0"/>
                </a:lnTo>
                <a:lnTo>
                  <a:pt x="1939" y="0"/>
                </a:lnTo>
                <a:lnTo>
                  <a:pt x="1916" y="2"/>
                </a:lnTo>
                <a:lnTo>
                  <a:pt x="1895" y="5"/>
                </a:lnTo>
                <a:lnTo>
                  <a:pt x="1872" y="11"/>
                </a:lnTo>
                <a:lnTo>
                  <a:pt x="1851" y="17"/>
                </a:lnTo>
                <a:lnTo>
                  <a:pt x="1830" y="25"/>
                </a:lnTo>
                <a:lnTo>
                  <a:pt x="1811" y="32"/>
                </a:lnTo>
                <a:lnTo>
                  <a:pt x="1792" y="44"/>
                </a:lnTo>
                <a:lnTo>
                  <a:pt x="1772" y="55"/>
                </a:lnTo>
                <a:lnTo>
                  <a:pt x="1755" y="67"/>
                </a:lnTo>
                <a:lnTo>
                  <a:pt x="1738" y="80"/>
                </a:lnTo>
                <a:lnTo>
                  <a:pt x="1723" y="96"/>
                </a:lnTo>
                <a:lnTo>
                  <a:pt x="1707" y="111"/>
                </a:lnTo>
                <a:lnTo>
                  <a:pt x="1694" y="128"/>
                </a:lnTo>
                <a:lnTo>
                  <a:pt x="1682" y="145"/>
                </a:lnTo>
                <a:lnTo>
                  <a:pt x="1671" y="163"/>
                </a:lnTo>
                <a:lnTo>
                  <a:pt x="1673" y="168"/>
                </a:lnTo>
                <a:lnTo>
                  <a:pt x="1659" y="155"/>
                </a:lnTo>
                <a:lnTo>
                  <a:pt x="1644" y="144"/>
                </a:lnTo>
                <a:lnTo>
                  <a:pt x="1629" y="134"/>
                </a:lnTo>
                <a:lnTo>
                  <a:pt x="1613" y="124"/>
                </a:lnTo>
                <a:lnTo>
                  <a:pt x="1596" y="115"/>
                </a:lnTo>
                <a:lnTo>
                  <a:pt x="1579" y="105"/>
                </a:lnTo>
                <a:lnTo>
                  <a:pt x="1561" y="98"/>
                </a:lnTo>
                <a:lnTo>
                  <a:pt x="1544" y="92"/>
                </a:lnTo>
                <a:lnTo>
                  <a:pt x="1527" y="84"/>
                </a:lnTo>
                <a:lnTo>
                  <a:pt x="1508" y="80"/>
                </a:lnTo>
                <a:lnTo>
                  <a:pt x="1490" y="74"/>
                </a:lnTo>
                <a:lnTo>
                  <a:pt x="1471" y="71"/>
                </a:lnTo>
                <a:lnTo>
                  <a:pt x="1452" y="69"/>
                </a:lnTo>
                <a:lnTo>
                  <a:pt x="1433" y="65"/>
                </a:lnTo>
                <a:lnTo>
                  <a:pt x="1414" y="65"/>
                </a:lnTo>
                <a:lnTo>
                  <a:pt x="1394" y="65"/>
                </a:lnTo>
                <a:lnTo>
                  <a:pt x="1368" y="65"/>
                </a:lnTo>
                <a:lnTo>
                  <a:pt x="1339" y="67"/>
                </a:lnTo>
                <a:lnTo>
                  <a:pt x="1314" y="71"/>
                </a:lnTo>
                <a:lnTo>
                  <a:pt x="1287" y="78"/>
                </a:lnTo>
                <a:lnTo>
                  <a:pt x="1262" y="84"/>
                </a:lnTo>
                <a:lnTo>
                  <a:pt x="1237" y="94"/>
                </a:lnTo>
                <a:lnTo>
                  <a:pt x="1212" y="103"/>
                </a:lnTo>
                <a:lnTo>
                  <a:pt x="1189" y="115"/>
                </a:lnTo>
                <a:lnTo>
                  <a:pt x="1166" y="128"/>
                </a:lnTo>
                <a:lnTo>
                  <a:pt x="1145" y="144"/>
                </a:lnTo>
                <a:lnTo>
                  <a:pt x="1126" y="159"/>
                </a:lnTo>
                <a:lnTo>
                  <a:pt x="1107" y="176"/>
                </a:lnTo>
                <a:lnTo>
                  <a:pt x="1087" y="195"/>
                </a:lnTo>
                <a:lnTo>
                  <a:pt x="1072" y="215"/>
                </a:lnTo>
                <a:lnTo>
                  <a:pt x="1057" y="234"/>
                </a:lnTo>
                <a:lnTo>
                  <a:pt x="1043" y="257"/>
                </a:lnTo>
                <a:lnTo>
                  <a:pt x="1041" y="259"/>
                </a:lnTo>
                <a:lnTo>
                  <a:pt x="1013" y="243"/>
                </a:lnTo>
                <a:lnTo>
                  <a:pt x="982" y="232"/>
                </a:lnTo>
                <a:lnTo>
                  <a:pt x="951" y="220"/>
                </a:lnTo>
                <a:lnTo>
                  <a:pt x="936" y="216"/>
                </a:lnTo>
                <a:lnTo>
                  <a:pt x="919" y="213"/>
                </a:lnTo>
                <a:lnTo>
                  <a:pt x="903" y="209"/>
                </a:lnTo>
                <a:lnTo>
                  <a:pt x="888" y="205"/>
                </a:lnTo>
                <a:lnTo>
                  <a:pt x="871" y="203"/>
                </a:lnTo>
                <a:lnTo>
                  <a:pt x="853" y="199"/>
                </a:lnTo>
                <a:lnTo>
                  <a:pt x="838" y="197"/>
                </a:lnTo>
                <a:lnTo>
                  <a:pt x="821" y="197"/>
                </a:lnTo>
                <a:lnTo>
                  <a:pt x="804" y="195"/>
                </a:lnTo>
                <a:lnTo>
                  <a:pt x="788" y="195"/>
                </a:lnTo>
                <a:lnTo>
                  <a:pt x="761" y="197"/>
                </a:lnTo>
                <a:lnTo>
                  <a:pt x="736" y="199"/>
                </a:lnTo>
                <a:lnTo>
                  <a:pt x="711" y="201"/>
                </a:lnTo>
                <a:lnTo>
                  <a:pt x="687" y="205"/>
                </a:lnTo>
                <a:lnTo>
                  <a:pt x="662" y="211"/>
                </a:lnTo>
                <a:lnTo>
                  <a:pt x="639" y="216"/>
                </a:lnTo>
                <a:lnTo>
                  <a:pt x="616" y="224"/>
                </a:lnTo>
                <a:lnTo>
                  <a:pt x="593" y="232"/>
                </a:lnTo>
                <a:lnTo>
                  <a:pt x="569" y="241"/>
                </a:lnTo>
                <a:lnTo>
                  <a:pt x="548" y="251"/>
                </a:lnTo>
                <a:lnTo>
                  <a:pt x="527" y="262"/>
                </a:lnTo>
                <a:lnTo>
                  <a:pt x="506" y="274"/>
                </a:lnTo>
                <a:lnTo>
                  <a:pt x="487" y="287"/>
                </a:lnTo>
                <a:lnTo>
                  <a:pt x="468" y="301"/>
                </a:lnTo>
                <a:lnTo>
                  <a:pt x="449" y="314"/>
                </a:lnTo>
                <a:lnTo>
                  <a:pt x="431" y="330"/>
                </a:lnTo>
                <a:lnTo>
                  <a:pt x="416" y="347"/>
                </a:lnTo>
                <a:lnTo>
                  <a:pt x="399" y="362"/>
                </a:lnTo>
                <a:lnTo>
                  <a:pt x="385" y="380"/>
                </a:lnTo>
                <a:lnTo>
                  <a:pt x="370" y="399"/>
                </a:lnTo>
                <a:lnTo>
                  <a:pt x="358" y="416"/>
                </a:lnTo>
                <a:lnTo>
                  <a:pt x="345" y="435"/>
                </a:lnTo>
                <a:lnTo>
                  <a:pt x="333" y="456"/>
                </a:lnTo>
                <a:lnTo>
                  <a:pt x="324" y="475"/>
                </a:lnTo>
                <a:lnTo>
                  <a:pt x="314" y="497"/>
                </a:lnTo>
                <a:lnTo>
                  <a:pt x="307" y="518"/>
                </a:lnTo>
                <a:lnTo>
                  <a:pt x="301" y="541"/>
                </a:lnTo>
                <a:lnTo>
                  <a:pt x="295" y="562"/>
                </a:lnTo>
                <a:lnTo>
                  <a:pt x="291" y="585"/>
                </a:lnTo>
                <a:lnTo>
                  <a:pt x="287" y="608"/>
                </a:lnTo>
                <a:lnTo>
                  <a:pt x="286" y="631"/>
                </a:lnTo>
                <a:lnTo>
                  <a:pt x="286" y="654"/>
                </a:lnTo>
                <a:lnTo>
                  <a:pt x="286" y="669"/>
                </a:lnTo>
                <a:lnTo>
                  <a:pt x="286" y="686"/>
                </a:lnTo>
                <a:lnTo>
                  <a:pt x="287" y="702"/>
                </a:lnTo>
                <a:lnTo>
                  <a:pt x="289" y="717"/>
                </a:lnTo>
                <a:lnTo>
                  <a:pt x="291" y="715"/>
                </a:lnTo>
                <a:close/>
              </a:path>
            </a:pathLst>
          </a:custGeom>
          <a:solidFill>
            <a:schemeClr val="bg1"/>
          </a:solidFill>
          <a:ln w="28575" cmpd="sng">
            <a:solidFill>
              <a:srgbClr val="56C4D2"/>
            </a:solidFill>
            <a:round/>
            <a:headEnd/>
            <a:tailEnd/>
          </a:ln>
        </p:spPr>
        <p:txBody>
          <a:bodyPr/>
          <a:lstStyle/>
          <a:p>
            <a:pPr defTabSz="1218906"/>
            <a:endParaRPr lang="en-GB" sz="1600">
              <a:cs typeface="+mn-ea"/>
              <a:sym typeface="+mn-lt"/>
            </a:endParaRPr>
          </a:p>
        </p:txBody>
      </p:sp>
      <p:sp>
        <p:nvSpPr>
          <p:cNvPr id="289" name="矩形 288">
            <a:extLst>
              <a:ext uri="{FF2B5EF4-FFF2-40B4-BE49-F238E27FC236}">
                <a16:creationId xmlns:a16="http://schemas.microsoft.com/office/drawing/2014/main" id="{99868735-F1FA-4D7A-BF37-773E725E019E}"/>
              </a:ext>
            </a:extLst>
          </p:cNvPr>
          <p:cNvSpPr/>
          <p:nvPr/>
        </p:nvSpPr>
        <p:spPr bwMode="gray">
          <a:xfrm>
            <a:off x="7415699" y="4793353"/>
            <a:ext cx="1207538" cy="338554"/>
          </a:xfrm>
          <a:prstGeom prst="rect">
            <a:avLst/>
          </a:prstGeom>
          <a:ln>
            <a:noFill/>
          </a:ln>
        </p:spPr>
        <p:txBody>
          <a:bodyPr wrap="square">
            <a:spAutoFit/>
          </a:bodyPr>
          <a:lstStyle/>
          <a:p>
            <a:pPr algn="ctr" defTabSz="914373"/>
            <a:r>
              <a:rPr lang="en-US" altLang="zh-CN" sz="1600" kern="0" dirty="0">
                <a:cs typeface="+mn-ea"/>
                <a:sym typeface="+mn-lt"/>
              </a:rPr>
              <a:t>WAN/DCI</a:t>
            </a:r>
            <a:endParaRPr lang="zh-CN" altLang="en-US" sz="1600" kern="0" dirty="0">
              <a:cs typeface="+mn-ea"/>
              <a:sym typeface="+mn-lt"/>
            </a:endParaRPr>
          </a:p>
        </p:txBody>
      </p:sp>
      <p:sp>
        <p:nvSpPr>
          <p:cNvPr id="290" name="矩形 289">
            <a:extLst>
              <a:ext uri="{FF2B5EF4-FFF2-40B4-BE49-F238E27FC236}">
                <a16:creationId xmlns:a16="http://schemas.microsoft.com/office/drawing/2014/main" id="{521CAD41-889C-43B7-8510-37AE83CAD604}"/>
              </a:ext>
            </a:extLst>
          </p:cNvPr>
          <p:cNvSpPr/>
          <p:nvPr/>
        </p:nvSpPr>
        <p:spPr bwMode="gray">
          <a:xfrm>
            <a:off x="555627" y="1339478"/>
            <a:ext cx="769944" cy="829376"/>
          </a:xfrm>
          <a:prstGeom prst="rect">
            <a:avLst/>
          </a:prstGeom>
          <a:solidFill>
            <a:srgbClr val="56C4D2"/>
          </a:solidFill>
          <a:ln w="19050">
            <a:noFill/>
            <a:miter lim="800000"/>
            <a:headEnd/>
            <a:tailEnd/>
          </a:ln>
        </p:spPr>
        <p:txBody>
          <a:bodyPr wrap="none" lIns="121873" tIns="60937" rIns="121873" bIns="60937" anchor="ctr"/>
          <a:lstStyle/>
          <a:p>
            <a:pPr algn="ctr" defTabSz="1218905"/>
            <a:r>
              <a:rPr lang="zh-CN" altLang="en-US" sz="1600" b="1" kern="0" dirty="0">
                <a:solidFill>
                  <a:schemeClr val="bg1"/>
                </a:solidFill>
                <a:cs typeface="+mn-ea"/>
                <a:sym typeface="+mn-lt"/>
              </a:rPr>
              <a:t>应用层</a:t>
            </a:r>
          </a:p>
        </p:txBody>
      </p:sp>
      <p:sp>
        <p:nvSpPr>
          <p:cNvPr id="291" name="矩形 290">
            <a:extLst>
              <a:ext uri="{FF2B5EF4-FFF2-40B4-BE49-F238E27FC236}">
                <a16:creationId xmlns:a16="http://schemas.microsoft.com/office/drawing/2014/main" id="{4B8637D0-04EF-451B-99D4-5C3960DEEB7B}"/>
              </a:ext>
            </a:extLst>
          </p:cNvPr>
          <p:cNvSpPr/>
          <p:nvPr/>
        </p:nvSpPr>
        <p:spPr bwMode="gray">
          <a:xfrm>
            <a:off x="555627" y="2388157"/>
            <a:ext cx="769944" cy="1082389"/>
          </a:xfrm>
          <a:prstGeom prst="rect">
            <a:avLst/>
          </a:prstGeom>
          <a:solidFill>
            <a:srgbClr val="56C4D2"/>
          </a:solidFill>
          <a:ln w="19050">
            <a:noFill/>
            <a:miter lim="800000"/>
            <a:headEnd/>
            <a:tailEnd/>
          </a:ln>
        </p:spPr>
        <p:txBody>
          <a:bodyPr wrap="none" lIns="121873" tIns="60937" rIns="121873" bIns="60937" anchor="ctr"/>
          <a:lstStyle/>
          <a:p>
            <a:pPr algn="ctr" defTabSz="1218905"/>
            <a:r>
              <a:rPr lang="zh-CN" altLang="en-US" sz="1600" b="1" kern="0">
                <a:solidFill>
                  <a:schemeClr val="bg1"/>
                </a:solidFill>
                <a:cs typeface="+mn-ea"/>
                <a:sym typeface="+mn-lt"/>
              </a:rPr>
              <a:t>网络</a:t>
            </a:r>
            <a:endParaRPr lang="en-US" altLang="zh-CN" sz="1600" b="1" kern="0">
              <a:solidFill>
                <a:schemeClr val="bg1"/>
              </a:solidFill>
              <a:cs typeface="+mn-ea"/>
              <a:sym typeface="+mn-lt"/>
            </a:endParaRPr>
          </a:p>
          <a:p>
            <a:pPr algn="ctr" defTabSz="1218905"/>
            <a:r>
              <a:rPr lang="zh-CN" altLang="en-US" sz="1600" b="1" kern="0">
                <a:solidFill>
                  <a:schemeClr val="bg1"/>
                </a:solidFill>
                <a:cs typeface="+mn-ea"/>
                <a:sym typeface="+mn-lt"/>
              </a:rPr>
              <a:t>管</a:t>
            </a:r>
            <a:r>
              <a:rPr lang="zh-CN" altLang="en-US" sz="1600" b="1" kern="0" dirty="0">
                <a:solidFill>
                  <a:schemeClr val="bg1"/>
                </a:solidFill>
                <a:cs typeface="+mn-ea"/>
                <a:sym typeface="+mn-lt"/>
              </a:rPr>
              <a:t>控层</a:t>
            </a:r>
          </a:p>
        </p:txBody>
      </p:sp>
      <p:sp>
        <p:nvSpPr>
          <p:cNvPr id="292" name="矩形 291">
            <a:extLst>
              <a:ext uri="{FF2B5EF4-FFF2-40B4-BE49-F238E27FC236}">
                <a16:creationId xmlns:a16="http://schemas.microsoft.com/office/drawing/2014/main" id="{8BF5176D-FF38-4EFC-997F-DE4EC37F0CA3}"/>
              </a:ext>
            </a:extLst>
          </p:cNvPr>
          <p:cNvSpPr/>
          <p:nvPr/>
        </p:nvSpPr>
        <p:spPr bwMode="gray">
          <a:xfrm>
            <a:off x="555627" y="3673830"/>
            <a:ext cx="769944" cy="2451743"/>
          </a:xfrm>
          <a:prstGeom prst="rect">
            <a:avLst/>
          </a:prstGeom>
          <a:solidFill>
            <a:srgbClr val="56C4D2"/>
          </a:solidFill>
          <a:ln w="19050">
            <a:noFill/>
            <a:miter lim="800000"/>
            <a:headEnd/>
            <a:tailEnd/>
          </a:ln>
        </p:spPr>
        <p:txBody>
          <a:bodyPr wrap="none" lIns="121873" tIns="60937" rIns="121873" bIns="60937" anchor="ctr"/>
          <a:lstStyle/>
          <a:p>
            <a:pPr algn="ctr" defTabSz="1218905"/>
            <a:r>
              <a:rPr lang="zh-CN" altLang="en-US" sz="1600" b="1" kern="0" dirty="0">
                <a:solidFill>
                  <a:schemeClr val="bg1"/>
                </a:solidFill>
                <a:cs typeface="+mn-ea"/>
                <a:sym typeface="+mn-lt"/>
              </a:rPr>
              <a:t>网络层</a:t>
            </a:r>
          </a:p>
        </p:txBody>
      </p:sp>
      <p:cxnSp>
        <p:nvCxnSpPr>
          <p:cNvPr id="293" name="直接连接符 292">
            <a:extLst>
              <a:ext uri="{FF2B5EF4-FFF2-40B4-BE49-F238E27FC236}">
                <a16:creationId xmlns:a16="http://schemas.microsoft.com/office/drawing/2014/main" id="{4E3FE062-3B3E-4F76-83A1-AC2E6FFCD8F4}"/>
              </a:ext>
            </a:extLst>
          </p:cNvPr>
          <p:cNvCxnSpPr/>
          <p:nvPr/>
        </p:nvCxnSpPr>
        <p:spPr bwMode="gray">
          <a:xfrm>
            <a:off x="1718625" y="4932874"/>
            <a:ext cx="1788030" cy="0"/>
          </a:xfrm>
          <a:prstGeom prst="line">
            <a:avLst/>
          </a:prstGeom>
          <a:ln>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294" name="Freeform 78">
            <a:extLst>
              <a:ext uri="{FF2B5EF4-FFF2-40B4-BE49-F238E27FC236}">
                <a16:creationId xmlns:a16="http://schemas.microsoft.com/office/drawing/2014/main" id="{9C4E1D1E-A7C6-4871-B611-0BEF69008F16}"/>
              </a:ext>
            </a:extLst>
          </p:cNvPr>
          <p:cNvSpPr>
            <a:spLocks noEditPoints="1"/>
          </p:cNvSpPr>
          <p:nvPr/>
        </p:nvSpPr>
        <p:spPr bwMode="gray">
          <a:xfrm>
            <a:off x="11001275" y="3971183"/>
            <a:ext cx="491985" cy="298685"/>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solidFill>
            <a:srgbClr val="00B0F0"/>
          </a:solidFill>
          <a:ln>
            <a:noFill/>
          </a:ln>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pPr>
            <a:endParaRPr lang="zh-CN" altLang="en-US" sz="1600">
              <a:cs typeface="+mn-ea"/>
              <a:sym typeface="+mn-lt"/>
            </a:endParaRPr>
          </a:p>
        </p:txBody>
      </p:sp>
      <p:sp>
        <p:nvSpPr>
          <p:cNvPr id="295" name="矩形 294">
            <a:extLst>
              <a:ext uri="{FF2B5EF4-FFF2-40B4-BE49-F238E27FC236}">
                <a16:creationId xmlns:a16="http://schemas.microsoft.com/office/drawing/2014/main" id="{C2862C7B-FB33-4818-9063-BF173FF174BE}"/>
              </a:ext>
            </a:extLst>
          </p:cNvPr>
          <p:cNvSpPr/>
          <p:nvPr/>
        </p:nvSpPr>
        <p:spPr bwMode="gray">
          <a:xfrm>
            <a:off x="10780634" y="4247311"/>
            <a:ext cx="933269" cy="338554"/>
          </a:xfrm>
          <a:prstGeom prst="rect">
            <a:avLst/>
          </a:prstGeom>
        </p:spPr>
        <p:txBody>
          <a:bodyPr wrap="none">
            <a:spAutoFit/>
          </a:bodyPr>
          <a:lstStyle/>
          <a:p>
            <a:pPr algn="ctr" defTabSz="914373"/>
            <a:r>
              <a:rPr lang="en-US" altLang="zh-CN" sz="1600" kern="0" dirty="0">
                <a:cs typeface="+mn-ea"/>
                <a:sym typeface="+mn-lt"/>
              </a:rPr>
              <a:t>Campus</a:t>
            </a:r>
          </a:p>
        </p:txBody>
      </p:sp>
      <p:sp>
        <p:nvSpPr>
          <p:cNvPr id="296" name="矩形 295">
            <a:extLst>
              <a:ext uri="{FF2B5EF4-FFF2-40B4-BE49-F238E27FC236}">
                <a16:creationId xmlns:a16="http://schemas.microsoft.com/office/drawing/2014/main" id="{50111AFE-31D5-499A-9C8D-911CA4B2E92C}"/>
              </a:ext>
            </a:extLst>
          </p:cNvPr>
          <p:cNvSpPr/>
          <p:nvPr/>
        </p:nvSpPr>
        <p:spPr bwMode="gray">
          <a:xfrm>
            <a:off x="10878641" y="5638855"/>
            <a:ext cx="833883" cy="338554"/>
          </a:xfrm>
          <a:prstGeom prst="rect">
            <a:avLst/>
          </a:prstGeom>
        </p:spPr>
        <p:txBody>
          <a:bodyPr wrap="none">
            <a:spAutoFit/>
          </a:bodyPr>
          <a:lstStyle/>
          <a:p>
            <a:pPr algn="ctr" defTabSz="914373"/>
            <a:r>
              <a:rPr lang="en-US" altLang="zh-CN" sz="1600" kern="0" dirty="0">
                <a:cs typeface="+mn-ea"/>
                <a:sym typeface="+mn-lt"/>
              </a:rPr>
              <a:t>Branch</a:t>
            </a:r>
          </a:p>
        </p:txBody>
      </p:sp>
      <p:grpSp>
        <p:nvGrpSpPr>
          <p:cNvPr id="297" name="组合 63">
            <a:extLst>
              <a:ext uri="{FF2B5EF4-FFF2-40B4-BE49-F238E27FC236}">
                <a16:creationId xmlns:a16="http://schemas.microsoft.com/office/drawing/2014/main" id="{F3A6AB44-4935-41FE-A267-A106A6A8EEE7}"/>
              </a:ext>
            </a:extLst>
          </p:cNvPr>
          <p:cNvGrpSpPr/>
          <p:nvPr/>
        </p:nvGrpSpPr>
        <p:grpSpPr bwMode="gray">
          <a:xfrm>
            <a:off x="11022992" y="5288924"/>
            <a:ext cx="374269" cy="292567"/>
            <a:chOff x="1162859" y="3772128"/>
            <a:chExt cx="427038" cy="447675"/>
          </a:xfrm>
          <a:solidFill>
            <a:srgbClr val="00B0F0"/>
          </a:solidFill>
        </p:grpSpPr>
        <p:sp>
          <p:nvSpPr>
            <p:cNvPr id="298" name="Freeform 12">
              <a:extLst>
                <a:ext uri="{FF2B5EF4-FFF2-40B4-BE49-F238E27FC236}">
                  <a16:creationId xmlns:a16="http://schemas.microsoft.com/office/drawing/2014/main" id="{432FD52B-FFB5-49B7-AB5E-497548218730}"/>
                </a:ext>
              </a:extLst>
            </p:cNvPr>
            <p:cNvSpPr>
              <a:spLocks/>
            </p:cNvSpPr>
            <p:nvPr/>
          </p:nvSpPr>
          <p:spPr bwMode="gray">
            <a:xfrm>
              <a:off x="1162859" y="3772128"/>
              <a:ext cx="425450" cy="179388"/>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sp>
          <p:nvSpPr>
            <p:cNvPr id="299" name="Freeform 13">
              <a:extLst>
                <a:ext uri="{FF2B5EF4-FFF2-40B4-BE49-F238E27FC236}">
                  <a16:creationId xmlns:a16="http://schemas.microsoft.com/office/drawing/2014/main" id="{E145669C-EFE7-40B9-8BB1-1F0D65F9533C}"/>
                </a:ext>
              </a:extLst>
            </p:cNvPr>
            <p:cNvSpPr>
              <a:spLocks noEditPoints="1"/>
            </p:cNvSpPr>
            <p:nvPr/>
          </p:nvSpPr>
          <p:spPr bwMode="gray">
            <a:xfrm>
              <a:off x="1162859" y="3973740"/>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a:cs typeface="+mn-ea"/>
                <a:sym typeface="+mn-lt"/>
              </a:endParaRPr>
            </a:p>
          </p:txBody>
        </p:sp>
      </p:grpSp>
      <p:cxnSp>
        <p:nvCxnSpPr>
          <p:cNvPr id="300" name="直接连接符 299">
            <a:extLst>
              <a:ext uri="{FF2B5EF4-FFF2-40B4-BE49-F238E27FC236}">
                <a16:creationId xmlns:a16="http://schemas.microsoft.com/office/drawing/2014/main" id="{8FABD597-8257-4D02-A0B0-AE18C4809FF9}"/>
              </a:ext>
            </a:extLst>
          </p:cNvPr>
          <p:cNvCxnSpPr/>
          <p:nvPr/>
        </p:nvCxnSpPr>
        <p:spPr bwMode="gray">
          <a:xfrm>
            <a:off x="9890188" y="4962529"/>
            <a:ext cx="1578218" cy="1376"/>
          </a:xfrm>
          <a:prstGeom prst="line">
            <a:avLst/>
          </a:prstGeom>
          <a:ln>
            <a:solidFill>
              <a:srgbClr val="0076B1"/>
            </a:solidFill>
            <a:prstDash val="dash"/>
          </a:ln>
        </p:spPr>
        <p:style>
          <a:lnRef idx="1">
            <a:schemeClr val="accent1"/>
          </a:lnRef>
          <a:fillRef idx="0">
            <a:schemeClr val="accent1"/>
          </a:fillRef>
          <a:effectRef idx="0">
            <a:schemeClr val="accent1"/>
          </a:effectRef>
          <a:fontRef idx="minor">
            <a:schemeClr val="tx1"/>
          </a:fontRef>
        </p:style>
      </p:cxnSp>
      <p:sp>
        <p:nvSpPr>
          <p:cNvPr id="302" name="1197933812">
            <a:extLst>
              <a:ext uri="{FF2B5EF4-FFF2-40B4-BE49-F238E27FC236}">
                <a16:creationId xmlns:a16="http://schemas.microsoft.com/office/drawing/2014/main" id="{0C4442DB-F337-4F14-A7FD-CE61B15075AF}"/>
              </a:ext>
            </a:extLst>
          </p:cNvPr>
          <p:cNvSpPr txBox="1">
            <a:spLocks noChangeArrowheads="1"/>
          </p:cNvSpPr>
          <p:nvPr/>
        </p:nvSpPr>
        <p:spPr bwMode="gray">
          <a:xfrm>
            <a:off x="9567110" y="1505378"/>
            <a:ext cx="773868" cy="338554"/>
          </a:xfrm>
          <a:prstGeom prst="rect">
            <a:avLst/>
          </a:prstGeom>
          <a:noFill/>
          <a:ln w="9525">
            <a:noFill/>
            <a:miter lim="800000"/>
            <a:headEnd/>
            <a:tailEnd/>
          </a:ln>
        </p:spPr>
        <p:txBody>
          <a:bodyPr wrap="square">
            <a:spAutoFit/>
          </a:bodyPr>
          <a:lstStyle/>
          <a:p>
            <a:pPr algn="ctr" defTabSz="1219150">
              <a:buSzPct val="100000"/>
            </a:pPr>
            <a:r>
              <a:rPr lang="en-US" altLang="zh-CN" sz="1600" b="1" dirty="0">
                <a:cs typeface="+mn-ea"/>
                <a:sym typeface="+mn-lt"/>
              </a:rPr>
              <a:t>…</a:t>
            </a:r>
            <a:endParaRPr lang="zh-CN" altLang="zh-CN" sz="1600" b="1" dirty="0">
              <a:cs typeface="+mn-ea"/>
              <a:sym typeface="+mn-lt"/>
            </a:endParaRPr>
          </a:p>
        </p:txBody>
      </p:sp>
      <p:sp>
        <p:nvSpPr>
          <p:cNvPr id="303" name="圆角矩形 42">
            <a:extLst>
              <a:ext uri="{FF2B5EF4-FFF2-40B4-BE49-F238E27FC236}">
                <a16:creationId xmlns:a16="http://schemas.microsoft.com/office/drawing/2014/main" id="{204B1A36-8768-4F3D-9003-FBE3B6A19C99}"/>
              </a:ext>
            </a:extLst>
          </p:cNvPr>
          <p:cNvSpPr/>
          <p:nvPr/>
        </p:nvSpPr>
        <p:spPr bwMode="gray">
          <a:xfrm>
            <a:off x="5700459" y="2916391"/>
            <a:ext cx="1513625" cy="352705"/>
          </a:xfrm>
          <a:prstGeom prst="roundRect">
            <a:avLst>
              <a:gd name="adj" fmla="val 0"/>
            </a:avLst>
          </a:prstGeom>
          <a:noFill/>
          <a:ln w="15875">
            <a:solidFill>
              <a:srgbClr val="BEE9EE"/>
            </a:solidFill>
            <a:prstDash val="dash"/>
          </a:ln>
          <a:effectLst/>
        </p:spPr>
        <p:txBody>
          <a:bodyPr vert="horz" wrap="square" lIns="0" tIns="0" rIns="0" bIns="0" numCol="1" rtlCol="0" anchor="ctr" anchorCtr="0" compatLnSpc="1">
            <a:prstTxWarp prst="textNoShape">
              <a:avLst/>
            </a:prstTxWarp>
          </a:bodyPr>
          <a:lstStyle/>
          <a:p>
            <a:pPr algn="ctr" defTabSz="488284" fontAlgn="base">
              <a:spcBef>
                <a:spcPct val="0"/>
              </a:spcBef>
              <a:spcAft>
                <a:spcPct val="0"/>
              </a:spcAft>
              <a:buClr>
                <a:srgbClr val="CC9900"/>
              </a:buClr>
            </a:pPr>
            <a:r>
              <a:rPr lang="en-US" altLang="zh-CN" sz="1600" dirty="0">
                <a:cs typeface="+mn-ea"/>
                <a:sym typeface="+mn-lt"/>
              </a:rPr>
              <a:t>Controller</a:t>
            </a:r>
            <a:endParaRPr lang="zh-CN" altLang="en-US" sz="1600" dirty="0">
              <a:cs typeface="+mn-ea"/>
              <a:sym typeface="+mn-lt"/>
            </a:endParaRPr>
          </a:p>
        </p:txBody>
      </p:sp>
      <p:sp>
        <p:nvSpPr>
          <p:cNvPr id="304" name="圆角矩形 42">
            <a:extLst>
              <a:ext uri="{FF2B5EF4-FFF2-40B4-BE49-F238E27FC236}">
                <a16:creationId xmlns:a16="http://schemas.microsoft.com/office/drawing/2014/main" id="{9E4F4BD8-DD3B-4BFA-9EE8-4AB3AA12A5BF}"/>
              </a:ext>
            </a:extLst>
          </p:cNvPr>
          <p:cNvSpPr/>
          <p:nvPr/>
        </p:nvSpPr>
        <p:spPr bwMode="gray">
          <a:xfrm>
            <a:off x="2929329" y="2916391"/>
            <a:ext cx="1513625" cy="352705"/>
          </a:xfrm>
          <a:prstGeom prst="roundRect">
            <a:avLst>
              <a:gd name="adj" fmla="val 0"/>
            </a:avLst>
          </a:prstGeom>
          <a:noFill/>
          <a:ln w="15875">
            <a:solidFill>
              <a:srgbClr val="BEE9EE"/>
            </a:solidFill>
            <a:prstDash val="dash"/>
          </a:ln>
          <a:effectLst/>
        </p:spPr>
        <p:txBody>
          <a:bodyPr vert="horz" wrap="square" lIns="0" tIns="0" rIns="0" bIns="0" numCol="1" rtlCol="0" anchor="ctr" anchorCtr="0" compatLnSpc="1">
            <a:prstTxWarp prst="textNoShape">
              <a:avLst/>
            </a:prstTxWarp>
          </a:bodyPr>
          <a:lstStyle/>
          <a:p>
            <a:pPr algn="ctr" defTabSz="488284" fontAlgn="base">
              <a:spcBef>
                <a:spcPct val="0"/>
              </a:spcBef>
              <a:spcAft>
                <a:spcPct val="0"/>
              </a:spcAft>
              <a:buClr>
                <a:srgbClr val="CC9900"/>
              </a:buClr>
            </a:pPr>
            <a:r>
              <a:rPr lang="en-US" altLang="zh-CN" sz="1600" dirty="0">
                <a:cs typeface="+mn-ea"/>
                <a:sym typeface="+mn-lt"/>
              </a:rPr>
              <a:t>Manager</a:t>
            </a:r>
            <a:endParaRPr lang="zh-CN" altLang="en-US" sz="1600" dirty="0">
              <a:cs typeface="+mn-ea"/>
              <a:sym typeface="+mn-lt"/>
            </a:endParaRPr>
          </a:p>
        </p:txBody>
      </p:sp>
      <p:sp>
        <p:nvSpPr>
          <p:cNvPr id="305" name="圆角矩形 42">
            <a:extLst>
              <a:ext uri="{FF2B5EF4-FFF2-40B4-BE49-F238E27FC236}">
                <a16:creationId xmlns:a16="http://schemas.microsoft.com/office/drawing/2014/main" id="{4018442A-66CD-4FD8-99B3-F6233DC4D0C1}"/>
              </a:ext>
            </a:extLst>
          </p:cNvPr>
          <p:cNvSpPr/>
          <p:nvPr/>
        </p:nvSpPr>
        <p:spPr bwMode="gray">
          <a:xfrm>
            <a:off x="8471592" y="2916391"/>
            <a:ext cx="1513625" cy="352705"/>
          </a:xfrm>
          <a:prstGeom prst="roundRect">
            <a:avLst>
              <a:gd name="adj" fmla="val 0"/>
            </a:avLst>
          </a:prstGeom>
          <a:noFill/>
          <a:ln w="15875">
            <a:solidFill>
              <a:srgbClr val="BEE9EE"/>
            </a:solidFill>
            <a:prstDash val="dash"/>
          </a:ln>
          <a:effectLst/>
        </p:spPr>
        <p:txBody>
          <a:bodyPr vert="horz" wrap="square" lIns="0" tIns="0" rIns="0" bIns="0" numCol="1" rtlCol="0" anchor="ctr" anchorCtr="0" compatLnSpc="1">
            <a:prstTxWarp prst="textNoShape">
              <a:avLst/>
            </a:prstTxWarp>
          </a:bodyPr>
          <a:lstStyle/>
          <a:p>
            <a:pPr algn="ctr" defTabSz="488284" fontAlgn="base">
              <a:spcBef>
                <a:spcPct val="0"/>
              </a:spcBef>
              <a:spcAft>
                <a:spcPct val="0"/>
              </a:spcAft>
              <a:buClr>
                <a:srgbClr val="CC9900"/>
              </a:buClr>
            </a:pPr>
            <a:r>
              <a:rPr lang="en-US" altLang="zh-CN" sz="1600" dirty="0">
                <a:cs typeface="+mn-ea"/>
                <a:sym typeface="+mn-lt"/>
              </a:rPr>
              <a:t>Analyzer</a:t>
            </a:r>
            <a:endParaRPr lang="zh-CN" altLang="en-US" sz="1600" dirty="0">
              <a:cs typeface="+mn-ea"/>
              <a:sym typeface="+mn-lt"/>
            </a:endParaRPr>
          </a:p>
        </p:txBody>
      </p:sp>
      <p:grpSp>
        <p:nvGrpSpPr>
          <p:cNvPr id="306" name="组合 376">
            <a:extLst>
              <a:ext uri="{FF2B5EF4-FFF2-40B4-BE49-F238E27FC236}">
                <a16:creationId xmlns:a16="http://schemas.microsoft.com/office/drawing/2014/main" id="{996A0274-A9C6-4D70-9D5C-F9C8B3C501B9}"/>
              </a:ext>
            </a:extLst>
          </p:cNvPr>
          <p:cNvGrpSpPr/>
          <p:nvPr/>
        </p:nvGrpSpPr>
        <p:grpSpPr bwMode="gray">
          <a:xfrm>
            <a:off x="2934886" y="1478088"/>
            <a:ext cx="258381" cy="288455"/>
            <a:chOff x="4150450" y="1823489"/>
            <a:chExt cx="218702" cy="213640"/>
          </a:xfrm>
          <a:solidFill>
            <a:srgbClr val="00B0F0"/>
          </a:solidFill>
        </p:grpSpPr>
        <p:sp>
          <p:nvSpPr>
            <p:cNvPr id="307" name="Freeform 35">
              <a:extLst>
                <a:ext uri="{FF2B5EF4-FFF2-40B4-BE49-F238E27FC236}">
                  <a16:creationId xmlns:a16="http://schemas.microsoft.com/office/drawing/2014/main" id="{439C6942-964B-4C7A-863F-C6E4CD0B781B}"/>
                </a:ext>
              </a:extLst>
            </p:cNvPr>
            <p:cNvSpPr>
              <a:spLocks noEditPoints="1"/>
            </p:cNvSpPr>
            <p:nvPr/>
          </p:nvSpPr>
          <p:spPr bwMode="gray">
            <a:xfrm>
              <a:off x="4186945" y="1890102"/>
              <a:ext cx="153495" cy="93118"/>
            </a:xfrm>
            <a:custGeom>
              <a:avLst/>
              <a:gdLst>
                <a:gd name="T0" fmla="*/ 170 w 477"/>
                <a:gd name="T1" fmla="*/ 429 h 502"/>
                <a:gd name="T2" fmla="*/ 86 w 477"/>
                <a:gd name="T3" fmla="*/ 502 h 502"/>
                <a:gd name="T4" fmla="*/ 0 w 477"/>
                <a:gd name="T5" fmla="*/ 416 h 502"/>
                <a:gd name="T6" fmla="*/ 72 w 477"/>
                <a:gd name="T7" fmla="*/ 330 h 502"/>
                <a:gd name="T8" fmla="*/ 63 w 477"/>
                <a:gd name="T9" fmla="*/ 258 h 502"/>
                <a:gd name="T10" fmla="*/ 144 w 477"/>
                <a:gd name="T11" fmla="*/ 143 h 502"/>
                <a:gd name="T12" fmla="*/ 254 w 477"/>
                <a:gd name="T13" fmla="*/ 20 h 502"/>
                <a:gd name="T14" fmla="*/ 458 w 477"/>
                <a:gd name="T15" fmla="*/ 0 h 502"/>
                <a:gd name="T16" fmla="*/ 477 w 477"/>
                <a:gd name="T17" fmla="*/ 153 h 502"/>
                <a:gd name="T18" fmla="*/ 398 w 477"/>
                <a:gd name="T19" fmla="*/ 172 h 502"/>
                <a:gd name="T20" fmla="*/ 438 w 477"/>
                <a:gd name="T21" fmla="*/ 223 h 502"/>
                <a:gd name="T22" fmla="*/ 404 w 477"/>
                <a:gd name="T23" fmla="*/ 245 h 502"/>
                <a:gd name="T24" fmla="*/ 452 w 477"/>
                <a:gd name="T25" fmla="*/ 355 h 502"/>
                <a:gd name="T26" fmla="*/ 452 w 477"/>
                <a:gd name="T27" fmla="*/ 477 h 502"/>
                <a:gd name="T28" fmla="*/ 330 w 477"/>
                <a:gd name="T29" fmla="*/ 477 h 502"/>
                <a:gd name="T30" fmla="*/ 256 w 477"/>
                <a:gd name="T31" fmla="*/ 464 h 502"/>
                <a:gd name="T32" fmla="*/ 235 w 477"/>
                <a:gd name="T33" fmla="*/ 429 h 502"/>
                <a:gd name="T34" fmla="*/ 162 w 477"/>
                <a:gd name="T35" fmla="*/ 160 h 502"/>
                <a:gd name="T36" fmla="*/ 135 w 477"/>
                <a:gd name="T37" fmla="*/ 275 h 502"/>
                <a:gd name="T38" fmla="*/ 101 w 477"/>
                <a:gd name="T39" fmla="*/ 331 h 502"/>
                <a:gd name="T40" fmla="*/ 171 w 477"/>
                <a:gd name="T41" fmla="*/ 404 h 502"/>
                <a:gd name="T42" fmla="*/ 235 w 477"/>
                <a:gd name="T43" fmla="*/ 378 h 502"/>
                <a:gd name="T44" fmla="*/ 306 w 477"/>
                <a:gd name="T45" fmla="*/ 408 h 502"/>
                <a:gd name="T46" fmla="*/ 378 w 477"/>
                <a:gd name="T47" fmla="*/ 330 h 502"/>
                <a:gd name="T48" fmla="*/ 353 w 477"/>
                <a:gd name="T49" fmla="*/ 245 h 502"/>
                <a:gd name="T50" fmla="*/ 382 w 477"/>
                <a:gd name="T51" fmla="*/ 174 h 502"/>
                <a:gd name="T52" fmla="*/ 273 w 477"/>
                <a:gd name="T53" fmla="*/ 172 h 502"/>
                <a:gd name="T54" fmla="*/ 254 w 477"/>
                <a:gd name="T55" fmla="*/ 101 h 502"/>
                <a:gd name="T56" fmla="*/ 292 w 477"/>
                <a:gd name="T57" fmla="*/ 38 h 502"/>
                <a:gd name="T58" fmla="*/ 439 w 477"/>
                <a:gd name="T59" fmla="*/ 134 h 502"/>
                <a:gd name="T60" fmla="*/ 425 w 477"/>
                <a:gd name="T61" fmla="*/ 382 h 502"/>
                <a:gd name="T62" fmla="*/ 357 w 477"/>
                <a:gd name="T63" fmla="*/ 382 h 502"/>
                <a:gd name="T64" fmla="*/ 357 w 477"/>
                <a:gd name="T65" fmla="*/ 450 h 502"/>
                <a:gd name="T66" fmla="*/ 425 w 477"/>
                <a:gd name="T67" fmla="*/ 450 h 502"/>
                <a:gd name="T68" fmla="*/ 425 w 477"/>
                <a:gd name="T69" fmla="*/ 382 h 502"/>
                <a:gd name="T70" fmla="*/ 86 w 477"/>
                <a:gd name="T71" fmla="*/ 367 h 502"/>
                <a:gd name="T72" fmla="*/ 38 w 477"/>
                <a:gd name="T73" fmla="*/ 416 h 502"/>
                <a:gd name="T74" fmla="*/ 86 w 477"/>
                <a:gd name="T75" fmla="*/ 464 h 502"/>
                <a:gd name="T76" fmla="*/ 134 w 477"/>
                <a:gd name="T77" fmla="*/ 416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7" h="502">
                  <a:moveTo>
                    <a:pt x="235" y="429"/>
                  </a:moveTo>
                  <a:cubicBezTo>
                    <a:pt x="170" y="429"/>
                    <a:pt x="170" y="429"/>
                    <a:pt x="170" y="429"/>
                  </a:cubicBezTo>
                  <a:cubicBezTo>
                    <a:pt x="168" y="448"/>
                    <a:pt x="159" y="464"/>
                    <a:pt x="146" y="477"/>
                  </a:cubicBezTo>
                  <a:cubicBezTo>
                    <a:pt x="131" y="493"/>
                    <a:pt x="109" y="502"/>
                    <a:pt x="86" y="502"/>
                  </a:cubicBezTo>
                  <a:cubicBezTo>
                    <a:pt x="62" y="502"/>
                    <a:pt x="41" y="493"/>
                    <a:pt x="25" y="477"/>
                  </a:cubicBezTo>
                  <a:cubicBezTo>
                    <a:pt x="10" y="461"/>
                    <a:pt x="0" y="440"/>
                    <a:pt x="0" y="416"/>
                  </a:cubicBezTo>
                  <a:cubicBezTo>
                    <a:pt x="0" y="392"/>
                    <a:pt x="10" y="370"/>
                    <a:pt x="25" y="355"/>
                  </a:cubicBezTo>
                  <a:cubicBezTo>
                    <a:pt x="38" y="342"/>
                    <a:pt x="54" y="333"/>
                    <a:pt x="72" y="330"/>
                  </a:cubicBezTo>
                  <a:cubicBezTo>
                    <a:pt x="48" y="277"/>
                    <a:pt x="48" y="277"/>
                    <a:pt x="48" y="277"/>
                  </a:cubicBezTo>
                  <a:cubicBezTo>
                    <a:pt x="43" y="269"/>
                    <a:pt x="48" y="255"/>
                    <a:pt x="63" y="258"/>
                  </a:cubicBezTo>
                  <a:cubicBezTo>
                    <a:pt x="84" y="263"/>
                    <a:pt x="84" y="263"/>
                    <a:pt x="84" y="263"/>
                  </a:cubicBezTo>
                  <a:cubicBezTo>
                    <a:pt x="94" y="216"/>
                    <a:pt x="115" y="175"/>
                    <a:pt x="144" y="143"/>
                  </a:cubicBezTo>
                  <a:cubicBezTo>
                    <a:pt x="174" y="108"/>
                    <a:pt x="212" y="84"/>
                    <a:pt x="254" y="75"/>
                  </a:cubicBezTo>
                  <a:cubicBezTo>
                    <a:pt x="254" y="20"/>
                    <a:pt x="254" y="20"/>
                    <a:pt x="254" y="20"/>
                  </a:cubicBezTo>
                  <a:cubicBezTo>
                    <a:pt x="254" y="9"/>
                    <a:pt x="264" y="0"/>
                    <a:pt x="275" y="0"/>
                  </a:cubicBezTo>
                  <a:cubicBezTo>
                    <a:pt x="458" y="0"/>
                    <a:pt x="458" y="0"/>
                    <a:pt x="458" y="0"/>
                  </a:cubicBezTo>
                  <a:cubicBezTo>
                    <a:pt x="468" y="0"/>
                    <a:pt x="477" y="9"/>
                    <a:pt x="477" y="19"/>
                  </a:cubicBezTo>
                  <a:cubicBezTo>
                    <a:pt x="477" y="153"/>
                    <a:pt x="477" y="153"/>
                    <a:pt x="477" y="153"/>
                  </a:cubicBezTo>
                  <a:cubicBezTo>
                    <a:pt x="477" y="163"/>
                    <a:pt x="468" y="172"/>
                    <a:pt x="458" y="172"/>
                  </a:cubicBezTo>
                  <a:cubicBezTo>
                    <a:pt x="398" y="172"/>
                    <a:pt x="398" y="172"/>
                    <a:pt x="398" y="172"/>
                  </a:cubicBezTo>
                  <a:cubicBezTo>
                    <a:pt x="398" y="172"/>
                    <a:pt x="399" y="173"/>
                    <a:pt x="399" y="174"/>
                  </a:cubicBezTo>
                  <a:cubicBezTo>
                    <a:pt x="438" y="223"/>
                    <a:pt x="438" y="223"/>
                    <a:pt x="438" y="223"/>
                  </a:cubicBezTo>
                  <a:cubicBezTo>
                    <a:pt x="444" y="229"/>
                    <a:pt x="443" y="245"/>
                    <a:pt x="428" y="245"/>
                  </a:cubicBezTo>
                  <a:cubicBezTo>
                    <a:pt x="404" y="245"/>
                    <a:pt x="404" y="245"/>
                    <a:pt x="404" y="245"/>
                  </a:cubicBezTo>
                  <a:cubicBezTo>
                    <a:pt x="404" y="330"/>
                    <a:pt x="404" y="330"/>
                    <a:pt x="404" y="330"/>
                  </a:cubicBezTo>
                  <a:cubicBezTo>
                    <a:pt x="422" y="333"/>
                    <a:pt x="439" y="342"/>
                    <a:pt x="452" y="355"/>
                  </a:cubicBezTo>
                  <a:cubicBezTo>
                    <a:pt x="467" y="370"/>
                    <a:pt x="477" y="392"/>
                    <a:pt x="477" y="416"/>
                  </a:cubicBezTo>
                  <a:cubicBezTo>
                    <a:pt x="477" y="440"/>
                    <a:pt x="467" y="461"/>
                    <a:pt x="452" y="477"/>
                  </a:cubicBezTo>
                  <a:cubicBezTo>
                    <a:pt x="436" y="493"/>
                    <a:pt x="415" y="502"/>
                    <a:pt x="391" y="502"/>
                  </a:cubicBezTo>
                  <a:cubicBezTo>
                    <a:pt x="367" y="502"/>
                    <a:pt x="346" y="493"/>
                    <a:pt x="330" y="477"/>
                  </a:cubicBezTo>
                  <a:cubicBezTo>
                    <a:pt x="317" y="463"/>
                    <a:pt x="308" y="445"/>
                    <a:pt x="306" y="425"/>
                  </a:cubicBezTo>
                  <a:cubicBezTo>
                    <a:pt x="256" y="464"/>
                    <a:pt x="256" y="464"/>
                    <a:pt x="256" y="464"/>
                  </a:cubicBezTo>
                  <a:cubicBezTo>
                    <a:pt x="249" y="470"/>
                    <a:pt x="235" y="469"/>
                    <a:pt x="235" y="453"/>
                  </a:cubicBezTo>
                  <a:cubicBezTo>
                    <a:pt x="235" y="429"/>
                    <a:pt x="235" y="429"/>
                    <a:pt x="235" y="429"/>
                  </a:cubicBezTo>
                  <a:close/>
                  <a:moveTo>
                    <a:pt x="254" y="101"/>
                  </a:moveTo>
                  <a:cubicBezTo>
                    <a:pt x="219" y="110"/>
                    <a:pt x="188" y="131"/>
                    <a:pt x="162" y="160"/>
                  </a:cubicBezTo>
                  <a:cubicBezTo>
                    <a:pt x="137" y="189"/>
                    <a:pt x="118" y="226"/>
                    <a:pt x="109" y="269"/>
                  </a:cubicBezTo>
                  <a:cubicBezTo>
                    <a:pt x="135" y="275"/>
                    <a:pt x="135" y="275"/>
                    <a:pt x="135" y="275"/>
                  </a:cubicBezTo>
                  <a:cubicBezTo>
                    <a:pt x="148" y="278"/>
                    <a:pt x="147" y="292"/>
                    <a:pt x="140" y="298"/>
                  </a:cubicBezTo>
                  <a:cubicBezTo>
                    <a:pt x="101" y="331"/>
                    <a:pt x="101" y="331"/>
                    <a:pt x="101" y="331"/>
                  </a:cubicBezTo>
                  <a:cubicBezTo>
                    <a:pt x="118" y="334"/>
                    <a:pt x="134" y="342"/>
                    <a:pt x="146" y="355"/>
                  </a:cubicBezTo>
                  <a:cubicBezTo>
                    <a:pt x="159" y="368"/>
                    <a:pt x="168" y="385"/>
                    <a:pt x="171" y="404"/>
                  </a:cubicBezTo>
                  <a:cubicBezTo>
                    <a:pt x="235" y="404"/>
                    <a:pt x="235" y="404"/>
                    <a:pt x="235" y="404"/>
                  </a:cubicBezTo>
                  <a:cubicBezTo>
                    <a:pt x="235" y="378"/>
                    <a:pt x="235" y="378"/>
                    <a:pt x="235" y="378"/>
                  </a:cubicBezTo>
                  <a:cubicBezTo>
                    <a:pt x="235" y="365"/>
                    <a:pt x="248" y="363"/>
                    <a:pt x="256" y="369"/>
                  </a:cubicBezTo>
                  <a:cubicBezTo>
                    <a:pt x="306" y="408"/>
                    <a:pt x="306" y="408"/>
                    <a:pt x="306" y="408"/>
                  </a:cubicBezTo>
                  <a:cubicBezTo>
                    <a:pt x="308" y="387"/>
                    <a:pt x="317" y="368"/>
                    <a:pt x="330" y="355"/>
                  </a:cubicBezTo>
                  <a:cubicBezTo>
                    <a:pt x="343" y="342"/>
                    <a:pt x="360" y="333"/>
                    <a:pt x="378" y="330"/>
                  </a:cubicBezTo>
                  <a:cubicBezTo>
                    <a:pt x="378" y="245"/>
                    <a:pt x="378" y="245"/>
                    <a:pt x="378" y="245"/>
                  </a:cubicBezTo>
                  <a:cubicBezTo>
                    <a:pt x="353" y="245"/>
                    <a:pt x="353" y="245"/>
                    <a:pt x="353" y="245"/>
                  </a:cubicBezTo>
                  <a:cubicBezTo>
                    <a:pt x="340" y="245"/>
                    <a:pt x="338" y="230"/>
                    <a:pt x="344" y="223"/>
                  </a:cubicBezTo>
                  <a:cubicBezTo>
                    <a:pt x="382" y="174"/>
                    <a:pt x="382" y="174"/>
                    <a:pt x="382" y="174"/>
                  </a:cubicBezTo>
                  <a:cubicBezTo>
                    <a:pt x="383" y="173"/>
                    <a:pt x="383" y="172"/>
                    <a:pt x="384" y="172"/>
                  </a:cubicBezTo>
                  <a:cubicBezTo>
                    <a:pt x="273" y="172"/>
                    <a:pt x="273" y="172"/>
                    <a:pt x="273" y="172"/>
                  </a:cubicBezTo>
                  <a:cubicBezTo>
                    <a:pt x="263" y="172"/>
                    <a:pt x="254" y="164"/>
                    <a:pt x="254" y="153"/>
                  </a:cubicBezTo>
                  <a:cubicBezTo>
                    <a:pt x="254" y="101"/>
                    <a:pt x="254" y="101"/>
                    <a:pt x="254" y="101"/>
                  </a:cubicBezTo>
                  <a:close/>
                  <a:moveTo>
                    <a:pt x="439" y="38"/>
                  </a:moveTo>
                  <a:cubicBezTo>
                    <a:pt x="292" y="38"/>
                    <a:pt x="292" y="38"/>
                    <a:pt x="292" y="38"/>
                  </a:cubicBezTo>
                  <a:cubicBezTo>
                    <a:pt x="292" y="134"/>
                    <a:pt x="292" y="134"/>
                    <a:pt x="292" y="134"/>
                  </a:cubicBezTo>
                  <a:cubicBezTo>
                    <a:pt x="439" y="134"/>
                    <a:pt x="439" y="134"/>
                    <a:pt x="439" y="134"/>
                  </a:cubicBezTo>
                  <a:cubicBezTo>
                    <a:pt x="439" y="38"/>
                    <a:pt x="439" y="38"/>
                    <a:pt x="439" y="38"/>
                  </a:cubicBezTo>
                  <a:close/>
                  <a:moveTo>
                    <a:pt x="425" y="382"/>
                  </a:moveTo>
                  <a:cubicBezTo>
                    <a:pt x="416" y="373"/>
                    <a:pt x="404" y="367"/>
                    <a:pt x="391" y="367"/>
                  </a:cubicBezTo>
                  <a:cubicBezTo>
                    <a:pt x="378" y="367"/>
                    <a:pt x="366" y="373"/>
                    <a:pt x="357" y="382"/>
                  </a:cubicBezTo>
                  <a:cubicBezTo>
                    <a:pt x="349" y="390"/>
                    <a:pt x="343" y="402"/>
                    <a:pt x="343" y="416"/>
                  </a:cubicBezTo>
                  <a:cubicBezTo>
                    <a:pt x="343" y="429"/>
                    <a:pt x="349" y="441"/>
                    <a:pt x="357" y="450"/>
                  </a:cubicBezTo>
                  <a:cubicBezTo>
                    <a:pt x="366" y="459"/>
                    <a:pt x="378" y="464"/>
                    <a:pt x="391" y="464"/>
                  </a:cubicBezTo>
                  <a:cubicBezTo>
                    <a:pt x="404" y="464"/>
                    <a:pt x="416" y="459"/>
                    <a:pt x="425" y="450"/>
                  </a:cubicBezTo>
                  <a:cubicBezTo>
                    <a:pt x="434" y="441"/>
                    <a:pt x="439" y="429"/>
                    <a:pt x="439" y="416"/>
                  </a:cubicBezTo>
                  <a:cubicBezTo>
                    <a:pt x="439" y="402"/>
                    <a:pt x="434" y="390"/>
                    <a:pt x="425" y="382"/>
                  </a:cubicBezTo>
                  <a:close/>
                  <a:moveTo>
                    <a:pt x="120" y="382"/>
                  </a:moveTo>
                  <a:cubicBezTo>
                    <a:pt x="111" y="373"/>
                    <a:pt x="99" y="367"/>
                    <a:pt x="86" y="367"/>
                  </a:cubicBezTo>
                  <a:cubicBezTo>
                    <a:pt x="73" y="367"/>
                    <a:pt x="61" y="373"/>
                    <a:pt x="52" y="382"/>
                  </a:cubicBezTo>
                  <a:cubicBezTo>
                    <a:pt x="43" y="390"/>
                    <a:pt x="38" y="402"/>
                    <a:pt x="38" y="416"/>
                  </a:cubicBezTo>
                  <a:cubicBezTo>
                    <a:pt x="38" y="429"/>
                    <a:pt x="43" y="441"/>
                    <a:pt x="52" y="450"/>
                  </a:cubicBezTo>
                  <a:cubicBezTo>
                    <a:pt x="61" y="459"/>
                    <a:pt x="73" y="464"/>
                    <a:pt x="86" y="464"/>
                  </a:cubicBezTo>
                  <a:cubicBezTo>
                    <a:pt x="99" y="464"/>
                    <a:pt x="111" y="459"/>
                    <a:pt x="120" y="450"/>
                  </a:cubicBezTo>
                  <a:cubicBezTo>
                    <a:pt x="128" y="441"/>
                    <a:pt x="134" y="429"/>
                    <a:pt x="134" y="416"/>
                  </a:cubicBezTo>
                  <a:cubicBezTo>
                    <a:pt x="134" y="402"/>
                    <a:pt x="128" y="390"/>
                    <a:pt x="120" y="382"/>
                  </a:cubicBezTo>
                  <a:close/>
                </a:path>
              </a:pathLst>
            </a:custGeom>
            <a:grpFill/>
            <a:ln>
              <a:noFill/>
            </a:ln>
          </p:spPr>
          <p:txBody>
            <a:bodyPr lIns="68591" tIns="34296" rIns="68591" bIns="34296"/>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9028" fontAlgn="ctr">
                <a:defRPr/>
              </a:pPr>
              <a:endParaRPr lang="en-US" altLang="zh-CN" sz="1600" dirty="0">
                <a:solidFill>
                  <a:prstClr val="white"/>
                </a:solidFill>
                <a:latin typeface="+mn-lt"/>
                <a:ea typeface="+mn-ea"/>
                <a:cs typeface="Huawei Sans" panose="020C0503030203020204" pitchFamily="34" charset="0"/>
                <a:sym typeface="Arial" panose="020B0604020202020204" pitchFamily="34" charset="0"/>
              </a:endParaRPr>
            </a:p>
          </p:txBody>
        </p:sp>
        <p:sp>
          <p:nvSpPr>
            <p:cNvPr id="308" name="AutoShape 97">
              <a:extLst>
                <a:ext uri="{FF2B5EF4-FFF2-40B4-BE49-F238E27FC236}">
                  <a16:creationId xmlns:a16="http://schemas.microsoft.com/office/drawing/2014/main" id="{E705B481-5C33-484E-A484-8DB2AFC00306}"/>
                </a:ext>
              </a:extLst>
            </p:cNvPr>
            <p:cNvSpPr>
              <a:spLocks/>
            </p:cNvSpPr>
            <p:nvPr/>
          </p:nvSpPr>
          <p:spPr bwMode="gray">
            <a:xfrm>
              <a:off x="4150450" y="1823489"/>
              <a:ext cx="218702" cy="21364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p:spPr>
          <p:txBody>
            <a:bodyPr lIns="14290" tIns="14290" rIns="14290" bIns="14290"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171369" fontAlgn="ctr">
                <a:defRPr/>
              </a:pPr>
              <a:endParaRPr lang="en-US" sz="1600" dirty="0">
                <a:solidFill>
                  <a:prstClr val="white"/>
                </a:solidFill>
                <a:effectLst>
                  <a:outerShdw blurRad="38100" dist="38100" dir="2700000" algn="tl">
                    <a:srgbClr val="000000"/>
                  </a:outerShdw>
                </a:effectLst>
                <a:latin typeface="+mn-lt"/>
                <a:ea typeface="+mn-ea"/>
                <a:cs typeface="Huawei Sans" panose="020C0503030203020204" pitchFamily="34" charset="0"/>
                <a:sym typeface="Arial" panose="020B0604020202020204" pitchFamily="34" charset="0"/>
              </a:endParaRPr>
            </a:p>
          </p:txBody>
        </p:sp>
        <p:sp>
          <p:nvSpPr>
            <p:cNvPr id="309" name="AutoShape 98">
              <a:extLst>
                <a:ext uri="{FF2B5EF4-FFF2-40B4-BE49-F238E27FC236}">
                  <a16:creationId xmlns:a16="http://schemas.microsoft.com/office/drawing/2014/main" id="{93ABD08B-2AA5-42BD-9530-82790F156199}"/>
                </a:ext>
              </a:extLst>
            </p:cNvPr>
            <p:cNvSpPr>
              <a:spLocks/>
            </p:cNvSpPr>
            <p:nvPr/>
          </p:nvSpPr>
          <p:spPr bwMode="gray">
            <a:xfrm>
              <a:off x="4239672" y="1849890"/>
              <a:ext cx="40258" cy="65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p:spPr>
          <p:txBody>
            <a:bodyPr lIns="14290" tIns="14290" rIns="14290" bIns="14290"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171369" fontAlgn="ctr">
                <a:defRPr/>
              </a:pPr>
              <a:endParaRPr lang="en-US" sz="1600" dirty="0">
                <a:solidFill>
                  <a:prstClr val="white"/>
                </a:solidFill>
                <a:effectLst>
                  <a:outerShdw blurRad="38100" dist="38100" dir="2700000" algn="tl">
                    <a:srgbClr val="000000"/>
                  </a:outerShdw>
                </a:effectLst>
                <a:latin typeface="+mn-lt"/>
                <a:ea typeface="+mn-ea"/>
                <a:cs typeface="Huawei Sans" panose="020C0503030203020204" pitchFamily="34" charset="0"/>
                <a:sym typeface="Arial" panose="020B0604020202020204" pitchFamily="34" charset="0"/>
              </a:endParaRPr>
            </a:p>
          </p:txBody>
        </p:sp>
        <p:sp>
          <p:nvSpPr>
            <p:cNvPr id="310" name="AutoShape 99">
              <a:extLst>
                <a:ext uri="{FF2B5EF4-FFF2-40B4-BE49-F238E27FC236}">
                  <a16:creationId xmlns:a16="http://schemas.microsoft.com/office/drawing/2014/main" id="{98DAA042-8100-403C-B85F-1B04D5795F8F}"/>
                </a:ext>
              </a:extLst>
            </p:cNvPr>
            <p:cNvSpPr>
              <a:spLocks/>
            </p:cNvSpPr>
            <p:nvPr/>
          </p:nvSpPr>
          <p:spPr bwMode="gray">
            <a:xfrm>
              <a:off x="4250009" y="2016865"/>
              <a:ext cx="19584" cy="65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p:spPr>
          <p:txBody>
            <a:bodyPr lIns="14290" tIns="14290" rIns="14290" bIns="14290"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171369" fontAlgn="ctr">
                <a:defRPr/>
              </a:pPr>
              <a:endParaRPr lang="en-US" sz="1600" dirty="0">
                <a:solidFill>
                  <a:prstClr val="white"/>
                </a:solidFill>
                <a:effectLst>
                  <a:outerShdw blurRad="38100" dist="38100" dir="2700000" algn="tl">
                    <a:srgbClr val="000000"/>
                  </a:outerShdw>
                </a:effectLst>
                <a:latin typeface="+mn-lt"/>
                <a:ea typeface="+mn-ea"/>
                <a:cs typeface="Huawei Sans" panose="020C0503030203020204" pitchFamily="34" charset="0"/>
                <a:sym typeface="Arial" panose="020B0604020202020204" pitchFamily="34" charset="0"/>
              </a:endParaRPr>
            </a:p>
          </p:txBody>
        </p:sp>
      </p:grpSp>
      <p:sp>
        <p:nvSpPr>
          <p:cNvPr id="311" name="grid-earth_72413">
            <a:extLst>
              <a:ext uri="{FF2B5EF4-FFF2-40B4-BE49-F238E27FC236}">
                <a16:creationId xmlns:a16="http://schemas.microsoft.com/office/drawing/2014/main" id="{54E94C53-81E9-4C03-BE8A-CCAB4E53BDD9}"/>
              </a:ext>
            </a:extLst>
          </p:cNvPr>
          <p:cNvSpPr>
            <a:spLocks noChangeAspect="1"/>
          </p:cNvSpPr>
          <p:nvPr/>
        </p:nvSpPr>
        <p:spPr bwMode="gray">
          <a:xfrm>
            <a:off x="4921350" y="1473539"/>
            <a:ext cx="281191" cy="280750"/>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 name="T32" fmla="*/ 372171 w 604011"/>
              <a:gd name="T33" fmla="*/ 372171 w 604011"/>
              <a:gd name="T34" fmla="*/ 372171 w 604011"/>
              <a:gd name="T35" fmla="*/ 372171 w 604011"/>
              <a:gd name="T36" fmla="*/ 372171 w 604011"/>
              <a:gd name="T37" fmla="*/ 372171 w 604011"/>
              <a:gd name="T38" fmla="*/ 372171 w 604011"/>
              <a:gd name="T39" fmla="*/ 372171 w 604011"/>
              <a:gd name="T40" fmla="*/ 372171 w 604011"/>
              <a:gd name="T41" fmla="*/ 372171 w 604011"/>
              <a:gd name="T42" fmla="*/ 372171 w 604011"/>
              <a:gd name="T43" fmla="*/ 372171 w 604011"/>
              <a:gd name="T44" fmla="*/ 372171 w 604011"/>
              <a:gd name="T45" fmla="*/ 372171 w 604011"/>
              <a:gd name="T46" fmla="*/ 372171 w 604011"/>
              <a:gd name="T47" fmla="*/ 372171 w 604011"/>
              <a:gd name="T48" fmla="*/ 372171 w 604011"/>
              <a:gd name="T49" fmla="*/ 372171 w 604011"/>
              <a:gd name="T50" fmla="*/ 372171 w 604011"/>
              <a:gd name="T51" fmla="*/ 372171 w 604011"/>
              <a:gd name="T52" fmla="*/ 372171 w 604011"/>
              <a:gd name="T53" fmla="*/ 372171 w 604011"/>
              <a:gd name="T54" fmla="*/ 372171 w 604011"/>
              <a:gd name="T55" fmla="*/ 372171 w 604011"/>
              <a:gd name="T56" fmla="*/ 372171 w 604011"/>
              <a:gd name="T57" fmla="*/ 372171 w 604011"/>
              <a:gd name="T58" fmla="*/ 372171 w 604011"/>
              <a:gd name="T59" fmla="*/ 372171 w 604011"/>
              <a:gd name="T60" fmla="*/ 372171 w 604011"/>
              <a:gd name="T61" fmla="*/ 372171 w 604011"/>
              <a:gd name="T62" fmla="*/ 372171 w 604011"/>
              <a:gd name="T63" fmla="*/ 372171 w 604011"/>
              <a:gd name="T64" fmla="*/ 372171 w 604011"/>
              <a:gd name="T65" fmla="*/ 372171 w 604011"/>
              <a:gd name="T66" fmla="*/ 372171 w 604011"/>
              <a:gd name="T67" fmla="*/ 372171 w 604011"/>
              <a:gd name="T68" fmla="*/ 372171 w 604011"/>
              <a:gd name="T69" fmla="*/ 372171 w 604011"/>
              <a:gd name="T70" fmla="*/ 372171 w 604011"/>
              <a:gd name="T71" fmla="*/ 372171 w 604011"/>
              <a:gd name="T72" fmla="*/ 372171 w 604011"/>
              <a:gd name="T73" fmla="*/ 372171 w 604011"/>
              <a:gd name="T74" fmla="*/ 372171 w 604011"/>
              <a:gd name="T75" fmla="*/ 372171 w 604011"/>
              <a:gd name="T76" fmla="*/ 372171 w 604011"/>
              <a:gd name="T77" fmla="*/ 372171 w 604011"/>
              <a:gd name="T78" fmla="*/ 372171 w 604011"/>
              <a:gd name="T79"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13" h="613">
                <a:moveTo>
                  <a:pt x="307" y="0"/>
                </a:moveTo>
                <a:cubicBezTo>
                  <a:pt x="137" y="0"/>
                  <a:pt x="0" y="137"/>
                  <a:pt x="0" y="307"/>
                </a:cubicBezTo>
                <a:cubicBezTo>
                  <a:pt x="0" y="476"/>
                  <a:pt x="137" y="613"/>
                  <a:pt x="307" y="613"/>
                </a:cubicBezTo>
                <a:cubicBezTo>
                  <a:pt x="476" y="613"/>
                  <a:pt x="613" y="476"/>
                  <a:pt x="613" y="307"/>
                </a:cubicBezTo>
                <a:cubicBezTo>
                  <a:pt x="613" y="137"/>
                  <a:pt x="476" y="0"/>
                  <a:pt x="307" y="0"/>
                </a:cubicBezTo>
                <a:close/>
                <a:moveTo>
                  <a:pt x="559" y="293"/>
                </a:moveTo>
                <a:lnTo>
                  <a:pt x="475" y="293"/>
                </a:lnTo>
                <a:cubicBezTo>
                  <a:pt x="474" y="249"/>
                  <a:pt x="468" y="208"/>
                  <a:pt x="458" y="170"/>
                </a:cubicBezTo>
                <a:cubicBezTo>
                  <a:pt x="474" y="161"/>
                  <a:pt x="487" y="150"/>
                  <a:pt x="495" y="138"/>
                </a:cubicBezTo>
                <a:cubicBezTo>
                  <a:pt x="532" y="179"/>
                  <a:pt x="556" y="234"/>
                  <a:pt x="559" y="293"/>
                </a:cubicBezTo>
                <a:close/>
                <a:moveTo>
                  <a:pt x="451" y="505"/>
                </a:moveTo>
                <a:cubicBezTo>
                  <a:pt x="448" y="510"/>
                  <a:pt x="440" y="518"/>
                  <a:pt x="425" y="525"/>
                </a:cubicBezTo>
                <a:cubicBezTo>
                  <a:pt x="430" y="515"/>
                  <a:pt x="435" y="505"/>
                  <a:pt x="440" y="495"/>
                </a:cubicBezTo>
                <a:cubicBezTo>
                  <a:pt x="446" y="499"/>
                  <a:pt x="449" y="502"/>
                  <a:pt x="451" y="505"/>
                </a:cubicBezTo>
                <a:close/>
                <a:moveTo>
                  <a:pt x="173" y="495"/>
                </a:moveTo>
                <a:cubicBezTo>
                  <a:pt x="178" y="505"/>
                  <a:pt x="183" y="515"/>
                  <a:pt x="188" y="525"/>
                </a:cubicBezTo>
                <a:cubicBezTo>
                  <a:pt x="174" y="518"/>
                  <a:pt x="165" y="510"/>
                  <a:pt x="163" y="505"/>
                </a:cubicBezTo>
                <a:cubicBezTo>
                  <a:pt x="164" y="502"/>
                  <a:pt x="168" y="499"/>
                  <a:pt x="173" y="495"/>
                </a:cubicBezTo>
                <a:close/>
                <a:moveTo>
                  <a:pt x="163" y="108"/>
                </a:moveTo>
                <a:cubicBezTo>
                  <a:pt x="165" y="103"/>
                  <a:pt x="174" y="96"/>
                  <a:pt x="188" y="88"/>
                </a:cubicBezTo>
                <a:cubicBezTo>
                  <a:pt x="183" y="98"/>
                  <a:pt x="178" y="108"/>
                  <a:pt x="173" y="119"/>
                </a:cubicBezTo>
                <a:cubicBezTo>
                  <a:pt x="168" y="115"/>
                  <a:pt x="164" y="111"/>
                  <a:pt x="163" y="108"/>
                </a:cubicBezTo>
                <a:close/>
                <a:moveTo>
                  <a:pt x="440" y="119"/>
                </a:moveTo>
                <a:cubicBezTo>
                  <a:pt x="435" y="108"/>
                  <a:pt x="430" y="98"/>
                  <a:pt x="425" y="88"/>
                </a:cubicBezTo>
                <a:cubicBezTo>
                  <a:pt x="440" y="96"/>
                  <a:pt x="448" y="103"/>
                  <a:pt x="451" y="108"/>
                </a:cubicBezTo>
                <a:cubicBezTo>
                  <a:pt x="449" y="111"/>
                  <a:pt x="446" y="115"/>
                  <a:pt x="440" y="119"/>
                </a:cubicBezTo>
                <a:close/>
                <a:moveTo>
                  <a:pt x="333" y="65"/>
                </a:moveTo>
                <a:cubicBezTo>
                  <a:pt x="335" y="66"/>
                  <a:pt x="337" y="66"/>
                  <a:pt x="340" y="66"/>
                </a:cubicBezTo>
                <a:cubicBezTo>
                  <a:pt x="359" y="80"/>
                  <a:pt x="377" y="106"/>
                  <a:pt x="391" y="141"/>
                </a:cubicBezTo>
                <a:cubicBezTo>
                  <a:pt x="375" y="145"/>
                  <a:pt x="356" y="149"/>
                  <a:pt x="333" y="151"/>
                </a:cubicBezTo>
                <a:lnTo>
                  <a:pt x="333" y="65"/>
                </a:lnTo>
                <a:close/>
                <a:moveTo>
                  <a:pt x="274" y="66"/>
                </a:moveTo>
                <a:cubicBezTo>
                  <a:pt x="276" y="66"/>
                  <a:pt x="278" y="66"/>
                  <a:pt x="280" y="65"/>
                </a:cubicBezTo>
                <a:lnTo>
                  <a:pt x="280" y="151"/>
                </a:lnTo>
                <a:cubicBezTo>
                  <a:pt x="258" y="149"/>
                  <a:pt x="238" y="145"/>
                  <a:pt x="222" y="141"/>
                </a:cubicBezTo>
                <a:cubicBezTo>
                  <a:pt x="236" y="106"/>
                  <a:pt x="255" y="80"/>
                  <a:pt x="274" y="66"/>
                </a:cubicBezTo>
                <a:close/>
                <a:moveTo>
                  <a:pt x="280" y="204"/>
                </a:moveTo>
                <a:lnTo>
                  <a:pt x="280" y="293"/>
                </a:lnTo>
                <a:lnTo>
                  <a:pt x="192" y="293"/>
                </a:lnTo>
                <a:cubicBezTo>
                  <a:pt x="193" y="256"/>
                  <a:pt x="197" y="222"/>
                  <a:pt x="205" y="191"/>
                </a:cubicBezTo>
                <a:cubicBezTo>
                  <a:pt x="228" y="198"/>
                  <a:pt x="253" y="202"/>
                  <a:pt x="280" y="204"/>
                </a:cubicBezTo>
                <a:close/>
                <a:moveTo>
                  <a:pt x="280" y="347"/>
                </a:moveTo>
                <a:lnTo>
                  <a:pt x="280" y="409"/>
                </a:lnTo>
                <a:cubicBezTo>
                  <a:pt x="253" y="411"/>
                  <a:pt x="228" y="416"/>
                  <a:pt x="205" y="422"/>
                </a:cubicBezTo>
                <a:cubicBezTo>
                  <a:pt x="199" y="399"/>
                  <a:pt x="195" y="374"/>
                  <a:pt x="193" y="347"/>
                </a:cubicBezTo>
                <a:lnTo>
                  <a:pt x="280" y="347"/>
                </a:lnTo>
                <a:close/>
                <a:moveTo>
                  <a:pt x="280" y="463"/>
                </a:moveTo>
                <a:lnTo>
                  <a:pt x="280" y="548"/>
                </a:lnTo>
                <a:cubicBezTo>
                  <a:pt x="278" y="548"/>
                  <a:pt x="276" y="548"/>
                  <a:pt x="274" y="547"/>
                </a:cubicBezTo>
                <a:cubicBezTo>
                  <a:pt x="255" y="533"/>
                  <a:pt x="236" y="507"/>
                  <a:pt x="222" y="473"/>
                </a:cubicBezTo>
                <a:cubicBezTo>
                  <a:pt x="238" y="468"/>
                  <a:pt x="258" y="464"/>
                  <a:pt x="280" y="463"/>
                </a:cubicBezTo>
                <a:close/>
                <a:moveTo>
                  <a:pt x="340" y="547"/>
                </a:moveTo>
                <a:cubicBezTo>
                  <a:pt x="338" y="548"/>
                  <a:pt x="335" y="548"/>
                  <a:pt x="333" y="548"/>
                </a:cubicBezTo>
                <a:lnTo>
                  <a:pt x="333" y="463"/>
                </a:lnTo>
                <a:cubicBezTo>
                  <a:pt x="356" y="464"/>
                  <a:pt x="375" y="468"/>
                  <a:pt x="391" y="473"/>
                </a:cubicBezTo>
                <a:cubicBezTo>
                  <a:pt x="377" y="507"/>
                  <a:pt x="359" y="533"/>
                  <a:pt x="340" y="547"/>
                </a:cubicBezTo>
                <a:close/>
                <a:moveTo>
                  <a:pt x="333" y="409"/>
                </a:moveTo>
                <a:lnTo>
                  <a:pt x="333" y="347"/>
                </a:lnTo>
                <a:lnTo>
                  <a:pt x="420" y="347"/>
                </a:lnTo>
                <a:cubicBezTo>
                  <a:pt x="418" y="374"/>
                  <a:pt x="414" y="399"/>
                  <a:pt x="408" y="422"/>
                </a:cubicBezTo>
                <a:cubicBezTo>
                  <a:pt x="386" y="416"/>
                  <a:pt x="360" y="411"/>
                  <a:pt x="333" y="409"/>
                </a:cubicBezTo>
                <a:close/>
                <a:moveTo>
                  <a:pt x="333" y="293"/>
                </a:moveTo>
                <a:lnTo>
                  <a:pt x="333" y="204"/>
                </a:lnTo>
                <a:cubicBezTo>
                  <a:pt x="360" y="202"/>
                  <a:pt x="386" y="198"/>
                  <a:pt x="408" y="191"/>
                </a:cubicBezTo>
                <a:cubicBezTo>
                  <a:pt x="416" y="222"/>
                  <a:pt x="421" y="256"/>
                  <a:pt x="422" y="293"/>
                </a:cubicBezTo>
                <a:lnTo>
                  <a:pt x="333" y="293"/>
                </a:lnTo>
                <a:close/>
                <a:moveTo>
                  <a:pt x="118" y="138"/>
                </a:moveTo>
                <a:cubicBezTo>
                  <a:pt x="126" y="150"/>
                  <a:pt x="139" y="161"/>
                  <a:pt x="155" y="170"/>
                </a:cubicBezTo>
                <a:cubicBezTo>
                  <a:pt x="145" y="208"/>
                  <a:pt x="139" y="249"/>
                  <a:pt x="138" y="293"/>
                </a:cubicBezTo>
                <a:lnTo>
                  <a:pt x="54" y="293"/>
                </a:lnTo>
                <a:cubicBezTo>
                  <a:pt x="57" y="234"/>
                  <a:pt x="81" y="179"/>
                  <a:pt x="118" y="138"/>
                </a:cubicBezTo>
                <a:close/>
                <a:moveTo>
                  <a:pt x="57" y="347"/>
                </a:moveTo>
                <a:lnTo>
                  <a:pt x="139" y="347"/>
                </a:lnTo>
                <a:cubicBezTo>
                  <a:pt x="142" y="381"/>
                  <a:pt x="147" y="413"/>
                  <a:pt x="155" y="443"/>
                </a:cubicBezTo>
                <a:cubicBezTo>
                  <a:pt x="139" y="452"/>
                  <a:pt x="126" y="463"/>
                  <a:pt x="118" y="476"/>
                </a:cubicBezTo>
                <a:cubicBezTo>
                  <a:pt x="87" y="440"/>
                  <a:pt x="65" y="396"/>
                  <a:pt x="57" y="347"/>
                </a:cubicBezTo>
                <a:close/>
                <a:moveTo>
                  <a:pt x="495" y="476"/>
                </a:moveTo>
                <a:cubicBezTo>
                  <a:pt x="487" y="463"/>
                  <a:pt x="474" y="452"/>
                  <a:pt x="458" y="443"/>
                </a:cubicBezTo>
                <a:cubicBezTo>
                  <a:pt x="466" y="413"/>
                  <a:pt x="472" y="381"/>
                  <a:pt x="474" y="347"/>
                </a:cubicBezTo>
                <a:lnTo>
                  <a:pt x="557" y="347"/>
                </a:lnTo>
                <a:cubicBezTo>
                  <a:pt x="549" y="396"/>
                  <a:pt x="527" y="440"/>
                  <a:pt x="495" y="476"/>
                </a:cubicBezTo>
                <a:close/>
              </a:path>
            </a:pathLst>
          </a:custGeom>
          <a:solidFill>
            <a:srgbClr val="00B0F0"/>
          </a:solidFill>
          <a:ln>
            <a:noFill/>
          </a:ln>
        </p:spPr>
        <p:txBody>
          <a:bodyPr/>
          <a:lstStyle/>
          <a:p>
            <a:endParaRPr lang="zh-CN" altLang="en-US" sz="1600"/>
          </a:p>
        </p:txBody>
      </p:sp>
      <p:pic>
        <p:nvPicPr>
          <p:cNvPr id="312" name="图片 311">
            <a:extLst>
              <a:ext uri="{FF2B5EF4-FFF2-40B4-BE49-F238E27FC236}">
                <a16:creationId xmlns:a16="http://schemas.microsoft.com/office/drawing/2014/main" id="{21ED18C8-B133-4338-B60F-23706C9CF68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82342"/>
          <a:stretch/>
        </p:blipFill>
        <p:spPr bwMode="gray">
          <a:xfrm>
            <a:off x="5425323" y="2456540"/>
            <a:ext cx="1823878" cy="367675"/>
          </a:xfrm>
          <a:prstGeom prst="rect">
            <a:avLst/>
          </a:prstGeom>
        </p:spPr>
      </p:pic>
      <p:grpSp>
        <p:nvGrpSpPr>
          <p:cNvPr id="314" name="组合 195">
            <a:extLst>
              <a:ext uri="{FF2B5EF4-FFF2-40B4-BE49-F238E27FC236}">
                <a16:creationId xmlns:a16="http://schemas.microsoft.com/office/drawing/2014/main" id="{50E721A0-215F-4706-8980-C8ED1EA9830B}"/>
              </a:ext>
            </a:extLst>
          </p:cNvPr>
          <p:cNvGrpSpPr>
            <a:grpSpLocks noChangeAspect="1"/>
          </p:cNvGrpSpPr>
          <p:nvPr/>
        </p:nvGrpSpPr>
        <p:grpSpPr bwMode="gray">
          <a:xfrm>
            <a:off x="6552639" y="5668817"/>
            <a:ext cx="290238" cy="268952"/>
            <a:chOff x="171393" y="3704832"/>
            <a:chExt cx="325829" cy="302898"/>
          </a:xfrm>
        </p:grpSpPr>
        <p:grpSp>
          <p:nvGrpSpPr>
            <p:cNvPr id="315" name="组合 923">
              <a:extLst>
                <a:ext uri="{FF2B5EF4-FFF2-40B4-BE49-F238E27FC236}">
                  <a16:creationId xmlns:a16="http://schemas.microsoft.com/office/drawing/2014/main" id="{3C562849-E0C4-4EC6-87F7-3720A1E0A7A3}"/>
                </a:ext>
              </a:extLst>
            </p:cNvPr>
            <p:cNvGrpSpPr/>
            <p:nvPr/>
          </p:nvGrpSpPr>
          <p:grpSpPr bwMode="gray">
            <a:xfrm>
              <a:off x="336339" y="3704832"/>
              <a:ext cx="160883" cy="299720"/>
              <a:chOff x="5046989" y="3939464"/>
              <a:chExt cx="185575" cy="402656"/>
            </a:xfrm>
          </p:grpSpPr>
          <p:sp>
            <p:nvSpPr>
              <p:cNvPr id="317" name="圆角矩形 471">
                <a:extLst>
                  <a:ext uri="{FF2B5EF4-FFF2-40B4-BE49-F238E27FC236}">
                    <a16:creationId xmlns:a16="http://schemas.microsoft.com/office/drawing/2014/main" id="{835E95EB-04CA-493C-BDBB-2B7DA748DA5A}"/>
                  </a:ext>
                </a:extLst>
              </p:cNvPr>
              <p:cNvSpPr/>
              <p:nvPr/>
            </p:nvSpPr>
            <p:spPr bwMode="gray">
              <a:xfrm>
                <a:off x="5046989" y="3939464"/>
                <a:ext cx="185575" cy="121999"/>
              </a:xfrm>
              <a:prstGeom prst="roundRect">
                <a:avLst/>
              </a:prstGeom>
              <a:solidFill>
                <a:srgbClr val="00B0F0"/>
              </a:solidFill>
              <a:ln>
                <a:noFill/>
              </a:ln>
              <a:effectLst/>
            </p:spPr>
            <p:txBody>
              <a:bodyPr vert="horz" wrap="square" lIns="91440" tIns="0" rIns="91440" bIns="45720" numCol="1" rtlCol="0" anchor="ctr" anchorCtr="0" compatLnSpc="1">
                <a:prstTxWarp prst="textNoShape">
                  <a:avLst/>
                </a:prstTxWarp>
              </a:bodyPr>
              <a:lstStyle/>
              <a:p>
                <a:pPr algn="ctr">
                  <a:lnSpc>
                    <a:spcPct val="140000"/>
                  </a:lnSpc>
                  <a:buClr>
                    <a:srgbClr val="CC9900"/>
                  </a:buClr>
                  <a:buSzPct val="60000"/>
                </a:pPr>
                <a:endParaRPr lang="zh-CN" altLang="en-US" sz="1600" b="1" dirty="0">
                  <a:cs typeface="+mn-ea"/>
                  <a:sym typeface="+mn-lt"/>
                </a:endParaRPr>
              </a:p>
            </p:txBody>
          </p:sp>
          <p:sp>
            <p:nvSpPr>
              <p:cNvPr id="318" name="圆角矩形 473">
                <a:extLst>
                  <a:ext uri="{FF2B5EF4-FFF2-40B4-BE49-F238E27FC236}">
                    <a16:creationId xmlns:a16="http://schemas.microsoft.com/office/drawing/2014/main" id="{31685C45-898A-4ADA-80AB-325A5528E9CE}"/>
                  </a:ext>
                </a:extLst>
              </p:cNvPr>
              <p:cNvSpPr/>
              <p:nvPr/>
            </p:nvSpPr>
            <p:spPr bwMode="gray">
              <a:xfrm>
                <a:off x="5046989" y="4077482"/>
                <a:ext cx="185575" cy="121999"/>
              </a:xfrm>
              <a:prstGeom prst="roundRect">
                <a:avLst/>
              </a:prstGeom>
              <a:solidFill>
                <a:srgbClr val="00B0F0"/>
              </a:solidFill>
              <a:ln>
                <a:noFill/>
              </a:ln>
              <a:effectLst/>
            </p:spPr>
            <p:txBody>
              <a:bodyPr vert="horz" wrap="square" lIns="91440" tIns="0" rIns="91440" bIns="45720" numCol="1" rtlCol="0" anchor="ctr" anchorCtr="0" compatLnSpc="1">
                <a:prstTxWarp prst="textNoShape">
                  <a:avLst/>
                </a:prstTxWarp>
              </a:bodyPr>
              <a:lstStyle/>
              <a:p>
                <a:pPr algn="ctr">
                  <a:lnSpc>
                    <a:spcPct val="140000"/>
                  </a:lnSpc>
                  <a:buClr>
                    <a:srgbClr val="CC9900"/>
                  </a:buClr>
                  <a:buSzPct val="60000"/>
                </a:pPr>
                <a:endParaRPr lang="zh-CN" altLang="en-US" sz="1600" b="1" dirty="0">
                  <a:cs typeface="+mn-ea"/>
                  <a:sym typeface="+mn-lt"/>
                </a:endParaRPr>
              </a:p>
            </p:txBody>
          </p:sp>
          <p:sp>
            <p:nvSpPr>
              <p:cNvPr id="319" name="圆角矩形 474">
                <a:extLst>
                  <a:ext uri="{FF2B5EF4-FFF2-40B4-BE49-F238E27FC236}">
                    <a16:creationId xmlns:a16="http://schemas.microsoft.com/office/drawing/2014/main" id="{14225282-4AB5-42E2-9C92-EC27190216BE}"/>
                  </a:ext>
                </a:extLst>
              </p:cNvPr>
              <p:cNvSpPr/>
              <p:nvPr/>
            </p:nvSpPr>
            <p:spPr bwMode="gray">
              <a:xfrm>
                <a:off x="5046989" y="4220121"/>
                <a:ext cx="185575" cy="121999"/>
              </a:xfrm>
              <a:prstGeom prst="roundRect">
                <a:avLst/>
              </a:prstGeom>
              <a:solidFill>
                <a:srgbClr val="00B0F0"/>
              </a:solidFill>
              <a:ln>
                <a:noFill/>
              </a:ln>
              <a:effectLst/>
            </p:spPr>
            <p:txBody>
              <a:bodyPr vert="horz" wrap="square" lIns="91440" tIns="0" rIns="91440" bIns="45720" numCol="1" rtlCol="0" anchor="ctr" anchorCtr="0" compatLnSpc="1">
                <a:prstTxWarp prst="textNoShape">
                  <a:avLst/>
                </a:prstTxWarp>
              </a:bodyPr>
              <a:lstStyle/>
              <a:p>
                <a:pPr algn="ctr">
                  <a:lnSpc>
                    <a:spcPct val="140000"/>
                  </a:lnSpc>
                  <a:buClr>
                    <a:srgbClr val="CC9900"/>
                  </a:buClr>
                  <a:buSzPct val="60000"/>
                </a:pPr>
                <a:endParaRPr lang="zh-CN" altLang="en-US" sz="1600" b="1" dirty="0">
                  <a:cs typeface="+mn-ea"/>
                  <a:sym typeface="+mn-lt"/>
                </a:endParaRPr>
              </a:p>
            </p:txBody>
          </p:sp>
        </p:grpSp>
        <p:sp>
          <p:nvSpPr>
            <p:cNvPr id="316" name="Freeform 151">
              <a:extLst>
                <a:ext uri="{FF2B5EF4-FFF2-40B4-BE49-F238E27FC236}">
                  <a16:creationId xmlns:a16="http://schemas.microsoft.com/office/drawing/2014/main" id="{912A3752-FB51-4450-B4AF-DABB61482C01}"/>
                </a:ext>
              </a:extLst>
            </p:cNvPr>
            <p:cNvSpPr>
              <a:spLocks noEditPoints="1"/>
            </p:cNvSpPr>
            <p:nvPr/>
          </p:nvSpPr>
          <p:spPr bwMode="gray">
            <a:xfrm>
              <a:off x="171393" y="3707174"/>
              <a:ext cx="155004" cy="300556"/>
            </a:xfrm>
            <a:custGeom>
              <a:avLst/>
              <a:gdLst/>
              <a:ahLst/>
              <a:cxnLst>
                <a:cxn ang="0">
                  <a:pos x="7285" y="81"/>
                </a:cxn>
                <a:cxn ang="0">
                  <a:pos x="7441" y="325"/>
                </a:cxn>
                <a:cxn ang="0">
                  <a:pos x="7400" y="16492"/>
                </a:cxn>
                <a:cxn ang="0">
                  <a:pos x="7183" y="16680"/>
                </a:cxn>
                <a:cxn ang="0">
                  <a:pos x="266" y="16680"/>
                </a:cxn>
                <a:cxn ang="0">
                  <a:pos x="49" y="16492"/>
                </a:cxn>
                <a:cxn ang="0">
                  <a:pos x="8" y="325"/>
                </a:cxn>
                <a:cxn ang="0">
                  <a:pos x="163" y="81"/>
                </a:cxn>
                <a:cxn ang="0">
                  <a:pos x="5939" y="1613"/>
                </a:cxn>
                <a:cxn ang="0">
                  <a:pos x="6201" y="1711"/>
                </a:cxn>
                <a:cxn ang="0">
                  <a:pos x="6328" y="1952"/>
                </a:cxn>
                <a:cxn ang="0">
                  <a:pos x="6263" y="3222"/>
                </a:cxn>
                <a:cxn ang="0">
                  <a:pos x="6036" y="3376"/>
                </a:cxn>
                <a:cxn ang="0">
                  <a:pos x="1341" y="3351"/>
                </a:cxn>
                <a:cxn ang="0">
                  <a:pos x="1150" y="3157"/>
                </a:cxn>
                <a:cxn ang="0">
                  <a:pos x="1137" y="1878"/>
                </a:cxn>
                <a:cxn ang="0">
                  <a:pos x="1307" y="1667"/>
                </a:cxn>
                <a:cxn ang="0">
                  <a:pos x="5979" y="3879"/>
                </a:cxn>
                <a:cxn ang="0">
                  <a:pos x="6228" y="4001"/>
                </a:cxn>
                <a:cxn ang="0">
                  <a:pos x="6330" y="4255"/>
                </a:cxn>
                <a:cxn ang="0">
                  <a:pos x="6240" y="5515"/>
                </a:cxn>
                <a:cxn ang="0">
                  <a:pos x="5999" y="5647"/>
                </a:cxn>
                <a:cxn ang="0">
                  <a:pos x="1307" y="5597"/>
                </a:cxn>
                <a:cxn ang="0">
                  <a:pos x="1137" y="5386"/>
                </a:cxn>
                <a:cxn ang="0">
                  <a:pos x="1150" y="4107"/>
                </a:cxn>
                <a:cxn ang="0">
                  <a:pos x="1341" y="3914"/>
                </a:cxn>
                <a:cxn ang="0">
                  <a:pos x="6018" y="6147"/>
                </a:cxn>
                <a:cxn ang="0">
                  <a:pos x="6252" y="6293"/>
                </a:cxn>
                <a:cxn ang="0">
                  <a:pos x="6329" y="7557"/>
                </a:cxn>
                <a:cxn ang="0">
                  <a:pos x="6215" y="7804"/>
                </a:cxn>
                <a:cxn ang="0">
                  <a:pos x="5959" y="7915"/>
                </a:cxn>
                <a:cxn ang="0">
                  <a:pos x="1277" y="7841"/>
                </a:cxn>
                <a:cxn ang="0">
                  <a:pos x="1128" y="7614"/>
                </a:cxn>
                <a:cxn ang="0">
                  <a:pos x="1166" y="6339"/>
                </a:cxn>
                <a:cxn ang="0">
                  <a:pos x="1376" y="6163"/>
                </a:cxn>
                <a:cxn ang="0">
                  <a:pos x="6055" y="8420"/>
                </a:cxn>
                <a:cxn ang="0">
                  <a:pos x="6272" y="8586"/>
                </a:cxn>
                <a:cxn ang="0">
                  <a:pos x="6325" y="9859"/>
                </a:cxn>
                <a:cxn ang="0">
                  <a:pos x="6187" y="10093"/>
                </a:cxn>
                <a:cxn ang="0">
                  <a:pos x="1510" y="10180"/>
                </a:cxn>
                <a:cxn ang="0">
                  <a:pos x="1248" y="10081"/>
                </a:cxn>
                <a:cxn ang="0">
                  <a:pos x="1121" y="9840"/>
                </a:cxn>
                <a:cxn ang="0">
                  <a:pos x="1186" y="8571"/>
                </a:cxn>
                <a:cxn ang="0">
                  <a:pos x="1413" y="8415"/>
                </a:cxn>
                <a:cxn ang="0">
                  <a:pos x="3942" y="14477"/>
                </a:cxn>
                <a:cxn ang="0">
                  <a:pos x="4188" y="14735"/>
                </a:cxn>
                <a:cxn ang="0">
                  <a:pos x="4196" y="15102"/>
                </a:cxn>
                <a:cxn ang="0">
                  <a:pos x="3964" y="15372"/>
                </a:cxn>
                <a:cxn ang="0">
                  <a:pos x="3599" y="15417"/>
                </a:cxn>
                <a:cxn ang="0">
                  <a:pos x="3308" y="15211"/>
                </a:cxn>
                <a:cxn ang="0">
                  <a:pos x="3228" y="14854"/>
                </a:cxn>
                <a:cxn ang="0">
                  <a:pos x="3406" y="14543"/>
                </a:cxn>
                <a:cxn ang="0">
                  <a:pos x="1277" y="12777"/>
                </a:cxn>
                <a:cxn ang="0">
                  <a:pos x="6299" y="12881"/>
                </a:cxn>
                <a:cxn ang="0">
                  <a:pos x="6222" y="13140"/>
                </a:cxn>
                <a:cxn ang="0">
                  <a:pos x="1169" y="13093"/>
                </a:cxn>
                <a:cxn ang="0">
                  <a:pos x="1186" y="12815"/>
                </a:cxn>
                <a:cxn ang="0">
                  <a:pos x="6234" y="12232"/>
                </a:cxn>
                <a:cxn ang="0">
                  <a:pos x="6295" y="12500"/>
                </a:cxn>
                <a:cxn ang="0">
                  <a:pos x="1263" y="12589"/>
                </a:cxn>
                <a:cxn ang="0">
                  <a:pos x="1147" y="12461"/>
                </a:cxn>
                <a:cxn ang="0">
                  <a:pos x="1251" y="12220"/>
                </a:cxn>
              </a:cxnLst>
              <a:rect l="0" t="0" r="r" b="b"/>
              <a:pathLst>
                <a:path w="7449" h="16705">
                  <a:moveTo>
                    <a:pt x="406" y="0"/>
                  </a:moveTo>
                  <a:lnTo>
                    <a:pt x="7043" y="0"/>
                  </a:lnTo>
                  <a:lnTo>
                    <a:pt x="7064" y="1"/>
                  </a:lnTo>
                  <a:lnTo>
                    <a:pt x="7085" y="2"/>
                  </a:lnTo>
                  <a:lnTo>
                    <a:pt x="7104" y="5"/>
                  </a:lnTo>
                  <a:lnTo>
                    <a:pt x="7124" y="8"/>
                  </a:lnTo>
                  <a:lnTo>
                    <a:pt x="7144" y="13"/>
                  </a:lnTo>
                  <a:lnTo>
                    <a:pt x="7164" y="19"/>
                  </a:lnTo>
                  <a:lnTo>
                    <a:pt x="7183" y="25"/>
                  </a:lnTo>
                  <a:lnTo>
                    <a:pt x="7201" y="32"/>
                  </a:lnTo>
                  <a:lnTo>
                    <a:pt x="7218" y="41"/>
                  </a:lnTo>
                  <a:lnTo>
                    <a:pt x="7236" y="49"/>
                  </a:lnTo>
                  <a:lnTo>
                    <a:pt x="7253" y="60"/>
                  </a:lnTo>
                  <a:lnTo>
                    <a:pt x="7269" y="70"/>
                  </a:lnTo>
                  <a:lnTo>
                    <a:pt x="7285" y="81"/>
                  </a:lnTo>
                  <a:lnTo>
                    <a:pt x="7301" y="93"/>
                  </a:lnTo>
                  <a:lnTo>
                    <a:pt x="7315" y="105"/>
                  </a:lnTo>
                  <a:lnTo>
                    <a:pt x="7330" y="119"/>
                  </a:lnTo>
                  <a:lnTo>
                    <a:pt x="7344" y="134"/>
                  </a:lnTo>
                  <a:lnTo>
                    <a:pt x="7356" y="148"/>
                  </a:lnTo>
                  <a:lnTo>
                    <a:pt x="7368" y="164"/>
                  </a:lnTo>
                  <a:lnTo>
                    <a:pt x="7379" y="180"/>
                  </a:lnTo>
                  <a:lnTo>
                    <a:pt x="7389" y="196"/>
                  </a:lnTo>
                  <a:lnTo>
                    <a:pt x="7400" y="213"/>
                  </a:lnTo>
                  <a:lnTo>
                    <a:pt x="7408" y="231"/>
                  </a:lnTo>
                  <a:lnTo>
                    <a:pt x="7417" y="248"/>
                  </a:lnTo>
                  <a:lnTo>
                    <a:pt x="7424" y="266"/>
                  </a:lnTo>
                  <a:lnTo>
                    <a:pt x="7430" y="285"/>
                  </a:lnTo>
                  <a:lnTo>
                    <a:pt x="7436" y="305"/>
                  </a:lnTo>
                  <a:lnTo>
                    <a:pt x="7441" y="325"/>
                  </a:lnTo>
                  <a:lnTo>
                    <a:pt x="7444" y="345"/>
                  </a:lnTo>
                  <a:lnTo>
                    <a:pt x="7447" y="364"/>
                  </a:lnTo>
                  <a:lnTo>
                    <a:pt x="7448" y="385"/>
                  </a:lnTo>
                  <a:lnTo>
                    <a:pt x="7449" y="406"/>
                  </a:lnTo>
                  <a:lnTo>
                    <a:pt x="7449" y="16299"/>
                  </a:lnTo>
                  <a:lnTo>
                    <a:pt x="7448" y="16320"/>
                  </a:lnTo>
                  <a:lnTo>
                    <a:pt x="7447" y="16341"/>
                  </a:lnTo>
                  <a:lnTo>
                    <a:pt x="7444" y="16362"/>
                  </a:lnTo>
                  <a:lnTo>
                    <a:pt x="7441" y="16381"/>
                  </a:lnTo>
                  <a:lnTo>
                    <a:pt x="7436" y="16400"/>
                  </a:lnTo>
                  <a:lnTo>
                    <a:pt x="7430" y="16420"/>
                  </a:lnTo>
                  <a:lnTo>
                    <a:pt x="7424" y="16439"/>
                  </a:lnTo>
                  <a:lnTo>
                    <a:pt x="7417" y="16457"/>
                  </a:lnTo>
                  <a:lnTo>
                    <a:pt x="7408" y="16475"/>
                  </a:lnTo>
                  <a:lnTo>
                    <a:pt x="7400" y="16492"/>
                  </a:lnTo>
                  <a:lnTo>
                    <a:pt x="7389" y="16510"/>
                  </a:lnTo>
                  <a:lnTo>
                    <a:pt x="7379" y="16525"/>
                  </a:lnTo>
                  <a:lnTo>
                    <a:pt x="7368" y="16542"/>
                  </a:lnTo>
                  <a:lnTo>
                    <a:pt x="7356" y="16557"/>
                  </a:lnTo>
                  <a:lnTo>
                    <a:pt x="7344" y="16571"/>
                  </a:lnTo>
                  <a:lnTo>
                    <a:pt x="7330" y="16586"/>
                  </a:lnTo>
                  <a:lnTo>
                    <a:pt x="7315" y="16600"/>
                  </a:lnTo>
                  <a:lnTo>
                    <a:pt x="7301" y="16612"/>
                  </a:lnTo>
                  <a:lnTo>
                    <a:pt x="7285" y="16625"/>
                  </a:lnTo>
                  <a:lnTo>
                    <a:pt x="7269" y="16635"/>
                  </a:lnTo>
                  <a:lnTo>
                    <a:pt x="7253" y="16647"/>
                  </a:lnTo>
                  <a:lnTo>
                    <a:pt x="7236" y="16656"/>
                  </a:lnTo>
                  <a:lnTo>
                    <a:pt x="7218" y="16665"/>
                  </a:lnTo>
                  <a:lnTo>
                    <a:pt x="7201" y="16673"/>
                  </a:lnTo>
                  <a:lnTo>
                    <a:pt x="7183" y="16680"/>
                  </a:lnTo>
                  <a:lnTo>
                    <a:pt x="7164" y="16686"/>
                  </a:lnTo>
                  <a:lnTo>
                    <a:pt x="7144" y="16692"/>
                  </a:lnTo>
                  <a:lnTo>
                    <a:pt x="7124" y="16697"/>
                  </a:lnTo>
                  <a:lnTo>
                    <a:pt x="7104" y="16701"/>
                  </a:lnTo>
                  <a:lnTo>
                    <a:pt x="7085" y="16703"/>
                  </a:lnTo>
                  <a:lnTo>
                    <a:pt x="7064" y="16705"/>
                  </a:lnTo>
                  <a:lnTo>
                    <a:pt x="7043" y="16705"/>
                  </a:lnTo>
                  <a:lnTo>
                    <a:pt x="406" y="16705"/>
                  </a:lnTo>
                  <a:lnTo>
                    <a:pt x="385" y="16705"/>
                  </a:lnTo>
                  <a:lnTo>
                    <a:pt x="364" y="16703"/>
                  </a:lnTo>
                  <a:lnTo>
                    <a:pt x="345" y="16701"/>
                  </a:lnTo>
                  <a:lnTo>
                    <a:pt x="324" y="16697"/>
                  </a:lnTo>
                  <a:lnTo>
                    <a:pt x="305" y="16692"/>
                  </a:lnTo>
                  <a:lnTo>
                    <a:pt x="285" y="16686"/>
                  </a:lnTo>
                  <a:lnTo>
                    <a:pt x="266" y="16680"/>
                  </a:lnTo>
                  <a:lnTo>
                    <a:pt x="248" y="16673"/>
                  </a:lnTo>
                  <a:lnTo>
                    <a:pt x="230" y="16665"/>
                  </a:lnTo>
                  <a:lnTo>
                    <a:pt x="213" y="16656"/>
                  </a:lnTo>
                  <a:lnTo>
                    <a:pt x="195" y="16647"/>
                  </a:lnTo>
                  <a:lnTo>
                    <a:pt x="180" y="16635"/>
                  </a:lnTo>
                  <a:lnTo>
                    <a:pt x="163" y="16625"/>
                  </a:lnTo>
                  <a:lnTo>
                    <a:pt x="148" y="16612"/>
                  </a:lnTo>
                  <a:lnTo>
                    <a:pt x="134" y="16600"/>
                  </a:lnTo>
                  <a:lnTo>
                    <a:pt x="119" y="16586"/>
                  </a:lnTo>
                  <a:lnTo>
                    <a:pt x="105" y="16571"/>
                  </a:lnTo>
                  <a:lnTo>
                    <a:pt x="93" y="16557"/>
                  </a:lnTo>
                  <a:lnTo>
                    <a:pt x="80" y="16542"/>
                  </a:lnTo>
                  <a:lnTo>
                    <a:pt x="70" y="16525"/>
                  </a:lnTo>
                  <a:lnTo>
                    <a:pt x="58" y="16510"/>
                  </a:lnTo>
                  <a:lnTo>
                    <a:pt x="49" y="16492"/>
                  </a:lnTo>
                  <a:lnTo>
                    <a:pt x="40" y="16475"/>
                  </a:lnTo>
                  <a:lnTo>
                    <a:pt x="32" y="16457"/>
                  </a:lnTo>
                  <a:lnTo>
                    <a:pt x="25" y="16439"/>
                  </a:lnTo>
                  <a:lnTo>
                    <a:pt x="19" y="16420"/>
                  </a:lnTo>
                  <a:lnTo>
                    <a:pt x="13" y="16400"/>
                  </a:lnTo>
                  <a:lnTo>
                    <a:pt x="8" y="16381"/>
                  </a:lnTo>
                  <a:lnTo>
                    <a:pt x="4" y="16362"/>
                  </a:lnTo>
                  <a:lnTo>
                    <a:pt x="2" y="16341"/>
                  </a:lnTo>
                  <a:lnTo>
                    <a:pt x="0" y="16320"/>
                  </a:lnTo>
                  <a:lnTo>
                    <a:pt x="0" y="16299"/>
                  </a:lnTo>
                  <a:lnTo>
                    <a:pt x="0" y="406"/>
                  </a:lnTo>
                  <a:lnTo>
                    <a:pt x="0" y="385"/>
                  </a:lnTo>
                  <a:lnTo>
                    <a:pt x="2" y="364"/>
                  </a:lnTo>
                  <a:lnTo>
                    <a:pt x="4" y="345"/>
                  </a:lnTo>
                  <a:lnTo>
                    <a:pt x="8" y="325"/>
                  </a:lnTo>
                  <a:lnTo>
                    <a:pt x="13" y="305"/>
                  </a:lnTo>
                  <a:lnTo>
                    <a:pt x="19" y="285"/>
                  </a:lnTo>
                  <a:lnTo>
                    <a:pt x="25" y="266"/>
                  </a:lnTo>
                  <a:lnTo>
                    <a:pt x="32" y="248"/>
                  </a:lnTo>
                  <a:lnTo>
                    <a:pt x="40" y="231"/>
                  </a:lnTo>
                  <a:lnTo>
                    <a:pt x="49" y="213"/>
                  </a:lnTo>
                  <a:lnTo>
                    <a:pt x="58" y="196"/>
                  </a:lnTo>
                  <a:lnTo>
                    <a:pt x="70" y="180"/>
                  </a:lnTo>
                  <a:lnTo>
                    <a:pt x="80" y="164"/>
                  </a:lnTo>
                  <a:lnTo>
                    <a:pt x="93" y="148"/>
                  </a:lnTo>
                  <a:lnTo>
                    <a:pt x="105" y="134"/>
                  </a:lnTo>
                  <a:lnTo>
                    <a:pt x="119" y="119"/>
                  </a:lnTo>
                  <a:lnTo>
                    <a:pt x="134" y="105"/>
                  </a:lnTo>
                  <a:lnTo>
                    <a:pt x="148" y="93"/>
                  </a:lnTo>
                  <a:lnTo>
                    <a:pt x="163" y="81"/>
                  </a:lnTo>
                  <a:lnTo>
                    <a:pt x="180" y="70"/>
                  </a:lnTo>
                  <a:lnTo>
                    <a:pt x="195" y="60"/>
                  </a:lnTo>
                  <a:lnTo>
                    <a:pt x="213" y="49"/>
                  </a:lnTo>
                  <a:lnTo>
                    <a:pt x="230" y="41"/>
                  </a:lnTo>
                  <a:lnTo>
                    <a:pt x="248" y="32"/>
                  </a:lnTo>
                  <a:lnTo>
                    <a:pt x="266" y="25"/>
                  </a:lnTo>
                  <a:lnTo>
                    <a:pt x="285" y="19"/>
                  </a:lnTo>
                  <a:lnTo>
                    <a:pt x="305" y="13"/>
                  </a:lnTo>
                  <a:lnTo>
                    <a:pt x="324" y="8"/>
                  </a:lnTo>
                  <a:lnTo>
                    <a:pt x="345" y="5"/>
                  </a:lnTo>
                  <a:lnTo>
                    <a:pt x="364" y="2"/>
                  </a:lnTo>
                  <a:lnTo>
                    <a:pt x="385" y="1"/>
                  </a:lnTo>
                  <a:lnTo>
                    <a:pt x="406" y="0"/>
                  </a:lnTo>
                  <a:close/>
                  <a:moveTo>
                    <a:pt x="1510" y="1613"/>
                  </a:moveTo>
                  <a:lnTo>
                    <a:pt x="5939" y="1613"/>
                  </a:lnTo>
                  <a:lnTo>
                    <a:pt x="5959" y="1613"/>
                  </a:lnTo>
                  <a:lnTo>
                    <a:pt x="5979" y="1615"/>
                  </a:lnTo>
                  <a:lnTo>
                    <a:pt x="5999" y="1617"/>
                  </a:lnTo>
                  <a:lnTo>
                    <a:pt x="6018" y="1620"/>
                  </a:lnTo>
                  <a:lnTo>
                    <a:pt x="6036" y="1625"/>
                  </a:lnTo>
                  <a:lnTo>
                    <a:pt x="6055" y="1630"/>
                  </a:lnTo>
                  <a:lnTo>
                    <a:pt x="6073" y="1636"/>
                  </a:lnTo>
                  <a:lnTo>
                    <a:pt x="6091" y="1642"/>
                  </a:lnTo>
                  <a:lnTo>
                    <a:pt x="6108" y="1650"/>
                  </a:lnTo>
                  <a:lnTo>
                    <a:pt x="6125" y="1658"/>
                  </a:lnTo>
                  <a:lnTo>
                    <a:pt x="6141" y="1667"/>
                  </a:lnTo>
                  <a:lnTo>
                    <a:pt x="6158" y="1678"/>
                  </a:lnTo>
                  <a:lnTo>
                    <a:pt x="6172" y="1688"/>
                  </a:lnTo>
                  <a:lnTo>
                    <a:pt x="6187" y="1700"/>
                  </a:lnTo>
                  <a:lnTo>
                    <a:pt x="6201" y="1711"/>
                  </a:lnTo>
                  <a:lnTo>
                    <a:pt x="6215" y="1724"/>
                  </a:lnTo>
                  <a:lnTo>
                    <a:pt x="6228" y="1737"/>
                  </a:lnTo>
                  <a:lnTo>
                    <a:pt x="6240" y="1751"/>
                  </a:lnTo>
                  <a:lnTo>
                    <a:pt x="6252" y="1764"/>
                  </a:lnTo>
                  <a:lnTo>
                    <a:pt x="6263" y="1780"/>
                  </a:lnTo>
                  <a:lnTo>
                    <a:pt x="6272" y="1795"/>
                  </a:lnTo>
                  <a:lnTo>
                    <a:pt x="6282" y="1810"/>
                  </a:lnTo>
                  <a:lnTo>
                    <a:pt x="6291" y="1827"/>
                  </a:lnTo>
                  <a:lnTo>
                    <a:pt x="6299" y="1844"/>
                  </a:lnTo>
                  <a:lnTo>
                    <a:pt x="6306" y="1861"/>
                  </a:lnTo>
                  <a:lnTo>
                    <a:pt x="6312" y="1878"/>
                  </a:lnTo>
                  <a:lnTo>
                    <a:pt x="6317" y="1896"/>
                  </a:lnTo>
                  <a:lnTo>
                    <a:pt x="6321" y="1915"/>
                  </a:lnTo>
                  <a:lnTo>
                    <a:pt x="6325" y="1934"/>
                  </a:lnTo>
                  <a:lnTo>
                    <a:pt x="6328" y="1952"/>
                  </a:lnTo>
                  <a:lnTo>
                    <a:pt x="6329" y="1971"/>
                  </a:lnTo>
                  <a:lnTo>
                    <a:pt x="6330" y="1990"/>
                  </a:lnTo>
                  <a:lnTo>
                    <a:pt x="6330" y="3011"/>
                  </a:lnTo>
                  <a:lnTo>
                    <a:pt x="6329" y="3030"/>
                  </a:lnTo>
                  <a:lnTo>
                    <a:pt x="6328" y="3049"/>
                  </a:lnTo>
                  <a:lnTo>
                    <a:pt x="6325" y="3068"/>
                  </a:lnTo>
                  <a:lnTo>
                    <a:pt x="6321" y="3086"/>
                  </a:lnTo>
                  <a:lnTo>
                    <a:pt x="6317" y="3105"/>
                  </a:lnTo>
                  <a:lnTo>
                    <a:pt x="6312" y="3123"/>
                  </a:lnTo>
                  <a:lnTo>
                    <a:pt x="6306" y="3141"/>
                  </a:lnTo>
                  <a:lnTo>
                    <a:pt x="6299" y="3157"/>
                  </a:lnTo>
                  <a:lnTo>
                    <a:pt x="6291" y="3174"/>
                  </a:lnTo>
                  <a:lnTo>
                    <a:pt x="6282" y="3191"/>
                  </a:lnTo>
                  <a:lnTo>
                    <a:pt x="6272" y="3206"/>
                  </a:lnTo>
                  <a:lnTo>
                    <a:pt x="6263" y="3222"/>
                  </a:lnTo>
                  <a:lnTo>
                    <a:pt x="6252" y="3237"/>
                  </a:lnTo>
                  <a:lnTo>
                    <a:pt x="6240" y="3250"/>
                  </a:lnTo>
                  <a:lnTo>
                    <a:pt x="6228" y="3265"/>
                  </a:lnTo>
                  <a:lnTo>
                    <a:pt x="6215" y="3277"/>
                  </a:lnTo>
                  <a:lnTo>
                    <a:pt x="6201" y="3290"/>
                  </a:lnTo>
                  <a:lnTo>
                    <a:pt x="6187" y="3302"/>
                  </a:lnTo>
                  <a:lnTo>
                    <a:pt x="6172" y="3313"/>
                  </a:lnTo>
                  <a:lnTo>
                    <a:pt x="6158" y="3323"/>
                  </a:lnTo>
                  <a:lnTo>
                    <a:pt x="6141" y="3334"/>
                  </a:lnTo>
                  <a:lnTo>
                    <a:pt x="6125" y="3343"/>
                  </a:lnTo>
                  <a:lnTo>
                    <a:pt x="6108" y="3351"/>
                  </a:lnTo>
                  <a:lnTo>
                    <a:pt x="6091" y="3359"/>
                  </a:lnTo>
                  <a:lnTo>
                    <a:pt x="6073" y="3365"/>
                  </a:lnTo>
                  <a:lnTo>
                    <a:pt x="6055" y="3371"/>
                  </a:lnTo>
                  <a:lnTo>
                    <a:pt x="6036" y="3376"/>
                  </a:lnTo>
                  <a:lnTo>
                    <a:pt x="6018" y="3381"/>
                  </a:lnTo>
                  <a:lnTo>
                    <a:pt x="5999" y="3384"/>
                  </a:lnTo>
                  <a:lnTo>
                    <a:pt x="5979" y="3387"/>
                  </a:lnTo>
                  <a:lnTo>
                    <a:pt x="5959" y="3388"/>
                  </a:lnTo>
                  <a:lnTo>
                    <a:pt x="5939" y="3388"/>
                  </a:lnTo>
                  <a:lnTo>
                    <a:pt x="1510" y="3388"/>
                  </a:lnTo>
                  <a:lnTo>
                    <a:pt x="1490" y="3388"/>
                  </a:lnTo>
                  <a:lnTo>
                    <a:pt x="1470" y="3387"/>
                  </a:lnTo>
                  <a:lnTo>
                    <a:pt x="1450" y="3384"/>
                  </a:lnTo>
                  <a:lnTo>
                    <a:pt x="1431" y="3381"/>
                  </a:lnTo>
                  <a:lnTo>
                    <a:pt x="1413" y="3376"/>
                  </a:lnTo>
                  <a:lnTo>
                    <a:pt x="1394" y="3371"/>
                  </a:lnTo>
                  <a:lnTo>
                    <a:pt x="1376" y="3365"/>
                  </a:lnTo>
                  <a:lnTo>
                    <a:pt x="1358" y="3359"/>
                  </a:lnTo>
                  <a:lnTo>
                    <a:pt x="1341" y="3351"/>
                  </a:lnTo>
                  <a:lnTo>
                    <a:pt x="1324" y="3343"/>
                  </a:lnTo>
                  <a:lnTo>
                    <a:pt x="1307" y="3334"/>
                  </a:lnTo>
                  <a:lnTo>
                    <a:pt x="1291" y="3323"/>
                  </a:lnTo>
                  <a:lnTo>
                    <a:pt x="1277" y="3313"/>
                  </a:lnTo>
                  <a:lnTo>
                    <a:pt x="1262" y="3302"/>
                  </a:lnTo>
                  <a:lnTo>
                    <a:pt x="1248" y="3290"/>
                  </a:lnTo>
                  <a:lnTo>
                    <a:pt x="1234" y="3277"/>
                  </a:lnTo>
                  <a:lnTo>
                    <a:pt x="1221" y="3265"/>
                  </a:lnTo>
                  <a:lnTo>
                    <a:pt x="1209" y="3250"/>
                  </a:lnTo>
                  <a:lnTo>
                    <a:pt x="1197" y="3237"/>
                  </a:lnTo>
                  <a:lnTo>
                    <a:pt x="1186" y="3222"/>
                  </a:lnTo>
                  <a:lnTo>
                    <a:pt x="1176" y="3206"/>
                  </a:lnTo>
                  <a:lnTo>
                    <a:pt x="1166" y="3191"/>
                  </a:lnTo>
                  <a:lnTo>
                    <a:pt x="1158" y="3174"/>
                  </a:lnTo>
                  <a:lnTo>
                    <a:pt x="1150" y="3157"/>
                  </a:lnTo>
                  <a:lnTo>
                    <a:pt x="1143" y="3141"/>
                  </a:lnTo>
                  <a:lnTo>
                    <a:pt x="1137" y="3123"/>
                  </a:lnTo>
                  <a:lnTo>
                    <a:pt x="1132" y="3105"/>
                  </a:lnTo>
                  <a:lnTo>
                    <a:pt x="1128" y="3086"/>
                  </a:lnTo>
                  <a:lnTo>
                    <a:pt x="1123" y="3068"/>
                  </a:lnTo>
                  <a:lnTo>
                    <a:pt x="1121" y="3049"/>
                  </a:lnTo>
                  <a:lnTo>
                    <a:pt x="1120" y="3030"/>
                  </a:lnTo>
                  <a:lnTo>
                    <a:pt x="1119" y="3011"/>
                  </a:lnTo>
                  <a:lnTo>
                    <a:pt x="1119" y="1990"/>
                  </a:lnTo>
                  <a:lnTo>
                    <a:pt x="1120" y="1971"/>
                  </a:lnTo>
                  <a:lnTo>
                    <a:pt x="1121" y="1952"/>
                  </a:lnTo>
                  <a:lnTo>
                    <a:pt x="1123" y="1934"/>
                  </a:lnTo>
                  <a:lnTo>
                    <a:pt x="1128" y="1915"/>
                  </a:lnTo>
                  <a:lnTo>
                    <a:pt x="1132" y="1896"/>
                  </a:lnTo>
                  <a:lnTo>
                    <a:pt x="1137" y="1878"/>
                  </a:lnTo>
                  <a:lnTo>
                    <a:pt x="1143" y="1861"/>
                  </a:lnTo>
                  <a:lnTo>
                    <a:pt x="1150" y="1844"/>
                  </a:lnTo>
                  <a:lnTo>
                    <a:pt x="1158" y="1827"/>
                  </a:lnTo>
                  <a:lnTo>
                    <a:pt x="1166" y="1810"/>
                  </a:lnTo>
                  <a:lnTo>
                    <a:pt x="1176" y="1795"/>
                  </a:lnTo>
                  <a:lnTo>
                    <a:pt x="1186" y="1780"/>
                  </a:lnTo>
                  <a:lnTo>
                    <a:pt x="1197" y="1764"/>
                  </a:lnTo>
                  <a:lnTo>
                    <a:pt x="1209" y="1751"/>
                  </a:lnTo>
                  <a:lnTo>
                    <a:pt x="1221" y="1737"/>
                  </a:lnTo>
                  <a:lnTo>
                    <a:pt x="1234" y="1724"/>
                  </a:lnTo>
                  <a:lnTo>
                    <a:pt x="1248" y="1711"/>
                  </a:lnTo>
                  <a:lnTo>
                    <a:pt x="1262" y="1700"/>
                  </a:lnTo>
                  <a:lnTo>
                    <a:pt x="1277" y="1688"/>
                  </a:lnTo>
                  <a:lnTo>
                    <a:pt x="1291" y="1678"/>
                  </a:lnTo>
                  <a:lnTo>
                    <a:pt x="1307" y="1667"/>
                  </a:lnTo>
                  <a:lnTo>
                    <a:pt x="1324" y="1658"/>
                  </a:lnTo>
                  <a:lnTo>
                    <a:pt x="1341" y="1650"/>
                  </a:lnTo>
                  <a:lnTo>
                    <a:pt x="1358" y="1642"/>
                  </a:lnTo>
                  <a:lnTo>
                    <a:pt x="1376" y="1636"/>
                  </a:lnTo>
                  <a:lnTo>
                    <a:pt x="1394" y="1630"/>
                  </a:lnTo>
                  <a:lnTo>
                    <a:pt x="1413" y="1625"/>
                  </a:lnTo>
                  <a:lnTo>
                    <a:pt x="1431" y="1620"/>
                  </a:lnTo>
                  <a:lnTo>
                    <a:pt x="1450" y="1617"/>
                  </a:lnTo>
                  <a:lnTo>
                    <a:pt x="1470" y="1615"/>
                  </a:lnTo>
                  <a:lnTo>
                    <a:pt x="1490" y="1613"/>
                  </a:lnTo>
                  <a:lnTo>
                    <a:pt x="1510" y="1613"/>
                  </a:lnTo>
                  <a:close/>
                  <a:moveTo>
                    <a:pt x="1510" y="3877"/>
                  </a:moveTo>
                  <a:lnTo>
                    <a:pt x="5939" y="3877"/>
                  </a:lnTo>
                  <a:lnTo>
                    <a:pt x="5959" y="3877"/>
                  </a:lnTo>
                  <a:lnTo>
                    <a:pt x="5979" y="3879"/>
                  </a:lnTo>
                  <a:lnTo>
                    <a:pt x="5999" y="3881"/>
                  </a:lnTo>
                  <a:lnTo>
                    <a:pt x="6018" y="3884"/>
                  </a:lnTo>
                  <a:lnTo>
                    <a:pt x="6036" y="3888"/>
                  </a:lnTo>
                  <a:lnTo>
                    <a:pt x="6055" y="3893"/>
                  </a:lnTo>
                  <a:lnTo>
                    <a:pt x="6073" y="3900"/>
                  </a:lnTo>
                  <a:lnTo>
                    <a:pt x="6091" y="3906"/>
                  </a:lnTo>
                  <a:lnTo>
                    <a:pt x="6108" y="3914"/>
                  </a:lnTo>
                  <a:lnTo>
                    <a:pt x="6125" y="3923"/>
                  </a:lnTo>
                  <a:lnTo>
                    <a:pt x="6141" y="3931"/>
                  </a:lnTo>
                  <a:lnTo>
                    <a:pt x="6158" y="3941"/>
                  </a:lnTo>
                  <a:lnTo>
                    <a:pt x="6172" y="3952"/>
                  </a:lnTo>
                  <a:lnTo>
                    <a:pt x="6187" y="3963"/>
                  </a:lnTo>
                  <a:lnTo>
                    <a:pt x="6201" y="3975"/>
                  </a:lnTo>
                  <a:lnTo>
                    <a:pt x="6215" y="3987"/>
                  </a:lnTo>
                  <a:lnTo>
                    <a:pt x="6228" y="4001"/>
                  </a:lnTo>
                  <a:lnTo>
                    <a:pt x="6240" y="4014"/>
                  </a:lnTo>
                  <a:lnTo>
                    <a:pt x="6252" y="4029"/>
                  </a:lnTo>
                  <a:lnTo>
                    <a:pt x="6263" y="4044"/>
                  </a:lnTo>
                  <a:lnTo>
                    <a:pt x="6272" y="4058"/>
                  </a:lnTo>
                  <a:lnTo>
                    <a:pt x="6282" y="4075"/>
                  </a:lnTo>
                  <a:lnTo>
                    <a:pt x="6291" y="4091"/>
                  </a:lnTo>
                  <a:lnTo>
                    <a:pt x="6299" y="4107"/>
                  </a:lnTo>
                  <a:lnTo>
                    <a:pt x="6306" y="4125"/>
                  </a:lnTo>
                  <a:lnTo>
                    <a:pt x="6312" y="4142"/>
                  </a:lnTo>
                  <a:lnTo>
                    <a:pt x="6317" y="4160"/>
                  </a:lnTo>
                  <a:lnTo>
                    <a:pt x="6321" y="4178"/>
                  </a:lnTo>
                  <a:lnTo>
                    <a:pt x="6325" y="4197"/>
                  </a:lnTo>
                  <a:lnTo>
                    <a:pt x="6328" y="4216"/>
                  </a:lnTo>
                  <a:lnTo>
                    <a:pt x="6329" y="4235"/>
                  </a:lnTo>
                  <a:lnTo>
                    <a:pt x="6330" y="4255"/>
                  </a:lnTo>
                  <a:lnTo>
                    <a:pt x="6330" y="5275"/>
                  </a:lnTo>
                  <a:lnTo>
                    <a:pt x="6329" y="5293"/>
                  </a:lnTo>
                  <a:lnTo>
                    <a:pt x="6328" y="5313"/>
                  </a:lnTo>
                  <a:lnTo>
                    <a:pt x="6325" y="5332"/>
                  </a:lnTo>
                  <a:lnTo>
                    <a:pt x="6321" y="5350"/>
                  </a:lnTo>
                  <a:lnTo>
                    <a:pt x="6317" y="5369"/>
                  </a:lnTo>
                  <a:lnTo>
                    <a:pt x="6312" y="5386"/>
                  </a:lnTo>
                  <a:lnTo>
                    <a:pt x="6306" y="5404"/>
                  </a:lnTo>
                  <a:lnTo>
                    <a:pt x="6299" y="5421"/>
                  </a:lnTo>
                  <a:lnTo>
                    <a:pt x="6291" y="5437"/>
                  </a:lnTo>
                  <a:lnTo>
                    <a:pt x="6282" y="5454"/>
                  </a:lnTo>
                  <a:lnTo>
                    <a:pt x="6272" y="5470"/>
                  </a:lnTo>
                  <a:lnTo>
                    <a:pt x="6263" y="5486"/>
                  </a:lnTo>
                  <a:lnTo>
                    <a:pt x="6252" y="5500"/>
                  </a:lnTo>
                  <a:lnTo>
                    <a:pt x="6240" y="5515"/>
                  </a:lnTo>
                  <a:lnTo>
                    <a:pt x="6228" y="5528"/>
                  </a:lnTo>
                  <a:lnTo>
                    <a:pt x="6215" y="5541"/>
                  </a:lnTo>
                  <a:lnTo>
                    <a:pt x="6201" y="5553"/>
                  </a:lnTo>
                  <a:lnTo>
                    <a:pt x="6187" y="5566"/>
                  </a:lnTo>
                  <a:lnTo>
                    <a:pt x="6172" y="5576"/>
                  </a:lnTo>
                  <a:lnTo>
                    <a:pt x="6158" y="5588"/>
                  </a:lnTo>
                  <a:lnTo>
                    <a:pt x="6141" y="5597"/>
                  </a:lnTo>
                  <a:lnTo>
                    <a:pt x="6125" y="5607"/>
                  </a:lnTo>
                  <a:lnTo>
                    <a:pt x="6108" y="5615"/>
                  </a:lnTo>
                  <a:lnTo>
                    <a:pt x="6091" y="5622"/>
                  </a:lnTo>
                  <a:lnTo>
                    <a:pt x="6073" y="5630"/>
                  </a:lnTo>
                  <a:lnTo>
                    <a:pt x="6055" y="5635"/>
                  </a:lnTo>
                  <a:lnTo>
                    <a:pt x="6036" y="5640"/>
                  </a:lnTo>
                  <a:lnTo>
                    <a:pt x="6018" y="5644"/>
                  </a:lnTo>
                  <a:lnTo>
                    <a:pt x="5999" y="5647"/>
                  </a:lnTo>
                  <a:lnTo>
                    <a:pt x="5979" y="5650"/>
                  </a:lnTo>
                  <a:lnTo>
                    <a:pt x="5959" y="5652"/>
                  </a:lnTo>
                  <a:lnTo>
                    <a:pt x="5939" y="5653"/>
                  </a:lnTo>
                  <a:lnTo>
                    <a:pt x="1510" y="5653"/>
                  </a:lnTo>
                  <a:lnTo>
                    <a:pt x="1490" y="5652"/>
                  </a:lnTo>
                  <a:lnTo>
                    <a:pt x="1470" y="5650"/>
                  </a:lnTo>
                  <a:lnTo>
                    <a:pt x="1450" y="5647"/>
                  </a:lnTo>
                  <a:lnTo>
                    <a:pt x="1431" y="5644"/>
                  </a:lnTo>
                  <a:lnTo>
                    <a:pt x="1413" y="5640"/>
                  </a:lnTo>
                  <a:lnTo>
                    <a:pt x="1394" y="5635"/>
                  </a:lnTo>
                  <a:lnTo>
                    <a:pt x="1376" y="5630"/>
                  </a:lnTo>
                  <a:lnTo>
                    <a:pt x="1358" y="5622"/>
                  </a:lnTo>
                  <a:lnTo>
                    <a:pt x="1341" y="5615"/>
                  </a:lnTo>
                  <a:lnTo>
                    <a:pt x="1324" y="5607"/>
                  </a:lnTo>
                  <a:lnTo>
                    <a:pt x="1307" y="5597"/>
                  </a:lnTo>
                  <a:lnTo>
                    <a:pt x="1291" y="5588"/>
                  </a:lnTo>
                  <a:lnTo>
                    <a:pt x="1277" y="5576"/>
                  </a:lnTo>
                  <a:lnTo>
                    <a:pt x="1262" y="5566"/>
                  </a:lnTo>
                  <a:lnTo>
                    <a:pt x="1248" y="5553"/>
                  </a:lnTo>
                  <a:lnTo>
                    <a:pt x="1234" y="5541"/>
                  </a:lnTo>
                  <a:lnTo>
                    <a:pt x="1221" y="5528"/>
                  </a:lnTo>
                  <a:lnTo>
                    <a:pt x="1209" y="5515"/>
                  </a:lnTo>
                  <a:lnTo>
                    <a:pt x="1197" y="5500"/>
                  </a:lnTo>
                  <a:lnTo>
                    <a:pt x="1186" y="5486"/>
                  </a:lnTo>
                  <a:lnTo>
                    <a:pt x="1176" y="5470"/>
                  </a:lnTo>
                  <a:lnTo>
                    <a:pt x="1166" y="5454"/>
                  </a:lnTo>
                  <a:lnTo>
                    <a:pt x="1158" y="5437"/>
                  </a:lnTo>
                  <a:lnTo>
                    <a:pt x="1150" y="5421"/>
                  </a:lnTo>
                  <a:lnTo>
                    <a:pt x="1143" y="5404"/>
                  </a:lnTo>
                  <a:lnTo>
                    <a:pt x="1137" y="5386"/>
                  </a:lnTo>
                  <a:lnTo>
                    <a:pt x="1132" y="5369"/>
                  </a:lnTo>
                  <a:lnTo>
                    <a:pt x="1128" y="5350"/>
                  </a:lnTo>
                  <a:lnTo>
                    <a:pt x="1123" y="5332"/>
                  </a:lnTo>
                  <a:lnTo>
                    <a:pt x="1121" y="5313"/>
                  </a:lnTo>
                  <a:lnTo>
                    <a:pt x="1120" y="5293"/>
                  </a:lnTo>
                  <a:lnTo>
                    <a:pt x="1119" y="5275"/>
                  </a:lnTo>
                  <a:lnTo>
                    <a:pt x="1119" y="4255"/>
                  </a:lnTo>
                  <a:lnTo>
                    <a:pt x="1120" y="4235"/>
                  </a:lnTo>
                  <a:lnTo>
                    <a:pt x="1121" y="4216"/>
                  </a:lnTo>
                  <a:lnTo>
                    <a:pt x="1123" y="4197"/>
                  </a:lnTo>
                  <a:lnTo>
                    <a:pt x="1128" y="4178"/>
                  </a:lnTo>
                  <a:lnTo>
                    <a:pt x="1132" y="4160"/>
                  </a:lnTo>
                  <a:lnTo>
                    <a:pt x="1137" y="4142"/>
                  </a:lnTo>
                  <a:lnTo>
                    <a:pt x="1143" y="4125"/>
                  </a:lnTo>
                  <a:lnTo>
                    <a:pt x="1150" y="4107"/>
                  </a:lnTo>
                  <a:lnTo>
                    <a:pt x="1158" y="4091"/>
                  </a:lnTo>
                  <a:lnTo>
                    <a:pt x="1166" y="4075"/>
                  </a:lnTo>
                  <a:lnTo>
                    <a:pt x="1176" y="4058"/>
                  </a:lnTo>
                  <a:lnTo>
                    <a:pt x="1186" y="4044"/>
                  </a:lnTo>
                  <a:lnTo>
                    <a:pt x="1197" y="4029"/>
                  </a:lnTo>
                  <a:lnTo>
                    <a:pt x="1209" y="4014"/>
                  </a:lnTo>
                  <a:lnTo>
                    <a:pt x="1221" y="4001"/>
                  </a:lnTo>
                  <a:lnTo>
                    <a:pt x="1234" y="3987"/>
                  </a:lnTo>
                  <a:lnTo>
                    <a:pt x="1248" y="3975"/>
                  </a:lnTo>
                  <a:lnTo>
                    <a:pt x="1262" y="3963"/>
                  </a:lnTo>
                  <a:lnTo>
                    <a:pt x="1277" y="3952"/>
                  </a:lnTo>
                  <a:lnTo>
                    <a:pt x="1291" y="3941"/>
                  </a:lnTo>
                  <a:lnTo>
                    <a:pt x="1307" y="3931"/>
                  </a:lnTo>
                  <a:lnTo>
                    <a:pt x="1324" y="3923"/>
                  </a:lnTo>
                  <a:lnTo>
                    <a:pt x="1341" y="3914"/>
                  </a:lnTo>
                  <a:lnTo>
                    <a:pt x="1358" y="3906"/>
                  </a:lnTo>
                  <a:lnTo>
                    <a:pt x="1376" y="3900"/>
                  </a:lnTo>
                  <a:lnTo>
                    <a:pt x="1394" y="3893"/>
                  </a:lnTo>
                  <a:lnTo>
                    <a:pt x="1413" y="3888"/>
                  </a:lnTo>
                  <a:lnTo>
                    <a:pt x="1431" y="3884"/>
                  </a:lnTo>
                  <a:lnTo>
                    <a:pt x="1450" y="3881"/>
                  </a:lnTo>
                  <a:lnTo>
                    <a:pt x="1470" y="3879"/>
                  </a:lnTo>
                  <a:lnTo>
                    <a:pt x="1490" y="3877"/>
                  </a:lnTo>
                  <a:lnTo>
                    <a:pt x="1510" y="3877"/>
                  </a:lnTo>
                  <a:close/>
                  <a:moveTo>
                    <a:pt x="1510" y="6140"/>
                  </a:moveTo>
                  <a:lnTo>
                    <a:pt x="5939" y="6140"/>
                  </a:lnTo>
                  <a:lnTo>
                    <a:pt x="5959" y="6140"/>
                  </a:lnTo>
                  <a:lnTo>
                    <a:pt x="5979" y="6142"/>
                  </a:lnTo>
                  <a:lnTo>
                    <a:pt x="5999" y="6144"/>
                  </a:lnTo>
                  <a:lnTo>
                    <a:pt x="6018" y="6147"/>
                  </a:lnTo>
                  <a:lnTo>
                    <a:pt x="6036" y="6152"/>
                  </a:lnTo>
                  <a:lnTo>
                    <a:pt x="6055" y="6157"/>
                  </a:lnTo>
                  <a:lnTo>
                    <a:pt x="6073" y="6163"/>
                  </a:lnTo>
                  <a:lnTo>
                    <a:pt x="6091" y="6169"/>
                  </a:lnTo>
                  <a:lnTo>
                    <a:pt x="6108" y="6178"/>
                  </a:lnTo>
                  <a:lnTo>
                    <a:pt x="6125" y="6186"/>
                  </a:lnTo>
                  <a:lnTo>
                    <a:pt x="6141" y="6194"/>
                  </a:lnTo>
                  <a:lnTo>
                    <a:pt x="6158" y="6205"/>
                  </a:lnTo>
                  <a:lnTo>
                    <a:pt x="6172" y="6215"/>
                  </a:lnTo>
                  <a:lnTo>
                    <a:pt x="6187" y="6227"/>
                  </a:lnTo>
                  <a:lnTo>
                    <a:pt x="6201" y="6238"/>
                  </a:lnTo>
                  <a:lnTo>
                    <a:pt x="6215" y="6251"/>
                  </a:lnTo>
                  <a:lnTo>
                    <a:pt x="6228" y="6264"/>
                  </a:lnTo>
                  <a:lnTo>
                    <a:pt x="6240" y="6278"/>
                  </a:lnTo>
                  <a:lnTo>
                    <a:pt x="6252" y="6293"/>
                  </a:lnTo>
                  <a:lnTo>
                    <a:pt x="6263" y="6307"/>
                  </a:lnTo>
                  <a:lnTo>
                    <a:pt x="6272" y="6322"/>
                  </a:lnTo>
                  <a:lnTo>
                    <a:pt x="6282" y="6339"/>
                  </a:lnTo>
                  <a:lnTo>
                    <a:pt x="6291" y="6354"/>
                  </a:lnTo>
                  <a:lnTo>
                    <a:pt x="6299" y="6371"/>
                  </a:lnTo>
                  <a:lnTo>
                    <a:pt x="6306" y="6389"/>
                  </a:lnTo>
                  <a:lnTo>
                    <a:pt x="6312" y="6405"/>
                  </a:lnTo>
                  <a:lnTo>
                    <a:pt x="6317" y="6424"/>
                  </a:lnTo>
                  <a:lnTo>
                    <a:pt x="6321" y="6442"/>
                  </a:lnTo>
                  <a:lnTo>
                    <a:pt x="6325" y="6461"/>
                  </a:lnTo>
                  <a:lnTo>
                    <a:pt x="6328" y="6479"/>
                  </a:lnTo>
                  <a:lnTo>
                    <a:pt x="6329" y="6498"/>
                  </a:lnTo>
                  <a:lnTo>
                    <a:pt x="6330" y="6518"/>
                  </a:lnTo>
                  <a:lnTo>
                    <a:pt x="6330" y="7538"/>
                  </a:lnTo>
                  <a:lnTo>
                    <a:pt x="6329" y="7557"/>
                  </a:lnTo>
                  <a:lnTo>
                    <a:pt x="6328" y="7577"/>
                  </a:lnTo>
                  <a:lnTo>
                    <a:pt x="6325" y="7596"/>
                  </a:lnTo>
                  <a:lnTo>
                    <a:pt x="6321" y="7614"/>
                  </a:lnTo>
                  <a:lnTo>
                    <a:pt x="6317" y="7632"/>
                  </a:lnTo>
                  <a:lnTo>
                    <a:pt x="6312" y="7650"/>
                  </a:lnTo>
                  <a:lnTo>
                    <a:pt x="6306" y="7668"/>
                  </a:lnTo>
                  <a:lnTo>
                    <a:pt x="6299" y="7684"/>
                  </a:lnTo>
                  <a:lnTo>
                    <a:pt x="6291" y="7701"/>
                  </a:lnTo>
                  <a:lnTo>
                    <a:pt x="6282" y="7718"/>
                  </a:lnTo>
                  <a:lnTo>
                    <a:pt x="6272" y="7733"/>
                  </a:lnTo>
                  <a:lnTo>
                    <a:pt x="6263" y="7749"/>
                  </a:lnTo>
                  <a:lnTo>
                    <a:pt x="6252" y="7764"/>
                  </a:lnTo>
                  <a:lnTo>
                    <a:pt x="6240" y="7778"/>
                  </a:lnTo>
                  <a:lnTo>
                    <a:pt x="6228" y="7792"/>
                  </a:lnTo>
                  <a:lnTo>
                    <a:pt x="6215" y="7804"/>
                  </a:lnTo>
                  <a:lnTo>
                    <a:pt x="6201" y="7817"/>
                  </a:lnTo>
                  <a:lnTo>
                    <a:pt x="6187" y="7829"/>
                  </a:lnTo>
                  <a:lnTo>
                    <a:pt x="6172" y="7841"/>
                  </a:lnTo>
                  <a:lnTo>
                    <a:pt x="6158" y="7851"/>
                  </a:lnTo>
                  <a:lnTo>
                    <a:pt x="6141" y="7861"/>
                  </a:lnTo>
                  <a:lnTo>
                    <a:pt x="6125" y="7870"/>
                  </a:lnTo>
                  <a:lnTo>
                    <a:pt x="6108" y="7878"/>
                  </a:lnTo>
                  <a:lnTo>
                    <a:pt x="6091" y="7886"/>
                  </a:lnTo>
                  <a:lnTo>
                    <a:pt x="6073" y="7893"/>
                  </a:lnTo>
                  <a:lnTo>
                    <a:pt x="6055" y="7898"/>
                  </a:lnTo>
                  <a:lnTo>
                    <a:pt x="6036" y="7904"/>
                  </a:lnTo>
                  <a:lnTo>
                    <a:pt x="6018" y="7908"/>
                  </a:lnTo>
                  <a:lnTo>
                    <a:pt x="5999" y="7912"/>
                  </a:lnTo>
                  <a:lnTo>
                    <a:pt x="5979" y="7914"/>
                  </a:lnTo>
                  <a:lnTo>
                    <a:pt x="5959" y="7915"/>
                  </a:lnTo>
                  <a:lnTo>
                    <a:pt x="5939" y="7916"/>
                  </a:lnTo>
                  <a:lnTo>
                    <a:pt x="1510" y="7916"/>
                  </a:lnTo>
                  <a:lnTo>
                    <a:pt x="1490" y="7915"/>
                  </a:lnTo>
                  <a:lnTo>
                    <a:pt x="1470" y="7914"/>
                  </a:lnTo>
                  <a:lnTo>
                    <a:pt x="1450" y="7912"/>
                  </a:lnTo>
                  <a:lnTo>
                    <a:pt x="1431" y="7908"/>
                  </a:lnTo>
                  <a:lnTo>
                    <a:pt x="1413" y="7904"/>
                  </a:lnTo>
                  <a:lnTo>
                    <a:pt x="1394" y="7898"/>
                  </a:lnTo>
                  <a:lnTo>
                    <a:pt x="1376" y="7893"/>
                  </a:lnTo>
                  <a:lnTo>
                    <a:pt x="1358" y="7886"/>
                  </a:lnTo>
                  <a:lnTo>
                    <a:pt x="1341" y="7878"/>
                  </a:lnTo>
                  <a:lnTo>
                    <a:pt x="1324" y="7870"/>
                  </a:lnTo>
                  <a:lnTo>
                    <a:pt x="1307" y="7861"/>
                  </a:lnTo>
                  <a:lnTo>
                    <a:pt x="1291" y="7851"/>
                  </a:lnTo>
                  <a:lnTo>
                    <a:pt x="1277" y="7841"/>
                  </a:lnTo>
                  <a:lnTo>
                    <a:pt x="1262" y="7829"/>
                  </a:lnTo>
                  <a:lnTo>
                    <a:pt x="1248" y="7817"/>
                  </a:lnTo>
                  <a:lnTo>
                    <a:pt x="1234" y="7804"/>
                  </a:lnTo>
                  <a:lnTo>
                    <a:pt x="1221" y="7792"/>
                  </a:lnTo>
                  <a:lnTo>
                    <a:pt x="1209" y="7778"/>
                  </a:lnTo>
                  <a:lnTo>
                    <a:pt x="1197" y="7764"/>
                  </a:lnTo>
                  <a:lnTo>
                    <a:pt x="1186" y="7749"/>
                  </a:lnTo>
                  <a:lnTo>
                    <a:pt x="1176" y="7733"/>
                  </a:lnTo>
                  <a:lnTo>
                    <a:pt x="1166" y="7718"/>
                  </a:lnTo>
                  <a:lnTo>
                    <a:pt x="1158" y="7701"/>
                  </a:lnTo>
                  <a:lnTo>
                    <a:pt x="1150" y="7684"/>
                  </a:lnTo>
                  <a:lnTo>
                    <a:pt x="1143" y="7668"/>
                  </a:lnTo>
                  <a:lnTo>
                    <a:pt x="1137" y="7650"/>
                  </a:lnTo>
                  <a:lnTo>
                    <a:pt x="1132" y="7632"/>
                  </a:lnTo>
                  <a:lnTo>
                    <a:pt x="1128" y="7614"/>
                  </a:lnTo>
                  <a:lnTo>
                    <a:pt x="1123" y="7596"/>
                  </a:lnTo>
                  <a:lnTo>
                    <a:pt x="1121" y="7577"/>
                  </a:lnTo>
                  <a:lnTo>
                    <a:pt x="1120" y="7557"/>
                  </a:lnTo>
                  <a:lnTo>
                    <a:pt x="1119" y="7538"/>
                  </a:lnTo>
                  <a:lnTo>
                    <a:pt x="1119" y="6518"/>
                  </a:lnTo>
                  <a:lnTo>
                    <a:pt x="1120" y="6498"/>
                  </a:lnTo>
                  <a:lnTo>
                    <a:pt x="1121" y="6479"/>
                  </a:lnTo>
                  <a:lnTo>
                    <a:pt x="1123" y="6461"/>
                  </a:lnTo>
                  <a:lnTo>
                    <a:pt x="1128" y="6442"/>
                  </a:lnTo>
                  <a:lnTo>
                    <a:pt x="1132" y="6424"/>
                  </a:lnTo>
                  <a:lnTo>
                    <a:pt x="1137" y="6405"/>
                  </a:lnTo>
                  <a:lnTo>
                    <a:pt x="1143" y="6389"/>
                  </a:lnTo>
                  <a:lnTo>
                    <a:pt x="1150" y="6371"/>
                  </a:lnTo>
                  <a:lnTo>
                    <a:pt x="1158" y="6354"/>
                  </a:lnTo>
                  <a:lnTo>
                    <a:pt x="1166" y="6339"/>
                  </a:lnTo>
                  <a:lnTo>
                    <a:pt x="1176" y="6322"/>
                  </a:lnTo>
                  <a:lnTo>
                    <a:pt x="1186" y="6307"/>
                  </a:lnTo>
                  <a:lnTo>
                    <a:pt x="1197" y="6293"/>
                  </a:lnTo>
                  <a:lnTo>
                    <a:pt x="1209" y="6278"/>
                  </a:lnTo>
                  <a:lnTo>
                    <a:pt x="1221" y="6264"/>
                  </a:lnTo>
                  <a:lnTo>
                    <a:pt x="1234" y="6251"/>
                  </a:lnTo>
                  <a:lnTo>
                    <a:pt x="1248" y="6238"/>
                  </a:lnTo>
                  <a:lnTo>
                    <a:pt x="1262" y="6227"/>
                  </a:lnTo>
                  <a:lnTo>
                    <a:pt x="1277" y="6215"/>
                  </a:lnTo>
                  <a:lnTo>
                    <a:pt x="1291" y="6205"/>
                  </a:lnTo>
                  <a:lnTo>
                    <a:pt x="1307" y="6194"/>
                  </a:lnTo>
                  <a:lnTo>
                    <a:pt x="1324" y="6186"/>
                  </a:lnTo>
                  <a:lnTo>
                    <a:pt x="1341" y="6178"/>
                  </a:lnTo>
                  <a:lnTo>
                    <a:pt x="1358" y="6169"/>
                  </a:lnTo>
                  <a:lnTo>
                    <a:pt x="1376" y="6163"/>
                  </a:lnTo>
                  <a:lnTo>
                    <a:pt x="1394" y="6157"/>
                  </a:lnTo>
                  <a:lnTo>
                    <a:pt x="1413" y="6152"/>
                  </a:lnTo>
                  <a:lnTo>
                    <a:pt x="1431" y="6147"/>
                  </a:lnTo>
                  <a:lnTo>
                    <a:pt x="1450" y="6144"/>
                  </a:lnTo>
                  <a:lnTo>
                    <a:pt x="1470" y="6142"/>
                  </a:lnTo>
                  <a:lnTo>
                    <a:pt x="1490" y="6140"/>
                  </a:lnTo>
                  <a:lnTo>
                    <a:pt x="1510" y="6140"/>
                  </a:lnTo>
                  <a:close/>
                  <a:moveTo>
                    <a:pt x="1510" y="8404"/>
                  </a:moveTo>
                  <a:lnTo>
                    <a:pt x="5939" y="8404"/>
                  </a:lnTo>
                  <a:lnTo>
                    <a:pt x="5959" y="8404"/>
                  </a:lnTo>
                  <a:lnTo>
                    <a:pt x="5979" y="8406"/>
                  </a:lnTo>
                  <a:lnTo>
                    <a:pt x="5999" y="8408"/>
                  </a:lnTo>
                  <a:lnTo>
                    <a:pt x="6018" y="8411"/>
                  </a:lnTo>
                  <a:lnTo>
                    <a:pt x="6036" y="8415"/>
                  </a:lnTo>
                  <a:lnTo>
                    <a:pt x="6055" y="8420"/>
                  </a:lnTo>
                  <a:lnTo>
                    <a:pt x="6073" y="8427"/>
                  </a:lnTo>
                  <a:lnTo>
                    <a:pt x="6091" y="8433"/>
                  </a:lnTo>
                  <a:lnTo>
                    <a:pt x="6108" y="8441"/>
                  </a:lnTo>
                  <a:lnTo>
                    <a:pt x="6125" y="8450"/>
                  </a:lnTo>
                  <a:lnTo>
                    <a:pt x="6141" y="8459"/>
                  </a:lnTo>
                  <a:lnTo>
                    <a:pt x="6158" y="8468"/>
                  </a:lnTo>
                  <a:lnTo>
                    <a:pt x="6172" y="8479"/>
                  </a:lnTo>
                  <a:lnTo>
                    <a:pt x="6187" y="8490"/>
                  </a:lnTo>
                  <a:lnTo>
                    <a:pt x="6201" y="8502"/>
                  </a:lnTo>
                  <a:lnTo>
                    <a:pt x="6215" y="8514"/>
                  </a:lnTo>
                  <a:lnTo>
                    <a:pt x="6228" y="8528"/>
                  </a:lnTo>
                  <a:lnTo>
                    <a:pt x="6240" y="8541"/>
                  </a:lnTo>
                  <a:lnTo>
                    <a:pt x="6252" y="8556"/>
                  </a:lnTo>
                  <a:lnTo>
                    <a:pt x="6263" y="8571"/>
                  </a:lnTo>
                  <a:lnTo>
                    <a:pt x="6272" y="8586"/>
                  </a:lnTo>
                  <a:lnTo>
                    <a:pt x="6282" y="8602"/>
                  </a:lnTo>
                  <a:lnTo>
                    <a:pt x="6291" y="8618"/>
                  </a:lnTo>
                  <a:lnTo>
                    <a:pt x="6299" y="8634"/>
                  </a:lnTo>
                  <a:lnTo>
                    <a:pt x="6306" y="8652"/>
                  </a:lnTo>
                  <a:lnTo>
                    <a:pt x="6312" y="8670"/>
                  </a:lnTo>
                  <a:lnTo>
                    <a:pt x="6317" y="8688"/>
                  </a:lnTo>
                  <a:lnTo>
                    <a:pt x="6321" y="8705"/>
                  </a:lnTo>
                  <a:lnTo>
                    <a:pt x="6325" y="8724"/>
                  </a:lnTo>
                  <a:lnTo>
                    <a:pt x="6328" y="8743"/>
                  </a:lnTo>
                  <a:lnTo>
                    <a:pt x="6329" y="8762"/>
                  </a:lnTo>
                  <a:lnTo>
                    <a:pt x="6330" y="8782"/>
                  </a:lnTo>
                  <a:lnTo>
                    <a:pt x="6330" y="9802"/>
                  </a:lnTo>
                  <a:lnTo>
                    <a:pt x="6329" y="9820"/>
                  </a:lnTo>
                  <a:lnTo>
                    <a:pt x="6328" y="9840"/>
                  </a:lnTo>
                  <a:lnTo>
                    <a:pt x="6325" y="9859"/>
                  </a:lnTo>
                  <a:lnTo>
                    <a:pt x="6321" y="9878"/>
                  </a:lnTo>
                  <a:lnTo>
                    <a:pt x="6317" y="9896"/>
                  </a:lnTo>
                  <a:lnTo>
                    <a:pt x="6312" y="9913"/>
                  </a:lnTo>
                  <a:lnTo>
                    <a:pt x="6306" y="9931"/>
                  </a:lnTo>
                  <a:lnTo>
                    <a:pt x="6299" y="9948"/>
                  </a:lnTo>
                  <a:lnTo>
                    <a:pt x="6291" y="9965"/>
                  </a:lnTo>
                  <a:lnTo>
                    <a:pt x="6282" y="9981"/>
                  </a:lnTo>
                  <a:lnTo>
                    <a:pt x="6272" y="9997"/>
                  </a:lnTo>
                  <a:lnTo>
                    <a:pt x="6263" y="10013"/>
                  </a:lnTo>
                  <a:lnTo>
                    <a:pt x="6252" y="10027"/>
                  </a:lnTo>
                  <a:lnTo>
                    <a:pt x="6240" y="10042"/>
                  </a:lnTo>
                  <a:lnTo>
                    <a:pt x="6228" y="10055"/>
                  </a:lnTo>
                  <a:lnTo>
                    <a:pt x="6215" y="10068"/>
                  </a:lnTo>
                  <a:lnTo>
                    <a:pt x="6201" y="10081"/>
                  </a:lnTo>
                  <a:lnTo>
                    <a:pt x="6187" y="10093"/>
                  </a:lnTo>
                  <a:lnTo>
                    <a:pt x="6172" y="10104"/>
                  </a:lnTo>
                  <a:lnTo>
                    <a:pt x="6158" y="10115"/>
                  </a:lnTo>
                  <a:lnTo>
                    <a:pt x="6141" y="10124"/>
                  </a:lnTo>
                  <a:lnTo>
                    <a:pt x="6125" y="10134"/>
                  </a:lnTo>
                  <a:lnTo>
                    <a:pt x="6108" y="10142"/>
                  </a:lnTo>
                  <a:lnTo>
                    <a:pt x="6091" y="10149"/>
                  </a:lnTo>
                  <a:lnTo>
                    <a:pt x="6073" y="10157"/>
                  </a:lnTo>
                  <a:lnTo>
                    <a:pt x="6055" y="10162"/>
                  </a:lnTo>
                  <a:lnTo>
                    <a:pt x="6036" y="10167"/>
                  </a:lnTo>
                  <a:lnTo>
                    <a:pt x="6018" y="10171"/>
                  </a:lnTo>
                  <a:lnTo>
                    <a:pt x="5999" y="10175"/>
                  </a:lnTo>
                  <a:lnTo>
                    <a:pt x="5979" y="10178"/>
                  </a:lnTo>
                  <a:lnTo>
                    <a:pt x="5959" y="10179"/>
                  </a:lnTo>
                  <a:lnTo>
                    <a:pt x="5939" y="10180"/>
                  </a:lnTo>
                  <a:lnTo>
                    <a:pt x="1510" y="10180"/>
                  </a:lnTo>
                  <a:lnTo>
                    <a:pt x="1490" y="10179"/>
                  </a:lnTo>
                  <a:lnTo>
                    <a:pt x="1470" y="10178"/>
                  </a:lnTo>
                  <a:lnTo>
                    <a:pt x="1450" y="10175"/>
                  </a:lnTo>
                  <a:lnTo>
                    <a:pt x="1431" y="10171"/>
                  </a:lnTo>
                  <a:lnTo>
                    <a:pt x="1413" y="10167"/>
                  </a:lnTo>
                  <a:lnTo>
                    <a:pt x="1394" y="10162"/>
                  </a:lnTo>
                  <a:lnTo>
                    <a:pt x="1376" y="10157"/>
                  </a:lnTo>
                  <a:lnTo>
                    <a:pt x="1358" y="10149"/>
                  </a:lnTo>
                  <a:lnTo>
                    <a:pt x="1341" y="10142"/>
                  </a:lnTo>
                  <a:lnTo>
                    <a:pt x="1324" y="10134"/>
                  </a:lnTo>
                  <a:lnTo>
                    <a:pt x="1307" y="10124"/>
                  </a:lnTo>
                  <a:lnTo>
                    <a:pt x="1291" y="10115"/>
                  </a:lnTo>
                  <a:lnTo>
                    <a:pt x="1277" y="10104"/>
                  </a:lnTo>
                  <a:lnTo>
                    <a:pt x="1262" y="10093"/>
                  </a:lnTo>
                  <a:lnTo>
                    <a:pt x="1248" y="10081"/>
                  </a:lnTo>
                  <a:lnTo>
                    <a:pt x="1234" y="10068"/>
                  </a:lnTo>
                  <a:lnTo>
                    <a:pt x="1221" y="10055"/>
                  </a:lnTo>
                  <a:lnTo>
                    <a:pt x="1209" y="10042"/>
                  </a:lnTo>
                  <a:lnTo>
                    <a:pt x="1197" y="10027"/>
                  </a:lnTo>
                  <a:lnTo>
                    <a:pt x="1186" y="10013"/>
                  </a:lnTo>
                  <a:lnTo>
                    <a:pt x="1176" y="9997"/>
                  </a:lnTo>
                  <a:lnTo>
                    <a:pt x="1166" y="9981"/>
                  </a:lnTo>
                  <a:lnTo>
                    <a:pt x="1158" y="9965"/>
                  </a:lnTo>
                  <a:lnTo>
                    <a:pt x="1150" y="9948"/>
                  </a:lnTo>
                  <a:lnTo>
                    <a:pt x="1143" y="9931"/>
                  </a:lnTo>
                  <a:lnTo>
                    <a:pt x="1137" y="9913"/>
                  </a:lnTo>
                  <a:lnTo>
                    <a:pt x="1132" y="9896"/>
                  </a:lnTo>
                  <a:lnTo>
                    <a:pt x="1128" y="9878"/>
                  </a:lnTo>
                  <a:lnTo>
                    <a:pt x="1123" y="9859"/>
                  </a:lnTo>
                  <a:lnTo>
                    <a:pt x="1121" y="9840"/>
                  </a:lnTo>
                  <a:lnTo>
                    <a:pt x="1120" y="9820"/>
                  </a:lnTo>
                  <a:lnTo>
                    <a:pt x="1119" y="9802"/>
                  </a:lnTo>
                  <a:lnTo>
                    <a:pt x="1119" y="8782"/>
                  </a:lnTo>
                  <a:lnTo>
                    <a:pt x="1120" y="8762"/>
                  </a:lnTo>
                  <a:lnTo>
                    <a:pt x="1121" y="8743"/>
                  </a:lnTo>
                  <a:lnTo>
                    <a:pt x="1123" y="8724"/>
                  </a:lnTo>
                  <a:lnTo>
                    <a:pt x="1128" y="8705"/>
                  </a:lnTo>
                  <a:lnTo>
                    <a:pt x="1132" y="8688"/>
                  </a:lnTo>
                  <a:lnTo>
                    <a:pt x="1137" y="8670"/>
                  </a:lnTo>
                  <a:lnTo>
                    <a:pt x="1143" y="8652"/>
                  </a:lnTo>
                  <a:lnTo>
                    <a:pt x="1150" y="8634"/>
                  </a:lnTo>
                  <a:lnTo>
                    <a:pt x="1158" y="8618"/>
                  </a:lnTo>
                  <a:lnTo>
                    <a:pt x="1166" y="8602"/>
                  </a:lnTo>
                  <a:lnTo>
                    <a:pt x="1176" y="8586"/>
                  </a:lnTo>
                  <a:lnTo>
                    <a:pt x="1186" y="8571"/>
                  </a:lnTo>
                  <a:lnTo>
                    <a:pt x="1197" y="8556"/>
                  </a:lnTo>
                  <a:lnTo>
                    <a:pt x="1209" y="8541"/>
                  </a:lnTo>
                  <a:lnTo>
                    <a:pt x="1221" y="8528"/>
                  </a:lnTo>
                  <a:lnTo>
                    <a:pt x="1234" y="8514"/>
                  </a:lnTo>
                  <a:lnTo>
                    <a:pt x="1248" y="8502"/>
                  </a:lnTo>
                  <a:lnTo>
                    <a:pt x="1262" y="8490"/>
                  </a:lnTo>
                  <a:lnTo>
                    <a:pt x="1277" y="8479"/>
                  </a:lnTo>
                  <a:lnTo>
                    <a:pt x="1291" y="8468"/>
                  </a:lnTo>
                  <a:lnTo>
                    <a:pt x="1307" y="8459"/>
                  </a:lnTo>
                  <a:lnTo>
                    <a:pt x="1324" y="8450"/>
                  </a:lnTo>
                  <a:lnTo>
                    <a:pt x="1341" y="8441"/>
                  </a:lnTo>
                  <a:lnTo>
                    <a:pt x="1358" y="8433"/>
                  </a:lnTo>
                  <a:lnTo>
                    <a:pt x="1376" y="8427"/>
                  </a:lnTo>
                  <a:lnTo>
                    <a:pt x="1394" y="8420"/>
                  </a:lnTo>
                  <a:lnTo>
                    <a:pt x="1413" y="8415"/>
                  </a:lnTo>
                  <a:lnTo>
                    <a:pt x="1431" y="8411"/>
                  </a:lnTo>
                  <a:lnTo>
                    <a:pt x="1450" y="8408"/>
                  </a:lnTo>
                  <a:lnTo>
                    <a:pt x="1470" y="8406"/>
                  </a:lnTo>
                  <a:lnTo>
                    <a:pt x="1490" y="8404"/>
                  </a:lnTo>
                  <a:lnTo>
                    <a:pt x="1510" y="8404"/>
                  </a:lnTo>
                  <a:close/>
                  <a:moveTo>
                    <a:pt x="3725" y="14428"/>
                  </a:moveTo>
                  <a:lnTo>
                    <a:pt x="3750" y="14428"/>
                  </a:lnTo>
                  <a:lnTo>
                    <a:pt x="3776" y="14430"/>
                  </a:lnTo>
                  <a:lnTo>
                    <a:pt x="3801" y="14433"/>
                  </a:lnTo>
                  <a:lnTo>
                    <a:pt x="3825" y="14438"/>
                  </a:lnTo>
                  <a:lnTo>
                    <a:pt x="3849" y="14444"/>
                  </a:lnTo>
                  <a:lnTo>
                    <a:pt x="3873" y="14451"/>
                  </a:lnTo>
                  <a:lnTo>
                    <a:pt x="3897" y="14458"/>
                  </a:lnTo>
                  <a:lnTo>
                    <a:pt x="3919" y="14468"/>
                  </a:lnTo>
                  <a:lnTo>
                    <a:pt x="3942" y="14477"/>
                  </a:lnTo>
                  <a:lnTo>
                    <a:pt x="3964" y="14488"/>
                  </a:lnTo>
                  <a:lnTo>
                    <a:pt x="3985" y="14501"/>
                  </a:lnTo>
                  <a:lnTo>
                    <a:pt x="4005" y="14514"/>
                  </a:lnTo>
                  <a:lnTo>
                    <a:pt x="4025" y="14528"/>
                  </a:lnTo>
                  <a:lnTo>
                    <a:pt x="4043" y="14543"/>
                  </a:lnTo>
                  <a:lnTo>
                    <a:pt x="4062" y="14558"/>
                  </a:lnTo>
                  <a:lnTo>
                    <a:pt x="4080" y="14575"/>
                  </a:lnTo>
                  <a:lnTo>
                    <a:pt x="4096" y="14593"/>
                  </a:lnTo>
                  <a:lnTo>
                    <a:pt x="4112" y="14611"/>
                  </a:lnTo>
                  <a:lnTo>
                    <a:pt x="4127" y="14630"/>
                  </a:lnTo>
                  <a:lnTo>
                    <a:pt x="4141" y="14649"/>
                  </a:lnTo>
                  <a:lnTo>
                    <a:pt x="4154" y="14670"/>
                  </a:lnTo>
                  <a:lnTo>
                    <a:pt x="4166" y="14691"/>
                  </a:lnTo>
                  <a:lnTo>
                    <a:pt x="4177" y="14713"/>
                  </a:lnTo>
                  <a:lnTo>
                    <a:pt x="4188" y="14735"/>
                  </a:lnTo>
                  <a:lnTo>
                    <a:pt x="4196" y="14758"/>
                  </a:lnTo>
                  <a:lnTo>
                    <a:pt x="4204" y="14781"/>
                  </a:lnTo>
                  <a:lnTo>
                    <a:pt x="4212" y="14805"/>
                  </a:lnTo>
                  <a:lnTo>
                    <a:pt x="4217" y="14829"/>
                  </a:lnTo>
                  <a:lnTo>
                    <a:pt x="4221" y="14854"/>
                  </a:lnTo>
                  <a:lnTo>
                    <a:pt x="4224" y="14879"/>
                  </a:lnTo>
                  <a:lnTo>
                    <a:pt x="4226" y="14904"/>
                  </a:lnTo>
                  <a:lnTo>
                    <a:pt x="4227" y="14930"/>
                  </a:lnTo>
                  <a:lnTo>
                    <a:pt x="4226" y="14956"/>
                  </a:lnTo>
                  <a:lnTo>
                    <a:pt x="4224" y="14981"/>
                  </a:lnTo>
                  <a:lnTo>
                    <a:pt x="4221" y="15006"/>
                  </a:lnTo>
                  <a:lnTo>
                    <a:pt x="4217" y="15031"/>
                  </a:lnTo>
                  <a:lnTo>
                    <a:pt x="4212" y="15055"/>
                  </a:lnTo>
                  <a:lnTo>
                    <a:pt x="4204" y="15079"/>
                  </a:lnTo>
                  <a:lnTo>
                    <a:pt x="4196" y="15102"/>
                  </a:lnTo>
                  <a:lnTo>
                    <a:pt x="4188" y="15125"/>
                  </a:lnTo>
                  <a:lnTo>
                    <a:pt x="4177" y="15147"/>
                  </a:lnTo>
                  <a:lnTo>
                    <a:pt x="4166" y="15169"/>
                  </a:lnTo>
                  <a:lnTo>
                    <a:pt x="4154" y="15190"/>
                  </a:lnTo>
                  <a:lnTo>
                    <a:pt x="4141" y="15211"/>
                  </a:lnTo>
                  <a:lnTo>
                    <a:pt x="4127" y="15231"/>
                  </a:lnTo>
                  <a:lnTo>
                    <a:pt x="4112" y="15250"/>
                  </a:lnTo>
                  <a:lnTo>
                    <a:pt x="4096" y="15267"/>
                  </a:lnTo>
                  <a:lnTo>
                    <a:pt x="4080" y="15285"/>
                  </a:lnTo>
                  <a:lnTo>
                    <a:pt x="4062" y="15302"/>
                  </a:lnTo>
                  <a:lnTo>
                    <a:pt x="4043" y="15317"/>
                  </a:lnTo>
                  <a:lnTo>
                    <a:pt x="4025" y="15333"/>
                  </a:lnTo>
                  <a:lnTo>
                    <a:pt x="4005" y="15347"/>
                  </a:lnTo>
                  <a:lnTo>
                    <a:pt x="3985" y="15360"/>
                  </a:lnTo>
                  <a:lnTo>
                    <a:pt x="3964" y="15372"/>
                  </a:lnTo>
                  <a:lnTo>
                    <a:pt x="3942" y="15383"/>
                  </a:lnTo>
                  <a:lnTo>
                    <a:pt x="3919" y="15393"/>
                  </a:lnTo>
                  <a:lnTo>
                    <a:pt x="3897" y="15402"/>
                  </a:lnTo>
                  <a:lnTo>
                    <a:pt x="3873" y="15410"/>
                  </a:lnTo>
                  <a:lnTo>
                    <a:pt x="3849" y="15417"/>
                  </a:lnTo>
                  <a:lnTo>
                    <a:pt x="3825" y="15423"/>
                  </a:lnTo>
                  <a:lnTo>
                    <a:pt x="3801" y="15427"/>
                  </a:lnTo>
                  <a:lnTo>
                    <a:pt x="3776" y="15430"/>
                  </a:lnTo>
                  <a:lnTo>
                    <a:pt x="3750" y="15432"/>
                  </a:lnTo>
                  <a:lnTo>
                    <a:pt x="3725" y="15432"/>
                  </a:lnTo>
                  <a:lnTo>
                    <a:pt x="3699" y="15432"/>
                  </a:lnTo>
                  <a:lnTo>
                    <a:pt x="3673" y="15430"/>
                  </a:lnTo>
                  <a:lnTo>
                    <a:pt x="3648" y="15427"/>
                  </a:lnTo>
                  <a:lnTo>
                    <a:pt x="3624" y="15423"/>
                  </a:lnTo>
                  <a:lnTo>
                    <a:pt x="3599" y="15417"/>
                  </a:lnTo>
                  <a:lnTo>
                    <a:pt x="3576" y="15410"/>
                  </a:lnTo>
                  <a:lnTo>
                    <a:pt x="3552" y="15402"/>
                  </a:lnTo>
                  <a:lnTo>
                    <a:pt x="3529" y="15393"/>
                  </a:lnTo>
                  <a:lnTo>
                    <a:pt x="3507" y="15383"/>
                  </a:lnTo>
                  <a:lnTo>
                    <a:pt x="3485" y="15372"/>
                  </a:lnTo>
                  <a:lnTo>
                    <a:pt x="3464" y="15360"/>
                  </a:lnTo>
                  <a:lnTo>
                    <a:pt x="3444" y="15347"/>
                  </a:lnTo>
                  <a:lnTo>
                    <a:pt x="3424" y="15333"/>
                  </a:lnTo>
                  <a:lnTo>
                    <a:pt x="3406" y="15317"/>
                  </a:lnTo>
                  <a:lnTo>
                    <a:pt x="3387" y="15302"/>
                  </a:lnTo>
                  <a:lnTo>
                    <a:pt x="3369" y="15285"/>
                  </a:lnTo>
                  <a:lnTo>
                    <a:pt x="3352" y="15267"/>
                  </a:lnTo>
                  <a:lnTo>
                    <a:pt x="3337" y="15250"/>
                  </a:lnTo>
                  <a:lnTo>
                    <a:pt x="3322" y="15231"/>
                  </a:lnTo>
                  <a:lnTo>
                    <a:pt x="3308" y="15211"/>
                  </a:lnTo>
                  <a:lnTo>
                    <a:pt x="3295" y="15190"/>
                  </a:lnTo>
                  <a:lnTo>
                    <a:pt x="3282" y="15169"/>
                  </a:lnTo>
                  <a:lnTo>
                    <a:pt x="3272" y="15147"/>
                  </a:lnTo>
                  <a:lnTo>
                    <a:pt x="3261" y="15125"/>
                  </a:lnTo>
                  <a:lnTo>
                    <a:pt x="3252" y="15102"/>
                  </a:lnTo>
                  <a:lnTo>
                    <a:pt x="3245" y="15079"/>
                  </a:lnTo>
                  <a:lnTo>
                    <a:pt x="3237" y="15055"/>
                  </a:lnTo>
                  <a:lnTo>
                    <a:pt x="3232" y="15031"/>
                  </a:lnTo>
                  <a:lnTo>
                    <a:pt x="3228" y="15006"/>
                  </a:lnTo>
                  <a:lnTo>
                    <a:pt x="3225" y="14981"/>
                  </a:lnTo>
                  <a:lnTo>
                    <a:pt x="3223" y="14956"/>
                  </a:lnTo>
                  <a:lnTo>
                    <a:pt x="3222" y="14930"/>
                  </a:lnTo>
                  <a:lnTo>
                    <a:pt x="3223" y="14904"/>
                  </a:lnTo>
                  <a:lnTo>
                    <a:pt x="3225" y="14879"/>
                  </a:lnTo>
                  <a:lnTo>
                    <a:pt x="3228" y="14854"/>
                  </a:lnTo>
                  <a:lnTo>
                    <a:pt x="3232" y="14829"/>
                  </a:lnTo>
                  <a:lnTo>
                    <a:pt x="3237" y="14805"/>
                  </a:lnTo>
                  <a:lnTo>
                    <a:pt x="3245" y="14781"/>
                  </a:lnTo>
                  <a:lnTo>
                    <a:pt x="3252" y="14758"/>
                  </a:lnTo>
                  <a:lnTo>
                    <a:pt x="3261" y="14735"/>
                  </a:lnTo>
                  <a:lnTo>
                    <a:pt x="3272" y="14713"/>
                  </a:lnTo>
                  <a:lnTo>
                    <a:pt x="3282" y="14691"/>
                  </a:lnTo>
                  <a:lnTo>
                    <a:pt x="3295" y="14670"/>
                  </a:lnTo>
                  <a:lnTo>
                    <a:pt x="3308" y="14649"/>
                  </a:lnTo>
                  <a:lnTo>
                    <a:pt x="3322" y="14630"/>
                  </a:lnTo>
                  <a:lnTo>
                    <a:pt x="3337" y="14611"/>
                  </a:lnTo>
                  <a:lnTo>
                    <a:pt x="3352" y="14593"/>
                  </a:lnTo>
                  <a:lnTo>
                    <a:pt x="3369" y="14575"/>
                  </a:lnTo>
                  <a:lnTo>
                    <a:pt x="3387" y="14558"/>
                  </a:lnTo>
                  <a:lnTo>
                    <a:pt x="3406" y="14543"/>
                  </a:lnTo>
                  <a:lnTo>
                    <a:pt x="3424" y="14528"/>
                  </a:lnTo>
                  <a:lnTo>
                    <a:pt x="3444" y="14514"/>
                  </a:lnTo>
                  <a:lnTo>
                    <a:pt x="3464" y="14501"/>
                  </a:lnTo>
                  <a:lnTo>
                    <a:pt x="3485" y="14488"/>
                  </a:lnTo>
                  <a:lnTo>
                    <a:pt x="3507" y="14477"/>
                  </a:lnTo>
                  <a:lnTo>
                    <a:pt x="3529" y="14468"/>
                  </a:lnTo>
                  <a:lnTo>
                    <a:pt x="3552" y="14458"/>
                  </a:lnTo>
                  <a:lnTo>
                    <a:pt x="3576" y="14451"/>
                  </a:lnTo>
                  <a:lnTo>
                    <a:pt x="3599" y="14444"/>
                  </a:lnTo>
                  <a:lnTo>
                    <a:pt x="3624" y="14438"/>
                  </a:lnTo>
                  <a:lnTo>
                    <a:pt x="3648" y="14433"/>
                  </a:lnTo>
                  <a:lnTo>
                    <a:pt x="3673" y="14430"/>
                  </a:lnTo>
                  <a:lnTo>
                    <a:pt x="3699" y="14428"/>
                  </a:lnTo>
                  <a:lnTo>
                    <a:pt x="3725" y="14428"/>
                  </a:lnTo>
                  <a:close/>
                  <a:moveTo>
                    <a:pt x="1277" y="12777"/>
                  </a:moveTo>
                  <a:lnTo>
                    <a:pt x="6172" y="12777"/>
                  </a:lnTo>
                  <a:lnTo>
                    <a:pt x="6186" y="12777"/>
                  </a:lnTo>
                  <a:lnTo>
                    <a:pt x="6198" y="12779"/>
                  </a:lnTo>
                  <a:lnTo>
                    <a:pt x="6211" y="12782"/>
                  </a:lnTo>
                  <a:lnTo>
                    <a:pt x="6222" y="12787"/>
                  </a:lnTo>
                  <a:lnTo>
                    <a:pt x="6234" y="12793"/>
                  </a:lnTo>
                  <a:lnTo>
                    <a:pt x="6244" y="12799"/>
                  </a:lnTo>
                  <a:lnTo>
                    <a:pt x="6255" y="12806"/>
                  </a:lnTo>
                  <a:lnTo>
                    <a:pt x="6263" y="12815"/>
                  </a:lnTo>
                  <a:lnTo>
                    <a:pt x="6271" y="12824"/>
                  </a:lnTo>
                  <a:lnTo>
                    <a:pt x="6279" y="12834"/>
                  </a:lnTo>
                  <a:lnTo>
                    <a:pt x="6286" y="12845"/>
                  </a:lnTo>
                  <a:lnTo>
                    <a:pt x="6291" y="12856"/>
                  </a:lnTo>
                  <a:lnTo>
                    <a:pt x="6295" y="12868"/>
                  </a:lnTo>
                  <a:lnTo>
                    <a:pt x="6299" y="12881"/>
                  </a:lnTo>
                  <a:lnTo>
                    <a:pt x="6301" y="12893"/>
                  </a:lnTo>
                  <a:lnTo>
                    <a:pt x="6302" y="12906"/>
                  </a:lnTo>
                  <a:lnTo>
                    <a:pt x="6302" y="13021"/>
                  </a:lnTo>
                  <a:lnTo>
                    <a:pt x="6301" y="13034"/>
                  </a:lnTo>
                  <a:lnTo>
                    <a:pt x="6299" y="13047"/>
                  </a:lnTo>
                  <a:lnTo>
                    <a:pt x="6295" y="13059"/>
                  </a:lnTo>
                  <a:lnTo>
                    <a:pt x="6291" y="13071"/>
                  </a:lnTo>
                  <a:lnTo>
                    <a:pt x="6286" y="13082"/>
                  </a:lnTo>
                  <a:lnTo>
                    <a:pt x="6279" y="13093"/>
                  </a:lnTo>
                  <a:lnTo>
                    <a:pt x="6271" y="13103"/>
                  </a:lnTo>
                  <a:lnTo>
                    <a:pt x="6263" y="13112"/>
                  </a:lnTo>
                  <a:lnTo>
                    <a:pt x="6255" y="13121"/>
                  </a:lnTo>
                  <a:lnTo>
                    <a:pt x="6244" y="13128"/>
                  </a:lnTo>
                  <a:lnTo>
                    <a:pt x="6234" y="13134"/>
                  </a:lnTo>
                  <a:lnTo>
                    <a:pt x="6222" y="13140"/>
                  </a:lnTo>
                  <a:lnTo>
                    <a:pt x="6211" y="13145"/>
                  </a:lnTo>
                  <a:lnTo>
                    <a:pt x="6198" y="13148"/>
                  </a:lnTo>
                  <a:lnTo>
                    <a:pt x="6186" y="13149"/>
                  </a:lnTo>
                  <a:lnTo>
                    <a:pt x="6172" y="13150"/>
                  </a:lnTo>
                  <a:lnTo>
                    <a:pt x="1277" y="13150"/>
                  </a:lnTo>
                  <a:lnTo>
                    <a:pt x="1263" y="13149"/>
                  </a:lnTo>
                  <a:lnTo>
                    <a:pt x="1251" y="13148"/>
                  </a:lnTo>
                  <a:lnTo>
                    <a:pt x="1238" y="13145"/>
                  </a:lnTo>
                  <a:lnTo>
                    <a:pt x="1227" y="13140"/>
                  </a:lnTo>
                  <a:lnTo>
                    <a:pt x="1215" y="13134"/>
                  </a:lnTo>
                  <a:lnTo>
                    <a:pt x="1205" y="13128"/>
                  </a:lnTo>
                  <a:lnTo>
                    <a:pt x="1194" y="13121"/>
                  </a:lnTo>
                  <a:lnTo>
                    <a:pt x="1186" y="13112"/>
                  </a:lnTo>
                  <a:lnTo>
                    <a:pt x="1178" y="13103"/>
                  </a:lnTo>
                  <a:lnTo>
                    <a:pt x="1169" y="13093"/>
                  </a:lnTo>
                  <a:lnTo>
                    <a:pt x="1163" y="13082"/>
                  </a:lnTo>
                  <a:lnTo>
                    <a:pt x="1158" y="13071"/>
                  </a:lnTo>
                  <a:lnTo>
                    <a:pt x="1154" y="13059"/>
                  </a:lnTo>
                  <a:lnTo>
                    <a:pt x="1150" y="13047"/>
                  </a:lnTo>
                  <a:lnTo>
                    <a:pt x="1148" y="13034"/>
                  </a:lnTo>
                  <a:lnTo>
                    <a:pt x="1147" y="13021"/>
                  </a:lnTo>
                  <a:lnTo>
                    <a:pt x="1147" y="12906"/>
                  </a:lnTo>
                  <a:lnTo>
                    <a:pt x="1148" y="12893"/>
                  </a:lnTo>
                  <a:lnTo>
                    <a:pt x="1150" y="12881"/>
                  </a:lnTo>
                  <a:lnTo>
                    <a:pt x="1154" y="12868"/>
                  </a:lnTo>
                  <a:lnTo>
                    <a:pt x="1158" y="12856"/>
                  </a:lnTo>
                  <a:lnTo>
                    <a:pt x="1163" y="12845"/>
                  </a:lnTo>
                  <a:lnTo>
                    <a:pt x="1169" y="12834"/>
                  </a:lnTo>
                  <a:lnTo>
                    <a:pt x="1178" y="12824"/>
                  </a:lnTo>
                  <a:lnTo>
                    <a:pt x="1186" y="12815"/>
                  </a:lnTo>
                  <a:lnTo>
                    <a:pt x="1194" y="12806"/>
                  </a:lnTo>
                  <a:lnTo>
                    <a:pt x="1205" y="12799"/>
                  </a:lnTo>
                  <a:lnTo>
                    <a:pt x="1215" y="12793"/>
                  </a:lnTo>
                  <a:lnTo>
                    <a:pt x="1227" y="12787"/>
                  </a:lnTo>
                  <a:lnTo>
                    <a:pt x="1238" y="12782"/>
                  </a:lnTo>
                  <a:lnTo>
                    <a:pt x="1251" y="12779"/>
                  </a:lnTo>
                  <a:lnTo>
                    <a:pt x="1263" y="12777"/>
                  </a:lnTo>
                  <a:lnTo>
                    <a:pt x="1277" y="12777"/>
                  </a:lnTo>
                  <a:close/>
                  <a:moveTo>
                    <a:pt x="1277" y="12217"/>
                  </a:moveTo>
                  <a:lnTo>
                    <a:pt x="6172" y="12217"/>
                  </a:lnTo>
                  <a:lnTo>
                    <a:pt x="6186" y="12218"/>
                  </a:lnTo>
                  <a:lnTo>
                    <a:pt x="6198" y="12220"/>
                  </a:lnTo>
                  <a:lnTo>
                    <a:pt x="6211" y="12223"/>
                  </a:lnTo>
                  <a:lnTo>
                    <a:pt x="6222" y="12227"/>
                  </a:lnTo>
                  <a:lnTo>
                    <a:pt x="6234" y="12232"/>
                  </a:lnTo>
                  <a:lnTo>
                    <a:pt x="6244" y="12240"/>
                  </a:lnTo>
                  <a:lnTo>
                    <a:pt x="6255" y="12247"/>
                  </a:lnTo>
                  <a:lnTo>
                    <a:pt x="6263" y="12255"/>
                  </a:lnTo>
                  <a:lnTo>
                    <a:pt x="6271" y="12265"/>
                  </a:lnTo>
                  <a:lnTo>
                    <a:pt x="6279" y="12274"/>
                  </a:lnTo>
                  <a:lnTo>
                    <a:pt x="6286" y="12284"/>
                  </a:lnTo>
                  <a:lnTo>
                    <a:pt x="6291" y="12296"/>
                  </a:lnTo>
                  <a:lnTo>
                    <a:pt x="6295" y="12307"/>
                  </a:lnTo>
                  <a:lnTo>
                    <a:pt x="6299" y="12320"/>
                  </a:lnTo>
                  <a:lnTo>
                    <a:pt x="6301" y="12334"/>
                  </a:lnTo>
                  <a:lnTo>
                    <a:pt x="6302" y="12346"/>
                  </a:lnTo>
                  <a:lnTo>
                    <a:pt x="6302" y="12461"/>
                  </a:lnTo>
                  <a:lnTo>
                    <a:pt x="6301" y="12474"/>
                  </a:lnTo>
                  <a:lnTo>
                    <a:pt x="6299" y="12487"/>
                  </a:lnTo>
                  <a:lnTo>
                    <a:pt x="6295" y="12500"/>
                  </a:lnTo>
                  <a:lnTo>
                    <a:pt x="6291" y="12511"/>
                  </a:lnTo>
                  <a:lnTo>
                    <a:pt x="6286" y="12522"/>
                  </a:lnTo>
                  <a:lnTo>
                    <a:pt x="6279" y="12533"/>
                  </a:lnTo>
                  <a:lnTo>
                    <a:pt x="6271" y="12543"/>
                  </a:lnTo>
                  <a:lnTo>
                    <a:pt x="6263" y="12552"/>
                  </a:lnTo>
                  <a:lnTo>
                    <a:pt x="6255" y="12561"/>
                  </a:lnTo>
                  <a:lnTo>
                    <a:pt x="6244" y="12568"/>
                  </a:lnTo>
                  <a:lnTo>
                    <a:pt x="6234" y="12575"/>
                  </a:lnTo>
                  <a:lnTo>
                    <a:pt x="6222" y="12580"/>
                  </a:lnTo>
                  <a:lnTo>
                    <a:pt x="6211" y="12584"/>
                  </a:lnTo>
                  <a:lnTo>
                    <a:pt x="6198" y="12587"/>
                  </a:lnTo>
                  <a:lnTo>
                    <a:pt x="6186" y="12589"/>
                  </a:lnTo>
                  <a:lnTo>
                    <a:pt x="6172" y="12590"/>
                  </a:lnTo>
                  <a:lnTo>
                    <a:pt x="1277" y="12590"/>
                  </a:lnTo>
                  <a:lnTo>
                    <a:pt x="1263" y="12589"/>
                  </a:lnTo>
                  <a:lnTo>
                    <a:pt x="1251" y="12587"/>
                  </a:lnTo>
                  <a:lnTo>
                    <a:pt x="1238" y="12584"/>
                  </a:lnTo>
                  <a:lnTo>
                    <a:pt x="1227" y="12580"/>
                  </a:lnTo>
                  <a:lnTo>
                    <a:pt x="1215" y="12575"/>
                  </a:lnTo>
                  <a:lnTo>
                    <a:pt x="1205" y="12568"/>
                  </a:lnTo>
                  <a:lnTo>
                    <a:pt x="1194" y="12561"/>
                  </a:lnTo>
                  <a:lnTo>
                    <a:pt x="1186" y="12552"/>
                  </a:lnTo>
                  <a:lnTo>
                    <a:pt x="1178" y="12543"/>
                  </a:lnTo>
                  <a:lnTo>
                    <a:pt x="1169" y="12533"/>
                  </a:lnTo>
                  <a:lnTo>
                    <a:pt x="1163" y="12522"/>
                  </a:lnTo>
                  <a:lnTo>
                    <a:pt x="1158" y="12511"/>
                  </a:lnTo>
                  <a:lnTo>
                    <a:pt x="1154" y="12500"/>
                  </a:lnTo>
                  <a:lnTo>
                    <a:pt x="1150" y="12487"/>
                  </a:lnTo>
                  <a:lnTo>
                    <a:pt x="1148" y="12474"/>
                  </a:lnTo>
                  <a:lnTo>
                    <a:pt x="1147" y="12461"/>
                  </a:lnTo>
                  <a:lnTo>
                    <a:pt x="1147" y="12346"/>
                  </a:lnTo>
                  <a:lnTo>
                    <a:pt x="1148" y="12334"/>
                  </a:lnTo>
                  <a:lnTo>
                    <a:pt x="1150" y="12320"/>
                  </a:lnTo>
                  <a:lnTo>
                    <a:pt x="1154" y="12307"/>
                  </a:lnTo>
                  <a:lnTo>
                    <a:pt x="1158" y="12296"/>
                  </a:lnTo>
                  <a:lnTo>
                    <a:pt x="1163" y="12284"/>
                  </a:lnTo>
                  <a:lnTo>
                    <a:pt x="1169" y="12274"/>
                  </a:lnTo>
                  <a:lnTo>
                    <a:pt x="1178" y="12265"/>
                  </a:lnTo>
                  <a:lnTo>
                    <a:pt x="1186" y="12255"/>
                  </a:lnTo>
                  <a:lnTo>
                    <a:pt x="1194" y="12247"/>
                  </a:lnTo>
                  <a:lnTo>
                    <a:pt x="1205" y="12240"/>
                  </a:lnTo>
                  <a:lnTo>
                    <a:pt x="1215" y="12232"/>
                  </a:lnTo>
                  <a:lnTo>
                    <a:pt x="1227" y="12227"/>
                  </a:lnTo>
                  <a:lnTo>
                    <a:pt x="1238" y="12223"/>
                  </a:lnTo>
                  <a:lnTo>
                    <a:pt x="1251" y="12220"/>
                  </a:lnTo>
                  <a:lnTo>
                    <a:pt x="1263" y="12218"/>
                  </a:lnTo>
                  <a:lnTo>
                    <a:pt x="1277" y="12217"/>
                  </a:lnTo>
                  <a:close/>
                </a:path>
              </a:pathLst>
            </a:custGeom>
            <a:solidFill>
              <a:srgbClr val="00B0F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dirty="0">
                <a:cs typeface="+mn-ea"/>
                <a:sym typeface="+mn-lt"/>
              </a:endParaRPr>
            </a:p>
          </p:txBody>
        </p:sp>
      </p:grpSp>
      <p:sp>
        <p:nvSpPr>
          <p:cNvPr id="313" name="Freeform 309">
            <a:extLst>
              <a:ext uri="{FF2B5EF4-FFF2-40B4-BE49-F238E27FC236}">
                <a16:creationId xmlns:a16="http://schemas.microsoft.com/office/drawing/2014/main" id="{02EA6855-BF93-45FE-8E41-B7814F7FCD0A}"/>
              </a:ext>
            </a:extLst>
          </p:cNvPr>
          <p:cNvSpPr>
            <a:spLocks/>
          </p:cNvSpPr>
          <p:nvPr/>
        </p:nvSpPr>
        <p:spPr bwMode="gray">
          <a:xfrm rot="183418">
            <a:off x="8115910" y="1508676"/>
            <a:ext cx="502772" cy="248848"/>
          </a:xfrm>
          <a:custGeom>
            <a:avLst/>
            <a:gdLst>
              <a:gd name="T0" fmla="*/ 52417 w 3217"/>
              <a:gd name="T1" fmla="*/ 221271 h 2156"/>
              <a:gd name="T2" fmla="*/ 23420 w 3217"/>
              <a:gd name="T3" fmla="*/ 242443 h 2156"/>
              <a:gd name="T4" fmla="*/ 6413 w 3217"/>
              <a:gd name="T5" fmla="*/ 269282 h 2156"/>
              <a:gd name="T6" fmla="*/ 0 w 3217"/>
              <a:gd name="T7" fmla="*/ 301489 h 2156"/>
              <a:gd name="T8" fmla="*/ 11710 w 3217"/>
              <a:gd name="T9" fmla="*/ 345325 h 2156"/>
              <a:gd name="T10" fmla="*/ 44889 w 3217"/>
              <a:gd name="T11" fmla="*/ 378128 h 2156"/>
              <a:gd name="T12" fmla="*/ 27602 w 3217"/>
              <a:gd name="T13" fmla="*/ 400792 h 2156"/>
              <a:gd name="T14" fmla="*/ 19796 w 3217"/>
              <a:gd name="T15" fmla="*/ 432998 h 2156"/>
              <a:gd name="T16" fmla="*/ 25093 w 3217"/>
              <a:gd name="T17" fmla="*/ 467292 h 2156"/>
              <a:gd name="T18" fmla="*/ 43216 w 3217"/>
              <a:gd name="T19" fmla="*/ 496517 h 2156"/>
              <a:gd name="T20" fmla="*/ 71097 w 3217"/>
              <a:gd name="T21" fmla="*/ 516497 h 2156"/>
              <a:gd name="T22" fmla="*/ 105949 w 3217"/>
              <a:gd name="T23" fmla="*/ 525145 h 2156"/>
              <a:gd name="T24" fmla="*/ 132157 w 3217"/>
              <a:gd name="T25" fmla="*/ 542143 h 2156"/>
              <a:gd name="T26" fmla="*/ 188198 w 3217"/>
              <a:gd name="T27" fmla="*/ 587470 h 2156"/>
              <a:gd name="T28" fmla="*/ 227789 w 3217"/>
              <a:gd name="T29" fmla="*/ 601188 h 2156"/>
              <a:gd name="T30" fmla="*/ 270448 w 3217"/>
              <a:gd name="T31" fmla="*/ 603574 h 2156"/>
              <a:gd name="T32" fmla="*/ 312827 w 3217"/>
              <a:gd name="T33" fmla="*/ 595522 h 2156"/>
              <a:gd name="T34" fmla="*/ 347121 w 3217"/>
              <a:gd name="T35" fmla="*/ 588663 h 2156"/>
              <a:gd name="T36" fmla="*/ 400095 w 3217"/>
              <a:gd name="T37" fmla="*/ 630412 h 2156"/>
              <a:gd name="T38" fmla="*/ 464222 w 3217"/>
              <a:gd name="T39" fmla="*/ 642341 h 2156"/>
              <a:gd name="T40" fmla="*/ 507995 w 3217"/>
              <a:gd name="T41" fmla="*/ 633693 h 2156"/>
              <a:gd name="T42" fmla="*/ 545914 w 3217"/>
              <a:gd name="T43" fmla="*/ 612520 h 2156"/>
              <a:gd name="T44" fmla="*/ 576025 w 3217"/>
              <a:gd name="T45" fmla="*/ 580611 h 2156"/>
              <a:gd name="T46" fmla="*/ 592475 w 3217"/>
              <a:gd name="T47" fmla="*/ 546318 h 2156"/>
              <a:gd name="T48" fmla="*/ 651862 w 3217"/>
              <a:gd name="T49" fmla="*/ 563315 h 2156"/>
              <a:gd name="T50" fmla="*/ 697309 w 3217"/>
              <a:gd name="T51" fmla="*/ 556457 h 2156"/>
              <a:gd name="T52" fmla="*/ 736342 w 3217"/>
              <a:gd name="T53" fmla="*/ 533793 h 2156"/>
              <a:gd name="T54" fmla="*/ 764224 w 3217"/>
              <a:gd name="T55" fmla="*/ 498306 h 2156"/>
              <a:gd name="T56" fmla="*/ 775934 w 3217"/>
              <a:gd name="T57" fmla="*/ 453575 h 2156"/>
              <a:gd name="T58" fmla="*/ 813016 w 3217"/>
              <a:gd name="T59" fmla="*/ 436875 h 2156"/>
              <a:gd name="T60" fmla="*/ 854280 w 3217"/>
              <a:gd name="T61" fmla="*/ 410036 h 2156"/>
              <a:gd name="T62" fmla="*/ 882997 w 3217"/>
              <a:gd name="T63" fmla="*/ 371269 h 2156"/>
              <a:gd name="T64" fmla="*/ 896380 w 3217"/>
              <a:gd name="T65" fmla="*/ 324152 h 2156"/>
              <a:gd name="T66" fmla="*/ 892756 w 3217"/>
              <a:gd name="T67" fmla="*/ 277930 h 2156"/>
              <a:gd name="T68" fmla="*/ 874354 w 3217"/>
              <a:gd name="T69" fmla="*/ 237374 h 2156"/>
              <a:gd name="T70" fmla="*/ 874912 w 3217"/>
              <a:gd name="T71" fmla="*/ 201291 h 2156"/>
              <a:gd name="T72" fmla="*/ 874075 w 3217"/>
              <a:gd name="T73" fmla="*/ 162822 h 2156"/>
              <a:gd name="T74" fmla="*/ 861250 w 3217"/>
              <a:gd name="T75" fmla="*/ 130317 h 2156"/>
              <a:gd name="T76" fmla="*/ 835042 w 3217"/>
              <a:gd name="T77" fmla="*/ 100496 h 2156"/>
              <a:gd name="T78" fmla="*/ 799075 w 3217"/>
              <a:gd name="T79" fmla="*/ 82305 h 2156"/>
              <a:gd name="T80" fmla="*/ 787365 w 3217"/>
              <a:gd name="T81" fmla="*/ 55467 h 2156"/>
              <a:gd name="T82" fmla="*/ 767012 w 3217"/>
              <a:gd name="T83" fmla="*/ 28032 h 2156"/>
              <a:gd name="T84" fmla="*/ 734948 w 3217"/>
              <a:gd name="T85" fmla="*/ 7455 h 2156"/>
              <a:gd name="T86" fmla="*/ 700654 w 3217"/>
              <a:gd name="T87" fmla="*/ 0 h 2156"/>
              <a:gd name="T88" fmla="*/ 658275 w 3217"/>
              <a:gd name="T89" fmla="*/ 6859 h 2156"/>
              <a:gd name="T90" fmla="*/ 622587 w 3217"/>
              <a:gd name="T91" fmla="*/ 30119 h 2156"/>
              <a:gd name="T92" fmla="*/ 596379 w 3217"/>
              <a:gd name="T93" fmla="*/ 13718 h 2156"/>
              <a:gd name="T94" fmla="*/ 557903 w 3217"/>
              <a:gd name="T95" fmla="*/ 596 h 2156"/>
              <a:gd name="T96" fmla="*/ 510226 w 3217"/>
              <a:gd name="T97" fmla="*/ 7455 h 2156"/>
              <a:gd name="T98" fmla="*/ 472307 w 3217"/>
              <a:gd name="T99" fmla="*/ 38171 h 2156"/>
              <a:gd name="T100" fmla="*/ 444984 w 3217"/>
              <a:gd name="T101" fmla="*/ 34294 h 2156"/>
              <a:gd name="T102" fmla="*/ 404835 w 3217"/>
              <a:gd name="T103" fmla="*/ 20576 h 2156"/>
              <a:gd name="T104" fmla="*/ 351861 w 3217"/>
              <a:gd name="T105" fmla="*/ 25049 h 2156"/>
              <a:gd name="T106" fmla="*/ 303069 w 3217"/>
              <a:gd name="T107" fmla="*/ 58151 h 2156"/>
              <a:gd name="T108" fmla="*/ 260968 w 3217"/>
              <a:gd name="T109" fmla="*/ 64413 h 2156"/>
              <a:gd name="T110" fmla="*/ 224165 w 3217"/>
              <a:gd name="T111" fmla="*/ 58151 h 2156"/>
              <a:gd name="T112" fmla="*/ 171748 w 3217"/>
              <a:gd name="T113" fmla="*/ 66799 h 2156"/>
              <a:gd name="T114" fmla="*/ 125187 w 3217"/>
              <a:gd name="T115" fmla="*/ 93637 h 2156"/>
              <a:gd name="T116" fmla="*/ 92844 w 3217"/>
              <a:gd name="T117" fmla="*/ 135983 h 2156"/>
              <a:gd name="T118" fmla="*/ 79740 w 3217"/>
              <a:gd name="T119" fmla="*/ 188169 h 21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17" h="2156">
                <a:moveTo>
                  <a:pt x="291" y="715"/>
                </a:moveTo>
                <a:lnTo>
                  <a:pt x="276" y="717"/>
                </a:lnTo>
                <a:lnTo>
                  <a:pt x="261" y="719"/>
                </a:lnTo>
                <a:lnTo>
                  <a:pt x="245" y="723"/>
                </a:lnTo>
                <a:lnTo>
                  <a:pt x="230" y="727"/>
                </a:lnTo>
                <a:lnTo>
                  <a:pt x="216" y="731"/>
                </a:lnTo>
                <a:lnTo>
                  <a:pt x="203" y="736"/>
                </a:lnTo>
                <a:lnTo>
                  <a:pt x="188" y="742"/>
                </a:lnTo>
                <a:lnTo>
                  <a:pt x="176" y="748"/>
                </a:lnTo>
                <a:lnTo>
                  <a:pt x="163" y="754"/>
                </a:lnTo>
                <a:lnTo>
                  <a:pt x="149" y="761"/>
                </a:lnTo>
                <a:lnTo>
                  <a:pt x="138" y="769"/>
                </a:lnTo>
                <a:lnTo>
                  <a:pt x="126" y="777"/>
                </a:lnTo>
                <a:lnTo>
                  <a:pt x="103" y="794"/>
                </a:lnTo>
                <a:lnTo>
                  <a:pt x="94" y="802"/>
                </a:lnTo>
                <a:lnTo>
                  <a:pt x="84" y="813"/>
                </a:lnTo>
                <a:lnTo>
                  <a:pt x="74" y="823"/>
                </a:lnTo>
                <a:lnTo>
                  <a:pt x="65" y="832"/>
                </a:lnTo>
                <a:lnTo>
                  <a:pt x="55" y="844"/>
                </a:lnTo>
                <a:lnTo>
                  <a:pt x="48" y="855"/>
                </a:lnTo>
                <a:lnTo>
                  <a:pt x="40" y="867"/>
                </a:lnTo>
                <a:lnTo>
                  <a:pt x="34" y="878"/>
                </a:lnTo>
                <a:lnTo>
                  <a:pt x="28" y="890"/>
                </a:lnTo>
                <a:lnTo>
                  <a:pt x="23" y="903"/>
                </a:lnTo>
                <a:lnTo>
                  <a:pt x="17" y="915"/>
                </a:lnTo>
                <a:lnTo>
                  <a:pt x="13" y="928"/>
                </a:lnTo>
                <a:lnTo>
                  <a:pt x="9" y="942"/>
                </a:lnTo>
                <a:lnTo>
                  <a:pt x="5" y="955"/>
                </a:lnTo>
                <a:lnTo>
                  <a:pt x="4" y="968"/>
                </a:lnTo>
                <a:lnTo>
                  <a:pt x="2" y="984"/>
                </a:lnTo>
                <a:lnTo>
                  <a:pt x="0" y="997"/>
                </a:lnTo>
                <a:lnTo>
                  <a:pt x="0" y="1011"/>
                </a:lnTo>
                <a:lnTo>
                  <a:pt x="0" y="1030"/>
                </a:lnTo>
                <a:lnTo>
                  <a:pt x="2" y="1051"/>
                </a:lnTo>
                <a:lnTo>
                  <a:pt x="5" y="1070"/>
                </a:lnTo>
                <a:lnTo>
                  <a:pt x="11" y="1087"/>
                </a:lnTo>
                <a:lnTo>
                  <a:pt x="17" y="1107"/>
                </a:lnTo>
                <a:lnTo>
                  <a:pt x="25" y="1124"/>
                </a:lnTo>
                <a:lnTo>
                  <a:pt x="32" y="1141"/>
                </a:lnTo>
                <a:lnTo>
                  <a:pt x="42" y="1158"/>
                </a:lnTo>
                <a:lnTo>
                  <a:pt x="53" y="1174"/>
                </a:lnTo>
                <a:lnTo>
                  <a:pt x="65" y="1191"/>
                </a:lnTo>
                <a:lnTo>
                  <a:pt x="78" y="1204"/>
                </a:lnTo>
                <a:lnTo>
                  <a:pt x="94" y="1220"/>
                </a:lnTo>
                <a:lnTo>
                  <a:pt x="109" y="1233"/>
                </a:lnTo>
                <a:lnTo>
                  <a:pt x="124" y="1245"/>
                </a:lnTo>
                <a:lnTo>
                  <a:pt x="142" y="1256"/>
                </a:lnTo>
                <a:lnTo>
                  <a:pt x="161" y="1268"/>
                </a:lnTo>
                <a:lnTo>
                  <a:pt x="159" y="1264"/>
                </a:lnTo>
                <a:lnTo>
                  <a:pt x="147" y="1273"/>
                </a:lnTo>
                <a:lnTo>
                  <a:pt x="138" y="1285"/>
                </a:lnTo>
                <a:lnTo>
                  <a:pt x="130" y="1297"/>
                </a:lnTo>
                <a:lnTo>
                  <a:pt x="121" y="1308"/>
                </a:lnTo>
                <a:lnTo>
                  <a:pt x="113" y="1320"/>
                </a:lnTo>
                <a:lnTo>
                  <a:pt x="105" y="1331"/>
                </a:lnTo>
                <a:lnTo>
                  <a:pt x="99" y="1344"/>
                </a:lnTo>
                <a:lnTo>
                  <a:pt x="94" y="1358"/>
                </a:lnTo>
                <a:lnTo>
                  <a:pt x="88" y="1369"/>
                </a:lnTo>
                <a:lnTo>
                  <a:pt x="84" y="1383"/>
                </a:lnTo>
                <a:lnTo>
                  <a:pt x="80" y="1396"/>
                </a:lnTo>
                <a:lnTo>
                  <a:pt x="76" y="1410"/>
                </a:lnTo>
                <a:lnTo>
                  <a:pt x="74" y="1423"/>
                </a:lnTo>
                <a:lnTo>
                  <a:pt x="73" y="1437"/>
                </a:lnTo>
                <a:lnTo>
                  <a:pt x="71" y="1452"/>
                </a:lnTo>
                <a:lnTo>
                  <a:pt x="71" y="1465"/>
                </a:lnTo>
                <a:lnTo>
                  <a:pt x="71" y="1481"/>
                </a:lnTo>
                <a:lnTo>
                  <a:pt x="73" y="1496"/>
                </a:lnTo>
                <a:lnTo>
                  <a:pt x="74" y="1511"/>
                </a:lnTo>
                <a:lnTo>
                  <a:pt x="76" y="1525"/>
                </a:lnTo>
                <a:lnTo>
                  <a:pt x="80" y="1540"/>
                </a:lnTo>
                <a:lnTo>
                  <a:pt x="86" y="1554"/>
                </a:lnTo>
                <a:lnTo>
                  <a:pt x="90" y="1567"/>
                </a:lnTo>
                <a:lnTo>
                  <a:pt x="96" y="1580"/>
                </a:lnTo>
                <a:lnTo>
                  <a:pt x="103" y="1594"/>
                </a:lnTo>
                <a:lnTo>
                  <a:pt x="109" y="1607"/>
                </a:lnTo>
                <a:lnTo>
                  <a:pt x="119" y="1619"/>
                </a:lnTo>
                <a:lnTo>
                  <a:pt x="126" y="1630"/>
                </a:lnTo>
                <a:lnTo>
                  <a:pt x="136" y="1642"/>
                </a:lnTo>
                <a:lnTo>
                  <a:pt x="145" y="1653"/>
                </a:lnTo>
                <a:lnTo>
                  <a:pt x="155" y="1665"/>
                </a:lnTo>
                <a:lnTo>
                  <a:pt x="167" y="1674"/>
                </a:lnTo>
                <a:lnTo>
                  <a:pt x="176" y="1684"/>
                </a:lnTo>
                <a:lnTo>
                  <a:pt x="190" y="1694"/>
                </a:lnTo>
                <a:lnTo>
                  <a:pt x="201" y="1701"/>
                </a:lnTo>
                <a:lnTo>
                  <a:pt x="215" y="1711"/>
                </a:lnTo>
                <a:lnTo>
                  <a:pt x="226" y="1719"/>
                </a:lnTo>
                <a:lnTo>
                  <a:pt x="241" y="1724"/>
                </a:lnTo>
                <a:lnTo>
                  <a:pt x="255" y="1732"/>
                </a:lnTo>
                <a:lnTo>
                  <a:pt x="268" y="1738"/>
                </a:lnTo>
                <a:lnTo>
                  <a:pt x="284" y="1743"/>
                </a:lnTo>
                <a:lnTo>
                  <a:pt x="299" y="1747"/>
                </a:lnTo>
                <a:lnTo>
                  <a:pt x="314" y="1751"/>
                </a:lnTo>
                <a:lnTo>
                  <a:pt x="330" y="1755"/>
                </a:lnTo>
                <a:lnTo>
                  <a:pt x="345" y="1757"/>
                </a:lnTo>
                <a:lnTo>
                  <a:pt x="362" y="1759"/>
                </a:lnTo>
                <a:lnTo>
                  <a:pt x="380" y="1761"/>
                </a:lnTo>
                <a:lnTo>
                  <a:pt x="395" y="1761"/>
                </a:lnTo>
                <a:lnTo>
                  <a:pt x="414" y="1761"/>
                </a:lnTo>
                <a:lnTo>
                  <a:pt x="433" y="1759"/>
                </a:lnTo>
                <a:lnTo>
                  <a:pt x="431" y="1761"/>
                </a:lnTo>
                <a:lnTo>
                  <a:pt x="441" y="1776"/>
                </a:lnTo>
                <a:lnTo>
                  <a:pt x="452" y="1791"/>
                </a:lnTo>
                <a:lnTo>
                  <a:pt x="462" y="1805"/>
                </a:lnTo>
                <a:lnTo>
                  <a:pt x="474" y="1818"/>
                </a:lnTo>
                <a:lnTo>
                  <a:pt x="498" y="1845"/>
                </a:lnTo>
                <a:lnTo>
                  <a:pt x="523" y="1872"/>
                </a:lnTo>
                <a:lnTo>
                  <a:pt x="550" y="1895"/>
                </a:lnTo>
                <a:lnTo>
                  <a:pt x="581" y="1916"/>
                </a:lnTo>
                <a:lnTo>
                  <a:pt x="610" y="1937"/>
                </a:lnTo>
                <a:lnTo>
                  <a:pt x="642" y="1955"/>
                </a:lnTo>
                <a:lnTo>
                  <a:pt x="658" y="1962"/>
                </a:lnTo>
                <a:lnTo>
                  <a:pt x="675" y="1970"/>
                </a:lnTo>
                <a:lnTo>
                  <a:pt x="692" y="1978"/>
                </a:lnTo>
                <a:lnTo>
                  <a:pt x="710" y="1985"/>
                </a:lnTo>
                <a:lnTo>
                  <a:pt x="727" y="1991"/>
                </a:lnTo>
                <a:lnTo>
                  <a:pt x="744" y="1997"/>
                </a:lnTo>
                <a:lnTo>
                  <a:pt x="761" y="2002"/>
                </a:lnTo>
                <a:lnTo>
                  <a:pt x="781" y="2006"/>
                </a:lnTo>
                <a:lnTo>
                  <a:pt x="798" y="2012"/>
                </a:lnTo>
                <a:lnTo>
                  <a:pt x="817" y="2016"/>
                </a:lnTo>
                <a:lnTo>
                  <a:pt x="836" y="2018"/>
                </a:lnTo>
                <a:lnTo>
                  <a:pt x="853" y="2022"/>
                </a:lnTo>
                <a:lnTo>
                  <a:pt x="873" y="2024"/>
                </a:lnTo>
                <a:lnTo>
                  <a:pt x="892" y="2024"/>
                </a:lnTo>
                <a:lnTo>
                  <a:pt x="911" y="2026"/>
                </a:lnTo>
                <a:lnTo>
                  <a:pt x="930" y="2026"/>
                </a:lnTo>
                <a:lnTo>
                  <a:pt x="949" y="2026"/>
                </a:lnTo>
                <a:lnTo>
                  <a:pt x="970" y="2024"/>
                </a:lnTo>
                <a:lnTo>
                  <a:pt x="990" y="2024"/>
                </a:lnTo>
                <a:lnTo>
                  <a:pt x="1009" y="2022"/>
                </a:lnTo>
                <a:lnTo>
                  <a:pt x="1028" y="2018"/>
                </a:lnTo>
                <a:lnTo>
                  <a:pt x="1047" y="2014"/>
                </a:lnTo>
                <a:lnTo>
                  <a:pt x="1066" y="2010"/>
                </a:lnTo>
                <a:lnTo>
                  <a:pt x="1084" y="2006"/>
                </a:lnTo>
                <a:lnTo>
                  <a:pt x="1103" y="2001"/>
                </a:lnTo>
                <a:lnTo>
                  <a:pt x="1122" y="1997"/>
                </a:lnTo>
                <a:lnTo>
                  <a:pt x="1139" y="1989"/>
                </a:lnTo>
                <a:lnTo>
                  <a:pt x="1157" y="1983"/>
                </a:lnTo>
                <a:lnTo>
                  <a:pt x="1176" y="1976"/>
                </a:lnTo>
                <a:lnTo>
                  <a:pt x="1193" y="1968"/>
                </a:lnTo>
                <a:lnTo>
                  <a:pt x="1210" y="1958"/>
                </a:lnTo>
                <a:lnTo>
                  <a:pt x="1228" y="1951"/>
                </a:lnTo>
                <a:lnTo>
                  <a:pt x="1226" y="1951"/>
                </a:lnTo>
                <a:lnTo>
                  <a:pt x="1245" y="1974"/>
                </a:lnTo>
                <a:lnTo>
                  <a:pt x="1264" y="1997"/>
                </a:lnTo>
                <a:lnTo>
                  <a:pt x="1285" y="2018"/>
                </a:lnTo>
                <a:lnTo>
                  <a:pt x="1306" y="2037"/>
                </a:lnTo>
                <a:lnTo>
                  <a:pt x="1331" y="2054"/>
                </a:lnTo>
                <a:lnTo>
                  <a:pt x="1354" y="2072"/>
                </a:lnTo>
                <a:lnTo>
                  <a:pt x="1381" y="2087"/>
                </a:lnTo>
                <a:lnTo>
                  <a:pt x="1406" y="2100"/>
                </a:lnTo>
                <a:lnTo>
                  <a:pt x="1435" y="2114"/>
                </a:lnTo>
                <a:lnTo>
                  <a:pt x="1462" y="2123"/>
                </a:lnTo>
                <a:lnTo>
                  <a:pt x="1492" y="2133"/>
                </a:lnTo>
                <a:lnTo>
                  <a:pt x="1521" y="2141"/>
                </a:lnTo>
                <a:lnTo>
                  <a:pt x="1552" y="2146"/>
                </a:lnTo>
                <a:lnTo>
                  <a:pt x="1582" y="2152"/>
                </a:lnTo>
                <a:lnTo>
                  <a:pt x="1613" y="2154"/>
                </a:lnTo>
                <a:lnTo>
                  <a:pt x="1644" y="2156"/>
                </a:lnTo>
                <a:lnTo>
                  <a:pt x="1665" y="2154"/>
                </a:lnTo>
                <a:lnTo>
                  <a:pt x="1686" y="2154"/>
                </a:lnTo>
                <a:lnTo>
                  <a:pt x="1705" y="2152"/>
                </a:lnTo>
                <a:lnTo>
                  <a:pt x="1726" y="2148"/>
                </a:lnTo>
                <a:lnTo>
                  <a:pt x="1746" y="2146"/>
                </a:lnTo>
                <a:lnTo>
                  <a:pt x="1765" y="2141"/>
                </a:lnTo>
                <a:lnTo>
                  <a:pt x="1784" y="2137"/>
                </a:lnTo>
                <a:lnTo>
                  <a:pt x="1803" y="2131"/>
                </a:lnTo>
                <a:lnTo>
                  <a:pt x="1822" y="2125"/>
                </a:lnTo>
                <a:lnTo>
                  <a:pt x="1841" y="2118"/>
                </a:lnTo>
                <a:lnTo>
                  <a:pt x="1859" y="2110"/>
                </a:lnTo>
                <a:lnTo>
                  <a:pt x="1876" y="2102"/>
                </a:lnTo>
                <a:lnTo>
                  <a:pt x="1893" y="2095"/>
                </a:lnTo>
                <a:lnTo>
                  <a:pt x="1911" y="2085"/>
                </a:lnTo>
                <a:lnTo>
                  <a:pt x="1928" y="2075"/>
                </a:lnTo>
                <a:lnTo>
                  <a:pt x="1943" y="2064"/>
                </a:lnTo>
                <a:lnTo>
                  <a:pt x="1958" y="2054"/>
                </a:lnTo>
                <a:lnTo>
                  <a:pt x="1974" y="2041"/>
                </a:lnTo>
                <a:lnTo>
                  <a:pt x="1989" y="2029"/>
                </a:lnTo>
                <a:lnTo>
                  <a:pt x="2003" y="2018"/>
                </a:lnTo>
                <a:lnTo>
                  <a:pt x="2016" y="2004"/>
                </a:lnTo>
                <a:lnTo>
                  <a:pt x="2029" y="1991"/>
                </a:lnTo>
                <a:lnTo>
                  <a:pt x="2043" y="1976"/>
                </a:lnTo>
                <a:lnTo>
                  <a:pt x="2054" y="1960"/>
                </a:lnTo>
                <a:lnTo>
                  <a:pt x="2066" y="1947"/>
                </a:lnTo>
                <a:lnTo>
                  <a:pt x="2076" y="1930"/>
                </a:lnTo>
                <a:lnTo>
                  <a:pt x="2085" y="1914"/>
                </a:lnTo>
                <a:lnTo>
                  <a:pt x="2095" y="1899"/>
                </a:lnTo>
                <a:lnTo>
                  <a:pt x="2104" y="1882"/>
                </a:lnTo>
                <a:lnTo>
                  <a:pt x="2112" y="1864"/>
                </a:lnTo>
                <a:lnTo>
                  <a:pt x="2118" y="1847"/>
                </a:lnTo>
                <a:lnTo>
                  <a:pt x="2125" y="1828"/>
                </a:lnTo>
                <a:lnTo>
                  <a:pt x="2125" y="1832"/>
                </a:lnTo>
                <a:lnTo>
                  <a:pt x="2152" y="1845"/>
                </a:lnTo>
                <a:lnTo>
                  <a:pt x="2179" y="1857"/>
                </a:lnTo>
                <a:lnTo>
                  <a:pt x="2206" y="1866"/>
                </a:lnTo>
                <a:lnTo>
                  <a:pt x="2235" y="1876"/>
                </a:lnTo>
                <a:lnTo>
                  <a:pt x="2264" y="1882"/>
                </a:lnTo>
                <a:lnTo>
                  <a:pt x="2294" y="1887"/>
                </a:lnTo>
                <a:lnTo>
                  <a:pt x="2323" y="1889"/>
                </a:lnTo>
                <a:lnTo>
                  <a:pt x="2338" y="1889"/>
                </a:lnTo>
                <a:lnTo>
                  <a:pt x="2354" y="1891"/>
                </a:lnTo>
                <a:lnTo>
                  <a:pt x="2377" y="1889"/>
                </a:lnTo>
                <a:lnTo>
                  <a:pt x="2398" y="1887"/>
                </a:lnTo>
                <a:lnTo>
                  <a:pt x="2419" y="1885"/>
                </a:lnTo>
                <a:lnTo>
                  <a:pt x="2440" y="1882"/>
                </a:lnTo>
                <a:lnTo>
                  <a:pt x="2461" y="1878"/>
                </a:lnTo>
                <a:lnTo>
                  <a:pt x="2480" y="1872"/>
                </a:lnTo>
                <a:lnTo>
                  <a:pt x="2501" y="1866"/>
                </a:lnTo>
                <a:lnTo>
                  <a:pt x="2521" y="1861"/>
                </a:lnTo>
                <a:lnTo>
                  <a:pt x="2540" y="1853"/>
                </a:lnTo>
                <a:lnTo>
                  <a:pt x="2559" y="1843"/>
                </a:lnTo>
                <a:lnTo>
                  <a:pt x="2576" y="1834"/>
                </a:lnTo>
                <a:lnTo>
                  <a:pt x="2594" y="1824"/>
                </a:lnTo>
                <a:lnTo>
                  <a:pt x="2611" y="1813"/>
                </a:lnTo>
                <a:lnTo>
                  <a:pt x="2626" y="1801"/>
                </a:lnTo>
                <a:lnTo>
                  <a:pt x="2641" y="1790"/>
                </a:lnTo>
                <a:lnTo>
                  <a:pt x="2657" y="1776"/>
                </a:lnTo>
                <a:lnTo>
                  <a:pt x="2672" y="1763"/>
                </a:lnTo>
                <a:lnTo>
                  <a:pt x="2686" y="1749"/>
                </a:lnTo>
                <a:lnTo>
                  <a:pt x="2697" y="1734"/>
                </a:lnTo>
                <a:lnTo>
                  <a:pt x="2711" y="1719"/>
                </a:lnTo>
                <a:lnTo>
                  <a:pt x="2722" y="1703"/>
                </a:lnTo>
                <a:lnTo>
                  <a:pt x="2732" y="1686"/>
                </a:lnTo>
                <a:lnTo>
                  <a:pt x="2741" y="1671"/>
                </a:lnTo>
                <a:lnTo>
                  <a:pt x="2749" y="1653"/>
                </a:lnTo>
                <a:lnTo>
                  <a:pt x="2759" y="1634"/>
                </a:lnTo>
                <a:lnTo>
                  <a:pt x="2764" y="1617"/>
                </a:lnTo>
                <a:lnTo>
                  <a:pt x="2770" y="1598"/>
                </a:lnTo>
                <a:lnTo>
                  <a:pt x="2776" y="1580"/>
                </a:lnTo>
                <a:lnTo>
                  <a:pt x="2780" y="1561"/>
                </a:lnTo>
                <a:lnTo>
                  <a:pt x="2782" y="1540"/>
                </a:lnTo>
                <a:lnTo>
                  <a:pt x="2783" y="1521"/>
                </a:lnTo>
                <a:lnTo>
                  <a:pt x="2785" y="1502"/>
                </a:lnTo>
                <a:lnTo>
                  <a:pt x="2783" y="1500"/>
                </a:lnTo>
                <a:lnTo>
                  <a:pt x="2806" y="1496"/>
                </a:lnTo>
                <a:lnTo>
                  <a:pt x="2830" y="1492"/>
                </a:lnTo>
                <a:lnTo>
                  <a:pt x="2853" y="1486"/>
                </a:lnTo>
                <a:lnTo>
                  <a:pt x="2874" y="1481"/>
                </a:lnTo>
                <a:lnTo>
                  <a:pt x="2895" y="1473"/>
                </a:lnTo>
                <a:lnTo>
                  <a:pt x="2916" y="1465"/>
                </a:lnTo>
                <a:lnTo>
                  <a:pt x="2937" y="1456"/>
                </a:lnTo>
                <a:lnTo>
                  <a:pt x="2956" y="1448"/>
                </a:lnTo>
                <a:lnTo>
                  <a:pt x="2975" y="1437"/>
                </a:lnTo>
                <a:lnTo>
                  <a:pt x="2995" y="1425"/>
                </a:lnTo>
                <a:lnTo>
                  <a:pt x="3012" y="1414"/>
                </a:lnTo>
                <a:lnTo>
                  <a:pt x="3031" y="1402"/>
                </a:lnTo>
                <a:lnTo>
                  <a:pt x="3046" y="1389"/>
                </a:lnTo>
                <a:lnTo>
                  <a:pt x="3064" y="1375"/>
                </a:lnTo>
                <a:lnTo>
                  <a:pt x="3079" y="1360"/>
                </a:lnTo>
                <a:lnTo>
                  <a:pt x="3094" y="1346"/>
                </a:lnTo>
                <a:lnTo>
                  <a:pt x="3108" y="1331"/>
                </a:lnTo>
                <a:lnTo>
                  <a:pt x="3121" y="1314"/>
                </a:lnTo>
                <a:lnTo>
                  <a:pt x="3135" y="1298"/>
                </a:lnTo>
                <a:lnTo>
                  <a:pt x="3146" y="1281"/>
                </a:lnTo>
                <a:lnTo>
                  <a:pt x="3156" y="1264"/>
                </a:lnTo>
                <a:lnTo>
                  <a:pt x="3167" y="1245"/>
                </a:lnTo>
                <a:lnTo>
                  <a:pt x="3177" y="1227"/>
                </a:lnTo>
                <a:lnTo>
                  <a:pt x="3184" y="1208"/>
                </a:lnTo>
                <a:lnTo>
                  <a:pt x="3192" y="1189"/>
                </a:lnTo>
                <a:lnTo>
                  <a:pt x="3198" y="1168"/>
                </a:lnTo>
                <a:lnTo>
                  <a:pt x="3204" y="1149"/>
                </a:lnTo>
                <a:lnTo>
                  <a:pt x="3209" y="1128"/>
                </a:lnTo>
                <a:lnTo>
                  <a:pt x="3213" y="1109"/>
                </a:lnTo>
                <a:lnTo>
                  <a:pt x="3215" y="1087"/>
                </a:lnTo>
                <a:lnTo>
                  <a:pt x="3217" y="1066"/>
                </a:lnTo>
                <a:lnTo>
                  <a:pt x="3217" y="1045"/>
                </a:lnTo>
                <a:lnTo>
                  <a:pt x="3217" y="1026"/>
                </a:lnTo>
                <a:lnTo>
                  <a:pt x="3215" y="1007"/>
                </a:lnTo>
                <a:lnTo>
                  <a:pt x="3213" y="988"/>
                </a:lnTo>
                <a:lnTo>
                  <a:pt x="3209" y="968"/>
                </a:lnTo>
                <a:lnTo>
                  <a:pt x="3206" y="951"/>
                </a:lnTo>
                <a:lnTo>
                  <a:pt x="3202" y="932"/>
                </a:lnTo>
                <a:lnTo>
                  <a:pt x="3196" y="915"/>
                </a:lnTo>
                <a:lnTo>
                  <a:pt x="3190" y="896"/>
                </a:lnTo>
                <a:lnTo>
                  <a:pt x="3183" y="878"/>
                </a:lnTo>
                <a:lnTo>
                  <a:pt x="3175" y="861"/>
                </a:lnTo>
                <a:lnTo>
                  <a:pt x="3167" y="844"/>
                </a:lnTo>
                <a:lnTo>
                  <a:pt x="3158" y="828"/>
                </a:lnTo>
                <a:lnTo>
                  <a:pt x="3148" y="811"/>
                </a:lnTo>
                <a:lnTo>
                  <a:pt x="3136" y="796"/>
                </a:lnTo>
                <a:lnTo>
                  <a:pt x="3125" y="779"/>
                </a:lnTo>
                <a:lnTo>
                  <a:pt x="3113" y="765"/>
                </a:lnTo>
                <a:lnTo>
                  <a:pt x="3112" y="763"/>
                </a:lnTo>
                <a:lnTo>
                  <a:pt x="3119" y="746"/>
                </a:lnTo>
                <a:lnTo>
                  <a:pt x="3125" y="729"/>
                </a:lnTo>
                <a:lnTo>
                  <a:pt x="3131" y="711"/>
                </a:lnTo>
                <a:lnTo>
                  <a:pt x="3136" y="694"/>
                </a:lnTo>
                <a:lnTo>
                  <a:pt x="3138" y="675"/>
                </a:lnTo>
                <a:lnTo>
                  <a:pt x="3142" y="658"/>
                </a:lnTo>
                <a:lnTo>
                  <a:pt x="3144" y="638"/>
                </a:lnTo>
                <a:lnTo>
                  <a:pt x="3144" y="621"/>
                </a:lnTo>
                <a:lnTo>
                  <a:pt x="3144" y="606"/>
                </a:lnTo>
                <a:lnTo>
                  <a:pt x="3142" y="591"/>
                </a:lnTo>
                <a:lnTo>
                  <a:pt x="3140" y="575"/>
                </a:lnTo>
                <a:lnTo>
                  <a:pt x="3138" y="560"/>
                </a:lnTo>
                <a:lnTo>
                  <a:pt x="3135" y="546"/>
                </a:lnTo>
                <a:lnTo>
                  <a:pt x="3131" y="531"/>
                </a:lnTo>
                <a:lnTo>
                  <a:pt x="3127" y="518"/>
                </a:lnTo>
                <a:lnTo>
                  <a:pt x="3123" y="502"/>
                </a:lnTo>
                <a:lnTo>
                  <a:pt x="3117" y="489"/>
                </a:lnTo>
                <a:lnTo>
                  <a:pt x="3112" y="475"/>
                </a:lnTo>
                <a:lnTo>
                  <a:pt x="3104" y="462"/>
                </a:lnTo>
                <a:lnTo>
                  <a:pt x="3096" y="449"/>
                </a:lnTo>
                <a:lnTo>
                  <a:pt x="3089" y="437"/>
                </a:lnTo>
                <a:lnTo>
                  <a:pt x="3081" y="424"/>
                </a:lnTo>
                <a:lnTo>
                  <a:pt x="3071" y="412"/>
                </a:lnTo>
                <a:lnTo>
                  <a:pt x="3062" y="401"/>
                </a:lnTo>
                <a:lnTo>
                  <a:pt x="3052" y="389"/>
                </a:lnTo>
                <a:lnTo>
                  <a:pt x="3042" y="378"/>
                </a:lnTo>
                <a:lnTo>
                  <a:pt x="3031" y="368"/>
                </a:lnTo>
                <a:lnTo>
                  <a:pt x="3019" y="356"/>
                </a:lnTo>
                <a:lnTo>
                  <a:pt x="2995" y="337"/>
                </a:lnTo>
                <a:lnTo>
                  <a:pt x="2970" y="320"/>
                </a:lnTo>
                <a:lnTo>
                  <a:pt x="2956" y="312"/>
                </a:lnTo>
                <a:lnTo>
                  <a:pt x="2943" y="305"/>
                </a:lnTo>
                <a:lnTo>
                  <a:pt x="2927" y="297"/>
                </a:lnTo>
                <a:lnTo>
                  <a:pt x="2912" y="291"/>
                </a:lnTo>
                <a:lnTo>
                  <a:pt x="2899" y="286"/>
                </a:lnTo>
                <a:lnTo>
                  <a:pt x="2883" y="280"/>
                </a:lnTo>
                <a:lnTo>
                  <a:pt x="2866" y="276"/>
                </a:lnTo>
                <a:lnTo>
                  <a:pt x="2851" y="270"/>
                </a:lnTo>
                <a:lnTo>
                  <a:pt x="2853" y="270"/>
                </a:lnTo>
                <a:lnTo>
                  <a:pt x="2849" y="255"/>
                </a:lnTo>
                <a:lnTo>
                  <a:pt x="2845" y="241"/>
                </a:lnTo>
                <a:lnTo>
                  <a:pt x="2841" y="226"/>
                </a:lnTo>
                <a:lnTo>
                  <a:pt x="2835" y="213"/>
                </a:lnTo>
                <a:lnTo>
                  <a:pt x="2830" y="199"/>
                </a:lnTo>
                <a:lnTo>
                  <a:pt x="2824" y="186"/>
                </a:lnTo>
                <a:lnTo>
                  <a:pt x="2816" y="174"/>
                </a:lnTo>
                <a:lnTo>
                  <a:pt x="2808" y="161"/>
                </a:lnTo>
                <a:lnTo>
                  <a:pt x="2801" y="149"/>
                </a:lnTo>
                <a:lnTo>
                  <a:pt x="2791" y="138"/>
                </a:lnTo>
                <a:lnTo>
                  <a:pt x="2782" y="126"/>
                </a:lnTo>
                <a:lnTo>
                  <a:pt x="2772" y="115"/>
                </a:lnTo>
                <a:lnTo>
                  <a:pt x="2762" y="105"/>
                </a:lnTo>
                <a:lnTo>
                  <a:pt x="2751" y="94"/>
                </a:lnTo>
                <a:lnTo>
                  <a:pt x="2728" y="76"/>
                </a:lnTo>
                <a:lnTo>
                  <a:pt x="2716" y="67"/>
                </a:lnTo>
                <a:lnTo>
                  <a:pt x="2703" y="59"/>
                </a:lnTo>
                <a:lnTo>
                  <a:pt x="2691" y="51"/>
                </a:lnTo>
                <a:lnTo>
                  <a:pt x="2678" y="44"/>
                </a:lnTo>
                <a:lnTo>
                  <a:pt x="2665" y="36"/>
                </a:lnTo>
                <a:lnTo>
                  <a:pt x="2651" y="30"/>
                </a:lnTo>
                <a:lnTo>
                  <a:pt x="2636" y="25"/>
                </a:lnTo>
                <a:lnTo>
                  <a:pt x="2622" y="19"/>
                </a:lnTo>
                <a:lnTo>
                  <a:pt x="2607" y="15"/>
                </a:lnTo>
                <a:lnTo>
                  <a:pt x="2592" y="11"/>
                </a:lnTo>
                <a:lnTo>
                  <a:pt x="2576" y="7"/>
                </a:lnTo>
                <a:lnTo>
                  <a:pt x="2561" y="4"/>
                </a:lnTo>
                <a:lnTo>
                  <a:pt x="2546" y="2"/>
                </a:lnTo>
                <a:lnTo>
                  <a:pt x="2528" y="0"/>
                </a:lnTo>
                <a:lnTo>
                  <a:pt x="2513" y="0"/>
                </a:lnTo>
                <a:lnTo>
                  <a:pt x="2496" y="0"/>
                </a:lnTo>
                <a:lnTo>
                  <a:pt x="2477" y="0"/>
                </a:lnTo>
                <a:lnTo>
                  <a:pt x="2457" y="2"/>
                </a:lnTo>
                <a:lnTo>
                  <a:pt x="2436" y="4"/>
                </a:lnTo>
                <a:lnTo>
                  <a:pt x="2417" y="7"/>
                </a:lnTo>
                <a:lnTo>
                  <a:pt x="2400" y="11"/>
                </a:lnTo>
                <a:lnTo>
                  <a:pt x="2381" y="17"/>
                </a:lnTo>
                <a:lnTo>
                  <a:pt x="2361" y="23"/>
                </a:lnTo>
                <a:lnTo>
                  <a:pt x="2344" y="28"/>
                </a:lnTo>
                <a:lnTo>
                  <a:pt x="2327" y="38"/>
                </a:lnTo>
                <a:lnTo>
                  <a:pt x="2310" y="46"/>
                </a:lnTo>
                <a:lnTo>
                  <a:pt x="2294" y="55"/>
                </a:lnTo>
                <a:lnTo>
                  <a:pt x="2277" y="67"/>
                </a:lnTo>
                <a:lnTo>
                  <a:pt x="2262" y="76"/>
                </a:lnTo>
                <a:lnTo>
                  <a:pt x="2248" y="90"/>
                </a:lnTo>
                <a:lnTo>
                  <a:pt x="2233" y="101"/>
                </a:lnTo>
                <a:lnTo>
                  <a:pt x="2221" y="115"/>
                </a:lnTo>
                <a:lnTo>
                  <a:pt x="2221" y="117"/>
                </a:lnTo>
                <a:lnTo>
                  <a:pt x="2210" y="103"/>
                </a:lnTo>
                <a:lnTo>
                  <a:pt x="2196" y="90"/>
                </a:lnTo>
                <a:lnTo>
                  <a:pt x="2183" y="78"/>
                </a:lnTo>
                <a:lnTo>
                  <a:pt x="2170" y="67"/>
                </a:lnTo>
                <a:lnTo>
                  <a:pt x="2154" y="55"/>
                </a:lnTo>
                <a:lnTo>
                  <a:pt x="2139" y="46"/>
                </a:lnTo>
                <a:lnTo>
                  <a:pt x="2123" y="38"/>
                </a:lnTo>
                <a:lnTo>
                  <a:pt x="2106" y="30"/>
                </a:lnTo>
                <a:lnTo>
                  <a:pt x="2089" y="23"/>
                </a:lnTo>
                <a:lnTo>
                  <a:pt x="2072" y="17"/>
                </a:lnTo>
                <a:lnTo>
                  <a:pt x="2054" y="11"/>
                </a:lnTo>
                <a:lnTo>
                  <a:pt x="2037" y="7"/>
                </a:lnTo>
                <a:lnTo>
                  <a:pt x="2018" y="4"/>
                </a:lnTo>
                <a:lnTo>
                  <a:pt x="2001" y="2"/>
                </a:lnTo>
                <a:lnTo>
                  <a:pt x="1982" y="0"/>
                </a:lnTo>
                <a:lnTo>
                  <a:pt x="1962" y="0"/>
                </a:lnTo>
                <a:lnTo>
                  <a:pt x="1939" y="0"/>
                </a:lnTo>
                <a:lnTo>
                  <a:pt x="1916" y="2"/>
                </a:lnTo>
                <a:lnTo>
                  <a:pt x="1895" y="5"/>
                </a:lnTo>
                <a:lnTo>
                  <a:pt x="1872" y="11"/>
                </a:lnTo>
                <a:lnTo>
                  <a:pt x="1851" y="17"/>
                </a:lnTo>
                <a:lnTo>
                  <a:pt x="1830" y="25"/>
                </a:lnTo>
                <a:lnTo>
                  <a:pt x="1811" y="32"/>
                </a:lnTo>
                <a:lnTo>
                  <a:pt x="1792" y="44"/>
                </a:lnTo>
                <a:lnTo>
                  <a:pt x="1772" y="55"/>
                </a:lnTo>
                <a:lnTo>
                  <a:pt x="1755" y="67"/>
                </a:lnTo>
                <a:lnTo>
                  <a:pt x="1738" y="80"/>
                </a:lnTo>
                <a:lnTo>
                  <a:pt x="1723" y="96"/>
                </a:lnTo>
                <a:lnTo>
                  <a:pt x="1707" y="111"/>
                </a:lnTo>
                <a:lnTo>
                  <a:pt x="1694" y="128"/>
                </a:lnTo>
                <a:lnTo>
                  <a:pt x="1682" y="145"/>
                </a:lnTo>
                <a:lnTo>
                  <a:pt x="1671" y="163"/>
                </a:lnTo>
                <a:lnTo>
                  <a:pt x="1673" y="168"/>
                </a:lnTo>
                <a:lnTo>
                  <a:pt x="1659" y="155"/>
                </a:lnTo>
                <a:lnTo>
                  <a:pt x="1644" y="144"/>
                </a:lnTo>
                <a:lnTo>
                  <a:pt x="1629" y="134"/>
                </a:lnTo>
                <a:lnTo>
                  <a:pt x="1613" y="124"/>
                </a:lnTo>
                <a:lnTo>
                  <a:pt x="1596" y="115"/>
                </a:lnTo>
                <a:lnTo>
                  <a:pt x="1579" y="105"/>
                </a:lnTo>
                <a:lnTo>
                  <a:pt x="1561" y="98"/>
                </a:lnTo>
                <a:lnTo>
                  <a:pt x="1544" y="92"/>
                </a:lnTo>
                <a:lnTo>
                  <a:pt x="1527" y="84"/>
                </a:lnTo>
                <a:lnTo>
                  <a:pt x="1508" y="80"/>
                </a:lnTo>
                <a:lnTo>
                  <a:pt x="1490" y="74"/>
                </a:lnTo>
                <a:lnTo>
                  <a:pt x="1471" y="71"/>
                </a:lnTo>
                <a:lnTo>
                  <a:pt x="1452" y="69"/>
                </a:lnTo>
                <a:lnTo>
                  <a:pt x="1433" y="65"/>
                </a:lnTo>
                <a:lnTo>
                  <a:pt x="1414" y="65"/>
                </a:lnTo>
                <a:lnTo>
                  <a:pt x="1394" y="65"/>
                </a:lnTo>
                <a:lnTo>
                  <a:pt x="1368" y="65"/>
                </a:lnTo>
                <a:lnTo>
                  <a:pt x="1339" y="67"/>
                </a:lnTo>
                <a:lnTo>
                  <a:pt x="1314" y="71"/>
                </a:lnTo>
                <a:lnTo>
                  <a:pt x="1287" y="78"/>
                </a:lnTo>
                <a:lnTo>
                  <a:pt x="1262" y="84"/>
                </a:lnTo>
                <a:lnTo>
                  <a:pt x="1237" y="94"/>
                </a:lnTo>
                <a:lnTo>
                  <a:pt x="1212" y="103"/>
                </a:lnTo>
                <a:lnTo>
                  <a:pt x="1189" y="115"/>
                </a:lnTo>
                <a:lnTo>
                  <a:pt x="1166" y="128"/>
                </a:lnTo>
                <a:lnTo>
                  <a:pt x="1145" y="144"/>
                </a:lnTo>
                <a:lnTo>
                  <a:pt x="1126" y="159"/>
                </a:lnTo>
                <a:lnTo>
                  <a:pt x="1107" y="176"/>
                </a:lnTo>
                <a:lnTo>
                  <a:pt x="1087" y="195"/>
                </a:lnTo>
                <a:lnTo>
                  <a:pt x="1072" y="215"/>
                </a:lnTo>
                <a:lnTo>
                  <a:pt x="1057" y="234"/>
                </a:lnTo>
                <a:lnTo>
                  <a:pt x="1043" y="257"/>
                </a:lnTo>
                <a:lnTo>
                  <a:pt x="1041" y="259"/>
                </a:lnTo>
                <a:lnTo>
                  <a:pt x="1013" y="243"/>
                </a:lnTo>
                <a:lnTo>
                  <a:pt x="982" y="232"/>
                </a:lnTo>
                <a:lnTo>
                  <a:pt x="951" y="220"/>
                </a:lnTo>
                <a:lnTo>
                  <a:pt x="936" y="216"/>
                </a:lnTo>
                <a:lnTo>
                  <a:pt x="919" y="213"/>
                </a:lnTo>
                <a:lnTo>
                  <a:pt x="903" y="209"/>
                </a:lnTo>
                <a:lnTo>
                  <a:pt x="888" y="205"/>
                </a:lnTo>
                <a:lnTo>
                  <a:pt x="871" y="203"/>
                </a:lnTo>
                <a:lnTo>
                  <a:pt x="853" y="199"/>
                </a:lnTo>
                <a:lnTo>
                  <a:pt x="838" y="197"/>
                </a:lnTo>
                <a:lnTo>
                  <a:pt x="821" y="197"/>
                </a:lnTo>
                <a:lnTo>
                  <a:pt x="804" y="195"/>
                </a:lnTo>
                <a:lnTo>
                  <a:pt x="788" y="195"/>
                </a:lnTo>
                <a:lnTo>
                  <a:pt x="761" y="197"/>
                </a:lnTo>
                <a:lnTo>
                  <a:pt x="736" y="199"/>
                </a:lnTo>
                <a:lnTo>
                  <a:pt x="711" y="201"/>
                </a:lnTo>
                <a:lnTo>
                  <a:pt x="687" y="205"/>
                </a:lnTo>
                <a:lnTo>
                  <a:pt x="662" y="211"/>
                </a:lnTo>
                <a:lnTo>
                  <a:pt x="639" y="216"/>
                </a:lnTo>
                <a:lnTo>
                  <a:pt x="616" y="224"/>
                </a:lnTo>
                <a:lnTo>
                  <a:pt x="593" y="232"/>
                </a:lnTo>
                <a:lnTo>
                  <a:pt x="569" y="241"/>
                </a:lnTo>
                <a:lnTo>
                  <a:pt x="548" y="251"/>
                </a:lnTo>
                <a:lnTo>
                  <a:pt x="527" y="262"/>
                </a:lnTo>
                <a:lnTo>
                  <a:pt x="506" y="274"/>
                </a:lnTo>
                <a:lnTo>
                  <a:pt x="487" y="287"/>
                </a:lnTo>
                <a:lnTo>
                  <a:pt x="468" y="301"/>
                </a:lnTo>
                <a:lnTo>
                  <a:pt x="449" y="314"/>
                </a:lnTo>
                <a:lnTo>
                  <a:pt x="431" y="330"/>
                </a:lnTo>
                <a:lnTo>
                  <a:pt x="416" y="347"/>
                </a:lnTo>
                <a:lnTo>
                  <a:pt x="399" y="362"/>
                </a:lnTo>
                <a:lnTo>
                  <a:pt x="385" y="380"/>
                </a:lnTo>
                <a:lnTo>
                  <a:pt x="370" y="399"/>
                </a:lnTo>
                <a:lnTo>
                  <a:pt x="358" y="416"/>
                </a:lnTo>
                <a:lnTo>
                  <a:pt x="345" y="435"/>
                </a:lnTo>
                <a:lnTo>
                  <a:pt x="333" y="456"/>
                </a:lnTo>
                <a:lnTo>
                  <a:pt x="324" y="475"/>
                </a:lnTo>
                <a:lnTo>
                  <a:pt x="314" y="497"/>
                </a:lnTo>
                <a:lnTo>
                  <a:pt x="307" y="518"/>
                </a:lnTo>
                <a:lnTo>
                  <a:pt x="301" y="541"/>
                </a:lnTo>
                <a:lnTo>
                  <a:pt x="295" y="562"/>
                </a:lnTo>
                <a:lnTo>
                  <a:pt x="291" y="585"/>
                </a:lnTo>
                <a:lnTo>
                  <a:pt x="287" y="608"/>
                </a:lnTo>
                <a:lnTo>
                  <a:pt x="286" y="631"/>
                </a:lnTo>
                <a:lnTo>
                  <a:pt x="286" y="654"/>
                </a:lnTo>
                <a:lnTo>
                  <a:pt x="286" y="669"/>
                </a:lnTo>
                <a:lnTo>
                  <a:pt x="286" y="686"/>
                </a:lnTo>
                <a:lnTo>
                  <a:pt x="287" y="702"/>
                </a:lnTo>
                <a:lnTo>
                  <a:pt x="289" y="717"/>
                </a:lnTo>
                <a:lnTo>
                  <a:pt x="291" y="715"/>
                </a:lnTo>
                <a:close/>
              </a:path>
            </a:pathLst>
          </a:custGeom>
          <a:solidFill>
            <a:schemeClr val="bg1"/>
          </a:solidFill>
          <a:ln w="28575" cmpd="sng">
            <a:solidFill>
              <a:srgbClr val="00B0F0"/>
            </a:solidFill>
            <a:round/>
            <a:headEnd/>
            <a:tailEnd/>
          </a:ln>
        </p:spPr>
        <p:txBody>
          <a:bodyPr/>
          <a:lstStyle/>
          <a:p>
            <a:pPr defTabSz="1218906"/>
            <a:r>
              <a:rPr lang="en-GB" sz="1200" dirty="0">
                <a:cs typeface="+mn-ea"/>
                <a:sym typeface="+mn-lt"/>
              </a:rPr>
              <a:t>APP</a:t>
            </a:r>
          </a:p>
        </p:txBody>
      </p:sp>
    </p:spTree>
    <p:extLst>
      <p:ext uri="{BB962C8B-B14F-4D97-AF65-F5344CB8AC3E}">
        <p14:creationId xmlns:p14="http://schemas.microsoft.com/office/powerpoint/2010/main" val="1451396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B402C0-D466-40CA-8DB5-5D31E48792F5}"/>
              </a:ext>
            </a:extLst>
          </p:cNvPr>
          <p:cNvSpPr>
            <a:spLocks noGrp="1"/>
          </p:cNvSpPr>
          <p:nvPr>
            <p:ph type="title"/>
          </p:nvPr>
        </p:nvSpPr>
        <p:spPr bwMode="gray"/>
        <p:txBody>
          <a:bodyPr/>
          <a:lstStyle/>
          <a:p>
            <a:r>
              <a:rPr lang="zh-CN" altLang="en-US"/>
              <a:t>什么是</a:t>
            </a:r>
            <a:r>
              <a:rPr lang="en-US" altLang="zh-CN"/>
              <a:t>iMaster NCE </a:t>
            </a:r>
            <a:r>
              <a:rPr lang="zh-CN" altLang="en-US"/>
              <a:t>？</a:t>
            </a:r>
          </a:p>
        </p:txBody>
      </p:sp>
      <p:sp>
        <p:nvSpPr>
          <p:cNvPr id="59" name="文本占位符 58"/>
          <p:cNvSpPr>
            <a:spLocks noGrp="1"/>
          </p:cNvSpPr>
          <p:nvPr>
            <p:ph type="body" sz="quarter" idx="10"/>
          </p:nvPr>
        </p:nvSpPr>
        <p:spPr bwMode="gray"/>
        <p:txBody>
          <a:bodyPr/>
          <a:lstStyle/>
          <a:p>
            <a:r>
              <a:rPr lang="en-US" altLang="zh-CN" sz="1800" dirty="0" err="1"/>
              <a:t>iMaster</a:t>
            </a:r>
            <a:r>
              <a:rPr lang="en-US" altLang="zh-CN" sz="1800" dirty="0"/>
              <a:t> NCE</a:t>
            </a:r>
            <a:r>
              <a:rPr lang="zh-CN" altLang="en-US" sz="1800" dirty="0"/>
              <a:t>，自动驾驶网络管理与控制系统，是华为集管理、控制、分析和</a:t>
            </a:r>
            <a:r>
              <a:rPr lang="en-US" altLang="zh-CN" sz="1800" dirty="0"/>
              <a:t>AI</a:t>
            </a:r>
            <a:r>
              <a:rPr lang="zh-CN" altLang="en-US" sz="1800" dirty="0"/>
              <a:t>智能功能于一体的网络自动化与智能化平台。</a:t>
            </a:r>
          </a:p>
          <a:p>
            <a:endParaRPr lang="zh-CN" altLang="en-US" sz="1800" dirty="0"/>
          </a:p>
        </p:txBody>
      </p:sp>
      <p:sp>
        <p:nvSpPr>
          <p:cNvPr id="3" name="圆角矩形 3">
            <a:extLst>
              <a:ext uri="{FF2B5EF4-FFF2-40B4-BE49-F238E27FC236}">
                <a16:creationId xmlns:a16="http://schemas.microsoft.com/office/drawing/2014/main" id="{F0F4DF4A-CAAE-4265-9EDF-1815881EA2C3}"/>
              </a:ext>
            </a:extLst>
          </p:cNvPr>
          <p:cNvSpPr/>
          <p:nvPr/>
        </p:nvSpPr>
        <p:spPr bwMode="gray">
          <a:xfrm>
            <a:off x="969819" y="1836682"/>
            <a:ext cx="10227570" cy="1759216"/>
          </a:xfrm>
          <a:prstGeom prst="roundRect">
            <a:avLst>
              <a:gd name="adj" fmla="val 3817"/>
            </a:avLst>
          </a:prstGeom>
          <a:noFill/>
          <a:ln w="25400">
            <a:gradFill flip="none" rotWithShape="1">
              <a:gsLst>
                <a:gs pos="0">
                  <a:srgbClr val="99DFF9"/>
                </a:gs>
                <a:gs pos="100000">
                  <a:srgbClr val="F3FBFE"/>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solidFill>
                <a:prstClr val="black"/>
              </a:solidFill>
              <a:cs typeface="+mn-ea"/>
              <a:sym typeface="Huawei Sans" panose="020C0503030203020204" pitchFamily="34" charset="0"/>
            </a:endParaRPr>
          </a:p>
        </p:txBody>
      </p:sp>
      <p:sp>
        <p:nvSpPr>
          <p:cNvPr id="4" name="椭圆 3">
            <a:extLst>
              <a:ext uri="{FF2B5EF4-FFF2-40B4-BE49-F238E27FC236}">
                <a16:creationId xmlns:a16="http://schemas.microsoft.com/office/drawing/2014/main" id="{39ED5131-33BB-4FC7-9FAF-10E04A93FF1F}"/>
              </a:ext>
            </a:extLst>
          </p:cNvPr>
          <p:cNvSpPr/>
          <p:nvPr/>
        </p:nvSpPr>
        <p:spPr bwMode="gray">
          <a:xfrm rot="2496350">
            <a:off x="5439111" y="3353646"/>
            <a:ext cx="1391795" cy="1391795"/>
          </a:xfrm>
          <a:prstGeom prst="ellipse">
            <a:avLst/>
          </a:prstGeom>
          <a:noFill/>
          <a:ln w="31750">
            <a:gradFill>
              <a:gsLst>
                <a:gs pos="0">
                  <a:srgbClr val="00B0F0"/>
                </a:gs>
                <a:gs pos="47000">
                  <a:srgbClr val="99DFF9"/>
                </a:gs>
                <a:gs pos="100000">
                  <a:srgbClr val="00B0F0"/>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49">
              <a:solidFill>
                <a:prstClr val="black"/>
              </a:solidFill>
              <a:cs typeface="+mn-ea"/>
              <a:sym typeface="Huawei Sans" panose="020C0503030203020204" pitchFamily="34" charset="0"/>
            </a:endParaRPr>
          </a:p>
        </p:txBody>
      </p:sp>
      <p:sp>
        <p:nvSpPr>
          <p:cNvPr id="5" name="椭圆 4">
            <a:extLst>
              <a:ext uri="{FF2B5EF4-FFF2-40B4-BE49-F238E27FC236}">
                <a16:creationId xmlns:a16="http://schemas.microsoft.com/office/drawing/2014/main" id="{5D6D5DC5-BD2C-407E-B0A1-42D2C7F7FE2E}"/>
              </a:ext>
            </a:extLst>
          </p:cNvPr>
          <p:cNvSpPr/>
          <p:nvPr/>
        </p:nvSpPr>
        <p:spPr bwMode="gray">
          <a:xfrm>
            <a:off x="5870026" y="3037299"/>
            <a:ext cx="595602" cy="5956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Huawei Sans" panose="020C0503030203020204" pitchFamily="34" charset="0"/>
            </a:endParaRPr>
          </a:p>
        </p:txBody>
      </p:sp>
      <p:sp>
        <p:nvSpPr>
          <p:cNvPr id="6" name="browser-setting-interface-circular-symbol-of-a-wrench-in-a-window-outlines-inside-a-circle_41892">
            <a:extLst>
              <a:ext uri="{FF2B5EF4-FFF2-40B4-BE49-F238E27FC236}">
                <a16:creationId xmlns:a16="http://schemas.microsoft.com/office/drawing/2014/main" id="{D5CE420C-F05E-4914-AD4D-6E66E5072B17}"/>
              </a:ext>
            </a:extLst>
          </p:cNvPr>
          <p:cNvSpPr>
            <a:spLocks noChangeAspect="1"/>
          </p:cNvSpPr>
          <p:nvPr/>
        </p:nvSpPr>
        <p:spPr bwMode="gray">
          <a:xfrm>
            <a:off x="5781564" y="3109989"/>
            <a:ext cx="673541" cy="450223"/>
          </a:xfrm>
          <a:custGeom>
            <a:avLst/>
            <a:gdLst>
              <a:gd name="connsiteX0" fmla="*/ 153550 w 609602"/>
              <a:gd name="connsiteY0" fmla="*/ 121725 h 448232"/>
              <a:gd name="connsiteX1" fmla="*/ 171615 w 609602"/>
              <a:gd name="connsiteY1" fmla="*/ 139767 h 448232"/>
              <a:gd name="connsiteX2" fmla="*/ 171615 w 609602"/>
              <a:gd name="connsiteY2" fmla="*/ 199159 h 448232"/>
              <a:gd name="connsiteX3" fmla="*/ 153550 w 609602"/>
              <a:gd name="connsiteY3" fmla="*/ 217200 h 448232"/>
              <a:gd name="connsiteX4" fmla="*/ 135486 w 609602"/>
              <a:gd name="connsiteY4" fmla="*/ 199159 h 448232"/>
              <a:gd name="connsiteX5" fmla="*/ 135486 w 609602"/>
              <a:gd name="connsiteY5" fmla="*/ 139767 h 448232"/>
              <a:gd name="connsiteX6" fmla="*/ 153550 w 609602"/>
              <a:gd name="connsiteY6" fmla="*/ 121725 h 448232"/>
              <a:gd name="connsiteX7" fmla="*/ 18064 w 609602"/>
              <a:gd name="connsiteY7" fmla="*/ 121725 h 448232"/>
              <a:gd name="connsiteX8" fmla="*/ 36129 w 609602"/>
              <a:gd name="connsiteY8" fmla="*/ 139767 h 448232"/>
              <a:gd name="connsiteX9" fmla="*/ 36129 w 609602"/>
              <a:gd name="connsiteY9" fmla="*/ 199159 h 448232"/>
              <a:gd name="connsiteX10" fmla="*/ 18064 w 609602"/>
              <a:gd name="connsiteY10" fmla="*/ 217200 h 448232"/>
              <a:gd name="connsiteX11" fmla="*/ 0 w 609602"/>
              <a:gd name="connsiteY11" fmla="*/ 199159 h 448232"/>
              <a:gd name="connsiteX12" fmla="*/ 0 w 609602"/>
              <a:gd name="connsiteY12" fmla="*/ 139767 h 448232"/>
              <a:gd name="connsiteX13" fmla="*/ 18064 w 609602"/>
              <a:gd name="connsiteY13" fmla="*/ 121725 h 448232"/>
              <a:gd name="connsiteX14" fmla="*/ 221314 w 609602"/>
              <a:gd name="connsiteY14" fmla="*/ 47279 h 448232"/>
              <a:gd name="connsiteX15" fmla="*/ 239287 w 609602"/>
              <a:gd name="connsiteY15" fmla="*/ 65325 h 448232"/>
              <a:gd name="connsiteX16" fmla="*/ 239287 w 609602"/>
              <a:gd name="connsiteY16" fmla="*/ 199155 h 448232"/>
              <a:gd name="connsiteX17" fmla="*/ 221314 w 609602"/>
              <a:gd name="connsiteY17" fmla="*/ 217201 h 448232"/>
              <a:gd name="connsiteX18" fmla="*/ 203228 w 609602"/>
              <a:gd name="connsiteY18" fmla="*/ 199155 h 448232"/>
              <a:gd name="connsiteX19" fmla="*/ 203228 w 609602"/>
              <a:gd name="connsiteY19" fmla="*/ 65325 h 448232"/>
              <a:gd name="connsiteX20" fmla="*/ 221314 w 609602"/>
              <a:gd name="connsiteY20" fmla="*/ 47279 h 448232"/>
              <a:gd name="connsiteX21" fmla="*/ 85751 w 609602"/>
              <a:gd name="connsiteY21" fmla="*/ 47279 h 448232"/>
              <a:gd name="connsiteX22" fmla="*/ 103801 w 609602"/>
              <a:gd name="connsiteY22" fmla="*/ 65325 h 448232"/>
              <a:gd name="connsiteX23" fmla="*/ 103801 w 609602"/>
              <a:gd name="connsiteY23" fmla="*/ 199155 h 448232"/>
              <a:gd name="connsiteX24" fmla="*/ 85751 w 609602"/>
              <a:gd name="connsiteY24" fmla="*/ 217201 h 448232"/>
              <a:gd name="connsiteX25" fmla="*/ 67813 w 609602"/>
              <a:gd name="connsiteY25" fmla="*/ 199155 h 448232"/>
              <a:gd name="connsiteX26" fmla="*/ 67813 w 609602"/>
              <a:gd name="connsiteY26" fmla="*/ 65325 h 448232"/>
              <a:gd name="connsiteX27" fmla="*/ 85751 w 609602"/>
              <a:gd name="connsiteY27" fmla="*/ 47279 h 448232"/>
              <a:gd name="connsiteX28" fmla="*/ 338920 w 609602"/>
              <a:gd name="connsiteY28" fmla="*/ 19970 h 448232"/>
              <a:gd name="connsiteX29" fmla="*/ 450806 w 609602"/>
              <a:gd name="connsiteY29" fmla="*/ 66248 h 448232"/>
              <a:gd name="connsiteX30" fmla="*/ 497155 w 609602"/>
              <a:gd name="connsiteY30" fmla="*/ 177963 h 448232"/>
              <a:gd name="connsiteX31" fmla="*/ 468538 w 609602"/>
              <a:gd name="connsiteY31" fmla="*/ 268613 h 448232"/>
              <a:gd name="connsiteX32" fmla="*/ 601523 w 609602"/>
              <a:gd name="connsiteY32" fmla="*/ 401395 h 448232"/>
              <a:gd name="connsiteX33" fmla="*/ 601523 w 609602"/>
              <a:gd name="connsiteY33" fmla="*/ 440165 h 448232"/>
              <a:gd name="connsiteX34" fmla="*/ 582108 w 609602"/>
              <a:gd name="connsiteY34" fmla="*/ 448232 h 448232"/>
              <a:gd name="connsiteX35" fmla="*/ 562693 w 609602"/>
              <a:gd name="connsiteY35" fmla="*/ 440165 h 448232"/>
              <a:gd name="connsiteX36" fmla="*/ 429708 w 609602"/>
              <a:gd name="connsiteY36" fmla="*/ 307383 h 448232"/>
              <a:gd name="connsiteX37" fmla="*/ 338920 w 609602"/>
              <a:gd name="connsiteY37" fmla="*/ 335956 h 448232"/>
              <a:gd name="connsiteX38" fmla="*/ 227033 w 609602"/>
              <a:gd name="connsiteY38" fmla="*/ 289679 h 448232"/>
              <a:gd name="connsiteX39" fmla="*/ 186857 w 609602"/>
              <a:gd name="connsiteY39" fmla="*/ 222224 h 448232"/>
              <a:gd name="connsiteX40" fmla="*/ 187418 w 609602"/>
              <a:gd name="connsiteY40" fmla="*/ 221551 h 448232"/>
              <a:gd name="connsiteX41" fmla="*/ 221310 w 609602"/>
              <a:gd name="connsiteY41" fmla="*/ 239704 h 448232"/>
              <a:gd name="connsiteX42" fmla="*/ 241510 w 609602"/>
              <a:gd name="connsiteY42" fmla="*/ 234325 h 448232"/>
              <a:gd name="connsiteX43" fmla="*/ 259353 w 609602"/>
              <a:gd name="connsiteY43" fmla="*/ 257408 h 448232"/>
              <a:gd name="connsiteX44" fmla="*/ 338920 w 609602"/>
              <a:gd name="connsiteY44" fmla="*/ 290351 h 448232"/>
              <a:gd name="connsiteX45" fmla="*/ 418486 w 609602"/>
              <a:gd name="connsiteY45" fmla="*/ 257408 h 448232"/>
              <a:gd name="connsiteX46" fmla="*/ 451480 w 609602"/>
              <a:gd name="connsiteY46" fmla="*/ 177963 h 448232"/>
              <a:gd name="connsiteX47" fmla="*/ 418486 w 609602"/>
              <a:gd name="connsiteY47" fmla="*/ 98519 h 448232"/>
              <a:gd name="connsiteX48" fmla="*/ 338920 w 609602"/>
              <a:gd name="connsiteY48" fmla="*/ 65575 h 448232"/>
              <a:gd name="connsiteX49" fmla="*/ 329605 w 609602"/>
              <a:gd name="connsiteY49" fmla="*/ 66024 h 448232"/>
              <a:gd name="connsiteX50" fmla="*/ 329605 w 609602"/>
              <a:gd name="connsiteY50" fmla="*/ 20194 h 448232"/>
              <a:gd name="connsiteX51" fmla="*/ 338920 w 609602"/>
              <a:gd name="connsiteY51" fmla="*/ 19970 h 448232"/>
              <a:gd name="connsiteX52" fmla="*/ 288966 w 609602"/>
              <a:gd name="connsiteY52" fmla="*/ 0 h 448232"/>
              <a:gd name="connsiteX53" fmla="*/ 307030 w 609602"/>
              <a:gd name="connsiteY53" fmla="*/ 18044 h 448232"/>
              <a:gd name="connsiteX54" fmla="*/ 307030 w 609602"/>
              <a:gd name="connsiteY54" fmla="*/ 199157 h 448232"/>
              <a:gd name="connsiteX55" fmla="*/ 288966 w 609602"/>
              <a:gd name="connsiteY55" fmla="*/ 217201 h 448232"/>
              <a:gd name="connsiteX56" fmla="*/ 270901 w 609602"/>
              <a:gd name="connsiteY56" fmla="*/ 199157 h 448232"/>
              <a:gd name="connsiteX57" fmla="*/ 270901 w 609602"/>
              <a:gd name="connsiteY57" fmla="*/ 18044 h 448232"/>
              <a:gd name="connsiteX58" fmla="*/ 288966 w 609602"/>
              <a:gd name="connsiteY58" fmla="*/ 0 h 44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9602" h="448232">
                <a:moveTo>
                  <a:pt x="153550" y="121725"/>
                </a:moveTo>
                <a:cubicBezTo>
                  <a:pt x="163536" y="121725"/>
                  <a:pt x="171615" y="129794"/>
                  <a:pt x="171615" y="139767"/>
                </a:cubicBezTo>
                <a:lnTo>
                  <a:pt x="171615" y="199159"/>
                </a:lnTo>
                <a:cubicBezTo>
                  <a:pt x="171615" y="209132"/>
                  <a:pt x="163536" y="217200"/>
                  <a:pt x="153550" y="217200"/>
                </a:cubicBezTo>
                <a:cubicBezTo>
                  <a:pt x="143565" y="217200"/>
                  <a:pt x="135486" y="209132"/>
                  <a:pt x="135486" y="199159"/>
                </a:cubicBezTo>
                <a:lnTo>
                  <a:pt x="135486" y="139767"/>
                </a:lnTo>
                <a:cubicBezTo>
                  <a:pt x="135486" y="129794"/>
                  <a:pt x="143565" y="121725"/>
                  <a:pt x="153550" y="121725"/>
                </a:cubicBezTo>
                <a:close/>
                <a:moveTo>
                  <a:pt x="18064" y="121725"/>
                </a:moveTo>
                <a:cubicBezTo>
                  <a:pt x="28050" y="121725"/>
                  <a:pt x="36129" y="129794"/>
                  <a:pt x="36129" y="139767"/>
                </a:cubicBezTo>
                <a:lnTo>
                  <a:pt x="36129" y="199159"/>
                </a:lnTo>
                <a:cubicBezTo>
                  <a:pt x="36129" y="209132"/>
                  <a:pt x="28050" y="217200"/>
                  <a:pt x="18064" y="217200"/>
                </a:cubicBezTo>
                <a:cubicBezTo>
                  <a:pt x="8079" y="217200"/>
                  <a:pt x="0" y="209132"/>
                  <a:pt x="0" y="199159"/>
                </a:cubicBezTo>
                <a:lnTo>
                  <a:pt x="0" y="139767"/>
                </a:lnTo>
                <a:cubicBezTo>
                  <a:pt x="0" y="129794"/>
                  <a:pt x="8079" y="121725"/>
                  <a:pt x="18064" y="121725"/>
                </a:cubicBezTo>
                <a:close/>
                <a:moveTo>
                  <a:pt x="221314" y="47279"/>
                </a:moveTo>
                <a:cubicBezTo>
                  <a:pt x="231199" y="47279"/>
                  <a:pt x="239287" y="55349"/>
                  <a:pt x="239287" y="65325"/>
                </a:cubicBezTo>
                <a:lnTo>
                  <a:pt x="239287" y="199155"/>
                </a:lnTo>
                <a:cubicBezTo>
                  <a:pt x="239287" y="209131"/>
                  <a:pt x="231199" y="217201"/>
                  <a:pt x="221314" y="217201"/>
                </a:cubicBezTo>
                <a:cubicBezTo>
                  <a:pt x="211316" y="217201"/>
                  <a:pt x="203228" y="209131"/>
                  <a:pt x="203228" y="199155"/>
                </a:cubicBezTo>
                <a:lnTo>
                  <a:pt x="203228" y="65325"/>
                </a:lnTo>
                <a:cubicBezTo>
                  <a:pt x="203228" y="55349"/>
                  <a:pt x="211316" y="47279"/>
                  <a:pt x="221314" y="47279"/>
                </a:cubicBezTo>
                <a:close/>
                <a:moveTo>
                  <a:pt x="85751" y="47279"/>
                </a:moveTo>
                <a:cubicBezTo>
                  <a:pt x="95729" y="47279"/>
                  <a:pt x="103801" y="55349"/>
                  <a:pt x="103801" y="65325"/>
                </a:cubicBezTo>
                <a:lnTo>
                  <a:pt x="103801" y="199155"/>
                </a:lnTo>
                <a:cubicBezTo>
                  <a:pt x="103801" y="209131"/>
                  <a:pt x="95729" y="217201"/>
                  <a:pt x="85751" y="217201"/>
                </a:cubicBezTo>
                <a:cubicBezTo>
                  <a:pt x="75885" y="217201"/>
                  <a:pt x="67813" y="209131"/>
                  <a:pt x="67813" y="199155"/>
                </a:cubicBezTo>
                <a:lnTo>
                  <a:pt x="67813" y="65325"/>
                </a:lnTo>
                <a:cubicBezTo>
                  <a:pt x="67813" y="55349"/>
                  <a:pt x="75885" y="47279"/>
                  <a:pt x="85751" y="47279"/>
                </a:cubicBezTo>
                <a:close/>
                <a:moveTo>
                  <a:pt x="338920" y="19970"/>
                </a:moveTo>
                <a:cubicBezTo>
                  <a:pt x="381228" y="19970"/>
                  <a:pt x="420955" y="36329"/>
                  <a:pt x="450806" y="66248"/>
                </a:cubicBezTo>
                <a:cubicBezTo>
                  <a:pt x="480770" y="96053"/>
                  <a:pt x="497155" y="135720"/>
                  <a:pt x="497155" y="177963"/>
                </a:cubicBezTo>
                <a:cubicBezTo>
                  <a:pt x="497155" y="210907"/>
                  <a:pt x="487167" y="242281"/>
                  <a:pt x="468538" y="268613"/>
                </a:cubicBezTo>
                <a:lnTo>
                  <a:pt x="601523" y="401395"/>
                </a:lnTo>
                <a:cubicBezTo>
                  <a:pt x="612296" y="412152"/>
                  <a:pt x="612296" y="429520"/>
                  <a:pt x="601523" y="440165"/>
                </a:cubicBezTo>
                <a:cubicBezTo>
                  <a:pt x="596248" y="445543"/>
                  <a:pt x="589178" y="448232"/>
                  <a:pt x="582108" y="448232"/>
                </a:cubicBezTo>
                <a:cubicBezTo>
                  <a:pt x="575150" y="448232"/>
                  <a:pt x="568080" y="445543"/>
                  <a:pt x="562693" y="440165"/>
                </a:cubicBezTo>
                <a:lnTo>
                  <a:pt x="429708" y="307383"/>
                </a:lnTo>
                <a:cubicBezTo>
                  <a:pt x="403336" y="325984"/>
                  <a:pt x="371913" y="335956"/>
                  <a:pt x="338920" y="335956"/>
                </a:cubicBezTo>
                <a:cubicBezTo>
                  <a:pt x="296612" y="335956"/>
                  <a:pt x="256884" y="319597"/>
                  <a:pt x="227033" y="289679"/>
                </a:cubicBezTo>
                <a:cubicBezTo>
                  <a:pt x="207843" y="270630"/>
                  <a:pt x="194264" y="247435"/>
                  <a:pt x="186857" y="222224"/>
                </a:cubicBezTo>
                <a:cubicBezTo>
                  <a:pt x="187081" y="222000"/>
                  <a:pt x="187194" y="221776"/>
                  <a:pt x="187418" y="221551"/>
                </a:cubicBezTo>
                <a:cubicBezTo>
                  <a:pt x="194713" y="232533"/>
                  <a:pt x="207169" y="239704"/>
                  <a:pt x="221310" y="239704"/>
                </a:cubicBezTo>
                <a:cubicBezTo>
                  <a:pt x="228604" y="239704"/>
                  <a:pt x="235562" y="237687"/>
                  <a:pt x="241510" y="234325"/>
                </a:cubicBezTo>
                <a:cubicBezTo>
                  <a:pt x="246335" y="242617"/>
                  <a:pt x="252283" y="250349"/>
                  <a:pt x="259353" y="257408"/>
                </a:cubicBezTo>
                <a:cubicBezTo>
                  <a:pt x="280564" y="278586"/>
                  <a:pt x="308844" y="290351"/>
                  <a:pt x="338920" y="290351"/>
                </a:cubicBezTo>
                <a:cubicBezTo>
                  <a:pt x="368996" y="290351"/>
                  <a:pt x="397164" y="278586"/>
                  <a:pt x="418486" y="257408"/>
                </a:cubicBezTo>
                <a:cubicBezTo>
                  <a:pt x="439696" y="236230"/>
                  <a:pt x="451480" y="207993"/>
                  <a:pt x="451480" y="177963"/>
                </a:cubicBezTo>
                <a:cubicBezTo>
                  <a:pt x="451480" y="147933"/>
                  <a:pt x="439696" y="119696"/>
                  <a:pt x="418486" y="98519"/>
                </a:cubicBezTo>
                <a:cubicBezTo>
                  <a:pt x="397164" y="77229"/>
                  <a:pt x="368996" y="65575"/>
                  <a:pt x="338920" y="65575"/>
                </a:cubicBezTo>
                <a:cubicBezTo>
                  <a:pt x="335777" y="65575"/>
                  <a:pt x="332747" y="65799"/>
                  <a:pt x="329605" y="66024"/>
                </a:cubicBezTo>
                <a:lnTo>
                  <a:pt x="329605" y="20194"/>
                </a:lnTo>
                <a:cubicBezTo>
                  <a:pt x="332747" y="19970"/>
                  <a:pt x="335777" y="19970"/>
                  <a:pt x="338920" y="19970"/>
                </a:cubicBezTo>
                <a:close/>
                <a:moveTo>
                  <a:pt x="288966" y="0"/>
                </a:moveTo>
                <a:cubicBezTo>
                  <a:pt x="298951" y="0"/>
                  <a:pt x="307030" y="8069"/>
                  <a:pt x="307030" y="18044"/>
                </a:cubicBezTo>
                <a:lnTo>
                  <a:pt x="307030" y="199157"/>
                </a:lnTo>
                <a:cubicBezTo>
                  <a:pt x="307030" y="209132"/>
                  <a:pt x="298951" y="217201"/>
                  <a:pt x="288966" y="217201"/>
                </a:cubicBezTo>
                <a:cubicBezTo>
                  <a:pt x="278980" y="217201"/>
                  <a:pt x="270901" y="209132"/>
                  <a:pt x="270901" y="199157"/>
                </a:cubicBezTo>
                <a:lnTo>
                  <a:pt x="270901" y="18044"/>
                </a:lnTo>
                <a:cubicBezTo>
                  <a:pt x="270901" y="8069"/>
                  <a:pt x="278980" y="0"/>
                  <a:pt x="288966" y="0"/>
                </a:cubicBezTo>
                <a:close/>
              </a:path>
            </a:pathLst>
          </a:custGeom>
          <a:solidFill>
            <a:srgbClr val="00B0F0"/>
          </a:solidFill>
          <a:ln>
            <a:noFill/>
          </a:ln>
        </p:spPr>
        <p:txBody>
          <a:bodyPr/>
          <a:lstStyle/>
          <a:p>
            <a:pPr defTabSz="914112"/>
            <a:endParaRPr lang="zh-CN" altLang="en-US" sz="1799">
              <a:solidFill>
                <a:srgbClr val="1D1D1A"/>
              </a:solidFill>
              <a:cs typeface="+mn-ea"/>
              <a:sym typeface="Huawei Sans" panose="020C0503030203020204" pitchFamily="34" charset="0"/>
            </a:endParaRPr>
          </a:p>
        </p:txBody>
      </p:sp>
      <p:sp>
        <p:nvSpPr>
          <p:cNvPr id="7" name="椭圆 6">
            <a:extLst>
              <a:ext uri="{FF2B5EF4-FFF2-40B4-BE49-F238E27FC236}">
                <a16:creationId xmlns:a16="http://schemas.microsoft.com/office/drawing/2014/main" id="{9B953947-44E4-4489-8D6E-45C31DE84EDC}"/>
              </a:ext>
            </a:extLst>
          </p:cNvPr>
          <p:cNvSpPr/>
          <p:nvPr/>
        </p:nvSpPr>
        <p:spPr bwMode="gray">
          <a:xfrm>
            <a:off x="5409996" y="4198177"/>
            <a:ext cx="595602" cy="5956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Huawei Sans" panose="020C0503030203020204" pitchFamily="34" charset="0"/>
            </a:endParaRPr>
          </a:p>
        </p:txBody>
      </p:sp>
      <p:sp>
        <p:nvSpPr>
          <p:cNvPr id="8" name="browser-setting-interface-circular-symbol-of-a-wrench-in-a-window-outlines-inside-a-circle_41892">
            <a:extLst>
              <a:ext uri="{FF2B5EF4-FFF2-40B4-BE49-F238E27FC236}">
                <a16:creationId xmlns:a16="http://schemas.microsoft.com/office/drawing/2014/main" id="{205A7B4C-9AA8-4AD1-9DC3-72A79729B929}"/>
              </a:ext>
            </a:extLst>
          </p:cNvPr>
          <p:cNvSpPr>
            <a:spLocks noChangeAspect="1"/>
          </p:cNvSpPr>
          <p:nvPr/>
        </p:nvSpPr>
        <p:spPr bwMode="gray">
          <a:xfrm>
            <a:off x="5437448" y="4316462"/>
            <a:ext cx="538595" cy="389707"/>
          </a:xfrm>
          <a:custGeom>
            <a:avLst/>
            <a:gdLst>
              <a:gd name="connsiteX0" fmla="*/ 311666 w 576804"/>
              <a:gd name="connsiteY0" fmla="*/ 251897 h 459094"/>
              <a:gd name="connsiteX1" fmla="*/ 302194 w 576804"/>
              <a:gd name="connsiteY1" fmla="*/ 262214 h 459094"/>
              <a:gd name="connsiteX2" fmla="*/ 291861 w 576804"/>
              <a:gd name="connsiteY2" fmla="*/ 271672 h 459094"/>
              <a:gd name="connsiteX3" fmla="*/ 381414 w 576804"/>
              <a:gd name="connsiteY3" fmla="*/ 361090 h 459094"/>
              <a:gd name="connsiteX4" fmla="*/ 401219 w 576804"/>
              <a:gd name="connsiteY4" fmla="*/ 341315 h 459094"/>
              <a:gd name="connsiteX5" fmla="*/ 239334 w 576804"/>
              <a:gd name="connsiteY5" fmla="*/ 147002 h 459094"/>
              <a:gd name="connsiteX6" fmla="*/ 271195 w 576804"/>
              <a:gd name="connsiteY6" fmla="*/ 178815 h 459094"/>
              <a:gd name="connsiteX7" fmla="*/ 271195 w 576804"/>
              <a:gd name="connsiteY7" fmla="*/ 194291 h 459094"/>
              <a:gd name="connsiteX8" fmla="*/ 234168 w 576804"/>
              <a:gd name="connsiteY8" fmla="*/ 230402 h 459094"/>
              <a:gd name="connsiteX9" fmla="*/ 218668 w 576804"/>
              <a:gd name="connsiteY9" fmla="*/ 230402 h 459094"/>
              <a:gd name="connsiteX10" fmla="*/ 186808 w 576804"/>
              <a:gd name="connsiteY10" fmla="*/ 199449 h 459094"/>
              <a:gd name="connsiteX11" fmla="*/ 203169 w 576804"/>
              <a:gd name="connsiteY11" fmla="*/ 245878 h 459094"/>
              <a:gd name="connsiteX12" fmla="*/ 244501 w 576804"/>
              <a:gd name="connsiteY12" fmla="*/ 263074 h 459094"/>
              <a:gd name="connsiteX13" fmla="*/ 285833 w 576804"/>
              <a:gd name="connsiteY13" fmla="*/ 245878 h 459094"/>
              <a:gd name="connsiteX14" fmla="*/ 285833 w 576804"/>
              <a:gd name="connsiteY14" fmla="*/ 163338 h 459094"/>
              <a:gd name="connsiteX15" fmla="*/ 239334 w 576804"/>
              <a:gd name="connsiteY15" fmla="*/ 147002 h 459094"/>
              <a:gd name="connsiteX16" fmla="*/ 244501 w 576804"/>
              <a:gd name="connsiteY16" fmla="*/ 123788 h 459094"/>
              <a:gd name="connsiteX17" fmla="*/ 302194 w 576804"/>
              <a:gd name="connsiteY17" fmla="*/ 147002 h 459094"/>
              <a:gd name="connsiteX18" fmla="*/ 321999 w 576804"/>
              <a:gd name="connsiteY18" fmla="*/ 229542 h 459094"/>
              <a:gd name="connsiteX19" fmla="*/ 426191 w 576804"/>
              <a:gd name="connsiteY19" fmla="*/ 333577 h 459094"/>
              <a:gd name="connsiteX20" fmla="*/ 426191 w 576804"/>
              <a:gd name="connsiteY20" fmla="*/ 349913 h 459094"/>
              <a:gd name="connsiteX21" fmla="*/ 390025 w 576804"/>
              <a:gd name="connsiteY21" fmla="*/ 386024 h 459094"/>
              <a:gd name="connsiteX22" fmla="*/ 381414 w 576804"/>
              <a:gd name="connsiteY22" fmla="*/ 389463 h 459094"/>
              <a:gd name="connsiteX23" fmla="*/ 373664 w 576804"/>
              <a:gd name="connsiteY23" fmla="*/ 386024 h 459094"/>
              <a:gd name="connsiteX24" fmla="*/ 269473 w 576804"/>
              <a:gd name="connsiteY24" fmla="*/ 281989 h 459094"/>
              <a:gd name="connsiteX25" fmla="*/ 244501 w 576804"/>
              <a:gd name="connsiteY25" fmla="*/ 285428 h 459094"/>
              <a:gd name="connsiteX26" fmla="*/ 186808 w 576804"/>
              <a:gd name="connsiteY26" fmla="*/ 262214 h 459094"/>
              <a:gd name="connsiteX27" fmla="*/ 170447 w 576804"/>
              <a:gd name="connsiteY27" fmla="*/ 172796 h 459094"/>
              <a:gd name="connsiteX28" fmla="*/ 178197 w 576804"/>
              <a:gd name="connsiteY28" fmla="*/ 165918 h 459094"/>
              <a:gd name="connsiteX29" fmla="*/ 188530 w 576804"/>
              <a:gd name="connsiteY29" fmla="*/ 168497 h 459094"/>
              <a:gd name="connsiteX30" fmla="*/ 226418 w 576804"/>
              <a:gd name="connsiteY30" fmla="*/ 206328 h 459094"/>
              <a:gd name="connsiteX31" fmla="*/ 246223 w 576804"/>
              <a:gd name="connsiteY31" fmla="*/ 186553 h 459094"/>
              <a:gd name="connsiteX32" fmla="*/ 208335 w 576804"/>
              <a:gd name="connsiteY32" fmla="*/ 148722 h 459094"/>
              <a:gd name="connsiteX33" fmla="*/ 205752 w 576804"/>
              <a:gd name="connsiteY33" fmla="*/ 138404 h 459094"/>
              <a:gd name="connsiteX34" fmla="*/ 212641 w 576804"/>
              <a:gd name="connsiteY34" fmla="*/ 129807 h 459094"/>
              <a:gd name="connsiteX35" fmla="*/ 244501 w 576804"/>
              <a:gd name="connsiteY35" fmla="*/ 123788 h 459094"/>
              <a:gd name="connsiteX36" fmla="*/ 55153 w 576804"/>
              <a:gd name="connsiteY36" fmla="*/ 100587 h 459094"/>
              <a:gd name="connsiteX37" fmla="*/ 55153 w 576804"/>
              <a:gd name="connsiteY37" fmla="*/ 220985 h 459094"/>
              <a:gd name="connsiteX38" fmla="*/ 55153 w 576804"/>
              <a:gd name="connsiteY38" fmla="*/ 294083 h 459094"/>
              <a:gd name="connsiteX39" fmla="*/ 55153 w 576804"/>
              <a:gd name="connsiteY39" fmla="*/ 403300 h 459094"/>
              <a:gd name="connsiteX40" fmla="*/ 160158 w 576804"/>
              <a:gd name="connsiteY40" fmla="*/ 403300 h 459094"/>
              <a:gd name="connsiteX41" fmla="*/ 233317 w 576804"/>
              <a:gd name="connsiteY41" fmla="*/ 403300 h 459094"/>
              <a:gd name="connsiteX42" fmla="*/ 521651 w 576804"/>
              <a:gd name="connsiteY42" fmla="*/ 403300 h 459094"/>
              <a:gd name="connsiteX43" fmla="*/ 521651 w 576804"/>
              <a:gd name="connsiteY43" fmla="*/ 100587 h 459094"/>
              <a:gd name="connsiteX44" fmla="*/ 43964 w 576804"/>
              <a:gd name="connsiteY44" fmla="*/ 77368 h 459094"/>
              <a:gd name="connsiteX45" fmla="*/ 533701 w 576804"/>
              <a:gd name="connsiteY45" fmla="*/ 77368 h 459094"/>
              <a:gd name="connsiteX46" fmla="*/ 544890 w 576804"/>
              <a:gd name="connsiteY46" fmla="*/ 88548 h 459094"/>
              <a:gd name="connsiteX47" fmla="*/ 544890 w 576804"/>
              <a:gd name="connsiteY47" fmla="*/ 414480 h 459094"/>
              <a:gd name="connsiteX48" fmla="*/ 533701 w 576804"/>
              <a:gd name="connsiteY48" fmla="*/ 425660 h 459094"/>
              <a:gd name="connsiteX49" fmla="*/ 233317 w 576804"/>
              <a:gd name="connsiteY49" fmla="*/ 425660 h 459094"/>
              <a:gd name="connsiteX50" fmla="*/ 160158 w 576804"/>
              <a:gd name="connsiteY50" fmla="*/ 425660 h 459094"/>
              <a:gd name="connsiteX51" fmla="*/ 43964 w 576804"/>
              <a:gd name="connsiteY51" fmla="*/ 425660 h 459094"/>
              <a:gd name="connsiteX52" fmla="*/ 31914 w 576804"/>
              <a:gd name="connsiteY52" fmla="*/ 414480 h 459094"/>
              <a:gd name="connsiteX53" fmla="*/ 31914 w 576804"/>
              <a:gd name="connsiteY53" fmla="*/ 294083 h 459094"/>
              <a:gd name="connsiteX54" fmla="*/ 31914 w 576804"/>
              <a:gd name="connsiteY54" fmla="*/ 220985 h 459094"/>
              <a:gd name="connsiteX55" fmla="*/ 31914 w 576804"/>
              <a:gd name="connsiteY55" fmla="*/ 88548 h 459094"/>
              <a:gd name="connsiteX56" fmla="*/ 43964 w 576804"/>
              <a:gd name="connsiteY56" fmla="*/ 77368 h 459094"/>
              <a:gd name="connsiteX57" fmla="*/ 520864 w 576804"/>
              <a:gd name="connsiteY57" fmla="*/ 39513 h 459094"/>
              <a:gd name="connsiteX58" fmla="*/ 533791 w 576804"/>
              <a:gd name="connsiteY58" fmla="*/ 39513 h 459094"/>
              <a:gd name="connsiteX59" fmla="*/ 545857 w 576804"/>
              <a:gd name="connsiteY59" fmla="*/ 50704 h 459094"/>
              <a:gd name="connsiteX60" fmla="*/ 533791 w 576804"/>
              <a:gd name="connsiteY60" fmla="*/ 61894 h 459094"/>
              <a:gd name="connsiteX61" fmla="*/ 520864 w 576804"/>
              <a:gd name="connsiteY61" fmla="*/ 61894 h 459094"/>
              <a:gd name="connsiteX62" fmla="*/ 509660 w 576804"/>
              <a:gd name="connsiteY62" fmla="*/ 50704 h 459094"/>
              <a:gd name="connsiteX63" fmla="*/ 520864 w 576804"/>
              <a:gd name="connsiteY63" fmla="*/ 39513 h 459094"/>
              <a:gd name="connsiteX64" fmla="*/ 465739 w 576804"/>
              <a:gd name="connsiteY64" fmla="*/ 39513 h 459094"/>
              <a:gd name="connsiteX65" fmla="*/ 478666 w 576804"/>
              <a:gd name="connsiteY65" fmla="*/ 39513 h 459094"/>
              <a:gd name="connsiteX66" fmla="*/ 490732 w 576804"/>
              <a:gd name="connsiteY66" fmla="*/ 50704 h 459094"/>
              <a:gd name="connsiteX67" fmla="*/ 478666 w 576804"/>
              <a:gd name="connsiteY67" fmla="*/ 61894 h 459094"/>
              <a:gd name="connsiteX68" fmla="*/ 465739 w 576804"/>
              <a:gd name="connsiteY68" fmla="*/ 61894 h 459094"/>
              <a:gd name="connsiteX69" fmla="*/ 454535 w 576804"/>
              <a:gd name="connsiteY69" fmla="*/ 50704 h 459094"/>
              <a:gd name="connsiteX70" fmla="*/ 465739 w 576804"/>
              <a:gd name="connsiteY70" fmla="*/ 39513 h 459094"/>
              <a:gd name="connsiteX71" fmla="*/ 411477 w 576804"/>
              <a:gd name="connsiteY71" fmla="*/ 39513 h 459094"/>
              <a:gd name="connsiteX72" fmla="*/ 423542 w 576804"/>
              <a:gd name="connsiteY72" fmla="*/ 39513 h 459094"/>
              <a:gd name="connsiteX73" fmla="*/ 435608 w 576804"/>
              <a:gd name="connsiteY73" fmla="*/ 50704 h 459094"/>
              <a:gd name="connsiteX74" fmla="*/ 423542 w 576804"/>
              <a:gd name="connsiteY74" fmla="*/ 61894 h 459094"/>
              <a:gd name="connsiteX75" fmla="*/ 411477 w 576804"/>
              <a:gd name="connsiteY75" fmla="*/ 61894 h 459094"/>
              <a:gd name="connsiteX76" fmla="*/ 399411 w 576804"/>
              <a:gd name="connsiteY76" fmla="*/ 50704 h 459094"/>
              <a:gd name="connsiteX77" fmla="*/ 411477 w 576804"/>
              <a:gd name="connsiteY77" fmla="*/ 39513 h 459094"/>
              <a:gd name="connsiteX78" fmla="*/ 23244 w 576804"/>
              <a:gd name="connsiteY78" fmla="*/ 23213 h 459094"/>
              <a:gd name="connsiteX79" fmla="*/ 23244 w 576804"/>
              <a:gd name="connsiteY79" fmla="*/ 256199 h 459094"/>
              <a:gd name="connsiteX80" fmla="*/ 23244 w 576804"/>
              <a:gd name="connsiteY80" fmla="*/ 300045 h 459094"/>
              <a:gd name="connsiteX81" fmla="*/ 23244 w 576804"/>
              <a:gd name="connsiteY81" fmla="*/ 435881 h 459094"/>
              <a:gd name="connsiteX82" fmla="*/ 153240 w 576804"/>
              <a:gd name="connsiteY82" fmla="*/ 435881 h 459094"/>
              <a:gd name="connsiteX83" fmla="*/ 197146 w 576804"/>
              <a:gd name="connsiteY83" fmla="*/ 435881 h 459094"/>
              <a:gd name="connsiteX84" fmla="*/ 554421 w 576804"/>
              <a:gd name="connsiteY84" fmla="*/ 435881 h 459094"/>
              <a:gd name="connsiteX85" fmla="*/ 554421 w 576804"/>
              <a:gd name="connsiteY85" fmla="*/ 23213 h 459094"/>
              <a:gd name="connsiteX86" fmla="*/ 11192 w 576804"/>
              <a:gd name="connsiteY86" fmla="*/ 0 h 459094"/>
              <a:gd name="connsiteX87" fmla="*/ 565612 w 576804"/>
              <a:gd name="connsiteY87" fmla="*/ 0 h 459094"/>
              <a:gd name="connsiteX88" fmla="*/ 576804 w 576804"/>
              <a:gd name="connsiteY88" fmla="*/ 12036 h 459094"/>
              <a:gd name="connsiteX89" fmla="*/ 576804 w 576804"/>
              <a:gd name="connsiteY89" fmla="*/ 447918 h 459094"/>
              <a:gd name="connsiteX90" fmla="*/ 565612 w 576804"/>
              <a:gd name="connsiteY90" fmla="*/ 459094 h 459094"/>
              <a:gd name="connsiteX91" fmla="*/ 197146 w 576804"/>
              <a:gd name="connsiteY91" fmla="*/ 459094 h 459094"/>
              <a:gd name="connsiteX92" fmla="*/ 153240 w 576804"/>
              <a:gd name="connsiteY92" fmla="*/ 459094 h 459094"/>
              <a:gd name="connsiteX93" fmla="*/ 11192 w 576804"/>
              <a:gd name="connsiteY93" fmla="*/ 459094 h 459094"/>
              <a:gd name="connsiteX94" fmla="*/ 0 w 576804"/>
              <a:gd name="connsiteY94" fmla="*/ 447918 h 459094"/>
              <a:gd name="connsiteX95" fmla="*/ 0 w 576804"/>
              <a:gd name="connsiteY95" fmla="*/ 300045 h 459094"/>
              <a:gd name="connsiteX96" fmla="*/ 0 w 576804"/>
              <a:gd name="connsiteY96" fmla="*/ 256199 h 459094"/>
              <a:gd name="connsiteX97" fmla="*/ 0 w 576804"/>
              <a:gd name="connsiteY97" fmla="*/ 12036 h 459094"/>
              <a:gd name="connsiteX98" fmla="*/ 11192 w 576804"/>
              <a:gd name="connsiteY98" fmla="*/ 0 h 459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576804" h="459094">
                <a:moveTo>
                  <a:pt x="311666" y="251897"/>
                </a:moveTo>
                <a:lnTo>
                  <a:pt x="302194" y="262214"/>
                </a:lnTo>
                <a:lnTo>
                  <a:pt x="291861" y="271672"/>
                </a:lnTo>
                <a:lnTo>
                  <a:pt x="381414" y="361090"/>
                </a:lnTo>
                <a:lnTo>
                  <a:pt x="401219" y="341315"/>
                </a:lnTo>
                <a:close/>
                <a:moveTo>
                  <a:pt x="239334" y="147002"/>
                </a:moveTo>
                <a:lnTo>
                  <a:pt x="271195" y="178815"/>
                </a:lnTo>
                <a:cubicBezTo>
                  <a:pt x="275500" y="183113"/>
                  <a:pt x="275500" y="189992"/>
                  <a:pt x="271195" y="194291"/>
                </a:cubicBezTo>
                <a:lnTo>
                  <a:pt x="234168" y="230402"/>
                </a:lnTo>
                <a:cubicBezTo>
                  <a:pt x="229862" y="234701"/>
                  <a:pt x="222974" y="234701"/>
                  <a:pt x="218668" y="230402"/>
                </a:cubicBezTo>
                <a:lnTo>
                  <a:pt x="186808" y="199449"/>
                </a:lnTo>
                <a:cubicBezTo>
                  <a:pt x="185086" y="215785"/>
                  <a:pt x="191114" y="232981"/>
                  <a:pt x="203169" y="245878"/>
                </a:cubicBezTo>
                <a:cubicBezTo>
                  <a:pt x="214363" y="257055"/>
                  <a:pt x="229001" y="263074"/>
                  <a:pt x="244501" y="263074"/>
                </a:cubicBezTo>
                <a:cubicBezTo>
                  <a:pt x="260001" y="263074"/>
                  <a:pt x="274639" y="257055"/>
                  <a:pt x="285833" y="245878"/>
                </a:cubicBezTo>
                <a:cubicBezTo>
                  <a:pt x="308222" y="222664"/>
                  <a:pt x="308222" y="185693"/>
                  <a:pt x="285833" y="163338"/>
                </a:cubicBezTo>
                <a:cubicBezTo>
                  <a:pt x="273778" y="151301"/>
                  <a:pt x="256556" y="145283"/>
                  <a:pt x="239334" y="147002"/>
                </a:cubicBezTo>
                <a:close/>
                <a:moveTo>
                  <a:pt x="244501" y="123788"/>
                </a:moveTo>
                <a:cubicBezTo>
                  <a:pt x="266028" y="123788"/>
                  <a:pt x="286694" y="131526"/>
                  <a:pt x="302194" y="147002"/>
                </a:cubicBezTo>
                <a:cubicBezTo>
                  <a:pt x="324582" y="169357"/>
                  <a:pt x="330610" y="201169"/>
                  <a:pt x="321999" y="229542"/>
                </a:cubicBezTo>
                <a:lnTo>
                  <a:pt x="426191" y="333577"/>
                </a:lnTo>
                <a:cubicBezTo>
                  <a:pt x="430496" y="337876"/>
                  <a:pt x="430496" y="344754"/>
                  <a:pt x="426191" y="349913"/>
                </a:cubicBezTo>
                <a:lnTo>
                  <a:pt x="390025" y="386024"/>
                </a:lnTo>
                <a:cubicBezTo>
                  <a:pt x="387442" y="387743"/>
                  <a:pt x="384858" y="389463"/>
                  <a:pt x="381414" y="389463"/>
                </a:cubicBezTo>
                <a:cubicBezTo>
                  <a:pt x="378831" y="389463"/>
                  <a:pt x="375386" y="387743"/>
                  <a:pt x="373664" y="386024"/>
                </a:cubicBezTo>
                <a:lnTo>
                  <a:pt x="269473" y="281989"/>
                </a:lnTo>
                <a:cubicBezTo>
                  <a:pt x="261723" y="284569"/>
                  <a:pt x="253112" y="285428"/>
                  <a:pt x="244501" y="285428"/>
                </a:cubicBezTo>
                <a:cubicBezTo>
                  <a:pt x="222974" y="285428"/>
                  <a:pt x="202308" y="277690"/>
                  <a:pt x="186808" y="262214"/>
                </a:cubicBezTo>
                <a:cubicBezTo>
                  <a:pt x="163559" y="238140"/>
                  <a:pt x="156670" y="202889"/>
                  <a:pt x="170447" y="172796"/>
                </a:cubicBezTo>
                <a:cubicBezTo>
                  <a:pt x="171308" y="168497"/>
                  <a:pt x="174753" y="166777"/>
                  <a:pt x="178197" y="165918"/>
                </a:cubicBezTo>
                <a:cubicBezTo>
                  <a:pt x="182503" y="165058"/>
                  <a:pt x="185947" y="165918"/>
                  <a:pt x="188530" y="168497"/>
                </a:cubicBezTo>
                <a:lnTo>
                  <a:pt x="226418" y="206328"/>
                </a:lnTo>
                <a:lnTo>
                  <a:pt x="246223" y="186553"/>
                </a:lnTo>
                <a:lnTo>
                  <a:pt x="208335" y="148722"/>
                </a:lnTo>
                <a:cubicBezTo>
                  <a:pt x="205752" y="146143"/>
                  <a:pt x="204891" y="142703"/>
                  <a:pt x="205752" y="138404"/>
                </a:cubicBezTo>
                <a:cubicBezTo>
                  <a:pt x="206613" y="134965"/>
                  <a:pt x="209196" y="131526"/>
                  <a:pt x="212641" y="129807"/>
                </a:cubicBezTo>
                <a:cubicBezTo>
                  <a:pt x="222974" y="125508"/>
                  <a:pt x="233307" y="123788"/>
                  <a:pt x="244501" y="123788"/>
                </a:cubicBezTo>
                <a:close/>
                <a:moveTo>
                  <a:pt x="55153" y="100587"/>
                </a:moveTo>
                <a:lnTo>
                  <a:pt x="55153" y="220985"/>
                </a:lnTo>
                <a:lnTo>
                  <a:pt x="55153" y="294083"/>
                </a:lnTo>
                <a:lnTo>
                  <a:pt x="55153" y="403300"/>
                </a:lnTo>
                <a:lnTo>
                  <a:pt x="160158" y="403300"/>
                </a:lnTo>
                <a:lnTo>
                  <a:pt x="233317" y="403300"/>
                </a:lnTo>
                <a:lnTo>
                  <a:pt x="521651" y="403300"/>
                </a:lnTo>
                <a:lnTo>
                  <a:pt x="521651" y="100587"/>
                </a:lnTo>
                <a:close/>
                <a:moveTo>
                  <a:pt x="43964" y="77368"/>
                </a:moveTo>
                <a:lnTo>
                  <a:pt x="533701" y="77368"/>
                </a:lnTo>
                <a:cubicBezTo>
                  <a:pt x="539726" y="77368"/>
                  <a:pt x="544890" y="82528"/>
                  <a:pt x="544890" y="88548"/>
                </a:cubicBezTo>
                <a:lnTo>
                  <a:pt x="544890" y="414480"/>
                </a:lnTo>
                <a:cubicBezTo>
                  <a:pt x="544890" y="420500"/>
                  <a:pt x="539726" y="425660"/>
                  <a:pt x="533701" y="425660"/>
                </a:cubicBezTo>
                <a:lnTo>
                  <a:pt x="233317" y="425660"/>
                </a:lnTo>
                <a:lnTo>
                  <a:pt x="160158" y="425660"/>
                </a:lnTo>
                <a:lnTo>
                  <a:pt x="43964" y="425660"/>
                </a:lnTo>
                <a:cubicBezTo>
                  <a:pt x="37078" y="425660"/>
                  <a:pt x="31914" y="420500"/>
                  <a:pt x="31914" y="414480"/>
                </a:cubicBezTo>
                <a:lnTo>
                  <a:pt x="31914" y="294083"/>
                </a:lnTo>
                <a:lnTo>
                  <a:pt x="31914" y="220985"/>
                </a:lnTo>
                <a:lnTo>
                  <a:pt x="31914" y="88548"/>
                </a:lnTo>
                <a:cubicBezTo>
                  <a:pt x="31914" y="82528"/>
                  <a:pt x="37078" y="77368"/>
                  <a:pt x="43964" y="77368"/>
                </a:cubicBezTo>
                <a:close/>
                <a:moveTo>
                  <a:pt x="520864" y="39513"/>
                </a:moveTo>
                <a:lnTo>
                  <a:pt x="533791" y="39513"/>
                </a:lnTo>
                <a:cubicBezTo>
                  <a:pt x="540686" y="39513"/>
                  <a:pt x="545857" y="44678"/>
                  <a:pt x="545857" y="50704"/>
                </a:cubicBezTo>
                <a:cubicBezTo>
                  <a:pt x="545857" y="56729"/>
                  <a:pt x="540686" y="61894"/>
                  <a:pt x="533791" y="61894"/>
                </a:cubicBezTo>
                <a:lnTo>
                  <a:pt x="520864" y="61894"/>
                </a:lnTo>
                <a:cubicBezTo>
                  <a:pt x="514831" y="61894"/>
                  <a:pt x="509660" y="56729"/>
                  <a:pt x="509660" y="50704"/>
                </a:cubicBezTo>
                <a:cubicBezTo>
                  <a:pt x="509660" y="44678"/>
                  <a:pt x="514831" y="39513"/>
                  <a:pt x="520864" y="39513"/>
                </a:cubicBezTo>
                <a:close/>
                <a:moveTo>
                  <a:pt x="465739" y="39513"/>
                </a:moveTo>
                <a:lnTo>
                  <a:pt x="478666" y="39513"/>
                </a:lnTo>
                <a:cubicBezTo>
                  <a:pt x="485561" y="39513"/>
                  <a:pt x="490732" y="44678"/>
                  <a:pt x="490732" y="50704"/>
                </a:cubicBezTo>
                <a:cubicBezTo>
                  <a:pt x="490732" y="56729"/>
                  <a:pt x="485561" y="61894"/>
                  <a:pt x="478666" y="61894"/>
                </a:cubicBezTo>
                <a:lnTo>
                  <a:pt x="465739" y="61894"/>
                </a:lnTo>
                <a:cubicBezTo>
                  <a:pt x="459706" y="61894"/>
                  <a:pt x="454535" y="56729"/>
                  <a:pt x="454535" y="50704"/>
                </a:cubicBezTo>
                <a:cubicBezTo>
                  <a:pt x="454535" y="44678"/>
                  <a:pt x="459706" y="39513"/>
                  <a:pt x="465739" y="39513"/>
                </a:cubicBezTo>
                <a:close/>
                <a:moveTo>
                  <a:pt x="411477" y="39513"/>
                </a:moveTo>
                <a:lnTo>
                  <a:pt x="423542" y="39513"/>
                </a:lnTo>
                <a:cubicBezTo>
                  <a:pt x="430437" y="39513"/>
                  <a:pt x="435608" y="44678"/>
                  <a:pt x="435608" y="50704"/>
                </a:cubicBezTo>
                <a:cubicBezTo>
                  <a:pt x="435608" y="56729"/>
                  <a:pt x="430437" y="61894"/>
                  <a:pt x="423542" y="61894"/>
                </a:cubicBezTo>
                <a:lnTo>
                  <a:pt x="411477" y="61894"/>
                </a:lnTo>
                <a:cubicBezTo>
                  <a:pt x="404582" y="61894"/>
                  <a:pt x="399411" y="56729"/>
                  <a:pt x="399411" y="50704"/>
                </a:cubicBezTo>
                <a:cubicBezTo>
                  <a:pt x="399411" y="44678"/>
                  <a:pt x="404582" y="39513"/>
                  <a:pt x="411477" y="39513"/>
                </a:cubicBezTo>
                <a:close/>
                <a:moveTo>
                  <a:pt x="23244" y="23213"/>
                </a:moveTo>
                <a:lnTo>
                  <a:pt x="23244" y="256199"/>
                </a:lnTo>
                <a:lnTo>
                  <a:pt x="23244" y="300045"/>
                </a:lnTo>
                <a:lnTo>
                  <a:pt x="23244" y="435881"/>
                </a:lnTo>
                <a:lnTo>
                  <a:pt x="153240" y="435881"/>
                </a:lnTo>
                <a:lnTo>
                  <a:pt x="197146" y="435881"/>
                </a:lnTo>
                <a:lnTo>
                  <a:pt x="554421" y="435881"/>
                </a:lnTo>
                <a:lnTo>
                  <a:pt x="554421" y="23213"/>
                </a:lnTo>
                <a:close/>
                <a:moveTo>
                  <a:pt x="11192" y="0"/>
                </a:moveTo>
                <a:lnTo>
                  <a:pt x="565612" y="0"/>
                </a:lnTo>
                <a:cubicBezTo>
                  <a:pt x="571639" y="0"/>
                  <a:pt x="576804" y="5158"/>
                  <a:pt x="576804" y="12036"/>
                </a:cubicBezTo>
                <a:lnTo>
                  <a:pt x="576804" y="447918"/>
                </a:lnTo>
                <a:cubicBezTo>
                  <a:pt x="576804" y="453936"/>
                  <a:pt x="571639" y="459094"/>
                  <a:pt x="565612" y="459094"/>
                </a:cubicBezTo>
                <a:lnTo>
                  <a:pt x="197146" y="459094"/>
                </a:lnTo>
                <a:lnTo>
                  <a:pt x="153240" y="459094"/>
                </a:lnTo>
                <a:lnTo>
                  <a:pt x="11192" y="459094"/>
                </a:lnTo>
                <a:cubicBezTo>
                  <a:pt x="5165" y="459094"/>
                  <a:pt x="0" y="453936"/>
                  <a:pt x="0" y="447918"/>
                </a:cubicBezTo>
                <a:lnTo>
                  <a:pt x="0" y="300045"/>
                </a:lnTo>
                <a:lnTo>
                  <a:pt x="0" y="256199"/>
                </a:lnTo>
                <a:lnTo>
                  <a:pt x="0" y="12036"/>
                </a:lnTo>
                <a:cubicBezTo>
                  <a:pt x="0" y="5158"/>
                  <a:pt x="5165" y="0"/>
                  <a:pt x="11192" y="0"/>
                </a:cubicBezTo>
                <a:close/>
              </a:path>
            </a:pathLst>
          </a:custGeom>
          <a:solidFill>
            <a:srgbClr val="00B0F0"/>
          </a:solidFill>
          <a:ln>
            <a:noFill/>
          </a:ln>
        </p:spPr>
        <p:txBody>
          <a:bodyPr/>
          <a:lstStyle/>
          <a:p>
            <a:endParaRPr lang="zh-CN" altLang="en-US">
              <a:cs typeface="+mn-ea"/>
              <a:sym typeface="Huawei Sans" panose="020C0503030203020204" pitchFamily="34" charset="0"/>
            </a:endParaRPr>
          </a:p>
        </p:txBody>
      </p:sp>
      <p:sp>
        <p:nvSpPr>
          <p:cNvPr id="9" name="椭圆 8">
            <a:extLst>
              <a:ext uri="{FF2B5EF4-FFF2-40B4-BE49-F238E27FC236}">
                <a16:creationId xmlns:a16="http://schemas.microsoft.com/office/drawing/2014/main" id="{4AA379F2-3386-4258-ABC6-BB6DCB0598F6}"/>
              </a:ext>
            </a:extLst>
          </p:cNvPr>
          <p:cNvSpPr/>
          <p:nvPr/>
        </p:nvSpPr>
        <p:spPr bwMode="gray">
          <a:xfrm>
            <a:off x="6350127" y="4070236"/>
            <a:ext cx="595602" cy="5956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Huawei Sans" panose="020C0503030203020204" pitchFamily="34" charset="0"/>
            </a:endParaRPr>
          </a:p>
        </p:txBody>
      </p:sp>
      <p:sp>
        <p:nvSpPr>
          <p:cNvPr id="10" name="cogwheel-outline_45304">
            <a:extLst>
              <a:ext uri="{FF2B5EF4-FFF2-40B4-BE49-F238E27FC236}">
                <a16:creationId xmlns:a16="http://schemas.microsoft.com/office/drawing/2014/main" id="{CBB7BFD3-1FCB-4C75-AB92-22171CC27035}"/>
              </a:ext>
            </a:extLst>
          </p:cNvPr>
          <p:cNvSpPr>
            <a:spLocks noChangeAspect="1"/>
          </p:cNvSpPr>
          <p:nvPr/>
        </p:nvSpPr>
        <p:spPr bwMode="gray">
          <a:xfrm>
            <a:off x="6391314" y="4132529"/>
            <a:ext cx="511222" cy="460315"/>
          </a:xfrm>
          <a:custGeom>
            <a:avLst/>
            <a:gdLst>
              <a:gd name="connsiteX0" fmla="*/ 304497 w 608758"/>
              <a:gd name="connsiteY0" fmla="*/ 217983 h 602955"/>
              <a:gd name="connsiteX1" fmla="*/ 231788 w 608758"/>
              <a:gd name="connsiteY1" fmla="*/ 259998 h 602955"/>
              <a:gd name="connsiteX2" fmla="*/ 262812 w 608758"/>
              <a:gd name="connsiteY2" fmla="*/ 373958 h 602955"/>
              <a:gd name="connsiteX3" fmla="*/ 304257 w 608758"/>
              <a:gd name="connsiteY3" fmla="*/ 385002 h 602955"/>
              <a:gd name="connsiteX4" fmla="*/ 376966 w 608758"/>
              <a:gd name="connsiteY4" fmla="*/ 342907 h 602955"/>
              <a:gd name="connsiteX5" fmla="*/ 385063 w 608758"/>
              <a:gd name="connsiteY5" fmla="*/ 279605 h 602955"/>
              <a:gd name="connsiteX6" fmla="*/ 345942 w 608758"/>
              <a:gd name="connsiteY6" fmla="*/ 229027 h 602955"/>
              <a:gd name="connsiteX7" fmla="*/ 304497 w 608758"/>
              <a:gd name="connsiteY7" fmla="*/ 217983 h 602955"/>
              <a:gd name="connsiteX8" fmla="*/ 304497 w 608758"/>
              <a:gd name="connsiteY8" fmla="*/ 169006 h 602955"/>
              <a:gd name="connsiteX9" fmla="*/ 370312 w 608758"/>
              <a:gd name="connsiteY9" fmla="*/ 186532 h 602955"/>
              <a:gd name="connsiteX10" fmla="*/ 432360 w 608758"/>
              <a:gd name="connsiteY10" fmla="*/ 266720 h 602955"/>
              <a:gd name="connsiteX11" fmla="*/ 419534 w 608758"/>
              <a:gd name="connsiteY11" fmla="*/ 367236 h 602955"/>
              <a:gd name="connsiteX12" fmla="*/ 304257 w 608758"/>
              <a:gd name="connsiteY12" fmla="*/ 433979 h 602955"/>
              <a:gd name="connsiteX13" fmla="*/ 238442 w 608758"/>
              <a:gd name="connsiteY13" fmla="*/ 416453 h 602955"/>
              <a:gd name="connsiteX14" fmla="*/ 189221 w 608758"/>
              <a:gd name="connsiteY14" fmla="*/ 235669 h 602955"/>
              <a:gd name="connsiteX15" fmla="*/ 304497 w 608758"/>
              <a:gd name="connsiteY15" fmla="*/ 169006 h 602955"/>
              <a:gd name="connsiteX16" fmla="*/ 391705 w 608758"/>
              <a:gd name="connsiteY16" fmla="*/ 57902 h 602955"/>
              <a:gd name="connsiteX17" fmla="*/ 363091 w 608758"/>
              <a:gd name="connsiteY17" fmla="*/ 107845 h 602955"/>
              <a:gd name="connsiteX18" fmla="*/ 337442 w 608758"/>
              <a:gd name="connsiteY18" fmla="*/ 119771 h 602955"/>
              <a:gd name="connsiteX19" fmla="*/ 269873 w 608758"/>
              <a:gd name="connsiteY19" fmla="*/ 119931 h 602955"/>
              <a:gd name="connsiteX20" fmla="*/ 244145 w 608758"/>
              <a:gd name="connsiteY20" fmla="*/ 108166 h 602955"/>
              <a:gd name="connsiteX21" fmla="*/ 215209 w 608758"/>
              <a:gd name="connsiteY21" fmla="*/ 58543 h 602955"/>
              <a:gd name="connsiteX22" fmla="*/ 136820 w 608758"/>
              <a:gd name="connsiteY22" fmla="*/ 104164 h 602955"/>
              <a:gd name="connsiteX23" fmla="*/ 165755 w 608758"/>
              <a:gd name="connsiteY23" fmla="*/ 153867 h 602955"/>
              <a:gd name="connsiteX24" fmla="*/ 163271 w 608758"/>
              <a:gd name="connsiteY24" fmla="*/ 182040 h 602955"/>
              <a:gd name="connsiteX25" fmla="*/ 143713 w 608758"/>
              <a:gd name="connsiteY25" fmla="*/ 209653 h 602955"/>
              <a:gd name="connsiteX26" fmla="*/ 129687 w 608758"/>
              <a:gd name="connsiteY26" fmla="*/ 240467 h 602955"/>
              <a:gd name="connsiteX27" fmla="*/ 106683 w 608758"/>
              <a:gd name="connsiteY27" fmla="*/ 256874 h 602955"/>
              <a:gd name="connsiteX28" fmla="*/ 49134 w 608758"/>
              <a:gd name="connsiteY28" fmla="*/ 257115 h 602955"/>
              <a:gd name="connsiteX29" fmla="*/ 49454 w 608758"/>
              <a:gd name="connsiteY29" fmla="*/ 347797 h 602955"/>
              <a:gd name="connsiteX30" fmla="*/ 107004 w 608758"/>
              <a:gd name="connsiteY30" fmla="*/ 347557 h 602955"/>
              <a:gd name="connsiteX31" fmla="*/ 107084 w 608758"/>
              <a:gd name="connsiteY31" fmla="*/ 347557 h 602955"/>
              <a:gd name="connsiteX32" fmla="*/ 130168 w 608758"/>
              <a:gd name="connsiteY32" fmla="*/ 363804 h 602955"/>
              <a:gd name="connsiteX33" fmla="*/ 164152 w 608758"/>
              <a:gd name="connsiteY33" fmla="*/ 421991 h 602955"/>
              <a:gd name="connsiteX34" fmla="*/ 166878 w 608758"/>
              <a:gd name="connsiteY34" fmla="*/ 450164 h 602955"/>
              <a:gd name="connsiteX35" fmla="*/ 138263 w 608758"/>
              <a:gd name="connsiteY35" fmla="*/ 500027 h 602955"/>
              <a:gd name="connsiteX36" fmla="*/ 217053 w 608758"/>
              <a:gd name="connsiteY36" fmla="*/ 545088 h 602955"/>
              <a:gd name="connsiteX37" fmla="*/ 245667 w 608758"/>
              <a:gd name="connsiteY37" fmla="*/ 495145 h 602955"/>
              <a:gd name="connsiteX38" fmla="*/ 271316 w 608758"/>
              <a:gd name="connsiteY38" fmla="*/ 483219 h 602955"/>
              <a:gd name="connsiteX39" fmla="*/ 338805 w 608758"/>
              <a:gd name="connsiteY39" fmla="*/ 483059 h 602955"/>
              <a:gd name="connsiteX40" fmla="*/ 364533 w 608758"/>
              <a:gd name="connsiteY40" fmla="*/ 494745 h 602955"/>
              <a:gd name="connsiteX41" fmla="*/ 393549 w 608758"/>
              <a:gd name="connsiteY41" fmla="*/ 544368 h 602955"/>
              <a:gd name="connsiteX42" fmla="*/ 471938 w 608758"/>
              <a:gd name="connsiteY42" fmla="*/ 498747 h 602955"/>
              <a:gd name="connsiteX43" fmla="*/ 443003 w 608758"/>
              <a:gd name="connsiteY43" fmla="*/ 449204 h 602955"/>
              <a:gd name="connsiteX44" fmla="*/ 445487 w 608758"/>
              <a:gd name="connsiteY44" fmla="*/ 421031 h 602955"/>
              <a:gd name="connsiteX45" fmla="*/ 465125 w 608758"/>
              <a:gd name="connsiteY45" fmla="*/ 393338 h 602955"/>
              <a:gd name="connsiteX46" fmla="*/ 479071 w 608758"/>
              <a:gd name="connsiteY46" fmla="*/ 362443 h 602955"/>
              <a:gd name="connsiteX47" fmla="*/ 502155 w 608758"/>
              <a:gd name="connsiteY47" fmla="*/ 346036 h 602955"/>
              <a:gd name="connsiteX48" fmla="*/ 559625 w 608758"/>
              <a:gd name="connsiteY48" fmla="*/ 345876 h 602955"/>
              <a:gd name="connsiteX49" fmla="*/ 559304 w 608758"/>
              <a:gd name="connsiteY49" fmla="*/ 255194 h 602955"/>
              <a:gd name="connsiteX50" fmla="*/ 501754 w 608758"/>
              <a:gd name="connsiteY50" fmla="*/ 255434 h 602955"/>
              <a:gd name="connsiteX51" fmla="*/ 501674 w 608758"/>
              <a:gd name="connsiteY51" fmla="*/ 255434 h 602955"/>
              <a:gd name="connsiteX52" fmla="*/ 478590 w 608758"/>
              <a:gd name="connsiteY52" fmla="*/ 239186 h 602955"/>
              <a:gd name="connsiteX53" fmla="*/ 444526 w 608758"/>
              <a:gd name="connsiteY53" fmla="*/ 180919 h 602955"/>
              <a:gd name="connsiteX54" fmla="*/ 441881 w 608758"/>
              <a:gd name="connsiteY54" fmla="*/ 152826 h 602955"/>
              <a:gd name="connsiteX55" fmla="*/ 470495 w 608758"/>
              <a:gd name="connsiteY55" fmla="*/ 102963 h 602955"/>
              <a:gd name="connsiteX56" fmla="*/ 376156 w 608758"/>
              <a:gd name="connsiteY56" fmla="*/ 836 h 602955"/>
              <a:gd name="connsiteX57" fmla="*/ 394751 w 608758"/>
              <a:gd name="connsiteY57" fmla="*/ 3237 h 602955"/>
              <a:gd name="connsiteX58" fmla="*/ 516102 w 608758"/>
              <a:gd name="connsiteY58" fmla="*/ 72629 h 602955"/>
              <a:gd name="connsiteX59" fmla="*/ 525239 w 608758"/>
              <a:gd name="connsiteY59" fmla="*/ 106005 h 602955"/>
              <a:gd name="connsiteX60" fmla="*/ 492697 w 608758"/>
              <a:gd name="connsiteY60" fmla="*/ 162751 h 602955"/>
              <a:gd name="connsiteX61" fmla="*/ 518186 w 608758"/>
              <a:gd name="connsiteY61" fmla="*/ 206371 h 602955"/>
              <a:gd name="connsiteX62" fmla="*/ 583590 w 608758"/>
              <a:gd name="connsiteY62" fmla="*/ 206131 h 602955"/>
              <a:gd name="connsiteX63" fmla="*/ 583670 w 608758"/>
              <a:gd name="connsiteY63" fmla="*/ 206131 h 602955"/>
              <a:gd name="connsiteX64" fmla="*/ 600983 w 608758"/>
              <a:gd name="connsiteY64" fmla="*/ 213254 h 602955"/>
              <a:gd name="connsiteX65" fmla="*/ 608197 w 608758"/>
              <a:gd name="connsiteY65" fmla="*/ 230542 h 602955"/>
              <a:gd name="connsiteX66" fmla="*/ 608758 w 608758"/>
              <a:gd name="connsiteY66" fmla="*/ 370127 h 602955"/>
              <a:gd name="connsiteX67" fmla="*/ 601624 w 608758"/>
              <a:gd name="connsiteY67" fmla="*/ 387495 h 602955"/>
              <a:gd name="connsiteX68" fmla="*/ 584311 w 608758"/>
              <a:gd name="connsiteY68" fmla="*/ 394698 h 602955"/>
              <a:gd name="connsiteX69" fmla="*/ 518987 w 608758"/>
              <a:gd name="connsiteY69" fmla="*/ 394938 h 602955"/>
              <a:gd name="connsiteX70" fmla="*/ 507686 w 608758"/>
              <a:gd name="connsiteY70" fmla="*/ 417669 h 602955"/>
              <a:gd name="connsiteX71" fmla="*/ 493819 w 608758"/>
              <a:gd name="connsiteY71" fmla="*/ 438959 h 602955"/>
              <a:gd name="connsiteX72" fmla="*/ 526682 w 608758"/>
              <a:gd name="connsiteY72" fmla="*/ 495305 h 602955"/>
              <a:gd name="connsiteX73" fmla="*/ 529167 w 608758"/>
              <a:gd name="connsiteY73" fmla="*/ 513874 h 602955"/>
              <a:gd name="connsiteX74" fmla="*/ 517865 w 608758"/>
              <a:gd name="connsiteY74" fmla="*/ 528761 h 602955"/>
              <a:gd name="connsiteX75" fmla="*/ 396995 w 608758"/>
              <a:gd name="connsiteY75" fmla="*/ 599033 h 602955"/>
              <a:gd name="connsiteX76" fmla="*/ 378400 w 608758"/>
              <a:gd name="connsiteY76" fmla="*/ 601594 h 602955"/>
              <a:gd name="connsiteX77" fmla="*/ 363491 w 608758"/>
              <a:gd name="connsiteY77" fmla="*/ 590229 h 602955"/>
              <a:gd name="connsiteX78" fmla="*/ 330549 w 608758"/>
              <a:gd name="connsiteY78" fmla="*/ 533803 h 602955"/>
              <a:gd name="connsiteX79" fmla="*/ 279973 w 608758"/>
              <a:gd name="connsiteY79" fmla="*/ 533883 h 602955"/>
              <a:gd name="connsiteX80" fmla="*/ 247431 w 608758"/>
              <a:gd name="connsiteY80" fmla="*/ 590629 h 602955"/>
              <a:gd name="connsiteX81" fmla="*/ 226110 w 608758"/>
              <a:gd name="connsiteY81" fmla="*/ 602955 h 602955"/>
              <a:gd name="connsiteX82" fmla="*/ 214007 w 608758"/>
              <a:gd name="connsiteY82" fmla="*/ 599753 h 602955"/>
              <a:gd name="connsiteX83" fmla="*/ 92656 w 608758"/>
              <a:gd name="connsiteY83" fmla="*/ 530361 h 602955"/>
              <a:gd name="connsiteX84" fmla="*/ 81195 w 608758"/>
              <a:gd name="connsiteY84" fmla="*/ 515554 h 602955"/>
              <a:gd name="connsiteX85" fmla="*/ 83519 w 608758"/>
              <a:gd name="connsiteY85" fmla="*/ 496986 h 602955"/>
              <a:gd name="connsiteX86" fmla="*/ 116061 w 608758"/>
              <a:gd name="connsiteY86" fmla="*/ 440239 h 602955"/>
              <a:gd name="connsiteX87" fmla="*/ 90572 w 608758"/>
              <a:gd name="connsiteY87" fmla="*/ 396619 h 602955"/>
              <a:gd name="connsiteX88" fmla="*/ 25168 w 608758"/>
              <a:gd name="connsiteY88" fmla="*/ 396859 h 602955"/>
              <a:gd name="connsiteX89" fmla="*/ 25008 w 608758"/>
              <a:gd name="connsiteY89" fmla="*/ 396859 h 602955"/>
              <a:gd name="connsiteX90" fmla="*/ 7775 w 608758"/>
              <a:gd name="connsiteY90" fmla="*/ 389736 h 602955"/>
              <a:gd name="connsiteX91" fmla="*/ 481 w 608758"/>
              <a:gd name="connsiteY91" fmla="*/ 372448 h 602955"/>
              <a:gd name="connsiteX92" fmla="*/ 0 w 608758"/>
              <a:gd name="connsiteY92" fmla="*/ 232783 h 602955"/>
              <a:gd name="connsiteX93" fmla="*/ 24447 w 608758"/>
              <a:gd name="connsiteY93" fmla="*/ 208212 h 602955"/>
              <a:gd name="connsiteX94" fmla="*/ 89771 w 608758"/>
              <a:gd name="connsiteY94" fmla="*/ 207972 h 602955"/>
              <a:gd name="connsiteX95" fmla="*/ 101072 w 608758"/>
              <a:gd name="connsiteY95" fmla="*/ 185321 h 602955"/>
              <a:gd name="connsiteX96" fmla="*/ 114939 w 608758"/>
              <a:gd name="connsiteY96" fmla="*/ 164031 h 602955"/>
              <a:gd name="connsiteX97" fmla="*/ 82076 w 608758"/>
              <a:gd name="connsiteY97" fmla="*/ 107685 h 602955"/>
              <a:gd name="connsiteX98" fmla="*/ 90893 w 608758"/>
              <a:gd name="connsiteY98" fmla="*/ 74230 h 602955"/>
              <a:gd name="connsiteX99" fmla="*/ 211763 w 608758"/>
              <a:gd name="connsiteY99" fmla="*/ 3957 h 602955"/>
              <a:gd name="connsiteX100" fmla="*/ 230358 w 608758"/>
              <a:gd name="connsiteY100" fmla="*/ 1396 h 602955"/>
              <a:gd name="connsiteX101" fmla="*/ 245267 w 608758"/>
              <a:gd name="connsiteY101" fmla="*/ 12761 h 602955"/>
              <a:gd name="connsiteX102" fmla="*/ 278209 w 608758"/>
              <a:gd name="connsiteY102" fmla="*/ 69187 h 602955"/>
              <a:gd name="connsiteX103" fmla="*/ 328785 w 608758"/>
              <a:gd name="connsiteY103" fmla="*/ 69027 h 602955"/>
              <a:gd name="connsiteX104" fmla="*/ 361327 w 608758"/>
              <a:gd name="connsiteY104" fmla="*/ 12361 h 602955"/>
              <a:gd name="connsiteX105" fmla="*/ 376156 w 608758"/>
              <a:gd name="connsiteY105" fmla="*/ 836 h 602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608758" h="602955">
                <a:moveTo>
                  <a:pt x="304497" y="217983"/>
                </a:moveTo>
                <a:cubicBezTo>
                  <a:pt x="274516" y="217983"/>
                  <a:pt x="246699" y="234069"/>
                  <a:pt x="231788" y="259998"/>
                </a:cubicBezTo>
                <a:cubicBezTo>
                  <a:pt x="208941" y="299932"/>
                  <a:pt x="222810" y="351070"/>
                  <a:pt x="262812" y="373958"/>
                </a:cubicBezTo>
                <a:cubicBezTo>
                  <a:pt x="275478" y="381160"/>
                  <a:pt x="289827" y="385002"/>
                  <a:pt x="304257" y="385002"/>
                </a:cubicBezTo>
                <a:cubicBezTo>
                  <a:pt x="334238" y="385002"/>
                  <a:pt x="362056" y="368836"/>
                  <a:pt x="376966" y="342907"/>
                </a:cubicBezTo>
                <a:cubicBezTo>
                  <a:pt x="388029" y="323620"/>
                  <a:pt x="390915" y="301052"/>
                  <a:pt x="385063" y="279605"/>
                </a:cubicBezTo>
                <a:cubicBezTo>
                  <a:pt x="379211" y="258077"/>
                  <a:pt x="365262" y="240151"/>
                  <a:pt x="345942" y="229027"/>
                </a:cubicBezTo>
                <a:cubicBezTo>
                  <a:pt x="333276" y="221825"/>
                  <a:pt x="318927" y="217983"/>
                  <a:pt x="304497" y="217983"/>
                </a:cubicBezTo>
                <a:close/>
                <a:moveTo>
                  <a:pt x="304497" y="169006"/>
                </a:moveTo>
                <a:cubicBezTo>
                  <a:pt x="327505" y="169006"/>
                  <a:pt x="350191" y="175088"/>
                  <a:pt x="370312" y="186532"/>
                </a:cubicBezTo>
                <a:cubicBezTo>
                  <a:pt x="401016" y="204138"/>
                  <a:pt x="423061" y="232548"/>
                  <a:pt x="432360" y="266720"/>
                </a:cubicBezTo>
                <a:cubicBezTo>
                  <a:pt x="441659" y="300892"/>
                  <a:pt x="437090" y="336585"/>
                  <a:pt x="419534" y="367236"/>
                </a:cubicBezTo>
                <a:cubicBezTo>
                  <a:pt x="395965" y="408370"/>
                  <a:pt x="351794" y="433979"/>
                  <a:pt x="304257" y="433979"/>
                </a:cubicBezTo>
                <a:cubicBezTo>
                  <a:pt x="281250" y="433979"/>
                  <a:pt x="258563" y="427897"/>
                  <a:pt x="238442" y="416453"/>
                </a:cubicBezTo>
                <a:cubicBezTo>
                  <a:pt x="174951" y="380120"/>
                  <a:pt x="152906" y="299052"/>
                  <a:pt x="189221" y="235669"/>
                </a:cubicBezTo>
                <a:cubicBezTo>
                  <a:pt x="212789" y="194535"/>
                  <a:pt x="256960" y="169006"/>
                  <a:pt x="304497" y="169006"/>
                </a:cubicBezTo>
                <a:close/>
                <a:moveTo>
                  <a:pt x="391705" y="57902"/>
                </a:moveTo>
                <a:lnTo>
                  <a:pt x="363091" y="107845"/>
                </a:lnTo>
                <a:cubicBezTo>
                  <a:pt x="357961" y="116810"/>
                  <a:pt x="347621" y="121612"/>
                  <a:pt x="337442" y="119771"/>
                </a:cubicBezTo>
                <a:cubicBezTo>
                  <a:pt x="315160" y="115689"/>
                  <a:pt x="292076" y="115769"/>
                  <a:pt x="269873" y="119931"/>
                </a:cubicBezTo>
                <a:cubicBezTo>
                  <a:pt x="259694" y="121852"/>
                  <a:pt x="249354" y="117130"/>
                  <a:pt x="244145" y="108166"/>
                </a:cubicBezTo>
                <a:lnTo>
                  <a:pt x="215209" y="58543"/>
                </a:lnTo>
                <a:lnTo>
                  <a:pt x="136820" y="104164"/>
                </a:lnTo>
                <a:lnTo>
                  <a:pt x="165755" y="153867"/>
                </a:lnTo>
                <a:cubicBezTo>
                  <a:pt x="170965" y="162831"/>
                  <a:pt x="170003" y="174116"/>
                  <a:pt x="163271" y="182040"/>
                </a:cubicBezTo>
                <a:cubicBezTo>
                  <a:pt x="155496" y="191084"/>
                  <a:pt x="149164" y="200128"/>
                  <a:pt x="143713" y="209653"/>
                </a:cubicBezTo>
                <a:cubicBezTo>
                  <a:pt x="138263" y="219097"/>
                  <a:pt x="133694" y="229262"/>
                  <a:pt x="129687" y="240467"/>
                </a:cubicBezTo>
                <a:cubicBezTo>
                  <a:pt x="126320" y="250311"/>
                  <a:pt x="117023" y="256874"/>
                  <a:pt x="106683" y="256874"/>
                </a:cubicBezTo>
                <a:lnTo>
                  <a:pt x="49134" y="257115"/>
                </a:lnTo>
                <a:lnTo>
                  <a:pt x="49454" y="347797"/>
                </a:lnTo>
                <a:lnTo>
                  <a:pt x="107004" y="347557"/>
                </a:lnTo>
                <a:lnTo>
                  <a:pt x="107084" y="347557"/>
                </a:lnTo>
                <a:cubicBezTo>
                  <a:pt x="117423" y="347557"/>
                  <a:pt x="126721" y="354039"/>
                  <a:pt x="130168" y="363804"/>
                </a:cubicBezTo>
                <a:cubicBezTo>
                  <a:pt x="137782" y="385094"/>
                  <a:pt x="149244" y="404703"/>
                  <a:pt x="164152" y="421991"/>
                </a:cubicBezTo>
                <a:cubicBezTo>
                  <a:pt x="170965" y="429915"/>
                  <a:pt x="172087" y="441120"/>
                  <a:pt x="166878" y="450164"/>
                </a:cubicBezTo>
                <a:lnTo>
                  <a:pt x="138263" y="500027"/>
                </a:lnTo>
                <a:lnTo>
                  <a:pt x="217053" y="545088"/>
                </a:lnTo>
                <a:lnTo>
                  <a:pt x="245667" y="495145"/>
                </a:lnTo>
                <a:cubicBezTo>
                  <a:pt x="250797" y="486181"/>
                  <a:pt x="261057" y="481379"/>
                  <a:pt x="271316" y="483219"/>
                </a:cubicBezTo>
                <a:cubicBezTo>
                  <a:pt x="293679" y="487301"/>
                  <a:pt x="316763" y="487221"/>
                  <a:pt x="338805" y="483059"/>
                </a:cubicBezTo>
                <a:cubicBezTo>
                  <a:pt x="348984" y="481058"/>
                  <a:pt x="359324" y="485781"/>
                  <a:pt x="364533" y="494745"/>
                </a:cubicBezTo>
                <a:lnTo>
                  <a:pt x="393549" y="544368"/>
                </a:lnTo>
                <a:lnTo>
                  <a:pt x="471938" y="498747"/>
                </a:lnTo>
                <a:lnTo>
                  <a:pt x="443003" y="449204"/>
                </a:lnTo>
                <a:cubicBezTo>
                  <a:pt x="437793" y="440239"/>
                  <a:pt x="438755" y="428954"/>
                  <a:pt x="445487" y="421031"/>
                </a:cubicBezTo>
                <a:cubicBezTo>
                  <a:pt x="453262" y="411826"/>
                  <a:pt x="459674" y="402782"/>
                  <a:pt x="465125" y="393338"/>
                </a:cubicBezTo>
                <a:cubicBezTo>
                  <a:pt x="470495" y="383893"/>
                  <a:pt x="475064" y="373809"/>
                  <a:pt x="479071" y="362443"/>
                </a:cubicBezTo>
                <a:cubicBezTo>
                  <a:pt x="482518" y="352679"/>
                  <a:pt x="491735" y="346116"/>
                  <a:pt x="502155" y="346036"/>
                </a:cubicBezTo>
                <a:lnTo>
                  <a:pt x="559625" y="345876"/>
                </a:lnTo>
                <a:lnTo>
                  <a:pt x="559304" y="255194"/>
                </a:lnTo>
                <a:lnTo>
                  <a:pt x="501754" y="255434"/>
                </a:lnTo>
                <a:lnTo>
                  <a:pt x="501674" y="255434"/>
                </a:lnTo>
                <a:cubicBezTo>
                  <a:pt x="491335" y="255434"/>
                  <a:pt x="482117" y="248951"/>
                  <a:pt x="478590" y="239186"/>
                </a:cubicBezTo>
                <a:cubicBezTo>
                  <a:pt x="470896" y="217896"/>
                  <a:pt x="459514" y="198287"/>
                  <a:pt x="444526" y="180919"/>
                </a:cubicBezTo>
                <a:cubicBezTo>
                  <a:pt x="437793" y="173076"/>
                  <a:pt x="436751" y="161790"/>
                  <a:pt x="441881" y="152826"/>
                </a:cubicBezTo>
                <a:lnTo>
                  <a:pt x="470495" y="102963"/>
                </a:lnTo>
                <a:close/>
                <a:moveTo>
                  <a:pt x="376156" y="836"/>
                </a:moveTo>
                <a:cubicBezTo>
                  <a:pt x="382407" y="-845"/>
                  <a:pt x="389140" y="35"/>
                  <a:pt x="394751" y="3237"/>
                </a:cubicBezTo>
                <a:lnTo>
                  <a:pt x="516102" y="72629"/>
                </a:lnTo>
                <a:cubicBezTo>
                  <a:pt x="527884" y="79272"/>
                  <a:pt x="531972" y="94239"/>
                  <a:pt x="525239" y="106005"/>
                </a:cubicBezTo>
                <a:lnTo>
                  <a:pt x="492697" y="162751"/>
                </a:lnTo>
                <a:cubicBezTo>
                  <a:pt x="502796" y="176357"/>
                  <a:pt x="511373" y="190924"/>
                  <a:pt x="518186" y="206371"/>
                </a:cubicBezTo>
                <a:lnTo>
                  <a:pt x="583590" y="206131"/>
                </a:lnTo>
                <a:lnTo>
                  <a:pt x="583670" y="206131"/>
                </a:lnTo>
                <a:cubicBezTo>
                  <a:pt x="590163" y="206131"/>
                  <a:pt x="596415" y="208692"/>
                  <a:pt x="600983" y="213254"/>
                </a:cubicBezTo>
                <a:cubicBezTo>
                  <a:pt x="605632" y="217816"/>
                  <a:pt x="608197" y="224059"/>
                  <a:pt x="608197" y="230542"/>
                </a:cubicBezTo>
                <a:lnTo>
                  <a:pt x="608758" y="370127"/>
                </a:lnTo>
                <a:cubicBezTo>
                  <a:pt x="608758" y="376610"/>
                  <a:pt x="606193" y="382853"/>
                  <a:pt x="601624" y="387495"/>
                </a:cubicBezTo>
                <a:cubicBezTo>
                  <a:pt x="597056" y="392137"/>
                  <a:pt x="590804" y="394698"/>
                  <a:pt x="584311" y="394698"/>
                </a:cubicBezTo>
                <a:lnTo>
                  <a:pt x="518987" y="394938"/>
                </a:lnTo>
                <a:cubicBezTo>
                  <a:pt x="515541" y="402942"/>
                  <a:pt x="511854" y="410386"/>
                  <a:pt x="507686" y="417669"/>
                </a:cubicBezTo>
                <a:cubicBezTo>
                  <a:pt x="503518" y="424952"/>
                  <a:pt x="498949" y="431996"/>
                  <a:pt x="493819" y="438959"/>
                </a:cubicBezTo>
                <a:lnTo>
                  <a:pt x="526682" y="495305"/>
                </a:lnTo>
                <a:cubicBezTo>
                  <a:pt x="529968" y="500908"/>
                  <a:pt x="530850" y="507551"/>
                  <a:pt x="529167" y="513874"/>
                </a:cubicBezTo>
                <a:cubicBezTo>
                  <a:pt x="527564" y="520117"/>
                  <a:pt x="523476" y="525479"/>
                  <a:pt x="517865" y="528761"/>
                </a:cubicBezTo>
                <a:lnTo>
                  <a:pt x="396995" y="599033"/>
                </a:lnTo>
                <a:cubicBezTo>
                  <a:pt x="391385" y="602315"/>
                  <a:pt x="384732" y="603195"/>
                  <a:pt x="378400" y="601594"/>
                </a:cubicBezTo>
                <a:cubicBezTo>
                  <a:pt x="372148" y="599913"/>
                  <a:pt x="366778" y="595832"/>
                  <a:pt x="363491" y="590229"/>
                </a:cubicBezTo>
                <a:lnTo>
                  <a:pt x="330549" y="533803"/>
                </a:lnTo>
                <a:cubicBezTo>
                  <a:pt x="313797" y="535644"/>
                  <a:pt x="296885" y="535724"/>
                  <a:pt x="279973" y="533883"/>
                </a:cubicBezTo>
                <a:lnTo>
                  <a:pt x="247431" y="590629"/>
                </a:lnTo>
                <a:cubicBezTo>
                  <a:pt x="242942" y="598553"/>
                  <a:pt x="234687" y="602955"/>
                  <a:pt x="226110" y="602955"/>
                </a:cubicBezTo>
                <a:cubicBezTo>
                  <a:pt x="222022" y="602955"/>
                  <a:pt x="217855" y="601914"/>
                  <a:pt x="214007" y="599753"/>
                </a:cubicBezTo>
                <a:lnTo>
                  <a:pt x="92656" y="530361"/>
                </a:lnTo>
                <a:cubicBezTo>
                  <a:pt x="86966" y="527160"/>
                  <a:pt x="82878" y="521797"/>
                  <a:pt x="81195" y="515554"/>
                </a:cubicBezTo>
                <a:cubicBezTo>
                  <a:pt x="79431" y="509311"/>
                  <a:pt x="80313" y="502588"/>
                  <a:pt x="83519" y="496986"/>
                </a:cubicBezTo>
                <a:lnTo>
                  <a:pt x="116061" y="440239"/>
                </a:lnTo>
                <a:cubicBezTo>
                  <a:pt x="105962" y="426633"/>
                  <a:pt x="97385" y="411986"/>
                  <a:pt x="90572" y="396619"/>
                </a:cubicBezTo>
                <a:lnTo>
                  <a:pt x="25168" y="396859"/>
                </a:lnTo>
                <a:lnTo>
                  <a:pt x="25008" y="396859"/>
                </a:lnTo>
                <a:cubicBezTo>
                  <a:pt x="18596" y="396859"/>
                  <a:pt x="12344" y="394298"/>
                  <a:pt x="7775" y="389736"/>
                </a:cubicBezTo>
                <a:cubicBezTo>
                  <a:pt x="3126" y="385174"/>
                  <a:pt x="561" y="378931"/>
                  <a:pt x="481" y="372448"/>
                </a:cubicBezTo>
                <a:lnTo>
                  <a:pt x="0" y="232783"/>
                </a:lnTo>
                <a:cubicBezTo>
                  <a:pt x="-80" y="219257"/>
                  <a:pt x="10901" y="208292"/>
                  <a:pt x="24447" y="208212"/>
                </a:cubicBezTo>
                <a:lnTo>
                  <a:pt x="89771" y="207972"/>
                </a:lnTo>
                <a:cubicBezTo>
                  <a:pt x="93137" y="200128"/>
                  <a:pt x="96904" y="192605"/>
                  <a:pt x="101072" y="185321"/>
                </a:cubicBezTo>
                <a:cubicBezTo>
                  <a:pt x="105240" y="178038"/>
                  <a:pt x="109889" y="170995"/>
                  <a:pt x="114939" y="164031"/>
                </a:cubicBezTo>
                <a:lnTo>
                  <a:pt x="82076" y="107685"/>
                </a:lnTo>
                <a:cubicBezTo>
                  <a:pt x="75263" y="96000"/>
                  <a:pt x="79191" y="81033"/>
                  <a:pt x="90893" y="74230"/>
                </a:cubicBezTo>
                <a:lnTo>
                  <a:pt x="211763" y="3957"/>
                </a:lnTo>
                <a:cubicBezTo>
                  <a:pt x="217374" y="676"/>
                  <a:pt x="224026" y="-285"/>
                  <a:pt x="230358" y="1396"/>
                </a:cubicBezTo>
                <a:cubicBezTo>
                  <a:pt x="236610" y="3077"/>
                  <a:pt x="241980" y="7159"/>
                  <a:pt x="245267" y="12761"/>
                </a:cubicBezTo>
                <a:lnTo>
                  <a:pt x="278209" y="69187"/>
                </a:lnTo>
                <a:cubicBezTo>
                  <a:pt x="294961" y="67347"/>
                  <a:pt x="311953" y="67267"/>
                  <a:pt x="328785" y="69027"/>
                </a:cubicBezTo>
                <a:lnTo>
                  <a:pt x="361327" y="12361"/>
                </a:lnTo>
                <a:cubicBezTo>
                  <a:pt x="364533" y="6678"/>
                  <a:pt x="369904" y="2597"/>
                  <a:pt x="376156" y="836"/>
                </a:cubicBezTo>
                <a:close/>
              </a:path>
            </a:pathLst>
          </a:custGeom>
          <a:solidFill>
            <a:srgbClr val="00B0F0"/>
          </a:solidFill>
          <a:ln>
            <a:noFill/>
          </a:ln>
        </p:spPr>
        <p:txBody>
          <a:bodyPr/>
          <a:lstStyle/>
          <a:p>
            <a:endParaRPr lang="zh-CN" altLang="en-US">
              <a:cs typeface="+mn-ea"/>
              <a:sym typeface="Huawei Sans" panose="020C0503030203020204" pitchFamily="34" charset="0"/>
            </a:endParaRPr>
          </a:p>
        </p:txBody>
      </p:sp>
      <p:sp>
        <p:nvSpPr>
          <p:cNvPr id="11" name="文本框 10">
            <a:extLst>
              <a:ext uri="{FF2B5EF4-FFF2-40B4-BE49-F238E27FC236}">
                <a16:creationId xmlns:a16="http://schemas.microsoft.com/office/drawing/2014/main" id="{4AC7BBCC-630B-4279-B22F-0D2BF6EB21E0}"/>
              </a:ext>
            </a:extLst>
          </p:cNvPr>
          <p:cNvSpPr txBox="1"/>
          <p:nvPr/>
        </p:nvSpPr>
        <p:spPr bwMode="gray">
          <a:xfrm>
            <a:off x="5838134" y="3751649"/>
            <a:ext cx="529615" cy="553998"/>
          </a:xfrm>
          <a:prstGeom prst="rect">
            <a:avLst/>
          </a:prstGeom>
          <a:noFill/>
        </p:spPr>
        <p:txBody>
          <a:bodyPr wrap="square" lIns="0" tIns="0" rIns="0" bIns="0" rtlCol="0">
            <a:spAutoFit/>
          </a:bodyPr>
          <a:lstStyle/>
          <a:p>
            <a:pPr algn="ctr"/>
            <a:r>
              <a:rPr kumimoji="1" lang="en-US" altLang="zh-CN" sz="3600" dirty="0">
                <a:solidFill>
                  <a:srgbClr val="00B0F0"/>
                </a:solidFill>
                <a:cs typeface="+mn-ea"/>
                <a:sym typeface="Huawei Sans" panose="020C0503030203020204" pitchFamily="34" charset="0"/>
              </a:rPr>
              <a:t>3</a:t>
            </a:r>
            <a:endParaRPr kumimoji="1" lang="zh-CN" altLang="en-US" sz="3600" dirty="0">
              <a:solidFill>
                <a:srgbClr val="00B0F0"/>
              </a:solidFill>
              <a:cs typeface="+mn-ea"/>
              <a:sym typeface="Huawei Sans" panose="020C0503030203020204" pitchFamily="34" charset="0"/>
            </a:endParaRPr>
          </a:p>
        </p:txBody>
      </p:sp>
      <p:sp>
        <p:nvSpPr>
          <p:cNvPr id="12" name="文本框 11">
            <a:extLst>
              <a:ext uri="{FF2B5EF4-FFF2-40B4-BE49-F238E27FC236}">
                <a16:creationId xmlns:a16="http://schemas.microsoft.com/office/drawing/2014/main" id="{812CAFCB-0B17-4370-BD7B-B8AC56792FD9}"/>
              </a:ext>
            </a:extLst>
          </p:cNvPr>
          <p:cNvSpPr txBox="1"/>
          <p:nvPr/>
        </p:nvSpPr>
        <p:spPr bwMode="gray">
          <a:xfrm>
            <a:off x="9324675" y="3725596"/>
            <a:ext cx="529615" cy="553998"/>
          </a:xfrm>
          <a:prstGeom prst="rect">
            <a:avLst/>
          </a:prstGeom>
          <a:noFill/>
        </p:spPr>
        <p:txBody>
          <a:bodyPr wrap="square" lIns="0" tIns="0" rIns="0" bIns="0" rtlCol="0">
            <a:spAutoFit/>
          </a:bodyPr>
          <a:lstStyle/>
          <a:p>
            <a:pPr algn="ctr"/>
            <a:r>
              <a:rPr kumimoji="1" lang="en-US" altLang="zh-CN" sz="3600" dirty="0">
                <a:solidFill>
                  <a:srgbClr val="00B0F0"/>
                </a:solidFill>
                <a:cs typeface="+mn-ea"/>
                <a:sym typeface="Huawei Sans" panose="020C0503030203020204" pitchFamily="34" charset="0"/>
              </a:rPr>
              <a:t>4</a:t>
            </a:r>
            <a:endParaRPr kumimoji="1" lang="zh-CN" altLang="en-US" sz="3600" dirty="0">
              <a:solidFill>
                <a:srgbClr val="00B0F0"/>
              </a:solidFill>
              <a:cs typeface="+mn-ea"/>
              <a:sym typeface="Huawei Sans" panose="020C0503030203020204" pitchFamily="34" charset="0"/>
            </a:endParaRPr>
          </a:p>
        </p:txBody>
      </p:sp>
      <p:grpSp>
        <p:nvGrpSpPr>
          <p:cNvPr id="13" name="组合 12">
            <a:extLst>
              <a:ext uri="{FF2B5EF4-FFF2-40B4-BE49-F238E27FC236}">
                <a16:creationId xmlns:a16="http://schemas.microsoft.com/office/drawing/2014/main" id="{0A7EC731-FC15-4348-B0C3-F4164FB47FC8}"/>
              </a:ext>
            </a:extLst>
          </p:cNvPr>
          <p:cNvGrpSpPr/>
          <p:nvPr/>
        </p:nvGrpSpPr>
        <p:grpSpPr bwMode="gray">
          <a:xfrm rot="16200000">
            <a:off x="1795300" y="3222307"/>
            <a:ext cx="1577735" cy="1567975"/>
            <a:chOff x="1834911" y="3216123"/>
            <a:chExt cx="1776730" cy="1765739"/>
          </a:xfrm>
        </p:grpSpPr>
        <p:sp>
          <p:nvSpPr>
            <p:cNvPr id="14" name="空心弧 13">
              <a:extLst>
                <a:ext uri="{FF2B5EF4-FFF2-40B4-BE49-F238E27FC236}">
                  <a16:creationId xmlns:a16="http://schemas.microsoft.com/office/drawing/2014/main" id="{007CD11B-53D6-4D67-AA1F-036E0900C74D}"/>
                </a:ext>
              </a:extLst>
            </p:cNvPr>
            <p:cNvSpPr/>
            <p:nvPr/>
          </p:nvSpPr>
          <p:spPr bwMode="gray">
            <a:xfrm>
              <a:off x="1834911" y="3216123"/>
              <a:ext cx="1776730" cy="1765739"/>
            </a:xfrm>
            <a:prstGeom prst="blockArc">
              <a:avLst>
                <a:gd name="adj1" fmla="val 7925325"/>
                <a:gd name="adj2" fmla="val 14713414"/>
                <a:gd name="adj3" fmla="val 2265"/>
              </a:avLst>
            </a:prstGeom>
            <a:gradFill flip="none" rotWithShape="1">
              <a:gsLst>
                <a:gs pos="0">
                  <a:srgbClr val="F3FBFE"/>
                </a:gs>
                <a:gs pos="100000">
                  <a:srgbClr val="00B0F0"/>
                </a:gs>
              </a:gsLst>
              <a:lin ang="5400000" scaled="1"/>
              <a:tileRect/>
            </a:gradFill>
            <a:ln w="28575" cap="flat" cmpd="sng" algn="ctr">
              <a:noFill/>
              <a:prstDash val="solid"/>
              <a:headEnd type="none" w="sm" len="med"/>
              <a:tailEnd type="none" w="sm" len="med"/>
            </a:ln>
            <a:effectLst/>
          </p:spPr>
          <p:txBody>
            <a:bodyPr lIns="91396" tIns="45698" rIns="91396" bIns="45698" rtlCol="0" anchor="ctr"/>
            <a:lstStyle/>
            <a:p>
              <a:pPr algn="ctr" defTabSz="1218784"/>
              <a:endParaRPr lang="zh-CN" altLang="en-US" sz="1399" kern="0">
                <a:solidFill>
                  <a:prstClr val="black">
                    <a:lumMod val="65000"/>
                    <a:lumOff val="35000"/>
                  </a:prstClr>
                </a:solidFill>
                <a:cs typeface="+mn-ea"/>
                <a:sym typeface="Huawei Sans" panose="020C0503030203020204" pitchFamily="34" charset="0"/>
              </a:endParaRPr>
            </a:p>
          </p:txBody>
        </p:sp>
        <p:sp>
          <p:nvSpPr>
            <p:cNvPr id="15" name="空心弧 14">
              <a:extLst>
                <a:ext uri="{FF2B5EF4-FFF2-40B4-BE49-F238E27FC236}">
                  <a16:creationId xmlns:a16="http://schemas.microsoft.com/office/drawing/2014/main" id="{FC267298-75EB-424F-B369-12815E3F132B}"/>
                </a:ext>
              </a:extLst>
            </p:cNvPr>
            <p:cNvSpPr/>
            <p:nvPr/>
          </p:nvSpPr>
          <p:spPr bwMode="gray">
            <a:xfrm rot="10800000">
              <a:off x="1834911" y="3216123"/>
              <a:ext cx="1776730" cy="1765739"/>
            </a:xfrm>
            <a:prstGeom prst="blockArc">
              <a:avLst>
                <a:gd name="adj1" fmla="val 7420654"/>
                <a:gd name="adj2" fmla="val 14882723"/>
                <a:gd name="adj3" fmla="val 2013"/>
              </a:avLst>
            </a:prstGeom>
            <a:gradFill flip="none" rotWithShape="1">
              <a:gsLst>
                <a:gs pos="0">
                  <a:srgbClr val="F3FBFE"/>
                </a:gs>
                <a:gs pos="100000">
                  <a:srgbClr val="00B0F0"/>
                </a:gs>
              </a:gsLst>
              <a:lin ang="5400000" scaled="1"/>
              <a:tileRect/>
            </a:gradFill>
            <a:ln w="28575" cap="flat" cmpd="sng" algn="ctr">
              <a:noFill/>
              <a:prstDash val="solid"/>
              <a:headEnd type="none" w="sm" len="med"/>
              <a:tailEnd type="none" w="sm" len="med"/>
            </a:ln>
            <a:effectLst/>
          </p:spPr>
          <p:txBody>
            <a:bodyPr lIns="91396" tIns="45698" rIns="91396" bIns="45698" rtlCol="0" anchor="ctr"/>
            <a:lstStyle/>
            <a:p>
              <a:pPr algn="ctr" defTabSz="1218784">
                <a:defRPr/>
              </a:pPr>
              <a:endParaRPr lang="zh-CN" altLang="en-US" sz="1399" kern="0">
                <a:solidFill>
                  <a:prstClr val="black">
                    <a:lumMod val="65000"/>
                    <a:lumOff val="35000"/>
                  </a:prstClr>
                </a:solidFill>
                <a:cs typeface="+mn-ea"/>
                <a:sym typeface="Huawei Sans" panose="020C0503030203020204" pitchFamily="34" charset="0"/>
              </a:endParaRPr>
            </a:p>
          </p:txBody>
        </p:sp>
      </p:grpSp>
      <p:sp>
        <p:nvSpPr>
          <p:cNvPr id="16" name="文本框 15">
            <a:extLst>
              <a:ext uri="{FF2B5EF4-FFF2-40B4-BE49-F238E27FC236}">
                <a16:creationId xmlns:a16="http://schemas.microsoft.com/office/drawing/2014/main" id="{3AAD62AB-D34A-4700-88E8-DED2861B28DE}"/>
              </a:ext>
            </a:extLst>
          </p:cNvPr>
          <p:cNvSpPr txBox="1"/>
          <p:nvPr/>
        </p:nvSpPr>
        <p:spPr bwMode="gray">
          <a:xfrm>
            <a:off x="2316014" y="3836072"/>
            <a:ext cx="529615" cy="553998"/>
          </a:xfrm>
          <a:prstGeom prst="rect">
            <a:avLst/>
          </a:prstGeom>
          <a:noFill/>
        </p:spPr>
        <p:txBody>
          <a:bodyPr wrap="square" lIns="0" tIns="0" rIns="0" bIns="0" rtlCol="0">
            <a:spAutoFit/>
          </a:bodyPr>
          <a:lstStyle/>
          <a:p>
            <a:pPr algn="ctr"/>
            <a:r>
              <a:rPr kumimoji="1" lang="en-US" altLang="zh-CN" sz="3600" dirty="0">
                <a:solidFill>
                  <a:srgbClr val="00B0F0"/>
                </a:solidFill>
                <a:cs typeface="+mn-ea"/>
                <a:sym typeface="Huawei Sans" panose="020C0503030203020204" pitchFamily="34" charset="0"/>
              </a:rPr>
              <a:t>2</a:t>
            </a:r>
            <a:endParaRPr kumimoji="1" lang="zh-CN" altLang="en-US" sz="3600" dirty="0">
              <a:solidFill>
                <a:srgbClr val="00B0F0"/>
              </a:solidFill>
              <a:cs typeface="+mn-ea"/>
              <a:sym typeface="Huawei Sans" panose="020C0503030203020204" pitchFamily="34" charset="0"/>
            </a:endParaRPr>
          </a:p>
        </p:txBody>
      </p:sp>
      <p:sp>
        <p:nvSpPr>
          <p:cNvPr id="17" name="燕尾形 18">
            <a:extLst>
              <a:ext uri="{FF2B5EF4-FFF2-40B4-BE49-F238E27FC236}">
                <a16:creationId xmlns:a16="http://schemas.microsoft.com/office/drawing/2014/main" id="{47FCFB8E-6F2E-40E4-8738-D974B6E75EB3}"/>
              </a:ext>
            </a:extLst>
          </p:cNvPr>
          <p:cNvSpPr/>
          <p:nvPr/>
        </p:nvSpPr>
        <p:spPr bwMode="gray">
          <a:xfrm rot="10800000">
            <a:off x="2519070" y="3150406"/>
            <a:ext cx="101013" cy="134041"/>
          </a:xfrm>
          <a:prstGeom prst="chevron">
            <a:avLst>
              <a:gd name="adj" fmla="val 89783"/>
            </a:avLst>
          </a:prstGeom>
          <a:solidFill>
            <a:srgbClr val="00B0F0"/>
          </a:solidFill>
          <a:ln w="25400" cap="flat" cmpd="sng" algn="ctr">
            <a:solidFill>
              <a:srgbClr val="00B0F0"/>
            </a:solidFill>
            <a:prstDash val="solid"/>
          </a:ln>
          <a:effectLst/>
        </p:spPr>
        <p:txBody>
          <a:bodyPr rtlCol="0" anchor="ctr"/>
          <a:lstStyle/>
          <a:p>
            <a:pPr algn="ctr" defTabSz="1218784">
              <a:defRPr/>
            </a:pPr>
            <a:endParaRPr lang="zh-CN" altLang="en-US" sz="1399" kern="0">
              <a:solidFill>
                <a:prstClr val="black">
                  <a:lumMod val="65000"/>
                  <a:lumOff val="35000"/>
                </a:prstClr>
              </a:solidFill>
              <a:cs typeface="+mn-ea"/>
              <a:sym typeface="Huawei Sans" panose="020C0503030203020204" pitchFamily="34" charset="0"/>
            </a:endParaRPr>
          </a:p>
        </p:txBody>
      </p:sp>
      <p:sp>
        <p:nvSpPr>
          <p:cNvPr id="18" name="燕尾形 19">
            <a:extLst>
              <a:ext uri="{FF2B5EF4-FFF2-40B4-BE49-F238E27FC236}">
                <a16:creationId xmlns:a16="http://schemas.microsoft.com/office/drawing/2014/main" id="{774820CD-5E73-4DB3-8F58-696E6347A7BE}"/>
              </a:ext>
            </a:extLst>
          </p:cNvPr>
          <p:cNvSpPr/>
          <p:nvPr/>
        </p:nvSpPr>
        <p:spPr bwMode="gray">
          <a:xfrm>
            <a:off x="2553693" y="4718084"/>
            <a:ext cx="101013" cy="134041"/>
          </a:xfrm>
          <a:prstGeom prst="chevron">
            <a:avLst>
              <a:gd name="adj" fmla="val 89783"/>
            </a:avLst>
          </a:prstGeom>
          <a:solidFill>
            <a:srgbClr val="C00000"/>
          </a:solidFill>
          <a:ln w="25400" cap="flat" cmpd="sng" algn="ctr">
            <a:solidFill>
              <a:srgbClr val="00B0F0"/>
            </a:solidFill>
            <a:prstDash val="solid"/>
          </a:ln>
          <a:effectLst/>
        </p:spPr>
        <p:txBody>
          <a:bodyPr rtlCol="0" anchor="ctr"/>
          <a:lstStyle/>
          <a:p>
            <a:pPr algn="ctr" defTabSz="1218784">
              <a:defRPr/>
            </a:pPr>
            <a:endParaRPr lang="zh-CN" altLang="en-US" sz="1399" kern="0">
              <a:solidFill>
                <a:prstClr val="black">
                  <a:lumMod val="65000"/>
                  <a:lumOff val="35000"/>
                </a:prstClr>
              </a:solidFill>
              <a:cs typeface="+mn-ea"/>
              <a:sym typeface="Huawei Sans" panose="020C0503030203020204" pitchFamily="34" charset="0"/>
            </a:endParaRPr>
          </a:p>
        </p:txBody>
      </p:sp>
      <p:grpSp>
        <p:nvGrpSpPr>
          <p:cNvPr id="19" name="组合 50">
            <a:extLst>
              <a:ext uri="{FF2B5EF4-FFF2-40B4-BE49-F238E27FC236}">
                <a16:creationId xmlns:a16="http://schemas.microsoft.com/office/drawing/2014/main" id="{537552FC-1E5B-4337-BF7B-FDB80FC71AC3}"/>
              </a:ext>
            </a:extLst>
          </p:cNvPr>
          <p:cNvGrpSpPr>
            <a:grpSpLocks noChangeAspect="1"/>
          </p:cNvGrpSpPr>
          <p:nvPr/>
        </p:nvGrpSpPr>
        <p:grpSpPr bwMode="gray">
          <a:xfrm>
            <a:off x="2919550" y="3783934"/>
            <a:ext cx="511657" cy="466736"/>
            <a:chOff x="4656138" y="1211263"/>
            <a:chExt cx="852487" cy="750887"/>
          </a:xfrm>
          <a:solidFill>
            <a:srgbClr val="00B0F0"/>
          </a:solidFill>
        </p:grpSpPr>
        <p:sp>
          <p:nvSpPr>
            <p:cNvPr id="20" name="Freeform 12">
              <a:extLst>
                <a:ext uri="{FF2B5EF4-FFF2-40B4-BE49-F238E27FC236}">
                  <a16:creationId xmlns:a16="http://schemas.microsoft.com/office/drawing/2014/main" id="{195959BE-7420-45CA-92AA-552BC27F3EA7}"/>
                </a:ext>
              </a:extLst>
            </p:cNvPr>
            <p:cNvSpPr>
              <a:spLocks/>
            </p:cNvSpPr>
            <p:nvPr/>
          </p:nvSpPr>
          <p:spPr bwMode="gray">
            <a:xfrm>
              <a:off x="5102225" y="1211263"/>
              <a:ext cx="406400" cy="750887"/>
            </a:xfrm>
            <a:custGeom>
              <a:avLst/>
              <a:gdLst>
                <a:gd name="T0" fmla="*/ 316089 w 108"/>
                <a:gd name="T1" fmla="*/ 289091 h 200"/>
                <a:gd name="T2" fmla="*/ 312326 w 108"/>
                <a:gd name="T3" fmla="*/ 285337 h 200"/>
                <a:gd name="T4" fmla="*/ 289748 w 108"/>
                <a:gd name="T5" fmla="*/ 236529 h 200"/>
                <a:gd name="T6" fmla="*/ 316089 w 108"/>
                <a:gd name="T7" fmla="*/ 206494 h 200"/>
                <a:gd name="T8" fmla="*/ 316089 w 108"/>
                <a:gd name="T9" fmla="*/ 127651 h 200"/>
                <a:gd name="T10" fmla="*/ 237067 w 108"/>
                <a:gd name="T11" fmla="*/ 71334 h 200"/>
                <a:gd name="T12" fmla="*/ 173096 w 108"/>
                <a:gd name="T13" fmla="*/ 112633 h 200"/>
                <a:gd name="T14" fmla="*/ 169333 w 108"/>
                <a:gd name="T15" fmla="*/ 112633 h 200"/>
                <a:gd name="T16" fmla="*/ 120415 w 108"/>
                <a:gd name="T17" fmla="*/ 93861 h 200"/>
                <a:gd name="T18" fmla="*/ 112889 w 108"/>
                <a:gd name="T19" fmla="*/ 86352 h 200"/>
                <a:gd name="T20" fmla="*/ 56444 w 108"/>
                <a:gd name="T21" fmla="*/ 0 h 200"/>
                <a:gd name="T22" fmla="*/ 0 w 108"/>
                <a:gd name="T23" fmla="*/ 30035 h 200"/>
                <a:gd name="T24" fmla="*/ 52681 w 108"/>
                <a:gd name="T25" fmla="*/ 60071 h 200"/>
                <a:gd name="T26" fmla="*/ 97837 w 108"/>
                <a:gd name="T27" fmla="*/ 150177 h 200"/>
                <a:gd name="T28" fmla="*/ 169333 w 108"/>
                <a:gd name="T29" fmla="*/ 172704 h 200"/>
                <a:gd name="T30" fmla="*/ 237067 w 108"/>
                <a:gd name="T31" fmla="*/ 135160 h 200"/>
                <a:gd name="T32" fmla="*/ 248356 w 108"/>
                <a:gd name="T33" fmla="*/ 187722 h 200"/>
                <a:gd name="T34" fmla="*/ 252119 w 108"/>
                <a:gd name="T35" fmla="*/ 304109 h 200"/>
                <a:gd name="T36" fmla="*/ 346193 w 108"/>
                <a:gd name="T37" fmla="*/ 352917 h 200"/>
                <a:gd name="T38" fmla="*/ 316089 w 108"/>
                <a:gd name="T39" fmla="*/ 397970 h 200"/>
                <a:gd name="T40" fmla="*/ 237067 w 108"/>
                <a:gd name="T41" fmla="*/ 484322 h 200"/>
                <a:gd name="T42" fmla="*/ 267170 w 108"/>
                <a:gd name="T43" fmla="*/ 578183 h 200"/>
                <a:gd name="T44" fmla="*/ 218252 w 108"/>
                <a:gd name="T45" fmla="*/ 593201 h 200"/>
                <a:gd name="T46" fmla="*/ 139230 w 108"/>
                <a:gd name="T47" fmla="*/ 578183 h 200"/>
                <a:gd name="T48" fmla="*/ 52681 w 108"/>
                <a:gd name="T49" fmla="*/ 660781 h 200"/>
                <a:gd name="T50" fmla="*/ 30104 w 108"/>
                <a:gd name="T51" fmla="*/ 687062 h 200"/>
                <a:gd name="T52" fmla="*/ 30104 w 108"/>
                <a:gd name="T53" fmla="*/ 750887 h 200"/>
                <a:gd name="T54" fmla="*/ 112889 w 108"/>
                <a:gd name="T55" fmla="*/ 690816 h 200"/>
                <a:gd name="T56" fmla="*/ 116652 w 108"/>
                <a:gd name="T57" fmla="*/ 657026 h 200"/>
                <a:gd name="T58" fmla="*/ 165570 w 108"/>
                <a:gd name="T59" fmla="*/ 634500 h 200"/>
                <a:gd name="T60" fmla="*/ 169333 w 108"/>
                <a:gd name="T61" fmla="*/ 634500 h 200"/>
                <a:gd name="T62" fmla="*/ 195674 w 108"/>
                <a:gd name="T63" fmla="*/ 657026 h 200"/>
                <a:gd name="T64" fmla="*/ 278459 w 108"/>
                <a:gd name="T65" fmla="*/ 657026 h 200"/>
                <a:gd name="T66" fmla="*/ 331141 w 108"/>
                <a:gd name="T67" fmla="*/ 578183 h 200"/>
                <a:gd name="T68" fmla="*/ 293511 w 108"/>
                <a:gd name="T69" fmla="*/ 518112 h 200"/>
                <a:gd name="T70" fmla="*/ 293511 w 108"/>
                <a:gd name="T71" fmla="*/ 506849 h 200"/>
                <a:gd name="T72" fmla="*/ 312326 w 108"/>
                <a:gd name="T73" fmla="*/ 461796 h 200"/>
                <a:gd name="T74" fmla="*/ 349956 w 108"/>
                <a:gd name="T75" fmla="*/ 458041 h 200"/>
                <a:gd name="T76" fmla="*/ 406400 w 108"/>
                <a:gd name="T77" fmla="*/ 345408 h 2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8" h="200">
                  <a:moveTo>
                    <a:pt x="93" y="77"/>
                  </a:moveTo>
                  <a:cubicBezTo>
                    <a:pt x="84" y="77"/>
                    <a:pt x="84" y="77"/>
                    <a:pt x="84" y="77"/>
                  </a:cubicBezTo>
                  <a:cubicBezTo>
                    <a:pt x="84" y="77"/>
                    <a:pt x="83" y="77"/>
                    <a:pt x="83" y="76"/>
                  </a:cubicBezTo>
                  <a:cubicBezTo>
                    <a:pt x="83" y="76"/>
                    <a:pt x="83" y="76"/>
                    <a:pt x="83" y="76"/>
                  </a:cubicBezTo>
                  <a:cubicBezTo>
                    <a:pt x="78" y="64"/>
                    <a:pt x="78" y="64"/>
                    <a:pt x="78" y="64"/>
                  </a:cubicBezTo>
                  <a:cubicBezTo>
                    <a:pt x="78" y="63"/>
                    <a:pt x="78" y="63"/>
                    <a:pt x="77" y="63"/>
                  </a:cubicBezTo>
                  <a:cubicBezTo>
                    <a:pt x="77" y="63"/>
                    <a:pt x="77" y="62"/>
                    <a:pt x="78" y="61"/>
                  </a:cubicBezTo>
                  <a:cubicBezTo>
                    <a:pt x="84" y="55"/>
                    <a:pt x="84" y="55"/>
                    <a:pt x="84" y="55"/>
                  </a:cubicBezTo>
                  <a:cubicBezTo>
                    <a:pt x="87" y="53"/>
                    <a:pt x="88" y="49"/>
                    <a:pt x="88" y="45"/>
                  </a:cubicBezTo>
                  <a:cubicBezTo>
                    <a:pt x="88" y="41"/>
                    <a:pt x="87" y="37"/>
                    <a:pt x="84" y="34"/>
                  </a:cubicBezTo>
                  <a:cubicBezTo>
                    <a:pt x="74" y="24"/>
                    <a:pt x="74" y="24"/>
                    <a:pt x="74" y="24"/>
                  </a:cubicBezTo>
                  <a:cubicBezTo>
                    <a:pt x="71" y="21"/>
                    <a:pt x="67" y="19"/>
                    <a:pt x="63" y="19"/>
                  </a:cubicBezTo>
                  <a:cubicBezTo>
                    <a:pt x="59" y="19"/>
                    <a:pt x="55" y="21"/>
                    <a:pt x="52" y="24"/>
                  </a:cubicBezTo>
                  <a:cubicBezTo>
                    <a:pt x="46" y="30"/>
                    <a:pt x="46" y="30"/>
                    <a:pt x="46" y="30"/>
                  </a:cubicBezTo>
                  <a:cubicBezTo>
                    <a:pt x="46" y="30"/>
                    <a:pt x="46" y="30"/>
                    <a:pt x="45" y="30"/>
                  </a:cubicBezTo>
                  <a:cubicBezTo>
                    <a:pt x="45" y="30"/>
                    <a:pt x="45" y="30"/>
                    <a:pt x="45" y="30"/>
                  </a:cubicBezTo>
                  <a:cubicBezTo>
                    <a:pt x="44" y="30"/>
                    <a:pt x="44" y="30"/>
                    <a:pt x="44" y="30"/>
                  </a:cubicBezTo>
                  <a:cubicBezTo>
                    <a:pt x="32" y="25"/>
                    <a:pt x="32" y="25"/>
                    <a:pt x="32" y="25"/>
                  </a:cubicBezTo>
                  <a:cubicBezTo>
                    <a:pt x="32" y="25"/>
                    <a:pt x="32" y="25"/>
                    <a:pt x="31" y="25"/>
                  </a:cubicBezTo>
                  <a:cubicBezTo>
                    <a:pt x="31" y="24"/>
                    <a:pt x="30" y="24"/>
                    <a:pt x="30" y="23"/>
                  </a:cubicBezTo>
                  <a:cubicBezTo>
                    <a:pt x="30" y="15"/>
                    <a:pt x="30" y="15"/>
                    <a:pt x="30" y="15"/>
                  </a:cubicBezTo>
                  <a:cubicBezTo>
                    <a:pt x="30" y="6"/>
                    <a:pt x="23" y="0"/>
                    <a:pt x="15" y="0"/>
                  </a:cubicBezTo>
                  <a:cubicBezTo>
                    <a:pt x="8" y="0"/>
                    <a:pt x="8" y="0"/>
                    <a:pt x="8" y="0"/>
                  </a:cubicBezTo>
                  <a:cubicBezTo>
                    <a:pt x="3" y="0"/>
                    <a:pt x="0" y="3"/>
                    <a:pt x="0" y="8"/>
                  </a:cubicBezTo>
                  <a:cubicBezTo>
                    <a:pt x="0" y="12"/>
                    <a:pt x="3" y="16"/>
                    <a:pt x="8" y="16"/>
                  </a:cubicBezTo>
                  <a:cubicBezTo>
                    <a:pt x="14" y="16"/>
                    <a:pt x="14" y="16"/>
                    <a:pt x="14" y="16"/>
                  </a:cubicBezTo>
                  <a:cubicBezTo>
                    <a:pt x="14" y="23"/>
                    <a:pt x="14" y="23"/>
                    <a:pt x="14" y="23"/>
                  </a:cubicBezTo>
                  <a:cubicBezTo>
                    <a:pt x="14" y="31"/>
                    <a:pt x="19" y="38"/>
                    <a:pt x="26" y="40"/>
                  </a:cubicBezTo>
                  <a:cubicBezTo>
                    <a:pt x="37" y="45"/>
                    <a:pt x="37" y="45"/>
                    <a:pt x="37" y="45"/>
                  </a:cubicBezTo>
                  <a:cubicBezTo>
                    <a:pt x="39" y="46"/>
                    <a:pt x="42" y="46"/>
                    <a:pt x="45" y="46"/>
                  </a:cubicBezTo>
                  <a:cubicBezTo>
                    <a:pt x="50" y="46"/>
                    <a:pt x="54" y="45"/>
                    <a:pt x="58" y="41"/>
                  </a:cubicBezTo>
                  <a:cubicBezTo>
                    <a:pt x="63" y="36"/>
                    <a:pt x="63" y="36"/>
                    <a:pt x="63" y="36"/>
                  </a:cubicBezTo>
                  <a:cubicBezTo>
                    <a:pt x="71" y="45"/>
                    <a:pt x="71" y="45"/>
                    <a:pt x="71" y="45"/>
                  </a:cubicBezTo>
                  <a:cubicBezTo>
                    <a:pt x="66" y="50"/>
                    <a:pt x="66" y="50"/>
                    <a:pt x="66" y="50"/>
                  </a:cubicBezTo>
                  <a:cubicBezTo>
                    <a:pt x="61" y="55"/>
                    <a:pt x="60" y="64"/>
                    <a:pt x="63" y="70"/>
                  </a:cubicBezTo>
                  <a:cubicBezTo>
                    <a:pt x="67" y="81"/>
                    <a:pt x="67" y="81"/>
                    <a:pt x="67" y="81"/>
                  </a:cubicBezTo>
                  <a:cubicBezTo>
                    <a:pt x="70" y="88"/>
                    <a:pt x="77" y="94"/>
                    <a:pt x="84" y="94"/>
                  </a:cubicBezTo>
                  <a:cubicBezTo>
                    <a:pt x="92" y="94"/>
                    <a:pt x="92" y="94"/>
                    <a:pt x="92" y="94"/>
                  </a:cubicBezTo>
                  <a:cubicBezTo>
                    <a:pt x="92" y="106"/>
                    <a:pt x="92" y="106"/>
                    <a:pt x="92" y="106"/>
                  </a:cubicBezTo>
                  <a:cubicBezTo>
                    <a:pt x="84" y="106"/>
                    <a:pt x="84" y="106"/>
                    <a:pt x="84" y="106"/>
                  </a:cubicBezTo>
                  <a:cubicBezTo>
                    <a:pt x="77" y="106"/>
                    <a:pt x="70" y="111"/>
                    <a:pt x="67" y="118"/>
                  </a:cubicBezTo>
                  <a:cubicBezTo>
                    <a:pt x="63" y="129"/>
                    <a:pt x="63" y="129"/>
                    <a:pt x="63" y="129"/>
                  </a:cubicBezTo>
                  <a:cubicBezTo>
                    <a:pt x="60" y="135"/>
                    <a:pt x="61" y="144"/>
                    <a:pt x="66" y="149"/>
                  </a:cubicBezTo>
                  <a:cubicBezTo>
                    <a:pt x="71" y="154"/>
                    <a:pt x="71" y="154"/>
                    <a:pt x="71" y="154"/>
                  </a:cubicBezTo>
                  <a:cubicBezTo>
                    <a:pt x="63" y="163"/>
                    <a:pt x="63" y="163"/>
                    <a:pt x="63" y="163"/>
                  </a:cubicBezTo>
                  <a:cubicBezTo>
                    <a:pt x="58" y="158"/>
                    <a:pt x="58" y="158"/>
                    <a:pt x="58" y="158"/>
                  </a:cubicBezTo>
                  <a:cubicBezTo>
                    <a:pt x="54" y="155"/>
                    <a:pt x="50" y="153"/>
                    <a:pt x="45" y="153"/>
                  </a:cubicBezTo>
                  <a:cubicBezTo>
                    <a:pt x="42" y="153"/>
                    <a:pt x="39" y="153"/>
                    <a:pt x="37" y="154"/>
                  </a:cubicBezTo>
                  <a:cubicBezTo>
                    <a:pt x="26" y="159"/>
                    <a:pt x="26" y="159"/>
                    <a:pt x="26" y="159"/>
                  </a:cubicBezTo>
                  <a:cubicBezTo>
                    <a:pt x="19" y="161"/>
                    <a:pt x="14" y="169"/>
                    <a:pt x="14" y="176"/>
                  </a:cubicBezTo>
                  <a:cubicBezTo>
                    <a:pt x="14" y="183"/>
                    <a:pt x="14" y="183"/>
                    <a:pt x="14" y="183"/>
                  </a:cubicBezTo>
                  <a:cubicBezTo>
                    <a:pt x="8" y="183"/>
                    <a:pt x="8" y="183"/>
                    <a:pt x="8" y="183"/>
                  </a:cubicBezTo>
                  <a:cubicBezTo>
                    <a:pt x="3" y="183"/>
                    <a:pt x="0" y="187"/>
                    <a:pt x="0" y="191"/>
                  </a:cubicBezTo>
                  <a:cubicBezTo>
                    <a:pt x="0" y="196"/>
                    <a:pt x="3" y="200"/>
                    <a:pt x="8" y="200"/>
                  </a:cubicBezTo>
                  <a:cubicBezTo>
                    <a:pt x="15" y="200"/>
                    <a:pt x="15" y="200"/>
                    <a:pt x="15" y="200"/>
                  </a:cubicBezTo>
                  <a:cubicBezTo>
                    <a:pt x="23" y="200"/>
                    <a:pt x="30" y="193"/>
                    <a:pt x="30" y="184"/>
                  </a:cubicBezTo>
                  <a:cubicBezTo>
                    <a:pt x="30" y="176"/>
                    <a:pt x="30" y="176"/>
                    <a:pt x="30" y="176"/>
                  </a:cubicBezTo>
                  <a:cubicBezTo>
                    <a:pt x="30" y="175"/>
                    <a:pt x="31" y="175"/>
                    <a:pt x="31" y="175"/>
                  </a:cubicBezTo>
                  <a:cubicBezTo>
                    <a:pt x="31" y="174"/>
                    <a:pt x="32" y="174"/>
                    <a:pt x="32" y="174"/>
                  </a:cubicBezTo>
                  <a:cubicBezTo>
                    <a:pt x="44" y="169"/>
                    <a:pt x="44" y="169"/>
                    <a:pt x="44" y="169"/>
                  </a:cubicBezTo>
                  <a:cubicBezTo>
                    <a:pt x="44" y="169"/>
                    <a:pt x="44" y="169"/>
                    <a:pt x="45" y="169"/>
                  </a:cubicBezTo>
                  <a:cubicBezTo>
                    <a:pt x="45" y="169"/>
                    <a:pt x="45" y="169"/>
                    <a:pt x="45" y="169"/>
                  </a:cubicBezTo>
                  <a:cubicBezTo>
                    <a:pt x="46" y="169"/>
                    <a:pt x="46" y="169"/>
                    <a:pt x="46" y="169"/>
                  </a:cubicBezTo>
                  <a:cubicBezTo>
                    <a:pt x="52" y="175"/>
                    <a:pt x="52" y="175"/>
                    <a:pt x="52" y="175"/>
                  </a:cubicBezTo>
                  <a:cubicBezTo>
                    <a:pt x="55" y="178"/>
                    <a:pt x="59" y="180"/>
                    <a:pt x="63" y="180"/>
                  </a:cubicBezTo>
                  <a:cubicBezTo>
                    <a:pt x="67" y="180"/>
                    <a:pt x="71" y="178"/>
                    <a:pt x="74" y="175"/>
                  </a:cubicBezTo>
                  <a:cubicBezTo>
                    <a:pt x="84" y="165"/>
                    <a:pt x="84" y="165"/>
                    <a:pt x="84" y="165"/>
                  </a:cubicBezTo>
                  <a:cubicBezTo>
                    <a:pt x="87" y="162"/>
                    <a:pt x="88" y="159"/>
                    <a:pt x="88" y="154"/>
                  </a:cubicBezTo>
                  <a:cubicBezTo>
                    <a:pt x="88" y="150"/>
                    <a:pt x="87" y="147"/>
                    <a:pt x="84" y="144"/>
                  </a:cubicBezTo>
                  <a:cubicBezTo>
                    <a:pt x="78" y="138"/>
                    <a:pt x="78" y="138"/>
                    <a:pt x="78" y="138"/>
                  </a:cubicBezTo>
                  <a:cubicBezTo>
                    <a:pt x="77" y="137"/>
                    <a:pt x="77" y="136"/>
                    <a:pt x="77" y="136"/>
                  </a:cubicBezTo>
                  <a:cubicBezTo>
                    <a:pt x="78" y="136"/>
                    <a:pt x="78" y="136"/>
                    <a:pt x="78" y="135"/>
                  </a:cubicBezTo>
                  <a:cubicBezTo>
                    <a:pt x="83" y="124"/>
                    <a:pt x="83" y="124"/>
                    <a:pt x="83" y="124"/>
                  </a:cubicBezTo>
                  <a:cubicBezTo>
                    <a:pt x="83" y="123"/>
                    <a:pt x="83" y="123"/>
                    <a:pt x="83" y="123"/>
                  </a:cubicBezTo>
                  <a:cubicBezTo>
                    <a:pt x="83" y="123"/>
                    <a:pt x="84" y="122"/>
                    <a:pt x="84" y="122"/>
                  </a:cubicBezTo>
                  <a:cubicBezTo>
                    <a:pt x="93" y="122"/>
                    <a:pt x="93" y="122"/>
                    <a:pt x="93" y="122"/>
                  </a:cubicBezTo>
                  <a:cubicBezTo>
                    <a:pt x="101" y="122"/>
                    <a:pt x="108" y="115"/>
                    <a:pt x="108" y="107"/>
                  </a:cubicBezTo>
                  <a:cubicBezTo>
                    <a:pt x="108" y="92"/>
                    <a:pt x="108" y="92"/>
                    <a:pt x="108" y="92"/>
                  </a:cubicBezTo>
                  <a:cubicBezTo>
                    <a:pt x="108" y="84"/>
                    <a:pt x="101" y="77"/>
                    <a:pt x="93"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cs typeface="+mn-ea"/>
                <a:sym typeface="Huawei Sans" panose="020C0503030203020204" pitchFamily="34" charset="0"/>
              </a:endParaRPr>
            </a:p>
          </p:txBody>
        </p:sp>
        <p:sp>
          <p:nvSpPr>
            <p:cNvPr id="21" name="Freeform 13">
              <a:extLst>
                <a:ext uri="{FF2B5EF4-FFF2-40B4-BE49-F238E27FC236}">
                  <a16:creationId xmlns:a16="http://schemas.microsoft.com/office/drawing/2014/main" id="{C7D71366-2FAE-4B68-B6F6-DBDE42BE6DCB}"/>
                </a:ext>
              </a:extLst>
            </p:cNvPr>
            <p:cNvSpPr>
              <a:spLocks/>
            </p:cNvSpPr>
            <p:nvPr/>
          </p:nvSpPr>
          <p:spPr bwMode="gray">
            <a:xfrm>
              <a:off x="5102225" y="1420813"/>
              <a:ext cx="192088" cy="327025"/>
            </a:xfrm>
            <a:custGeom>
              <a:avLst/>
              <a:gdLst>
                <a:gd name="T0" fmla="*/ 30131 w 51"/>
                <a:gd name="T1" fmla="*/ 266882 h 87"/>
                <a:gd name="T2" fmla="*/ 0 w 51"/>
                <a:gd name="T3" fmla="*/ 296954 h 87"/>
                <a:gd name="T4" fmla="*/ 30131 w 51"/>
                <a:gd name="T5" fmla="*/ 327025 h 87"/>
                <a:gd name="T6" fmla="*/ 192088 w 51"/>
                <a:gd name="T7" fmla="*/ 165392 h 87"/>
                <a:gd name="T8" fmla="*/ 30131 w 51"/>
                <a:gd name="T9" fmla="*/ 0 h 87"/>
                <a:gd name="T10" fmla="*/ 0 w 51"/>
                <a:gd name="T11" fmla="*/ 30071 h 87"/>
                <a:gd name="T12" fmla="*/ 30131 w 51"/>
                <a:gd name="T13" fmla="*/ 60143 h 87"/>
                <a:gd name="T14" fmla="*/ 131825 w 51"/>
                <a:gd name="T15" fmla="*/ 165392 h 87"/>
                <a:gd name="T16" fmla="*/ 30131 w 51"/>
                <a:gd name="T17" fmla="*/ 266882 h 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 h="87">
                  <a:moveTo>
                    <a:pt x="8" y="71"/>
                  </a:moveTo>
                  <a:cubicBezTo>
                    <a:pt x="4" y="71"/>
                    <a:pt x="0" y="74"/>
                    <a:pt x="0" y="79"/>
                  </a:cubicBezTo>
                  <a:cubicBezTo>
                    <a:pt x="0" y="83"/>
                    <a:pt x="4" y="87"/>
                    <a:pt x="8" y="87"/>
                  </a:cubicBezTo>
                  <a:cubicBezTo>
                    <a:pt x="32" y="87"/>
                    <a:pt x="51" y="68"/>
                    <a:pt x="51" y="44"/>
                  </a:cubicBezTo>
                  <a:cubicBezTo>
                    <a:pt x="51" y="20"/>
                    <a:pt x="32" y="0"/>
                    <a:pt x="8" y="0"/>
                  </a:cubicBezTo>
                  <a:cubicBezTo>
                    <a:pt x="4" y="0"/>
                    <a:pt x="0" y="4"/>
                    <a:pt x="0" y="8"/>
                  </a:cubicBezTo>
                  <a:cubicBezTo>
                    <a:pt x="0" y="13"/>
                    <a:pt x="4" y="16"/>
                    <a:pt x="8" y="16"/>
                  </a:cubicBezTo>
                  <a:cubicBezTo>
                    <a:pt x="23" y="16"/>
                    <a:pt x="35" y="29"/>
                    <a:pt x="35" y="44"/>
                  </a:cubicBezTo>
                  <a:cubicBezTo>
                    <a:pt x="35" y="59"/>
                    <a:pt x="23" y="71"/>
                    <a:pt x="8"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cs typeface="+mn-ea"/>
                <a:sym typeface="Huawei Sans" panose="020C0503030203020204" pitchFamily="34" charset="0"/>
              </a:endParaRPr>
            </a:p>
          </p:txBody>
        </p:sp>
        <p:sp>
          <p:nvSpPr>
            <p:cNvPr id="22" name="Freeform 14">
              <a:extLst>
                <a:ext uri="{FF2B5EF4-FFF2-40B4-BE49-F238E27FC236}">
                  <a16:creationId xmlns:a16="http://schemas.microsoft.com/office/drawing/2014/main" id="{21E66CA9-6B6D-41E4-A9AD-A551FBF9B4DE}"/>
                </a:ext>
              </a:extLst>
            </p:cNvPr>
            <p:cNvSpPr>
              <a:spLocks noEditPoints="1"/>
            </p:cNvSpPr>
            <p:nvPr/>
          </p:nvSpPr>
          <p:spPr bwMode="gray">
            <a:xfrm>
              <a:off x="4656138" y="1211263"/>
              <a:ext cx="415925" cy="750887"/>
            </a:xfrm>
            <a:custGeom>
              <a:avLst/>
              <a:gdLst>
                <a:gd name="T0" fmla="*/ 317615 w 110"/>
                <a:gd name="T1" fmla="*/ 0 h 200"/>
                <a:gd name="T2" fmla="*/ 196619 w 110"/>
                <a:gd name="T3" fmla="*/ 75089 h 200"/>
                <a:gd name="T4" fmla="*/ 86966 w 110"/>
                <a:gd name="T5" fmla="*/ 221512 h 200"/>
                <a:gd name="T6" fmla="*/ 68060 w 110"/>
                <a:gd name="T7" fmla="*/ 458041 h 200"/>
                <a:gd name="T8" fmla="*/ 196619 w 110"/>
                <a:gd name="T9" fmla="*/ 679553 h 200"/>
                <a:gd name="T10" fmla="*/ 302491 w 110"/>
                <a:gd name="T11" fmla="*/ 750887 h 200"/>
                <a:gd name="T12" fmla="*/ 381895 w 110"/>
                <a:gd name="T13" fmla="*/ 717097 h 200"/>
                <a:gd name="T14" fmla="*/ 415925 w 110"/>
                <a:gd name="T15" fmla="*/ 638254 h 200"/>
                <a:gd name="T16" fmla="*/ 415925 w 110"/>
                <a:gd name="T17" fmla="*/ 93861 h 200"/>
                <a:gd name="T18" fmla="*/ 415925 w 110"/>
                <a:gd name="T19" fmla="*/ 93861 h 200"/>
                <a:gd name="T20" fmla="*/ 302491 w 110"/>
                <a:gd name="T21" fmla="*/ 322881 h 200"/>
                <a:gd name="T22" fmla="*/ 336521 w 110"/>
                <a:gd name="T23" fmla="*/ 529375 h 200"/>
                <a:gd name="T24" fmla="*/ 336521 w 110"/>
                <a:gd name="T25" fmla="*/ 529375 h 200"/>
                <a:gd name="T26" fmla="*/ 196619 w 110"/>
                <a:gd name="T27" fmla="*/ 300355 h 200"/>
                <a:gd name="T28" fmla="*/ 223087 w 110"/>
                <a:gd name="T29" fmla="*/ 274074 h 200"/>
                <a:gd name="T30" fmla="*/ 196619 w 110"/>
                <a:gd name="T31" fmla="*/ 247793 h 200"/>
                <a:gd name="T32" fmla="*/ 147464 w 110"/>
                <a:gd name="T33" fmla="*/ 221512 h 200"/>
                <a:gd name="T34" fmla="*/ 196619 w 110"/>
                <a:gd name="T35" fmla="*/ 127651 h 200"/>
                <a:gd name="T36" fmla="*/ 317615 w 110"/>
                <a:gd name="T37" fmla="*/ 191476 h 200"/>
                <a:gd name="T38" fmla="*/ 340302 w 110"/>
                <a:gd name="T39" fmla="*/ 183967 h 200"/>
                <a:gd name="T40" fmla="*/ 340302 w 110"/>
                <a:gd name="T41" fmla="*/ 146423 h 200"/>
                <a:gd name="T42" fmla="*/ 276023 w 110"/>
                <a:gd name="T43" fmla="*/ 93861 h 200"/>
                <a:gd name="T44" fmla="*/ 362989 w 110"/>
                <a:gd name="T45" fmla="*/ 93861 h 200"/>
                <a:gd name="T46" fmla="*/ 362989 w 110"/>
                <a:gd name="T47" fmla="*/ 232775 h 200"/>
                <a:gd name="T48" fmla="*/ 302491 w 110"/>
                <a:gd name="T49" fmla="*/ 277828 h 200"/>
                <a:gd name="T50" fmla="*/ 276023 w 110"/>
                <a:gd name="T51" fmla="*/ 304109 h 200"/>
                <a:gd name="T52" fmla="*/ 302491 w 110"/>
                <a:gd name="T53" fmla="*/ 330390 h 200"/>
                <a:gd name="T54" fmla="*/ 362989 w 110"/>
                <a:gd name="T55" fmla="*/ 319127 h 200"/>
                <a:gd name="T56" fmla="*/ 336521 w 110"/>
                <a:gd name="T57" fmla="*/ 488077 h 200"/>
                <a:gd name="T58" fmla="*/ 310053 w 110"/>
                <a:gd name="T59" fmla="*/ 514358 h 200"/>
                <a:gd name="T60" fmla="*/ 336521 w 110"/>
                <a:gd name="T61" fmla="*/ 540639 h 200"/>
                <a:gd name="T62" fmla="*/ 362989 w 110"/>
                <a:gd name="T63" fmla="*/ 536884 h 200"/>
                <a:gd name="T64" fmla="*/ 344083 w 110"/>
                <a:gd name="T65" fmla="*/ 679553 h 200"/>
                <a:gd name="T66" fmla="*/ 257117 w 110"/>
                <a:gd name="T67" fmla="*/ 679553 h 200"/>
                <a:gd name="T68" fmla="*/ 268461 w 110"/>
                <a:gd name="T69" fmla="*/ 574429 h 200"/>
                <a:gd name="T70" fmla="*/ 219306 w 110"/>
                <a:gd name="T71" fmla="*/ 555656 h 200"/>
                <a:gd name="T72" fmla="*/ 128559 w 110"/>
                <a:gd name="T73" fmla="*/ 596955 h 200"/>
                <a:gd name="T74" fmla="*/ 128559 w 110"/>
                <a:gd name="T75" fmla="*/ 461796 h 200"/>
                <a:gd name="T76" fmla="*/ 264680 w 110"/>
                <a:gd name="T77" fmla="*/ 461796 h 200"/>
                <a:gd name="T78" fmla="*/ 302491 w 110"/>
                <a:gd name="T79" fmla="*/ 461796 h 200"/>
                <a:gd name="T80" fmla="*/ 302491 w 110"/>
                <a:gd name="T81" fmla="*/ 424251 h 200"/>
                <a:gd name="T82" fmla="*/ 102091 w 110"/>
                <a:gd name="T83" fmla="*/ 416742 h 200"/>
                <a:gd name="T84" fmla="*/ 113434 w 110"/>
                <a:gd name="T85" fmla="*/ 266565 h 200"/>
                <a:gd name="T86" fmla="*/ 302491 w 110"/>
                <a:gd name="T87" fmla="*/ 739624 h 2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0" h="200">
                  <a:moveTo>
                    <a:pt x="110" y="25"/>
                  </a:moveTo>
                  <a:cubicBezTo>
                    <a:pt x="110" y="11"/>
                    <a:pt x="99" y="0"/>
                    <a:pt x="84" y="0"/>
                  </a:cubicBezTo>
                  <a:cubicBezTo>
                    <a:pt x="72" y="0"/>
                    <a:pt x="61" y="9"/>
                    <a:pt x="59" y="20"/>
                  </a:cubicBezTo>
                  <a:cubicBezTo>
                    <a:pt x="57" y="20"/>
                    <a:pt x="54" y="20"/>
                    <a:pt x="52" y="20"/>
                  </a:cubicBezTo>
                  <a:cubicBezTo>
                    <a:pt x="35" y="20"/>
                    <a:pt x="22" y="33"/>
                    <a:pt x="22" y="50"/>
                  </a:cubicBezTo>
                  <a:cubicBezTo>
                    <a:pt x="22" y="53"/>
                    <a:pt x="22" y="56"/>
                    <a:pt x="23" y="59"/>
                  </a:cubicBezTo>
                  <a:cubicBezTo>
                    <a:pt x="10" y="64"/>
                    <a:pt x="0" y="76"/>
                    <a:pt x="0" y="91"/>
                  </a:cubicBezTo>
                  <a:cubicBezTo>
                    <a:pt x="0" y="104"/>
                    <a:pt x="7" y="116"/>
                    <a:pt x="18" y="122"/>
                  </a:cubicBezTo>
                  <a:cubicBezTo>
                    <a:pt x="9" y="137"/>
                    <a:pt x="11" y="156"/>
                    <a:pt x="24" y="169"/>
                  </a:cubicBezTo>
                  <a:cubicBezTo>
                    <a:pt x="31" y="177"/>
                    <a:pt x="41" y="181"/>
                    <a:pt x="52" y="181"/>
                  </a:cubicBezTo>
                  <a:cubicBezTo>
                    <a:pt x="53" y="185"/>
                    <a:pt x="56" y="188"/>
                    <a:pt x="58" y="191"/>
                  </a:cubicBezTo>
                  <a:cubicBezTo>
                    <a:pt x="64" y="196"/>
                    <a:pt x="72" y="200"/>
                    <a:pt x="80" y="200"/>
                  </a:cubicBezTo>
                  <a:cubicBezTo>
                    <a:pt x="80" y="200"/>
                    <a:pt x="80" y="200"/>
                    <a:pt x="80" y="200"/>
                  </a:cubicBezTo>
                  <a:cubicBezTo>
                    <a:pt x="88" y="200"/>
                    <a:pt x="96" y="196"/>
                    <a:pt x="101" y="191"/>
                  </a:cubicBezTo>
                  <a:cubicBezTo>
                    <a:pt x="107" y="185"/>
                    <a:pt x="110" y="178"/>
                    <a:pt x="110" y="170"/>
                  </a:cubicBezTo>
                  <a:cubicBezTo>
                    <a:pt x="110" y="170"/>
                    <a:pt x="110" y="170"/>
                    <a:pt x="110" y="170"/>
                  </a:cubicBezTo>
                  <a:cubicBezTo>
                    <a:pt x="110" y="170"/>
                    <a:pt x="110" y="170"/>
                    <a:pt x="110" y="170"/>
                  </a:cubicBezTo>
                  <a:cubicBezTo>
                    <a:pt x="110" y="25"/>
                    <a:pt x="110" y="25"/>
                    <a:pt x="110" y="25"/>
                  </a:cubicBezTo>
                  <a:cubicBezTo>
                    <a:pt x="110" y="25"/>
                    <a:pt x="110" y="25"/>
                    <a:pt x="110" y="25"/>
                  </a:cubicBezTo>
                  <a:cubicBezTo>
                    <a:pt x="110" y="25"/>
                    <a:pt x="110" y="25"/>
                    <a:pt x="110" y="25"/>
                  </a:cubicBezTo>
                  <a:close/>
                  <a:moveTo>
                    <a:pt x="80" y="86"/>
                  </a:moveTo>
                  <a:cubicBezTo>
                    <a:pt x="80" y="86"/>
                    <a:pt x="80" y="86"/>
                    <a:pt x="80" y="86"/>
                  </a:cubicBezTo>
                  <a:cubicBezTo>
                    <a:pt x="80" y="86"/>
                    <a:pt x="80" y="86"/>
                    <a:pt x="80" y="86"/>
                  </a:cubicBezTo>
                  <a:close/>
                  <a:moveTo>
                    <a:pt x="89" y="141"/>
                  </a:moveTo>
                  <a:cubicBezTo>
                    <a:pt x="89" y="141"/>
                    <a:pt x="89" y="141"/>
                    <a:pt x="89" y="141"/>
                  </a:cubicBezTo>
                  <a:cubicBezTo>
                    <a:pt x="89" y="141"/>
                    <a:pt x="89" y="141"/>
                    <a:pt x="89" y="141"/>
                  </a:cubicBezTo>
                  <a:close/>
                  <a:moveTo>
                    <a:pt x="30" y="71"/>
                  </a:moveTo>
                  <a:cubicBezTo>
                    <a:pt x="36" y="77"/>
                    <a:pt x="43" y="80"/>
                    <a:pt x="52" y="80"/>
                  </a:cubicBezTo>
                  <a:cubicBezTo>
                    <a:pt x="54" y="80"/>
                    <a:pt x="56" y="80"/>
                    <a:pt x="57" y="78"/>
                  </a:cubicBezTo>
                  <a:cubicBezTo>
                    <a:pt x="58" y="77"/>
                    <a:pt x="59" y="75"/>
                    <a:pt x="59" y="73"/>
                  </a:cubicBezTo>
                  <a:cubicBezTo>
                    <a:pt x="59" y="71"/>
                    <a:pt x="58" y="69"/>
                    <a:pt x="57" y="68"/>
                  </a:cubicBezTo>
                  <a:cubicBezTo>
                    <a:pt x="56" y="67"/>
                    <a:pt x="54" y="66"/>
                    <a:pt x="52" y="66"/>
                  </a:cubicBezTo>
                  <a:cubicBezTo>
                    <a:pt x="48" y="66"/>
                    <a:pt x="44" y="64"/>
                    <a:pt x="41" y="62"/>
                  </a:cubicBezTo>
                  <a:cubicBezTo>
                    <a:pt x="40" y="61"/>
                    <a:pt x="40" y="60"/>
                    <a:pt x="39" y="59"/>
                  </a:cubicBezTo>
                  <a:cubicBezTo>
                    <a:pt x="37" y="57"/>
                    <a:pt x="36" y="53"/>
                    <a:pt x="36" y="50"/>
                  </a:cubicBezTo>
                  <a:cubicBezTo>
                    <a:pt x="36" y="41"/>
                    <a:pt x="43" y="34"/>
                    <a:pt x="52" y="34"/>
                  </a:cubicBezTo>
                  <a:cubicBezTo>
                    <a:pt x="55" y="34"/>
                    <a:pt x="59" y="35"/>
                    <a:pt x="62" y="37"/>
                  </a:cubicBezTo>
                  <a:cubicBezTo>
                    <a:pt x="66" y="45"/>
                    <a:pt x="75" y="51"/>
                    <a:pt x="84" y="51"/>
                  </a:cubicBezTo>
                  <a:cubicBezTo>
                    <a:pt x="84" y="51"/>
                    <a:pt x="84" y="51"/>
                    <a:pt x="84" y="51"/>
                  </a:cubicBezTo>
                  <a:cubicBezTo>
                    <a:pt x="86" y="51"/>
                    <a:pt x="88" y="50"/>
                    <a:pt x="90" y="49"/>
                  </a:cubicBezTo>
                  <a:cubicBezTo>
                    <a:pt x="91" y="48"/>
                    <a:pt x="92" y="46"/>
                    <a:pt x="92" y="44"/>
                  </a:cubicBezTo>
                  <a:cubicBezTo>
                    <a:pt x="92" y="42"/>
                    <a:pt x="91" y="40"/>
                    <a:pt x="90" y="39"/>
                  </a:cubicBezTo>
                  <a:cubicBezTo>
                    <a:pt x="88" y="37"/>
                    <a:pt x="86" y="37"/>
                    <a:pt x="84" y="37"/>
                  </a:cubicBezTo>
                  <a:cubicBezTo>
                    <a:pt x="78" y="37"/>
                    <a:pt x="73" y="32"/>
                    <a:pt x="73" y="25"/>
                  </a:cubicBezTo>
                  <a:cubicBezTo>
                    <a:pt x="73" y="19"/>
                    <a:pt x="78" y="14"/>
                    <a:pt x="84" y="14"/>
                  </a:cubicBezTo>
                  <a:cubicBezTo>
                    <a:pt x="91" y="14"/>
                    <a:pt x="96" y="19"/>
                    <a:pt x="96" y="25"/>
                  </a:cubicBezTo>
                  <a:cubicBezTo>
                    <a:pt x="96" y="25"/>
                    <a:pt x="96" y="25"/>
                    <a:pt x="96" y="25"/>
                  </a:cubicBezTo>
                  <a:cubicBezTo>
                    <a:pt x="96" y="62"/>
                    <a:pt x="96" y="62"/>
                    <a:pt x="96" y="62"/>
                  </a:cubicBezTo>
                  <a:cubicBezTo>
                    <a:pt x="96" y="62"/>
                    <a:pt x="96" y="62"/>
                    <a:pt x="96" y="62"/>
                  </a:cubicBezTo>
                  <a:cubicBezTo>
                    <a:pt x="96" y="64"/>
                    <a:pt x="95" y="74"/>
                    <a:pt x="80" y="74"/>
                  </a:cubicBezTo>
                  <a:cubicBezTo>
                    <a:pt x="78" y="74"/>
                    <a:pt x="76" y="75"/>
                    <a:pt x="75" y="76"/>
                  </a:cubicBezTo>
                  <a:cubicBezTo>
                    <a:pt x="73" y="77"/>
                    <a:pt x="73" y="79"/>
                    <a:pt x="73" y="81"/>
                  </a:cubicBezTo>
                  <a:cubicBezTo>
                    <a:pt x="73" y="83"/>
                    <a:pt x="73" y="85"/>
                    <a:pt x="75" y="86"/>
                  </a:cubicBezTo>
                  <a:cubicBezTo>
                    <a:pt x="76" y="87"/>
                    <a:pt x="78" y="88"/>
                    <a:pt x="80" y="88"/>
                  </a:cubicBezTo>
                  <a:cubicBezTo>
                    <a:pt x="80" y="88"/>
                    <a:pt x="80" y="88"/>
                    <a:pt x="80" y="88"/>
                  </a:cubicBezTo>
                  <a:cubicBezTo>
                    <a:pt x="86" y="88"/>
                    <a:pt x="92" y="87"/>
                    <a:pt x="96" y="85"/>
                  </a:cubicBezTo>
                  <a:cubicBezTo>
                    <a:pt x="96" y="125"/>
                    <a:pt x="96" y="125"/>
                    <a:pt x="96" y="125"/>
                  </a:cubicBezTo>
                  <a:cubicBezTo>
                    <a:pt x="95" y="127"/>
                    <a:pt x="92" y="130"/>
                    <a:pt x="89" y="130"/>
                  </a:cubicBezTo>
                  <a:cubicBezTo>
                    <a:pt x="87" y="130"/>
                    <a:pt x="85" y="130"/>
                    <a:pt x="84" y="132"/>
                  </a:cubicBezTo>
                  <a:cubicBezTo>
                    <a:pt x="83" y="133"/>
                    <a:pt x="82" y="135"/>
                    <a:pt x="82" y="137"/>
                  </a:cubicBezTo>
                  <a:cubicBezTo>
                    <a:pt x="82" y="139"/>
                    <a:pt x="83" y="140"/>
                    <a:pt x="84" y="142"/>
                  </a:cubicBezTo>
                  <a:cubicBezTo>
                    <a:pt x="85" y="143"/>
                    <a:pt x="87" y="144"/>
                    <a:pt x="89" y="144"/>
                  </a:cubicBezTo>
                  <a:cubicBezTo>
                    <a:pt x="89" y="144"/>
                    <a:pt x="89" y="144"/>
                    <a:pt x="89" y="144"/>
                  </a:cubicBezTo>
                  <a:cubicBezTo>
                    <a:pt x="92" y="144"/>
                    <a:pt x="94" y="143"/>
                    <a:pt x="96" y="143"/>
                  </a:cubicBezTo>
                  <a:cubicBezTo>
                    <a:pt x="96" y="169"/>
                    <a:pt x="96" y="169"/>
                    <a:pt x="96" y="169"/>
                  </a:cubicBezTo>
                  <a:cubicBezTo>
                    <a:pt x="96" y="174"/>
                    <a:pt x="94" y="178"/>
                    <a:pt x="91" y="181"/>
                  </a:cubicBezTo>
                  <a:cubicBezTo>
                    <a:pt x="88" y="184"/>
                    <a:pt x="84" y="185"/>
                    <a:pt x="80" y="185"/>
                  </a:cubicBezTo>
                  <a:cubicBezTo>
                    <a:pt x="76" y="185"/>
                    <a:pt x="71" y="184"/>
                    <a:pt x="68" y="181"/>
                  </a:cubicBezTo>
                  <a:cubicBezTo>
                    <a:pt x="62" y="174"/>
                    <a:pt x="62" y="164"/>
                    <a:pt x="68" y="158"/>
                  </a:cubicBezTo>
                  <a:cubicBezTo>
                    <a:pt x="70" y="156"/>
                    <a:pt x="71" y="155"/>
                    <a:pt x="71" y="153"/>
                  </a:cubicBezTo>
                  <a:cubicBezTo>
                    <a:pt x="71" y="151"/>
                    <a:pt x="70" y="149"/>
                    <a:pt x="68" y="148"/>
                  </a:cubicBezTo>
                  <a:cubicBezTo>
                    <a:pt x="66" y="145"/>
                    <a:pt x="61" y="145"/>
                    <a:pt x="58" y="148"/>
                  </a:cubicBezTo>
                  <a:cubicBezTo>
                    <a:pt x="53" y="153"/>
                    <a:pt x="50" y="159"/>
                    <a:pt x="50" y="167"/>
                  </a:cubicBezTo>
                  <a:cubicBezTo>
                    <a:pt x="44" y="166"/>
                    <a:pt x="38" y="163"/>
                    <a:pt x="34" y="159"/>
                  </a:cubicBezTo>
                  <a:cubicBezTo>
                    <a:pt x="29" y="154"/>
                    <a:pt x="27" y="148"/>
                    <a:pt x="27" y="141"/>
                  </a:cubicBezTo>
                  <a:cubicBezTo>
                    <a:pt x="27" y="135"/>
                    <a:pt x="29" y="128"/>
                    <a:pt x="34" y="123"/>
                  </a:cubicBezTo>
                  <a:cubicBezTo>
                    <a:pt x="39" y="119"/>
                    <a:pt x="45" y="116"/>
                    <a:pt x="52" y="116"/>
                  </a:cubicBezTo>
                  <a:cubicBezTo>
                    <a:pt x="59" y="116"/>
                    <a:pt x="65" y="119"/>
                    <a:pt x="70" y="123"/>
                  </a:cubicBezTo>
                  <a:cubicBezTo>
                    <a:pt x="71" y="125"/>
                    <a:pt x="73" y="126"/>
                    <a:pt x="75" y="126"/>
                  </a:cubicBezTo>
                  <a:cubicBezTo>
                    <a:pt x="77" y="126"/>
                    <a:pt x="79" y="125"/>
                    <a:pt x="80" y="123"/>
                  </a:cubicBezTo>
                  <a:cubicBezTo>
                    <a:pt x="81" y="122"/>
                    <a:pt x="82" y="120"/>
                    <a:pt x="82" y="118"/>
                  </a:cubicBezTo>
                  <a:cubicBezTo>
                    <a:pt x="82" y="116"/>
                    <a:pt x="81" y="115"/>
                    <a:pt x="80" y="113"/>
                  </a:cubicBezTo>
                  <a:cubicBezTo>
                    <a:pt x="73" y="106"/>
                    <a:pt x="63" y="102"/>
                    <a:pt x="52" y="102"/>
                  </a:cubicBezTo>
                  <a:cubicBezTo>
                    <a:pt x="43" y="102"/>
                    <a:pt x="34" y="105"/>
                    <a:pt x="27" y="111"/>
                  </a:cubicBezTo>
                  <a:cubicBezTo>
                    <a:pt x="20" y="107"/>
                    <a:pt x="14" y="100"/>
                    <a:pt x="14" y="91"/>
                  </a:cubicBezTo>
                  <a:cubicBezTo>
                    <a:pt x="14" y="82"/>
                    <a:pt x="21" y="74"/>
                    <a:pt x="30" y="71"/>
                  </a:cubicBezTo>
                  <a:close/>
                  <a:moveTo>
                    <a:pt x="80" y="197"/>
                  </a:moveTo>
                  <a:cubicBezTo>
                    <a:pt x="80" y="197"/>
                    <a:pt x="80" y="197"/>
                    <a:pt x="80" y="197"/>
                  </a:cubicBezTo>
                  <a:cubicBezTo>
                    <a:pt x="80" y="197"/>
                    <a:pt x="80" y="197"/>
                    <a:pt x="80"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cs typeface="+mn-ea"/>
                <a:sym typeface="Huawei Sans" panose="020C0503030203020204" pitchFamily="34" charset="0"/>
              </a:endParaRPr>
            </a:p>
          </p:txBody>
        </p:sp>
      </p:grpSp>
      <p:sp>
        <p:nvSpPr>
          <p:cNvPr id="23" name="椭圆 22">
            <a:extLst>
              <a:ext uri="{FF2B5EF4-FFF2-40B4-BE49-F238E27FC236}">
                <a16:creationId xmlns:a16="http://schemas.microsoft.com/office/drawing/2014/main" id="{FEFBEEA9-5B37-4089-90A9-7E323800976A}"/>
              </a:ext>
            </a:extLst>
          </p:cNvPr>
          <p:cNvSpPr/>
          <p:nvPr/>
        </p:nvSpPr>
        <p:spPr bwMode="gray">
          <a:xfrm>
            <a:off x="1548299" y="3836072"/>
            <a:ext cx="595602" cy="595602"/>
          </a:xfrm>
          <a:prstGeom prst="ellipse">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Huawei Sans" panose="020C0503030203020204" pitchFamily="34" charset="0"/>
            </a:endParaRPr>
          </a:p>
        </p:txBody>
      </p:sp>
      <p:sp>
        <p:nvSpPr>
          <p:cNvPr id="24" name="settings_296950">
            <a:extLst>
              <a:ext uri="{FF2B5EF4-FFF2-40B4-BE49-F238E27FC236}">
                <a16:creationId xmlns:a16="http://schemas.microsoft.com/office/drawing/2014/main" id="{6CE3CB25-7E45-4824-A85D-927D99A58DF3}"/>
              </a:ext>
            </a:extLst>
          </p:cNvPr>
          <p:cNvSpPr>
            <a:spLocks noChangeAspect="1"/>
          </p:cNvSpPr>
          <p:nvPr/>
        </p:nvSpPr>
        <p:spPr bwMode="gray">
          <a:xfrm>
            <a:off x="1624066" y="3774403"/>
            <a:ext cx="472482" cy="471768"/>
          </a:xfrm>
          <a:custGeom>
            <a:avLst/>
            <a:gdLst>
              <a:gd name="connsiteX0" fmla="*/ 289530 w 607639"/>
              <a:gd name="connsiteY0" fmla="*/ 535310 h 606722"/>
              <a:gd name="connsiteX1" fmla="*/ 318109 w 607639"/>
              <a:gd name="connsiteY1" fmla="*/ 535310 h 606722"/>
              <a:gd name="connsiteX2" fmla="*/ 318109 w 607639"/>
              <a:gd name="connsiteY2" fmla="*/ 556691 h 606722"/>
              <a:gd name="connsiteX3" fmla="*/ 289530 w 607639"/>
              <a:gd name="connsiteY3" fmla="*/ 556691 h 606722"/>
              <a:gd name="connsiteX4" fmla="*/ 461075 w 607639"/>
              <a:gd name="connsiteY4" fmla="*/ 463897 h 606722"/>
              <a:gd name="connsiteX5" fmla="*/ 489583 w 607639"/>
              <a:gd name="connsiteY5" fmla="*/ 463897 h 606722"/>
              <a:gd name="connsiteX6" fmla="*/ 489583 w 607639"/>
              <a:gd name="connsiteY6" fmla="*/ 485349 h 606722"/>
              <a:gd name="connsiteX7" fmla="*/ 461075 w 607639"/>
              <a:gd name="connsiteY7" fmla="*/ 485349 h 606722"/>
              <a:gd name="connsiteX8" fmla="*/ 117915 w 607639"/>
              <a:gd name="connsiteY8" fmla="*/ 463897 h 606722"/>
              <a:gd name="connsiteX9" fmla="*/ 146565 w 607639"/>
              <a:gd name="connsiteY9" fmla="*/ 463897 h 606722"/>
              <a:gd name="connsiteX10" fmla="*/ 146565 w 607639"/>
              <a:gd name="connsiteY10" fmla="*/ 485349 h 606722"/>
              <a:gd name="connsiteX11" fmla="*/ 117915 w 607639"/>
              <a:gd name="connsiteY11" fmla="*/ 485349 h 606722"/>
              <a:gd name="connsiteX12" fmla="*/ 532487 w 607639"/>
              <a:gd name="connsiteY12" fmla="*/ 292635 h 606722"/>
              <a:gd name="connsiteX13" fmla="*/ 561066 w 607639"/>
              <a:gd name="connsiteY13" fmla="*/ 292635 h 606722"/>
              <a:gd name="connsiteX14" fmla="*/ 561066 w 607639"/>
              <a:gd name="connsiteY14" fmla="*/ 314087 h 606722"/>
              <a:gd name="connsiteX15" fmla="*/ 532487 w 607639"/>
              <a:gd name="connsiteY15" fmla="*/ 314087 h 606722"/>
              <a:gd name="connsiteX16" fmla="*/ 46432 w 607639"/>
              <a:gd name="connsiteY16" fmla="*/ 292635 h 606722"/>
              <a:gd name="connsiteX17" fmla="*/ 75011 w 607639"/>
              <a:gd name="connsiteY17" fmla="*/ 292635 h 606722"/>
              <a:gd name="connsiteX18" fmla="*/ 75011 w 607639"/>
              <a:gd name="connsiteY18" fmla="*/ 314087 h 606722"/>
              <a:gd name="connsiteX19" fmla="*/ 46432 w 607639"/>
              <a:gd name="connsiteY19" fmla="*/ 314087 h 606722"/>
              <a:gd name="connsiteX20" fmla="*/ 346219 w 607639"/>
              <a:gd name="connsiteY20" fmla="*/ 260034 h 606722"/>
              <a:gd name="connsiteX21" fmla="*/ 361436 w 607639"/>
              <a:gd name="connsiteY21" fmla="*/ 275231 h 606722"/>
              <a:gd name="connsiteX22" fmla="*/ 282325 w 607639"/>
              <a:gd name="connsiteY22" fmla="*/ 354239 h 606722"/>
              <a:gd name="connsiteX23" fmla="*/ 239076 w 607639"/>
              <a:gd name="connsiteY23" fmla="*/ 310958 h 606722"/>
              <a:gd name="connsiteX24" fmla="*/ 254204 w 607639"/>
              <a:gd name="connsiteY24" fmla="*/ 295761 h 606722"/>
              <a:gd name="connsiteX25" fmla="*/ 282325 w 607639"/>
              <a:gd name="connsiteY25" fmla="*/ 323845 h 606722"/>
              <a:gd name="connsiteX26" fmla="*/ 303749 w 607639"/>
              <a:gd name="connsiteY26" fmla="*/ 214151 h 606722"/>
              <a:gd name="connsiteX27" fmla="*/ 214467 w 607639"/>
              <a:gd name="connsiteY27" fmla="*/ 303291 h 606722"/>
              <a:gd name="connsiteX28" fmla="*/ 303749 w 607639"/>
              <a:gd name="connsiteY28" fmla="*/ 392519 h 606722"/>
              <a:gd name="connsiteX29" fmla="*/ 393120 w 607639"/>
              <a:gd name="connsiteY29" fmla="*/ 303291 h 606722"/>
              <a:gd name="connsiteX30" fmla="*/ 303749 w 607639"/>
              <a:gd name="connsiteY30" fmla="*/ 214151 h 606722"/>
              <a:gd name="connsiteX31" fmla="*/ 303749 w 607639"/>
              <a:gd name="connsiteY31" fmla="*/ 192644 h 606722"/>
              <a:gd name="connsiteX32" fmla="*/ 414572 w 607639"/>
              <a:gd name="connsiteY32" fmla="*/ 303291 h 606722"/>
              <a:gd name="connsiteX33" fmla="*/ 303749 w 607639"/>
              <a:gd name="connsiteY33" fmla="*/ 413937 h 606722"/>
              <a:gd name="connsiteX34" fmla="*/ 192926 w 607639"/>
              <a:gd name="connsiteY34" fmla="*/ 303291 h 606722"/>
              <a:gd name="connsiteX35" fmla="*/ 303749 w 607639"/>
              <a:gd name="connsiteY35" fmla="*/ 192644 h 606722"/>
              <a:gd name="connsiteX36" fmla="*/ 205077 w 607639"/>
              <a:gd name="connsiteY36" fmla="*/ 158913 h 606722"/>
              <a:gd name="connsiteX37" fmla="*/ 217182 w 607639"/>
              <a:gd name="connsiteY37" fmla="*/ 176598 h 606722"/>
              <a:gd name="connsiteX38" fmla="*/ 150161 w 607639"/>
              <a:gd name="connsiteY38" fmla="*/ 303326 h 606722"/>
              <a:gd name="connsiteX39" fmla="*/ 303784 w 607639"/>
              <a:gd name="connsiteY39" fmla="*/ 456804 h 606722"/>
              <a:gd name="connsiteX40" fmla="*/ 303784 w 607639"/>
              <a:gd name="connsiteY40" fmla="*/ 478222 h 606722"/>
              <a:gd name="connsiteX41" fmla="*/ 128711 w 607639"/>
              <a:gd name="connsiteY41" fmla="*/ 303326 h 606722"/>
              <a:gd name="connsiteX42" fmla="*/ 205077 w 607639"/>
              <a:gd name="connsiteY42" fmla="*/ 158913 h 606722"/>
              <a:gd name="connsiteX43" fmla="*/ 303784 w 607639"/>
              <a:gd name="connsiteY43" fmla="*/ 128500 h 606722"/>
              <a:gd name="connsiteX44" fmla="*/ 478927 w 607639"/>
              <a:gd name="connsiteY44" fmla="*/ 303317 h 606722"/>
              <a:gd name="connsiteX45" fmla="*/ 387618 w 607639"/>
              <a:gd name="connsiteY45" fmla="*/ 456982 h 606722"/>
              <a:gd name="connsiteX46" fmla="*/ 377294 w 607639"/>
              <a:gd name="connsiteY46" fmla="*/ 438141 h 606722"/>
              <a:gd name="connsiteX47" fmla="*/ 457479 w 607639"/>
              <a:gd name="connsiteY47" fmla="*/ 303317 h 606722"/>
              <a:gd name="connsiteX48" fmla="*/ 303784 w 607639"/>
              <a:gd name="connsiteY48" fmla="*/ 149919 h 606722"/>
              <a:gd name="connsiteX49" fmla="*/ 461075 w 607639"/>
              <a:gd name="connsiteY49" fmla="*/ 121302 h 606722"/>
              <a:gd name="connsiteX50" fmla="*/ 489583 w 607639"/>
              <a:gd name="connsiteY50" fmla="*/ 121302 h 606722"/>
              <a:gd name="connsiteX51" fmla="*/ 489583 w 607639"/>
              <a:gd name="connsiteY51" fmla="*/ 142824 h 606722"/>
              <a:gd name="connsiteX52" fmla="*/ 461075 w 607639"/>
              <a:gd name="connsiteY52" fmla="*/ 142824 h 606722"/>
              <a:gd name="connsiteX53" fmla="*/ 117915 w 607639"/>
              <a:gd name="connsiteY53" fmla="*/ 121302 h 606722"/>
              <a:gd name="connsiteX54" fmla="*/ 146565 w 607639"/>
              <a:gd name="connsiteY54" fmla="*/ 121302 h 606722"/>
              <a:gd name="connsiteX55" fmla="*/ 146565 w 607639"/>
              <a:gd name="connsiteY55" fmla="*/ 142824 h 606722"/>
              <a:gd name="connsiteX56" fmla="*/ 117915 w 607639"/>
              <a:gd name="connsiteY56" fmla="*/ 142824 h 606722"/>
              <a:gd name="connsiteX57" fmla="*/ 289530 w 607639"/>
              <a:gd name="connsiteY57" fmla="*/ 49960 h 606722"/>
              <a:gd name="connsiteX58" fmla="*/ 318109 w 607639"/>
              <a:gd name="connsiteY58" fmla="*/ 49960 h 606722"/>
              <a:gd name="connsiteX59" fmla="*/ 318109 w 607639"/>
              <a:gd name="connsiteY59" fmla="*/ 71341 h 606722"/>
              <a:gd name="connsiteX60" fmla="*/ 289530 w 607639"/>
              <a:gd name="connsiteY60" fmla="*/ 71341 h 606722"/>
              <a:gd name="connsiteX61" fmla="*/ 257403 w 607639"/>
              <a:gd name="connsiteY61" fmla="*/ 21418 h 606722"/>
              <a:gd name="connsiteX62" fmla="*/ 257403 w 607639"/>
              <a:gd name="connsiteY62" fmla="*/ 98025 h 606722"/>
              <a:gd name="connsiteX63" fmla="*/ 249393 w 607639"/>
              <a:gd name="connsiteY63" fmla="*/ 100158 h 606722"/>
              <a:gd name="connsiteX64" fmla="*/ 198393 w 607639"/>
              <a:gd name="connsiteY64" fmla="*/ 121220 h 606722"/>
              <a:gd name="connsiteX65" fmla="*/ 191272 w 607639"/>
              <a:gd name="connsiteY65" fmla="*/ 125308 h 606722"/>
              <a:gd name="connsiteX66" fmla="*/ 136979 w 607639"/>
              <a:gd name="connsiteY66" fmla="*/ 71275 h 606722"/>
              <a:gd name="connsiteX67" fmla="*/ 71382 w 607639"/>
              <a:gd name="connsiteY67" fmla="*/ 136772 h 606722"/>
              <a:gd name="connsiteX68" fmla="*/ 125497 w 607639"/>
              <a:gd name="connsiteY68" fmla="*/ 190984 h 606722"/>
              <a:gd name="connsiteX69" fmla="*/ 121403 w 607639"/>
              <a:gd name="connsiteY69" fmla="*/ 198093 h 606722"/>
              <a:gd name="connsiteX70" fmla="*/ 100309 w 607639"/>
              <a:gd name="connsiteY70" fmla="*/ 249016 h 606722"/>
              <a:gd name="connsiteX71" fmla="*/ 98173 w 607639"/>
              <a:gd name="connsiteY71" fmla="*/ 257015 h 606722"/>
              <a:gd name="connsiteX72" fmla="*/ 21450 w 607639"/>
              <a:gd name="connsiteY72" fmla="*/ 257015 h 606722"/>
              <a:gd name="connsiteX73" fmla="*/ 21450 w 607639"/>
              <a:gd name="connsiteY73" fmla="*/ 349707 h 606722"/>
              <a:gd name="connsiteX74" fmla="*/ 98173 w 607639"/>
              <a:gd name="connsiteY74" fmla="*/ 349707 h 606722"/>
              <a:gd name="connsiteX75" fmla="*/ 100309 w 607639"/>
              <a:gd name="connsiteY75" fmla="*/ 357617 h 606722"/>
              <a:gd name="connsiteX76" fmla="*/ 121403 w 607639"/>
              <a:gd name="connsiteY76" fmla="*/ 408629 h 606722"/>
              <a:gd name="connsiteX77" fmla="*/ 125497 w 607639"/>
              <a:gd name="connsiteY77" fmla="*/ 415738 h 606722"/>
              <a:gd name="connsiteX78" fmla="*/ 71382 w 607639"/>
              <a:gd name="connsiteY78" fmla="*/ 469950 h 606722"/>
              <a:gd name="connsiteX79" fmla="*/ 136979 w 607639"/>
              <a:gd name="connsiteY79" fmla="*/ 535447 h 606722"/>
              <a:gd name="connsiteX80" fmla="*/ 191272 w 607639"/>
              <a:gd name="connsiteY80" fmla="*/ 481325 h 606722"/>
              <a:gd name="connsiteX81" fmla="*/ 198393 w 607639"/>
              <a:gd name="connsiteY81" fmla="*/ 485502 h 606722"/>
              <a:gd name="connsiteX82" fmla="*/ 249393 w 607639"/>
              <a:gd name="connsiteY82" fmla="*/ 506564 h 606722"/>
              <a:gd name="connsiteX83" fmla="*/ 257403 w 607639"/>
              <a:gd name="connsiteY83" fmla="*/ 508697 h 606722"/>
              <a:gd name="connsiteX84" fmla="*/ 257403 w 607639"/>
              <a:gd name="connsiteY84" fmla="*/ 585215 h 606722"/>
              <a:gd name="connsiteX85" fmla="*/ 350236 w 607639"/>
              <a:gd name="connsiteY85" fmla="*/ 585215 h 606722"/>
              <a:gd name="connsiteX86" fmla="*/ 350236 w 607639"/>
              <a:gd name="connsiteY86" fmla="*/ 508697 h 606722"/>
              <a:gd name="connsiteX87" fmla="*/ 358157 w 607639"/>
              <a:gd name="connsiteY87" fmla="*/ 506564 h 606722"/>
              <a:gd name="connsiteX88" fmla="*/ 409246 w 607639"/>
              <a:gd name="connsiteY88" fmla="*/ 485502 h 606722"/>
              <a:gd name="connsiteX89" fmla="*/ 416367 w 607639"/>
              <a:gd name="connsiteY89" fmla="*/ 481325 h 606722"/>
              <a:gd name="connsiteX90" fmla="*/ 470660 w 607639"/>
              <a:gd name="connsiteY90" fmla="*/ 535447 h 606722"/>
              <a:gd name="connsiteX91" fmla="*/ 536257 w 607639"/>
              <a:gd name="connsiteY91" fmla="*/ 469950 h 606722"/>
              <a:gd name="connsiteX92" fmla="*/ 482053 w 607639"/>
              <a:gd name="connsiteY92" fmla="*/ 415738 h 606722"/>
              <a:gd name="connsiteX93" fmla="*/ 486236 w 607639"/>
              <a:gd name="connsiteY93" fmla="*/ 408629 h 606722"/>
              <a:gd name="connsiteX94" fmla="*/ 507330 w 607639"/>
              <a:gd name="connsiteY94" fmla="*/ 357617 h 606722"/>
              <a:gd name="connsiteX95" fmla="*/ 509466 w 607639"/>
              <a:gd name="connsiteY95" fmla="*/ 349707 h 606722"/>
              <a:gd name="connsiteX96" fmla="*/ 586100 w 607639"/>
              <a:gd name="connsiteY96" fmla="*/ 349707 h 606722"/>
              <a:gd name="connsiteX97" fmla="*/ 586100 w 607639"/>
              <a:gd name="connsiteY97" fmla="*/ 257015 h 606722"/>
              <a:gd name="connsiteX98" fmla="*/ 509466 w 607639"/>
              <a:gd name="connsiteY98" fmla="*/ 257015 h 606722"/>
              <a:gd name="connsiteX99" fmla="*/ 507330 w 607639"/>
              <a:gd name="connsiteY99" fmla="*/ 249016 h 606722"/>
              <a:gd name="connsiteX100" fmla="*/ 486236 w 607639"/>
              <a:gd name="connsiteY100" fmla="*/ 198093 h 606722"/>
              <a:gd name="connsiteX101" fmla="*/ 482053 w 607639"/>
              <a:gd name="connsiteY101" fmla="*/ 190984 h 606722"/>
              <a:gd name="connsiteX102" fmla="*/ 536257 w 607639"/>
              <a:gd name="connsiteY102" fmla="*/ 136772 h 606722"/>
              <a:gd name="connsiteX103" fmla="*/ 470660 w 607639"/>
              <a:gd name="connsiteY103" fmla="*/ 71275 h 606722"/>
              <a:gd name="connsiteX104" fmla="*/ 416367 w 607639"/>
              <a:gd name="connsiteY104" fmla="*/ 125308 h 606722"/>
              <a:gd name="connsiteX105" fmla="*/ 409246 w 607639"/>
              <a:gd name="connsiteY105" fmla="*/ 121220 h 606722"/>
              <a:gd name="connsiteX106" fmla="*/ 358157 w 607639"/>
              <a:gd name="connsiteY106" fmla="*/ 100158 h 606722"/>
              <a:gd name="connsiteX107" fmla="*/ 350236 w 607639"/>
              <a:gd name="connsiteY107" fmla="*/ 98025 h 606722"/>
              <a:gd name="connsiteX108" fmla="*/ 350236 w 607639"/>
              <a:gd name="connsiteY108" fmla="*/ 21418 h 606722"/>
              <a:gd name="connsiteX109" fmla="*/ 235864 w 607639"/>
              <a:gd name="connsiteY109" fmla="*/ 0 h 606722"/>
              <a:gd name="connsiteX110" fmla="*/ 371686 w 607639"/>
              <a:gd name="connsiteY110" fmla="*/ 0 h 606722"/>
              <a:gd name="connsiteX111" fmla="*/ 371686 w 607639"/>
              <a:gd name="connsiteY111" fmla="*/ 81761 h 606722"/>
              <a:gd name="connsiteX112" fmla="*/ 412717 w 607639"/>
              <a:gd name="connsiteY112" fmla="*/ 98647 h 606722"/>
              <a:gd name="connsiteX113" fmla="*/ 470660 w 607639"/>
              <a:gd name="connsiteY113" fmla="*/ 40970 h 606722"/>
              <a:gd name="connsiteX114" fmla="*/ 566608 w 607639"/>
              <a:gd name="connsiteY114" fmla="*/ 136772 h 606722"/>
              <a:gd name="connsiteX115" fmla="*/ 508843 w 607639"/>
              <a:gd name="connsiteY115" fmla="*/ 194627 h 606722"/>
              <a:gd name="connsiteX116" fmla="*/ 525754 w 607639"/>
              <a:gd name="connsiteY116" fmla="*/ 235508 h 606722"/>
              <a:gd name="connsiteX117" fmla="*/ 607639 w 607639"/>
              <a:gd name="connsiteY117" fmla="*/ 235508 h 606722"/>
              <a:gd name="connsiteX118" fmla="*/ 607639 w 607639"/>
              <a:gd name="connsiteY118" fmla="*/ 371125 h 606722"/>
              <a:gd name="connsiteX119" fmla="*/ 525754 w 607639"/>
              <a:gd name="connsiteY119" fmla="*/ 371125 h 606722"/>
              <a:gd name="connsiteX120" fmla="*/ 508843 w 607639"/>
              <a:gd name="connsiteY120" fmla="*/ 412095 h 606722"/>
              <a:gd name="connsiteX121" fmla="*/ 566608 w 607639"/>
              <a:gd name="connsiteY121" fmla="*/ 469950 h 606722"/>
              <a:gd name="connsiteX122" fmla="*/ 470660 w 607639"/>
              <a:gd name="connsiteY122" fmla="*/ 565753 h 606722"/>
              <a:gd name="connsiteX123" fmla="*/ 412717 w 607639"/>
              <a:gd name="connsiteY123" fmla="*/ 508075 h 606722"/>
              <a:gd name="connsiteX124" fmla="*/ 371686 w 607639"/>
              <a:gd name="connsiteY124" fmla="*/ 524961 h 606722"/>
              <a:gd name="connsiteX125" fmla="*/ 371686 w 607639"/>
              <a:gd name="connsiteY125" fmla="*/ 606722 h 606722"/>
              <a:gd name="connsiteX126" fmla="*/ 235864 w 607639"/>
              <a:gd name="connsiteY126" fmla="*/ 606722 h 606722"/>
              <a:gd name="connsiteX127" fmla="*/ 235864 w 607639"/>
              <a:gd name="connsiteY127" fmla="*/ 524961 h 606722"/>
              <a:gd name="connsiteX128" fmla="*/ 194922 w 607639"/>
              <a:gd name="connsiteY128" fmla="*/ 508075 h 606722"/>
              <a:gd name="connsiteX129" fmla="*/ 136979 w 607639"/>
              <a:gd name="connsiteY129" fmla="*/ 565753 h 606722"/>
              <a:gd name="connsiteX130" fmla="*/ 41031 w 607639"/>
              <a:gd name="connsiteY130" fmla="*/ 469950 h 606722"/>
              <a:gd name="connsiteX131" fmla="*/ 98796 w 607639"/>
              <a:gd name="connsiteY131" fmla="*/ 412095 h 606722"/>
              <a:gd name="connsiteX132" fmla="*/ 81885 w 607639"/>
              <a:gd name="connsiteY132" fmla="*/ 371125 h 606722"/>
              <a:gd name="connsiteX133" fmla="*/ 0 w 607639"/>
              <a:gd name="connsiteY133" fmla="*/ 371125 h 606722"/>
              <a:gd name="connsiteX134" fmla="*/ 0 w 607639"/>
              <a:gd name="connsiteY134" fmla="*/ 235508 h 606722"/>
              <a:gd name="connsiteX135" fmla="*/ 81885 w 607639"/>
              <a:gd name="connsiteY135" fmla="*/ 235508 h 606722"/>
              <a:gd name="connsiteX136" fmla="*/ 98796 w 607639"/>
              <a:gd name="connsiteY136" fmla="*/ 194627 h 606722"/>
              <a:gd name="connsiteX137" fmla="*/ 41031 w 607639"/>
              <a:gd name="connsiteY137" fmla="*/ 136772 h 606722"/>
              <a:gd name="connsiteX138" fmla="*/ 136979 w 607639"/>
              <a:gd name="connsiteY138" fmla="*/ 40970 h 606722"/>
              <a:gd name="connsiteX139" fmla="*/ 194922 w 607639"/>
              <a:gd name="connsiteY139" fmla="*/ 98647 h 606722"/>
              <a:gd name="connsiteX140" fmla="*/ 235864 w 607639"/>
              <a:gd name="connsiteY140" fmla="*/ 81761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607639" h="606722">
                <a:moveTo>
                  <a:pt x="289530" y="535310"/>
                </a:moveTo>
                <a:lnTo>
                  <a:pt x="318109" y="535310"/>
                </a:lnTo>
                <a:lnTo>
                  <a:pt x="318109" y="556691"/>
                </a:lnTo>
                <a:lnTo>
                  <a:pt x="289530" y="556691"/>
                </a:lnTo>
                <a:close/>
                <a:moveTo>
                  <a:pt x="461075" y="463897"/>
                </a:moveTo>
                <a:lnTo>
                  <a:pt x="489583" y="463897"/>
                </a:lnTo>
                <a:lnTo>
                  <a:pt x="489583" y="485349"/>
                </a:lnTo>
                <a:lnTo>
                  <a:pt x="461075" y="485349"/>
                </a:lnTo>
                <a:close/>
                <a:moveTo>
                  <a:pt x="117915" y="463897"/>
                </a:moveTo>
                <a:lnTo>
                  <a:pt x="146565" y="463897"/>
                </a:lnTo>
                <a:lnTo>
                  <a:pt x="146565" y="485349"/>
                </a:lnTo>
                <a:lnTo>
                  <a:pt x="117915" y="485349"/>
                </a:lnTo>
                <a:close/>
                <a:moveTo>
                  <a:pt x="532487" y="292635"/>
                </a:moveTo>
                <a:lnTo>
                  <a:pt x="561066" y="292635"/>
                </a:lnTo>
                <a:lnTo>
                  <a:pt x="561066" y="314087"/>
                </a:lnTo>
                <a:lnTo>
                  <a:pt x="532487" y="314087"/>
                </a:lnTo>
                <a:close/>
                <a:moveTo>
                  <a:pt x="46432" y="292635"/>
                </a:moveTo>
                <a:lnTo>
                  <a:pt x="75011" y="292635"/>
                </a:lnTo>
                <a:lnTo>
                  <a:pt x="75011" y="314087"/>
                </a:lnTo>
                <a:lnTo>
                  <a:pt x="46432" y="314087"/>
                </a:lnTo>
                <a:close/>
                <a:moveTo>
                  <a:pt x="346219" y="260034"/>
                </a:moveTo>
                <a:lnTo>
                  <a:pt x="361436" y="275231"/>
                </a:lnTo>
                <a:lnTo>
                  <a:pt x="282325" y="354239"/>
                </a:lnTo>
                <a:lnTo>
                  <a:pt x="239076" y="310958"/>
                </a:lnTo>
                <a:lnTo>
                  <a:pt x="254204" y="295761"/>
                </a:lnTo>
                <a:lnTo>
                  <a:pt x="282325" y="323845"/>
                </a:lnTo>
                <a:close/>
                <a:moveTo>
                  <a:pt x="303749" y="214151"/>
                </a:moveTo>
                <a:cubicBezTo>
                  <a:pt x="254524" y="214151"/>
                  <a:pt x="214467" y="254144"/>
                  <a:pt x="214467" y="303291"/>
                </a:cubicBezTo>
                <a:cubicBezTo>
                  <a:pt x="214467" y="352526"/>
                  <a:pt x="254524" y="392519"/>
                  <a:pt x="303749" y="392519"/>
                </a:cubicBezTo>
                <a:cubicBezTo>
                  <a:pt x="353063" y="392519"/>
                  <a:pt x="393120" y="352526"/>
                  <a:pt x="393120" y="303291"/>
                </a:cubicBezTo>
                <a:cubicBezTo>
                  <a:pt x="393120" y="254144"/>
                  <a:pt x="353063" y="214151"/>
                  <a:pt x="303749" y="214151"/>
                </a:cubicBezTo>
                <a:close/>
                <a:moveTo>
                  <a:pt x="303749" y="192644"/>
                </a:moveTo>
                <a:cubicBezTo>
                  <a:pt x="364902" y="192644"/>
                  <a:pt x="414572" y="242324"/>
                  <a:pt x="414572" y="303291"/>
                </a:cubicBezTo>
                <a:cubicBezTo>
                  <a:pt x="414572" y="364346"/>
                  <a:pt x="364902" y="413937"/>
                  <a:pt x="303749" y="413937"/>
                </a:cubicBezTo>
                <a:cubicBezTo>
                  <a:pt x="242685" y="413937"/>
                  <a:pt x="192926" y="364346"/>
                  <a:pt x="192926" y="303291"/>
                </a:cubicBezTo>
                <a:cubicBezTo>
                  <a:pt x="192926" y="242324"/>
                  <a:pt x="242685" y="192644"/>
                  <a:pt x="303749" y="192644"/>
                </a:cubicBezTo>
                <a:close/>
                <a:moveTo>
                  <a:pt x="205077" y="158913"/>
                </a:moveTo>
                <a:lnTo>
                  <a:pt x="217182" y="176598"/>
                </a:lnTo>
                <a:cubicBezTo>
                  <a:pt x="175261" y="205303"/>
                  <a:pt x="150161" y="252671"/>
                  <a:pt x="150161" y="303326"/>
                </a:cubicBezTo>
                <a:cubicBezTo>
                  <a:pt x="150161" y="387930"/>
                  <a:pt x="219051" y="456804"/>
                  <a:pt x="303784" y="456804"/>
                </a:cubicBezTo>
                <a:lnTo>
                  <a:pt x="303784" y="478222"/>
                </a:lnTo>
                <a:cubicBezTo>
                  <a:pt x="207213" y="478222"/>
                  <a:pt x="128711" y="399750"/>
                  <a:pt x="128711" y="303326"/>
                </a:cubicBezTo>
                <a:cubicBezTo>
                  <a:pt x="128711" y="245561"/>
                  <a:pt x="157282" y="191528"/>
                  <a:pt x="205077" y="158913"/>
                </a:cubicBezTo>
                <a:close/>
                <a:moveTo>
                  <a:pt x="303784" y="128500"/>
                </a:moveTo>
                <a:cubicBezTo>
                  <a:pt x="400344" y="128500"/>
                  <a:pt x="478927" y="206888"/>
                  <a:pt x="478927" y="303317"/>
                </a:cubicBezTo>
                <a:cubicBezTo>
                  <a:pt x="478927" y="367396"/>
                  <a:pt x="443952" y="426231"/>
                  <a:pt x="387618" y="456982"/>
                </a:cubicBezTo>
                <a:lnTo>
                  <a:pt x="377294" y="438141"/>
                </a:lnTo>
                <a:cubicBezTo>
                  <a:pt x="426776" y="411211"/>
                  <a:pt x="457479" y="359575"/>
                  <a:pt x="457479" y="303317"/>
                </a:cubicBezTo>
                <a:cubicBezTo>
                  <a:pt x="457479" y="218708"/>
                  <a:pt x="388508" y="149919"/>
                  <a:pt x="303784" y="149919"/>
                </a:cubicBezTo>
                <a:close/>
                <a:moveTo>
                  <a:pt x="461075" y="121302"/>
                </a:moveTo>
                <a:lnTo>
                  <a:pt x="489583" y="121302"/>
                </a:lnTo>
                <a:lnTo>
                  <a:pt x="489583" y="142824"/>
                </a:lnTo>
                <a:lnTo>
                  <a:pt x="461075" y="142824"/>
                </a:lnTo>
                <a:close/>
                <a:moveTo>
                  <a:pt x="117915" y="121302"/>
                </a:moveTo>
                <a:lnTo>
                  <a:pt x="146565" y="121302"/>
                </a:lnTo>
                <a:lnTo>
                  <a:pt x="146565" y="142824"/>
                </a:lnTo>
                <a:lnTo>
                  <a:pt x="117915" y="142824"/>
                </a:lnTo>
                <a:close/>
                <a:moveTo>
                  <a:pt x="289530" y="49960"/>
                </a:moveTo>
                <a:lnTo>
                  <a:pt x="318109" y="49960"/>
                </a:lnTo>
                <a:lnTo>
                  <a:pt x="318109" y="71341"/>
                </a:lnTo>
                <a:lnTo>
                  <a:pt x="289530" y="71341"/>
                </a:lnTo>
                <a:close/>
                <a:moveTo>
                  <a:pt x="257403" y="21418"/>
                </a:moveTo>
                <a:lnTo>
                  <a:pt x="257403" y="98025"/>
                </a:lnTo>
                <a:lnTo>
                  <a:pt x="249393" y="100158"/>
                </a:lnTo>
                <a:cubicBezTo>
                  <a:pt x="231325" y="105045"/>
                  <a:pt x="214147" y="112155"/>
                  <a:pt x="198393" y="121220"/>
                </a:cubicBezTo>
                <a:lnTo>
                  <a:pt x="191272" y="125308"/>
                </a:lnTo>
                <a:lnTo>
                  <a:pt x="136979" y="71275"/>
                </a:lnTo>
                <a:lnTo>
                  <a:pt x="71382" y="136772"/>
                </a:lnTo>
                <a:lnTo>
                  <a:pt x="125497" y="190984"/>
                </a:lnTo>
                <a:lnTo>
                  <a:pt x="121403" y="198093"/>
                </a:lnTo>
                <a:cubicBezTo>
                  <a:pt x="112325" y="213824"/>
                  <a:pt x="105204" y="230976"/>
                  <a:pt x="100309" y="249016"/>
                </a:cubicBezTo>
                <a:lnTo>
                  <a:pt x="98173" y="257015"/>
                </a:lnTo>
                <a:lnTo>
                  <a:pt x="21450" y="257015"/>
                </a:lnTo>
                <a:lnTo>
                  <a:pt x="21450" y="349707"/>
                </a:lnTo>
                <a:lnTo>
                  <a:pt x="98173" y="349707"/>
                </a:lnTo>
                <a:lnTo>
                  <a:pt x="100309" y="357617"/>
                </a:lnTo>
                <a:cubicBezTo>
                  <a:pt x="105204" y="375746"/>
                  <a:pt x="112325" y="392899"/>
                  <a:pt x="121403" y="408629"/>
                </a:cubicBezTo>
                <a:lnTo>
                  <a:pt x="125497" y="415738"/>
                </a:lnTo>
                <a:lnTo>
                  <a:pt x="71382" y="469950"/>
                </a:lnTo>
                <a:lnTo>
                  <a:pt x="136979" y="535447"/>
                </a:lnTo>
                <a:lnTo>
                  <a:pt x="191272" y="481325"/>
                </a:lnTo>
                <a:lnTo>
                  <a:pt x="198393" y="485502"/>
                </a:lnTo>
                <a:cubicBezTo>
                  <a:pt x="214147" y="494567"/>
                  <a:pt x="231325" y="501677"/>
                  <a:pt x="249393" y="506564"/>
                </a:cubicBezTo>
                <a:lnTo>
                  <a:pt x="257403" y="508697"/>
                </a:lnTo>
                <a:lnTo>
                  <a:pt x="257403" y="585215"/>
                </a:lnTo>
                <a:lnTo>
                  <a:pt x="350236" y="585215"/>
                </a:lnTo>
                <a:lnTo>
                  <a:pt x="350236" y="508697"/>
                </a:lnTo>
                <a:lnTo>
                  <a:pt x="358157" y="506564"/>
                </a:lnTo>
                <a:cubicBezTo>
                  <a:pt x="376314" y="501677"/>
                  <a:pt x="393492" y="494567"/>
                  <a:pt x="409246" y="485502"/>
                </a:cubicBezTo>
                <a:lnTo>
                  <a:pt x="416367" y="481325"/>
                </a:lnTo>
                <a:lnTo>
                  <a:pt x="470660" y="535447"/>
                </a:lnTo>
                <a:lnTo>
                  <a:pt x="536257" y="469950"/>
                </a:lnTo>
                <a:lnTo>
                  <a:pt x="482053" y="415738"/>
                </a:lnTo>
                <a:lnTo>
                  <a:pt x="486236" y="408629"/>
                </a:lnTo>
                <a:cubicBezTo>
                  <a:pt x="495314" y="392899"/>
                  <a:pt x="502435" y="375746"/>
                  <a:pt x="507330" y="357617"/>
                </a:cubicBezTo>
                <a:lnTo>
                  <a:pt x="509466" y="349707"/>
                </a:lnTo>
                <a:lnTo>
                  <a:pt x="586100" y="349707"/>
                </a:lnTo>
                <a:lnTo>
                  <a:pt x="586100" y="257015"/>
                </a:lnTo>
                <a:lnTo>
                  <a:pt x="509466" y="257015"/>
                </a:lnTo>
                <a:lnTo>
                  <a:pt x="507330" y="249016"/>
                </a:lnTo>
                <a:cubicBezTo>
                  <a:pt x="502435" y="230976"/>
                  <a:pt x="495314" y="213824"/>
                  <a:pt x="486236" y="198093"/>
                </a:cubicBezTo>
                <a:lnTo>
                  <a:pt x="482053" y="190984"/>
                </a:lnTo>
                <a:lnTo>
                  <a:pt x="536257" y="136772"/>
                </a:lnTo>
                <a:lnTo>
                  <a:pt x="470660" y="71275"/>
                </a:lnTo>
                <a:lnTo>
                  <a:pt x="416367" y="125308"/>
                </a:lnTo>
                <a:lnTo>
                  <a:pt x="409246" y="121220"/>
                </a:lnTo>
                <a:cubicBezTo>
                  <a:pt x="393492" y="112155"/>
                  <a:pt x="376314" y="105045"/>
                  <a:pt x="358157" y="100158"/>
                </a:cubicBezTo>
                <a:lnTo>
                  <a:pt x="350236" y="98025"/>
                </a:lnTo>
                <a:lnTo>
                  <a:pt x="350236" y="21418"/>
                </a:lnTo>
                <a:close/>
                <a:moveTo>
                  <a:pt x="235864" y="0"/>
                </a:moveTo>
                <a:lnTo>
                  <a:pt x="371686" y="0"/>
                </a:lnTo>
                <a:lnTo>
                  <a:pt x="371686" y="81761"/>
                </a:lnTo>
                <a:cubicBezTo>
                  <a:pt x="386016" y="86116"/>
                  <a:pt x="399812" y="91804"/>
                  <a:pt x="412717" y="98647"/>
                </a:cubicBezTo>
                <a:lnTo>
                  <a:pt x="470660" y="40970"/>
                </a:lnTo>
                <a:lnTo>
                  <a:pt x="566608" y="136772"/>
                </a:lnTo>
                <a:lnTo>
                  <a:pt x="508843" y="194627"/>
                </a:lnTo>
                <a:cubicBezTo>
                  <a:pt x="515697" y="207514"/>
                  <a:pt x="521304" y="221200"/>
                  <a:pt x="525754" y="235508"/>
                </a:cubicBezTo>
                <a:lnTo>
                  <a:pt x="607639" y="235508"/>
                </a:lnTo>
                <a:lnTo>
                  <a:pt x="607639" y="371125"/>
                </a:lnTo>
                <a:lnTo>
                  <a:pt x="525754" y="371125"/>
                </a:lnTo>
                <a:cubicBezTo>
                  <a:pt x="521304" y="385433"/>
                  <a:pt x="515697" y="399208"/>
                  <a:pt x="508843" y="412095"/>
                </a:cubicBezTo>
                <a:lnTo>
                  <a:pt x="566608" y="469950"/>
                </a:lnTo>
                <a:lnTo>
                  <a:pt x="470660" y="565753"/>
                </a:lnTo>
                <a:lnTo>
                  <a:pt x="412717" y="508075"/>
                </a:lnTo>
                <a:cubicBezTo>
                  <a:pt x="399812" y="514918"/>
                  <a:pt x="386016" y="520517"/>
                  <a:pt x="371686" y="524961"/>
                </a:cubicBezTo>
                <a:lnTo>
                  <a:pt x="371686" y="606722"/>
                </a:lnTo>
                <a:lnTo>
                  <a:pt x="235864" y="606722"/>
                </a:lnTo>
                <a:lnTo>
                  <a:pt x="235864" y="524961"/>
                </a:lnTo>
                <a:cubicBezTo>
                  <a:pt x="221534" y="520517"/>
                  <a:pt x="207827" y="514918"/>
                  <a:pt x="194922" y="508075"/>
                </a:cubicBezTo>
                <a:lnTo>
                  <a:pt x="136979" y="565753"/>
                </a:lnTo>
                <a:lnTo>
                  <a:pt x="41031" y="469950"/>
                </a:lnTo>
                <a:lnTo>
                  <a:pt x="98796" y="412095"/>
                </a:lnTo>
                <a:cubicBezTo>
                  <a:pt x="91942" y="399208"/>
                  <a:pt x="86246" y="385433"/>
                  <a:pt x="81885" y="371125"/>
                </a:cubicBezTo>
                <a:lnTo>
                  <a:pt x="0" y="371125"/>
                </a:lnTo>
                <a:lnTo>
                  <a:pt x="0" y="235508"/>
                </a:lnTo>
                <a:lnTo>
                  <a:pt x="81885" y="235508"/>
                </a:lnTo>
                <a:cubicBezTo>
                  <a:pt x="86246" y="221200"/>
                  <a:pt x="91942" y="207514"/>
                  <a:pt x="98796" y="194627"/>
                </a:cubicBezTo>
                <a:lnTo>
                  <a:pt x="41031" y="136772"/>
                </a:lnTo>
                <a:lnTo>
                  <a:pt x="136979" y="40970"/>
                </a:lnTo>
                <a:lnTo>
                  <a:pt x="194922" y="98647"/>
                </a:lnTo>
                <a:cubicBezTo>
                  <a:pt x="207827" y="91804"/>
                  <a:pt x="221534" y="86116"/>
                  <a:pt x="235864" y="81761"/>
                </a:cubicBezTo>
                <a:close/>
              </a:path>
            </a:pathLst>
          </a:custGeom>
          <a:solidFill>
            <a:srgbClr val="00B0F0"/>
          </a:solidFill>
          <a:ln>
            <a:solidFill>
              <a:srgbClr val="00B0F0"/>
            </a:solidFill>
          </a:ln>
        </p:spPr>
        <p:txBody>
          <a:bodyPr/>
          <a:lstStyle/>
          <a:p>
            <a:endParaRPr lang="zh-CN" altLang="en-US">
              <a:cs typeface="+mn-ea"/>
              <a:sym typeface="Huawei Sans" panose="020C0503030203020204" pitchFamily="34" charset="0"/>
            </a:endParaRPr>
          </a:p>
        </p:txBody>
      </p:sp>
      <p:sp>
        <p:nvSpPr>
          <p:cNvPr id="25" name="圆角矩形 26">
            <a:extLst>
              <a:ext uri="{FF2B5EF4-FFF2-40B4-BE49-F238E27FC236}">
                <a16:creationId xmlns:a16="http://schemas.microsoft.com/office/drawing/2014/main" id="{7EBCA1A2-3290-428D-8CC7-B9B67ADCE99B}"/>
              </a:ext>
            </a:extLst>
          </p:cNvPr>
          <p:cNvSpPr/>
          <p:nvPr/>
        </p:nvSpPr>
        <p:spPr bwMode="gray">
          <a:xfrm rot="2700000">
            <a:off x="9020138" y="3413644"/>
            <a:ext cx="1138691" cy="1138691"/>
          </a:xfrm>
          <a:prstGeom prst="roundRect">
            <a:avLst/>
          </a:prstGeom>
          <a:noFill/>
          <a:ln w="25400">
            <a:gradFill>
              <a:gsLst>
                <a:gs pos="0">
                  <a:srgbClr val="00B0F0"/>
                </a:gs>
                <a:gs pos="47000">
                  <a:srgbClr val="99DFF9"/>
                </a:gs>
                <a:gs pos="100000">
                  <a:srgbClr val="00B0F0"/>
                </a:gs>
              </a:gsLst>
              <a:lin ang="96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49">
              <a:solidFill>
                <a:prstClr val="black"/>
              </a:solidFill>
              <a:cs typeface="+mn-ea"/>
              <a:sym typeface="Huawei Sans" panose="020C0503030203020204" pitchFamily="34" charset="0"/>
            </a:endParaRPr>
          </a:p>
        </p:txBody>
      </p:sp>
      <p:sp>
        <p:nvSpPr>
          <p:cNvPr id="26" name="椭圆 25">
            <a:extLst>
              <a:ext uri="{FF2B5EF4-FFF2-40B4-BE49-F238E27FC236}">
                <a16:creationId xmlns:a16="http://schemas.microsoft.com/office/drawing/2014/main" id="{C5556740-7075-4C4B-9D85-85FE7021A080}"/>
              </a:ext>
            </a:extLst>
          </p:cNvPr>
          <p:cNvSpPr/>
          <p:nvPr/>
        </p:nvSpPr>
        <p:spPr bwMode="gray">
          <a:xfrm>
            <a:off x="8950304" y="3282832"/>
            <a:ext cx="595602" cy="5956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Huawei Sans" panose="020C0503030203020204" pitchFamily="34" charset="0"/>
            </a:endParaRPr>
          </a:p>
        </p:txBody>
      </p:sp>
      <p:sp>
        <p:nvSpPr>
          <p:cNvPr id="27" name="椭圆 26">
            <a:extLst>
              <a:ext uri="{FF2B5EF4-FFF2-40B4-BE49-F238E27FC236}">
                <a16:creationId xmlns:a16="http://schemas.microsoft.com/office/drawing/2014/main" id="{ED7915ED-938D-4D8C-9A97-E68BBEB24A8C}"/>
              </a:ext>
            </a:extLst>
          </p:cNvPr>
          <p:cNvSpPr/>
          <p:nvPr/>
        </p:nvSpPr>
        <p:spPr bwMode="gray">
          <a:xfrm>
            <a:off x="8993880" y="4076220"/>
            <a:ext cx="595602" cy="5956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Huawei Sans" panose="020C0503030203020204" pitchFamily="34" charset="0"/>
            </a:endParaRPr>
          </a:p>
        </p:txBody>
      </p:sp>
      <p:sp>
        <p:nvSpPr>
          <p:cNvPr id="28" name="椭圆 27">
            <a:extLst>
              <a:ext uri="{FF2B5EF4-FFF2-40B4-BE49-F238E27FC236}">
                <a16:creationId xmlns:a16="http://schemas.microsoft.com/office/drawing/2014/main" id="{B1D96E00-87A8-4E11-840B-1D84E31AD4D3}"/>
              </a:ext>
            </a:extLst>
          </p:cNvPr>
          <p:cNvSpPr/>
          <p:nvPr/>
        </p:nvSpPr>
        <p:spPr bwMode="gray">
          <a:xfrm>
            <a:off x="9744571" y="4117458"/>
            <a:ext cx="541456" cy="5414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Huawei Sans" panose="020C0503030203020204" pitchFamily="34" charset="0"/>
            </a:endParaRPr>
          </a:p>
        </p:txBody>
      </p:sp>
      <p:sp>
        <p:nvSpPr>
          <p:cNvPr id="29" name="椭圆 28">
            <a:extLst>
              <a:ext uri="{FF2B5EF4-FFF2-40B4-BE49-F238E27FC236}">
                <a16:creationId xmlns:a16="http://schemas.microsoft.com/office/drawing/2014/main" id="{50721F11-733D-4B12-BA29-B74F7E4DCBE2}"/>
              </a:ext>
            </a:extLst>
          </p:cNvPr>
          <p:cNvSpPr/>
          <p:nvPr/>
        </p:nvSpPr>
        <p:spPr bwMode="gray">
          <a:xfrm>
            <a:off x="9695721" y="3257183"/>
            <a:ext cx="595602" cy="5956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Huawei Sans" panose="020C0503030203020204" pitchFamily="34" charset="0"/>
            </a:endParaRPr>
          </a:p>
        </p:txBody>
      </p:sp>
      <p:sp>
        <p:nvSpPr>
          <p:cNvPr id="30" name="clock_88291">
            <a:extLst>
              <a:ext uri="{FF2B5EF4-FFF2-40B4-BE49-F238E27FC236}">
                <a16:creationId xmlns:a16="http://schemas.microsoft.com/office/drawing/2014/main" id="{8198867C-C93D-40FB-9411-22FD24379365}"/>
              </a:ext>
            </a:extLst>
          </p:cNvPr>
          <p:cNvSpPr>
            <a:spLocks noChangeAspect="1"/>
          </p:cNvSpPr>
          <p:nvPr/>
        </p:nvSpPr>
        <p:spPr bwMode="gray">
          <a:xfrm>
            <a:off x="9017534" y="3363934"/>
            <a:ext cx="408003" cy="407427"/>
          </a:xfrm>
          <a:custGeom>
            <a:avLst/>
            <a:gdLst>
              <a:gd name="connsiteX0" fmla="*/ 291916 w 600159"/>
              <a:gd name="connsiteY0" fmla="*/ 119185 h 599312"/>
              <a:gd name="connsiteX1" fmla="*/ 313425 w 600159"/>
              <a:gd name="connsiteY1" fmla="*/ 140667 h 599312"/>
              <a:gd name="connsiteX2" fmla="*/ 313425 w 600159"/>
              <a:gd name="connsiteY2" fmla="*/ 294692 h 599312"/>
              <a:gd name="connsiteX3" fmla="*/ 454526 w 600159"/>
              <a:gd name="connsiteY3" fmla="*/ 294692 h 599312"/>
              <a:gd name="connsiteX4" fmla="*/ 476035 w 600159"/>
              <a:gd name="connsiteY4" fmla="*/ 316173 h 599312"/>
              <a:gd name="connsiteX5" fmla="*/ 454526 w 600159"/>
              <a:gd name="connsiteY5" fmla="*/ 337655 h 599312"/>
              <a:gd name="connsiteX6" fmla="*/ 291916 w 600159"/>
              <a:gd name="connsiteY6" fmla="*/ 337655 h 599312"/>
              <a:gd name="connsiteX7" fmla="*/ 270407 w 600159"/>
              <a:gd name="connsiteY7" fmla="*/ 316173 h 599312"/>
              <a:gd name="connsiteX8" fmla="*/ 270407 w 600159"/>
              <a:gd name="connsiteY8" fmla="*/ 140667 h 599312"/>
              <a:gd name="connsiteX9" fmla="*/ 291916 w 600159"/>
              <a:gd name="connsiteY9" fmla="*/ 119185 h 599312"/>
              <a:gd name="connsiteX10" fmla="*/ 300080 w 600159"/>
              <a:gd name="connsiteY10" fmla="*/ 42961 h 599312"/>
              <a:gd name="connsiteX11" fmla="*/ 43022 w 600159"/>
              <a:gd name="connsiteY11" fmla="*/ 299656 h 599312"/>
              <a:gd name="connsiteX12" fmla="*/ 300080 w 600159"/>
              <a:gd name="connsiteY12" fmla="*/ 556351 h 599312"/>
              <a:gd name="connsiteX13" fmla="*/ 557137 w 600159"/>
              <a:gd name="connsiteY13" fmla="*/ 299656 h 599312"/>
              <a:gd name="connsiteX14" fmla="*/ 300080 w 600159"/>
              <a:gd name="connsiteY14" fmla="*/ 42961 h 599312"/>
              <a:gd name="connsiteX15" fmla="*/ 300080 w 600159"/>
              <a:gd name="connsiteY15" fmla="*/ 0 h 599312"/>
              <a:gd name="connsiteX16" fmla="*/ 600159 w 600159"/>
              <a:gd name="connsiteY16" fmla="*/ 299656 h 599312"/>
              <a:gd name="connsiteX17" fmla="*/ 300080 w 600159"/>
              <a:gd name="connsiteY17" fmla="*/ 599312 h 599312"/>
              <a:gd name="connsiteX18" fmla="*/ 0 w 600159"/>
              <a:gd name="connsiteY18" fmla="*/ 299656 h 599312"/>
              <a:gd name="connsiteX19" fmla="*/ 300080 w 600159"/>
              <a:gd name="connsiteY19" fmla="*/ 0 h 59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0159" h="599312">
                <a:moveTo>
                  <a:pt x="291916" y="119185"/>
                </a:moveTo>
                <a:cubicBezTo>
                  <a:pt x="303746" y="119185"/>
                  <a:pt x="313425" y="128852"/>
                  <a:pt x="313425" y="140667"/>
                </a:cubicBezTo>
                <a:lnTo>
                  <a:pt x="313425" y="294692"/>
                </a:lnTo>
                <a:lnTo>
                  <a:pt x="454526" y="294692"/>
                </a:lnTo>
                <a:cubicBezTo>
                  <a:pt x="466356" y="294692"/>
                  <a:pt x="476035" y="304358"/>
                  <a:pt x="476035" y="316173"/>
                </a:cubicBezTo>
                <a:cubicBezTo>
                  <a:pt x="476035" y="327988"/>
                  <a:pt x="466356" y="337655"/>
                  <a:pt x="454526" y="337655"/>
                </a:cubicBezTo>
                <a:lnTo>
                  <a:pt x="291916" y="337655"/>
                </a:lnTo>
                <a:cubicBezTo>
                  <a:pt x="280086" y="337655"/>
                  <a:pt x="270407" y="327988"/>
                  <a:pt x="270407" y="316173"/>
                </a:cubicBezTo>
                <a:lnTo>
                  <a:pt x="270407" y="140667"/>
                </a:lnTo>
                <a:cubicBezTo>
                  <a:pt x="270407" y="128852"/>
                  <a:pt x="280086" y="119185"/>
                  <a:pt x="291916" y="119185"/>
                </a:cubicBezTo>
                <a:close/>
                <a:moveTo>
                  <a:pt x="300080" y="42961"/>
                </a:moveTo>
                <a:cubicBezTo>
                  <a:pt x="158322" y="42961"/>
                  <a:pt x="43022" y="158098"/>
                  <a:pt x="43022" y="299656"/>
                </a:cubicBezTo>
                <a:cubicBezTo>
                  <a:pt x="43022" y="441214"/>
                  <a:pt x="158322" y="556351"/>
                  <a:pt x="300080" y="556351"/>
                </a:cubicBezTo>
                <a:cubicBezTo>
                  <a:pt x="441838" y="556351"/>
                  <a:pt x="557137" y="441214"/>
                  <a:pt x="557137" y="299656"/>
                </a:cubicBezTo>
                <a:cubicBezTo>
                  <a:pt x="557137" y="158098"/>
                  <a:pt x="441838" y="42961"/>
                  <a:pt x="300080" y="42961"/>
                </a:cubicBezTo>
                <a:close/>
                <a:moveTo>
                  <a:pt x="300080" y="0"/>
                </a:moveTo>
                <a:cubicBezTo>
                  <a:pt x="465715" y="0"/>
                  <a:pt x="600159" y="134470"/>
                  <a:pt x="600159" y="299656"/>
                </a:cubicBezTo>
                <a:cubicBezTo>
                  <a:pt x="600159" y="464843"/>
                  <a:pt x="465715" y="599312"/>
                  <a:pt x="300080" y="599312"/>
                </a:cubicBezTo>
                <a:cubicBezTo>
                  <a:pt x="134659" y="599312"/>
                  <a:pt x="0" y="465058"/>
                  <a:pt x="0" y="299656"/>
                </a:cubicBezTo>
                <a:cubicBezTo>
                  <a:pt x="0" y="134470"/>
                  <a:pt x="134659" y="0"/>
                  <a:pt x="300080" y="0"/>
                </a:cubicBezTo>
                <a:close/>
              </a:path>
            </a:pathLst>
          </a:custGeom>
          <a:solidFill>
            <a:srgbClr val="00B0F0"/>
          </a:solidFill>
          <a:ln>
            <a:noFill/>
          </a:ln>
        </p:spPr>
        <p:txBody>
          <a:bodyPr/>
          <a:lstStyle/>
          <a:p>
            <a:endParaRPr lang="zh-CN" altLang="en-US">
              <a:cs typeface="+mn-ea"/>
              <a:sym typeface="Huawei Sans" panose="020C0503030203020204" pitchFamily="34" charset="0"/>
            </a:endParaRPr>
          </a:p>
        </p:txBody>
      </p:sp>
      <p:sp>
        <p:nvSpPr>
          <p:cNvPr id="31" name="settings-tool_1475">
            <a:extLst>
              <a:ext uri="{FF2B5EF4-FFF2-40B4-BE49-F238E27FC236}">
                <a16:creationId xmlns:a16="http://schemas.microsoft.com/office/drawing/2014/main" id="{4642EEE5-1B0A-4A2F-AD70-08961CBAC65A}"/>
              </a:ext>
            </a:extLst>
          </p:cNvPr>
          <p:cNvSpPr>
            <a:spLocks noChangeAspect="1"/>
          </p:cNvSpPr>
          <p:nvPr/>
        </p:nvSpPr>
        <p:spPr bwMode="gray">
          <a:xfrm>
            <a:off x="9758291" y="3342199"/>
            <a:ext cx="418016" cy="409450"/>
          </a:xfrm>
          <a:custGeom>
            <a:avLst/>
            <a:gdLst>
              <a:gd name="T0" fmla="*/ 141 w 313"/>
              <a:gd name="T1" fmla="*/ 307 h 307"/>
              <a:gd name="T2" fmla="*/ 105 w 313"/>
              <a:gd name="T3" fmla="*/ 261 h 307"/>
              <a:gd name="T4" fmla="*/ 58 w 313"/>
              <a:gd name="T5" fmla="*/ 274 h 307"/>
              <a:gd name="T6" fmla="*/ 47 w 313"/>
              <a:gd name="T7" fmla="*/ 204 h 307"/>
              <a:gd name="T8" fmla="*/ 0 w 313"/>
              <a:gd name="T9" fmla="*/ 170 h 307"/>
              <a:gd name="T10" fmla="*/ 43 w 313"/>
              <a:gd name="T11" fmla="*/ 114 h 307"/>
              <a:gd name="T12" fmla="*/ 34 w 313"/>
              <a:gd name="T13" fmla="*/ 57 h 307"/>
              <a:gd name="T14" fmla="*/ 63 w 313"/>
              <a:gd name="T15" fmla="*/ 32 h 307"/>
              <a:gd name="T16" fmla="*/ 116 w 313"/>
              <a:gd name="T17" fmla="*/ 42 h 307"/>
              <a:gd name="T18" fmla="*/ 172 w 313"/>
              <a:gd name="T19" fmla="*/ 0 h 307"/>
              <a:gd name="T20" fmla="*/ 208 w 313"/>
              <a:gd name="T21" fmla="*/ 46 h 307"/>
              <a:gd name="T22" fmla="*/ 255 w 313"/>
              <a:gd name="T23" fmla="*/ 33 h 307"/>
              <a:gd name="T24" fmla="*/ 266 w 313"/>
              <a:gd name="T25" fmla="*/ 103 h 307"/>
              <a:gd name="T26" fmla="*/ 313 w 313"/>
              <a:gd name="T27" fmla="*/ 137 h 307"/>
              <a:gd name="T28" fmla="*/ 270 w 313"/>
              <a:gd name="T29" fmla="*/ 193 h 307"/>
              <a:gd name="T30" fmla="*/ 279 w 313"/>
              <a:gd name="T31" fmla="*/ 250 h 307"/>
              <a:gd name="T32" fmla="*/ 250 w 313"/>
              <a:gd name="T33" fmla="*/ 275 h 307"/>
              <a:gd name="T34" fmla="*/ 209 w 313"/>
              <a:gd name="T35" fmla="*/ 261 h 307"/>
              <a:gd name="T36" fmla="*/ 173 w 313"/>
              <a:gd name="T37" fmla="*/ 307 h 307"/>
              <a:gd name="T38" fmla="*/ 169 w 313"/>
              <a:gd name="T39" fmla="*/ 290 h 307"/>
              <a:gd name="T40" fmla="*/ 187 w 313"/>
              <a:gd name="T41" fmla="*/ 250 h 307"/>
              <a:gd name="T42" fmla="*/ 212 w 313"/>
              <a:gd name="T43" fmla="*/ 243 h 307"/>
              <a:gd name="T44" fmla="*/ 263 w 313"/>
              <a:gd name="T45" fmla="*/ 241 h 307"/>
              <a:gd name="T46" fmla="*/ 248 w 313"/>
              <a:gd name="T47" fmla="*/ 201 h 307"/>
              <a:gd name="T48" fmla="*/ 261 w 313"/>
              <a:gd name="T49" fmla="*/ 178 h 307"/>
              <a:gd name="T50" fmla="*/ 296 w 313"/>
              <a:gd name="T51" fmla="*/ 142 h 307"/>
              <a:gd name="T52" fmla="*/ 256 w 313"/>
              <a:gd name="T53" fmla="*/ 124 h 307"/>
              <a:gd name="T54" fmla="*/ 248 w 313"/>
              <a:gd name="T55" fmla="*/ 99 h 307"/>
              <a:gd name="T56" fmla="*/ 246 w 313"/>
              <a:gd name="T57" fmla="*/ 49 h 307"/>
              <a:gd name="T58" fmla="*/ 205 w 313"/>
              <a:gd name="T59" fmla="*/ 64 h 307"/>
              <a:gd name="T60" fmla="*/ 182 w 313"/>
              <a:gd name="T61" fmla="*/ 52 h 307"/>
              <a:gd name="T62" fmla="*/ 144 w 313"/>
              <a:gd name="T63" fmla="*/ 17 h 307"/>
              <a:gd name="T64" fmla="*/ 126 w 313"/>
              <a:gd name="T65" fmla="*/ 57 h 307"/>
              <a:gd name="T66" fmla="*/ 101 w 313"/>
              <a:gd name="T67" fmla="*/ 64 h 307"/>
              <a:gd name="T68" fmla="*/ 50 w 313"/>
              <a:gd name="T69" fmla="*/ 66 h 307"/>
              <a:gd name="T70" fmla="*/ 65 w 313"/>
              <a:gd name="T71" fmla="*/ 106 h 307"/>
              <a:gd name="T72" fmla="*/ 52 w 313"/>
              <a:gd name="T73" fmla="*/ 129 h 307"/>
              <a:gd name="T74" fmla="*/ 17 w 313"/>
              <a:gd name="T75" fmla="*/ 165 h 307"/>
              <a:gd name="T76" fmla="*/ 57 w 313"/>
              <a:gd name="T77" fmla="*/ 183 h 307"/>
              <a:gd name="T78" fmla="*/ 65 w 313"/>
              <a:gd name="T79" fmla="*/ 208 h 307"/>
              <a:gd name="T80" fmla="*/ 67 w 313"/>
              <a:gd name="T81" fmla="*/ 258 h 307"/>
              <a:gd name="T82" fmla="*/ 108 w 313"/>
              <a:gd name="T83" fmla="*/ 243 h 307"/>
              <a:gd name="T84" fmla="*/ 131 w 313"/>
              <a:gd name="T85" fmla="*/ 255 h 307"/>
              <a:gd name="T86" fmla="*/ 157 w 313"/>
              <a:gd name="T87" fmla="*/ 209 h 307"/>
              <a:gd name="T88" fmla="*/ 157 w 313"/>
              <a:gd name="T89" fmla="*/ 99 h 307"/>
              <a:gd name="T90" fmla="*/ 157 w 313"/>
              <a:gd name="T91" fmla="*/ 209 h 307"/>
              <a:gd name="T92" fmla="*/ 118 w 313"/>
              <a:gd name="T93" fmla="*/ 154 h 307"/>
              <a:gd name="T94" fmla="*/ 195 w 313"/>
              <a:gd name="T95" fmla="*/ 154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13" h="307">
                <a:moveTo>
                  <a:pt x="173" y="307"/>
                </a:moveTo>
                <a:lnTo>
                  <a:pt x="141" y="307"/>
                </a:lnTo>
                <a:cubicBezTo>
                  <a:pt x="135" y="307"/>
                  <a:pt x="133" y="307"/>
                  <a:pt x="116" y="265"/>
                </a:cubicBezTo>
                <a:lnTo>
                  <a:pt x="105" y="261"/>
                </a:lnTo>
                <a:cubicBezTo>
                  <a:pt x="70" y="276"/>
                  <a:pt x="66" y="276"/>
                  <a:pt x="64" y="276"/>
                </a:cubicBezTo>
                <a:cubicBezTo>
                  <a:pt x="62" y="276"/>
                  <a:pt x="59" y="275"/>
                  <a:pt x="58" y="274"/>
                </a:cubicBezTo>
                <a:lnTo>
                  <a:pt x="35" y="251"/>
                </a:lnTo>
                <a:cubicBezTo>
                  <a:pt x="30" y="247"/>
                  <a:pt x="29" y="246"/>
                  <a:pt x="47" y="204"/>
                </a:cubicBezTo>
                <a:lnTo>
                  <a:pt x="43" y="194"/>
                </a:lnTo>
                <a:cubicBezTo>
                  <a:pt x="0" y="178"/>
                  <a:pt x="0" y="176"/>
                  <a:pt x="0" y="170"/>
                </a:cubicBezTo>
                <a:lnTo>
                  <a:pt x="0" y="138"/>
                </a:lnTo>
                <a:cubicBezTo>
                  <a:pt x="0" y="132"/>
                  <a:pt x="0" y="130"/>
                  <a:pt x="43" y="114"/>
                </a:cubicBezTo>
                <a:lnTo>
                  <a:pt x="47" y="103"/>
                </a:lnTo>
                <a:cubicBezTo>
                  <a:pt x="28" y="63"/>
                  <a:pt x="29" y="61"/>
                  <a:pt x="34" y="57"/>
                </a:cubicBezTo>
                <a:lnTo>
                  <a:pt x="57" y="34"/>
                </a:lnTo>
                <a:cubicBezTo>
                  <a:pt x="59" y="33"/>
                  <a:pt x="61" y="32"/>
                  <a:pt x="63" y="32"/>
                </a:cubicBezTo>
                <a:cubicBezTo>
                  <a:pt x="65" y="32"/>
                  <a:pt x="69" y="32"/>
                  <a:pt x="105" y="47"/>
                </a:cubicBezTo>
                <a:lnTo>
                  <a:pt x="116" y="42"/>
                </a:lnTo>
                <a:cubicBezTo>
                  <a:pt x="131" y="0"/>
                  <a:pt x="133" y="0"/>
                  <a:pt x="140" y="0"/>
                </a:cubicBezTo>
                <a:lnTo>
                  <a:pt x="172" y="0"/>
                </a:lnTo>
                <a:cubicBezTo>
                  <a:pt x="178" y="0"/>
                  <a:pt x="180" y="0"/>
                  <a:pt x="197" y="42"/>
                </a:cubicBezTo>
                <a:lnTo>
                  <a:pt x="208" y="46"/>
                </a:lnTo>
                <a:cubicBezTo>
                  <a:pt x="243" y="31"/>
                  <a:pt x="247" y="31"/>
                  <a:pt x="249" y="31"/>
                </a:cubicBezTo>
                <a:cubicBezTo>
                  <a:pt x="251" y="31"/>
                  <a:pt x="254" y="32"/>
                  <a:pt x="255" y="33"/>
                </a:cubicBezTo>
                <a:lnTo>
                  <a:pt x="278" y="56"/>
                </a:lnTo>
                <a:cubicBezTo>
                  <a:pt x="283" y="60"/>
                  <a:pt x="284" y="61"/>
                  <a:pt x="266" y="103"/>
                </a:cubicBezTo>
                <a:lnTo>
                  <a:pt x="270" y="113"/>
                </a:lnTo>
                <a:cubicBezTo>
                  <a:pt x="313" y="129"/>
                  <a:pt x="313" y="131"/>
                  <a:pt x="313" y="137"/>
                </a:cubicBezTo>
                <a:lnTo>
                  <a:pt x="313" y="169"/>
                </a:lnTo>
                <a:cubicBezTo>
                  <a:pt x="313" y="175"/>
                  <a:pt x="313" y="177"/>
                  <a:pt x="270" y="193"/>
                </a:cubicBezTo>
                <a:lnTo>
                  <a:pt x="266" y="204"/>
                </a:lnTo>
                <a:cubicBezTo>
                  <a:pt x="285" y="244"/>
                  <a:pt x="284" y="246"/>
                  <a:pt x="279" y="250"/>
                </a:cubicBezTo>
                <a:lnTo>
                  <a:pt x="256" y="273"/>
                </a:lnTo>
                <a:cubicBezTo>
                  <a:pt x="255" y="274"/>
                  <a:pt x="252" y="275"/>
                  <a:pt x="250" y="275"/>
                </a:cubicBezTo>
                <a:lnTo>
                  <a:pt x="250" y="275"/>
                </a:lnTo>
                <a:cubicBezTo>
                  <a:pt x="248" y="275"/>
                  <a:pt x="244" y="275"/>
                  <a:pt x="209" y="261"/>
                </a:cubicBezTo>
                <a:lnTo>
                  <a:pt x="197" y="265"/>
                </a:lnTo>
                <a:cubicBezTo>
                  <a:pt x="182" y="307"/>
                  <a:pt x="180" y="307"/>
                  <a:pt x="173" y="307"/>
                </a:cubicBezTo>
                <a:close/>
                <a:moveTo>
                  <a:pt x="146" y="290"/>
                </a:moveTo>
                <a:lnTo>
                  <a:pt x="169" y="290"/>
                </a:lnTo>
                <a:cubicBezTo>
                  <a:pt x="172" y="283"/>
                  <a:pt x="178" y="268"/>
                  <a:pt x="182" y="255"/>
                </a:cubicBezTo>
                <a:cubicBezTo>
                  <a:pt x="183" y="253"/>
                  <a:pt x="185" y="251"/>
                  <a:pt x="187" y="250"/>
                </a:cubicBezTo>
                <a:lnTo>
                  <a:pt x="205" y="243"/>
                </a:lnTo>
                <a:cubicBezTo>
                  <a:pt x="207" y="242"/>
                  <a:pt x="210" y="242"/>
                  <a:pt x="212" y="243"/>
                </a:cubicBezTo>
                <a:cubicBezTo>
                  <a:pt x="225" y="249"/>
                  <a:pt x="240" y="255"/>
                  <a:pt x="247" y="257"/>
                </a:cubicBezTo>
                <a:lnTo>
                  <a:pt x="263" y="241"/>
                </a:lnTo>
                <a:cubicBezTo>
                  <a:pt x="261" y="235"/>
                  <a:pt x="254" y="220"/>
                  <a:pt x="249" y="208"/>
                </a:cubicBezTo>
                <a:cubicBezTo>
                  <a:pt x="247" y="206"/>
                  <a:pt x="247" y="203"/>
                  <a:pt x="248" y="201"/>
                </a:cubicBezTo>
                <a:lnTo>
                  <a:pt x="256" y="183"/>
                </a:lnTo>
                <a:cubicBezTo>
                  <a:pt x="257" y="181"/>
                  <a:pt x="258" y="179"/>
                  <a:pt x="261" y="178"/>
                </a:cubicBezTo>
                <a:cubicBezTo>
                  <a:pt x="274" y="173"/>
                  <a:pt x="289" y="167"/>
                  <a:pt x="296" y="164"/>
                </a:cubicBezTo>
                <a:lnTo>
                  <a:pt x="296" y="142"/>
                </a:lnTo>
                <a:cubicBezTo>
                  <a:pt x="289" y="139"/>
                  <a:pt x="274" y="133"/>
                  <a:pt x="261" y="129"/>
                </a:cubicBezTo>
                <a:cubicBezTo>
                  <a:pt x="259" y="128"/>
                  <a:pt x="257" y="126"/>
                  <a:pt x="256" y="124"/>
                </a:cubicBezTo>
                <a:lnTo>
                  <a:pt x="248" y="106"/>
                </a:lnTo>
                <a:cubicBezTo>
                  <a:pt x="247" y="104"/>
                  <a:pt x="247" y="101"/>
                  <a:pt x="248" y="99"/>
                </a:cubicBezTo>
                <a:cubicBezTo>
                  <a:pt x="254" y="86"/>
                  <a:pt x="260" y="72"/>
                  <a:pt x="263" y="65"/>
                </a:cubicBezTo>
                <a:lnTo>
                  <a:pt x="246" y="49"/>
                </a:lnTo>
                <a:cubicBezTo>
                  <a:pt x="240" y="51"/>
                  <a:pt x="225" y="58"/>
                  <a:pt x="212" y="64"/>
                </a:cubicBezTo>
                <a:cubicBezTo>
                  <a:pt x="210" y="65"/>
                  <a:pt x="207" y="65"/>
                  <a:pt x="205" y="64"/>
                </a:cubicBezTo>
                <a:lnTo>
                  <a:pt x="187" y="57"/>
                </a:lnTo>
                <a:cubicBezTo>
                  <a:pt x="185" y="56"/>
                  <a:pt x="183" y="54"/>
                  <a:pt x="182" y="52"/>
                </a:cubicBezTo>
                <a:cubicBezTo>
                  <a:pt x="177" y="39"/>
                  <a:pt x="171" y="24"/>
                  <a:pt x="167" y="17"/>
                </a:cubicBezTo>
                <a:lnTo>
                  <a:pt x="144" y="17"/>
                </a:lnTo>
                <a:cubicBezTo>
                  <a:pt x="141" y="24"/>
                  <a:pt x="135" y="39"/>
                  <a:pt x="131" y="52"/>
                </a:cubicBezTo>
                <a:cubicBezTo>
                  <a:pt x="130" y="54"/>
                  <a:pt x="128" y="56"/>
                  <a:pt x="126" y="57"/>
                </a:cubicBezTo>
                <a:lnTo>
                  <a:pt x="108" y="64"/>
                </a:lnTo>
                <a:cubicBezTo>
                  <a:pt x="106" y="65"/>
                  <a:pt x="103" y="65"/>
                  <a:pt x="101" y="64"/>
                </a:cubicBezTo>
                <a:cubicBezTo>
                  <a:pt x="88" y="58"/>
                  <a:pt x="73" y="52"/>
                  <a:pt x="66" y="50"/>
                </a:cubicBezTo>
                <a:lnTo>
                  <a:pt x="50" y="66"/>
                </a:lnTo>
                <a:cubicBezTo>
                  <a:pt x="52" y="72"/>
                  <a:pt x="59" y="87"/>
                  <a:pt x="65" y="99"/>
                </a:cubicBezTo>
                <a:cubicBezTo>
                  <a:pt x="66" y="101"/>
                  <a:pt x="66" y="104"/>
                  <a:pt x="65" y="106"/>
                </a:cubicBezTo>
                <a:lnTo>
                  <a:pt x="57" y="124"/>
                </a:lnTo>
                <a:cubicBezTo>
                  <a:pt x="56" y="126"/>
                  <a:pt x="55" y="128"/>
                  <a:pt x="52" y="129"/>
                </a:cubicBezTo>
                <a:cubicBezTo>
                  <a:pt x="39" y="134"/>
                  <a:pt x="24" y="140"/>
                  <a:pt x="17" y="143"/>
                </a:cubicBezTo>
                <a:lnTo>
                  <a:pt x="17" y="165"/>
                </a:lnTo>
                <a:cubicBezTo>
                  <a:pt x="24" y="168"/>
                  <a:pt x="39" y="174"/>
                  <a:pt x="52" y="179"/>
                </a:cubicBezTo>
                <a:cubicBezTo>
                  <a:pt x="55" y="179"/>
                  <a:pt x="56" y="181"/>
                  <a:pt x="57" y="183"/>
                </a:cubicBezTo>
                <a:lnTo>
                  <a:pt x="65" y="201"/>
                </a:lnTo>
                <a:cubicBezTo>
                  <a:pt x="66" y="203"/>
                  <a:pt x="66" y="206"/>
                  <a:pt x="65" y="208"/>
                </a:cubicBezTo>
                <a:cubicBezTo>
                  <a:pt x="59" y="221"/>
                  <a:pt x="53" y="235"/>
                  <a:pt x="50" y="242"/>
                </a:cubicBezTo>
                <a:lnTo>
                  <a:pt x="67" y="258"/>
                </a:lnTo>
                <a:cubicBezTo>
                  <a:pt x="73" y="256"/>
                  <a:pt x="88" y="249"/>
                  <a:pt x="101" y="243"/>
                </a:cubicBezTo>
                <a:cubicBezTo>
                  <a:pt x="103" y="242"/>
                  <a:pt x="106" y="242"/>
                  <a:pt x="108" y="243"/>
                </a:cubicBezTo>
                <a:lnTo>
                  <a:pt x="126" y="251"/>
                </a:lnTo>
                <a:cubicBezTo>
                  <a:pt x="128" y="251"/>
                  <a:pt x="130" y="253"/>
                  <a:pt x="131" y="255"/>
                </a:cubicBezTo>
                <a:cubicBezTo>
                  <a:pt x="136" y="268"/>
                  <a:pt x="142" y="283"/>
                  <a:pt x="146" y="290"/>
                </a:cubicBezTo>
                <a:close/>
                <a:moveTo>
                  <a:pt x="157" y="209"/>
                </a:moveTo>
                <a:cubicBezTo>
                  <a:pt x="126" y="209"/>
                  <a:pt x="100" y="184"/>
                  <a:pt x="100" y="154"/>
                </a:cubicBezTo>
                <a:cubicBezTo>
                  <a:pt x="100" y="123"/>
                  <a:pt x="126" y="99"/>
                  <a:pt x="157" y="99"/>
                </a:cubicBezTo>
                <a:cubicBezTo>
                  <a:pt x="187" y="99"/>
                  <a:pt x="213" y="123"/>
                  <a:pt x="213" y="154"/>
                </a:cubicBezTo>
                <a:cubicBezTo>
                  <a:pt x="213" y="184"/>
                  <a:pt x="187" y="209"/>
                  <a:pt x="157" y="209"/>
                </a:cubicBezTo>
                <a:close/>
                <a:moveTo>
                  <a:pt x="157" y="116"/>
                </a:moveTo>
                <a:cubicBezTo>
                  <a:pt x="135" y="116"/>
                  <a:pt x="118" y="133"/>
                  <a:pt x="118" y="154"/>
                </a:cubicBezTo>
                <a:cubicBezTo>
                  <a:pt x="118" y="174"/>
                  <a:pt x="135" y="191"/>
                  <a:pt x="157" y="191"/>
                </a:cubicBezTo>
                <a:cubicBezTo>
                  <a:pt x="178" y="191"/>
                  <a:pt x="195" y="174"/>
                  <a:pt x="195" y="154"/>
                </a:cubicBezTo>
                <a:cubicBezTo>
                  <a:pt x="195" y="133"/>
                  <a:pt x="178" y="116"/>
                  <a:pt x="157" y="116"/>
                </a:cubicBezTo>
                <a:close/>
              </a:path>
            </a:pathLst>
          </a:custGeom>
          <a:solidFill>
            <a:srgbClr val="00B0F0"/>
          </a:solidFill>
          <a:ln>
            <a:noFill/>
          </a:ln>
        </p:spPr>
        <p:txBody>
          <a:bodyPr/>
          <a:lstStyle/>
          <a:p>
            <a:endParaRPr lang="zh-CN" altLang="en-US">
              <a:cs typeface="+mn-ea"/>
              <a:sym typeface="Huawei Sans" panose="020C0503030203020204" pitchFamily="34" charset="0"/>
            </a:endParaRPr>
          </a:p>
        </p:txBody>
      </p:sp>
      <p:sp>
        <p:nvSpPr>
          <p:cNvPr id="32" name="accept-circular-button-outline_58679">
            <a:extLst>
              <a:ext uri="{FF2B5EF4-FFF2-40B4-BE49-F238E27FC236}">
                <a16:creationId xmlns:a16="http://schemas.microsoft.com/office/drawing/2014/main" id="{536BCD95-CAF7-4821-A5CA-0A7A226D7723}"/>
              </a:ext>
            </a:extLst>
          </p:cNvPr>
          <p:cNvSpPr>
            <a:spLocks noChangeAspect="1"/>
          </p:cNvSpPr>
          <p:nvPr/>
        </p:nvSpPr>
        <p:spPr bwMode="gray">
          <a:xfrm>
            <a:off x="9017534" y="4196107"/>
            <a:ext cx="432723" cy="432120"/>
          </a:xfrm>
          <a:custGeom>
            <a:avLst/>
            <a:gdLst>
              <a:gd name="connsiteX0" fmla="*/ 443164 w 609403"/>
              <a:gd name="connsiteY0" fmla="*/ 187725 h 608556"/>
              <a:gd name="connsiteX1" fmla="*/ 458558 w 609403"/>
              <a:gd name="connsiteY1" fmla="*/ 194090 h 608556"/>
              <a:gd name="connsiteX2" fmla="*/ 464856 w 609403"/>
              <a:gd name="connsiteY2" fmla="*/ 209382 h 608556"/>
              <a:gd name="connsiteX3" fmla="*/ 458558 w 609403"/>
              <a:gd name="connsiteY3" fmla="*/ 224674 h 608556"/>
              <a:gd name="connsiteX4" fmla="*/ 268385 w 609403"/>
              <a:gd name="connsiteY4" fmla="*/ 414466 h 608556"/>
              <a:gd name="connsiteX5" fmla="*/ 253068 w 609403"/>
              <a:gd name="connsiteY5" fmla="*/ 420831 h 608556"/>
              <a:gd name="connsiteX6" fmla="*/ 237752 w 609403"/>
              <a:gd name="connsiteY6" fmla="*/ 414466 h 608556"/>
              <a:gd name="connsiteX7" fmla="*/ 150906 w 609403"/>
              <a:gd name="connsiteY7" fmla="*/ 327837 h 608556"/>
              <a:gd name="connsiteX8" fmla="*/ 150906 w 609403"/>
              <a:gd name="connsiteY8" fmla="*/ 297175 h 608556"/>
              <a:gd name="connsiteX9" fmla="*/ 166223 w 609403"/>
              <a:gd name="connsiteY9" fmla="*/ 290810 h 608556"/>
              <a:gd name="connsiteX10" fmla="*/ 181617 w 609403"/>
              <a:gd name="connsiteY10" fmla="*/ 297175 h 608556"/>
              <a:gd name="connsiteX11" fmla="*/ 253068 w 609403"/>
              <a:gd name="connsiteY11" fmla="*/ 368590 h 608556"/>
              <a:gd name="connsiteX12" fmla="*/ 427847 w 609403"/>
              <a:gd name="connsiteY12" fmla="*/ 194090 h 608556"/>
              <a:gd name="connsiteX13" fmla="*/ 443164 w 609403"/>
              <a:gd name="connsiteY13" fmla="*/ 187725 h 608556"/>
              <a:gd name="connsiteX14" fmla="*/ 443184 w 609403"/>
              <a:gd name="connsiteY14" fmla="*/ 187195 h 608556"/>
              <a:gd name="connsiteX15" fmla="*/ 427451 w 609403"/>
              <a:gd name="connsiteY15" fmla="*/ 193714 h 608556"/>
              <a:gd name="connsiteX16" fmla="*/ 253077 w 609403"/>
              <a:gd name="connsiteY16" fmla="*/ 367795 h 608556"/>
              <a:gd name="connsiteX17" fmla="*/ 181944 w 609403"/>
              <a:gd name="connsiteY17" fmla="*/ 296781 h 608556"/>
              <a:gd name="connsiteX18" fmla="*/ 150614 w 609403"/>
              <a:gd name="connsiteY18" fmla="*/ 296781 h 608556"/>
              <a:gd name="connsiteX19" fmla="*/ 150614 w 609403"/>
              <a:gd name="connsiteY19" fmla="*/ 328136 h 608556"/>
              <a:gd name="connsiteX20" fmla="*/ 237374 w 609403"/>
              <a:gd name="connsiteY20" fmla="*/ 414827 h 608556"/>
              <a:gd name="connsiteX21" fmla="*/ 253077 w 609403"/>
              <a:gd name="connsiteY21" fmla="*/ 421346 h 608556"/>
              <a:gd name="connsiteX22" fmla="*/ 268781 w 609403"/>
              <a:gd name="connsiteY22" fmla="*/ 414827 h 608556"/>
              <a:gd name="connsiteX23" fmla="*/ 458859 w 609403"/>
              <a:gd name="connsiteY23" fmla="*/ 225069 h 608556"/>
              <a:gd name="connsiteX24" fmla="*/ 458859 w 609403"/>
              <a:gd name="connsiteY24" fmla="*/ 193714 h 608556"/>
              <a:gd name="connsiteX25" fmla="*/ 443184 w 609403"/>
              <a:gd name="connsiteY25" fmla="*/ 187195 h 608556"/>
              <a:gd name="connsiteX26" fmla="*/ 443164 w 609403"/>
              <a:gd name="connsiteY26" fmla="*/ 186716 h 608556"/>
              <a:gd name="connsiteX27" fmla="*/ 459258 w 609403"/>
              <a:gd name="connsiteY27" fmla="*/ 193314 h 608556"/>
              <a:gd name="connsiteX28" fmla="*/ 465944 w 609403"/>
              <a:gd name="connsiteY28" fmla="*/ 209382 h 608556"/>
              <a:gd name="connsiteX29" fmla="*/ 459258 w 609403"/>
              <a:gd name="connsiteY29" fmla="*/ 225373 h 608556"/>
              <a:gd name="connsiteX30" fmla="*/ 269162 w 609403"/>
              <a:gd name="connsiteY30" fmla="*/ 415242 h 608556"/>
              <a:gd name="connsiteX31" fmla="*/ 253068 w 609403"/>
              <a:gd name="connsiteY31" fmla="*/ 421840 h 608556"/>
              <a:gd name="connsiteX32" fmla="*/ 237052 w 609403"/>
              <a:gd name="connsiteY32" fmla="*/ 415242 h 608556"/>
              <a:gd name="connsiteX33" fmla="*/ 150206 w 609403"/>
              <a:gd name="connsiteY33" fmla="*/ 328536 h 608556"/>
              <a:gd name="connsiteX34" fmla="*/ 150206 w 609403"/>
              <a:gd name="connsiteY34" fmla="*/ 296477 h 608556"/>
              <a:gd name="connsiteX35" fmla="*/ 166223 w 609403"/>
              <a:gd name="connsiteY35" fmla="*/ 289801 h 608556"/>
              <a:gd name="connsiteX36" fmla="*/ 182317 w 609403"/>
              <a:gd name="connsiteY36" fmla="*/ 296477 h 608556"/>
              <a:gd name="connsiteX37" fmla="*/ 253068 w 609403"/>
              <a:gd name="connsiteY37" fmla="*/ 367115 h 608556"/>
              <a:gd name="connsiteX38" fmla="*/ 427147 w 609403"/>
              <a:gd name="connsiteY38" fmla="*/ 193314 h 608556"/>
              <a:gd name="connsiteX39" fmla="*/ 443164 w 609403"/>
              <a:gd name="connsiteY39" fmla="*/ 186716 h 608556"/>
              <a:gd name="connsiteX40" fmla="*/ 304663 w 609403"/>
              <a:gd name="connsiteY40" fmla="*/ 45415 h 608556"/>
              <a:gd name="connsiteX41" fmla="*/ 121352 w 609403"/>
              <a:gd name="connsiteY41" fmla="*/ 121183 h 608556"/>
              <a:gd name="connsiteX42" fmla="*/ 45478 w 609403"/>
              <a:gd name="connsiteY42" fmla="*/ 304239 h 608556"/>
              <a:gd name="connsiteX43" fmla="*/ 121352 w 609403"/>
              <a:gd name="connsiteY43" fmla="*/ 487295 h 608556"/>
              <a:gd name="connsiteX44" fmla="*/ 304663 w 609403"/>
              <a:gd name="connsiteY44" fmla="*/ 563141 h 608556"/>
              <a:gd name="connsiteX45" fmla="*/ 487973 w 609403"/>
              <a:gd name="connsiteY45" fmla="*/ 487295 h 608556"/>
              <a:gd name="connsiteX46" fmla="*/ 563925 w 609403"/>
              <a:gd name="connsiteY46" fmla="*/ 304239 h 608556"/>
              <a:gd name="connsiteX47" fmla="*/ 487973 w 609403"/>
              <a:gd name="connsiteY47" fmla="*/ 121183 h 608556"/>
              <a:gd name="connsiteX48" fmla="*/ 304663 w 609403"/>
              <a:gd name="connsiteY48" fmla="*/ 45415 h 608556"/>
              <a:gd name="connsiteX49" fmla="*/ 304699 w 609403"/>
              <a:gd name="connsiteY49" fmla="*/ 44890 h 608556"/>
              <a:gd name="connsiteX50" fmla="*/ 564518 w 609403"/>
              <a:gd name="connsiteY50" fmla="*/ 304240 h 608556"/>
              <a:gd name="connsiteX51" fmla="*/ 304699 w 609403"/>
              <a:gd name="connsiteY51" fmla="*/ 563667 h 608556"/>
              <a:gd name="connsiteX52" fmla="*/ 44957 w 609403"/>
              <a:gd name="connsiteY52" fmla="*/ 304240 h 608556"/>
              <a:gd name="connsiteX53" fmla="*/ 304699 w 609403"/>
              <a:gd name="connsiteY53" fmla="*/ 44890 h 608556"/>
              <a:gd name="connsiteX54" fmla="*/ 304663 w 609403"/>
              <a:gd name="connsiteY54" fmla="*/ 44328 h 608556"/>
              <a:gd name="connsiteX55" fmla="*/ 120652 w 609403"/>
              <a:gd name="connsiteY55" fmla="*/ 120485 h 608556"/>
              <a:gd name="connsiteX56" fmla="*/ 44389 w 609403"/>
              <a:gd name="connsiteY56" fmla="*/ 304239 h 608556"/>
              <a:gd name="connsiteX57" fmla="*/ 120652 w 609403"/>
              <a:gd name="connsiteY57" fmla="*/ 488071 h 608556"/>
              <a:gd name="connsiteX58" fmla="*/ 304663 w 609403"/>
              <a:gd name="connsiteY58" fmla="*/ 564228 h 608556"/>
              <a:gd name="connsiteX59" fmla="*/ 488751 w 609403"/>
              <a:gd name="connsiteY59" fmla="*/ 488071 h 608556"/>
              <a:gd name="connsiteX60" fmla="*/ 565014 w 609403"/>
              <a:gd name="connsiteY60" fmla="*/ 304239 h 608556"/>
              <a:gd name="connsiteX61" fmla="*/ 488751 w 609403"/>
              <a:gd name="connsiteY61" fmla="*/ 120485 h 608556"/>
              <a:gd name="connsiteX62" fmla="*/ 304663 w 609403"/>
              <a:gd name="connsiteY62" fmla="*/ 44328 h 608556"/>
              <a:gd name="connsiteX63" fmla="*/ 304663 w 609403"/>
              <a:gd name="connsiteY63" fmla="*/ 1009 h 608556"/>
              <a:gd name="connsiteX64" fmla="*/ 422905 w 609403"/>
              <a:gd name="connsiteY64" fmla="*/ 24920 h 608556"/>
              <a:gd name="connsiteX65" fmla="*/ 519380 w 609403"/>
              <a:gd name="connsiteY65" fmla="*/ 89820 h 608556"/>
              <a:gd name="connsiteX66" fmla="*/ 584449 w 609403"/>
              <a:gd name="connsiteY66" fmla="*/ 186239 h 608556"/>
              <a:gd name="connsiteX67" fmla="*/ 608315 w 609403"/>
              <a:gd name="connsiteY67" fmla="*/ 304239 h 608556"/>
              <a:gd name="connsiteX68" fmla="*/ 584449 w 609403"/>
              <a:gd name="connsiteY68" fmla="*/ 422317 h 608556"/>
              <a:gd name="connsiteX69" fmla="*/ 519380 w 609403"/>
              <a:gd name="connsiteY69" fmla="*/ 518658 h 608556"/>
              <a:gd name="connsiteX70" fmla="*/ 422905 w 609403"/>
              <a:gd name="connsiteY70" fmla="*/ 583636 h 608556"/>
              <a:gd name="connsiteX71" fmla="*/ 304663 w 609403"/>
              <a:gd name="connsiteY71" fmla="*/ 607469 h 608556"/>
              <a:gd name="connsiteX72" fmla="*/ 186498 w 609403"/>
              <a:gd name="connsiteY72" fmla="*/ 583636 h 608556"/>
              <a:gd name="connsiteX73" fmla="*/ 89945 w 609403"/>
              <a:gd name="connsiteY73" fmla="*/ 518658 h 608556"/>
              <a:gd name="connsiteX74" fmla="*/ 24954 w 609403"/>
              <a:gd name="connsiteY74" fmla="*/ 422317 h 608556"/>
              <a:gd name="connsiteX75" fmla="*/ 1011 w 609403"/>
              <a:gd name="connsiteY75" fmla="*/ 304239 h 608556"/>
              <a:gd name="connsiteX76" fmla="*/ 24954 w 609403"/>
              <a:gd name="connsiteY76" fmla="*/ 186239 h 608556"/>
              <a:gd name="connsiteX77" fmla="*/ 89945 w 609403"/>
              <a:gd name="connsiteY77" fmla="*/ 89820 h 608556"/>
              <a:gd name="connsiteX78" fmla="*/ 186498 w 609403"/>
              <a:gd name="connsiteY78" fmla="*/ 24920 h 608556"/>
              <a:gd name="connsiteX79" fmla="*/ 304663 w 609403"/>
              <a:gd name="connsiteY79" fmla="*/ 1009 h 608556"/>
              <a:gd name="connsiteX80" fmla="*/ 304699 w 609403"/>
              <a:gd name="connsiteY80" fmla="*/ 565 h 608556"/>
              <a:gd name="connsiteX81" fmla="*/ 186295 w 609403"/>
              <a:gd name="connsiteY81" fmla="*/ 24396 h 608556"/>
              <a:gd name="connsiteX82" fmla="*/ 89659 w 609403"/>
              <a:gd name="connsiteY82" fmla="*/ 89525 h 608556"/>
              <a:gd name="connsiteX83" fmla="*/ 24432 w 609403"/>
              <a:gd name="connsiteY83" fmla="*/ 186015 h 608556"/>
              <a:gd name="connsiteX84" fmla="*/ 565 w 609403"/>
              <a:gd name="connsiteY84" fmla="*/ 304240 h 608556"/>
              <a:gd name="connsiteX85" fmla="*/ 24432 w 609403"/>
              <a:gd name="connsiteY85" fmla="*/ 422542 h 608556"/>
              <a:gd name="connsiteX86" fmla="*/ 89659 w 609403"/>
              <a:gd name="connsiteY86" fmla="*/ 519032 h 608556"/>
              <a:gd name="connsiteX87" fmla="*/ 186295 w 609403"/>
              <a:gd name="connsiteY87" fmla="*/ 584083 h 608556"/>
              <a:gd name="connsiteX88" fmla="*/ 304699 w 609403"/>
              <a:gd name="connsiteY88" fmla="*/ 607992 h 608556"/>
              <a:gd name="connsiteX89" fmla="*/ 423180 w 609403"/>
              <a:gd name="connsiteY89" fmla="*/ 584083 h 608556"/>
              <a:gd name="connsiteX90" fmla="*/ 519816 w 609403"/>
              <a:gd name="connsiteY90" fmla="*/ 519032 h 608556"/>
              <a:gd name="connsiteX91" fmla="*/ 584965 w 609403"/>
              <a:gd name="connsiteY91" fmla="*/ 422542 h 608556"/>
              <a:gd name="connsiteX92" fmla="*/ 608910 w 609403"/>
              <a:gd name="connsiteY92" fmla="*/ 304240 h 608556"/>
              <a:gd name="connsiteX93" fmla="*/ 584965 w 609403"/>
              <a:gd name="connsiteY93" fmla="*/ 186015 h 608556"/>
              <a:gd name="connsiteX94" fmla="*/ 519816 w 609403"/>
              <a:gd name="connsiteY94" fmla="*/ 89525 h 608556"/>
              <a:gd name="connsiteX95" fmla="*/ 423180 w 609403"/>
              <a:gd name="connsiteY95" fmla="*/ 24396 h 608556"/>
              <a:gd name="connsiteX96" fmla="*/ 304699 w 609403"/>
              <a:gd name="connsiteY96" fmla="*/ 565 h 608556"/>
              <a:gd name="connsiteX97" fmla="*/ 304663 w 609403"/>
              <a:gd name="connsiteY97" fmla="*/ 0 h 608556"/>
              <a:gd name="connsiteX98" fmla="*/ 423294 w 609403"/>
              <a:gd name="connsiteY98" fmla="*/ 23911 h 608556"/>
              <a:gd name="connsiteX99" fmla="*/ 520158 w 609403"/>
              <a:gd name="connsiteY99" fmla="*/ 89121 h 608556"/>
              <a:gd name="connsiteX100" fmla="*/ 585459 w 609403"/>
              <a:gd name="connsiteY100" fmla="*/ 185851 h 608556"/>
              <a:gd name="connsiteX101" fmla="*/ 609403 w 609403"/>
              <a:gd name="connsiteY101" fmla="*/ 304239 h 608556"/>
              <a:gd name="connsiteX102" fmla="*/ 585459 w 609403"/>
              <a:gd name="connsiteY102" fmla="*/ 422705 h 608556"/>
              <a:gd name="connsiteX103" fmla="*/ 520158 w 609403"/>
              <a:gd name="connsiteY103" fmla="*/ 519435 h 608556"/>
              <a:gd name="connsiteX104" fmla="*/ 423294 w 609403"/>
              <a:gd name="connsiteY104" fmla="*/ 584645 h 608556"/>
              <a:gd name="connsiteX105" fmla="*/ 304663 w 609403"/>
              <a:gd name="connsiteY105" fmla="*/ 608556 h 608556"/>
              <a:gd name="connsiteX106" fmla="*/ 186109 w 609403"/>
              <a:gd name="connsiteY106" fmla="*/ 584645 h 608556"/>
              <a:gd name="connsiteX107" fmla="*/ 89245 w 609403"/>
              <a:gd name="connsiteY107" fmla="*/ 519435 h 608556"/>
              <a:gd name="connsiteX108" fmla="*/ 23944 w 609403"/>
              <a:gd name="connsiteY108" fmla="*/ 422705 h 608556"/>
              <a:gd name="connsiteX109" fmla="*/ 0 w 609403"/>
              <a:gd name="connsiteY109" fmla="*/ 304239 h 608556"/>
              <a:gd name="connsiteX110" fmla="*/ 23944 w 609403"/>
              <a:gd name="connsiteY110" fmla="*/ 185851 h 608556"/>
              <a:gd name="connsiteX111" fmla="*/ 89245 w 609403"/>
              <a:gd name="connsiteY111" fmla="*/ 89121 h 608556"/>
              <a:gd name="connsiteX112" fmla="*/ 186109 w 609403"/>
              <a:gd name="connsiteY112" fmla="*/ 23911 h 608556"/>
              <a:gd name="connsiteX113" fmla="*/ 304663 w 609403"/>
              <a:gd name="connsiteY113"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09403" h="608556">
                <a:moveTo>
                  <a:pt x="443164" y="187725"/>
                </a:moveTo>
                <a:cubicBezTo>
                  <a:pt x="448995" y="187725"/>
                  <a:pt x="454437" y="189976"/>
                  <a:pt x="458558" y="194090"/>
                </a:cubicBezTo>
                <a:cubicBezTo>
                  <a:pt x="462601" y="198127"/>
                  <a:pt x="464856" y="203560"/>
                  <a:pt x="464856" y="209382"/>
                </a:cubicBezTo>
                <a:cubicBezTo>
                  <a:pt x="464856" y="215126"/>
                  <a:pt x="462601" y="220560"/>
                  <a:pt x="458558" y="224674"/>
                </a:cubicBezTo>
                <a:lnTo>
                  <a:pt x="268385" y="414466"/>
                </a:lnTo>
                <a:cubicBezTo>
                  <a:pt x="264342" y="418580"/>
                  <a:pt x="258899" y="420831"/>
                  <a:pt x="253068" y="420831"/>
                </a:cubicBezTo>
                <a:cubicBezTo>
                  <a:pt x="247315" y="420831"/>
                  <a:pt x="241872" y="418580"/>
                  <a:pt x="237752" y="414466"/>
                </a:cubicBezTo>
                <a:lnTo>
                  <a:pt x="150906" y="327837"/>
                </a:lnTo>
                <a:cubicBezTo>
                  <a:pt x="142509" y="319376"/>
                  <a:pt x="142509" y="305636"/>
                  <a:pt x="150906" y="297175"/>
                </a:cubicBezTo>
                <a:cubicBezTo>
                  <a:pt x="155027" y="293061"/>
                  <a:pt x="160469" y="290810"/>
                  <a:pt x="166223" y="290810"/>
                </a:cubicBezTo>
                <a:cubicBezTo>
                  <a:pt x="172054" y="290810"/>
                  <a:pt x="177496" y="293061"/>
                  <a:pt x="181617" y="297175"/>
                </a:cubicBezTo>
                <a:lnTo>
                  <a:pt x="253068" y="368590"/>
                </a:lnTo>
                <a:lnTo>
                  <a:pt x="427847" y="194090"/>
                </a:lnTo>
                <a:cubicBezTo>
                  <a:pt x="431968" y="189976"/>
                  <a:pt x="437410" y="187725"/>
                  <a:pt x="443164" y="187725"/>
                </a:cubicBezTo>
                <a:close/>
                <a:moveTo>
                  <a:pt x="443184" y="187195"/>
                </a:moveTo>
                <a:cubicBezTo>
                  <a:pt x="437500" y="187195"/>
                  <a:pt x="431805" y="189368"/>
                  <a:pt x="427451" y="193714"/>
                </a:cubicBezTo>
                <a:lnTo>
                  <a:pt x="253077" y="367795"/>
                </a:lnTo>
                <a:lnTo>
                  <a:pt x="181944" y="296781"/>
                </a:lnTo>
                <a:cubicBezTo>
                  <a:pt x="173315" y="288166"/>
                  <a:pt x="159243" y="288166"/>
                  <a:pt x="150614" y="296781"/>
                </a:cubicBezTo>
                <a:cubicBezTo>
                  <a:pt x="141907" y="305474"/>
                  <a:pt x="141907" y="319521"/>
                  <a:pt x="150614" y="328136"/>
                </a:cubicBezTo>
                <a:lnTo>
                  <a:pt x="237374" y="414827"/>
                </a:lnTo>
                <a:cubicBezTo>
                  <a:pt x="241572" y="418940"/>
                  <a:pt x="247169" y="421346"/>
                  <a:pt x="253077" y="421346"/>
                </a:cubicBezTo>
                <a:cubicBezTo>
                  <a:pt x="258986" y="421346"/>
                  <a:pt x="264661" y="418940"/>
                  <a:pt x="268781" y="414827"/>
                </a:cubicBezTo>
                <a:lnTo>
                  <a:pt x="458859" y="225069"/>
                </a:lnTo>
                <a:cubicBezTo>
                  <a:pt x="467566" y="216377"/>
                  <a:pt x="467566" y="202329"/>
                  <a:pt x="458859" y="193714"/>
                </a:cubicBezTo>
                <a:cubicBezTo>
                  <a:pt x="454544" y="189368"/>
                  <a:pt x="448869" y="187195"/>
                  <a:pt x="443184" y="187195"/>
                </a:cubicBezTo>
                <a:close/>
                <a:moveTo>
                  <a:pt x="443164" y="186716"/>
                </a:moveTo>
                <a:cubicBezTo>
                  <a:pt x="449228" y="186716"/>
                  <a:pt x="454982" y="189045"/>
                  <a:pt x="459258" y="193314"/>
                </a:cubicBezTo>
                <a:cubicBezTo>
                  <a:pt x="463534" y="197583"/>
                  <a:pt x="465944" y="203328"/>
                  <a:pt x="465944" y="209382"/>
                </a:cubicBezTo>
                <a:cubicBezTo>
                  <a:pt x="465944" y="215437"/>
                  <a:pt x="463534" y="221104"/>
                  <a:pt x="459258" y="225373"/>
                </a:cubicBezTo>
                <a:lnTo>
                  <a:pt x="269162" y="415242"/>
                </a:lnTo>
                <a:cubicBezTo>
                  <a:pt x="264886" y="419511"/>
                  <a:pt x="259132" y="421840"/>
                  <a:pt x="253068" y="421840"/>
                </a:cubicBezTo>
                <a:cubicBezTo>
                  <a:pt x="247004" y="421840"/>
                  <a:pt x="241328" y="419511"/>
                  <a:pt x="237052" y="415242"/>
                </a:cubicBezTo>
                <a:lnTo>
                  <a:pt x="150206" y="328536"/>
                </a:lnTo>
                <a:cubicBezTo>
                  <a:pt x="141343" y="319686"/>
                  <a:pt x="141343" y="305326"/>
                  <a:pt x="150206" y="296477"/>
                </a:cubicBezTo>
                <a:cubicBezTo>
                  <a:pt x="154483" y="292130"/>
                  <a:pt x="160158" y="289801"/>
                  <a:pt x="166223" y="289801"/>
                </a:cubicBezTo>
                <a:cubicBezTo>
                  <a:pt x="172365" y="289801"/>
                  <a:pt x="178040" y="292130"/>
                  <a:pt x="182317" y="296477"/>
                </a:cubicBezTo>
                <a:lnTo>
                  <a:pt x="253068" y="367115"/>
                </a:lnTo>
                <a:lnTo>
                  <a:pt x="427147" y="193314"/>
                </a:lnTo>
                <a:cubicBezTo>
                  <a:pt x="431424" y="189045"/>
                  <a:pt x="437099" y="186716"/>
                  <a:pt x="443164" y="186716"/>
                </a:cubicBezTo>
                <a:close/>
                <a:moveTo>
                  <a:pt x="304663" y="45415"/>
                </a:moveTo>
                <a:cubicBezTo>
                  <a:pt x="235474" y="45415"/>
                  <a:pt x="170328" y="72275"/>
                  <a:pt x="121352" y="121183"/>
                </a:cubicBezTo>
                <a:cubicBezTo>
                  <a:pt x="72376" y="170091"/>
                  <a:pt x="45478" y="235147"/>
                  <a:pt x="45478" y="304239"/>
                </a:cubicBezTo>
                <a:cubicBezTo>
                  <a:pt x="45478" y="373409"/>
                  <a:pt x="72376" y="438465"/>
                  <a:pt x="121352" y="487295"/>
                </a:cubicBezTo>
                <a:cubicBezTo>
                  <a:pt x="170328" y="536203"/>
                  <a:pt x="235474" y="563141"/>
                  <a:pt x="304663" y="563141"/>
                </a:cubicBezTo>
                <a:cubicBezTo>
                  <a:pt x="373929" y="563141"/>
                  <a:pt x="439075" y="536203"/>
                  <a:pt x="487973" y="487295"/>
                </a:cubicBezTo>
                <a:cubicBezTo>
                  <a:pt x="536950" y="438465"/>
                  <a:pt x="563925" y="373409"/>
                  <a:pt x="563925" y="304239"/>
                </a:cubicBezTo>
                <a:cubicBezTo>
                  <a:pt x="563925" y="235147"/>
                  <a:pt x="536950" y="170091"/>
                  <a:pt x="487973" y="121183"/>
                </a:cubicBezTo>
                <a:cubicBezTo>
                  <a:pt x="439075" y="72275"/>
                  <a:pt x="373929" y="45415"/>
                  <a:pt x="304663" y="45415"/>
                </a:cubicBezTo>
                <a:close/>
                <a:moveTo>
                  <a:pt x="304699" y="44890"/>
                </a:moveTo>
                <a:cubicBezTo>
                  <a:pt x="448214" y="44890"/>
                  <a:pt x="564518" y="161019"/>
                  <a:pt x="564518" y="304240"/>
                </a:cubicBezTo>
                <a:cubicBezTo>
                  <a:pt x="564518" y="447538"/>
                  <a:pt x="448214" y="563667"/>
                  <a:pt x="304699" y="563667"/>
                </a:cubicBezTo>
                <a:cubicBezTo>
                  <a:pt x="161261" y="563667"/>
                  <a:pt x="44957" y="447538"/>
                  <a:pt x="44957" y="304240"/>
                </a:cubicBezTo>
                <a:cubicBezTo>
                  <a:pt x="44957" y="161019"/>
                  <a:pt x="161261" y="44890"/>
                  <a:pt x="304699" y="44890"/>
                </a:cubicBezTo>
                <a:close/>
                <a:moveTo>
                  <a:pt x="304663" y="44328"/>
                </a:moveTo>
                <a:cubicBezTo>
                  <a:pt x="235163" y="44328"/>
                  <a:pt x="169784" y="71344"/>
                  <a:pt x="120652" y="120485"/>
                </a:cubicBezTo>
                <a:cubicBezTo>
                  <a:pt x="71443" y="169548"/>
                  <a:pt x="44389" y="234836"/>
                  <a:pt x="44389" y="304239"/>
                </a:cubicBezTo>
                <a:cubicBezTo>
                  <a:pt x="44389" y="373720"/>
                  <a:pt x="71443" y="439008"/>
                  <a:pt x="120652" y="488071"/>
                </a:cubicBezTo>
                <a:cubicBezTo>
                  <a:pt x="169784" y="537135"/>
                  <a:pt x="235163" y="564228"/>
                  <a:pt x="304663" y="564228"/>
                </a:cubicBezTo>
                <a:cubicBezTo>
                  <a:pt x="374240" y="564228"/>
                  <a:pt x="439619" y="537135"/>
                  <a:pt x="488751" y="488071"/>
                </a:cubicBezTo>
                <a:cubicBezTo>
                  <a:pt x="537882" y="439008"/>
                  <a:pt x="565014" y="373720"/>
                  <a:pt x="565014" y="304239"/>
                </a:cubicBezTo>
                <a:cubicBezTo>
                  <a:pt x="565014" y="234836"/>
                  <a:pt x="537882" y="169548"/>
                  <a:pt x="488751" y="120485"/>
                </a:cubicBezTo>
                <a:cubicBezTo>
                  <a:pt x="439619" y="71344"/>
                  <a:pt x="374240" y="44328"/>
                  <a:pt x="304663" y="44328"/>
                </a:cubicBezTo>
                <a:close/>
                <a:moveTo>
                  <a:pt x="304663" y="1009"/>
                </a:moveTo>
                <a:cubicBezTo>
                  <a:pt x="345632" y="1009"/>
                  <a:pt x="385434" y="9083"/>
                  <a:pt x="422905" y="24920"/>
                </a:cubicBezTo>
                <a:cubicBezTo>
                  <a:pt x="459054" y="40136"/>
                  <a:pt x="491549" y="62028"/>
                  <a:pt x="519380" y="89820"/>
                </a:cubicBezTo>
                <a:cubicBezTo>
                  <a:pt x="547289" y="117690"/>
                  <a:pt x="569212" y="150140"/>
                  <a:pt x="584449" y="186239"/>
                </a:cubicBezTo>
                <a:cubicBezTo>
                  <a:pt x="600308" y="223657"/>
                  <a:pt x="608315" y="263327"/>
                  <a:pt x="608315" y="304239"/>
                </a:cubicBezTo>
                <a:cubicBezTo>
                  <a:pt x="608315" y="345151"/>
                  <a:pt x="600308" y="384899"/>
                  <a:pt x="584449" y="422317"/>
                </a:cubicBezTo>
                <a:cubicBezTo>
                  <a:pt x="569212" y="458416"/>
                  <a:pt x="547289" y="490866"/>
                  <a:pt x="519380" y="518658"/>
                </a:cubicBezTo>
                <a:cubicBezTo>
                  <a:pt x="491549" y="546528"/>
                  <a:pt x="459054" y="568343"/>
                  <a:pt x="422905" y="583636"/>
                </a:cubicBezTo>
                <a:cubicBezTo>
                  <a:pt x="385434" y="599473"/>
                  <a:pt x="345632" y="607469"/>
                  <a:pt x="304663" y="607469"/>
                </a:cubicBezTo>
                <a:cubicBezTo>
                  <a:pt x="263694" y="607469"/>
                  <a:pt x="223969" y="599473"/>
                  <a:pt x="186498" y="583636"/>
                </a:cubicBezTo>
                <a:cubicBezTo>
                  <a:pt x="150349" y="568343"/>
                  <a:pt x="117854" y="546528"/>
                  <a:pt x="89945" y="518658"/>
                </a:cubicBezTo>
                <a:cubicBezTo>
                  <a:pt x="62114" y="490866"/>
                  <a:pt x="40191" y="458416"/>
                  <a:pt x="24954" y="422317"/>
                </a:cubicBezTo>
                <a:cubicBezTo>
                  <a:pt x="9096" y="384899"/>
                  <a:pt x="1011" y="345151"/>
                  <a:pt x="1011" y="304239"/>
                </a:cubicBezTo>
                <a:cubicBezTo>
                  <a:pt x="1011" y="263327"/>
                  <a:pt x="9096" y="223657"/>
                  <a:pt x="24954" y="186239"/>
                </a:cubicBezTo>
                <a:cubicBezTo>
                  <a:pt x="40191" y="150140"/>
                  <a:pt x="62114" y="117690"/>
                  <a:pt x="89945" y="89820"/>
                </a:cubicBezTo>
                <a:cubicBezTo>
                  <a:pt x="117854" y="62028"/>
                  <a:pt x="150349" y="40136"/>
                  <a:pt x="186498" y="24920"/>
                </a:cubicBezTo>
                <a:cubicBezTo>
                  <a:pt x="223969" y="9083"/>
                  <a:pt x="263694" y="1009"/>
                  <a:pt x="304663" y="1009"/>
                </a:cubicBezTo>
                <a:close/>
                <a:moveTo>
                  <a:pt x="304699" y="565"/>
                </a:moveTo>
                <a:cubicBezTo>
                  <a:pt x="263650" y="565"/>
                  <a:pt x="223845" y="8561"/>
                  <a:pt x="186295" y="24396"/>
                </a:cubicBezTo>
                <a:cubicBezTo>
                  <a:pt x="150066" y="39689"/>
                  <a:pt x="117569" y="61657"/>
                  <a:pt x="89659" y="89525"/>
                </a:cubicBezTo>
                <a:cubicBezTo>
                  <a:pt x="61749" y="117393"/>
                  <a:pt x="39748" y="149841"/>
                  <a:pt x="24432" y="186015"/>
                </a:cubicBezTo>
                <a:cubicBezTo>
                  <a:pt x="8573" y="223508"/>
                  <a:pt x="565" y="263253"/>
                  <a:pt x="565" y="304240"/>
                </a:cubicBezTo>
                <a:cubicBezTo>
                  <a:pt x="565" y="345226"/>
                  <a:pt x="8573" y="385049"/>
                  <a:pt x="24432" y="422542"/>
                </a:cubicBezTo>
                <a:cubicBezTo>
                  <a:pt x="39748" y="458716"/>
                  <a:pt x="61749" y="491164"/>
                  <a:pt x="89659" y="519032"/>
                </a:cubicBezTo>
                <a:cubicBezTo>
                  <a:pt x="117569" y="546900"/>
                  <a:pt x="150066" y="568791"/>
                  <a:pt x="186295" y="584083"/>
                </a:cubicBezTo>
                <a:cubicBezTo>
                  <a:pt x="223845" y="599997"/>
                  <a:pt x="263650" y="607992"/>
                  <a:pt x="304699" y="607992"/>
                </a:cubicBezTo>
                <a:cubicBezTo>
                  <a:pt x="345747" y="607992"/>
                  <a:pt x="385630" y="599997"/>
                  <a:pt x="423180" y="584083"/>
                </a:cubicBezTo>
                <a:cubicBezTo>
                  <a:pt x="459409" y="568791"/>
                  <a:pt x="491906" y="546900"/>
                  <a:pt x="519816" y="519032"/>
                </a:cubicBezTo>
                <a:cubicBezTo>
                  <a:pt x="547726" y="491164"/>
                  <a:pt x="569649" y="458716"/>
                  <a:pt x="584965" y="422542"/>
                </a:cubicBezTo>
                <a:cubicBezTo>
                  <a:pt x="600902" y="385049"/>
                  <a:pt x="608910" y="345226"/>
                  <a:pt x="608910" y="304240"/>
                </a:cubicBezTo>
                <a:cubicBezTo>
                  <a:pt x="608910" y="263253"/>
                  <a:pt x="600902" y="223508"/>
                  <a:pt x="584965" y="186015"/>
                </a:cubicBezTo>
                <a:cubicBezTo>
                  <a:pt x="569649" y="149841"/>
                  <a:pt x="547726" y="117393"/>
                  <a:pt x="519816" y="89525"/>
                </a:cubicBezTo>
                <a:cubicBezTo>
                  <a:pt x="491906" y="61657"/>
                  <a:pt x="459409" y="39689"/>
                  <a:pt x="423180" y="24396"/>
                </a:cubicBezTo>
                <a:cubicBezTo>
                  <a:pt x="385630" y="8561"/>
                  <a:pt x="345747" y="565"/>
                  <a:pt x="304699" y="565"/>
                </a:cubicBezTo>
                <a:close/>
                <a:moveTo>
                  <a:pt x="304663" y="0"/>
                </a:moveTo>
                <a:cubicBezTo>
                  <a:pt x="345787" y="0"/>
                  <a:pt x="385745" y="8074"/>
                  <a:pt x="423294" y="23911"/>
                </a:cubicBezTo>
                <a:cubicBezTo>
                  <a:pt x="459598" y="39282"/>
                  <a:pt x="492171" y="61174"/>
                  <a:pt x="520158" y="89121"/>
                </a:cubicBezTo>
                <a:cubicBezTo>
                  <a:pt x="548144" y="117069"/>
                  <a:pt x="570067" y="149597"/>
                  <a:pt x="585459" y="185851"/>
                </a:cubicBezTo>
                <a:cubicBezTo>
                  <a:pt x="601318" y="223347"/>
                  <a:pt x="609403" y="263250"/>
                  <a:pt x="609403" y="304239"/>
                </a:cubicBezTo>
                <a:cubicBezTo>
                  <a:pt x="609403" y="345306"/>
                  <a:pt x="601318" y="385209"/>
                  <a:pt x="585459" y="422705"/>
                </a:cubicBezTo>
                <a:cubicBezTo>
                  <a:pt x="570067" y="458959"/>
                  <a:pt x="548144" y="491487"/>
                  <a:pt x="520158" y="519435"/>
                </a:cubicBezTo>
                <a:cubicBezTo>
                  <a:pt x="492171" y="547382"/>
                  <a:pt x="459598" y="569274"/>
                  <a:pt x="423294" y="584645"/>
                </a:cubicBezTo>
                <a:cubicBezTo>
                  <a:pt x="385745" y="600482"/>
                  <a:pt x="345787" y="608556"/>
                  <a:pt x="304663" y="608556"/>
                </a:cubicBezTo>
                <a:cubicBezTo>
                  <a:pt x="263616" y="608556"/>
                  <a:pt x="223658" y="600482"/>
                  <a:pt x="186109" y="584645"/>
                </a:cubicBezTo>
                <a:cubicBezTo>
                  <a:pt x="149805" y="569274"/>
                  <a:pt x="117232" y="547382"/>
                  <a:pt x="89245" y="519435"/>
                </a:cubicBezTo>
                <a:cubicBezTo>
                  <a:pt x="61259" y="491487"/>
                  <a:pt x="39336" y="458959"/>
                  <a:pt x="23944" y="422705"/>
                </a:cubicBezTo>
                <a:cubicBezTo>
                  <a:pt x="8085" y="385209"/>
                  <a:pt x="0" y="345306"/>
                  <a:pt x="0" y="304239"/>
                </a:cubicBezTo>
                <a:cubicBezTo>
                  <a:pt x="0" y="263250"/>
                  <a:pt x="8085" y="223347"/>
                  <a:pt x="23944" y="185851"/>
                </a:cubicBezTo>
                <a:cubicBezTo>
                  <a:pt x="39336" y="149597"/>
                  <a:pt x="61259" y="117069"/>
                  <a:pt x="89245" y="89121"/>
                </a:cubicBezTo>
                <a:cubicBezTo>
                  <a:pt x="117232" y="61174"/>
                  <a:pt x="149805" y="39282"/>
                  <a:pt x="186109" y="23911"/>
                </a:cubicBezTo>
                <a:cubicBezTo>
                  <a:pt x="223658" y="8074"/>
                  <a:pt x="263616" y="0"/>
                  <a:pt x="304663" y="0"/>
                </a:cubicBezTo>
                <a:close/>
              </a:path>
            </a:pathLst>
          </a:custGeom>
          <a:solidFill>
            <a:srgbClr val="00B0F0"/>
          </a:solidFill>
          <a:ln>
            <a:noFill/>
          </a:ln>
        </p:spPr>
        <p:txBody>
          <a:bodyPr/>
          <a:lstStyle/>
          <a:p>
            <a:endParaRPr lang="zh-CN" altLang="en-US">
              <a:cs typeface="+mn-ea"/>
              <a:sym typeface="Huawei Sans" panose="020C0503030203020204" pitchFamily="34" charset="0"/>
            </a:endParaRPr>
          </a:p>
        </p:txBody>
      </p:sp>
      <p:sp>
        <p:nvSpPr>
          <p:cNvPr id="33" name="settings-tool_1475">
            <a:extLst>
              <a:ext uri="{FF2B5EF4-FFF2-40B4-BE49-F238E27FC236}">
                <a16:creationId xmlns:a16="http://schemas.microsoft.com/office/drawing/2014/main" id="{14879274-CF6F-4045-AAF8-28F666998C99}"/>
              </a:ext>
            </a:extLst>
          </p:cNvPr>
          <p:cNvSpPr>
            <a:spLocks noChangeAspect="1"/>
          </p:cNvSpPr>
          <p:nvPr/>
        </p:nvSpPr>
        <p:spPr bwMode="gray">
          <a:xfrm>
            <a:off x="9818499" y="4186262"/>
            <a:ext cx="408003" cy="402316"/>
          </a:xfrm>
          <a:custGeom>
            <a:avLst/>
            <a:gdLst>
              <a:gd name="connsiteX0" fmla="*/ 84102 w 605058"/>
              <a:gd name="connsiteY0" fmla="*/ 462071 h 596625"/>
              <a:gd name="connsiteX1" fmla="*/ 136115 w 605058"/>
              <a:gd name="connsiteY1" fmla="*/ 462071 h 596625"/>
              <a:gd name="connsiteX2" fmla="*/ 155668 w 605058"/>
              <a:gd name="connsiteY2" fmla="*/ 481600 h 596625"/>
              <a:gd name="connsiteX3" fmla="*/ 136115 w 605058"/>
              <a:gd name="connsiteY3" fmla="*/ 501129 h 596625"/>
              <a:gd name="connsiteX4" fmla="*/ 129858 w 605058"/>
              <a:gd name="connsiteY4" fmla="*/ 501129 h 596625"/>
              <a:gd name="connsiteX5" fmla="*/ 244246 w 605058"/>
              <a:gd name="connsiteY5" fmla="*/ 553662 h 596625"/>
              <a:gd name="connsiteX6" fmla="*/ 477326 w 605058"/>
              <a:gd name="connsiteY6" fmla="*/ 469102 h 596625"/>
              <a:gd name="connsiteX7" fmla="*/ 504896 w 605058"/>
              <a:gd name="connsiteY7" fmla="*/ 466563 h 596625"/>
              <a:gd name="connsiteX8" fmla="*/ 507243 w 605058"/>
              <a:gd name="connsiteY8" fmla="*/ 494099 h 596625"/>
              <a:gd name="connsiteX9" fmla="*/ 286873 w 605058"/>
              <a:gd name="connsiteY9" fmla="*/ 596625 h 596625"/>
              <a:gd name="connsiteX10" fmla="*/ 237403 w 605058"/>
              <a:gd name="connsiteY10" fmla="*/ 592133 h 596625"/>
              <a:gd name="connsiteX11" fmla="*/ 101700 w 605058"/>
              <a:gd name="connsiteY11" fmla="*/ 528665 h 596625"/>
              <a:gd name="connsiteX12" fmla="*/ 101700 w 605058"/>
              <a:gd name="connsiteY12" fmla="*/ 535500 h 596625"/>
              <a:gd name="connsiteX13" fmla="*/ 82147 w 605058"/>
              <a:gd name="connsiteY13" fmla="*/ 555029 h 596625"/>
              <a:gd name="connsiteX14" fmla="*/ 62593 w 605058"/>
              <a:gd name="connsiteY14" fmla="*/ 535500 h 596625"/>
              <a:gd name="connsiteX15" fmla="*/ 62593 w 605058"/>
              <a:gd name="connsiteY15" fmla="*/ 481600 h 596625"/>
              <a:gd name="connsiteX16" fmla="*/ 62593 w 605058"/>
              <a:gd name="connsiteY16" fmla="*/ 481405 h 596625"/>
              <a:gd name="connsiteX17" fmla="*/ 62789 w 605058"/>
              <a:gd name="connsiteY17" fmla="*/ 479647 h 596625"/>
              <a:gd name="connsiteX18" fmla="*/ 69632 w 605058"/>
              <a:gd name="connsiteY18" fmla="*/ 466563 h 596625"/>
              <a:gd name="connsiteX19" fmla="*/ 84102 w 605058"/>
              <a:gd name="connsiteY19" fmla="*/ 462071 h 596625"/>
              <a:gd name="connsiteX20" fmla="*/ 337122 w 605058"/>
              <a:gd name="connsiteY20" fmla="*/ 27227 h 596625"/>
              <a:gd name="connsiteX21" fmla="*/ 522516 w 605058"/>
              <a:gd name="connsiteY21" fmla="*/ 145178 h 596625"/>
              <a:gd name="connsiteX22" fmla="*/ 570037 w 605058"/>
              <a:gd name="connsiteY22" fmla="*/ 359600 h 596625"/>
              <a:gd name="connsiteX23" fmla="*/ 569255 w 605058"/>
              <a:gd name="connsiteY23" fmla="*/ 363701 h 596625"/>
              <a:gd name="connsiteX24" fmla="*/ 575709 w 605058"/>
              <a:gd name="connsiteY24" fmla="*/ 359991 h 596625"/>
              <a:gd name="connsiteX25" fmla="*/ 602501 w 605058"/>
              <a:gd name="connsiteY25" fmla="*/ 367216 h 596625"/>
              <a:gd name="connsiteX26" fmla="*/ 595265 w 605058"/>
              <a:gd name="connsiteY26" fmla="*/ 393775 h 596625"/>
              <a:gd name="connsiteX27" fmla="*/ 548526 w 605058"/>
              <a:gd name="connsiteY27" fmla="*/ 420724 h 596625"/>
              <a:gd name="connsiteX28" fmla="*/ 538747 w 605058"/>
              <a:gd name="connsiteY28" fmla="*/ 423458 h 596625"/>
              <a:gd name="connsiteX29" fmla="*/ 533663 w 605058"/>
              <a:gd name="connsiteY29" fmla="*/ 422677 h 596625"/>
              <a:gd name="connsiteX30" fmla="*/ 521929 w 605058"/>
              <a:gd name="connsiteY30" fmla="*/ 413694 h 596625"/>
              <a:gd name="connsiteX31" fmla="*/ 494941 w 605058"/>
              <a:gd name="connsiteY31" fmla="*/ 367021 h 596625"/>
              <a:gd name="connsiteX32" fmla="*/ 502177 w 605058"/>
              <a:gd name="connsiteY32" fmla="*/ 340267 h 596625"/>
              <a:gd name="connsiteX33" fmla="*/ 528774 w 605058"/>
              <a:gd name="connsiteY33" fmla="*/ 347492 h 596625"/>
              <a:gd name="connsiteX34" fmla="*/ 531707 w 605058"/>
              <a:gd name="connsiteY34" fmla="*/ 352375 h 596625"/>
              <a:gd name="connsiteX35" fmla="*/ 490443 w 605058"/>
              <a:gd name="connsiteY35" fmla="*/ 167636 h 596625"/>
              <a:gd name="connsiteX36" fmla="*/ 330278 w 605058"/>
              <a:gd name="connsiteY36" fmla="*/ 65698 h 596625"/>
              <a:gd name="connsiteX37" fmla="*/ 314437 w 605058"/>
              <a:gd name="connsiteY37" fmla="*/ 43240 h 596625"/>
              <a:gd name="connsiteX38" fmla="*/ 337122 w 605058"/>
              <a:gd name="connsiteY38" fmla="*/ 27227 h 596625"/>
              <a:gd name="connsiteX39" fmla="*/ 191663 w 605058"/>
              <a:gd name="connsiteY39" fmla="*/ 687 h 596625"/>
              <a:gd name="connsiteX40" fmla="*/ 206526 w 605058"/>
              <a:gd name="connsiteY40" fmla="*/ 2639 h 596625"/>
              <a:gd name="connsiteX41" fmla="*/ 253073 w 605058"/>
              <a:gd name="connsiteY41" fmla="*/ 29586 h 596625"/>
              <a:gd name="connsiteX42" fmla="*/ 262265 w 605058"/>
              <a:gd name="connsiteY42" fmla="*/ 41498 h 596625"/>
              <a:gd name="connsiteX43" fmla="*/ 260309 w 605058"/>
              <a:gd name="connsiteY43" fmla="*/ 56338 h 596625"/>
              <a:gd name="connsiteX44" fmla="*/ 233320 w 605058"/>
              <a:gd name="connsiteY44" fmla="*/ 102811 h 596625"/>
              <a:gd name="connsiteX45" fmla="*/ 216305 w 605058"/>
              <a:gd name="connsiteY45" fmla="*/ 112575 h 596625"/>
              <a:gd name="connsiteX46" fmla="*/ 206722 w 605058"/>
              <a:gd name="connsiteY46" fmla="*/ 110036 h 596625"/>
              <a:gd name="connsiteX47" fmla="*/ 199486 w 605058"/>
              <a:gd name="connsiteY47" fmla="*/ 83285 h 596625"/>
              <a:gd name="connsiteX48" fmla="*/ 203397 w 605058"/>
              <a:gd name="connsiteY48" fmla="*/ 76645 h 596625"/>
              <a:gd name="connsiteX49" fmla="*/ 42830 w 605058"/>
              <a:gd name="connsiteY49" fmla="*/ 266835 h 596625"/>
              <a:gd name="connsiteX50" fmla="*/ 53978 w 605058"/>
              <a:gd name="connsiteY50" fmla="*/ 394539 h 596625"/>
              <a:gd name="connsiteX51" fmla="*/ 42439 w 605058"/>
              <a:gd name="connsiteY51" fmla="*/ 419533 h 596625"/>
              <a:gd name="connsiteX52" fmla="*/ 35594 w 605058"/>
              <a:gd name="connsiteY52" fmla="*/ 420705 h 596625"/>
              <a:gd name="connsiteX53" fmla="*/ 17210 w 605058"/>
              <a:gd name="connsiteY53" fmla="*/ 407817 h 596625"/>
              <a:gd name="connsiteX54" fmla="*/ 4302 w 605058"/>
              <a:gd name="connsiteY54" fmla="*/ 260001 h 596625"/>
              <a:gd name="connsiteX55" fmla="*/ 191858 w 605058"/>
              <a:gd name="connsiteY55" fmla="*/ 39350 h 596625"/>
              <a:gd name="connsiteX56" fmla="*/ 186969 w 605058"/>
              <a:gd name="connsiteY56" fmla="*/ 36421 h 596625"/>
              <a:gd name="connsiteX57" fmla="*/ 179733 w 605058"/>
              <a:gd name="connsiteY57" fmla="*/ 9864 h 596625"/>
              <a:gd name="connsiteX58" fmla="*/ 191663 w 605058"/>
              <a:gd name="connsiteY58" fmla="*/ 687 h 5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5058" h="596625">
                <a:moveTo>
                  <a:pt x="84102" y="462071"/>
                </a:moveTo>
                <a:lnTo>
                  <a:pt x="136115" y="462071"/>
                </a:lnTo>
                <a:cubicBezTo>
                  <a:pt x="146869" y="462071"/>
                  <a:pt x="155668" y="470859"/>
                  <a:pt x="155668" y="481600"/>
                </a:cubicBezTo>
                <a:cubicBezTo>
                  <a:pt x="155668" y="492341"/>
                  <a:pt x="146869" y="501129"/>
                  <a:pt x="136115" y="501129"/>
                </a:cubicBezTo>
                <a:lnTo>
                  <a:pt x="129858" y="501129"/>
                </a:lnTo>
                <a:cubicBezTo>
                  <a:pt x="162512" y="528079"/>
                  <a:pt x="202010" y="546241"/>
                  <a:pt x="244246" y="553662"/>
                </a:cubicBezTo>
                <a:cubicBezTo>
                  <a:pt x="331064" y="569089"/>
                  <a:pt x="420425" y="536672"/>
                  <a:pt x="477326" y="469102"/>
                </a:cubicBezTo>
                <a:cubicBezTo>
                  <a:pt x="484365" y="460704"/>
                  <a:pt x="496684" y="459728"/>
                  <a:pt x="504896" y="466563"/>
                </a:cubicBezTo>
                <a:cubicBezTo>
                  <a:pt x="513109" y="473593"/>
                  <a:pt x="514282" y="485897"/>
                  <a:pt x="507243" y="494099"/>
                </a:cubicBezTo>
                <a:cubicBezTo>
                  <a:pt x="452297" y="559520"/>
                  <a:pt x="370954" y="596625"/>
                  <a:pt x="286873" y="596625"/>
                </a:cubicBezTo>
                <a:cubicBezTo>
                  <a:pt x="270448" y="596625"/>
                  <a:pt x="253828" y="595063"/>
                  <a:pt x="237403" y="592133"/>
                </a:cubicBezTo>
                <a:cubicBezTo>
                  <a:pt x="187150" y="583345"/>
                  <a:pt x="140221" y="561278"/>
                  <a:pt x="101700" y="528665"/>
                </a:cubicBezTo>
                <a:lnTo>
                  <a:pt x="101700" y="535500"/>
                </a:lnTo>
                <a:cubicBezTo>
                  <a:pt x="101700" y="546241"/>
                  <a:pt x="92901" y="555029"/>
                  <a:pt x="82147" y="555029"/>
                </a:cubicBezTo>
                <a:cubicBezTo>
                  <a:pt x="71392" y="555029"/>
                  <a:pt x="62593" y="546241"/>
                  <a:pt x="62593" y="535500"/>
                </a:cubicBezTo>
                <a:lnTo>
                  <a:pt x="62593" y="481600"/>
                </a:lnTo>
                <a:cubicBezTo>
                  <a:pt x="62593" y="481600"/>
                  <a:pt x="62593" y="481405"/>
                  <a:pt x="62593" y="481405"/>
                </a:cubicBezTo>
                <a:cubicBezTo>
                  <a:pt x="62593" y="480819"/>
                  <a:pt x="62593" y="480233"/>
                  <a:pt x="62789" y="479647"/>
                </a:cubicBezTo>
                <a:cubicBezTo>
                  <a:pt x="63180" y="474765"/>
                  <a:pt x="65526" y="470078"/>
                  <a:pt x="69632" y="466563"/>
                </a:cubicBezTo>
                <a:cubicBezTo>
                  <a:pt x="73739" y="463048"/>
                  <a:pt x="79018" y="461681"/>
                  <a:pt x="84102" y="462071"/>
                </a:cubicBezTo>
                <a:close/>
                <a:moveTo>
                  <a:pt x="337122" y="27227"/>
                </a:moveTo>
                <a:cubicBezTo>
                  <a:pt x="412610" y="40506"/>
                  <a:pt x="478514" y="82492"/>
                  <a:pt x="522516" y="145178"/>
                </a:cubicBezTo>
                <a:cubicBezTo>
                  <a:pt x="566517" y="208060"/>
                  <a:pt x="583531" y="284220"/>
                  <a:pt x="570037" y="359600"/>
                </a:cubicBezTo>
                <a:cubicBezTo>
                  <a:pt x="569842" y="360967"/>
                  <a:pt x="569646" y="362334"/>
                  <a:pt x="569255" y="363701"/>
                </a:cubicBezTo>
                <a:lnTo>
                  <a:pt x="575709" y="359991"/>
                </a:lnTo>
                <a:cubicBezTo>
                  <a:pt x="585096" y="354718"/>
                  <a:pt x="597025" y="357843"/>
                  <a:pt x="602501" y="367216"/>
                </a:cubicBezTo>
                <a:cubicBezTo>
                  <a:pt x="607781" y="376590"/>
                  <a:pt x="604652" y="388502"/>
                  <a:pt x="595265" y="393775"/>
                </a:cubicBezTo>
                <a:lnTo>
                  <a:pt x="548526" y="420724"/>
                </a:lnTo>
                <a:cubicBezTo>
                  <a:pt x="545592" y="422482"/>
                  <a:pt x="542268" y="423458"/>
                  <a:pt x="538747" y="423458"/>
                </a:cubicBezTo>
                <a:cubicBezTo>
                  <a:pt x="537183" y="423458"/>
                  <a:pt x="535423" y="423067"/>
                  <a:pt x="533663" y="422677"/>
                </a:cubicBezTo>
                <a:cubicBezTo>
                  <a:pt x="528774" y="421310"/>
                  <a:pt x="524471" y="418185"/>
                  <a:pt x="521929" y="413694"/>
                </a:cubicBezTo>
                <a:lnTo>
                  <a:pt x="494941" y="367021"/>
                </a:lnTo>
                <a:cubicBezTo>
                  <a:pt x="489466" y="357647"/>
                  <a:pt x="492790" y="345735"/>
                  <a:pt x="502177" y="340267"/>
                </a:cubicBezTo>
                <a:cubicBezTo>
                  <a:pt x="511369" y="334994"/>
                  <a:pt x="523494" y="338119"/>
                  <a:pt x="528774" y="347492"/>
                </a:cubicBezTo>
                <a:lnTo>
                  <a:pt x="531707" y="352375"/>
                </a:lnTo>
                <a:cubicBezTo>
                  <a:pt x="543050" y="287345"/>
                  <a:pt x="528383" y="221730"/>
                  <a:pt x="490443" y="167636"/>
                </a:cubicBezTo>
                <a:cubicBezTo>
                  <a:pt x="452504" y="113347"/>
                  <a:pt x="395596" y="77219"/>
                  <a:pt x="330278" y="65698"/>
                </a:cubicBezTo>
                <a:cubicBezTo>
                  <a:pt x="319717" y="63940"/>
                  <a:pt x="312677" y="53785"/>
                  <a:pt x="314437" y="43240"/>
                </a:cubicBezTo>
                <a:cubicBezTo>
                  <a:pt x="316393" y="32499"/>
                  <a:pt x="326562" y="25469"/>
                  <a:pt x="337122" y="27227"/>
                </a:cubicBezTo>
                <a:close/>
                <a:moveTo>
                  <a:pt x="191663" y="687"/>
                </a:moveTo>
                <a:cubicBezTo>
                  <a:pt x="196503" y="-631"/>
                  <a:pt x="201833" y="-94"/>
                  <a:pt x="206526" y="2639"/>
                </a:cubicBezTo>
                <a:lnTo>
                  <a:pt x="253073" y="29586"/>
                </a:lnTo>
                <a:cubicBezTo>
                  <a:pt x="257571" y="32125"/>
                  <a:pt x="260896" y="36421"/>
                  <a:pt x="262265" y="41498"/>
                </a:cubicBezTo>
                <a:cubicBezTo>
                  <a:pt x="263634" y="46379"/>
                  <a:pt x="262852" y="51847"/>
                  <a:pt x="260309" y="56338"/>
                </a:cubicBezTo>
                <a:lnTo>
                  <a:pt x="233320" y="102811"/>
                </a:lnTo>
                <a:cubicBezTo>
                  <a:pt x="229800" y="109060"/>
                  <a:pt x="223150" y="112575"/>
                  <a:pt x="216305" y="112575"/>
                </a:cubicBezTo>
                <a:cubicBezTo>
                  <a:pt x="213176" y="112575"/>
                  <a:pt x="209655" y="111793"/>
                  <a:pt x="206722" y="110036"/>
                </a:cubicBezTo>
                <a:cubicBezTo>
                  <a:pt x="197334" y="104569"/>
                  <a:pt x="194010" y="92657"/>
                  <a:pt x="199486" y="83285"/>
                </a:cubicBezTo>
                <a:lnTo>
                  <a:pt x="203397" y="76645"/>
                </a:lnTo>
                <a:cubicBezTo>
                  <a:pt x="120865" y="106326"/>
                  <a:pt x="58476" y="178575"/>
                  <a:pt x="42830" y="266835"/>
                </a:cubicBezTo>
                <a:cubicBezTo>
                  <a:pt x="35399" y="309598"/>
                  <a:pt x="39115" y="353729"/>
                  <a:pt x="53978" y="394539"/>
                </a:cubicBezTo>
                <a:cubicBezTo>
                  <a:pt x="57694" y="404693"/>
                  <a:pt x="52609" y="415823"/>
                  <a:pt x="42439" y="419533"/>
                </a:cubicBezTo>
                <a:cubicBezTo>
                  <a:pt x="40092" y="420314"/>
                  <a:pt x="37941" y="420705"/>
                  <a:pt x="35594" y="420705"/>
                </a:cubicBezTo>
                <a:cubicBezTo>
                  <a:pt x="27771" y="420705"/>
                  <a:pt x="20144" y="415823"/>
                  <a:pt x="17210" y="407817"/>
                </a:cubicBezTo>
                <a:cubicBezTo>
                  <a:pt x="0" y="360758"/>
                  <a:pt x="-4303" y="309598"/>
                  <a:pt x="4302" y="260001"/>
                </a:cubicBezTo>
                <a:cubicBezTo>
                  <a:pt x="22491" y="157291"/>
                  <a:pt x="95440" y="73326"/>
                  <a:pt x="191858" y="39350"/>
                </a:cubicBezTo>
                <a:lnTo>
                  <a:pt x="186969" y="36421"/>
                </a:lnTo>
                <a:cubicBezTo>
                  <a:pt x="177581" y="31148"/>
                  <a:pt x="174256" y="19042"/>
                  <a:pt x="179733" y="9864"/>
                </a:cubicBezTo>
                <a:cubicBezTo>
                  <a:pt x="182471" y="5178"/>
                  <a:pt x="186823" y="2005"/>
                  <a:pt x="191663" y="687"/>
                </a:cubicBezTo>
                <a:close/>
              </a:path>
            </a:pathLst>
          </a:custGeom>
          <a:solidFill>
            <a:srgbClr val="00B0F0"/>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Huawei Sans" panose="020C0503030203020204" pitchFamily="34" charset="0"/>
            </a:endParaRPr>
          </a:p>
        </p:txBody>
      </p:sp>
      <p:sp>
        <p:nvSpPr>
          <p:cNvPr id="34" name="iŝḻïďê">
            <a:extLst>
              <a:ext uri="{FF2B5EF4-FFF2-40B4-BE49-F238E27FC236}">
                <a16:creationId xmlns:a16="http://schemas.microsoft.com/office/drawing/2014/main" id="{E1740DD6-0C6F-416C-8557-5FC605CFAC90}"/>
              </a:ext>
            </a:extLst>
          </p:cNvPr>
          <p:cNvSpPr txBox="1"/>
          <p:nvPr/>
        </p:nvSpPr>
        <p:spPr bwMode="gray">
          <a:xfrm flipH="1">
            <a:off x="1202006" y="2059732"/>
            <a:ext cx="2862782" cy="1119949"/>
          </a:xfrm>
          <a:prstGeom prst="rect">
            <a:avLst/>
          </a:prstGeom>
          <a:noFill/>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en-US" altLang="zh-CN" sz="1500" dirty="0">
                <a:cs typeface="+mn-ea"/>
                <a:sym typeface="Huawei Sans" panose="020C0503030203020204" pitchFamily="34" charset="0"/>
              </a:rPr>
              <a:t>SDN</a:t>
            </a:r>
            <a:r>
              <a:rPr lang="zh-CN" altLang="en-US" sz="1500" dirty="0">
                <a:cs typeface="+mn-ea"/>
                <a:sym typeface="Huawei Sans" panose="020C0503030203020204" pitchFamily="34" charset="0"/>
              </a:rPr>
              <a:t>自动化业务配置部署</a:t>
            </a:r>
            <a:endParaRPr lang="en-US" altLang="zh-CN" sz="1500" dirty="0">
              <a:cs typeface="+mn-ea"/>
              <a:sym typeface="Huawei Sans" panose="020C0503030203020204" pitchFamily="34" charset="0"/>
            </a:endParaRPr>
          </a:p>
          <a:p>
            <a:pPr algn="ctr">
              <a:lnSpc>
                <a:spcPct val="120000"/>
              </a:lnSpc>
            </a:pPr>
            <a:r>
              <a:rPr lang="en-US" altLang="zh-CN" sz="1500" dirty="0">
                <a:cs typeface="+mn-ea"/>
                <a:sym typeface="Huawei Sans" panose="020C0503030203020204" pitchFamily="34" charset="0"/>
              </a:rPr>
              <a:t>AI</a:t>
            </a:r>
            <a:r>
              <a:rPr lang="zh-CN" altLang="en-US" sz="1500" dirty="0">
                <a:cs typeface="+mn-ea"/>
                <a:sym typeface="Huawei Sans" panose="020C0503030203020204" pitchFamily="34" charset="0"/>
              </a:rPr>
              <a:t>智能分析预测排障 </a:t>
            </a:r>
          </a:p>
        </p:txBody>
      </p:sp>
      <p:sp>
        <p:nvSpPr>
          <p:cNvPr id="35" name="íŝḷíḓé">
            <a:extLst>
              <a:ext uri="{FF2B5EF4-FFF2-40B4-BE49-F238E27FC236}">
                <a16:creationId xmlns:a16="http://schemas.microsoft.com/office/drawing/2014/main" id="{D4B71105-4B35-43CE-A611-A0F05EE2FB98}"/>
              </a:ext>
            </a:extLst>
          </p:cNvPr>
          <p:cNvSpPr/>
          <p:nvPr/>
        </p:nvSpPr>
        <p:spPr bwMode="gray">
          <a:xfrm flipH="1">
            <a:off x="1472727" y="2764012"/>
            <a:ext cx="2289573" cy="46871"/>
          </a:xfrm>
          <a:prstGeom prst="rect">
            <a:avLst/>
          </a:prstGeom>
          <a:noFill/>
        </p:spPr>
        <p:txBody>
          <a:bodyPr wrap="square" lIns="91440" tIns="45720" rIns="91440" bIns="45720" anchor="ctr">
            <a:noAutofit/>
          </a:bodyPr>
          <a:lstStyle/>
          <a:p>
            <a:pPr algn="ctr" defTabSz="914400"/>
            <a:r>
              <a:rPr lang="zh-CN" altLang="en-US" sz="1500" b="1" dirty="0">
                <a:cs typeface="+mn-ea"/>
                <a:sym typeface="Huawei Sans" panose="020C0503030203020204" pitchFamily="34" charset="0"/>
              </a:rPr>
              <a:t>自动化</a:t>
            </a:r>
            <a:r>
              <a:rPr lang="en-US" altLang="zh-CN" sz="1500" b="1" dirty="0">
                <a:cs typeface="+mn-ea"/>
                <a:sym typeface="Huawei Sans" panose="020C0503030203020204" pitchFamily="34" charset="0"/>
              </a:rPr>
              <a:t>+</a:t>
            </a:r>
            <a:r>
              <a:rPr lang="zh-CN" altLang="en-US" sz="1500" b="1" dirty="0">
                <a:cs typeface="+mn-ea"/>
                <a:sym typeface="Huawei Sans" panose="020C0503030203020204" pitchFamily="34" charset="0"/>
              </a:rPr>
              <a:t>智能化</a:t>
            </a:r>
          </a:p>
        </p:txBody>
      </p:sp>
      <p:sp>
        <p:nvSpPr>
          <p:cNvPr id="36" name="íŝḷíḓé">
            <a:extLst>
              <a:ext uri="{FF2B5EF4-FFF2-40B4-BE49-F238E27FC236}">
                <a16:creationId xmlns:a16="http://schemas.microsoft.com/office/drawing/2014/main" id="{3FDA90D2-F1D5-4298-AD68-DD2215D7A7A6}"/>
              </a:ext>
            </a:extLst>
          </p:cNvPr>
          <p:cNvSpPr/>
          <p:nvPr/>
        </p:nvSpPr>
        <p:spPr bwMode="gray">
          <a:xfrm flipH="1">
            <a:off x="5050317" y="2752100"/>
            <a:ext cx="2289573" cy="75485"/>
          </a:xfrm>
          <a:prstGeom prst="rect">
            <a:avLst/>
          </a:prstGeom>
          <a:noFill/>
        </p:spPr>
        <p:txBody>
          <a:bodyPr wrap="square" lIns="91440" tIns="45720" rIns="91440" bIns="45720" anchor="ctr">
            <a:noAutofit/>
          </a:bodyPr>
          <a:lstStyle/>
          <a:p>
            <a:pPr algn="ctr" defTabSz="914400"/>
            <a:r>
              <a:rPr lang="zh-CN" altLang="en-US" sz="1500" b="1" dirty="0">
                <a:cs typeface="+mn-ea"/>
                <a:sym typeface="Huawei Sans" panose="020C0503030203020204" pitchFamily="34" charset="0"/>
              </a:rPr>
              <a:t>管理</a:t>
            </a:r>
            <a:r>
              <a:rPr lang="en-US" altLang="zh-CN" sz="1500" b="1" dirty="0">
                <a:cs typeface="+mn-ea"/>
                <a:sym typeface="Huawei Sans" panose="020C0503030203020204" pitchFamily="34" charset="0"/>
              </a:rPr>
              <a:t>+</a:t>
            </a:r>
            <a:r>
              <a:rPr lang="zh-CN" altLang="en-US" sz="1500" b="1" dirty="0">
                <a:cs typeface="+mn-ea"/>
                <a:sym typeface="Huawei Sans" panose="020C0503030203020204" pitchFamily="34" charset="0"/>
              </a:rPr>
              <a:t>控制</a:t>
            </a:r>
            <a:r>
              <a:rPr lang="en-US" altLang="zh-CN" sz="1500" b="1" dirty="0">
                <a:cs typeface="+mn-ea"/>
                <a:sym typeface="Huawei Sans" panose="020C0503030203020204" pitchFamily="34" charset="0"/>
              </a:rPr>
              <a:t>+</a:t>
            </a:r>
            <a:r>
              <a:rPr lang="zh-CN" altLang="en-US" sz="1500" b="1" dirty="0">
                <a:cs typeface="+mn-ea"/>
                <a:sym typeface="Huawei Sans" panose="020C0503030203020204" pitchFamily="34" charset="0"/>
              </a:rPr>
              <a:t>分析</a:t>
            </a:r>
          </a:p>
        </p:txBody>
      </p:sp>
      <p:sp>
        <p:nvSpPr>
          <p:cNvPr id="37" name="íŝḷíḓé">
            <a:extLst>
              <a:ext uri="{FF2B5EF4-FFF2-40B4-BE49-F238E27FC236}">
                <a16:creationId xmlns:a16="http://schemas.microsoft.com/office/drawing/2014/main" id="{D09D83AC-B235-4EFA-882D-E84DAF279C8E}"/>
              </a:ext>
            </a:extLst>
          </p:cNvPr>
          <p:cNvSpPr/>
          <p:nvPr/>
        </p:nvSpPr>
        <p:spPr bwMode="gray">
          <a:xfrm flipH="1">
            <a:off x="8458009" y="2737356"/>
            <a:ext cx="2289573" cy="68623"/>
          </a:xfrm>
          <a:prstGeom prst="rect">
            <a:avLst/>
          </a:prstGeom>
          <a:noFill/>
        </p:spPr>
        <p:txBody>
          <a:bodyPr wrap="square" lIns="91440" tIns="45720" rIns="91440" bIns="45720" anchor="ctr">
            <a:noAutofit/>
          </a:bodyPr>
          <a:lstStyle/>
          <a:p>
            <a:pPr algn="ctr" defTabSz="914400"/>
            <a:r>
              <a:rPr lang="zh-CN" altLang="en-US" sz="1500" b="1" dirty="0">
                <a:cs typeface="+mn-ea"/>
                <a:sym typeface="Huawei Sans" panose="020C0503030203020204" pitchFamily="34" charset="0"/>
              </a:rPr>
              <a:t>规</a:t>
            </a:r>
            <a:r>
              <a:rPr lang="en-US" altLang="zh-CN" sz="1500" b="1" dirty="0">
                <a:cs typeface="+mn-ea"/>
                <a:sym typeface="Huawei Sans" panose="020C0503030203020204" pitchFamily="34" charset="0"/>
              </a:rPr>
              <a:t>+</a:t>
            </a:r>
            <a:r>
              <a:rPr lang="zh-CN" altLang="en-US" sz="1500" b="1" dirty="0">
                <a:cs typeface="+mn-ea"/>
                <a:sym typeface="Huawei Sans" panose="020C0503030203020204" pitchFamily="34" charset="0"/>
              </a:rPr>
              <a:t>建</a:t>
            </a:r>
            <a:r>
              <a:rPr lang="en-US" altLang="zh-CN" sz="1500" b="1" dirty="0">
                <a:cs typeface="+mn-ea"/>
                <a:sym typeface="Huawei Sans" panose="020C0503030203020204" pitchFamily="34" charset="0"/>
              </a:rPr>
              <a:t>+</a:t>
            </a:r>
            <a:r>
              <a:rPr lang="zh-CN" altLang="en-US" sz="1500" b="1" dirty="0">
                <a:cs typeface="+mn-ea"/>
                <a:sym typeface="Huawei Sans" panose="020C0503030203020204" pitchFamily="34" charset="0"/>
              </a:rPr>
              <a:t>维</a:t>
            </a:r>
            <a:r>
              <a:rPr lang="en-US" altLang="zh-CN" sz="1500" b="1" dirty="0">
                <a:cs typeface="+mn-ea"/>
                <a:sym typeface="Huawei Sans" panose="020C0503030203020204" pitchFamily="34" charset="0"/>
              </a:rPr>
              <a:t>+</a:t>
            </a:r>
            <a:r>
              <a:rPr lang="zh-CN" altLang="en-US" sz="1500" b="1" dirty="0">
                <a:cs typeface="+mn-ea"/>
                <a:sym typeface="Huawei Sans" panose="020C0503030203020204" pitchFamily="34" charset="0"/>
              </a:rPr>
              <a:t>优</a:t>
            </a:r>
          </a:p>
        </p:txBody>
      </p:sp>
      <p:sp>
        <p:nvSpPr>
          <p:cNvPr id="38" name="iŝḻïďê">
            <a:extLst>
              <a:ext uri="{FF2B5EF4-FFF2-40B4-BE49-F238E27FC236}">
                <a16:creationId xmlns:a16="http://schemas.microsoft.com/office/drawing/2014/main" id="{F957D6F8-2C4E-40A9-AF1F-4E117BF79D18}"/>
              </a:ext>
            </a:extLst>
          </p:cNvPr>
          <p:cNvSpPr txBox="1"/>
          <p:nvPr/>
        </p:nvSpPr>
        <p:spPr bwMode="gray">
          <a:xfrm flipH="1">
            <a:off x="5003533" y="2040255"/>
            <a:ext cx="2289573" cy="580120"/>
          </a:xfrm>
          <a:prstGeom prst="rect">
            <a:avLst/>
          </a:prstGeom>
          <a:noFill/>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sz="1500" dirty="0">
                <a:cs typeface="+mn-ea"/>
                <a:sym typeface="Huawei Sans" panose="020C0503030203020204" pitchFamily="34" charset="0"/>
              </a:rPr>
              <a:t>统一数据底座</a:t>
            </a:r>
          </a:p>
          <a:p>
            <a:pPr algn="ctr">
              <a:lnSpc>
                <a:spcPct val="120000"/>
              </a:lnSpc>
            </a:pPr>
            <a:r>
              <a:rPr lang="zh-CN" altLang="en-US" sz="1500" dirty="0">
                <a:cs typeface="+mn-ea"/>
                <a:sym typeface="Huawei Sans" panose="020C0503030203020204" pitchFamily="34" charset="0"/>
              </a:rPr>
              <a:t>感知定位处理一气呵成</a:t>
            </a:r>
          </a:p>
        </p:txBody>
      </p:sp>
      <p:sp>
        <p:nvSpPr>
          <p:cNvPr id="39" name="iŝḻïďê">
            <a:extLst>
              <a:ext uri="{FF2B5EF4-FFF2-40B4-BE49-F238E27FC236}">
                <a16:creationId xmlns:a16="http://schemas.microsoft.com/office/drawing/2014/main" id="{451C33A5-182E-429C-BF5C-861051BC22DC}"/>
              </a:ext>
            </a:extLst>
          </p:cNvPr>
          <p:cNvSpPr txBox="1"/>
          <p:nvPr/>
        </p:nvSpPr>
        <p:spPr bwMode="gray">
          <a:xfrm flipH="1">
            <a:off x="8414432" y="2040256"/>
            <a:ext cx="2289573" cy="532556"/>
          </a:xfrm>
          <a:prstGeom prst="rect">
            <a:avLst/>
          </a:prstGeom>
          <a:noFill/>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sz="1500" dirty="0">
                <a:cs typeface="+mn-ea"/>
                <a:sym typeface="Huawei Sans" panose="020C0503030203020204" pitchFamily="34" charset="0"/>
              </a:rPr>
              <a:t>全生命周期管理</a:t>
            </a:r>
            <a:endParaRPr lang="en-US" altLang="zh-CN" sz="1500" dirty="0">
              <a:cs typeface="+mn-ea"/>
              <a:sym typeface="Huawei Sans" panose="020C0503030203020204" pitchFamily="34" charset="0"/>
            </a:endParaRPr>
          </a:p>
          <a:p>
            <a:pPr algn="ctr">
              <a:lnSpc>
                <a:spcPct val="120000"/>
              </a:lnSpc>
            </a:pPr>
            <a:r>
              <a:rPr lang="zh-CN" altLang="en-US" sz="1500" dirty="0">
                <a:cs typeface="+mn-ea"/>
                <a:sym typeface="Huawei Sans" panose="020C0503030203020204" pitchFamily="34" charset="0"/>
              </a:rPr>
              <a:t>仿真校验监控优化</a:t>
            </a:r>
          </a:p>
        </p:txBody>
      </p:sp>
      <p:sp>
        <p:nvSpPr>
          <p:cNvPr id="40" name="圆角矩形 41">
            <a:extLst>
              <a:ext uri="{FF2B5EF4-FFF2-40B4-BE49-F238E27FC236}">
                <a16:creationId xmlns:a16="http://schemas.microsoft.com/office/drawing/2014/main" id="{E237E473-E86F-4962-B7E6-D8DCC43826E3}"/>
              </a:ext>
            </a:extLst>
          </p:cNvPr>
          <p:cNvSpPr/>
          <p:nvPr/>
        </p:nvSpPr>
        <p:spPr bwMode="gray">
          <a:xfrm flipV="1">
            <a:off x="969819" y="4490609"/>
            <a:ext cx="10227570" cy="1616114"/>
          </a:xfrm>
          <a:prstGeom prst="roundRect">
            <a:avLst>
              <a:gd name="adj" fmla="val 3817"/>
            </a:avLst>
          </a:prstGeom>
          <a:noFill/>
          <a:ln w="25400">
            <a:gradFill flip="none" rotWithShape="1">
              <a:gsLst>
                <a:gs pos="0">
                  <a:srgbClr val="99DFF9"/>
                </a:gs>
                <a:gs pos="100000">
                  <a:srgbClr val="F3FBFE"/>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solidFill>
                <a:prstClr val="black"/>
              </a:solidFill>
              <a:cs typeface="+mn-ea"/>
              <a:sym typeface="Huawei Sans" panose="020C0503030203020204" pitchFamily="34" charset="0"/>
            </a:endParaRPr>
          </a:p>
        </p:txBody>
      </p:sp>
      <p:grpSp>
        <p:nvGrpSpPr>
          <p:cNvPr id="41" name="组合 40">
            <a:extLst>
              <a:ext uri="{FF2B5EF4-FFF2-40B4-BE49-F238E27FC236}">
                <a16:creationId xmlns:a16="http://schemas.microsoft.com/office/drawing/2014/main" id="{14F1F64F-804B-4511-A915-E112C45091D3}"/>
              </a:ext>
            </a:extLst>
          </p:cNvPr>
          <p:cNvGrpSpPr/>
          <p:nvPr/>
        </p:nvGrpSpPr>
        <p:grpSpPr bwMode="gray">
          <a:xfrm>
            <a:off x="1292318" y="5035337"/>
            <a:ext cx="9390672" cy="848228"/>
            <a:chOff x="1547301" y="5139147"/>
            <a:chExt cx="9654798" cy="872086"/>
          </a:xfrm>
        </p:grpSpPr>
        <p:sp>
          <p:nvSpPr>
            <p:cNvPr id="42" name="文本框 41">
              <a:extLst>
                <a:ext uri="{FF2B5EF4-FFF2-40B4-BE49-F238E27FC236}">
                  <a16:creationId xmlns:a16="http://schemas.microsoft.com/office/drawing/2014/main" id="{7DE18631-5BBD-4D8E-94CD-A44312C87B9B}"/>
                </a:ext>
              </a:extLst>
            </p:cNvPr>
            <p:cNvSpPr txBox="1"/>
            <p:nvPr/>
          </p:nvSpPr>
          <p:spPr bwMode="gray">
            <a:xfrm>
              <a:off x="1850923" y="5139147"/>
              <a:ext cx="615067" cy="348077"/>
            </a:xfrm>
            <a:prstGeom prst="rect">
              <a:avLst/>
            </a:prstGeom>
            <a:noFill/>
            <a:ln>
              <a:noFill/>
            </a:ln>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pPr algn="ctr" defTabSz="914377"/>
              <a:r>
                <a:rPr lang="zh-CN" altLang="en-US" sz="1600" b="1" dirty="0">
                  <a:solidFill>
                    <a:schemeClr val="tx1"/>
                  </a:solidFill>
                  <a:latin typeface="+mn-lt"/>
                  <a:cs typeface="+mn-ea"/>
                  <a:sym typeface="Huawei Sans" panose="020C0503030203020204" pitchFamily="34" charset="0"/>
                </a:rPr>
                <a:t>网管</a:t>
              </a:r>
              <a:endParaRPr lang="en-US" altLang="zh-CN" sz="1600" b="1" dirty="0">
                <a:solidFill>
                  <a:schemeClr val="tx1"/>
                </a:solidFill>
                <a:latin typeface="+mn-lt"/>
                <a:cs typeface="+mn-ea"/>
                <a:sym typeface="Huawei Sans" panose="020C0503030203020204" pitchFamily="34" charset="0"/>
              </a:endParaRPr>
            </a:p>
          </p:txBody>
        </p:sp>
        <p:sp>
          <p:nvSpPr>
            <p:cNvPr id="43" name="文本框 42">
              <a:extLst>
                <a:ext uri="{FF2B5EF4-FFF2-40B4-BE49-F238E27FC236}">
                  <a16:creationId xmlns:a16="http://schemas.microsoft.com/office/drawing/2014/main" id="{82A2D07E-EB4E-4CC0-95AB-2DC803F10F9B}"/>
                </a:ext>
              </a:extLst>
            </p:cNvPr>
            <p:cNvSpPr txBox="1"/>
            <p:nvPr/>
          </p:nvSpPr>
          <p:spPr bwMode="gray">
            <a:xfrm>
              <a:off x="4530389" y="5139147"/>
              <a:ext cx="827671" cy="601223"/>
            </a:xfrm>
            <a:prstGeom prst="rect">
              <a:avLst/>
            </a:prstGeom>
            <a:noFill/>
            <a:ln>
              <a:noFill/>
            </a:ln>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pPr algn="ctr" defTabSz="914377"/>
              <a:r>
                <a:rPr lang="zh-CN" altLang="en-US" sz="1600" b="1" dirty="0">
                  <a:solidFill>
                    <a:schemeClr val="tx1"/>
                  </a:solidFill>
                  <a:latin typeface="+mn-lt"/>
                  <a:cs typeface="+mn-ea"/>
                  <a:sym typeface="Huawei Sans" panose="020C0503030203020204" pitchFamily="34" charset="0"/>
                </a:rPr>
                <a:t>控制器</a:t>
              </a:r>
              <a:endParaRPr lang="en-US" altLang="zh-CN" sz="1600" b="1" dirty="0">
                <a:solidFill>
                  <a:schemeClr val="tx1"/>
                </a:solidFill>
                <a:latin typeface="+mn-lt"/>
                <a:cs typeface="+mn-ea"/>
                <a:sym typeface="Huawei Sans" panose="020C0503030203020204" pitchFamily="34" charset="0"/>
              </a:endParaRPr>
            </a:p>
            <a:p>
              <a:pPr algn="ctr" defTabSz="914377"/>
              <a:endParaRPr lang="en-US" altLang="zh-CN" sz="1600" b="1" dirty="0">
                <a:solidFill>
                  <a:schemeClr val="tx1"/>
                </a:solidFill>
                <a:latin typeface="+mn-lt"/>
                <a:cs typeface="+mn-ea"/>
                <a:sym typeface="Huawei Sans" panose="020C0503030203020204" pitchFamily="34" charset="0"/>
              </a:endParaRPr>
            </a:p>
          </p:txBody>
        </p:sp>
        <p:pic>
          <p:nvPicPr>
            <p:cNvPr id="44" name="图片 43">
              <a:extLst>
                <a:ext uri="{FF2B5EF4-FFF2-40B4-BE49-F238E27FC236}">
                  <a16:creationId xmlns:a16="http://schemas.microsoft.com/office/drawing/2014/main" id="{07426482-959E-4D4E-A9CD-3883823FD64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0584" r="24682"/>
            <a:stretch/>
          </p:blipFill>
          <p:spPr bwMode="gray">
            <a:xfrm>
              <a:off x="1547301" y="5608363"/>
              <a:ext cx="967874" cy="340175"/>
            </a:xfrm>
            <a:prstGeom prst="rect">
              <a:avLst/>
            </a:prstGeom>
          </p:spPr>
        </p:pic>
        <p:pic>
          <p:nvPicPr>
            <p:cNvPr id="45" name="图片 44">
              <a:extLst>
                <a:ext uri="{FF2B5EF4-FFF2-40B4-BE49-F238E27FC236}">
                  <a16:creationId xmlns:a16="http://schemas.microsoft.com/office/drawing/2014/main" id="{51E50299-0EFF-4E55-B47C-E7007DC68F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4097852" y="5593339"/>
              <a:ext cx="1511655" cy="352763"/>
            </a:xfrm>
            <a:prstGeom prst="rect">
              <a:avLst/>
            </a:prstGeom>
          </p:spPr>
        </p:pic>
        <p:sp>
          <p:nvSpPr>
            <p:cNvPr id="46" name="文本框 45">
              <a:extLst>
                <a:ext uri="{FF2B5EF4-FFF2-40B4-BE49-F238E27FC236}">
                  <a16:creationId xmlns:a16="http://schemas.microsoft.com/office/drawing/2014/main" id="{79F3405D-AC46-442D-8687-E17E1D34B6A8}"/>
                </a:ext>
              </a:extLst>
            </p:cNvPr>
            <p:cNvSpPr txBox="1"/>
            <p:nvPr/>
          </p:nvSpPr>
          <p:spPr bwMode="gray">
            <a:xfrm>
              <a:off x="7053545" y="5170800"/>
              <a:ext cx="827671" cy="348077"/>
            </a:xfrm>
            <a:prstGeom prst="rect">
              <a:avLst/>
            </a:prstGeom>
            <a:noFill/>
            <a:ln>
              <a:noFill/>
            </a:ln>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pPr algn="ctr" defTabSz="914377"/>
              <a:r>
                <a:rPr lang="zh-CN" altLang="en-US" sz="1600" b="1" dirty="0">
                  <a:solidFill>
                    <a:schemeClr val="tx1"/>
                  </a:solidFill>
                  <a:latin typeface="+mn-lt"/>
                  <a:cs typeface="+mn-ea"/>
                  <a:sym typeface="Huawei Sans" panose="020C0503030203020204" pitchFamily="34" charset="0"/>
                </a:rPr>
                <a:t>分析器</a:t>
              </a:r>
              <a:endParaRPr lang="en-US" altLang="zh-CN" sz="1600" b="1" dirty="0">
                <a:solidFill>
                  <a:schemeClr val="tx1"/>
                </a:solidFill>
                <a:latin typeface="+mn-lt"/>
                <a:cs typeface="+mn-ea"/>
                <a:sym typeface="Huawei Sans" panose="020C0503030203020204" pitchFamily="34" charset="0"/>
              </a:endParaRPr>
            </a:p>
          </p:txBody>
        </p:sp>
        <p:grpSp>
          <p:nvGrpSpPr>
            <p:cNvPr id="47" name="组合 46">
              <a:extLst>
                <a:ext uri="{FF2B5EF4-FFF2-40B4-BE49-F238E27FC236}">
                  <a16:creationId xmlns:a16="http://schemas.microsoft.com/office/drawing/2014/main" id="{EB91A23C-25C2-4172-8E4E-DD44B83B6231}"/>
                </a:ext>
              </a:extLst>
            </p:cNvPr>
            <p:cNvGrpSpPr/>
            <p:nvPr/>
          </p:nvGrpSpPr>
          <p:grpSpPr bwMode="gray">
            <a:xfrm>
              <a:off x="6877140" y="5598042"/>
              <a:ext cx="1266711" cy="412275"/>
              <a:chOff x="4054853" y="5596386"/>
              <a:chExt cx="3538130" cy="1151554"/>
            </a:xfrm>
          </p:grpSpPr>
          <p:pic>
            <p:nvPicPr>
              <p:cNvPr id="52" name="图片 51">
                <a:extLst>
                  <a:ext uri="{FF2B5EF4-FFF2-40B4-BE49-F238E27FC236}">
                    <a16:creationId xmlns:a16="http://schemas.microsoft.com/office/drawing/2014/main" id="{DA97F895-2A5A-4851-A9A5-9CA00A9C752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8902"/>
              <a:stretch/>
            </p:blipFill>
            <p:spPr bwMode="gray">
              <a:xfrm>
                <a:off x="4054853" y="5636787"/>
                <a:ext cx="1059697" cy="912036"/>
              </a:xfrm>
              <a:prstGeom prst="rect">
                <a:avLst/>
              </a:prstGeom>
            </p:spPr>
          </p:pic>
          <p:pic>
            <p:nvPicPr>
              <p:cNvPr id="53" name="图片 52">
                <a:extLst>
                  <a:ext uri="{FF2B5EF4-FFF2-40B4-BE49-F238E27FC236}">
                    <a16:creationId xmlns:a16="http://schemas.microsoft.com/office/drawing/2014/main" id="{73E928C8-8850-4DA7-B722-A68D9733D71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0897"/>
              <a:stretch/>
            </p:blipFill>
            <p:spPr bwMode="gray">
              <a:xfrm>
                <a:off x="5113136" y="5596386"/>
                <a:ext cx="2479847" cy="1151554"/>
              </a:xfrm>
              <a:prstGeom prst="rect">
                <a:avLst/>
              </a:prstGeom>
            </p:spPr>
          </p:pic>
        </p:grpSp>
        <p:sp>
          <p:nvSpPr>
            <p:cNvPr id="48" name="加号 47">
              <a:extLst>
                <a:ext uri="{FF2B5EF4-FFF2-40B4-BE49-F238E27FC236}">
                  <a16:creationId xmlns:a16="http://schemas.microsoft.com/office/drawing/2014/main" id="{9DE1734D-F659-4A22-83CA-A19623AFB1D7}"/>
                </a:ext>
              </a:extLst>
            </p:cNvPr>
            <p:cNvSpPr/>
            <p:nvPr/>
          </p:nvSpPr>
          <p:spPr bwMode="gray">
            <a:xfrm>
              <a:off x="3291230" y="5583850"/>
              <a:ext cx="427383" cy="427383"/>
            </a:xfrm>
            <a:prstGeom prst="mathPlus">
              <a:avLst>
                <a:gd name="adj1" fmla="val 8886"/>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Huawei Sans" panose="020C0503030203020204" pitchFamily="34" charset="0"/>
              </a:endParaRPr>
            </a:p>
          </p:txBody>
        </p:sp>
        <p:sp>
          <p:nvSpPr>
            <p:cNvPr id="49" name="加号 48">
              <a:extLst>
                <a:ext uri="{FF2B5EF4-FFF2-40B4-BE49-F238E27FC236}">
                  <a16:creationId xmlns:a16="http://schemas.microsoft.com/office/drawing/2014/main" id="{1E7B673F-7D0B-4B15-93AC-F7928BE6F75C}"/>
                </a:ext>
              </a:extLst>
            </p:cNvPr>
            <p:cNvSpPr/>
            <p:nvPr/>
          </p:nvSpPr>
          <p:spPr bwMode="gray">
            <a:xfrm>
              <a:off x="6165179" y="5583850"/>
              <a:ext cx="427383" cy="427383"/>
            </a:xfrm>
            <a:prstGeom prst="mathPlus">
              <a:avLst>
                <a:gd name="adj1" fmla="val 8886"/>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a:cs typeface="+mn-ea"/>
                <a:sym typeface="Huawei Sans" panose="020C0503030203020204" pitchFamily="34" charset="0"/>
              </a:endParaRPr>
            </a:p>
          </p:txBody>
        </p:sp>
        <p:sp>
          <p:nvSpPr>
            <p:cNvPr id="50" name="文本框 49">
              <a:extLst>
                <a:ext uri="{FF2B5EF4-FFF2-40B4-BE49-F238E27FC236}">
                  <a16:creationId xmlns:a16="http://schemas.microsoft.com/office/drawing/2014/main" id="{1E349529-66BC-4ED5-8390-0E6B836372FA}"/>
                </a:ext>
              </a:extLst>
            </p:cNvPr>
            <p:cNvSpPr txBox="1"/>
            <p:nvPr/>
          </p:nvSpPr>
          <p:spPr bwMode="gray">
            <a:xfrm>
              <a:off x="8549907" y="5538487"/>
              <a:ext cx="503909" cy="443007"/>
            </a:xfrm>
            <a:prstGeom prst="rect">
              <a:avLst/>
            </a:prstGeom>
            <a:noFill/>
          </p:spPr>
          <p:txBody>
            <a:bodyPr wrap="square" lIns="0" tIns="0" rIns="0" bIns="0" rtlCol="0">
              <a:spAutoFit/>
            </a:bodyPr>
            <a:lstStyle/>
            <a:p>
              <a:pPr algn="l"/>
              <a:r>
                <a:rPr kumimoji="1" lang="en-US" altLang="zh-CN" sz="2800" dirty="0">
                  <a:solidFill>
                    <a:schemeClr val="tx1">
                      <a:lumMod val="50000"/>
                      <a:lumOff val="50000"/>
                    </a:schemeClr>
                  </a:solidFill>
                  <a:cs typeface="+mn-ea"/>
                  <a:sym typeface="Huawei Sans" panose="020C0503030203020204" pitchFamily="34" charset="0"/>
                </a:rPr>
                <a:t>=</a:t>
              </a:r>
              <a:endParaRPr kumimoji="1" lang="zh-CN" altLang="en-US" sz="2800" dirty="0">
                <a:solidFill>
                  <a:schemeClr val="tx1">
                    <a:lumMod val="50000"/>
                    <a:lumOff val="50000"/>
                  </a:schemeClr>
                </a:solidFill>
                <a:cs typeface="+mn-ea"/>
                <a:sym typeface="Huawei Sans" panose="020C0503030203020204" pitchFamily="34" charset="0"/>
              </a:endParaRPr>
            </a:p>
          </p:txBody>
        </p:sp>
        <p:sp>
          <p:nvSpPr>
            <p:cNvPr id="51" name="文本框 50">
              <a:extLst>
                <a:ext uri="{FF2B5EF4-FFF2-40B4-BE49-F238E27FC236}">
                  <a16:creationId xmlns:a16="http://schemas.microsoft.com/office/drawing/2014/main" id="{F30FCE5F-7A22-4C9B-AC34-C2936426E2FB}"/>
                </a:ext>
              </a:extLst>
            </p:cNvPr>
            <p:cNvSpPr txBox="1"/>
            <p:nvPr/>
          </p:nvSpPr>
          <p:spPr bwMode="gray">
            <a:xfrm>
              <a:off x="9311410" y="5139147"/>
              <a:ext cx="1890689" cy="348076"/>
            </a:xfrm>
            <a:prstGeom prst="rect">
              <a:avLst/>
            </a:prstGeom>
            <a:noFill/>
            <a:ln>
              <a:noFill/>
            </a:ln>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pPr algn="ctr" defTabSz="914377"/>
              <a:r>
                <a:rPr lang="zh-CN" altLang="en-US" sz="1600" b="1" dirty="0">
                  <a:solidFill>
                    <a:schemeClr val="tx1"/>
                  </a:solidFill>
                  <a:latin typeface="+mn-lt"/>
                  <a:cs typeface="+mn-ea"/>
                  <a:sym typeface="Huawei Sans" panose="020C0503030203020204" pitchFamily="34" charset="0"/>
                </a:rPr>
                <a:t>自动驾驶网络系统</a:t>
              </a:r>
              <a:endParaRPr lang="en-US" altLang="zh-CN" sz="1600" b="1" dirty="0">
                <a:solidFill>
                  <a:schemeClr val="tx1"/>
                </a:solidFill>
                <a:latin typeface="+mn-lt"/>
                <a:cs typeface="+mn-ea"/>
                <a:sym typeface="Huawei Sans" panose="020C0503030203020204" pitchFamily="34" charset="0"/>
              </a:endParaRPr>
            </a:p>
          </p:txBody>
        </p:sp>
      </p:grpSp>
      <p:pic>
        <p:nvPicPr>
          <p:cNvPr id="54" name="图片 53">
            <a:extLst>
              <a:ext uri="{FF2B5EF4-FFF2-40B4-BE49-F238E27FC236}">
                <a16:creationId xmlns:a16="http://schemas.microsoft.com/office/drawing/2014/main" id="{83A75661-A89E-42B0-8AFB-50282CF8AF66}"/>
              </a:ext>
            </a:extLst>
          </p:cNvPr>
          <p:cNvPicPr>
            <a:picLocks noChangeAspect="1"/>
          </p:cNvPicPr>
          <p:nvPr/>
        </p:nvPicPr>
        <p:blipFill>
          <a:blip r:embed="rId7"/>
          <a:stretch>
            <a:fillRect/>
          </a:stretch>
        </p:blipFill>
        <p:spPr bwMode="gray">
          <a:xfrm>
            <a:off x="8739209" y="5376593"/>
            <a:ext cx="2029193" cy="525203"/>
          </a:xfrm>
          <a:prstGeom prst="rect">
            <a:avLst/>
          </a:prstGeom>
        </p:spPr>
      </p:pic>
      <p:sp>
        <p:nvSpPr>
          <p:cNvPr id="55" name="文本框 54">
            <a:extLst>
              <a:ext uri="{FF2B5EF4-FFF2-40B4-BE49-F238E27FC236}">
                <a16:creationId xmlns:a16="http://schemas.microsoft.com/office/drawing/2014/main" id="{0526CFBF-479C-4BCC-9A5A-B704FE41A784}"/>
              </a:ext>
            </a:extLst>
          </p:cNvPr>
          <p:cNvSpPr txBox="1"/>
          <p:nvPr/>
        </p:nvSpPr>
        <p:spPr bwMode="gray">
          <a:xfrm>
            <a:off x="2204336" y="5360949"/>
            <a:ext cx="849913" cy="461152"/>
          </a:xfrm>
          <a:prstGeom prst="rect">
            <a:avLst/>
          </a:prstGeom>
          <a:noFill/>
        </p:spPr>
        <p:txBody>
          <a:bodyPr wrap="none" rtlCol="0">
            <a:spAutoFit/>
          </a:bodyPr>
          <a:lstStyle/>
          <a:p>
            <a:pPr algn="l">
              <a:lnSpc>
                <a:spcPts val="3440"/>
              </a:lnSpc>
            </a:pPr>
            <a:r>
              <a:rPr lang="en-US" altLang="zh-CN" sz="1200" b="1" dirty="0"/>
              <a:t>Network</a:t>
            </a:r>
            <a:endParaRPr lang="zh-CN" altLang="en-US" sz="1200" b="1" dirty="0"/>
          </a:p>
        </p:txBody>
      </p:sp>
      <p:sp>
        <p:nvSpPr>
          <p:cNvPr id="57" name="文本框 56">
            <a:extLst>
              <a:ext uri="{FF2B5EF4-FFF2-40B4-BE49-F238E27FC236}">
                <a16:creationId xmlns:a16="http://schemas.microsoft.com/office/drawing/2014/main" id="{0F782F59-1326-4219-994A-1CB6CF1CF16A}"/>
              </a:ext>
            </a:extLst>
          </p:cNvPr>
          <p:cNvSpPr txBox="1"/>
          <p:nvPr/>
        </p:nvSpPr>
        <p:spPr bwMode="gray">
          <a:xfrm>
            <a:off x="462921" y="1229022"/>
            <a:ext cx="11282992" cy="832407"/>
          </a:xfrm>
          <a:prstGeom prst="rect">
            <a:avLst/>
          </a:prstGeom>
        </p:spPr>
        <p:txBody>
          <a:bodyPr/>
          <a:lstStyle>
            <a:defPPr>
              <a:defRPr lang="en-US"/>
            </a:defPPr>
            <a:lvl1pPr marL="302279" indent="-302279" defTabSz="914034">
              <a:lnSpc>
                <a:spcPct val="140000"/>
              </a:lnSpc>
              <a:spcBef>
                <a:spcPts val="792"/>
              </a:spcBef>
              <a:buFont typeface="Arial" panose="020B0604020202020204" pitchFamily="34" charset="0"/>
              <a:buChar cha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endParaRPr lang="zh-CN" altLang="en-US" dirty="0"/>
          </a:p>
        </p:txBody>
      </p:sp>
    </p:spTree>
    <p:extLst>
      <p:ext uri="{BB962C8B-B14F-4D97-AF65-F5344CB8AC3E}">
        <p14:creationId xmlns:p14="http://schemas.microsoft.com/office/powerpoint/2010/main" val="2558315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圆角矩形 414">
            <a:extLst>
              <a:ext uri="{FF2B5EF4-FFF2-40B4-BE49-F238E27FC236}">
                <a16:creationId xmlns:a16="http://schemas.microsoft.com/office/drawing/2014/main" id="{1BA0098F-81DC-43DD-AEF7-5364ADBEAA7B}"/>
              </a:ext>
            </a:extLst>
          </p:cNvPr>
          <p:cNvSpPr/>
          <p:nvPr/>
        </p:nvSpPr>
        <p:spPr bwMode="gray">
          <a:xfrm>
            <a:off x="6154204" y="3309902"/>
            <a:ext cx="4697515" cy="596204"/>
          </a:xfrm>
          <a:prstGeom prst="roundRect">
            <a:avLst>
              <a:gd name="adj" fmla="val 50000"/>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圆角矩形 417">
            <a:extLst>
              <a:ext uri="{FF2B5EF4-FFF2-40B4-BE49-F238E27FC236}">
                <a16:creationId xmlns:a16="http://schemas.microsoft.com/office/drawing/2014/main" id="{1CCABBAF-67C8-422F-B46E-713842BCFD21}"/>
              </a:ext>
            </a:extLst>
          </p:cNvPr>
          <p:cNvSpPr/>
          <p:nvPr/>
        </p:nvSpPr>
        <p:spPr bwMode="gray">
          <a:xfrm>
            <a:off x="5775391" y="4782956"/>
            <a:ext cx="4705046" cy="596204"/>
          </a:xfrm>
          <a:prstGeom prst="roundRect">
            <a:avLst>
              <a:gd name="adj" fmla="val 50000"/>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420">
            <a:extLst>
              <a:ext uri="{FF2B5EF4-FFF2-40B4-BE49-F238E27FC236}">
                <a16:creationId xmlns:a16="http://schemas.microsoft.com/office/drawing/2014/main" id="{60C3A96D-2F1B-4CF3-8F9F-212E1D620B23}"/>
              </a:ext>
            </a:extLst>
          </p:cNvPr>
          <p:cNvSpPr/>
          <p:nvPr/>
        </p:nvSpPr>
        <p:spPr bwMode="gray">
          <a:xfrm>
            <a:off x="5978962" y="4046429"/>
            <a:ext cx="4676717" cy="596204"/>
          </a:xfrm>
          <a:prstGeom prst="roundRect">
            <a:avLst>
              <a:gd name="adj" fmla="val 50000"/>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圆角矩形 411">
            <a:extLst>
              <a:ext uri="{FF2B5EF4-FFF2-40B4-BE49-F238E27FC236}">
                <a16:creationId xmlns:a16="http://schemas.microsoft.com/office/drawing/2014/main" id="{FD1E11F4-FB28-4BF6-A361-54BA6226FB3F}"/>
              </a:ext>
            </a:extLst>
          </p:cNvPr>
          <p:cNvSpPr/>
          <p:nvPr/>
        </p:nvSpPr>
        <p:spPr bwMode="gray">
          <a:xfrm>
            <a:off x="6350244" y="2573375"/>
            <a:ext cx="4697515" cy="596204"/>
          </a:xfrm>
          <a:prstGeom prst="roundRect">
            <a:avLst>
              <a:gd name="adj" fmla="val 50000"/>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408">
            <a:extLst>
              <a:ext uri="{FF2B5EF4-FFF2-40B4-BE49-F238E27FC236}">
                <a16:creationId xmlns:a16="http://schemas.microsoft.com/office/drawing/2014/main" id="{E08FF664-5F7A-4135-8E84-8ECCCF963EAF}"/>
              </a:ext>
            </a:extLst>
          </p:cNvPr>
          <p:cNvSpPr/>
          <p:nvPr/>
        </p:nvSpPr>
        <p:spPr bwMode="gray">
          <a:xfrm>
            <a:off x="6605907" y="1836848"/>
            <a:ext cx="4589274" cy="596204"/>
          </a:xfrm>
          <a:prstGeom prst="roundRect">
            <a:avLst>
              <a:gd name="adj" fmla="val 50000"/>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a:extLst>
              <a:ext uri="{FF2B5EF4-FFF2-40B4-BE49-F238E27FC236}">
                <a16:creationId xmlns:a16="http://schemas.microsoft.com/office/drawing/2014/main" id="{BF49DB72-126A-4E2A-8BFA-B6DCBD68F728}"/>
              </a:ext>
            </a:extLst>
          </p:cNvPr>
          <p:cNvSpPr>
            <a:spLocks noGrp="1"/>
          </p:cNvSpPr>
          <p:nvPr>
            <p:ph type="title"/>
          </p:nvPr>
        </p:nvSpPr>
        <p:spPr bwMode="gray"/>
        <p:txBody>
          <a:bodyPr/>
          <a:lstStyle/>
          <a:p>
            <a:r>
              <a:rPr lang="en-US" altLang="zh-CN"/>
              <a:t>iMaster NCE</a:t>
            </a:r>
            <a:r>
              <a:rPr lang="zh-CN" altLang="en-US"/>
              <a:t>全新启航</a:t>
            </a:r>
          </a:p>
        </p:txBody>
      </p:sp>
      <p:pic>
        <p:nvPicPr>
          <p:cNvPr id="3" name="图片 2">
            <a:extLst>
              <a:ext uri="{FF2B5EF4-FFF2-40B4-BE49-F238E27FC236}">
                <a16:creationId xmlns:a16="http://schemas.microsoft.com/office/drawing/2014/main" id="{A31FC690-AE49-46D3-8283-471A92DA1D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64666" y="1974610"/>
            <a:ext cx="5411024" cy="2823878"/>
          </a:xfrm>
          <a:prstGeom prst="rect">
            <a:avLst/>
          </a:prstGeom>
        </p:spPr>
      </p:pic>
      <p:pic>
        <p:nvPicPr>
          <p:cNvPr id="4" name="图片 3">
            <a:extLst>
              <a:ext uri="{FF2B5EF4-FFF2-40B4-BE49-F238E27FC236}">
                <a16:creationId xmlns:a16="http://schemas.microsoft.com/office/drawing/2014/main" id="{465B2B41-39F5-4072-8DF0-EE0D2D71022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82342"/>
          <a:stretch/>
        </p:blipFill>
        <p:spPr bwMode="gray">
          <a:xfrm>
            <a:off x="1902235" y="4856062"/>
            <a:ext cx="2758562" cy="556097"/>
          </a:xfrm>
          <a:prstGeom prst="rect">
            <a:avLst/>
          </a:prstGeom>
        </p:spPr>
      </p:pic>
      <p:grpSp>
        <p:nvGrpSpPr>
          <p:cNvPr id="5" name="组合 7191">
            <a:extLst>
              <a:ext uri="{FF2B5EF4-FFF2-40B4-BE49-F238E27FC236}">
                <a16:creationId xmlns:a16="http://schemas.microsoft.com/office/drawing/2014/main" id="{F88E9119-14BC-4B51-B4CC-C42110C85A4A}"/>
              </a:ext>
            </a:extLst>
          </p:cNvPr>
          <p:cNvGrpSpPr/>
          <p:nvPr/>
        </p:nvGrpSpPr>
        <p:grpSpPr bwMode="gray">
          <a:xfrm>
            <a:off x="6917548" y="1977779"/>
            <a:ext cx="344889" cy="355680"/>
            <a:chOff x="2270125" y="2087563"/>
            <a:chExt cx="517525" cy="576263"/>
          </a:xfrm>
          <a:solidFill>
            <a:srgbClr val="00B0F0"/>
          </a:solidFill>
        </p:grpSpPr>
        <p:sp>
          <p:nvSpPr>
            <p:cNvPr id="6" name="Freeform 16">
              <a:extLst>
                <a:ext uri="{FF2B5EF4-FFF2-40B4-BE49-F238E27FC236}">
                  <a16:creationId xmlns:a16="http://schemas.microsoft.com/office/drawing/2014/main" id="{9CACDB66-07EC-4C39-BBF7-AE9EB6BD23C3}"/>
                </a:ext>
              </a:extLst>
            </p:cNvPr>
            <p:cNvSpPr>
              <a:spLocks noEditPoints="1"/>
            </p:cNvSpPr>
            <p:nvPr/>
          </p:nvSpPr>
          <p:spPr bwMode="gray">
            <a:xfrm>
              <a:off x="2270125" y="2087563"/>
              <a:ext cx="517525" cy="576263"/>
            </a:xfrm>
            <a:custGeom>
              <a:avLst/>
              <a:gdLst>
                <a:gd name="T0" fmla="*/ 841 w 1191"/>
                <a:gd name="T1" fmla="*/ 440 h 1321"/>
                <a:gd name="T2" fmla="*/ 841 w 1191"/>
                <a:gd name="T3" fmla="*/ 186 h 1321"/>
                <a:gd name="T4" fmla="*/ 371 w 1191"/>
                <a:gd name="T5" fmla="*/ 974 h 1321"/>
                <a:gd name="T6" fmla="*/ 371 w 1191"/>
                <a:gd name="T7" fmla="*/ 1252 h 1321"/>
                <a:gd name="T8" fmla="*/ 371 w 1191"/>
                <a:gd name="T9" fmla="*/ 368 h 1321"/>
                <a:gd name="T10" fmla="*/ 625 w 1191"/>
                <a:gd name="T11" fmla="*/ 407 h 1321"/>
                <a:gd name="T12" fmla="*/ 625 w 1191"/>
                <a:gd name="T13" fmla="*/ 677 h 1321"/>
                <a:gd name="T14" fmla="*/ 625 w 1191"/>
                <a:gd name="T15" fmla="*/ 420 h 1321"/>
                <a:gd name="T16" fmla="*/ 841 w 1191"/>
                <a:gd name="T17" fmla="*/ 678 h 1321"/>
                <a:gd name="T18" fmla="*/ 841 w 1191"/>
                <a:gd name="T19" fmla="*/ 453 h 1321"/>
                <a:gd name="T20" fmla="*/ 1005 w 1191"/>
                <a:gd name="T21" fmla="*/ 478 h 1321"/>
                <a:gd name="T22" fmla="*/ 881 w 1191"/>
                <a:gd name="T23" fmla="*/ 459 h 1321"/>
                <a:gd name="T24" fmla="*/ 1005 w 1191"/>
                <a:gd name="T25" fmla="*/ 465 h 1321"/>
                <a:gd name="T26" fmla="*/ 1005 w 1191"/>
                <a:gd name="T27" fmla="*/ 226 h 1321"/>
                <a:gd name="T28" fmla="*/ 1137 w 1191"/>
                <a:gd name="T29" fmla="*/ 485 h 1321"/>
                <a:gd name="T30" fmla="*/ 1137 w 1191"/>
                <a:gd name="T31" fmla="*/ 259 h 1321"/>
                <a:gd name="T32" fmla="*/ 1045 w 1191"/>
                <a:gd name="T33" fmla="*/ 912 h 1321"/>
                <a:gd name="T34" fmla="*/ 1045 w 1191"/>
                <a:gd name="T35" fmla="*/ 1137 h 1321"/>
                <a:gd name="T36" fmla="*/ 881 w 1191"/>
                <a:gd name="T37" fmla="*/ 927 h 1321"/>
                <a:gd name="T38" fmla="*/ 881 w 1191"/>
                <a:gd name="T39" fmla="*/ 1165 h 1321"/>
                <a:gd name="T40" fmla="*/ 841 w 1191"/>
                <a:gd name="T41" fmla="*/ 931 h 1321"/>
                <a:gd name="T42" fmla="*/ 665 w 1191"/>
                <a:gd name="T43" fmla="*/ 947 h 1321"/>
                <a:gd name="T44" fmla="*/ 1005 w 1191"/>
                <a:gd name="T45" fmla="*/ 903 h 1321"/>
                <a:gd name="T46" fmla="*/ 1005 w 1191"/>
                <a:gd name="T47" fmla="*/ 692 h 1321"/>
                <a:gd name="T48" fmla="*/ 1137 w 1191"/>
                <a:gd name="T49" fmla="*/ 693 h 1321"/>
                <a:gd name="T50" fmla="*/ 1045 w 1191"/>
                <a:gd name="T51" fmla="*/ 692 h 1321"/>
                <a:gd name="T52" fmla="*/ 1137 w 1191"/>
                <a:gd name="T53" fmla="*/ 680 h 1321"/>
                <a:gd name="T54" fmla="*/ 1137 w 1191"/>
                <a:gd name="T55" fmla="*/ 499 h 1321"/>
                <a:gd name="T56" fmla="*/ 665 w 1191"/>
                <a:gd name="T57" fmla="*/ 691 h 1321"/>
                <a:gd name="T58" fmla="*/ 665 w 1191"/>
                <a:gd name="T59" fmla="*/ 933 h 1321"/>
                <a:gd name="T60" fmla="*/ 371 w 1191"/>
                <a:gd name="T61" fmla="*/ 689 h 1321"/>
                <a:gd name="T62" fmla="*/ 371 w 1191"/>
                <a:gd name="T63" fmla="*/ 960 h 1321"/>
                <a:gd name="T64" fmla="*/ 657 w 1191"/>
                <a:gd name="T65" fmla="*/ 72 h 1321"/>
                <a:gd name="T66" fmla="*/ 359 w 1191"/>
                <a:gd name="T67" fmla="*/ 0 h 1321"/>
                <a:gd name="T68" fmla="*/ 37 w 1191"/>
                <a:gd name="T69" fmla="*/ 829 h 1321"/>
                <a:gd name="T70" fmla="*/ 139 w 1191"/>
                <a:gd name="T71" fmla="*/ 890 h 1321"/>
                <a:gd name="T72" fmla="*/ 305 w 1191"/>
                <a:gd name="T73" fmla="*/ 67 h 1321"/>
                <a:gd name="T74" fmla="*/ 305 w 1191"/>
                <a:gd name="T75" fmla="*/ 1255 h 1321"/>
                <a:gd name="T76" fmla="*/ 140 w 1191"/>
                <a:gd name="T77" fmla="*/ 1091 h 1321"/>
                <a:gd name="T78" fmla="*/ 37 w 1191"/>
                <a:gd name="T79" fmla="*/ 1151 h 1321"/>
                <a:gd name="T80" fmla="*/ 338 w 1191"/>
                <a:gd name="T81" fmla="*/ 1321 h 1321"/>
                <a:gd name="T82" fmla="*/ 362 w 1191"/>
                <a:gd name="T83" fmla="*/ 1321 h 1321"/>
                <a:gd name="T84" fmla="*/ 1191 w 1191"/>
                <a:gd name="T85" fmla="*/ 1155 h 1321"/>
                <a:gd name="T86" fmla="*/ 1160 w 1191"/>
                <a:gd name="T87" fmla="*/ 196 h 1321"/>
                <a:gd name="T88" fmla="*/ 657 w 1191"/>
                <a:gd name="T89" fmla="*/ 72 h 1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91" h="1321">
                  <a:moveTo>
                    <a:pt x="841" y="186"/>
                  </a:moveTo>
                  <a:lnTo>
                    <a:pt x="841" y="186"/>
                  </a:lnTo>
                  <a:lnTo>
                    <a:pt x="841" y="440"/>
                  </a:lnTo>
                  <a:lnTo>
                    <a:pt x="665" y="413"/>
                  </a:lnTo>
                  <a:lnTo>
                    <a:pt x="665" y="143"/>
                  </a:lnTo>
                  <a:lnTo>
                    <a:pt x="841" y="186"/>
                  </a:lnTo>
                  <a:close/>
                  <a:moveTo>
                    <a:pt x="371" y="1252"/>
                  </a:moveTo>
                  <a:lnTo>
                    <a:pt x="371" y="1252"/>
                  </a:lnTo>
                  <a:lnTo>
                    <a:pt x="371" y="974"/>
                  </a:lnTo>
                  <a:lnTo>
                    <a:pt x="625" y="951"/>
                  </a:lnTo>
                  <a:lnTo>
                    <a:pt x="625" y="1209"/>
                  </a:lnTo>
                  <a:lnTo>
                    <a:pt x="371" y="1252"/>
                  </a:lnTo>
                  <a:lnTo>
                    <a:pt x="371" y="1252"/>
                  </a:lnTo>
                  <a:close/>
                  <a:moveTo>
                    <a:pt x="371" y="368"/>
                  </a:moveTo>
                  <a:lnTo>
                    <a:pt x="371" y="368"/>
                  </a:lnTo>
                  <a:lnTo>
                    <a:pt x="371" y="70"/>
                  </a:lnTo>
                  <a:lnTo>
                    <a:pt x="625" y="133"/>
                  </a:lnTo>
                  <a:lnTo>
                    <a:pt x="625" y="407"/>
                  </a:lnTo>
                  <a:lnTo>
                    <a:pt x="371" y="368"/>
                  </a:lnTo>
                  <a:close/>
                  <a:moveTo>
                    <a:pt x="625" y="677"/>
                  </a:moveTo>
                  <a:lnTo>
                    <a:pt x="625" y="677"/>
                  </a:lnTo>
                  <a:lnTo>
                    <a:pt x="371" y="676"/>
                  </a:lnTo>
                  <a:lnTo>
                    <a:pt x="371" y="381"/>
                  </a:lnTo>
                  <a:lnTo>
                    <a:pt x="625" y="420"/>
                  </a:lnTo>
                  <a:lnTo>
                    <a:pt x="625" y="677"/>
                  </a:lnTo>
                  <a:close/>
                  <a:moveTo>
                    <a:pt x="841" y="678"/>
                  </a:moveTo>
                  <a:lnTo>
                    <a:pt x="841" y="678"/>
                  </a:lnTo>
                  <a:lnTo>
                    <a:pt x="665" y="677"/>
                  </a:lnTo>
                  <a:lnTo>
                    <a:pt x="665" y="426"/>
                  </a:lnTo>
                  <a:lnTo>
                    <a:pt x="841" y="453"/>
                  </a:lnTo>
                  <a:lnTo>
                    <a:pt x="841" y="678"/>
                  </a:lnTo>
                  <a:close/>
                  <a:moveTo>
                    <a:pt x="1005" y="478"/>
                  </a:moveTo>
                  <a:lnTo>
                    <a:pt x="1005" y="478"/>
                  </a:lnTo>
                  <a:lnTo>
                    <a:pt x="1005" y="679"/>
                  </a:lnTo>
                  <a:lnTo>
                    <a:pt x="881" y="678"/>
                  </a:lnTo>
                  <a:lnTo>
                    <a:pt x="881" y="459"/>
                  </a:lnTo>
                  <a:lnTo>
                    <a:pt x="1005" y="478"/>
                  </a:lnTo>
                  <a:close/>
                  <a:moveTo>
                    <a:pt x="1005" y="465"/>
                  </a:moveTo>
                  <a:lnTo>
                    <a:pt x="1005" y="465"/>
                  </a:lnTo>
                  <a:lnTo>
                    <a:pt x="881" y="446"/>
                  </a:lnTo>
                  <a:lnTo>
                    <a:pt x="881" y="196"/>
                  </a:lnTo>
                  <a:lnTo>
                    <a:pt x="1005" y="226"/>
                  </a:lnTo>
                  <a:lnTo>
                    <a:pt x="1005" y="465"/>
                  </a:lnTo>
                  <a:close/>
                  <a:moveTo>
                    <a:pt x="1137" y="485"/>
                  </a:moveTo>
                  <a:lnTo>
                    <a:pt x="1137" y="485"/>
                  </a:lnTo>
                  <a:lnTo>
                    <a:pt x="1045" y="471"/>
                  </a:lnTo>
                  <a:lnTo>
                    <a:pt x="1045" y="236"/>
                  </a:lnTo>
                  <a:lnTo>
                    <a:pt x="1137" y="259"/>
                  </a:lnTo>
                  <a:lnTo>
                    <a:pt x="1137" y="485"/>
                  </a:lnTo>
                  <a:close/>
                  <a:moveTo>
                    <a:pt x="1045" y="912"/>
                  </a:moveTo>
                  <a:lnTo>
                    <a:pt x="1045" y="912"/>
                  </a:lnTo>
                  <a:lnTo>
                    <a:pt x="1137" y="904"/>
                  </a:lnTo>
                  <a:lnTo>
                    <a:pt x="1137" y="1121"/>
                  </a:lnTo>
                  <a:lnTo>
                    <a:pt x="1045" y="1137"/>
                  </a:lnTo>
                  <a:lnTo>
                    <a:pt x="1045" y="912"/>
                  </a:lnTo>
                  <a:close/>
                  <a:moveTo>
                    <a:pt x="881" y="927"/>
                  </a:moveTo>
                  <a:lnTo>
                    <a:pt x="881" y="927"/>
                  </a:lnTo>
                  <a:lnTo>
                    <a:pt x="1005" y="916"/>
                  </a:lnTo>
                  <a:lnTo>
                    <a:pt x="1005" y="1144"/>
                  </a:lnTo>
                  <a:lnTo>
                    <a:pt x="881" y="1165"/>
                  </a:lnTo>
                  <a:lnTo>
                    <a:pt x="881" y="927"/>
                  </a:lnTo>
                  <a:close/>
                  <a:moveTo>
                    <a:pt x="841" y="931"/>
                  </a:moveTo>
                  <a:lnTo>
                    <a:pt x="841" y="931"/>
                  </a:lnTo>
                  <a:lnTo>
                    <a:pt x="841" y="1172"/>
                  </a:lnTo>
                  <a:lnTo>
                    <a:pt x="665" y="1202"/>
                  </a:lnTo>
                  <a:lnTo>
                    <a:pt x="665" y="947"/>
                  </a:lnTo>
                  <a:lnTo>
                    <a:pt x="841" y="931"/>
                  </a:lnTo>
                  <a:close/>
                  <a:moveTo>
                    <a:pt x="1005" y="903"/>
                  </a:moveTo>
                  <a:lnTo>
                    <a:pt x="1005" y="903"/>
                  </a:lnTo>
                  <a:lnTo>
                    <a:pt x="881" y="914"/>
                  </a:lnTo>
                  <a:lnTo>
                    <a:pt x="881" y="692"/>
                  </a:lnTo>
                  <a:lnTo>
                    <a:pt x="1005" y="692"/>
                  </a:lnTo>
                  <a:lnTo>
                    <a:pt x="1005" y="903"/>
                  </a:lnTo>
                  <a:close/>
                  <a:moveTo>
                    <a:pt x="1137" y="693"/>
                  </a:moveTo>
                  <a:lnTo>
                    <a:pt x="1137" y="693"/>
                  </a:lnTo>
                  <a:lnTo>
                    <a:pt x="1137" y="890"/>
                  </a:lnTo>
                  <a:lnTo>
                    <a:pt x="1045" y="899"/>
                  </a:lnTo>
                  <a:lnTo>
                    <a:pt x="1045" y="692"/>
                  </a:lnTo>
                  <a:lnTo>
                    <a:pt x="1137" y="693"/>
                  </a:lnTo>
                  <a:close/>
                  <a:moveTo>
                    <a:pt x="1137" y="680"/>
                  </a:moveTo>
                  <a:lnTo>
                    <a:pt x="1137" y="680"/>
                  </a:lnTo>
                  <a:lnTo>
                    <a:pt x="1045" y="679"/>
                  </a:lnTo>
                  <a:lnTo>
                    <a:pt x="1045" y="485"/>
                  </a:lnTo>
                  <a:lnTo>
                    <a:pt x="1137" y="499"/>
                  </a:lnTo>
                  <a:lnTo>
                    <a:pt x="1137" y="680"/>
                  </a:lnTo>
                  <a:close/>
                  <a:moveTo>
                    <a:pt x="665" y="691"/>
                  </a:moveTo>
                  <a:lnTo>
                    <a:pt x="665" y="691"/>
                  </a:lnTo>
                  <a:lnTo>
                    <a:pt x="841" y="691"/>
                  </a:lnTo>
                  <a:lnTo>
                    <a:pt x="841" y="917"/>
                  </a:lnTo>
                  <a:lnTo>
                    <a:pt x="665" y="933"/>
                  </a:lnTo>
                  <a:lnTo>
                    <a:pt x="665" y="691"/>
                  </a:lnTo>
                  <a:close/>
                  <a:moveTo>
                    <a:pt x="371" y="689"/>
                  </a:moveTo>
                  <a:lnTo>
                    <a:pt x="371" y="689"/>
                  </a:lnTo>
                  <a:lnTo>
                    <a:pt x="625" y="690"/>
                  </a:lnTo>
                  <a:lnTo>
                    <a:pt x="625" y="937"/>
                  </a:lnTo>
                  <a:lnTo>
                    <a:pt x="371" y="960"/>
                  </a:lnTo>
                  <a:lnTo>
                    <a:pt x="371" y="689"/>
                  </a:lnTo>
                  <a:close/>
                  <a:moveTo>
                    <a:pt x="657" y="72"/>
                  </a:moveTo>
                  <a:lnTo>
                    <a:pt x="657" y="72"/>
                  </a:lnTo>
                  <a:lnTo>
                    <a:pt x="367" y="1"/>
                  </a:lnTo>
                  <a:lnTo>
                    <a:pt x="363" y="0"/>
                  </a:lnTo>
                  <a:lnTo>
                    <a:pt x="359" y="0"/>
                  </a:lnTo>
                  <a:lnTo>
                    <a:pt x="70" y="0"/>
                  </a:lnTo>
                  <a:cubicBezTo>
                    <a:pt x="52" y="0"/>
                    <a:pt x="37" y="15"/>
                    <a:pt x="37" y="33"/>
                  </a:cubicBezTo>
                  <a:lnTo>
                    <a:pt x="37" y="829"/>
                  </a:lnTo>
                  <a:cubicBezTo>
                    <a:pt x="15" y="841"/>
                    <a:pt x="0" y="864"/>
                    <a:pt x="0" y="890"/>
                  </a:cubicBezTo>
                  <a:cubicBezTo>
                    <a:pt x="0" y="928"/>
                    <a:pt x="32" y="959"/>
                    <a:pt x="70" y="959"/>
                  </a:cubicBezTo>
                  <a:cubicBezTo>
                    <a:pt x="108" y="959"/>
                    <a:pt x="139" y="928"/>
                    <a:pt x="139" y="890"/>
                  </a:cubicBezTo>
                  <a:cubicBezTo>
                    <a:pt x="139" y="864"/>
                    <a:pt x="125" y="841"/>
                    <a:pt x="104" y="830"/>
                  </a:cubicBezTo>
                  <a:lnTo>
                    <a:pt x="104" y="67"/>
                  </a:lnTo>
                  <a:lnTo>
                    <a:pt x="305" y="67"/>
                  </a:lnTo>
                  <a:cubicBezTo>
                    <a:pt x="305" y="68"/>
                    <a:pt x="305" y="68"/>
                    <a:pt x="305" y="69"/>
                  </a:cubicBezTo>
                  <a:lnTo>
                    <a:pt x="305" y="1252"/>
                  </a:lnTo>
                  <a:cubicBezTo>
                    <a:pt x="305" y="1253"/>
                    <a:pt x="305" y="1254"/>
                    <a:pt x="305" y="1255"/>
                  </a:cubicBezTo>
                  <a:lnTo>
                    <a:pt x="104" y="1255"/>
                  </a:lnTo>
                  <a:lnTo>
                    <a:pt x="104" y="1151"/>
                  </a:lnTo>
                  <a:cubicBezTo>
                    <a:pt x="125" y="1139"/>
                    <a:pt x="140" y="1117"/>
                    <a:pt x="140" y="1091"/>
                  </a:cubicBezTo>
                  <a:cubicBezTo>
                    <a:pt x="140" y="1052"/>
                    <a:pt x="109" y="1021"/>
                    <a:pt x="71" y="1021"/>
                  </a:cubicBezTo>
                  <a:cubicBezTo>
                    <a:pt x="32" y="1021"/>
                    <a:pt x="1" y="1052"/>
                    <a:pt x="1" y="1091"/>
                  </a:cubicBezTo>
                  <a:cubicBezTo>
                    <a:pt x="1" y="1116"/>
                    <a:pt x="16" y="1139"/>
                    <a:pt x="37" y="1151"/>
                  </a:cubicBezTo>
                  <a:lnTo>
                    <a:pt x="37" y="1288"/>
                  </a:lnTo>
                  <a:cubicBezTo>
                    <a:pt x="37" y="1307"/>
                    <a:pt x="52" y="1321"/>
                    <a:pt x="70" y="1321"/>
                  </a:cubicBezTo>
                  <a:lnTo>
                    <a:pt x="338" y="1321"/>
                  </a:lnTo>
                  <a:cubicBezTo>
                    <a:pt x="341" y="1321"/>
                    <a:pt x="344" y="1321"/>
                    <a:pt x="347" y="1320"/>
                  </a:cubicBezTo>
                  <a:cubicBezTo>
                    <a:pt x="351" y="1321"/>
                    <a:pt x="355" y="1321"/>
                    <a:pt x="359" y="1321"/>
                  </a:cubicBezTo>
                  <a:lnTo>
                    <a:pt x="362" y="1321"/>
                  </a:lnTo>
                  <a:lnTo>
                    <a:pt x="1158" y="1185"/>
                  </a:lnTo>
                  <a:cubicBezTo>
                    <a:pt x="1162" y="1185"/>
                    <a:pt x="1166" y="1183"/>
                    <a:pt x="1169" y="1181"/>
                  </a:cubicBezTo>
                  <a:cubicBezTo>
                    <a:pt x="1181" y="1179"/>
                    <a:pt x="1191" y="1168"/>
                    <a:pt x="1191" y="1155"/>
                  </a:cubicBezTo>
                  <a:lnTo>
                    <a:pt x="1191" y="231"/>
                  </a:lnTo>
                  <a:cubicBezTo>
                    <a:pt x="1191" y="223"/>
                    <a:pt x="1187" y="215"/>
                    <a:pt x="1180" y="210"/>
                  </a:cubicBezTo>
                  <a:cubicBezTo>
                    <a:pt x="1176" y="203"/>
                    <a:pt x="1169" y="198"/>
                    <a:pt x="1160" y="196"/>
                  </a:cubicBezTo>
                  <a:lnTo>
                    <a:pt x="665" y="74"/>
                  </a:lnTo>
                  <a:lnTo>
                    <a:pt x="665" y="72"/>
                  </a:lnTo>
                  <a:lnTo>
                    <a:pt x="657" y="72"/>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7" name="Freeform 17">
              <a:extLst>
                <a:ext uri="{FF2B5EF4-FFF2-40B4-BE49-F238E27FC236}">
                  <a16:creationId xmlns:a16="http://schemas.microsoft.com/office/drawing/2014/main" id="{0BAF4ACC-1B05-4C3C-8362-B069EE1B2E76}"/>
                </a:ext>
              </a:extLst>
            </p:cNvPr>
            <p:cNvSpPr>
              <a:spLocks noEditPoints="1"/>
            </p:cNvSpPr>
            <p:nvPr/>
          </p:nvSpPr>
          <p:spPr bwMode="gray">
            <a:xfrm>
              <a:off x="2454275" y="2160588"/>
              <a:ext cx="68263" cy="79375"/>
            </a:xfrm>
            <a:custGeom>
              <a:avLst/>
              <a:gdLst>
                <a:gd name="T0" fmla="*/ 132 w 159"/>
                <a:gd name="T1" fmla="*/ 146 h 181"/>
                <a:gd name="T2" fmla="*/ 132 w 159"/>
                <a:gd name="T3" fmla="*/ 146 h 181"/>
                <a:gd name="T4" fmla="*/ 130 w 159"/>
                <a:gd name="T5" fmla="*/ 154 h 181"/>
                <a:gd name="T6" fmla="*/ 29 w 159"/>
                <a:gd name="T7" fmla="*/ 142 h 181"/>
                <a:gd name="T8" fmla="*/ 27 w 159"/>
                <a:gd name="T9" fmla="*/ 130 h 181"/>
                <a:gd name="T10" fmla="*/ 27 w 159"/>
                <a:gd name="T11" fmla="*/ 37 h 181"/>
                <a:gd name="T12" fmla="*/ 28 w 159"/>
                <a:gd name="T13" fmla="*/ 27 h 181"/>
                <a:gd name="T14" fmla="*/ 128 w 159"/>
                <a:gd name="T15" fmla="*/ 52 h 181"/>
                <a:gd name="T16" fmla="*/ 132 w 159"/>
                <a:gd name="T17" fmla="*/ 62 h 181"/>
                <a:gd name="T18" fmla="*/ 132 w 159"/>
                <a:gd name="T19" fmla="*/ 146 h 181"/>
                <a:gd name="T20" fmla="*/ 135 w 159"/>
                <a:gd name="T21" fmla="*/ 26 h 181"/>
                <a:gd name="T22" fmla="*/ 135 w 159"/>
                <a:gd name="T23" fmla="*/ 26 h 181"/>
                <a:gd name="T24" fmla="*/ 29 w 159"/>
                <a:gd name="T25" fmla="*/ 0 h 181"/>
                <a:gd name="T26" fmla="*/ 26 w 159"/>
                <a:gd name="T27" fmla="*/ 0 h 181"/>
                <a:gd name="T28" fmla="*/ 0 w 159"/>
                <a:gd name="T29" fmla="*/ 37 h 181"/>
                <a:gd name="T30" fmla="*/ 0 w 159"/>
                <a:gd name="T31" fmla="*/ 130 h 181"/>
                <a:gd name="T32" fmla="*/ 6 w 159"/>
                <a:gd name="T33" fmla="*/ 154 h 181"/>
                <a:gd name="T34" fmla="*/ 27 w 159"/>
                <a:gd name="T35" fmla="*/ 168 h 181"/>
                <a:gd name="T36" fmla="*/ 131 w 159"/>
                <a:gd name="T37" fmla="*/ 181 h 181"/>
                <a:gd name="T38" fmla="*/ 132 w 159"/>
                <a:gd name="T39" fmla="*/ 181 h 181"/>
                <a:gd name="T40" fmla="*/ 159 w 159"/>
                <a:gd name="T41" fmla="*/ 146 h 181"/>
                <a:gd name="T42" fmla="*/ 159 w 159"/>
                <a:gd name="T43" fmla="*/ 62 h 181"/>
                <a:gd name="T44" fmla="*/ 135 w 159"/>
                <a:gd name="T45" fmla="*/ 26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9" h="181">
                  <a:moveTo>
                    <a:pt x="132" y="146"/>
                  </a:moveTo>
                  <a:lnTo>
                    <a:pt x="132" y="146"/>
                  </a:lnTo>
                  <a:cubicBezTo>
                    <a:pt x="132" y="150"/>
                    <a:pt x="131" y="152"/>
                    <a:pt x="130" y="154"/>
                  </a:cubicBezTo>
                  <a:lnTo>
                    <a:pt x="29" y="142"/>
                  </a:lnTo>
                  <a:cubicBezTo>
                    <a:pt x="28" y="140"/>
                    <a:pt x="27" y="136"/>
                    <a:pt x="27" y="130"/>
                  </a:cubicBezTo>
                  <a:lnTo>
                    <a:pt x="27" y="37"/>
                  </a:lnTo>
                  <a:cubicBezTo>
                    <a:pt x="27" y="33"/>
                    <a:pt x="28" y="29"/>
                    <a:pt x="28" y="27"/>
                  </a:cubicBezTo>
                  <a:lnTo>
                    <a:pt x="128" y="52"/>
                  </a:lnTo>
                  <a:cubicBezTo>
                    <a:pt x="129" y="53"/>
                    <a:pt x="132" y="57"/>
                    <a:pt x="132" y="62"/>
                  </a:cubicBezTo>
                  <a:lnTo>
                    <a:pt x="132" y="146"/>
                  </a:lnTo>
                  <a:close/>
                  <a:moveTo>
                    <a:pt x="135" y="26"/>
                  </a:moveTo>
                  <a:lnTo>
                    <a:pt x="135" y="26"/>
                  </a:lnTo>
                  <a:lnTo>
                    <a:pt x="29" y="0"/>
                  </a:lnTo>
                  <a:lnTo>
                    <a:pt x="26" y="0"/>
                  </a:lnTo>
                  <a:cubicBezTo>
                    <a:pt x="11" y="0"/>
                    <a:pt x="0" y="16"/>
                    <a:pt x="0" y="37"/>
                  </a:cubicBezTo>
                  <a:lnTo>
                    <a:pt x="0" y="130"/>
                  </a:lnTo>
                  <a:cubicBezTo>
                    <a:pt x="0" y="139"/>
                    <a:pt x="2" y="147"/>
                    <a:pt x="6" y="154"/>
                  </a:cubicBezTo>
                  <a:cubicBezTo>
                    <a:pt x="10" y="163"/>
                    <a:pt x="18" y="168"/>
                    <a:pt x="27" y="168"/>
                  </a:cubicBezTo>
                  <a:lnTo>
                    <a:pt x="131" y="181"/>
                  </a:lnTo>
                  <a:lnTo>
                    <a:pt x="132" y="181"/>
                  </a:lnTo>
                  <a:cubicBezTo>
                    <a:pt x="147" y="180"/>
                    <a:pt x="159" y="165"/>
                    <a:pt x="159" y="146"/>
                  </a:cubicBezTo>
                  <a:lnTo>
                    <a:pt x="159" y="62"/>
                  </a:lnTo>
                  <a:cubicBezTo>
                    <a:pt x="159" y="44"/>
                    <a:pt x="148" y="28"/>
                    <a:pt x="135" y="26"/>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8" name="Freeform 18">
              <a:extLst>
                <a:ext uri="{FF2B5EF4-FFF2-40B4-BE49-F238E27FC236}">
                  <a16:creationId xmlns:a16="http://schemas.microsoft.com/office/drawing/2014/main" id="{5DFEDEEB-EC61-4A6E-A94D-724F697B085F}"/>
                </a:ext>
              </a:extLst>
            </p:cNvPr>
            <p:cNvSpPr>
              <a:spLocks noEditPoints="1"/>
            </p:cNvSpPr>
            <p:nvPr/>
          </p:nvSpPr>
          <p:spPr bwMode="gray">
            <a:xfrm>
              <a:off x="2571750" y="2189163"/>
              <a:ext cx="57150" cy="66675"/>
            </a:xfrm>
            <a:custGeom>
              <a:avLst/>
              <a:gdLst>
                <a:gd name="T0" fmla="*/ 26 w 131"/>
                <a:gd name="T1" fmla="*/ 35 h 155"/>
                <a:gd name="T2" fmla="*/ 26 w 131"/>
                <a:gd name="T3" fmla="*/ 35 h 155"/>
                <a:gd name="T4" fmla="*/ 27 w 131"/>
                <a:gd name="T5" fmla="*/ 28 h 155"/>
                <a:gd name="T6" fmla="*/ 100 w 131"/>
                <a:gd name="T7" fmla="*/ 50 h 155"/>
                <a:gd name="T8" fmla="*/ 101 w 131"/>
                <a:gd name="T9" fmla="*/ 50 h 155"/>
                <a:gd name="T10" fmla="*/ 104 w 131"/>
                <a:gd name="T11" fmla="*/ 58 h 155"/>
                <a:gd name="T12" fmla="*/ 104 w 131"/>
                <a:gd name="T13" fmla="*/ 121 h 155"/>
                <a:gd name="T14" fmla="*/ 103 w 131"/>
                <a:gd name="T15" fmla="*/ 128 h 155"/>
                <a:gd name="T16" fmla="*/ 29 w 131"/>
                <a:gd name="T17" fmla="*/ 117 h 155"/>
                <a:gd name="T18" fmla="*/ 28 w 131"/>
                <a:gd name="T19" fmla="*/ 117 h 155"/>
                <a:gd name="T20" fmla="*/ 26 w 131"/>
                <a:gd name="T21" fmla="*/ 107 h 155"/>
                <a:gd name="T22" fmla="*/ 26 w 131"/>
                <a:gd name="T23" fmla="*/ 35 h 155"/>
                <a:gd name="T24" fmla="*/ 5 w 131"/>
                <a:gd name="T25" fmla="*/ 130 h 155"/>
                <a:gd name="T26" fmla="*/ 5 w 131"/>
                <a:gd name="T27" fmla="*/ 130 h 155"/>
                <a:gd name="T28" fmla="*/ 25 w 131"/>
                <a:gd name="T29" fmla="*/ 143 h 155"/>
                <a:gd name="T30" fmla="*/ 103 w 131"/>
                <a:gd name="T31" fmla="*/ 155 h 155"/>
                <a:gd name="T32" fmla="*/ 105 w 131"/>
                <a:gd name="T33" fmla="*/ 155 h 155"/>
                <a:gd name="T34" fmla="*/ 131 w 131"/>
                <a:gd name="T35" fmla="*/ 121 h 155"/>
                <a:gd name="T36" fmla="*/ 131 w 131"/>
                <a:gd name="T37" fmla="*/ 58 h 155"/>
                <a:gd name="T38" fmla="*/ 107 w 131"/>
                <a:gd name="T39" fmla="*/ 24 h 155"/>
                <a:gd name="T40" fmla="*/ 31 w 131"/>
                <a:gd name="T41" fmla="*/ 1 h 155"/>
                <a:gd name="T42" fmla="*/ 26 w 131"/>
                <a:gd name="T43" fmla="*/ 0 h 155"/>
                <a:gd name="T44" fmla="*/ 0 w 131"/>
                <a:gd name="T45" fmla="*/ 35 h 155"/>
                <a:gd name="T46" fmla="*/ 0 w 131"/>
                <a:gd name="T47" fmla="*/ 107 h 155"/>
                <a:gd name="T48" fmla="*/ 5 w 131"/>
                <a:gd name="T49" fmla="*/ 13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1" h="155">
                  <a:moveTo>
                    <a:pt x="26" y="35"/>
                  </a:moveTo>
                  <a:lnTo>
                    <a:pt x="26" y="35"/>
                  </a:lnTo>
                  <a:cubicBezTo>
                    <a:pt x="26" y="32"/>
                    <a:pt x="27" y="29"/>
                    <a:pt x="27" y="28"/>
                  </a:cubicBezTo>
                  <a:lnTo>
                    <a:pt x="100" y="50"/>
                  </a:lnTo>
                  <a:lnTo>
                    <a:pt x="101" y="50"/>
                  </a:lnTo>
                  <a:cubicBezTo>
                    <a:pt x="102" y="50"/>
                    <a:pt x="104" y="53"/>
                    <a:pt x="104" y="58"/>
                  </a:cubicBezTo>
                  <a:lnTo>
                    <a:pt x="104" y="121"/>
                  </a:lnTo>
                  <a:cubicBezTo>
                    <a:pt x="104" y="124"/>
                    <a:pt x="103" y="127"/>
                    <a:pt x="103" y="128"/>
                  </a:cubicBezTo>
                  <a:lnTo>
                    <a:pt x="29" y="117"/>
                  </a:lnTo>
                  <a:lnTo>
                    <a:pt x="28" y="117"/>
                  </a:lnTo>
                  <a:cubicBezTo>
                    <a:pt x="27" y="115"/>
                    <a:pt x="26" y="112"/>
                    <a:pt x="26" y="107"/>
                  </a:cubicBezTo>
                  <a:lnTo>
                    <a:pt x="26" y="35"/>
                  </a:lnTo>
                  <a:close/>
                  <a:moveTo>
                    <a:pt x="5" y="130"/>
                  </a:moveTo>
                  <a:lnTo>
                    <a:pt x="5" y="130"/>
                  </a:lnTo>
                  <a:cubicBezTo>
                    <a:pt x="10" y="138"/>
                    <a:pt x="16" y="142"/>
                    <a:pt x="25" y="143"/>
                  </a:cubicBezTo>
                  <a:lnTo>
                    <a:pt x="103" y="155"/>
                  </a:lnTo>
                  <a:lnTo>
                    <a:pt x="105" y="155"/>
                  </a:lnTo>
                  <a:cubicBezTo>
                    <a:pt x="119" y="154"/>
                    <a:pt x="131" y="139"/>
                    <a:pt x="131" y="121"/>
                  </a:cubicBezTo>
                  <a:lnTo>
                    <a:pt x="131" y="58"/>
                  </a:lnTo>
                  <a:cubicBezTo>
                    <a:pt x="131" y="41"/>
                    <a:pt x="121" y="27"/>
                    <a:pt x="107" y="24"/>
                  </a:cubicBezTo>
                  <a:lnTo>
                    <a:pt x="31" y="1"/>
                  </a:lnTo>
                  <a:lnTo>
                    <a:pt x="26" y="0"/>
                  </a:lnTo>
                  <a:cubicBezTo>
                    <a:pt x="11" y="0"/>
                    <a:pt x="0" y="15"/>
                    <a:pt x="0" y="35"/>
                  </a:cubicBezTo>
                  <a:lnTo>
                    <a:pt x="0" y="107"/>
                  </a:lnTo>
                  <a:cubicBezTo>
                    <a:pt x="0" y="116"/>
                    <a:pt x="2" y="124"/>
                    <a:pt x="5" y="130"/>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9" name="Freeform 19">
              <a:extLst>
                <a:ext uri="{FF2B5EF4-FFF2-40B4-BE49-F238E27FC236}">
                  <a16:creationId xmlns:a16="http://schemas.microsoft.com/office/drawing/2014/main" id="{5A5EA43A-72F7-47D1-8C7F-6D84D457200C}"/>
                </a:ext>
              </a:extLst>
            </p:cNvPr>
            <p:cNvSpPr>
              <a:spLocks noEditPoints="1"/>
            </p:cNvSpPr>
            <p:nvPr/>
          </p:nvSpPr>
          <p:spPr bwMode="gray">
            <a:xfrm>
              <a:off x="2454275" y="2284413"/>
              <a:ext cx="68263" cy="73025"/>
            </a:xfrm>
            <a:custGeom>
              <a:avLst/>
              <a:gdLst>
                <a:gd name="T0" fmla="*/ 27 w 159"/>
                <a:gd name="T1" fmla="*/ 37 h 168"/>
                <a:gd name="T2" fmla="*/ 27 w 159"/>
                <a:gd name="T3" fmla="*/ 37 h 168"/>
                <a:gd name="T4" fmla="*/ 29 w 159"/>
                <a:gd name="T5" fmla="*/ 27 h 168"/>
                <a:gd name="T6" fmla="*/ 129 w 159"/>
                <a:gd name="T7" fmla="*/ 35 h 168"/>
                <a:gd name="T8" fmla="*/ 132 w 159"/>
                <a:gd name="T9" fmla="*/ 45 h 168"/>
                <a:gd name="T10" fmla="*/ 132 w 159"/>
                <a:gd name="T11" fmla="*/ 132 h 168"/>
                <a:gd name="T12" fmla="*/ 129 w 159"/>
                <a:gd name="T13" fmla="*/ 141 h 168"/>
                <a:gd name="T14" fmla="*/ 29 w 159"/>
                <a:gd name="T15" fmla="*/ 141 h 168"/>
                <a:gd name="T16" fmla="*/ 27 w 159"/>
                <a:gd name="T17" fmla="*/ 130 h 168"/>
                <a:gd name="T18" fmla="*/ 27 w 159"/>
                <a:gd name="T19" fmla="*/ 37 h 168"/>
                <a:gd name="T20" fmla="*/ 27 w 159"/>
                <a:gd name="T21" fmla="*/ 168 h 168"/>
                <a:gd name="T22" fmla="*/ 27 w 159"/>
                <a:gd name="T23" fmla="*/ 168 h 168"/>
                <a:gd name="T24" fmla="*/ 132 w 159"/>
                <a:gd name="T25" fmla="*/ 167 h 168"/>
                <a:gd name="T26" fmla="*/ 159 w 159"/>
                <a:gd name="T27" fmla="*/ 132 h 168"/>
                <a:gd name="T28" fmla="*/ 159 w 159"/>
                <a:gd name="T29" fmla="*/ 45 h 168"/>
                <a:gd name="T30" fmla="*/ 132 w 159"/>
                <a:gd name="T31" fmla="*/ 9 h 168"/>
                <a:gd name="T32" fmla="*/ 29 w 159"/>
                <a:gd name="T33" fmla="*/ 0 h 168"/>
                <a:gd name="T34" fmla="*/ 26 w 159"/>
                <a:gd name="T35" fmla="*/ 0 h 168"/>
                <a:gd name="T36" fmla="*/ 0 w 159"/>
                <a:gd name="T37" fmla="*/ 37 h 168"/>
                <a:gd name="T38" fmla="*/ 0 w 159"/>
                <a:gd name="T39" fmla="*/ 130 h 168"/>
                <a:gd name="T40" fmla="*/ 27 w 159"/>
                <a:gd name="T41"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9" h="168">
                  <a:moveTo>
                    <a:pt x="27" y="37"/>
                  </a:moveTo>
                  <a:lnTo>
                    <a:pt x="27" y="37"/>
                  </a:lnTo>
                  <a:cubicBezTo>
                    <a:pt x="27" y="32"/>
                    <a:pt x="28" y="28"/>
                    <a:pt x="29" y="27"/>
                  </a:cubicBezTo>
                  <a:lnTo>
                    <a:pt x="129" y="35"/>
                  </a:lnTo>
                  <a:cubicBezTo>
                    <a:pt x="130" y="36"/>
                    <a:pt x="132" y="40"/>
                    <a:pt x="132" y="45"/>
                  </a:cubicBezTo>
                  <a:lnTo>
                    <a:pt x="132" y="132"/>
                  </a:lnTo>
                  <a:cubicBezTo>
                    <a:pt x="132" y="136"/>
                    <a:pt x="130" y="139"/>
                    <a:pt x="129" y="141"/>
                  </a:cubicBezTo>
                  <a:lnTo>
                    <a:pt x="29" y="141"/>
                  </a:lnTo>
                  <a:cubicBezTo>
                    <a:pt x="28" y="139"/>
                    <a:pt x="27" y="135"/>
                    <a:pt x="27" y="130"/>
                  </a:cubicBezTo>
                  <a:lnTo>
                    <a:pt x="27" y="37"/>
                  </a:lnTo>
                  <a:close/>
                  <a:moveTo>
                    <a:pt x="27" y="168"/>
                  </a:moveTo>
                  <a:lnTo>
                    <a:pt x="27" y="168"/>
                  </a:lnTo>
                  <a:lnTo>
                    <a:pt x="132" y="167"/>
                  </a:lnTo>
                  <a:cubicBezTo>
                    <a:pt x="147" y="166"/>
                    <a:pt x="159" y="151"/>
                    <a:pt x="159" y="132"/>
                  </a:cubicBezTo>
                  <a:lnTo>
                    <a:pt x="159" y="45"/>
                  </a:lnTo>
                  <a:cubicBezTo>
                    <a:pt x="159" y="27"/>
                    <a:pt x="148" y="11"/>
                    <a:pt x="132" y="9"/>
                  </a:cubicBezTo>
                  <a:lnTo>
                    <a:pt x="29" y="0"/>
                  </a:lnTo>
                  <a:lnTo>
                    <a:pt x="26" y="0"/>
                  </a:lnTo>
                  <a:cubicBezTo>
                    <a:pt x="11" y="0"/>
                    <a:pt x="0" y="15"/>
                    <a:pt x="0" y="37"/>
                  </a:cubicBezTo>
                  <a:lnTo>
                    <a:pt x="0" y="130"/>
                  </a:lnTo>
                  <a:cubicBezTo>
                    <a:pt x="0" y="152"/>
                    <a:pt x="11" y="168"/>
                    <a:pt x="27" y="168"/>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0" name="Freeform 20">
              <a:extLst>
                <a:ext uri="{FF2B5EF4-FFF2-40B4-BE49-F238E27FC236}">
                  <a16:creationId xmlns:a16="http://schemas.microsoft.com/office/drawing/2014/main" id="{F8859662-8A96-490D-AA68-110A00A0A173}"/>
                </a:ext>
              </a:extLst>
            </p:cNvPr>
            <p:cNvSpPr>
              <a:spLocks noEditPoints="1"/>
            </p:cNvSpPr>
            <p:nvPr/>
          </p:nvSpPr>
          <p:spPr bwMode="gray">
            <a:xfrm>
              <a:off x="2571750" y="2295525"/>
              <a:ext cx="57150" cy="65088"/>
            </a:xfrm>
            <a:custGeom>
              <a:avLst/>
              <a:gdLst>
                <a:gd name="T0" fmla="*/ 26 w 131"/>
                <a:gd name="T1" fmla="*/ 33 h 146"/>
                <a:gd name="T2" fmla="*/ 26 w 131"/>
                <a:gd name="T3" fmla="*/ 33 h 146"/>
                <a:gd name="T4" fmla="*/ 27 w 131"/>
                <a:gd name="T5" fmla="*/ 27 h 146"/>
                <a:gd name="T6" fmla="*/ 102 w 131"/>
                <a:gd name="T7" fmla="*/ 39 h 146"/>
                <a:gd name="T8" fmla="*/ 104 w 131"/>
                <a:gd name="T9" fmla="*/ 45 h 146"/>
                <a:gd name="T10" fmla="*/ 104 w 131"/>
                <a:gd name="T11" fmla="*/ 114 h 146"/>
                <a:gd name="T12" fmla="*/ 104 w 131"/>
                <a:gd name="T13" fmla="*/ 119 h 146"/>
                <a:gd name="T14" fmla="*/ 28 w 131"/>
                <a:gd name="T15" fmla="*/ 120 h 146"/>
                <a:gd name="T16" fmla="*/ 26 w 131"/>
                <a:gd name="T17" fmla="*/ 112 h 146"/>
                <a:gd name="T18" fmla="*/ 26 w 131"/>
                <a:gd name="T19" fmla="*/ 33 h 146"/>
                <a:gd name="T20" fmla="*/ 26 w 131"/>
                <a:gd name="T21" fmla="*/ 146 h 146"/>
                <a:gd name="T22" fmla="*/ 26 w 131"/>
                <a:gd name="T23" fmla="*/ 146 h 146"/>
                <a:gd name="T24" fmla="*/ 105 w 131"/>
                <a:gd name="T25" fmla="*/ 146 h 146"/>
                <a:gd name="T26" fmla="*/ 131 w 131"/>
                <a:gd name="T27" fmla="*/ 114 h 146"/>
                <a:gd name="T28" fmla="*/ 131 w 131"/>
                <a:gd name="T29" fmla="*/ 45 h 146"/>
                <a:gd name="T30" fmla="*/ 106 w 131"/>
                <a:gd name="T31" fmla="*/ 12 h 146"/>
                <a:gd name="T32" fmla="*/ 28 w 131"/>
                <a:gd name="T33" fmla="*/ 0 h 146"/>
                <a:gd name="T34" fmla="*/ 26 w 131"/>
                <a:gd name="T35" fmla="*/ 0 h 146"/>
                <a:gd name="T36" fmla="*/ 0 w 131"/>
                <a:gd name="T37" fmla="*/ 33 h 146"/>
                <a:gd name="T38" fmla="*/ 0 w 131"/>
                <a:gd name="T39" fmla="*/ 112 h 146"/>
                <a:gd name="T40" fmla="*/ 26 w 131"/>
                <a:gd name="T41" fmla="*/ 14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1" h="146">
                  <a:moveTo>
                    <a:pt x="26" y="33"/>
                  </a:moveTo>
                  <a:lnTo>
                    <a:pt x="26" y="33"/>
                  </a:lnTo>
                  <a:cubicBezTo>
                    <a:pt x="26" y="30"/>
                    <a:pt x="27" y="28"/>
                    <a:pt x="27" y="27"/>
                  </a:cubicBezTo>
                  <a:lnTo>
                    <a:pt x="102" y="39"/>
                  </a:lnTo>
                  <a:cubicBezTo>
                    <a:pt x="102" y="39"/>
                    <a:pt x="104" y="42"/>
                    <a:pt x="104" y="45"/>
                  </a:cubicBezTo>
                  <a:lnTo>
                    <a:pt x="104" y="114"/>
                  </a:lnTo>
                  <a:cubicBezTo>
                    <a:pt x="104" y="117"/>
                    <a:pt x="103" y="119"/>
                    <a:pt x="104" y="119"/>
                  </a:cubicBezTo>
                  <a:lnTo>
                    <a:pt x="28" y="120"/>
                  </a:lnTo>
                  <a:cubicBezTo>
                    <a:pt x="27" y="118"/>
                    <a:pt x="26" y="116"/>
                    <a:pt x="26" y="112"/>
                  </a:cubicBezTo>
                  <a:lnTo>
                    <a:pt x="26" y="33"/>
                  </a:lnTo>
                  <a:close/>
                  <a:moveTo>
                    <a:pt x="26" y="146"/>
                  </a:moveTo>
                  <a:lnTo>
                    <a:pt x="26" y="146"/>
                  </a:lnTo>
                  <a:lnTo>
                    <a:pt x="105" y="146"/>
                  </a:lnTo>
                  <a:cubicBezTo>
                    <a:pt x="119" y="145"/>
                    <a:pt x="131" y="131"/>
                    <a:pt x="131" y="114"/>
                  </a:cubicBezTo>
                  <a:lnTo>
                    <a:pt x="131" y="45"/>
                  </a:lnTo>
                  <a:cubicBezTo>
                    <a:pt x="131" y="29"/>
                    <a:pt x="120" y="14"/>
                    <a:pt x="106" y="12"/>
                  </a:cubicBezTo>
                  <a:lnTo>
                    <a:pt x="28" y="0"/>
                  </a:lnTo>
                  <a:lnTo>
                    <a:pt x="26" y="0"/>
                  </a:lnTo>
                  <a:cubicBezTo>
                    <a:pt x="11" y="0"/>
                    <a:pt x="0" y="14"/>
                    <a:pt x="0" y="33"/>
                  </a:cubicBezTo>
                  <a:lnTo>
                    <a:pt x="0" y="112"/>
                  </a:lnTo>
                  <a:cubicBezTo>
                    <a:pt x="0" y="131"/>
                    <a:pt x="11" y="146"/>
                    <a:pt x="26" y="146"/>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1" name="Freeform 21">
              <a:extLst>
                <a:ext uri="{FF2B5EF4-FFF2-40B4-BE49-F238E27FC236}">
                  <a16:creationId xmlns:a16="http://schemas.microsoft.com/office/drawing/2014/main" id="{A9B849CB-AE76-4979-9BE4-0ACF7A834257}"/>
                </a:ext>
              </a:extLst>
            </p:cNvPr>
            <p:cNvSpPr>
              <a:spLocks noEditPoints="1"/>
            </p:cNvSpPr>
            <p:nvPr/>
          </p:nvSpPr>
          <p:spPr bwMode="gray">
            <a:xfrm>
              <a:off x="2454275" y="2409825"/>
              <a:ext cx="68263" cy="73025"/>
            </a:xfrm>
            <a:custGeom>
              <a:avLst/>
              <a:gdLst>
                <a:gd name="T0" fmla="*/ 132 w 159"/>
                <a:gd name="T1" fmla="*/ 125 h 168"/>
                <a:gd name="T2" fmla="*/ 132 w 159"/>
                <a:gd name="T3" fmla="*/ 125 h 168"/>
                <a:gd name="T4" fmla="*/ 129 w 159"/>
                <a:gd name="T5" fmla="*/ 134 h 168"/>
                <a:gd name="T6" fmla="*/ 29 w 159"/>
                <a:gd name="T7" fmla="*/ 141 h 168"/>
                <a:gd name="T8" fmla="*/ 27 w 159"/>
                <a:gd name="T9" fmla="*/ 130 h 168"/>
                <a:gd name="T10" fmla="*/ 27 w 159"/>
                <a:gd name="T11" fmla="*/ 37 h 168"/>
                <a:gd name="T12" fmla="*/ 29 w 159"/>
                <a:gd name="T13" fmla="*/ 27 h 168"/>
                <a:gd name="T14" fmla="*/ 129 w 159"/>
                <a:gd name="T15" fmla="*/ 29 h 168"/>
                <a:gd name="T16" fmla="*/ 132 w 159"/>
                <a:gd name="T17" fmla="*/ 38 h 168"/>
                <a:gd name="T18" fmla="*/ 132 w 159"/>
                <a:gd name="T19" fmla="*/ 125 h 168"/>
                <a:gd name="T20" fmla="*/ 133 w 159"/>
                <a:gd name="T21" fmla="*/ 2 h 168"/>
                <a:gd name="T22" fmla="*/ 133 w 159"/>
                <a:gd name="T23" fmla="*/ 2 h 168"/>
                <a:gd name="T24" fmla="*/ 28 w 159"/>
                <a:gd name="T25" fmla="*/ 0 h 168"/>
                <a:gd name="T26" fmla="*/ 26 w 159"/>
                <a:gd name="T27" fmla="*/ 0 h 168"/>
                <a:gd name="T28" fmla="*/ 0 w 159"/>
                <a:gd name="T29" fmla="*/ 37 h 168"/>
                <a:gd name="T30" fmla="*/ 0 w 159"/>
                <a:gd name="T31" fmla="*/ 130 h 168"/>
                <a:gd name="T32" fmla="*/ 27 w 159"/>
                <a:gd name="T33" fmla="*/ 168 h 168"/>
                <a:gd name="T34" fmla="*/ 132 w 159"/>
                <a:gd name="T35" fmla="*/ 160 h 168"/>
                <a:gd name="T36" fmla="*/ 159 w 159"/>
                <a:gd name="T37" fmla="*/ 125 h 168"/>
                <a:gd name="T38" fmla="*/ 159 w 159"/>
                <a:gd name="T39" fmla="*/ 38 h 168"/>
                <a:gd name="T40" fmla="*/ 133 w 159"/>
                <a:gd name="T41" fmla="*/ 2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9" h="168">
                  <a:moveTo>
                    <a:pt x="132" y="125"/>
                  </a:moveTo>
                  <a:lnTo>
                    <a:pt x="132" y="125"/>
                  </a:lnTo>
                  <a:cubicBezTo>
                    <a:pt x="132" y="130"/>
                    <a:pt x="130" y="133"/>
                    <a:pt x="129" y="134"/>
                  </a:cubicBezTo>
                  <a:lnTo>
                    <a:pt x="29" y="141"/>
                  </a:lnTo>
                  <a:cubicBezTo>
                    <a:pt x="28" y="139"/>
                    <a:pt x="27" y="135"/>
                    <a:pt x="27" y="130"/>
                  </a:cubicBezTo>
                  <a:lnTo>
                    <a:pt x="27" y="37"/>
                  </a:lnTo>
                  <a:cubicBezTo>
                    <a:pt x="27" y="32"/>
                    <a:pt x="28" y="28"/>
                    <a:pt x="29" y="27"/>
                  </a:cubicBezTo>
                  <a:lnTo>
                    <a:pt x="129" y="29"/>
                  </a:lnTo>
                  <a:cubicBezTo>
                    <a:pt x="130" y="30"/>
                    <a:pt x="132" y="34"/>
                    <a:pt x="132" y="38"/>
                  </a:cubicBezTo>
                  <a:lnTo>
                    <a:pt x="132" y="125"/>
                  </a:lnTo>
                  <a:close/>
                  <a:moveTo>
                    <a:pt x="133" y="2"/>
                  </a:moveTo>
                  <a:lnTo>
                    <a:pt x="133" y="2"/>
                  </a:lnTo>
                  <a:lnTo>
                    <a:pt x="28" y="0"/>
                  </a:lnTo>
                  <a:lnTo>
                    <a:pt x="26" y="0"/>
                  </a:lnTo>
                  <a:cubicBezTo>
                    <a:pt x="11" y="0"/>
                    <a:pt x="0" y="15"/>
                    <a:pt x="0" y="37"/>
                  </a:cubicBezTo>
                  <a:lnTo>
                    <a:pt x="0" y="130"/>
                  </a:lnTo>
                  <a:cubicBezTo>
                    <a:pt x="0" y="152"/>
                    <a:pt x="11" y="168"/>
                    <a:pt x="27" y="168"/>
                  </a:cubicBezTo>
                  <a:lnTo>
                    <a:pt x="132" y="160"/>
                  </a:lnTo>
                  <a:cubicBezTo>
                    <a:pt x="147" y="159"/>
                    <a:pt x="159" y="144"/>
                    <a:pt x="159" y="125"/>
                  </a:cubicBezTo>
                  <a:lnTo>
                    <a:pt x="159" y="38"/>
                  </a:lnTo>
                  <a:cubicBezTo>
                    <a:pt x="159" y="20"/>
                    <a:pt x="148" y="4"/>
                    <a:pt x="133" y="2"/>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2" name="Freeform 22">
              <a:extLst>
                <a:ext uri="{FF2B5EF4-FFF2-40B4-BE49-F238E27FC236}">
                  <a16:creationId xmlns:a16="http://schemas.microsoft.com/office/drawing/2014/main" id="{13230B00-040C-4294-B920-598368FACFD1}"/>
                </a:ext>
              </a:extLst>
            </p:cNvPr>
            <p:cNvSpPr>
              <a:spLocks noEditPoints="1"/>
            </p:cNvSpPr>
            <p:nvPr/>
          </p:nvSpPr>
          <p:spPr bwMode="gray">
            <a:xfrm>
              <a:off x="2568575" y="2409825"/>
              <a:ext cx="60325" cy="61913"/>
            </a:xfrm>
            <a:custGeom>
              <a:avLst/>
              <a:gdLst>
                <a:gd name="T0" fmla="*/ 109 w 136"/>
                <a:gd name="T1" fmla="*/ 105 h 143"/>
                <a:gd name="T2" fmla="*/ 109 w 136"/>
                <a:gd name="T3" fmla="*/ 105 h 143"/>
                <a:gd name="T4" fmla="*/ 108 w 136"/>
                <a:gd name="T5" fmla="*/ 110 h 143"/>
                <a:gd name="T6" fmla="*/ 28 w 136"/>
                <a:gd name="T7" fmla="*/ 116 h 143"/>
                <a:gd name="T8" fmla="*/ 27 w 136"/>
                <a:gd name="T9" fmla="*/ 109 h 143"/>
                <a:gd name="T10" fmla="*/ 27 w 136"/>
                <a:gd name="T11" fmla="*/ 33 h 143"/>
                <a:gd name="T12" fmla="*/ 28 w 136"/>
                <a:gd name="T13" fmla="*/ 26 h 143"/>
                <a:gd name="T14" fmla="*/ 108 w 136"/>
                <a:gd name="T15" fmla="*/ 28 h 143"/>
                <a:gd name="T16" fmla="*/ 109 w 136"/>
                <a:gd name="T17" fmla="*/ 34 h 143"/>
                <a:gd name="T18" fmla="*/ 109 w 136"/>
                <a:gd name="T19" fmla="*/ 105 h 143"/>
                <a:gd name="T20" fmla="*/ 113 w 136"/>
                <a:gd name="T21" fmla="*/ 2 h 143"/>
                <a:gd name="T22" fmla="*/ 113 w 136"/>
                <a:gd name="T23" fmla="*/ 2 h 143"/>
                <a:gd name="T24" fmla="*/ 26 w 136"/>
                <a:gd name="T25" fmla="*/ 0 h 143"/>
                <a:gd name="T26" fmla="*/ 24 w 136"/>
                <a:gd name="T27" fmla="*/ 0 h 143"/>
                <a:gd name="T28" fmla="*/ 0 w 136"/>
                <a:gd name="T29" fmla="*/ 33 h 143"/>
                <a:gd name="T30" fmla="*/ 0 w 136"/>
                <a:gd name="T31" fmla="*/ 109 h 143"/>
                <a:gd name="T32" fmla="*/ 25 w 136"/>
                <a:gd name="T33" fmla="*/ 143 h 143"/>
                <a:gd name="T34" fmla="*/ 112 w 136"/>
                <a:gd name="T35" fmla="*/ 137 h 143"/>
                <a:gd name="T36" fmla="*/ 136 w 136"/>
                <a:gd name="T37" fmla="*/ 105 h 143"/>
                <a:gd name="T38" fmla="*/ 136 w 136"/>
                <a:gd name="T39" fmla="*/ 34 h 143"/>
                <a:gd name="T40" fmla="*/ 113 w 136"/>
                <a:gd name="T41" fmla="*/ 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6" h="143">
                  <a:moveTo>
                    <a:pt x="109" y="105"/>
                  </a:moveTo>
                  <a:lnTo>
                    <a:pt x="109" y="105"/>
                  </a:lnTo>
                  <a:cubicBezTo>
                    <a:pt x="109" y="108"/>
                    <a:pt x="108" y="109"/>
                    <a:pt x="108" y="110"/>
                  </a:cubicBezTo>
                  <a:lnTo>
                    <a:pt x="28" y="116"/>
                  </a:lnTo>
                  <a:cubicBezTo>
                    <a:pt x="27" y="115"/>
                    <a:pt x="27" y="112"/>
                    <a:pt x="27" y="109"/>
                  </a:cubicBezTo>
                  <a:lnTo>
                    <a:pt x="27" y="33"/>
                  </a:lnTo>
                  <a:cubicBezTo>
                    <a:pt x="27" y="30"/>
                    <a:pt x="27" y="28"/>
                    <a:pt x="28" y="26"/>
                  </a:cubicBezTo>
                  <a:lnTo>
                    <a:pt x="108" y="28"/>
                  </a:lnTo>
                  <a:cubicBezTo>
                    <a:pt x="108" y="29"/>
                    <a:pt x="109" y="31"/>
                    <a:pt x="109" y="34"/>
                  </a:cubicBezTo>
                  <a:lnTo>
                    <a:pt x="109" y="105"/>
                  </a:lnTo>
                  <a:close/>
                  <a:moveTo>
                    <a:pt x="113" y="2"/>
                  </a:moveTo>
                  <a:lnTo>
                    <a:pt x="113" y="2"/>
                  </a:lnTo>
                  <a:lnTo>
                    <a:pt x="26" y="0"/>
                  </a:lnTo>
                  <a:lnTo>
                    <a:pt x="24" y="0"/>
                  </a:lnTo>
                  <a:cubicBezTo>
                    <a:pt x="10" y="0"/>
                    <a:pt x="0" y="14"/>
                    <a:pt x="0" y="33"/>
                  </a:cubicBezTo>
                  <a:lnTo>
                    <a:pt x="0" y="109"/>
                  </a:lnTo>
                  <a:cubicBezTo>
                    <a:pt x="0" y="129"/>
                    <a:pt x="10" y="143"/>
                    <a:pt x="25" y="143"/>
                  </a:cubicBezTo>
                  <a:lnTo>
                    <a:pt x="112" y="137"/>
                  </a:lnTo>
                  <a:cubicBezTo>
                    <a:pt x="125" y="136"/>
                    <a:pt x="136" y="122"/>
                    <a:pt x="136" y="105"/>
                  </a:cubicBezTo>
                  <a:lnTo>
                    <a:pt x="136" y="34"/>
                  </a:lnTo>
                  <a:cubicBezTo>
                    <a:pt x="136" y="17"/>
                    <a:pt x="126" y="4"/>
                    <a:pt x="113" y="2"/>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3" name="Freeform 23">
              <a:extLst>
                <a:ext uri="{FF2B5EF4-FFF2-40B4-BE49-F238E27FC236}">
                  <a16:creationId xmlns:a16="http://schemas.microsoft.com/office/drawing/2014/main" id="{49DC476F-1F05-403E-9B3F-88D1389E5308}"/>
                </a:ext>
              </a:extLst>
            </p:cNvPr>
            <p:cNvSpPr>
              <a:spLocks/>
            </p:cNvSpPr>
            <p:nvPr/>
          </p:nvSpPr>
          <p:spPr bwMode="gray">
            <a:xfrm>
              <a:off x="2451100" y="2532063"/>
              <a:ext cx="74613" cy="25400"/>
            </a:xfrm>
            <a:custGeom>
              <a:avLst/>
              <a:gdLst>
                <a:gd name="T0" fmla="*/ 16 w 173"/>
                <a:gd name="T1" fmla="*/ 59 h 59"/>
                <a:gd name="T2" fmla="*/ 16 w 173"/>
                <a:gd name="T3" fmla="*/ 59 h 59"/>
                <a:gd name="T4" fmla="*/ 16 w 173"/>
                <a:gd name="T5" fmla="*/ 59 h 59"/>
                <a:gd name="T6" fmla="*/ 157 w 173"/>
                <a:gd name="T7" fmla="*/ 44 h 59"/>
                <a:gd name="T8" fmla="*/ 173 w 173"/>
                <a:gd name="T9" fmla="*/ 22 h 59"/>
                <a:gd name="T10" fmla="*/ 156 w 173"/>
                <a:gd name="T11" fmla="*/ 0 h 59"/>
                <a:gd name="T12" fmla="*/ 16 w 173"/>
                <a:gd name="T13" fmla="*/ 15 h 59"/>
                <a:gd name="T14" fmla="*/ 0 w 173"/>
                <a:gd name="T15" fmla="*/ 37 h 59"/>
                <a:gd name="T16" fmla="*/ 16 w 173"/>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59">
                  <a:moveTo>
                    <a:pt x="16" y="59"/>
                  </a:moveTo>
                  <a:lnTo>
                    <a:pt x="16" y="59"/>
                  </a:lnTo>
                  <a:lnTo>
                    <a:pt x="16" y="59"/>
                  </a:lnTo>
                  <a:lnTo>
                    <a:pt x="157" y="44"/>
                  </a:lnTo>
                  <a:cubicBezTo>
                    <a:pt x="165" y="44"/>
                    <a:pt x="173" y="34"/>
                    <a:pt x="173" y="22"/>
                  </a:cubicBezTo>
                  <a:cubicBezTo>
                    <a:pt x="173" y="10"/>
                    <a:pt x="165" y="0"/>
                    <a:pt x="156" y="0"/>
                  </a:cubicBezTo>
                  <a:lnTo>
                    <a:pt x="16" y="15"/>
                  </a:lnTo>
                  <a:cubicBezTo>
                    <a:pt x="7" y="15"/>
                    <a:pt x="0" y="25"/>
                    <a:pt x="0" y="37"/>
                  </a:cubicBezTo>
                  <a:cubicBezTo>
                    <a:pt x="0" y="49"/>
                    <a:pt x="7" y="59"/>
                    <a:pt x="16" y="59"/>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4" name="Freeform 24">
              <a:extLst>
                <a:ext uri="{FF2B5EF4-FFF2-40B4-BE49-F238E27FC236}">
                  <a16:creationId xmlns:a16="http://schemas.microsoft.com/office/drawing/2014/main" id="{4CCA0466-08B2-42AE-8C42-B60E07B157B2}"/>
                </a:ext>
              </a:extLst>
            </p:cNvPr>
            <p:cNvSpPr>
              <a:spLocks/>
            </p:cNvSpPr>
            <p:nvPr/>
          </p:nvSpPr>
          <p:spPr bwMode="gray">
            <a:xfrm>
              <a:off x="2451100" y="2566988"/>
              <a:ext cx="74613" cy="26988"/>
            </a:xfrm>
            <a:custGeom>
              <a:avLst/>
              <a:gdLst>
                <a:gd name="T0" fmla="*/ 156 w 173"/>
                <a:gd name="T1" fmla="*/ 0 h 64"/>
                <a:gd name="T2" fmla="*/ 156 w 173"/>
                <a:gd name="T3" fmla="*/ 0 h 64"/>
                <a:gd name="T4" fmla="*/ 156 w 173"/>
                <a:gd name="T5" fmla="*/ 0 h 64"/>
                <a:gd name="T6" fmla="*/ 16 w 173"/>
                <a:gd name="T7" fmla="*/ 21 h 64"/>
                <a:gd name="T8" fmla="*/ 0 w 173"/>
                <a:gd name="T9" fmla="*/ 42 h 64"/>
                <a:gd name="T10" fmla="*/ 16 w 173"/>
                <a:gd name="T11" fmla="*/ 64 h 64"/>
                <a:gd name="T12" fmla="*/ 16 w 173"/>
                <a:gd name="T13" fmla="*/ 64 h 64"/>
                <a:gd name="T14" fmla="*/ 157 w 173"/>
                <a:gd name="T15" fmla="*/ 43 h 64"/>
                <a:gd name="T16" fmla="*/ 173 w 173"/>
                <a:gd name="T17" fmla="*/ 22 h 64"/>
                <a:gd name="T18" fmla="*/ 156 w 173"/>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3" h="64">
                  <a:moveTo>
                    <a:pt x="156" y="0"/>
                  </a:moveTo>
                  <a:lnTo>
                    <a:pt x="156" y="0"/>
                  </a:lnTo>
                  <a:lnTo>
                    <a:pt x="156" y="0"/>
                  </a:lnTo>
                  <a:lnTo>
                    <a:pt x="16" y="21"/>
                  </a:lnTo>
                  <a:cubicBezTo>
                    <a:pt x="7" y="21"/>
                    <a:pt x="0" y="30"/>
                    <a:pt x="0" y="42"/>
                  </a:cubicBezTo>
                  <a:cubicBezTo>
                    <a:pt x="0" y="54"/>
                    <a:pt x="7" y="64"/>
                    <a:pt x="16" y="64"/>
                  </a:cubicBezTo>
                  <a:lnTo>
                    <a:pt x="16" y="64"/>
                  </a:lnTo>
                  <a:lnTo>
                    <a:pt x="157" y="43"/>
                  </a:lnTo>
                  <a:cubicBezTo>
                    <a:pt x="165" y="43"/>
                    <a:pt x="173" y="34"/>
                    <a:pt x="173" y="22"/>
                  </a:cubicBezTo>
                  <a:cubicBezTo>
                    <a:pt x="173" y="10"/>
                    <a:pt x="166" y="0"/>
                    <a:pt x="156" y="0"/>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5" name="Freeform 25">
              <a:extLst>
                <a:ext uri="{FF2B5EF4-FFF2-40B4-BE49-F238E27FC236}">
                  <a16:creationId xmlns:a16="http://schemas.microsoft.com/office/drawing/2014/main" id="{54F1D204-BEE7-4721-8D77-02EEB92449F1}"/>
                </a:ext>
              </a:extLst>
            </p:cNvPr>
            <p:cNvSpPr>
              <a:spLocks/>
            </p:cNvSpPr>
            <p:nvPr/>
          </p:nvSpPr>
          <p:spPr bwMode="gray">
            <a:xfrm>
              <a:off x="2570163" y="2522538"/>
              <a:ext cx="57150" cy="19050"/>
            </a:xfrm>
            <a:custGeom>
              <a:avLst/>
              <a:gdLst>
                <a:gd name="T0" fmla="*/ 12 w 132"/>
                <a:gd name="T1" fmla="*/ 44 h 44"/>
                <a:gd name="T2" fmla="*/ 12 w 132"/>
                <a:gd name="T3" fmla="*/ 44 h 44"/>
                <a:gd name="T4" fmla="*/ 12 w 132"/>
                <a:gd name="T5" fmla="*/ 44 h 44"/>
                <a:gd name="T6" fmla="*/ 120 w 132"/>
                <a:gd name="T7" fmla="*/ 33 h 44"/>
                <a:gd name="T8" fmla="*/ 132 w 132"/>
                <a:gd name="T9" fmla="*/ 16 h 44"/>
                <a:gd name="T10" fmla="*/ 120 w 132"/>
                <a:gd name="T11" fmla="*/ 0 h 44"/>
                <a:gd name="T12" fmla="*/ 12 w 132"/>
                <a:gd name="T13" fmla="*/ 11 h 44"/>
                <a:gd name="T14" fmla="*/ 0 w 132"/>
                <a:gd name="T15" fmla="*/ 28 h 44"/>
                <a:gd name="T16" fmla="*/ 12 w 132"/>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 h="44">
                  <a:moveTo>
                    <a:pt x="12" y="44"/>
                  </a:moveTo>
                  <a:lnTo>
                    <a:pt x="12" y="44"/>
                  </a:lnTo>
                  <a:lnTo>
                    <a:pt x="12" y="44"/>
                  </a:lnTo>
                  <a:lnTo>
                    <a:pt x="120" y="33"/>
                  </a:lnTo>
                  <a:cubicBezTo>
                    <a:pt x="127" y="33"/>
                    <a:pt x="132" y="25"/>
                    <a:pt x="132" y="16"/>
                  </a:cubicBezTo>
                  <a:cubicBezTo>
                    <a:pt x="132" y="7"/>
                    <a:pt x="127" y="0"/>
                    <a:pt x="120" y="0"/>
                  </a:cubicBezTo>
                  <a:lnTo>
                    <a:pt x="12" y="11"/>
                  </a:lnTo>
                  <a:cubicBezTo>
                    <a:pt x="5" y="11"/>
                    <a:pt x="0" y="19"/>
                    <a:pt x="0" y="28"/>
                  </a:cubicBezTo>
                  <a:cubicBezTo>
                    <a:pt x="0" y="37"/>
                    <a:pt x="5" y="44"/>
                    <a:pt x="12" y="44"/>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6" name="Freeform 26">
              <a:extLst>
                <a:ext uri="{FF2B5EF4-FFF2-40B4-BE49-F238E27FC236}">
                  <a16:creationId xmlns:a16="http://schemas.microsoft.com/office/drawing/2014/main" id="{61604E1D-5B53-4C00-B3A5-73376F9CFBEC}"/>
                </a:ext>
              </a:extLst>
            </p:cNvPr>
            <p:cNvSpPr>
              <a:spLocks/>
            </p:cNvSpPr>
            <p:nvPr/>
          </p:nvSpPr>
          <p:spPr bwMode="gray">
            <a:xfrm>
              <a:off x="2570163" y="2547938"/>
              <a:ext cx="57150" cy="20638"/>
            </a:xfrm>
            <a:custGeom>
              <a:avLst/>
              <a:gdLst>
                <a:gd name="T0" fmla="*/ 119 w 132"/>
                <a:gd name="T1" fmla="*/ 0 h 49"/>
                <a:gd name="T2" fmla="*/ 119 w 132"/>
                <a:gd name="T3" fmla="*/ 0 h 49"/>
                <a:gd name="T4" fmla="*/ 119 w 132"/>
                <a:gd name="T5" fmla="*/ 0 h 49"/>
                <a:gd name="T6" fmla="*/ 12 w 132"/>
                <a:gd name="T7" fmla="*/ 16 h 49"/>
                <a:gd name="T8" fmla="*/ 0 w 132"/>
                <a:gd name="T9" fmla="*/ 32 h 49"/>
                <a:gd name="T10" fmla="*/ 12 w 132"/>
                <a:gd name="T11" fmla="*/ 49 h 49"/>
                <a:gd name="T12" fmla="*/ 12 w 132"/>
                <a:gd name="T13" fmla="*/ 49 h 49"/>
                <a:gd name="T14" fmla="*/ 120 w 132"/>
                <a:gd name="T15" fmla="*/ 33 h 49"/>
                <a:gd name="T16" fmla="*/ 132 w 132"/>
                <a:gd name="T17" fmla="*/ 17 h 49"/>
                <a:gd name="T18" fmla="*/ 119 w 132"/>
                <a:gd name="T19"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49">
                  <a:moveTo>
                    <a:pt x="119" y="0"/>
                  </a:moveTo>
                  <a:lnTo>
                    <a:pt x="119" y="0"/>
                  </a:lnTo>
                  <a:lnTo>
                    <a:pt x="119" y="0"/>
                  </a:lnTo>
                  <a:lnTo>
                    <a:pt x="12" y="16"/>
                  </a:lnTo>
                  <a:cubicBezTo>
                    <a:pt x="5" y="16"/>
                    <a:pt x="0" y="23"/>
                    <a:pt x="0" y="32"/>
                  </a:cubicBezTo>
                  <a:cubicBezTo>
                    <a:pt x="0" y="42"/>
                    <a:pt x="5" y="49"/>
                    <a:pt x="12" y="49"/>
                  </a:cubicBezTo>
                  <a:lnTo>
                    <a:pt x="12" y="49"/>
                  </a:lnTo>
                  <a:lnTo>
                    <a:pt x="120" y="33"/>
                  </a:lnTo>
                  <a:cubicBezTo>
                    <a:pt x="127" y="33"/>
                    <a:pt x="132" y="26"/>
                    <a:pt x="132" y="17"/>
                  </a:cubicBezTo>
                  <a:cubicBezTo>
                    <a:pt x="132" y="8"/>
                    <a:pt x="127" y="0"/>
                    <a:pt x="119" y="0"/>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7" name="Freeform 27">
              <a:extLst>
                <a:ext uri="{FF2B5EF4-FFF2-40B4-BE49-F238E27FC236}">
                  <a16:creationId xmlns:a16="http://schemas.microsoft.com/office/drawing/2014/main" id="{BDBD88A9-EF78-4245-98C8-7242DF2B387E}"/>
                </a:ext>
              </a:extLst>
            </p:cNvPr>
            <p:cNvSpPr>
              <a:spLocks noEditPoints="1"/>
            </p:cNvSpPr>
            <p:nvPr/>
          </p:nvSpPr>
          <p:spPr bwMode="gray">
            <a:xfrm>
              <a:off x="2662238" y="2209800"/>
              <a:ext cx="38100" cy="52388"/>
            </a:xfrm>
            <a:custGeom>
              <a:avLst/>
              <a:gdLst>
                <a:gd name="T0" fmla="*/ 20 w 91"/>
                <a:gd name="T1" fmla="*/ 31 h 120"/>
                <a:gd name="T2" fmla="*/ 20 w 91"/>
                <a:gd name="T3" fmla="*/ 31 h 120"/>
                <a:gd name="T4" fmla="*/ 21 w 91"/>
                <a:gd name="T5" fmla="*/ 21 h 120"/>
                <a:gd name="T6" fmla="*/ 68 w 91"/>
                <a:gd name="T7" fmla="*/ 36 h 120"/>
                <a:gd name="T8" fmla="*/ 71 w 91"/>
                <a:gd name="T9" fmla="*/ 47 h 120"/>
                <a:gd name="T10" fmla="*/ 71 w 91"/>
                <a:gd name="T11" fmla="*/ 90 h 120"/>
                <a:gd name="T12" fmla="*/ 69 w 91"/>
                <a:gd name="T13" fmla="*/ 100 h 120"/>
                <a:gd name="T14" fmla="*/ 22 w 91"/>
                <a:gd name="T15" fmla="*/ 96 h 120"/>
                <a:gd name="T16" fmla="*/ 20 w 91"/>
                <a:gd name="T17" fmla="*/ 83 h 120"/>
                <a:gd name="T18" fmla="*/ 20 w 91"/>
                <a:gd name="T19" fmla="*/ 31 h 120"/>
                <a:gd name="T20" fmla="*/ 3 w 91"/>
                <a:gd name="T21" fmla="*/ 103 h 120"/>
                <a:gd name="T22" fmla="*/ 3 w 91"/>
                <a:gd name="T23" fmla="*/ 103 h 120"/>
                <a:gd name="T24" fmla="*/ 19 w 91"/>
                <a:gd name="T25" fmla="*/ 116 h 120"/>
                <a:gd name="T26" fmla="*/ 71 w 91"/>
                <a:gd name="T27" fmla="*/ 120 h 120"/>
                <a:gd name="T28" fmla="*/ 72 w 91"/>
                <a:gd name="T29" fmla="*/ 120 h 120"/>
                <a:gd name="T30" fmla="*/ 91 w 91"/>
                <a:gd name="T31" fmla="*/ 90 h 120"/>
                <a:gd name="T32" fmla="*/ 91 w 91"/>
                <a:gd name="T33" fmla="*/ 47 h 120"/>
                <a:gd name="T34" fmla="*/ 74 w 91"/>
                <a:gd name="T35" fmla="*/ 17 h 120"/>
                <a:gd name="T36" fmla="*/ 23 w 91"/>
                <a:gd name="T37" fmla="*/ 0 h 120"/>
                <a:gd name="T38" fmla="*/ 19 w 91"/>
                <a:gd name="T39" fmla="*/ 0 h 120"/>
                <a:gd name="T40" fmla="*/ 0 w 91"/>
                <a:gd name="T41" fmla="*/ 31 h 120"/>
                <a:gd name="T42" fmla="*/ 0 w 91"/>
                <a:gd name="T43" fmla="*/ 83 h 120"/>
                <a:gd name="T44" fmla="*/ 3 w 91"/>
                <a:gd name="T45" fmla="*/ 10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1" h="120">
                  <a:moveTo>
                    <a:pt x="20" y="31"/>
                  </a:moveTo>
                  <a:lnTo>
                    <a:pt x="20" y="31"/>
                  </a:lnTo>
                  <a:cubicBezTo>
                    <a:pt x="20" y="27"/>
                    <a:pt x="20" y="23"/>
                    <a:pt x="21" y="21"/>
                  </a:cubicBezTo>
                  <a:lnTo>
                    <a:pt x="68" y="36"/>
                  </a:lnTo>
                  <a:cubicBezTo>
                    <a:pt x="69" y="37"/>
                    <a:pt x="71" y="41"/>
                    <a:pt x="71" y="47"/>
                  </a:cubicBezTo>
                  <a:lnTo>
                    <a:pt x="71" y="90"/>
                  </a:lnTo>
                  <a:cubicBezTo>
                    <a:pt x="71" y="95"/>
                    <a:pt x="70" y="99"/>
                    <a:pt x="69" y="100"/>
                  </a:cubicBezTo>
                  <a:lnTo>
                    <a:pt x="22" y="96"/>
                  </a:lnTo>
                  <a:cubicBezTo>
                    <a:pt x="21" y="94"/>
                    <a:pt x="20" y="90"/>
                    <a:pt x="20" y="83"/>
                  </a:cubicBezTo>
                  <a:lnTo>
                    <a:pt x="20" y="31"/>
                  </a:lnTo>
                  <a:close/>
                  <a:moveTo>
                    <a:pt x="3" y="103"/>
                  </a:moveTo>
                  <a:lnTo>
                    <a:pt x="3" y="103"/>
                  </a:lnTo>
                  <a:cubicBezTo>
                    <a:pt x="8" y="113"/>
                    <a:pt x="14" y="116"/>
                    <a:pt x="19" y="116"/>
                  </a:cubicBezTo>
                  <a:lnTo>
                    <a:pt x="71" y="120"/>
                  </a:lnTo>
                  <a:lnTo>
                    <a:pt x="72" y="120"/>
                  </a:lnTo>
                  <a:cubicBezTo>
                    <a:pt x="83" y="119"/>
                    <a:pt x="91" y="107"/>
                    <a:pt x="91" y="90"/>
                  </a:cubicBezTo>
                  <a:lnTo>
                    <a:pt x="91" y="47"/>
                  </a:lnTo>
                  <a:cubicBezTo>
                    <a:pt x="91" y="34"/>
                    <a:pt x="85" y="19"/>
                    <a:pt x="74" y="17"/>
                  </a:cubicBezTo>
                  <a:lnTo>
                    <a:pt x="23" y="0"/>
                  </a:lnTo>
                  <a:lnTo>
                    <a:pt x="19" y="0"/>
                  </a:lnTo>
                  <a:cubicBezTo>
                    <a:pt x="7" y="0"/>
                    <a:pt x="0" y="12"/>
                    <a:pt x="0" y="31"/>
                  </a:cubicBezTo>
                  <a:lnTo>
                    <a:pt x="0" y="83"/>
                  </a:lnTo>
                  <a:cubicBezTo>
                    <a:pt x="0" y="91"/>
                    <a:pt x="1" y="98"/>
                    <a:pt x="3" y="103"/>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8" name="Freeform 28">
              <a:extLst>
                <a:ext uri="{FF2B5EF4-FFF2-40B4-BE49-F238E27FC236}">
                  <a16:creationId xmlns:a16="http://schemas.microsoft.com/office/drawing/2014/main" id="{FC84729C-C4E3-4B11-B082-42DC61A8C855}"/>
                </a:ext>
              </a:extLst>
            </p:cNvPr>
            <p:cNvSpPr>
              <a:spLocks noEditPoints="1"/>
            </p:cNvSpPr>
            <p:nvPr/>
          </p:nvSpPr>
          <p:spPr bwMode="gray">
            <a:xfrm>
              <a:off x="2662238" y="2311400"/>
              <a:ext cx="38100" cy="55563"/>
            </a:xfrm>
            <a:custGeom>
              <a:avLst/>
              <a:gdLst>
                <a:gd name="T0" fmla="*/ 20 w 91"/>
                <a:gd name="T1" fmla="*/ 30 h 126"/>
                <a:gd name="T2" fmla="*/ 20 w 91"/>
                <a:gd name="T3" fmla="*/ 30 h 126"/>
                <a:gd name="T4" fmla="*/ 21 w 91"/>
                <a:gd name="T5" fmla="*/ 20 h 126"/>
                <a:gd name="T6" fmla="*/ 68 w 91"/>
                <a:gd name="T7" fmla="*/ 32 h 126"/>
                <a:gd name="T8" fmla="*/ 71 w 91"/>
                <a:gd name="T9" fmla="*/ 42 h 126"/>
                <a:gd name="T10" fmla="*/ 71 w 91"/>
                <a:gd name="T11" fmla="*/ 97 h 126"/>
                <a:gd name="T12" fmla="*/ 69 w 91"/>
                <a:gd name="T13" fmla="*/ 105 h 126"/>
                <a:gd name="T14" fmla="*/ 22 w 91"/>
                <a:gd name="T15" fmla="*/ 106 h 126"/>
                <a:gd name="T16" fmla="*/ 20 w 91"/>
                <a:gd name="T17" fmla="*/ 95 h 126"/>
                <a:gd name="T18" fmla="*/ 20 w 91"/>
                <a:gd name="T19" fmla="*/ 30 h 126"/>
                <a:gd name="T20" fmla="*/ 19 w 91"/>
                <a:gd name="T21" fmla="*/ 126 h 126"/>
                <a:gd name="T22" fmla="*/ 19 w 91"/>
                <a:gd name="T23" fmla="*/ 126 h 126"/>
                <a:gd name="T24" fmla="*/ 72 w 91"/>
                <a:gd name="T25" fmla="*/ 125 h 126"/>
                <a:gd name="T26" fmla="*/ 91 w 91"/>
                <a:gd name="T27" fmla="*/ 97 h 126"/>
                <a:gd name="T28" fmla="*/ 91 w 91"/>
                <a:gd name="T29" fmla="*/ 42 h 126"/>
                <a:gd name="T30" fmla="*/ 73 w 91"/>
                <a:gd name="T31" fmla="*/ 13 h 126"/>
                <a:gd name="T32" fmla="*/ 21 w 91"/>
                <a:gd name="T33" fmla="*/ 0 h 126"/>
                <a:gd name="T34" fmla="*/ 19 w 91"/>
                <a:gd name="T35" fmla="*/ 0 h 126"/>
                <a:gd name="T36" fmla="*/ 0 w 91"/>
                <a:gd name="T37" fmla="*/ 30 h 126"/>
                <a:gd name="T38" fmla="*/ 0 w 91"/>
                <a:gd name="T39" fmla="*/ 95 h 126"/>
                <a:gd name="T40" fmla="*/ 19 w 91"/>
                <a:gd name="T41"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 h="126">
                  <a:moveTo>
                    <a:pt x="20" y="30"/>
                  </a:moveTo>
                  <a:lnTo>
                    <a:pt x="20" y="30"/>
                  </a:lnTo>
                  <a:cubicBezTo>
                    <a:pt x="20" y="25"/>
                    <a:pt x="20" y="22"/>
                    <a:pt x="21" y="20"/>
                  </a:cubicBezTo>
                  <a:lnTo>
                    <a:pt x="68" y="32"/>
                  </a:lnTo>
                  <a:cubicBezTo>
                    <a:pt x="69" y="32"/>
                    <a:pt x="71" y="36"/>
                    <a:pt x="71" y="42"/>
                  </a:cubicBezTo>
                  <a:lnTo>
                    <a:pt x="71" y="97"/>
                  </a:lnTo>
                  <a:cubicBezTo>
                    <a:pt x="71" y="101"/>
                    <a:pt x="70" y="104"/>
                    <a:pt x="69" y="105"/>
                  </a:cubicBezTo>
                  <a:lnTo>
                    <a:pt x="22" y="106"/>
                  </a:lnTo>
                  <a:cubicBezTo>
                    <a:pt x="21" y="104"/>
                    <a:pt x="20" y="100"/>
                    <a:pt x="20" y="95"/>
                  </a:cubicBezTo>
                  <a:lnTo>
                    <a:pt x="20" y="30"/>
                  </a:lnTo>
                  <a:close/>
                  <a:moveTo>
                    <a:pt x="19" y="126"/>
                  </a:moveTo>
                  <a:lnTo>
                    <a:pt x="19" y="126"/>
                  </a:lnTo>
                  <a:lnTo>
                    <a:pt x="72" y="125"/>
                  </a:lnTo>
                  <a:cubicBezTo>
                    <a:pt x="83" y="124"/>
                    <a:pt x="91" y="112"/>
                    <a:pt x="91" y="97"/>
                  </a:cubicBezTo>
                  <a:lnTo>
                    <a:pt x="91" y="42"/>
                  </a:lnTo>
                  <a:cubicBezTo>
                    <a:pt x="91" y="29"/>
                    <a:pt x="85" y="14"/>
                    <a:pt x="73" y="13"/>
                  </a:cubicBezTo>
                  <a:lnTo>
                    <a:pt x="21" y="0"/>
                  </a:lnTo>
                  <a:lnTo>
                    <a:pt x="19" y="0"/>
                  </a:lnTo>
                  <a:cubicBezTo>
                    <a:pt x="7" y="0"/>
                    <a:pt x="0" y="12"/>
                    <a:pt x="0" y="30"/>
                  </a:cubicBezTo>
                  <a:lnTo>
                    <a:pt x="0" y="95"/>
                  </a:lnTo>
                  <a:cubicBezTo>
                    <a:pt x="0" y="113"/>
                    <a:pt x="8" y="126"/>
                    <a:pt x="19" y="126"/>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19" name="Freeform 29">
              <a:extLst>
                <a:ext uri="{FF2B5EF4-FFF2-40B4-BE49-F238E27FC236}">
                  <a16:creationId xmlns:a16="http://schemas.microsoft.com/office/drawing/2014/main" id="{65A860A6-F7BE-4142-93EB-DA8466ECFD14}"/>
                </a:ext>
              </a:extLst>
            </p:cNvPr>
            <p:cNvSpPr>
              <a:spLocks noEditPoints="1"/>
            </p:cNvSpPr>
            <p:nvPr/>
          </p:nvSpPr>
          <p:spPr bwMode="gray">
            <a:xfrm>
              <a:off x="2659063" y="2413000"/>
              <a:ext cx="41275" cy="53975"/>
            </a:xfrm>
            <a:custGeom>
              <a:avLst/>
              <a:gdLst>
                <a:gd name="T0" fmla="*/ 20 w 94"/>
                <a:gd name="T1" fmla="*/ 30 h 123"/>
                <a:gd name="T2" fmla="*/ 20 w 94"/>
                <a:gd name="T3" fmla="*/ 30 h 123"/>
                <a:gd name="T4" fmla="*/ 21 w 94"/>
                <a:gd name="T5" fmla="*/ 20 h 123"/>
                <a:gd name="T6" fmla="*/ 72 w 94"/>
                <a:gd name="T7" fmla="*/ 22 h 123"/>
                <a:gd name="T8" fmla="*/ 74 w 94"/>
                <a:gd name="T9" fmla="*/ 31 h 123"/>
                <a:gd name="T10" fmla="*/ 74 w 94"/>
                <a:gd name="T11" fmla="*/ 89 h 123"/>
                <a:gd name="T12" fmla="*/ 72 w 94"/>
                <a:gd name="T13" fmla="*/ 97 h 123"/>
                <a:gd name="T14" fmla="*/ 21 w 94"/>
                <a:gd name="T15" fmla="*/ 103 h 123"/>
                <a:gd name="T16" fmla="*/ 20 w 94"/>
                <a:gd name="T17" fmla="*/ 93 h 123"/>
                <a:gd name="T18" fmla="*/ 20 w 94"/>
                <a:gd name="T19" fmla="*/ 30 h 123"/>
                <a:gd name="T20" fmla="*/ 18 w 94"/>
                <a:gd name="T21" fmla="*/ 123 h 123"/>
                <a:gd name="T22" fmla="*/ 18 w 94"/>
                <a:gd name="T23" fmla="*/ 123 h 123"/>
                <a:gd name="T24" fmla="*/ 77 w 94"/>
                <a:gd name="T25" fmla="*/ 117 h 123"/>
                <a:gd name="T26" fmla="*/ 94 w 94"/>
                <a:gd name="T27" fmla="*/ 89 h 123"/>
                <a:gd name="T28" fmla="*/ 94 w 94"/>
                <a:gd name="T29" fmla="*/ 31 h 123"/>
                <a:gd name="T30" fmla="*/ 78 w 94"/>
                <a:gd name="T31" fmla="*/ 2 h 123"/>
                <a:gd name="T32" fmla="*/ 19 w 94"/>
                <a:gd name="T33" fmla="*/ 0 h 123"/>
                <a:gd name="T34" fmla="*/ 17 w 94"/>
                <a:gd name="T35" fmla="*/ 0 h 123"/>
                <a:gd name="T36" fmla="*/ 0 w 94"/>
                <a:gd name="T37" fmla="*/ 30 h 123"/>
                <a:gd name="T38" fmla="*/ 0 w 94"/>
                <a:gd name="T39" fmla="*/ 93 h 123"/>
                <a:gd name="T40" fmla="*/ 18 w 94"/>
                <a:gd name="T41"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23">
                  <a:moveTo>
                    <a:pt x="20" y="30"/>
                  </a:moveTo>
                  <a:lnTo>
                    <a:pt x="20" y="30"/>
                  </a:lnTo>
                  <a:cubicBezTo>
                    <a:pt x="20" y="26"/>
                    <a:pt x="20" y="22"/>
                    <a:pt x="21" y="20"/>
                  </a:cubicBezTo>
                  <a:lnTo>
                    <a:pt x="72" y="22"/>
                  </a:lnTo>
                  <a:cubicBezTo>
                    <a:pt x="73" y="24"/>
                    <a:pt x="74" y="27"/>
                    <a:pt x="74" y="31"/>
                  </a:cubicBezTo>
                  <a:lnTo>
                    <a:pt x="74" y="89"/>
                  </a:lnTo>
                  <a:cubicBezTo>
                    <a:pt x="74" y="93"/>
                    <a:pt x="73" y="96"/>
                    <a:pt x="72" y="97"/>
                  </a:cubicBezTo>
                  <a:lnTo>
                    <a:pt x="21" y="103"/>
                  </a:lnTo>
                  <a:cubicBezTo>
                    <a:pt x="20" y="101"/>
                    <a:pt x="20" y="97"/>
                    <a:pt x="20" y="93"/>
                  </a:cubicBezTo>
                  <a:lnTo>
                    <a:pt x="20" y="30"/>
                  </a:lnTo>
                  <a:close/>
                  <a:moveTo>
                    <a:pt x="18" y="123"/>
                  </a:moveTo>
                  <a:lnTo>
                    <a:pt x="18" y="123"/>
                  </a:lnTo>
                  <a:lnTo>
                    <a:pt x="77" y="117"/>
                  </a:lnTo>
                  <a:cubicBezTo>
                    <a:pt x="87" y="116"/>
                    <a:pt x="94" y="105"/>
                    <a:pt x="94" y="89"/>
                  </a:cubicBezTo>
                  <a:lnTo>
                    <a:pt x="94" y="31"/>
                  </a:lnTo>
                  <a:cubicBezTo>
                    <a:pt x="94" y="19"/>
                    <a:pt x="89" y="5"/>
                    <a:pt x="78" y="2"/>
                  </a:cubicBezTo>
                  <a:lnTo>
                    <a:pt x="19" y="0"/>
                  </a:lnTo>
                  <a:lnTo>
                    <a:pt x="17" y="0"/>
                  </a:lnTo>
                  <a:cubicBezTo>
                    <a:pt x="7" y="0"/>
                    <a:pt x="0" y="12"/>
                    <a:pt x="0" y="30"/>
                  </a:cubicBezTo>
                  <a:lnTo>
                    <a:pt x="0" y="93"/>
                  </a:lnTo>
                  <a:cubicBezTo>
                    <a:pt x="0" y="111"/>
                    <a:pt x="7" y="123"/>
                    <a:pt x="18" y="123"/>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20" name="Freeform 30">
              <a:extLst>
                <a:ext uri="{FF2B5EF4-FFF2-40B4-BE49-F238E27FC236}">
                  <a16:creationId xmlns:a16="http://schemas.microsoft.com/office/drawing/2014/main" id="{F24B31E3-2E66-4DA0-9B81-65FD30B3C9EE}"/>
                </a:ext>
              </a:extLst>
            </p:cNvPr>
            <p:cNvSpPr>
              <a:spLocks/>
            </p:cNvSpPr>
            <p:nvPr/>
          </p:nvSpPr>
          <p:spPr bwMode="gray">
            <a:xfrm>
              <a:off x="2662238" y="2511425"/>
              <a:ext cx="36513" cy="15875"/>
            </a:xfrm>
            <a:custGeom>
              <a:avLst/>
              <a:gdLst>
                <a:gd name="T0" fmla="*/ 7 w 87"/>
                <a:gd name="T1" fmla="*/ 37 h 37"/>
                <a:gd name="T2" fmla="*/ 7 w 87"/>
                <a:gd name="T3" fmla="*/ 37 h 37"/>
                <a:gd name="T4" fmla="*/ 7 w 87"/>
                <a:gd name="T5" fmla="*/ 37 h 37"/>
                <a:gd name="T6" fmla="*/ 80 w 87"/>
                <a:gd name="T7" fmla="*/ 30 h 37"/>
                <a:gd name="T8" fmla="*/ 87 w 87"/>
                <a:gd name="T9" fmla="*/ 15 h 37"/>
                <a:gd name="T10" fmla="*/ 79 w 87"/>
                <a:gd name="T11" fmla="*/ 0 h 37"/>
                <a:gd name="T12" fmla="*/ 7 w 87"/>
                <a:gd name="T13" fmla="*/ 7 h 37"/>
                <a:gd name="T14" fmla="*/ 0 w 87"/>
                <a:gd name="T15" fmla="*/ 22 h 37"/>
                <a:gd name="T16" fmla="*/ 7 w 87"/>
                <a:gd name="T17"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37">
                  <a:moveTo>
                    <a:pt x="7" y="37"/>
                  </a:moveTo>
                  <a:lnTo>
                    <a:pt x="7" y="37"/>
                  </a:lnTo>
                  <a:lnTo>
                    <a:pt x="7" y="37"/>
                  </a:lnTo>
                  <a:lnTo>
                    <a:pt x="80" y="30"/>
                  </a:lnTo>
                  <a:cubicBezTo>
                    <a:pt x="84" y="30"/>
                    <a:pt x="87" y="23"/>
                    <a:pt x="87" y="15"/>
                  </a:cubicBezTo>
                  <a:cubicBezTo>
                    <a:pt x="87" y="6"/>
                    <a:pt x="84" y="0"/>
                    <a:pt x="79" y="0"/>
                  </a:cubicBezTo>
                  <a:lnTo>
                    <a:pt x="7" y="7"/>
                  </a:lnTo>
                  <a:cubicBezTo>
                    <a:pt x="3" y="7"/>
                    <a:pt x="0" y="14"/>
                    <a:pt x="0" y="22"/>
                  </a:cubicBezTo>
                  <a:cubicBezTo>
                    <a:pt x="0" y="31"/>
                    <a:pt x="3" y="37"/>
                    <a:pt x="7" y="37"/>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21" name="Freeform 31">
              <a:extLst>
                <a:ext uri="{FF2B5EF4-FFF2-40B4-BE49-F238E27FC236}">
                  <a16:creationId xmlns:a16="http://schemas.microsoft.com/office/drawing/2014/main" id="{23B83D03-CCAE-4FF5-B272-D430853B2203}"/>
                </a:ext>
              </a:extLst>
            </p:cNvPr>
            <p:cNvSpPr>
              <a:spLocks/>
            </p:cNvSpPr>
            <p:nvPr/>
          </p:nvSpPr>
          <p:spPr bwMode="gray">
            <a:xfrm>
              <a:off x="2662238" y="2535238"/>
              <a:ext cx="36513" cy="19050"/>
            </a:xfrm>
            <a:custGeom>
              <a:avLst/>
              <a:gdLst>
                <a:gd name="T0" fmla="*/ 79 w 87"/>
                <a:gd name="T1" fmla="*/ 0 h 41"/>
                <a:gd name="T2" fmla="*/ 79 w 87"/>
                <a:gd name="T3" fmla="*/ 0 h 41"/>
                <a:gd name="T4" fmla="*/ 7 w 87"/>
                <a:gd name="T5" fmla="*/ 11 h 41"/>
                <a:gd name="T6" fmla="*/ 0 w 87"/>
                <a:gd name="T7" fmla="*/ 26 h 41"/>
                <a:gd name="T8" fmla="*/ 7 w 87"/>
                <a:gd name="T9" fmla="*/ 41 h 41"/>
                <a:gd name="T10" fmla="*/ 8 w 87"/>
                <a:gd name="T11" fmla="*/ 41 h 41"/>
                <a:gd name="T12" fmla="*/ 80 w 87"/>
                <a:gd name="T13" fmla="*/ 30 h 41"/>
                <a:gd name="T14" fmla="*/ 87 w 87"/>
                <a:gd name="T15" fmla="*/ 15 h 41"/>
                <a:gd name="T16" fmla="*/ 79 w 87"/>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41">
                  <a:moveTo>
                    <a:pt x="79" y="0"/>
                  </a:moveTo>
                  <a:lnTo>
                    <a:pt x="79" y="0"/>
                  </a:lnTo>
                  <a:lnTo>
                    <a:pt x="7" y="11"/>
                  </a:lnTo>
                  <a:cubicBezTo>
                    <a:pt x="3" y="11"/>
                    <a:pt x="0" y="18"/>
                    <a:pt x="0" y="26"/>
                  </a:cubicBezTo>
                  <a:cubicBezTo>
                    <a:pt x="0" y="34"/>
                    <a:pt x="3" y="41"/>
                    <a:pt x="7" y="41"/>
                  </a:cubicBezTo>
                  <a:lnTo>
                    <a:pt x="8" y="41"/>
                  </a:lnTo>
                  <a:lnTo>
                    <a:pt x="80" y="30"/>
                  </a:lnTo>
                  <a:cubicBezTo>
                    <a:pt x="84" y="30"/>
                    <a:pt x="87" y="23"/>
                    <a:pt x="87" y="15"/>
                  </a:cubicBezTo>
                  <a:cubicBezTo>
                    <a:pt x="87" y="7"/>
                    <a:pt x="84" y="0"/>
                    <a:pt x="79" y="0"/>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22" name="Freeform 32">
              <a:extLst>
                <a:ext uri="{FF2B5EF4-FFF2-40B4-BE49-F238E27FC236}">
                  <a16:creationId xmlns:a16="http://schemas.microsoft.com/office/drawing/2014/main" id="{93397C97-9353-4606-8F58-7C1FCD20F70F}"/>
                </a:ext>
              </a:extLst>
            </p:cNvPr>
            <p:cNvSpPr>
              <a:spLocks/>
            </p:cNvSpPr>
            <p:nvPr/>
          </p:nvSpPr>
          <p:spPr bwMode="gray">
            <a:xfrm>
              <a:off x="2730500" y="2511425"/>
              <a:ext cx="25400" cy="11113"/>
            </a:xfrm>
            <a:custGeom>
              <a:avLst/>
              <a:gdLst>
                <a:gd name="T0" fmla="*/ 6 w 60"/>
                <a:gd name="T1" fmla="*/ 25 h 25"/>
                <a:gd name="T2" fmla="*/ 6 w 60"/>
                <a:gd name="T3" fmla="*/ 25 h 25"/>
                <a:gd name="T4" fmla="*/ 6 w 60"/>
                <a:gd name="T5" fmla="*/ 25 h 25"/>
                <a:gd name="T6" fmla="*/ 55 w 60"/>
                <a:gd name="T7" fmla="*/ 20 h 25"/>
                <a:gd name="T8" fmla="*/ 60 w 60"/>
                <a:gd name="T9" fmla="*/ 10 h 25"/>
                <a:gd name="T10" fmla="*/ 55 w 60"/>
                <a:gd name="T11" fmla="*/ 0 h 25"/>
                <a:gd name="T12" fmla="*/ 6 w 60"/>
                <a:gd name="T13" fmla="*/ 5 h 25"/>
                <a:gd name="T14" fmla="*/ 0 w 60"/>
                <a:gd name="T15" fmla="*/ 15 h 25"/>
                <a:gd name="T16" fmla="*/ 6 w 60"/>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25">
                  <a:moveTo>
                    <a:pt x="6" y="25"/>
                  </a:moveTo>
                  <a:lnTo>
                    <a:pt x="6" y="25"/>
                  </a:lnTo>
                  <a:lnTo>
                    <a:pt x="6" y="25"/>
                  </a:lnTo>
                  <a:lnTo>
                    <a:pt x="55" y="20"/>
                  </a:lnTo>
                  <a:cubicBezTo>
                    <a:pt x="58" y="20"/>
                    <a:pt x="60" y="16"/>
                    <a:pt x="60" y="10"/>
                  </a:cubicBezTo>
                  <a:cubicBezTo>
                    <a:pt x="60" y="4"/>
                    <a:pt x="58" y="0"/>
                    <a:pt x="55" y="0"/>
                  </a:cubicBezTo>
                  <a:lnTo>
                    <a:pt x="6" y="5"/>
                  </a:lnTo>
                  <a:cubicBezTo>
                    <a:pt x="3" y="5"/>
                    <a:pt x="0" y="9"/>
                    <a:pt x="0" y="15"/>
                  </a:cubicBezTo>
                  <a:cubicBezTo>
                    <a:pt x="0" y="21"/>
                    <a:pt x="3" y="25"/>
                    <a:pt x="6" y="25"/>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23" name="Freeform 33">
              <a:extLst>
                <a:ext uri="{FF2B5EF4-FFF2-40B4-BE49-F238E27FC236}">
                  <a16:creationId xmlns:a16="http://schemas.microsoft.com/office/drawing/2014/main" id="{34E9B67E-F467-4667-8A4D-44F839431BB6}"/>
                </a:ext>
              </a:extLst>
            </p:cNvPr>
            <p:cNvSpPr>
              <a:spLocks/>
            </p:cNvSpPr>
            <p:nvPr/>
          </p:nvSpPr>
          <p:spPr bwMode="gray">
            <a:xfrm>
              <a:off x="2730500" y="2527300"/>
              <a:ext cx="25400" cy="12700"/>
            </a:xfrm>
            <a:custGeom>
              <a:avLst/>
              <a:gdLst>
                <a:gd name="T0" fmla="*/ 55 w 60"/>
                <a:gd name="T1" fmla="*/ 0 h 28"/>
                <a:gd name="T2" fmla="*/ 55 w 60"/>
                <a:gd name="T3" fmla="*/ 0 h 28"/>
                <a:gd name="T4" fmla="*/ 55 w 60"/>
                <a:gd name="T5" fmla="*/ 0 h 28"/>
                <a:gd name="T6" fmla="*/ 6 w 60"/>
                <a:gd name="T7" fmla="*/ 8 h 28"/>
                <a:gd name="T8" fmla="*/ 0 w 60"/>
                <a:gd name="T9" fmla="*/ 18 h 28"/>
                <a:gd name="T10" fmla="*/ 6 w 60"/>
                <a:gd name="T11" fmla="*/ 28 h 28"/>
                <a:gd name="T12" fmla="*/ 6 w 60"/>
                <a:gd name="T13" fmla="*/ 28 h 28"/>
                <a:gd name="T14" fmla="*/ 55 w 60"/>
                <a:gd name="T15" fmla="*/ 21 h 28"/>
                <a:gd name="T16" fmla="*/ 60 w 60"/>
                <a:gd name="T17" fmla="*/ 11 h 28"/>
                <a:gd name="T18" fmla="*/ 55 w 60"/>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28">
                  <a:moveTo>
                    <a:pt x="55" y="0"/>
                  </a:moveTo>
                  <a:lnTo>
                    <a:pt x="55" y="0"/>
                  </a:lnTo>
                  <a:lnTo>
                    <a:pt x="55" y="0"/>
                  </a:lnTo>
                  <a:lnTo>
                    <a:pt x="6" y="8"/>
                  </a:lnTo>
                  <a:cubicBezTo>
                    <a:pt x="3" y="8"/>
                    <a:pt x="0" y="12"/>
                    <a:pt x="0" y="18"/>
                  </a:cubicBezTo>
                  <a:cubicBezTo>
                    <a:pt x="0" y="24"/>
                    <a:pt x="3" y="28"/>
                    <a:pt x="6" y="28"/>
                  </a:cubicBezTo>
                  <a:lnTo>
                    <a:pt x="6" y="28"/>
                  </a:lnTo>
                  <a:lnTo>
                    <a:pt x="55" y="21"/>
                  </a:lnTo>
                  <a:cubicBezTo>
                    <a:pt x="58" y="21"/>
                    <a:pt x="60" y="16"/>
                    <a:pt x="60" y="11"/>
                  </a:cubicBezTo>
                  <a:cubicBezTo>
                    <a:pt x="60" y="5"/>
                    <a:pt x="58" y="0"/>
                    <a:pt x="55" y="0"/>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24" name="Freeform 34">
              <a:extLst>
                <a:ext uri="{FF2B5EF4-FFF2-40B4-BE49-F238E27FC236}">
                  <a16:creationId xmlns:a16="http://schemas.microsoft.com/office/drawing/2014/main" id="{D542E7B3-C61E-42BD-BF63-5C6AAD5E845B}"/>
                </a:ext>
              </a:extLst>
            </p:cNvPr>
            <p:cNvSpPr>
              <a:spLocks noEditPoints="1"/>
            </p:cNvSpPr>
            <p:nvPr/>
          </p:nvSpPr>
          <p:spPr bwMode="gray">
            <a:xfrm>
              <a:off x="2730500" y="2232025"/>
              <a:ext cx="28575" cy="36513"/>
            </a:xfrm>
            <a:custGeom>
              <a:avLst/>
              <a:gdLst>
                <a:gd name="T0" fmla="*/ 14 w 63"/>
                <a:gd name="T1" fmla="*/ 21 h 83"/>
                <a:gd name="T2" fmla="*/ 14 w 63"/>
                <a:gd name="T3" fmla="*/ 21 h 83"/>
                <a:gd name="T4" fmla="*/ 15 w 63"/>
                <a:gd name="T5" fmla="*/ 14 h 83"/>
                <a:gd name="T6" fmla="*/ 48 w 63"/>
                <a:gd name="T7" fmla="*/ 24 h 83"/>
                <a:gd name="T8" fmla="*/ 50 w 63"/>
                <a:gd name="T9" fmla="*/ 32 h 83"/>
                <a:gd name="T10" fmla="*/ 50 w 63"/>
                <a:gd name="T11" fmla="*/ 62 h 83"/>
                <a:gd name="T12" fmla="*/ 48 w 63"/>
                <a:gd name="T13" fmla="*/ 69 h 83"/>
                <a:gd name="T14" fmla="*/ 16 w 63"/>
                <a:gd name="T15" fmla="*/ 66 h 83"/>
                <a:gd name="T16" fmla="*/ 14 w 63"/>
                <a:gd name="T17" fmla="*/ 57 h 83"/>
                <a:gd name="T18" fmla="*/ 14 w 63"/>
                <a:gd name="T19" fmla="*/ 21 h 83"/>
                <a:gd name="T20" fmla="*/ 3 w 63"/>
                <a:gd name="T21" fmla="*/ 71 h 83"/>
                <a:gd name="T22" fmla="*/ 3 w 63"/>
                <a:gd name="T23" fmla="*/ 71 h 83"/>
                <a:gd name="T24" fmla="*/ 14 w 63"/>
                <a:gd name="T25" fmla="*/ 79 h 83"/>
                <a:gd name="T26" fmla="*/ 50 w 63"/>
                <a:gd name="T27" fmla="*/ 83 h 83"/>
                <a:gd name="T28" fmla="*/ 50 w 63"/>
                <a:gd name="T29" fmla="*/ 83 h 83"/>
                <a:gd name="T30" fmla="*/ 63 w 63"/>
                <a:gd name="T31" fmla="*/ 62 h 83"/>
                <a:gd name="T32" fmla="*/ 63 w 63"/>
                <a:gd name="T33" fmla="*/ 32 h 83"/>
                <a:gd name="T34" fmla="*/ 52 w 63"/>
                <a:gd name="T35" fmla="*/ 12 h 83"/>
                <a:gd name="T36" fmla="*/ 15 w 63"/>
                <a:gd name="T37" fmla="*/ 0 h 83"/>
                <a:gd name="T38" fmla="*/ 14 w 63"/>
                <a:gd name="T39" fmla="*/ 0 h 83"/>
                <a:gd name="T40" fmla="*/ 0 w 63"/>
                <a:gd name="T41" fmla="*/ 21 h 83"/>
                <a:gd name="T42" fmla="*/ 0 w 63"/>
                <a:gd name="T43" fmla="*/ 57 h 83"/>
                <a:gd name="T44" fmla="*/ 3 w 63"/>
                <a:gd name="T45" fmla="*/ 7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 h="83">
                  <a:moveTo>
                    <a:pt x="14" y="21"/>
                  </a:moveTo>
                  <a:lnTo>
                    <a:pt x="14" y="21"/>
                  </a:lnTo>
                  <a:cubicBezTo>
                    <a:pt x="14" y="18"/>
                    <a:pt x="14" y="15"/>
                    <a:pt x="15" y="14"/>
                  </a:cubicBezTo>
                  <a:lnTo>
                    <a:pt x="48" y="24"/>
                  </a:lnTo>
                  <a:cubicBezTo>
                    <a:pt x="48" y="25"/>
                    <a:pt x="50" y="28"/>
                    <a:pt x="50" y="32"/>
                  </a:cubicBezTo>
                  <a:lnTo>
                    <a:pt x="50" y="62"/>
                  </a:lnTo>
                  <a:cubicBezTo>
                    <a:pt x="50" y="66"/>
                    <a:pt x="49" y="68"/>
                    <a:pt x="48" y="69"/>
                  </a:cubicBezTo>
                  <a:lnTo>
                    <a:pt x="16" y="66"/>
                  </a:lnTo>
                  <a:cubicBezTo>
                    <a:pt x="15" y="65"/>
                    <a:pt x="14" y="62"/>
                    <a:pt x="14" y="57"/>
                  </a:cubicBezTo>
                  <a:lnTo>
                    <a:pt x="14" y="21"/>
                  </a:lnTo>
                  <a:close/>
                  <a:moveTo>
                    <a:pt x="3" y="71"/>
                  </a:moveTo>
                  <a:lnTo>
                    <a:pt x="3" y="71"/>
                  </a:lnTo>
                  <a:cubicBezTo>
                    <a:pt x="6" y="79"/>
                    <a:pt x="12" y="80"/>
                    <a:pt x="14" y="79"/>
                  </a:cubicBezTo>
                  <a:lnTo>
                    <a:pt x="50" y="83"/>
                  </a:lnTo>
                  <a:lnTo>
                    <a:pt x="50" y="83"/>
                  </a:lnTo>
                  <a:cubicBezTo>
                    <a:pt x="58" y="82"/>
                    <a:pt x="63" y="73"/>
                    <a:pt x="63" y="62"/>
                  </a:cubicBezTo>
                  <a:lnTo>
                    <a:pt x="63" y="32"/>
                  </a:lnTo>
                  <a:cubicBezTo>
                    <a:pt x="63" y="23"/>
                    <a:pt x="59" y="13"/>
                    <a:pt x="52" y="12"/>
                  </a:cubicBezTo>
                  <a:lnTo>
                    <a:pt x="15" y="0"/>
                  </a:lnTo>
                  <a:lnTo>
                    <a:pt x="14" y="0"/>
                  </a:lnTo>
                  <a:cubicBezTo>
                    <a:pt x="6" y="0"/>
                    <a:pt x="0" y="8"/>
                    <a:pt x="0" y="21"/>
                  </a:cubicBezTo>
                  <a:lnTo>
                    <a:pt x="0" y="57"/>
                  </a:lnTo>
                  <a:cubicBezTo>
                    <a:pt x="0" y="62"/>
                    <a:pt x="1" y="67"/>
                    <a:pt x="3" y="71"/>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25" name="Freeform 35">
              <a:extLst>
                <a:ext uri="{FF2B5EF4-FFF2-40B4-BE49-F238E27FC236}">
                  <a16:creationId xmlns:a16="http://schemas.microsoft.com/office/drawing/2014/main" id="{1500C5AE-B4FE-4509-9483-0267B9A6B5EA}"/>
                </a:ext>
              </a:extLst>
            </p:cNvPr>
            <p:cNvSpPr>
              <a:spLocks noEditPoints="1"/>
            </p:cNvSpPr>
            <p:nvPr/>
          </p:nvSpPr>
          <p:spPr bwMode="gray">
            <a:xfrm>
              <a:off x="2732088" y="2328863"/>
              <a:ext cx="25400" cy="36513"/>
            </a:xfrm>
            <a:custGeom>
              <a:avLst/>
              <a:gdLst>
                <a:gd name="T0" fmla="*/ 14 w 59"/>
                <a:gd name="T1" fmla="*/ 20 h 81"/>
                <a:gd name="T2" fmla="*/ 14 w 59"/>
                <a:gd name="T3" fmla="*/ 20 h 81"/>
                <a:gd name="T4" fmla="*/ 15 w 59"/>
                <a:gd name="T5" fmla="*/ 14 h 81"/>
                <a:gd name="T6" fmla="*/ 44 w 59"/>
                <a:gd name="T7" fmla="*/ 21 h 81"/>
                <a:gd name="T8" fmla="*/ 46 w 59"/>
                <a:gd name="T9" fmla="*/ 27 h 81"/>
                <a:gd name="T10" fmla="*/ 46 w 59"/>
                <a:gd name="T11" fmla="*/ 62 h 81"/>
                <a:gd name="T12" fmla="*/ 45 w 59"/>
                <a:gd name="T13" fmla="*/ 67 h 81"/>
                <a:gd name="T14" fmla="*/ 15 w 59"/>
                <a:gd name="T15" fmla="*/ 68 h 81"/>
                <a:gd name="T16" fmla="*/ 14 w 59"/>
                <a:gd name="T17" fmla="*/ 61 h 81"/>
                <a:gd name="T18" fmla="*/ 14 w 59"/>
                <a:gd name="T19" fmla="*/ 20 h 81"/>
                <a:gd name="T20" fmla="*/ 13 w 59"/>
                <a:gd name="T21" fmla="*/ 81 h 81"/>
                <a:gd name="T22" fmla="*/ 13 w 59"/>
                <a:gd name="T23" fmla="*/ 81 h 81"/>
                <a:gd name="T24" fmla="*/ 47 w 59"/>
                <a:gd name="T25" fmla="*/ 81 h 81"/>
                <a:gd name="T26" fmla="*/ 59 w 59"/>
                <a:gd name="T27" fmla="*/ 62 h 81"/>
                <a:gd name="T28" fmla="*/ 59 w 59"/>
                <a:gd name="T29" fmla="*/ 27 h 81"/>
                <a:gd name="T30" fmla="*/ 48 w 59"/>
                <a:gd name="T31" fmla="*/ 8 h 81"/>
                <a:gd name="T32" fmla="*/ 15 w 59"/>
                <a:gd name="T33" fmla="*/ 0 h 81"/>
                <a:gd name="T34" fmla="*/ 13 w 59"/>
                <a:gd name="T35" fmla="*/ 0 h 81"/>
                <a:gd name="T36" fmla="*/ 0 w 59"/>
                <a:gd name="T37" fmla="*/ 20 h 81"/>
                <a:gd name="T38" fmla="*/ 0 w 59"/>
                <a:gd name="T39" fmla="*/ 61 h 81"/>
                <a:gd name="T40" fmla="*/ 13 w 59"/>
                <a:gd name="T41"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 h="81">
                  <a:moveTo>
                    <a:pt x="14" y="20"/>
                  </a:moveTo>
                  <a:lnTo>
                    <a:pt x="14" y="20"/>
                  </a:lnTo>
                  <a:cubicBezTo>
                    <a:pt x="14" y="17"/>
                    <a:pt x="14" y="15"/>
                    <a:pt x="15" y="14"/>
                  </a:cubicBezTo>
                  <a:lnTo>
                    <a:pt x="44" y="21"/>
                  </a:lnTo>
                  <a:cubicBezTo>
                    <a:pt x="45" y="21"/>
                    <a:pt x="46" y="24"/>
                    <a:pt x="46" y="27"/>
                  </a:cubicBezTo>
                  <a:lnTo>
                    <a:pt x="46" y="62"/>
                  </a:lnTo>
                  <a:cubicBezTo>
                    <a:pt x="46" y="65"/>
                    <a:pt x="45" y="67"/>
                    <a:pt x="45" y="67"/>
                  </a:cubicBezTo>
                  <a:lnTo>
                    <a:pt x="15" y="68"/>
                  </a:lnTo>
                  <a:cubicBezTo>
                    <a:pt x="14" y="67"/>
                    <a:pt x="14" y="64"/>
                    <a:pt x="14" y="61"/>
                  </a:cubicBezTo>
                  <a:lnTo>
                    <a:pt x="14" y="20"/>
                  </a:lnTo>
                  <a:close/>
                  <a:moveTo>
                    <a:pt x="13" y="81"/>
                  </a:moveTo>
                  <a:lnTo>
                    <a:pt x="13" y="81"/>
                  </a:lnTo>
                  <a:lnTo>
                    <a:pt x="47" y="81"/>
                  </a:lnTo>
                  <a:cubicBezTo>
                    <a:pt x="54" y="80"/>
                    <a:pt x="59" y="72"/>
                    <a:pt x="59" y="62"/>
                  </a:cubicBezTo>
                  <a:lnTo>
                    <a:pt x="59" y="27"/>
                  </a:lnTo>
                  <a:cubicBezTo>
                    <a:pt x="59" y="17"/>
                    <a:pt x="54" y="9"/>
                    <a:pt x="48" y="8"/>
                  </a:cubicBezTo>
                  <a:lnTo>
                    <a:pt x="15" y="0"/>
                  </a:lnTo>
                  <a:lnTo>
                    <a:pt x="13" y="0"/>
                  </a:lnTo>
                  <a:cubicBezTo>
                    <a:pt x="6" y="0"/>
                    <a:pt x="0" y="8"/>
                    <a:pt x="0" y="20"/>
                  </a:cubicBezTo>
                  <a:lnTo>
                    <a:pt x="0" y="61"/>
                  </a:lnTo>
                  <a:cubicBezTo>
                    <a:pt x="0" y="73"/>
                    <a:pt x="6" y="81"/>
                    <a:pt x="13" y="81"/>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26" name="Freeform 36">
              <a:extLst>
                <a:ext uri="{FF2B5EF4-FFF2-40B4-BE49-F238E27FC236}">
                  <a16:creationId xmlns:a16="http://schemas.microsoft.com/office/drawing/2014/main" id="{D179DD5B-C313-455F-BE76-7F2F9852D4A0}"/>
                </a:ext>
              </a:extLst>
            </p:cNvPr>
            <p:cNvSpPr>
              <a:spLocks noEditPoints="1"/>
            </p:cNvSpPr>
            <p:nvPr/>
          </p:nvSpPr>
          <p:spPr bwMode="gray">
            <a:xfrm>
              <a:off x="2730500" y="2419350"/>
              <a:ext cx="26988" cy="34925"/>
            </a:xfrm>
            <a:custGeom>
              <a:avLst/>
              <a:gdLst>
                <a:gd name="T0" fmla="*/ 13 w 61"/>
                <a:gd name="T1" fmla="*/ 19 h 80"/>
                <a:gd name="T2" fmla="*/ 13 w 61"/>
                <a:gd name="T3" fmla="*/ 19 h 80"/>
                <a:gd name="T4" fmla="*/ 14 w 61"/>
                <a:gd name="T5" fmla="*/ 13 h 80"/>
                <a:gd name="T6" fmla="*/ 47 w 61"/>
                <a:gd name="T7" fmla="*/ 14 h 80"/>
                <a:gd name="T8" fmla="*/ 48 w 61"/>
                <a:gd name="T9" fmla="*/ 20 h 80"/>
                <a:gd name="T10" fmla="*/ 48 w 61"/>
                <a:gd name="T11" fmla="*/ 58 h 80"/>
                <a:gd name="T12" fmla="*/ 47 w 61"/>
                <a:gd name="T13" fmla="*/ 63 h 80"/>
                <a:gd name="T14" fmla="*/ 14 w 61"/>
                <a:gd name="T15" fmla="*/ 66 h 80"/>
                <a:gd name="T16" fmla="*/ 13 w 61"/>
                <a:gd name="T17" fmla="*/ 60 h 80"/>
                <a:gd name="T18" fmla="*/ 13 w 61"/>
                <a:gd name="T19" fmla="*/ 19 h 80"/>
                <a:gd name="T20" fmla="*/ 12 w 61"/>
                <a:gd name="T21" fmla="*/ 80 h 80"/>
                <a:gd name="T22" fmla="*/ 12 w 61"/>
                <a:gd name="T23" fmla="*/ 80 h 80"/>
                <a:gd name="T24" fmla="*/ 50 w 61"/>
                <a:gd name="T25" fmla="*/ 76 h 80"/>
                <a:gd name="T26" fmla="*/ 61 w 61"/>
                <a:gd name="T27" fmla="*/ 58 h 80"/>
                <a:gd name="T28" fmla="*/ 61 w 61"/>
                <a:gd name="T29" fmla="*/ 20 h 80"/>
                <a:gd name="T30" fmla="*/ 49 w 61"/>
                <a:gd name="T31" fmla="*/ 1 h 80"/>
                <a:gd name="T32" fmla="*/ 13 w 61"/>
                <a:gd name="T33" fmla="*/ 0 h 80"/>
                <a:gd name="T34" fmla="*/ 11 w 61"/>
                <a:gd name="T35" fmla="*/ 0 h 80"/>
                <a:gd name="T36" fmla="*/ 0 w 61"/>
                <a:gd name="T37" fmla="*/ 19 h 80"/>
                <a:gd name="T38" fmla="*/ 0 w 61"/>
                <a:gd name="T39" fmla="*/ 60 h 80"/>
                <a:gd name="T40" fmla="*/ 12 w 61"/>
                <a:gd name="T4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1" h="80">
                  <a:moveTo>
                    <a:pt x="13" y="19"/>
                  </a:moveTo>
                  <a:lnTo>
                    <a:pt x="13" y="19"/>
                  </a:lnTo>
                  <a:cubicBezTo>
                    <a:pt x="13" y="17"/>
                    <a:pt x="13" y="15"/>
                    <a:pt x="14" y="13"/>
                  </a:cubicBezTo>
                  <a:lnTo>
                    <a:pt x="47" y="14"/>
                  </a:lnTo>
                  <a:cubicBezTo>
                    <a:pt x="47" y="15"/>
                    <a:pt x="48" y="17"/>
                    <a:pt x="48" y="20"/>
                  </a:cubicBezTo>
                  <a:lnTo>
                    <a:pt x="48" y="58"/>
                  </a:lnTo>
                  <a:cubicBezTo>
                    <a:pt x="48" y="60"/>
                    <a:pt x="47" y="62"/>
                    <a:pt x="47" y="63"/>
                  </a:cubicBezTo>
                  <a:lnTo>
                    <a:pt x="14" y="66"/>
                  </a:lnTo>
                  <a:cubicBezTo>
                    <a:pt x="14" y="65"/>
                    <a:pt x="13" y="63"/>
                    <a:pt x="13" y="60"/>
                  </a:cubicBezTo>
                  <a:lnTo>
                    <a:pt x="13" y="19"/>
                  </a:lnTo>
                  <a:close/>
                  <a:moveTo>
                    <a:pt x="12" y="80"/>
                  </a:moveTo>
                  <a:lnTo>
                    <a:pt x="12" y="80"/>
                  </a:lnTo>
                  <a:lnTo>
                    <a:pt x="50" y="76"/>
                  </a:lnTo>
                  <a:cubicBezTo>
                    <a:pt x="56" y="75"/>
                    <a:pt x="61" y="68"/>
                    <a:pt x="61" y="58"/>
                  </a:cubicBezTo>
                  <a:lnTo>
                    <a:pt x="61" y="20"/>
                  </a:lnTo>
                  <a:cubicBezTo>
                    <a:pt x="61" y="12"/>
                    <a:pt x="58" y="3"/>
                    <a:pt x="49" y="1"/>
                  </a:cubicBezTo>
                  <a:lnTo>
                    <a:pt x="13" y="0"/>
                  </a:lnTo>
                  <a:lnTo>
                    <a:pt x="11" y="0"/>
                  </a:lnTo>
                  <a:cubicBezTo>
                    <a:pt x="4" y="0"/>
                    <a:pt x="0" y="8"/>
                    <a:pt x="0" y="19"/>
                  </a:cubicBezTo>
                  <a:lnTo>
                    <a:pt x="0" y="60"/>
                  </a:lnTo>
                  <a:cubicBezTo>
                    <a:pt x="0" y="72"/>
                    <a:pt x="4" y="80"/>
                    <a:pt x="12" y="80"/>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grpSp>
      <p:sp>
        <p:nvSpPr>
          <p:cNvPr id="27" name="矩形 26">
            <a:extLst>
              <a:ext uri="{FF2B5EF4-FFF2-40B4-BE49-F238E27FC236}">
                <a16:creationId xmlns:a16="http://schemas.microsoft.com/office/drawing/2014/main" id="{C2C98435-845A-413C-A641-A85C1646D487}"/>
              </a:ext>
            </a:extLst>
          </p:cNvPr>
          <p:cNvSpPr/>
          <p:nvPr/>
        </p:nvSpPr>
        <p:spPr bwMode="gray">
          <a:xfrm>
            <a:off x="7300718" y="1986342"/>
            <a:ext cx="1237533" cy="338554"/>
          </a:xfrm>
          <a:prstGeom prst="rect">
            <a:avLst/>
          </a:prstGeom>
          <a:noFill/>
        </p:spPr>
        <p:txBody>
          <a:bodyPr wrap="square" anchor="ctr">
            <a:spAutoFit/>
          </a:bodyPr>
          <a:lstStyle/>
          <a:p>
            <a:pPr lvl="0" algn="r" defTabSz="914400">
              <a:defRPr/>
            </a:pPr>
            <a:r>
              <a:rPr lang="zh-CN" altLang="en-US" sz="1600" b="1" dirty="0">
                <a:cs typeface="+mn-ea"/>
                <a:sym typeface="Huawei Sans" panose="020C0503030203020204" pitchFamily="34" charset="0"/>
              </a:rPr>
              <a:t>数据中心</a:t>
            </a:r>
            <a:endParaRPr lang="en-US" altLang="zh-CN" sz="1600" b="1" dirty="0">
              <a:cs typeface="+mn-ea"/>
              <a:sym typeface="Huawei Sans" panose="020C0503030203020204" pitchFamily="34" charset="0"/>
            </a:endParaRPr>
          </a:p>
        </p:txBody>
      </p:sp>
      <p:sp>
        <p:nvSpPr>
          <p:cNvPr id="29" name="矩形 28">
            <a:extLst>
              <a:ext uri="{FF2B5EF4-FFF2-40B4-BE49-F238E27FC236}">
                <a16:creationId xmlns:a16="http://schemas.microsoft.com/office/drawing/2014/main" id="{7D252FE8-9816-43A9-82ED-C4BB565FCA2C}"/>
              </a:ext>
            </a:extLst>
          </p:cNvPr>
          <p:cNvSpPr/>
          <p:nvPr/>
        </p:nvSpPr>
        <p:spPr bwMode="gray">
          <a:xfrm>
            <a:off x="8544685" y="1970953"/>
            <a:ext cx="2479020" cy="338554"/>
          </a:xfrm>
          <a:prstGeom prst="rect">
            <a:avLst/>
          </a:prstGeom>
        </p:spPr>
        <p:txBody>
          <a:bodyPr wrap="square">
            <a:spAutoFit/>
          </a:bodyPr>
          <a:lstStyle/>
          <a:p>
            <a:pPr lvl="0" algn="ctr" defTabSz="914400">
              <a:defRPr/>
            </a:pPr>
            <a:r>
              <a:rPr lang="en-US" altLang="zh-CN" sz="1600" b="1" dirty="0" err="1">
                <a:cs typeface="+mn-ea"/>
                <a:sym typeface="Huawei Sans" panose="020C0503030203020204" pitchFamily="34" charset="0"/>
              </a:rPr>
              <a:t>iMaster</a:t>
            </a:r>
            <a:r>
              <a:rPr lang="en-US" altLang="zh-CN" sz="1600" b="1" dirty="0">
                <a:cs typeface="+mn-ea"/>
                <a:sym typeface="Huawei Sans" panose="020C0503030203020204" pitchFamily="34" charset="0"/>
              </a:rPr>
              <a:t> NCE-Fabric</a:t>
            </a:r>
            <a:endParaRPr lang="en-US" altLang="zh-CN" sz="1600" b="1" dirty="0">
              <a:solidFill>
                <a:srgbClr val="EC7061"/>
              </a:solidFill>
              <a:cs typeface="+mn-ea"/>
              <a:sym typeface="Huawei Sans" panose="020C0503030203020204" pitchFamily="34" charset="0"/>
            </a:endParaRPr>
          </a:p>
        </p:txBody>
      </p:sp>
      <p:sp>
        <p:nvSpPr>
          <p:cNvPr id="30" name="矩形 29">
            <a:extLst>
              <a:ext uri="{FF2B5EF4-FFF2-40B4-BE49-F238E27FC236}">
                <a16:creationId xmlns:a16="http://schemas.microsoft.com/office/drawing/2014/main" id="{B5A9069C-FCF3-42D0-B05C-0FD94D78944D}"/>
              </a:ext>
            </a:extLst>
          </p:cNvPr>
          <p:cNvSpPr/>
          <p:nvPr/>
        </p:nvSpPr>
        <p:spPr bwMode="gray">
          <a:xfrm>
            <a:off x="7122083" y="2717605"/>
            <a:ext cx="1237533" cy="338554"/>
          </a:xfrm>
          <a:prstGeom prst="rect">
            <a:avLst/>
          </a:prstGeom>
          <a:noFill/>
        </p:spPr>
        <p:txBody>
          <a:bodyPr wrap="square" anchor="ctr">
            <a:spAutoFit/>
          </a:bodyPr>
          <a:lstStyle/>
          <a:p>
            <a:pPr lvl="0" algn="r" defTabSz="914400">
              <a:defRPr/>
            </a:pPr>
            <a:r>
              <a:rPr lang="zh-CN" altLang="en-US" sz="1600" b="1" dirty="0">
                <a:cs typeface="+mn-ea"/>
                <a:sym typeface="Huawei Sans" panose="020C0503030203020204" pitchFamily="34" charset="0"/>
              </a:rPr>
              <a:t>企业园区</a:t>
            </a:r>
            <a:endParaRPr lang="en-US" altLang="zh-CN" sz="1600" b="1" dirty="0">
              <a:cs typeface="+mn-ea"/>
              <a:sym typeface="Huawei Sans" panose="020C0503030203020204" pitchFamily="34" charset="0"/>
            </a:endParaRPr>
          </a:p>
        </p:txBody>
      </p:sp>
      <p:sp>
        <p:nvSpPr>
          <p:cNvPr id="32" name="矩形 31">
            <a:extLst>
              <a:ext uri="{FF2B5EF4-FFF2-40B4-BE49-F238E27FC236}">
                <a16:creationId xmlns:a16="http://schemas.microsoft.com/office/drawing/2014/main" id="{A6D0E7CB-4A70-4593-A949-E56BAF33E7AD}"/>
              </a:ext>
            </a:extLst>
          </p:cNvPr>
          <p:cNvSpPr/>
          <p:nvPr/>
        </p:nvSpPr>
        <p:spPr bwMode="gray">
          <a:xfrm>
            <a:off x="8318296" y="2699573"/>
            <a:ext cx="2827186" cy="338554"/>
          </a:xfrm>
          <a:prstGeom prst="rect">
            <a:avLst/>
          </a:prstGeom>
        </p:spPr>
        <p:txBody>
          <a:bodyPr wrap="square">
            <a:spAutoFit/>
          </a:bodyPr>
          <a:lstStyle/>
          <a:p>
            <a:pPr lvl="0" algn="ctr" defTabSz="914400">
              <a:defRPr/>
            </a:pPr>
            <a:r>
              <a:rPr lang="en-US" altLang="zh-CN" sz="1600" b="1" dirty="0" err="1">
                <a:cs typeface="+mn-ea"/>
                <a:sym typeface="Huawei Sans" panose="020C0503030203020204" pitchFamily="34" charset="0"/>
              </a:rPr>
              <a:t>iMaster</a:t>
            </a:r>
            <a:r>
              <a:rPr lang="en-US" altLang="zh-CN" sz="1600" b="1" dirty="0">
                <a:cs typeface="+mn-ea"/>
                <a:sym typeface="Huawei Sans" panose="020C0503030203020204" pitchFamily="34" charset="0"/>
              </a:rPr>
              <a:t> NCE-Campus</a:t>
            </a:r>
            <a:endParaRPr lang="en-US" altLang="zh-CN" sz="1600" b="1" dirty="0">
              <a:solidFill>
                <a:srgbClr val="EC7061"/>
              </a:solidFill>
              <a:cs typeface="+mn-ea"/>
              <a:sym typeface="Huawei Sans" panose="020C0503030203020204" pitchFamily="34" charset="0"/>
            </a:endParaRPr>
          </a:p>
        </p:txBody>
      </p:sp>
      <p:grpSp>
        <p:nvGrpSpPr>
          <p:cNvPr id="42" name="组合 7193">
            <a:extLst>
              <a:ext uri="{FF2B5EF4-FFF2-40B4-BE49-F238E27FC236}">
                <a16:creationId xmlns:a16="http://schemas.microsoft.com/office/drawing/2014/main" id="{287913B9-C3E3-4A70-B21F-4443F9D02DB3}"/>
              </a:ext>
            </a:extLst>
          </p:cNvPr>
          <p:cNvGrpSpPr/>
          <p:nvPr/>
        </p:nvGrpSpPr>
        <p:grpSpPr bwMode="gray">
          <a:xfrm>
            <a:off x="6624850" y="2691134"/>
            <a:ext cx="518681" cy="347561"/>
            <a:chOff x="6848475" y="2165350"/>
            <a:chExt cx="688975" cy="498475"/>
          </a:xfrm>
          <a:solidFill>
            <a:srgbClr val="00B0F0"/>
          </a:solidFill>
        </p:grpSpPr>
        <p:sp>
          <p:nvSpPr>
            <p:cNvPr id="43" name="Freeform 40">
              <a:extLst>
                <a:ext uri="{FF2B5EF4-FFF2-40B4-BE49-F238E27FC236}">
                  <a16:creationId xmlns:a16="http://schemas.microsoft.com/office/drawing/2014/main" id="{CAD44B77-E026-438B-9967-26D985A246B9}"/>
                </a:ext>
              </a:extLst>
            </p:cNvPr>
            <p:cNvSpPr>
              <a:spLocks/>
            </p:cNvSpPr>
            <p:nvPr/>
          </p:nvSpPr>
          <p:spPr bwMode="gray">
            <a:xfrm>
              <a:off x="6848475" y="2165350"/>
              <a:ext cx="688975" cy="498475"/>
            </a:xfrm>
            <a:custGeom>
              <a:avLst/>
              <a:gdLst>
                <a:gd name="T0" fmla="*/ 33 w 1582"/>
                <a:gd name="T1" fmla="*/ 1108 h 1145"/>
                <a:gd name="T2" fmla="*/ 33 w 1582"/>
                <a:gd name="T3" fmla="*/ 1108 h 1145"/>
                <a:gd name="T4" fmla="*/ 838 w 1582"/>
                <a:gd name="T5" fmla="*/ 1108 h 1145"/>
                <a:gd name="T6" fmla="*/ 898 w 1582"/>
                <a:gd name="T7" fmla="*/ 1145 h 1145"/>
                <a:gd name="T8" fmla="*/ 968 w 1582"/>
                <a:gd name="T9" fmla="*/ 1075 h 1145"/>
                <a:gd name="T10" fmla="*/ 898 w 1582"/>
                <a:gd name="T11" fmla="*/ 1006 h 1145"/>
                <a:gd name="T12" fmla="*/ 838 w 1582"/>
                <a:gd name="T13" fmla="*/ 1042 h 1145"/>
                <a:gd name="T14" fmla="*/ 80 w 1582"/>
                <a:gd name="T15" fmla="*/ 1042 h 1145"/>
                <a:gd name="T16" fmla="*/ 128 w 1582"/>
                <a:gd name="T17" fmla="*/ 908 h 1145"/>
                <a:gd name="T18" fmla="*/ 194 w 1582"/>
                <a:gd name="T19" fmla="*/ 908 h 1145"/>
                <a:gd name="T20" fmla="*/ 194 w 1582"/>
                <a:gd name="T21" fmla="*/ 260 h 1145"/>
                <a:gd name="T22" fmla="*/ 319 w 1582"/>
                <a:gd name="T23" fmla="*/ 260 h 1145"/>
                <a:gd name="T24" fmla="*/ 319 w 1582"/>
                <a:gd name="T25" fmla="*/ 176 h 1145"/>
                <a:gd name="T26" fmla="*/ 440 w 1582"/>
                <a:gd name="T27" fmla="*/ 132 h 1145"/>
                <a:gd name="T28" fmla="*/ 440 w 1582"/>
                <a:gd name="T29" fmla="*/ 260 h 1145"/>
                <a:gd name="T30" fmla="*/ 514 w 1582"/>
                <a:gd name="T31" fmla="*/ 260 h 1145"/>
                <a:gd name="T32" fmla="*/ 514 w 1582"/>
                <a:gd name="T33" fmla="*/ 914 h 1145"/>
                <a:gd name="T34" fmla="*/ 709 w 1582"/>
                <a:gd name="T35" fmla="*/ 914 h 1145"/>
                <a:gd name="T36" fmla="*/ 709 w 1582"/>
                <a:gd name="T37" fmla="*/ 541 h 1145"/>
                <a:gd name="T38" fmla="*/ 875 w 1582"/>
                <a:gd name="T39" fmla="*/ 488 h 1145"/>
                <a:gd name="T40" fmla="*/ 875 w 1582"/>
                <a:gd name="T41" fmla="*/ 550 h 1145"/>
                <a:gd name="T42" fmla="*/ 931 w 1582"/>
                <a:gd name="T43" fmla="*/ 550 h 1145"/>
                <a:gd name="T44" fmla="*/ 931 w 1582"/>
                <a:gd name="T45" fmla="*/ 908 h 1145"/>
                <a:gd name="T46" fmla="*/ 1128 w 1582"/>
                <a:gd name="T47" fmla="*/ 908 h 1145"/>
                <a:gd name="T48" fmla="*/ 1128 w 1582"/>
                <a:gd name="T49" fmla="*/ 67 h 1145"/>
                <a:gd name="T50" fmla="*/ 1345 w 1582"/>
                <a:gd name="T51" fmla="*/ 67 h 1145"/>
                <a:gd name="T52" fmla="*/ 1345 w 1582"/>
                <a:gd name="T53" fmla="*/ 908 h 1145"/>
                <a:gd name="T54" fmla="*/ 1437 w 1582"/>
                <a:gd name="T55" fmla="*/ 908 h 1145"/>
                <a:gd name="T56" fmla="*/ 1502 w 1582"/>
                <a:gd name="T57" fmla="*/ 1034 h 1145"/>
                <a:gd name="T58" fmla="*/ 1229 w 1582"/>
                <a:gd name="T59" fmla="*/ 1034 h 1145"/>
                <a:gd name="T60" fmla="*/ 1174 w 1582"/>
                <a:gd name="T61" fmla="*/ 1006 h 1145"/>
                <a:gd name="T62" fmla="*/ 1105 w 1582"/>
                <a:gd name="T63" fmla="*/ 1075 h 1145"/>
                <a:gd name="T64" fmla="*/ 1174 w 1582"/>
                <a:gd name="T65" fmla="*/ 1145 h 1145"/>
                <a:gd name="T66" fmla="*/ 1239 w 1582"/>
                <a:gd name="T67" fmla="*/ 1100 h 1145"/>
                <a:gd name="T68" fmla="*/ 1582 w 1582"/>
                <a:gd name="T69" fmla="*/ 1100 h 1145"/>
                <a:gd name="T70" fmla="*/ 1582 w 1582"/>
                <a:gd name="T71" fmla="*/ 1042 h 1145"/>
                <a:gd name="T72" fmla="*/ 1478 w 1582"/>
                <a:gd name="T73" fmla="*/ 842 h 1145"/>
                <a:gd name="T74" fmla="*/ 1412 w 1582"/>
                <a:gd name="T75" fmla="*/ 842 h 1145"/>
                <a:gd name="T76" fmla="*/ 1412 w 1582"/>
                <a:gd name="T77" fmla="*/ 0 h 1145"/>
                <a:gd name="T78" fmla="*/ 1061 w 1582"/>
                <a:gd name="T79" fmla="*/ 0 h 1145"/>
                <a:gd name="T80" fmla="*/ 1061 w 1582"/>
                <a:gd name="T81" fmla="*/ 842 h 1145"/>
                <a:gd name="T82" fmla="*/ 997 w 1582"/>
                <a:gd name="T83" fmla="*/ 842 h 1145"/>
                <a:gd name="T84" fmla="*/ 997 w 1582"/>
                <a:gd name="T85" fmla="*/ 483 h 1145"/>
                <a:gd name="T86" fmla="*/ 941 w 1582"/>
                <a:gd name="T87" fmla="*/ 483 h 1145"/>
                <a:gd name="T88" fmla="*/ 941 w 1582"/>
                <a:gd name="T89" fmla="*/ 397 h 1145"/>
                <a:gd name="T90" fmla="*/ 643 w 1582"/>
                <a:gd name="T91" fmla="*/ 492 h 1145"/>
                <a:gd name="T92" fmla="*/ 643 w 1582"/>
                <a:gd name="T93" fmla="*/ 847 h 1145"/>
                <a:gd name="T94" fmla="*/ 581 w 1582"/>
                <a:gd name="T95" fmla="*/ 847 h 1145"/>
                <a:gd name="T96" fmla="*/ 581 w 1582"/>
                <a:gd name="T97" fmla="*/ 193 h 1145"/>
                <a:gd name="T98" fmla="*/ 506 w 1582"/>
                <a:gd name="T99" fmla="*/ 193 h 1145"/>
                <a:gd name="T100" fmla="*/ 506 w 1582"/>
                <a:gd name="T101" fmla="*/ 37 h 1145"/>
                <a:gd name="T102" fmla="*/ 253 w 1582"/>
                <a:gd name="T103" fmla="*/ 129 h 1145"/>
                <a:gd name="T104" fmla="*/ 253 w 1582"/>
                <a:gd name="T105" fmla="*/ 193 h 1145"/>
                <a:gd name="T106" fmla="*/ 128 w 1582"/>
                <a:gd name="T107" fmla="*/ 193 h 1145"/>
                <a:gd name="T108" fmla="*/ 128 w 1582"/>
                <a:gd name="T109" fmla="*/ 842 h 1145"/>
                <a:gd name="T110" fmla="*/ 81 w 1582"/>
                <a:gd name="T111" fmla="*/ 842 h 1145"/>
                <a:gd name="T112" fmla="*/ 10 w 1582"/>
                <a:gd name="T113" fmla="*/ 1039 h 1145"/>
                <a:gd name="T114" fmla="*/ 8 w 1582"/>
                <a:gd name="T115" fmla="*/ 1053 h 1145"/>
                <a:gd name="T116" fmla="*/ 0 w 1582"/>
                <a:gd name="T117" fmla="*/ 1075 h 1145"/>
                <a:gd name="T118" fmla="*/ 33 w 1582"/>
                <a:gd name="T119" fmla="*/ 1108 h 1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82" h="1145">
                  <a:moveTo>
                    <a:pt x="33" y="1108"/>
                  </a:moveTo>
                  <a:lnTo>
                    <a:pt x="33" y="1108"/>
                  </a:lnTo>
                  <a:lnTo>
                    <a:pt x="838" y="1108"/>
                  </a:lnTo>
                  <a:cubicBezTo>
                    <a:pt x="849" y="1130"/>
                    <a:pt x="872" y="1145"/>
                    <a:pt x="898" y="1145"/>
                  </a:cubicBezTo>
                  <a:cubicBezTo>
                    <a:pt x="936" y="1145"/>
                    <a:pt x="968" y="1113"/>
                    <a:pt x="968" y="1075"/>
                  </a:cubicBezTo>
                  <a:cubicBezTo>
                    <a:pt x="968" y="1037"/>
                    <a:pt x="936" y="1006"/>
                    <a:pt x="898" y="1006"/>
                  </a:cubicBezTo>
                  <a:cubicBezTo>
                    <a:pt x="872" y="1006"/>
                    <a:pt x="849" y="1020"/>
                    <a:pt x="838" y="1042"/>
                  </a:cubicBezTo>
                  <a:lnTo>
                    <a:pt x="80" y="1042"/>
                  </a:lnTo>
                  <a:lnTo>
                    <a:pt x="128" y="908"/>
                  </a:lnTo>
                  <a:lnTo>
                    <a:pt x="194" y="908"/>
                  </a:lnTo>
                  <a:lnTo>
                    <a:pt x="194" y="260"/>
                  </a:lnTo>
                  <a:lnTo>
                    <a:pt x="319" y="260"/>
                  </a:lnTo>
                  <a:lnTo>
                    <a:pt x="319" y="176"/>
                  </a:lnTo>
                  <a:lnTo>
                    <a:pt x="440" y="132"/>
                  </a:lnTo>
                  <a:lnTo>
                    <a:pt x="440" y="260"/>
                  </a:lnTo>
                  <a:lnTo>
                    <a:pt x="514" y="260"/>
                  </a:lnTo>
                  <a:lnTo>
                    <a:pt x="514" y="914"/>
                  </a:lnTo>
                  <a:lnTo>
                    <a:pt x="709" y="914"/>
                  </a:lnTo>
                  <a:lnTo>
                    <a:pt x="709" y="541"/>
                  </a:lnTo>
                  <a:lnTo>
                    <a:pt x="875" y="488"/>
                  </a:lnTo>
                  <a:lnTo>
                    <a:pt x="875" y="550"/>
                  </a:lnTo>
                  <a:lnTo>
                    <a:pt x="931" y="550"/>
                  </a:lnTo>
                  <a:lnTo>
                    <a:pt x="931" y="908"/>
                  </a:lnTo>
                  <a:lnTo>
                    <a:pt x="1128" y="908"/>
                  </a:lnTo>
                  <a:lnTo>
                    <a:pt x="1128" y="67"/>
                  </a:lnTo>
                  <a:lnTo>
                    <a:pt x="1345" y="67"/>
                  </a:lnTo>
                  <a:lnTo>
                    <a:pt x="1345" y="908"/>
                  </a:lnTo>
                  <a:lnTo>
                    <a:pt x="1437" y="908"/>
                  </a:lnTo>
                  <a:lnTo>
                    <a:pt x="1502" y="1034"/>
                  </a:lnTo>
                  <a:lnTo>
                    <a:pt x="1229" y="1034"/>
                  </a:lnTo>
                  <a:cubicBezTo>
                    <a:pt x="1217" y="1017"/>
                    <a:pt x="1197" y="1006"/>
                    <a:pt x="1174" y="1006"/>
                  </a:cubicBezTo>
                  <a:cubicBezTo>
                    <a:pt x="1136" y="1006"/>
                    <a:pt x="1105" y="1037"/>
                    <a:pt x="1105" y="1075"/>
                  </a:cubicBezTo>
                  <a:cubicBezTo>
                    <a:pt x="1105" y="1113"/>
                    <a:pt x="1136" y="1145"/>
                    <a:pt x="1174" y="1145"/>
                  </a:cubicBezTo>
                  <a:cubicBezTo>
                    <a:pt x="1203" y="1145"/>
                    <a:pt x="1228" y="1126"/>
                    <a:pt x="1239" y="1100"/>
                  </a:cubicBezTo>
                  <a:lnTo>
                    <a:pt x="1582" y="1100"/>
                  </a:lnTo>
                  <a:lnTo>
                    <a:pt x="1582" y="1042"/>
                  </a:lnTo>
                  <a:lnTo>
                    <a:pt x="1478" y="842"/>
                  </a:lnTo>
                  <a:lnTo>
                    <a:pt x="1412" y="842"/>
                  </a:lnTo>
                  <a:lnTo>
                    <a:pt x="1412" y="0"/>
                  </a:lnTo>
                  <a:lnTo>
                    <a:pt x="1061" y="0"/>
                  </a:lnTo>
                  <a:lnTo>
                    <a:pt x="1061" y="842"/>
                  </a:lnTo>
                  <a:lnTo>
                    <a:pt x="997" y="842"/>
                  </a:lnTo>
                  <a:lnTo>
                    <a:pt x="997" y="483"/>
                  </a:lnTo>
                  <a:lnTo>
                    <a:pt x="941" y="483"/>
                  </a:lnTo>
                  <a:lnTo>
                    <a:pt x="941" y="397"/>
                  </a:lnTo>
                  <a:lnTo>
                    <a:pt x="643" y="492"/>
                  </a:lnTo>
                  <a:lnTo>
                    <a:pt x="643" y="847"/>
                  </a:lnTo>
                  <a:lnTo>
                    <a:pt x="581" y="847"/>
                  </a:lnTo>
                  <a:lnTo>
                    <a:pt x="581" y="193"/>
                  </a:lnTo>
                  <a:lnTo>
                    <a:pt x="506" y="193"/>
                  </a:lnTo>
                  <a:lnTo>
                    <a:pt x="506" y="37"/>
                  </a:lnTo>
                  <a:lnTo>
                    <a:pt x="253" y="129"/>
                  </a:lnTo>
                  <a:lnTo>
                    <a:pt x="253" y="193"/>
                  </a:lnTo>
                  <a:lnTo>
                    <a:pt x="128" y="193"/>
                  </a:lnTo>
                  <a:lnTo>
                    <a:pt x="128" y="842"/>
                  </a:lnTo>
                  <a:lnTo>
                    <a:pt x="81" y="842"/>
                  </a:lnTo>
                  <a:lnTo>
                    <a:pt x="10" y="1039"/>
                  </a:lnTo>
                  <a:cubicBezTo>
                    <a:pt x="8" y="1044"/>
                    <a:pt x="8" y="1048"/>
                    <a:pt x="8" y="1053"/>
                  </a:cubicBezTo>
                  <a:cubicBezTo>
                    <a:pt x="3" y="1059"/>
                    <a:pt x="0" y="1067"/>
                    <a:pt x="0" y="1075"/>
                  </a:cubicBezTo>
                  <a:cubicBezTo>
                    <a:pt x="0" y="1093"/>
                    <a:pt x="15" y="1108"/>
                    <a:pt x="33" y="1108"/>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44" name="Freeform 41">
              <a:extLst>
                <a:ext uri="{FF2B5EF4-FFF2-40B4-BE49-F238E27FC236}">
                  <a16:creationId xmlns:a16="http://schemas.microsoft.com/office/drawing/2014/main" id="{DB6D8731-9D7C-41E3-8217-51647BA0E9BA}"/>
                </a:ext>
              </a:extLst>
            </p:cNvPr>
            <p:cNvSpPr>
              <a:spLocks/>
            </p:cNvSpPr>
            <p:nvPr/>
          </p:nvSpPr>
          <p:spPr bwMode="gray">
            <a:xfrm>
              <a:off x="6962775" y="2339975"/>
              <a:ext cx="28575" cy="28575"/>
            </a:xfrm>
            <a:custGeom>
              <a:avLst/>
              <a:gdLst>
                <a:gd name="T0" fmla="*/ 64 w 64"/>
                <a:gd name="T1" fmla="*/ 0 h 64"/>
                <a:gd name="T2" fmla="*/ 64 w 64"/>
                <a:gd name="T3" fmla="*/ 0 h 64"/>
                <a:gd name="T4" fmla="*/ 0 w 64"/>
                <a:gd name="T5" fmla="*/ 0 h 64"/>
                <a:gd name="T6" fmla="*/ 0 w 64"/>
                <a:gd name="T7" fmla="*/ 64 h 64"/>
                <a:gd name="T8" fmla="*/ 64 w 64"/>
                <a:gd name="T9" fmla="*/ 64 h 64"/>
                <a:gd name="T10" fmla="*/ 64 w 64"/>
                <a:gd name="T11" fmla="*/ 0 h 64"/>
              </a:gdLst>
              <a:ahLst/>
              <a:cxnLst>
                <a:cxn ang="0">
                  <a:pos x="T0" y="T1"/>
                </a:cxn>
                <a:cxn ang="0">
                  <a:pos x="T2" y="T3"/>
                </a:cxn>
                <a:cxn ang="0">
                  <a:pos x="T4" y="T5"/>
                </a:cxn>
                <a:cxn ang="0">
                  <a:pos x="T6" y="T7"/>
                </a:cxn>
                <a:cxn ang="0">
                  <a:pos x="T8" y="T9"/>
                </a:cxn>
                <a:cxn ang="0">
                  <a:pos x="T10" y="T11"/>
                </a:cxn>
              </a:cxnLst>
              <a:rect l="0" t="0" r="r" b="b"/>
              <a:pathLst>
                <a:path w="64" h="64">
                  <a:moveTo>
                    <a:pt x="64" y="0"/>
                  </a:moveTo>
                  <a:lnTo>
                    <a:pt x="64" y="0"/>
                  </a:lnTo>
                  <a:lnTo>
                    <a:pt x="0" y="0"/>
                  </a:lnTo>
                  <a:lnTo>
                    <a:pt x="0" y="64"/>
                  </a:lnTo>
                  <a:lnTo>
                    <a:pt x="64" y="64"/>
                  </a:lnTo>
                  <a:lnTo>
                    <a:pt x="64" y="0"/>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45" name="Freeform 42">
              <a:extLst>
                <a:ext uri="{FF2B5EF4-FFF2-40B4-BE49-F238E27FC236}">
                  <a16:creationId xmlns:a16="http://schemas.microsoft.com/office/drawing/2014/main" id="{80DCD90F-9B3A-4882-A809-F17844271AE1}"/>
                </a:ext>
              </a:extLst>
            </p:cNvPr>
            <p:cNvSpPr>
              <a:spLocks/>
            </p:cNvSpPr>
            <p:nvPr/>
          </p:nvSpPr>
          <p:spPr bwMode="gray">
            <a:xfrm>
              <a:off x="7010400" y="2387600"/>
              <a:ext cx="28575" cy="26988"/>
            </a:xfrm>
            <a:custGeom>
              <a:avLst/>
              <a:gdLst>
                <a:gd name="T0" fmla="*/ 63 w 63"/>
                <a:gd name="T1" fmla="*/ 0 h 64"/>
                <a:gd name="T2" fmla="*/ 63 w 63"/>
                <a:gd name="T3" fmla="*/ 0 h 64"/>
                <a:gd name="T4" fmla="*/ 0 w 63"/>
                <a:gd name="T5" fmla="*/ 0 h 64"/>
                <a:gd name="T6" fmla="*/ 0 w 63"/>
                <a:gd name="T7" fmla="*/ 64 h 64"/>
                <a:gd name="T8" fmla="*/ 63 w 63"/>
                <a:gd name="T9" fmla="*/ 64 h 64"/>
                <a:gd name="T10" fmla="*/ 63 w 63"/>
                <a:gd name="T11" fmla="*/ 0 h 64"/>
              </a:gdLst>
              <a:ahLst/>
              <a:cxnLst>
                <a:cxn ang="0">
                  <a:pos x="T0" y="T1"/>
                </a:cxn>
                <a:cxn ang="0">
                  <a:pos x="T2" y="T3"/>
                </a:cxn>
                <a:cxn ang="0">
                  <a:pos x="T4" y="T5"/>
                </a:cxn>
                <a:cxn ang="0">
                  <a:pos x="T6" y="T7"/>
                </a:cxn>
                <a:cxn ang="0">
                  <a:pos x="T8" y="T9"/>
                </a:cxn>
                <a:cxn ang="0">
                  <a:pos x="T10" y="T11"/>
                </a:cxn>
              </a:cxnLst>
              <a:rect l="0" t="0" r="r" b="b"/>
              <a:pathLst>
                <a:path w="63" h="64">
                  <a:moveTo>
                    <a:pt x="63" y="0"/>
                  </a:moveTo>
                  <a:lnTo>
                    <a:pt x="63" y="0"/>
                  </a:lnTo>
                  <a:lnTo>
                    <a:pt x="0" y="0"/>
                  </a:lnTo>
                  <a:lnTo>
                    <a:pt x="0" y="64"/>
                  </a:lnTo>
                  <a:lnTo>
                    <a:pt x="63" y="64"/>
                  </a:lnTo>
                  <a:lnTo>
                    <a:pt x="63" y="0"/>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46" name="Freeform 43">
              <a:extLst>
                <a:ext uri="{FF2B5EF4-FFF2-40B4-BE49-F238E27FC236}">
                  <a16:creationId xmlns:a16="http://schemas.microsoft.com/office/drawing/2014/main" id="{8E8C3D0C-344C-4BA3-8364-7BF900CAFDB4}"/>
                </a:ext>
              </a:extLst>
            </p:cNvPr>
            <p:cNvSpPr>
              <a:spLocks/>
            </p:cNvSpPr>
            <p:nvPr/>
          </p:nvSpPr>
          <p:spPr bwMode="gray">
            <a:xfrm>
              <a:off x="6962775" y="2435225"/>
              <a:ext cx="28575" cy="26988"/>
            </a:xfrm>
            <a:custGeom>
              <a:avLst/>
              <a:gdLst>
                <a:gd name="T0" fmla="*/ 0 w 64"/>
                <a:gd name="T1" fmla="*/ 64 h 64"/>
                <a:gd name="T2" fmla="*/ 0 w 64"/>
                <a:gd name="T3" fmla="*/ 64 h 64"/>
                <a:gd name="T4" fmla="*/ 64 w 64"/>
                <a:gd name="T5" fmla="*/ 64 h 64"/>
                <a:gd name="T6" fmla="*/ 64 w 64"/>
                <a:gd name="T7" fmla="*/ 0 h 64"/>
                <a:gd name="T8" fmla="*/ 0 w 64"/>
                <a:gd name="T9" fmla="*/ 0 h 64"/>
                <a:gd name="T10" fmla="*/ 0 w 64"/>
                <a:gd name="T11" fmla="*/ 64 h 64"/>
              </a:gdLst>
              <a:ahLst/>
              <a:cxnLst>
                <a:cxn ang="0">
                  <a:pos x="T0" y="T1"/>
                </a:cxn>
                <a:cxn ang="0">
                  <a:pos x="T2" y="T3"/>
                </a:cxn>
                <a:cxn ang="0">
                  <a:pos x="T4" y="T5"/>
                </a:cxn>
                <a:cxn ang="0">
                  <a:pos x="T6" y="T7"/>
                </a:cxn>
                <a:cxn ang="0">
                  <a:pos x="T8" y="T9"/>
                </a:cxn>
                <a:cxn ang="0">
                  <a:pos x="T10" y="T11"/>
                </a:cxn>
              </a:cxnLst>
              <a:rect l="0" t="0" r="r" b="b"/>
              <a:pathLst>
                <a:path w="64" h="64">
                  <a:moveTo>
                    <a:pt x="0" y="64"/>
                  </a:moveTo>
                  <a:lnTo>
                    <a:pt x="0" y="64"/>
                  </a:lnTo>
                  <a:lnTo>
                    <a:pt x="64" y="64"/>
                  </a:lnTo>
                  <a:lnTo>
                    <a:pt x="64" y="0"/>
                  </a:lnTo>
                  <a:lnTo>
                    <a:pt x="0" y="0"/>
                  </a:lnTo>
                  <a:lnTo>
                    <a:pt x="0" y="64"/>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47" name="Freeform 44">
              <a:extLst>
                <a:ext uri="{FF2B5EF4-FFF2-40B4-BE49-F238E27FC236}">
                  <a16:creationId xmlns:a16="http://schemas.microsoft.com/office/drawing/2014/main" id="{A0805364-6430-4D04-B5FF-E75D8C9C4123}"/>
                </a:ext>
              </a:extLst>
            </p:cNvPr>
            <p:cNvSpPr>
              <a:spLocks/>
            </p:cNvSpPr>
            <p:nvPr/>
          </p:nvSpPr>
          <p:spPr bwMode="gray">
            <a:xfrm>
              <a:off x="7010400" y="2478088"/>
              <a:ext cx="28575" cy="26988"/>
            </a:xfrm>
            <a:custGeom>
              <a:avLst/>
              <a:gdLst>
                <a:gd name="T0" fmla="*/ 0 w 63"/>
                <a:gd name="T1" fmla="*/ 64 h 64"/>
                <a:gd name="T2" fmla="*/ 0 w 63"/>
                <a:gd name="T3" fmla="*/ 64 h 64"/>
                <a:gd name="T4" fmla="*/ 63 w 63"/>
                <a:gd name="T5" fmla="*/ 64 h 64"/>
                <a:gd name="T6" fmla="*/ 63 w 63"/>
                <a:gd name="T7" fmla="*/ 0 h 64"/>
                <a:gd name="T8" fmla="*/ 0 w 63"/>
                <a:gd name="T9" fmla="*/ 0 h 64"/>
                <a:gd name="T10" fmla="*/ 0 w 63"/>
                <a:gd name="T11" fmla="*/ 64 h 64"/>
              </a:gdLst>
              <a:ahLst/>
              <a:cxnLst>
                <a:cxn ang="0">
                  <a:pos x="T0" y="T1"/>
                </a:cxn>
                <a:cxn ang="0">
                  <a:pos x="T2" y="T3"/>
                </a:cxn>
                <a:cxn ang="0">
                  <a:pos x="T4" y="T5"/>
                </a:cxn>
                <a:cxn ang="0">
                  <a:pos x="T6" y="T7"/>
                </a:cxn>
                <a:cxn ang="0">
                  <a:pos x="T8" y="T9"/>
                </a:cxn>
                <a:cxn ang="0">
                  <a:pos x="T10" y="T11"/>
                </a:cxn>
              </a:cxnLst>
              <a:rect l="0" t="0" r="r" b="b"/>
              <a:pathLst>
                <a:path w="63" h="64">
                  <a:moveTo>
                    <a:pt x="0" y="64"/>
                  </a:moveTo>
                  <a:lnTo>
                    <a:pt x="0" y="64"/>
                  </a:lnTo>
                  <a:lnTo>
                    <a:pt x="63" y="64"/>
                  </a:lnTo>
                  <a:lnTo>
                    <a:pt x="63" y="0"/>
                  </a:lnTo>
                  <a:lnTo>
                    <a:pt x="0" y="0"/>
                  </a:lnTo>
                  <a:lnTo>
                    <a:pt x="0" y="64"/>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48" name="Freeform 45">
              <a:extLst>
                <a:ext uri="{FF2B5EF4-FFF2-40B4-BE49-F238E27FC236}">
                  <a16:creationId xmlns:a16="http://schemas.microsoft.com/office/drawing/2014/main" id="{5C69E606-A3C0-4DD6-BD6E-9D2EA0FDF48A}"/>
                </a:ext>
              </a:extLst>
            </p:cNvPr>
            <p:cNvSpPr>
              <a:spLocks/>
            </p:cNvSpPr>
            <p:nvPr/>
          </p:nvSpPr>
          <p:spPr bwMode="gray">
            <a:xfrm>
              <a:off x="7173913" y="2435225"/>
              <a:ext cx="9525" cy="20638"/>
            </a:xfrm>
            <a:custGeom>
              <a:avLst/>
              <a:gdLst>
                <a:gd name="T0" fmla="*/ 22 w 22"/>
                <a:gd name="T1" fmla="*/ 0 h 50"/>
                <a:gd name="T2" fmla="*/ 22 w 22"/>
                <a:gd name="T3" fmla="*/ 0 h 50"/>
                <a:gd name="T4" fmla="*/ 0 w 22"/>
                <a:gd name="T5" fmla="*/ 0 h 50"/>
                <a:gd name="T6" fmla="*/ 0 w 22"/>
                <a:gd name="T7" fmla="*/ 50 h 50"/>
                <a:gd name="T8" fmla="*/ 22 w 22"/>
                <a:gd name="T9" fmla="*/ 50 h 50"/>
                <a:gd name="T10" fmla="*/ 22 w 22"/>
                <a:gd name="T11" fmla="*/ 0 h 50"/>
              </a:gdLst>
              <a:ahLst/>
              <a:cxnLst>
                <a:cxn ang="0">
                  <a:pos x="T0" y="T1"/>
                </a:cxn>
                <a:cxn ang="0">
                  <a:pos x="T2" y="T3"/>
                </a:cxn>
                <a:cxn ang="0">
                  <a:pos x="T4" y="T5"/>
                </a:cxn>
                <a:cxn ang="0">
                  <a:pos x="T6" y="T7"/>
                </a:cxn>
                <a:cxn ang="0">
                  <a:pos x="T8" y="T9"/>
                </a:cxn>
                <a:cxn ang="0">
                  <a:pos x="T10" y="T11"/>
                </a:cxn>
              </a:cxnLst>
              <a:rect l="0" t="0" r="r" b="b"/>
              <a:pathLst>
                <a:path w="22" h="50">
                  <a:moveTo>
                    <a:pt x="22" y="0"/>
                  </a:moveTo>
                  <a:lnTo>
                    <a:pt x="22" y="0"/>
                  </a:lnTo>
                  <a:lnTo>
                    <a:pt x="0" y="0"/>
                  </a:lnTo>
                  <a:lnTo>
                    <a:pt x="0" y="50"/>
                  </a:lnTo>
                  <a:lnTo>
                    <a:pt x="22" y="50"/>
                  </a:lnTo>
                  <a:lnTo>
                    <a:pt x="22" y="0"/>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49" name="Freeform 46">
              <a:extLst>
                <a:ext uri="{FF2B5EF4-FFF2-40B4-BE49-F238E27FC236}">
                  <a16:creationId xmlns:a16="http://schemas.microsoft.com/office/drawing/2014/main" id="{964E4A53-CB4E-4FED-A3B5-D31F80D00035}"/>
                </a:ext>
              </a:extLst>
            </p:cNvPr>
            <p:cNvSpPr>
              <a:spLocks/>
            </p:cNvSpPr>
            <p:nvPr/>
          </p:nvSpPr>
          <p:spPr bwMode="gray">
            <a:xfrm>
              <a:off x="7227888" y="2435225"/>
              <a:ext cx="9525" cy="20638"/>
            </a:xfrm>
            <a:custGeom>
              <a:avLst/>
              <a:gdLst>
                <a:gd name="T0" fmla="*/ 0 w 22"/>
                <a:gd name="T1" fmla="*/ 50 h 50"/>
                <a:gd name="T2" fmla="*/ 0 w 22"/>
                <a:gd name="T3" fmla="*/ 50 h 50"/>
                <a:gd name="T4" fmla="*/ 22 w 22"/>
                <a:gd name="T5" fmla="*/ 50 h 50"/>
                <a:gd name="T6" fmla="*/ 22 w 22"/>
                <a:gd name="T7" fmla="*/ 0 h 50"/>
                <a:gd name="T8" fmla="*/ 0 w 22"/>
                <a:gd name="T9" fmla="*/ 0 h 50"/>
                <a:gd name="T10" fmla="*/ 0 w 22"/>
                <a:gd name="T11" fmla="*/ 50 h 50"/>
              </a:gdLst>
              <a:ahLst/>
              <a:cxnLst>
                <a:cxn ang="0">
                  <a:pos x="T0" y="T1"/>
                </a:cxn>
                <a:cxn ang="0">
                  <a:pos x="T2" y="T3"/>
                </a:cxn>
                <a:cxn ang="0">
                  <a:pos x="T4" y="T5"/>
                </a:cxn>
                <a:cxn ang="0">
                  <a:pos x="T6" y="T7"/>
                </a:cxn>
                <a:cxn ang="0">
                  <a:pos x="T8" y="T9"/>
                </a:cxn>
                <a:cxn ang="0">
                  <a:pos x="T10" y="T11"/>
                </a:cxn>
              </a:cxnLst>
              <a:rect l="0" t="0" r="r" b="b"/>
              <a:pathLst>
                <a:path w="22" h="50">
                  <a:moveTo>
                    <a:pt x="0" y="50"/>
                  </a:moveTo>
                  <a:lnTo>
                    <a:pt x="0" y="50"/>
                  </a:lnTo>
                  <a:lnTo>
                    <a:pt x="22" y="50"/>
                  </a:lnTo>
                  <a:lnTo>
                    <a:pt x="22" y="0"/>
                  </a:lnTo>
                  <a:lnTo>
                    <a:pt x="0" y="0"/>
                  </a:lnTo>
                  <a:lnTo>
                    <a:pt x="0" y="50"/>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50" name="Freeform 47">
              <a:extLst>
                <a:ext uri="{FF2B5EF4-FFF2-40B4-BE49-F238E27FC236}">
                  <a16:creationId xmlns:a16="http://schemas.microsoft.com/office/drawing/2014/main" id="{26B77486-A969-4FE4-AF4A-82D32039B8B6}"/>
                </a:ext>
              </a:extLst>
            </p:cNvPr>
            <p:cNvSpPr>
              <a:spLocks/>
            </p:cNvSpPr>
            <p:nvPr/>
          </p:nvSpPr>
          <p:spPr bwMode="gray">
            <a:xfrm>
              <a:off x="7196138" y="2435225"/>
              <a:ext cx="19050" cy="20638"/>
            </a:xfrm>
            <a:custGeom>
              <a:avLst/>
              <a:gdLst>
                <a:gd name="T0" fmla="*/ 43 w 43"/>
                <a:gd name="T1" fmla="*/ 0 h 50"/>
                <a:gd name="T2" fmla="*/ 43 w 43"/>
                <a:gd name="T3" fmla="*/ 0 h 50"/>
                <a:gd name="T4" fmla="*/ 0 w 43"/>
                <a:gd name="T5" fmla="*/ 0 h 50"/>
                <a:gd name="T6" fmla="*/ 0 w 43"/>
                <a:gd name="T7" fmla="*/ 50 h 50"/>
                <a:gd name="T8" fmla="*/ 43 w 43"/>
                <a:gd name="T9" fmla="*/ 50 h 50"/>
                <a:gd name="T10" fmla="*/ 43 w 43"/>
                <a:gd name="T11" fmla="*/ 0 h 50"/>
              </a:gdLst>
              <a:ahLst/>
              <a:cxnLst>
                <a:cxn ang="0">
                  <a:pos x="T0" y="T1"/>
                </a:cxn>
                <a:cxn ang="0">
                  <a:pos x="T2" y="T3"/>
                </a:cxn>
                <a:cxn ang="0">
                  <a:pos x="T4" y="T5"/>
                </a:cxn>
                <a:cxn ang="0">
                  <a:pos x="T6" y="T7"/>
                </a:cxn>
                <a:cxn ang="0">
                  <a:pos x="T8" y="T9"/>
                </a:cxn>
                <a:cxn ang="0">
                  <a:pos x="T10" y="T11"/>
                </a:cxn>
              </a:cxnLst>
              <a:rect l="0" t="0" r="r" b="b"/>
              <a:pathLst>
                <a:path w="43" h="50">
                  <a:moveTo>
                    <a:pt x="43" y="0"/>
                  </a:moveTo>
                  <a:lnTo>
                    <a:pt x="43" y="0"/>
                  </a:lnTo>
                  <a:lnTo>
                    <a:pt x="0" y="0"/>
                  </a:lnTo>
                  <a:lnTo>
                    <a:pt x="0" y="50"/>
                  </a:lnTo>
                  <a:lnTo>
                    <a:pt x="43" y="50"/>
                  </a:lnTo>
                  <a:lnTo>
                    <a:pt x="43" y="0"/>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51" name="Freeform 48">
              <a:extLst>
                <a:ext uri="{FF2B5EF4-FFF2-40B4-BE49-F238E27FC236}">
                  <a16:creationId xmlns:a16="http://schemas.microsoft.com/office/drawing/2014/main" id="{0F949C9D-32E6-460D-9DAF-5D74E64D93B6}"/>
                </a:ext>
              </a:extLst>
            </p:cNvPr>
            <p:cNvSpPr>
              <a:spLocks/>
            </p:cNvSpPr>
            <p:nvPr/>
          </p:nvSpPr>
          <p:spPr bwMode="gray">
            <a:xfrm>
              <a:off x="7359650" y="2214563"/>
              <a:ext cx="7938" cy="350838"/>
            </a:xfrm>
            <a:custGeom>
              <a:avLst/>
              <a:gdLst>
                <a:gd name="T0" fmla="*/ 0 w 18"/>
                <a:gd name="T1" fmla="*/ 802 h 802"/>
                <a:gd name="T2" fmla="*/ 0 w 18"/>
                <a:gd name="T3" fmla="*/ 802 h 802"/>
                <a:gd name="T4" fmla="*/ 18 w 18"/>
                <a:gd name="T5" fmla="*/ 802 h 802"/>
                <a:gd name="T6" fmla="*/ 18 w 18"/>
                <a:gd name="T7" fmla="*/ 0 h 802"/>
                <a:gd name="T8" fmla="*/ 0 w 18"/>
                <a:gd name="T9" fmla="*/ 0 h 802"/>
                <a:gd name="T10" fmla="*/ 0 w 18"/>
                <a:gd name="T11" fmla="*/ 802 h 802"/>
              </a:gdLst>
              <a:ahLst/>
              <a:cxnLst>
                <a:cxn ang="0">
                  <a:pos x="T0" y="T1"/>
                </a:cxn>
                <a:cxn ang="0">
                  <a:pos x="T2" y="T3"/>
                </a:cxn>
                <a:cxn ang="0">
                  <a:pos x="T4" y="T5"/>
                </a:cxn>
                <a:cxn ang="0">
                  <a:pos x="T6" y="T7"/>
                </a:cxn>
                <a:cxn ang="0">
                  <a:pos x="T8" y="T9"/>
                </a:cxn>
                <a:cxn ang="0">
                  <a:pos x="T10" y="T11"/>
                </a:cxn>
              </a:cxnLst>
              <a:rect l="0" t="0" r="r" b="b"/>
              <a:pathLst>
                <a:path w="18" h="802">
                  <a:moveTo>
                    <a:pt x="0" y="802"/>
                  </a:moveTo>
                  <a:lnTo>
                    <a:pt x="0" y="802"/>
                  </a:lnTo>
                  <a:lnTo>
                    <a:pt x="18" y="802"/>
                  </a:lnTo>
                  <a:lnTo>
                    <a:pt x="18" y="0"/>
                  </a:lnTo>
                  <a:lnTo>
                    <a:pt x="0" y="0"/>
                  </a:lnTo>
                  <a:lnTo>
                    <a:pt x="0" y="802"/>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52" name="Freeform 49">
              <a:extLst>
                <a:ext uri="{FF2B5EF4-FFF2-40B4-BE49-F238E27FC236}">
                  <a16:creationId xmlns:a16="http://schemas.microsoft.com/office/drawing/2014/main" id="{7EE6AB08-A372-4911-9A1C-18235F0E4B5A}"/>
                </a:ext>
              </a:extLst>
            </p:cNvPr>
            <p:cNvSpPr>
              <a:spLocks/>
            </p:cNvSpPr>
            <p:nvPr/>
          </p:nvSpPr>
          <p:spPr bwMode="gray">
            <a:xfrm>
              <a:off x="7381875" y="2214563"/>
              <a:ext cx="6350" cy="350838"/>
            </a:xfrm>
            <a:custGeom>
              <a:avLst/>
              <a:gdLst>
                <a:gd name="T0" fmla="*/ 0 w 18"/>
                <a:gd name="T1" fmla="*/ 802 h 802"/>
                <a:gd name="T2" fmla="*/ 0 w 18"/>
                <a:gd name="T3" fmla="*/ 802 h 802"/>
                <a:gd name="T4" fmla="*/ 18 w 18"/>
                <a:gd name="T5" fmla="*/ 802 h 802"/>
                <a:gd name="T6" fmla="*/ 18 w 18"/>
                <a:gd name="T7" fmla="*/ 0 h 802"/>
                <a:gd name="T8" fmla="*/ 0 w 18"/>
                <a:gd name="T9" fmla="*/ 0 h 802"/>
                <a:gd name="T10" fmla="*/ 0 w 18"/>
                <a:gd name="T11" fmla="*/ 802 h 802"/>
              </a:gdLst>
              <a:ahLst/>
              <a:cxnLst>
                <a:cxn ang="0">
                  <a:pos x="T0" y="T1"/>
                </a:cxn>
                <a:cxn ang="0">
                  <a:pos x="T2" y="T3"/>
                </a:cxn>
                <a:cxn ang="0">
                  <a:pos x="T4" y="T5"/>
                </a:cxn>
                <a:cxn ang="0">
                  <a:pos x="T6" y="T7"/>
                </a:cxn>
                <a:cxn ang="0">
                  <a:pos x="T8" y="T9"/>
                </a:cxn>
                <a:cxn ang="0">
                  <a:pos x="T10" y="T11"/>
                </a:cxn>
              </a:cxnLst>
              <a:rect l="0" t="0" r="r" b="b"/>
              <a:pathLst>
                <a:path w="18" h="802">
                  <a:moveTo>
                    <a:pt x="0" y="802"/>
                  </a:moveTo>
                  <a:lnTo>
                    <a:pt x="0" y="802"/>
                  </a:lnTo>
                  <a:lnTo>
                    <a:pt x="18" y="802"/>
                  </a:lnTo>
                  <a:lnTo>
                    <a:pt x="18" y="0"/>
                  </a:lnTo>
                  <a:lnTo>
                    <a:pt x="0" y="0"/>
                  </a:lnTo>
                  <a:lnTo>
                    <a:pt x="0" y="802"/>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53" name="Freeform 50">
              <a:extLst>
                <a:ext uri="{FF2B5EF4-FFF2-40B4-BE49-F238E27FC236}">
                  <a16:creationId xmlns:a16="http://schemas.microsoft.com/office/drawing/2014/main" id="{5516E6BD-6AB6-4276-A5F4-AB477FD8398B}"/>
                </a:ext>
              </a:extLst>
            </p:cNvPr>
            <p:cNvSpPr>
              <a:spLocks/>
            </p:cNvSpPr>
            <p:nvPr/>
          </p:nvSpPr>
          <p:spPr bwMode="gray">
            <a:xfrm>
              <a:off x="7402513" y="2214563"/>
              <a:ext cx="7938" cy="350838"/>
            </a:xfrm>
            <a:custGeom>
              <a:avLst/>
              <a:gdLst>
                <a:gd name="T0" fmla="*/ 0 w 17"/>
                <a:gd name="T1" fmla="*/ 802 h 802"/>
                <a:gd name="T2" fmla="*/ 0 w 17"/>
                <a:gd name="T3" fmla="*/ 802 h 802"/>
                <a:gd name="T4" fmla="*/ 17 w 17"/>
                <a:gd name="T5" fmla="*/ 802 h 802"/>
                <a:gd name="T6" fmla="*/ 17 w 17"/>
                <a:gd name="T7" fmla="*/ 0 h 802"/>
                <a:gd name="T8" fmla="*/ 0 w 17"/>
                <a:gd name="T9" fmla="*/ 0 h 802"/>
                <a:gd name="T10" fmla="*/ 0 w 17"/>
                <a:gd name="T11" fmla="*/ 802 h 802"/>
              </a:gdLst>
              <a:ahLst/>
              <a:cxnLst>
                <a:cxn ang="0">
                  <a:pos x="T0" y="T1"/>
                </a:cxn>
                <a:cxn ang="0">
                  <a:pos x="T2" y="T3"/>
                </a:cxn>
                <a:cxn ang="0">
                  <a:pos x="T4" y="T5"/>
                </a:cxn>
                <a:cxn ang="0">
                  <a:pos x="T6" y="T7"/>
                </a:cxn>
                <a:cxn ang="0">
                  <a:pos x="T8" y="T9"/>
                </a:cxn>
                <a:cxn ang="0">
                  <a:pos x="T10" y="T11"/>
                </a:cxn>
              </a:cxnLst>
              <a:rect l="0" t="0" r="r" b="b"/>
              <a:pathLst>
                <a:path w="17" h="802">
                  <a:moveTo>
                    <a:pt x="0" y="802"/>
                  </a:moveTo>
                  <a:lnTo>
                    <a:pt x="0" y="802"/>
                  </a:lnTo>
                  <a:lnTo>
                    <a:pt x="17" y="802"/>
                  </a:lnTo>
                  <a:lnTo>
                    <a:pt x="17" y="0"/>
                  </a:lnTo>
                  <a:lnTo>
                    <a:pt x="0" y="0"/>
                  </a:lnTo>
                  <a:lnTo>
                    <a:pt x="0" y="802"/>
                  </a:ln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54" name="Freeform 51">
              <a:extLst>
                <a:ext uri="{FF2B5EF4-FFF2-40B4-BE49-F238E27FC236}">
                  <a16:creationId xmlns:a16="http://schemas.microsoft.com/office/drawing/2014/main" id="{A62E1358-1BA3-4E1E-8748-6F4C458080CB}"/>
                </a:ext>
              </a:extLst>
            </p:cNvPr>
            <p:cNvSpPr>
              <a:spLocks/>
            </p:cNvSpPr>
            <p:nvPr/>
          </p:nvSpPr>
          <p:spPr bwMode="gray">
            <a:xfrm>
              <a:off x="7151688" y="2233613"/>
              <a:ext cx="95250" cy="33338"/>
            </a:xfrm>
            <a:custGeom>
              <a:avLst/>
              <a:gdLst>
                <a:gd name="T0" fmla="*/ 0 w 222"/>
                <a:gd name="T1" fmla="*/ 39 h 77"/>
                <a:gd name="T2" fmla="*/ 0 w 222"/>
                <a:gd name="T3" fmla="*/ 39 h 77"/>
                <a:gd name="T4" fmla="*/ 38 w 222"/>
                <a:gd name="T5" fmla="*/ 77 h 77"/>
                <a:gd name="T6" fmla="*/ 111 w 222"/>
                <a:gd name="T7" fmla="*/ 53 h 77"/>
                <a:gd name="T8" fmla="*/ 184 w 222"/>
                <a:gd name="T9" fmla="*/ 77 h 77"/>
                <a:gd name="T10" fmla="*/ 222 w 222"/>
                <a:gd name="T11" fmla="*/ 39 h 77"/>
                <a:gd name="T12" fmla="*/ 111 w 222"/>
                <a:gd name="T13" fmla="*/ 0 h 77"/>
                <a:gd name="T14" fmla="*/ 0 w 222"/>
                <a:gd name="T15" fmla="*/ 39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77">
                  <a:moveTo>
                    <a:pt x="0" y="39"/>
                  </a:moveTo>
                  <a:lnTo>
                    <a:pt x="0" y="39"/>
                  </a:lnTo>
                  <a:lnTo>
                    <a:pt x="38" y="77"/>
                  </a:lnTo>
                  <a:cubicBezTo>
                    <a:pt x="52" y="62"/>
                    <a:pt x="81" y="53"/>
                    <a:pt x="111" y="53"/>
                  </a:cubicBezTo>
                  <a:cubicBezTo>
                    <a:pt x="142" y="53"/>
                    <a:pt x="170" y="62"/>
                    <a:pt x="184" y="77"/>
                  </a:cubicBezTo>
                  <a:lnTo>
                    <a:pt x="222" y="39"/>
                  </a:lnTo>
                  <a:cubicBezTo>
                    <a:pt x="198" y="15"/>
                    <a:pt x="157" y="0"/>
                    <a:pt x="111" y="0"/>
                  </a:cubicBezTo>
                  <a:cubicBezTo>
                    <a:pt x="66" y="0"/>
                    <a:pt x="24" y="15"/>
                    <a:pt x="0" y="39"/>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sp>
          <p:nvSpPr>
            <p:cNvPr id="55" name="Freeform 52">
              <a:extLst>
                <a:ext uri="{FF2B5EF4-FFF2-40B4-BE49-F238E27FC236}">
                  <a16:creationId xmlns:a16="http://schemas.microsoft.com/office/drawing/2014/main" id="{B249D853-5742-4C73-82CE-34B858FB4788}"/>
                </a:ext>
              </a:extLst>
            </p:cNvPr>
            <p:cNvSpPr>
              <a:spLocks/>
            </p:cNvSpPr>
            <p:nvPr/>
          </p:nvSpPr>
          <p:spPr bwMode="gray">
            <a:xfrm>
              <a:off x="7116763" y="2184400"/>
              <a:ext cx="165100" cy="42863"/>
            </a:xfrm>
            <a:custGeom>
              <a:avLst/>
              <a:gdLst>
                <a:gd name="T0" fmla="*/ 190 w 380"/>
                <a:gd name="T1" fmla="*/ 53 h 99"/>
                <a:gd name="T2" fmla="*/ 190 w 380"/>
                <a:gd name="T3" fmla="*/ 53 h 99"/>
                <a:gd name="T4" fmla="*/ 344 w 380"/>
                <a:gd name="T5" fmla="*/ 98 h 99"/>
                <a:gd name="T6" fmla="*/ 380 w 380"/>
                <a:gd name="T7" fmla="*/ 59 h 99"/>
                <a:gd name="T8" fmla="*/ 190 w 380"/>
                <a:gd name="T9" fmla="*/ 0 h 99"/>
                <a:gd name="T10" fmla="*/ 0 w 380"/>
                <a:gd name="T11" fmla="*/ 59 h 99"/>
                <a:gd name="T12" fmla="*/ 36 w 380"/>
                <a:gd name="T13" fmla="*/ 99 h 99"/>
                <a:gd name="T14" fmla="*/ 190 w 380"/>
                <a:gd name="T15" fmla="*/ 53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0" h="99">
                  <a:moveTo>
                    <a:pt x="190" y="53"/>
                  </a:moveTo>
                  <a:lnTo>
                    <a:pt x="190" y="53"/>
                  </a:lnTo>
                  <a:cubicBezTo>
                    <a:pt x="255" y="53"/>
                    <a:pt x="314" y="71"/>
                    <a:pt x="344" y="98"/>
                  </a:cubicBezTo>
                  <a:lnTo>
                    <a:pt x="380" y="59"/>
                  </a:lnTo>
                  <a:cubicBezTo>
                    <a:pt x="339" y="22"/>
                    <a:pt x="268" y="0"/>
                    <a:pt x="190" y="0"/>
                  </a:cubicBezTo>
                  <a:cubicBezTo>
                    <a:pt x="112" y="0"/>
                    <a:pt x="41" y="22"/>
                    <a:pt x="0" y="59"/>
                  </a:cubicBezTo>
                  <a:lnTo>
                    <a:pt x="36" y="99"/>
                  </a:lnTo>
                  <a:cubicBezTo>
                    <a:pt x="67" y="71"/>
                    <a:pt x="126" y="53"/>
                    <a:pt x="190" y="53"/>
                  </a:cubicBezTo>
                  <a:close/>
                </a:path>
              </a:pathLst>
            </a:custGeom>
            <a:grpFill/>
            <a:ln w="0">
              <a:noFill/>
              <a:prstDash val="solid"/>
              <a:round/>
              <a:headEnd/>
              <a:tailEnd/>
            </a:ln>
          </p:spPr>
          <p:txBody>
            <a:bodyPr/>
            <a:lstStyle/>
            <a:p>
              <a:pPr defTabSz="511816">
                <a:defRPr/>
              </a:pPr>
              <a:endParaRPr lang="zh-CN" altLang="en-US">
                <a:cs typeface="+mn-ea"/>
                <a:sym typeface="Huawei Sans" panose="020C0503030203020204" pitchFamily="34" charset="0"/>
              </a:endParaRPr>
            </a:p>
          </p:txBody>
        </p:sp>
      </p:grpSp>
      <p:sp>
        <p:nvSpPr>
          <p:cNvPr id="33" name="矩形 32">
            <a:extLst>
              <a:ext uri="{FF2B5EF4-FFF2-40B4-BE49-F238E27FC236}">
                <a16:creationId xmlns:a16="http://schemas.microsoft.com/office/drawing/2014/main" id="{9A05A9CD-4A08-453A-991B-1F3D682DE154}"/>
              </a:ext>
            </a:extLst>
          </p:cNvPr>
          <p:cNvSpPr/>
          <p:nvPr/>
        </p:nvSpPr>
        <p:spPr bwMode="gray">
          <a:xfrm>
            <a:off x="7009297" y="3453329"/>
            <a:ext cx="1290268" cy="338554"/>
          </a:xfrm>
          <a:prstGeom prst="rect">
            <a:avLst/>
          </a:prstGeom>
          <a:noFill/>
        </p:spPr>
        <p:txBody>
          <a:bodyPr wrap="square" anchor="ctr">
            <a:spAutoFit/>
          </a:bodyPr>
          <a:lstStyle/>
          <a:p>
            <a:pPr lvl="0" algn="r" defTabSz="914400">
              <a:defRPr/>
            </a:pPr>
            <a:r>
              <a:rPr lang="en-US" altLang="zh-CN" sz="1600" b="1" dirty="0">
                <a:cs typeface="+mn-ea"/>
                <a:sym typeface="Huawei Sans" panose="020C0503030203020204" pitchFamily="34" charset="0"/>
              </a:rPr>
              <a:t>SD-WAN</a:t>
            </a:r>
          </a:p>
        </p:txBody>
      </p:sp>
      <p:sp>
        <p:nvSpPr>
          <p:cNvPr id="35" name="矩形 34">
            <a:extLst>
              <a:ext uri="{FF2B5EF4-FFF2-40B4-BE49-F238E27FC236}">
                <a16:creationId xmlns:a16="http://schemas.microsoft.com/office/drawing/2014/main" id="{85F9EF80-41A8-4902-99BB-AD01D76C0C58}"/>
              </a:ext>
            </a:extLst>
          </p:cNvPr>
          <p:cNvSpPr/>
          <p:nvPr/>
        </p:nvSpPr>
        <p:spPr bwMode="gray">
          <a:xfrm>
            <a:off x="8060675" y="3434803"/>
            <a:ext cx="2622074" cy="338554"/>
          </a:xfrm>
          <a:prstGeom prst="rect">
            <a:avLst/>
          </a:prstGeom>
          <a:noFill/>
        </p:spPr>
        <p:txBody>
          <a:bodyPr wrap="square">
            <a:spAutoFit/>
          </a:bodyPr>
          <a:lstStyle/>
          <a:p>
            <a:pPr lvl="0" algn="ctr" defTabSz="914400">
              <a:defRPr/>
            </a:pPr>
            <a:r>
              <a:rPr lang="en-US" altLang="zh-CN" sz="1600" b="1" err="1">
                <a:cs typeface="+mn-ea"/>
                <a:sym typeface="Huawei Sans" panose="020C0503030203020204" pitchFamily="34" charset="0"/>
              </a:rPr>
              <a:t>iMaster</a:t>
            </a:r>
            <a:r>
              <a:rPr lang="en-US" altLang="zh-CN" sz="1600" b="1">
                <a:cs typeface="+mn-ea"/>
                <a:sym typeface="Huawei Sans" panose="020C0503030203020204" pitchFamily="34" charset="0"/>
              </a:rPr>
              <a:t> NCE-WAN</a:t>
            </a:r>
            <a:r>
              <a:rPr lang="zh-CN" altLang="en-US" sz="1600" b="1">
                <a:cs typeface="+mn-ea"/>
                <a:sym typeface="Huawei Sans" panose="020C0503030203020204" pitchFamily="34" charset="0"/>
              </a:rPr>
              <a:t> </a:t>
            </a:r>
            <a:r>
              <a:rPr lang="zh-CN" altLang="en-US" sz="1600" b="1">
                <a:solidFill>
                  <a:srgbClr val="EC7061"/>
                </a:solidFill>
                <a:cs typeface="+mn-ea"/>
                <a:sym typeface="Huawei Sans" panose="020C0503030203020204" pitchFamily="34" charset="0"/>
              </a:rPr>
              <a:t> </a:t>
            </a:r>
            <a:endParaRPr lang="en-US" altLang="zh-CN" sz="1600" b="1" dirty="0">
              <a:solidFill>
                <a:srgbClr val="EC7061"/>
              </a:solidFill>
              <a:cs typeface="+mn-ea"/>
              <a:sym typeface="Huawei Sans" panose="020C0503030203020204" pitchFamily="34" charset="0"/>
            </a:endParaRPr>
          </a:p>
        </p:txBody>
      </p:sp>
      <p:grpSp>
        <p:nvGrpSpPr>
          <p:cNvPr id="56" name="组合 318">
            <a:extLst>
              <a:ext uri="{FF2B5EF4-FFF2-40B4-BE49-F238E27FC236}">
                <a16:creationId xmlns:a16="http://schemas.microsoft.com/office/drawing/2014/main" id="{E96D0777-5EE0-4CC8-8156-598B267A3E94}"/>
              </a:ext>
            </a:extLst>
          </p:cNvPr>
          <p:cNvGrpSpPr>
            <a:grpSpLocks/>
          </p:cNvGrpSpPr>
          <p:nvPr/>
        </p:nvGrpSpPr>
        <p:grpSpPr bwMode="gray">
          <a:xfrm>
            <a:off x="6486650" y="3449330"/>
            <a:ext cx="541815" cy="313586"/>
            <a:chOff x="6519863" y="1038226"/>
            <a:chExt cx="736600" cy="461963"/>
          </a:xfrm>
        </p:grpSpPr>
        <p:sp>
          <p:nvSpPr>
            <p:cNvPr id="57" name="Freeform 69">
              <a:extLst>
                <a:ext uri="{FF2B5EF4-FFF2-40B4-BE49-F238E27FC236}">
                  <a16:creationId xmlns:a16="http://schemas.microsoft.com/office/drawing/2014/main" id="{0AAE9186-0362-4162-89DE-F400CD858034}"/>
                </a:ext>
              </a:extLst>
            </p:cNvPr>
            <p:cNvSpPr>
              <a:spLocks/>
            </p:cNvSpPr>
            <p:nvPr/>
          </p:nvSpPr>
          <p:spPr bwMode="gray">
            <a:xfrm>
              <a:off x="6899275" y="1441451"/>
              <a:ext cx="57150"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2"/>
                    <a:pt x="31" y="0"/>
                    <a:pt x="69" y="0"/>
                  </a:cubicBezTo>
                  <a:cubicBezTo>
                    <a:pt x="108" y="0"/>
                    <a:pt x="139" y="32"/>
                    <a:pt x="139" y="70"/>
                  </a:cubicBezTo>
                  <a:cubicBezTo>
                    <a:pt x="139" y="108"/>
                    <a:pt x="108" y="139"/>
                    <a:pt x="69" y="139"/>
                  </a:cubicBezTo>
                  <a:close/>
                </a:path>
              </a:pathLst>
            </a:custGeom>
            <a:solidFill>
              <a:srgbClr val="00B0F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ym typeface="Huawei Sans" panose="020C0503030203020204" pitchFamily="34" charset="0"/>
              </a:endParaRPr>
            </a:p>
          </p:txBody>
        </p:sp>
        <p:sp>
          <p:nvSpPr>
            <p:cNvPr id="58" name="Freeform 70">
              <a:extLst>
                <a:ext uri="{FF2B5EF4-FFF2-40B4-BE49-F238E27FC236}">
                  <a16:creationId xmlns:a16="http://schemas.microsoft.com/office/drawing/2014/main" id="{E80537B2-D58A-431A-BE89-E662E69156C1}"/>
                </a:ext>
              </a:extLst>
            </p:cNvPr>
            <p:cNvSpPr>
              <a:spLocks/>
            </p:cNvSpPr>
            <p:nvPr/>
          </p:nvSpPr>
          <p:spPr bwMode="gray">
            <a:xfrm>
              <a:off x="6988175" y="1441451"/>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2"/>
                    <a:pt x="31" y="0"/>
                    <a:pt x="69" y="0"/>
                  </a:cubicBezTo>
                  <a:cubicBezTo>
                    <a:pt x="108" y="0"/>
                    <a:pt x="139" y="32"/>
                    <a:pt x="139" y="70"/>
                  </a:cubicBezTo>
                  <a:cubicBezTo>
                    <a:pt x="139" y="108"/>
                    <a:pt x="108" y="139"/>
                    <a:pt x="69" y="139"/>
                  </a:cubicBezTo>
                  <a:close/>
                </a:path>
              </a:pathLst>
            </a:custGeom>
            <a:solidFill>
              <a:srgbClr val="00B0F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ym typeface="Huawei Sans" panose="020C0503030203020204" pitchFamily="34" charset="0"/>
              </a:endParaRPr>
            </a:p>
          </p:txBody>
        </p:sp>
        <p:sp>
          <p:nvSpPr>
            <p:cNvPr id="59" name="Freeform 71">
              <a:extLst>
                <a:ext uri="{FF2B5EF4-FFF2-40B4-BE49-F238E27FC236}">
                  <a16:creationId xmlns:a16="http://schemas.microsoft.com/office/drawing/2014/main" id="{806A545C-C07A-4EBF-B0C1-925D0896FAF6}"/>
                </a:ext>
              </a:extLst>
            </p:cNvPr>
            <p:cNvSpPr>
              <a:spLocks/>
            </p:cNvSpPr>
            <p:nvPr/>
          </p:nvSpPr>
          <p:spPr bwMode="gray">
            <a:xfrm>
              <a:off x="6519863" y="1038226"/>
              <a:ext cx="736600" cy="446088"/>
            </a:xfrm>
            <a:custGeom>
              <a:avLst/>
              <a:gdLst>
                <a:gd name="T0" fmla="*/ 2147483646 w 1754"/>
                <a:gd name="T1" fmla="*/ 2147483646 h 1065"/>
                <a:gd name="T2" fmla="*/ 2147483646 w 1754"/>
                <a:gd name="T3" fmla="*/ 2147483646 h 1065"/>
                <a:gd name="T4" fmla="*/ 2147483646 w 1754"/>
                <a:gd name="T5" fmla="*/ 2147483646 h 1065"/>
                <a:gd name="T6" fmla="*/ 2147483646 w 1754"/>
                <a:gd name="T7" fmla="*/ 2147483646 h 1065"/>
                <a:gd name="T8" fmla="*/ 2147483646 w 1754"/>
                <a:gd name="T9" fmla="*/ 2147483646 h 1065"/>
                <a:gd name="T10" fmla="*/ 2147483646 w 1754"/>
                <a:gd name="T11" fmla="*/ 2147483646 h 1065"/>
                <a:gd name="T12" fmla="*/ 2147483646 w 1754"/>
                <a:gd name="T13" fmla="*/ 2147483646 h 1065"/>
                <a:gd name="T14" fmla="*/ 2147483646 w 1754"/>
                <a:gd name="T15" fmla="*/ 2147483646 h 1065"/>
                <a:gd name="T16" fmla="*/ 2147483646 w 1754"/>
                <a:gd name="T17" fmla="*/ 2147483646 h 1065"/>
                <a:gd name="T18" fmla="*/ 2147483646 w 1754"/>
                <a:gd name="T19" fmla="*/ 2147483646 h 1065"/>
                <a:gd name="T20" fmla="*/ 2147483646 w 1754"/>
                <a:gd name="T21" fmla="*/ 2147483646 h 1065"/>
                <a:gd name="T22" fmla="*/ 2147483646 w 1754"/>
                <a:gd name="T23" fmla="*/ 2147483646 h 1065"/>
                <a:gd name="T24" fmla="*/ 2147483646 w 1754"/>
                <a:gd name="T25" fmla="*/ 2147483646 h 1065"/>
                <a:gd name="T26" fmla="*/ 2147483646 w 1754"/>
                <a:gd name="T27" fmla="*/ 2147483646 h 1065"/>
                <a:gd name="T28" fmla="*/ 2147483646 w 1754"/>
                <a:gd name="T29" fmla="*/ 2147483646 h 1065"/>
                <a:gd name="T30" fmla="*/ 2147483646 w 1754"/>
                <a:gd name="T31" fmla="*/ 2147483646 h 1065"/>
                <a:gd name="T32" fmla="*/ 2147483646 w 1754"/>
                <a:gd name="T33" fmla="*/ 2147483646 h 1065"/>
                <a:gd name="T34" fmla="*/ 2147483646 w 1754"/>
                <a:gd name="T35" fmla="*/ 2147483646 h 1065"/>
                <a:gd name="T36" fmla="*/ 2147483646 w 1754"/>
                <a:gd name="T37" fmla="*/ 2147483646 h 1065"/>
                <a:gd name="T38" fmla="*/ 2147483646 w 1754"/>
                <a:gd name="T39" fmla="*/ 2147483646 h 1065"/>
                <a:gd name="T40" fmla="*/ 2147483646 w 1754"/>
                <a:gd name="T41" fmla="*/ 2147483646 h 1065"/>
                <a:gd name="T42" fmla="*/ 2147483646 w 1754"/>
                <a:gd name="T43" fmla="*/ 2147483646 h 1065"/>
                <a:gd name="T44" fmla="*/ 2147483646 w 1754"/>
                <a:gd name="T45" fmla="*/ 2147483646 h 1065"/>
                <a:gd name="T46" fmla="*/ 2147483646 w 1754"/>
                <a:gd name="T47" fmla="*/ 2147483646 h 1065"/>
                <a:gd name="T48" fmla="*/ 2147483646 w 1754"/>
                <a:gd name="T49" fmla="*/ 2147483646 h 1065"/>
                <a:gd name="T50" fmla="*/ 2147483646 w 1754"/>
                <a:gd name="T51" fmla="*/ 2147483646 h 1065"/>
                <a:gd name="T52" fmla="*/ 2147483646 w 1754"/>
                <a:gd name="T53" fmla="*/ 2147483646 h 1065"/>
                <a:gd name="T54" fmla="*/ 2147483646 w 1754"/>
                <a:gd name="T55" fmla="*/ 2147483646 h 1065"/>
                <a:gd name="T56" fmla="*/ 2147483646 w 1754"/>
                <a:gd name="T57" fmla="*/ 2147483646 h 1065"/>
                <a:gd name="T58" fmla="*/ 2147483646 w 1754"/>
                <a:gd name="T59" fmla="*/ 2147483646 h 1065"/>
                <a:gd name="T60" fmla="*/ 2147483646 w 1754"/>
                <a:gd name="T61" fmla="*/ 2147483646 h 1065"/>
                <a:gd name="T62" fmla="*/ 2147483646 w 1754"/>
                <a:gd name="T63" fmla="*/ 2147483646 h 1065"/>
                <a:gd name="T64" fmla="*/ 2147483646 w 1754"/>
                <a:gd name="T65" fmla="*/ 2147483646 h 1065"/>
                <a:gd name="T66" fmla="*/ 2147483646 w 1754"/>
                <a:gd name="T67" fmla="*/ 2147483646 h 1065"/>
                <a:gd name="T68" fmla="*/ 2147483646 w 1754"/>
                <a:gd name="T69" fmla="*/ 2147483646 h 1065"/>
                <a:gd name="T70" fmla="*/ 2147483646 w 1754"/>
                <a:gd name="T71" fmla="*/ 2147483646 h 1065"/>
                <a:gd name="T72" fmla="*/ 2147483646 w 1754"/>
                <a:gd name="T73" fmla="*/ 2147483646 h 1065"/>
                <a:gd name="T74" fmla="*/ 2147483646 w 1754"/>
                <a:gd name="T75" fmla="*/ 2147483646 h 1065"/>
                <a:gd name="T76" fmla="*/ 2147483646 w 1754"/>
                <a:gd name="T77" fmla="*/ 2147483646 h 1065"/>
                <a:gd name="T78" fmla="*/ 2147483646 w 1754"/>
                <a:gd name="T79" fmla="*/ 2147483646 h 1065"/>
                <a:gd name="T80" fmla="*/ 2147483646 w 1754"/>
                <a:gd name="T81" fmla="*/ 2147483646 h 1065"/>
                <a:gd name="T82" fmla="*/ 2147483646 w 1754"/>
                <a:gd name="T83" fmla="*/ 2147483646 h 1065"/>
                <a:gd name="T84" fmla="*/ 0 w 1754"/>
                <a:gd name="T85" fmla="*/ 2147483646 h 1065"/>
                <a:gd name="T86" fmla="*/ 2147483646 w 1754"/>
                <a:gd name="T87" fmla="*/ 2147483646 h 1065"/>
                <a:gd name="T88" fmla="*/ 2147483646 w 1754"/>
                <a:gd name="T89" fmla="*/ 0 h 1065"/>
                <a:gd name="T90" fmla="*/ 2147483646 w 1754"/>
                <a:gd name="T91" fmla="*/ 2147483646 h 1065"/>
                <a:gd name="T92" fmla="*/ 2147483646 w 1754"/>
                <a:gd name="T93" fmla="*/ 2147483646 h 1065"/>
                <a:gd name="T94" fmla="*/ 2147483646 w 1754"/>
                <a:gd name="T95" fmla="*/ 2147483646 h 1065"/>
                <a:gd name="T96" fmla="*/ 2147483646 w 1754"/>
                <a:gd name="T97" fmla="*/ 2147483646 h 106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754"/>
                <a:gd name="T148" fmla="*/ 0 h 1065"/>
                <a:gd name="T149" fmla="*/ 1754 w 1754"/>
                <a:gd name="T150" fmla="*/ 1065 h 106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754" h="1065">
                  <a:moveTo>
                    <a:pt x="1493" y="1065"/>
                  </a:moveTo>
                  <a:lnTo>
                    <a:pt x="1493" y="1065"/>
                  </a:lnTo>
                  <a:lnTo>
                    <a:pt x="1184" y="1065"/>
                  </a:lnTo>
                  <a:lnTo>
                    <a:pt x="1184" y="999"/>
                  </a:lnTo>
                  <a:lnTo>
                    <a:pt x="1493" y="999"/>
                  </a:lnTo>
                  <a:cubicBezTo>
                    <a:pt x="1519" y="999"/>
                    <a:pt x="1541" y="992"/>
                    <a:pt x="1554" y="981"/>
                  </a:cubicBezTo>
                  <a:cubicBezTo>
                    <a:pt x="1639" y="912"/>
                    <a:pt x="1688" y="813"/>
                    <a:pt x="1688" y="710"/>
                  </a:cubicBezTo>
                  <a:cubicBezTo>
                    <a:pt x="1688" y="522"/>
                    <a:pt x="1535" y="368"/>
                    <a:pt x="1347" y="366"/>
                  </a:cubicBezTo>
                  <a:cubicBezTo>
                    <a:pt x="1335" y="366"/>
                    <a:pt x="1324" y="359"/>
                    <a:pt x="1319" y="349"/>
                  </a:cubicBezTo>
                  <a:cubicBezTo>
                    <a:pt x="1221" y="175"/>
                    <a:pt x="1037" y="66"/>
                    <a:pt x="838" y="66"/>
                  </a:cubicBezTo>
                  <a:cubicBezTo>
                    <a:pt x="588" y="66"/>
                    <a:pt x="370" y="235"/>
                    <a:pt x="307" y="478"/>
                  </a:cubicBezTo>
                  <a:cubicBezTo>
                    <a:pt x="304" y="490"/>
                    <a:pt x="293" y="500"/>
                    <a:pt x="280" y="502"/>
                  </a:cubicBezTo>
                  <a:cubicBezTo>
                    <a:pt x="158" y="520"/>
                    <a:pt x="67" y="626"/>
                    <a:pt x="67" y="749"/>
                  </a:cubicBezTo>
                  <a:cubicBezTo>
                    <a:pt x="67" y="887"/>
                    <a:pt x="179" y="999"/>
                    <a:pt x="316" y="999"/>
                  </a:cubicBezTo>
                  <a:lnTo>
                    <a:pt x="604" y="999"/>
                  </a:lnTo>
                  <a:lnTo>
                    <a:pt x="604" y="661"/>
                  </a:lnTo>
                  <a:lnTo>
                    <a:pt x="522" y="661"/>
                  </a:lnTo>
                  <a:cubicBezTo>
                    <a:pt x="510" y="661"/>
                    <a:pt x="498" y="654"/>
                    <a:pt x="493" y="643"/>
                  </a:cubicBezTo>
                  <a:cubicBezTo>
                    <a:pt x="487" y="632"/>
                    <a:pt x="488" y="619"/>
                    <a:pt x="495" y="609"/>
                  </a:cubicBezTo>
                  <a:lnTo>
                    <a:pt x="689" y="332"/>
                  </a:lnTo>
                  <a:cubicBezTo>
                    <a:pt x="695" y="323"/>
                    <a:pt x="705" y="318"/>
                    <a:pt x="716" y="318"/>
                  </a:cubicBezTo>
                  <a:cubicBezTo>
                    <a:pt x="727" y="318"/>
                    <a:pt x="737" y="323"/>
                    <a:pt x="744" y="332"/>
                  </a:cubicBezTo>
                  <a:lnTo>
                    <a:pt x="931" y="605"/>
                  </a:lnTo>
                  <a:cubicBezTo>
                    <a:pt x="938" y="615"/>
                    <a:pt x="938" y="628"/>
                    <a:pt x="933" y="639"/>
                  </a:cubicBezTo>
                  <a:cubicBezTo>
                    <a:pt x="927" y="650"/>
                    <a:pt x="915" y="657"/>
                    <a:pt x="903" y="657"/>
                  </a:cubicBezTo>
                  <a:lnTo>
                    <a:pt x="819" y="657"/>
                  </a:lnTo>
                  <a:lnTo>
                    <a:pt x="819" y="999"/>
                  </a:lnTo>
                  <a:lnTo>
                    <a:pt x="979" y="999"/>
                  </a:lnTo>
                  <a:lnTo>
                    <a:pt x="979" y="1065"/>
                  </a:lnTo>
                  <a:lnTo>
                    <a:pt x="786" y="1065"/>
                  </a:lnTo>
                  <a:cubicBezTo>
                    <a:pt x="767" y="1065"/>
                    <a:pt x="752" y="1050"/>
                    <a:pt x="752" y="1032"/>
                  </a:cubicBezTo>
                  <a:lnTo>
                    <a:pt x="752" y="623"/>
                  </a:lnTo>
                  <a:cubicBezTo>
                    <a:pt x="752" y="605"/>
                    <a:pt x="767" y="590"/>
                    <a:pt x="786" y="590"/>
                  </a:cubicBezTo>
                  <a:lnTo>
                    <a:pt x="840" y="590"/>
                  </a:lnTo>
                  <a:lnTo>
                    <a:pt x="716" y="409"/>
                  </a:lnTo>
                  <a:lnTo>
                    <a:pt x="586" y="595"/>
                  </a:lnTo>
                  <a:lnTo>
                    <a:pt x="637" y="595"/>
                  </a:lnTo>
                  <a:cubicBezTo>
                    <a:pt x="656" y="595"/>
                    <a:pt x="671" y="610"/>
                    <a:pt x="671" y="628"/>
                  </a:cubicBezTo>
                  <a:lnTo>
                    <a:pt x="671" y="1032"/>
                  </a:lnTo>
                  <a:cubicBezTo>
                    <a:pt x="671" y="1050"/>
                    <a:pt x="656" y="1065"/>
                    <a:pt x="637" y="1065"/>
                  </a:cubicBezTo>
                  <a:lnTo>
                    <a:pt x="316" y="1065"/>
                  </a:lnTo>
                  <a:cubicBezTo>
                    <a:pt x="142" y="1065"/>
                    <a:pt x="0" y="923"/>
                    <a:pt x="0" y="749"/>
                  </a:cubicBezTo>
                  <a:cubicBezTo>
                    <a:pt x="0" y="601"/>
                    <a:pt x="105" y="472"/>
                    <a:pt x="248" y="440"/>
                  </a:cubicBezTo>
                  <a:cubicBezTo>
                    <a:pt x="325" y="180"/>
                    <a:pt x="565" y="0"/>
                    <a:pt x="838" y="0"/>
                  </a:cubicBezTo>
                  <a:cubicBezTo>
                    <a:pt x="1055" y="0"/>
                    <a:pt x="1256" y="114"/>
                    <a:pt x="1367" y="300"/>
                  </a:cubicBezTo>
                  <a:cubicBezTo>
                    <a:pt x="1582" y="313"/>
                    <a:pt x="1754" y="492"/>
                    <a:pt x="1754" y="710"/>
                  </a:cubicBezTo>
                  <a:cubicBezTo>
                    <a:pt x="1754" y="834"/>
                    <a:pt x="1697" y="951"/>
                    <a:pt x="1597" y="1033"/>
                  </a:cubicBezTo>
                  <a:cubicBezTo>
                    <a:pt x="1571" y="1054"/>
                    <a:pt x="1535" y="1065"/>
                    <a:pt x="1493" y="1065"/>
                  </a:cubicBezTo>
                  <a:close/>
                </a:path>
              </a:pathLst>
            </a:custGeom>
            <a:solidFill>
              <a:srgbClr val="00B0F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ym typeface="Huawei Sans" panose="020C0503030203020204" pitchFamily="34" charset="0"/>
              </a:endParaRPr>
            </a:p>
          </p:txBody>
        </p:sp>
        <p:sp>
          <p:nvSpPr>
            <p:cNvPr id="60" name="Freeform 72">
              <a:extLst>
                <a:ext uri="{FF2B5EF4-FFF2-40B4-BE49-F238E27FC236}">
                  <a16:creationId xmlns:a16="http://schemas.microsoft.com/office/drawing/2014/main" id="{C5733F60-A0F1-450F-A2A1-FBBB93D570C7}"/>
                </a:ext>
              </a:extLst>
            </p:cNvPr>
            <p:cNvSpPr>
              <a:spLocks/>
            </p:cNvSpPr>
            <p:nvPr/>
          </p:nvSpPr>
          <p:spPr bwMode="gray">
            <a:xfrm>
              <a:off x="6877050" y="1201738"/>
              <a:ext cx="190500" cy="271463"/>
            </a:xfrm>
            <a:custGeom>
              <a:avLst/>
              <a:gdLst>
                <a:gd name="T0" fmla="*/ 2147483646 w 452"/>
                <a:gd name="T1" fmla="*/ 2147483646 h 645"/>
                <a:gd name="T2" fmla="*/ 2147483646 w 452"/>
                <a:gd name="T3" fmla="*/ 2147483646 h 645"/>
                <a:gd name="T4" fmla="*/ 2147483646 w 452"/>
                <a:gd name="T5" fmla="*/ 2147483646 h 645"/>
                <a:gd name="T6" fmla="*/ 2147483646 w 452"/>
                <a:gd name="T7" fmla="*/ 2147483646 h 645"/>
                <a:gd name="T8" fmla="*/ 2147483646 w 452"/>
                <a:gd name="T9" fmla="*/ 2147483646 h 645"/>
                <a:gd name="T10" fmla="*/ 2147483646 w 452"/>
                <a:gd name="T11" fmla="*/ 2147483646 h 645"/>
                <a:gd name="T12" fmla="*/ 2147483646 w 452"/>
                <a:gd name="T13" fmla="*/ 2147483646 h 645"/>
                <a:gd name="T14" fmla="*/ 2147483646 w 452"/>
                <a:gd name="T15" fmla="*/ 2147483646 h 645"/>
                <a:gd name="T16" fmla="*/ 2147483646 w 452"/>
                <a:gd name="T17" fmla="*/ 2147483646 h 645"/>
                <a:gd name="T18" fmla="*/ 2147483646 w 452"/>
                <a:gd name="T19" fmla="*/ 2147483646 h 645"/>
                <a:gd name="T20" fmla="*/ 2147483646 w 452"/>
                <a:gd name="T21" fmla="*/ 2147483646 h 645"/>
                <a:gd name="T22" fmla="*/ 2147483646 w 452"/>
                <a:gd name="T23" fmla="*/ 2147483646 h 645"/>
                <a:gd name="T24" fmla="*/ 2147483646 w 452"/>
                <a:gd name="T25" fmla="*/ 2147483646 h 645"/>
                <a:gd name="T26" fmla="*/ 2147483646 w 452"/>
                <a:gd name="T27" fmla="*/ 2147483646 h 645"/>
                <a:gd name="T28" fmla="*/ 2147483646 w 452"/>
                <a:gd name="T29" fmla="*/ 2147483646 h 645"/>
                <a:gd name="T30" fmla="*/ 2147483646 w 452"/>
                <a:gd name="T31" fmla="*/ 2147483646 h 645"/>
                <a:gd name="T32" fmla="*/ 2147483646 w 452"/>
                <a:gd name="T33" fmla="*/ 2147483646 h 645"/>
                <a:gd name="T34" fmla="*/ 2147483646 w 452"/>
                <a:gd name="T35" fmla="*/ 2147483646 h 645"/>
                <a:gd name="T36" fmla="*/ 2147483646 w 452"/>
                <a:gd name="T37" fmla="*/ 0 h 645"/>
                <a:gd name="T38" fmla="*/ 2147483646 w 452"/>
                <a:gd name="T39" fmla="*/ 0 h 645"/>
                <a:gd name="T40" fmla="*/ 2147483646 w 452"/>
                <a:gd name="T41" fmla="*/ 2147483646 h 645"/>
                <a:gd name="T42" fmla="*/ 2147483646 w 452"/>
                <a:gd name="T43" fmla="*/ 2147483646 h 645"/>
                <a:gd name="T44" fmla="*/ 2147483646 w 452"/>
                <a:gd name="T45" fmla="*/ 2147483646 h 645"/>
                <a:gd name="T46" fmla="*/ 2147483646 w 452"/>
                <a:gd name="T47" fmla="*/ 2147483646 h 645"/>
                <a:gd name="T48" fmla="*/ 2147483646 w 452"/>
                <a:gd name="T49" fmla="*/ 2147483646 h 645"/>
                <a:gd name="T50" fmla="*/ 2147483646 w 452"/>
                <a:gd name="T51" fmla="*/ 2147483646 h 6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52"/>
                <a:gd name="T79" fmla="*/ 0 h 645"/>
                <a:gd name="T80" fmla="*/ 452 w 452"/>
                <a:gd name="T81" fmla="*/ 645 h 64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52" h="645">
                  <a:moveTo>
                    <a:pt x="328" y="645"/>
                  </a:moveTo>
                  <a:lnTo>
                    <a:pt x="328" y="645"/>
                  </a:lnTo>
                  <a:lnTo>
                    <a:pt x="273" y="606"/>
                  </a:lnTo>
                  <a:lnTo>
                    <a:pt x="352" y="493"/>
                  </a:lnTo>
                  <a:lnTo>
                    <a:pt x="301" y="493"/>
                  </a:lnTo>
                  <a:cubicBezTo>
                    <a:pt x="283" y="493"/>
                    <a:pt x="268" y="479"/>
                    <a:pt x="268" y="460"/>
                  </a:cubicBezTo>
                  <a:lnTo>
                    <a:pt x="268" y="66"/>
                  </a:lnTo>
                  <a:lnTo>
                    <a:pt x="186" y="66"/>
                  </a:lnTo>
                  <a:lnTo>
                    <a:pt x="186" y="465"/>
                  </a:lnTo>
                  <a:cubicBezTo>
                    <a:pt x="186" y="483"/>
                    <a:pt x="171" y="498"/>
                    <a:pt x="153" y="498"/>
                  </a:cubicBezTo>
                  <a:lnTo>
                    <a:pt x="99" y="498"/>
                  </a:lnTo>
                  <a:lnTo>
                    <a:pt x="171" y="604"/>
                  </a:lnTo>
                  <a:lnTo>
                    <a:pt x="116" y="641"/>
                  </a:lnTo>
                  <a:lnTo>
                    <a:pt x="8" y="484"/>
                  </a:lnTo>
                  <a:cubicBezTo>
                    <a:pt x="1" y="473"/>
                    <a:pt x="0" y="460"/>
                    <a:pt x="6" y="449"/>
                  </a:cubicBezTo>
                  <a:cubicBezTo>
                    <a:pt x="12" y="438"/>
                    <a:pt x="23" y="431"/>
                    <a:pt x="36" y="431"/>
                  </a:cubicBezTo>
                  <a:lnTo>
                    <a:pt x="120" y="431"/>
                  </a:lnTo>
                  <a:lnTo>
                    <a:pt x="120" y="33"/>
                  </a:lnTo>
                  <a:cubicBezTo>
                    <a:pt x="120" y="15"/>
                    <a:pt x="135" y="0"/>
                    <a:pt x="153" y="0"/>
                  </a:cubicBezTo>
                  <a:lnTo>
                    <a:pt x="301" y="0"/>
                  </a:lnTo>
                  <a:cubicBezTo>
                    <a:pt x="320" y="0"/>
                    <a:pt x="335" y="15"/>
                    <a:pt x="335" y="33"/>
                  </a:cubicBezTo>
                  <a:lnTo>
                    <a:pt x="335" y="427"/>
                  </a:lnTo>
                  <a:lnTo>
                    <a:pt x="416" y="427"/>
                  </a:lnTo>
                  <a:cubicBezTo>
                    <a:pt x="429" y="427"/>
                    <a:pt x="440" y="434"/>
                    <a:pt x="446" y="445"/>
                  </a:cubicBezTo>
                  <a:cubicBezTo>
                    <a:pt x="452" y="456"/>
                    <a:pt x="451" y="469"/>
                    <a:pt x="444" y="479"/>
                  </a:cubicBezTo>
                  <a:lnTo>
                    <a:pt x="328" y="645"/>
                  </a:lnTo>
                  <a:close/>
                </a:path>
              </a:pathLst>
            </a:custGeom>
            <a:solidFill>
              <a:srgbClr val="00B0F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sym typeface="Huawei Sans" panose="020C0503030203020204" pitchFamily="34" charset="0"/>
              </a:endParaRPr>
            </a:p>
          </p:txBody>
        </p:sp>
      </p:grpSp>
      <p:sp>
        <p:nvSpPr>
          <p:cNvPr id="36" name="矩形 35">
            <a:extLst>
              <a:ext uri="{FF2B5EF4-FFF2-40B4-BE49-F238E27FC236}">
                <a16:creationId xmlns:a16="http://schemas.microsoft.com/office/drawing/2014/main" id="{09BAF593-5B8F-4542-841B-973B139970B6}"/>
              </a:ext>
            </a:extLst>
          </p:cNvPr>
          <p:cNvSpPr/>
          <p:nvPr/>
        </p:nvSpPr>
        <p:spPr bwMode="gray">
          <a:xfrm>
            <a:off x="6570678" y="4911782"/>
            <a:ext cx="1237533" cy="338554"/>
          </a:xfrm>
          <a:prstGeom prst="rect">
            <a:avLst/>
          </a:prstGeom>
          <a:noFill/>
        </p:spPr>
        <p:txBody>
          <a:bodyPr wrap="square" anchor="ctr">
            <a:spAutoFit/>
          </a:bodyPr>
          <a:lstStyle/>
          <a:p>
            <a:pPr lvl="0" algn="r" defTabSz="914400">
              <a:defRPr/>
            </a:pPr>
            <a:r>
              <a:rPr lang="zh-CN" altLang="en-US" sz="1600" b="1">
                <a:cs typeface="+mn-ea"/>
                <a:sym typeface="Huawei Sans" panose="020C0503030203020204" pitchFamily="34" charset="0"/>
              </a:rPr>
              <a:t>广域传输</a:t>
            </a:r>
            <a:endParaRPr lang="en-US" altLang="zh-CN" sz="1600" b="1" dirty="0">
              <a:cs typeface="+mn-ea"/>
              <a:sym typeface="Huawei Sans" panose="020C0503030203020204" pitchFamily="34" charset="0"/>
            </a:endParaRPr>
          </a:p>
        </p:txBody>
      </p:sp>
      <p:sp>
        <p:nvSpPr>
          <p:cNvPr id="38" name="矩形 37">
            <a:extLst>
              <a:ext uri="{FF2B5EF4-FFF2-40B4-BE49-F238E27FC236}">
                <a16:creationId xmlns:a16="http://schemas.microsoft.com/office/drawing/2014/main" id="{C83D3DC9-D6CC-4340-A9F7-EAE4B9CDC8A2}"/>
              </a:ext>
            </a:extLst>
          </p:cNvPr>
          <p:cNvSpPr/>
          <p:nvPr/>
        </p:nvSpPr>
        <p:spPr bwMode="gray">
          <a:xfrm>
            <a:off x="7745812" y="4896392"/>
            <a:ext cx="2183703" cy="338554"/>
          </a:xfrm>
          <a:prstGeom prst="rect">
            <a:avLst/>
          </a:prstGeom>
        </p:spPr>
        <p:txBody>
          <a:bodyPr wrap="square">
            <a:spAutoFit/>
          </a:bodyPr>
          <a:lstStyle/>
          <a:p>
            <a:pPr lvl="0" algn="ctr" defTabSz="914400">
              <a:defRPr/>
            </a:pPr>
            <a:r>
              <a:rPr lang="en-US" altLang="zh-CN" sz="1600" b="1">
                <a:cs typeface="+mn-ea"/>
                <a:sym typeface="Huawei Sans" panose="020C0503030203020204" pitchFamily="34" charset="0"/>
              </a:rPr>
              <a:t>iMaster NCE-T</a:t>
            </a:r>
            <a:endParaRPr lang="en-US" altLang="zh-CN" sz="1600" b="1" dirty="0">
              <a:cs typeface="+mn-ea"/>
              <a:sym typeface="Huawei Sans" panose="020C0503030203020204" pitchFamily="34" charset="0"/>
            </a:endParaRPr>
          </a:p>
        </p:txBody>
      </p:sp>
      <p:grpSp>
        <p:nvGrpSpPr>
          <p:cNvPr id="61" name="组合 4">
            <a:extLst>
              <a:ext uri="{FF2B5EF4-FFF2-40B4-BE49-F238E27FC236}">
                <a16:creationId xmlns:a16="http://schemas.microsoft.com/office/drawing/2014/main" id="{6D327266-1BD6-4017-96E3-6376D7C4A24C}"/>
              </a:ext>
            </a:extLst>
          </p:cNvPr>
          <p:cNvGrpSpPr>
            <a:grpSpLocks/>
          </p:cNvGrpSpPr>
          <p:nvPr/>
        </p:nvGrpSpPr>
        <p:grpSpPr bwMode="gray">
          <a:xfrm>
            <a:off x="6194922" y="4892080"/>
            <a:ext cx="432456" cy="407514"/>
            <a:chOff x="4727639" y="2369879"/>
            <a:chExt cx="456831" cy="465563"/>
          </a:xfrm>
          <a:solidFill>
            <a:srgbClr val="00B0F0"/>
          </a:solidFill>
        </p:grpSpPr>
        <p:sp>
          <p:nvSpPr>
            <p:cNvPr id="62" name="Freeform 777">
              <a:extLst>
                <a:ext uri="{FF2B5EF4-FFF2-40B4-BE49-F238E27FC236}">
                  <a16:creationId xmlns:a16="http://schemas.microsoft.com/office/drawing/2014/main" id="{FC6A7864-7BB5-4125-8522-41867300303E}"/>
                </a:ext>
              </a:extLst>
            </p:cNvPr>
            <p:cNvSpPr>
              <a:spLocks/>
            </p:cNvSpPr>
            <p:nvPr/>
          </p:nvSpPr>
          <p:spPr bwMode="gray">
            <a:xfrm>
              <a:off x="4727639" y="2369879"/>
              <a:ext cx="456831" cy="456831"/>
            </a:xfrm>
            <a:custGeom>
              <a:avLst/>
              <a:gdLst>
                <a:gd name="T0" fmla="*/ 2147483646 w 1429"/>
                <a:gd name="T1" fmla="*/ 2147483646 h 1424"/>
                <a:gd name="T2" fmla="*/ 2147483646 w 1429"/>
                <a:gd name="T3" fmla="*/ 2147483646 h 1424"/>
                <a:gd name="T4" fmla="*/ 2147483646 w 1429"/>
                <a:gd name="T5" fmla="*/ 2147483646 h 1424"/>
                <a:gd name="T6" fmla="*/ 0 w 1429"/>
                <a:gd name="T7" fmla="*/ 2147483646 h 1424"/>
                <a:gd name="T8" fmla="*/ 2147483646 w 1429"/>
                <a:gd name="T9" fmla="*/ 0 h 1424"/>
                <a:gd name="T10" fmla="*/ 2147483646 w 1429"/>
                <a:gd name="T11" fmla="*/ 2147483646 h 1424"/>
                <a:gd name="T12" fmla="*/ 2147483646 w 1429"/>
                <a:gd name="T13" fmla="*/ 2147483646 h 1424"/>
                <a:gd name="T14" fmla="*/ 2147483646 w 1429"/>
                <a:gd name="T15" fmla="*/ 2147483646 h 1424"/>
                <a:gd name="T16" fmla="*/ 2147483646 w 1429"/>
                <a:gd name="T17" fmla="*/ 2147483646 h 1424"/>
                <a:gd name="T18" fmla="*/ 2147483646 w 1429"/>
                <a:gd name="T19" fmla="*/ 2147483646 h 1424"/>
                <a:gd name="T20" fmla="*/ 2147483646 w 1429"/>
                <a:gd name="T21" fmla="*/ 2147483646 h 1424"/>
                <a:gd name="T22" fmla="*/ 2147483646 w 1429"/>
                <a:gd name="T23" fmla="*/ 2147483646 h 1424"/>
                <a:gd name="T24" fmla="*/ 2147483646 w 1429"/>
                <a:gd name="T25" fmla="*/ 2147483646 h 1424"/>
                <a:gd name="T26" fmla="*/ 2147483646 w 1429"/>
                <a:gd name="T27" fmla="*/ 2147483646 h 1424"/>
                <a:gd name="T28" fmla="*/ 2147483646 w 1429"/>
                <a:gd name="T29" fmla="*/ 2147483646 h 14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429" h="1424">
                  <a:moveTo>
                    <a:pt x="612" y="1422"/>
                  </a:moveTo>
                  <a:lnTo>
                    <a:pt x="612" y="1422"/>
                  </a:lnTo>
                  <a:cubicBezTo>
                    <a:pt x="610" y="1422"/>
                    <a:pt x="609" y="1422"/>
                    <a:pt x="607" y="1422"/>
                  </a:cubicBezTo>
                  <a:cubicBezTo>
                    <a:pt x="261" y="1369"/>
                    <a:pt x="0" y="1066"/>
                    <a:pt x="0" y="715"/>
                  </a:cubicBezTo>
                  <a:cubicBezTo>
                    <a:pt x="0" y="321"/>
                    <a:pt x="320" y="0"/>
                    <a:pt x="714" y="0"/>
                  </a:cubicBezTo>
                  <a:cubicBezTo>
                    <a:pt x="1108" y="0"/>
                    <a:pt x="1429" y="321"/>
                    <a:pt x="1429" y="715"/>
                  </a:cubicBezTo>
                  <a:cubicBezTo>
                    <a:pt x="1429" y="1066"/>
                    <a:pt x="1168" y="1369"/>
                    <a:pt x="822" y="1422"/>
                  </a:cubicBezTo>
                  <a:cubicBezTo>
                    <a:pt x="803" y="1424"/>
                    <a:pt x="786" y="1412"/>
                    <a:pt x="784" y="1394"/>
                  </a:cubicBezTo>
                  <a:cubicBezTo>
                    <a:pt x="781" y="1375"/>
                    <a:pt x="794" y="1358"/>
                    <a:pt x="812" y="1356"/>
                  </a:cubicBezTo>
                  <a:cubicBezTo>
                    <a:pt x="1126" y="1308"/>
                    <a:pt x="1362" y="1033"/>
                    <a:pt x="1362" y="715"/>
                  </a:cubicBezTo>
                  <a:cubicBezTo>
                    <a:pt x="1362" y="357"/>
                    <a:pt x="1072" y="67"/>
                    <a:pt x="714" y="67"/>
                  </a:cubicBezTo>
                  <a:cubicBezTo>
                    <a:pt x="357" y="67"/>
                    <a:pt x="66" y="357"/>
                    <a:pt x="66" y="715"/>
                  </a:cubicBezTo>
                  <a:cubicBezTo>
                    <a:pt x="66" y="1033"/>
                    <a:pt x="303" y="1308"/>
                    <a:pt x="617" y="1356"/>
                  </a:cubicBezTo>
                  <a:cubicBezTo>
                    <a:pt x="635" y="1358"/>
                    <a:pt x="648" y="1375"/>
                    <a:pt x="645" y="1394"/>
                  </a:cubicBezTo>
                  <a:cubicBezTo>
                    <a:pt x="643" y="1410"/>
                    <a:pt x="628" y="1422"/>
                    <a:pt x="612" y="1422"/>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63" name="Freeform 778">
              <a:extLst>
                <a:ext uri="{FF2B5EF4-FFF2-40B4-BE49-F238E27FC236}">
                  <a16:creationId xmlns:a16="http://schemas.microsoft.com/office/drawing/2014/main" id="{199371F3-7ADA-4787-AFF4-E7D25D359219}"/>
                </a:ext>
              </a:extLst>
            </p:cNvPr>
            <p:cNvSpPr>
              <a:spLocks/>
            </p:cNvSpPr>
            <p:nvPr/>
          </p:nvSpPr>
          <p:spPr bwMode="gray">
            <a:xfrm>
              <a:off x="4899313" y="2791795"/>
              <a:ext cx="43645" cy="43647"/>
            </a:xfrm>
            <a:custGeom>
              <a:avLst/>
              <a:gdLst>
                <a:gd name="T0" fmla="*/ 2147483646 w 139"/>
                <a:gd name="T1" fmla="*/ 2147483646 h 138"/>
                <a:gd name="T2" fmla="*/ 2147483646 w 139"/>
                <a:gd name="T3" fmla="*/ 2147483646 h 138"/>
                <a:gd name="T4" fmla="*/ 0 w 139"/>
                <a:gd name="T5" fmla="*/ 2147483646 h 138"/>
                <a:gd name="T6" fmla="*/ 2147483646 w 139"/>
                <a:gd name="T7" fmla="*/ 0 h 138"/>
                <a:gd name="T8" fmla="*/ 2147483646 w 139"/>
                <a:gd name="T9" fmla="*/ 2147483646 h 138"/>
                <a:gd name="T10" fmla="*/ 2147483646 w 139"/>
                <a:gd name="T11" fmla="*/ 2147483646 h 1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8">
                  <a:moveTo>
                    <a:pt x="70" y="138"/>
                  </a:moveTo>
                  <a:lnTo>
                    <a:pt x="70" y="138"/>
                  </a:lnTo>
                  <a:cubicBezTo>
                    <a:pt x="31" y="138"/>
                    <a:pt x="0" y="107"/>
                    <a:pt x="0" y="69"/>
                  </a:cubicBezTo>
                  <a:cubicBezTo>
                    <a:pt x="0" y="31"/>
                    <a:pt x="31" y="0"/>
                    <a:pt x="70" y="0"/>
                  </a:cubicBezTo>
                  <a:cubicBezTo>
                    <a:pt x="108" y="0"/>
                    <a:pt x="139" y="31"/>
                    <a:pt x="139" y="69"/>
                  </a:cubicBezTo>
                  <a:cubicBezTo>
                    <a:pt x="139" y="107"/>
                    <a:pt x="108" y="138"/>
                    <a:pt x="70" y="13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64" name="Freeform 779">
              <a:extLst>
                <a:ext uri="{FF2B5EF4-FFF2-40B4-BE49-F238E27FC236}">
                  <a16:creationId xmlns:a16="http://schemas.microsoft.com/office/drawing/2014/main" id="{8C08D653-DB7D-4496-86DE-11E3E7242783}"/>
                </a:ext>
              </a:extLst>
            </p:cNvPr>
            <p:cNvSpPr>
              <a:spLocks/>
            </p:cNvSpPr>
            <p:nvPr/>
          </p:nvSpPr>
          <p:spPr bwMode="gray">
            <a:xfrm>
              <a:off x="4966237" y="2791795"/>
              <a:ext cx="46556" cy="43647"/>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70" y="139"/>
                  </a:moveTo>
                  <a:lnTo>
                    <a:pt x="70" y="139"/>
                  </a:lnTo>
                  <a:cubicBezTo>
                    <a:pt x="31" y="139"/>
                    <a:pt x="0" y="107"/>
                    <a:pt x="0" y="69"/>
                  </a:cubicBezTo>
                  <a:cubicBezTo>
                    <a:pt x="0" y="31"/>
                    <a:pt x="31" y="0"/>
                    <a:pt x="70" y="0"/>
                  </a:cubicBezTo>
                  <a:cubicBezTo>
                    <a:pt x="108" y="0"/>
                    <a:pt x="139" y="31"/>
                    <a:pt x="139" y="69"/>
                  </a:cubicBezTo>
                  <a:cubicBezTo>
                    <a:pt x="139" y="107"/>
                    <a:pt x="108" y="139"/>
                    <a:pt x="70" y="13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65" name="Freeform 780">
              <a:extLst>
                <a:ext uri="{FF2B5EF4-FFF2-40B4-BE49-F238E27FC236}">
                  <a16:creationId xmlns:a16="http://schemas.microsoft.com/office/drawing/2014/main" id="{94994A6A-5E1D-4134-82D5-1427EEA9603C}"/>
                </a:ext>
              </a:extLst>
            </p:cNvPr>
            <p:cNvSpPr>
              <a:spLocks noEditPoints="1"/>
            </p:cNvSpPr>
            <p:nvPr/>
          </p:nvSpPr>
          <p:spPr bwMode="gray">
            <a:xfrm>
              <a:off x="4910952" y="2559015"/>
              <a:ext cx="93112" cy="90203"/>
            </a:xfrm>
            <a:custGeom>
              <a:avLst/>
              <a:gdLst>
                <a:gd name="T0" fmla="*/ 2147483646 w 288"/>
                <a:gd name="T1" fmla="*/ 2147483646 h 287"/>
                <a:gd name="T2" fmla="*/ 2147483646 w 288"/>
                <a:gd name="T3" fmla="*/ 2147483646 h 287"/>
                <a:gd name="T4" fmla="*/ 2147483646 w 288"/>
                <a:gd name="T5" fmla="*/ 2147483646 h 287"/>
                <a:gd name="T6" fmla="*/ 2147483646 w 288"/>
                <a:gd name="T7" fmla="*/ 2147483646 h 287"/>
                <a:gd name="T8" fmla="*/ 2147483646 w 288"/>
                <a:gd name="T9" fmla="*/ 2147483646 h 287"/>
                <a:gd name="T10" fmla="*/ 2147483646 w 288"/>
                <a:gd name="T11" fmla="*/ 2147483646 h 287"/>
                <a:gd name="T12" fmla="*/ 2147483646 w 288"/>
                <a:gd name="T13" fmla="*/ 2147483646 h 287"/>
                <a:gd name="T14" fmla="*/ 2147483646 w 288"/>
                <a:gd name="T15" fmla="*/ 2147483646 h 287"/>
                <a:gd name="T16" fmla="*/ 0 w 288"/>
                <a:gd name="T17" fmla="*/ 2147483646 h 287"/>
                <a:gd name="T18" fmla="*/ 2147483646 w 288"/>
                <a:gd name="T19" fmla="*/ 0 h 287"/>
                <a:gd name="T20" fmla="*/ 2147483646 w 288"/>
                <a:gd name="T21" fmla="*/ 2147483646 h 287"/>
                <a:gd name="T22" fmla="*/ 2147483646 w 288"/>
                <a:gd name="T23" fmla="*/ 2147483646 h 28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8" h="287">
                  <a:moveTo>
                    <a:pt x="144" y="13"/>
                  </a:moveTo>
                  <a:lnTo>
                    <a:pt x="144" y="13"/>
                  </a:lnTo>
                  <a:cubicBezTo>
                    <a:pt x="72" y="13"/>
                    <a:pt x="14" y="72"/>
                    <a:pt x="14" y="144"/>
                  </a:cubicBezTo>
                  <a:cubicBezTo>
                    <a:pt x="14" y="215"/>
                    <a:pt x="72" y="274"/>
                    <a:pt x="144" y="274"/>
                  </a:cubicBezTo>
                  <a:cubicBezTo>
                    <a:pt x="216" y="274"/>
                    <a:pt x="274" y="215"/>
                    <a:pt x="274" y="144"/>
                  </a:cubicBezTo>
                  <a:cubicBezTo>
                    <a:pt x="274" y="72"/>
                    <a:pt x="216" y="13"/>
                    <a:pt x="144" y="13"/>
                  </a:cubicBezTo>
                  <a:close/>
                  <a:moveTo>
                    <a:pt x="144" y="287"/>
                  </a:moveTo>
                  <a:lnTo>
                    <a:pt x="144" y="287"/>
                  </a:lnTo>
                  <a:cubicBezTo>
                    <a:pt x="65" y="287"/>
                    <a:pt x="0" y="223"/>
                    <a:pt x="0" y="144"/>
                  </a:cubicBezTo>
                  <a:cubicBezTo>
                    <a:pt x="0" y="64"/>
                    <a:pt x="65" y="0"/>
                    <a:pt x="144" y="0"/>
                  </a:cubicBezTo>
                  <a:cubicBezTo>
                    <a:pt x="223" y="0"/>
                    <a:pt x="288" y="64"/>
                    <a:pt x="288" y="144"/>
                  </a:cubicBezTo>
                  <a:cubicBezTo>
                    <a:pt x="288" y="223"/>
                    <a:pt x="223" y="287"/>
                    <a:pt x="144" y="287"/>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66" name="Freeform 781">
              <a:extLst>
                <a:ext uri="{FF2B5EF4-FFF2-40B4-BE49-F238E27FC236}">
                  <a16:creationId xmlns:a16="http://schemas.microsoft.com/office/drawing/2014/main" id="{6CFDA31A-C12F-4E7F-A85A-D8744E418776}"/>
                </a:ext>
              </a:extLst>
            </p:cNvPr>
            <p:cNvSpPr>
              <a:spLocks/>
            </p:cNvSpPr>
            <p:nvPr/>
          </p:nvSpPr>
          <p:spPr bwMode="gray">
            <a:xfrm>
              <a:off x="4945869" y="2430986"/>
              <a:ext cx="23278" cy="130940"/>
            </a:xfrm>
            <a:custGeom>
              <a:avLst/>
              <a:gdLst>
                <a:gd name="T0" fmla="*/ 0 w 70"/>
                <a:gd name="T1" fmla="*/ 0 h 410"/>
                <a:gd name="T2" fmla="*/ 0 w 70"/>
                <a:gd name="T3" fmla="*/ 0 h 410"/>
                <a:gd name="T4" fmla="*/ 2147483646 w 70"/>
                <a:gd name="T5" fmla="*/ 0 h 410"/>
                <a:gd name="T6" fmla="*/ 2147483646 w 70"/>
                <a:gd name="T7" fmla="*/ 2147483646 h 410"/>
                <a:gd name="T8" fmla="*/ 2147483646 w 70"/>
                <a:gd name="T9" fmla="*/ 2147483646 h 410"/>
                <a:gd name="T10" fmla="*/ 2147483646 w 70"/>
                <a:gd name="T11" fmla="*/ 2147483646 h 410"/>
                <a:gd name="T12" fmla="*/ 0 w 70"/>
                <a:gd name="T13" fmla="*/ 0 h 4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0" h="410">
                  <a:moveTo>
                    <a:pt x="0" y="0"/>
                  </a:moveTo>
                  <a:lnTo>
                    <a:pt x="0" y="0"/>
                  </a:lnTo>
                  <a:lnTo>
                    <a:pt x="70" y="0"/>
                  </a:lnTo>
                  <a:lnTo>
                    <a:pt x="61" y="410"/>
                  </a:lnTo>
                  <a:cubicBezTo>
                    <a:pt x="61" y="410"/>
                    <a:pt x="51" y="408"/>
                    <a:pt x="35" y="408"/>
                  </a:cubicBezTo>
                  <a:cubicBezTo>
                    <a:pt x="19" y="408"/>
                    <a:pt x="9" y="410"/>
                    <a:pt x="9" y="410"/>
                  </a:cubicBezTo>
                  <a:lnTo>
                    <a:pt x="0"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67" name="Freeform 782">
              <a:extLst>
                <a:ext uri="{FF2B5EF4-FFF2-40B4-BE49-F238E27FC236}">
                  <a16:creationId xmlns:a16="http://schemas.microsoft.com/office/drawing/2014/main" id="{27FC06CB-55F3-4E32-9EDF-FF5DBCC19885}"/>
                </a:ext>
              </a:extLst>
            </p:cNvPr>
            <p:cNvSpPr>
              <a:spLocks/>
            </p:cNvSpPr>
            <p:nvPr/>
          </p:nvSpPr>
          <p:spPr bwMode="gray">
            <a:xfrm>
              <a:off x="4966237" y="2515368"/>
              <a:ext cx="23278" cy="46556"/>
            </a:xfrm>
            <a:custGeom>
              <a:avLst/>
              <a:gdLst>
                <a:gd name="T0" fmla="*/ 2147483646 w 68"/>
                <a:gd name="T1" fmla="*/ 0 h 141"/>
                <a:gd name="T2" fmla="*/ 2147483646 w 68"/>
                <a:gd name="T3" fmla="*/ 0 h 141"/>
                <a:gd name="T4" fmla="*/ 2147483646 w 68"/>
                <a:gd name="T5" fmla="*/ 2147483646 h 141"/>
                <a:gd name="T6" fmla="*/ 2147483646 w 68"/>
                <a:gd name="T7" fmla="*/ 2147483646 h 141"/>
                <a:gd name="T8" fmla="*/ 2147483646 w 68"/>
                <a:gd name="T9" fmla="*/ 2147483646 h 141"/>
                <a:gd name="T10" fmla="*/ 0 w 68"/>
                <a:gd name="T11" fmla="*/ 2147483646 h 141"/>
                <a:gd name="T12" fmla="*/ 2147483646 w 68"/>
                <a:gd name="T13" fmla="*/ 0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141">
                  <a:moveTo>
                    <a:pt x="30" y="0"/>
                  </a:moveTo>
                  <a:lnTo>
                    <a:pt x="30" y="0"/>
                  </a:lnTo>
                  <a:lnTo>
                    <a:pt x="68" y="12"/>
                  </a:lnTo>
                  <a:lnTo>
                    <a:pt x="17" y="141"/>
                  </a:lnTo>
                  <a:cubicBezTo>
                    <a:pt x="17" y="141"/>
                    <a:pt x="14" y="139"/>
                    <a:pt x="9" y="137"/>
                  </a:cubicBezTo>
                  <a:cubicBezTo>
                    <a:pt x="4" y="136"/>
                    <a:pt x="0" y="136"/>
                    <a:pt x="0" y="136"/>
                  </a:cubicBezTo>
                  <a:lnTo>
                    <a:pt x="30"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68" name="Freeform 783">
              <a:extLst>
                <a:ext uri="{FF2B5EF4-FFF2-40B4-BE49-F238E27FC236}">
                  <a16:creationId xmlns:a16="http://schemas.microsoft.com/office/drawing/2014/main" id="{006C3C8E-A3C0-4DB9-9119-20EE3CF5006D}"/>
                </a:ext>
              </a:extLst>
            </p:cNvPr>
            <p:cNvSpPr>
              <a:spLocks/>
            </p:cNvSpPr>
            <p:nvPr/>
          </p:nvSpPr>
          <p:spPr bwMode="gray">
            <a:xfrm>
              <a:off x="4972056" y="2471722"/>
              <a:ext cx="69834" cy="98932"/>
            </a:xfrm>
            <a:custGeom>
              <a:avLst/>
              <a:gdLst>
                <a:gd name="T0" fmla="*/ 2147483646 w 217"/>
                <a:gd name="T1" fmla="*/ 0 h 309"/>
                <a:gd name="T2" fmla="*/ 2147483646 w 217"/>
                <a:gd name="T3" fmla="*/ 0 h 309"/>
                <a:gd name="T4" fmla="*/ 2147483646 w 217"/>
                <a:gd name="T5" fmla="*/ 2147483646 h 309"/>
                <a:gd name="T6" fmla="*/ 2147483646 w 217"/>
                <a:gd name="T7" fmla="*/ 2147483646 h 309"/>
                <a:gd name="T8" fmla="*/ 2147483646 w 217"/>
                <a:gd name="T9" fmla="*/ 2147483646 h 309"/>
                <a:gd name="T10" fmla="*/ 0 w 217"/>
                <a:gd name="T11" fmla="*/ 2147483646 h 309"/>
                <a:gd name="T12" fmla="*/ 2147483646 w 217"/>
                <a:gd name="T13" fmla="*/ 0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7" h="309">
                  <a:moveTo>
                    <a:pt x="156" y="0"/>
                  </a:moveTo>
                  <a:lnTo>
                    <a:pt x="156" y="0"/>
                  </a:lnTo>
                  <a:lnTo>
                    <a:pt x="217" y="35"/>
                  </a:lnTo>
                  <a:lnTo>
                    <a:pt x="45" y="309"/>
                  </a:lnTo>
                  <a:cubicBezTo>
                    <a:pt x="45" y="309"/>
                    <a:pt x="37" y="302"/>
                    <a:pt x="24" y="294"/>
                  </a:cubicBezTo>
                  <a:cubicBezTo>
                    <a:pt x="10" y="286"/>
                    <a:pt x="0" y="283"/>
                    <a:pt x="0" y="283"/>
                  </a:cubicBezTo>
                  <a:lnTo>
                    <a:pt x="156"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69" name="Freeform 784">
              <a:extLst>
                <a:ext uri="{FF2B5EF4-FFF2-40B4-BE49-F238E27FC236}">
                  <a16:creationId xmlns:a16="http://schemas.microsoft.com/office/drawing/2014/main" id="{BF2946F4-A2CE-4471-8E5D-7DCA1ADCC0D4}"/>
                </a:ext>
              </a:extLst>
            </p:cNvPr>
            <p:cNvSpPr>
              <a:spLocks/>
            </p:cNvSpPr>
            <p:nvPr/>
          </p:nvSpPr>
          <p:spPr bwMode="gray">
            <a:xfrm>
              <a:off x="4989515" y="2538646"/>
              <a:ext cx="37826" cy="34917"/>
            </a:xfrm>
            <a:custGeom>
              <a:avLst/>
              <a:gdLst>
                <a:gd name="T0" fmla="*/ 2147483646 w 121"/>
                <a:gd name="T1" fmla="*/ 0 h 115"/>
                <a:gd name="T2" fmla="*/ 2147483646 w 121"/>
                <a:gd name="T3" fmla="*/ 0 h 115"/>
                <a:gd name="T4" fmla="*/ 2147483646 w 121"/>
                <a:gd name="T5" fmla="*/ 2147483646 h 115"/>
                <a:gd name="T6" fmla="*/ 2147483646 w 121"/>
                <a:gd name="T7" fmla="*/ 2147483646 h 115"/>
                <a:gd name="T8" fmla="*/ 2147483646 w 121"/>
                <a:gd name="T9" fmla="*/ 2147483646 h 115"/>
                <a:gd name="T10" fmla="*/ 0 w 121"/>
                <a:gd name="T11" fmla="*/ 2147483646 h 115"/>
                <a:gd name="T12" fmla="*/ 2147483646 w 121"/>
                <a:gd name="T13" fmla="*/ 0 h 1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1" h="115">
                  <a:moveTo>
                    <a:pt x="94" y="0"/>
                  </a:moveTo>
                  <a:lnTo>
                    <a:pt x="94" y="0"/>
                  </a:lnTo>
                  <a:lnTo>
                    <a:pt x="121" y="30"/>
                  </a:lnTo>
                  <a:lnTo>
                    <a:pt x="12" y="115"/>
                  </a:lnTo>
                  <a:cubicBezTo>
                    <a:pt x="12" y="115"/>
                    <a:pt x="10" y="112"/>
                    <a:pt x="6" y="108"/>
                  </a:cubicBezTo>
                  <a:cubicBezTo>
                    <a:pt x="3" y="104"/>
                    <a:pt x="0" y="102"/>
                    <a:pt x="0" y="102"/>
                  </a:cubicBezTo>
                  <a:lnTo>
                    <a:pt x="94"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0" name="Freeform 785">
              <a:extLst>
                <a:ext uri="{FF2B5EF4-FFF2-40B4-BE49-F238E27FC236}">
                  <a16:creationId xmlns:a16="http://schemas.microsoft.com/office/drawing/2014/main" id="{E5C250A1-6802-4EC9-84B4-28ACCDF75A74}"/>
                </a:ext>
              </a:extLst>
            </p:cNvPr>
            <p:cNvSpPr>
              <a:spLocks/>
            </p:cNvSpPr>
            <p:nvPr/>
          </p:nvSpPr>
          <p:spPr bwMode="gray">
            <a:xfrm>
              <a:off x="4992425" y="2521187"/>
              <a:ext cx="96021" cy="69834"/>
            </a:xfrm>
            <a:custGeom>
              <a:avLst/>
              <a:gdLst>
                <a:gd name="T0" fmla="*/ 2147483646 w 307"/>
                <a:gd name="T1" fmla="*/ 0 h 212"/>
                <a:gd name="T2" fmla="*/ 2147483646 w 307"/>
                <a:gd name="T3" fmla="*/ 0 h 212"/>
                <a:gd name="T4" fmla="*/ 2147483646 w 307"/>
                <a:gd name="T5" fmla="*/ 2147483646 h 212"/>
                <a:gd name="T6" fmla="*/ 2147483646 w 307"/>
                <a:gd name="T7" fmla="*/ 2147483646 h 212"/>
                <a:gd name="T8" fmla="*/ 2147483646 w 307"/>
                <a:gd name="T9" fmla="*/ 2147483646 h 212"/>
                <a:gd name="T10" fmla="*/ 0 w 307"/>
                <a:gd name="T11" fmla="*/ 2147483646 h 212"/>
                <a:gd name="T12" fmla="*/ 2147483646 w 307"/>
                <a:gd name="T13" fmla="*/ 0 h 2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7" h="212">
                  <a:moveTo>
                    <a:pt x="273" y="0"/>
                  </a:moveTo>
                  <a:lnTo>
                    <a:pt x="273" y="0"/>
                  </a:lnTo>
                  <a:lnTo>
                    <a:pt x="307" y="61"/>
                  </a:lnTo>
                  <a:lnTo>
                    <a:pt x="25" y="212"/>
                  </a:lnTo>
                  <a:cubicBezTo>
                    <a:pt x="25" y="212"/>
                    <a:pt x="22" y="202"/>
                    <a:pt x="14" y="188"/>
                  </a:cubicBezTo>
                  <a:cubicBezTo>
                    <a:pt x="7" y="175"/>
                    <a:pt x="0" y="167"/>
                    <a:pt x="0" y="167"/>
                  </a:cubicBezTo>
                  <a:lnTo>
                    <a:pt x="273"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1" name="Freeform 786">
              <a:extLst>
                <a:ext uri="{FF2B5EF4-FFF2-40B4-BE49-F238E27FC236}">
                  <a16:creationId xmlns:a16="http://schemas.microsoft.com/office/drawing/2014/main" id="{9D502D8D-E35B-45A2-BE8A-D6A4A1610784}"/>
                </a:ext>
              </a:extLst>
            </p:cNvPr>
            <p:cNvSpPr>
              <a:spLocks/>
            </p:cNvSpPr>
            <p:nvPr/>
          </p:nvSpPr>
          <p:spPr bwMode="gray">
            <a:xfrm>
              <a:off x="5001154" y="2576473"/>
              <a:ext cx="43645" cy="17459"/>
            </a:xfrm>
            <a:custGeom>
              <a:avLst/>
              <a:gdLst>
                <a:gd name="T0" fmla="*/ 2147483646 w 140"/>
                <a:gd name="T1" fmla="*/ 0 h 58"/>
                <a:gd name="T2" fmla="*/ 2147483646 w 140"/>
                <a:gd name="T3" fmla="*/ 0 h 58"/>
                <a:gd name="T4" fmla="*/ 2147483646 w 140"/>
                <a:gd name="T5" fmla="*/ 2147483646 h 58"/>
                <a:gd name="T6" fmla="*/ 2147483646 w 140"/>
                <a:gd name="T7" fmla="*/ 2147483646 h 58"/>
                <a:gd name="T8" fmla="*/ 2147483646 w 140"/>
                <a:gd name="T9" fmla="*/ 2147483646 h 58"/>
                <a:gd name="T10" fmla="*/ 0 w 140"/>
                <a:gd name="T11" fmla="*/ 2147483646 h 58"/>
                <a:gd name="T12" fmla="*/ 2147483646 w 140"/>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0" h="58">
                  <a:moveTo>
                    <a:pt x="132" y="0"/>
                  </a:moveTo>
                  <a:lnTo>
                    <a:pt x="132" y="0"/>
                  </a:lnTo>
                  <a:lnTo>
                    <a:pt x="140" y="39"/>
                  </a:lnTo>
                  <a:lnTo>
                    <a:pt x="3" y="58"/>
                  </a:lnTo>
                  <a:cubicBezTo>
                    <a:pt x="3" y="58"/>
                    <a:pt x="3" y="55"/>
                    <a:pt x="2" y="49"/>
                  </a:cubicBezTo>
                  <a:cubicBezTo>
                    <a:pt x="1" y="44"/>
                    <a:pt x="0" y="41"/>
                    <a:pt x="0" y="41"/>
                  </a:cubicBezTo>
                  <a:lnTo>
                    <a:pt x="132"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2" name="Freeform 787">
              <a:extLst>
                <a:ext uri="{FF2B5EF4-FFF2-40B4-BE49-F238E27FC236}">
                  <a16:creationId xmlns:a16="http://schemas.microsoft.com/office/drawing/2014/main" id="{3298EDA7-4B38-45B2-9BAC-14D7B4EFDC4E}"/>
                </a:ext>
              </a:extLst>
            </p:cNvPr>
            <p:cNvSpPr>
              <a:spLocks/>
            </p:cNvSpPr>
            <p:nvPr/>
          </p:nvSpPr>
          <p:spPr bwMode="gray">
            <a:xfrm>
              <a:off x="5001154" y="2593932"/>
              <a:ext cx="101841" cy="23278"/>
            </a:xfrm>
            <a:custGeom>
              <a:avLst/>
              <a:gdLst>
                <a:gd name="T0" fmla="*/ 2147483646 w 323"/>
                <a:gd name="T1" fmla="*/ 0 h 70"/>
                <a:gd name="T2" fmla="*/ 2147483646 w 323"/>
                <a:gd name="T3" fmla="*/ 0 h 70"/>
                <a:gd name="T4" fmla="*/ 2147483646 w 323"/>
                <a:gd name="T5" fmla="*/ 2147483646 h 70"/>
                <a:gd name="T6" fmla="*/ 0 w 323"/>
                <a:gd name="T7" fmla="*/ 2147483646 h 70"/>
                <a:gd name="T8" fmla="*/ 2147483646 w 323"/>
                <a:gd name="T9" fmla="*/ 2147483646 h 70"/>
                <a:gd name="T10" fmla="*/ 2147483646 w 323"/>
                <a:gd name="T11" fmla="*/ 2147483646 h 70"/>
                <a:gd name="T12" fmla="*/ 2147483646 w 323"/>
                <a:gd name="T13" fmla="*/ 0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3" h="70">
                  <a:moveTo>
                    <a:pt x="323" y="0"/>
                  </a:moveTo>
                  <a:lnTo>
                    <a:pt x="323" y="0"/>
                  </a:lnTo>
                  <a:lnTo>
                    <a:pt x="323" y="70"/>
                  </a:lnTo>
                  <a:lnTo>
                    <a:pt x="0" y="56"/>
                  </a:lnTo>
                  <a:cubicBezTo>
                    <a:pt x="0" y="56"/>
                    <a:pt x="3" y="46"/>
                    <a:pt x="3" y="30"/>
                  </a:cubicBezTo>
                  <a:cubicBezTo>
                    <a:pt x="3" y="14"/>
                    <a:pt x="1" y="4"/>
                    <a:pt x="1" y="4"/>
                  </a:cubicBezTo>
                  <a:lnTo>
                    <a:pt x="323"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3" name="Freeform 788">
              <a:extLst>
                <a:ext uri="{FF2B5EF4-FFF2-40B4-BE49-F238E27FC236}">
                  <a16:creationId xmlns:a16="http://schemas.microsoft.com/office/drawing/2014/main" id="{0F7DFDF7-DFFF-42D4-83E6-E6B2E9F67AD8}"/>
                </a:ext>
              </a:extLst>
            </p:cNvPr>
            <p:cNvSpPr>
              <a:spLocks/>
            </p:cNvSpPr>
            <p:nvPr/>
          </p:nvSpPr>
          <p:spPr bwMode="gray">
            <a:xfrm>
              <a:off x="5001154" y="2614299"/>
              <a:ext cx="43645" cy="20369"/>
            </a:xfrm>
            <a:custGeom>
              <a:avLst/>
              <a:gdLst>
                <a:gd name="T0" fmla="*/ 2147483646 w 141"/>
                <a:gd name="T1" fmla="*/ 2147483646 h 69"/>
                <a:gd name="T2" fmla="*/ 2147483646 w 141"/>
                <a:gd name="T3" fmla="*/ 2147483646 h 69"/>
                <a:gd name="T4" fmla="*/ 2147483646 w 141"/>
                <a:gd name="T5" fmla="*/ 2147483646 h 69"/>
                <a:gd name="T6" fmla="*/ 0 w 141"/>
                <a:gd name="T7" fmla="*/ 2147483646 h 69"/>
                <a:gd name="T8" fmla="*/ 2147483646 w 141"/>
                <a:gd name="T9" fmla="*/ 2147483646 h 69"/>
                <a:gd name="T10" fmla="*/ 2147483646 w 141"/>
                <a:gd name="T11" fmla="*/ 0 h 69"/>
                <a:gd name="T12" fmla="*/ 2147483646 w 141"/>
                <a:gd name="T13" fmla="*/ 2147483646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1" h="69">
                  <a:moveTo>
                    <a:pt x="141" y="31"/>
                  </a:moveTo>
                  <a:lnTo>
                    <a:pt x="141" y="31"/>
                  </a:lnTo>
                  <a:lnTo>
                    <a:pt x="128" y="69"/>
                  </a:lnTo>
                  <a:lnTo>
                    <a:pt x="0" y="16"/>
                  </a:lnTo>
                  <a:cubicBezTo>
                    <a:pt x="0" y="16"/>
                    <a:pt x="2" y="13"/>
                    <a:pt x="4" y="8"/>
                  </a:cubicBezTo>
                  <a:cubicBezTo>
                    <a:pt x="5" y="3"/>
                    <a:pt x="6" y="0"/>
                    <a:pt x="6" y="0"/>
                  </a:cubicBezTo>
                  <a:lnTo>
                    <a:pt x="141" y="31"/>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4" name="Freeform 789">
              <a:extLst>
                <a:ext uri="{FF2B5EF4-FFF2-40B4-BE49-F238E27FC236}">
                  <a16:creationId xmlns:a16="http://schemas.microsoft.com/office/drawing/2014/main" id="{C1CD9A23-DBBE-4A9C-AD3B-C399BAE80F7F}"/>
                </a:ext>
              </a:extLst>
            </p:cNvPr>
            <p:cNvSpPr>
              <a:spLocks/>
            </p:cNvSpPr>
            <p:nvPr/>
          </p:nvSpPr>
          <p:spPr bwMode="gray">
            <a:xfrm>
              <a:off x="4992425" y="2620119"/>
              <a:ext cx="96021" cy="69834"/>
            </a:xfrm>
            <a:custGeom>
              <a:avLst/>
              <a:gdLst>
                <a:gd name="T0" fmla="*/ 2147483646 w 309"/>
                <a:gd name="T1" fmla="*/ 2147483646 h 219"/>
                <a:gd name="T2" fmla="*/ 2147483646 w 309"/>
                <a:gd name="T3" fmla="*/ 2147483646 h 219"/>
                <a:gd name="T4" fmla="*/ 2147483646 w 309"/>
                <a:gd name="T5" fmla="*/ 2147483646 h 219"/>
                <a:gd name="T6" fmla="*/ 0 w 309"/>
                <a:gd name="T7" fmla="*/ 2147483646 h 219"/>
                <a:gd name="T8" fmla="*/ 2147483646 w 309"/>
                <a:gd name="T9" fmla="*/ 2147483646 h 219"/>
                <a:gd name="T10" fmla="*/ 2147483646 w 309"/>
                <a:gd name="T11" fmla="*/ 0 h 219"/>
                <a:gd name="T12" fmla="*/ 2147483646 w 309"/>
                <a:gd name="T13" fmla="*/ 2147483646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9" h="219">
                  <a:moveTo>
                    <a:pt x="309" y="159"/>
                  </a:moveTo>
                  <a:lnTo>
                    <a:pt x="309" y="159"/>
                  </a:lnTo>
                  <a:lnTo>
                    <a:pt x="273" y="219"/>
                  </a:lnTo>
                  <a:lnTo>
                    <a:pt x="0" y="44"/>
                  </a:lnTo>
                  <a:cubicBezTo>
                    <a:pt x="0" y="44"/>
                    <a:pt x="7" y="37"/>
                    <a:pt x="15" y="24"/>
                  </a:cubicBezTo>
                  <a:cubicBezTo>
                    <a:pt x="23" y="10"/>
                    <a:pt x="26" y="0"/>
                    <a:pt x="26" y="0"/>
                  </a:cubicBezTo>
                  <a:lnTo>
                    <a:pt x="309" y="159"/>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5" name="Freeform 790">
              <a:extLst>
                <a:ext uri="{FF2B5EF4-FFF2-40B4-BE49-F238E27FC236}">
                  <a16:creationId xmlns:a16="http://schemas.microsoft.com/office/drawing/2014/main" id="{1C4D5BA3-7C6C-4276-BABC-7FC8982197B5}"/>
                </a:ext>
              </a:extLst>
            </p:cNvPr>
            <p:cNvSpPr>
              <a:spLocks/>
            </p:cNvSpPr>
            <p:nvPr/>
          </p:nvSpPr>
          <p:spPr bwMode="gray">
            <a:xfrm>
              <a:off x="4986606" y="2634669"/>
              <a:ext cx="37826" cy="37828"/>
            </a:xfrm>
            <a:custGeom>
              <a:avLst/>
              <a:gdLst>
                <a:gd name="T0" fmla="*/ 2147483646 w 115"/>
                <a:gd name="T1" fmla="*/ 2147483646 h 121"/>
                <a:gd name="T2" fmla="*/ 2147483646 w 115"/>
                <a:gd name="T3" fmla="*/ 2147483646 h 121"/>
                <a:gd name="T4" fmla="*/ 2147483646 w 115"/>
                <a:gd name="T5" fmla="*/ 2147483646 h 121"/>
                <a:gd name="T6" fmla="*/ 0 w 115"/>
                <a:gd name="T7" fmla="*/ 2147483646 h 121"/>
                <a:gd name="T8" fmla="*/ 2147483646 w 115"/>
                <a:gd name="T9" fmla="*/ 2147483646 h 121"/>
                <a:gd name="T10" fmla="*/ 2147483646 w 115"/>
                <a:gd name="T11" fmla="*/ 0 h 121"/>
                <a:gd name="T12" fmla="*/ 2147483646 w 115"/>
                <a:gd name="T13" fmla="*/ 2147483646 h 1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5" h="121">
                  <a:moveTo>
                    <a:pt x="115" y="94"/>
                  </a:moveTo>
                  <a:lnTo>
                    <a:pt x="115" y="94"/>
                  </a:lnTo>
                  <a:lnTo>
                    <a:pt x="85" y="121"/>
                  </a:lnTo>
                  <a:lnTo>
                    <a:pt x="0" y="11"/>
                  </a:lnTo>
                  <a:cubicBezTo>
                    <a:pt x="0" y="11"/>
                    <a:pt x="3" y="10"/>
                    <a:pt x="8" y="6"/>
                  </a:cubicBezTo>
                  <a:cubicBezTo>
                    <a:pt x="12" y="3"/>
                    <a:pt x="14" y="0"/>
                    <a:pt x="14" y="0"/>
                  </a:cubicBezTo>
                  <a:lnTo>
                    <a:pt x="115" y="94"/>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6" name="Freeform 791">
              <a:extLst>
                <a:ext uri="{FF2B5EF4-FFF2-40B4-BE49-F238E27FC236}">
                  <a16:creationId xmlns:a16="http://schemas.microsoft.com/office/drawing/2014/main" id="{A889FFB8-03A8-4042-B5A3-3D74040AFE12}"/>
                </a:ext>
              </a:extLst>
            </p:cNvPr>
            <p:cNvSpPr>
              <a:spLocks/>
            </p:cNvSpPr>
            <p:nvPr/>
          </p:nvSpPr>
          <p:spPr bwMode="gray">
            <a:xfrm>
              <a:off x="4972056" y="2637577"/>
              <a:ext cx="69834" cy="101842"/>
            </a:xfrm>
            <a:custGeom>
              <a:avLst/>
              <a:gdLst>
                <a:gd name="T0" fmla="*/ 2147483646 w 221"/>
                <a:gd name="T1" fmla="*/ 2147483646 h 318"/>
                <a:gd name="T2" fmla="*/ 2147483646 w 221"/>
                <a:gd name="T3" fmla="*/ 2147483646 h 318"/>
                <a:gd name="T4" fmla="*/ 2147483646 w 221"/>
                <a:gd name="T5" fmla="*/ 2147483646 h 318"/>
                <a:gd name="T6" fmla="*/ 0 w 221"/>
                <a:gd name="T7" fmla="*/ 2147483646 h 318"/>
                <a:gd name="T8" fmla="*/ 2147483646 w 221"/>
                <a:gd name="T9" fmla="*/ 2147483646 h 318"/>
                <a:gd name="T10" fmla="*/ 2147483646 w 221"/>
                <a:gd name="T11" fmla="*/ 0 h 318"/>
                <a:gd name="T12" fmla="*/ 2147483646 w 221"/>
                <a:gd name="T13" fmla="*/ 2147483646 h 3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1" h="318">
                  <a:moveTo>
                    <a:pt x="221" y="284"/>
                  </a:moveTo>
                  <a:lnTo>
                    <a:pt x="221" y="284"/>
                  </a:lnTo>
                  <a:lnTo>
                    <a:pt x="159" y="318"/>
                  </a:lnTo>
                  <a:lnTo>
                    <a:pt x="0" y="26"/>
                  </a:lnTo>
                  <a:cubicBezTo>
                    <a:pt x="0" y="26"/>
                    <a:pt x="10" y="23"/>
                    <a:pt x="24" y="15"/>
                  </a:cubicBezTo>
                  <a:cubicBezTo>
                    <a:pt x="38" y="7"/>
                    <a:pt x="45" y="0"/>
                    <a:pt x="45" y="0"/>
                  </a:cubicBezTo>
                  <a:lnTo>
                    <a:pt x="221" y="284"/>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7" name="Freeform 792">
              <a:extLst>
                <a:ext uri="{FF2B5EF4-FFF2-40B4-BE49-F238E27FC236}">
                  <a16:creationId xmlns:a16="http://schemas.microsoft.com/office/drawing/2014/main" id="{F32C988E-C436-4458-BCEB-676574482C95}"/>
                </a:ext>
              </a:extLst>
            </p:cNvPr>
            <p:cNvSpPr>
              <a:spLocks/>
            </p:cNvSpPr>
            <p:nvPr/>
          </p:nvSpPr>
          <p:spPr bwMode="gray">
            <a:xfrm>
              <a:off x="4966237" y="2646308"/>
              <a:ext cx="17459" cy="46556"/>
            </a:xfrm>
            <a:custGeom>
              <a:avLst/>
              <a:gdLst>
                <a:gd name="T0" fmla="*/ 2147483646 w 58"/>
                <a:gd name="T1" fmla="*/ 2147483646 h 141"/>
                <a:gd name="T2" fmla="*/ 2147483646 w 58"/>
                <a:gd name="T3" fmla="*/ 2147483646 h 141"/>
                <a:gd name="T4" fmla="*/ 2147483646 w 58"/>
                <a:gd name="T5" fmla="*/ 2147483646 h 141"/>
                <a:gd name="T6" fmla="*/ 0 w 58"/>
                <a:gd name="T7" fmla="*/ 2147483646 h 141"/>
                <a:gd name="T8" fmla="*/ 2147483646 w 58"/>
                <a:gd name="T9" fmla="*/ 2147483646 h 141"/>
                <a:gd name="T10" fmla="*/ 2147483646 w 58"/>
                <a:gd name="T11" fmla="*/ 0 h 141"/>
                <a:gd name="T12" fmla="*/ 2147483646 w 58"/>
                <a:gd name="T13" fmla="*/ 2147483646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141">
                  <a:moveTo>
                    <a:pt x="58" y="133"/>
                  </a:moveTo>
                  <a:lnTo>
                    <a:pt x="58" y="133"/>
                  </a:lnTo>
                  <a:lnTo>
                    <a:pt x="19" y="141"/>
                  </a:lnTo>
                  <a:lnTo>
                    <a:pt x="0" y="4"/>
                  </a:lnTo>
                  <a:cubicBezTo>
                    <a:pt x="0" y="4"/>
                    <a:pt x="4" y="4"/>
                    <a:pt x="9" y="3"/>
                  </a:cubicBezTo>
                  <a:cubicBezTo>
                    <a:pt x="14" y="2"/>
                    <a:pt x="17" y="0"/>
                    <a:pt x="17" y="0"/>
                  </a:cubicBezTo>
                  <a:lnTo>
                    <a:pt x="58" y="133"/>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8" name="Freeform 793">
              <a:extLst>
                <a:ext uri="{FF2B5EF4-FFF2-40B4-BE49-F238E27FC236}">
                  <a16:creationId xmlns:a16="http://schemas.microsoft.com/office/drawing/2014/main" id="{89CFE798-E16D-4F6E-BA2A-6B0F57517A89}"/>
                </a:ext>
              </a:extLst>
            </p:cNvPr>
            <p:cNvSpPr>
              <a:spLocks/>
            </p:cNvSpPr>
            <p:nvPr/>
          </p:nvSpPr>
          <p:spPr bwMode="gray">
            <a:xfrm>
              <a:off x="4942959" y="2646308"/>
              <a:ext cx="23278" cy="104751"/>
            </a:xfrm>
            <a:custGeom>
              <a:avLst/>
              <a:gdLst>
                <a:gd name="T0" fmla="*/ 2147483646 w 70"/>
                <a:gd name="T1" fmla="*/ 2147483646 h 323"/>
                <a:gd name="T2" fmla="*/ 2147483646 w 70"/>
                <a:gd name="T3" fmla="*/ 2147483646 h 323"/>
                <a:gd name="T4" fmla="*/ 0 w 70"/>
                <a:gd name="T5" fmla="*/ 2147483646 h 323"/>
                <a:gd name="T6" fmla="*/ 2147483646 w 70"/>
                <a:gd name="T7" fmla="*/ 0 h 323"/>
                <a:gd name="T8" fmla="*/ 2147483646 w 70"/>
                <a:gd name="T9" fmla="*/ 2147483646 h 323"/>
                <a:gd name="T10" fmla="*/ 2147483646 w 70"/>
                <a:gd name="T11" fmla="*/ 0 h 323"/>
                <a:gd name="T12" fmla="*/ 2147483646 w 70"/>
                <a:gd name="T13" fmla="*/ 2147483646 h 3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0" h="323">
                  <a:moveTo>
                    <a:pt x="70" y="323"/>
                  </a:moveTo>
                  <a:lnTo>
                    <a:pt x="70" y="323"/>
                  </a:lnTo>
                  <a:lnTo>
                    <a:pt x="0" y="322"/>
                  </a:lnTo>
                  <a:lnTo>
                    <a:pt x="15" y="0"/>
                  </a:lnTo>
                  <a:cubicBezTo>
                    <a:pt x="15" y="0"/>
                    <a:pt x="25" y="2"/>
                    <a:pt x="41" y="2"/>
                  </a:cubicBezTo>
                  <a:cubicBezTo>
                    <a:pt x="57" y="3"/>
                    <a:pt x="67" y="0"/>
                    <a:pt x="67" y="0"/>
                  </a:cubicBezTo>
                  <a:lnTo>
                    <a:pt x="70" y="323"/>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79" name="Freeform 794">
              <a:extLst>
                <a:ext uri="{FF2B5EF4-FFF2-40B4-BE49-F238E27FC236}">
                  <a16:creationId xmlns:a16="http://schemas.microsoft.com/office/drawing/2014/main" id="{889CB323-A0F6-41AA-8696-C44F3042BAA9}"/>
                </a:ext>
              </a:extLst>
            </p:cNvPr>
            <p:cNvSpPr>
              <a:spLocks/>
            </p:cNvSpPr>
            <p:nvPr/>
          </p:nvSpPr>
          <p:spPr bwMode="gray">
            <a:xfrm>
              <a:off x="4925500" y="2646308"/>
              <a:ext cx="23278" cy="43647"/>
            </a:xfrm>
            <a:custGeom>
              <a:avLst/>
              <a:gdLst>
                <a:gd name="T0" fmla="*/ 2147483646 w 69"/>
                <a:gd name="T1" fmla="*/ 2147483646 h 141"/>
                <a:gd name="T2" fmla="*/ 2147483646 w 69"/>
                <a:gd name="T3" fmla="*/ 2147483646 h 141"/>
                <a:gd name="T4" fmla="*/ 0 w 69"/>
                <a:gd name="T5" fmla="*/ 2147483646 h 141"/>
                <a:gd name="T6" fmla="*/ 2147483646 w 69"/>
                <a:gd name="T7" fmla="*/ 0 h 141"/>
                <a:gd name="T8" fmla="*/ 2147483646 w 69"/>
                <a:gd name="T9" fmla="*/ 2147483646 h 141"/>
                <a:gd name="T10" fmla="*/ 2147483646 w 69"/>
                <a:gd name="T11" fmla="*/ 2147483646 h 141"/>
                <a:gd name="T12" fmla="*/ 2147483646 w 69"/>
                <a:gd name="T13" fmla="*/ 2147483646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141">
                  <a:moveTo>
                    <a:pt x="38" y="141"/>
                  </a:moveTo>
                  <a:lnTo>
                    <a:pt x="38" y="141"/>
                  </a:lnTo>
                  <a:lnTo>
                    <a:pt x="0" y="129"/>
                  </a:lnTo>
                  <a:lnTo>
                    <a:pt x="53" y="0"/>
                  </a:lnTo>
                  <a:cubicBezTo>
                    <a:pt x="53" y="0"/>
                    <a:pt x="56" y="2"/>
                    <a:pt x="61" y="4"/>
                  </a:cubicBezTo>
                  <a:cubicBezTo>
                    <a:pt x="66" y="6"/>
                    <a:pt x="69" y="6"/>
                    <a:pt x="69" y="6"/>
                  </a:cubicBezTo>
                  <a:lnTo>
                    <a:pt x="38" y="141"/>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0" name="Freeform 795">
              <a:extLst>
                <a:ext uri="{FF2B5EF4-FFF2-40B4-BE49-F238E27FC236}">
                  <a16:creationId xmlns:a16="http://schemas.microsoft.com/office/drawing/2014/main" id="{A7DFCA17-D267-418E-870B-BE304C1A5853}"/>
                </a:ext>
              </a:extLst>
            </p:cNvPr>
            <p:cNvSpPr>
              <a:spLocks/>
            </p:cNvSpPr>
            <p:nvPr/>
          </p:nvSpPr>
          <p:spPr bwMode="gray">
            <a:xfrm>
              <a:off x="4873124" y="2637577"/>
              <a:ext cx="69834" cy="101842"/>
            </a:xfrm>
            <a:custGeom>
              <a:avLst/>
              <a:gdLst>
                <a:gd name="T0" fmla="*/ 2147483646 w 218"/>
                <a:gd name="T1" fmla="*/ 2147483646 h 320"/>
                <a:gd name="T2" fmla="*/ 2147483646 w 218"/>
                <a:gd name="T3" fmla="*/ 2147483646 h 320"/>
                <a:gd name="T4" fmla="*/ 0 w 218"/>
                <a:gd name="T5" fmla="*/ 2147483646 h 320"/>
                <a:gd name="T6" fmla="*/ 2147483646 w 218"/>
                <a:gd name="T7" fmla="*/ 0 h 320"/>
                <a:gd name="T8" fmla="*/ 2147483646 w 218"/>
                <a:gd name="T9" fmla="*/ 2147483646 h 320"/>
                <a:gd name="T10" fmla="*/ 2147483646 w 218"/>
                <a:gd name="T11" fmla="*/ 2147483646 h 320"/>
                <a:gd name="T12" fmla="*/ 2147483646 w 218"/>
                <a:gd name="T13" fmla="*/ 2147483646 h 3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8" h="320">
                  <a:moveTo>
                    <a:pt x="60" y="320"/>
                  </a:moveTo>
                  <a:lnTo>
                    <a:pt x="60" y="320"/>
                  </a:lnTo>
                  <a:lnTo>
                    <a:pt x="0" y="284"/>
                  </a:lnTo>
                  <a:lnTo>
                    <a:pt x="174" y="0"/>
                  </a:lnTo>
                  <a:cubicBezTo>
                    <a:pt x="174" y="0"/>
                    <a:pt x="181" y="7"/>
                    <a:pt x="195" y="15"/>
                  </a:cubicBezTo>
                  <a:cubicBezTo>
                    <a:pt x="208" y="23"/>
                    <a:pt x="218" y="26"/>
                    <a:pt x="218" y="26"/>
                  </a:cubicBezTo>
                  <a:lnTo>
                    <a:pt x="60" y="32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1" name="Freeform 796">
              <a:extLst>
                <a:ext uri="{FF2B5EF4-FFF2-40B4-BE49-F238E27FC236}">
                  <a16:creationId xmlns:a16="http://schemas.microsoft.com/office/drawing/2014/main" id="{B8A45F8A-AF5B-4968-B5CB-C2D68E5E36ED}"/>
                </a:ext>
              </a:extLst>
            </p:cNvPr>
            <p:cNvSpPr>
              <a:spLocks/>
            </p:cNvSpPr>
            <p:nvPr/>
          </p:nvSpPr>
          <p:spPr bwMode="gray">
            <a:xfrm>
              <a:off x="4887674" y="2631758"/>
              <a:ext cx="40737" cy="37828"/>
            </a:xfrm>
            <a:custGeom>
              <a:avLst/>
              <a:gdLst>
                <a:gd name="T0" fmla="*/ 2147483646 w 122"/>
                <a:gd name="T1" fmla="*/ 2147483646 h 115"/>
                <a:gd name="T2" fmla="*/ 2147483646 w 122"/>
                <a:gd name="T3" fmla="*/ 2147483646 h 115"/>
                <a:gd name="T4" fmla="*/ 0 w 122"/>
                <a:gd name="T5" fmla="*/ 2147483646 h 115"/>
                <a:gd name="T6" fmla="*/ 2147483646 w 122"/>
                <a:gd name="T7" fmla="*/ 0 h 115"/>
                <a:gd name="T8" fmla="*/ 2147483646 w 122"/>
                <a:gd name="T9" fmla="*/ 2147483646 h 115"/>
                <a:gd name="T10" fmla="*/ 2147483646 w 122"/>
                <a:gd name="T11" fmla="*/ 2147483646 h 115"/>
                <a:gd name="T12" fmla="*/ 2147483646 w 122"/>
                <a:gd name="T13" fmla="*/ 2147483646 h 1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 h="115">
                  <a:moveTo>
                    <a:pt x="27" y="115"/>
                  </a:moveTo>
                  <a:lnTo>
                    <a:pt x="27" y="115"/>
                  </a:lnTo>
                  <a:lnTo>
                    <a:pt x="0" y="85"/>
                  </a:lnTo>
                  <a:lnTo>
                    <a:pt x="110" y="0"/>
                  </a:lnTo>
                  <a:cubicBezTo>
                    <a:pt x="110" y="0"/>
                    <a:pt x="111" y="4"/>
                    <a:pt x="115" y="8"/>
                  </a:cubicBezTo>
                  <a:cubicBezTo>
                    <a:pt x="119" y="12"/>
                    <a:pt x="122" y="14"/>
                    <a:pt x="122" y="14"/>
                  </a:cubicBezTo>
                  <a:lnTo>
                    <a:pt x="27" y="11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2" name="Freeform 797">
              <a:extLst>
                <a:ext uri="{FF2B5EF4-FFF2-40B4-BE49-F238E27FC236}">
                  <a16:creationId xmlns:a16="http://schemas.microsoft.com/office/drawing/2014/main" id="{A5595EAA-64C9-450F-BE1E-BD11F51C29AF}"/>
                </a:ext>
              </a:extLst>
            </p:cNvPr>
            <p:cNvSpPr>
              <a:spLocks/>
            </p:cNvSpPr>
            <p:nvPr/>
          </p:nvSpPr>
          <p:spPr bwMode="gray">
            <a:xfrm>
              <a:off x="4820749" y="2617210"/>
              <a:ext cx="104751" cy="69834"/>
            </a:xfrm>
            <a:custGeom>
              <a:avLst/>
              <a:gdLst>
                <a:gd name="T0" fmla="*/ 2147483646 w 320"/>
                <a:gd name="T1" fmla="*/ 2147483646 h 218"/>
                <a:gd name="T2" fmla="*/ 2147483646 w 320"/>
                <a:gd name="T3" fmla="*/ 2147483646 h 218"/>
                <a:gd name="T4" fmla="*/ 0 w 320"/>
                <a:gd name="T5" fmla="*/ 2147483646 h 218"/>
                <a:gd name="T6" fmla="*/ 2147483646 w 320"/>
                <a:gd name="T7" fmla="*/ 0 h 218"/>
                <a:gd name="T8" fmla="*/ 2147483646 w 320"/>
                <a:gd name="T9" fmla="*/ 2147483646 h 218"/>
                <a:gd name="T10" fmla="*/ 2147483646 w 320"/>
                <a:gd name="T11" fmla="*/ 2147483646 h 218"/>
                <a:gd name="T12" fmla="*/ 2147483646 w 320"/>
                <a:gd name="T13" fmla="*/ 2147483646 h 2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0" h="218">
                  <a:moveTo>
                    <a:pt x="34" y="218"/>
                  </a:moveTo>
                  <a:lnTo>
                    <a:pt x="34" y="218"/>
                  </a:lnTo>
                  <a:lnTo>
                    <a:pt x="0" y="156"/>
                  </a:lnTo>
                  <a:lnTo>
                    <a:pt x="295" y="0"/>
                  </a:lnTo>
                  <a:cubicBezTo>
                    <a:pt x="295" y="0"/>
                    <a:pt x="298" y="10"/>
                    <a:pt x="305" y="24"/>
                  </a:cubicBezTo>
                  <a:cubicBezTo>
                    <a:pt x="313" y="38"/>
                    <a:pt x="320" y="45"/>
                    <a:pt x="320" y="45"/>
                  </a:cubicBezTo>
                  <a:lnTo>
                    <a:pt x="34" y="218"/>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3" name="Freeform 798">
              <a:extLst>
                <a:ext uri="{FF2B5EF4-FFF2-40B4-BE49-F238E27FC236}">
                  <a16:creationId xmlns:a16="http://schemas.microsoft.com/office/drawing/2014/main" id="{E4480D40-C53E-4464-A8DB-E5357228906D}"/>
                </a:ext>
              </a:extLst>
            </p:cNvPr>
            <p:cNvSpPr>
              <a:spLocks/>
            </p:cNvSpPr>
            <p:nvPr/>
          </p:nvSpPr>
          <p:spPr bwMode="gray">
            <a:xfrm>
              <a:off x="4870216" y="2611391"/>
              <a:ext cx="43645" cy="17459"/>
            </a:xfrm>
            <a:custGeom>
              <a:avLst/>
              <a:gdLst>
                <a:gd name="T0" fmla="*/ 2147483646 w 141"/>
                <a:gd name="T1" fmla="*/ 2147483646 h 57"/>
                <a:gd name="T2" fmla="*/ 2147483646 w 141"/>
                <a:gd name="T3" fmla="*/ 2147483646 h 57"/>
                <a:gd name="T4" fmla="*/ 0 w 141"/>
                <a:gd name="T5" fmla="*/ 2147483646 h 57"/>
                <a:gd name="T6" fmla="*/ 2147483646 w 141"/>
                <a:gd name="T7" fmla="*/ 0 h 57"/>
                <a:gd name="T8" fmla="*/ 2147483646 w 141"/>
                <a:gd name="T9" fmla="*/ 2147483646 h 57"/>
                <a:gd name="T10" fmla="*/ 2147483646 w 141"/>
                <a:gd name="T11" fmla="*/ 2147483646 h 57"/>
                <a:gd name="T12" fmla="*/ 2147483646 w 141"/>
                <a:gd name="T13" fmla="*/ 2147483646 h 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1" h="57">
                  <a:moveTo>
                    <a:pt x="8" y="57"/>
                  </a:moveTo>
                  <a:lnTo>
                    <a:pt x="8" y="57"/>
                  </a:lnTo>
                  <a:lnTo>
                    <a:pt x="0" y="18"/>
                  </a:lnTo>
                  <a:lnTo>
                    <a:pt x="138" y="0"/>
                  </a:lnTo>
                  <a:cubicBezTo>
                    <a:pt x="138" y="0"/>
                    <a:pt x="137" y="4"/>
                    <a:pt x="138" y="9"/>
                  </a:cubicBezTo>
                  <a:cubicBezTo>
                    <a:pt x="140" y="14"/>
                    <a:pt x="141" y="17"/>
                    <a:pt x="141" y="17"/>
                  </a:cubicBezTo>
                  <a:lnTo>
                    <a:pt x="8" y="5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4" name="Freeform 799">
              <a:extLst>
                <a:ext uri="{FF2B5EF4-FFF2-40B4-BE49-F238E27FC236}">
                  <a16:creationId xmlns:a16="http://schemas.microsoft.com/office/drawing/2014/main" id="{BC6545C8-4881-498E-B1C1-AD37A95CFCE4}"/>
                </a:ext>
              </a:extLst>
            </p:cNvPr>
            <p:cNvSpPr>
              <a:spLocks/>
            </p:cNvSpPr>
            <p:nvPr/>
          </p:nvSpPr>
          <p:spPr bwMode="gray">
            <a:xfrm>
              <a:off x="4812020" y="2588112"/>
              <a:ext cx="101841" cy="23278"/>
            </a:xfrm>
            <a:custGeom>
              <a:avLst/>
              <a:gdLst>
                <a:gd name="T0" fmla="*/ 0 w 320"/>
                <a:gd name="T1" fmla="*/ 2147483646 h 70"/>
                <a:gd name="T2" fmla="*/ 0 w 320"/>
                <a:gd name="T3" fmla="*/ 2147483646 h 70"/>
                <a:gd name="T4" fmla="*/ 2147483646 w 320"/>
                <a:gd name="T5" fmla="*/ 0 h 70"/>
                <a:gd name="T6" fmla="*/ 2147483646 w 320"/>
                <a:gd name="T7" fmla="*/ 2147483646 h 70"/>
                <a:gd name="T8" fmla="*/ 2147483646 w 320"/>
                <a:gd name="T9" fmla="*/ 2147483646 h 70"/>
                <a:gd name="T10" fmla="*/ 2147483646 w 320"/>
                <a:gd name="T11" fmla="*/ 2147483646 h 70"/>
                <a:gd name="T12" fmla="*/ 0 w 320"/>
                <a:gd name="T13" fmla="*/ 2147483646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0" h="70">
                  <a:moveTo>
                    <a:pt x="0" y="70"/>
                  </a:moveTo>
                  <a:lnTo>
                    <a:pt x="0" y="70"/>
                  </a:lnTo>
                  <a:lnTo>
                    <a:pt x="2" y="0"/>
                  </a:lnTo>
                  <a:lnTo>
                    <a:pt x="320" y="17"/>
                  </a:lnTo>
                  <a:cubicBezTo>
                    <a:pt x="320" y="17"/>
                    <a:pt x="317" y="27"/>
                    <a:pt x="317" y="43"/>
                  </a:cubicBezTo>
                  <a:cubicBezTo>
                    <a:pt x="317" y="59"/>
                    <a:pt x="319" y="69"/>
                    <a:pt x="319" y="69"/>
                  </a:cubicBezTo>
                  <a:lnTo>
                    <a:pt x="0" y="7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5" name="Freeform 800">
              <a:extLst>
                <a:ext uri="{FF2B5EF4-FFF2-40B4-BE49-F238E27FC236}">
                  <a16:creationId xmlns:a16="http://schemas.microsoft.com/office/drawing/2014/main" id="{F68FD85E-746A-4D65-8A8A-65518C8960EB}"/>
                </a:ext>
              </a:extLst>
            </p:cNvPr>
            <p:cNvSpPr>
              <a:spLocks/>
            </p:cNvSpPr>
            <p:nvPr/>
          </p:nvSpPr>
          <p:spPr bwMode="gray">
            <a:xfrm>
              <a:off x="4870216" y="2570654"/>
              <a:ext cx="46556" cy="23278"/>
            </a:xfrm>
            <a:custGeom>
              <a:avLst/>
              <a:gdLst>
                <a:gd name="T0" fmla="*/ 0 w 140"/>
                <a:gd name="T1" fmla="*/ 2147483646 h 69"/>
                <a:gd name="T2" fmla="*/ 0 w 140"/>
                <a:gd name="T3" fmla="*/ 2147483646 h 69"/>
                <a:gd name="T4" fmla="*/ 2147483646 w 140"/>
                <a:gd name="T5" fmla="*/ 0 h 69"/>
                <a:gd name="T6" fmla="*/ 2147483646 w 140"/>
                <a:gd name="T7" fmla="*/ 2147483646 h 69"/>
                <a:gd name="T8" fmla="*/ 2147483646 w 140"/>
                <a:gd name="T9" fmla="*/ 2147483646 h 69"/>
                <a:gd name="T10" fmla="*/ 2147483646 w 140"/>
                <a:gd name="T11" fmla="*/ 2147483646 h 69"/>
                <a:gd name="T12" fmla="*/ 0 w 140"/>
                <a:gd name="T13" fmla="*/ 2147483646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0" h="69">
                  <a:moveTo>
                    <a:pt x="0" y="37"/>
                  </a:moveTo>
                  <a:lnTo>
                    <a:pt x="0" y="37"/>
                  </a:lnTo>
                  <a:lnTo>
                    <a:pt x="12" y="0"/>
                  </a:lnTo>
                  <a:lnTo>
                    <a:pt x="140" y="53"/>
                  </a:lnTo>
                  <a:cubicBezTo>
                    <a:pt x="140" y="53"/>
                    <a:pt x="138" y="56"/>
                    <a:pt x="137" y="61"/>
                  </a:cubicBezTo>
                  <a:cubicBezTo>
                    <a:pt x="135" y="66"/>
                    <a:pt x="135" y="69"/>
                    <a:pt x="135" y="69"/>
                  </a:cubicBezTo>
                  <a:lnTo>
                    <a:pt x="0" y="3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6" name="Freeform 801">
              <a:extLst>
                <a:ext uri="{FF2B5EF4-FFF2-40B4-BE49-F238E27FC236}">
                  <a16:creationId xmlns:a16="http://schemas.microsoft.com/office/drawing/2014/main" id="{DEDB50E1-284D-446F-92B1-DC61A24FD051}"/>
                </a:ext>
              </a:extLst>
            </p:cNvPr>
            <p:cNvSpPr>
              <a:spLocks/>
            </p:cNvSpPr>
            <p:nvPr/>
          </p:nvSpPr>
          <p:spPr bwMode="gray">
            <a:xfrm>
              <a:off x="4826568" y="2521187"/>
              <a:ext cx="98932" cy="66925"/>
            </a:xfrm>
            <a:custGeom>
              <a:avLst/>
              <a:gdLst>
                <a:gd name="T0" fmla="*/ 0 w 306"/>
                <a:gd name="T1" fmla="*/ 2147483646 h 211"/>
                <a:gd name="T2" fmla="*/ 0 w 306"/>
                <a:gd name="T3" fmla="*/ 2147483646 h 211"/>
                <a:gd name="T4" fmla="*/ 2147483646 w 306"/>
                <a:gd name="T5" fmla="*/ 0 h 211"/>
                <a:gd name="T6" fmla="*/ 2147483646 w 306"/>
                <a:gd name="T7" fmla="*/ 2147483646 h 211"/>
                <a:gd name="T8" fmla="*/ 2147483646 w 306"/>
                <a:gd name="T9" fmla="*/ 2147483646 h 211"/>
                <a:gd name="T10" fmla="*/ 2147483646 w 306"/>
                <a:gd name="T11" fmla="*/ 2147483646 h 211"/>
                <a:gd name="T12" fmla="*/ 0 w 306"/>
                <a:gd name="T13" fmla="*/ 2147483646 h 2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6" h="211">
                  <a:moveTo>
                    <a:pt x="0" y="60"/>
                  </a:moveTo>
                  <a:lnTo>
                    <a:pt x="0" y="60"/>
                  </a:lnTo>
                  <a:lnTo>
                    <a:pt x="37" y="0"/>
                  </a:lnTo>
                  <a:lnTo>
                    <a:pt x="306" y="167"/>
                  </a:lnTo>
                  <a:cubicBezTo>
                    <a:pt x="306" y="167"/>
                    <a:pt x="299" y="174"/>
                    <a:pt x="291" y="188"/>
                  </a:cubicBezTo>
                  <a:cubicBezTo>
                    <a:pt x="283" y="201"/>
                    <a:pt x="280" y="211"/>
                    <a:pt x="280" y="211"/>
                  </a:cubicBezTo>
                  <a:lnTo>
                    <a:pt x="0" y="6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7" name="Freeform 802">
              <a:extLst>
                <a:ext uri="{FF2B5EF4-FFF2-40B4-BE49-F238E27FC236}">
                  <a16:creationId xmlns:a16="http://schemas.microsoft.com/office/drawing/2014/main" id="{06D8C44B-BB89-428E-8EC6-2DF59E61BF2D}"/>
                </a:ext>
              </a:extLst>
            </p:cNvPr>
            <p:cNvSpPr>
              <a:spLocks/>
            </p:cNvSpPr>
            <p:nvPr/>
          </p:nvSpPr>
          <p:spPr bwMode="gray">
            <a:xfrm>
              <a:off x="4893494" y="2535737"/>
              <a:ext cx="34917" cy="37828"/>
            </a:xfrm>
            <a:custGeom>
              <a:avLst/>
              <a:gdLst>
                <a:gd name="T0" fmla="*/ 0 w 114"/>
                <a:gd name="T1" fmla="*/ 2147483646 h 122"/>
                <a:gd name="T2" fmla="*/ 0 w 114"/>
                <a:gd name="T3" fmla="*/ 2147483646 h 122"/>
                <a:gd name="T4" fmla="*/ 2147483646 w 114"/>
                <a:gd name="T5" fmla="*/ 0 h 122"/>
                <a:gd name="T6" fmla="*/ 2147483646 w 114"/>
                <a:gd name="T7" fmla="*/ 2147483646 h 122"/>
                <a:gd name="T8" fmla="*/ 2147483646 w 114"/>
                <a:gd name="T9" fmla="*/ 2147483646 h 122"/>
                <a:gd name="T10" fmla="*/ 2147483646 w 114"/>
                <a:gd name="T11" fmla="*/ 2147483646 h 122"/>
                <a:gd name="T12" fmla="*/ 0 w 114"/>
                <a:gd name="T13" fmla="*/ 2147483646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4" h="122">
                  <a:moveTo>
                    <a:pt x="0" y="26"/>
                  </a:moveTo>
                  <a:lnTo>
                    <a:pt x="0" y="26"/>
                  </a:lnTo>
                  <a:lnTo>
                    <a:pt x="29" y="0"/>
                  </a:lnTo>
                  <a:lnTo>
                    <a:pt x="114" y="110"/>
                  </a:lnTo>
                  <a:cubicBezTo>
                    <a:pt x="114" y="110"/>
                    <a:pt x="110" y="112"/>
                    <a:pt x="106" y="115"/>
                  </a:cubicBezTo>
                  <a:cubicBezTo>
                    <a:pt x="102" y="119"/>
                    <a:pt x="100" y="122"/>
                    <a:pt x="100" y="122"/>
                  </a:cubicBezTo>
                  <a:lnTo>
                    <a:pt x="0" y="2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8" name="Freeform 803">
              <a:extLst>
                <a:ext uri="{FF2B5EF4-FFF2-40B4-BE49-F238E27FC236}">
                  <a16:creationId xmlns:a16="http://schemas.microsoft.com/office/drawing/2014/main" id="{E3B9A480-2751-44B7-90C4-E46837904216}"/>
                </a:ext>
              </a:extLst>
            </p:cNvPr>
            <p:cNvSpPr>
              <a:spLocks/>
            </p:cNvSpPr>
            <p:nvPr/>
          </p:nvSpPr>
          <p:spPr bwMode="gray">
            <a:xfrm>
              <a:off x="4878944" y="2471722"/>
              <a:ext cx="66923" cy="98932"/>
            </a:xfrm>
            <a:custGeom>
              <a:avLst/>
              <a:gdLst>
                <a:gd name="T0" fmla="*/ 0 w 205"/>
                <a:gd name="T1" fmla="*/ 2147483646 h 306"/>
                <a:gd name="T2" fmla="*/ 0 w 205"/>
                <a:gd name="T3" fmla="*/ 2147483646 h 306"/>
                <a:gd name="T4" fmla="*/ 2147483646 w 205"/>
                <a:gd name="T5" fmla="*/ 0 h 306"/>
                <a:gd name="T6" fmla="*/ 2147483646 w 205"/>
                <a:gd name="T7" fmla="*/ 2147483646 h 306"/>
                <a:gd name="T8" fmla="*/ 2147483646 w 205"/>
                <a:gd name="T9" fmla="*/ 2147483646 h 306"/>
                <a:gd name="T10" fmla="*/ 2147483646 w 205"/>
                <a:gd name="T11" fmla="*/ 2147483646 h 306"/>
                <a:gd name="T12" fmla="*/ 0 w 205"/>
                <a:gd name="T13" fmla="*/ 2147483646 h 30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5" h="306">
                  <a:moveTo>
                    <a:pt x="0" y="34"/>
                  </a:moveTo>
                  <a:lnTo>
                    <a:pt x="0" y="34"/>
                  </a:lnTo>
                  <a:lnTo>
                    <a:pt x="62" y="0"/>
                  </a:lnTo>
                  <a:lnTo>
                    <a:pt x="205" y="281"/>
                  </a:lnTo>
                  <a:cubicBezTo>
                    <a:pt x="205" y="281"/>
                    <a:pt x="195" y="284"/>
                    <a:pt x="181" y="291"/>
                  </a:cubicBezTo>
                  <a:cubicBezTo>
                    <a:pt x="167" y="299"/>
                    <a:pt x="160" y="306"/>
                    <a:pt x="160" y="306"/>
                  </a:cubicBezTo>
                  <a:lnTo>
                    <a:pt x="0" y="34"/>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89" name="Freeform 804">
              <a:extLst>
                <a:ext uri="{FF2B5EF4-FFF2-40B4-BE49-F238E27FC236}">
                  <a16:creationId xmlns:a16="http://schemas.microsoft.com/office/drawing/2014/main" id="{8DE31F1B-A2E0-434C-9374-D2C93A7E9C4C}"/>
                </a:ext>
              </a:extLst>
            </p:cNvPr>
            <p:cNvSpPr>
              <a:spLocks/>
            </p:cNvSpPr>
            <p:nvPr/>
          </p:nvSpPr>
          <p:spPr bwMode="gray">
            <a:xfrm>
              <a:off x="4931319" y="2515368"/>
              <a:ext cx="17459" cy="46556"/>
            </a:xfrm>
            <a:custGeom>
              <a:avLst/>
              <a:gdLst>
                <a:gd name="T0" fmla="*/ 0 w 57"/>
                <a:gd name="T1" fmla="*/ 2147483646 h 140"/>
                <a:gd name="T2" fmla="*/ 0 w 57"/>
                <a:gd name="T3" fmla="*/ 2147483646 h 140"/>
                <a:gd name="T4" fmla="*/ 2147483646 w 57"/>
                <a:gd name="T5" fmla="*/ 0 h 140"/>
                <a:gd name="T6" fmla="*/ 2147483646 w 57"/>
                <a:gd name="T7" fmla="*/ 2147483646 h 140"/>
                <a:gd name="T8" fmla="*/ 2147483646 w 57"/>
                <a:gd name="T9" fmla="*/ 2147483646 h 140"/>
                <a:gd name="T10" fmla="*/ 2147483646 w 57"/>
                <a:gd name="T11" fmla="*/ 2147483646 h 140"/>
                <a:gd name="T12" fmla="*/ 0 w 57"/>
                <a:gd name="T13" fmla="*/ 2147483646 h 1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 h="140">
                  <a:moveTo>
                    <a:pt x="0" y="7"/>
                  </a:moveTo>
                  <a:lnTo>
                    <a:pt x="0" y="7"/>
                  </a:lnTo>
                  <a:lnTo>
                    <a:pt x="39" y="0"/>
                  </a:lnTo>
                  <a:lnTo>
                    <a:pt x="57" y="137"/>
                  </a:lnTo>
                  <a:cubicBezTo>
                    <a:pt x="57" y="137"/>
                    <a:pt x="54" y="137"/>
                    <a:pt x="48" y="138"/>
                  </a:cubicBezTo>
                  <a:cubicBezTo>
                    <a:pt x="43" y="139"/>
                    <a:pt x="40" y="140"/>
                    <a:pt x="40" y="140"/>
                  </a:cubicBezTo>
                  <a:lnTo>
                    <a:pt x="0" y="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grpSp>
      <p:sp>
        <p:nvSpPr>
          <p:cNvPr id="39" name="矩形 38">
            <a:extLst>
              <a:ext uri="{FF2B5EF4-FFF2-40B4-BE49-F238E27FC236}">
                <a16:creationId xmlns:a16="http://schemas.microsoft.com/office/drawing/2014/main" id="{7D55F3D2-E76E-4BF0-9082-F6BF341ABDEE}"/>
              </a:ext>
            </a:extLst>
          </p:cNvPr>
          <p:cNvSpPr/>
          <p:nvPr/>
        </p:nvSpPr>
        <p:spPr bwMode="gray">
          <a:xfrm>
            <a:off x="6925345" y="4189543"/>
            <a:ext cx="1000222" cy="338554"/>
          </a:xfrm>
          <a:prstGeom prst="rect">
            <a:avLst/>
          </a:prstGeom>
          <a:noFill/>
        </p:spPr>
        <p:txBody>
          <a:bodyPr wrap="square" anchor="ctr">
            <a:spAutoFit/>
          </a:bodyPr>
          <a:lstStyle/>
          <a:p>
            <a:pPr lvl="0" algn="r" defTabSz="914400">
              <a:defRPr/>
            </a:pPr>
            <a:r>
              <a:rPr lang="zh-CN" altLang="en-US" sz="1600" b="1">
                <a:cs typeface="+mn-ea"/>
                <a:sym typeface="Huawei Sans" panose="020C0503030203020204" pitchFamily="34" charset="0"/>
              </a:rPr>
              <a:t>广域</a:t>
            </a:r>
            <a:r>
              <a:rPr lang="en-US" altLang="zh-CN" sz="1600" b="1">
                <a:cs typeface="+mn-ea"/>
                <a:sym typeface="Huawei Sans" panose="020C0503030203020204" pitchFamily="34" charset="0"/>
              </a:rPr>
              <a:t>IP</a:t>
            </a:r>
            <a:endParaRPr lang="en-US" altLang="zh-CN" sz="1600" b="1" dirty="0">
              <a:cs typeface="+mn-ea"/>
              <a:sym typeface="Huawei Sans" panose="020C0503030203020204" pitchFamily="34" charset="0"/>
            </a:endParaRPr>
          </a:p>
        </p:txBody>
      </p:sp>
      <p:sp>
        <p:nvSpPr>
          <p:cNvPr id="41" name="矩形 40">
            <a:extLst>
              <a:ext uri="{FF2B5EF4-FFF2-40B4-BE49-F238E27FC236}">
                <a16:creationId xmlns:a16="http://schemas.microsoft.com/office/drawing/2014/main" id="{0B51F27C-2BA6-4449-9CDB-BE6B7503BC0E}"/>
              </a:ext>
            </a:extLst>
          </p:cNvPr>
          <p:cNvSpPr/>
          <p:nvPr/>
        </p:nvSpPr>
        <p:spPr bwMode="gray">
          <a:xfrm>
            <a:off x="7989764" y="4159968"/>
            <a:ext cx="2132701" cy="338554"/>
          </a:xfrm>
          <a:prstGeom prst="rect">
            <a:avLst/>
          </a:prstGeom>
        </p:spPr>
        <p:txBody>
          <a:bodyPr wrap="square">
            <a:spAutoFit/>
          </a:bodyPr>
          <a:lstStyle/>
          <a:p>
            <a:pPr lvl="0" algn="ctr" defTabSz="914400">
              <a:defRPr/>
            </a:pPr>
            <a:r>
              <a:rPr lang="en-US" altLang="zh-CN" sz="1600" b="1" dirty="0" err="1">
                <a:cs typeface="+mn-ea"/>
                <a:sym typeface="Huawei Sans" panose="020C0503030203020204" pitchFamily="34" charset="0"/>
              </a:rPr>
              <a:t>iMaster</a:t>
            </a:r>
            <a:r>
              <a:rPr lang="en-US" altLang="zh-CN" sz="1600" b="1" dirty="0">
                <a:cs typeface="+mn-ea"/>
                <a:sym typeface="Huawei Sans" panose="020C0503030203020204" pitchFamily="34" charset="0"/>
              </a:rPr>
              <a:t> </a:t>
            </a:r>
            <a:r>
              <a:rPr lang="en-US" altLang="zh-CN" sz="1600" b="1">
                <a:cs typeface="+mn-ea"/>
                <a:sym typeface="Huawei Sans" panose="020C0503030203020204" pitchFamily="34" charset="0"/>
              </a:rPr>
              <a:t>NCE-IP</a:t>
            </a:r>
            <a:r>
              <a:rPr lang="en-US" altLang="zh-CN" sz="1600" b="1">
                <a:solidFill>
                  <a:srgbClr val="EC7061"/>
                </a:solidFill>
                <a:cs typeface="+mn-ea"/>
                <a:sym typeface="Huawei Sans" panose="020C0503030203020204" pitchFamily="34" charset="0"/>
              </a:rPr>
              <a:t> </a:t>
            </a:r>
            <a:endParaRPr lang="en-US" altLang="zh-CN" sz="1600" b="1" dirty="0">
              <a:solidFill>
                <a:srgbClr val="EC7061"/>
              </a:solidFill>
              <a:cs typeface="+mn-ea"/>
              <a:sym typeface="Huawei Sans" panose="020C0503030203020204" pitchFamily="34" charset="0"/>
            </a:endParaRPr>
          </a:p>
        </p:txBody>
      </p:sp>
      <p:grpSp>
        <p:nvGrpSpPr>
          <p:cNvPr id="90" name="组合 3">
            <a:extLst>
              <a:ext uri="{FF2B5EF4-FFF2-40B4-BE49-F238E27FC236}">
                <a16:creationId xmlns:a16="http://schemas.microsoft.com/office/drawing/2014/main" id="{BF89261B-7CB8-45EE-B2D4-6A42234DB9E8}"/>
              </a:ext>
            </a:extLst>
          </p:cNvPr>
          <p:cNvGrpSpPr>
            <a:grpSpLocks/>
          </p:cNvGrpSpPr>
          <p:nvPr/>
        </p:nvGrpSpPr>
        <p:grpSpPr bwMode="gray">
          <a:xfrm>
            <a:off x="6463436" y="4188544"/>
            <a:ext cx="373971" cy="354562"/>
            <a:chOff x="3668486" y="2384430"/>
            <a:chExt cx="430644" cy="439372"/>
          </a:xfrm>
          <a:solidFill>
            <a:srgbClr val="00B0F0"/>
          </a:solidFill>
        </p:grpSpPr>
        <p:sp>
          <p:nvSpPr>
            <p:cNvPr id="91" name="Freeform 764">
              <a:extLst>
                <a:ext uri="{FF2B5EF4-FFF2-40B4-BE49-F238E27FC236}">
                  <a16:creationId xmlns:a16="http://schemas.microsoft.com/office/drawing/2014/main" id="{2BD3FB4E-667B-45DD-898C-21976924390A}"/>
                </a:ext>
              </a:extLst>
            </p:cNvPr>
            <p:cNvSpPr>
              <a:spLocks/>
            </p:cNvSpPr>
            <p:nvPr/>
          </p:nvSpPr>
          <p:spPr bwMode="gray">
            <a:xfrm>
              <a:off x="3668486" y="2384430"/>
              <a:ext cx="430644" cy="427735"/>
            </a:xfrm>
            <a:custGeom>
              <a:avLst/>
              <a:gdLst>
                <a:gd name="T0" fmla="*/ 2147483646 w 1343"/>
                <a:gd name="T1" fmla="*/ 2147483646 h 1338"/>
                <a:gd name="T2" fmla="*/ 2147483646 w 1343"/>
                <a:gd name="T3" fmla="*/ 2147483646 h 1338"/>
                <a:gd name="T4" fmla="*/ 2147483646 w 1343"/>
                <a:gd name="T5" fmla="*/ 2147483646 h 1338"/>
                <a:gd name="T6" fmla="*/ 0 w 1343"/>
                <a:gd name="T7" fmla="*/ 2147483646 h 1338"/>
                <a:gd name="T8" fmla="*/ 2147483646 w 1343"/>
                <a:gd name="T9" fmla="*/ 0 h 1338"/>
                <a:gd name="T10" fmla="*/ 2147483646 w 1343"/>
                <a:gd name="T11" fmla="*/ 2147483646 h 1338"/>
                <a:gd name="T12" fmla="*/ 2147483646 w 1343"/>
                <a:gd name="T13" fmla="*/ 2147483646 h 1338"/>
                <a:gd name="T14" fmla="*/ 2147483646 w 1343"/>
                <a:gd name="T15" fmla="*/ 2147483646 h 1338"/>
                <a:gd name="T16" fmla="*/ 2147483646 w 1343"/>
                <a:gd name="T17" fmla="*/ 2147483646 h 1338"/>
                <a:gd name="T18" fmla="*/ 2147483646 w 1343"/>
                <a:gd name="T19" fmla="*/ 2147483646 h 1338"/>
                <a:gd name="T20" fmla="*/ 2147483646 w 1343"/>
                <a:gd name="T21" fmla="*/ 2147483646 h 1338"/>
                <a:gd name="T22" fmla="*/ 2147483646 w 1343"/>
                <a:gd name="T23" fmla="*/ 2147483646 h 1338"/>
                <a:gd name="T24" fmla="*/ 2147483646 w 1343"/>
                <a:gd name="T25" fmla="*/ 2147483646 h 1338"/>
                <a:gd name="T26" fmla="*/ 2147483646 w 1343"/>
                <a:gd name="T27" fmla="*/ 2147483646 h 1338"/>
                <a:gd name="T28" fmla="*/ 2147483646 w 1343"/>
                <a:gd name="T29" fmla="*/ 2147483646 h 13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43" h="1338">
                  <a:moveTo>
                    <a:pt x="576" y="1336"/>
                  </a:moveTo>
                  <a:lnTo>
                    <a:pt x="576" y="1336"/>
                  </a:lnTo>
                  <a:cubicBezTo>
                    <a:pt x="574" y="1336"/>
                    <a:pt x="573" y="1335"/>
                    <a:pt x="571" y="1335"/>
                  </a:cubicBezTo>
                  <a:cubicBezTo>
                    <a:pt x="246" y="1286"/>
                    <a:pt x="0" y="1001"/>
                    <a:pt x="0" y="671"/>
                  </a:cubicBezTo>
                  <a:cubicBezTo>
                    <a:pt x="0" y="301"/>
                    <a:pt x="301" y="0"/>
                    <a:pt x="672" y="0"/>
                  </a:cubicBezTo>
                  <a:cubicBezTo>
                    <a:pt x="1042" y="0"/>
                    <a:pt x="1343" y="301"/>
                    <a:pt x="1343" y="671"/>
                  </a:cubicBezTo>
                  <a:cubicBezTo>
                    <a:pt x="1343" y="1001"/>
                    <a:pt x="1098" y="1286"/>
                    <a:pt x="772" y="1335"/>
                  </a:cubicBezTo>
                  <a:cubicBezTo>
                    <a:pt x="754" y="1338"/>
                    <a:pt x="737" y="1325"/>
                    <a:pt x="734" y="1307"/>
                  </a:cubicBezTo>
                  <a:cubicBezTo>
                    <a:pt x="732" y="1289"/>
                    <a:pt x="744" y="1272"/>
                    <a:pt x="762" y="1269"/>
                  </a:cubicBezTo>
                  <a:cubicBezTo>
                    <a:pt x="1055" y="1225"/>
                    <a:pt x="1276" y="968"/>
                    <a:pt x="1276" y="671"/>
                  </a:cubicBezTo>
                  <a:cubicBezTo>
                    <a:pt x="1276" y="338"/>
                    <a:pt x="1005" y="67"/>
                    <a:pt x="672" y="67"/>
                  </a:cubicBezTo>
                  <a:cubicBezTo>
                    <a:pt x="338" y="67"/>
                    <a:pt x="67" y="338"/>
                    <a:pt x="67" y="671"/>
                  </a:cubicBezTo>
                  <a:cubicBezTo>
                    <a:pt x="67" y="968"/>
                    <a:pt x="288" y="1225"/>
                    <a:pt x="581" y="1269"/>
                  </a:cubicBezTo>
                  <a:cubicBezTo>
                    <a:pt x="599" y="1272"/>
                    <a:pt x="612" y="1289"/>
                    <a:pt x="609" y="1307"/>
                  </a:cubicBezTo>
                  <a:cubicBezTo>
                    <a:pt x="606" y="1324"/>
                    <a:pt x="592" y="1336"/>
                    <a:pt x="576" y="133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92" name="Freeform 765">
              <a:extLst>
                <a:ext uri="{FF2B5EF4-FFF2-40B4-BE49-F238E27FC236}">
                  <a16:creationId xmlns:a16="http://schemas.microsoft.com/office/drawing/2014/main" id="{8D06CD32-BCA9-44BE-9B94-990E7C33B93E}"/>
                </a:ext>
              </a:extLst>
            </p:cNvPr>
            <p:cNvSpPr>
              <a:spLocks/>
            </p:cNvSpPr>
            <p:nvPr/>
          </p:nvSpPr>
          <p:spPr bwMode="gray">
            <a:xfrm>
              <a:off x="3825612" y="2777246"/>
              <a:ext cx="43645" cy="46556"/>
            </a:xfrm>
            <a:custGeom>
              <a:avLst/>
              <a:gdLst>
                <a:gd name="T0" fmla="*/ 2147483646 w 138"/>
                <a:gd name="T1" fmla="*/ 2147483646 h 138"/>
                <a:gd name="T2" fmla="*/ 2147483646 w 138"/>
                <a:gd name="T3" fmla="*/ 2147483646 h 138"/>
                <a:gd name="T4" fmla="*/ 0 w 138"/>
                <a:gd name="T5" fmla="*/ 2147483646 h 138"/>
                <a:gd name="T6" fmla="*/ 2147483646 w 138"/>
                <a:gd name="T7" fmla="*/ 0 h 138"/>
                <a:gd name="T8" fmla="*/ 2147483646 w 138"/>
                <a:gd name="T9" fmla="*/ 2147483646 h 138"/>
                <a:gd name="T10" fmla="*/ 2147483646 w 138"/>
                <a:gd name="T11" fmla="*/ 2147483646 h 1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8">
                  <a:moveTo>
                    <a:pt x="69" y="138"/>
                  </a:moveTo>
                  <a:lnTo>
                    <a:pt x="69" y="138"/>
                  </a:lnTo>
                  <a:cubicBezTo>
                    <a:pt x="30" y="138"/>
                    <a:pt x="0" y="107"/>
                    <a:pt x="0" y="69"/>
                  </a:cubicBezTo>
                  <a:cubicBezTo>
                    <a:pt x="0" y="31"/>
                    <a:pt x="30" y="0"/>
                    <a:pt x="69" y="0"/>
                  </a:cubicBezTo>
                  <a:cubicBezTo>
                    <a:pt x="107" y="0"/>
                    <a:pt x="138" y="31"/>
                    <a:pt x="138" y="69"/>
                  </a:cubicBezTo>
                  <a:cubicBezTo>
                    <a:pt x="138" y="107"/>
                    <a:pt x="107" y="138"/>
                    <a:pt x="69" y="13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93" name="Freeform 766">
              <a:extLst>
                <a:ext uri="{FF2B5EF4-FFF2-40B4-BE49-F238E27FC236}">
                  <a16:creationId xmlns:a16="http://schemas.microsoft.com/office/drawing/2014/main" id="{1F6D6F5E-ED0D-4A5D-A2D2-33CB09C02799}"/>
                </a:ext>
              </a:extLst>
            </p:cNvPr>
            <p:cNvSpPr>
              <a:spLocks/>
            </p:cNvSpPr>
            <p:nvPr/>
          </p:nvSpPr>
          <p:spPr bwMode="gray">
            <a:xfrm>
              <a:off x="3898357" y="2777246"/>
              <a:ext cx="43645" cy="46556"/>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94" name="Freeform 767">
              <a:extLst>
                <a:ext uri="{FF2B5EF4-FFF2-40B4-BE49-F238E27FC236}">
                  <a16:creationId xmlns:a16="http://schemas.microsoft.com/office/drawing/2014/main" id="{D4E08FB4-86FA-45AD-87AF-658CF359AE3A}"/>
                </a:ext>
              </a:extLst>
            </p:cNvPr>
            <p:cNvSpPr>
              <a:spLocks/>
            </p:cNvSpPr>
            <p:nvPr/>
          </p:nvSpPr>
          <p:spPr bwMode="gray">
            <a:xfrm>
              <a:off x="3805245" y="2390249"/>
              <a:ext cx="180405" cy="395727"/>
            </a:xfrm>
            <a:custGeom>
              <a:avLst/>
              <a:gdLst>
                <a:gd name="T0" fmla="*/ 2147483646 w 572"/>
                <a:gd name="T1" fmla="*/ 2147483646 h 1242"/>
                <a:gd name="T2" fmla="*/ 2147483646 w 572"/>
                <a:gd name="T3" fmla="*/ 2147483646 h 1242"/>
                <a:gd name="T4" fmla="*/ 2147483646 w 572"/>
                <a:gd name="T5" fmla="*/ 2147483646 h 1242"/>
                <a:gd name="T6" fmla="*/ 2147483646 w 572"/>
                <a:gd name="T7" fmla="*/ 2147483646 h 1242"/>
                <a:gd name="T8" fmla="*/ 2147483646 w 572"/>
                <a:gd name="T9" fmla="*/ 2147483646 h 1242"/>
                <a:gd name="T10" fmla="*/ 2147483646 w 572"/>
                <a:gd name="T11" fmla="*/ 2147483646 h 1242"/>
                <a:gd name="T12" fmla="*/ 2147483646 w 572"/>
                <a:gd name="T13" fmla="*/ 2147483646 h 1242"/>
                <a:gd name="T14" fmla="*/ 2147483646 w 572"/>
                <a:gd name="T15" fmla="*/ 2147483646 h 1242"/>
                <a:gd name="T16" fmla="*/ 2147483646 w 572"/>
                <a:gd name="T17" fmla="*/ 2147483646 h 1242"/>
                <a:gd name="T18" fmla="*/ 2147483646 w 572"/>
                <a:gd name="T19" fmla="*/ 2147483646 h 1242"/>
                <a:gd name="T20" fmla="*/ 2147483646 w 572"/>
                <a:gd name="T21" fmla="*/ 2147483646 h 1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2" h="1242">
                  <a:moveTo>
                    <a:pt x="541" y="1242"/>
                  </a:moveTo>
                  <a:lnTo>
                    <a:pt x="541" y="1242"/>
                  </a:lnTo>
                  <a:cubicBezTo>
                    <a:pt x="537" y="1242"/>
                    <a:pt x="533" y="1241"/>
                    <a:pt x="529" y="1239"/>
                  </a:cubicBezTo>
                  <a:cubicBezTo>
                    <a:pt x="105" y="1016"/>
                    <a:pt x="10" y="695"/>
                    <a:pt x="5" y="466"/>
                  </a:cubicBezTo>
                  <a:cubicBezTo>
                    <a:pt x="0" y="218"/>
                    <a:pt x="94" y="27"/>
                    <a:pt x="98" y="19"/>
                  </a:cubicBezTo>
                  <a:cubicBezTo>
                    <a:pt x="104" y="6"/>
                    <a:pt x="120" y="0"/>
                    <a:pt x="134" y="7"/>
                  </a:cubicBezTo>
                  <a:cubicBezTo>
                    <a:pt x="147" y="13"/>
                    <a:pt x="152" y="29"/>
                    <a:pt x="146" y="42"/>
                  </a:cubicBezTo>
                  <a:cubicBezTo>
                    <a:pt x="145" y="44"/>
                    <a:pt x="53" y="232"/>
                    <a:pt x="59" y="467"/>
                  </a:cubicBezTo>
                  <a:cubicBezTo>
                    <a:pt x="66" y="778"/>
                    <a:pt x="232" y="1023"/>
                    <a:pt x="554" y="1192"/>
                  </a:cubicBezTo>
                  <a:cubicBezTo>
                    <a:pt x="567" y="1199"/>
                    <a:pt x="572" y="1215"/>
                    <a:pt x="565" y="1228"/>
                  </a:cubicBezTo>
                  <a:cubicBezTo>
                    <a:pt x="560" y="1237"/>
                    <a:pt x="551" y="1242"/>
                    <a:pt x="541" y="1242"/>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95" name="Freeform 768">
              <a:extLst>
                <a:ext uri="{FF2B5EF4-FFF2-40B4-BE49-F238E27FC236}">
                  <a16:creationId xmlns:a16="http://schemas.microsoft.com/office/drawing/2014/main" id="{517C9A7B-6DB9-4173-837A-3A8613127560}"/>
                </a:ext>
              </a:extLst>
            </p:cNvPr>
            <p:cNvSpPr>
              <a:spLocks/>
            </p:cNvSpPr>
            <p:nvPr/>
          </p:nvSpPr>
          <p:spPr bwMode="gray">
            <a:xfrm>
              <a:off x="3741230" y="2428075"/>
              <a:ext cx="337532" cy="261878"/>
            </a:xfrm>
            <a:custGeom>
              <a:avLst/>
              <a:gdLst>
                <a:gd name="T0" fmla="*/ 2147483646 w 1060"/>
                <a:gd name="T1" fmla="*/ 2147483646 h 821"/>
                <a:gd name="T2" fmla="*/ 2147483646 w 1060"/>
                <a:gd name="T3" fmla="*/ 2147483646 h 821"/>
                <a:gd name="T4" fmla="*/ 2147483646 w 1060"/>
                <a:gd name="T5" fmla="*/ 2147483646 h 821"/>
                <a:gd name="T6" fmla="*/ 2147483646 w 1060"/>
                <a:gd name="T7" fmla="*/ 2147483646 h 821"/>
                <a:gd name="T8" fmla="*/ 2147483646 w 1060"/>
                <a:gd name="T9" fmla="*/ 2147483646 h 821"/>
                <a:gd name="T10" fmla="*/ 2147483646 w 1060"/>
                <a:gd name="T11" fmla="*/ 2147483646 h 821"/>
                <a:gd name="T12" fmla="*/ 2147483646 w 1060"/>
                <a:gd name="T13" fmla="*/ 2147483646 h 821"/>
                <a:gd name="T14" fmla="*/ 2147483646 w 1060"/>
                <a:gd name="T15" fmla="*/ 2147483646 h 821"/>
                <a:gd name="T16" fmla="*/ 2147483646 w 1060"/>
                <a:gd name="T17" fmla="*/ 2147483646 h 821"/>
                <a:gd name="T18" fmla="*/ 2147483646 w 1060"/>
                <a:gd name="T19" fmla="*/ 2147483646 h 821"/>
                <a:gd name="T20" fmla="*/ 2147483646 w 1060"/>
                <a:gd name="T21" fmla="*/ 2147483646 h 8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60" h="821">
                  <a:moveTo>
                    <a:pt x="1031" y="821"/>
                  </a:moveTo>
                  <a:lnTo>
                    <a:pt x="1031" y="821"/>
                  </a:lnTo>
                  <a:cubicBezTo>
                    <a:pt x="1018" y="821"/>
                    <a:pt x="1007" y="812"/>
                    <a:pt x="1004" y="799"/>
                  </a:cubicBezTo>
                  <a:cubicBezTo>
                    <a:pt x="938" y="464"/>
                    <a:pt x="768" y="241"/>
                    <a:pt x="500" y="136"/>
                  </a:cubicBezTo>
                  <a:cubicBezTo>
                    <a:pt x="291" y="54"/>
                    <a:pt x="89" y="72"/>
                    <a:pt x="32" y="79"/>
                  </a:cubicBezTo>
                  <a:cubicBezTo>
                    <a:pt x="17" y="81"/>
                    <a:pt x="4" y="71"/>
                    <a:pt x="2" y="56"/>
                  </a:cubicBezTo>
                  <a:cubicBezTo>
                    <a:pt x="0" y="41"/>
                    <a:pt x="10" y="28"/>
                    <a:pt x="25" y="26"/>
                  </a:cubicBezTo>
                  <a:cubicBezTo>
                    <a:pt x="85" y="18"/>
                    <a:pt x="299" y="0"/>
                    <a:pt x="520" y="87"/>
                  </a:cubicBezTo>
                  <a:cubicBezTo>
                    <a:pt x="806" y="199"/>
                    <a:pt x="986" y="435"/>
                    <a:pt x="1057" y="789"/>
                  </a:cubicBezTo>
                  <a:cubicBezTo>
                    <a:pt x="1060" y="803"/>
                    <a:pt x="1050" y="817"/>
                    <a:pt x="1036" y="820"/>
                  </a:cubicBezTo>
                  <a:cubicBezTo>
                    <a:pt x="1034" y="820"/>
                    <a:pt x="1032" y="821"/>
                    <a:pt x="1031" y="82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96" name="Freeform 769">
              <a:extLst>
                <a:ext uri="{FF2B5EF4-FFF2-40B4-BE49-F238E27FC236}">
                  <a16:creationId xmlns:a16="http://schemas.microsoft.com/office/drawing/2014/main" id="{8507B847-9620-4830-A0D3-7A4AE0AD4E58}"/>
                </a:ext>
              </a:extLst>
            </p:cNvPr>
            <p:cNvSpPr>
              <a:spLocks/>
            </p:cNvSpPr>
            <p:nvPr/>
          </p:nvSpPr>
          <p:spPr bwMode="gray">
            <a:xfrm>
              <a:off x="3674305" y="2561924"/>
              <a:ext cx="421914" cy="128029"/>
            </a:xfrm>
            <a:custGeom>
              <a:avLst/>
              <a:gdLst>
                <a:gd name="T0" fmla="*/ 2147483646 w 1321"/>
                <a:gd name="T1" fmla="*/ 2147483646 h 397"/>
                <a:gd name="T2" fmla="*/ 2147483646 w 1321"/>
                <a:gd name="T3" fmla="*/ 2147483646 h 397"/>
                <a:gd name="T4" fmla="*/ 2147483646 w 1321"/>
                <a:gd name="T5" fmla="*/ 2147483646 h 397"/>
                <a:gd name="T6" fmla="*/ 2147483646 w 1321"/>
                <a:gd name="T7" fmla="*/ 2147483646 h 397"/>
                <a:gd name="T8" fmla="*/ 2147483646 w 1321"/>
                <a:gd name="T9" fmla="*/ 2147483646 h 397"/>
                <a:gd name="T10" fmla="*/ 2147483646 w 1321"/>
                <a:gd name="T11" fmla="*/ 2147483646 h 397"/>
                <a:gd name="T12" fmla="*/ 2147483646 w 1321"/>
                <a:gd name="T13" fmla="*/ 2147483646 h 397"/>
                <a:gd name="T14" fmla="*/ 2147483646 w 1321"/>
                <a:gd name="T15" fmla="*/ 2147483646 h 397"/>
                <a:gd name="T16" fmla="*/ 2147483646 w 1321"/>
                <a:gd name="T17" fmla="*/ 2147483646 h 397"/>
                <a:gd name="T18" fmla="*/ 2147483646 w 1321"/>
                <a:gd name="T19" fmla="*/ 2147483646 h 397"/>
                <a:gd name="T20" fmla="*/ 2147483646 w 1321"/>
                <a:gd name="T21" fmla="*/ 2147483646 h 397"/>
                <a:gd name="T22" fmla="*/ 2147483646 w 1321"/>
                <a:gd name="T23" fmla="*/ 2147483646 h 3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21" h="397">
                  <a:moveTo>
                    <a:pt x="613" y="397"/>
                  </a:moveTo>
                  <a:lnTo>
                    <a:pt x="613" y="397"/>
                  </a:lnTo>
                  <a:cubicBezTo>
                    <a:pt x="261" y="397"/>
                    <a:pt x="20" y="154"/>
                    <a:pt x="10" y="143"/>
                  </a:cubicBezTo>
                  <a:cubicBezTo>
                    <a:pt x="0" y="133"/>
                    <a:pt x="0" y="116"/>
                    <a:pt x="10" y="106"/>
                  </a:cubicBezTo>
                  <a:cubicBezTo>
                    <a:pt x="21" y="95"/>
                    <a:pt x="38" y="96"/>
                    <a:pt x="48" y="106"/>
                  </a:cubicBezTo>
                  <a:cubicBezTo>
                    <a:pt x="50" y="109"/>
                    <a:pt x="284" y="344"/>
                    <a:pt x="613" y="344"/>
                  </a:cubicBezTo>
                  <a:cubicBezTo>
                    <a:pt x="615" y="344"/>
                    <a:pt x="617" y="344"/>
                    <a:pt x="619" y="344"/>
                  </a:cubicBezTo>
                  <a:cubicBezTo>
                    <a:pt x="846" y="342"/>
                    <a:pt x="1066" y="230"/>
                    <a:pt x="1272" y="11"/>
                  </a:cubicBezTo>
                  <a:cubicBezTo>
                    <a:pt x="1282" y="0"/>
                    <a:pt x="1299" y="0"/>
                    <a:pt x="1310" y="10"/>
                  </a:cubicBezTo>
                  <a:cubicBezTo>
                    <a:pt x="1321" y="20"/>
                    <a:pt x="1321" y="37"/>
                    <a:pt x="1311" y="47"/>
                  </a:cubicBezTo>
                  <a:cubicBezTo>
                    <a:pt x="1094" y="278"/>
                    <a:pt x="861" y="395"/>
                    <a:pt x="619" y="397"/>
                  </a:cubicBezTo>
                  <a:cubicBezTo>
                    <a:pt x="617" y="397"/>
                    <a:pt x="615" y="397"/>
                    <a:pt x="613" y="397"/>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97" name="Freeform 770">
              <a:extLst>
                <a:ext uri="{FF2B5EF4-FFF2-40B4-BE49-F238E27FC236}">
                  <a16:creationId xmlns:a16="http://schemas.microsoft.com/office/drawing/2014/main" id="{2EF3A0BA-F751-4DF0-BDCE-762FACFACC52}"/>
                </a:ext>
              </a:extLst>
            </p:cNvPr>
            <p:cNvSpPr>
              <a:spLocks/>
            </p:cNvSpPr>
            <p:nvPr/>
          </p:nvSpPr>
          <p:spPr bwMode="gray">
            <a:xfrm>
              <a:off x="3747050" y="2425166"/>
              <a:ext cx="267698" cy="343351"/>
            </a:xfrm>
            <a:custGeom>
              <a:avLst/>
              <a:gdLst>
                <a:gd name="T0" fmla="*/ 2147483646 w 832"/>
                <a:gd name="T1" fmla="*/ 2147483646 h 1073"/>
                <a:gd name="T2" fmla="*/ 2147483646 w 832"/>
                <a:gd name="T3" fmla="*/ 2147483646 h 1073"/>
                <a:gd name="T4" fmla="*/ 2147483646 w 832"/>
                <a:gd name="T5" fmla="*/ 2147483646 h 1073"/>
                <a:gd name="T6" fmla="*/ 2147483646 w 832"/>
                <a:gd name="T7" fmla="*/ 2147483646 h 1073"/>
                <a:gd name="T8" fmla="*/ 2147483646 w 832"/>
                <a:gd name="T9" fmla="*/ 2147483646 h 1073"/>
                <a:gd name="T10" fmla="*/ 2147483646 w 832"/>
                <a:gd name="T11" fmla="*/ 2147483646 h 1073"/>
                <a:gd name="T12" fmla="*/ 2147483646 w 832"/>
                <a:gd name="T13" fmla="*/ 2147483646 h 1073"/>
                <a:gd name="T14" fmla="*/ 2147483646 w 832"/>
                <a:gd name="T15" fmla="*/ 2147483646 h 1073"/>
                <a:gd name="T16" fmla="*/ 2147483646 w 832"/>
                <a:gd name="T17" fmla="*/ 2147483646 h 1073"/>
                <a:gd name="T18" fmla="*/ 2147483646 w 832"/>
                <a:gd name="T19" fmla="*/ 2147483646 h 1073"/>
                <a:gd name="T20" fmla="*/ 2147483646 w 832"/>
                <a:gd name="T21" fmla="*/ 2147483646 h 10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32" h="1073">
                  <a:moveTo>
                    <a:pt x="63" y="1073"/>
                  </a:moveTo>
                  <a:lnTo>
                    <a:pt x="63" y="1073"/>
                  </a:lnTo>
                  <a:cubicBezTo>
                    <a:pt x="51" y="1073"/>
                    <a:pt x="39" y="1064"/>
                    <a:pt x="37" y="1051"/>
                  </a:cubicBezTo>
                  <a:cubicBezTo>
                    <a:pt x="36" y="1042"/>
                    <a:pt x="0" y="832"/>
                    <a:pt x="75" y="596"/>
                  </a:cubicBezTo>
                  <a:cubicBezTo>
                    <a:pt x="145" y="377"/>
                    <a:pt x="327" y="97"/>
                    <a:pt x="797" y="3"/>
                  </a:cubicBezTo>
                  <a:cubicBezTo>
                    <a:pt x="812" y="0"/>
                    <a:pt x="826" y="10"/>
                    <a:pt x="829" y="24"/>
                  </a:cubicBezTo>
                  <a:cubicBezTo>
                    <a:pt x="832" y="39"/>
                    <a:pt x="822" y="53"/>
                    <a:pt x="808" y="56"/>
                  </a:cubicBezTo>
                  <a:cubicBezTo>
                    <a:pt x="451" y="127"/>
                    <a:pt x="221" y="314"/>
                    <a:pt x="126" y="612"/>
                  </a:cubicBezTo>
                  <a:cubicBezTo>
                    <a:pt x="55" y="836"/>
                    <a:pt x="89" y="1040"/>
                    <a:pt x="90" y="1042"/>
                  </a:cubicBezTo>
                  <a:cubicBezTo>
                    <a:pt x="92" y="1056"/>
                    <a:pt x="83" y="1070"/>
                    <a:pt x="68" y="1073"/>
                  </a:cubicBezTo>
                  <a:cubicBezTo>
                    <a:pt x="67" y="1073"/>
                    <a:pt x="65" y="1073"/>
                    <a:pt x="63" y="1073"/>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98" name="Freeform 771">
              <a:extLst>
                <a:ext uri="{FF2B5EF4-FFF2-40B4-BE49-F238E27FC236}">
                  <a16:creationId xmlns:a16="http://schemas.microsoft.com/office/drawing/2014/main" id="{F83F32A3-500C-4314-8189-D428EBC5E9BB}"/>
                </a:ext>
              </a:extLst>
            </p:cNvPr>
            <p:cNvSpPr>
              <a:spLocks/>
            </p:cNvSpPr>
            <p:nvPr/>
          </p:nvSpPr>
          <p:spPr bwMode="gray">
            <a:xfrm>
              <a:off x="3840162" y="2657947"/>
              <a:ext cx="40737" cy="4364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0"/>
                    <a:pt x="0" y="65"/>
                  </a:cubicBezTo>
                  <a:cubicBezTo>
                    <a:pt x="0" y="29"/>
                    <a:pt x="29" y="0"/>
                    <a:pt x="65" y="0"/>
                  </a:cubicBezTo>
                  <a:cubicBezTo>
                    <a:pt x="100" y="0"/>
                    <a:pt x="130" y="29"/>
                    <a:pt x="130" y="65"/>
                  </a:cubicBezTo>
                  <a:cubicBezTo>
                    <a:pt x="130" y="100"/>
                    <a:pt x="100"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99" name="Freeform 772">
              <a:extLst>
                <a:ext uri="{FF2B5EF4-FFF2-40B4-BE49-F238E27FC236}">
                  <a16:creationId xmlns:a16="http://schemas.microsoft.com/office/drawing/2014/main" id="{6005C602-0A4A-42E8-8822-989A436D6E0F}"/>
                </a:ext>
              </a:extLst>
            </p:cNvPr>
            <p:cNvSpPr>
              <a:spLocks/>
            </p:cNvSpPr>
            <p:nvPr/>
          </p:nvSpPr>
          <p:spPr bwMode="gray">
            <a:xfrm>
              <a:off x="4026386" y="2585202"/>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8" y="130"/>
                    <a:pt x="0" y="101"/>
                    <a:pt x="0" y="65"/>
                  </a:cubicBezTo>
                  <a:cubicBezTo>
                    <a:pt x="0" y="29"/>
                    <a:pt x="28" y="0"/>
                    <a:pt x="65" y="0"/>
                  </a:cubicBezTo>
                  <a:cubicBezTo>
                    <a:pt x="100" y="0"/>
                    <a:pt x="130" y="29"/>
                    <a:pt x="130" y="65"/>
                  </a:cubicBezTo>
                  <a:cubicBezTo>
                    <a:pt x="130" y="101"/>
                    <a:pt x="100"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100" name="Freeform 773">
              <a:extLst>
                <a:ext uri="{FF2B5EF4-FFF2-40B4-BE49-F238E27FC236}">
                  <a16:creationId xmlns:a16="http://schemas.microsoft.com/office/drawing/2014/main" id="{5DC32D33-64E0-49B6-8BEB-4AB7363C4E62}"/>
                </a:ext>
              </a:extLst>
            </p:cNvPr>
            <p:cNvSpPr>
              <a:spLocks/>
            </p:cNvSpPr>
            <p:nvPr/>
          </p:nvSpPr>
          <p:spPr bwMode="gray">
            <a:xfrm>
              <a:off x="3889627" y="2445534"/>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1"/>
                    <a:pt x="0" y="65"/>
                  </a:cubicBezTo>
                  <a:cubicBezTo>
                    <a:pt x="0" y="29"/>
                    <a:pt x="29" y="0"/>
                    <a:pt x="65" y="0"/>
                  </a:cubicBezTo>
                  <a:cubicBezTo>
                    <a:pt x="101" y="0"/>
                    <a:pt x="130" y="29"/>
                    <a:pt x="130" y="65"/>
                  </a:cubicBezTo>
                  <a:cubicBezTo>
                    <a:pt x="130" y="101"/>
                    <a:pt x="101"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101" name="Freeform 774">
              <a:extLst>
                <a:ext uri="{FF2B5EF4-FFF2-40B4-BE49-F238E27FC236}">
                  <a16:creationId xmlns:a16="http://schemas.microsoft.com/office/drawing/2014/main" id="{58350486-5193-43C3-93EF-3D4EBF5EDA4D}"/>
                </a:ext>
              </a:extLst>
            </p:cNvPr>
            <p:cNvSpPr>
              <a:spLocks/>
            </p:cNvSpPr>
            <p:nvPr/>
          </p:nvSpPr>
          <p:spPr bwMode="gray">
            <a:xfrm>
              <a:off x="3805245" y="2425166"/>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1"/>
                    <a:pt x="0" y="65"/>
                  </a:cubicBezTo>
                  <a:cubicBezTo>
                    <a:pt x="0" y="29"/>
                    <a:pt x="29" y="0"/>
                    <a:pt x="65" y="0"/>
                  </a:cubicBezTo>
                  <a:cubicBezTo>
                    <a:pt x="101" y="0"/>
                    <a:pt x="130" y="29"/>
                    <a:pt x="130" y="65"/>
                  </a:cubicBezTo>
                  <a:cubicBezTo>
                    <a:pt x="130" y="101"/>
                    <a:pt x="101"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102" name="Freeform 775">
              <a:extLst>
                <a:ext uri="{FF2B5EF4-FFF2-40B4-BE49-F238E27FC236}">
                  <a16:creationId xmlns:a16="http://schemas.microsoft.com/office/drawing/2014/main" id="{563E25C0-6B6A-4291-89EC-38B750C1A703}"/>
                </a:ext>
              </a:extLst>
            </p:cNvPr>
            <p:cNvSpPr>
              <a:spLocks/>
            </p:cNvSpPr>
            <p:nvPr/>
          </p:nvSpPr>
          <p:spPr bwMode="gray">
            <a:xfrm>
              <a:off x="3793606" y="2527007"/>
              <a:ext cx="40737" cy="4364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1"/>
                    <a:pt x="0" y="65"/>
                  </a:cubicBezTo>
                  <a:cubicBezTo>
                    <a:pt x="0" y="30"/>
                    <a:pt x="29" y="0"/>
                    <a:pt x="65" y="0"/>
                  </a:cubicBezTo>
                  <a:cubicBezTo>
                    <a:pt x="100" y="0"/>
                    <a:pt x="130" y="30"/>
                    <a:pt x="130" y="65"/>
                  </a:cubicBezTo>
                  <a:cubicBezTo>
                    <a:pt x="130" y="101"/>
                    <a:pt x="100"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sp>
          <p:nvSpPr>
            <p:cNvPr id="103" name="Freeform 776">
              <a:extLst>
                <a:ext uri="{FF2B5EF4-FFF2-40B4-BE49-F238E27FC236}">
                  <a16:creationId xmlns:a16="http://schemas.microsoft.com/office/drawing/2014/main" id="{E05B8343-F1D5-4DE3-A2E5-5CC56EDAF32D}"/>
                </a:ext>
              </a:extLst>
            </p:cNvPr>
            <p:cNvSpPr>
              <a:spLocks/>
            </p:cNvSpPr>
            <p:nvPr/>
          </p:nvSpPr>
          <p:spPr bwMode="gray">
            <a:xfrm>
              <a:off x="3749959" y="2637577"/>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0"/>
                    <a:pt x="0" y="65"/>
                  </a:cubicBezTo>
                  <a:cubicBezTo>
                    <a:pt x="0" y="29"/>
                    <a:pt x="29" y="0"/>
                    <a:pt x="65" y="0"/>
                  </a:cubicBezTo>
                  <a:cubicBezTo>
                    <a:pt x="101" y="0"/>
                    <a:pt x="130" y="29"/>
                    <a:pt x="130" y="65"/>
                  </a:cubicBezTo>
                  <a:cubicBezTo>
                    <a:pt x="130" y="100"/>
                    <a:pt x="101"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sym typeface="Huawei Sans" panose="020C0503030203020204" pitchFamily="34" charset="0"/>
              </a:endParaRPr>
            </a:p>
          </p:txBody>
        </p:sp>
      </p:grpSp>
    </p:spTree>
    <p:extLst>
      <p:ext uri="{BB962C8B-B14F-4D97-AF65-F5344CB8AC3E}">
        <p14:creationId xmlns:p14="http://schemas.microsoft.com/office/powerpoint/2010/main" val="3243272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SDN</a:t>
            </a:r>
            <a:r>
              <a:rPr lang="zh-CN" altLang="en-US" dirty="0">
                <a:solidFill>
                  <a:schemeClr val="bg1">
                    <a:lumMod val="50000"/>
                  </a:schemeClr>
                </a:solidFill>
              </a:rPr>
              <a:t>概述</a:t>
            </a:r>
          </a:p>
          <a:p>
            <a:r>
              <a:rPr lang="en-US" altLang="zh-CN" b="1" dirty="0">
                <a:sym typeface="Huawei Sans" panose="020C0503030203020204" pitchFamily="34" charset="0"/>
              </a:rPr>
              <a:t>REST</a:t>
            </a:r>
            <a:r>
              <a:rPr lang="zh-CN" altLang="en-US" b="1" dirty="0">
                <a:sym typeface="Huawei Sans" panose="020C0503030203020204" pitchFamily="34" charset="0"/>
              </a:rPr>
              <a:t>和</a:t>
            </a:r>
            <a:r>
              <a:rPr lang="en-US" altLang="zh-CN" b="1" dirty="0">
                <a:sym typeface="Huawei Sans" panose="020C0503030203020204" pitchFamily="34" charset="0"/>
              </a:rPr>
              <a:t>RESTful</a:t>
            </a:r>
          </a:p>
          <a:p>
            <a:pPr lvl="1">
              <a:buSzPct val="60000"/>
              <a:buFont typeface="Wingdings" panose="05000000000000000000" pitchFamily="2" charset="2"/>
              <a:buChar char="n"/>
            </a:pPr>
            <a:r>
              <a:rPr lang="en-US" altLang="zh-CN" dirty="0">
                <a:sym typeface="Huawei Sans" panose="020C0503030203020204" pitchFamily="34" charset="0"/>
              </a:rPr>
              <a:t>REST</a:t>
            </a:r>
            <a:r>
              <a:rPr lang="zh-CN" altLang="en-US" dirty="0">
                <a:sym typeface="Huawei Sans" panose="020C0503030203020204" pitchFamily="34" charset="0"/>
              </a:rPr>
              <a:t>背景</a:t>
            </a:r>
          </a:p>
          <a:p>
            <a:pPr lvl="1"/>
            <a:r>
              <a:rPr lang="en-US" altLang="zh-CN" dirty="0">
                <a:solidFill>
                  <a:schemeClr val="bg1">
                    <a:lumMod val="50000"/>
                  </a:schemeClr>
                </a:solidFill>
                <a:sym typeface="Huawei Sans" panose="020C0503030203020204" pitchFamily="34" charset="0"/>
              </a:rPr>
              <a:t>REST</a:t>
            </a:r>
            <a:r>
              <a:rPr lang="zh-CN" altLang="en-US" dirty="0">
                <a:solidFill>
                  <a:schemeClr val="bg1">
                    <a:lumMod val="50000"/>
                  </a:schemeClr>
                </a:solidFill>
                <a:sym typeface="Huawei Sans" panose="020C0503030203020204" pitchFamily="34" charset="0"/>
              </a:rPr>
              <a:t>简介</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HTTP</a:t>
            </a:r>
            <a:r>
              <a:rPr lang="zh-CN" altLang="en-US" dirty="0">
                <a:solidFill>
                  <a:schemeClr val="bg1">
                    <a:lumMod val="50000"/>
                  </a:schemeClr>
                </a:solidFill>
                <a:sym typeface="Huawei Sans" panose="020C0503030203020204" pitchFamily="34" charset="0"/>
              </a:rPr>
              <a:t>工作原理</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RESTful</a:t>
            </a:r>
            <a:r>
              <a:rPr lang="zh-CN" altLang="en-US" dirty="0">
                <a:solidFill>
                  <a:schemeClr val="bg1">
                    <a:lumMod val="50000"/>
                  </a:schemeClr>
                </a:solidFill>
                <a:sym typeface="Huawei Sans" panose="020C0503030203020204" pitchFamily="34" charset="0"/>
              </a:rPr>
              <a:t>接口调用实践</a:t>
            </a:r>
            <a:endParaRPr lang="en-US" altLang="zh-CN" dirty="0">
              <a:solidFill>
                <a:schemeClr val="bg1">
                  <a:lumMod val="50000"/>
                </a:schemeClr>
              </a:solidFill>
              <a:sym typeface="Huawei Sans" panose="020C0503030203020204" pitchFamily="34" charset="0"/>
            </a:endParaRPr>
          </a:p>
          <a:p>
            <a:endParaRPr lang="zh-CN" altLang="en-US" dirty="0"/>
          </a:p>
        </p:txBody>
      </p:sp>
    </p:spTree>
    <p:extLst>
      <p:ext uri="{BB962C8B-B14F-4D97-AF65-F5344CB8AC3E}">
        <p14:creationId xmlns:p14="http://schemas.microsoft.com/office/powerpoint/2010/main" val="3127483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南北向基本概念</a:t>
            </a:r>
            <a:endParaRPr lang="zh-CN" altLang="en-US">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dirty="0"/>
              <a:t>南北向是一个相对概念，一般上层系统提供给下层系统的接口称为南向接口，下层系统提供给上层系统的称为北向接口。</a:t>
            </a:r>
            <a:endParaRPr lang="en-US" altLang="zh-CN" sz="1800" dirty="0"/>
          </a:p>
          <a:p>
            <a:r>
              <a:rPr lang="zh-CN" altLang="en-US" sz="1800" dirty="0"/>
              <a:t>接口提供交互的功能，实现数据传输。比如人通过眼观色，通过耳听声，通过口发音，这些器官都可以理解为人和外界交互的接口。</a:t>
            </a:r>
            <a:endParaRPr lang="en-US" altLang="zh-CN" sz="1800" dirty="0"/>
          </a:p>
          <a:p>
            <a:endParaRPr lang="zh-CN" altLang="en-US" sz="1800" dirty="0">
              <a:sym typeface="Huawei Sans" panose="020C0503030203020204" pitchFamily="34" charset="0"/>
            </a:endParaRPr>
          </a:p>
        </p:txBody>
      </p:sp>
      <p:sp>
        <p:nvSpPr>
          <p:cNvPr id="51" name="文本框 50">
            <a:extLst>
              <a:ext uri="{FF2B5EF4-FFF2-40B4-BE49-F238E27FC236}">
                <a16:creationId xmlns:a16="http://schemas.microsoft.com/office/drawing/2014/main" id="{A2B031B8-3F29-44CE-BA61-7566F55D869A}"/>
              </a:ext>
            </a:extLst>
          </p:cNvPr>
          <p:cNvSpPr txBox="1"/>
          <p:nvPr/>
        </p:nvSpPr>
        <p:spPr bwMode="gray">
          <a:xfrm>
            <a:off x="6157306" y="4328284"/>
            <a:ext cx="1318080" cy="307777"/>
          </a:xfrm>
          <a:prstGeom prst="rect">
            <a:avLst/>
          </a:prstGeom>
          <a:solidFill>
            <a:srgbClr val="FFFFFF"/>
          </a:solidFill>
        </p:spPr>
        <p:txBody>
          <a:bodyPr wrap="square" rtlCol="0">
            <a:spAutoFit/>
          </a:bodyPr>
          <a:lstStyle/>
          <a:p>
            <a:r>
              <a:rPr lang="zh-CN" altLang="en-US" sz="1400" b="1"/>
              <a:t>南向接口</a:t>
            </a:r>
          </a:p>
        </p:txBody>
      </p:sp>
      <p:pic>
        <p:nvPicPr>
          <p:cNvPr id="28" name="图片 27">
            <a:extLst>
              <a:ext uri="{FF2B5EF4-FFF2-40B4-BE49-F238E27FC236}">
                <a16:creationId xmlns:a16="http://schemas.microsoft.com/office/drawing/2014/main" id="{3B8CDDA5-63DF-4EE7-B505-8033BAF90E8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392282" y="3866156"/>
            <a:ext cx="667337" cy="556283"/>
          </a:xfrm>
          <a:prstGeom prst="rect">
            <a:avLst/>
          </a:prstGeom>
        </p:spPr>
      </p:pic>
      <p:grpSp>
        <p:nvGrpSpPr>
          <p:cNvPr id="29" name="组合 28">
            <a:extLst>
              <a:ext uri="{FF2B5EF4-FFF2-40B4-BE49-F238E27FC236}">
                <a16:creationId xmlns:a16="http://schemas.microsoft.com/office/drawing/2014/main" id="{F0136E46-F74B-45B7-B481-CA82C6241038}"/>
              </a:ext>
            </a:extLst>
          </p:cNvPr>
          <p:cNvGrpSpPr/>
          <p:nvPr/>
        </p:nvGrpSpPr>
        <p:grpSpPr bwMode="gray">
          <a:xfrm>
            <a:off x="4145135" y="5294310"/>
            <a:ext cx="3198130" cy="524008"/>
            <a:chOff x="3980731" y="5049776"/>
            <a:chExt cx="2907278" cy="452960"/>
          </a:xfrm>
        </p:grpSpPr>
        <p:pic>
          <p:nvPicPr>
            <p:cNvPr id="31" name="图片 30">
              <a:extLst>
                <a:ext uri="{FF2B5EF4-FFF2-40B4-BE49-F238E27FC236}">
                  <a16:creationId xmlns:a16="http://schemas.microsoft.com/office/drawing/2014/main" id="{A8222618-EF15-4BC6-BCEF-EB3D0E022919}"/>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980731" y="5059936"/>
              <a:ext cx="540000" cy="442800"/>
            </a:xfrm>
            <a:prstGeom prst="rect">
              <a:avLst/>
            </a:prstGeom>
          </p:spPr>
        </p:pic>
        <p:pic>
          <p:nvPicPr>
            <p:cNvPr id="32" name="图片 31">
              <a:extLst>
                <a:ext uri="{FF2B5EF4-FFF2-40B4-BE49-F238E27FC236}">
                  <a16:creationId xmlns:a16="http://schemas.microsoft.com/office/drawing/2014/main" id="{5265D75E-B25C-4E5E-B104-CBF5EE50B245}"/>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151671" y="5059936"/>
              <a:ext cx="540000" cy="442800"/>
            </a:xfrm>
            <a:prstGeom prst="rect">
              <a:avLst/>
            </a:prstGeom>
          </p:spPr>
        </p:pic>
        <p:pic>
          <p:nvPicPr>
            <p:cNvPr id="33" name="图片 32">
              <a:extLst>
                <a:ext uri="{FF2B5EF4-FFF2-40B4-BE49-F238E27FC236}">
                  <a16:creationId xmlns:a16="http://schemas.microsoft.com/office/drawing/2014/main" id="{C0F9AAD6-31A1-4162-9492-764C37D5202C}"/>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348010" y="5049776"/>
              <a:ext cx="539999" cy="442800"/>
            </a:xfrm>
            <a:prstGeom prst="rect">
              <a:avLst/>
            </a:prstGeom>
          </p:spPr>
        </p:pic>
      </p:grpSp>
      <p:cxnSp>
        <p:nvCxnSpPr>
          <p:cNvPr id="38" name="直接连接符 37">
            <a:extLst>
              <a:ext uri="{FF2B5EF4-FFF2-40B4-BE49-F238E27FC236}">
                <a16:creationId xmlns:a16="http://schemas.microsoft.com/office/drawing/2014/main" id="{C85769E7-84A8-4D43-B3B9-2B451054F50C}"/>
              </a:ext>
            </a:extLst>
          </p:cNvPr>
          <p:cNvCxnSpPr>
            <a:cxnSpLocks/>
            <a:stCxn id="31" idx="0"/>
          </p:cNvCxnSpPr>
          <p:nvPr/>
        </p:nvCxnSpPr>
        <p:spPr bwMode="gray">
          <a:xfrm flipV="1">
            <a:off x="4442147" y="4422440"/>
            <a:ext cx="1089607" cy="883624"/>
          </a:xfrm>
          <a:prstGeom prst="line">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C63411E7-11CE-4D12-8FD3-586A43CF8D7C}"/>
              </a:ext>
            </a:extLst>
          </p:cNvPr>
          <p:cNvCxnSpPr>
            <a:cxnSpLocks/>
            <a:stCxn id="28" idx="0"/>
            <a:endCxn id="20" idx="2"/>
          </p:cNvCxnSpPr>
          <p:nvPr/>
        </p:nvCxnSpPr>
        <p:spPr bwMode="gray">
          <a:xfrm flipH="1" flipV="1">
            <a:off x="5719225" y="3205248"/>
            <a:ext cx="6726" cy="660908"/>
          </a:xfrm>
          <a:prstGeom prst="line">
            <a:avLst/>
          </a:prstGeom>
          <a:ln w="25400">
            <a:solidFill>
              <a:schemeClr val="tx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4BB50338-4F2F-4CA1-9CF3-9E6DB92F39E5}"/>
              </a:ext>
            </a:extLst>
          </p:cNvPr>
          <p:cNvSpPr txBox="1"/>
          <p:nvPr/>
        </p:nvSpPr>
        <p:spPr bwMode="gray">
          <a:xfrm>
            <a:off x="4585811" y="4024574"/>
            <a:ext cx="967263" cy="338554"/>
          </a:xfrm>
          <a:prstGeom prst="rect">
            <a:avLst/>
          </a:prstGeom>
          <a:noFill/>
        </p:spPr>
        <p:txBody>
          <a:bodyPr wrap="square" rtlCol="0">
            <a:spAutoFit/>
          </a:bodyPr>
          <a:lstStyle/>
          <a:p>
            <a:r>
              <a:rPr lang="zh-CN" altLang="en-US" sz="1600" dirty="0"/>
              <a:t>控制器</a:t>
            </a:r>
          </a:p>
        </p:txBody>
      </p:sp>
      <p:cxnSp>
        <p:nvCxnSpPr>
          <p:cNvPr id="60" name="直接连接符 59">
            <a:extLst>
              <a:ext uri="{FF2B5EF4-FFF2-40B4-BE49-F238E27FC236}">
                <a16:creationId xmlns:a16="http://schemas.microsoft.com/office/drawing/2014/main" id="{C85769E7-84A8-4D43-B3B9-2B451054F50C}"/>
              </a:ext>
            </a:extLst>
          </p:cNvPr>
          <p:cNvCxnSpPr>
            <a:cxnSpLocks/>
            <a:stCxn id="33" idx="0"/>
          </p:cNvCxnSpPr>
          <p:nvPr/>
        </p:nvCxnSpPr>
        <p:spPr bwMode="gray">
          <a:xfrm flipH="1" flipV="1">
            <a:off x="5900957" y="4422440"/>
            <a:ext cx="1145297" cy="871870"/>
          </a:xfrm>
          <a:prstGeom prst="line">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A2B031B8-3F29-44CE-BA61-7566F55D869A}"/>
              </a:ext>
            </a:extLst>
          </p:cNvPr>
          <p:cNvSpPr txBox="1"/>
          <p:nvPr/>
        </p:nvSpPr>
        <p:spPr bwMode="gray">
          <a:xfrm>
            <a:off x="6154491" y="3400280"/>
            <a:ext cx="1318080" cy="307777"/>
          </a:xfrm>
          <a:prstGeom prst="rect">
            <a:avLst/>
          </a:prstGeom>
          <a:solidFill>
            <a:srgbClr val="FFFFFF"/>
          </a:solidFill>
        </p:spPr>
        <p:txBody>
          <a:bodyPr wrap="square" rtlCol="0">
            <a:spAutoFit/>
          </a:bodyPr>
          <a:lstStyle/>
          <a:p>
            <a:r>
              <a:rPr lang="zh-CN" altLang="en-US" sz="1400" b="1" dirty="0"/>
              <a:t>北向接口</a:t>
            </a:r>
          </a:p>
        </p:txBody>
      </p:sp>
      <p:sp>
        <p:nvSpPr>
          <p:cNvPr id="64" name="文本框 63"/>
          <p:cNvSpPr txBox="1"/>
          <p:nvPr/>
        </p:nvSpPr>
        <p:spPr bwMode="gray">
          <a:xfrm>
            <a:off x="7025746" y="3388977"/>
            <a:ext cx="3704229" cy="307777"/>
          </a:xfrm>
          <a:prstGeom prst="rect">
            <a:avLst/>
          </a:prstGeom>
          <a:noFill/>
        </p:spPr>
        <p:txBody>
          <a:bodyPr wrap="square" rtlCol="0">
            <a:spAutoFit/>
          </a:bodyPr>
          <a:lstStyle/>
          <a:p>
            <a:r>
              <a:rPr lang="en-US" altLang="zh-CN" sz="1400"/>
              <a:t>MTOSI/CORBA/SNMP/REST</a:t>
            </a:r>
            <a:endParaRPr lang="zh-CN" altLang="en-US" sz="1400"/>
          </a:p>
        </p:txBody>
      </p:sp>
      <p:sp>
        <p:nvSpPr>
          <p:cNvPr id="20" name="圆角矩形 19"/>
          <p:cNvSpPr/>
          <p:nvPr/>
        </p:nvSpPr>
        <p:spPr bwMode="gray">
          <a:xfrm>
            <a:off x="5203080" y="2512665"/>
            <a:ext cx="1032290" cy="692583"/>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OSS</a:t>
            </a:r>
            <a:endParaRPr lang="zh-CN" altLang="en-US" sz="16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箭头连接符 49">
            <a:extLst>
              <a:ext uri="{FF2B5EF4-FFF2-40B4-BE49-F238E27FC236}">
                <a16:creationId xmlns:a16="http://schemas.microsoft.com/office/drawing/2014/main" id="{DC5C9790-5B06-414C-AF09-F4AA2F42A9E1}"/>
              </a:ext>
            </a:extLst>
          </p:cNvPr>
          <p:cNvCxnSpPr>
            <a:cxnSpLocks/>
            <a:stCxn id="32" idx="0"/>
            <a:endCxn id="28" idx="2"/>
          </p:cNvCxnSpPr>
          <p:nvPr/>
        </p:nvCxnSpPr>
        <p:spPr bwMode="gray">
          <a:xfrm flipH="1" flipV="1">
            <a:off x="5725951" y="4422439"/>
            <a:ext cx="4280" cy="88362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4023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北向接口的发展</a:t>
            </a:r>
          </a:p>
        </p:txBody>
      </p:sp>
      <p:sp>
        <p:nvSpPr>
          <p:cNvPr id="6" name="文本占位符 5"/>
          <p:cNvSpPr>
            <a:spLocks noGrp="1"/>
          </p:cNvSpPr>
          <p:nvPr>
            <p:ph type="body" sz="quarter" idx="10"/>
          </p:nvPr>
        </p:nvSpPr>
        <p:spPr bwMode="gray"/>
        <p:txBody>
          <a:bodyPr/>
          <a:lstStyle/>
          <a:p>
            <a:r>
              <a:rPr lang="zh-CN" altLang="en-US" sz="1800" dirty="0"/>
              <a:t>北向接口有多种标准，比如</a:t>
            </a:r>
            <a:r>
              <a:rPr lang="en-US" altLang="zh-CN" sz="1800" dirty="0"/>
              <a:t>MTOSI</a:t>
            </a:r>
            <a:r>
              <a:rPr lang="zh-CN" altLang="en-US" sz="1800" dirty="0"/>
              <a:t>、</a:t>
            </a:r>
            <a:r>
              <a:rPr lang="en-US" altLang="zh-CN" sz="1800" dirty="0"/>
              <a:t>CORBA</a:t>
            </a:r>
            <a:r>
              <a:rPr lang="zh-CN" altLang="en-US" sz="1800" dirty="0"/>
              <a:t>等。设备商的控制器需要开放相应标准的北向接口以满足运营商综合网管平台的对接要求。</a:t>
            </a:r>
          </a:p>
          <a:p>
            <a:r>
              <a:rPr lang="zh-CN" altLang="en-US" sz="1800" dirty="0"/>
              <a:t>从</a:t>
            </a:r>
            <a:r>
              <a:rPr lang="en-US" altLang="zh-CN" sz="1800" dirty="0"/>
              <a:t>MTOSI</a:t>
            </a:r>
            <a:r>
              <a:rPr lang="zh-CN" altLang="en-US" sz="1800" dirty="0"/>
              <a:t>、</a:t>
            </a:r>
            <a:r>
              <a:rPr lang="en-US" altLang="zh-CN" sz="1800" dirty="0"/>
              <a:t>CORBA</a:t>
            </a:r>
            <a:r>
              <a:rPr lang="zh-CN" altLang="en-US" sz="1800" dirty="0"/>
              <a:t>、</a:t>
            </a:r>
            <a:r>
              <a:rPr lang="en-US" altLang="zh-CN" sz="1800" dirty="0"/>
              <a:t>SNMP</a:t>
            </a:r>
            <a:r>
              <a:rPr lang="zh-CN" altLang="en-US" sz="1800" dirty="0"/>
              <a:t>到</a:t>
            </a:r>
            <a:r>
              <a:rPr lang="en-US" altLang="zh-CN" sz="1800" dirty="0"/>
              <a:t>REST</a:t>
            </a:r>
            <a:r>
              <a:rPr lang="zh-CN" altLang="en-US" sz="1800" dirty="0"/>
              <a:t>，北向接口类型可谓是百花齐放，但如今各个设备的北向接口正逐渐向</a:t>
            </a:r>
            <a:r>
              <a:rPr lang="en-US" altLang="zh-CN" sz="1800" dirty="0"/>
              <a:t>REST</a:t>
            </a:r>
            <a:r>
              <a:rPr lang="zh-CN" altLang="en-US" sz="1800" dirty="0"/>
              <a:t>接口演进。</a:t>
            </a:r>
          </a:p>
          <a:p>
            <a:endParaRPr lang="zh-CN" altLang="en-US" sz="1800" dirty="0"/>
          </a:p>
          <a:p>
            <a:endParaRPr lang="zh-CN" altLang="en-US" sz="1800" dirty="0"/>
          </a:p>
          <a:p>
            <a:endParaRPr lang="zh-CN" altLang="en-US" sz="1800" dirty="0"/>
          </a:p>
        </p:txBody>
      </p:sp>
      <p:pic>
        <p:nvPicPr>
          <p:cNvPr id="21" name="图片 20">
            <a:extLst>
              <a:ext uri="{FF2B5EF4-FFF2-40B4-BE49-F238E27FC236}">
                <a16:creationId xmlns:a16="http://schemas.microsoft.com/office/drawing/2014/main" id="{3B8CDDA5-63DF-4EE7-B505-8033BAF90E8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948592" y="4869673"/>
            <a:ext cx="785118" cy="697521"/>
          </a:xfrm>
          <a:prstGeom prst="rect">
            <a:avLst/>
          </a:prstGeom>
        </p:spPr>
      </p:pic>
      <p:cxnSp>
        <p:nvCxnSpPr>
          <p:cNvPr id="25" name="直接连接符 24">
            <a:extLst>
              <a:ext uri="{FF2B5EF4-FFF2-40B4-BE49-F238E27FC236}">
                <a16:creationId xmlns:a16="http://schemas.microsoft.com/office/drawing/2014/main" id="{C63411E7-11CE-4D12-8FD3-586A43CF8D7C}"/>
              </a:ext>
            </a:extLst>
          </p:cNvPr>
          <p:cNvCxnSpPr>
            <a:cxnSpLocks/>
            <a:stCxn id="21" idx="0"/>
            <a:endCxn id="35" idx="2"/>
          </p:cNvCxnSpPr>
          <p:nvPr/>
        </p:nvCxnSpPr>
        <p:spPr bwMode="gray">
          <a:xfrm flipH="1" flipV="1">
            <a:off x="4340418" y="3571885"/>
            <a:ext cx="733" cy="1297788"/>
          </a:xfrm>
          <a:prstGeom prst="line">
            <a:avLst/>
          </a:prstGeom>
          <a:ln w="25400" cmpd="sng">
            <a:solidFill>
              <a:schemeClr val="tx1"/>
            </a:solidFill>
            <a:prstDash val="solid"/>
            <a:headEnd type="none"/>
            <a:tailEnd type="stealth"/>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4BB50338-4F2F-4CA1-9CF3-9E6DB92F39E5}"/>
              </a:ext>
            </a:extLst>
          </p:cNvPr>
          <p:cNvSpPr txBox="1"/>
          <p:nvPr/>
        </p:nvSpPr>
        <p:spPr bwMode="gray">
          <a:xfrm>
            <a:off x="4856563" y="5083431"/>
            <a:ext cx="2148380" cy="338554"/>
          </a:xfrm>
          <a:prstGeom prst="rect">
            <a:avLst/>
          </a:prstGeom>
          <a:noFill/>
        </p:spPr>
        <p:txBody>
          <a:bodyPr wrap="square" rtlCol="0">
            <a:spAutoFit/>
          </a:bodyPr>
          <a:lstStyle/>
          <a:p>
            <a:r>
              <a:rPr lang="zh-CN" altLang="en-US" sz="1600" dirty="0"/>
              <a:t>控制器</a:t>
            </a:r>
          </a:p>
        </p:txBody>
      </p:sp>
      <p:sp>
        <p:nvSpPr>
          <p:cNvPr id="31" name="文本框 30"/>
          <p:cNvSpPr txBox="1"/>
          <p:nvPr/>
        </p:nvSpPr>
        <p:spPr bwMode="gray">
          <a:xfrm>
            <a:off x="3235429" y="4069360"/>
            <a:ext cx="2943586" cy="338554"/>
          </a:xfrm>
          <a:prstGeom prst="rect">
            <a:avLst/>
          </a:prstGeom>
          <a:solidFill>
            <a:srgbClr val="FFFFFF"/>
          </a:solidFill>
        </p:spPr>
        <p:txBody>
          <a:bodyPr wrap="square" rtlCol="0">
            <a:spAutoFit/>
          </a:bodyPr>
          <a:lstStyle/>
          <a:p>
            <a:r>
              <a:rPr lang="en-US" altLang="zh-CN" sz="1600" b="1"/>
              <a:t>MTOSI/CORBA/SNMP</a:t>
            </a:r>
            <a:endParaRPr lang="zh-CN" altLang="en-US" sz="1600" b="1"/>
          </a:p>
        </p:txBody>
      </p:sp>
      <p:sp>
        <p:nvSpPr>
          <p:cNvPr id="61" name="Right Arrow 157"/>
          <p:cNvSpPr/>
          <p:nvPr/>
        </p:nvSpPr>
        <p:spPr bwMode="gray">
          <a:xfrm>
            <a:off x="5956220" y="3985510"/>
            <a:ext cx="1180265" cy="470538"/>
          </a:xfrm>
          <a:prstGeom prst="rightArrow">
            <a:avLst>
              <a:gd name="adj1" fmla="val 40000"/>
              <a:gd name="adj2" fmla="val 50000"/>
            </a:avLst>
          </a:prstGeom>
          <a:gradFill flip="none" rotWithShape="1">
            <a:gsLst>
              <a:gs pos="15000">
                <a:schemeClr val="accent1">
                  <a:lumMod val="5000"/>
                  <a:lumOff val="95000"/>
                  <a:alpha val="0"/>
                </a:schemeClr>
              </a:gs>
              <a:gs pos="81000">
                <a:srgbClr val="BEE9EE"/>
              </a:gs>
            </a:gsLst>
            <a:lin ang="0" scaled="1"/>
            <a:tileRect/>
          </a:gradFill>
          <a:ln w="15875">
            <a:gradFill flip="none" rotWithShape="1">
              <a:gsLst>
                <a:gs pos="0">
                  <a:schemeClr val="accent1">
                    <a:lumMod val="5000"/>
                    <a:lumOff val="95000"/>
                  </a:schemeClr>
                </a:gs>
                <a:gs pos="100000">
                  <a:srgbClr val="56C4D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圆角矩形 34"/>
          <p:cNvSpPr/>
          <p:nvPr/>
        </p:nvSpPr>
        <p:spPr bwMode="gray">
          <a:xfrm>
            <a:off x="3824273" y="2879302"/>
            <a:ext cx="1032290" cy="692583"/>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OSS</a:t>
            </a:r>
            <a:endParaRPr lang="zh-CN" altLang="en-US" sz="16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0" name="图片 39">
            <a:extLst>
              <a:ext uri="{FF2B5EF4-FFF2-40B4-BE49-F238E27FC236}">
                <a16:creationId xmlns:a16="http://schemas.microsoft.com/office/drawing/2014/main" id="{3B8CDDA5-63DF-4EE7-B505-8033BAF90E8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344073" y="4869673"/>
            <a:ext cx="785118" cy="697521"/>
          </a:xfrm>
          <a:prstGeom prst="rect">
            <a:avLst/>
          </a:prstGeom>
        </p:spPr>
      </p:pic>
      <p:cxnSp>
        <p:nvCxnSpPr>
          <p:cNvPr id="41" name="直接连接符 40">
            <a:extLst>
              <a:ext uri="{FF2B5EF4-FFF2-40B4-BE49-F238E27FC236}">
                <a16:creationId xmlns:a16="http://schemas.microsoft.com/office/drawing/2014/main" id="{C63411E7-11CE-4D12-8FD3-586A43CF8D7C}"/>
              </a:ext>
            </a:extLst>
          </p:cNvPr>
          <p:cNvCxnSpPr>
            <a:cxnSpLocks/>
            <a:stCxn id="40" idx="0"/>
            <a:endCxn id="44" idx="2"/>
          </p:cNvCxnSpPr>
          <p:nvPr/>
        </p:nvCxnSpPr>
        <p:spPr bwMode="gray">
          <a:xfrm flipH="1" flipV="1">
            <a:off x="7735899" y="3571885"/>
            <a:ext cx="733" cy="1297788"/>
          </a:xfrm>
          <a:prstGeom prst="line">
            <a:avLst/>
          </a:prstGeom>
          <a:ln w="25400" cmpd="sng">
            <a:solidFill>
              <a:schemeClr val="tx1"/>
            </a:solidFill>
            <a:prstDash val="solid"/>
            <a:headEnd type="none"/>
            <a:tailEnd type="stealt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4BB50338-4F2F-4CA1-9CF3-9E6DB92F39E5}"/>
              </a:ext>
            </a:extLst>
          </p:cNvPr>
          <p:cNvSpPr txBox="1"/>
          <p:nvPr/>
        </p:nvSpPr>
        <p:spPr bwMode="gray">
          <a:xfrm>
            <a:off x="8184479" y="5049156"/>
            <a:ext cx="2148380" cy="338554"/>
          </a:xfrm>
          <a:prstGeom prst="rect">
            <a:avLst/>
          </a:prstGeom>
          <a:noFill/>
        </p:spPr>
        <p:txBody>
          <a:bodyPr wrap="square" rtlCol="0">
            <a:spAutoFit/>
          </a:bodyPr>
          <a:lstStyle/>
          <a:p>
            <a:r>
              <a:rPr lang="zh-CN" altLang="en-US" sz="1600"/>
              <a:t>控制器</a:t>
            </a:r>
            <a:endParaRPr lang="zh-CN" altLang="en-US" sz="1600" dirty="0"/>
          </a:p>
        </p:txBody>
      </p:sp>
      <p:sp>
        <p:nvSpPr>
          <p:cNvPr id="43" name="文本框 42"/>
          <p:cNvSpPr txBox="1"/>
          <p:nvPr/>
        </p:nvSpPr>
        <p:spPr bwMode="gray">
          <a:xfrm>
            <a:off x="7355648" y="4069360"/>
            <a:ext cx="2571750" cy="338554"/>
          </a:xfrm>
          <a:prstGeom prst="rect">
            <a:avLst/>
          </a:prstGeom>
          <a:solidFill>
            <a:srgbClr val="FFFFFF"/>
          </a:solidFill>
        </p:spPr>
        <p:txBody>
          <a:bodyPr wrap="square" rtlCol="0">
            <a:spAutoFit/>
          </a:bodyPr>
          <a:lstStyle/>
          <a:p>
            <a:r>
              <a:rPr lang="en-US" altLang="zh-CN" sz="1600" b="1"/>
              <a:t>REST</a:t>
            </a:r>
            <a:endParaRPr lang="zh-CN" altLang="en-US" sz="1600" b="1"/>
          </a:p>
        </p:txBody>
      </p:sp>
      <p:sp>
        <p:nvSpPr>
          <p:cNvPr id="44" name="圆角矩形 43"/>
          <p:cNvSpPr/>
          <p:nvPr/>
        </p:nvSpPr>
        <p:spPr bwMode="gray">
          <a:xfrm>
            <a:off x="7219754" y="2879302"/>
            <a:ext cx="1032290" cy="692583"/>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OSS</a:t>
            </a:r>
            <a:endParaRPr lang="zh-CN" altLang="en-US" sz="16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87119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接口演进：规范</a:t>
            </a:r>
            <a:r>
              <a:rPr lang="en-US" altLang="zh-CN"/>
              <a:t>URI</a:t>
            </a:r>
            <a:r>
              <a:rPr lang="zh-CN" altLang="en-US"/>
              <a:t>命名</a:t>
            </a:r>
          </a:p>
        </p:txBody>
      </p:sp>
      <p:sp>
        <p:nvSpPr>
          <p:cNvPr id="13" name="文本占位符 12"/>
          <p:cNvSpPr>
            <a:spLocks noGrp="1"/>
          </p:cNvSpPr>
          <p:nvPr>
            <p:ph type="body" sz="quarter" idx="10"/>
          </p:nvPr>
        </p:nvSpPr>
        <p:spPr bwMode="gray">
          <a:xfrm>
            <a:off x="455612" y="1055245"/>
            <a:ext cx="11293475" cy="4879805"/>
          </a:xfrm>
        </p:spPr>
        <p:txBody>
          <a:bodyPr/>
          <a:lstStyle/>
          <a:p>
            <a:r>
              <a:rPr lang="en-US" altLang="zh-CN" sz="1800" dirty="0"/>
              <a:t>REST</a:t>
            </a:r>
            <a:r>
              <a:rPr lang="zh-CN" altLang="en-US" sz="1800" dirty="0"/>
              <a:t>规范了</a:t>
            </a:r>
            <a:r>
              <a:rPr lang="en-US" altLang="zh-CN" sz="1800" dirty="0"/>
              <a:t>URI</a:t>
            </a:r>
            <a:r>
              <a:rPr lang="zh-CN" altLang="en-US" sz="1800" dirty="0"/>
              <a:t>命名，面向资源，一目了然。</a:t>
            </a:r>
          </a:p>
          <a:p>
            <a:r>
              <a:rPr lang="en-US" altLang="zh-CN" sz="1800" dirty="0"/>
              <a:t>URI</a:t>
            </a:r>
            <a:r>
              <a:rPr lang="zh-CN" altLang="en-US" sz="1800" dirty="0"/>
              <a:t>（</a:t>
            </a:r>
            <a:r>
              <a:rPr lang="en-US" altLang="zh-CN" sz="1800" dirty="0"/>
              <a:t>Universal Resource Identifier</a:t>
            </a:r>
            <a:r>
              <a:rPr lang="zh-CN" altLang="en-US" sz="1800" dirty="0"/>
              <a:t>）是统一资源标识符，它标识了资源的具体位置。</a:t>
            </a:r>
          </a:p>
          <a:p>
            <a:endParaRPr lang="zh-CN" altLang="en-US" sz="1800" dirty="0"/>
          </a:p>
          <a:p>
            <a:endParaRPr lang="zh-CN" altLang="en-US" sz="1800" dirty="0"/>
          </a:p>
          <a:p>
            <a:endParaRPr lang="zh-CN" altLang="en-US" sz="1800" dirty="0"/>
          </a:p>
        </p:txBody>
      </p:sp>
      <p:sp>
        <p:nvSpPr>
          <p:cNvPr id="5"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6" name="圆角矩形 75"/>
          <p:cNvSpPr/>
          <p:nvPr/>
        </p:nvSpPr>
        <p:spPr bwMode="gray">
          <a:xfrm>
            <a:off x="6162778" y="2414445"/>
            <a:ext cx="5583135" cy="396000"/>
          </a:xfrm>
          <a:prstGeom prst="roundRect">
            <a:avLst>
              <a:gd name="adj" fmla="val 10604"/>
            </a:avLst>
          </a:prstGeom>
          <a:solidFill>
            <a:srgbClr val="56C4D2"/>
          </a:solidFill>
          <a:ln>
            <a:noFill/>
          </a:ln>
        </p:spPr>
        <p:txBody>
          <a:bodyPr wrap="square" rtlCol="0" anchor="ctr" anchorCtr="0">
            <a:noAutofit/>
          </a:bodyPr>
          <a:lstStyle/>
          <a:p>
            <a:pPr algn="ctr"/>
            <a:r>
              <a:rPr lang="en-US" altLang="zh-CN" sz="1700" b="1" dirty="0">
                <a:solidFill>
                  <a:prstClr val="white"/>
                </a:solidFill>
                <a:latin typeface="Huawei Sans" panose="020C0503030203020204" pitchFamily="34" charset="0"/>
                <a:ea typeface="方正兰亭黑简体" panose="02000000000000000000" pitchFamily="2" charset="-122"/>
              </a:rPr>
              <a:t>REST</a:t>
            </a:r>
            <a:r>
              <a:rPr lang="zh-CN" altLang="en-US" sz="1700" b="1" dirty="0">
                <a:solidFill>
                  <a:prstClr val="white"/>
                </a:solidFill>
                <a:latin typeface="Huawei Sans" panose="020C0503030203020204" pitchFamily="34" charset="0"/>
                <a:ea typeface="方正兰亭黑简体" panose="02000000000000000000" pitchFamily="2" charset="-122"/>
              </a:rPr>
              <a:t>出现之后： </a:t>
            </a:r>
            <a:r>
              <a:rPr lang="en-US" altLang="zh-CN" sz="1700" b="1" dirty="0">
                <a:solidFill>
                  <a:prstClr val="white"/>
                </a:solidFill>
                <a:latin typeface="Huawei Sans" panose="020C0503030203020204" pitchFamily="34" charset="0"/>
                <a:ea typeface="方正兰亭黑简体" panose="02000000000000000000" pitchFamily="2" charset="-122"/>
              </a:rPr>
              <a:t>URI</a:t>
            </a:r>
            <a:r>
              <a:rPr lang="zh-CN" altLang="en-US" sz="1700" b="1" dirty="0">
                <a:solidFill>
                  <a:prstClr val="white"/>
                </a:solidFill>
                <a:latin typeface="Huawei Sans" panose="020C0503030203020204" pitchFamily="34" charset="0"/>
                <a:ea typeface="方正兰亭黑简体" panose="02000000000000000000" pitchFamily="2" charset="-122"/>
              </a:rPr>
              <a:t>独立，动作清晰</a:t>
            </a:r>
          </a:p>
        </p:txBody>
      </p:sp>
      <p:sp>
        <p:nvSpPr>
          <p:cNvPr id="7" name="圆角矩形 75"/>
          <p:cNvSpPr/>
          <p:nvPr/>
        </p:nvSpPr>
        <p:spPr bwMode="gray">
          <a:xfrm>
            <a:off x="525600" y="2419095"/>
            <a:ext cx="5512529" cy="396000"/>
          </a:xfrm>
          <a:prstGeom prst="roundRect">
            <a:avLst>
              <a:gd name="adj" fmla="val 10604"/>
            </a:avLst>
          </a:prstGeom>
          <a:solidFill>
            <a:srgbClr val="56C4D2"/>
          </a:solidFill>
          <a:ln>
            <a:noFill/>
          </a:ln>
        </p:spPr>
        <p:txBody>
          <a:bodyPr wrap="square" rtlCol="0" anchor="ctr" anchorCtr="0">
            <a:noAutofit/>
          </a:bodyPr>
          <a:lstStyle/>
          <a:p>
            <a:pPr algn="ctr" fontAlgn="auto">
              <a:spcBef>
                <a:spcPts val="0"/>
              </a:spcBef>
              <a:spcAft>
                <a:spcPts val="0"/>
              </a:spcAft>
            </a:pPr>
            <a:r>
              <a:rPr lang="en-US" altLang="zh-CN" sz="1700" b="1" dirty="0">
                <a:solidFill>
                  <a:prstClr val="white"/>
                </a:solidFill>
                <a:latin typeface="Huawei Sans" panose="020C0503030203020204" pitchFamily="34" charset="0"/>
                <a:ea typeface="方正兰亭黑简体" panose="02000000000000000000" pitchFamily="2" charset="-122"/>
              </a:rPr>
              <a:t>REST</a:t>
            </a:r>
            <a:r>
              <a:rPr lang="zh-CN" altLang="en-US" sz="1700" b="1" dirty="0">
                <a:solidFill>
                  <a:prstClr val="white"/>
                </a:solidFill>
                <a:latin typeface="Huawei Sans" panose="020C0503030203020204" pitchFamily="34" charset="0"/>
                <a:ea typeface="方正兰亭黑简体" panose="02000000000000000000" pitchFamily="2" charset="-122"/>
              </a:rPr>
              <a:t>出现之前：</a:t>
            </a:r>
            <a:r>
              <a:rPr lang="en-US" altLang="zh-CN" sz="1700" b="1" dirty="0">
                <a:solidFill>
                  <a:prstClr val="white"/>
                </a:solidFill>
                <a:latin typeface="Huawei Sans" panose="020C0503030203020204" pitchFamily="34" charset="0"/>
                <a:ea typeface="方正兰亭黑简体" panose="02000000000000000000" pitchFamily="2" charset="-122"/>
              </a:rPr>
              <a:t>URI</a:t>
            </a:r>
            <a:r>
              <a:rPr lang="zh-CN" altLang="en-US" sz="1700" b="1" dirty="0">
                <a:solidFill>
                  <a:prstClr val="white"/>
                </a:solidFill>
                <a:latin typeface="Huawei Sans" panose="020C0503030203020204" pitchFamily="34" charset="0"/>
                <a:ea typeface="方正兰亭黑简体" panose="02000000000000000000" pitchFamily="2" charset="-122"/>
              </a:rPr>
              <a:t>被随意命名</a:t>
            </a:r>
          </a:p>
        </p:txBody>
      </p:sp>
      <p:sp>
        <p:nvSpPr>
          <p:cNvPr id="8" name="圆角矩形 75"/>
          <p:cNvSpPr/>
          <p:nvPr/>
        </p:nvSpPr>
        <p:spPr bwMode="gray">
          <a:xfrm>
            <a:off x="6162776" y="2899011"/>
            <a:ext cx="5581723" cy="231307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圆角矩形 75"/>
          <p:cNvSpPr/>
          <p:nvPr/>
        </p:nvSpPr>
        <p:spPr bwMode="gray">
          <a:xfrm>
            <a:off x="525598" y="2899011"/>
            <a:ext cx="5512531" cy="231306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矩形 9"/>
          <p:cNvSpPr/>
          <p:nvPr/>
        </p:nvSpPr>
        <p:spPr bwMode="gray">
          <a:xfrm>
            <a:off x="6161364" y="3086049"/>
            <a:ext cx="5583136" cy="1938992"/>
          </a:xfrm>
          <a:prstGeom prst="rect">
            <a:avLst/>
          </a:prstGeom>
        </p:spPr>
        <p:txBody>
          <a:bodyPr wrap="square">
            <a:spAutoFit/>
          </a:bodyPr>
          <a:lstStyle/>
          <a:p>
            <a:pPr>
              <a:lnSpc>
                <a:spcPct val="150000"/>
              </a:lnSpc>
            </a:pPr>
            <a:r>
              <a:rPr lang="en-US" altLang="zh-CN" sz="1600" dirty="0">
                <a:latin typeface="Huawei Sans" panose="020C0503030203020204" pitchFamily="34" charset="0"/>
                <a:ea typeface="方正兰亭黑简体" panose="02000000000000000000" pitchFamily="2" charset="-122"/>
              </a:rPr>
              <a:t> REST</a:t>
            </a:r>
            <a:r>
              <a:rPr lang="zh-CN" altLang="en-US" sz="1600" dirty="0">
                <a:latin typeface="Huawei Sans" panose="020C0503030203020204" pitchFamily="34" charset="0"/>
                <a:ea typeface="方正兰亭黑简体" panose="02000000000000000000" pitchFamily="2" charset="-122"/>
              </a:rPr>
              <a:t>风格的</a:t>
            </a:r>
            <a:r>
              <a:rPr lang="en-US" altLang="zh-CN" sz="1600" dirty="0">
                <a:latin typeface="Huawei Sans" panose="020C0503030203020204" pitchFamily="34" charset="0"/>
                <a:ea typeface="方正兰亭黑简体" panose="02000000000000000000" pitchFamily="2" charset="-122"/>
              </a:rPr>
              <a:t>URI</a:t>
            </a:r>
            <a:r>
              <a:rPr lang="zh-CN" altLang="en-US" sz="1600" dirty="0">
                <a:latin typeface="Huawei Sans" panose="020C0503030203020204" pitchFamily="34" charset="0"/>
                <a:ea typeface="方正兰亭黑简体" panose="02000000000000000000" pitchFamily="2" charset="-122"/>
              </a:rPr>
              <a:t>：</a:t>
            </a:r>
          </a:p>
          <a:p>
            <a:pPr marL="285750" indent="-285750">
              <a:lnSpc>
                <a:spcPct val="15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rPr>
              <a:t>预约会议室：</a:t>
            </a:r>
            <a:r>
              <a:rPr lang="en-US" altLang="zh-CN" sz="1600" dirty="0">
                <a:latin typeface="Huawei Sans" panose="020C0503030203020204" pitchFamily="34" charset="0"/>
                <a:ea typeface="方正兰亭黑简体" panose="02000000000000000000" pitchFamily="2" charset="-122"/>
              </a:rPr>
              <a:t>/</a:t>
            </a:r>
            <a:r>
              <a:rPr lang="en-US" altLang="zh-CN" sz="1600" dirty="0" err="1">
                <a:latin typeface="Huawei Sans" panose="020C0503030203020204" pitchFamily="34" charset="0"/>
                <a:ea typeface="方正兰亭黑简体" panose="02000000000000000000" pitchFamily="2" charset="-122"/>
              </a:rPr>
              <a:t>meetingroom</a:t>
            </a:r>
            <a:r>
              <a:rPr lang="en-US" altLang="zh-CN" sz="1600" dirty="0">
                <a:latin typeface="Huawei Sans" panose="020C0503030203020204" pitchFamily="34" charset="0"/>
                <a:ea typeface="方正兰亭黑简体" panose="02000000000000000000" pitchFamily="2" charset="-122"/>
              </a:rPr>
              <a:t>/B25R</a:t>
            </a:r>
            <a:r>
              <a:rPr lang="zh-CN" altLang="en-US" sz="1600" dirty="0">
                <a:latin typeface="Huawei Sans" panose="020C0503030203020204" pitchFamily="34" charset="0"/>
                <a:ea typeface="方正兰亭黑简体" panose="02000000000000000000" pitchFamily="2" charset="-122"/>
              </a:rPr>
              <a:t>，调用方法为</a:t>
            </a:r>
            <a:r>
              <a:rPr lang="en-US" altLang="zh-CN" sz="1600" dirty="0">
                <a:latin typeface="Huawei Sans" panose="020C0503030203020204" pitchFamily="34" charset="0"/>
                <a:ea typeface="方正兰亭黑简体" panose="02000000000000000000" pitchFamily="2" charset="-122"/>
              </a:rPr>
              <a:t>POST</a:t>
            </a:r>
          </a:p>
          <a:p>
            <a:pPr marL="285750" indent="-285750">
              <a:lnSpc>
                <a:spcPct val="15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rPr>
              <a:t>取消预约会议室：</a:t>
            </a:r>
            <a:r>
              <a:rPr lang="en-US" altLang="zh-CN" sz="1600" dirty="0">
                <a:latin typeface="Huawei Sans" panose="020C0503030203020204" pitchFamily="34" charset="0"/>
                <a:ea typeface="方正兰亭黑简体" panose="02000000000000000000" pitchFamily="2" charset="-122"/>
              </a:rPr>
              <a:t>/</a:t>
            </a:r>
            <a:r>
              <a:rPr lang="en-US" altLang="zh-CN" sz="1600" dirty="0" err="1">
                <a:latin typeface="Huawei Sans" panose="020C0503030203020204" pitchFamily="34" charset="0"/>
                <a:ea typeface="方正兰亭黑简体" panose="02000000000000000000" pitchFamily="2" charset="-122"/>
              </a:rPr>
              <a:t>meetingroom</a:t>
            </a:r>
            <a:r>
              <a:rPr lang="en-US" altLang="zh-CN" sz="1600" dirty="0">
                <a:latin typeface="Huawei Sans" panose="020C0503030203020204" pitchFamily="34" charset="0"/>
                <a:ea typeface="方正兰亭黑简体" panose="02000000000000000000" pitchFamily="2" charset="-122"/>
              </a:rPr>
              <a:t>/B25R</a:t>
            </a:r>
            <a:r>
              <a:rPr lang="zh-CN" altLang="en-US" sz="1600" dirty="0">
                <a:latin typeface="Huawei Sans" panose="020C0503030203020204" pitchFamily="34" charset="0"/>
                <a:ea typeface="方正兰亭黑简体" panose="02000000000000000000" pitchFamily="2" charset="-122"/>
              </a:rPr>
              <a:t>，调用方法为</a:t>
            </a:r>
            <a:r>
              <a:rPr lang="en-US" altLang="zh-CN" sz="1600" dirty="0">
                <a:latin typeface="Huawei Sans" panose="020C0503030203020204" pitchFamily="34" charset="0"/>
                <a:ea typeface="方正兰亭黑简体" panose="02000000000000000000" pitchFamily="2" charset="-122"/>
              </a:rPr>
              <a:t>DELETE</a:t>
            </a:r>
          </a:p>
          <a:p>
            <a:pPr marL="285750" indent="-285750">
              <a:lnSpc>
                <a:spcPct val="15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rPr>
              <a:t>查询会议室状态：</a:t>
            </a:r>
            <a:r>
              <a:rPr lang="en-US" altLang="zh-CN" sz="1600" dirty="0">
                <a:latin typeface="Huawei Sans" panose="020C0503030203020204" pitchFamily="34" charset="0"/>
                <a:ea typeface="方正兰亭黑简体" panose="02000000000000000000" pitchFamily="2" charset="-122"/>
              </a:rPr>
              <a:t>/</a:t>
            </a:r>
            <a:r>
              <a:rPr lang="en-US" altLang="zh-CN" sz="1600" dirty="0" err="1">
                <a:latin typeface="Huawei Sans" panose="020C0503030203020204" pitchFamily="34" charset="0"/>
                <a:ea typeface="方正兰亭黑简体" panose="02000000000000000000" pitchFamily="2" charset="-122"/>
              </a:rPr>
              <a:t>meetingroom</a:t>
            </a:r>
            <a:r>
              <a:rPr lang="en-US" altLang="zh-CN" sz="1600" dirty="0">
                <a:latin typeface="Huawei Sans" panose="020C0503030203020204" pitchFamily="34" charset="0"/>
                <a:ea typeface="方正兰亭黑简体" panose="02000000000000000000" pitchFamily="2" charset="-122"/>
              </a:rPr>
              <a:t>/B25R</a:t>
            </a:r>
            <a:r>
              <a:rPr lang="zh-CN" altLang="en-US" sz="1600" dirty="0">
                <a:latin typeface="Huawei Sans" panose="020C0503030203020204" pitchFamily="34" charset="0"/>
                <a:ea typeface="方正兰亭黑简体" panose="02000000000000000000" pitchFamily="2" charset="-122"/>
              </a:rPr>
              <a:t>，调用方法为</a:t>
            </a:r>
            <a:r>
              <a:rPr lang="en-US" altLang="zh-CN" sz="1600" dirty="0">
                <a:latin typeface="Huawei Sans" panose="020C0503030203020204" pitchFamily="34" charset="0"/>
                <a:ea typeface="方正兰亭黑简体" panose="02000000000000000000" pitchFamily="2" charset="-122"/>
              </a:rPr>
              <a:t>GET</a:t>
            </a:r>
          </a:p>
        </p:txBody>
      </p:sp>
      <p:sp>
        <p:nvSpPr>
          <p:cNvPr id="11" name="矩形 10"/>
          <p:cNvSpPr/>
          <p:nvPr/>
        </p:nvSpPr>
        <p:spPr bwMode="gray">
          <a:xfrm>
            <a:off x="618366" y="3137947"/>
            <a:ext cx="5637177" cy="1569660"/>
          </a:xfrm>
          <a:prstGeom prst="rect">
            <a:avLst/>
          </a:prstGeom>
        </p:spPr>
        <p:txBody>
          <a:bodyPr wrap="square">
            <a:spAutoFit/>
          </a:bodyPr>
          <a:lstStyle/>
          <a:p>
            <a:pPr fontAlgn="auto">
              <a:lnSpc>
                <a:spcPct val="150000"/>
              </a:lnSpc>
              <a:spcBef>
                <a:spcPts val="0"/>
              </a:spcBef>
              <a:spcAft>
                <a:spcPts val="0"/>
              </a:spcAft>
            </a:pPr>
            <a:r>
              <a:rPr lang="zh-CN" altLang="en-US" sz="1600" dirty="0">
                <a:latin typeface="Huawei Sans" panose="020C0503030203020204" pitchFamily="34" charset="0"/>
                <a:ea typeface="方正兰亭黑简体" panose="02000000000000000000" pitchFamily="2" charset="-122"/>
              </a:rPr>
              <a:t>没有风格约束的</a:t>
            </a:r>
            <a:r>
              <a:rPr lang="en-US" altLang="zh-CN" sz="1600" dirty="0">
                <a:latin typeface="Huawei Sans" panose="020C0503030203020204" pitchFamily="34" charset="0"/>
                <a:ea typeface="方正兰亭黑简体" panose="02000000000000000000" pitchFamily="2" charset="-122"/>
              </a:rPr>
              <a:t>URI</a:t>
            </a:r>
            <a:r>
              <a:rPr lang="zh-CN" altLang="en-US" sz="1600" dirty="0">
                <a:latin typeface="Huawei Sans" panose="020C0503030203020204" pitchFamily="34" charset="0"/>
                <a:ea typeface="方正兰亭黑简体" panose="02000000000000000000" pitchFamily="2" charset="-122"/>
              </a:rPr>
              <a:t>：</a:t>
            </a: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rPr>
              <a:t>预约会议室：</a:t>
            </a:r>
            <a:r>
              <a:rPr lang="en-US" altLang="zh-CN" sz="1600" dirty="0">
                <a:latin typeface="Huawei Sans" panose="020C0503030203020204" pitchFamily="34" charset="0"/>
                <a:ea typeface="方正兰亭黑简体" panose="02000000000000000000" pitchFamily="2" charset="-122"/>
              </a:rPr>
              <a:t>/reserve/</a:t>
            </a:r>
            <a:r>
              <a:rPr lang="en-US" altLang="zh-CN" sz="1600" dirty="0" err="1">
                <a:latin typeface="Huawei Sans" panose="020C0503030203020204" pitchFamily="34" charset="0"/>
                <a:ea typeface="方正兰亭黑简体" panose="02000000000000000000" pitchFamily="2" charset="-122"/>
              </a:rPr>
              <a:t>meetingroom</a:t>
            </a:r>
            <a:r>
              <a:rPr lang="en-US" altLang="zh-CN" sz="1600" dirty="0">
                <a:latin typeface="Huawei Sans" panose="020C0503030203020204" pitchFamily="34" charset="0"/>
                <a:ea typeface="方正兰亭黑简体" panose="02000000000000000000" pitchFamily="2" charset="-122"/>
              </a:rPr>
              <a:t>/B25R</a:t>
            </a: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rPr>
              <a:t>取消预约会议室：</a:t>
            </a:r>
            <a:r>
              <a:rPr lang="en-US" altLang="zh-CN" sz="1600" dirty="0">
                <a:latin typeface="Huawei Sans" panose="020C0503030203020204" pitchFamily="34" charset="0"/>
                <a:ea typeface="方正兰亭黑简体" panose="02000000000000000000" pitchFamily="2" charset="-122"/>
              </a:rPr>
              <a:t>/cancel/</a:t>
            </a:r>
            <a:r>
              <a:rPr lang="en-US" altLang="zh-CN" sz="1600" dirty="0" err="1">
                <a:latin typeface="Huawei Sans" panose="020C0503030203020204" pitchFamily="34" charset="0"/>
                <a:ea typeface="方正兰亭黑简体" panose="02000000000000000000" pitchFamily="2" charset="-122"/>
              </a:rPr>
              <a:t>meetingroom</a:t>
            </a:r>
            <a:r>
              <a:rPr lang="en-US" altLang="zh-CN" sz="1600" dirty="0">
                <a:latin typeface="Huawei Sans" panose="020C0503030203020204" pitchFamily="34" charset="0"/>
                <a:ea typeface="方正兰亭黑简体" panose="02000000000000000000" pitchFamily="2" charset="-122"/>
              </a:rPr>
              <a:t>/B25R</a:t>
            </a: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rPr>
              <a:t>查询会议室状态：</a:t>
            </a:r>
            <a:r>
              <a:rPr lang="en-US" altLang="zh-CN" sz="1600" dirty="0">
                <a:latin typeface="Huawei Sans" panose="020C0503030203020204" pitchFamily="34" charset="0"/>
                <a:ea typeface="方正兰亭黑简体" panose="02000000000000000000" pitchFamily="2" charset="-122"/>
              </a:rPr>
              <a:t>/</a:t>
            </a:r>
            <a:r>
              <a:rPr lang="en-US" altLang="zh-CN" sz="1600" dirty="0" err="1">
                <a:latin typeface="Huawei Sans" panose="020C0503030203020204" pitchFamily="34" charset="0"/>
                <a:ea typeface="方正兰亭黑简体" panose="02000000000000000000" pitchFamily="2" charset="-122"/>
              </a:rPr>
              <a:t>meetingroom</a:t>
            </a:r>
            <a:r>
              <a:rPr lang="en-US" altLang="zh-CN" sz="1600" dirty="0">
                <a:latin typeface="Huawei Sans" panose="020C0503030203020204" pitchFamily="34" charset="0"/>
                <a:ea typeface="方正兰亭黑简体" panose="02000000000000000000" pitchFamily="2" charset="-122"/>
              </a:rPr>
              <a:t>/B25R?method=query</a:t>
            </a:r>
            <a:endParaRPr lang="zh-CN" altLang="en-US" sz="160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25702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接口演进：无状态设计</a:t>
            </a:r>
            <a:endParaRPr lang="zh-CN" altLang="en-US" dirty="0"/>
          </a:p>
        </p:txBody>
      </p:sp>
      <p:sp>
        <p:nvSpPr>
          <p:cNvPr id="8" name="文本占位符 7"/>
          <p:cNvSpPr>
            <a:spLocks noGrp="1"/>
          </p:cNvSpPr>
          <p:nvPr>
            <p:ph type="body" sz="quarter" idx="10"/>
          </p:nvPr>
        </p:nvSpPr>
        <p:spPr bwMode="gray"/>
        <p:txBody>
          <a:bodyPr/>
          <a:lstStyle/>
          <a:p>
            <a:r>
              <a:rPr lang="en-US" altLang="zh-CN" sz="1800" dirty="0"/>
              <a:t>REST</a:t>
            </a:r>
            <a:r>
              <a:rPr lang="zh-CN" altLang="en-US" sz="1800" dirty="0"/>
              <a:t>采用无状态设计，提高系统的可扩展性。</a:t>
            </a:r>
          </a:p>
          <a:p>
            <a:r>
              <a:rPr lang="zh-CN" altLang="en-US" sz="1800" dirty="0"/>
              <a:t>有状态：服务端需要保存和维护先前请求的状态信息。后面的每一个状态都依赖于先前状态。</a:t>
            </a:r>
          </a:p>
          <a:p>
            <a:r>
              <a:rPr lang="zh-CN" altLang="en-US" sz="1800" dirty="0"/>
              <a:t>无状态：服务端每次对相同的请求，函数或方法调用都给出相同的响应，不依赖于其他请求。服务端不需要维护状态信息，更易扩展。每个资源都是可寻址的，至少有一个</a:t>
            </a:r>
            <a:r>
              <a:rPr lang="en-US" altLang="zh-CN" sz="1800" dirty="0"/>
              <a:t>URI</a:t>
            </a:r>
            <a:r>
              <a:rPr lang="zh-CN" altLang="en-US" sz="1800" dirty="0"/>
              <a:t>对其定位。</a:t>
            </a:r>
          </a:p>
          <a:p>
            <a:endParaRPr lang="zh-CN" altLang="en-US" sz="1800" dirty="0"/>
          </a:p>
          <a:p>
            <a:endParaRPr lang="zh-CN" altLang="en-US" sz="1800" dirty="0"/>
          </a:p>
          <a:p>
            <a:endParaRPr lang="zh-CN" altLang="en-US" sz="1800" dirty="0"/>
          </a:p>
        </p:txBody>
      </p:sp>
      <p:sp>
        <p:nvSpPr>
          <p:cNvPr id="12" name="圆角矩形 75"/>
          <p:cNvSpPr/>
          <p:nvPr/>
        </p:nvSpPr>
        <p:spPr bwMode="gray">
          <a:xfrm>
            <a:off x="5798797" y="3002129"/>
            <a:ext cx="5868654" cy="356652"/>
          </a:xfrm>
          <a:prstGeom prst="roundRect">
            <a:avLst>
              <a:gd name="adj" fmla="val 10604"/>
            </a:avLst>
          </a:prstGeom>
          <a:solidFill>
            <a:srgbClr val="56C4D2"/>
          </a:solidFill>
          <a:ln>
            <a:noFill/>
          </a:ln>
        </p:spPr>
        <p:txBody>
          <a:bodyPr wrap="square" rtlCol="0" anchor="ctr" anchorCtr="0">
            <a:noAutofit/>
          </a:bodyPr>
          <a:lstStyle/>
          <a:p>
            <a:pPr algn="ctr"/>
            <a:r>
              <a:rPr lang="en-US" altLang="zh-CN" sz="1700" b="1" dirty="0">
                <a:solidFill>
                  <a:prstClr val="white"/>
                </a:solidFill>
                <a:latin typeface="Huawei Sans" panose="020C0503030203020204" pitchFamily="34" charset="0"/>
                <a:ea typeface="方正兰亭黑简体" panose="02000000000000000000" pitchFamily="2" charset="-122"/>
              </a:rPr>
              <a:t>REST</a:t>
            </a:r>
            <a:r>
              <a:rPr lang="zh-CN" altLang="en-US" sz="1700" b="1" dirty="0">
                <a:solidFill>
                  <a:prstClr val="white"/>
                </a:solidFill>
                <a:latin typeface="Huawei Sans" panose="020C0503030203020204" pitchFamily="34" charset="0"/>
                <a:ea typeface="方正兰亭黑简体" panose="02000000000000000000" pitchFamily="2" charset="-122"/>
              </a:rPr>
              <a:t>出现</a:t>
            </a:r>
            <a:r>
              <a:rPr lang="zh-CN" altLang="en-US" sz="1700" b="1">
                <a:solidFill>
                  <a:prstClr val="white"/>
                </a:solidFill>
                <a:latin typeface="Huawei Sans" panose="020C0503030203020204" pitchFamily="34" charset="0"/>
                <a:ea typeface="方正兰亭黑简体" panose="02000000000000000000" pitchFamily="2" charset="-122"/>
              </a:rPr>
              <a:t>之后：无</a:t>
            </a:r>
            <a:r>
              <a:rPr lang="zh-CN" altLang="en-US" sz="1700" b="1" dirty="0">
                <a:solidFill>
                  <a:prstClr val="white"/>
                </a:solidFill>
                <a:latin typeface="Huawei Sans" panose="020C0503030203020204" pitchFamily="34" charset="0"/>
                <a:ea typeface="方正兰亭黑简体" panose="02000000000000000000" pitchFamily="2" charset="-122"/>
              </a:rPr>
              <a:t>状态</a:t>
            </a:r>
          </a:p>
        </p:txBody>
      </p:sp>
      <p:sp>
        <p:nvSpPr>
          <p:cNvPr id="13" name="圆角矩形 75"/>
          <p:cNvSpPr/>
          <p:nvPr/>
        </p:nvSpPr>
        <p:spPr bwMode="gray">
          <a:xfrm>
            <a:off x="524548" y="3003920"/>
            <a:ext cx="5175407" cy="356652"/>
          </a:xfrm>
          <a:prstGeom prst="roundRect">
            <a:avLst>
              <a:gd name="adj" fmla="val 10604"/>
            </a:avLst>
          </a:prstGeom>
          <a:solidFill>
            <a:srgbClr val="56C4D2"/>
          </a:solidFill>
          <a:ln>
            <a:noFill/>
          </a:ln>
        </p:spPr>
        <p:txBody>
          <a:bodyPr wrap="square" rtlCol="0" anchor="ctr" anchorCtr="0">
            <a:noAutofit/>
          </a:bodyPr>
          <a:lstStyle/>
          <a:p>
            <a:pPr algn="ctr" fontAlgn="auto">
              <a:spcBef>
                <a:spcPts val="0"/>
              </a:spcBef>
              <a:spcAft>
                <a:spcPts val="0"/>
              </a:spcAft>
            </a:pPr>
            <a:r>
              <a:rPr lang="en-US" altLang="zh-CN" sz="1700" b="1" dirty="0">
                <a:solidFill>
                  <a:prstClr val="white"/>
                </a:solidFill>
                <a:latin typeface="Huawei Sans" panose="020C0503030203020204" pitchFamily="34" charset="0"/>
                <a:ea typeface="方正兰亭黑简体" panose="02000000000000000000" pitchFamily="2" charset="-122"/>
              </a:rPr>
              <a:t>REST</a:t>
            </a:r>
            <a:r>
              <a:rPr lang="zh-CN" altLang="en-US" sz="1700" b="1" dirty="0">
                <a:solidFill>
                  <a:prstClr val="white"/>
                </a:solidFill>
                <a:latin typeface="Huawei Sans" panose="020C0503030203020204" pitchFamily="34" charset="0"/>
                <a:ea typeface="方正兰亭黑简体" panose="02000000000000000000" pitchFamily="2" charset="-122"/>
              </a:rPr>
              <a:t>出现之前：有状态和无状态混杂</a:t>
            </a:r>
          </a:p>
        </p:txBody>
      </p:sp>
      <p:sp>
        <p:nvSpPr>
          <p:cNvPr id="14" name="圆角矩形 75"/>
          <p:cNvSpPr/>
          <p:nvPr/>
        </p:nvSpPr>
        <p:spPr bwMode="gray">
          <a:xfrm>
            <a:off x="5798797" y="3411864"/>
            <a:ext cx="5868654" cy="262999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圆角矩形 75"/>
          <p:cNvSpPr/>
          <p:nvPr/>
        </p:nvSpPr>
        <p:spPr bwMode="gray">
          <a:xfrm>
            <a:off x="524548" y="3411864"/>
            <a:ext cx="5175407" cy="262999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矩形 16"/>
          <p:cNvSpPr/>
          <p:nvPr/>
        </p:nvSpPr>
        <p:spPr bwMode="gray">
          <a:xfrm>
            <a:off x="5883370" y="3698416"/>
            <a:ext cx="5555919" cy="1846659"/>
          </a:xfrm>
          <a:prstGeom prst="rect">
            <a:avLst/>
          </a:prstGeom>
        </p:spPr>
        <p:txBody>
          <a:bodyPr wrap="square">
            <a:spAutoFit/>
          </a:bodyPr>
          <a:lstStyle/>
          <a:p>
            <a:pPr fontAlgn="auto">
              <a:lnSpc>
                <a:spcPct val="150000"/>
              </a:lnSpc>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rPr>
              <a:t>REST</a:t>
            </a:r>
            <a:r>
              <a:rPr lang="zh-CN" altLang="en-US" sz="1600" dirty="0">
                <a:solidFill>
                  <a:prstClr val="black"/>
                </a:solidFill>
                <a:latin typeface="Huawei Sans" panose="020C0503030203020204" pitchFamily="34" charset="0"/>
                <a:ea typeface="方正兰亭黑简体" panose="02000000000000000000" pitchFamily="2" charset="-122"/>
              </a:rPr>
              <a:t>架构下，一次请求就可以获得需要的结果，如工资可以直接通过以下</a:t>
            </a:r>
            <a:r>
              <a:rPr lang="en-US" altLang="zh-CN" sz="1600" dirty="0">
                <a:solidFill>
                  <a:prstClr val="black"/>
                </a:solidFill>
                <a:latin typeface="Huawei Sans" panose="020C0503030203020204" pitchFamily="34" charset="0"/>
                <a:ea typeface="方正兰亭黑简体" panose="02000000000000000000" pitchFamily="2" charset="-122"/>
              </a:rPr>
              <a:t>URI</a:t>
            </a:r>
            <a:r>
              <a:rPr lang="zh-CN" altLang="en-US" sz="1600" dirty="0">
                <a:solidFill>
                  <a:prstClr val="black"/>
                </a:solidFill>
                <a:latin typeface="Huawei Sans" panose="020C0503030203020204" pitchFamily="34" charset="0"/>
                <a:ea typeface="方正兰亭黑简体" panose="02000000000000000000" pitchFamily="2" charset="-122"/>
              </a:rPr>
              <a:t>查询：</a:t>
            </a:r>
            <a:endParaRPr lang="en-US" altLang="zh-CN" sz="1600" dirty="0">
              <a:solidFill>
                <a:prstClr val="black"/>
              </a:solidFill>
              <a:latin typeface="Huawei Sans" panose="020C0503030203020204" pitchFamily="34" charset="0"/>
              <a:ea typeface="方正兰亭黑简体" panose="02000000000000000000" pitchFamily="2" charset="-122"/>
            </a:endParaRPr>
          </a:p>
          <a:p>
            <a:pPr fontAlgn="auto">
              <a:lnSpc>
                <a:spcPct val="150000"/>
              </a:lnSpc>
              <a:spcBef>
                <a:spcPts val="0"/>
              </a:spcBef>
              <a:spcAft>
                <a:spcPts val="0"/>
              </a:spcAft>
            </a:pPr>
            <a:r>
              <a:rPr lang="zh-CN" altLang="en-US" sz="1400" dirty="0">
                <a:solidFill>
                  <a:prstClr val="black"/>
                </a:solidFill>
                <a:latin typeface="Huawei Sans" panose="020C0503030203020204" pitchFamily="34" charset="0"/>
                <a:ea typeface="方正兰亭黑简体" panose="02000000000000000000" pitchFamily="2" charset="-122"/>
              </a:rPr>
              <a:t>   张三工资：</a:t>
            </a:r>
            <a:r>
              <a:rPr lang="en-US" altLang="zh-CN" sz="1400" dirty="0">
                <a:latin typeface="Huawei Sans" panose="020C0503030203020204" pitchFamily="34" charset="0"/>
                <a:ea typeface="方正兰亭黑简体" panose="02000000000000000000" pitchFamily="2" charset="-122"/>
              </a:rPr>
              <a:t>http://oa.company.com/salary/zhangsan</a:t>
            </a:r>
          </a:p>
          <a:p>
            <a:pPr>
              <a:lnSpc>
                <a:spcPct val="150000"/>
              </a:lnSpc>
            </a:pPr>
            <a:r>
              <a:rPr lang="zh-CN" altLang="en-US" sz="1400" dirty="0">
                <a:latin typeface="Huawei Sans" panose="020C0503030203020204" pitchFamily="34" charset="0"/>
                <a:ea typeface="方正兰亭黑简体" panose="02000000000000000000" pitchFamily="2" charset="-122"/>
              </a:rPr>
              <a:t>   李四工资：</a:t>
            </a:r>
            <a:r>
              <a:rPr lang="en-US" altLang="zh-CN" sz="1400" dirty="0">
                <a:latin typeface="Huawei Sans" panose="020C0503030203020204" pitchFamily="34" charset="0"/>
                <a:ea typeface="方正兰亭黑简体" panose="02000000000000000000" pitchFamily="2" charset="-122"/>
              </a:rPr>
              <a:t>http://oa.company.com/salary/lisi</a:t>
            </a:r>
          </a:p>
          <a:p>
            <a:pPr fontAlgn="auto">
              <a:lnSpc>
                <a:spcPct val="150000"/>
              </a:lnSpc>
              <a:spcBef>
                <a:spcPts val="0"/>
              </a:spcBef>
              <a:spcAft>
                <a:spcPts val="0"/>
              </a:spcAft>
            </a:pPr>
            <a:endParaRPr lang="en-US" altLang="zh-CN" sz="1600" dirty="0">
              <a:solidFill>
                <a:prstClr val="black"/>
              </a:solidFill>
              <a:latin typeface="Arial"/>
              <a:ea typeface="微软雅黑"/>
            </a:endParaRPr>
          </a:p>
        </p:txBody>
      </p:sp>
      <p:grpSp>
        <p:nvGrpSpPr>
          <p:cNvPr id="7" name="组合 6"/>
          <p:cNvGrpSpPr/>
          <p:nvPr/>
        </p:nvGrpSpPr>
        <p:grpSpPr bwMode="gray">
          <a:xfrm>
            <a:off x="4158323" y="3530113"/>
            <a:ext cx="1412312" cy="2408168"/>
            <a:chOff x="867901" y="3255957"/>
            <a:chExt cx="1800000" cy="3090645"/>
          </a:xfrm>
        </p:grpSpPr>
        <p:grpSp>
          <p:nvGrpSpPr>
            <p:cNvPr id="19" name="组合 18"/>
            <p:cNvGrpSpPr/>
            <p:nvPr/>
          </p:nvGrpSpPr>
          <p:grpSpPr bwMode="gray">
            <a:xfrm>
              <a:off x="867901" y="3255957"/>
              <a:ext cx="1800000" cy="2196196"/>
              <a:chOff x="1702010" y="1844824"/>
              <a:chExt cx="1800000" cy="2196196"/>
            </a:xfrm>
          </p:grpSpPr>
          <p:sp>
            <p:nvSpPr>
              <p:cNvPr id="20" name="圆角矩形 19"/>
              <p:cNvSpPr/>
              <p:nvPr/>
            </p:nvSpPr>
            <p:spPr bwMode="gray">
              <a:xfrm>
                <a:off x="1702010" y="1844824"/>
                <a:ext cx="1800000" cy="432000"/>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登陆</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OA</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1702010" y="2726922"/>
                <a:ext cx="1800000" cy="432000"/>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进入个人中心</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1702010" y="3609020"/>
                <a:ext cx="1800000" cy="432000"/>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进入薪资查询</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箭头连接符 22"/>
              <p:cNvCxnSpPr>
                <a:stCxn id="20" idx="2"/>
                <a:endCxn id="21" idx="0"/>
              </p:cNvCxnSpPr>
              <p:nvPr/>
            </p:nvCxnSpPr>
            <p:spPr bwMode="gray">
              <a:xfrm>
                <a:off x="2602010" y="2276824"/>
                <a:ext cx="0" cy="450098"/>
              </a:xfrm>
              <a:prstGeom prst="straightConnector1">
                <a:avLst/>
              </a:prstGeom>
              <a:noFill/>
              <a:ln w="19050" cap="flat" cmpd="sng" algn="ctr">
                <a:solidFill>
                  <a:schemeClr val="tx1"/>
                </a:solidFill>
                <a:prstDash val="solid"/>
                <a:round/>
                <a:headEnd type="none" w="med" len="med"/>
                <a:tailEnd type="triangle"/>
              </a:ln>
              <a:effectLst/>
            </p:spPr>
          </p:cxnSp>
          <p:cxnSp>
            <p:nvCxnSpPr>
              <p:cNvPr id="24" name="直接箭头连接符 23"/>
              <p:cNvCxnSpPr>
                <a:stCxn id="21" idx="2"/>
                <a:endCxn id="22" idx="0"/>
              </p:cNvCxnSpPr>
              <p:nvPr/>
            </p:nvCxnSpPr>
            <p:spPr bwMode="gray">
              <a:xfrm>
                <a:off x="2602010" y="3158922"/>
                <a:ext cx="0" cy="450098"/>
              </a:xfrm>
              <a:prstGeom prst="straightConnector1">
                <a:avLst/>
              </a:prstGeom>
              <a:noFill/>
              <a:ln w="19050" cap="flat" cmpd="sng" algn="ctr">
                <a:solidFill>
                  <a:schemeClr val="tx1"/>
                </a:solidFill>
                <a:prstDash val="solid"/>
                <a:round/>
                <a:headEnd type="none" w="med" len="med"/>
                <a:tailEnd type="triangle"/>
              </a:ln>
              <a:effectLst/>
            </p:spPr>
          </p:cxnSp>
        </p:grpSp>
        <p:sp>
          <p:nvSpPr>
            <p:cNvPr id="31" name="圆角矩形 30"/>
            <p:cNvSpPr/>
            <p:nvPr/>
          </p:nvSpPr>
          <p:spPr bwMode="gray">
            <a:xfrm>
              <a:off x="867901" y="5914602"/>
              <a:ext cx="1800000" cy="432000"/>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查看工资</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32" name="直接箭头连接符 31"/>
          <p:cNvCxnSpPr>
            <a:stCxn id="22" idx="2"/>
            <a:endCxn id="31" idx="0"/>
          </p:cNvCxnSpPr>
          <p:nvPr/>
        </p:nvCxnSpPr>
        <p:spPr bwMode="gray">
          <a:xfrm>
            <a:off x="4864479" y="5241344"/>
            <a:ext cx="0" cy="360331"/>
          </a:xfrm>
          <a:prstGeom prst="straightConnector1">
            <a:avLst/>
          </a:prstGeom>
          <a:noFill/>
          <a:ln w="19050" cap="flat" cmpd="sng" algn="ctr">
            <a:solidFill>
              <a:schemeClr val="tx1"/>
            </a:solidFill>
            <a:prstDash val="solid"/>
            <a:round/>
            <a:headEnd type="none" w="med" len="med"/>
            <a:tailEnd type="triangle"/>
          </a:ln>
          <a:effectLst/>
        </p:spPr>
      </p:cxnSp>
      <p:sp>
        <p:nvSpPr>
          <p:cNvPr id="33" name="矩形 32"/>
          <p:cNvSpPr/>
          <p:nvPr/>
        </p:nvSpPr>
        <p:spPr bwMode="gray">
          <a:xfrm>
            <a:off x="645226" y="3490735"/>
            <a:ext cx="3414255" cy="1692771"/>
          </a:xfrm>
          <a:prstGeom prst="rect">
            <a:avLst/>
          </a:prstGeom>
        </p:spPr>
        <p:txBody>
          <a:bodyPr wrap="square">
            <a:spAutoFit/>
          </a:bodyPr>
          <a:lstStyle/>
          <a:p>
            <a:pPr fontAlgn="base">
              <a:lnSpc>
                <a:spcPct val="130000"/>
              </a:lnSpc>
              <a:spcBef>
                <a:spcPct val="0"/>
              </a:spcBef>
              <a:spcAft>
                <a:spcPct val="0"/>
              </a:spcAft>
            </a:pPr>
            <a:r>
              <a:rPr lang="zh-CN" altLang="en-US" sz="1600" dirty="0">
                <a:solidFill>
                  <a:prstClr val="black"/>
                </a:solidFill>
                <a:latin typeface="Huawei Sans" panose="020C0503030203020204" pitchFamily="34" charset="0"/>
                <a:ea typeface="方正兰亭黑简体" panose="02000000000000000000" pitchFamily="2" charset="-122"/>
              </a:rPr>
              <a:t>有状态无状态混杂导致</a:t>
            </a:r>
            <a:r>
              <a:rPr lang="zh-CN" altLang="en-US" sz="1600" dirty="0"/>
              <a:t>客户端需要多次请求信息才能获得需要的结果，</a:t>
            </a:r>
            <a:r>
              <a:rPr lang="zh-CN" altLang="en-US" sz="1600" dirty="0">
                <a:solidFill>
                  <a:prstClr val="black"/>
                </a:solidFill>
                <a:latin typeface="Huawei Sans" panose="020C0503030203020204" pitchFamily="34" charset="0"/>
                <a:ea typeface="方正兰亭黑简体" panose="02000000000000000000" pitchFamily="2" charset="-122"/>
              </a:rPr>
              <a:t>如登陆</a:t>
            </a:r>
            <a:r>
              <a:rPr lang="en-US" altLang="zh-CN" sz="1600" dirty="0">
                <a:solidFill>
                  <a:prstClr val="black"/>
                </a:solidFill>
                <a:latin typeface="Huawei Sans" panose="020C0503030203020204" pitchFamily="34" charset="0"/>
                <a:ea typeface="方正兰亭黑简体" panose="02000000000000000000" pitchFamily="2" charset="-122"/>
              </a:rPr>
              <a:t>OA</a:t>
            </a:r>
            <a:r>
              <a:rPr lang="zh-CN" altLang="en-US" sz="1600" dirty="0">
                <a:solidFill>
                  <a:prstClr val="black"/>
                </a:solidFill>
                <a:latin typeface="Huawei Sans" panose="020C0503030203020204" pitchFamily="34" charset="0"/>
                <a:ea typeface="方正兰亭黑简体" panose="02000000000000000000" pitchFamily="2" charset="-122"/>
              </a:rPr>
              <a:t>查看工资需要经过图示步骤。流程繁琐影响用户体验。</a:t>
            </a:r>
            <a:endParaRPr lang="en-US" altLang="zh-CN" sz="1600" dirty="0">
              <a:solidFill>
                <a:prstClr val="black"/>
              </a:solidFill>
              <a:latin typeface="Huawei Sans" panose="020C0503030203020204" pitchFamily="34" charset="0"/>
              <a:ea typeface="方正兰亭黑简体" panose="02000000000000000000" pitchFamily="2" charset="-122"/>
            </a:endParaRPr>
          </a:p>
          <a:p>
            <a:pPr fontAlgn="base">
              <a:lnSpc>
                <a:spcPct val="130000"/>
              </a:lnSpc>
              <a:spcBef>
                <a:spcPct val="0"/>
              </a:spcBef>
              <a:spcAft>
                <a:spcPct val="0"/>
              </a:spcAft>
            </a:pPr>
            <a:r>
              <a:rPr lang="zh-CN" altLang="en-US" sz="1600" b="1" dirty="0">
                <a:latin typeface="Huawei Sans" panose="020C0503030203020204" pitchFamily="34" charset="0"/>
                <a:ea typeface="方正兰亭黑简体" panose="02000000000000000000" pitchFamily="2" charset="-122"/>
              </a:rPr>
              <a:t>没有一个</a:t>
            </a:r>
            <a:r>
              <a:rPr lang="en-US" altLang="zh-CN" sz="1600" b="1" dirty="0">
                <a:latin typeface="Huawei Sans" panose="020C0503030203020204" pitchFamily="34" charset="0"/>
                <a:ea typeface="方正兰亭黑简体" panose="02000000000000000000" pitchFamily="2" charset="-122"/>
              </a:rPr>
              <a:t>URI</a:t>
            </a:r>
            <a:r>
              <a:rPr lang="zh-CN" altLang="en-US" sz="1600" b="1" dirty="0">
                <a:latin typeface="Huawei Sans" panose="020C0503030203020204" pitchFamily="34" charset="0"/>
                <a:ea typeface="方正兰亭黑简体" panose="02000000000000000000" pitchFamily="2" charset="-122"/>
              </a:rPr>
              <a:t>能够直接定位。</a:t>
            </a:r>
          </a:p>
        </p:txBody>
      </p:sp>
    </p:spTree>
    <p:extLst>
      <p:ext uri="{BB962C8B-B14F-4D97-AF65-F5344CB8AC3E}">
        <p14:creationId xmlns:p14="http://schemas.microsoft.com/office/powerpoint/2010/main" val="2973061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接口演进：前后端分离 </a:t>
            </a:r>
            <a:r>
              <a:rPr lang="en-US" altLang="zh-CN"/>
              <a:t>(1)</a:t>
            </a:r>
            <a:endParaRPr lang="zh-CN" altLang="en-US" dirty="0"/>
          </a:p>
        </p:txBody>
      </p:sp>
      <p:sp>
        <p:nvSpPr>
          <p:cNvPr id="7" name="文本占位符 6"/>
          <p:cNvSpPr>
            <a:spLocks noGrp="1"/>
          </p:cNvSpPr>
          <p:nvPr>
            <p:ph type="body" sz="quarter" idx="10"/>
          </p:nvPr>
        </p:nvSpPr>
        <p:spPr bwMode="gray"/>
        <p:txBody>
          <a:bodyPr/>
          <a:lstStyle/>
          <a:p>
            <a:r>
              <a:rPr lang="en-US" altLang="zh-CN" sz="1800" dirty="0"/>
              <a:t>REST</a:t>
            </a:r>
            <a:r>
              <a:rPr lang="zh-CN" altLang="en-US" sz="1800" dirty="0"/>
              <a:t>跨平台兼容性好，实现了前后端分离。</a:t>
            </a:r>
          </a:p>
          <a:p>
            <a:pPr lvl="1"/>
            <a:r>
              <a:rPr lang="zh-CN" altLang="en-US" sz="1600" dirty="0"/>
              <a:t>前端主要涉及用户所能看到的展示界面。</a:t>
            </a:r>
          </a:p>
          <a:p>
            <a:pPr lvl="1"/>
            <a:r>
              <a:rPr lang="zh-CN" altLang="en-US" sz="1600" dirty="0"/>
              <a:t>后端主要涉及数据处理的逻辑功能。</a:t>
            </a:r>
          </a:p>
          <a:p>
            <a:endParaRPr lang="zh-CN" altLang="en-US" sz="1800" dirty="0"/>
          </a:p>
          <a:p>
            <a:endParaRPr lang="zh-CN" altLang="en-US" sz="1800" dirty="0"/>
          </a:p>
        </p:txBody>
      </p:sp>
      <p:sp>
        <p:nvSpPr>
          <p:cNvPr id="5"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latin typeface="Huawei Sans" panose="020C0503030203020204" pitchFamily="34" charset="0"/>
              <a:ea typeface="方正兰亭黑简体" panose="02000000000000000000" pitchFamily="2" charset="-122"/>
            </a:endParaRPr>
          </a:p>
        </p:txBody>
      </p:sp>
      <p:grpSp>
        <p:nvGrpSpPr>
          <p:cNvPr id="2" name="组合 1"/>
          <p:cNvGrpSpPr/>
          <p:nvPr/>
        </p:nvGrpSpPr>
        <p:grpSpPr bwMode="gray">
          <a:xfrm>
            <a:off x="469934" y="2481297"/>
            <a:ext cx="11276184" cy="392209"/>
            <a:chOff x="468317" y="1523939"/>
            <a:chExt cx="11276184" cy="354508"/>
          </a:xfrm>
        </p:grpSpPr>
        <p:sp>
          <p:nvSpPr>
            <p:cNvPr id="12" name="圆角矩形 75"/>
            <p:cNvSpPr/>
            <p:nvPr/>
          </p:nvSpPr>
          <p:spPr bwMode="gray">
            <a:xfrm>
              <a:off x="6228718" y="1523939"/>
              <a:ext cx="5515783" cy="354508"/>
            </a:xfrm>
            <a:prstGeom prst="roundRect">
              <a:avLst>
                <a:gd name="adj" fmla="val 10604"/>
              </a:avLst>
            </a:prstGeom>
            <a:solidFill>
              <a:srgbClr val="56C4D2"/>
            </a:solidFill>
            <a:ln>
              <a:noFill/>
            </a:ln>
          </p:spPr>
          <p:txBody>
            <a:bodyPr wrap="square" rtlCol="0" anchor="ctr" anchorCtr="0">
              <a:noAutofit/>
            </a:bodyPr>
            <a:lstStyle/>
            <a:p>
              <a:pPr algn="ctr"/>
              <a:r>
                <a:rPr lang="en-US" altLang="zh-CN" sz="1700" b="1">
                  <a:solidFill>
                    <a:prstClr val="white"/>
                  </a:solidFill>
                  <a:latin typeface="Huawei Sans" panose="020C0503030203020204" pitchFamily="34" charset="0"/>
                  <a:ea typeface="方正兰亭黑简体" panose="02000000000000000000" pitchFamily="2" charset="-122"/>
                </a:rPr>
                <a:t>REST</a:t>
              </a:r>
              <a:r>
                <a:rPr lang="zh-CN" altLang="en-US" sz="1700" b="1">
                  <a:solidFill>
                    <a:prstClr val="white"/>
                  </a:solidFill>
                  <a:latin typeface="Huawei Sans" panose="020C0503030203020204" pitchFamily="34" charset="0"/>
                  <a:ea typeface="方正兰亭黑简体" panose="02000000000000000000" pitchFamily="2" charset="-122"/>
                </a:rPr>
                <a:t>出现之后：前后端分离</a:t>
              </a:r>
            </a:p>
          </p:txBody>
        </p:sp>
        <p:sp>
          <p:nvSpPr>
            <p:cNvPr id="13" name="圆角矩形 75"/>
            <p:cNvSpPr/>
            <p:nvPr/>
          </p:nvSpPr>
          <p:spPr bwMode="gray">
            <a:xfrm>
              <a:off x="468317" y="1543675"/>
              <a:ext cx="5674710" cy="329192"/>
            </a:xfrm>
            <a:prstGeom prst="roundRect">
              <a:avLst>
                <a:gd name="adj" fmla="val 10604"/>
              </a:avLst>
            </a:prstGeom>
            <a:solidFill>
              <a:srgbClr val="56C4D2"/>
            </a:solidFill>
            <a:ln>
              <a:noFill/>
            </a:ln>
          </p:spPr>
          <p:txBody>
            <a:bodyPr wrap="square" rtlCol="0" anchor="ctr" anchorCtr="0">
              <a:noAutofit/>
            </a:bodyPr>
            <a:lstStyle/>
            <a:p>
              <a:pPr algn="ctr"/>
              <a:r>
                <a:rPr lang="en-US" altLang="zh-CN" sz="1700" b="1">
                  <a:solidFill>
                    <a:prstClr val="white"/>
                  </a:solidFill>
                  <a:latin typeface="Huawei Sans" panose="020C0503030203020204" pitchFamily="34" charset="0"/>
                  <a:ea typeface="方正兰亭黑简体" panose="02000000000000000000" pitchFamily="2" charset="-122"/>
                </a:rPr>
                <a:t>REST</a:t>
              </a:r>
              <a:r>
                <a:rPr lang="zh-CN" altLang="en-US" sz="1700" b="1">
                  <a:solidFill>
                    <a:prstClr val="white"/>
                  </a:solidFill>
                  <a:latin typeface="Huawei Sans" panose="020C0503030203020204" pitchFamily="34" charset="0"/>
                  <a:ea typeface="方正兰亭黑简体" panose="02000000000000000000" pitchFamily="2" charset="-122"/>
                </a:rPr>
                <a:t>出现之前：前后端紧耦合</a:t>
              </a:r>
            </a:p>
          </p:txBody>
        </p:sp>
      </p:grpSp>
      <p:sp>
        <p:nvSpPr>
          <p:cNvPr id="88" name="圆角矩形 87"/>
          <p:cNvSpPr/>
          <p:nvPr/>
        </p:nvSpPr>
        <p:spPr bwMode="gray">
          <a:xfrm>
            <a:off x="2231279" y="3602653"/>
            <a:ext cx="3755166" cy="1527862"/>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圆角矩形 88"/>
          <p:cNvSpPr/>
          <p:nvPr/>
        </p:nvSpPr>
        <p:spPr bwMode="gray">
          <a:xfrm>
            <a:off x="3614720" y="3702921"/>
            <a:ext cx="931882" cy="388353"/>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Controller</a:t>
            </a:r>
          </a:p>
          <a:p>
            <a:pPr algn="ctr" fontAlgn="auto">
              <a:spcBef>
                <a:spcPts val="0"/>
              </a:spcBef>
              <a:spcAft>
                <a:spcPts val="0"/>
              </a:spcAft>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(Servlet)</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圆角矩形 89"/>
          <p:cNvSpPr/>
          <p:nvPr/>
        </p:nvSpPr>
        <p:spPr bwMode="gray">
          <a:xfrm>
            <a:off x="4498650" y="4576149"/>
            <a:ext cx="1090201" cy="388353"/>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Model</a:t>
            </a:r>
          </a:p>
          <a:p>
            <a:pPr algn="ctr" fontAlgn="auto">
              <a:spcBef>
                <a:spcPts val="0"/>
              </a:spcBef>
              <a:spcAft>
                <a:spcPts val="0"/>
              </a:spcAft>
            </a:pP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(Java Beans)</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圆角矩形 90"/>
          <p:cNvSpPr/>
          <p:nvPr/>
        </p:nvSpPr>
        <p:spPr bwMode="gray">
          <a:xfrm>
            <a:off x="2649822" y="4576149"/>
            <a:ext cx="973521" cy="388353"/>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View</a:t>
            </a:r>
          </a:p>
          <a:p>
            <a:pPr algn="ctr" fontAlgn="auto">
              <a:spcBef>
                <a:spcPts val="0"/>
              </a:spcBef>
              <a:spcAft>
                <a:spcPts val="0"/>
              </a:spcAft>
            </a:pP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(JSP)</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2" name="直接箭头连接符 91"/>
          <p:cNvCxnSpPr/>
          <p:nvPr/>
        </p:nvCxnSpPr>
        <p:spPr bwMode="gray">
          <a:xfrm flipH="1">
            <a:off x="3460967" y="4083978"/>
            <a:ext cx="455840" cy="488680"/>
          </a:xfrm>
          <a:prstGeom prst="straightConnector1">
            <a:avLst/>
          </a:prstGeom>
          <a:noFill/>
          <a:ln w="19050" cap="flat" cmpd="sng" algn="ctr">
            <a:solidFill>
              <a:srgbClr val="EC7061"/>
            </a:solidFill>
            <a:prstDash val="solid"/>
            <a:round/>
            <a:headEnd type="none" w="med" len="med"/>
            <a:tailEnd type="triangle"/>
          </a:ln>
          <a:effectLst/>
        </p:spPr>
      </p:cxnSp>
      <p:cxnSp>
        <p:nvCxnSpPr>
          <p:cNvPr id="93" name="直接箭头连接符 92">
            <a:extLst>
              <a:ext uri="{FF2B5EF4-FFF2-40B4-BE49-F238E27FC236}">
                <a16:creationId xmlns:a16="http://schemas.microsoft.com/office/drawing/2014/main" id="{BA877C97-A666-4A1C-8CE5-234683096791}"/>
              </a:ext>
            </a:extLst>
          </p:cNvPr>
          <p:cNvCxnSpPr>
            <a:cxnSpLocks/>
          </p:cNvCxnSpPr>
          <p:nvPr/>
        </p:nvCxnSpPr>
        <p:spPr bwMode="gray">
          <a:xfrm>
            <a:off x="1488011" y="3976653"/>
            <a:ext cx="742152" cy="0"/>
          </a:xfrm>
          <a:prstGeom prst="straightConnector1">
            <a:avLst/>
          </a:prstGeom>
          <a:ln w="44450">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BA877C97-A666-4A1C-8CE5-234683096791}"/>
              </a:ext>
            </a:extLst>
          </p:cNvPr>
          <p:cNvCxnSpPr>
            <a:cxnSpLocks/>
          </p:cNvCxnSpPr>
          <p:nvPr/>
        </p:nvCxnSpPr>
        <p:spPr bwMode="gray">
          <a:xfrm flipH="1">
            <a:off x="1482192" y="4770326"/>
            <a:ext cx="747971" cy="1"/>
          </a:xfrm>
          <a:prstGeom prst="straightConnector1">
            <a:avLst/>
          </a:prstGeom>
          <a:ln w="44450">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bwMode="gray">
          <a:xfrm>
            <a:off x="1587947" y="3583775"/>
            <a:ext cx="1142894" cy="276999"/>
          </a:xfrm>
          <a:prstGeom prst="rect">
            <a:avLst/>
          </a:prstGeom>
          <a:noFill/>
        </p:spPr>
        <p:txBody>
          <a:bodyPr wrap="square" rtlCol="0">
            <a:spAutoFit/>
          </a:bodyPr>
          <a:lstStyle/>
          <a:p>
            <a:r>
              <a:rPr lang="zh-CN" altLang="en-US" sz="1200"/>
              <a:t>请求</a:t>
            </a:r>
          </a:p>
        </p:txBody>
      </p:sp>
      <p:sp>
        <p:nvSpPr>
          <p:cNvPr id="97" name="文本框 96"/>
          <p:cNvSpPr txBox="1"/>
          <p:nvPr/>
        </p:nvSpPr>
        <p:spPr bwMode="gray">
          <a:xfrm>
            <a:off x="1605746" y="4845929"/>
            <a:ext cx="1142894" cy="276999"/>
          </a:xfrm>
          <a:prstGeom prst="rect">
            <a:avLst/>
          </a:prstGeom>
          <a:noFill/>
        </p:spPr>
        <p:txBody>
          <a:bodyPr wrap="square" rtlCol="0">
            <a:spAutoFit/>
          </a:bodyPr>
          <a:lstStyle/>
          <a:p>
            <a:r>
              <a:rPr lang="zh-CN" altLang="en-US" sz="1200"/>
              <a:t>响应</a:t>
            </a:r>
          </a:p>
        </p:txBody>
      </p:sp>
      <p:cxnSp>
        <p:nvCxnSpPr>
          <p:cNvPr id="98" name="直接箭头连接符 97"/>
          <p:cNvCxnSpPr/>
          <p:nvPr/>
        </p:nvCxnSpPr>
        <p:spPr bwMode="gray">
          <a:xfrm>
            <a:off x="4156117" y="4098365"/>
            <a:ext cx="523860" cy="474293"/>
          </a:xfrm>
          <a:prstGeom prst="straightConnector1">
            <a:avLst/>
          </a:prstGeom>
          <a:noFill/>
          <a:ln w="19050" cap="flat" cmpd="sng" algn="ctr">
            <a:solidFill>
              <a:srgbClr val="EC7061"/>
            </a:solidFill>
            <a:prstDash val="solid"/>
            <a:round/>
            <a:headEnd type="none" w="med" len="med"/>
            <a:tailEnd type="triangle"/>
          </a:ln>
          <a:effectLst/>
        </p:spPr>
      </p:cxnSp>
      <p:cxnSp>
        <p:nvCxnSpPr>
          <p:cNvPr id="99" name="直接箭头连接符 98"/>
          <p:cNvCxnSpPr/>
          <p:nvPr/>
        </p:nvCxnSpPr>
        <p:spPr bwMode="gray">
          <a:xfrm flipH="1">
            <a:off x="3623343" y="4663722"/>
            <a:ext cx="875309" cy="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100" name="圆角矩形 99"/>
          <p:cNvSpPr/>
          <p:nvPr/>
        </p:nvSpPr>
        <p:spPr bwMode="gray">
          <a:xfrm>
            <a:off x="603110" y="3726536"/>
            <a:ext cx="884901" cy="1310319"/>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客户端</a:t>
            </a:r>
          </a:p>
        </p:txBody>
      </p:sp>
      <p:sp>
        <p:nvSpPr>
          <p:cNvPr id="101" name="文本框 100"/>
          <p:cNvSpPr txBox="1"/>
          <p:nvPr/>
        </p:nvSpPr>
        <p:spPr bwMode="gray">
          <a:xfrm>
            <a:off x="4815083" y="3639839"/>
            <a:ext cx="1142894" cy="215291"/>
          </a:xfrm>
          <a:prstGeom prst="rect">
            <a:avLst/>
          </a:prstGeom>
          <a:noFill/>
        </p:spPr>
        <p:txBody>
          <a:bodyPr wrap="square" rtlCol="0">
            <a:spAutoFit/>
          </a:bodyPr>
          <a:lstStyle/>
          <a:p>
            <a:r>
              <a:rPr lang="zh-CN" altLang="en-US" sz="1400"/>
              <a:t>服务端</a:t>
            </a:r>
            <a:r>
              <a:rPr lang="en-US" altLang="zh-CN" sz="1400"/>
              <a:t>MVC</a:t>
            </a:r>
            <a:endParaRPr lang="zh-CN" altLang="en-US" sz="1400"/>
          </a:p>
        </p:txBody>
      </p:sp>
      <p:cxnSp>
        <p:nvCxnSpPr>
          <p:cNvPr id="102" name="直接连接符 101"/>
          <p:cNvCxnSpPr/>
          <p:nvPr/>
        </p:nvCxnSpPr>
        <p:spPr bwMode="gray">
          <a:xfrm>
            <a:off x="2273647" y="3976653"/>
            <a:ext cx="1329841" cy="0"/>
          </a:xfrm>
          <a:prstGeom prst="line">
            <a:avLst/>
          </a:prstGeom>
          <a:ln w="19050">
            <a:solidFill>
              <a:srgbClr val="EC7061"/>
            </a:solidFill>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91" idx="1"/>
          </p:cNvCxnSpPr>
          <p:nvPr/>
        </p:nvCxnSpPr>
        <p:spPr bwMode="gray">
          <a:xfrm flipH="1">
            <a:off x="2242100" y="4770326"/>
            <a:ext cx="407722" cy="3493"/>
          </a:xfrm>
          <a:prstGeom prst="line">
            <a:avLst/>
          </a:prstGeom>
          <a:ln w="19050">
            <a:solidFill>
              <a:srgbClr val="EC7061"/>
            </a:solidFill>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4" name="文本框 103"/>
          <p:cNvSpPr txBox="1"/>
          <p:nvPr/>
        </p:nvSpPr>
        <p:spPr bwMode="gray">
          <a:xfrm>
            <a:off x="4419699" y="4147652"/>
            <a:ext cx="576711" cy="276999"/>
          </a:xfrm>
          <a:prstGeom prst="rect">
            <a:avLst/>
          </a:prstGeom>
          <a:noFill/>
        </p:spPr>
        <p:txBody>
          <a:bodyPr wrap="square" rtlCol="0">
            <a:spAutoFit/>
          </a:bodyPr>
          <a:lstStyle/>
          <a:p>
            <a:r>
              <a:rPr lang="zh-CN" altLang="en-US" sz="1200"/>
              <a:t>数据</a:t>
            </a:r>
          </a:p>
        </p:txBody>
      </p:sp>
      <p:sp>
        <p:nvSpPr>
          <p:cNvPr id="105" name="文本框 104"/>
          <p:cNvSpPr txBox="1"/>
          <p:nvPr/>
        </p:nvSpPr>
        <p:spPr bwMode="gray">
          <a:xfrm>
            <a:off x="3837207" y="4738283"/>
            <a:ext cx="576711" cy="276999"/>
          </a:xfrm>
          <a:prstGeom prst="rect">
            <a:avLst/>
          </a:prstGeom>
          <a:noFill/>
        </p:spPr>
        <p:txBody>
          <a:bodyPr wrap="square" rtlCol="0">
            <a:spAutoFit/>
          </a:bodyPr>
          <a:lstStyle/>
          <a:p>
            <a:r>
              <a:rPr lang="zh-CN" altLang="en-US" sz="1200" dirty="0"/>
              <a:t>数据</a:t>
            </a:r>
          </a:p>
        </p:txBody>
      </p:sp>
      <p:sp>
        <p:nvSpPr>
          <p:cNvPr id="106" name="文本框 105"/>
          <p:cNvSpPr txBox="1"/>
          <p:nvPr/>
        </p:nvSpPr>
        <p:spPr bwMode="gray">
          <a:xfrm>
            <a:off x="3178643" y="4154241"/>
            <a:ext cx="576711" cy="276999"/>
          </a:xfrm>
          <a:prstGeom prst="rect">
            <a:avLst/>
          </a:prstGeom>
          <a:noFill/>
        </p:spPr>
        <p:txBody>
          <a:bodyPr wrap="square" rtlCol="0">
            <a:spAutoFit/>
          </a:bodyPr>
          <a:lstStyle/>
          <a:p>
            <a:r>
              <a:rPr lang="zh-CN" altLang="en-US" sz="1200"/>
              <a:t>渲染</a:t>
            </a:r>
          </a:p>
        </p:txBody>
      </p:sp>
      <p:sp>
        <p:nvSpPr>
          <p:cNvPr id="114" name="圆角矩形 75"/>
          <p:cNvSpPr/>
          <p:nvPr/>
        </p:nvSpPr>
        <p:spPr bwMode="gray">
          <a:xfrm>
            <a:off x="468193" y="2935894"/>
            <a:ext cx="5639833" cy="299166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22" name="图片 121" descr="故障链路.png"/>
          <p:cNvPicPr>
            <a:picLocks noChangeAspect="1"/>
          </p:cNvPicPr>
          <p:nvPr/>
        </p:nvPicPr>
        <p:blipFill>
          <a:blip r:embed="rId3" cstate="print"/>
          <a:stretch>
            <a:fillRect/>
          </a:stretch>
        </p:blipFill>
        <p:spPr bwMode="gray">
          <a:xfrm>
            <a:off x="6356746" y="5036855"/>
            <a:ext cx="609813" cy="432048"/>
          </a:xfrm>
          <a:prstGeom prst="rect">
            <a:avLst/>
          </a:prstGeom>
        </p:spPr>
      </p:pic>
      <p:pic>
        <p:nvPicPr>
          <p:cNvPr id="123" name="图片 122" descr="SAN网络-蓝.png"/>
          <p:cNvPicPr>
            <a:picLocks noChangeAspect="1"/>
          </p:cNvPicPr>
          <p:nvPr/>
        </p:nvPicPr>
        <p:blipFill>
          <a:blip r:embed="rId4" cstate="print"/>
          <a:stretch>
            <a:fillRect/>
          </a:stretch>
        </p:blipFill>
        <p:spPr bwMode="gray">
          <a:xfrm>
            <a:off x="6510588" y="3164800"/>
            <a:ext cx="302128" cy="470293"/>
          </a:xfrm>
          <a:prstGeom prst="rect">
            <a:avLst/>
          </a:prstGeom>
        </p:spPr>
      </p:pic>
      <p:pic>
        <p:nvPicPr>
          <p:cNvPr id="124" name="图片 123" descr="笔记本电脑.png"/>
          <p:cNvPicPr>
            <a:picLocks noChangeAspect="1"/>
          </p:cNvPicPr>
          <p:nvPr/>
        </p:nvPicPr>
        <p:blipFill>
          <a:blip r:embed="rId5" cstate="print"/>
          <a:stretch>
            <a:fillRect/>
          </a:stretch>
        </p:blipFill>
        <p:spPr bwMode="gray">
          <a:xfrm>
            <a:off x="6326164" y="4143579"/>
            <a:ext cx="609563" cy="363092"/>
          </a:xfrm>
          <a:prstGeom prst="rect">
            <a:avLst/>
          </a:prstGeom>
        </p:spPr>
      </p:pic>
      <p:grpSp>
        <p:nvGrpSpPr>
          <p:cNvPr id="125" name="组合 124"/>
          <p:cNvGrpSpPr/>
          <p:nvPr/>
        </p:nvGrpSpPr>
        <p:grpSpPr bwMode="gray">
          <a:xfrm>
            <a:off x="8085938" y="3980705"/>
            <a:ext cx="1912868" cy="544798"/>
            <a:chOff x="3418511" y="5248649"/>
            <a:chExt cx="2687897" cy="805712"/>
          </a:xfrm>
        </p:grpSpPr>
        <p:sp>
          <p:nvSpPr>
            <p:cNvPr id="139" name="Freeform 159"/>
            <p:cNvSpPr/>
            <p:nvPr/>
          </p:nvSpPr>
          <p:spPr bwMode="gray">
            <a:xfrm flipH="1">
              <a:off x="3418511" y="5248649"/>
              <a:ext cx="1541357" cy="8057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文本框 139"/>
            <p:cNvSpPr txBox="1"/>
            <p:nvPr/>
          </p:nvSpPr>
          <p:spPr bwMode="gray">
            <a:xfrm>
              <a:off x="3801380" y="5495103"/>
              <a:ext cx="2305028" cy="546212"/>
            </a:xfrm>
            <a:prstGeom prst="rect">
              <a:avLst/>
            </a:prstGeom>
            <a:noFill/>
          </p:spPr>
          <p:txBody>
            <a:bodyPr wrap="square" rtlCol="0">
              <a:spAutoFit/>
            </a:bodyPr>
            <a:lstStyle/>
            <a:p>
              <a:r>
                <a:rPr lang="en-US" altLang="zh-CN" b="1">
                  <a:solidFill>
                    <a:srgbClr val="A6A6A6"/>
                  </a:solidFill>
                  <a:latin typeface="Huawei Sans" panose="020C0503030203020204" pitchFamily="34" charset="0"/>
                  <a:ea typeface="方正兰亭黑简体" panose="02000000000000000000" pitchFamily="2" charset="-122"/>
                  <a:sym typeface="Huawei Sans" panose="020C0503030203020204" pitchFamily="34" charset="0"/>
                </a:rPr>
                <a:t>API</a:t>
              </a:r>
            </a:p>
          </p:txBody>
        </p:sp>
      </p:grpSp>
      <p:cxnSp>
        <p:nvCxnSpPr>
          <p:cNvPr id="126" name="直接箭头连接符 125"/>
          <p:cNvCxnSpPr>
            <a:stCxn id="123" idx="3"/>
          </p:cNvCxnSpPr>
          <p:nvPr/>
        </p:nvCxnSpPr>
        <p:spPr bwMode="gray">
          <a:xfrm>
            <a:off x="6812716" y="3399946"/>
            <a:ext cx="1158334" cy="709154"/>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a:stCxn id="124" idx="3"/>
          </p:cNvCxnSpPr>
          <p:nvPr/>
        </p:nvCxnSpPr>
        <p:spPr bwMode="gray">
          <a:xfrm flipV="1">
            <a:off x="6935727" y="4325125"/>
            <a:ext cx="1035324" cy="1"/>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a:stCxn id="122" idx="3"/>
          </p:cNvCxnSpPr>
          <p:nvPr/>
        </p:nvCxnSpPr>
        <p:spPr bwMode="gray">
          <a:xfrm flipV="1">
            <a:off x="6966559" y="4506671"/>
            <a:ext cx="1004492" cy="746208"/>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接箭头连接符 128"/>
          <p:cNvCxnSpPr/>
          <p:nvPr/>
        </p:nvCxnSpPr>
        <p:spPr bwMode="gray">
          <a:xfrm>
            <a:off x="9255076" y="4145646"/>
            <a:ext cx="994866" cy="9085"/>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130" name="矩形 129"/>
          <p:cNvSpPr/>
          <p:nvPr/>
        </p:nvSpPr>
        <p:spPr bwMode="gray">
          <a:xfrm>
            <a:off x="10416636" y="3921563"/>
            <a:ext cx="1045462" cy="596259"/>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服务端</a:t>
            </a:r>
            <a:endPar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文本框 130"/>
          <p:cNvSpPr txBox="1"/>
          <p:nvPr/>
        </p:nvSpPr>
        <p:spPr bwMode="gray">
          <a:xfrm>
            <a:off x="7391883" y="3474167"/>
            <a:ext cx="1094197" cy="276999"/>
          </a:xfrm>
          <a:prstGeom prst="rect">
            <a:avLst/>
          </a:prstGeom>
          <a:noFill/>
        </p:spPr>
        <p:txBody>
          <a:bodyPr wrap="square" rtlCol="0">
            <a:spAutoFit/>
          </a:bodyPr>
          <a:lstStyle/>
          <a:p>
            <a:r>
              <a:rPr lang="zh-CN" altLang="en-US" sz="1200" dirty="0"/>
              <a:t>请求</a:t>
            </a:r>
          </a:p>
        </p:txBody>
      </p:sp>
      <p:sp>
        <p:nvSpPr>
          <p:cNvPr id="132" name="文本框 131"/>
          <p:cNvSpPr txBox="1"/>
          <p:nvPr/>
        </p:nvSpPr>
        <p:spPr bwMode="gray">
          <a:xfrm>
            <a:off x="9495928" y="3875104"/>
            <a:ext cx="1094197" cy="276999"/>
          </a:xfrm>
          <a:prstGeom prst="rect">
            <a:avLst/>
          </a:prstGeom>
          <a:noFill/>
        </p:spPr>
        <p:txBody>
          <a:bodyPr wrap="square" rtlCol="0">
            <a:spAutoFit/>
          </a:bodyPr>
          <a:lstStyle/>
          <a:p>
            <a:r>
              <a:rPr lang="zh-CN" altLang="en-US" sz="1200"/>
              <a:t>请求</a:t>
            </a:r>
          </a:p>
        </p:txBody>
      </p:sp>
      <p:cxnSp>
        <p:nvCxnSpPr>
          <p:cNvPr id="133" name="直接箭头连接符 132"/>
          <p:cNvCxnSpPr/>
          <p:nvPr/>
        </p:nvCxnSpPr>
        <p:spPr bwMode="gray">
          <a:xfrm flipH="1" flipV="1">
            <a:off x="9256474" y="4279506"/>
            <a:ext cx="993468" cy="7827"/>
          </a:xfrm>
          <a:prstGeom prst="straightConnector1">
            <a:avLst/>
          </a:prstGeom>
          <a:ln w="190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p:nvPr/>
        </p:nvCxnSpPr>
        <p:spPr bwMode="gray">
          <a:xfrm flipH="1" flipV="1">
            <a:off x="6812716" y="3530238"/>
            <a:ext cx="1051250" cy="640017"/>
          </a:xfrm>
          <a:prstGeom prst="straightConnector1">
            <a:avLst/>
          </a:prstGeom>
          <a:ln w="190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p:cNvCxnSpPr/>
          <p:nvPr/>
        </p:nvCxnSpPr>
        <p:spPr bwMode="gray">
          <a:xfrm flipH="1">
            <a:off x="6951761" y="4436035"/>
            <a:ext cx="1003254" cy="0"/>
          </a:xfrm>
          <a:prstGeom prst="straightConnector1">
            <a:avLst/>
          </a:prstGeom>
          <a:ln w="190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6" name="直接箭头连接符 135"/>
          <p:cNvCxnSpPr/>
          <p:nvPr/>
        </p:nvCxnSpPr>
        <p:spPr bwMode="gray">
          <a:xfrm flipH="1">
            <a:off x="6996486" y="4659168"/>
            <a:ext cx="972422" cy="755373"/>
          </a:xfrm>
          <a:prstGeom prst="straightConnector1">
            <a:avLst/>
          </a:prstGeom>
          <a:ln w="190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37" name="文本框 136"/>
          <p:cNvSpPr txBox="1"/>
          <p:nvPr/>
        </p:nvSpPr>
        <p:spPr bwMode="gray">
          <a:xfrm>
            <a:off x="7251868" y="4010472"/>
            <a:ext cx="1094197" cy="276999"/>
          </a:xfrm>
          <a:prstGeom prst="rect">
            <a:avLst/>
          </a:prstGeom>
          <a:noFill/>
        </p:spPr>
        <p:txBody>
          <a:bodyPr wrap="square" rtlCol="0">
            <a:spAutoFit/>
          </a:bodyPr>
          <a:lstStyle/>
          <a:p>
            <a:r>
              <a:rPr lang="zh-CN" altLang="en-US" sz="1200" dirty="0"/>
              <a:t>响应</a:t>
            </a:r>
          </a:p>
        </p:txBody>
      </p:sp>
      <p:sp>
        <p:nvSpPr>
          <p:cNvPr id="138" name="文本框 137"/>
          <p:cNvSpPr txBox="1"/>
          <p:nvPr/>
        </p:nvSpPr>
        <p:spPr bwMode="gray">
          <a:xfrm>
            <a:off x="9496276" y="4287471"/>
            <a:ext cx="1094197" cy="276999"/>
          </a:xfrm>
          <a:prstGeom prst="rect">
            <a:avLst/>
          </a:prstGeom>
          <a:noFill/>
        </p:spPr>
        <p:txBody>
          <a:bodyPr wrap="square" rtlCol="0">
            <a:spAutoFit/>
          </a:bodyPr>
          <a:lstStyle/>
          <a:p>
            <a:r>
              <a:rPr lang="zh-CN" altLang="en-US" sz="1200"/>
              <a:t>响应</a:t>
            </a:r>
          </a:p>
        </p:txBody>
      </p:sp>
      <p:sp>
        <p:nvSpPr>
          <p:cNvPr id="119" name="文本框 118">
            <a:extLst>
              <a:ext uri="{FF2B5EF4-FFF2-40B4-BE49-F238E27FC236}">
                <a16:creationId xmlns:a16="http://schemas.microsoft.com/office/drawing/2014/main" id="{4BB50338-4F2F-4CA1-9CF3-9E6DB92F39E5}"/>
              </a:ext>
            </a:extLst>
          </p:cNvPr>
          <p:cNvSpPr txBox="1"/>
          <p:nvPr/>
        </p:nvSpPr>
        <p:spPr bwMode="gray">
          <a:xfrm>
            <a:off x="6468165" y="4529099"/>
            <a:ext cx="1617773" cy="276999"/>
          </a:xfrm>
          <a:prstGeom prst="rect">
            <a:avLst/>
          </a:prstGeom>
          <a:noFill/>
        </p:spPr>
        <p:txBody>
          <a:bodyPr wrap="square" rtlCol="0">
            <a:spAutoFit/>
          </a:bodyPr>
          <a:lstStyle/>
          <a:p>
            <a:r>
              <a:rPr lang="en-US" altLang="zh-CN" sz="1200"/>
              <a:t>PC</a:t>
            </a:r>
            <a:endParaRPr lang="zh-CN" altLang="en-US" sz="1200" dirty="0"/>
          </a:p>
        </p:txBody>
      </p:sp>
      <p:sp>
        <p:nvSpPr>
          <p:cNvPr id="120" name="文本框 119">
            <a:extLst>
              <a:ext uri="{FF2B5EF4-FFF2-40B4-BE49-F238E27FC236}">
                <a16:creationId xmlns:a16="http://schemas.microsoft.com/office/drawing/2014/main" id="{4BB50338-4F2F-4CA1-9CF3-9E6DB92F39E5}"/>
              </a:ext>
            </a:extLst>
          </p:cNvPr>
          <p:cNvSpPr txBox="1"/>
          <p:nvPr/>
        </p:nvSpPr>
        <p:spPr bwMode="gray">
          <a:xfrm>
            <a:off x="6265794" y="5489523"/>
            <a:ext cx="1617773" cy="276999"/>
          </a:xfrm>
          <a:prstGeom prst="rect">
            <a:avLst/>
          </a:prstGeom>
          <a:noFill/>
        </p:spPr>
        <p:txBody>
          <a:bodyPr wrap="square" rtlCol="0">
            <a:spAutoFit/>
          </a:bodyPr>
          <a:lstStyle/>
          <a:p>
            <a:r>
              <a:rPr lang="en-US" altLang="zh-CN" sz="1200"/>
              <a:t>Android</a:t>
            </a:r>
            <a:endParaRPr lang="zh-CN" altLang="en-US" sz="1200" dirty="0"/>
          </a:p>
        </p:txBody>
      </p:sp>
      <p:sp>
        <p:nvSpPr>
          <p:cNvPr id="121" name="文本框 120">
            <a:extLst>
              <a:ext uri="{FF2B5EF4-FFF2-40B4-BE49-F238E27FC236}">
                <a16:creationId xmlns:a16="http://schemas.microsoft.com/office/drawing/2014/main" id="{4BB50338-4F2F-4CA1-9CF3-9E6DB92F39E5}"/>
              </a:ext>
            </a:extLst>
          </p:cNvPr>
          <p:cNvSpPr txBox="1"/>
          <p:nvPr/>
        </p:nvSpPr>
        <p:spPr bwMode="gray">
          <a:xfrm>
            <a:off x="6429970" y="3633413"/>
            <a:ext cx="446883" cy="276999"/>
          </a:xfrm>
          <a:prstGeom prst="rect">
            <a:avLst/>
          </a:prstGeom>
          <a:noFill/>
        </p:spPr>
        <p:txBody>
          <a:bodyPr wrap="square" rtlCol="0">
            <a:spAutoFit/>
          </a:bodyPr>
          <a:lstStyle/>
          <a:p>
            <a:r>
              <a:rPr lang="en-US" altLang="zh-CN" sz="1200" dirty="0"/>
              <a:t>IOS</a:t>
            </a:r>
            <a:endParaRPr lang="zh-CN" altLang="en-US" sz="1200" dirty="0"/>
          </a:p>
        </p:txBody>
      </p:sp>
      <p:sp>
        <p:nvSpPr>
          <p:cNvPr id="141" name="圆角矩形 75"/>
          <p:cNvSpPr/>
          <p:nvPr/>
        </p:nvSpPr>
        <p:spPr bwMode="gray">
          <a:xfrm>
            <a:off x="6217485" y="2935894"/>
            <a:ext cx="5515783" cy="299166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207394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接口演进：前后端分离 </a:t>
            </a:r>
            <a:r>
              <a:rPr lang="en-US" altLang="zh-CN"/>
              <a:t>(2)</a:t>
            </a:r>
            <a:endParaRPr lang="zh-CN" altLang="en-US" dirty="0"/>
          </a:p>
        </p:txBody>
      </p:sp>
      <p:sp>
        <p:nvSpPr>
          <p:cNvPr id="5" name="文本占位符 4"/>
          <p:cNvSpPr>
            <a:spLocks noGrp="1"/>
          </p:cNvSpPr>
          <p:nvPr>
            <p:ph type="body" sz="quarter" idx="10"/>
          </p:nvPr>
        </p:nvSpPr>
        <p:spPr bwMode="gray"/>
        <p:txBody>
          <a:bodyPr/>
          <a:lstStyle/>
          <a:p>
            <a:r>
              <a:rPr lang="zh-CN" altLang="en-US" sz="1800" dirty="0"/>
              <a:t>早期的</a:t>
            </a:r>
            <a:r>
              <a:rPr lang="en-US" altLang="zh-CN" sz="1800" dirty="0"/>
              <a:t>Web</a:t>
            </a:r>
            <a:r>
              <a:rPr lang="zh-CN" altLang="en-US" sz="1800" dirty="0"/>
              <a:t>项目一般是在服务端进行渲染，客户端直接获得服务端渲染后的视图并与之交互。</a:t>
            </a:r>
            <a:br>
              <a:rPr lang="zh-CN" altLang="en-US" sz="1800" dirty="0"/>
            </a:br>
            <a:endParaRPr lang="zh-CN" altLang="en-US" sz="1800" dirty="0"/>
          </a:p>
          <a:p>
            <a:endParaRPr lang="zh-CN" altLang="en-US" sz="1800" dirty="0"/>
          </a:p>
        </p:txBody>
      </p:sp>
      <p:sp>
        <p:nvSpPr>
          <p:cNvPr id="101" name="圆角矩形 100"/>
          <p:cNvSpPr/>
          <p:nvPr/>
        </p:nvSpPr>
        <p:spPr bwMode="gray">
          <a:xfrm>
            <a:off x="4158435" y="1729351"/>
            <a:ext cx="4874601" cy="2184212"/>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圆角矩形 17"/>
          <p:cNvSpPr/>
          <p:nvPr/>
        </p:nvSpPr>
        <p:spPr bwMode="gray">
          <a:xfrm>
            <a:off x="6136185" y="1872693"/>
            <a:ext cx="1150788" cy="555185"/>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Controller</a:t>
            </a:r>
          </a:p>
          <a:p>
            <a:pPr algn="ctr" fontAlgn="auto">
              <a:spcBef>
                <a:spcPts val="0"/>
              </a:spcBef>
              <a:spcAft>
                <a:spcPts val="0"/>
              </a:spcAft>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(Servlet)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9"/>
          <p:cNvSpPr/>
          <p:nvPr/>
        </p:nvSpPr>
        <p:spPr bwMode="gray">
          <a:xfrm>
            <a:off x="7399841" y="3121049"/>
            <a:ext cx="1227898" cy="555185"/>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Model</a:t>
            </a:r>
          </a:p>
          <a:p>
            <a:pPr algn="ctr" fontAlgn="auto">
              <a:spcBef>
                <a:spcPts val="0"/>
              </a:spcBef>
              <a:spcAft>
                <a:spcPts val="0"/>
              </a:spcAft>
            </a:pP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(Java Beans)</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4756781" y="3121049"/>
            <a:ext cx="1202208" cy="555185"/>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View</a:t>
            </a:r>
          </a:p>
          <a:p>
            <a:pPr algn="ctr" fontAlgn="auto">
              <a:spcBef>
                <a:spcPts val="0"/>
              </a:spcBef>
              <a:spcAft>
                <a:spcPts val="0"/>
              </a:spcAft>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(JSP)</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箭头连接符 22"/>
          <p:cNvCxnSpPr>
            <a:stCxn id="18" idx="2"/>
          </p:cNvCxnSpPr>
          <p:nvPr/>
        </p:nvCxnSpPr>
        <p:spPr bwMode="gray">
          <a:xfrm flipH="1">
            <a:off x="5916379" y="2427878"/>
            <a:ext cx="795200" cy="688179"/>
          </a:xfrm>
          <a:prstGeom prst="straightConnector1">
            <a:avLst/>
          </a:prstGeom>
          <a:noFill/>
          <a:ln w="31750" cap="flat" cmpd="sng" algn="ctr">
            <a:solidFill>
              <a:srgbClr val="EC7061"/>
            </a:solidFill>
            <a:prstDash val="solid"/>
            <a:round/>
            <a:headEnd type="none" w="med" len="med"/>
            <a:tailEnd type="triangle"/>
          </a:ln>
          <a:effectLst/>
        </p:spPr>
      </p:cxnSp>
      <p:cxnSp>
        <p:nvCxnSpPr>
          <p:cNvPr id="45" name="直接箭头连接符 44">
            <a:extLst>
              <a:ext uri="{FF2B5EF4-FFF2-40B4-BE49-F238E27FC236}">
                <a16:creationId xmlns:a16="http://schemas.microsoft.com/office/drawing/2014/main" id="{BA877C97-A666-4A1C-8CE5-234683096791}"/>
              </a:ext>
            </a:extLst>
          </p:cNvPr>
          <p:cNvCxnSpPr>
            <a:cxnSpLocks/>
          </p:cNvCxnSpPr>
          <p:nvPr/>
        </p:nvCxnSpPr>
        <p:spPr bwMode="gray">
          <a:xfrm>
            <a:off x="2497710" y="2264017"/>
            <a:ext cx="1656313" cy="0"/>
          </a:xfrm>
          <a:prstGeom prst="straightConnector1">
            <a:avLst/>
          </a:prstGeom>
          <a:ln w="57150">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BA877C97-A666-4A1C-8CE5-234683096791}"/>
              </a:ext>
            </a:extLst>
          </p:cNvPr>
          <p:cNvCxnSpPr>
            <a:cxnSpLocks/>
          </p:cNvCxnSpPr>
          <p:nvPr/>
        </p:nvCxnSpPr>
        <p:spPr bwMode="gray">
          <a:xfrm flipH="1">
            <a:off x="2497710" y="3398641"/>
            <a:ext cx="1660725" cy="1"/>
          </a:xfrm>
          <a:prstGeom prst="straightConnector1">
            <a:avLst/>
          </a:prstGeom>
          <a:ln w="57150">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bwMode="gray">
          <a:xfrm>
            <a:off x="2888463" y="1911615"/>
            <a:ext cx="1633866" cy="307777"/>
          </a:xfrm>
          <a:prstGeom prst="rect">
            <a:avLst/>
          </a:prstGeom>
          <a:noFill/>
        </p:spPr>
        <p:txBody>
          <a:bodyPr wrap="square" rtlCol="0">
            <a:spAutoFit/>
          </a:bodyPr>
          <a:lstStyle/>
          <a:p>
            <a:r>
              <a:rPr lang="zh-CN" altLang="en-US" sz="1400"/>
              <a:t>请求</a:t>
            </a:r>
          </a:p>
        </p:txBody>
      </p:sp>
      <p:sp>
        <p:nvSpPr>
          <p:cNvPr id="50" name="文本框 49"/>
          <p:cNvSpPr txBox="1"/>
          <p:nvPr/>
        </p:nvSpPr>
        <p:spPr bwMode="gray">
          <a:xfrm>
            <a:off x="2929404" y="3506722"/>
            <a:ext cx="1633866" cy="307777"/>
          </a:xfrm>
          <a:prstGeom prst="rect">
            <a:avLst/>
          </a:prstGeom>
          <a:noFill/>
        </p:spPr>
        <p:txBody>
          <a:bodyPr wrap="square" rtlCol="0">
            <a:spAutoFit/>
          </a:bodyPr>
          <a:lstStyle/>
          <a:p>
            <a:r>
              <a:rPr lang="zh-CN" altLang="en-US" sz="1400"/>
              <a:t>响应</a:t>
            </a:r>
          </a:p>
        </p:txBody>
      </p:sp>
      <p:cxnSp>
        <p:nvCxnSpPr>
          <p:cNvPr id="57" name="直接箭头连接符 56"/>
          <p:cNvCxnSpPr/>
          <p:nvPr/>
        </p:nvCxnSpPr>
        <p:spPr bwMode="gray">
          <a:xfrm>
            <a:off x="6719488" y="2438014"/>
            <a:ext cx="748904" cy="678043"/>
          </a:xfrm>
          <a:prstGeom prst="straightConnector1">
            <a:avLst/>
          </a:prstGeom>
          <a:noFill/>
          <a:ln w="31750" cap="flat" cmpd="sng" algn="ctr">
            <a:solidFill>
              <a:srgbClr val="EC7061"/>
            </a:solidFill>
            <a:prstDash val="solid"/>
            <a:round/>
            <a:headEnd type="none" w="med" len="med"/>
            <a:tailEnd type="triangle"/>
          </a:ln>
          <a:effectLst/>
        </p:spPr>
      </p:cxnSp>
      <p:cxnSp>
        <p:nvCxnSpPr>
          <p:cNvPr id="76" name="直接箭头连接符 75"/>
          <p:cNvCxnSpPr/>
          <p:nvPr/>
        </p:nvCxnSpPr>
        <p:spPr bwMode="gray">
          <a:xfrm flipH="1">
            <a:off x="5958990" y="3246242"/>
            <a:ext cx="1440851" cy="0"/>
          </a:xfrm>
          <a:prstGeom prst="straightConnector1">
            <a:avLst/>
          </a:prstGeom>
          <a:ln w="317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96" name="圆角矩形 95"/>
          <p:cNvSpPr/>
          <p:nvPr/>
        </p:nvSpPr>
        <p:spPr bwMode="gray">
          <a:xfrm>
            <a:off x="1178134" y="2025093"/>
            <a:ext cx="1298231" cy="1873216"/>
          </a:xfrm>
          <a:prstGeom prst="roundRect">
            <a:avLst>
              <a:gd name="adj" fmla="val 15000"/>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客户端</a:t>
            </a:r>
          </a:p>
        </p:txBody>
      </p:sp>
      <p:sp>
        <p:nvSpPr>
          <p:cNvPr id="102" name="文本框 101"/>
          <p:cNvSpPr txBox="1"/>
          <p:nvPr/>
        </p:nvSpPr>
        <p:spPr bwMode="gray">
          <a:xfrm>
            <a:off x="7669261" y="1782512"/>
            <a:ext cx="1633866" cy="338554"/>
          </a:xfrm>
          <a:prstGeom prst="rect">
            <a:avLst/>
          </a:prstGeom>
          <a:noFill/>
        </p:spPr>
        <p:txBody>
          <a:bodyPr wrap="square" rtlCol="0">
            <a:spAutoFit/>
          </a:bodyPr>
          <a:lstStyle/>
          <a:p>
            <a:r>
              <a:rPr lang="zh-CN" altLang="en-US" sz="1600"/>
              <a:t>服务端</a:t>
            </a:r>
            <a:r>
              <a:rPr lang="en-US" altLang="zh-CN" sz="1600"/>
              <a:t>MVC</a:t>
            </a:r>
            <a:endParaRPr lang="zh-CN" altLang="en-US" sz="1600"/>
          </a:p>
        </p:txBody>
      </p:sp>
      <p:cxnSp>
        <p:nvCxnSpPr>
          <p:cNvPr id="107" name="直接连接符 106"/>
          <p:cNvCxnSpPr/>
          <p:nvPr/>
        </p:nvCxnSpPr>
        <p:spPr bwMode="gray">
          <a:xfrm>
            <a:off x="4219004" y="2264017"/>
            <a:ext cx="1901124" cy="0"/>
          </a:xfrm>
          <a:prstGeom prst="line">
            <a:avLst/>
          </a:prstGeom>
          <a:ln w="31750">
            <a:solidFill>
              <a:srgbClr val="EC7061"/>
            </a:solidFill>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stCxn id="21" idx="1"/>
          </p:cNvCxnSpPr>
          <p:nvPr/>
        </p:nvCxnSpPr>
        <p:spPr bwMode="gray">
          <a:xfrm flipH="1">
            <a:off x="4173904" y="3398642"/>
            <a:ext cx="582877" cy="4993"/>
          </a:xfrm>
          <a:prstGeom prst="line">
            <a:avLst/>
          </a:prstGeom>
          <a:ln w="31750">
            <a:solidFill>
              <a:srgbClr val="EC7061"/>
            </a:solidFill>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40" name="文本框 139"/>
          <p:cNvSpPr txBox="1"/>
          <p:nvPr/>
        </p:nvSpPr>
        <p:spPr bwMode="gray">
          <a:xfrm>
            <a:off x="7286973" y="2508474"/>
            <a:ext cx="824459" cy="307777"/>
          </a:xfrm>
          <a:prstGeom prst="rect">
            <a:avLst/>
          </a:prstGeom>
          <a:noFill/>
        </p:spPr>
        <p:txBody>
          <a:bodyPr wrap="square" rtlCol="0">
            <a:spAutoFit/>
          </a:bodyPr>
          <a:lstStyle/>
          <a:p>
            <a:r>
              <a:rPr lang="zh-CN" altLang="en-US" sz="1400"/>
              <a:t>数据</a:t>
            </a:r>
          </a:p>
        </p:txBody>
      </p:sp>
      <p:sp>
        <p:nvSpPr>
          <p:cNvPr id="141" name="文本框 140"/>
          <p:cNvSpPr txBox="1"/>
          <p:nvPr/>
        </p:nvSpPr>
        <p:spPr bwMode="gray">
          <a:xfrm>
            <a:off x="6454249" y="3352833"/>
            <a:ext cx="824459" cy="307777"/>
          </a:xfrm>
          <a:prstGeom prst="rect">
            <a:avLst/>
          </a:prstGeom>
          <a:noFill/>
        </p:spPr>
        <p:txBody>
          <a:bodyPr wrap="square" rtlCol="0">
            <a:spAutoFit/>
          </a:bodyPr>
          <a:lstStyle/>
          <a:p>
            <a:r>
              <a:rPr lang="zh-CN" altLang="en-US" sz="1400"/>
              <a:t>数据</a:t>
            </a:r>
          </a:p>
        </p:txBody>
      </p:sp>
      <p:sp>
        <p:nvSpPr>
          <p:cNvPr id="142" name="文本框 141"/>
          <p:cNvSpPr txBox="1"/>
          <p:nvPr/>
        </p:nvSpPr>
        <p:spPr bwMode="gray">
          <a:xfrm>
            <a:off x="5755305" y="2560319"/>
            <a:ext cx="824459" cy="307777"/>
          </a:xfrm>
          <a:prstGeom prst="rect">
            <a:avLst/>
          </a:prstGeom>
          <a:noFill/>
        </p:spPr>
        <p:txBody>
          <a:bodyPr wrap="square" rtlCol="0">
            <a:spAutoFit/>
          </a:bodyPr>
          <a:lstStyle/>
          <a:p>
            <a:r>
              <a:rPr lang="zh-CN" altLang="en-US" sz="1400"/>
              <a:t>渲染</a:t>
            </a:r>
          </a:p>
        </p:txBody>
      </p:sp>
      <p:sp>
        <p:nvSpPr>
          <p:cNvPr id="147" name="圆角矩形 146"/>
          <p:cNvSpPr/>
          <p:nvPr/>
        </p:nvSpPr>
        <p:spPr bwMode="gray">
          <a:xfrm>
            <a:off x="1178134" y="4408975"/>
            <a:ext cx="4239011" cy="1124212"/>
          </a:xfrm>
          <a:prstGeom prst="roundRect">
            <a:avLst>
              <a:gd name="adj" fmla="val 15000"/>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zh-CN" altLang="en-US" sz="1600" dirty="0"/>
              <a:t>优点：前端只需要一次请求即可以返回整个页面内容，加载速度快。</a:t>
            </a:r>
            <a:endParaRPr lang="en-US" altLang="zh-CN" sz="1600" dirty="0"/>
          </a:p>
        </p:txBody>
      </p:sp>
      <p:sp>
        <p:nvSpPr>
          <p:cNvPr id="148" name="圆角矩形 147"/>
          <p:cNvSpPr/>
          <p:nvPr/>
        </p:nvSpPr>
        <p:spPr bwMode="gray">
          <a:xfrm>
            <a:off x="6313979" y="4408974"/>
            <a:ext cx="4909438" cy="1124213"/>
          </a:xfrm>
          <a:prstGeom prst="roundRect">
            <a:avLst>
              <a:gd name="adj" fmla="val 15000"/>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zh-CN" altLang="en-US" sz="1600"/>
              <a:t>缺点：各组件紧密关联，前端视图的修改需要同步修改后端各逻辑模块。</a:t>
            </a:r>
          </a:p>
        </p:txBody>
      </p:sp>
    </p:spTree>
    <p:extLst>
      <p:ext uri="{BB962C8B-B14F-4D97-AF65-F5344CB8AC3E}">
        <p14:creationId xmlns:p14="http://schemas.microsoft.com/office/powerpoint/2010/main" val="3278300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接口演进：前后端分离 </a:t>
            </a:r>
            <a:r>
              <a:rPr lang="en-US" altLang="zh-CN"/>
              <a:t>(3)</a:t>
            </a:r>
            <a:endParaRPr lang="zh-CN" altLang="en-US"/>
          </a:p>
        </p:txBody>
      </p:sp>
      <p:sp>
        <p:nvSpPr>
          <p:cNvPr id="6" name="文本占位符 5"/>
          <p:cNvSpPr>
            <a:spLocks noGrp="1"/>
          </p:cNvSpPr>
          <p:nvPr>
            <p:ph type="body" sz="quarter" idx="10"/>
          </p:nvPr>
        </p:nvSpPr>
        <p:spPr bwMode="gray"/>
        <p:txBody>
          <a:bodyPr/>
          <a:lstStyle/>
          <a:p>
            <a:r>
              <a:rPr lang="en-US" altLang="zh-CN" sz="1800" dirty="0"/>
              <a:t>REST</a:t>
            </a:r>
            <a:r>
              <a:rPr lang="zh-CN" altLang="en-US" sz="1800" dirty="0"/>
              <a:t>发展的关键原因是移动互联网的出现。由于多终端设备的兼容性需求，从前的服务端渲染难以满足移动互联网要求。服务端不可能针对每一个客户端渲染一套界面，因此催生了</a:t>
            </a:r>
            <a:r>
              <a:rPr lang="en-US" altLang="zh-CN" sz="1800" dirty="0"/>
              <a:t>REST</a:t>
            </a:r>
            <a:r>
              <a:rPr lang="zh-CN" altLang="en-US" sz="1800" dirty="0"/>
              <a:t>的发展和普及。</a:t>
            </a:r>
          </a:p>
          <a:p>
            <a:r>
              <a:rPr lang="zh-CN" altLang="en-US" sz="1800" dirty="0"/>
              <a:t>通过</a:t>
            </a:r>
            <a:r>
              <a:rPr lang="en-US" altLang="zh-CN" sz="1800" dirty="0"/>
              <a:t>REST</a:t>
            </a:r>
            <a:r>
              <a:rPr lang="zh-CN" altLang="en-US" sz="1800" dirty="0"/>
              <a:t>，服务端只处理数据，而具体界面的渲染交给客户端来完成，实现了前后端分离。</a:t>
            </a:r>
          </a:p>
          <a:p>
            <a:r>
              <a:rPr lang="en-US" altLang="zh-CN" sz="1800" dirty="0"/>
              <a:t>REST</a:t>
            </a:r>
            <a:r>
              <a:rPr lang="zh-CN" altLang="en-US" sz="1800" dirty="0"/>
              <a:t>风格接口</a:t>
            </a:r>
            <a:r>
              <a:rPr lang="en-US" altLang="zh-CN" sz="1800" dirty="0"/>
              <a:t>RESTful API</a:t>
            </a:r>
            <a:r>
              <a:rPr lang="zh-CN" altLang="en-US" sz="1800" dirty="0"/>
              <a:t>为各终端提供统一的界面，这是传统的接口所不擅长的。</a:t>
            </a:r>
          </a:p>
          <a:p>
            <a:endParaRPr lang="zh-CN" altLang="en-US" sz="1800" dirty="0"/>
          </a:p>
          <a:p>
            <a:endParaRPr lang="zh-CN" altLang="en-US" sz="1800" dirty="0"/>
          </a:p>
          <a:p>
            <a:br>
              <a:rPr lang="zh-CN" altLang="en-US" sz="1800" dirty="0"/>
            </a:br>
            <a:br>
              <a:rPr lang="zh-CN" altLang="en-US" sz="1800" dirty="0"/>
            </a:br>
            <a:endParaRPr lang="zh-CN" altLang="en-US" sz="1800" dirty="0"/>
          </a:p>
          <a:p>
            <a:endParaRPr lang="zh-CN" altLang="en-US" sz="1800" dirty="0"/>
          </a:p>
        </p:txBody>
      </p:sp>
      <p:pic>
        <p:nvPicPr>
          <p:cNvPr id="28" name="图片 27" descr="故障链路.png"/>
          <p:cNvPicPr>
            <a:picLocks noChangeAspect="1"/>
          </p:cNvPicPr>
          <p:nvPr/>
        </p:nvPicPr>
        <p:blipFill>
          <a:blip r:embed="rId3" cstate="print"/>
          <a:stretch>
            <a:fillRect/>
          </a:stretch>
        </p:blipFill>
        <p:spPr bwMode="gray">
          <a:xfrm>
            <a:off x="2955353" y="5299262"/>
            <a:ext cx="809822" cy="573754"/>
          </a:xfrm>
          <a:prstGeom prst="rect">
            <a:avLst/>
          </a:prstGeom>
        </p:spPr>
      </p:pic>
      <p:pic>
        <p:nvPicPr>
          <p:cNvPr id="29" name="图片 28" descr="SAN网络-蓝.png"/>
          <p:cNvPicPr>
            <a:picLocks noChangeAspect="1"/>
          </p:cNvPicPr>
          <p:nvPr/>
        </p:nvPicPr>
        <p:blipFill>
          <a:blip r:embed="rId4" cstate="print"/>
          <a:stretch>
            <a:fillRect/>
          </a:stretch>
        </p:blipFill>
        <p:spPr bwMode="gray">
          <a:xfrm>
            <a:off x="3159653" y="2813199"/>
            <a:ext cx="401222" cy="624542"/>
          </a:xfrm>
          <a:prstGeom prst="rect">
            <a:avLst/>
          </a:prstGeom>
        </p:spPr>
      </p:pic>
      <p:pic>
        <p:nvPicPr>
          <p:cNvPr id="30" name="图片 29" descr="笔记本电脑.png"/>
          <p:cNvPicPr>
            <a:picLocks noChangeAspect="1"/>
          </p:cNvPicPr>
          <p:nvPr/>
        </p:nvPicPr>
        <p:blipFill>
          <a:blip r:embed="rId5" cstate="print"/>
          <a:stretch>
            <a:fillRect/>
          </a:stretch>
        </p:blipFill>
        <p:spPr bwMode="gray">
          <a:xfrm>
            <a:off x="2914740" y="4113004"/>
            <a:ext cx="809491" cy="482181"/>
          </a:xfrm>
          <a:prstGeom prst="rect">
            <a:avLst/>
          </a:prstGeom>
        </p:spPr>
      </p:pic>
      <p:grpSp>
        <p:nvGrpSpPr>
          <p:cNvPr id="2" name="组合 1"/>
          <p:cNvGrpSpPr/>
          <p:nvPr/>
        </p:nvGrpSpPr>
        <p:grpSpPr bwMode="gray">
          <a:xfrm>
            <a:off x="5251695" y="3896710"/>
            <a:ext cx="2540261" cy="723485"/>
            <a:chOff x="3418511" y="5248649"/>
            <a:chExt cx="2687897" cy="805712"/>
          </a:xfrm>
        </p:grpSpPr>
        <p:sp>
          <p:nvSpPr>
            <p:cNvPr id="32" name="Freeform 159"/>
            <p:cNvSpPr/>
            <p:nvPr/>
          </p:nvSpPr>
          <p:spPr bwMode="gray">
            <a:xfrm flipH="1">
              <a:off x="3418511" y="5248649"/>
              <a:ext cx="1541357" cy="8057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3801379" y="5495104"/>
              <a:ext cx="2305029" cy="461665"/>
            </a:xfrm>
            <a:prstGeom prst="rect">
              <a:avLst/>
            </a:prstGeom>
            <a:noFill/>
          </p:spPr>
          <p:txBody>
            <a:bodyPr wrap="square" rtlCol="0">
              <a:spAutoFit/>
            </a:bodyPr>
            <a:lstStyle/>
            <a:p>
              <a:r>
                <a:rPr lang="en-US" altLang="zh-CN" sz="2400" b="1">
                  <a:solidFill>
                    <a:srgbClr val="A6A6A6"/>
                  </a:solidFill>
                  <a:latin typeface="Huawei Sans" panose="020C0503030203020204" pitchFamily="34" charset="0"/>
                  <a:ea typeface="方正兰亭黑简体" panose="02000000000000000000" pitchFamily="2" charset="-122"/>
                  <a:sym typeface="Huawei Sans" panose="020C0503030203020204" pitchFamily="34" charset="0"/>
                </a:rPr>
                <a:t>API</a:t>
              </a:r>
            </a:p>
          </p:txBody>
        </p:sp>
      </p:grpSp>
      <p:cxnSp>
        <p:nvCxnSpPr>
          <p:cNvPr id="9" name="直接箭头连接符 8"/>
          <p:cNvCxnSpPr>
            <a:stCxn id="29" idx="3"/>
          </p:cNvCxnSpPr>
          <p:nvPr/>
        </p:nvCxnSpPr>
        <p:spPr bwMode="gray">
          <a:xfrm>
            <a:off x="3560875" y="3125470"/>
            <a:ext cx="1538251" cy="941747"/>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30" idx="3"/>
          </p:cNvCxnSpPr>
          <p:nvPr/>
        </p:nvCxnSpPr>
        <p:spPr bwMode="gray">
          <a:xfrm flipV="1">
            <a:off x="3724231" y="4354094"/>
            <a:ext cx="1374895" cy="1"/>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28" idx="3"/>
          </p:cNvCxnSpPr>
          <p:nvPr/>
        </p:nvCxnSpPr>
        <p:spPr bwMode="gray">
          <a:xfrm flipV="1">
            <a:off x="3765175" y="4595185"/>
            <a:ext cx="1333951" cy="990954"/>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bwMode="gray">
          <a:xfrm>
            <a:off x="6804294" y="4115748"/>
            <a:ext cx="1321168" cy="12065"/>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bwMode="gray">
          <a:xfrm>
            <a:off x="8346827" y="3834868"/>
            <a:ext cx="1729045" cy="760317"/>
          </a:xfrm>
          <a:prstGeom prst="rect">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20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服务端</a:t>
            </a:r>
            <a:endParaRPr lang="en-US" altLang="zh-CN" sz="20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4330000" y="3224034"/>
            <a:ext cx="1453078" cy="338554"/>
          </a:xfrm>
          <a:prstGeom prst="rect">
            <a:avLst/>
          </a:prstGeom>
          <a:noFill/>
        </p:spPr>
        <p:txBody>
          <a:bodyPr wrap="square" rtlCol="0">
            <a:spAutoFit/>
          </a:bodyPr>
          <a:lstStyle/>
          <a:p>
            <a:r>
              <a:rPr lang="zh-CN" altLang="en-US" sz="1600" dirty="0"/>
              <a:t>请求</a:t>
            </a:r>
          </a:p>
        </p:txBody>
      </p:sp>
      <p:sp>
        <p:nvSpPr>
          <p:cNvPr id="53" name="文本框 52"/>
          <p:cNvSpPr txBox="1"/>
          <p:nvPr/>
        </p:nvSpPr>
        <p:spPr bwMode="gray">
          <a:xfrm>
            <a:off x="7020364" y="3769538"/>
            <a:ext cx="1453078" cy="338554"/>
          </a:xfrm>
          <a:prstGeom prst="rect">
            <a:avLst/>
          </a:prstGeom>
          <a:noFill/>
        </p:spPr>
        <p:txBody>
          <a:bodyPr wrap="square" rtlCol="0">
            <a:spAutoFit/>
          </a:bodyPr>
          <a:lstStyle/>
          <a:p>
            <a:r>
              <a:rPr lang="zh-CN" altLang="en-US" sz="1600" dirty="0"/>
              <a:t>请求</a:t>
            </a:r>
          </a:p>
        </p:txBody>
      </p:sp>
      <p:cxnSp>
        <p:nvCxnSpPr>
          <p:cNvPr id="54" name="直接箭头连接符 53"/>
          <p:cNvCxnSpPr/>
          <p:nvPr/>
        </p:nvCxnSpPr>
        <p:spPr bwMode="gray">
          <a:xfrm flipH="1" flipV="1">
            <a:off x="6806150" y="4293513"/>
            <a:ext cx="1319312" cy="10394"/>
          </a:xfrm>
          <a:prstGeom prst="straightConnector1">
            <a:avLst/>
          </a:prstGeom>
          <a:ln w="190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bwMode="gray">
          <a:xfrm flipH="1" flipV="1">
            <a:off x="3560875" y="3298496"/>
            <a:ext cx="1396045" cy="849934"/>
          </a:xfrm>
          <a:prstGeom prst="straightConnector1">
            <a:avLst/>
          </a:prstGeom>
          <a:ln w="190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bwMode="gray">
          <a:xfrm flipH="1">
            <a:off x="3745524" y="4501381"/>
            <a:ext cx="1332308" cy="0"/>
          </a:xfrm>
          <a:prstGeom prst="straightConnector1">
            <a:avLst/>
          </a:prstGeom>
          <a:ln w="190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bwMode="gray">
          <a:xfrm flipH="1">
            <a:off x="3804918" y="4797699"/>
            <a:ext cx="1291363" cy="1003125"/>
          </a:xfrm>
          <a:prstGeom prst="straightConnector1">
            <a:avLst/>
          </a:prstGeom>
          <a:ln w="190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bwMode="gray">
          <a:xfrm>
            <a:off x="4144062" y="3936240"/>
            <a:ext cx="1453078" cy="338554"/>
          </a:xfrm>
          <a:prstGeom prst="rect">
            <a:avLst/>
          </a:prstGeom>
          <a:noFill/>
        </p:spPr>
        <p:txBody>
          <a:bodyPr wrap="square" rtlCol="0">
            <a:spAutoFit/>
          </a:bodyPr>
          <a:lstStyle/>
          <a:p>
            <a:r>
              <a:rPr lang="zh-CN" altLang="en-US" sz="1600" dirty="0"/>
              <a:t>响应</a:t>
            </a:r>
          </a:p>
        </p:txBody>
      </p:sp>
      <p:sp>
        <p:nvSpPr>
          <p:cNvPr id="61" name="文本框 60"/>
          <p:cNvSpPr txBox="1"/>
          <p:nvPr/>
        </p:nvSpPr>
        <p:spPr bwMode="gray">
          <a:xfrm>
            <a:off x="7065417" y="4334998"/>
            <a:ext cx="1453078" cy="338554"/>
          </a:xfrm>
          <a:prstGeom prst="rect">
            <a:avLst/>
          </a:prstGeom>
          <a:noFill/>
        </p:spPr>
        <p:txBody>
          <a:bodyPr wrap="square" rtlCol="0">
            <a:spAutoFit/>
          </a:bodyPr>
          <a:lstStyle/>
          <a:p>
            <a:r>
              <a:rPr lang="zh-CN" altLang="en-US" sz="1600"/>
              <a:t>响应</a:t>
            </a:r>
          </a:p>
        </p:txBody>
      </p:sp>
      <p:sp>
        <p:nvSpPr>
          <p:cNvPr id="66" name="文本框 65">
            <a:extLst>
              <a:ext uri="{FF2B5EF4-FFF2-40B4-BE49-F238E27FC236}">
                <a16:creationId xmlns:a16="http://schemas.microsoft.com/office/drawing/2014/main" id="{4BB50338-4F2F-4CA1-9CF3-9E6DB92F39E5}"/>
              </a:ext>
            </a:extLst>
          </p:cNvPr>
          <p:cNvSpPr txBox="1"/>
          <p:nvPr/>
        </p:nvSpPr>
        <p:spPr bwMode="gray">
          <a:xfrm>
            <a:off x="3103315" y="4624971"/>
            <a:ext cx="2148380" cy="338554"/>
          </a:xfrm>
          <a:prstGeom prst="rect">
            <a:avLst/>
          </a:prstGeom>
          <a:noFill/>
        </p:spPr>
        <p:txBody>
          <a:bodyPr wrap="square" rtlCol="0">
            <a:spAutoFit/>
          </a:bodyPr>
          <a:lstStyle/>
          <a:p>
            <a:r>
              <a:rPr lang="en-US" altLang="zh-CN" sz="1600"/>
              <a:t>PC</a:t>
            </a:r>
            <a:endParaRPr lang="zh-CN" altLang="en-US" sz="1600" dirty="0"/>
          </a:p>
        </p:txBody>
      </p:sp>
      <p:sp>
        <p:nvSpPr>
          <p:cNvPr id="67" name="文本框 66">
            <a:extLst>
              <a:ext uri="{FF2B5EF4-FFF2-40B4-BE49-F238E27FC236}">
                <a16:creationId xmlns:a16="http://schemas.microsoft.com/office/drawing/2014/main" id="{4BB50338-4F2F-4CA1-9CF3-9E6DB92F39E5}"/>
              </a:ext>
            </a:extLst>
          </p:cNvPr>
          <p:cNvSpPr txBox="1"/>
          <p:nvPr/>
        </p:nvSpPr>
        <p:spPr bwMode="gray">
          <a:xfrm>
            <a:off x="2853034" y="5900399"/>
            <a:ext cx="2148380" cy="338554"/>
          </a:xfrm>
          <a:prstGeom prst="rect">
            <a:avLst/>
          </a:prstGeom>
          <a:noFill/>
        </p:spPr>
        <p:txBody>
          <a:bodyPr wrap="square" rtlCol="0">
            <a:spAutoFit/>
          </a:bodyPr>
          <a:lstStyle/>
          <a:p>
            <a:r>
              <a:rPr lang="en-US" altLang="zh-CN" sz="1600" dirty="0"/>
              <a:t>Android</a:t>
            </a:r>
            <a:endParaRPr lang="zh-CN" altLang="en-US" sz="1600" dirty="0"/>
          </a:p>
        </p:txBody>
      </p:sp>
      <p:sp>
        <p:nvSpPr>
          <p:cNvPr id="68" name="文本框 67">
            <a:extLst>
              <a:ext uri="{FF2B5EF4-FFF2-40B4-BE49-F238E27FC236}">
                <a16:creationId xmlns:a16="http://schemas.microsoft.com/office/drawing/2014/main" id="{4BB50338-4F2F-4CA1-9CF3-9E6DB92F39E5}"/>
              </a:ext>
            </a:extLst>
          </p:cNvPr>
          <p:cNvSpPr txBox="1"/>
          <p:nvPr/>
        </p:nvSpPr>
        <p:spPr bwMode="gray">
          <a:xfrm>
            <a:off x="3052592" y="3435511"/>
            <a:ext cx="593456" cy="338554"/>
          </a:xfrm>
          <a:prstGeom prst="rect">
            <a:avLst/>
          </a:prstGeom>
          <a:noFill/>
        </p:spPr>
        <p:txBody>
          <a:bodyPr wrap="square" rtlCol="0">
            <a:spAutoFit/>
          </a:bodyPr>
          <a:lstStyle/>
          <a:p>
            <a:r>
              <a:rPr lang="en-US" altLang="zh-CN" sz="1600"/>
              <a:t>IOS</a:t>
            </a:r>
            <a:endParaRPr lang="zh-CN" altLang="en-US" sz="1600" dirty="0"/>
          </a:p>
        </p:txBody>
      </p:sp>
    </p:spTree>
    <p:extLst>
      <p:ext uri="{BB962C8B-B14F-4D97-AF65-F5344CB8AC3E}">
        <p14:creationId xmlns:p14="http://schemas.microsoft.com/office/powerpoint/2010/main" val="1246732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SDN</a:t>
            </a:r>
            <a:r>
              <a:rPr lang="zh-CN" altLang="en-US" dirty="0">
                <a:solidFill>
                  <a:schemeClr val="bg1">
                    <a:lumMod val="50000"/>
                  </a:schemeClr>
                </a:solidFill>
              </a:rPr>
              <a:t>概述</a:t>
            </a:r>
          </a:p>
          <a:p>
            <a:r>
              <a:rPr lang="en-US" altLang="zh-CN" b="1" dirty="0">
                <a:sym typeface="Huawei Sans" panose="020C0503030203020204" pitchFamily="34" charset="0"/>
              </a:rPr>
              <a:t>REST</a:t>
            </a:r>
            <a:r>
              <a:rPr lang="zh-CN" altLang="en-US" b="1" dirty="0">
                <a:sym typeface="Huawei Sans" panose="020C0503030203020204" pitchFamily="34" charset="0"/>
              </a:rPr>
              <a:t>和</a:t>
            </a:r>
            <a:r>
              <a:rPr lang="en-US" altLang="zh-CN" b="1" dirty="0">
                <a:sym typeface="Huawei Sans" panose="020C0503030203020204" pitchFamily="34" charset="0"/>
              </a:rPr>
              <a:t>RESTful</a:t>
            </a:r>
          </a:p>
          <a:p>
            <a:pPr lvl="1"/>
            <a:r>
              <a:rPr lang="en-US" altLang="zh-CN" dirty="0">
                <a:solidFill>
                  <a:schemeClr val="bg1">
                    <a:lumMod val="50000"/>
                  </a:schemeClr>
                </a:solidFill>
                <a:sym typeface="Huawei Sans" panose="020C0503030203020204" pitchFamily="34" charset="0"/>
              </a:rPr>
              <a:t>REST</a:t>
            </a:r>
            <a:r>
              <a:rPr lang="zh-CN" altLang="en-US" dirty="0">
                <a:solidFill>
                  <a:schemeClr val="bg1">
                    <a:lumMod val="50000"/>
                  </a:schemeClr>
                </a:solidFill>
                <a:sym typeface="Huawei Sans" panose="020C0503030203020204" pitchFamily="34" charset="0"/>
              </a:rPr>
              <a:t>背景</a:t>
            </a:r>
          </a:p>
          <a:p>
            <a:pPr lvl="1">
              <a:buSzPct val="60000"/>
              <a:buFont typeface="Wingdings" panose="05000000000000000000" pitchFamily="2" charset="2"/>
              <a:buChar char="n"/>
            </a:pPr>
            <a:r>
              <a:rPr lang="en-US" altLang="zh-CN" dirty="0">
                <a:sym typeface="Huawei Sans" panose="020C0503030203020204" pitchFamily="34" charset="0"/>
              </a:rPr>
              <a:t>REST</a:t>
            </a:r>
            <a:r>
              <a:rPr lang="zh-CN" altLang="en-US" dirty="0">
                <a:sym typeface="Huawei Sans" panose="020C0503030203020204" pitchFamily="34" charset="0"/>
              </a:rPr>
              <a:t>简介</a:t>
            </a:r>
            <a:endParaRPr lang="en-US" altLang="zh-CN" dirty="0">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HTTP</a:t>
            </a:r>
            <a:r>
              <a:rPr lang="zh-CN" altLang="en-US" dirty="0">
                <a:solidFill>
                  <a:schemeClr val="bg1">
                    <a:lumMod val="50000"/>
                  </a:schemeClr>
                </a:solidFill>
                <a:sym typeface="Huawei Sans" panose="020C0503030203020204" pitchFamily="34" charset="0"/>
              </a:rPr>
              <a:t>工作原理</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RESTful</a:t>
            </a:r>
            <a:r>
              <a:rPr lang="zh-CN" altLang="en-US" dirty="0">
                <a:solidFill>
                  <a:schemeClr val="bg1">
                    <a:lumMod val="50000"/>
                  </a:schemeClr>
                </a:solidFill>
                <a:sym typeface="Huawei Sans" panose="020C0503030203020204" pitchFamily="34" charset="0"/>
              </a:rPr>
              <a:t>接口调用实践</a:t>
            </a:r>
            <a:endParaRPr lang="en-US" altLang="zh-CN" dirty="0">
              <a:solidFill>
                <a:schemeClr val="bg1">
                  <a:lumMod val="50000"/>
                </a:schemeClr>
              </a:solidFill>
              <a:sym typeface="Huawei Sans" panose="020C0503030203020204" pitchFamily="34" charset="0"/>
            </a:endParaRPr>
          </a:p>
          <a:p>
            <a:endParaRPr lang="zh-CN" altLang="en-US" dirty="0"/>
          </a:p>
        </p:txBody>
      </p:sp>
    </p:spTree>
    <p:extLst>
      <p:ext uri="{BB962C8B-B14F-4D97-AF65-F5344CB8AC3E}">
        <p14:creationId xmlns:p14="http://schemas.microsoft.com/office/powerpoint/2010/main" val="4147383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REST</a:t>
            </a:r>
            <a:r>
              <a:rPr lang="zh-CN" altLang="en-US"/>
              <a:t>简介</a:t>
            </a:r>
            <a:endParaRPr lang="zh-CN" altLang="en-US" dirty="0"/>
          </a:p>
        </p:txBody>
      </p:sp>
      <p:sp>
        <p:nvSpPr>
          <p:cNvPr id="3" name="内容占位符 2"/>
          <p:cNvSpPr>
            <a:spLocks noGrp="1"/>
          </p:cNvSpPr>
          <p:nvPr>
            <p:ph type="body" sz="quarter" idx="10"/>
          </p:nvPr>
        </p:nvSpPr>
        <p:spPr bwMode="gray"/>
        <p:txBody>
          <a:bodyPr/>
          <a:lstStyle/>
          <a:p>
            <a:r>
              <a:rPr lang="en-US" altLang="zh-CN" sz="1800" dirty="0"/>
              <a:t>REST</a:t>
            </a:r>
            <a:r>
              <a:rPr lang="zh-CN" altLang="en-US" sz="1800" dirty="0"/>
              <a:t>由</a:t>
            </a:r>
            <a:r>
              <a:rPr lang="en-US" altLang="zh-CN" sz="1800" dirty="0"/>
              <a:t>HTTP</a:t>
            </a:r>
            <a:r>
              <a:rPr lang="zh-CN" altLang="en-US" sz="1800" dirty="0"/>
              <a:t>的主要设计者</a:t>
            </a:r>
            <a:r>
              <a:rPr lang="en-US" altLang="zh-CN" sz="1800" dirty="0"/>
              <a:t>Roy Thomas Fielding</a:t>
            </a:r>
            <a:r>
              <a:rPr lang="zh-CN" altLang="en-US" sz="1800" dirty="0"/>
              <a:t>在其</a:t>
            </a:r>
            <a:r>
              <a:rPr lang="en-US" altLang="zh-CN" sz="1800" dirty="0"/>
              <a:t>2000</a:t>
            </a:r>
            <a:r>
              <a:rPr lang="zh-CN" altLang="en-US" sz="1800" dirty="0"/>
              <a:t>年的博士论文中提出。简而言之，</a:t>
            </a:r>
            <a:r>
              <a:rPr lang="en-US" altLang="zh-CN" sz="1800" dirty="0"/>
              <a:t>REST</a:t>
            </a:r>
            <a:r>
              <a:rPr lang="zh-CN" altLang="en-US" sz="1800" dirty="0"/>
              <a:t>是一种设计风格。</a:t>
            </a:r>
            <a:endParaRPr lang="en-US" altLang="zh-CN" sz="1800" dirty="0"/>
          </a:p>
        </p:txBody>
      </p:sp>
      <p:grpSp>
        <p:nvGrpSpPr>
          <p:cNvPr id="4" name="组合 3"/>
          <p:cNvGrpSpPr/>
          <p:nvPr/>
        </p:nvGrpSpPr>
        <p:grpSpPr bwMode="gray">
          <a:xfrm>
            <a:off x="1235109" y="1935136"/>
            <a:ext cx="5550823" cy="3562404"/>
            <a:chOff x="1235109" y="1935136"/>
            <a:chExt cx="5550823" cy="3562404"/>
          </a:xfrm>
        </p:grpSpPr>
        <p:sp>
          <p:nvSpPr>
            <p:cNvPr id="7" name="矩形 6"/>
            <p:cNvSpPr/>
            <p:nvPr/>
          </p:nvSpPr>
          <p:spPr bwMode="gray">
            <a:xfrm>
              <a:off x="1235109" y="1935136"/>
              <a:ext cx="5550823" cy="3562404"/>
            </a:xfrm>
            <a:prstGeom prst="rect">
              <a:avLst/>
            </a:prstGeom>
            <a:solidFill>
              <a:srgbClr val="FFFFFF"/>
            </a:solidFill>
            <a:ln>
              <a:noFill/>
            </a:ln>
          </p:spPr>
        </p:sp>
        <p:sp>
          <p:nvSpPr>
            <p:cNvPr id="8" name="任意多边形 7"/>
            <p:cNvSpPr/>
            <p:nvPr/>
          </p:nvSpPr>
          <p:spPr bwMode="gray">
            <a:xfrm>
              <a:off x="2117929" y="2225523"/>
              <a:ext cx="2706026" cy="2706330"/>
            </a:xfrm>
            <a:custGeom>
              <a:avLst/>
              <a:gdLst>
                <a:gd name="connsiteX0" fmla="*/ 0 w 2706026"/>
                <a:gd name="connsiteY0" fmla="*/ 1353165 h 2706330"/>
                <a:gd name="connsiteX1" fmla="*/ 1353013 w 2706026"/>
                <a:gd name="connsiteY1" fmla="*/ 0 h 2706330"/>
                <a:gd name="connsiteX2" fmla="*/ 2706026 w 2706026"/>
                <a:gd name="connsiteY2" fmla="*/ 1353165 h 2706330"/>
                <a:gd name="connsiteX3" fmla="*/ 1353013 w 2706026"/>
                <a:gd name="connsiteY3" fmla="*/ 2706330 h 2706330"/>
                <a:gd name="connsiteX4" fmla="*/ 0 w 2706026"/>
                <a:gd name="connsiteY4" fmla="*/ 1353165 h 2706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6026" h="2706330">
                  <a:moveTo>
                    <a:pt x="0" y="1353165"/>
                  </a:moveTo>
                  <a:cubicBezTo>
                    <a:pt x="0" y="605833"/>
                    <a:pt x="605765" y="0"/>
                    <a:pt x="1353013" y="0"/>
                  </a:cubicBezTo>
                  <a:cubicBezTo>
                    <a:pt x="2100261" y="0"/>
                    <a:pt x="2706026" y="605833"/>
                    <a:pt x="2706026" y="1353165"/>
                  </a:cubicBezTo>
                  <a:cubicBezTo>
                    <a:pt x="2706026" y="2100497"/>
                    <a:pt x="2100261" y="2706330"/>
                    <a:pt x="1353013" y="2706330"/>
                  </a:cubicBezTo>
                  <a:cubicBezTo>
                    <a:pt x="605765" y="2706330"/>
                    <a:pt x="0" y="2100497"/>
                    <a:pt x="0" y="1353165"/>
                  </a:cubicBezTo>
                  <a:close/>
                </a:path>
              </a:pathLst>
            </a:custGeom>
            <a:solidFill>
              <a:srgbClr val="30B5C5"/>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94408" tIns="594453" rIns="594408" bIns="594453" numCol="1" spcCol="1270" anchor="ctr" anchorCtr="0">
              <a:noAutofit/>
            </a:bodyPr>
            <a:lstStyle/>
            <a:p>
              <a:pPr lvl="0" algn="ctr" defTabSz="2311400">
                <a:lnSpc>
                  <a:spcPct val="90000"/>
                </a:lnSpc>
                <a:spcBef>
                  <a:spcPct val="0"/>
                </a:spcBef>
                <a:spcAft>
                  <a:spcPct val="35000"/>
                </a:spcAft>
              </a:pPr>
              <a:r>
                <a:rPr lang="en-US" altLang="zh-CN" sz="5200" kern="1200" dirty="0"/>
                <a:t>REST</a:t>
              </a:r>
              <a:endParaRPr lang="zh-CN" altLang="en-US" sz="5200" kern="1200" dirty="0"/>
            </a:p>
          </p:txBody>
        </p:sp>
        <p:sp>
          <p:nvSpPr>
            <p:cNvPr id="9" name="椭圆 8"/>
            <p:cNvSpPr/>
            <p:nvPr/>
          </p:nvSpPr>
          <p:spPr bwMode="gray">
            <a:xfrm>
              <a:off x="4234941" y="2147801"/>
              <a:ext cx="300854" cy="300984"/>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0" name="椭圆 9"/>
            <p:cNvSpPr/>
            <p:nvPr/>
          </p:nvSpPr>
          <p:spPr bwMode="gray">
            <a:xfrm>
              <a:off x="2784960" y="5012307"/>
              <a:ext cx="218147" cy="218150"/>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1" name="椭圆 10"/>
            <p:cNvSpPr/>
            <p:nvPr/>
          </p:nvSpPr>
          <p:spPr bwMode="gray">
            <a:xfrm>
              <a:off x="4998251" y="3323863"/>
              <a:ext cx="218147" cy="218150"/>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 name="椭圆 11"/>
            <p:cNvSpPr/>
            <p:nvPr/>
          </p:nvSpPr>
          <p:spPr bwMode="gray">
            <a:xfrm>
              <a:off x="3955806" y="4962837"/>
              <a:ext cx="300854" cy="300984"/>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 name="椭圆 12"/>
            <p:cNvSpPr/>
            <p:nvPr/>
          </p:nvSpPr>
          <p:spPr bwMode="gray">
            <a:xfrm>
              <a:off x="2739231" y="2762195"/>
              <a:ext cx="218147" cy="218150"/>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4" name="椭圆 13"/>
            <p:cNvSpPr/>
            <p:nvPr/>
          </p:nvSpPr>
          <p:spPr bwMode="gray">
            <a:xfrm>
              <a:off x="1936099" y="3884658"/>
              <a:ext cx="218147" cy="218150"/>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5" name="任意多边形 14"/>
            <p:cNvSpPr/>
            <p:nvPr/>
          </p:nvSpPr>
          <p:spPr bwMode="gray">
            <a:xfrm>
              <a:off x="1271983" y="2713990"/>
              <a:ext cx="1100173" cy="1099921"/>
            </a:xfrm>
            <a:custGeom>
              <a:avLst/>
              <a:gdLst>
                <a:gd name="connsiteX0" fmla="*/ 0 w 1100173"/>
                <a:gd name="connsiteY0" fmla="*/ 549961 h 1099921"/>
                <a:gd name="connsiteX1" fmla="*/ 550087 w 1100173"/>
                <a:gd name="connsiteY1" fmla="*/ 0 h 1099921"/>
                <a:gd name="connsiteX2" fmla="*/ 1100174 w 1100173"/>
                <a:gd name="connsiteY2" fmla="*/ 549961 h 1099921"/>
                <a:gd name="connsiteX3" fmla="*/ 550087 w 1100173"/>
                <a:gd name="connsiteY3" fmla="*/ 1099922 h 1099921"/>
                <a:gd name="connsiteX4" fmla="*/ 0 w 1100173"/>
                <a:gd name="connsiteY4" fmla="*/ 549961 h 1099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0173" h="1099921">
                  <a:moveTo>
                    <a:pt x="0" y="549961"/>
                  </a:moveTo>
                  <a:cubicBezTo>
                    <a:pt x="0" y="246226"/>
                    <a:pt x="246282" y="0"/>
                    <a:pt x="550087" y="0"/>
                  </a:cubicBezTo>
                  <a:cubicBezTo>
                    <a:pt x="853892" y="0"/>
                    <a:pt x="1100174" y="246226"/>
                    <a:pt x="1100174" y="549961"/>
                  </a:cubicBezTo>
                  <a:cubicBezTo>
                    <a:pt x="1100174" y="853696"/>
                    <a:pt x="853892" y="1099922"/>
                    <a:pt x="550087" y="1099922"/>
                  </a:cubicBezTo>
                  <a:cubicBezTo>
                    <a:pt x="246282" y="1099922"/>
                    <a:pt x="0" y="853696"/>
                    <a:pt x="0" y="549961"/>
                  </a:cubicBezTo>
                  <a:close/>
                </a:path>
              </a:pathLst>
            </a:cu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7317" tIns="237280" rIns="237317" bIns="237280" numCol="1" spcCol="1270" anchor="ctr" anchorCtr="0">
              <a:noAutofit/>
            </a:bodyPr>
            <a:lstStyle/>
            <a:p>
              <a:pPr lvl="0" algn="ctr" defTabSz="889000">
                <a:lnSpc>
                  <a:spcPct val="90000"/>
                </a:lnSpc>
                <a:spcBef>
                  <a:spcPct val="0"/>
                </a:spcBef>
                <a:spcAft>
                  <a:spcPct val="35000"/>
                </a:spcAft>
              </a:pPr>
              <a:r>
                <a:rPr lang="zh-CN" altLang="en-US" sz="2000" kern="1200" dirty="0"/>
                <a:t>资源</a:t>
              </a:r>
            </a:p>
          </p:txBody>
        </p:sp>
        <p:sp>
          <p:nvSpPr>
            <p:cNvPr id="16" name="椭圆 15"/>
            <p:cNvSpPr/>
            <p:nvPr/>
          </p:nvSpPr>
          <p:spPr bwMode="gray">
            <a:xfrm>
              <a:off x="3357982" y="2539470"/>
              <a:ext cx="300854" cy="300984"/>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7" name="椭圆 16"/>
            <p:cNvSpPr/>
            <p:nvPr/>
          </p:nvSpPr>
          <p:spPr bwMode="gray">
            <a:xfrm>
              <a:off x="1375784" y="4136394"/>
              <a:ext cx="543980" cy="544111"/>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8" name="任意多边形 17"/>
            <p:cNvSpPr/>
            <p:nvPr/>
          </p:nvSpPr>
          <p:spPr bwMode="gray">
            <a:xfrm>
              <a:off x="4581779" y="1935136"/>
              <a:ext cx="1100173" cy="1099921"/>
            </a:xfrm>
            <a:custGeom>
              <a:avLst/>
              <a:gdLst>
                <a:gd name="connsiteX0" fmla="*/ 0 w 1100173"/>
                <a:gd name="connsiteY0" fmla="*/ 549961 h 1099921"/>
                <a:gd name="connsiteX1" fmla="*/ 550087 w 1100173"/>
                <a:gd name="connsiteY1" fmla="*/ 0 h 1099921"/>
                <a:gd name="connsiteX2" fmla="*/ 1100174 w 1100173"/>
                <a:gd name="connsiteY2" fmla="*/ 549961 h 1099921"/>
                <a:gd name="connsiteX3" fmla="*/ 550087 w 1100173"/>
                <a:gd name="connsiteY3" fmla="*/ 1099922 h 1099921"/>
                <a:gd name="connsiteX4" fmla="*/ 0 w 1100173"/>
                <a:gd name="connsiteY4" fmla="*/ 549961 h 1099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0173" h="1099921">
                  <a:moveTo>
                    <a:pt x="0" y="549961"/>
                  </a:moveTo>
                  <a:cubicBezTo>
                    <a:pt x="0" y="246226"/>
                    <a:pt x="246282" y="0"/>
                    <a:pt x="550087" y="0"/>
                  </a:cubicBezTo>
                  <a:cubicBezTo>
                    <a:pt x="853892" y="0"/>
                    <a:pt x="1100174" y="246226"/>
                    <a:pt x="1100174" y="549961"/>
                  </a:cubicBezTo>
                  <a:cubicBezTo>
                    <a:pt x="1100174" y="853696"/>
                    <a:pt x="853892" y="1099922"/>
                    <a:pt x="550087" y="1099922"/>
                  </a:cubicBezTo>
                  <a:cubicBezTo>
                    <a:pt x="246282" y="1099922"/>
                    <a:pt x="0" y="853696"/>
                    <a:pt x="0" y="549961"/>
                  </a:cubicBezTo>
                  <a:close/>
                </a:path>
              </a:pathLst>
            </a:cu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7317" tIns="237280" rIns="237317" bIns="237280" numCol="1" spcCol="1270" anchor="ctr" anchorCtr="0">
              <a:noAutofit/>
            </a:bodyPr>
            <a:lstStyle/>
            <a:p>
              <a:pPr lvl="0" algn="ctr" defTabSz="889000">
                <a:lnSpc>
                  <a:spcPct val="90000"/>
                </a:lnSpc>
                <a:spcBef>
                  <a:spcPct val="0"/>
                </a:spcBef>
                <a:spcAft>
                  <a:spcPct val="35000"/>
                </a:spcAft>
              </a:pPr>
              <a:r>
                <a:rPr lang="zh-CN" altLang="en-US" sz="2000" kern="1200"/>
                <a:t>表现层</a:t>
              </a:r>
            </a:p>
          </p:txBody>
        </p:sp>
        <p:sp>
          <p:nvSpPr>
            <p:cNvPr id="19" name="椭圆 18"/>
            <p:cNvSpPr/>
            <p:nvPr/>
          </p:nvSpPr>
          <p:spPr bwMode="gray">
            <a:xfrm>
              <a:off x="4610803" y="2955853"/>
              <a:ext cx="300854" cy="300984"/>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1" name="椭圆 20"/>
            <p:cNvSpPr/>
            <p:nvPr/>
          </p:nvSpPr>
          <p:spPr bwMode="gray">
            <a:xfrm>
              <a:off x="1673555" y="4803306"/>
              <a:ext cx="218147" cy="218150"/>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2" name="椭圆 21"/>
            <p:cNvSpPr/>
            <p:nvPr/>
          </p:nvSpPr>
          <p:spPr bwMode="gray">
            <a:xfrm>
              <a:off x="4773138" y="3881232"/>
              <a:ext cx="218147" cy="218150"/>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3" name="任意多边形 22"/>
            <p:cNvSpPr/>
            <p:nvPr/>
          </p:nvSpPr>
          <p:spPr bwMode="gray">
            <a:xfrm>
              <a:off x="4449040" y="4132197"/>
              <a:ext cx="1365655" cy="1365342"/>
            </a:xfrm>
            <a:custGeom>
              <a:avLst/>
              <a:gdLst>
                <a:gd name="connsiteX0" fmla="*/ 0 w 1365655"/>
                <a:gd name="connsiteY0" fmla="*/ 682671 h 1365342"/>
                <a:gd name="connsiteX1" fmla="*/ 682828 w 1365655"/>
                <a:gd name="connsiteY1" fmla="*/ 0 h 1365342"/>
                <a:gd name="connsiteX2" fmla="*/ 1365656 w 1365655"/>
                <a:gd name="connsiteY2" fmla="*/ 682671 h 1365342"/>
                <a:gd name="connsiteX3" fmla="*/ 682828 w 1365655"/>
                <a:gd name="connsiteY3" fmla="*/ 1365342 h 1365342"/>
                <a:gd name="connsiteX4" fmla="*/ 0 w 1365655"/>
                <a:gd name="connsiteY4" fmla="*/ 682671 h 1365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5655" h="1365342">
                  <a:moveTo>
                    <a:pt x="0" y="682671"/>
                  </a:moveTo>
                  <a:cubicBezTo>
                    <a:pt x="0" y="305642"/>
                    <a:pt x="305713" y="0"/>
                    <a:pt x="682828" y="0"/>
                  </a:cubicBezTo>
                  <a:cubicBezTo>
                    <a:pt x="1059943" y="0"/>
                    <a:pt x="1365656" y="305642"/>
                    <a:pt x="1365656" y="682671"/>
                  </a:cubicBezTo>
                  <a:cubicBezTo>
                    <a:pt x="1365656" y="1059700"/>
                    <a:pt x="1059943" y="1365342"/>
                    <a:pt x="682828" y="1365342"/>
                  </a:cubicBezTo>
                  <a:cubicBezTo>
                    <a:pt x="305713" y="1365342"/>
                    <a:pt x="0" y="1059700"/>
                    <a:pt x="0" y="682671"/>
                  </a:cubicBezTo>
                  <a:close/>
                </a:path>
              </a:pathLst>
            </a:cu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76196" tIns="276150" rIns="276196" bIns="276150" numCol="1" spcCol="1270" anchor="ctr" anchorCtr="0">
              <a:noAutofit/>
            </a:bodyPr>
            <a:lstStyle/>
            <a:p>
              <a:pPr lvl="0" algn="ctr" defTabSz="889000">
                <a:lnSpc>
                  <a:spcPct val="90000"/>
                </a:lnSpc>
                <a:spcBef>
                  <a:spcPct val="0"/>
                </a:spcBef>
                <a:spcAft>
                  <a:spcPct val="35000"/>
                </a:spcAft>
              </a:pPr>
              <a:r>
                <a:rPr lang="zh-CN" altLang="en-US" sz="2000" kern="1200"/>
                <a:t>状态转化</a:t>
              </a:r>
            </a:p>
          </p:txBody>
        </p:sp>
        <p:sp>
          <p:nvSpPr>
            <p:cNvPr id="24" name="椭圆 23"/>
            <p:cNvSpPr/>
            <p:nvPr/>
          </p:nvSpPr>
          <p:spPr bwMode="gray">
            <a:xfrm>
              <a:off x="5309097" y="4059251"/>
              <a:ext cx="218147" cy="218150"/>
            </a:xfrm>
            <a:prstGeom prst="ellipse">
              <a:avLst/>
            </a:prstGeom>
            <a:solidFill>
              <a:srgbClr val="56C4D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grpSp>
      <p:sp>
        <p:nvSpPr>
          <p:cNvPr id="5" name="圆角矩形 4"/>
          <p:cNvSpPr/>
          <p:nvPr/>
        </p:nvSpPr>
        <p:spPr bwMode="gray">
          <a:xfrm>
            <a:off x="6882154" y="2525033"/>
            <a:ext cx="3755004" cy="2231144"/>
          </a:xfrm>
          <a:prstGeom prst="roundRect">
            <a:avLst/>
          </a:prstGeom>
          <a:solidFill>
            <a:srgbClr val="FFFFFF"/>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bwMode="gray">
          <a:xfrm>
            <a:off x="6549078" y="2613040"/>
            <a:ext cx="3937956" cy="1995803"/>
          </a:xfrm>
          <a:prstGeom prst="rect">
            <a:avLst/>
          </a:prstGeom>
        </p:spPr>
        <p:txBody>
          <a:bodyPr wrap="square">
            <a:spAutoFit/>
          </a:bodyPr>
          <a:lstStyle/>
          <a:p>
            <a:pPr lvl="1">
              <a:lnSpc>
                <a:spcPct val="140000"/>
              </a:lnSpc>
            </a:pPr>
            <a:r>
              <a:rPr lang="en-US" altLang="zh-CN" dirty="0"/>
              <a:t>REST</a:t>
            </a:r>
            <a:r>
              <a:rPr lang="zh-CN" altLang="en-US" dirty="0"/>
              <a:t>作为客户端</a:t>
            </a:r>
            <a:r>
              <a:rPr lang="en-US" altLang="zh-CN" dirty="0"/>
              <a:t>-</a:t>
            </a:r>
            <a:r>
              <a:rPr lang="zh-CN" altLang="en-US" dirty="0"/>
              <a:t>服务器的交互框架，具有三个概念：</a:t>
            </a:r>
            <a:endParaRPr lang="en-US" altLang="zh-CN" dirty="0"/>
          </a:p>
          <a:p>
            <a:pPr marL="742990" lvl="1" indent="-285750">
              <a:lnSpc>
                <a:spcPct val="140000"/>
              </a:lnSpc>
              <a:buFont typeface="Arial" panose="020B0604020202020204" pitchFamily="34" charset="0"/>
              <a:buChar char="•"/>
            </a:pPr>
            <a:r>
              <a:rPr lang="zh-CN" altLang="en-US" dirty="0"/>
              <a:t>资源</a:t>
            </a:r>
            <a:endParaRPr lang="en-US" altLang="zh-CN" dirty="0"/>
          </a:p>
          <a:p>
            <a:pPr marL="742990" lvl="1" indent="-285750">
              <a:lnSpc>
                <a:spcPct val="140000"/>
              </a:lnSpc>
              <a:buFont typeface="Arial" panose="020B0604020202020204" pitchFamily="34" charset="0"/>
              <a:buChar char="•"/>
            </a:pPr>
            <a:r>
              <a:rPr lang="zh-CN" altLang="en-US" dirty="0"/>
              <a:t>表现层</a:t>
            </a:r>
            <a:endParaRPr lang="en-US" altLang="zh-CN" dirty="0"/>
          </a:p>
          <a:p>
            <a:pPr marL="742990" lvl="1" indent="-285750">
              <a:lnSpc>
                <a:spcPct val="140000"/>
              </a:lnSpc>
              <a:buFont typeface="Arial" panose="020B0604020202020204" pitchFamily="34" charset="0"/>
              <a:buChar char="•"/>
            </a:pPr>
            <a:r>
              <a:rPr lang="zh-CN" altLang="en-US" dirty="0"/>
              <a:t>状态转化</a:t>
            </a:r>
            <a:endParaRPr lang="en-US" altLang="zh-CN" dirty="0"/>
          </a:p>
        </p:txBody>
      </p:sp>
    </p:spTree>
    <p:extLst>
      <p:ext uri="{BB962C8B-B14F-4D97-AF65-F5344CB8AC3E}">
        <p14:creationId xmlns:p14="http://schemas.microsoft.com/office/powerpoint/2010/main" val="1155256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dirty="0"/>
              <a:t>REST</a:t>
            </a:r>
            <a:r>
              <a:rPr lang="zh-CN" altLang="en-US" dirty="0"/>
              <a:t>概念：资源</a:t>
            </a:r>
          </a:p>
        </p:txBody>
      </p:sp>
      <p:sp>
        <p:nvSpPr>
          <p:cNvPr id="8" name="文本占位符 7"/>
          <p:cNvSpPr>
            <a:spLocks noGrp="1"/>
          </p:cNvSpPr>
          <p:nvPr>
            <p:ph type="body" sz="quarter" idx="10"/>
          </p:nvPr>
        </p:nvSpPr>
        <p:spPr bwMode="gray"/>
        <p:txBody>
          <a:bodyPr/>
          <a:lstStyle/>
          <a:p>
            <a:r>
              <a:rPr lang="zh-CN" altLang="en-US" sz="1800" dirty="0"/>
              <a:t>“资源”是一个信息实体。网络上的所有事物都可被抽象为资源，每个资源都有一个唯一的资源标识符（</a:t>
            </a:r>
            <a:r>
              <a:rPr lang="en-US" altLang="zh-CN" sz="1800" dirty="0"/>
              <a:t>URI</a:t>
            </a:r>
            <a:r>
              <a:rPr lang="zh-CN" altLang="en-US" sz="1800" dirty="0"/>
              <a:t>）。例如端口、网元、单板、机房等都属于资源。</a:t>
            </a:r>
          </a:p>
          <a:p>
            <a:r>
              <a:rPr lang="en-US" altLang="zh-CN" sz="1800" dirty="0"/>
              <a:t>REST</a:t>
            </a:r>
            <a:r>
              <a:rPr lang="zh-CN" altLang="en-US" sz="1800" dirty="0"/>
              <a:t>的核心在于资源和操作。用</a:t>
            </a:r>
            <a:r>
              <a:rPr lang="en-US" altLang="zh-CN" sz="1800" dirty="0"/>
              <a:t>URI</a:t>
            </a:r>
            <a:r>
              <a:rPr lang="zh-CN" altLang="en-US" sz="1800" dirty="0"/>
              <a:t>定位资源，用</a:t>
            </a:r>
            <a:r>
              <a:rPr lang="en-US" altLang="zh-CN" sz="1800" dirty="0"/>
              <a:t>HTTP</a:t>
            </a:r>
            <a:r>
              <a:rPr lang="zh-CN" altLang="en-US" sz="1800" dirty="0"/>
              <a:t>动作（</a:t>
            </a:r>
            <a:r>
              <a:rPr lang="en-US" altLang="zh-CN" sz="1800" dirty="0"/>
              <a:t>GET, POST, PUT, DELETE</a:t>
            </a:r>
            <a:r>
              <a:rPr lang="zh-CN" altLang="en-US" sz="1800" dirty="0"/>
              <a:t>）描述操作。</a:t>
            </a:r>
          </a:p>
          <a:p>
            <a:endParaRPr lang="zh-CN" altLang="en-US" sz="1800" dirty="0"/>
          </a:p>
        </p:txBody>
      </p:sp>
      <p:sp>
        <p:nvSpPr>
          <p:cNvPr id="5"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endParaRPr>
          </a:p>
        </p:txBody>
      </p:sp>
      <p:pic>
        <p:nvPicPr>
          <p:cNvPr id="13" name="图片 12" descr="PC.png"/>
          <p:cNvPicPr>
            <a:picLocks noChangeAspect="1"/>
          </p:cNvPicPr>
          <p:nvPr/>
        </p:nvPicPr>
        <p:blipFill>
          <a:blip r:embed="rId3" cstate="print"/>
          <a:stretch>
            <a:fillRect/>
          </a:stretch>
        </p:blipFill>
        <p:spPr bwMode="gray">
          <a:xfrm>
            <a:off x="7244005" y="4559903"/>
            <a:ext cx="808106" cy="620625"/>
          </a:xfrm>
          <a:prstGeom prst="rect">
            <a:avLst/>
          </a:prstGeom>
        </p:spPr>
      </p:pic>
      <p:cxnSp>
        <p:nvCxnSpPr>
          <p:cNvPr id="14" name="直接箭头连接符 13"/>
          <p:cNvCxnSpPr/>
          <p:nvPr/>
        </p:nvCxnSpPr>
        <p:spPr bwMode="gray">
          <a:xfrm flipH="1">
            <a:off x="4755735" y="4870216"/>
            <a:ext cx="2365609" cy="0"/>
          </a:xfrm>
          <a:prstGeom prst="straightConnector1">
            <a:avLst/>
          </a:prstGeom>
          <a:ln w="571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bwMode="gray">
          <a:xfrm>
            <a:off x="4766886" y="4321986"/>
            <a:ext cx="3137960" cy="419923"/>
          </a:xfrm>
          <a:prstGeom prst="rect">
            <a:avLst/>
          </a:prstGeom>
          <a:noFill/>
        </p:spPr>
        <p:txBody>
          <a:bodyPr wrap="square" rtlCol="0">
            <a:spAutoFit/>
          </a:bodyPr>
          <a:lstStyle/>
          <a:p>
            <a:pPr>
              <a:lnSpc>
                <a:spcPct val="150000"/>
              </a:lnSpc>
            </a:pPr>
            <a:r>
              <a:rPr lang="en-US" altLang="zh-CN" sz="1600" dirty="0"/>
              <a:t>GET/POST/PUT/DELETE</a:t>
            </a:r>
          </a:p>
        </p:txBody>
      </p:sp>
      <p:sp>
        <p:nvSpPr>
          <p:cNvPr id="18" name="Freeform 159"/>
          <p:cNvSpPr/>
          <p:nvPr/>
        </p:nvSpPr>
        <p:spPr bwMode="gray">
          <a:xfrm flipH="1">
            <a:off x="2998067" y="4364985"/>
            <a:ext cx="1541357" cy="8057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框 1"/>
          <p:cNvSpPr txBox="1"/>
          <p:nvPr/>
        </p:nvSpPr>
        <p:spPr bwMode="gray">
          <a:xfrm>
            <a:off x="3380935" y="4611440"/>
            <a:ext cx="2305029" cy="461665"/>
          </a:xfrm>
          <a:prstGeom prst="rect">
            <a:avLst/>
          </a:prstGeom>
          <a:noFill/>
        </p:spPr>
        <p:txBody>
          <a:bodyPr wrap="square" rtlCol="0">
            <a:spAutoFit/>
          </a:bodyPr>
          <a:lstStyle/>
          <a:p>
            <a:r>
              <a:rPr lang="en-US" altLang="zh-CN" sz="2400" b="1">
                <a:solidFill>
                  <a:srgbClr val="A6A6A6"/>
                </a:solidFill>
                <a:latin typeface="Huawei Sans" panose="020C0503030203020204" pitchFamily="34" charset="0"/>
                <a:ea typeface="方正兰亭黑简体" panose="02000000000000000000" pitchFamily="2" charset="-122"/>
                <a:sym typeface="Huawei Sans" panose="020C0503030203020204" pitchFamily="34" charset="0"/>
              </a:rPr>
              <a:t>API</a:t>
            </a:r>
          </a:p>
        </p:txBody>
      </p:sp>
      <p:sp>
        <p:nvSpPr>
          <p:cNvPr id="6" name="矩形 5"/>
          <p:cNvSpPr/>
          <p:nvPr/>
        </p:nvSpPr>
        <p:spPr>
          <a:xfrm>
            <a:off x="1994859" y="2907862"/>
            <a:ext cx="1801905" cy="555813"/>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bg1">
                    <a:lumMod val="95000"/>
                  </a:schemeClr>
                </a:solidFill>
              </a:rPr>
              <a:t>资源：</a:t>
            </a:r>
            <a:endParaRPr lang="en-US" altLang="zh-CN" sz="1600" dirty="0">
              <a:solidFill>
                <a:schemeClr val="bg1">
                  <a:lumMod val="95000"/>
                </a:schemeClr>
              </a:solidFill>
            </a:endParaRPr>
          </a:p>
          <a:p>
            <a:r>
              <a:rPr lang="en-US" altLang="zh-CN" sz="1600" dirty="0">
                <a:solidFill>
                  <a:schemeClr val="bg1">
                    <a:lumMod val="95000"/>
                  </a:schemeClr>
                </a:solidFill>
              </a:rPr>
              <a:t>URI</a:t>
            </a:r>
            <a:r>
              <a:rPr lang="zh-CN" altLang="en-US" sz="1600" dirty="0">
                <a:solidFill>
                  <a:schemeClr val="bg1">
                    <a:lumMod val="95000"/>
                  </a:schemeClr>
                </a:solidFill>
              </a:rPr>
              <a:t>定位资源</a:t>
            </a:r>
          </a:p>
        </p:txBody>
      </p:sp>
      <p:sp>
        <p:nvSpPr>
          <p:cNvPr id="15" name="矩形 14"/>
          <p:cNvSpPr/>
          <p:nvPr/>
        </p:nvSpPr>
        <p:spPr>
          <a:xfrm>
            <a:off x="4261365" y="2907862"/>
            <a:ext cx="1944216" cy="555813"/>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表现层：</a:t>
            </a:r>
            <a:endParaRPr lang="en-US" altLang="zh-CN" sz="1600" dirty="0">
              <a:solidFill>
                <a:schemeClr val="tx1"/>
              </a:solidFill>
            </a:endParaRPr>
          </a:p>
          <a:p>
            <a:r>
              <a:rPr lang="zh-CN" altLang="en-US" sz="1600" dirty="0">
                <a:solidFill>
                  <a:schemeClr val="tx1"/>
                </a:solidFill>
              </a:rPr>
              <a:t>各种格式标识资源</a:t>
            </a:r>
          </a:p>
        </p:txBody>
      </p:sp>
      <p:sp>
        <p:nvSpPr>
          <p:cNvPr id="16" name="矩形 15"/>
          <p:cNvSpPr/>
          <p:nvPr/>
        </p:nvSpPr>
        <p:spPr>
          <a:xfrm>
            <a:off x="6670182" y="2907862"/>
            <a:ext cx="2669752" cy="555813"/>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状态转化：</a:t>
            </a:r>
            <a:endParaRPr lang="en-US" altLang="zh-CN" sz="1600" dirty="0">
              <a:solidFill>
                <a:schemeClr val="tx1"/>
              </a:solidFill>
            </a:endParaRPr>
          </a:p>
          <a:p>
            <a:r>
              <a:rPr lang="en-US" altLang="zh-CN" sz="1600" dirty="0">
                <a:solidFill>
                  <a:schemeClr val="tx1"/>
                </a:solidFill>
              </a:rPr>
              <a:t>HTTP</a:t>
            </a:r>
            <a:r>
              <a:rPr lang="zh-CN" altLang="en-US" sz="1600" dirty="0">
                <a:solidFill>
                  <a:schemeClr val="tx1"/>
                </a:solidFill>
              </a:rPr>
              <a:t>动作进行</a:t>
            </a:r>
            <a:r>
              <a:rPr lang="en-US" altLang="zh-CN" sz="1600" dirty="0">
                <a:solidFill>
                  <a:schemeClr val="tx1"/>
                </a:solidFill>
              </a:rPr>
              <a:t>CRUD</a:t>
            </a:r>
            <a:r>
              <a:rPr lang="zh-CN" altLang="en-US" sz="1600" dirty="0">
                <a:solidFill>
                  <a:schemeClr val="tx1"/>
                </a:solidFill>
              </a:rPr>
              <a:t>操作</a:t>
            </a:r>
          </a:p>
        </p:txBody>
      </p:sp>
    </p:spTree>
    <p:extLst>
      <p:ext uri="{BB962C8B-B14F-4D97-AF65-F5344CB8AC3E}">
        <p14:creationId xmlns:p14="http://schemas.microsoft.com/office/powerpoint/2010/main" val="417089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dirty="0"/>
              <a:t>REST</a:t>
            </a:r>
            <a:r>
              <a:rPr lang="zh-CN" altLang="en-US" dirty="0"/>
              <a:t>概念：表现层</a:t>
            </a:r>
          </a:p>
        </p:txBody>
      </p:sp>
      <p:sp>
        <p:nvSpPr>
          <p:cNvPr id="6" name="文本占位符 5"/>
          <p:cNvSpPr>
            <a:spLocks noGrp="1"/>
          </p:cNvSpPr>
          <p:nvPr>
            <p:ph type="body" sz="quarter" idx="10"/>
          </p:nvPr>
        </p:nvSpPr>
        <p:spPr bwMode="gray"/>
        <p:txBody>
          <a:bodyPr/>
          <a:lstStyle/>
          <a:p>
            <a:r>
              <a:rPr lang="zh-CN" altLang="en-US" sz="1800" dirty="0"/>
              <a:t>“资源”具有多种外在表现形式，“资源”具体呈现出来的形式，叫做它的“表现层”（</a:t>
            </a:r>
            <a:r>
              <a:rPr lang="en-US" altLang="zh-CN" sz="1800" dirty="0"/>
              <a:t>Representation</a:t>
            </a:r>
            <a:r>
              <a:rPr lang="zh-CN" altLang="en-US" sz="1800" dirty="0"/>
              <a:t>）。</a:t>
            </a:r>
          </a:p>
          <a:p>
            <a:r>
              <a:rPr lang="zh-CN" altLang="en-US" sz="1800" dirty="0"/>
              <a:t>例如：文本作为资源可以用</a:t>
            </a:r>
            <a:r>
              <a:rPr lang="en-US" altLang="zh-CN" sz="1800" dirty="0"/>
              <a:t>txt</a:t>
            </a:r>
            <a:r>
              <a:rPr lang="zh-CN" altLang="en-US" sz="1800" dirty="0"/>
              <a:t>格式表现，也可以用</a:t>
            </a:r>
            <a:r>
              <a:rPr lang="en-US" altLang="zh-CN" sz="1800" dirty="0"/>
              <a:t>HTML</a:t>
            </a:r>
            <a:r>
              <a:rPr lang="zh-CN" altLang="en-US" sz="1800" dirty="0"/>
              <a:t>格式、</a:t>
            </a:r>
            <a:r>
              <a:rPr lang="en-US" altLang="zh-CN" sz="1800" dirty="0"/>
              <a:t>XML</a:t>
            </a:r>
            <a:r>
              <a:rPr lang="zh-CN" altLang="en-US" sz="1800" dirty="0"/>
              <a:t>格式、</a:t>
            </a:r>
            <a:r>
              <a:rPr lang="en-US" altLang="zh-CN" sz="1800" dirty="0"/>
              <a:t>JSON</a:t>
            </a:r>
            <a:r>
              <a:rPr lang="zh-CN" altLang="en-US" sz="1800" dirty="0"/>
              <a:t>格式表现，甚至可以采用二进制格式表现。图片作为资源可以用</a:t>
            </a:r>
            <a:r>
              <a:rPr lang="en-US" altLang="zh-CN" sz="1800" dirty="0"/>
              <a:t>JPG</a:t>
            </a:r>
            <a:r>
              <a:rPr lang="zh-CN" altLang="en-US" sz="1800" dirty="0"/>
              <a:t>格式表现，也可以用</a:t>
            </a:r>
            <a:r>
              <a:rPr lang="en-US" altLang="zh-CN" sz="1800" dirty="0"/>
              <a:t>PNG</a:t>
            </a:r>
            <a:r>
              <a:rPr lang="zh-CN" altLang="en-US" sz="1800" dirty="0"/>
              <a:t>格式表现等等。</a:t>
            </a:r>
          </a:p>
          <a:p>
            <a:endParaRPr lang="zh-CN" altLang="en-US" sz="1800" dirty="0"/>
          </a:p>
        </p:txBody>
      </p:sp>
      <p:sp>
        <p:nvSpPr>
          <p:cNvPr id="5"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p>
        </p:txBody>
      </p:sp>
      <p:grpSp>
        <p:nvGrpSpPr>
          <p:cNvPr id="19" name="组合 18"/>
          <p:cNvGrpSpPr/>
          <p:nvPr/>
        </p:nvGrpSpPr>
        <p:grpSpPr bwMode="gray">
          <a:xfrm>
            <a:off x="3051097" y="4260080"/>
            <a:ext cx="5054044" cy="858542"/>
            <a:chOff x="3418511" y="5205650"/>
            <a:chExt cx="5054044" cy="858542"/>
          </a:xfrm>
        </p:grpSpPr>
        <p:pic>
          <p:nvPicPr>
            <p:cNvPr id="20" name="图片 19" descr="PC.png"/>
            <p:cNvPicPr>
              <a:picLocks noChangeAspect="1"/>
            </p:cNvPicPr>
            <p:nvPr/>
          </p:nvPicPr>
          <p:blipFill>
            <a:blip r:embed="rId3" cstate="print"/>
            <a:stretch>
              <a:fillRect/>
            </a:stretch>
          </p:blipFill>
          <p:spPr bwMode="gray">
            <a:xfrm>
              <a:off x="7664449" y="5443567"/>
              <a:ext cx="808106" cy="620625"/>
            </a:xfrm>
            <a:prstGeom prst="rect">
              <a:avLst/>
            </a:prstGeom>
          </p:spPr>
        </p:pic>
        <p:cxnSp>
          <p:nvCxnSpPr>
            <p:cNvPr id="21" name="直接箭头连接符 20"/>
            <p:cNvCxnSpPr/>
            <p:nvPr/>
          </p:nvCxnSpPr>
          <p:spPr bwMode="gray">
            <a:xfrm flipH="1">
              <a:off x="5176179" y="5753880"/>
              <a:ext cx="2365609" cy="0"/>
            </a:xfrm>
            <a:prstGeom prst="straightConnector1">
              <a:avLst/>
            </a:prstGeom>
            <a:ln w="571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bwMode="gray">
            <a:xfrm>
              <a:off x="5187330" y="5205650"/>
              <a:ext cx="3137960" cy="419923"/>
            </a:xfrm>
            <a:prstGeom prst="rect">
              <a:avLst/>
            </a:prstGeom>
            <a:noFill/>
          </p:spPr>
          <p:txBody>
            <a:bodyPr wrap="square" rtlCol="0">
              <a:spAutoFit/>
            </a:bodyPr>
            <a:lstStyle/>
            <a:p>
              <a:pPr>
                <a:lnSpc>
                  <a:spcPct val="150000"/>
                </a:lnSpc>
              </a:pPr>
              <a:r>
                <a:rPr lang="en-US" altLang="zh-CN" sz="1600" dirty="0"/>
                <a:t>GET/POST/PUT/DELETE</a:t>
              </a:r>
            </a:p>
          </p:txBody>
        </p:sp>
        <p:sp>
          <p:nvSpPr>
            <p:cNvPr id="23" name="Freeform 159"/>
            <p:cNvSpPr/>
            <p:nvPr/>
          </p:nvSpPr>
          <p:spPr bwMode="gray">
            <a:xfrm flipH="1">
              <a:off x="3418511" y="5248649"/>
              <a:ext cx="1541357" cy="8057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3801379" y="5495104"/>
              <a:ext cx="2305029" cy="461665"/>
            </a:xfrm>
            <a:prstGeom prst="rect">
              <a:avLst/>
            </a:prstGeom>
            <a:noFill/>
          </p:spPr>
          <p:txBody>
            <a:bodyPr wrap="square" rtlCol="0">
              <a:spAutoFit/>
            </a:bodyPr>
            <a:lstStyle/>
            <a:p>
              <a:r>
                <a:rPr lang="en-US" altLang="zh-CN" sz="2400" b="1">
                  <a:solidFill>
                    <a:srgbClr val="A6A6A6"/>
                  </a:solidFill>
                  <a:latin typeface="Huawei Sans" panose="020C0503030203020204" pitchFamily="34" charset="0"/>
                  <a:ea typeface="方正兰亭黑简体" panose="02000000000000000000" pitchFamily="2" charset="-122"/>
                  <a:sym typeface="Huawei Sans" panose="020C0503030203020204" pitchFamily="34" charset="0"/>
                </a:rPr>
                <a:t>API</a:t>
              </a:r>
            </a:p>
          </p:txBody>
        </p:sp>
      </p:grpSp>
      <p:sp>
        <p:nvSpPr>
          <p:cNvPr id="14" name="矩形 13"/>
          <p:cNvSpPr/>
          <p:nvPr/>
        </p:nvSpPr>
        <p:spPr>
          <a:xfrm>
            <a:off x="1994859" y="2907862"/>
            <a:ext cx="1801905" cy="555813"/>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资源：</a:t>
            </a:r>
            <a:endParaRPr lang="en-US" altLang="zh-CN" sz="1600" dirty="0">
              <a:solidFill>
                <a:schemeClr val="tx1"/>
              </a:solidFill>
            </a:endParaRPr>
          </a:p>
          <a:p>
            <a:r>
              <a:rPr lang="en-US" altLang="zh-CN" sz="1600" dirty="0">
                <a:solidFill>
                  <a:schemeClr val="tx1"/>
                </a:solidFill>
              </a:rPr>
              <a:t>URI</a:t>
            </a:r>
            <a:r>
              <a:rPr lang="zh-CN" altLang="en-US" sz="1600" dirty="0">
                <a:solidFill>
                  <a:schemeClr val="tx1"/>
                </a:solidFill>
              </a:rPr>
              <a:t>定位资源</a:t>
            </a:r>
          </a:p>
        </p:txBody>
      </p:sp>
      <p:sp>
        <p:nvSpPr>
          <p:cNvPr id="15" name="矩形 14"/>
          <p:cNvSpPr/>
          <p:nvPr/>
        </p:nvSpPr>
        <p:spPr>
          <a:xfrm>
            <a:off x="4261365" y="2907862"/>
            <a:ext cx="1944216" cy="555813"/>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bg1">
                    <a:lumMod val="95000"/>
                  </a:schemeClr>
                </a:solidFill>
              </a:rPr>
              <a:t>表现层：</a:t>
            </a:r>
            <a:endParaRPr lang="en-US" altLang="zh-CN" sz="1600" dirty="0">
              <a:solidFill>
                <a:schemeClr val="bg1">
                  <a:lumMod val="95000"/>
                </a:schemeClr>
              </a:solidFill>
            </a:endParaRPr>
          </a:p>
          <a:p>
            <a:r>
              <a:rPr lang="zh-CN" altLang="en-US" sz="1600" dirty="0">
                <a:solidFill>
                  <a:schemeClr val="bg1">
                    <a:lumMod val="95000"/>
                  </a:schemeClr>
                </a:solidFill>
              </a:rPr>
              <a:t>各种格式标识资源</a:t>
            </a:r>
          </a:p>
        </p:txBody>
      </p:sp>
      <p:sp>
        <p:nvSpPr>
          <p:cNvPr id="16" name="矩形 15"/>
          <p:cNvSpPr/>
          <p:nvPr/>
        </p:nvSpPr>
        <p:spPr>
          <a:xfrm>
            <a:off x="6670182" y="2907862"/>
            <a:ext cx="2669752" cy="555813"/>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状态转化：</a:t>
            </a:r>
            <a:endParaRPr lang="en-US" altLang="zh-CN" sz="1600" dirty="0">
              <a:solidFill>
                <a:schemeClr val="tx1"/>
              </a:solidFill>
            </a:endParaRPr>
          </a:p>
          <a:p>
            <a:r>
              <a:rPr lang="en-US" altLang="zh-CN" sz="1600" dirty="0">
                <a:solidFill>
                  <a:schemeClr val="tx1"/>
                </a:solidFill>
              </a:rPr>
              <a:t>HTTP</a:t>
            </a:r>
            <a:r>
              <a:rPr lang="zh-CN" altLang="en-US" sz="1600" dirty="0">
                <a:solidFill>
                  <a:schemeClr val="tx1"/>
                </a:solidFill>
              </a:rPr>
              <a:t>动作进行</a:t>
            </a:r>
            <a:r>
              <a:rPr lang="en-US" altLang="zh-CN" sz="1600" dirty="0">
                <a:solidFill>
                  <a:schemeClr val="tx1"/>
                </a:solidFill>
              </a:rPr>
              <a:t>CRUD</a:t>
            </a:r>
            <a:r>
              <a:rPr lang="zh-CN" altLang="en-US" sz="1600" dirty="0">
                <a:solidFill>
                  <a:schemeClr val="tx1"/>
                </a:solidFill>
              </a:rPr>
              <a:t>操作</a:t>
            </a:r>
          </a:p>
        </p:txBody>
      </p:sp>
    </p:spTree>
    <p:extLst>
      <p:ext uri="{BB962C8B-B14F-4D97-AF65-F5344CB8AC3E}">
        <p14:creationId xmlns:p14="http://schemas.microsoft.com/office/powerpoint/2010/main" val="706731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dirty="0"/>
              <a:t>REST</a:t>
            </a:r>
            <a:r>
              <a:rPr lang="zh-CN" altLang="en-US" dirty="0"/>
              <a:t>概念：状态转化</a:t>
            </a:r>
          </a:p>
        </p:txBody>
      </p:sp>
      <p:sp>
        <p:nvSpPr>
          <p:cNvPr id="6" name="文本占位符 5"/>
          <p:cNvSpPr>
            <a:spLocks noGrp="1"/>
          </p:cNvSpPr>
          <p:nvPr>
            <p:ph type="body" sz="quarter" idx="10"/>
          </p:nvPr>
        </p:nvSpPr>
        <p:spPr bwMode="gray"/>
        <p:txBody>
          <a:bodyPr/>
          <a:lstStyle/>
          <a:p>
            <a:r>
              <a:rPr lang="zh-CN" altLang="en-US" sz="1800" dirty="0"/>
              <a:t>访问一个</a:t>
            </a:r>
            <a:r>
              <a:rPr lang="en-US" altLang="zh-CN" sz="1800" dirty="0"/>
              <a:t>URI</a:t>
            </a:r>
            <a:r>
              <a:rPr lang="zh-CN" altLang="en-US" sz="1800" dirty="0"/>
              <a:t>，即代表了客户端和服务器的一个互动过程。在这个过程中，势必涉及到数据和状态的变化。</a:t>
            </a:r>
          </a:p>
          <a:p>
            <a:r>
              <a:rPr lang="zh-CN" altLang="en-US" sz="1800" dirty="0"/>
              <a:t>互联网通信协议</a:t>
            </a:r>
            <a:r>
              <a:rPr lang="en-US" altLang="zh-CN" sz="1800" dirty="0"/>
              <a:t>HTTP</a:t>
            </a:r>
            <a:r>
              <a:rPr lang="zh-CN" altLang="en-US" sz="1800" dirty="0"/>
              <a:t>协议，是一个无状态协议。这意味着，所有的状态都保存在服务器端，客户端不保存状态。因此，客户端通过某种手段操作服务器，让服务器端发生“状态转化”（</a:t>
            </a:r>
            <a:r>
              <a:rPr lang="en-US" altLang="zh-CN" sz="1800" dirty="0"/>
              <a:t>State Transfer</a:t>
            </a:r>
            <a:r>
              <a:rPr lang="zh-CN" altLang="en-US" sz="1800" dirty="0"/>
              <a:t>）。而这种转化是依赖表现层的，所以就是“表现层状态转化”。</a:t>
            </a:r>
          </a:p>
          <a:p>
            <a:r>
              <a:rPr lang="zh-CN" altLang="en-US" sz="1800" dirty="0"/>
              <a:t>客户端用到的某种手段，就是</a:t>
            </a:r>
            <a:r>
              <a:rPr lang="en-US" altLang="zh-CN" sz="1800" dirty="0"/>
              <a:t>HTTP</a:t>
            </a:r>
            <a:r>
              <a:rPr lang="zh-CN" altLang="en-US" sz="1800" dirty="0"/>
              <a:t>协议。</a:t>
            </a:r>
          </a:p>
          <a:p>
            <a:endParaRPr lang="zh-CN" altLang="en-US" sz="1800" dirty="0"/>
          </a:p>
        </p:txBody>
      </p:sp>
      <p:sp>
        <p:nvSpPr>
          <p:cNvPr id="5"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grpSp>
        <p:nvGrpSpPr>
          <p:cNvPr id="14" name="组合 13"/>
          <p:cNvGrpSpPr/>
          <p:nvPr/>
        </p:nvGrpSpPr>
        <p:grpSpPr bwMode="gray">
          <a:xfrm>
            <a:off x="3661702" y="4839200"/>
            <a:ext cx="5054044" cy="858542"/>
            <a:chOff x="3418511" y="5205650"/>
            <a:chExt cx="5054044" cy="858542"/>
          </a:xfrm>
        </p:grpSpPr>
        <p:pic>
          <p:nvPicPr>
            <p:cNvPr id="22" name="图片 21" descr="PC.png"/>
            <p:cNvPicPr>
              <a:picLocks noChangeAspect="1"/>
            </p:cNvPicPr>
            <p:nvPr/>
          </p:nvPicPr>
          <p:blipFill>
            <a:blip r:embed="rId3" cstate="print"/>
            <a:stretch>
              <a:fillRect/>
            </a:stretch>
          </p:blipFill>
          <p:spPr bwMode="gray">
            <a:xfrm>
              <a:off x="7664449" y="5443567"/>
              <a:ext cx="808106" cy="620625"/>
            </a:xfrm>
            <a:prstGeom prst="rect">
              <a:avLst/>
            </a:prstGeom>
          </p:spPr>
        </p:pic>
        <p:cxnSp>
          <p:nvCxnSpPr>
            <p:cNvPr id="23" name="直接箭头连接符 22"/>
            <p:cNvCxnSpPr/>
            <p:nvPr/>
          </p:nvCxnSpPr>
          <p:spPr bwMode="gray">
            <a:xfrm flipH="1">
              <a:off x="5176179" y="5753880"/>
              <a:ext cx="2365609" cy="0"/>
            </a:xfrm>
            <a:prstGeom prst="straightConnector1">
              <a:avLst/>
            </a:prstGeom>
            <a:ln w="571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bwMode="gray">
            <a:xfrm>
              <a:off x="5187330" y="5205650"/>
              <a:ext cx="3137960" cy="419923"/>
            </a:xfrm>
            <a:prstGeom prst="rect">
              <a:avLst/>
            </a:prstGeom>
            <a:noFill/>
          </p:spPr>
          <p:txBody>
            <a:bodyPr wrap="square" rtlCol="0">
              <a:spAutoFit/>
            </a:bodyPr>
            <a:lstStyle/>
            <a:p>
              <a:pPr>
                <a:lnSpc>
                  <a:spcPct val="150000"/>
                </a:lnSpc>
              </a:pPr>
              <a:r>
                <a:rPr lang="en-US" altLang="zh-CN" sz="1600" dirty="0"/>
                <a:t>GET/POST/PUT/DELETE</a:t>
              </a:r>
            </a:p>
          </p:txBody>
        </p:sp>
        <p:sp>
          <p:nvSpPr>
            <p:cNvPr id="27" name="Freeform 159"/>
            <p:cNvSpPr/>
            <p:nvPr/>
          </p:nvSpPr>
          <p:spPr bwMode="gray">
            <a:xfrm flipH="1">
              <a:off x="3418511" y="5248649"/>
              <a:ext cx="1541357" cy="8057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3801379" y="5495104"/>
              <a:ext cx="2305029" cy="461665"/>
            </a:xfrm>
            <a:prstGeom prst="rect">
              <a:avLst/>
            </a:prstGeom>
            <a:noFill/>
          </p:spPr>
          <p:txBody>
            <a:bodyPr wrap="square" rtlCol="0">
              <a:spAutoFit/>
            </a:bodyPr>
            <a:lstStyle/>
            <a:p>
              <a:r>
                <a:rPr lang="en-US" altLang="zh-CN" sz="2400" b="1">
                  <a:solidFill>
                    <a:srgbClr val="A6A6A6"/>
                  </a:solidFill>
                  <a:latin typeface="Huawei Sans" panose="020C0503030203020204" pitchFamily="34" charset="0"/>
                  <a:ea typeface="方正兰亭黑简体" panose="02000000000000000000" pitchFamily="2" charset="-122"/>
                  <a:sym typeface="Huawei Sans" panose="020C0503030203020204" pitchFamily="34" charset="0"/>
                </a:rPr>
                <a:t>API</a:t>
              </a:r>
            </a:p>
          </p:txBody>
        </p:sp>
      </p:grpSp>
      <p:sp>
        <p:nvSpPr>
          <p:cNvPr id="16" name="矩形 15"/>
          <p:cNvSpPr/>
          <p:nvPr/>
        </p:nvSpPr>
        <p:spPr>
          <a:xfrm>
            <a:off x="1994859" y="3436781"/>
            <a:ext cx="1801905" cy="555813"/>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资源：</a:t>
            </a:r>
            <a:endParaRPr lang="en-US" altLang="zh-CN" sz="1600" dirty="0">
              <a:solidFill>
                <a:schemeClr val="tx1"/>
              </a:solidFill>
            </a:endParaRPr>
          </a:p>
          <a:p>
            <a:r>
              <a:rPr lang="en-US" altLang="zh-CN" sz="1600" dirty="0">
                <a:solidFill>
                  <a:schemeClr val="tx1"/>
                </a:solidFill>
              </a:rPr>
              <a:t>URI</a:t>
            </a:r>
            <a:r>
              <a:rPr lang="zh-CN" altLang="en-US" sz="1600" dirty="0">
                <a:solidFill>
                  <a:schemeClr val="tx1"/>
                </a:solidFill>
              </a:rPr>
              <a:t>定位资源</a:t>
            </a:r>
          </a:p>
        </p:txBody>
      </p:sp>
      <p:sp>
        <p:nvSpPr>
          <p:cNvPr id="17" name="矩形 16"/>
          <p:cNvSpPr/>
          <p:nvPr/>
        </p:nvSpPr>
        <p:spPr>
          <a:xfrm>
            <a:off x="4261365" y="3436781"/>
            <a:ext cx="1944216" cy="555813"/>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表现层：</a:t>
            </a:r>
            <a:endParaRPr lang="en-US" altLang="zh-CN" sz="1600" dirty="0">
              <a:solidFill>
                <a:schemeClr val="tx1"/>
              </a:solidFill>
            </a:endParaRPr>
          </a:p>
          <a:p>
            <a:r>
              <a:rPr lang="zh-CN" altLang="en-US" sz="1600" dirty="0">
                <a:solidFill>
                  <a:schemeClr val="tx1"/>
                </a:solidFill>
              </a:rPr>
              <a:t>各种格式标识资源</a:t>
            </a:r>
          </a:p>
        </p:txBody>
      </p:sp>
      <p:sp>
        <p:nvSpPr>
          <p:cNvPr id="18" name="矩形 17"/>
          <p:cNvSpPr/>
          <p:nvPr/>
        </p:nvSpPr>
        <p:spPr>
          <a:xfrm>
            <a:off x="6670182" y="3436781"/>
            <a:ext cx="2669752" cy="555813"/>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bg1">
                    <a:lumMod val="95000"/>
                  </a:schemeClr>
                </a:solidFill>
              </a:rPr>
              <a:t>状态转化：</a:t>
            </a:r>
            <a:endParaRPr lang="en-US" altLang="zh-CN" sz="1600" dirty="0">
              <a:solidFill>
                <a:schemeClr val="bg1">
                  <a:lumMod val="95000"/>
                </a:schemeClr>
              </a:solidFill>
            </a:endParaRPr>
          </a:p>
          <a:p>
            <a:r>
              <a:rPr lang="en-US" altLang="zh-CN" sz="1600" dirty="0">
                <a:solidFill>
                  <a:schemeClr val="bg1">
                    <a:lumMod val="95000"/>
                  </a:schemeClr>
                </a:solidFill>
              </a:rPr>
              <a:t>HTTP</a:t>
            </a:r>
            <a:r>
              <a:rPr lang="zh-CN" altLang="en-US" sz="1600" dirty="0">
                <a:solidFill>
                  <a:schemeClr val="bg1">
                    <a:lumMod val="95000"/>
                  </a:schemeClr>
                </a:solidFill>
              </a:rPr>
              <a:t>动作进行</a:t>
            </a:r>
            <a:r>
              <a:rPr lang="en-US" altLang="zh-CN" sz="1600" dirty="0">
                <a:solidFill>
                  <a:schemeClr val="bg1">
                    <a:lumMod val="95000"/>
                  </a:schemeClr>
                </a:solidFill>
              </a:rPr>
              <a:t>CRUD</a:t>
            </a:r>
            <a:r>
              <a:rPr lang="zh-CN" altLang="en-US" sz="1600" dirty="0">
                <a:solidFill>
                  <a:schemeClr val="bg1">
                    <a:lumMod val="95000"/>
                  </a:schemeClr>
                </a:solidFill>
              </a:rPr>
              <a:t>操作</a:t>
            </a:r>
          </a:p>
        </p:txBody>
      </p:sp>
    </p:spTree>
    <p:extLst>
      <p:ext uri="{BB962C8B-B14F-4D97-AF65-F5344CB8AC3E}">
        <p14:creationId xmlns:p14="http://schemas.microsoft.com/office/powerpoint/2010/main" val="3471501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RESTful</a:t>
            </a:r>
            <a:r>
              <a:rPr lang="zh-CN" altLang="en-US" dirty="0"/>
              <a:t>和</a:t>
            </a:r>
            <a:r>
              <a:rPr lang="en-US" altLang="zh-CN" dirty="0"/>
              <a:t>RESTCONF</a:t>
            </a:r>
            <a:endParaRPr lang="zh-CN" altLang="en-US" dirty="0"/>
          </a:p>
        </p:txBody>
      </p:sp>
      <p:sp>
        <p:nvSpPr>
          <p:cNvPr id="8" name="文本占位符 7"/>
          <p:cNvSpPr>
            <a:spLocks noGrp="1"/>
          </p:cNvSpPr>
          <p:nvPr>
            <p:ph type="body" sz="quarter" idx="10"/>
          </p:nvPr>
        </p:nvSpPr>
        <p:spPr bwMode="gray"/>
        <p:txBody>
          <a:bodyPr/>
          <a:lstStyle/>
          <a:p>
            <a:r>
              <a:rPr lang="en-US" altLang="zh-CN" sz="1800" b="1" dirty="0"/>
              <a:t>RESTful</a:t>
            </a:r>
            <a:r>
              <a:rPr lang="zh-CN" altLang="en-US" sz="1800" b="1" dirty="0"/>
              <a:t>接口</a:t>
            </a:r>
            <a:r>
              <a:rPr lang="zh-CN" altLang="en-US" sz="1800" dirty="0"/>
              <a:t>是遵循了</a:t>
            </a:r>
            <a:r>
              <a:rPr lang="en-US" altLang="zh-CN" sz="1800" dirty="0"/>
              <a:t>REST</a:t>
            </a:r>
            <a:r>
              <a:rPr lang="zh-CN" altLang="en-US" sz="1800" dirty="0"/>
              <a:t>设计风格的接口。</a:t>
            </a:r>
            <a:r>
              <a:rPr lang="en-US" altLang="zh-CN" sz="1800" dirty="0"/>
              <a:t>RESTful</a:t>
            </a:r>
            <a:r>
              <a:rPr lang="zh-CN" altLang="en-US" sz="1800" dirty="0"/>
              <a:t>接口没有标准的强制性要求，定义起来相对自由。</a:t>
            </a:r>
          </a:p>
          <a:p>
            <a:r>
              <a:rPr lang="en-US" altLang="zh-CN" sz="1800" b="1" dirty="0"/>
              <a:t>RESTCONF</a:t>
            </a:r>
            <a:r>
              <a:rPr lang="zh-CN" altLang="en-US" sz="1800" b="1" dirty="0"/>
              <a:t>接口</a:t>
            </a:r>
            <a:r>
              <a:rPr lang="zh-CN" altLang="en-US" sz="1800" dirty="0"/>
              <a:t>也是遵循了</a:t>
            </a:r>
            <a:r>
              <a:rPr lang="en-US" altLang="zh-CN" sz="1800" dirty="0"/>
              <a:t>REST</a:t>
            </a:r>
            <a:r>
              <a:rPr lang="zh-CN" altLang="en-US" sz="1800" dirty="0"/>
              <a:t>设计风格的接口，和</a:t>
            </a:r>
            <a:r>
              <a:rPr lang="en-US" altLang="zh-CN" sz="1800" dirty="0"/>
              <a:t>RESTful</a:t>
            </a:r>
            <a:r>
              <a:rPr lang="zh-CN" altLang="en-US" sz="1800" dirty="0"/>
              <a:t>接口相比，</a:t>
            </a:r>
            <a:r>
              <a:rPr lang="en-US" altLang="zh-CN" sz="1800" dirty="0"/>
              <a:t>RESTCONF</a:t>
            </a:r>
            <a:r>
              <a:rPr lang="zh-CN" altLang="en-US" sz="1800" dirty="0"/>
              <a:t>还额外需要遵循</a:t>
            </a:r>
            <a:r>
              <a:rPr lang="en-US" altLang="zh-CN" sz="1800" dirty="0"/>
              <a:t>IETF</a:t>
            </a:r>
            <a:r>
              <a:rPr lang="zh-CN" altLang="en-US" sz="1800" dirty="0"/>
              <a:t>定义的</a:t>
            </a:r>
            <a:r>
              <a:rPr lang="en-US" altLang="zh-CN" sz="1800" b="1" dirty="0"/>
              <a:t>RFC8040</a:t>
            </a:r>
            <a:r>
              <a:rPr lang="zh-CN" altLang="en-US" sz="1800" dirty="0"/>
              <a:t>的协议标准。</a:t>
            </a:r>
            <a:r>
              <a:rPr lang="en-US" altLang="zh-CN" sz="1800" dirty="0"/>
              <a:t>RFC8040</a:t>
            </a:r>
            <a:r>
              <a:rPr lang="zh-CN" altLang="en-US" sz="1800" dirty="0"/>
              <a:t>标准定义了</a:t>
            </a:r>
            <a:r>
              <a:rPr lang="en-US" altLang="zh-CN" sz="1800" dirty="0"/>
              <a:t>RESTCONF</a:t>
            </a:r>
            <a:r>
              <a:rPr lang="zh-CN" altLang="en-US" sz="1800" dirty="0"/>
              <a:t>接口的定义和设计规范。</a:t>
            </a:r>
            <a:r>
              <a:rPr lang="en-US" altLang="zh-CN" sz="1800" dirty="0"/>
              <a:t>RESTCONF</a:t>
            </a:r>
            <a:r>
              <a:rPr lang="zh-CN" altLang="en-US" sz="1800" dirty="0"/>
              <a:t>接口基于</a:t>
            </a:r>
            <a:r>
              <a:rPr lang="en-US" altLang="zh-CN" sz="1800" dirty="0"/>
              <a:t>HTTP</a:t>
            </a:r>
            <a:r>
              <a:rPr lang="zh-CN" altLang="en-US" sz="1800" dirty="0"/>
              <a:t>协议，用于访问</a:t>
            </a:r>
            <a:r>
              <a:rPr lang="en-US" altLang="zh-CN" sz="1800" dirty="0"/>
              <a:t>YANG</a:t>
            </a:r>
            <a:r>
              <a:rPr lang="zh-CN" altLang="en-US" sz="1800" dirty="0"/>
              <a:t>中定义的数据。它允许</a:t>
            </a:r>
            <a:r>
              <a:rPr lang="en-US" altLang="zh-CN" sz="1800" dirty="0"/>
              <a:t>Web</a:t>
            </a:r>
            <a:r>
              <a:rPr lang="zh-CN" altLang="en-US" sz="1800" dirty="0"/>
              <a:t>应用以一种模块化、可扩展的方式访问网络设备的配置数据、状态数据和事件通知等等。</a:t>
            </a:r>
          </a:p>
          <a:p>
            <a:endParaRPr lang="zh-CN" altLang="en-US" sz="1800" dirty="0"/>
          </a:p>
          <a:p>
            <a:endParaRPr lang="zh-CN" altLang="en-US" sz="1800" dirty="0"/>
          </a:p>
        </p:txBody>
      </p:sp>
      <p:sp>
        <p:nvSpPr>
          <p:cNvPr id="3" name="内容占位符 2"/>
          <p:cNvSpPr txBox="1">
            <a:spLocks/>
          </p:cNvSpPr>
          <p:nvPr/>
        </p:nvSpPr>
        <p:spPr bwMode="gray">
          <a:xfrm>
            <a:off x="468316" y="1233487"/>
            <a:ext cx="11276184" cy="2431169"/>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9" name="Right Arrow 157"/>
          <p:cNvSpPr/>
          <p:nvPr/>
        </p:nvSpPr>
        <p:spPr bwMode="gray">
          <a:xfrm>
            <a:off x="6341869" y="4285004"/>
            <a:ext cx="695687" cy="353059"/>
          </a:xfrm>
          <a:prstGeom prst="rightArrow">
            <a:avLst>
              <a:gd name="adj1" fmla="val 40000"/>
              <a:gd name="adj2" fmla="val 50000"/>
            </a:avLst>
          </a:prstGeom>
          <a:gradFill flip="none" rotWithShape="1">
            <a:gsLst>
              <a:gs pos="15000">
                <a:schemeClr val="accent1">
                  <a:lumMod val="5000"/>
                  <a:lumOff val="95000"/>
                  <a:alpha val="0"/>
                </a:schemeClr>
              </a:gs>
              <a:gs pos="81000">
                <a:srgbClr val="BEE9EE"/>
              </a:gs>
            </a:gsLst>
            <a:lin ang="0" scaled="1"/>
            <a:tileRect/>
          </a:gradFill>
          <a:ln w="15875">
            <a:gradFill flip="none" rotWithShape="1">
              <a:gsLst>
                <a:gs pos="0">
                  <a:schemeClr val="accent1">
                    <a:lumMod val="5000"/>
                    <a:lumOff val="95000"/>
                  </a:schemeClr>
                </a:gs>
                <a:gs pos="100000">
                  <a:srgbClr val="56C4D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a:extLst>
              <a:ext uri="{FF2B5EF4-FFF2-40B4-BE49-F238E27FC236}">
                <a16:creationId xmlns:a16="http://schemas.microsoft.com/office/drawing/2014/main" id="{9BA7CD8A-2D01-48CB-8A7C-5CB0D950E54A}"/>
              </a:ext>
            </a:extLst>
          </p:cNvPr>
          <p:cNvSpPr txBox="1"/>
          <p:nvPr/>
        </p:nvSpPr>
        <p:spPr bwMode="gray">
          <a:xfrm>
            <a:off x="4877795" y="3452805"/>
            <a:ext cx="3626462" cy="369332"/>
          </a:xfrm>
          <a:prstGeom prst="rect">
            <a:avLst/>
          </a:prstGeom>
          <a:noFill/>
        </p:spPr>
        <p:txBody>
          <a:bodyPr wrap="square" rtlCol="0">
            <a:spAutoFit/>
          </a:bodyPr>
          <a:lstStyle/>
          <a:p>
            <a:r>
              <a:rPr lang="en-US" altLang="zh-CN" b="1" dirty="0"/>
              <a:t>REST</a:t>
            </a:r>
            <a:r>
              <a:rPr lang="en-US" altLang="zh-CN" dirty="0"/>
              <a:t> + </a:t>
            </a:r>
            <a:r>
              <a:rPr lang="en-US" altLang="zh-CN" b="1" dirty="0"/>
              <a:t>Conf</a:t>
            </a:r>
            <a:r>
              <a:rPr lang="en-US" altLang="zh-CN" dirty="0"/>
              <a:t>iguration</a:t>
            </a:r>
            <a:endParaRPr lang="zh-CN" altLang="en-US" dirty="0"/>
          </a:p>
        </p:txBody>
      </p:sp>
      <p:sp>
        <p:nvSpPr>
          <p:cNvPr id="4" name="矩形 3"/>
          <p:cNvSpPr/>
          <p:nvPr/>
        </p:nvSpPr>
        <p:spPr bwMode="gray">
          <a:xfrm>
            <a:off x="2071845" y="4256522"/>
            <a:ext cx="1686472" cy="474028"/>
          </a:xfrm>
          <a:prstGeom prst="rect">
            <a:avLst/>
          </a:prstGeom>
          <a:no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bwMode="gray">
          <a:xfrm>
            <a:off x="2340917" y="4325036"/>
            <a:ext cx="1578349" cy="338554"/>
          </a:xfrm>
          <a:prstGeom prst="rect">
            <a:avLst/>
          </a:prstGeom>
          <a:noFill/>
        </p:spPr>
        <p:txBody>
          <a:bodyPr wrap="square" rtlCol="0">
            <a:spAutoFit/>
          </a:bodyPr>
          <a:lstStyle/>
          <a:p>
            <a:r>
              <a:rPr lang="en-US" altLang="zh-CN" sz="1600"/>
              <a:t>REST</a:t>
            </a:r>
            <a:r>
              <a:rPr lang="zh-CN" altLang="en-US" sz="1600"/>
              <a:t>风格</a:t>
            </a:r>
          </a:p>
        </p:txBody>
      </p:sp>
      <p:sp>
        <p:nvSpPr>
          <p:cNvPr id="28" name="矩形 27"/>
          <p:cNvSpPr/>
          <p:nvPr/>
        </p:nvSpPr>
        <p:spPr bwMode="gray">
          <a:xfrm>
            <a:off x="4579100" y="4256522"/>
            <a:ext cx="1686472" cy="474028"/>
          </a:xfrm>
          <a:prstGeom prst="rect">
            <a:avLst/>
          </a:prstGeom>
          <a:no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bwMode="gray">
          <a:xfrm>
            <a:off x="4877795" y="4325036"/>
            <a:ext cx="1578349" cy="338554"/>
          </a:xfrm>
          <a:prstGeom prst="rect">
            <a:avLst/>
          </a:prstGeom>
          <a:noFill/>
        </p:spPr>
        <p:txBody>
          <a:bodyPr wrap="square" rtlCol="0">
            <a:spAutoFit/>
          </a:bodyPr>
          <a:lstStyle/>
          <a:p>
            <a:r>
              <a:rPr lang="en-US" altLang="zh-CN" sz="1600"/>
              <a:t>RFC8040</a:t>
            </a:r>
            <a:endParaRPr lang="zh-CN" altLang="en-US" sz="1600"/>
          </a:p>
        </p:txBody>
      </p:sp>
      <p:sp>
        <p:nvSpPr>
          <p:cNvPr id="30" name="矩形 29"/>
          <p:cNvSpPr/>
          <p:nvPr/>
        </p:nvSpPr>
        <p:spPr bwMode="gray">
          <a:xfrm>
            <a:off x="7311188" y="4273328"/>
            <a:ext cx="1686472" cy="474028"/>
          </a:xfrm>
          <a:prstGeom prst="rect">
            <a:avLst/>
          </a:prstGeom>
          <a:no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bwMode="gray">
          <a:xfrm>
            <a:off x="7501760" y="4324259"/>
            <a:ext cx="1578349" cy="338554"/>
          </a:xfrm>
          <a:prstGeom prst="rect">
            <a:avLst/>
          </a:prstGeom>
          <a:noFill/>
        </p:spPr>
        <p:txBody>
          <a:bodyPr wrap="square" rtlCol="0">
            <a:spAutoFit/>
          </a:bodyPr>
          <a:lstStyle/>
          <a:p>
            <a:r>
              <a:rPr lang="en-US" altLang="zh-CN" sz="1600"/>
              <a:t>RESTCONF</a:t>
            </a:r>
            <a:endParaRPr lang="zh-CN" altLang="en-US" sz="1600"/>
          </a:p>
        </p:txBody>
      </p:sp>
      <p:sp>
        <p:nvSpPr>
          <p:cNvPr id="16" name="任意多边形 15"/>
          <p:cNvSpPr/>
          <p:nvPr/>
        </p:nvSpPr>
        <p:spPr bwMode="gray">
          <a:xfrm>
            <a:off x="3876021" y="4260495"/>
            <a:ext cx="512507" cy="499693"/>
          </a:xfrm>
          <a:custGeom>
            <a:avLst/>
            <a:gdLst>
              <a:gd name="connsiteX0" fmla="*/ 49566 w 373939"/>
              <a:gd name="connsiteY0" fmla="*/ 142994 h 373939"/>
              <a:gd name="connsiteX1" fmla="*/ 142994 w 373939"/>
              <a:gd name="connsiteY1" fmla="*/ 142994 h 373939"/>
              <a:gd name="connsiteX2" fmla="*/ 142994 w 373939"/>
              <a:gd name="connsiteY2" fmla="*/ 49566 h 373939"/>
              <a:gd name="connsiteX3" fmla="*/ 230945 w 373939"/>
              <a:gd name="connsiteY3" fmla="*/ 49566 h 373939"/>
              <a:gd name="connsiteX4" fmla="*/ 230945 w 373939"/>
              <a:gd name="connsiteY4" fmla="*/ 142994 h 373939"/>
              <a:gd name="connsiteX5" fmla="*/ 324373 w 373939"/>
              <a:gd name="connsiteY5" fmla="*/ 142994 h 373939"/>
              <a:gd name="connsiteX6" fmla="*/ 324373 w 373939"/>
              <a:gd name="connsiteY6" fmla="*/ 230945 h 373939"/>
              <a:gd name="connsiteX7" fmla="*/ 230945 w 373939"/>
              <a:gd name="connsiteY7" fmla="*/ 230945 h 373939"/>
              <a:gd name="connsiteX8" fmla="*/ 230945 w 373939"/>
              <a:gd name="connsiteY8" fmla="*/ 324373 h 373939"/>
              <a:gd name="connsiteX9" fmla="*/ 142994 w 373939"/>
              <a:gd name="connsiteY9" fmla="*/ 324373 h 373939"/>
              <a:gd name="connsiteX10" fmla="*/ 142994 w 373939"/>
              <a:gd name="connsiteY10" fmla="*/ 230945 h 373939"/>
              <a:gd name="connsiteX11" fmla="*/ 49566 w 373939"/>
              <a:gd name="connsiteY11" fmla="*/ 230945 h 373939"/>
              <a:gd name="connsiteX12" fmla="*/ 49566 w 373939"/>
              <a:gd name="connsiteY12" fmla="*/ 142994 h 37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3939" h="373939">
                <a:moveTo>
                  <a:pt x="49566" y="142994"/>
                </a:moveTo>
                <a:lnTo>
                  <a:pt x="142994" y="142994"/>
                </a:lnTo>
                <a:lnTo>
                  <a:pt x="142994" y="49566"/>
                </a:lnTo>
                <a:lnTo>
                  <a:pt x="230945" y="49566"/>
                </a:lnTo>
                <a:lnTo>
                  <a:pt x="230945" y="142994"/>
                </a:lnTo>
                <a:lnTo>
                  <a:pt x="324373" y="142994"/>
                </a:lnTo>
                <a:lnTo>
                  <a:pt x="324373" y="230945"/>
                </a:lnTo>
                <a:lnTo>
                  <a:pt x="230945" y="230945"/>
                </a:lnTo>
                <a:lnTo>
                  <a:pt x="230945" y="324373"/>
                </a:lnTo>
                <a:lnTo>
                  <a:pt x="142994" y="324373"/>
                </a:lnTo>
                <a:lnTo>
                  <a:pt x="142994" y="230945"/>
                </a:lnTo>
                <a:lnTo>
                  <a:pt x="49566" y="230945"/>
                </a:lnTo>
                <a:lnTo>
                  <a:pt x="49566" y="142994"/>
                </a:lnTo>
                <a:close/>
              </a:path>
            </a:pathLst>
          </a:custGeom>
          <a:solidFill>
            <a:srgbClr val="BEE9EE"/>
          </a:solidFill>
          <a:ln>
            <a:solidFill>
              <a:srgbClr val="56C4D2"/>
            </a:solidFill>
          </a:ln>
          <a:effectLst/>
        </p:spPr>
        <p:txBody>
          <a:bodyPr spcFirstLastPara="0" vert="horz" wrap="square" lIns="49566" tIns="142994" rIns="49566" bIns="142994" numCol="1" spcCol="1270" anchor="ctr" anchorCtr="0">
            <a:noAutofit/>
          </a:bodyPr>
          <a:lstStyle/>
          <a:p>
            <a:pPr marL="0" marR="0" lvl="0" indent="0" algn="ctr" defTabSz="222250" eaLnBrk="1" fontAlgn="auto" latinLnBrk="0" hangingPunct="1">
              <a:lnSpc>
                <a:spcPct val="90000"/>
              </a:lnSpc>
              <a:spcBef>
                <a:spcPct val="0"/>
              </a:spcBef>
              <a:spcAft>
                <a:spcPct val="35000"/>
              </a:spcAft>
              <a:buClrTx/>
              <a:buSzTx/>
              <a:buFontTx/>
              <a:buNone/>
              <a:tabLst/>
              <a:defRPr/>
            </a:pPr>
            <a:endParaRPr kumimoji="0" lang="zh-CN" altLang="en-US" sz="500" b="0" i="0" u="none" strike="noStrike" kern="0" cap="none" spc="0" normalizeH="0" baseline="0" noProof="0">
              <a:ln>
                <a:noFill/>
              </a:ln>
              <a:solidFill>
                <a:prstClr val="white"/>
              </a:solidFill>
              <a:effectLst/>
              <a:uLnTx/>
              <a:uFillTx/>
              <a:latin typeface="Huawei Sans"/>
              <a:ea typeface="方正兰亭黑简体"/>
              <a:cs typeface="+mn-cs"/>
            </a:endParaRPr>
          </a:p>
        </p:txBody>
      </p:sp>
    </p:spTree>
    <p:extLst>
      <p:ext uri="{BB962C8B-B14F-4D97-AF65-F5344CB8AC3E}">
        <p14:creationId xmlns:p14="http://schemas.microsoft.com/office/powerpoint/2010/main" val="3586459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randombar(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bwMode="gray">
          <a:xfrm>
            <a:off x="657247" y="1627238"/>
            <a:ext cx="3766044" cy="2846427"/>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a:t>RESTful</a:t>
            </a:r>
            <a:r>
              <a:rPr lang="zh-CN" altLang="en-US"/>
              <a:t>接口如何定义</a:t>
            </a:r>
            <a:endParaRPr lang="zh-CN" altLang="en-US" dirty="0"/>
          </a:p>
        </p:txBody>
      </p:sp>
      <p:sp>
        <p:nvSpPr>
          <p:cNvPr id="7" name="圆角矩形 6"/>
          <p:cNvSpPr/>
          <p:nvPr/>
        </p:nvSpPr>
        <p:spPr bwMode="gray">
          <a:xfrm>
            <a:off x="921807" y="2009195"/>
            <a:ext cx="1168454" cy="432000"/>
          </a:xfrm>
          <a:prstGeom prst="roundRect">
            <a:avLst>
              <a:gd name="adj" fmla="val 15000"/>
            </a:avLst>
          </a:prstGeom>
          <a:solidFill>
            <a:schemeClr val="bg1"/>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资源</a:t>
            </a: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URI</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gray">
          <a:xfrm>
            <a:off x="2690997" y="2009195"/>
            <a:ext cx="1168454" cy="432000"/>
          </a:xfrm>
          <a:prstGeom prst="roundRect">
            <a:avLst>
              <a:gd name="adj" fmla="val 15000"/>
            </a:avLst>
          </a:prstGeom>
          <a:solidFill>
            <a:schemeClr val="bg1"/>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请求方法</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8"/>
          <p:cNvSpPr/>
          <p:nvPr/>
        </p:nvSpPr>
        <p:spPr bwMode="gray">
          <a:xfrm>
            <a:off x="921807" y="2773558"/>
            <a:ext cx="1168454" cy="432000"/>
          </a:xfrm>
          <a:prstGeom prst="roundRect">
            <a:avLst>
              <a:gd name="adj" fmla="val 15000"/>
            </a:avLst>
          </a:prstGeom>
          <a:solidFill>
            <a:schemeClr val="bg1"/>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消息头</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921807" y="3537921"/>
            <a:ext cx="1168454" cy="432000"/>
          </a:xfrm>
          <a:prstGeom prst="roundRect">
            <a:avLst>
              <a:gd name="adj" fmla="val 15000"/>
            </a:avLst>
          </a:prstGeom>
          <a:solidFill>
            <a:schemeClr val="bg1"/>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消息体</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gray">
          <a:xfrm>
            <a:off x="2658743" y="2780959"/>
            <a:ext cx="1168454" cy="432000"/>
          </a:xfrm>
          <a:prstGeom prst="roundRect">
            <a:avLst>
              <a:gd name="adj" fmla="val 15000"/>
            </a:avLst>
          </a:prstGeom>
          <a:solidFill>
            <a:schemeClr val="bg1"/>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状态码</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22"/>
          <p:cNvSpPr/>
          <p:nvPr/>
        </p:nvSpPr>
        <p:spPr bwMode="gray">
          <a:xfrm>
            <a:off x="1683407" y="4872708"/>
            <a:ext cx="8200760" cy="513425"/>
          </a:xfrm>
          <a:prstGeom prst="roundRect">
            <a:avLst>
              <a:gd name="adj" fmla="val 15000"/>
            </a:avLst>
          </a:prstGeom>
          <a:solidFill>
            <a:schemeClr val="bg1"/>
          </a:solidFill>
          <a:ln w="19050" cap="flat" cmpd="sng" algn="ctr">
            <a:solidFill>
              <a:schemeClr val="tx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defTabSz="1219304">
              <a:lnSpc>
                <a:spcPct val="125000"/>
              </a:lnSpc>
              <a:spcAft>
                <a:spcPts val="600"/>
              </a:spcAft>
              <a:defRPr/>
            </a:pPr>
            <a:r>
              <a:rPr lang="zh-CN" altLang="en-US" sz="1600"/>
              <a:t>  以上这些字段全都存在于</a:t>
            </a:r>
            <a:r>
              <a:rPr lang="en-US" altLang="zh-CN" sz="1600"/>
              <a:t>HTTP</a:t>
            </a:r>
            <a:r>
              <a:rPr lang="zh-CN" altLang="en-US" sz="1600"/>
              <a:t>报文中，可见</a:t>
            </a:r>
            <a:r>
              <a:rPr lang="en-US" altLang="zh-CN" sz="1600"/>
              <a:t>REST</a:t>
            </a:r>
            <a:r>
              <a:rPr lang="zh-CN" altLang="en-US" sz="1600"/>
              <a:t>充分利用或者说极端依赖</a:t>
            </a:r>
            <a:r>
              <a:rPr lang="en-US" altLang="zh-CN" sz="1600"/>
              <a:t>HTTP</a:t>
            </a:r>
            <a:r>
              <a:rPr lang="zh-CN" altLang="en-US" sz="1600"/>
              <a:t>协议。</a:t>
            </a:r>
          </a:p>
        </p:txBody>
      </p:sp>
      <p:pic>
        <p:nvPicPr>
          <p:cNvPr id="24" name="图片 2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382823" y="2689306"/>
            <a:ext cx="836971" cy="659158"/>
          </a:xfrm>
          <a:prstGeom prst="rect">
            <a:avLst/>
          </a:prstGeom>
        </p:spPr>
      </p:pic>
      <p:pic>
        <p:nvPicPr>
          <p:cNvPr id="25" name="图片 24" descr="笔记本电脑.png"/>
          <p:cNvPicPr>
            <a:picLocks noChangeAspect="1"/>
          </p:cNvPicPr>
          <p:nvPr/>
        </p:nvPicPr>
        <p:blipFill>
          <a:blip r:embed="rId4" cstate="print"/>
          <a:stretch>
            <a:fillRect/>
          </a:stretch>
        </p:blipFill>
        <p:spPr bwMode="gray">
          <a:xfrm>
            <a:off x="6400364" y="2721410"/>
            <a:ext cx="968153" cy="606958"/>
          </a:xfrm>
          <a:prstGeom prst="rect">
            <a:avLst/>
          </a:prstGeom>
        </p:spPr>
      </p:pic>
      <p:cxnSp>
        <p:nvCxnSpPr>
          <p:cNvPr id="27" name="直接箭头连接符 26">
            <a:extLst>
              <a:ext uri="{FF2B5EF4-FFF2-40B4-BE49-F238E27FC236}">
                <a16:creationId xmlns:a16="http://schemas.microsoft.com/office/drawing/2014/main" id="{BA877C97-A666-4A1C-8CE5-234683096791}"/>
              </a:ext>
            </a:extLst>
          </p:cNvPr>
          <p:cNvCxnSpPr>
            <a:cxnSpLocks/>
          </p:cNvCxnSpPr>
          <p:nvPr/>
        </p:nvCxnSpPr>
        <p:spPr bwMode="gray">
          <a:xfrm>
            <a:off x="7490659" y="2811222"/>
            <a:ext cx="1749923" cy="0"/>
          </a:xfrm>
          <a:prstGeom prst="straightConnector1">
            <a:avLst/>
          </a:prstGeom>
          <a:ln w="571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bwMode="gray">
          <a:xfrm>
            <a:off x="7737515" y="3207505"/>
            <a:ext cx="1276309" cy="338554"/>
          </a:xfrm>
          <a:prstGeom prst="rect">
            <a:avLst/>
          </a:prstGeom>
          <a:noFill/>
        </p:spPr>
        <p:txBody>
          <a:bodyPr wrap="square" rtlCol="0">
            <a:spAutoFit/>
          </a:bodyPr>
          <a:lstStyle/>
          <a:p>
            <a:r>
              <a:rPr lang="en-US" altLang="zh-CN" sz="1600"/>
              <a:t>HTTP</a:t>
            </a:r>
            <a:r>
              <a:rPr lang="zh-CN" altLang="en-US" sz="1600"/>
              <a:t>响应</a:t>
            </a:r>
          </a:p>
        </p:txBody>
      </p:sp>
      <p:cxnSp>
        <p:nvCxnSpPr>
          <p:cNvPr id="29" name="直接箭头连接符 28">
            <a:extLst>
              <a:ext uri="{FF2B5EF4-FFF2-40B4-BE49-F238E27FC236}">
                <a16:creationId xmlns:a16="http://schemas.microsoft.com/office/drawing/2014/main" id="{BA877C97-A666-4A1C-8CE5-234683096791}"/>
              </a:ext>
            </a:extLst>
          </p:cNvPr>
          <p:cNvCxnSpPr>
            <a:cxnSpLocks/>
          </p:cNvCxnSpPr>
          <p:nvPr/>
        </p:nvCxnSpPr>
        <p:spPr bwMode="gray">
          <a:xfrm flipH="1">
            <a:off x="7490659" y="3120730"/>
            <a:ext cx="1749923" cy="0"/>
          </a:xfrm>
          <a:prstGeom prst="straightConnector1">
            <a:avLst/>
          </a:prstGeom>
          <a:ln w="571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bwMode="gray">
          <a:xfrm>
            <a:off x="7799525" y="2408134"/>
            <a:ext cx="1276309" cy="338554"/>
          </a:xfrm>
          <a:prstGeom prst="rect">
            <a:avLst/>
          </a:prstGeom>
          <a:noFill/>
        </p:spPr>
        <p:txBody>
          <a:bodyPr wrap="square" rtlCol="0">
            <a:spAutoFit/>
          </a:bodyPr>
          <a:lstStyle/>
          <a:p>
            <a:r>
              <a:rPr lang="en-US" altLang="zh-CN" sz="1600"/>
              <a:t>HTTP</a:t>
            </a:r>
            <a:r>
              <a:rPr lang="zh-CN" altLang="en-US" sz="1600"/>
              <a:t>请求</a:t>
            </a:r>
          </a:p>
        </p:txBody>
      </p:sp>
      <p:sp>
        <p:nvSpPr>
          <p:cNvPr id="21" name="等腰三角形 43"/>
          <p:cNvSpPr/>
          <p:nvPr/>
        </p:nvSpPr>
        <p:spPr bwMode="gray">
          <a:xfrm rot="5032534">
            <a:off x="3839280" y="2029871"/>
            <a:ext cx="2748757" cy="1896276"/>
          </a:xfrm>
          <a:custGeom>
            <a:avLst/>
            <a:gdLst>
              <a:gd name="connsiteX0" fmla="*/ 0 w 1885795"/>
              <a:gd name="connsiteY0" fmla="*/ 2358756 h 2358756"/>
              <a:gd name="connsiteX1" fmla="*/ 983725 w 1885795"/>
              <a:gd name="connsiteY1" fmla="*/ 0 h 2358756"/>
              <a:gd name="connsiteX2" fmla="*/ 1885795 w 1885795"/>
              <a:gd name="connsiteY2" fmla="*/ 2358756 h 2358756"/>
              <a:gd name="connsiteX3" fmla="*/ 0 w 1885795"/>
              <a:gd name="connsiteY3" fmla="*/ 2358756 h 2358756"/>
              <a:gd name="connsiteX0" fmla="*/ 0 w 2392583"/>
              <a:gd name="connsiteY0" fmla="*/ 1558439 h 2358756"/>
              <a:gd name="connsiteX1" fmla="*/ 1490513 w 2392583"/>
              <a:gd name="connsiteY1" fmla="*/ 0 h 2358756"/>
              <a:gd name="connsiteX2" fmla="*/ 2392583 w 2392583"/>
              <a:gd name="connsiteY2" fmla="*/ 2358756 h 2358756"/>
              <a:gd name="connsiteX3" fmla="*/ 0 w 2392583"/>
              <a:gd name="connsiteY3" fmla="*/ 1558439 h 2358756"/>
              <a:gd name="connsiteX0" fmla="*/ 0 w 2748757"/>
              <a:gd name="connsiteY0" fmla="*/ 1558439 h 1896276"/>
              <a:gd name="connsiteX1" fmla="*/ 1490513 w 2748757"/>
              <a:gd name="connsiteY1" fmla="*/ 0 h 1896276"/>
              <a:gd name="connsiteX2" fmla="*/ 2748757 w 2748757"/>
              <a:gd name="connsiteY2" fmla="*/ 1896276 h 1896276"/>
              <a:gd name="connsiteX3" fmla="*/ 0 w 2748757"/>
              <a:gd name="connsiteY3" fmla="*/ 1558439 h 1896276"/>
            </a:gdLst>
            <a:ahLst/>
            <a:cxnLst>
              <a:cxn ang="0">
                <a:pos x="connsiteX0" y="connsiteY0"/>
              </a:cxn>
              <a:cxn ang="0">
                <a:pos x="connsiteX1" y="connsiteY1"/>
              </a:cxn>
              <a:cxn ang="0">
                <a:pos x="connsiteX2" y="connsiteY2"/>
              </a:cxn>
              <a:cxn ang="0">
                <a:pos x="connsiteX3" y="connsiteY3"/>
              </a:cxn>
            </a:cxnLst>
            <a:rect l="l" t="t" r="r" b="b"/>
            <a:pathLst>
              <a:path w="2748757" h="1896276">
                <a:moveTo>
                  <a:pt x="0" y="1558439"/>
                </a:moveTo>
                <a:lnTo>
                  <a:pt x="1490513" y="0"/>
                </a:lnTo>
                <a:lnTo>
                  <a:pt x="2748757" y="1896276"/>
                </a:lnTo>
                <a:lnTo>
                  <a:pt x="0" y="1558439"/>
                </a:lnTo>
                <a:close/>
              </a:path>
            </a:pathLst>
          </a:custGeom>
          <a:gradFill>
            <a:gsLst>
              <a:gs pos="0">
                <a:srgbClr val="56C4D2"/>
              </a:gs>
              <a:gs pos="100000">
                <a:sysClr val="window" lastClr="FFFFFF">
                  <a:alpha val="0"/>
                </a:sysClr>
              </a:gs>
            </a:gsLst>
            <a:lin ang="5400000" scaled="0"/>
          </a:gradFill>
          <a:ln>
            <a:noFill/>
          </a:ln>
          <a:effectLst/>
        </p:spPr>
        <p:txBody>
          <a:bodyPr lIns="36863" tIns="40549" rIns="36863" bIns="40549"/>
          <a:lstStyle/>
          <a:p>
            <a:pPr marL="0" marR="0" lvl="0" indent="0" defTabSz="615490" eaLnBrk="0" fontAlgn="base" latinLnBrk="0" hangingPunct="0">
              <a:lnSpc>
                <a:spcPct val="100000"/>
              </a:lnSpc>
              <a:spcBef>
                <a:spcPct val="20000"/>
              </a:spcBef>
              <a:spcAft>
                <a:spcPct val="0"/>
              </a:spcAft>
              <a:buClr>
                <a:srgbClr val="990000"/>
              </a:buClr>
              <a:buSzPct val="60000"/>
              <a:buFontTx/>
              <a:buNone/>
              <a:tabLst/>
              <a:defRPr/>
            </a:pPr>
            <a:endParaRPr kumimoji="0" lang="zh-CN" altLang="en-US" sz="798"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68426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SDN</a:t>
            </a:r>
            <a:r>
              <a:rPr lang="zh-CN" altLang="en-US" dirty="0">
                <a:solidFill>
                  <a:schemeClr val="bg1">
                    <a:lumMod val="50000"/>
                  </a:schemeClr>
                </a:solidFill>
              </a:rPr>
              <a:t>概述</a:t>
            </a:r>
          </a:p>
          <a:p>
            <a:r>
              <a:rPr lang="en-US" altLang="zh-CN" dirty="0">
                <a:solidFill>
                  <a:schemeClr val="bg1">
                    <a:lumMod val="50000"/>
                  </a:schemeClr>
                </a:solidFill>
                <a:sym typeface="Huawei Sans" panose="020C0503030203020204" pitchFamily="34" charset="0"/>
              </a:rPr>
              <a:t>REST</a:t>
            </a:r>
            <a:r>
              <a:rPr lang="zh-CN" altLang="en-US" dirty="0">
                <a:solidFill>
                  <a:schemeClr val="bg1">
                    <a:lumMod val="50000"/>
                  </a:schemeClr>
                </a:solidFill>
                <a:sym typeface="Huawei Sans" panose="020C0503030203020204" pitchFamily="34" charset="0"/>
              </a:rPr>
              <a:t>和</a:t>
            </a:r>
            <a:r>
              <a:rPr lang="en-US" altLang="zh-CN" dirty="0">
                <a:solidFill>
                  <a:schemeClr val="bg1">
                    <a:lumMod val="50000"/>
                  </a:schemeClr>
                </a:solidFill>
                <a:sym typeface="Huawei Sans" panose="020C0503030203020204" pitchFamily="34" charset="0"/>
              </a:rPr>
              <a:t>RESTful</a:t>
            </a:r>
          </a:p>
          <a:p>
            <a:r>
              <a:rPr lang="en-US" altLang="zh-CN" b="1" dirty="0">
                <a:sym typeface="Huawei Sans" panose="020C0503030203020204" pitchFamily="34" charset="0"/>
              </a:rPr>
              <a:t>HTTP</a:t>
            </a:r>
            <a:r>
              <a:rPr lang="zh-CN" altLang="en-US" b="1" dirty="0">
                <a:sym typeface="Huawei Sans" panose="020C0503030203020204" pitchFamily="34" charset="0"/>
              </a:rPr>
              <a:t>工作原理</a:t>
            </a:r>
            <a:endParaRPr lang="en-US" altLang="zh-CN" b="1" dirty="0">
              <a:sym typeface="Huawei Sans" panose="020C0503030203020204" pitchFamily="34" charset="0"/>
            </a:endParaRPr>
          </a:p>
          <a:p>
            <a:pPr lvl="1">
              <a:buSzPct val="60000"/>
              <a:buFont typeface="Wingdings" panose="05000000000000000000" pitchFamily="2" charset="2"/>
              <a:buChar char="n"/>
            </a:pPr>
            <a:r>
              <a:rPr lang="en-US" altLang="zh-CN" dirty="0">
                <a:sym typeface="Huawei Sans" panose="020C0503030203020204" pitchFamily="34" charset="0"/>
              </a:rPr>
              <a:t>HTTP</a:t>
            </a:r>
            <a:r>
              <a:rPr lang="zh-CN" altLang="en-US" dirty="0">
                <a:sym typeface="Huawei Sans" panose="020C0503030203020204" pitchFamily="34" charset="0"/>
              </a:rPr>
              <a:t>简介</a:t>
            </a:r>
          </a:p>
          <a:p>
            <a:pPr lvl="1"/>
            <a:r>
              <a:rPr lang="en-US" altLang="zh-CN" dirty="0">
                <a:solidFill>
                  <a:schemeClr val="bg1">
                    <a:lumMod val="50000"/>
                  </a:schemeClr>
                </a:solidFill>
                <a:sym typeface="Huawei Sans" panose="020C0503030203020204" pitchFamily="34" charset="0"/>
              </a:rPr>
              <a:t>HTTP/1.1</a:t>
            </a:r>
            <a:r>
              <a:rPr lang="zh-CN" altLang="en-US" dirty="0">
                <a:solidFill>
                  <a:schemeClr val="bg1">
                    <a:lumMod val="50000"/>
                  </a:schemeClr>
                </a:solidFill>
                <a:sym typeface="Huawei Sans" panose="020C0503030203020204" pitchFamily="34" charset="0"/>
              </a:rPr>
              <a:t>报文</a:t>
            </a:r>
          </a:p>
          <a:p>
            <a:pPr lvl="1"/>
            <a:r>
              <a:rPr lang="en-US" altLang="zh-CN" dirty="0">
                <a:solidFill>
                  <a:schemeClr val="bg1">
                    <a:lumMod val="50000"/>
                  </a:schemeClr>
                </a:solidFill>
                <a:sym typeface="Huawei Sans" panose="020C0503030203020204" pitchFamily="34" charset="0"/>
              </a:rPr>
              <a:t>HTTPS</a:t>
            </a:r>
            <a:r>
              <a:rPr lang="zh-CN" altLang="en-US" dirty="0">
                <a:solidFill>
                  <a:schemeClr val="bg1">
                    <a:lumMod val="50000"/>
                  </a:schemeClr>
                </a:solidFill>
                <a:sym typeface="Huawei Sans" panose="020C0503030203020204" pitchFamily="34" charset="0"/>
              </a:rPr>
              <a:t>和</a:t>
            </a:r>
            <a:r>
              <a:rPr lang="en-US" altLang="zh-CN" dirty="0">
                <a:solidFill>
                  <a:schemeClr val="bg1">
                    <a:lumMod val="50000"/>
                  </a:schemeClr>
                </a:solidFill>
                <a:sym typeface="Huawei Sans" panose="020C0503030203020204" pitchFamily="34" charset="0"/>
              </a:rPr>
              <a:t>HTTP/2</a:t>
            </a:r>
          </a:p>
          <a:p>
            <a:r>
              <a:rPr lang="en-US" altLang="zh-CN" dirty="0">
                <a:solidFill>
                  <a:schemeClr val="bg1">
                    <a:lumMod val="50000"/>
                  </a:schemeClr>
                </a:solidFill>
                <a:sym typeface="Huawei Sans" panose="020C0503030203020204" pitchFamily="34" charset="0"/>
              </a:rPr>
              <a:t>RESTful</a:t>
            </a:r>
            <a:r>
              <a:rPr lang="zh-CN" altLang="en-US" dirty="0">
                <a:solidFill>
                  <a:schemeClr val="bg1">
                    <a:lumMod val="50000"/>
                  </a:schemeClr>
                </a:solidFill>
                <a:sym typeface="Huawei Sans" panose="020C0503030203020204" pitchFamily="34" charset="0"/>
              </a:rPr>
              <a:t>接口调用实践</a:t>
            </a:r>
            <a:endParaRPr lang="en-US" altLang="zh-CN" dirty="0">
              <a:solidFill>
                <a:schemeClr val="bg1">
                  <a:lumMod val="50000"/>
                </a:schemeClr>
              </a:solidFill>
              <a:sym typeface="Huawei Sans" panose="020C0503030203020204" pitchFamily="34" charset="0"/>
            </a:endParaRPr>
          </a:p>
          <a:p>
            <a:endParaRPr lang="zh-CN" altLang="en-US" dirty="0"/>
          </a:p>
        </p:txBody>
      </p:sp>
    </p:spTree>
    <p:extLst>
      <p:ext uri="{BB962C8B-B14F-4D97-AF65-F5344CB8AC3E}">
        <p14:creationId xmlns:p14="http://schemas.microsoft.com/office/powerpoint/2010/main" val="3565142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en-US" altLang="zh-CN"/>
              <a:t>HTTP</a:t>
            </a:r>
            <a:r>
              <a:rPr lang="zh-CN" altLang="en-US"/>
              <a:t>发展历程</a:t>
            </a:r>
          </a:p>
        </p:txBody>
      </p:sp>
      <p:sp>
        <p:nvSpPr>
          <p:cNvPr id="6" name="文本占位符 5"/>
          <p:cNvSpPr>
            <a:spLocks noGrp="1"/>
          </p:cNvSpPr>
          <p:nvPr>
            <p:ph type="body" sz="quarter" idx="10"/>
          </p:nvPr>
        </p:nvSpPr>
        <p:spPr bwMode="gray"/>
        <p:txBody>
          <a:bodyPr/>
          <a:lstStyle/>
          <a:p>
            <a:r>
              <a:rPr lang="en-US" altLang="zh-CN" sz="1800" dirty="0"/>
              <a:t>HTTP</a:t>
            </a:r>
            <a:r>
              <a:rPr lang="zh-CN" altLang="en-US" sz="1800" dirty="0"/>
              <a:t>在</a:t>
            </a:r>
            <a:r>
              <a:rPr lang="en-US" altLang="zh-CN" sz="1800" dirty="0"/>
              <a:t>1990</a:t>
            </a:r>
            <a:r>
              <a:rPr lang="zh-CN" altLang="en-US" sz="1800" dirty="0"/>
              <a:t>年由</a:t>
            </a:r>
            <a:r>
              <a:rPr lang="en-US" altLang="zh-CN" sz="1800" dirty="0"/>
              <a:t>Tim Berners-Lee</a:t>
            </a:r>
            <a:r>
              <a:rPr lang="zh-CN" altLang="en-US" sz="1800" dirty="0"/>
              <a:t>提出，随后</a:t>
            </a:r>
            <a:r>
              <a:rPr lang="en-US" altLang="zh-CN" sz="1800" dirty="0"/>
              <a:t>WWW</a:t>
            </a:r>
            <a:r>
              <a:rPr lang="zh-CN" altLang="en-US" sz="1800" dirty="0"/>
              <a:t>联盟成立，组织了</a:t>
            </a:r>
            <a:r>
              <a:rPr lang="en-US" altLang="zh-CN" sz="1800" dirty="0"/>
              <a:t>IETF</a:t>
            </a:r>
            <a:r>
              <a:rPr lang="zh-CN" altLang="en-US" sz="1800" dirty="0"/>
              <a:t>小组进一步完善和发布</a:t>
            </a:r>
            <a:r>
              <a:rPr lang="en-US" altLang="zh-CN" sz="1800" dirty="0"/>
              <a:t>HTTP</a:t>
            </a:r>
            <a:r>
              <a:rPr lang="zh-CN" altLang="en-US" sz="1800" dirty="0"/>
              <a:t>协议。</a:t>
            </a:r>
            <a:r>
              <a:rPr lang="en-US" altLang="zh-CN" sz="1800" dirty="0"/>
              <a:t>HTTP</a:t>
            </a:r>
            <a:r>
              <a:rPr lang="zh-CN" altLang="en-US" sz="1800" dirty="0"/>
              <a:t>从最初的</a:t>
            </a:r>
            <a:r>
              <a:rPr lang="en-US" altLang="zh-CN" sz="1800" dirty="0"/>
              <a:t>HTTP/0.9</a:t>
            </a:r>
            <a:r>
              <a:rPr lang="zh-CN" altLang="en-US" sz="1800" dirty="0"/>
              <a:t>向</a:t>
            </a:r>
            <a:r>
              <a:rPr lang="en-US" altLang="zh-CN" sz="1800" dirty="0"/>
              <a:t>HTTP/3</a:t>
            </a:r>
            <a:r>
              <a:rPr lang="zh-CN" altLang="en-US" sz="1800" dirty="0"/>
              <a:t>持续演进，性能也在不断提高。</a:t>
            </a:r>
          </a:p>
          <a:p>
            <a:endParaRPr lang="zh-CN" altLang="en-US" sz="1800" dirty="0"/>
          </a:p>
        </p:txBody>
      </p:sp>
      <p:sp>
        <p:nvSpPr>
          <p:cNvPr id="53" name="文本占位符 3">
            <a:extLst>
              <a:ext uri="{FF2B5EF4-FFF2-40B4-BE49-F238E27FC236}">
                <a16:creationId xmlns:a16="http://schemas.microsoft.com/office/drawing/2014/main" id="{0AD84FAA-B1FC-4E83-9D3D-4342BE18F678}"/>
              </a:ext>
            </a:extLst>
          </p:cNvPr>
          <p:cNvSpPr txBox="1">
            <a:spLocks/>
          </p:cNvSpPr>
          <p:nvPr/>
        </p:nvSpPr>
        <p:spPr bwMode="gray">
          <a:xfrm>
            <a:off x="469900" y="1233488"/>
            <a:ext cx="11276013" cy="995845"/>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69" name="矩形 6"/>
          <p:cNvSpPr/>
          <p:nvPr/>
        </p:nvSpPr>
        <p:spPr bwMode="gray">
          <a:xfrm>
            <a:off x="675567" y="3456928"/>
            <a:ext cx="1305525" cy="326382"/>
          </a:xfrm>
          <a:prstGeom prst="rect">
            <a:avLst/>
          </a:prstGeom>
          <a:solidFill>
            <a:srgbClr val="30B5C5"/>
          </a:solidFill>
          <a:ln>
            <a:solidFill>
              <a:srgbClr val="1AABE2"/>
            </a:solidFill>
          </a:ln>
          <a:effectLst/>
        </p:spPr>
        <p:txBody>
          <a:bodyPr wrap="none" lIns="89965" tIns="0" rIns="89965" bIns="0" anchor="ctr" anchorCtr="0">
            <a:noAutofit/>
          </a:bodyPr>
          <a:lstStyle/>
          <a:p>
            <a:pPr marL="214138" marR="0" lvl="0" indent="-214138" algn="ctr" defTabSz="697142" eaLnBrk="0" fontAlgn="auto" latinLnBrk="0" hangingPunct="0">
              <a:lnSpc>
                <a:spcPct val="130000"/>
              </a:lnSpc>
              <a:spcBef>
                <a:spcPts val="0"/>
              </a:spcBef>
              <a:spcAft>
                <a:spcPts val="0"/>
              </a:spcAft>
              <a:buClr>
                <a:srgbClr val="990000"/>
              </a:buClr>
              <a:buSzPct val="60000"/>
              <a:buFontTx/>
              <a:buNone/>
              <a:tabLst/>
              <a:defRPr/>
            </a:pPr>
            <a:r>
              <a:rPr kumimoji="0" lang="en-US" altLang="zh-CN" sz="1600" b="1" i="0" u="none" strike="noStrike" kern="0" cap="none" spc="0" normalizeH="0" baseline="0" noProof="0">
                <a:ln>
                  <a:noFill/>
                </a:ln>
                <a:solidFill>
                  <a:srgbClr val="FFFFFF"/>
                </a:solidFill>
                <a:effectLst/>
                <a:uLnTx/>
                <a:uFillTx/>
                <a:cs typeface="Arial" pitchFamily="34" charset="0"/>
                <a:sym typeface="Huawei Sans" panose="020C0503030203020204" pitchFamily="34" charset="0"/>
              </a:rPr>
              <a:t>1991</a:t>
            </a:r>
            <a:endParaRPr kumimoji="0" lang="zh-CN" altLang="en-US" sz="1600" b="1" i="0" u="none" strike="noStrike" kern="0" cap="none" spc="0" normalizeH="0" baseline="0" noProof="0" dirty="0">
              <a:ln>
                <a:noFill/>
              </a:ln>
              <a:solidFill>
                <a:srgbClr val="FFFFFF"/>
              </a:solidFill>
              <a:effectLst/>
              <a:uLnTx/>
              <a:uFillTx/>
              <a:cs typeface="Arial" pitchFamily="34" charset="0"/>
              <a:sym typeface="Huawei Sans" panose="020C0503030203020204" pitchFamily="34" charset="0"/>
            </a:endParaRPr>
          </a:p>
        </p:txBody>
      </p:sp>
      <p:sp>
        <p:nvSpPr>
          <p:cNvPr id="71" name="矩形 7"/>
          <p:cNvSpPr/>
          <p:nvPr/>
        </p:nvSpPr>
        <p:spPr bwMode="gray">
          <a:xfrm>
            <a:off x="1987672" y="3456928"/>
            <a:ext cx="1305525" cy="326382"/>
          </a:xfrm>
          <a:prstGeom prst="rect">
            <a:avLst/>
          </a:prstGeom>
          <a:noFill/>
          <a:ln w="12700">
            <a:solidFill>
              <a:srgbClr val="56C4D2"/>
            </a:solidFill>
          </a:ln>
          <a:effectLst/>
        </p:spPr>
        <p:txBody>
          <a:bodyPr wrap="none" lIns="121887" tIns="60944" rIns="121887" bIns="60944" anchor="ctr" anchorCtr="0">
            <a:noAutofit/>
          </a:bodyPr>
          <a:lstStyle/>
          <a:p>
            <a:pPr marL="214138" marR="0" lvl="0" indent="-214138" algn="ctr" defTabSz="697142" eaLnBrk="0" fontAlgn="auto" latinLnBrk="0" hangingPunct="0">
              <a:lnSpc>
                <a:spcPct val="130000"/>
              </a:lnSpc>
              <a:spcBef>
                <a:spcPts val="0"/>
              </a:spcBef>
              <a:spcAft>
                <a:spcPts val="0"/>
              </a:spcAft>
              <a:buClr>
                <a:srgbClr val="990000"/>
              </a:buClr>
              <a:buSzPct val="60000"/>
              <a:buFontTx/>
              <a:buNone/>
              <a:tabLst/>
              <a:defRPr/>
            </a:pPr>
            <a:r>
              <a:rPr kumimoji="0" lang="en-US" altLang="zh-CN" sz="1600" b="1" i="0" u="none" strike="noStrike" kern="0" cap="none" spc="0" normalizeH="0" baseline="0" noProof="0">
                <a:ln>
                  <a:noFill/>
                </a:ln>
                <a:solidFill>
                  <a:prstClr val="black"/>
                </a:solidFill>
                <a:effectLst/>
                <a:uLnTx/>
                <a:uFillTx/>
                <a:cs typeface="Arial" pitchFamily="34" charset="0"/>
                <a:sym typeface="Huawei Sans" panose="020C0503030203020204" pitchFamily="34" charset="0"/>
              </a:rPr>
              <a:t>1996</a:t>
            </a:r>
            <a:endParaRPr kumimoji="0" lang="zh-CN" altLang="en-US" sz="1600" b="1" i="0" u="none" strike="noStrike" kern="0" cap="none" spc="0" normalizeH="0" baseline="0" noProof="0" dirty="0">
              <a:ln>
                <a:noFill/>
              </a:ln>
              <a:solidFill>
                <a:prstClr val="black"/>
              </a:solidFill>
              <a:effectLst/>
              <a:uLnTx/>
              <a:uFillTx/>
              <a:cs typeface="Arial" pitchFamily="34" charset="0"/>
              <a:sym typeface="Huawei Sans" panose="020C0503030203020204" pitchFamily="34" charset="0"/>
            </a:endParaRPr>
          </a:p>
        </p:txBody>
      </p:sp>
      <p:sp>
        <p:nvSpPr>
          <p:cNvPr id="72" name="矩形 9"/>
          <p:cNvSpPr/>
          <p:nvPr/>
        </p:nvSpPr>
        <p:spPr bwMode="gray">
          <a:xfrm>
            <a:off x="4611883" y="3456928"/>
            <a:ext cx="1305525" cy="326382"/>
          </a:xfrm>
          <a:prstGeom prst="rect">
            <a:avLst/>
          </a:prstGeom>
          <a:noFill/>
          <a:ln w="12700">
            <a:solidFill>
              <a:srgbClr val="56C4D2"/>
            </a:solidFill>
          </a:ln>
          <a:effectLst/>
        </p:spPr>
        <p:txBody>
          <a:bodyPr wrap="none" lIns="121887" tIns="60944" rIns="121887" bIns="60944" anchor="ctr" anchorCtr="0">
            <a:noAutofit/>
          </a:bodyPr>
          <a:lstStyle/>
          <a:p>
            <a:pPr marL="214138" marR="0" lvl="0" indent="-214138" algn="ctr" defTabSz="697142" eaLnBrk="0" fontAlgn="auto" latinLnBrk="0" hangingPunct="0">
              <a:lnSpc>
                <a:spcPct val="130000"/>
              </a:lnSpc>
              <a:spcBef>
                <a:spcPts val="0"/>
              </a:spcBef>
              <a:spcAft>
                <a:spcPts val="0"/>
              </a:spcAft>
              <a:buClrTx/>
              <a:buSzPct val="60000"/>
              <a:buFontTx/>
              <a:buNone/>
              <a:tabLst/>
              <a:defRPr/>
            </a:pPr>
            <a:r>
              <a:rPr kumimoji="0" lang="en-US" altLang="zh-CN" sz="1600" b="1" i="0" u="none" strike="noStrike" kern="0" cap="none" spc="0" normalizeH="0" baseline="0" noProof="0">
                <a:ln>
                  <a:noFill/>
                </a:ln>
                <a:solidFill>
                  <a:prstClr val="black"/>
                </a:solidFill>
                <a:effectLst/>
                <a:uLnTx/>
                <a:uFillTx/>
                <a:cs typeface="Arial" pitchFamily="34" charset="0"/>
                <a:sym typeface="Huawei Sans" panose="020C0503030203020204" pitchFamily="34" charset="0"/>
              </a:rPr>
              <a:t>2000</a:t>
            </a:r>
            <a:endParaRPr kumimoji="0" lang="zh-CN" altLang="en-US" sz="1600" b="1" i="0" u="none" strike="noStrike" kern="0" cap="none" spc="0" normalizeH="0" baseline="0" noProof="0" dirty="0">
              <a:ln>
                <a:noFill/>
              </a:ln>
              <a:solidFill>
                <a:prstClr val="black"/>
              </a:solidFill>
              <a:effectLst/>
              <a:uLnTx/>
              <a:uFillTx/>
              <a:cs typeface="Arial" pitchFamily="34" charset="0"/>
              <a:sym typeface="Huawei Sans" panose="020C0503030203020204" pitchFamily="34" charset="0"/>
            </a:endParaRPr>
          </a:p>
        </p:txBody>
      </p:sp>
      <p:sp>
        <p:nvSpPr>
          <p:cNvPr id="73" name="矩形 10"/>
          <p:cNvSpPr/>
          <p:nvPr/>
        </p:nvSpPr>
        <p:spPr bwMode="gray">
          <a:xfrm>
            <a:off x="5923990" y="3456928"/>
            <a:ext cx="1305525" cy="326382"/>
          </a:xfrm>
          <a:prstGeom prst="rect">
            <a:avLst/>
          </a:prstGeom>
          <a:solidFill>
            <a:srgbClr val="30B5C5"/>
          </a:solidFill>
          <a:ln>
            <a:solidFill>
              <a:srgbClr val="1AABE2"/>
            </a:solidFill>
          </a:ln>
          <a:effectLst/>
        </p:spPr>
        <p:txBody>
          <a:bodyPr wrap="none" lIns="121887" tIns="60944" rIns="121887" bIns="60944" anchor="ctr" anchorCtr="0">
            <a:noAutofit/>
          </a:bodyPr>
          <a:lstStyle/>
          <a:p>
            <a:pPr marL="214138" marR="0" lvl="0" indent="-214138" algn="ctr" defTabSz="697142" eaLnBrk="0" fontAlgn="auto" latinLnBrk="0" hangingPunct="0">
              <a:lnSpc>
                <a:spcPct val="130000"/>
              </a:lnSpc>
              <a:spcBef>
                <a:spcPts val="0"/>
              </a:spcBef>
              <a:spcAft>
                <a:spcPts val="0"/>
              </a:spcAft>
              <a:buClrTx/>
              <a:buSzPct val="60000"/>
              <a:buFontTx/>
              <a:buNone/>
              <a:tabLst/>
              <a:defRPr/>
            </a:pPr>
            <a:r>
              <a:rPr kumimoji="0" lang="en-US" altLang="zh-CN" sz="1600" b="1" i="0" u="none" strike="noStrike" kern="0" cap="none" spc="0" normalizeH="0" baseline="0" noProof="0">
                <a:ln>
                  <a:noFill/>
                </a:ln>
                <a:solidFill>
                  <a:srgbClr val="FFFFFF"/>
                </a:solidFill>
                <a:effectLst/>
                <a:uLnTx/>
                <a:uFillTx/>
                <a:cs typeface="Arial" pitchFamily="34" charset="0"/>
                <a:sym typeface="Huawei Sans" panose="020C0503030203020204" pitchFamily="34" charset="0"/>
              </a:rPr>
              <a:t>2009</a:t>
            </a:r>
            <a:endParaRPr kumimoji="0" lang="zh-CN" altLang="en-US" sz="1600" b="1" i="0" u="none" strike="noStrike" kern="0" cap="none" spc="0" normalizeH="0" baseline="0" noProof="0" dirty="0">
              <a:ln>
                <a:noFill/>
              </a:ln>
              <a:solidFill>
                <a:srgbClr val="FFFFFF"/>
              </a:solidFill>
              <a:effectLst/>
              <a:uLnTx/>
              <a:uFillTx/>
              <a:cs typeface="Arial" pitchFamily="34" charset="0"/>
              <a:sym typeface="Huawei Sans" panose="020C0503030203020204" pitchFamily="34" charset="0"/>
            </a:endParaRPr>
          </a:p>
        </p:txBody>
      </p:sp>
      <p:cxnSp>
        <p:nvCxnSpPr>
          <p:cNvPr id="74" name="直接箭头连接符 88"/>
          <p:cNvCxnSpPr/>
          <p:nvPr/>
        </p:nvCxnSpPr>
        <p:spPr bwMode="gray">
          <a:xfrm>
            <a:off x="1329623" y="2990618"/>
            <a:ext cx="0" cy="466311"/>
          </a:xfrm>
          <a:prstGeom prst="straightConnector1">
            <a:avLst/>
          </a:prstGeom>
          <a:noFill/>
          <a:ln w="19050">
            <a:solidFill>
              <a:srgbClr val="000000">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직사각형 35"/>
          <p:cNvSpPr>
            <a:spLocks noChangeArrowheads="1"/>
          </p:cNvSpPr>
          <p:nvPr/>
        </p:nvSpPr>
        <p:spPr bwMode="gray">
          <a:xfrm>
            <a:off x="3299778" y="3456928"/>
            <a:ext cx="1305525" cy="326382"/>
          </a:xfrm>
          <a:prstGeom prst="rect">
            <a:avLst/>
          </a:prstGeom>
          <a:solidFill>
            <a:srgbClr val="30B5C5"/>
          </a:solidFill>
          <a:ln w="9525">
            <a:solidFill>
              <a:srgbClr val="1AABE2"/>
            </a:solidFill>
            <a:miter lim="800000"/>
            <a:headEnd/>
            <a:tailEnd/>
          </a:ln>
          <a:effectLst/>
        </p:spPr>
        <p:txBody>
          <a:bodyPr wrap="none" anchor="ctr" anchorCtr="0">
            <a:noAutofit/>
          </a:bodyPr>
          <a:lstStyle/>
          <a:p>
            <a:pPr marL="0" marR="0" lvl="0" indent="0" algn="ctr" defTabSz="914034"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FFFFFF"/>
                </a:solidFill>
                <a:effectLst/>
                <a:uLnTx/>
                <a:uFillTx/>
                <a:cs typeface="Arial" pitchFamily="34" charset="0"/>
                <a:sym typeface="Huawei Sans" panose="020C0503030203020204" pitchFamily="34" charset="0"/>
              </a:rPr>
              <a:t>1999</a:t>
            </a:r>
            <a:endParaRPr kumimoji="0" lang="en-US" altLang="zh-CN" sz="1600" b="1" i="0" u="none" strike="noStrike" kern="0" cap="none" spc="0" normalizeH="0" baseline="0" noProof="0" dirty="0">
              <a:ln>
                <a:noFill/>
              </a:ln>
              <a:solidFill>
                <a:srgbClr val="FFFFFF"/>
              </a:solidFill>
              <a:effectLst/>
              <a:uLnTx/>
              <a:uFillTx/>
              <a:cs typeface="Arial" pitchFamily="34" charset="0"/>
              <a:sym typeface="Huawei Sans" panose="020C0503030203020204" pitchFamily="34" charset="0"/>
            </a:endParaRPr>
          </a:p>
        </p:txBody>
      </p:sp>
      <p:sp>
        <p:nvSpPr>
          <p:cNvPr id="82" name="矩形 93"/>
          <p:cNvSpPr/>
          <p:nvPr/>
        </p:nvSpPr>
        <p:spPr bwMode="gray">
          <a:xfrm>
            <a:off x="7236095" y="3456928"/>
            <a:ext cx="1305525" cy="326382"/>
          </a:xfrm>
          <a:prstGeom prst="rect">
            <a:avLst/>
          </a:prstGeom>
          <a:noFill/>
          <a:ln w="12700">
            <a:solidFill>
              <a:srgbClr val="56C4D2"/>
            </a:solidFill>
          </a:ln>
          <a:effectLst/>
        </p:spPr>
        <p:txBody>
          <a:bodyPr wrap="none" lIns="121887" tIns="60944" rIns="121887" bIns="60944" anchor="ctr" anchorCtr="0">
            <a:noAutofit/>
          </a:bodyPr>
          <a:lstStyle/>
          <a:p>
            <a:pPr marL="214138" marR="0" lvl="0" indent="-214138" algn="ctr" defTabSz="697142" eaLnBrk="0" fontAlgn="auto" latinLnBrk="0" hangingPunct="0">
              <a:lnSpc>
                <a:spcPct val="130000"/>
              </a:lnSpc>
              <a:spcBef>
                <a:spcPts val="0"/>
              </a:spcBef>
              <a:spcAft>
                <a:spcPts val="0"/>
              </a:spcAft>
              <a:buClrTx/>
              <a:buSzPct val="60000"/>
              <a:buFontTx/>
              <a:buNone/>
              <a:tabLst/>
              <a:defRPr/>
            </a:pPr>
            <a:r>
              <a:rPr kumimoji="0" lang="en-US" altLang="zh-CN" sz="1600" b="1" i="0" u="none" strike="noStrike" kern="0" cap="none" spc="0" normalizeH="0" baseline="0" noProof="0">
                <a:ln>
                  <a:noFill/>
                </a:ln>
                <a:solidFill>
                  <a:prstClr val="black"/>
                </a:solidFill>
                <a:effectLst/>
                <a:uLnTx/>
                <a:uFillTx/>
                <a:cs typeface="Arial" pitchFamily="34" charset="0"/>
                <a:sym typeface="Huawei Sans" panose="020C0503030203020204" pitchFamily="34" charset="0"/>
              </a:rPr>
              <a:t>2013</a:t>
            </a:r>
            <a:endParaRPr kumimoji="0" lang="zh-CN" altLang="en-US" sz="1600" b="1" i="0" u="none" strike="noStrike" kern="0" cap="none" spc="0" normalizeH="0" baseline="0" noProof="0" dirty="0">
              <a:ln>
                <a:noFill/>
              </a:ln>
              <a:solidFill>
                <a:prstClr val="black"/>
              </a:solidFill>
              <a:effectLst/>
              <a:uLnTx/>
              <a:uFillTx/>
              <a:cs typeface="Arial" pitchFamily="34" charset="0"/>
              <a:sym typeface="Huawei Sans" panose="020C0503030203020204" pitchFamily="34" charset="0"/>
            </a:endParaRPr>
          </a:p>
        </p:txBody>
      </p:sp>
      <p:sp>
        <p:nvSpPr>
          <p:cNvPr id="87" name="矩形 93"/>
          <p:cNvSpPr/>
          <p:nvPr/>
        </p:nvSpPr>
        <p:spPr bwMode="gray">
          <a:xfrm>
            <a:off x="8548201" y="3456928"/>
            <a:ext cx="1305525" cy="326382"/>
          </a:xfrm>
          <a:prstGeom prst="rect">
            <a:avLst/>
          </a:prstGeom>
          <a:solidFill>
            <a:srgbClr val="30B5C5"/>
          </a:solidFill>
          <a:ln>
            <a:solidFill>
              <a:srgbClr val="1AABE2"/>
            </a:solidFill>
          </a:ln>
          <a:effectLst/>
        </p:spPr>
        <p:txBody>
          <a:bodyPr wrap="none" lIns="121887" tIns="60944" rIns="121887" bIns="60944" anchor="ctr" anchorCtr="0">
            <a:noAutofit/>
          </a:bodyPr>
          <a:lstStyle/>
          <a:p>
            <a:pPr marL="214138" marR="0" lvl="0" indent="-214138" algn="ctr" defTabSz="697142" eaLnBrk="0" fontAlgn="auto" latinLnBrk="0" hangingPunct="0">
              <a:lnSpc>
                <a:spcPct val="130000"/>
              </a:lnSpc>
              <a:spcBef>
                <a:spcPts val="0"/>
              </a:spcBef>
              <a:spcAft>
                <a:spcPts val="0"/>
              </a:spcAft>
              <a:buClrTx/>
              <a:buSzPct val="60000"/>
              <a:buFontTx/>
              <a:buNone/>
              <a:tabLst/>
              <a:defRPr/>
            </a:pPr>
            <a:r>
              <a:rPr kumimoji="0" lang="en-US" altLang="zh-CN" sz="1600" b="1" i="0" u="none" strike="noStrike" kern="0" cap="none" spc="0" normalizeH="0" baseline="0" noProof="0">
                <a:ln>
                  <a:noFill/>
                </a:ln>
                <a:solidFill>
                  <a:srgbClr val="FFFFFF"/>
                </a:solidFill>
                <a:effectLst/>
                <a:uLnTx/>
                <a:uFillTx/>
                <a:cs typeface="Arial" pitchFamily="34" charset="0"/>
                <a:sym typeface="Huawei Sans" panose="020C0503030203020204" pitchFamily="34" charset="0"/>
              </a:rPr>
              <a:t>2015</a:t>
            </a:r>
            <a:endParaRPr kumimoji="0" lang="zh-CN" altLang="en-US" sz="1600" b="1" i="0" u="none" strike="noStrike" kern="0" cap="none" spc="0" normalizeH="0" baseline="0" noProof="0" dirty="0">
              <a:ln>
                <a:noFill/>
              </a:ln>
              <a:solidFill>
                <a:srgbClr val="FFFFFF"/>
              </a:solidFill>
              <a:effectLst/>
              <a:uLnTx/>
              <a:uFillTx/>
              <a:cs typeface="Arial" pitchFamily="34" charset="0"/>
              <a:sym typeface="Huawei Sans" panose="020C0503030203020204" pitchFamily="34" charset="0"/>
            </a:endParaRPr>
          </a:p>
        </p:txBody>
      </p:sp>
      <p:cxnSp>
        <p:nvCxnSpPr>
          <p:cNvPr id="88" name="直接箭头连接符 85"/>
          <p:cNvCxnSpPr/>
          <p:nvPr/>
        </p:nvCxnSpPr>
        <p:spPr bwMode="gray">
          <a:xfrm flipV="1">
            <a:off x="10505005" y="3787449"/>
            <a:ext cx="0" cy="597691"/>
          </a:xfrm>
          <a:prstGeom prst="straightConnector1">
            <a:avLst/>
          </a:prstGeom>
          <a:noFill/>
          <a:ln w="19050">
            <a:solidFill>
              <a:srgbClr val="000000">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右箭头 106"/>
          <p:cNvSpPr/>
          <p:nvPr/>
        </p:nvSpPr>
        <p:spPr bwMode="gray">
          <a:xfrm>
            <a:off x="9849761" y="3293992"/>
            <a:ext cx="1546166" cy="649719"/>
          </a:xfrm>
          <a:prstGeom prst="rightArrow">
            <a:avLst/>
          </a:prstGeom>
          <a:noFill/>
          <a:ln w="12700">
            <a:solidFill>
              <a:srgbClr val="56C4D2"/>
            </a:solidFill>
          </a:ln>
          <a:effectLst/>
        </p:spPr>
        <p:txBody>
          <a:bodyPr wrap="none" lIns="121887" tIns="60944" rIns="121887" bIns="60944" anchor="ctr" anchorCtr="0">
            <a:noAutofit/>
          </a:bodyPr>
          <a:lstStyle/>
          <a:p>
            <a:pPr marL="214138" marR="0" lvl="0" indent="-214138" algn="ctr" defTabSz="697142" eaLnBrk="0" fontAlgn="auto" latinLnBrk="0" hangingPunct="0">
              <a:lnSpc>
                <a:spcPct val="130000"/>
              </a:lnSpc>
              <a:spcBef>
                <a:spcPts val="0"/>
              </a:spcBef>
              <a:spcAft>
                <a:spcPts val="0"/>
              </a:spcAft>
              <a:buClr>
                <a:srgbClr val="CC9900"/>
              </a:buClr>
              <a:buSzPct val="60000"/>
              <a:buFont typeface="Wingdings" pitchFamily="2" charset="2"/>
              <a:buChar char="n"/>
              <a:tabLst/>
              <a:defRPr/>
            </a:pPr>
            <a:endParaRPr kumimoji="0" lang="zh-CN" altLang="en-US" sz="1000" b="1" i="0" u="none" strike="noStrike" kern="0" cap="none" spc="0" normalizeH="0" baseline="0" noProof="0">
              <a:ln>
                <a:noFill/>
              </a:ln>
              <a:solidFill>
                <a:srgbClr val="FFFFFF"/>
              </a:solidFill>
              <a:effectLst/>
              <a:uLnTx/>
              <a:uFillTx/>
              <a:cs typeface="Arial" pitchFamily="34" charset="0"/>
              <a:sym typeface="Huawei Sans" panose="020C0503030203020204" pitchFamily="34" charset="0"/>
            </a:endParaRPr>
          </a:p>
        </p:txBody>
      </p:sp>
      <p:sp>
        <p:nvSpPr>
          <p:cNvPr id="108" name="矩形 107"/>
          <p:cNvSpPr/>
          <p:nvPr/>
        </p:nvSpPr>
        <p:spPr bwMode="gray">
          <a:xfrm>
            <a:off x="9905209" y="3456928"/>
            <a:ext cx="1305525" cy="326382"/>
          </a:xfrm>
          <a:prstGeom prst="rect">
            <a:avLst/>
          </a:prstGeom>
          <a:noFill/>
          <a:ln>
            <a:noFill/>
          </a:ln>
          <a:effectLst/>
        </p:spPr>
        <p:txBody>
          <a:bodyPr wrap="none" lIns="121887" tIns="60944" rIns="121887" bIns="60944" anchor="ctr" anchorCtr="0">
            <a:noAutofit/>
          </a:bodyPr>
          <a:lstStyle/>
          <a:p>
            <a:pPr marL="214138" indent="-214138" algn="ctr" defTabSz="697142" eaLnBrk="0" hangingPunct="0">
              <a:lnSpc>
                <a:spcPct val="130000"/>
              </a:lnSpc>
              <a:buSzPct val="60000"/>
              <a:defRPr/>
            </a:pPr>
            <a:r>
              <a:rPr lang="en-US" altLang="zh-CN" sz="1600" b="1" kern="0">
                <a:solidFill>
                  <a:prstClr val="black"/>
                </a:solidFill>
                <a:cs typeface="Arial" pitchFamily="34" charset="0"/>
                <a:sym typeface="Huawei Sans" panose="020C0503030203020204" pitchFamily="34" charset="0"/>
              </a:rPr>
              <a:t>Future</a:t>
            </a:r>
            <a:endParaRPr lang="zh-CN" altLang="en-US" sz="1600" b="1" kern="0" dirty="0">
              <a:solidFill>
                <a:prstClr val="black"/>
              </a:solidFill>
              <a:cs typeface="Arial" pitchFamily="34" charset="0"/>
              <a:sym typeface="Huawei Sans" panose="020C0503030203020204" pitchFamily="34" charset="0"/>
            </a:endParaRPr>
          </a:p>
        </p:txBody>
      </p:sp>
      <p:sp>
        <p:nvSpPr>
          <p:cNvPr id="109" name="矩形 108"/>
          <p:cNvSpPr/>
          <p:nvPr/>
        </p:nvSpPr>
        <p:spPr bwMode="gray">
          <a:xfrm>
            <a:off x="5626882" y="2233699"/>
            <a:ext cx="1800000" cy="762710"/>
          </a:xfrm>
          <a:prstGeom prst="rect">
            <a:avLst/>
          </a:prstGeom>
          <a:noFill/>
          <a:ln w="12700" cap="flat" cmpd="sng" algn="ctr">
            <a:solidFill>
              <a:srgbClr val="56C4D2"/>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lvl="0" indent="0" defTabSz="914034"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799" b="0" i="0" u="none" strike="noStrike" kern="0" cap="none" spc="0" normalizeH="0" baseline="0" noProof="0">
              <a:ln>
                <a:noFill/>
              </a:ln>
              <a:effectLst/>
              <a:uLnTx/>
              <a:uFillTx/>
              <a:sym typeface="Huawei Sans" panose="020C0503030203020204" pitchFamily="34" charset="0"/>
            </a:endParaRPr>
          </a:p>
        </p:txBody>
      </p:sp>
      <p:cxnSp>
        <p:nvCxnSpPr>
          <p:cNvPr id="110" name="直接箭头连接符 88"/>
          <p:cNvCxnSpPr/>
          <p:nvPr/>
        </p:nvCxnSpPr>
        <p:spPr bwMode="gray">
          <a:xfrm>
            <a:off x="3969620" y="2990618"/>
            <a:ext cx="0" cy="466311"/>
          </a:xfrm>
          <a:prstGeom prst="straightConnector1">
            <a:avLst/>
          </a:prstGeom>
          <a:noFill/>
          <a:ln w="19050">
            <a:solidFill>
              <a:srgbClr val="000000">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直接箭头连接符 88"/>
          <p:cNvCxnSpPr/>
          <p:nvPr/>
        </p:nvCxnSpPr>
        <p:spPr bwMode="gray">
          <a:xfrm>
            <a:off x="6576719" y="2990618"/>
            <a:ext cx="0" cy="466311"/>
          </a:xfrm>
          <a:prstGeom prst="straightConnector1">
            <a:avLst/>
          </a:prstGeom>
          <a:noFill/>
          <a:ln w="19050">
            <a:solidFill>
              <a:srgbClr val="000000">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箭头连接符 88"/>
          <p:cNvCxnSpPr/>
          <p:nvPr/>
        </p:nvCxnSpPr>
        <p:spPr bwMode="gray">
          <a:xfrm>
            <a:off x="9175594" y="2990618"/>
            <a:ext cx="0" cy="466311"/>
          </a:xfrm>
          <a:prstGeom prst="straightConnector1">
            <a:avLst/>
          </a:prstGeom>
          <a:noFill/>
          <a:ln w="19050">
            <a:solidFill>
              <a:srgbClr val="000000">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接箭头连接符 85"/>
          <p:cNvCxnSpPr/>
          <p:nvPr/>
        </p:nvCxnSpPr>
        <p:spPr bwMode="gray">
          <a:xfrm flipV="1">
            <a:off x="7897905" y="3787449"/>
            <a:ext cx="0" cy="597691"/>
          </a:xfrm>
          <a:prstGeom prst="straightConnector1">
            <a:avLst/>
          </a:prstGeom>
          <a:noFill/>
          <a:ln w="19050">
            <a:solidFill>
              <a:srgbClr val="000000">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直接箭头连接符 85"/>
          <p:cNvCxnSpPr/>
          <p:nvPr/>
        </p:nvCxnSpPr>
        <p:spPr bwMode="gray">
          <a:xfrm flipV="1">
            <a:off x="5249684" y="3787449"/>
            <a:ext cx="0" cy="597691"/>
          </a:xfrm>
          <a:prstGeom prst="straightConnector1">
            <a:avLst/>
          </a:prstGeom>
          <a:noFill/>
          <a:ln w="19050">
            <a:solidFill>
              <a:srgbClr val="000000">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直接箭头连接符 85"/>
          <p:cNvCxnSpPr/>
          <p:nvPr/>
        </p:nvCxnSpPr>
        <p:spPr bwMode="gray">
          <a:xfrm flipV="1">
            <a:off x="2642584" y="3787449"/>
            <a:ext cx="0" cy="597691"/>
          </a:xfrm>
          <a:prstGeom prst="straightConnector1">
            <a:avLst/>
          </a:prstGeom>
          <a:noFill/>
          <a:ln w="19050">
            <a:solidFill>
              <a:srgbClr val="000000">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6" name="组合 115"/>
          <p:cNvGrpSpPr/>
          <p:nvPr/>
        </p:nvGrpSpPr>
        <p:grpSpPr bwMode="gray">
          <a:xfrm>
            <a:off x="651498" y="2233699"/>
            <a:ext cx="1800554" cy="762710"/>
            <a:chOff x="842285" y="2844843"/>
            <a:chExt cx="1800554" cy="762710"/>
          </a:xfrm>
        </p:grpSpPr>
        <p:sp>
          <p:nvSpPr>
            <p:cNvPr id="117" name="矩形 116"/>
            <p:cNvSpPr/>
            <p:nvPr/>
          </p:nvSpPr>
          <p:spPr bwMode="gray">
            <a:xfrm>
              <a:off x="897194" y="2844843"/>
              <a:ext cx="1745645" cy="762710"/>
            </a:xfrm>
            <a:prstGeom prst="rect">
              <a:avLst/>
            </a:prstGeom>
            <a:noFill/>
            <a:ln w="12700" cap="flat" cmpd="sng" algn="ctr">
              <a:solidFill>
                <a:srgbClr val="56C4D2"/>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lvl="0" indent="0" defTabSz="914034"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799" b="0" i="0" u="none" strike="noStrike" kern="0" cap="none" spc="0" normalizeH="0" baseline="0" noProof="0">
                <a:ln>
                  <a:noFill/>
                </a:ln>
                <a:effectLst/>
                <a:uLnTx/>
                <a:uFillTx/>
                <a:sym typeface="Huawei Sans" panose="020C0503030203020204" pitchFamily="34" charset="0"/>
              </a:endParaRPr>
            </a:p>
          </p:txBody>
        </p:sp>
        <p:grpSp>
          <p:nvGrpSpPr>
            <p:cNvPr id="118" name="组合 112"/>
            <p:cNvGrpSpPr/>
            <p:nvPr/>
          </p:nvGrpSpPr>
          <p:grpSpPr bwMode="gray">
            <a:xfrm>
              <a:off x="842285" y="2921933"/>
              <a:ext cx="1707971" cy="683713"/>
              <a:chOff x="416391" y="2390469"/>
              <a:chExt cx="1318730" cy="527898"/>
            </a:xfrm>
          </p:grpSpPr>
          <p:sp>
            <p:nvSpPr>
              <p:cNvPr id="119" name="Text Box 978"/>
              <p:cNvSpPr txBox="1">
                <a:spLocks noChangeArrowheads="1"/>
              </p:cNvSpPr>
              <p:nvPr/>
            </p:nvSpPr>
            <p:spPr bwMode="gray">
              <a:xfrm>
                <a:off x="499406" y="2390469"/>
                <a:ext cx="611416" cy="166345"/>
              </a:xfrm>
              <a:prstGeom prst="rect">
                <a:avLst/>
              </a:prstGeom>
              <a:noFill/>
              <a:ln w="9525" algn="ctr">
                <a:noFill/>
                <a:miter lim="800000"/>
                <a:headEnd/>
                <a:tailEnd/>
              </a:ln>
              <a:effectLst/>
            </p:spPr>
            <p:txBody>
              <a:bodyPr wrap="none" lIns="0" tIns="0" rIns="0" bIns="0">
                <a:spAutoFit/>
              </a:bodyPr>
              <a:lstStyle/>
              <a:p>
                <a:pPr marL="85691" marR="0" lvl="0" indent="-85691" algn="ctr" defTabSz="914034" eaLnBrk="1" fontAlgn="base" latinLnBrk="0" hangingPunct="1">
                  <a:lnSpc>
                    <a:spcPct val="100000"/>
                  </a:lnSpc>
                  <a:spcBef>
                    <a:spcPct val="0"/>
                  </a:spcBef>
                  <a:spcAft>
                    <a:spcPct val="0"/>
                  </a:spcAft>
                  <a:buClrTx/>
                  <a:buSzTx/>
                  <a:buFontTx/>
                  <a:buNone/>
                  <a:tabLst/>
                  <a:defRPr/>
                </a:pPr>
                <a:r>
                  <a:rPr kumimoji="0" lang="en-US" altLang="ko-KR" sz="1400" b="1" i="0" u="none" strike="noStrike" kern="0" cap="none" spc="0" normalizeH="0" baseline="0" noProof="0">
                    <a:ln>
                      <a:noFill/>
                    </a:ln>
                    <a:effectLst/>
                    <a:uLnTx/>
                    <a:uFillTx/>
                    <a:sym typeface="Huawei Sans" panose="020C0503030203020204" pitchFamily="34" charset="0"/>
                  </a:rPr>
                  <a:t>HTTP/0.9</a:t>
                </a:r>
              </a:p>
            </p:txBody>
          </p:sp>
          <p:sp>
            <p:nvSpPr>
              <p:cNvPr id="120" name="Text Box 11"/>
              <p:cNvSpPr txBox="1">
                <a:spLocks noChangeArrowheads="1"/>
              </p:cNvSpPr>
              <p:nvPr/>
            </p:nvSpPr>
            <p:spPr bwMode="gray">
              <a:xfrm>
                <a:off x="416391" y="2561914"/>
                <a:ext cx="1318730" cy="356453"/>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effectLst/>
                    <a:uLnTx/>
                    <a:uFillTx/>
                  </a:rPr>
                  <a:t>只接受</a:t>
                </a:r>
                <a:r>
                  <a:rPr kumimoji="0" lang="en-US" altLang="zh-CN" sz="1200" b="0" i="0" u="none" strike="noStrike" kern="0" cap="none" spc="0" normalizeH="0" baseline="0" noProof="0">
                    <a:ln>
                      <a:noFill/>
                    </a:ln>
                    <a:effectLst/>
                    <a:uLnTx/>
                    <a:uFillTx/>
                  </a:rPr>
                  <a:t>GET</a:t>
                </a:r>
                <a:r>
                  <a:rPr kumimoji="0" lang="zh-CN" altLang="en-US" sz="1200" b="0" i="0" u="none" strike="noStrike" kern="0" cap="none" spc="0" normalizeH="0" baseline="0" noProof="0">
                    <a:ln>
                      <a:noFill/>
                    </a:ln>
                    <a:effectLst/>
                    <a:uLnTx/>
                    <a:uFillTx/>
                  </a:rPr>
                  <a:t>方法</a:t>
                </a:r>
                <a:endParaRPr kumimoji="0" lang="en-US" altLang="zh-CN" sz="1200" b="0" i="0" u="none" strike="noStrike" kern="0" cap="none" spc="0" normalizeH="0" baseline="0" noProof="0">
                  <a:ln>
                    <a:noFill/>
                  </a:ln>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effectLst/>
                    <a:uLnTx/>
                    <a:uFillTx/>
                  </a:rPr>
                  <a:t>不支持请求头</a:t>
                </a:r>
                <a:endParaRPr kumimoji="0" lang="zh-CN" altLang="en-US" sz="1200" b="0" i="0" u="none" strike="noStrike" kern="0" cap="none" spc="0" normalizeH="0" baseline="0" noProof="0" dirty="0">
                  <a:ln>
                    <a:noFill/>
                  </a:ln>
                  <a:effectLst/>
                  <a:uLnTx/>
                  <a:uFillTx/>
                </a:endParaRPr>
              </a:p>
            </p:txBody>
          </p:sp>
        </p:grpSp>
      </p:grpSp>
      <p:sp>
        <p:nvSpPr>
          <p:cNvPr id="121" name="矩形 120"/>
          <p:cNvSpPr/>
          <p:nvPr/>
        </p:nvSpPr>
        <p:spPr bwMode="gray">
          <a:xfrm>
            <a:off x="1658333" y="4382246"/>
            <a:ext cx="1938661" cy="812268"/>
          </a:xfrm>
          <a:prstGeom prst="rect">
            <a:avLst/>
          </a:prstGeom>
          <a:noFill/>
          <a:ln w="12700" cap="flat" cmpd="sng" algn="ctr">
            <a:solidFill>
              <a:srgbClr val="56C4D2"/>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lvl="0" indent="0" defTabSz="914034"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799" b="0" i="0" u="none" strike="noStrike" kern="0" cap="none" spc="0" normalizeH="0" baseline="0" noProof="0">
              <a:ln>
                <a:noFill/>
              </a:ln>
              <a:effectLst/>
              <a:uLnTx/>
              <a:uFillTx/>
              <a:sym typeface="Huawei Sans" panose="020C0503030203020204" pitchFamily="34" charset="0"/>
            </a:endParaRPr>
          </a:p>
        </p:txBody>
      </p:sp>
      <p:grpSp>
        <p:nvGrpSpPr>
          <p:cNvPr id="122" name="组合 125"/>
          <p:cNvGrpSpPr/>
          <p:nvPr/>
        </p:nvGrpSpPr>
        <p:grpSpPr bwMode="gray">
          <a:xfrm>
            <a:off x="1641994" y="4449094"/>
            <a:ext cx="1955000" cy="715833"/>
            <a:chOff x="288709" y="2528889"/>
            <a:chExt cx="1509462" cy="552699"/>
          </a:xfrm>
        </p:grpSpPr>
        <p:sp>
          <p:nvSpPr>
            <p:cNvPr id="123" name="Text Box 978"/>
            <p:cNvSpPr txBox="1">
              <a:spLocks noChangeArrowheads="1"/>
            </p:cNvSpPr>
            <p:nvPr/>
          </p:nvSpPr>
          <p:spPr bwMode="gray">
            <a:xfrm>
              <a:off x="356109" y="2528889"/>
              <a:ext cx="611416" cy="166345"/>
            </a:xfrm>
            <a:prstGeom prst="rect">
              <a:avLst/>
            </a:prstGeom>
            <a:noFill/>
            <a:ln w="9525" algn="ctr">
              <a:noFill/>
              <a:miter lim="800000"/>
              <a:headEnd/>
              <a:tailEnd/>
            </a:ln>
            <a:effectLst/>
          </p:spPr>
          <p:txBody>
            <a:bodyPr wrap="none" lIns="0" tIns="0" rIns="0" bIns="0">
              <a:spAutoFit/>
            </a:bodyPr>
            <a:lstStyle/>
            <a:p>
              <a:pPr marL="85691" marR="0" lvl="0" indent="-85691" algn="ctr" defTabSz="914034" eaLnBrk="1" fontAlgn="base" latinLnBrk="0" hangingPunct="1">
                <a:lnSpc>
                  <a:spcPct val="100000"/>
                </a:lnSpc>
                <a:spcBef>
                  <a:spcPct val="0"/>
                </a:spcBef>
                <a:spcAft>
                  <a:spcPct val="0"/>
                </a:spcAft>
                <a:buClrTx/>
                <a:buSzTx/>
                <a:buFontTx/>
                <a:buNone/>
                <a:tabLst/>
                <a:defRPr/>
              </a:pPr>
              <a:r>
                <a:rPr kumimoji="0" lang="en-US" altLang="ko-KR" sz="1400" b="1" i="0" u="none" strike="noStrike" kern="0" cap="none" spc="0" normalizeH="0" baseline="0" noProof="0">
                  <a:ln>
                    <a:noFill/>
                  </a:ln>
                  <a:effectLst/>
                  <a:uLnTx/>
                  <a:uFillTx/>
                  <a:sym typeface="Huawei Sans" panose="020C0503030203020204" pitchFamily="34" charset="0"/>
                </a:rPr>
                <a:t>HTTP/1.0</a:t>
              </a:r>
              <a:endParaRPr kumimoji="0" lang="en-US" altLang="ko-KR" sz="1400" b="1" i="0" u="none" strike="noStrike" kern="0" cap="none" spc="0" normalizeH="0" baseline="0" noProof="0" dirty="0">
                <a:ln>
                  <a:noFill/>
                </a:ln>
                <a:effectLst/>
                <a:uLnTx/>
                <a:uFillTx/>
                <a:sym typeface="Huawei Sans" panose="020C0503030203020204" pitchFamily="34" charset="0"/>
              </a:endParaRPr>
            </a:p>
          </p:txBody>
        </p:sp>
        <p:sp>
          <p:nvSpPr>
            <p:cNvPr id="124" name="Text Box 11"/>
            <p:cNvSpPr txBox="1">
              <a:spLocks noChangeArrowheads="1"/>
            </p:cNvSpPr>
            <p:nvPr/>
          </p:nvSpPr>
          <p:spPr bwMode="gray">
            <a:xfrm>
              <a:off x="288709" y="2725135"/>
              <a:ext cx="1509462" cy="356453"/>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effectLst/>
                  <a:uLnTx/>
                  <a:uFillTx/>
                </a:rPr>
                <a:t>基本成型，支持富文本、请求头、状态码等</a:t>
              </a:r>
              <a:endParaRPr kumimoji="0" lang="en-US" altLang="zh-CN" sz="1200" b="0" i="0" u="none" strike="noStrike" kern="0" cap="none" spc="0" normalizeH="0" baseline="0" noProof="0" dirty="0">
                <a:ln>
                  <a:noFill/>
                </a:ln>
                <a:effectLst/>
                <a:uLnTx/>
                <a:uFillTx/>
              </a:endParaRPr>
            </a:p>
          </p:txBody>
        </p:sp>
      </p:grpSp>
      <p:grpSp>
        <p:nvGrpSpPr>
          <p:cNvPr id="125" name="组合 124"/>
          <p:cNvGrpSpPr/>
          <p:nvPr/>
        </p:nvGrpSpPr>
        <p:grpSpPr bwMode="gray">
          <a:xfrm>
            <a:off x="3028350" y="2233699"/>
            <a:ext cx="1800554" cy="762710"/>
            <a:chOff x="842285" y="2844843"/>
            <a:chExt cx="1800554" cy="762710"/>
          </a:xfrm>
        </p:grpSpPr>
        <p:sp>
          <p:nvSpPr>
            <p:cNvPr id="126" name="矩形 125"/>
            <p:cNvSpPr/>
            <p:nvPr/>
          </p:nvSpPr>
          <p:spPr bwMode="gray">
            <a:xfrm>
              <a:off x="897194" y="2844843"/>
              <a:ext cx="1745645" cy="762710"/>
            </a:xfrm>
            <a:prstGeom prst="rect">
              <a:avLst/>
            </a:prstGeom>
            <a:noFill/>
            <a:ln w="12700" cap="flat" cmpd="sng" algn="ctr">
              <a:solidFill>
                <a:srgbClr val="56C4D2"/>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lvl="0" indent="0" defTabSz="914034"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799" b="0" i="0" u="none" strike="noStrike" kern="0" cap="none" spc="0" normalizeH="0" baseline="0" noProof="0">
                <a:ln>
                  <a:noFill/>
                </a:ln>
                <a:effectLst/>
                <a:uLnTx/>
                <a:uFillTx/>
                <a:sym typeface="Huawei Sans" panose="020C0503030203020204" pitchFamily="34" charset="0"/>
              </a:endParaRPr>
            </a:p>
          </p:txBody>
        </p:sp>
        <p:grpSp>
          <p:nvGrpSpPr>
            <p:cNvPr id="127" name="组合 112"/>
            <p:cNvGrpSpPr/>
            <p:nvPr/>
          </p:nvGrpSpPr>
          <p:grpSpPr bwMode="gray">
            <a:xfrm>
              <a:off x="842285" y="2921933"/>
              <a:ext cx="1707971" cy="683713"/>
              <a:chOff x="416391" y="2390469"/>
              <a:chExt cx="1318730" cy="527898"/>
            </a:xfrm>
          </p:grpSpPr>
          <p:sp>
            <p:nvSpPr>
              <p:cNvPr id="133" name="Text Box 978"/>
              <p:cNvSpPr txBox="1">
                <a:spLocks noChangeArrowheads="1"/>
              </p:cNvSpPr>
              <p:nvPr/>
            </p:nvSpPr>
            <p:spPr bwMode="gray">
              <a:xfrm>
                <a:off x="499404" y="2390469"/>
                <a:ext cx="611415" cy="166345"/>
              </a:xfrm>
              <a:prstGeom prst="rect">
                <a:avLst/>
              </a:prstGeom>
              <a:noFill/>
              <a:ln w="9525" algn="ctr">
                <a:noFill/>
                <a:miter lim="800000"/>
                <a:headEnd/>
                <a:tailEnd/>
              </a:ln>
              <a:effectLst/>
            </p:spPr>
            <p:txBody>
              <a:bodyPr wrap="none" lIns="0" tIns="0" rIns="0" bIns="0">
                <a:spAutoFit/>
              </a:bodyPr>
              <a:lstStyle/>
              <a:p>
                <a:pPr marL="85691" marR="0" lvl="0" indent="-85691" algn="ctr" defTabSz="914034" eaLnBrk="1" fontAlgn="base" latinLnBrk="0" hangingPunct="1">
                  <a:lnSpc>
                    <a:spcPct val="100000"/>
                  </a:lnSpc>
                  <a:spcBef>
                    <a:spcPct val="0"/>
                  </a:spcBef>
                  <a:spcAft>
                    <a:spcPct val="0"/>
                  </a:spcAft>
                  <a:buClrTx/>
                  <a:buSzTx/>
                  <a:buFontTx/>
                  <a:buNone/>
                  <a:tabLst/>
                  <a:defRPr/>
                </a:pPr>
                <a:r>
                  <a:rPr kumimoji="0" lang="en-US" altLang="ko-KR" sz="1400" b="1" i="0" u="none" strike="noStrike" kern="0" cap="none" spc="0" normalizeH="0" baseline="0" noProof="0">
                    <a:ln>
                      <a:noFill/>
                    </a:ln>
                    <a:effectLst/>
                    <a:uLnTx/>
                    <a:uFillTx/>
                    <a:sym typeface="Huawei Sans" panose="020C0503030203020204" pitchFamily="34" charset="0"/>
                  </a:rPr>
                  <a:t>HTTP/1.1</a:t>
                </a:r>
              </a:p>
            </p:txBody>
          </p:sp>
          <p:sp>
            <p:nvSpPr>
              <p:cNvPr id="134" name="Text Box 11"/>
              <p:cNvSpPr txBox="1">
                <a:spLocks noChangeArrowheads="1"/>
              </p:cNvSpPr>
              <p:nvPr/>
            </p:nvSpPr>
            <p:spPr bwMode="gray">
              <a:xfrm>
                <a:off x="416391" y="2561914"/>
                <a:ext cx="1318730" cy="356453"/>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rPr>
                  <a:t>主流标准，支持连接复用、分块发送</a:t>
                </a:r>
              </a:p>
            </p:txBody>
          </p:sp>
        </p:grpSp>
      </p:grpSp>
      <p:sp>
        <p:nvSpPr>
          <p:cNvPr id="135" name="矩形 134"/>
          <p:cNvSpPr/>
          <p:nvPr/>
        </p:nvSpPr>
        <p:spPr bwMode="gray">
          <a:xfrm>
            <a:off x="4238760" y="4376916"/>
            <a:ext cx="1938661" cy="812268"/>
          </a:xfrm>
          <a:prstGeom prst="rect">
            <a:avLst/>
          </a:prstGeom>
          <a:noFill/>
          <a:ln w="12700" cap="flat" cmpd="sng" algn="ctr">
            <a:solidFill>
              <a:srgbClr val="56C4D2"/>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lvl="0" indent="0" defTabSz="914034"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799" b="0" i="0" u="none" strike="noStrike" kern="0" cap="none" spc="0" normalizeH="0" baseline="0" noProof="0">
              <a:ln>
                <a:noFill/>
              </a:ln>
              <a:effectLst/>
              <a:uLnTx/>
              <a:uFillTx/>
              <a:sym typeface="Huawei Sans" panose="020C0503030203020204" pitchFamily="34" charset="0"/>
            </a:endParaRPr>
          </a:p>
        </p:txBody>
      </p:sp>
      <p:sp>
        <p:nvSpPr>
          <p:cNvPr id="137" name="Text Box 978"/>
          <p:cNvSpPr txBox="1">
            <a:spLocks noChangeArrowheads="1"/>
          </p:cNvSpPr>
          <p:nvPr/>
        </p:nvSpPr>
        <p:spPr bwMode="gray">
          <a:xfrm>
            <a:off x="4340484" y="4450457"/>
            <a:ext cx="561051" cy="215444"/>
          </a:xfrm>
          <a:prstGeom prst="rect">
            <a:avLst/>
          </a:prstGeom>
          <a:noFill/>
          <a:ln w="9525" algn="ctr">
            <a:noFill/>
            <a:miter lim="800000"/>
            <a:headEnd/>
            <a:tailEnd/>
          </a:ln>
          <a:effectLst/>
        </p:spPr>
        <p:txBody>
          <a:bodyPr wrap="none" lIns="0" tIns="0" rIns="0" bIns="0">
            <a:spAutoFit/>
          </a:bodyPr>
          <a:lstStyle/>
          <a:p>
            <a:pPr marL="85691" marR="0" lvl="0" indent="-85691" algn="ctr" defTabSz="914034" eaLnBrk="1" fontAlgn="base" latinLnBrk="0" hangingPunct="1">
              <a:lnSpc>
                <a:spcPct val="100000"/>
              </a:lnSpc>
              <a:spcBef>
                <a:spcPct val="0"/>
              </a:spcBef>
              <a:spcAft>
                <a:spcPct val="0"/>
              </a:spcAft>
              <a:buClrTx/>
              <a:buSzTx/>
              <a:buFontTx/>
              <a:buNone/>
              <a:tabLst/>
              <a:defRPr/>
            </a:pPr>
            <a:r>
              <a:rPr kumimoji="0" lang="en-US" altLang="ko-KR" sz="1400" b="1" i="0" u="none" strike="noStrike" kern="0" cap="none" spc="0" normalizeH="0" baseline="0" noProof="0">
                <a:ln>
                  <a:noFill/>
                </a:ln>
                <a:effectLst/>
                <a:uLnTx/>
                <a:uFillTx/>
                <a:sym typeface="Huawei Sans" panose="020C0503030203020204" pitchFamily="34" charset="0"/>
              </a:rPr>
              <a:t>HTTPS</a:t>
            </a:r>
            <a:endParaRPr kumimoji="0" lang="en-US" altLang="ko-KR" sz="1400" b="1" i="0" u="none" strike="noStrike" kern="0" cap="none" spc="0" normalizeH="0" baseline="0" noProof="0" dirty="0">
              <a:ln>
                <a:noFill/>
              </a:ln>
              <a:effectLst/>
              <a:uLnTx/>
              <a:uFillTx/>
              <a:sym typeface="Huawei Sans" panose="020C0503030203020204" pitchFamily="34" charset="0"/>
            </a:endParaRPr>
          </a:p>
        </p:txBody>
      </p:sp>
      <p:sp>
        <p:nvSpPr>
          <p:cNvPr id="138" name="Text Box 11"/>
          <p:cNvSpPr txBox="1">
            <a:spLocks noChangeArrowheads="1"/>
          </p:cNvSpPr>
          <p:nvPr/>
        </p:nvSpPr>
        <p:spPr bwMode="gray">
          <a:xfrm>
            <a:off x="4222421" y="4703098"/>
            <a:ext cx="1955000" cy="461664"/>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effectLst/>
                <a:uLnTx/>
                <a:uFillTx/>
              </a:rPr>
              <a:t>使用</a:t>
            </a:r>
            <a:r>
              <a:rPr kumimoji="0" lang="en-US" altLang="zh-CN" sz="1200" b="0" i="0" u="none" strike="noStrike" kern="0" cap="none" spc="0" normalizeH="0" baseline="0" noProof="0">
                <a:ln>
                  <a:noFill/>
                </a:ln>
                <a:effectLst/>
                <a:uLnTx/>
                <a:uFillTx/>
              </a:rPr>
              <a:t>TLS/SSL</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effectLst/>
                <a:uLnTx/>
                <a:uFillTx/>
              </a:rPr>
              <a:t>加密的</a:t>
            </a:r>
            <a:r>
              <a:rPr kumimoji="0" lang="en-US" altLang="zh-CN" sz="1200" b="0" i="0" u="none" strike="noStrike" kern="0" cap="none" spc="0" normalizeH="0" baseline="0" noProof="0">
                <a:ln>
                  <a:noFill/>
                </a:ln>
                <a:effectLst/>
                <a:uLnTx/>
                <a:uFillTx/>
              </a:rPr>
              <a:t>HTTP</a:t>
            </a:r>
            <a:r>
              <a:rPr kumimoji="0" lang="zh-CN" altLang="en-US" sz="1200" b="0" i="0" u="none" strike="noStrike" kern="0" cap="none" spc="0" normalizeH="0" baseline="0" noProof="0">
                <a:ln>
                  <a:noFill/>
                </a:ln>
                <a:effectLst/>
                <a:uLnTx/>
                <a:uFillTx/>
              </a:rPr>
              <a:t>协议</a:t>
            </a:r>
          </a:p>
        </p:txBody>
      </p:sp>
      <p:sp>
        <p:nvSpPr>
          <p:cNvPr id="139" name="Text Box 978"/>
          <p:cNvSpPr txBox="1">
            <a:spLocks noChangeArrowheads="1"/>
          </p:cNvSpPr>
          <p:nvPr/>
        </p:nvSpPr>
        <p:spPr bwMode="gray">
          <a:xfrm>
            <a:off x="5700371" y="2312056"/>
            <a:ext cx="447238" cy="215444"/>
          </a:xfrm>
          <a:prstGeom prst="rect">
            <a:avLst/>
          </a:prstGeom>
          <a:noFill/>
          <a:ln w="9525" algn="ctr">
            <a:noFill/>
            <a:miter lim="800000"/>
            <a:headEnd/>
            <a:tailEnd/>
          </a:ln>
          <a:effectLst/>
        </p:spPr>
        <p:txBody>
          <a:bodyPr wrap="none" lIns="0" tIns="0" rIns="0" bIns="0">
            <a:spAutoFit/>
          </a:bodyPr>
          <a:lstStyle/>
          <a:p>
            <a:pPr marL="85691" marR="0" lvl="0" indent="-85691" algn="ctr" defTabSz="914034" eaLnBrk="1" fontAlgn="base" latinLnBrk="0" hangingPunct="1">
              <a:lnSpc>
                <a:spcPct val="100000"/>
              </a:lnSpc>
              <a:spcBef>
                <a:spcPct val="0"/>
              </a:spcBef>
              <a:spcAft>
                <a:spcPct val="0"/>
              </a:spcAft>
              <a:buClrTx/>
              <a:buSzTx/>
              <a:buFontTx/>
              <a:buNone/>
              <a:tabLst/>
              <a:defRPr/>
            </a:pPr>
            <a:r>
              <a:rPr kumimoji="0" lang="en-US" altLang="ko-KR" sz="1400" b="1" i="0" u="none" strike="noStrike" kern="0" cap="none" spc="0" normalizeH="0" baseline="0" noProof="0">
                <a:ln>
                  <a:noFill/>
                </a:ln>
                <a:effectLst/>
                <a:uLnTx/>
                <a:uFillTx/>
                <a:sym typeface="Huawei Sans" panose="020C0503030203020204" pitchFamily="34" charset="0"/>
              </a:rPr>
              <a:t>SPDY</a:t>
            </a:r>
          </a:p>
        </p:txBody>
      </p:sp>
      <p:sp>
        <p:nvSpPr>
          <p:cNvPr id="140" name="Text Box 11"/>
          <p:cNvSpPr txBox="1">
            <a:spLocks noChangeArrowheads="1"/>
          </p:cNvSpPr>
          <p:nvPr/>
        </p:nvSpPr>
        <p:spPr bwMode="gray">
          <a:xfrm>
            <a:off x="5582413" y="2531656"/>
            <a:ext cx="1707971" cy="461665"/>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rPr>
              <a:t>HTTP/2</a:t>
            </a:r>
            <a:r>
              <a:rPr kumimoji="0" lang="zh-CN" altLang="en-US" sz="1200" b="0" i="0" u="none" strike="noStrike" kern="0" cap="none" spc="0" normalizeH="0" baseline="0" noProof="0" dirty="0">
                <a:ln>
                  <a:noFill/>
                </a:ln>
                <a:effectLst/>
                <a:uLnTx/>
                <a:uFillTx/>
              </a:rPr>
              <a:t>前身，优化了</a:t>
            </a:r>
            <a:r>
              <a:rPr kumimoji="0" lang="en-US" altLang="zh-CN" sz="1200" b="0" i="0" u="none" strike="noStrike" kern="0" cap="none" spc="0" normalizeH="0" baseline="0" noProof="0" dirty="0">
                <a:ln>
                  <a:noFill/>
                </a:ln>
                <a:effectLst/>
                <a:uLnTx/>
                <a:uFillTx/>
              </a:rPr>
              <a:t>HTTP</a:t>
            </a:r>
            <a:r>
              <a:rPr kumimoji="0" lang="zh-CN" altLang="en-US" sz="1200" b="0" i="0" u="none" strike="noStrike" kern="0" cap="none" spc="0" normalizeH="0" baseline="0" noProof="0" dirty="0">
                <a:ln>
                  <a:noFill/>
                </a:ln>
                <a:effectLst/>
                <a:uLnTx/>
                <a:uFillTx/>
              </a:rPr>
              <a:t>协议的性能</a:t>
            </a:r>
          </a:p>
        </p:txBody>
      </p:sp>
      <p:sp>
        <p:nvSpPr>
          <p:cNvPr id="141" name="矩形 140"/>
          <p:cNvSpPr/>
          <p:nvPr/>
        </p:nvSpPr>
        <p:spPr bwMode="gray">
          <a:xfrm>
            <a:off x="6899306" y="4376916"/>
            <a:ext cx="1938661" cy="812268"/>
          </a:xfrm>
          <a:prstGeom prst="rect">
            <a:avLst/>
          </a:prstGeom>
          <a:noFill/>
          <a:ln w="12700" cap="flat" cmpd="sng" algn="ctr">
            <a:solidFill>
              <a:srgbClr val="56C4D2"/>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lvl="0" indent="0" defTabSz="914034"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799" b="0" i="0" u="none" strike="noStrike" kern="0" cap="none" spc="0" normalizeH="0" baseline="0" noProof="0">
              <a:ln>
                <a:noFill/>
              </a:ln>
              <a:effectLst/>
              <a:uLnTx/>
              <a:uFillTx/>
              <a:sym typeface="Huawei Sans" panose="020C0503030203020204" pitchFamily="34" charset="0"/>
            </a:endParaRPr>
          </a:p>
        </p:txBody>
      </p:sp>
      <p:grpSp>
        <p:nvGrpSpPr>
          <p:cNvPr id="142" name="组合 125"/>
          <p:cNvGrpSpPr/>
          <p:nvPr/>
        </p:nvGrpSpPr>
        <p:grpSpPr bwMode="gray">
          <a:xfrm>
            <a:off x="6882967" y="4450458"/>
            <a:ext cx="1955000" cy="714305"/>
            <a:chOff x="288709" y="2479144"/>
            <a:chExt cx="1509462" cy="551518"/>
          </a:xfrm>
        </p:grpSpPr>
        <p:sp>
          <p:nvSpPr>
            <p:cNvPr id="143" name="Text Box 978"/>
            <p:cNvSpPr txBox="1">
              <a:spLocks noChangeArrowheads="1"/>
            </p:cNvSpPr>
            <p:nvPr/>
          </p:nvSpPr>
          <p:spPr bwMode="gray">
            <a:xfrm>
              <a:off x="382195" y="2479144"/>
              <a:ext cx="344076" cy="166345"/>
            </a:xfrm>
            <a:prstGeom prst="rect">
              <a:avLst/>
            </a:prstGeom>
            <a:noFill/>
            <a:ln w="9525" algn="ctr">
              <a:noFill/>
              <a:miter lim="800000"/>
              <a:headEnd/>
              <a:tailEnd/>
            </a:ln>
            <a:effectLst/>
          </p:spPr>
          <p:txBody>
            <a:bodyPr wrap="none" lIns="0" tIns="0" rIns="0" bIns="0">
              <a:spAutoFit/>
            </a:bodyPr>
            <a:lstStyle/>
            <a:p>
              <a:pPr marL="85691" marR="0" lvl="0" indent="-85691" algn="ctr" defTabSz="914034" eaLnBrk="1" fontAlgn="base" latinLnBrk="0" hangingPunct="1">
                <a:lnSpc>
                  <a:spcPct val="100000"/>
                </a:lnSpc>
                <a:spcBef>
                  <a:spcPct val="0"/>
                </a:spcBef>
                <a:spcAft>
                  <a:spcPct val="0"/>
                </a:spcAft>
                <a:buClrTx/>
                <a:buSzTx/>
                <a:buFontTx/>
                <a:buNone/>
                <a:tabLst/>
                <a:defRPr/>
              </a:pPr>
              <a:r>
                <a:rPr kumimoji="0" lang="en-US" altLang="ko-KR" sz="1400" b="1" i="0" u="none" strike="noStrike" kern="0" cap="none" spc="0" normalizeH="0" baseline="0" noProof="0">
                  <a:ln>
                    <a:noFill/>
                  </a:ln>
                  <a:effectLst/>
                  <a:uLnTx/>
                  <a:uFillTx/>
                  <a:sym typeface="Huawei Sans" panose="020C0503030203020204" pitchFamily="34" charset="0"/>
                </a:rPr>
                <a:t>QUIC</a:t>
              </a:r>
              <a:endParaRPr kumimoji="0" lang="en-US" altLang="ko-KR" sz="1400" b="1" i="0" u="none" strike="noStrike" kern="0" cap="none" spc="0" normalizeH="0" baseline="0" noProof="0" dirty="0">
                <a:ln>
                  <a:noFill/>
                </a:ln>
                <a:effectLst/>
                <a:uLnTx/>
                <a:uFillTx/>
                <a:sym typeface="Huawei Sans" panose="020C0503030203020204" pitchFamily="34" charset="0"/>
              </a:endParaRPr>
            </a:p>
          </p:txBody>
        </p:sp>
        <p:sp>
          <p:nvSpPr>
            <p:cNvPr id="144" name="Text Box 11"/>
            <p:cNvSpPr txBox="1">
              <a:spLocks noChangeArrowheads="1"/>
            </p:cNvSpPr>
            <p:nvPr/>
          </p:nvSpPr>
          <p:spPr bwMode="gray">
            <a:xfrm>
              <a:off x="288709" y="2674208"/>
              <a:ext cx="1509462" cy="356454"/>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effectLst/>
                  <a:uLnTx/>
                  <a:uFillTx/>
                </a:rPr>
                <a:t>HTTP/3</a:t>
              </a:r>
              <a:r>
                <a:rPr kumimoji="0" lang="zh-CN" altLang="en-US" sz="1200" b="0" i="0" u="none" strike="noStrike" kern="0" cap="none" spc="0" normalizeH="0" baseline="0" noProof="0">
                  <a:ln>
                    <a:noFill/>
                  </a:ln>
                  <a:effectLst/>
                  <a:uLnTx/>
                  <a:uFillTx/>
                </a:rPr>
                <a:t>前身，采用</a:t>
              </a:r>
              <a:r>
                <a:rPr kumimoji="0" lang="en-US" altLang="zh-CN" sz="1200" b="0" i="0" u="none" strike="noStrike" kern="0" cap="none" spc="0" normalizeH="0" baseline="0" noProof="0">
                  <a:ln>
                    <a:noFill/>
                  </a:ln>
                  <a:effectLst/>
                  <a:uLnTx/>
                  <a:uFillTx/>
                </a:rPr>
                <a:t>UDP</a:t>
              </a:r>
              <a:r>
                <a:rPr kumimoji="0" lang="zh-CN" altLang="en-US" sz="1200" b="0" i="0" u="none" strike="noStrike" kern="0" cap="none" spc="0" normalizeH="0" baseline="0" noProof="0">
                  <a:ln>
                    <a:noFill/>
                  </a:ln>
                  <a:effectLst/>
                  <a:uLnTx/>
                  <a:uFillTx/>
                </a:rPr>
                <a:t>实现了</a:t>
              </a:r>
              <a:r>
                <a:rPr kumimoji="0" lang="en-US" altLang="zh-CN" sz="1200" b="0" i="0" u="none" strike="noStrike" kern="0" cap="none" spc="0" normalizeH="0" baseline="0" noProof="0">
                  <a:ln>
                    <a:noFill/>
                  </a:ln>
                  <a:effectLst/>
                  <a:uLnTx/>
                  <a:uFillTx/>
                </a:rPr>
                <a:t>TCP + TLS + HTTP/2</a:t>
              </a:r>
            </a:p>
          </p:txBody>
        </p:sp>
      </p:grpSp>
      <p:sp>
        <p:nvSpPr>
          <p:cNvPr id="145" name="矩形 144"/>
          <p:cNvSpPr/>
          <p:nvPr/>
        </p:nvSpPr>
        <p:spPr bwMode="gray">
          <a:xfrm>
            <a:off x="8437024" y="2233699"/>
            <a:ext cx="1800000" cy="762710"/>
          </a:xfrm>
          <a:prstGeom prst="rect">
            <a:avLst/>
          </a:prstGeom>
          <a:noFill/>
          <a:ln w="12700" cap="flat" cmpd="sng" algn="ctr">
            <a:solidFill>
              <a:srgbClr val="56C4D2"/>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lvl="0" indent="0" defTabSz="914034"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799" b="0" i="0" u="none" strike="noStrike" kern="0" cap="none" spc="0" normalizeH="0" baseline="0" noProof="0">
              <a:ln>
                <a:noFill/>
              </a:ln>
              <a:effectLst/>
              <a:uLnTx/>
              <a:uFillTx/>
              <a:sym typeface="Huawei Sans" panose="020C0503030203020204" pitchFamily="34" charset="0"/>
            </a:endParaRPr>
          </a:p>
        </p:txBody>
      </p:sp>
      <p:sp>
        <p:nvSpPr>
          <p:cNvPr id="146" name="Text Box 978"/>
          <p:cNvSpPr txBox="1">
            <a:spLocks noChangeArrowheads="1"/>
          </p:cNvSpPr>
          <p:nvPr/>
        </p:nvSpPr>
        <p:spPr bwMode="gray">
          <a:xfrm>
            <a:off x="8517366" y="2312056"/>
            <a:ext cx="641202" cy="215444"/>
          </a:xfrm>
          <a:prstGeom prst="rect">
            <a:avLst/>
          </a:prstGeom>
          <a:noFill/>
          <a:ln w="9525" algn="ctr">
            <a:noFill/>
            <a:miter lim="800000"/>
            <a:headEnd/>
            <a:tailEnd/>
          </a:ln>
          <a:effectLst/>
        </p:spPr>
        <p:txBody>
          <a:bodyPr wrap="none" lIns="0" tIns="0" rIns="0" bIns="0">
            <a:spAutoFit/>
          </a:bodyPr>
          <a:lstStyle/>
          <a:p>
            <a:pPr marL="85691" marR="0" lvl="0" indent="-85691" algn="ctr" defTabSz="914034" eaLnBrk="1" fontAlgn="base" latinLnBrk="0" hangingPunct="1">
              <a:lnSpc>
                <a:spcPct val="100000"/>
              </a:lnSpc>
              <a:spcBef>
                <a:spcPct val="0"/>
              </a:spcBef>
              <a:spcAft>
                <a:spcPct val="0"/>
              </a:spcAft>
              <a:buClrTx/>
              <a:buSzTx/>
              <a:buFontTx/>
              <a:buNone/>
              <a:tabLst/>
              <a:defRPr/>
            </a:pPr>
            <a:r>
              <a:rPr kumimoji="0" lang="en-US" altLang="ko-KR" sz="1400" b="1" i="0" u="none" strike="noStrike" kern="0" cap="none" spc="0" normalizeH="0" baseline="0" noProof="0">
                <a:ln>
                  <a:noFill/>
                </a:ln>
                <a:effectLst/>
                <a:uLnTx/>
                <a:uFillTx/>
                <a:sym typeface="Huawei Sans" panose="020C0503030203020204" pitchFamily="34" charset="0"/>
              </a:rPr>
              <a:t>HTTP/2</a:t>
            </a:r>
          </a:p>
        </p:txBody>
      </p:sp>
      <p:sp>
        <p:nvSpPr>
          <p:cNvPr id="147" name="Text Box 11"/>
          <p:cNvSpPr txBox="1">
            <a:spLocks noChangeArrowheads="1"/>
          </p:cNvSpPr>
          <p:nvPr/>
        </p:nvSpPr>
        <p:spPr bwMode="gray">
          <a:xfrm>
            <a:off x="8386223" y="2531656"/>
            <a:ext cx="1958910" cy="461665"/>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effectLst/>
                <a:uLnTx/>
                <a:uFillTx/>
              </a:rPr>
              <a:t>第二代协议，支持多路复用、头部压缩、优先级等</a:t>
            </a:r>
            <a:endParaRPr kumimoji="0" lang="zh-CN" altLang="en-US" sz="1200" b="0" i="0" u="none" strike="noStrike" kern="0" cap="none" spc="0" normalizeH="0" baseline="0" noProof="0" dirty="0">
              <a:ln>
                <a:noFill/>
              </a:ln>
              <a:effectLst/>
              <a:uLnTx/>
              <a:uFillTx/>
            </a:endParaRPr>
          </a:p>
        </p:txBody>
      </p:sp>
      <p:sp>
        <p:nvSpPr>
          <p:cNvPr id="148" name="矩形 147"/>
          <p:cNvSpPr/>
          <p:nvPr/>
        </p:nvSpPr>
        <p:spPr bwMode="gray">
          <a:xfrm>
            <a:off x="9559852" y="4376916"/>
            <a:ext cx="1938661" cy="812268"/>
          </a:xfrm>
          <a:prstGeom prst="rect">
            <a:avLst/>
          </a:prstGeom>
          <a:noFill/>
          <a:ln w="12700" cap="flat" cmpd="sng" algn="ctr">
            <a:solidFill>
              <a:srgbClr val="56C4D2"/>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lvl="0" indent="0" defTabSz="914034"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799" b="0" i="0" u="none" strike="noStrike" kern="0" cap="none" spc="0" normalizeH="0" baseline="0" noProof="0">
              <a:ln>
                <a:noFill/>
              </a:ln>
              <a:effectLst/>
              <a:uLnTx/>
              <a:uFillTx/>
              <a:sym typeface="Huawei Sans" panose="020C0503030203020204" pitchFamily="34" charset="0"/>
            </a:endParaRPr>
          </a:p>
        </p:txBody>
      </p:sp>
      <p:grpSp>
        <p:nvGrpSpPr>
          <p:cNvPr id="149" name="组合 125"/>
          <p:cNvGrpSpPr/>
          <p:nvPr/>
        </p:nvGrpSpPr>
        <p:grpSpPr bwMode="gray">
          <a:xfrm>
            <a:off x="9543513" y="4450449"/>
            <a:ext cx="1955000" cy="714307"/>
            <a:chOff x="288709" y="2468043"/>
            <a:chExt cx="1509462" cy="551521"/>
          </a:xfrm>
        </p:grpSpPr>
        <p:sp>
          <p:nvSpPr>
            <p:cNvPr id="150" name="Text Box 978"/>
            <p:cNvSpPr txBox="1">
              <a:spLocks noChangeArrowheads="1"/>
            </p:cNvSpPr>
            <p:nvPr/>
          </p:nvSpPr>
          <p:spPr bwMode="gray">
            <a:xfrm>
              <a:off x="396879" y="2468043"/>
              <a:ext cx="495074" cy="166345"/>
            </a:xfrm>
            <a:prstGeom prst="rect">
              <a:avLst/>
            </a:prstGeom>
            <a:noFill/>
            <a:ln w="9525" algn="ctr">
              <a:noFill/>
              <a:miter lim="800000"/>
              <a:headEnd/>
              <a:tailEnd/>
            </a:ln>
            <a:effectLst/>
          </p:spPr>
          <p:txBody>
            <a:bodyPr wrap="none" lIns="0" tIns="0" rIns="0" bIns="0">
              <a:spAutoFit/>
            </a:bodyPr>
            <a:lstStyle/>
            <a:p>
              <a:pPr marL="85691" marR="0" lvl="0" indent="-85691" algn="ctr" defTabSz="914034" eaLnBrk="1" fontAlgn="base" latinLnBrk="0" hangingPunct="1">
                <a:lnSpc>
                  <a:spcPct val="100000"/>
                </a:lnSpc>
                <a:spcBef>
                  <a:spcPct val="0"/>
                </a:spcBef>
                <a:spcAft>
                  <a:spcPct val="0"/>
                </a:spcAft>
                <a:buClrTx/>
                <a:buSzTx/>
                <a:buFontTx/>
                <a:buNone/>
                <a:tabLst/>
                <a:defRPr/>
              </a:pPr>
              <a:r>
                <a:rPr kumimoji="0" lang="en-US" altLang="ko-KR" sz="1400" b="1" i="0" u="none" strike="noStrike" kern="0" cap="none" spc="0" normalizeH="0" baseline="0" noProof="0">
                  <a:ln>
                    <a:noFill/>
                  </a:ln>
                  <a:effectLst/>
                  <a:uLnTx/>
                  <a:uFillTx/>
                  <a:sym typeface="Huawei Sans" panose="020C0503030203020204" pitchFamily="34" charset="0"/>
                </a:rPr>
                <a:t>HTTP/3</a:t>
              </a:r>
              <a:endParaRPr kumimoji="0" lang="en-US" altLang="ko-KR" sz="1400" b="1" i="0" u="none" strike="noStrike" kern="0" cap="none" spc="0" normalizeH="0" baseline="0" noProof="0" dirty="0">
                <a:ln>
                  <a:noFill/>
                </a:ln>
                <a:effectLst/>
                <a:uLnTx/>
                <a:uFillTx/>
                <a:sym typeface="Huawei Sans" panose="020C0503030203020204" pitchFamily="34" charset="0"/>
              </a:endParaRPr>
            </a:p>
          </p:txBody>
        </p:sp>
        <p:sp>
          <p:nvSpPr>
            <p:cNvPr id="151" name="Text Box 11"/>
            <p:cNvSpPr txBox="1">
              <a:spLocks noChangeArrowheads="1"/>
            </p:cNvSpPr>
            <p:nvPr/>
          </p:nvSpPr>
          <p:spPr bwMode="gray">
            <a:xfrm>
              <a:off x="288709" y="2663110"/>
              <a:ext cx="1509462" cy="356454"/>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effectLst/>
                  <a:uLnTx/>
                  <a:uFillTx/>
                </a:rPr>
                <a:t>HTTP-over-QUIC</a:t>
              </a:r>
              <a:r>
                <a:rPr kumimoji="0" lang="zh-CN" altLang="en-US" sz="1200" b="0" i="0" u="none" strike="noStrike" kern="0" cap="none" spc="0" normalizeH="0" baseline="0" noProof="0">
                  <a:ln>
                    <a:noFill/>
                  </a:ln>
                  <a:effectLst/>
                  <a:uLnTx/>
                  <a:uFillTx/>
                </a:rPr>
                <a:t>，标准正在制定</a:t>
              </a:r>
              <a:endParaRPr kumimoji="0" lang="zh-CN" altLang="en-US" sz="1200" b="0" i="0" u="none" strike="noStrike" kern="0" cap="none" spc="0" normalizeH="0" baseline="0" noProof="0" dirty="0">
                <a:ln>
                  <a:noFill/>
                </a:ln>
                <a:effectLst/>
                <a:uLnTx/>
                <a:uFillTx/>
              </a:endParaRPr>
            </a:p>
          </p:txBody>
        </p:sp>
      </p:grpSp>
    </p:spTree>
    <p:extLst>
      <p:ext uri="{BB962C8B-B14F-4D97-AF65-F5344CB8AC3E}">
        <p14:creationId xmlns:p14="http://schemas.microsoft.com/office/powerpoint/2010/main" val="3724417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HTTP</a:t>
            </a:r>
            <a:r>
              <a:rPr lang="zh-CN" altLang="en-US"/>
              <a:t>简介</a:t>
            </a:r>
          </a:p>
        </p:txBody>
      </p:sp>
      <p:sp>
        <p:nvSpPr>
          <p:cNvPr id="6" name="文本占位符 5"/>
          <p:cNvSpPr>
            <a:spLocks noGrp="1"/>
          </p:cNvSpPr>
          <p:nvPr>
            <p:ph type="body" sz="quarter" idx="10"/>
          </p:nvPr>
        </p:nvSpPr>
        <p:spPr bwMode="gray"/>
        <p:txBody>
          <a:bodyPr/>
          <a:lstStyle/>
          <a:p>
            <a:r>
              <a:rPr lang="en-US" altLang="zh-CN" sz="1800" dirty="0"/>
              <a:t>HTTP</a:t>
            </a:r>
            <a:r>
              <a:rPr lang="zh-CN" altLang="en-US" sz="1800" dirty="0"/>
              <a:t>（</a:t>
            </a:r>
            <a:r>
              <a:rPr lang="en-US" altLang="zh-CN" sz="1800" dirty="0"/>
              <a:t>Hyper Text Transfer Protocol</a:t>
            </a:r>
            <a:r>
              <a:rPr lang="zh-CN" altLang="en-US" sz="1800" dirty="0"/>
              <a:t>，超文本传输协议）是用于分布式、协作性、超媒体信息系统的应用层协议。</a:t>
            </a:r>
            <a:r>
              <a:rPr lang="en-US" altLang="zh-CN" sz="1800" dirty="0"/>
              <a:t>HTTP</a:t>
            </a:r>
            <a:r>
              <a:rPr lang="zh-CN" altLang="en-US" sz="1800" dirty="0"/>
              <a:t>自产生以来一直被万维网所使用。</a:t>
            </a:r>
          </a:p>
          <a:p>
            <a:r>
              <a:rPr lang="en-US" altLang="zh-CN" sz="1800" dirty="0"/>
              <a:t>HTTP</a:t>
            </a:r>
            <a:r>
              <a:rPr lang="zh-CN" altLang="en-US" sz="1800" dirty="0"/>
              <a:t>基于</a:t>
            </a:r>
            <a:r>
              <a:rPr lang="en-US" altLang="zh-CN" sz="1800" dirty="0"/>
              <a:t>TCP/IP</a:t>
            </a:r>
            <a:r>
              <a:rPr lang="zh-CN" altLang="en-US" sz="1800" dirty="0"/>
              <a:t>通信协议来传递数据，默认工作在</a:t>
            </a:r>
            <a:r>
              <a:rPr lang="en-US" altLang="zh-CN" sz="1800" dirty="0"/>
              <a:t>TCP</a:t>
            </a:r>
            <a:r>
              <a:rPr lang="zh-CN" altLang="en-US" sz="1800" dirty="0"/>
              <a:t>协议</a:t>
            </a:r>
            <a:r>
              <a:rPr lang="en-US" altLang="zh-CN" sz="1800" dirty="0"/>
              <a:t>80</a:t>
            </a:r>
            <a:r>
              <a:rPr lang="zh-CN" altLang="en-US" sz="1800" dirty="0"/>
              <a:t>端口。用户访问网站</a:t>
            </a:r>
            <a:r>
              <a:rPr lang="en-US" altLang="zh-CN" sz="1800" dirty="0"/>
              <a:t>http://</a:t>
            </a:r>
            <a:r>
              <a:rPr lang="zh-CN" altLang="en-US" sz="1800" dirty="0"/>
              <a:t>打头的都是标准</a:t>
            </a:r>
            <a:r>
              <a:rPr lang="en-US" altLang="zh-CN" sz="1800" dirty="0"/>
              <a:t>HTTP</a:t>
            </a:r>
            <a:r>
              <a:rPr lang="zh-CN" altLang="en-US" sz="1800" dirty="0"/>
              <a:t>服务。</a:t>
            </a:r>
          </a:p>
          <a:p>
            <a:endParaRPr lang="zh-CN" altLang="en-US" sz="1800" dirty="0"/>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7" name="文本框 6"/>
          <p:cNvSpPr txBox="1"/>
          <p:nvPr/>
        </p:nvSpPr>
        <p:spPr bwMode="gray">
          <a:xfrm>
            <a:off x="3790254" y="3279303"/>
            <a:ext cx="3019108" cy="437035"/>
          </a:xfrm>
          <a:prstGeom prst="rect">
            <a:avLst/>
          </a:prstGeom>
          <a:solidFill>
            <a:srgbClr val="30B5C5"/>
          </a:solidFill>
          <a:ln w="9525">
            <a:noFill/>
            <a:miter lim="800000"/>
            <a:headEnd/>
            <a:tailEnd/>
          </a:ln>
          <a:effectLst/>
        </p:spPr>
        <p:txBody>
          <a:bodyPr wrap="none" anchor="ctr" anchorCtr="0">
            <a:noAutofit/>
          </a:bodyPr>
          <a:lstStyle>
            <a:defPPr>
              <a:defRPr lang="en-US"/>
            </a:defPPr>
            <a:lvl1pPr marR="0" lvl="0" indent="0" algn="ctr" defTabSz="914034" fontAlgn="auto">
              <a:lnSpc>
                <a:spcPct val="100000"/>
              </a:lnSpc>
              <a:spcBef>
                <a:spcPts val="0"/>
              </a:spcBef>
              <a:spcAft>
                <a:spcPts val="0"/>
              </a:spcAft>
              <a:buClrTx/>
              <a:buSzTx/>
              <a:buFontTx/>
              <a:buNone/>
              <a:tabLst/>
              <a:defRPr kumimoji="0" sz="1600" b="1" i="0" u="none" strike="noStrike" kern="0" cap="none" spc="0" normalizeH="0" baseline="0">
                <a:ln>
                  <a:noFill/>
                </a:ln>
                <a:solidFill>
                  <a:srgbClr val="FFFFFF"/>
                </a:solidFill>
                <a:effectLst/>
                <a:uLnTx/>
                <a:uFillTx/>
                <a:cs typeface="Arial" pitchFamily="34" charset="0"/>
              </a:defRPr>
            </a:lvl1pPr>
          </a:lstStyle>
          <a:p>
            <a:r>
              <a:rPr lang="en-US" altLang="zh-CN" sz="2800" dirty="0"/>
              <a:t>http://WWW</a:t>
            </a:r>
            <a:endParaRPr lang="zh-CN" altLang="en-US" sz="2800" dirty="0"/>
          </a:p>
        </p:txBody>
      </p:sp>
      <p:sp>
        <p:nvSpPr>
          <p:cNvPr id="10" name="右箭头 9"/>
          <p:cNvSpPr/>
          <p:nvPr/>
        </p:nvSpPr>
        <p:spPr bwMode="gray">
          <a:xfrm rot="13017985">
            <a:off x="6558958" y="3512479"/>
            <a:ext cx="608455" cy="534425"/>
          </a:xfrm>
          <a:prstGeom prst="rightArrow">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1310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HTTP</a:t>
            </a:r>
            <a:r>
              <a:rPr lang="zh-CN" altLang="en-US"/>
              <a:t>工作原理</a:t>
            </a:r>
          </a:p>
        </p:txBody>
      </p:sp>
      <p:sp>
        <p:nvSpPr>
          <p:cNvPr id="7" name="文本占位符 6"/>
          <p:cNvSpPr>
            <a:spLocks noGrp="1"/>
          </p:cNvSpPr>
          <p:nvPr>
            <p:ph type="body" sz="quarter" idx="10"/>
          </p:nvPr>
        </p:nvSpPr>
        <p:spPr bwMode="gray"/>
        <p:txBody>
          <a:bodyPr/>
          <a:lstStyle/>
          <a:p>
            <a:r>
              <a:rPr lang="en-US" altLang="zh-CN" sz="1800" dirty="0"/>
              <a:t>HTTP</a:t>
            </a:r>
            <a:r>
              <a:rPr lang="zh-CN" altLang="en-US" sz="1800" dirty="0"/>
              <a:t>基于客户端</a:t>
            </a:r>
            <a:r>
              <a:rPr lang="en-US" altLang="zh-CN" sz="1800" dirty="0"/>
              <a:t>/</a:t>
            </a:r>
            <a:r>
              <a:rPr lang="zh-CN" altLang="en-US" sz="1800" dirty="0"/>
              <a:t>服务端（</a:t>
            </a:r>
            <a:r>
              <a:rPr lang="en-US" altLang="zh-CN" sz="1800" dirty="0"/>
              <a:t>C/S</a:t>
            </a:r>
            <a:r>
              <a:rPr lang="zh-CN" altLang="en-US" sz="1800" dirty="0"/>
              <a:t>）的架构模型。</a:t>
            </a:r>
            <a:r>
              <a:rPr lang="en-US" altLang="zh-CN" sz="1800" dirty="0"/>
              <a:t>HTTP</a:t>
            </a:r>
            <a:r>
              <a:rPr lang="zh-CN" altLang="en-US" sz="1800" dirty="0"/>
              <a:t>请求及响应有如下五个步骤：</a:t>
            </a:r>
          </a:p>
          <a:p>
            <a:pPr lvl="1"/>
            <a:r>
              <a:rPr lang="zh-CN" altLang="en-US" sz="1600" dirty="0"/>
              <a:t>客户端与服务器建立</a:t>
            </a:r>
            <a:r>
              <a:rPr lang="en-US" altLang="zh-CN" sz="1600" dirty="0"/>
              <a:t>TCP</a:t>
            </a:r>
            <a:r>
              <a:rPr lang="zh-CN" altLang="en-US" sz="1600" dirty="0"/>
              <a:t>连接。</a:t>
            </a:r>
          </a:p>
          <a:p>
            <a:pPr lvl="1"/>
            <a:r>
              <a:rPr lang="zh-CN" altLang="en-US" sz="1600" dirty="0"/>
              <a:t>客户端发送</a:t>
            </a:r>
            <a:r>
              <a:rPr lang="en-US" altLang="zh-CN" sz="1600" dirty="0"/>
              <a:t>HTTP</a:t>
            </a:r>
            <a:r>
              <a:rPr lang="zh-CN" altLang="en-US" sz="1600" dirty="0"/>
              <a:t>请求。请求报文由请求行、请求头部、空行和请求数据四部分组成。</a:t>
            </a:r>
          </a:p>
          <a:p>
            <a:pPr lvl="1"/>
            <a:r>
              <a:rPr lang="zh-CN" altLang="en-US" sz="1600" dirty="0"/>
              <a:t>服务器接受请求并返回</a:t>
            </a:r>
            <a:r>
              <a:rPr lang="en-US" altLang="zh-CN" sz="1600" dirty="0"/>
              <a:t>HTTP</a:t>
            </a:r>
            <a:r>
              <a:rPr lang="zh-CN" altLang="en-US" sz="1600" dirty="0"/>
              <a:t>响应。响应报文由状态行、响应头部、空行和响应正文四部分组成。</a:t>
            </a:r>
          </a:p>
          <a:p>
            <a:pPr lvl="1"/>
            <a:r>
              <a:rPr lang="zh-CN" altLang="en-US" sz="1600" dirty="0"/>
              <a:t>释放</a:t>
            </a:r>
            <a:r>
              <a:rPr lang="en-US" altLang="zh-CN" sz="1600" dirty="0"/>
              <a:t>TCP</a:t>
            </a:r>
            <a:r>
              <a:rPr lang="zh-CN" altLang="en-US" sz="1600" dirty="0"/>
              <a:t>连接。 </a:t>
            </a:r>
          </a:p>
          <a:p>
            <a:pPr lvl="1"/>
            <a:r>
              <a:rPr lang="zh-CN" altLang="en-US" sz="1600" dirty="0"/>
              <a:t>客户端浏览器解析响应报文并显示。客户端浏览器依次解析状态行、响应头部、响应正文并显示。如正文数据为</a:t>
            </a:r>
            <a:r>
              <a:rPr lang="en-US" altLang="zh-CN" sz="1600" dirty="0"/>
              <a:t>HTML</a:t>
            </a:r>
            <a:r>
              <a:rPr lang="zh-CN" altLang="en-US" sz="1600" dirty="0"/>
              <a:t>，客户端根据</a:t>
            </a:r>
            <a:r>
              <a:rPr lang="en-US" altLang="zh-CN" sz="1600" dirty="0"/>
              <a:t>HTML</a:t>
            </a:r>
            <a:r>
              <a:rPr lang="zh-CN" altLang="en-US" sz="1600" dirty="0"/>
              <a:t>的语法对其进行格式化，并在浏览器窗口中显示。</a:t>
            </a:r>
          </a:p>
          <a:p>
            <a:pPr lvl="1"/>
            <a:endParaRPr lang="zh-CN" altLang="en-US" sz="16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latinLnBrk="1"/>
            <a:endParaRPr lang="en-US" altLang="zh-CN" sz="1600" dirty="0"/>
          </a:p>
        </p:txBody>
      </p:sp>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106761" y="4312211"/>
            <a:ext cx="836971" cy="659158"/>
          </a:xfrm>
          <a:prstGeom prst="rect">
            <a:avLst/>
          </a:prstGeom>
        </p:spPr>
      </p:pic>
      <p:pic>
        <p:nvPicPr>
          <p:cNvPr id="9" name="图片 8" descr="笔记本电脑.png"/>
          <p:cNvPicPr>
            <a:picLocks noChangeAspect="1"/>
          </p:cNvPicPr>
          <p:nvPr/>
        </p:nvPicPr>
        <p:blipFill>
          <a:blip r:embed="rId4" cstate="print"/>
          <a:stretch>
            <a:fillRect/>
          </a:stretch>
        </p:blipFill>
        <p:spPr bwMode="gray">
          <a:xfrm>
            <a:off x="4124302" y="4344315"/>
            <a:ext cx="968153" cy="606958"/>
          </a:xfrm>
          <a:prstGeom prst="rect">
            <a:avLst/>
          </a:prstGeom>
        </p:spPr>
      </p:pic>
      <p:cxnSp>
        <p:nvCxnSpPr>
          <p:cNvPr id="12" name="直接箭头连接符 11">
            <a:extLst>
              <a:ext uri="{FF2B5EF4-FFF2-40B4-BE49-F238E27FC236}">
                <a16:creationId xmlns:a16="http://schemas.microsoft.com/office/drawing/2014/main" id="{BA877C97-A666-4A1C-8CE5-234683096791}"/>
              </a:ext>
            </a:extLst>
          </p:cNvPr>
          <p:cNvCxnSpPr>
            <a:cxnSpLocks/>
          </p:cNvCxnSpPr>
          <p:nvPr/>
        </p:nvCxnSpPr>
        <p:spPr bwMode="gray">
          <a:xfrm>
            <a:off x="5214597" y="4565504"/>
            <a:ext cx="1749923" cy="0"/>
          </a:xfrm>
          <a:prstGeom prst="straightConnector1">
            <a:avLst/>
          </a:prstGeom>
          <a:ln w="57150">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bwMode="gray">
          <a:xfrm>
            <a:off x="5545235" y="4962257"/>
            <a:ext cx="1276309" cy="307777"/>
          </a:xfrm>
          <a:prstGeom prst="rect">
            <a:avLst/>
          </a:prstGeom>
          <a:noFill/>
        </p:spPr>
        <p:txBody>
          <a:bodyPr wrap="square" rtlCol="0">
            <a:spAutoFit/>
          </a:bodyPr>
          <a:lstStyle/>
          <a:p>
            <a:r>
              <a:rPr lang="en-US" altLang="zh-CN" sz="1400"/>
              <a:t>HTTP</a:t>
            </a:r>
            <a:r>
              <a:rPr lang="zh-CN" altLang="en-US" sz="1400"/>
              <a:t>响应</a:t>
            </a:r>
          </a:p>
        </p:txBody>
      </p:sp>
      <p:cxnSp>
        <p:nvCxnSpPr>
          <p:cNvPr id="18" name="直接箭头连接符 17">
            <a:extLst>
              <a:ext uri="{FF2B5EF4-FFF2-40B4-BE49-F238E27FC236}">
                <a16:creationId xmlns:a16="http://schemas.microsoft.com/office/drawing/2014/main" id="{BA877C97-A666-4A1C-8CE5-234683096791}"/>
              </a:ext>
            </a:extLst>
          </p:cNvPr>
          <p:cNvCxnSpPr>
            <a:cxnSpLocks/>
          </p:cNvCxnSpPr>
          <p:nvPr/>
        </p:nvCxnSpPr>
        <p:spPr bwMode="gray">
          <a:xfrm flipH="1">
            <a:off x="5214597" y="4896405"/>
            <a:ext cx="1749923" cy="0"/>
          </a:xfrm>
          <a:prstGeom prst="straightConnector1">
            <a:avLst/>
          </a:prstGeom>
          <a:ln w="57150">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bwMode="gray">
          <a:xfrm>
            <a:off x="5545235" y="4198178"/>
            <a:ext cx="1276309" cy="307777"/>
          </a:xfrm>
          <a:prstGeom prst="rect">
            <a:avLst/>
          </a:prstGeom>
          <a:noFill/>
        </p:spPr>
        <p:txBody>
          <a:bodyPr wrap="square" rtlCol="0">
            <a:spAutoFit/>
          </a:bodyPr>
          <a:lstStyle/>
          <a:p>
            <a:r>
              <a:rPr lang="en-US" altLang="zh-CN" sz="1400"/>
              <a:t>HTTP</a:t>
            </a:r>
            <a:r>
              <a:rPr lang="zh-CN" altLang="en-US" sz="1400"/>
              <a:t>请求</a:t>
            </a:r>
          </a:p>
        </p:txBody>
      </p:sp>
      <p:sp>
        <p:nvSpPr>
          <p:cNvPr id="4" name="文本框 3"/>
          <p:cNvSpPr txBox="1"/>
          <p:nvPr/>
        </p:nvSpPr>
        <p:spPr bwMode="gray">
          <a:xfrm>
            <a:off x="4263068" y="5027523"/>
            <a:ext cx="1097829" cy="307777"/>
          </a:xfrm>
          <a:prstGeom prst="rect">
            <a:avLst/>
          </a:prstGeom>
          <a:noFill/>
        </p:spPr>
        <p:txBody>
          <a:bodyPr wrap="square" rtlCol="0">
            <a:spAutoFit/>
          </a:bodyPr>
          <a:lstStyle/>
          <a:p>
            <a:r>
              <a:rPr lang="zh-CN" altLang="en-US" sz="1400" dirty="0"/>
              <a:t>客户端</a:t>
            </a:r>
          </a:p>
        </p:txBody>
      </p:sp>
      <p:sp>
        <p:nvSpPr>
          <p:cNvPr id="13" name="文本框 12">
            <a:extLst>
              <a:ext uri="{FF2B5EF4-FFF2-40B4-BE49-F238E27FC236}">
                <a16:creationId xmlns:a16="http://schemas.microsoft.com/office/drawing/2014/main" id="{4BB50338-4F2F-4CA1-9CF3-9E6DB92F39E5}"/>
              </a:ext>
            </a:extLst>
          </p:cNvPr>
          <p:cNvSpPr txBox="1"/>
          <p:nvPr/>
        </p:nvSpPr>
        <p:spPr bwMode="gray">
          <a:xfrm>
            <a:off x="7146154" y="5022325"/>
            <a:ext cx="818829" cy="307777"/>
          </a:xfrm>
          <a:prstGeom prst="rect">
            <a:avLst/>
          </a:prstGeom>
          <a:noFill/>
        </p:spPr>
        <p:txBody>
          <a:bodyPr wrap="square" rtlCol="0">
            <a:spAutoFit/>
          </a:bodyPr>
          <a:lstStyle/>
          <a:p>
            <a:r>
              <a:rPr lang="zh-CN" altLang="en-US" sz="1400"/>
              <a:t>服务端</a:t>
            </a:r>
            <a:endParaRPr lang="zh-CN" altLang="en-US" sz="1400" dirty="0"/>
          </a:p>
        </p:txBody>
      </p:sp>
    </p:spTree>
    <p:extLst>
      <p:ext uri="{BB962C8B-B14F-4D97-AF65-F5344CB8AC3E}">
        <p14:creationId xmlns:p14="http://schemas.microsoft.com/office/powerpoint/2010/main" val="2678058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HTTP</a:t>
            </a:r>
            <a:r>
              <a:rPr lang="zh-CN" altLang="en-US"/>
              <a:t>特点描述</a:t>
            </a:r>
          </a:p>
        </p:txBody>
      </p:sp>
      <p:sp>
        <p:nvSpPr>
          <p:cNvPr id="6" name="文本占位符 5"/>
          <p:cNvSpPr>
            <a:spLocks noGrp="1"/>
          </p:cNvSpPr>
          <p:nvPr>
            <p:ph type="body" sz="quarter" idx="10"/>
          </p:nvPr>
        </p:nvSpPr>
        <p:spPr bwMode="gray"/>
        <p:txBody>
          <a:bodyPr/>
          <a:lstStyle/>
          <a:p>
            <a:r>
              <a:rPr lang="en-US" altLang="zh-CN" sz="1800" dirty="0"/>
              <a:t>HTTP</a:t>
            </a:r>
            <a:r>
              <a:rPr lang="zh-CN" altLang="en-US" sz="1800" dirty="0"/>
              <a:t>具有如下特点：</a:t>
            </a:r>
          </a:p>
          <a:p>
            <a:pPr lvl="1"/>
            <a:r>
              <a:rPr lang="zh-CN" altLang="en-US" sz="1600" dirty="0"/>
              <a:t>无连接：无连接的含义是限制每次连接只处理一个请求。服务器处理完客户的请求后就断开连接。</a:t>
            </a:r>
          </a:p>
          <a:p>
            <a:pPr lvl="1"/>
            <a:r>
              <a:rPr lang="zh-CN" altLang="en-US" sz="1600" dirty="0"/>
              <a:t>媒体独立：这意味着，只要客户端和服务器知道如何处理的数据内容，任何类型的数据都可以通过</a:t>
            </a:r>
            <a:r>
              <a:rPr lang="en-US" altLang="zh-CN" sz="1600" dirty="0"/>
              <a:t>HTTP</a:t>
            </a:r>
            <a:r>
              <a:rPr lang="zh-CN" altLang="en-US" sz="1600" dirty="0"/>
              <a:t>发送。客户端以及服务器通过头部字段指定适合的</a:t>
            </a:r>
            <a:r>
              <a:rPr lang="en-US" altLang="zh-CN" sz="1600" dirty="0"/>
              <a:t>MIME Type</a:t>
            </a:r>
            <a:r>
              <a:rPr lang="zh-CN" altLang="en-US" sz="1600" dirty="0"/>
              <a:t>内容类型。</a:t>
            </a:r>
          </a:p>
          <a:p>
            <a:pPr lvl="1"/>
            <a:r>
              <a:rPr lang="zh-CN" altLang="en-US" sz="1600" dirty="0"/>
              <a:t>无状态：无状态是指协议对于事务处理没有记忆能力，这样做利于更快地处理大量事务，确保协议的可伸缩性。</a:t>
            </a:r>
          </a:p>
          <a:p>
            <a:endParaRPr lang="zh-CN" altLang="en-US" sz="1800" dirty="0"/>
          </a:p>
        </p:txBody>
      </p:sp>
      <p:sp>
        <p:nvSpPr>
          <p:cNvPr id="3" name="内容占位符 2"/>
          <p:cNvSpPr txBox="1">
            <a:spLocks/>
          </p:cNvSpPr>
          <p:nvPr/>
        </p:nvSpPr>
        <p:spPr bwMode="gray">
          <a:xfrm>
            <a:off x="468316" y="1233487"/>
            <a:ext cx="11276184" cy="2794503"/>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latinLnBrk="1"/>
            <a:endParaRPr lang="zh-CN" altLang="en-US" sz="1600" dirty="0"/>
          </a:p>
        </p:txBody>
      </p:sp>
      <p:pic>
        <p:nvPicPr>
          <p:cNvPr id="13" name="图片 1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487920" y="4419506"/>
            <a:ext cx="836971" cy="659158"/>
          </a:xfrm>
          <a:prstGeom prst="rect">
            <a:avLst/>
          </a:prstGeom>
        </p:spPr>
      </p:pic>
      <p:pic>
        <p:nvPicPr>
          <p:cNvPr id="14" name="图片 13" descr="笔记本电脑.png"/>
          <p:cNvPicPr>
            <a:picLocks noChangeAspect="1"/>
          </p:cNvPicPr>
          <p:nvPr/>
        </p:nvPicPr>
        <p:blipFill>
          <a:blip r:embed="rId4" cstate="print"/>
          <a:stretch>
            <a:fillRect/>
          </a:stretch>
        </p:blipFill>
        <p:spPr bwMode="gray">
          <a:xfrm>
            <a:off x="4295393" y="4451610"/>
            <a:ext cx="968153" cy="606958"/>
          </a:xfrm>
          <a:prstGeom prst="rect">
            <a:avLst/>
          </a:prstGeom>
        </p:spPr>
      </p:pic>
      <p:cxnSp>
        <p:nvCxnSpPr>
          <p:cNvPr id="16" name="直接箭头连接符 15">
            <a:extLst>
              <a:ext uri="{FF2B5EF4-FFF2-40B4-BE49-F238E27FC236}">
                <a16:creationId xmlns:a16="http://schemas.microsoft.com/office/drawing/2014/main" id="{BA877C97-A666-4A1C-8CE5-234683096791}"/>
              </a:ext>
            </a:extLst>
          </p:cNvPr>
          <p:cNvCxnSpPr>
            <a:cxnSpLocks/>
          </p:cNvCxnSpPr>
          <p:nvPr/>
        </p:nvCxnSpPr>
        <p:spPr bwMode="gray">
          <a:xfrm>
            <a:off x="5435115" y="4705456"/>
            <a:ext cx="1749923" cy="0"/>
          </a:xfrm>
          <a:prstGeom prst="straightConnector1">
            <a:avLst/>
          </a:prstGeom>
          <a:ln w="57150">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A877C97-A666-4A1C-8CE5-234683096791}"/>
              </a:ext>
            </a:extLst>
          </p:cNvPr>
          <p:cNvCxnSpPr>
            <a:cxnSpLocks/>
          </p:cNvCxnSpPr>
          <p:nvPr/>
        </p:nvCxnSpPr>
        <p:spPr bwMode="gray">
          <a:xfrm flipH="1">
            <a:off x="5435116" y="4960157"/>
            <a:ext cx="1749923" cy="0"/>
          </a:xfrm>
          <a:prstGeom prst="straightConnector1">
            <a:avLst/>
          </a:prstGeom>
          <a:ln w="57150">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bwMode="gray">
          <a:xfrm>
            <a:off x="4434159" y="5146923"/>
            <a:ext cx="1097829" cy="307777"/>
          </a:xfrm>
          <a:prstGeom prst="rect">
            <a:avLst/>
          </a:prstGeom>
          <a:noFill/>
        </p:spPr>
        <p:txBody>
          <a:bodyPr wrap="square" rtlCol="0">
            <a:spAutoFit/>
          </a:bodyPr>
          <a:lstStyle/>
          <a:p>
            <a:r>
              <a:rPr lang="zh-CN" altLang="en-US" sz="1400" dirty="0"/>
              <a:t>客户端</a:t>
            </a:r>
          </a:p>
        </p:txBody>
      </p:sp>
      <p:sp>
        <p:nvSpPr>
          <p:cNvPr id="21" name="文本框 20">
            <a:extLst>
              <a:ext uri="{FF2B5EF4-FFF2-40B4-BE49-F238E27FC236}">
                <a16:creationId xmlns:a16="http://schemas.microsoft.com/office/drawing/2014/main" id="{4BB50338-4F2F-4CA1-9CF3-9E6DB92F39E5}"/>
              </a:ext>
            </a:extLst>
          </p:cNvPr>
          <p:cNvSpPr txBox="1"/>
          <p:nvPr/>
        </p:nvSpPr>
        <p:spPr bwMode="gray">
          <a:xfrm>
            <a:off x="7527834" y="5158126"/>
            <a:ext cx="818829" cy="307777"/>
          </a:xfrm>
          <a:prstGeom prst="rect">
            <a:avLst/>
          </a:prstGeom>
          <a:noFill/>
        </p:spPr>
        <p:txBody>
          <a:bodyPr wrap="square" rtlCol="0">
            <a:spAutoFit/>
          </a:bodyPr>
          <a:lstStyle/>
          <a:p>
            <a:r>
              <a:rPr lang="zh-CN" altLang="en-US" sz="1400"/>
              <a:t>服务端</a:t>
            </a:r>
            <a:endParaRPr lang="zh-CN" altLang="en-US" sz="1400" dirty="0"/>
          </a:p>
        </p:txBody>
      </p:sp>
      <p:sp>
        <p:nvSpPr>
          <p:cNvPr id="22" name="圆角矩形 21"/>
          <p:cNvSpPr/>
          <p:nvPr/>
        </p:nvSpPr>
        <p:spPr bwMode="gray">
          <a:xfrm>
            <a:off x="4729458" y="3726332"/>
            <a:ext cx="1012268" cy="360000"/>
          </a:xfrm>
          <a:prstGeom prst="roundRect">
            <a:avLst>
              <a:gd name="adj" fmla="val 15000"/>
            </a:avLst>
          </a:prstGeom>
          <a:solidFill>
            <a:srgbClr val="30B5C5"/>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无连接</a:t>
            </a:r>
            <a:endParaRPr lang="zh-CN" altLang="en-US" sz="16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22"/>
          <p:cNvSpPr/>
          <p:nvPr/>
        </p:nvSpPr>
        <p:spPr bwMode="gray">
          <a:xfrm>
            <a:off x="5917330" y="3726332"/>
            <a:ext cx="1012268" cy="360000"/>
          </a:xfrm>
          <a:prstGeom prst="roundRect">
            <a:avLst>
              <a:gd name="adj" fmla="val 15000"/>
            </a:avLst>
          </a:prstGeom>
          <a:solidFill>
            <a:srgbClr val="30B5C5"/>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媒体独立</a:t>
            </a:r>
            <a:endParaRPr lang="zh-CN" altLang="en-US" sz="16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7161796" y="3726332"/>
            <a:ext cx="1012268" cy="360000"/>
          </a:xfrm>
          <a:prstGeom prst="roundRect">
            <a:avLst>
              <a:gd name="adj" fmla="val 15000"/>
            </a:avLst>
          </a:prstGeom>
          <a:solidFill>
            <a:srgbClr val="30B5C5"/>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无状态</a:t>
            </a:r>
            <a:endParaRPr lang="zh-CN" altLang="en-US" sz="16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5754083" y="4353054"/>
            <a:ext cx="1633866" cy="307777"/>
          </a:xfrm>
          <a:prstGeom prst="rect">
            <a:avLst/>
          </a:prstGeom>
          <a:noFill/>
        </p:spPr>
        <p:txBody>
          <a:bodyPr wrap="square" rtlCol="0">
            <a:spAutoFit/>
          </a:bodyPr>
          <a:lstStyle/>
          <a:p>
            <a:r>
              <a:rPr lang="en-US" altLang="zh-CN" sz="1400"/>
              <a:t>HTTP</a:t>
            </a:r>
            <a:r>
              <a:rPr lang="zh-CN" altLang="en-US" sz="1400"/>
              <a:t>请求</a:t>
            </a:r>
          </a:p>
        </p:txBody>
      </p:sp>
      <p:sp>
        <p:nvSpPr>
          <p:cNvPr id="15" name="文本框 14"/>
          <p:cNvSpPr txBox="1"/>
          <p:nvPr/>
        </p:nvSpPr>
        <p:spPr bwMode="gray">
          <a:xfrm>
            <a:off x="5767489" y="5018158"/>
            <a:ext cx="1633866" cy="307777"/>
          </a:xfrm>
          <a:prstGeom prst="rect">
            <a:avLst/>
          </a:prstGeom>
          <a:noFill/>
        </p:spPr>
        <p:txBody>
          <a:bodyPr wrap="square" rtlCol="0">
            <a:spAutoFit/>
          </a:bodyPr>
          <a:lstStyle/>
          <a:p>
            <a:r>
              <a:rPr lang="en-US" altLang="zh-CN" sz="1400"/>
              <a:t>HTTP</a:t>
            </a:r>
            <a:r>
              <a:rPr lang="zh-CN" altLang="en-US" sz="1400"/>
              <a:t>响应</a:t>
            </a:r>
          </a:p>
        </p:txBody>
      </p:sp>
    </p:spTree>
    <p:extLst>
      <p:ext uri="{BB962C8B-B14F-4D97-AF65-F5344CB8AC3E}">
        <p14:creationId xmlns:p14="http://schemas.microsoft.com/office/powerpoint/2010/main" val="22621183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SDN</a:t>
            </a:r>
            <a:r>
              <a:rPr lang="zh-CN" altLang="en-US" dirty="0">
                <a:solidFill>
                  <a:schemeClr val="bg1">
                    <a:lumMod val="50000"/>
                  </a:schemeClr>
                </a:solidFill>
              </a:rPr>
              <a:t>概述</a:t>
            </a:r>
          </a:p>
          <a:p>
            <a:r>
              <a:rPr lang="en-US" altLang="zh-CN" dirty="0">
                <a:solidFill>
                  <a:schemeClr val="bg1">
                    <a:lumMod val="50000"/>
                  </a:schemeClr>
                </a:solidFill>
                <a:sym typeface="Huawei Sans" panose="020C0503030203020204" pitchFamily="34" charset="0"/>
              </a:rPr>
              <a:t>REST</a:t>
            </a:r>
            <a:r>
              <a:rPr lang="zh-CN" altLang="en-US" dirty="0">
                <a:solidFill>
                  <a:schemeClr val="bg1">
                    <a:lumMod val="50000"/>
                  </a:schemeClr>
                </a:solidFill>
                <a:sym typeface="Huawei Sans" panose="020C0503030203020204" pitchFamily="34" charset="0"/>
              </a:rPr>
              <a:t>和</a:t>
            </a:r>
            <a:r>
              <a:rPr lang="en-US" altLang="zh-CN" dirty="0">
                <a:solidFill>
                  <a:schemeClr val="bg1">
                    <a:lumMod val="50000"/>
                  </a:schemeClr>
                </a:solidFill>
                <a:sym typeface="Huawei Sans" panose="020C0503030203020204" pitchFamily="34" charset="0"/>
              </a:rPr>
              <a:t>RESTful</a:t>
            </a:r>
          </a:p>
          <a:p>
            <a:r>
              <a:rPr lang="en-US" altLang="zh-CN" b="1" dirty="0">
                <a:sym typeface="Huawei Sans" panose="020C0503030203020204" pitchFamily="34" charset="0"/>
              </a:rPr>
              <a:t>HTTP</a:t>
            </a:r>
            <a:r>
              <a:rPr lang="zh-CN" altLang="en-US" b="1" dirty="0">
                <a:sym typeface="Huawei Sans" panose="020C0503030203020204" pitchFamily="34" charset="0"/>
              </a:rPr>
              <a:t>工作原理</a:t>
            </a:r>
            <a:endParaRPr lang="en-US" altLang="zh-CN" b="1" dirty="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HTTP</a:t>
            </a:r>
            <a:r>
              <a:rPr lang="zh-CN" altLang="en-US" dirty="0">
                <a:solidFill>
                  <a:schemeClr val="bg1">
                    <a:lumMod val="50000"/>
                  </a:schemeClr>
                </a:solidFill>
                <a:sym typeface="Huawei Sans" panose="020C0503030203020204" pitchFamily="34" charset="0"/>
              </a:rPr>
              <a:t>简介</a:t>
            </a:r>
          </a:p>
          <a:p>
            <a:pPr lvl="1">
              <a:buSzPct val="60000"/>
              <a:buFont typeface="Wingdings" panose="05000000000000000000" pitchFamily="2" charset="2"/>
              <a:buChar char="n"/>
            </a:pPr>
            <a:r>
              <a:rPr lang="en-US" altLang="zh-CN" dirty="0">
                <a:sym typeface="Huawei Sans" panose="020C0503030203020204" pitchFamily="34" charset="0"/>
              </a:rPr>
              <a:t>HTTP/1.1</a:t>
            </a:r>
            <a:r>
              <a:rPr lang="zh-CN" altLang="en-US" dirty="0">
                <a:sym typeface="Huawei Sans" panose="020C0503030203020204" pitchFamily="34" charset="0"/>
              </a:rPr>
              <a:t>报文</a:t>
            </a:r>
          </a:p>
          <a:p>
            <a:pPr lvl="1"/>
            <a:r>
              <a:rPr lang="en-US" altLang="zh-CN" dirty="0">
                <a:solidFill>
                  <a:schemeClr val="bg1">
                    <a:lumMod val="50000"/>
                  </a:schemeClr>
                </a:solidFill>
                <a:sym typeface="Huawei Sans" panose="020C0503030203020204" pitchFamily="34" charset="0"/>
              </a:rPr>
              <a:t>HTTPS</a:t>
            </a:r>
            <a:r>
              <a:rPr lang="zh-CN" altLang="en-US" dirty="0">
                <a:solidFill>
                  <a:schemeClr val="bg1">
                    <a:lumMod val="50000"/>
                  </a:schemeClr>
                </a:solidFill>
                <a:sym typeface="Huawei Sans" panose="020C0503030203020204" pitchFamily="34" charset="0"/>
              </a:rPr>
              <a:t>和</a:t>
            </a:r>
            <a:r>
              <a:rPr lang="en-US" altLang="zh-CN" dirty="0">
                <a:solidFill>
                  <a:schemeClr val="bg1">
                    <a:lumMod val="50000"/>
                  </a:schemeClr>
                </a:solidFill>
                <a:sym typeface="Huawei Sans" panose="020C0503030203020204" pitchFamily="34" charset="0"/>
              </a:rPr>
              <a:t>HTTP/2</a:t>
            </a:r>
          </a:p>
          <a:p>
            <a:r>
              <a:rPr lang="en-US" altLang="zh-CN" dirty="0">
                <a:solidFill>
                  <a:schemeClr val="bg1">
                    <a:lumMod val="50000"/>
                  </a:schemeClr>
                </a:solidFill>
                <a:sym typeface="Huawei Sans" panose="020C0503030203020204" pitchFamily="34" charset="0"/>
              </a:rPr>
              <a:t>RESTful</a:t>
            </a:r>
            <a:r>
              <a:rPr lang="zh-CN" altLang="en-US" dirty="0">
                <a:solidFill>
                  <a:schemeClr val="bg1">
                    <a:lumMod val="50000"/>
                  </a:schemeClr>
                </a:solidFill>
                <a:sym typeface="Huawei Sans" panose="020C0503030203020204" pitchFamily="34" charset="0"/>
              </a:rPr>
              <a:t>接口调用实践</a:t>
            </a:r>
            <a:endParaRPr lang="en-US" altLang="zh-CN" dirty="0">
              <a:solidFill>
                <a:schemeClr val="bg1">
                  <a:lumMod val="50000"/>
                </a:schemeClr>
              </a:solidFill>
              <a:sym typeface="Huawei Sans" panose="020C0503030203020204" pitchFamily="34" charset="0"/>
            </a:endParaRPr>
          </a:p>
          <a:p>
            <a:endParaRPr lang="zh-CN" altLang="en-US" dirty="0"/>
          </a:p>
        </p:txBody>
      </p:sp>
    </p:spTree>
    <p:extLst>
      <p:ext uri="{BB962C8B-B14F-4D97-AF65-F5344CB8AC3E}">
        <p14:creationId xmlns:p14="http://schemas.microsoft.com/office/powerpoint/2010/main" val="2123315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t>客户端请求消息</a:t>
            </a:r>
          </a:p>
        </p:txBody>
      </p:sp>
      <p:sp>
        <p:nvSpPr>
          <p:cNvPr id="19" name="文本占位符 18"/>
          <p:cNvSpPr>
            <a:spLocks noGrp="1"/>
          </p:cNvSpPr>
          <p:nvPr>
            <p:ph type="body" sz="quarter" idx="10"/>
          </p:nvPr>
        </p:nvSpPr>
        <p:spPr bwMode="gray"/>
        <p:txBody>
          <a:bodyPr/>
          <a:lstStyle/>
          <a:p>
            <a:r>
              <a:rPr lang="zh-CN" altLang="en-US" sz="1800" dirty="0"/>
              <a:t>客户端发送的</a:t>
            </a:r>
            <a:r>
              <a:rPr lang="en-US" altLang="zh-CN" sz="1800" dirty="0"/>
              <a:t>HTTP</a:t>
            </a:r>
            <a:r>
              <a:rPr lang="zh-CN" altLang="en-US" sz="1800" dirty="0"/>
              <a:t>请求消息包括由请求行、请求头部、空行和请求数据四个部分组成，下图给出了请求报文的一般格式。</a:t>
            </a:r>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latinLnBrk="1"/>
            <a:endParaRPr lang="zh-CN" altLang="en-US" sz="1800" dirty="0"/>
          </a:p>
        </p:txBody>
      </p:sp>
      <p:sp>
        <p:nvSpPr>
          <p:cNvPr id="5" name="矩形 4">
            <a:extLst>
              <a:ext uri="{FF2B5EF4-FFF2-40B4-BE49-F238E27FC236}">
                <a16:creationId xmlns:a16="http://schemas.microsoft.com/office/drawing/2014/main" id="{ED1FF46C-3174-448F-9ADD-33C5AECA1FDF}"/>
              </a:ext>
            </a:extLst>
          </p:cNvPr>
          <p:cNvSpPr/>
          <p:nvPr/>
        </p:nvSpPr>
        <p:spPr bwMode="gray">
          <a:xfrm>
            <a:off x="3412625" y="2355358"/>
            <a:ext cx="1065048"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请求方法</a:t>
            </a:r>
          </a:p>
        </p:txBody>
      </p:sp>
      <p:sp>
        <p:nvSpPr>
          <p:cNvPr id="6" name="矩形 5">
            <a:extLst>
              <a:ext uri="{FF2B5EF4-FFF2-40B4-BE49-F238E27FC236}">
                <a16:creationId xmlns:a16="http://schemas.microsoft.com/office/drawing/2014/main" id="{E8A2D369-73BF-4B1F-AF0A-AF36A42A352A}"/>
              </a:ext>
            </a:extLst>
          </p:cNvPr>
          <p:cNvSpPr/>
          <p:nvPr/>
        </p:nvSpPr>
        <p:spPr bwMode="gray">
          <a:xfrm>
            <a:off x="5112667" y="2355358"/>
            <a:ext cx="1070903"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solidFill>
                  <a:schemeClr val="tx1"/>
                </a:solidFill>
              </a:rPr>
              <a:t>URI</a:t>
            </a:r>
            <a:endParaRPr lang="zh-CN" altLang="en-US" sz="1500">
              <a:solidFill>
                <a:schemeClr val="tx1"/>
              </a:solidFill>
            </a:endParaRPr>
          </a:p>
        </p:txBody>
      </p:sp>
      <p:sp>
        <p:nvSpPr>
          <p:cNvPr id="7" name="矩形 6">
            <a:extLst>
              <a:ext uri="{FF2B5EF4-FFF2-40B4-BE49-F238E27FC236}">
                <a16:creationId xmlns:a16="http://schemas.microsoft.com/office/drawing/2014/main" id="{FE4A73F8-F45F-4216-B6C8-7B97955278AC}"/>
              </a:ext>
            </a:extLst>
          </p:cNvPr>
          <p:cNvSpPr/>
          <p:nvPr/>
        </p:nvSpPr>
        <p:spPr bwMode="gray">
          <a:xfrm>
            <a:off x="6828096" y="2355357"/>
            <a:ext cx="1381846"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协议版本</a:t>
            </a:r>
          </a:p>
        </p:txBody>
      </p:sp>
      <p:sp>
        <p:nvSpPr>
          <p:cNvPr id="9" name="矩形 8">
            <a:extLst>
              <a:ext uri="{FF2B5EF4-FFF2-40B4-BE49-F238E27FC236}">
                <a16:creationId xmlns:a16="http://schemas.microsoft.com/office/drawing/2014/main" id="{3F04E949-4CCC-4846-8B15-6F183B7861C1}"/>
              </a:ext>
            </a:extLst>
          </p:cNvPr>
          <p:cNvSpPr/>
          <p:nvPr/>
        </p:nvSpPr>
        <p:spPr bwMode="gray">
          <a:xfrm>
            <a:off x="3411679" y="4130562"/>
            <a:ext cx="5080901"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数据</a:t>
            </a:r>
          </a:p>
        </p:txBody>
      </p:sp>
      <p:sp>
        <p:nvSpPr>
          <p:cNvPr id="10" name="矩形 9">
            <a:extLst>
              <a:ext uri="{FF2B5EF4-FFF2-40B4-BE49-F238E27FC236}">
                <a16:creationId xmlns:a16="http://schemas.microsoft.com/office/drawing/2014/main" id="{ED1FF46C-3174-448F-9ADD-33C5AECA1FDF}"/>
              </a:ext>
            </a:extLst>
          </p:cNvPr>
          <p:cNvSpPr/>
          <p:nvPr/>
        </p:nvSpPr>
        <p:spPr bwMode="gray">
          <a:xfrm>
            <a:off x="4477194" y="2355358"/>
            <a:ext cx="671367"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空格</a:t>
            </a:r>
          </a:p>
        </p:txBody>
      </p:sp>
      <p:sp>
        <p:nvSpPr>
          <p:cNvPr id="11" name="矩形 10">
            <a:extLst>
              <a:ext uri="{FF2B5EF4-FFF2-40B4-BE49-F238E27FC236}">
                <a16:creationId xmlns:a16="http://schemas.microsoft.com/office/drawing/2014/main" id="{ED1FF46C-3174-448F-9ADD-33C5AECA1FDF}"/>
              </a:ext>
            </a:extLst>
          </p:cNvPr>
          <p:cNvSpPr/>
          <p:nvPr/>
        </p:nvSpPr>
        <p:spPr bwMode="gray">
          <a:xfrm>
            <a:off x="6156729" y="2355358"/>
            <a:ext cx="671367"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空格</a:t>
            </a:r>
          </a:p>
        </p:txBody>
      </p:sp>
      <p:sp>
        <p:nvSpPr>
          <p:cNvPr id="12" name="矩形 11">
            <a:extLst>
              <a:ext uri="{FF2B5EF4-FFF2-40B4-BE49-F238E27FC236}">
                <a16:creationId xmlns:a16="http://schemas.microsoft.com/office/drawing/2014/main" id="{ED1FF46C-3174-448F-9ADD-33C5AECA1FDF}"/>
              </a:ext>
            </a:extLst>
          </p:cNvPr>
          <p:cNvSpPr/>
          <p:nvPr/>
        </p:nvSpPr>
        <p:spPr bwMode="gray">
          <a:xfrm>
            <a:off x="3411679" y="3768255"/>
            <a:ext cx="785829"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14" name="矩形 13">
            <a:extLst>
              <a:ext uri="{FF2B5EF4-FFF2-40B4-BE49-F238E27FC236}">
                <a16:creationId xmlns:a16="http://schemas.microsoft.com/office/drawing/2014/main" id="{ED1FF46C-3174-448F-9ADD-33C5AECA1FDF}"/>
              </a:ext>
            </a:extLst>
          </p:cNvPr>
          <p:cNvSpPr/>
          <p:nvPr/>
        </p:nvSpPr>
        <p:spPr bwMode="gray">
          <a:xfrm>
            <a:off x="4197508" y="3768255"/>
            <a:ext cx="784884"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sp>
        <p:nvSpPr>
          <p:cNvPr id="8" name="矩形 7">
            <a:extLst>
              <a:ext uri="{FF2B5EF4-FFF2-40B4-BE49-F238E27FC236}">
                <a16:creationId xmlns:a16="http://schemas.microsoft.com/office/drawing/2014/main" id="{DE3F0C5F-22A9-4922-B2C2-C3EB12DD441E}"/>
              </a:ext>
            </a:extLst>
          </p:cNvPr>
          <p:cNvSpPr/>
          <p:nvPr/>
        </p:nvSpPr>
        <p:spPr bwMode="gray">
          <a:xfrm>
            <a:off x="3411680" y="2702156"/>
            <a:ext cx="3516163" cy="370533"/>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dirty="0">
                <a:solidFill>
                  <a:schemeClr val="tx1"/>
                </a:solidFill>
              </a:rPr>
              <a:t>头部字段名：值</a:t>
            </a:r>
            <a:endParaRPr lang="en-US" altLang="zh-CN" sz="1500" dirty="0">
              <a:solidFill>
                <a:schemeClr val="tx1"/>
              </a:solidFill>
            </a:endParaRPr>
          </a:p>
        </p:txBody>
      </p:sp>
      <p:sp>
        <p:nvSpPr>
          <p:cNvPr id="15" name="矩形 14">
            <a:extLst>
              <a:ext uri="{FF2B5EF4-FFF2-40B4-BE49-F238E27FC236}">
                <a16:creationId xmlns:a16="http://schemas.microsoft.com/office/drawing/2014/main" id="{ED1FF46C-3174-448F-9ADD-33C5AECA1FDF}"/>
              </a:ext>
            </a:extLst>
          </p:cNvPr>
          <p:cNvSpPr/>
          <p:nvPr/>
        </p:nvSpPr>
        <p:spPr bwMode="gray">
          <a:xfrm>
            <a:off x="6916957" y="2702156"/>
            <a:ext cx="784884" cy="370535"/>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16" name="矩形 15">
            <a:extLst>
              <a:ext uri="{FF2B5EF4-FFF2-40B4-BE49-F238E27FC236}">
                <a16:creationId xmlns:a16="http://schemas.microsoft.com/office/drawing/2014/main" id="{ED1FF46C-3174-448F-9ADD-33C5AECA1FDF}"/>
              </a:ext>
            </a:extLst>
          </p:cNvPr>
          <p:cNvSpPr/>
          <p:nvPr/>
        </p:nvSpPr>
        <p:spPr bwMode="gray">
          <a:xfrm>
            <a:off x="7701841" y="2702156"/>
            <a:ext cx="794932" cy="370535"/>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sp>
        <p:nvSpPr>
          <p:cNvPr id="17" name="矩形 16">
            <a:extLst>
              <a:ext uri="{FF2B5EF4-FFF2-40B4-BE49-F238E27FC236}">
                <a16:creationId xmlns:a16="http://schemas.microsoft.com/office/drawing/2014/main" id="{DE3F0C5F-22A9-4922-B2C2-C3EB12DD441E}"/>
              </a:ext>
            </a:extLst>
          </p:cNvPr>
          <p:cNvSpPr/>
          <p:nvPr/>
        </p:nvSpPr>
        <p:spPr bwMode="gray">
          <a:xfrm>
            <a:off x="3411680" y="3068800"/>
            <a:ext cx="5085093" cy="357295"/>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solidFill>
                  <a:schemeClr val="tx1"/>
                </a:solidFill>
              </a:rPr>
              <a:t>…</a:t>
            </a:r>
          </a:p>
        </p:txBody>
      </p:sp>
      <p:sp>
        <p:nvSpPr>
          <p:cNvPr id="23" name="矩形 22">
            <a:extLst>
              <a:ext uri="{FF2B5EF4-FFF2-40B4-BE49-F238E27FC236}">
                <a16:creationId xmlns:a16="http://schemas.microsoft.com/office/drawing/2014/main" id="{DE3F0C5F-22A9-4922-B2C2-C3EB12DD441E}"/>
              </a:ext>
            </a:extLst>
          </p:cNvPr>
          <p:cNvSpPr/>
          <p:nvPr/>
        </p:nvSpPr>
        <p:spPr bwMode="gray">
          <a:xfrm>
            <a:off x="3411680" y="3421915"/>
            <a:ext cx="3521074" cy="349439"/>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a:solidFill>
                  <a:schemeClr val="tx1"/>
                </a:solidFill>
              </a:rPr>
              <a:t>头部字段名：值</a:t>
            </a:r>
            <a:endParaRPr lang="en-US" altLang="zh-CN" sz="1500">
              <a:solidFill>
                <a:schemeClr val="tx1"/>
              </a:solidFill>
            </a:endParaRPr>
          </a:p>
        </p:txBody>
      </p:sp>
      <p:sp>
        <p:nvSpPr>
          <p:cNvPr id="24" name="矩形 23">
            <a:extLst>
              <a:ext uri="{FF2B5EF4-FFF2-40B4-BE49-F238E27FC236}">
                <a16:creationId xmlns:a16="http://schemas.microsoft.com/office/drawing/2014/main" id="{ED1FF46C-3174-448F-9ADD-33C5AECA1FDF}"/>
              </a:ext>
            </a:extLst>
          </p:cNvPr>
          <p:cNvSpPr/>
          <p:nvPr/>
        </p:nvSpPr>
        <p:spPr bwMode="gray">
          <a:xfrm>
            <a:off x="6921868" y="3426084"/>
            <a:ext cx="784884" cy="34527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25" name="矩形 24">
            <a:extLst>
              <a:ext uri="{FF2B5EF4-FFF2-40B4-BE49-F238E27FC236}">
                <a16:creationId xmlns:a16="http://schemas.microsoft.com/office/drawing/2014/main" id="{ED1FF46C-3174-448F-9ADD-33C5AECA1FDF}"/>
              </a:ext>
            </a:extLst>
          </p:cNvPr>
          <p:cNvSpPr/>
          <p:nvPr/>
        </p:nvSpPr>
        <p:spPr bwMode="gray">
          <a:xfrm>
            <a:off x="7706751" y="3426084"/>
            <a:ext cx="790021" cy="34527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sp>
        <p:nvSpPr>
          <p:cNvPr id="28" name="矩形 27">
            <a:extLst>
              <a:ext uri="{FF2B5EF4-FFF2-40B4-BE49-F238E27FC236}">
                <a16:creationId xmlns:a16="http://schemas.microsoft.com/office/drawing/2014/main" id="{ED1FF46C-3174-448F-9ADD-33C5AECA1FDF}"/>
              </a:ext>
            </a:extLst>
          </p:cNvPr>
          <p:cNvSpPr/>
          <p:nvPr/>
        </p:nvSpPr>
        <p:spPr bwMode="gray">
          <a:xfrm>
            <a:off x="8199056" y="2355356"/>
            <a:ext cx="784884" cy="34680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29" name="矩形 28">
            <a:extLst>
              <a:ext uri="{FF2B5EF4-FFF2-40B4-BE49-F238E27FC236}">
                <a16:creationId xmlns:a16="http://schemas.microsoft.com/office/drawing/2014/main" id="{ED1FF46C-3174-448F-9ADD-33C5AECA1FDF}"/>
              </a:ext>
            </a:extLst>
          </p:cNvPr>
          <p:cNvSpPr/>
          <p:nvPr/>
        </p:nvSpPr>
        <p:spPr bwMode="gray">
          <a:xfrm>
            <a:off x="8983940" y="2355356"/>
            <a:ext cx="784884" cy="349156"/>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换行符</a:t>
            </a:r>
          </a:p>
        </p:txBody>
      </p:sp>
      <p:sp>
        <p:nvSpPr>
          <p:cNvPr id="30" name="AutoShape 35"/>
          <p:cNvSpPr>
            <a:spLocks/>
          </p:cNvSpPr>
          <p:nvPr/>
        </p:nvSpPr>
        <p:spPr bwMode="gray">
          <a:xfrm>
            <a:off x="3203335" y="2875606"/>
            <a:ext cx="208344" cy="838687"/>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200">
              <a:latin typeface="+mn-ea"/>
              <a:ea typeface="+mn-ea"/>
            </a:endParaRPr>
          </a:p>
        </p:txBody>
      </p:sp>
      <p:sp>
        <p:nvSpPr>
          <p:cNvPr id="35" name="AutoShape 35"/>
          <p:cNvSpPr>
            <a:spLocks/>
          </p:cNvSpPr>
          <p:nvPr/>
        </p:nvSpPr>
        <p:spPr bwMode="gray">
          <a:xfrm>
            <a:off x="3197628" y="4189096"/>
            <a:ext cx="219757" cy="260961"/>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200">
              <a:latin typeface="+mn-ea"/>
              <a:ea typeface="+mn-ea"/>
            </a:endParaRPr>
          </a:p>
        </p:txBody>
      </p:sp>
      <p:sp>
        <p:nvSpPr>
          <p:cNvPr id="38" name="AutoShape 35"/>
          <p:cNvSpPr>
            <a:spLocks/>
          </p:cNvSpPr>
          <p:nvPr/>
        </p:nvSpPr>
        <p:spPr bwMode="gray">
          <a:xfrm>
            <a:off x="3187820" y="3822014"/>
            <a:ext cx="219757" cy="260961"/>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200">
              <a:latin typeface="+mn-ea"/>
              <a:ea typeface="+mn-ea"/>
            </a:endParaRPr>
          </a:p>
        </p:txBody>
      </p:sp>
      <p:sp>
        <p:nvSpPr>
          <p:cNvPr id="40" name="AutoShape 35"/>
          <p:cNvSpPr>
            <a:spLocks/>
          </p:cNvSpPr>
          <p:nvPr/>
        </p:nvSpPr>
        <p:spPr bwMode="gray">
          <a:xfrm>
            <a:off x="3197628" y="2400650"/>
            <a:ext cx="219757" cy="260961"/>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200">
              <a:latin typeface="+mn-ea"/>
              <a:ea typeface="+mn-ea"/>
            </a:endParaRPr>
          </a:p>
        </p:txBody>
      </p:sp>
      <p:grpSp>
        <p:nvGrpSpPr>
          <p:cNvPr id="36" name="组合 35"/>
          <p:cNvGrpSpPr/>
          <p:nvPr/>
        </p:nvGrpSpPr>
        <p:grpSpPr bwMode="gray">
          <a:xfrm>
            <a:off x="1993714" y="2400650"/>
            <a:ext cx="1082282" cy="2152814"/>
            <a:chOff x="1161566" y="1594234"/>
            <a:chExt cx="1082282" cy="2152814"/>
          </a:xfrm>
        </p:grpSpPr>
        <p:sp>
          <p:nvSpPr>
            <p:cNvPr id="41" name="文本框 40"/>
            <p:cNvSpPr txBox="1"/>
            <p:nvPr/>
          </p:nvSpPr>
          <p:spPr bwMode="gray">
            <a:xfrm>
              <a:off x="1162207" y="2386136"/>
              <a:ext cx="1067003" cy="323165"/>
            </a:xfrm>
            <a:prstGeom prst="rect">
              <a:avLst/>
            </a:prstGeom>
            <a:solidFill>
              <a:srgbClr val="56C4D2"/>
            </a:solidFill>
          </p:spPr>
          <p:txBody>
            <a:bodyPr wrap="square" rtlCol="0">
              <a:spAutoFit/>
            </a:bodyPr>
            <a:lstStyle/>
            <a:p>
              <a:pPr algn="ctr"/>
              <a:r>
                <a:rPr lang="zh-CN" altLang="en-US" sz="1500" b="1">
                  <a:solidFill>
                    <a:schemeClr val="bg1"/>
                  </a:solidFill>
                </a:rPr>
                <a:t>请求头部</a:t>
              </a:r>
            </a:p>
          </p:txBody>
        </p:sp>
        <p:sp>
          <p:nvSpPr>
            <p:cNvPr id="42" name="文本框 41"/>
            <p:cNvSpPr txBox="1"/>
            <p:nvPr/>
          </p:nvSpPr>
          <p:spPr bwMode="gray">
            <a:xfrm>
              <a:off x="1161566" y="3423883"/>
              <a:ext cx="1082282" cy="323165"/>
            </a:xfrm>
            <a:prstGeom prst="rect">
              <a:avLst/>
            </a:prstGeom>
            <a:solidFill>
              <a:srgbClr val="56C4D2"/>
            </a:solidFill>
          </p:spPr>
          <p:txBody>
            <a:bodyPr wrap="square" rtlCol="0">
              <a:spAutoFit/>
            </a:bodyPr>
            <a:lstStyle/>
            <a:p>
              <a:pPr algn="ctr"/>
              <a:r>
                <a:rPr lang="zh-CN" altLang="en-US" sz="1500" b="1" dirty="0">
                  <a:solidFill>
                    <a:schemeClr val="bg1"/>
                  </a:solidFill>
                </a:rPr>
                <a:t>请求数据</a:t>
              </a:r>
            </a:p>
          </p:txBody>
        </p:sp>
        <p:sp>
          <p:nvSpPr>
            <p:cNvPr id="43" name="文本框 42"/>
            <p:cNvSpPr txBox="1"/>
            <p:nvPr/>
          </p:nvSpPr>
          <p:spPr bwMode="gray">
            <a:xfrm>
              <a:off x="1161566" y="1594234"/>
              <a:ext cx="1067644" cy="323165"/>
            </a:xfrm>
            <a:prstGeom prst="rect">
              <a:avLst/>
            </a:prstGeom>
            <a:solidFill>
              <a:srgbClr val="56C4D2"/>
            </a:solidFill>
          </p:spPr>
          <p:txBody>
            <a:bodyPr wrap="square" rtlCol="0">
              <a:spAutoFit/>
            </a:bodyPr>
            <a:lstStyle/>
            <a:p>
              <a:pPr algn="ctr"/>
              <a:r>
                <a:rPr lang="zh-CN" altLang="en-US" sz="1500" b="1">
                  <a:solidFill>
                    <a:schemeClr val="bg1"/>
                  </a:solidFill>
                </a:rPr>
                <a:t>请求行</a:t>
              </a:r>
            </a:p>
          </p:txBody>
        </p:sp>
        <p:sp>
          <p:nvSpPr>
            <p:cNvPr id="44" name="文本框 43"/>
            <p:cNvSpPr txBox="1"/>
            <p:nvPr/>
          </p:nvSpPr>
          <p:spPr bwMode="gray">
            <a:xfrm>
              <a:off x="1161566" y="2994556"/>
              <a:ext cx="1067644" cy="323165"/>
            </a:xfrm>
            <a:prstGeom prst="rect">
              <a:avLst/>
            </a:prstGeom>
            <a:solidFill>
              <a:srgbClr val="56C4D2"/>
            </a:solidFill>
          </p:spPr>
          <p:txBody>
            <a:bodyPr wrap="square" rtlCol="0">
              <a:spAutoFit/>
            </a:bodyPr>
            <a:lstStyle/>
            <a:p>
              <a:pPr algn="ctr"/>
              <a:r>
                <a:rPr lang="zh-CN" altLang="en-US" sz="1500" b="1">
                  <a:solidFill>
                    <a:schemeClr val="bg1"/>
                  </a:solidFill>
                </a:rPr>
                <a:t>空行</a:t>
              </a:r>
            </a:p>
          </p:txBody>
        </p:sp>
      </p:grpSp>
    </p:spTree>
    <p:extLst>
      <p:ext uri="{BB962C8B-B14F-4D97-AF65-F5344CB8AC3E}">
        <p14:creationId xmlns:p14="http://schemas.microsoft.com/office/powerpoint/2010/main" val="3138831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客户端请求消息：请求行</a:t>
            </a:r>
          </a:p>
        </p:txBody>
      </p:sp>
      <p:sp>
        <p:nvSpPr>
          <p:cNvPr id="7" name="文本占位符 6"/>
          <p:cNvSpPr>
            <a:spLocks noGrp="1"/>
          </p:cNvSpPr>
          <p:nvPr>
            <p:ph type="body" sz="quarter" idx="10"/>
          </p:nvPr>
        </p:nvSpPr>
        <p:spPr bwMode="gray"/>
        <p:txBody>
          <a:bodyPr/>
          <a:lstStyle/>
          <a:p>
            <a:r>
              <a:rPr lang="zh-CN" altLang="en-US" sz="1800" dirty="0"/>
              <a:t>请求行由请求方法字段、</a:t>
            </a:r>
            <a:r>
              <a:rPr lang="en-US" altLang="zh-CN" sz="1800" dirty="0"/>
              <a:t>URI</a:t>
            </a:r>
            <a:r>
              <a:rPr lang="zh-CN" altLang="en-US" sz="1800" dirty="0"/>
              <a:t>字段和</a:t>
            </a:r>
            <a:r>
              <a:rPr lang="en-US" altLang="zh-CN" sz="1800" dirty="0"/>
              <a:t>HTTP</a:t>
            </a:r>
            <a:r>
              <a:rPr lang="zh-CN" altLang="en-US" sz="1800" dirty="0"/>
              <a:t>协议版本字段</a:t>
            </a:r>
            <a:r>
              <a:rPr lang="en-US" altLang="zh-CN" sz="1800" dirty="0"/>
              <a:t>3</a:t>
            </a:r>
            <a:r>
              <a:rPr lang="zh-CN" altLang="en-US" sz="1800" dirty="0"/>
              <a:t>个字段组成。</a:t>
            </a:r>
            <a:endParaRPr lang="en-US" altLang="zh-CN" sz="1800" dirty="0"/>
          </a:p>
          <a:p>
            <a:r>
              <a:rPr lang="zh-CN" altLang="en-US" sz="1600" dirty="0"/>
              <a:t>请求方法：</a:t>
            </a:r>
            <a:r>
              <a:rPr lang="en-US" altLang="zh-CN" sz="1600" dirty="0"/>
              <a:t>HTTP</a:t>
            </a:r>
            <a:r>
              <a:rPr lang="zh-CN" altLang="en-US" sz="1600" dirty="0"/>
              <a:t>使用的请求方法，比如常见的</a:t>
            </a:r>
            <a:r>
              <a:rPr lang="en-US" altLang="zh-CN" sz="1600" dirty="0"/>
              <a:t>GET/POST</a:t>
            </a:r>
            <a:r>
              <a:rPr lang="zh-CN" altLang="en-US" sz="1600" dirty="0"/>
              <a:t>等。</a:t>
            </a:r>
            <a:r>
              <a:rPr lang="en-US" altLang="zh-CN" sz="1600" dirty="0"/>
              <a:t>HTTP</a:t>
            </a:r>
            <a:r>
              <a:rPr lang="zh-CN" altLang="en-US" sz="1600" dirty="0"/>
              <a:t>客户程序</a:t>
            </a:r>
            <a:r>
              <a:rPr lang="en-US" altLang="zh-CN" sz="1600" dirty="0"/>
              <a:t>(</a:t>
            </a:r>
            <a:r>
              <a:rPr lang="zh-CN" altLang="en-US" sz="1600" dirty="0"/>
              <a:t>例如浏览器</a:t>
            </a:r>
            <a:r>
              <a:rPr lang="en-US" altLang="zh-CN" sz="1600" dirty="0"/>
              <a:t>)</a:t>
            </a:r>
            <a:r>
              <a:rPr lang="zh-CN" altLang="en-US" sz="1600" dirty="0"/>
              <a:t>，向服务器发送请求的时候必须指明请求类型。</a:t>
            </a:r>
          </a:p>
          <a:p>
            <a:pPr lvl="1"/>
            <a:r>
              <a:rPr lang="en-US" altLang="zh-CN" sz="1600" dirty="0"/>
              <a:t>URI</a:t>
            </a:r>
            <a:r>
              <a:rPr lang="zh-CN" altLang="en-US" sz="1600" dirty="0"/>
              <a:t>：</a:t>
            </a:r>
            <a:r>
              <a:rPr lang="en-US" altLang="zh-CN" sz="1600" dirty="0"/>
              <a:t>URI</a:t>
            </a:r>
            <a:r>
              <a:rPr lang="zh-CN" altLang="en-US" sz="1600" dirty="0"/>
              <a:t>是一个统一资源标识符，它标识了请求所针对的资源。</a:t>
            </a:r>
          </a:p>
          <a:p>
            <a:pPr lvl="1"/>
            <a:r>
              <a:rPr lang="zh-CN" altLang="en-US" sz="1600" dirty="0"/>
              <a:t>协议版本：协议版本旨在允许发送方指示消息的格式和理解后续</a:t>
            </a:r>
            <a:r>
              <a:rPr lang="en-US" altLang="zh-CN" sz="1600" dirty="0"/>
              <a:t>HTTP</a:t>
            </a:r>
            <a:r>
              <a:rPr lang="zh-CN" altLang="en-US" sz="1600" dirty="0"/>
              <a:t>通信的能力。</a:t>
            </a:r>
          </a:p>
          <a:p>
            <a:pPr lvl="1"/>
            <a:endParaRPr lang="zh-CN" altLang="en-US" sz="1600" dirty="0"/>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lvl="1" indent="0">
              <a:spcBef>
                <a:spcPts val="792"/>
              </a:spcBef>
              <a:buNone/>
            </a:pPr>
            <a:endParaRPr lang="en-US" altLang="zh-CN" sz="1800" dirty="0"/>
          </a:p>
        </p:txBody>
      </p:sp>
      <p:sp>
        <p:nvSpPr>
          <p:cNvPr id="30" name="五边形 29"/>
          <p:cNvSpPr/>
          <p:nvPr/>
        </p:nvSpPr>
        <p:spPr bwMode="gray">
          <a:xfrm>
            <a:off x="8747863" y="112853"/>
            <a:ext cx="1055909" cy="212400"/>
          </a:xfrm>
          <a:prstGeom prst="homePlate">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请求行</a:t>
            </a:r>
          </a:p>
        </p:txBody>
      </p:sp>
      <p:sp>
        <p:nvSpPr>
          <p:cNvPr id="33" name="燕尾形 32"/>
          <p:cNvSpPr/>
          <p:nvPr/>
        </p:nvSpPr>
        <p:spPr bwMode="gray">
          <a:xfrm>
            <a:off x="9724807" y="112853"/>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请求头部</a:t>
            </a:r>
          </a:p>
        </p:txBody>
      </p:sp>
      <p:sp>
        <p:nvSpPr>
          <p:cNvPr id="34" name="燕尾形 33"/>
          <p:cNvSpPr/>
          <p:nvPr/>
        </p:nvSpPr>
        <p:spPr bwMode="gray">
          <a:xfrm>
            <a:off x="10691591" y="112853"/>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请求数据</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a:extLst>
              <a:ext uri="{FF2B5EF4-FFF2-40B4-BE49-F238E27FC236}">
                <a16:creationId xmlns:a16="http://schemas.microsoft.com/office/drawing/2014/main" id="{ED1FF46C-3174-448F-9ADD-33C5AECA1FDF}"/>
              </a:ext>
            </a:extLst>
          </p:cNvPr>
          <p:cNvSpPr/>
          <p:nvPr/>
        </p:nvSpPr>
        <p:spPr bwMode="gray">
          <a:xfrm>
            <a:off x="3004956" y="3740278"/>
            <a:ext cx="1065048" cy="323165"/>
          </a:xfrm>
          <a:prstGeom prst="rect">
            <a:avLst/>
          </a:prstGeom>
          <a:solidFill>
            <a:srgbClr val="56C4D2"/>
          </a:solidFill>
        </p:spPr>
        <p:txBody>
          <a:bodyPr wrap="square" rtlCol="0">
            <a:spAutoFit/>
          </a:bodyPr>
          <a:lstStyle/>
          <a:p>
            <a:pPr algn="ctr"/>
            <a:r>
              <a:rPr lang="zh-CN" altLang="en-US" sz="1500" b="1" dirty="0">
                <a:solidFill>
                  <a:schemeClr val="bg1"/>
                </a:solidFill>
              </a:rPr>
              <a:t>请求方法</a:t>
            </a:r>
          </a:p>
        </p:txBody>
      </p:sp>
      <p:sp>
        <p:nvSpPr>
          <p:cNvPr id="36" name="矩形 35">
            <a:extLst>
              <a:ext uri="{FF2B5EF4-FFF2-40B4-BE49-F238E27FC236}">
                <a16:creationId xmlns:a16="http://schemas.microsoft.com/office/drawing/2014/main" id="{E8A2D369-73BF-4B1F-AF0A-AF36A42A352A}"/>
              </a:ext>
            </a:extLst>
          </p:cNvPr>
          <p:cNvSpPr/>
          <p:nvPr/>
        </p:nvSpPr>
        <p:spPr bwMode="gray">
          <a:xfrm>
            <a:off x="4704998" y="3740278"/>
            <a:ext cx="1070903" cy="323165"/>
          </a:xfrm>
          <a:prstGeom prst="rect">
            <a:avLst/>
          </a:prstGeom>
          <a:solidFill>
            <a:srgbClr val="56C4D2"/>
          </a:solidFill>
        </p:spPr>
        <p:txBody>
          <a:bodyPr wrap="square" rtlCol="0">
            <a:spAutoFit/>
          </a:bodyPr>
          <a:lstStyle/>
          <a:p>
            <a:pPr algn="ctr"/>
            <a:r>
              <a:rPr lang="en-US" altLang="zh-CN" sz="1500" b="1">
                <a:solidFill>
                  <a:schemeClr val="bg1"/>
                </a:solidFill>
              </a:rPr>
              <a:t>URI</a:t>
            </a:r>
            <a:endParaRPr lang="zh-CN" altLang="en-US" sz="1500" b="1">
              <a:solidFill>
                <a:schemeClr val="bg1"/>
              </a:solidFill>
            </a:endParaRPr>
          </a:p>
        </p:txBody>
      </p:sp>
      <p:sp>
        <p:nvSpPr>
          <p:cNvPr id="37" name="矩形 36">
            <a:extLst>
              <a:ext uri="{FF2B5EF4-FFF2-40B4-BE49-F238E27FC236}">
                <a16:creationId xmlns:a16="http://schemas.microsoft.com/office/drawing/2014/main" id="{FE4A73F8-F45F-4216-B6C8-7B97955278AC}"/>
              </a:ext>
            </a:extLst>
          </p:cNvPr>
          <p:cNvSpPr/>
          <p:nvPr/>
        </p:nvSpPr>
        <p:spPr bwMode="gray">
          <a:xfrm>
            <a:off x="6420427" y="3740277"/>
            <a:ext cx="1381846" cy="323165"/>
          </a:xfrm>
          <a:prstGeom prst="rect">
            <a:avLst/>
          </a:prstGeom>
          <a:solidFill>
            <a:srgbClr val="56C4D2"/>
          </a:solidFill>
        </p:spPr>
        <p:txBody>
          <a:bodyPr wrap="square" rtlCol="0">
            <a:spAutoFit/>
          </a:bodyPr>
          <a:lstStyle/>
          <a:p>
            <a:pPr algn="ctr"/>
            <a:r>
              <a:rPr lang="zh-CN" altLang="en-US" sz="1500" b="1">
                <a:solidFill>
                  <a:schemeClr val="bg1"/>
                </a:solidFill>
              </a:rPr>
              <a:t>协议版本</a:t>
            </a:r>
          </a:p>
        </p:txBody>
      </p:sp>
      <p:sp>
        <p:nvSpPr>
          <p:cNvPr id="38" name="矩形 37">
            <a:extLst>
              <a:ext uri="{FF2B5EF4-FFF2-40B4-BE49-F238E27FC236}">
                <a16:creationId xmlns:a16="http://schemas.microsoft.com/office/drawing/2014/main" id="{3F04E949-4CCC-4846-8B15-6F183B7861C1}"/>
              </a:ext>
            </a:extLst>
          </p:cNvPr>
          <p:cNvSpPr/>
          <p:nvPr/>
        </p:nvSpPr>
        <p:spPr bwMode="gray">
          <a:xfrm>
            <a:off x="3004010" y="5507862"/>
            <a:ext cx="5080901"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数据</a:t>
            </a:r>
          </a:p>
        </p:txBody>
      </p:sp>
      <p:sp>
        <p:nvSpPr>
          <p:cNvPr id="39" name="矩形 38">
            <a:extLst>
              <a:ext uri="{FF2B5EF4-FFF2-40B4-BE49-F238E27FC236}">
                <a16:creationId xmlns:a16="http://schemas.microsoft.com/office/drawing/2014/main" id="{ED1FF46C-3174-448F-9ADD-33C5AECA1FDF}"/>
              </a:ext>
            </a:extLst>
          </p:cNvPr>
          <p:cNvSpPr/>
          <p:nvPr/>
        </p:nvSpPr>
        <p:spPr bwMode="gray">
          <a:xfrm>
            <a:off x="4069525" y="3740278"/>
            <a:ext cx="671367" cy="323165"/>
          </a:xfrm>
          <a:prstGeom prst="rect">
            <a:avLst/>
          </a:prstGeom>
          <a:solidFill>
            <a:srgbClr val="56C4D2"/>
          </a:solidFill>
        </p:spPr>
        <p:txBody>
          <a:bodyPr wrap="square" rtlCol="0">
            <a:spAutoFit/>
          </a:bodyPr>
          <a:lstStyle/>
          <a:p>
            <a:pPr algn="ctr"/>
            <a:r>
              <a:rPr lang="zh-CN" altLang="en-US" sz="1500" b="1" dirty="0">
                <a:solidFill>
                  <a:schemeClr val="bg1"/>
                </a:solidFill>
              </a:rPr>
              <a:t>空格</a:t>
            </a:r>
          </a:p>
        </p:txBody>
      </p:sp>
      <p:sp>
        <p:nvSpPr>
          <p:cNvPr id="40" name="矩形 39">
            <a:extLst>
              <a:ext uri="{FF2B5EF4-FFF2-40B4-BE49-F238E27FC236}">
                <a16:creationId xmlns:a16="http://schemas.microsoft.com/office/drawing/2014/main" id="{ED1FF46C-3174-448F-9ADD-33C5AECA1FDF}"/>
              </a:ext>
            </a:extLst>
          </p:cNvPr>
          <p:cNvSpPr/>
          <p:nvPr/>
        </p:nvSpPr>
        <p:spPr bwMode="gray">
          <a:xfrm>
            <a:off x="5749060" y="3740278"/>
            <a:ext cx="671367" cy="323165"/>
          </a:xfrm>
          <a:prstGeom prst="rect">
            <a:avLst/>
          </a:prstGeom>
          <a:solidFill>
            <a:srgbClr val="56C4D2"/>
          </a:solidFill>
        </p:spPr>
        <p:txBody>
          <a:bodyPr wrap="square" rtlCol="0">
            <a:spAutoFit/>
          </a:bodyPr>
          <a:lstStyle/>
          <a:p>
            <a:pPr algn="ctr"/>
            <a:r>
              <a:rPr lang="zh-CN" altLang="en-US" sz="1500" b="1">
                <a:solidFill>
                  <a:schemeClr val="bg1"/>
                </a:solidFill>
              </a:rPr>
              <a:t>空格</a:t>
            </a:r>
          </a:p>
        </p:txBody>
      </p:sp>
      <p:grpSp>
        <p:nvGrpSpPr>
          <p:cNvPr id="41" name="组合 40"/>
          <p:cNvGrpSpPr/>
          <p:nvPr/>
        </p:nvGrpSpPr>
        <p:grpSpPr bwMode="gray">
          <a:xfrm>
            <a:off x="3004010" y="5153175"/>
            <a:ext cx="1570713" cy="360040"/>
            <a:chOff x="6670863" y="4556412"/>
            <a:chExt cx="1570713" cy="360040"/>
          </a:xfrm>
          <a:solidFill>
            <a:srgbClr val="FFFFFF"/>
          </a:solidFill>
        </p:grpSpPr>
        <p:sp>
          <p:nvSpPr>
            <p:cNvPr id="42" name="矩形 41">
              <a:extLst>
                <a:ext uri="{FF2B5EF4-FFF2-40B4-BE49-F238E27FC236}">
                  <a16:creationId xmlns:a16="http://schemas.microsoft.com/office/drawing/2014/main" id="{ED1FF46C-3174-448F-9ADD-33C5AECA1FDF}"/>
                </a:ext>
              </a:extLst>
            </p:cNvPr>
            <p:cNvSpPr/>
            <p:nvPr/>
          </p:nvSpPr>
          <p:spPr bwMode="gray">
            <a:xfrm>
              <a:off x="6670863" y="4556412"/>
              <a:ext cx="785829"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回车符</a:t>
              </a:r>
            </a:p>
          </p:txBody>
        </p:sp>
        <p:sp>
          <p:nvSpPr>
            <p:cNvPr id="43" name="矩形 42">
              <a:extLst>
                <a:ext uri="{FF2B5EF4-FFF2-40B4-BE49-F238E27FC236}">
                  <a16:creationId xmlns:a16="http://schemas.microsoft.com/office/drawing/2014/main" id="{ED1FF46C-3174-448F-9ADD-33C5AECA1FDF}"/>
                </a:ext>
              </a:extLst>
            </p:cNvPr>
            <p:cNvSpPr/>
            <p:nvPr/>
          </p:nvSpPr>
          <p:spPr bwMode="gray">
            <a:xfrm>
              <a:off x="7456692" y="4556412"/>
              <a:ext cx="784884"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换行符</a:t>
              </a:r>
            </a:p>
          </p:txBody>
        </p:sp>
      </p:grpSp>
      <p:grpSp>
        <p:nvGrpSpPr>
          <p:cNvPr id="44" name="组合 43"/>
          <p:cNvGrpSpPr/>
          <p:nvPr/>
        </p:nvGrpSpPr>
        <p:grpSpPr bwMode="gray">
          <a:xfrm>
            <a:off x="3004011" y="4087076"/>
            <a:ext cx="5085093" cy="370535"/>
            <a:chOff x="1898948" y="4916449"/>
            <a:chExt cx="5085093" cy="357297"/>
          </a:xfrm>
          <a:solidFill>
            <a:srgbClr val="FFFFFF"/>
          </a:solidFill>
        </p:grpSpPr>
        <p:sp>
          <p:nvSpPr>
            <p:cNvPr id="45" name="矩形 44">
              <a:extLst>
                <a:ext uri="{FF2B5EF4-FFF2-40B4-BE49-F238E27FC236}">
                  <a16:creationId xmlns:a16="http://schemas.microsoft.com/office/drawing/2014/main" id="{DE3F0C5F-22A9-4922-B2C2-C3EB12DD441E}"/>
                </a:ext>
              </a:extLst>
            </p:cNvPr>
            <p:cNvSpPr/>
            <p:nvPr/>
          </p:nvSpPr>
          <p:spPr bwMode="gray">
            <a:xfrm>
              <a:off x="1898948" y="4916449"/>
              <a:ext cx="3516163" cy="357295"/>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a:solidFill>
                    <a:schemeClr val="tx1"/>
                  </a:solidFill>
                </a:rPr>
                <a:t>头部字段名：值</a:t>
              </a:r>
              <a:endParaRPr lang="en-US" altLang="zh-CN" sz="1500">
                <a:solidFill>
                  <a:schemeClr val="tx1"/>
                </a:solidFill>
              </a:endParaRPr>
            </a:p>
          </p:txBody>
        </p:sp>
        <p:sp>
          <p:nvSpPr>
            <p:cNvPr id="46" name="矩形 45">
              <a:extLst>
                <a:ext uri="{FF2B5EF4-FFF2-40B4-BE49-F238E27FC236}">
                  <a16:creationId xmlns:a16="http://schemas.microsoft.com/office/drawing/2014/main" id="{ED1FF46C-3174-448F-9ADD-33C5AECA1FDF}"/>
                </a:ext>
              </a:extLst>
            </p:cNvPr>
            <p:cNvSpPr/>
            <p:nvPr/>
          </p:nvSpPr>
          <p:spPr bwMode="gray">
            <a:xfrm>
              <a:off x="5404225" y="4916449"/>
              <a:ext cx="784884" cy="357297"/>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47" name="矩形 46">
              <a:extLst>
                <a:ext uri="{FF2B5EF4-FFF2-40B4-BE49-F238E27FC236}">
                  <a16:creationId xmlns:a16="http://schemas.microsoft.com/office/drawing/2014/main" id="{ED1FF46C-3174-448F-9ADD-33C5AECA1FDF}"/>
                </a:ext>
              </a:extLst>
            </p:cNvPr>
            <p:cNvSpPr/>
            <p:nvPr/>
          </p:nvSpPr>
          <p:spPr bwMode="gray">
            <a:xfrm>
              <a:off x="6189109" y="4916449"/>
              <a:ext cx="794932" cy="357297"/>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sp>
        <p:nvSpPr>
          <p:cNvPr id="48" name="矩形 47">
            <a:extLst>
              <a:ext uri="{FF2B5EF4-FFF2-40B4-BE49-F238E27FC236}">
                <a16:creationId xmlns:a16="http://schemas.microsoft.com/office/drawing/2014/main" id="{DE3F0C5F-22A9-4922-B2C2-C3EB12DD441E}"/>
              </a:ext>
            </a:extLst>
          </p:cNvPr>
          <p:cNvSpPr/>
          <p:nvPr/>
        </p:nvSpPr>
        <p:spPr bwMode="gray">
          <a:xfrm>
            <a:off x="3004011" y="4453720"/>
            <a:ext cx="5085093" cy="357295"/>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solidFill>
                  <a:schemeClr val="tx1"/>
                </a:solidFill>
              </a:rPr>
              <a:t>…</a:t>
            </a:r>
          </a:p>
        </p:txBody>
      </p:sp>
      <p:sp>
        <p:nvSpPr>
          <p:cNvPr id="50" name="矩形 49">
            <a:extLst>
              <a:ext uri="{FF2B5EF4-FFF2-40B4-BE49-F238E27FC236}">
                <a16:creationId xmlns:a16="http://schemas.microsoft.com/office/drawing/2014/main" id="{DE3F0C5F-22A9-4922-B2C2-C3EB12DD441E}"/>
              </a:ext>
            </a:extLst>
          </p:cNvPr>
          <p:cNvSpPr/>
          <p:nvPr/>
        </p:nvSpPr>
        <p:spPr bwMode="gray">
          <a:xfrm>
            <a:off x="3004011" y="4806835"/>
            <a:ext cx="3521074" cy="349439"/>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a:solidFill>
                  <a:schemeClr val="tx1"/>
                </a:solidFill>
              </a:rPr>
              <a:t>头部字段名：值</a:t>
            </a:r>
            <a:endParaRPr lang="en-US" altLang="zh-CN" sz="1500">
              <a:solidFill>
                <a:schemeClr val="tx1"/>
              </a:solidFill>
            </a:endParaRPr>
          </a:p>
        </p:txBody>
      </p:sp>
      <p:sp>
        <p:nvSpPr>
          <p:cNvPr id="51" name="矩形 50">
            <a:extLst>
              <a:ext uri="{FF2B5EF4-FFF2-40B4-BE49-F238E27FC236}">
                <a16:creationId xmlns:a16="http://schemas.microsoft.com/office/drawing/2014/main" id="{ED1FF46C-3174-448F-9ADD-33C5AECA1FDF}"/>
              </a:ext>
            </a:extLst>
          </p:cNvPr>
          <p:cNvSpPr/>
          <p:nvPr/>
        </p:nvSpPr>
        <p:spPr bwMode="gray">
          <a:xfrm>
            <a:off x="6514199" y="4806835"/>
            <a:ext cx="784884" cy="34527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52" name="矩形 51">
            <a:extLst>
              <a:ext uri="{FF2B5EF4-FFF2-40B4-BE49-F238E27FC236}">
                <a16:creationId xmlns:a16="http://schemas.microsoft.com/office/drawing/2014/main" id="{ED1FF46C-3174-448F-9ADD-33C5AECA1FDF}"/>
              </a:ext>
            </a:extLst>
          </p:cNvPr>
          <p:cNvSpPr/>
          <p:nvPr/>
        </p:nvSpPr>
        <p:spPr bwMode="gray">
          <a:xfrm>
            <a:off x="7299082" y="4806835"/>
            <a:ext cx="790021" cy="34527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nvGrpSpPr>
          <p:cNvPr id="53" name="组合 52"/>
          <p:cNvGrpSpPr/>
          <p:nvPr/>
        </p:nvGrpSpPr>
        <p:grpSpPr bwMode="gray">
          <a:xfrm>
            <a:off x="7791387" y="3740274"/>
            <a:ext cx="1569768" cy="323165"/>
            <a:chOff x="6671808" y="4556412"/>
            <a:chExt cx="1569768" cy="333239"/>
          </a:xfrm>
          <a:solidFill>
            <a:srgbClr val="FFFFFF"/>
          </a:solidFill>
        </p:grpSpPr>
        <p:sp>
          <p:nvSpPr>
            <p:cNvPr id="54" name="矩形 53">
              <a:extLst>
                <a:ext uri="{FF2B5EF4-FFF2-40B4-BE49-F238E27FC236}">
                  <a16:creationId xmlns:a16="http://schemas.microsoft.com/office/drawing/2014/main" id="{ED1FF46C-3174-448F-9ADD-33C5AECA1FDF}"/>
                </a:ext>
              </a:extLst>
            </p:cNvPr>
            <p:cNvSpPr/>
            <p:nvPr/>
          </p:nvSpPr>
          <p:spPr bwMode="gray">
            <a:xfrm>
              <a:off x="6671808" y="4556412"/>
              <a:ext cx="784884" cy="333239"/>
            </a:xfrm>
            <a:prstGeom prst="rect">
              <a:avLst/>
            </a:prstGeom>
            <a:solidFill>
              <a:srgbClr val="56C4D2"/>
            </a:solidFill>
          </p:spPr>
          <p:txBody>
            <a:bodyPr wrap="square" rtlCol="0">
              <a:spAutoFit/>
            </a:bodyPr>
            <a:lstStyle/>
            <a:p>
              <a:pPr algn="ctr"/>
              <a:r>
                <a:rPr lang="zh-CN" altLang="en-US" sz="1500" b="1">
                  <a:solidFill>
                    <a:schemeClr val="bg1"/>
                  </a:solidFill>
                </a:rPr>
                <a:t>回车符</a:t>
              </a:r>
            </a:p>
          </p:txBody>
        </p:sp>
        <p:sp>
          <p:nvSpPr>
            <p:cNvPr id="55" name="矩形 54">
              <a:extLst>
                <a:ext uri="{FF2B5EF4-FFF2-40B4-BE49-F238E27FC236}">
                  <a16:creationId xmlns:a16="http://schemas.microsoft.com/office/drawing/2014/main" id="{ED1FF46C-3174-448F-9ADD-33C5AECA1FDF}"/>
                </a:ext>
              </a:extLst>
            </p:cNvPr>
            <p:cNvSpPr/>
            <p:nvPr/>
          </p:nvSpPr>
          <p:spPr bwMode="gray">
            <a:xfrm>
              <a:off x="7456692" y="4556412"/>
              <a:ext cx="784884" cy="333239"/>
            </a:xfrm>
            <a:prstGeom prst="rect">
              <a:avLst/>
            </a:prstGeom>
            <a:solidFill>
              <a:srgbClr val="56C4D2"/>
            </a:solidFill>
          </p:spPr>
          <p:txBody>
            <a:bodyPr wrap="square" rtlCol="0">
              <a:spAutoFit/>
            </a:bodyPr>
            <a:lstStyle/>
            <a:p>
              <a:pPr algn="ctr"/>
              <a:r>
                <a:rPr lang="zh-CN" altLang="en-US" sz="1500" b="1">
                  <a:solidFill>
                    <a:schemeClr val="bg1"/>
                  </a:solidFill>
                </a:rPr>
                <a:t>换行符</a:t>
              </a:r>
            </a:p>
          </p:txBody>
        </p:sp>
      </p:grpSp>
      <p:sp>
        <p:nvSpPr>
          <p:cNvPr id="29" name="文本框 28">
            <a:extLst>
              <a:ext uri="{FF2B5EF4-FFF2-40B4-BE49-F238E27FC236}">
                <a16:creationId xmlns:a16="http://schemas.microsoft.com/office/drawing/2014/main" id="{69387562-BBB4-4B4D-B3CF-C5337D4F1D5C}"/>
              </a:ext>
            </a:extLst>
          </p:cNvPr>
          <p:cNvSpPr txBox="1"/>
          <p:nvPr/>
        </p:nvSpPr>
        <p:spPr bwMode="gray">
          <a:xfrm>
            <a:off x="2759463" y="3223211"/>
            <a:ext cx="7321927" cy="338554"/>
          </a:xfrm>
          <a:prstGeom prst="rect">
            <a:avLst/>
          </a:prstGeom>
          <a:noFill/>
          <a:ln>
            <a:solidFill>
              <a:srgbClr val="56C4D2"/>
            </a:solidFill>
          </a:ln>
        </p:spPr>
        <p:txBody>
          <a:bodyPr wrap="square" rtlCol="0">
            <a:spAutoFit/>
          </a:bodyPr>
          <a:lstStyle/>
          <a:p>
            <a:pPr marL="0" lvl="1">
              <a:spcBef>
                <a:spcPts val="792"/>
              </a:spcBef>
            </a:pPr>
            <a:r>
              <a:rPr lang="zh-CN" altLang="en-US" sz="1600" dirty="0"/>
              <a:t>请求行示例：</a:t>
            </a:r>
            <a:r>
              <a:rPr lang="en-US" altLang="zh-CN" sz="1600" dirty="0"/>
              <a:t>GET http://www.w3.org/pub/WWW/TheProject.html HTTP/1.1</a:t>
            </a:r>
          </a:p>
        </p:txBody>
      </p:sp>
    </p:spTree>
    <p:extLst>
      <p:ext uri="{BB962C8B-B14F-4D97-AF65-F5344CB8AC3E}">
        <p14:creationId xmlns:p14="http://schemas.microsoft.com/office/powerpoint/2010/main" val="21450435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HTTP</a:t>
            </a:r>
            <a:r>
              <a:rPr lang="zh-CN" altLang="en-US"/>
              <a:t>请求方法</a:t>
            </a:r>
          </a:p>
        </p:txBody>
      </p:sp>
      <p:sp>
        <p:nvSpPr>
          <p:cNvPr id="10" name="文本占位符 9"/>
          <p:cNvSpPr>
            <a:spLocks noGrp="1"/>
          </p:cNvSpPr>
          <p:nvPr>
            <p:ph type="body" sz="quarter" idx="10"/>
          </p:nvPr>
        </p:nvSpPr>
        <p:spPr bwMode="gray"/>
        <p:txBody>
          <a:bodyPr/>
          <a:lstStyle/>
          <a:p>
            <a:r>
              <a:rPr lang="zh-CN" altLang="en-US" sz="1800" dirty="0"/>
              <a:t>根据</a:t>
            </a:r>
            <a:r>
              <a:rPr lang="en-US" altLang="zh-CN" sz="1800" dirty="0"/>
              <a:t>HTTP</a:t>
            </a:r>
            <a:r>
              <a:rPr lang="zh-CN" altLang="en-US" sz="1800" dirty="0"/>
              <a:t>标准，</a:t>
            </a:r>
            <a:r>
              <a:rPr lang="en-US" altLang="zh-CN" sz="1800" dirty="0"/>
              <a:t>HTTP</a:t>
            </a:r>
            <a:r>
              <a:rPr lang="zh-CN" altLang="en-US" sz="1800" dirty="0"/>
              <a:t>请求可以使用多种请求方法。</a:t>
            </a:r>
            <a:r>
              <a:rPr lang="en-US" altLang="zh-CN" sz="1800" dirty="0"/>
              <a:t>HTTP1.0</a:t>
            </a:r>
            <a:r>
              <a:rPr lang="zh-CN" altLang="en-US" sz="1800" dirty="0"/>
              <a:t>定义了三种请求方法：</a:t>
            </a:r>
            <a:r>
              <a:rPr lang="en-US" altLang="zh-CN" sz="1800" dirty="0"/>
              <a:t>GET</a:t>
            </a:r>
            <a:r>
              <a:rPr lang="zh-CN" altLang="en-US" sz="1800" dirty="0"/>
              <a:t>、</a:t>
            </a:r>
            <a:r>
              <a:rPr lang="en-US" altLang="zh-CN" sz="1800" dirty="0"/>
              <a:t>POST</a:t>
            </a:r>
            <a:r>
              <a:rPr lang="zh-CN" altLang="en-US" sz="1800" dirty="0"/>
              <a:t>和</a:t>
            </a:r>
            <a:r>
              <a:rPr lang="en-US" altLang="zh-CN" sz="1800" dirty="0"/>
              <a:t>HEAD</a:t>
            </a:r>
            <a:r>
              <a:rPr lang="zh-CN" altLang="en-US" sz="1800" dirty="0"/>
              <a:t>方法。</a:t>
            </a:r>
            <a:r>
              <a:rPr lang="en-US" altLang="zh-CN" sz="1800" dirty="0"/>
              <a:t>HTTP1.1</a:t>
            </a:r>
            <a:r>
              <a:rPr lang="zh-CN" altLang="en-US" sz="1800" dirty="0"/>
              <a:t>新增了六种请求方法：</a:t>
            </a:r>
            <a:r>
              <a:rPr lang="en-US" altLang="zh-CN" sz="1800" dirty="0"/>
              <a:t>OPTIONS</a:t>
            </a:r>
            <a:r>
              <a:rPr lang="zh-CN" altLang="en-US" sz="1800" dirty="0"/>
              <a:t>、</a:t>
            </a:r>
            <a:r>
              <a:rPr lang="en-US" altLang="zh-CN" sz="1800" dirty="0"/>
              <a:t>PUT</a:t>
            </a:r>
            <a:r>
              <a:rPr lang="zh-CN" altLang="en-US" sz="1800" dirty="0"/>
              <a:t>、</a:t>
            </a:r>
            <a:r>
              <a:rPr lang="en-US" altLang="zh-CN" sz="1800" dirty="0"/>
              <a:t>PATCH</a:t>
            </a:r>
            <a:r>
              <a:rPr lang="zh-CN" altLang="en-US" sz="1800" dirty="0"/>
              <a:t>、</a:t>
            </a:r>
            <a:r>
              <a:rPr lang="en-US" altLang="zh-CN" sz="1800" dirty="0"/>
              <a:t>DELETE</a:t>
            </a:r>
            <a:r>
              <a:rPr lang="zh-CN" altLang="en-US" sz="1800" dirty="0"/>
              <a:t>、</a:t>
            </a:r>
            <a:r>
              <a:rPr lang="en-US" altLang="zh-CN" sz="1800" dirty="0"/>
              <a:t>TRACE</a:t>
            </a:r>
            <a:r>
              <a:rPr lang="zh-CN" altLang="en-US" sz="1800" dirty="0"/>
              <a:t>和</a:t>
            </a:r>
            <a:r>
              <a:rPr lang="en-US" altLang="zh-CN" sz="1800" dirty="0"/>
              <a:t>CONNECT</a:t>
            </a:r>
            <a:r>
              <a:rPr lang="zh-CN" altLang="en-US" sz="1800" dirty="0"/>
              <a:t>方法。</a:t>
            </a:r>
          </a:p>
          <a:p>
            <a:endParaRPr lang="zh-CN" altLang="en-US" sz="1800" dirty="0"/>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latinLnBrk="1"/>
            <a:endParaRPr lang="zh-CN" altLang="en-US" sz="1800" dirty="0"/>
          </a:p>
        </p:txBody>
      </p:sp>
      <p:graphicFrame>
        <p:nvGraphicFramePr>
          <p:cNvPr id="8" name="表格 7">
            <a:extLst>
              <a:ext uri="{FF2B5EF4-FFF2-40B4-BE49-F238E27FC236}">
                <a16:creationId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524479295"/>
              </p:ext>
            </p:extLst>
          </p:nvPr>
        </p:nvGraphicFramePr>
        <p:xfrm>
          <a:off x="2390932" y="1982332"/>
          <a:ext cx="7064353" cy="3745659"/>
        </p:xfrm>
        <a:graphic>
          <a:graphicData uri="http://schemas.openxmlformats.org/drawingml/2006/table">
            <a:tbl>
              <a:tblPr/>
              <a:tblGrid>
                <a:gridCol w="1032879">
                  <a:extLst>
                    <a:ext uri="{9D8B030D-6E8A-4147-A177-3AD203B41FA5}">
                      <a16:colId xmlns:a16="http://schemas.microsoft.com/office/drawing/2014/main" val="20000"/>
                    </a:ext>
                  </a:extLst>
                </a:gridCol>
                <a:gridCol w="6031474">
                  <a:extLst>
                    <a:ext uri="{9D8B030D-6E8A-4147-A177-3AD203B41FA5}">
                      <a16:colId xmlns:a16="http://schemas.microsoft.com/office/drawing/2014/main" val="20001"/>
                    </a:ext>
                  </a:extLst>
                </a:gridCol>
              </a:tblGrid>
              <a:tr h="327152">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600" b="1" dirty="0">
                          <a:solidFill>
                            <a:schemeClr val="tx1"/>
                          </a:solidFill>
                          <a:effectLst/>
                          <a:latin typeface="+mn-lt"/>
                          <a:ea typeface="+mn-ea"/>
                        </a:rPr>
                        <a:t>方法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600" b="1" dirty="0">
                          <a:solidFill>
                            <a:schemeClr val="tx1"/>
                          </a:solidFill>
                          <a:effectLst/>
                          <a:latin typeface="+mn-lt"/>
                          <a:ea typeface="+mn-ea"/>
                        </a:rPr>
                        <a:t>描述</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378931">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lvl="1" algn="ctr" defTabSz="914034" rtl="0" eaLnBrk="1" latinLnBrk="0" hangingPunct="1"/>
                      <a:r>
                        <a:rPr lang="en-US" altLang="zh-CN" sz="1400" dirty="0"/>
                        <a:t>GET</a:t>
                      </a:r>
                      <a:endParaRPr lang="en-US" altLang="zh-CN" sz="1400" kern="1200" dirty="0">
                        <a:solidFill>
                          <a:schemeClr val="tx1"/>
                        </a:solidFill>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l" fontAlgn="t"/>
                      <a:r>
                        <a:rPr lang="zh-CN" altLang="en-US" sz="1400" dirty="0">
                          <a:solidFill>
                            <a:schemeClr val="tx1"/>
                          </a:solidFill>
                          <a:effectLst/>
                        </a:rPr>
                        <a:t>请求指定的页面信息，服务端将返回具体内容数据</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8931">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lvl="1" algn="ctr" defTabSz="914034" rtl="0" eaLnBrk="1" latinLnBrk="0" hangingPunct="1"/>
                      <a:r>
                        <a:rPr lang="en-US" altLang="zh-CN" sz="1400" kern="1200">
                          <a:solidFill>
                            <a:schemeClr val="tx1"/>
                          </a:solidFill>
                          <a:effectLst/>
                          <a:latin typeface="Huawei Sans"/>
                          <a:ea typeface="方正兰亭黑简体"/>
                          <a:cs typeface="+mn-cs"/>
                        </a:rPr>
                        <a:t>POST</a:t>
                      </a:r>
                      <a:endParaRPr lang="en-US" altLang="zh-CN" sz="1400" kern="120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l" fontAlgn="t"/>
                      <a:r>
                        <a:rPr lang="zh-CN" altLang="en-US" sz="1400" dirty="0">
                          <a:solidFill>
                            <a:schemeClr val="tx1"/>
                          </a:solidFill>
                          <a:effectLst/>
                        </a:rPr>
                        <a:t>提交数据，例如提交表单</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8931">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a:t>HEAD</a:t>
                      </a:r>
                      <a:endParaRPr lang="en-US" altLang="zh-CN" sz="1400" kern="1200">
                        <a:solidFill>
                          <a:schemeClr val="tx1"/>
                        </a:solidFill>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mn-lt"/>
                          <a:ea typeface="+mn-ea"/>
                          <a:cs typeface="+mn-cs"/>
                        </a:rPr>
                        <a:t>类似于</a:t>
                      </a:r>
                      <a:r>
                        <a:rPr lang="en-US" altLang="zh-CN" sz="1400" kern="1200" dirty="0">
                          <a:solidFill>
                            <a:schemeClr val="tx1"/>
                          </a:solidFill>
                          <a:latin typeface="+mn-lt"/>
                          <a:ea typeface="+mn-ea"/>
                          <a:cs typeface="+mn-cs"/>
                        </a:rPr>
                        <a:t>GET</a:t>
                      </a:r>
                      <a:r>
                        <a:rPr lang="zh-CN" altLang="en-US" sz="1400" kern="1200" dirty="0">
                          <a:solidFill>
                            <a:schemeClr val="tx1"/>
                          </a:solidFill>
                          <a:latin typeface="+mn-lt"/>
                          <a:ea typeface="+mn-ea"/>
                          <a:cs typeface="+mn-cs"/>
                        </a:rPr>
                        <a:t>请求，但是返回的响应中没有具体的内容，用于获取报头</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466343"/>
                  </a:ext>
                </a:extLst>
              </a:tr>
              <a:tr h="378931">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mn-lt"/>
                          <a:ea typeface="+mn-ea"/>
                          <a:cs typeface="+mn-cs"/>
                        </a:rPr>
                        <a:t>PUT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effectLst/>
                        </a:rPr>
                        <a:t>更新和修改数据</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8931">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mn-lt"/>
                          <a:ea typeface="+mn-ea"/>
                          <a:cs typeface="+mn-cs"/>
                        </a:rPr>
                        <a:t>DELETE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effectLst/>
                        </a:rPr>
                        <a:t>请求删除指定的页面</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8931">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mn-lt"/>
                          <a:ea typeface="+mn-ea"/>
                          <a:cs typeface="+mn-cs"/>
                        </a:rPr>
                        <a:t>CONNECT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effectLst/>
                        </a:rPr>
                        <a:t>用于</a:t>
                      </a:r>
                      <a:r>
                        <a:rPr lang="en-US" altLang="zh-CN" sz="1400" dirty="0">
                          <a:solidFill>
                            <a:schemeClr val="tx1"/>
                          </a:solidFill>
                          <a:effectLst/>
                        </a:rPr>
                        <a:t>HTTP</a:t>
                      </a:r>
                      <a:r>
                        <a:rPr lang="zh-CN" altLang="en-US" sz="1400" dirty="0">
                          <a:solidFill>
                            <a:schemeClr val="tx1"/>
                          </a:solidFill>
                          <a:effectLst/>
                        </a:rPr>
                        <a:t>代理</a:t>
                      </a:r>
                      <a:endParaRPr lang="en-US" altLang="zh-CN" sz="1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8931">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mn-lt"/>
                          <a:ea typeface="+mn-ea"/>
                          <a:cs typeface="+mn-cs"/>
                        </a:rPr>
                        <a:t>OPTIONS</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effectLst/>
                        </a:rPr>
                        <a:t>允许客户端查看服务器的性能</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8931">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mn-lt"/>
                          <a:ea typeface="+mn-ea"/>
                          <a:cs typeface="+mn-cs"/>
                        </a:rPr>
                        <a:t>TRACE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effectLst/>
                        </a:rPr>
                        <a:t>回显服务器收到的请求，主要用于测试或诊断</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378931">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mn-lt"/>
                          <a:ea typeface="+mn-ea"/>
                          <a:cs typeface="+mn-cs"/>
                        </a:rPr>
                        <a:t>PATCH</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effectLst/>
                        </a:rPr>
                        <a:t>用来对已知资源进行局部更新</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1" name="五边形 10"/>
          <p:cNvSpPr/>
          <p:nvPr/>
        </p:nvSpPr>
        <p:spPr bwMode="gray">
          <a:xfrm>
            <a:off x="8747863" y="112853"/>
            <a:ext cx="1055909" cy="212400"/>
          </a:xfrm>
          <a:prstGeom prst="homePlate">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请求行</a:t>
            </a:r>
          </a:p>
        </p:txBody>
      </p:sp>
      <p:sp>
        <p:nvSpPr>
          <p:cNvPr id="12" name="燕尾形 11"/>
          <p:cNvSpPr/>
          <p:nvPr/>
        </p:nvSpPr>
        <p:spPr bwMode="gray">
          <a:xfrm>
            <a:off x="9724807" y="112853"/>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请求头部</a:t>
            </a:r>
          </a:p>
        </p:txBody>
      </p:sp>
      <p:sp>
        <p:nvSpPr>
          <p:cNvPr id="13" name="燕尾形 12"/>
          <p:cNvSpPr/>
          <p:nvPr/>
        </p:nvSpPr>
        <p:spPr bwMode="gray">
          <a:xfrm>
            <a:off x="10691591" y="112853"/>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请求数据</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96668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客户端请求消息：请求头部</a:t>
            </a:r>
          </a:p>
        </p:txBody>
      </p:sp>
      <p:sp>
        <p:nvSpPr>
          <p:cNvPr id="7" name="文本占位符 6"/>
          <p:cNvSpPr>
            <a:spLocks noGrp="1"/>
          </p:cNvSpPr>
          <p:nvPr>
            <p:ph type="body" sz="quarter" idx="10"/>
          </p:nvPr>
        </p:nvSpPr>
        <p:spPr bwMode="gray"/>
        <p:txBody>
          <a:bodyPr/>
          <a:lstStyle/>
          <a:p>
            <a:r>
              <a:rPr lang="zh-CN" altLang="en-US" sz="1800" dirty="0"/>
              <a:t>请求头部允许客户端向服务器传递关于请求的附加信息。这些字段充当请求修饰符，其语义相当于编程语言方法调用中的参数。</a:t>
            </a:r>
          </a:p>
          <a:p>
            <a:endParaRPr lang="zh-CN" altLang="en-US" sz="1800" dirty="0"/>
          </a:p>
        </p:txBody>
      </p:sp>
      <p:sp>
        <p:nvSpPr>
          <p:cNvPr id="3" name="内容占位符 2"/>
          <p:cNvSpPr txBox="1">
            <a:spLocks/>
          </p:cNvSpPr>
          <p:nvPr/>
        </p:nvSpPr>
        <p:spPr bwMode="gray">
          <a:xfrm>
            <a:off x="468316" y="1233487"/>
            <a:ext cx="3172388"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600"/>
          </a:p>
        </p:txBody>
      </p:sp>
      <p:sp>
        <p:nvSpPr>
          <p:cNvPr id="6"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p>
        </p:txBody>
      </p:sp>
      <p:grpSp>
        <p:nvGrpSpPr>
          <p:cNvPr id="37" name="组合 36"/>
          <p:cNvGrpSpPr/>
          <p:nvPr/>
        </p:nvGrpSpPr>
        <p:grpSpPr bwMode="gray">
          <a:xfrm>
            <a:off x="3024178" y="3656265"/>
            <a:ext cx="6357145" cy="2135251"/>
            <a:chOff x="3333858" y="2771585"/>
            <a:chExt cx="6357145" cy="2135251"/>
          </a:xfrm>
        </p:grpSpPr>
        <p:sp>
          <p:nvSpPr>
            <p:cNvPr id="38" name="矩形 37">
              <a:extLst>
                <a:ext uri="{FF2B5EF4-FFF2-40B4-BE49-F238E27FC236}">
                  <a16:creationId xmlns:a16="http://schemas.microsoft.com/office/drawing/2014/main" id="{ED1FF46C-3174-448F-9ADD-33C5AECA1FDF}"/>
                </a:ext>
              </a:extLst>
            </p:cNvPr>
            <p:cNvSpPr/>
            <p:nvPr/>
          </p:nvSpPr>
          <p:spPr bwMode="gray">
            <a:xfrm>
              <a:off x="3334804" y="2771592"/>
              <a:ext cx="1065048"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请求方法</a:t>
              </a:r>
            </a:p>
          </p:txBody>
        </p:sp>
        <p:sp>
          <p:nvSpPr>
            <p:cNvPr id="39" name="矩形 38">
              <a:extLst>
                <a:ext uri="{FF2B5EF4-FFF2-40B4-BE49-F238E27FC236}">
                  <a16:creationId xmlns:a16="http://schemas.microsoft.com/office/drawing/2014/main" id="{E8A2D369-73BF-4B1F-AF0A-AF36A42A352A}"/>
                </a:ext>
              </a:extLst>
            </p:cNvPr>
            <p:cNvSpPr/>
            <p:nvPr/>
          </p:nvSpPr>
          <p:spPr bwMode="gray">
            <a:xfrm>
              <a:off x="5034846" y="2771592"/>
              <a:ext cx="1070903"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solidFill>
                    <a:schemeClr val="tx1"/>
                  </a:solidFill>
                </a:rPr>
                <a:t>URI</a:t>
              </a:r>
              <a:endParaRPr lang="zh-CN" altLang="en-US" sz="1500">
                <a:solidFill>
                  <a:schemeClr val="tx1"/>
                </a:solidFill>
              </a:endParaRPr>
            </a:p>
          </p:txBody>
        </p:sp>
        <p:sp>
          <p:nvSpPr>
            <p:cNvPr id="40" name="矩形 39">
              <a:extLst>
                <a:ext uri="{FF2B5EF4-FFF2-40B4-BE49-F238E27FC236}">
                  <a16:creationId xmlns:a16="http://schemas.microsoft.com/office/drawing/2014/main" id="{FE4A73F8-F45F-4216-B6C8-7B97955278AC}"/>
                </a:ext>
              </a:extLst>
            </p:cNvPr>
            <p:cNvSpPr/>
            <p:nvPr/>
          </p:nvSpPr>
          <p:spPr bwMode="gray">
            <a:xfrm>
              <a:off x="6750275" y="2771591"/>
              <a:ext cx="1381846"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协议版本</a:t>
              </a:r>
            </a:p>
          </p:txBody>
        </p:sp>
        <p:sp>
          <p:nvSpPr>
            <p:cNvPr id="41" name="矩形 40">
              <a:extLst>
                <a:ext uri="{FF2B5EF4-FFF2-40B4-BE49-F238E27FC236}">
                  <a16:creationId xmlns:a16="http://schemas.microsoft.com/office/drawing/2014/main" id="{3F04E949-4CCC-4846-8B15-6F183B7861C1}"/>
                </a:ext>
              </a:extLst>
            </p:cNvPr>
            <p:cNvSpPr/>
            <p:nvPr/>
          </p:nvSpPr>
          <p:spPr bwMode="gray">
            <a:xfrm>
              <a:off x="3333858" y="4546796"/>
              <a:ext cx="5080901"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数据</a:t>
              </a:r>
            </a:p>
          </p:txBody>
        </p:sp>
        <p:sp>
          <p:nvSpPr>
            <p:cNvPr id="42" name="矩形 41">
              <a:extLst>
                <a:ext uri="{FF2B5EF4-FFF2-40B4-BE49-F238E27FC236}">
                  <a16:creationId xmlns:a16="http://schemas.microsoft.com/office/drawing/2014/main" id="{ED1FF46C-3174-448F-9ADD-33C5AECA1FDF}"/>
                </a:ext>
              </a:extLst>
            </p:cNvPr>
            <p:cNvSpPr/>
            <p:nvPr/>
          </p:nvSpPr>
          <p:spPr bwMode="gray">
            <a:xfrm>
              <a:off x="4399373" y="2771592"/>
              <a:ext cx="671367"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空格</a:t>
              </a:r>
            </a:p>
          </p:txBody>
        </p:sp>
        <p:sp>
          <p:nvSpPr>
            <p:cNvPr id="43" name="矩形 42">
              <a:extLst>
                <a:ext uri="{FF2B5EF4-FFF2-40B4-BE49-F238E27FC236}">
                  <a16:creationId xmlns:a16="http://schemas.microsoft.com/office/drawing/2014/main" id="{ED1FF46C-3174-448F-9ADD-33C5AECA1FDF}"/>
                </a:ext>
              </a:extLst>
            </p:cNvPr>
            <p:cNvSpPr/>
            <p:nvPr/>
          </p:nvSpPr>
          <p:spPr bwMode="gray">
            <a:xfrm>
              <a:off x="6078908" y="2771592"/>
              <a:ext cx="671367"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空格</a:t>
              </a:r>
            </a:p>
          </p:txBody>
        </p:sp>
        <p:grpSp>
          <p:nvGrpSpPr>
            <p:cNvPr id="44" name="组合 43"/>
            <p:cNvGrpSpPr/>
            <p:nvPr/>
          </p:nvGrpSpPr>
          <p:grpSpPr bwMode="gray">
            <a:xfrm>
              <a:off x="3333858" y="4184489"/>
              <a:ext cx="1570713" cy="360040"/>
              <a:chOff x="6670863" y="4556412"/>
              <a:chExt cx="1570713" cy="360040"/>
            </a:xfrm>
            <a:solidFill>
              <a:srgbClr val="FFFFFF"/>
            </a:solidFill>
          </p:grpSpPr>
          <p:sp>
            <p:nvSpPr>
              <p:cNvPr id="57" name="矩形 56">
                <a:extLst>
                  <a:ext uri="{FF2B5EF4-FFF2-40B4-BE49-F238E27FC236}">
                    <a16:creationId xmlns:a16="http://schemas.microsoft.com/office/drawing/2014/main" id="{ED1FF46C-3174-448F-9ADD-33C5AECA1FDF}"/>
                  </a:ext>
                </a:extLst>
              </p:cNvPr>
              <p:cNvSpPr/>
              <p:nvPr/>
            </p:nvSpPr>
            <p:spPr bwMode="gray">
              <a:xfrm>
                <a:off x="6670863" y="4556412"/>
                <a:ext cx="785829"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58" name="矩形 57">
                <a:extLst>
                  <a:ext uri="{FF2B5EF4-FFF2-40B4-BE49-F238E27FC236}">
                    <a16:creationId xmlns:a16="http://schemas.microsoft.com/office/drawing/2014/main" id="{ED1FF46C-3174-448F-9ADD-33C5AECA1FDF}"/>
                  </a:ext>
                </a:extLst>
              </p:cNvPr>
              <p:cNvSpPr/>
              <p:nvPr/>
            </p:nvSpPr>
            <p:spPr bwMode="gray">
              <a:xfrm>
                <a:off x="7456692" y="4556412"/>
                <a:ext cx="784884"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grpSp>
          <p:nvGrpSpPr>
            <p:cNvPr id="45" name="组合 44"/>
            <p:cNvGrpSpPr/>
            <p:nvPr/>
          </p:nvGrpSpPr>
          <p:grpSpPr bwMode="gray">
            <a:xfrm>
              <a:off x="3333859" y="3118396"/>
              <a:ext cx="5085093" cy="323165"/>
              <a:chOff x="1898948" y="4916449"/>
              <a:chExt cx="5085093" cy="311619"/>
            </a:xfrm>
            <a:solidFill>
              <a:srgbClr val="FFFFFF"/>
            </a:solidFill>
          </p:grpSpPr>
          <p:sp>
            <p:nvSpPr>
              <p:cNvPr id="54" name="矩形 53">
                <a:extLst>
                  <a:ext uri="{FF2B5EF4-FFF2-40B4-BE49-F238E27FC236}">
                    <a16:creationId xmlns:a16="http://schemas.microsoft.com/office/drawing/2014/main" id="{DE3F0C5F-22A9-4922-B2C2-C3EB12DD441E}"/>
                  </a:ext>
                </a:extLst>
              </p:cNvPr>
              <p:cNvSpPr/>
              <p:nvPr/>
            </p:nvSpPr>
            <p:spPr bwMode="gray">
              <a:xfrm>
                <a:off x="1898948" y="4916449"/>
                <a:ext cx="3516163" cy="311619"/>
              </a:xfrm>
              <a:prstGeom prst="rect">
                <a:avLst/>
              </a:prstGeom>
              <a:solidFill>
                <a:srgbClr val="56C4D2"/>
              </a:solidFill>
            </p:spPr>
            <p:txBody>
              <a:bodyPr wrap="square" rtlCol="0">
                <a:spAutoFit/>
              </a:bodyPr>
              <a:lstStyle/>
              <a:p>
                <a:pPr algn="ctr"/>
                <a:r>
                  <a:rPr lang="zh-CN" altLang="en-US" sz="1500" b="1" dirty="0">
                    <a:solidFill>
                      <a:schemeClr val="bg1"/>
                    </a:solidFill>
                  </a:rPr>
                  <a:t>头部字段名：值</a:t>
                </a:r>
                <a:endParaRPr lang="en-US" altLang="zh-CN" sz="1500" b="1" dirty="0">
                  <a:solidFill>
                    <a:schemeClr val="bg1"/>
                  </a:solidFill>
                </a:endParaRPr>
              </a:p>
            </p:txBody>
          </p:sp>
          <p:sp>
            <p:nvSpPr>
              <p:cNvPr id="55" name="矩形 54">
                <a:extLst>
                  <a:ext uri="{FF2B5EF4-FFF2-40B4-BE49-F238E27FC236}">
                    <a16:creationId xmlns:a16="http://schemas.microsoft.com/office/drawing/2014/main" id="{ED1FF46C-3174-448F-9ADD-33C5AECA1FDF}"/>
                  </a:ext>
                </a:extLst>
              </p:cNvPr>
              <p:cNvSpPr/>
              <p:nvPr/>
            </p:nvSpPr>
            <p:spPr bwMode="gray">
              <a:xfrm>
                <a:off x="5404225" y="4916449"/>
                <a:ext cx="784884" cy="311619"/>
              </a:xfrm>
              <a:prstGeom prst="rect">
                <a:avLst/>
              </a:prstGeom>
              <a:solidFill>
                <a:srgbClr val="56C4D2"/>
              </a:solidFill>
            </p:spPr>
            <p:txBody>
              <a:bodyPr wrap="square" rtlCol="0">
                <a:spAutoFit/>
              </a:bodyPr>
              <a:lstStyle/>
              <a:p>
                <a:pPr algn="ctr"/>
                <a:r>
                  <a:rPr lang="zh-CN" altLang="en-US" sz="1500" b="1">
                    <a:solidFill>
                      <a:schemeClr val="bg1"/>
                    </a:solidFill>
                  </a:rPr>
                  <a:t>回车符</a:t>
                </a:r>
              </a:p>
            </p:txBody>
          </p:sp>
          <p:sp>
            <p:nvSpPr>
              <p:cNvPr id="56" name="矩形 55">
                <a:extLst>
                  <a:ext uri="{FF2B5EF4-FFF2-40B4-BE49-F238E27FC236}">
                    <a16:creationId xmlns:a16="http://schemas.microsoft.com/office/drawing/2014/main" id="{ED1FF46C-3174-448F-9ADD-33C5AECA1FDF}"/>
                  </a:ext>
                </a:extLst>
              </p:cNvPr>
              <p:cNvSpPr/>
              <p:nvPr/>
            </p:nvSpPr>
            <p:spPr bwMode="gray">
              <a:xfrm>
                <a:off x="6189109" y="4916449"/>
                <a:ext cx="794932" cy="311619"/>
              </a:xfrm>
              <a:prstGeom prst="rect">
                <a:avLst/>
              </a:prstGeom>
              <a:solidFill>
                <a:srgbClr val="56C4D2"/>
              </a:solidFill>
            </p:spPr>
            <p:txBody>
              <a:bodyPr wrap="square" rtlCol="0">
                <a:spAutoFit/>
              </a:bodyPr>
              <a:lstStyle/>
              <a:p>
                <a:pPr algn="ctr"/>
                <a:r>
                  <a:rPr lang="zh-CN" altLang="en-US" sz="1500" b="1">
                    <a:solidFill>
                      <a:schemeClr val="bg1"/>
                    </a:solidFill>
                  </a:rPr>
                  <a:t>换行符</a:t>
                </a:r>
              </a:p>
            </p:txBody>
          </p:sp>
        </p:grpSp>
        <p:sp>
          <p:nvSpPr>
            <p:cNvPr id="46" name="矩形 45">
              <a:extLst>
                <a:ext uri="{FF2B5EF4-FFF2-40B4-BE49-F238E27FC236}">
                  <a16:creationId xmlns:a16="http://schemas.microsoft.com/office/drawing/2014/main" id="{DE3F0C5F-22A9-4922-B2C2-C3EB12DD441E}"/>
                </a:ext>
              </a:extLst>
            </p:cNvPr>
            <p:cNvSpPr/>
            <p:nvPr/>
          </p:nvSpPr>
          <p:spPr bwMode="gray">
            <a:xfrm>
              <a:off x="3333859" y="3485034"/>
              <a:ext cx="5085093" cy="323165"/>
            </a:xfrm>
            <a:prstGeom prst="rect">
              <a:avLst/>
            </a:prstGeom>
            <a:solidFill>
              <a:srgbClr val="56C4D2"/>
            </a:solidFill>
          </p:spPr>
          <p:txBody>
            <a:bodyPr wrap="square" rtlCol="0">
              <a:spAutoFit/>
            </a:bodyPr>
            <a:lstStyle/>
            <a:p>
              <a:pPr algn="ctr"/>
              <a:r>
                <a:rPr lang="en-US" altLang="zh-CN" sz="1500" b="1">
                  <a:solidFill>
                    <a:schemeClr val="bg1"/>
                  </a:solidFill>
                </a:rPr>
                <a:t>…</a:t>
              </a:r>
            </a:p>
          </p:txBody>
        </p:sp>
        <p:grpSp>
          <p:nvGrpSpPr>
            <p:cNvPr id="47" name="组合 46"/>
            <p:cNvGrpSpPr/>
            <p:nvPr/>
          </p:nvGrpSpPr>
          <p:grpSpPr bwMode="gray">
            <a:xfrm>
              <a:off x="3333859" y="3838147"/>
              <a:ext cx="5085092" cy="327334"/>
              <a:chOff x="1894037" y="4916451"/>
              <a:chExt cx="5085092" cy="321428"/>
            </a:xfrm>
            <a:solidFill>
              <a:srgbClr val="FFFFFF"/>
            </a:solidFill>
          </p:grpSpPr>
          <p:sp>
            <p:nvSpPr>
              <p:cNvPr id="51" name="矩形 50">
                <a:extLst>
                  <a:ext uri="{FF2B5EF4-FFF2-40B4-BE49-F238E27FC236}">
                    <a16:creationId xmlns:a16="http://schemas.microsoft.com/office/drawing/2014/main" id="{DE3F0C5F-22A9-4922-B2C2-C3EB12DD441E}"/>
                  </a:ext>
                </a:extLst>
              </p:cNvPr>
              <p:cNvSpPr/>
              <p:nvPr/>
            </p:nvSpPr>
            <p:spPr bwMode="gray">
              <a:xfrm>
                <a:off x="1894037" y="4916451"/>
                <a:ext cx="3521074" cy="317334"/>
              </a:xfrm>
              <a:prstGeom prst="rect">
                <a:avLst/>
              </a:prstGeom>
              <a:solidFill>
                <a:srgbClr val="56C4D2"/>
              </a:solidFill>
            </p:spPr>
            <p:txBody>
              <a:bodyPr wrap="square" rtlCol="0">
                <a:spAutoFit/>
              </a:bodyPr>
              <a:lstStyle/>
              <a:p>
                <a:pPr algn="ctr"/>
                <a:r>
                  <a:rPr lang="zh-CN" altLang="en-US" sz="1500" b="1">
                    <a:solidFill>
                      <a:schemeClr val="bg1"/>
                    </a:solidFill>
                  </a:rPr>
                  <a:t>头部字段名：值</a:t>
                </a:r>
                <a:endParaRPr lang="en-US" altLang="zh-CN" sz="1500" b="1">
                  <a:solidFill>
                    <a:schemeClr val="bg1"/>
                  </a:solidFill>
                </a:endParaRPr>
              </a:p>
            </p:txBody>
          </p:sp>
          <p:sp>
            <p:nvSpPr>
              <p:cNvPr id="52" name="矩形 51">
                <a:extLst>
                  <a:ext uri="{FF2B5EF4-FFF2-40B4-BE49-F238E27FC236}">
                    <a16:creationId xmlns:a16="http://schemas.microsoft.com/office/drawing/2014/main" id="{ED1FF46C-3174-448F-9ADD-33C5AECA1FDF}"/>
                  </a:ext>
                </a:extLst>
              </p:cNvPr>
              <p:cNvSpPr/>
              <p:nvPr/>
            </p:nvSpPr>
            <p:spPr bwMode="gray">
              <a:xfrm>
                <a:off x="5404225" y="4920545"/>
                <a:ext cx="784884" cy="317334"/>
              </a:xfrm>
              <a:prstGeom prst="rect">
                <a:avLst/>
              </a:prstGeom>
              <a:solidFill>
                <a:srgbClr val="56C4D2"/>
              </a:solidFill>
            </p:spPr>
            <p:txBody>
              <a:bodyPr wrap="square" rtlCol="0">
                <a:spAutoFit/>
              </a:bodyPr>
              <a:lstStyle/>
              <a:p>
                <a:pPr algn="ctr"/>
                <a:r>
                  <a:rPr lang="zh-CN" altLang="en-US" sz="1500" b="1">
                    <a:solidFill>
                      <a:schemeClr val="bg1"/>
                    </a:solidFill>
                  </a:rPr>
                  <a:t>回车符</a:t>
                </a:r>
              </a:p>
            </p:txBody>
          </p:sp>
          <p:sp>
            <p:nvSpPr>
              <p:cNvPr id="53" name="矩形 52">
                <a:extLst>
                  <a:ext uri="{FF2B5EF4-FFF2-40B4-BE49-F238E27FC236}">
                    <a16:creationId xmlns:a16="http://schemas.microsoft.com/office/drawing/2014/main" id="{ED1FF46C-3174-448F-9ADD-33C5AECA1FDF}"/>
                  </a:ext>
                </a:extLst>
              </p:cNvPr>
              <p:cNvSpPr/>
              <p:nvPr/>
            </p:nvSpPr>
            <p:spPr bwMode="gray">
              <a:xfrm>
                <a:off x="6189108" y="4920545"/>
                <a:ext cx="790021" cy="317334"/>
              </a:xfrm>
              <a:prstGeom prst="rect">
                <a:avLst/>
              </a:prstGeom>
              <a:solidFill>
                <a:srgbClr val="56C4D2"/>
              </a:solidFill>
            </p:spPr>
            <p:txBody>
              <a:bodyPr wrap="square" rtlCol="0">
                <a:spAutoFit/>
              </a:bodyPr>
              <a:lstStyle/>
              <a:p>
                <a:pPr algn="ctr"/>
                <a:r>
                  <a:rPr lang="zh-CN" altLang="en-US" sz="1500" b="1">
                    <a:solidFill>
                      <a:schemeClr val="bg1"/>
                    </a:solidFill>
                  </a:rPr>
                  <a:t>换行符</a:t>
                </a:r>
              </a:p>
            </p:txBody>
          </p:sp>
        </p:grpSp>
        <p:grpSp>
          <p:nvGrpSpPr>
            <p:cNvPr id="48" name="组合 47"/>
            <p:cNvGrpSpPr/>
            <p:nvPr/>
          </p:nvGrpSpPr>
          <p:grpSpPr bwMode="gray">
            <a:xfrm>
              <a:off x="8121235" y="2771585"/>
              <a:ext cx="1569768" cy="346800"/>
              <a:chOff x="6671808" y="4556412"/>
              <a:chExt cx="1569768" cy="357611"/>
            </a:xfrm>
            <a:solidFill>
              <a:srgbClr val="FFFFFF"/>
            </a:solidFill>
          </p:grpSpPr>
          <p:sp>
            <p:nvSpPr>
              <p:cNvPr id="49" name="矩形 48">
                <a:extLst>
                  <a:ext uri="{FF2B5EF4-FFF2-40B4-BE49-F238E27FC236}">
                    <a16:creationId xmlns:a16="http://schemas.microsoft.com/office/drawing/2014/main" id="{ED1FF46C-3174-448F-9ADD-33C5AECA1FDF}"/>
                  </a:ext>
                </a:extLst>
              </p:cNvPr>
              <p:cNvSpPr/>
              <p:nvPr/>
            </p:nvSpPr>
            <p:spPr bwMode="gray">
              <a:xfrm>
                <a:off x="6671808" y="4556412"/>
                <a:ext cx="784884" cy="357611"/>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50" name="矩形 49">
                <a:extLst>
                  <a:ext uri="{FF2B5EF4-FFF2-40B4-BE49-F238E27FC236}">
                    <a16:creationId xmlns:a16="http://schemas.microsoft.com/office/drawing/2014/main" id="{ED1FF46C-3174-448F-9ADD-33C5AECA1FDF}"/>
                  </a:ext>
                </a:extLst>
              </p:cNvPr>
              <p:cNvSpPr/>
              <p:nvPr/>
            </p:nvSpPr>
            <p:spPr bwMode="gray">
              <a:xfrm>
                <a:off x="7456692" y="4556412"/>
                <a:ext cx="784884" cy="357611"/>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grpSp>
      <p:sp>
        <p:nvSpPr>
          <p:cNvPr id="30" name="文本框 29">
            <a:extLst>
              <a:ext uri="{FF2B5EF4-FFF2-40B4-BE49-F238E27FC236}">
                <a16:creationId xmlns:a16="http://schemas.microsoft.com/office/drawing/2014/main" id="{69387562-BBB4-4B4D-B3CF-C5337D4F1D5C}"/>
              </a:ext>
            </a:extLst>
          </p:cNvPr>
          <p:cNvSpPr txBox="1"/>
          <p:nvPr/>
        </p:nvSpPr>
        <p:spPr bwMode="gray">
          <a:xfrm>
            <a:off x="3001519" y="1841425"/>
            <a:ext cx="6607432" cy="1569660"/>
          </a:xfrm>
          <a:prstGeom prst="rect">
            <a:avLst/>
          </a:prstGeom>
          <a:noFill/>
          <a:ln>
            <a:solidFill>
              <a:srgbClr val="56C4D2"/>
            </a:solidFill>
          </a:ln>
        </p:spPr>
        <p:txBody>
          <a:bodyPr wrap="square" rtlCol="0">
            <a:spAutoFit/>
          </a:bodyPr>
          <a:lstStyle/>
          <a:p>
            <a:pPr>
              <a:lnSpc>
                <a:spcPct val="150000"/>
              </a:lnSpc>
            </a:pPr>
            <a:r>
              <a:rPr lang="zh-CN" altLang="en-US" sz="1600" dirty="0"/>
              <a:t>请求头部示例：</a:t>
            </a:r>
            <a:endParaRPr lang="en-US" altLang="zh-CN" sz="1600" dirty="0"/>
          </a:p>
          <a:p>
            <a:pPr>
              <a:lnSpc>
                <a:spcPct val="150000"/>
              </a:lnSpc>
            </a:pPr>
            <a:r>
              <a:rPr lang="en-US" altLang="zh-CN" sz="1600" dirty="0"/>
              <a:t>Accept: text/html</a:t>
            </a:r>
          </a:p>
          <a:p>
            <a:pPr fontAlgn="t">
              <a:lnSpc>
                <a:spcPct val="150000"/>
              </a:lnSpc>
            </a:pPr>
            <a:r>
              <a:rPr lang="en-US" altLang="zh-CN" sz="1600" dirty="0"/>
              <a:t>Accept-Encoding: </a:t>
            </a:r>
            <a:r>
              <a:rPr lang="en-US" altLang="zh-CN" sz="1600" dirty="0" err="1"/>
              <a:t>gzip</a:t>
            </a:r>
            <a:r>
              <a:rPr lang="en-US" altLang="zh-CN" sz="1600" dirty="0"/>
              <a:t>, deflate, </a:t>
            </a:r>
            <a:r>
              <a:rPr lang="en-US" altLang="zh-CN" sz="1600" dirty="0" err="1"/>
              <a:t>br</a:t>
            </a:r>
            <a:endParaRPr lang="en-US" altLang="zh-CN" sz="1600" dirty="0"/>
          </a:p>
          <a:p>
            <a:pPr fontAlgn="t">
              <a:lnSpc>
                <a:spcPct val="150000"/>
              </a:lnSpc>
            </a:pPr>
            <a:r>
              <a:rPr lang="en-US" altLang="zh-CN" sz="1600" dirty="0"/>
              <a:t>Connection: keep-alive</a:t>
            </a:r>
          </a:p>
        </p:txBody>
      </p:sp>
      <p:sp>
        <p:nvSpPr>
          <p:cNvPr id="36" name="五边形 35"/>
          <p:cNvSpPr/>
          <p:nvPr/>
        </p:nvSpPr>
        <p:spPr bwMode="gray">
          <a:xfrm>
            <a:off x="8747863" y="112853"/>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请求行</a:t>
            </a:r>
          </a:p>
        </p:txBody>
      </p:sp>
      <p:sp>
        <p:nvSpPr>
          <p:cNvPr id="59" name="燕尾形 58"/>
          <p:cNvSpPr/>
          <p:nvPr/>
        </p:nvSpPr>
        <p:spPr bwMode="gray">
          <a:xfrm>
            <a:off x="9724807" y="112853"/>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请求头部</a:t>
            </a:r>
          </a:p>
        </p:txBody>
      </p:sp>
      <p:sp>
        <p:nvSpPr>
          <p:cNvPr id="60" name="燕尾形 59"/>
          <p:cNvSpPr/>
          <p:nvPr/>
        </p:nvSpPr>
        <p:spPr bwMode="gray">
          <a:xfrm>
            <a:off x="10691591" y="112853"/>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请求数据</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72367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r>
              <a:rPr lang="zh-CN" altLang="en-US"/>
              <a:t>请求头部字段</a:t>
            </a:r>
          </a:p>
        </p:txBody>
      </p:sp>
      <p:graphicFrame>
        <p:nvGraphicFramePr>
          <p:cNvPr id="5" name="表格 4"/>
          <p:cNvGraphicFramePr>
            <a:graphicFrameLocks noGrp="1"/>
          </p:cNvGraphicFramePr>
          <p:nvPr>
            <p:extLst>
              <p:ext uri="{D42A27DB-BD31-4B8C-83A1-F6EECF244321}">
                <p14:modId xmlns:p14="http://schemas.microsoft.com/office/powerpoint/2010/main" val="71583246"/>
              </p:ext>
            </p:extLst>
          </p:nvPr>
        </p:nvGraphicFramePr>
        <p:xfrm>
          <a:off x="1808969" y="1066778"/>
          <a:ext cx="8882622" cy="4993138"/>
        </p:xfrm>
        <a:graphic>
          <a:graphicData uri="http://schemas.openxmlformats.org/drawingml/2006/table">
            <a:tbl>
              <a:tblPr/>
              <a:tblGrid>
                <a:gridCol w="2268010">
                  <a:extLst>
                    <a:ext uri="{9D8B030D-6E8A-4147-A177-3AD203B41FA5}">
                      <a16:colId xmlns:a16="http://schemas.microsoft.com/office/drawing/2014/main" val="20000"/>
                    </a:ext>
                  </a:extLst>
                </a:gridCol>
                <a:gridCol w="6614612">
                  <a:extLst>
                    <a:ext uri="{9D8B030D-6E8A-4147-A177-3AD203B41FA5}">
                      <a16:colId xmlns:a16="http://schemas.microsoft.com/office/drawing/2014/main" val="20001"/>
                    </a:ext>
                  </a:extLst>
                </a:gridCol>
              </a:tblGrid>
              <a:tr h="384814">
                <a:tc>
                  <a:txBody>
                    <a:bodyPr/>
                    <a:lstStyle/>
                    <a:p>
                      <a:pPr algn="ctr">
                        <a:lnSpc>
                          <a:spcPct val="100000"/>
                        </a:lnSpc>
                      </a:pP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请求头字段</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含义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20596">
                <a:tc>
                  <a:txBody>
                    <a:bodyPr/>
                    <a:lstStyle/>
                    <a:p>
                      <a:pPr algn="ctr">
                        <a:lnSpc>
                          <a:spcPct val="100000"/>
                        </a:lnSpc>
                      </a:pP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Accept</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400" dirty="0"/>
                        <a:t>客户端可接受的</a:t>
                      </a:r>
                      <a:r>
                        <a:rPr lang="en-US" altLang="zh-CN" sz="1400" dirty="0"/>
                        <a:t>MIME</a:t>
                      </a:r>
                      <a:r>
                        <a:rPr lang="zh-CN" altLang="en-US" sz="1400" dirty="0"/>
                        <a:t>类型</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0596">
                <a:tc>
                  <a:txBody>
                    <a:bodyPr/>
                    <a:lstStyle/>
                    <a:p>
                      <a:pPr algn="ctr">
                        <a:lnSpc>
                          <a:spcPct val="100000"/>
                        </a:lnSpc>
                      </a:pPr>
                      <a:r>
                        <a:rPr lang="en-US" altLang="zh-CN" sz="1400" dirty="0"/>
                        <a:t>Accept-Encoding</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客户端能够进行解码的数据编码方式，比如</a:t>
                      </a:r>
                      <a:r>
                        <a:rPr lang="en-US" altLang="zh-CN" sz="1400" dirty="0" err="1"/>
                        <a:t>gzip</a:t>
                      </a:r>
                      <a:endParaRPr lang="zh-CN" alt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0596">
                <a:tc>
                  <a:txBody>
                    <a:bodyPr/>
                    <a:lstStyle/>
                    <a:p>
                      <a:pPr algn="ctr">
                        <a:lnSpc>
                          <a:spcPct val="100000"/>
                        </a:lnSpc>
                      </a:pPr>
                      <a:r>
                        <a:rPr lang="en-US" altLang="zh-CN" sz="1400" dirty="0"/>
                        <a:t>Accept-Language</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客户端所希望的语言种类，当服务器能够提供一种以上的语言版本时需要</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20596">
                <a:tc>
                  <a:txBody>
                    <a:bodyPr/>
                    <a:lstStyle/>
                    <a:p>
                      <a:pPr algn="ctr">
                        <a:lnSpc>
                          <a:spcPct val="100000"/>
                        </a:lnSpc>
                      </a:pPr>
                      <a:r>
                        <a:rPr lang="en-US" altLang="zh-CN" sz="1400" dirty="0"/>
                        <a:t>Authorization</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授权信息，通常出现在对服务器发送的</a:t>
                      </a:r>
                      <a:r>
                        <a:rPr lang="en-US" altLang="zh-CN" sz="1400" dirty="0"/>
                        <a:t>WWW-Authenticate</a:t>
                      </a:r>
                      <a:r>
                        <a:rPr lang="zh-CN" altLang="en-US" sz="1400" dirty="0"/>
                        <a:t>头的应答中</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20596">
                <a:tc>
                  <a:txBody>
                    <a:bodyPr/>
                    <a:lstStyle/>
                    <a:p>
                      <a:pPr algn="ctr">
                        <a:lnSpc>
                          <a:spcPct val="100000"/>
                        </a:lnSpc>
                      </a:pPr>
                      <a:r>
                        <a:rPr lang="en-US" altLang="zh-CN" sz="1400"/>
                        <a:t>Content-Type</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表示数据属于什么</a:t>
                      </a:r>
                      <a:r>
                        <a:rPr lang="en-US" altLang="zh-CN" sz="1400" dirty="0"/>
                        <a:t>MIME</a:t>
                      </a:r>
                      <a:r>
                        <a:rPr lang="zh-CN" altLang="en-US" sz="1400" dirty="0"/>
                        <a:t>类型。默认为</a:t>
                      </a:r>
                      <a:r>
                        <a:rPr lang="en-US" altLang="zh-CN" sz="1400" dirty="0"/>
                        <a:t>text/plain</a:t>
                      </a:r>
                      <a:r>
                        <a:rPr lang="zh-CN" altLang="en-US" sz="1400" kern="1200" dirty="0">
                          <a:solidFill>
                            <a:schemeClr val="tx1"/>
                          </a:solidFill>
                          <a:latin typeface="+mn-lt"/>
                          <a:ea typeface="+mn-ea"/>
                          <a:cs typeface="+mn-cs"/>
                        </a:rPr>
                        <a:t>纯文本格式</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20596">
                <a:tc>
                  <a:txBody>
                    <a:bodyPr/>
                    <a:lstStyle/>
                    <a:p>
                      <a:pPr algn="ctr">
                        <a:lnSpc>
                          <a:spcPct val="100000"/>
                        </a:lnSpc>
                      </a:pPr>
                      <a:r>
                        <a:rPr lang="en-US" altLang="zh-CN" sz="1400"/>
                        <a:t>Content-Length</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表示请求消息正文的长度</a:t>
                      </a:r>
                      <a:endParaRPr lang="zh-CN" altLang="en-US" sz="1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20596">
                <a:tc>
                  <a:txBody>
                    <a:bodyPr/>
                    <a:lstStyle/>
                    <a:p>
                      <a:pPr algn="ctr">
                        <a:lnSpc>
                          <a:spcPct val="100000"/>
                        </a:lnSpc>
                      </a:pP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Host</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kern="1200" dirty="0">
                          <a:solidFill>
                            <a:schemeClr val="tx1"/>
                          </a:solidFill>
                          <a:latin typeface="+mn-lt"/>
                          <a:ea typeface="+mn-ea"/>
                          <a:cs typeface="+mn-cs"/>
                        </a:rPr>
                        <a:t>客户端要访问的主机名</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74260">
                <a:tc>
                  <a:txBody>
                    <a:bodyPr/>
                    <a:lstStyle/>
                    <a:p>
                      <a:pPr algn="ctr">
                        <a:lnSpc>
                          <a:spcPct val="100000"/>
                        </a:lnSpc>
                      </a:pP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Referer</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kern="1200" dirty="0">
                          <a:solidFill>
                            <a:schemeClr val="tx1"/>
                          </a:solidFill>
                          <a:latin typeface="+mn-lt"/>
                          <a:ea typeface="+mn-ea"/>
                          <a:cs typeface="+mn-cs"/>
                        </a:rPr>
                        <a:t>客户端通过该字段表示自己从哪个资源来访问服务器的，该字段包含一个</a:t>
                      </a:r>
                      <a:r>
                        <a:rPr lang="en-US" altLang="zh-CN" sz="1400" kern="1200" dirty="0">
                          <a:solidFill>
                            <a:schemeClr val="tx1"/>
                          </a:solidFill>
                          <a:latin typeface="+mn-lt"/>
                          <a:ea typeface="+mn-ea"/>
                          <a:cs typeface="+mn-cs"/>
                        </a:rPr>
                        <a:t>URL</a:t>
                      </a:r>
                      <a:r>
                        <a:rPr lang="zh-CN" altLang="en-US" sz="1400" kern="1200" dirty="0">
                          <a:solidFill>
                            <a:schemeClr val="tx1"/>
                          </a:solidFill>
                          <a:latin typeface="+mn-lt"/>
                          <a:ea typeface="+mn-ea"/>
                          <a:cs typeface="+mn-cs"/>
                        </a:rPr>
                        <a:t>，表示从该</a:t>
                      </a:r>
                      <a:r>
                        <a:rPr lang="en-US" altLang="zh-CN" sz="1400" kern="1200" dirty="0">
                          <a:solidFill>
                            <a:schemeClr val="tx1"/>
                          </a:solidFill>
                          <a:latin typeface="+mn-lt"/>
                          <a:ea typeface="+mn-ea"/>
                          <a:cs typeface="+mn-cs"/>
                        </a:rPr>
                        <a:t>URL</a:t>
                      </a:r>
                      <a:r>
                        <a:rPr lang="zh-CN" altLang="en-US" sz="1400" kern="1200" dirty="0">
                          <a:solidFill>
                            <a:schemeClr val="tx1"/>
                          </a:solidFill>
                          <a:latin typeface="+mn-lt"/>
                          <a:ea typeface="+mn-ea"/>
                          <a:cs typeface="+mn-cs"/>
                        </a:rPr>
                        <a:t>代表的页面出发访问当前请求的页面</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20596">
                <a:tc>
                  <a:txBody>
                    <a:bodyPr/>
                    <a:lstStyle/>
                    <a:p>
                      <a:pPr algn="ctr">
                        <a:lnSpc>
                          <a:spcPct val="100000"/>
                        </a:lnSpc>
                      </a:pPr>
                      <a:r>
                        <a:rPr lang="en-US" altLang="zh-CN" sz="1400"/>
                        <a:t>User-Agent</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t>该字段包含发出请求的用户信息，客户端类型</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420596">
                <a:tc>
                  <a:txBody>
                    <a:bodyPr/>
                    <a:lstStyle/>
                    <a:p>
                      <a:pPr algn="ctr">
                        <a:lnSpc>
                          <a:spcPct val="100000"/>
                        </a:lnSpc>
                      </a:pP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Cookie</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mn-lt"/>
                          <a:ea typeface="+mn-ea"/>
                          <a:cs typeface="+mn-cs"/>
                        </a:rPr>
                        <a:t>用于客户端保存服务器返回的数据，通常保存用户身份信息</a:t>
                      </a:r>
                      <a:endParaRPr lang="zh-CN" alt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78977">
                <a:tc>
                  <a:txBody>
                    <a:bodyPr/>
                    <a:lstStyle/>
                    <a:p>
                      <a:pPr algn="ctr">
                        <a:lnSpc>
                          <a:spcPct val="100000"/>
                        </a:lnSpc>
                      </a:pP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Connection</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t>表示处理完该次请求后是否断开连接</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6" name="内容占位符 2"/>
          <p:cNvSpPr txBox="1">
            <a:spLocks/>
          </p:cNvSpPr>
          <p:nvPr/>
        </p:nvSpPr>
        <p:spPr>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500"/>
          </a:p>
        </p:txBody>
      </p:sp>
      <p:sp>
        <p:nvSpPr>
          <p:cNvPr id="12" name="五边形 11"/>
          <p:cNvSpPr/>
          <p:nvPr/>
        </p:nvSpPr>
        <p:spPr bwMode="auto">
          <a:xfrm>
            <a:off x="8747863" y="112853"/>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请求行</a:t>
            </a:r>
          </a:p>
        </p:txBody>
      </p:sp>
      <p:sp>
        <p:nvSpPr>
          <p:cNvPr id="13" name="燕尾形 12"/>
          <p:cNvSpPr/>
          <p:nvPr/>
        </p:nvSpPr>
        <p:spPr bwMode="auto">
          <a:xfrm>
            <a:off x="9724807" y="112853"/>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请求头部</a:t>
            </a:r>
          </a:p>
        </p:txBody>
      </p:sp>
      <p:sp>
        <p:nvSpPr>
          <p:cNvPr id="14" name="燕尾形 13"/>
          <p:cNvSpPr/>
          <p:nvPr/>
        </p:nvSpPr>
        <p:spPr bwMode="auto">
          <a:xfrm>
            <a:off x="10691591" y="112853"/>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请求数据</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6094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客户端请求消息：请求数据</a:t>
            </a:r>
          </a:p>
        </p:txBody>
      </p:sp>
      <p:sp>
        <p:nvSpPr>
          <p:cNvPr id="6" name="文本占位符 5"/>
          <p:cNvSpPr>
            <a:spLocks noGrp="1"/>
          </p:cNvSpPr>
          <p:nvPr>
            <p:ph type="body" sz="quarter" idx="10"/>
          </p:nvPr>
        </p:nvSpPr>
        <p:spPr bwMode="gray"/>
        <p:txBody>
          <a:bodyPr/>
          <a:lstStyle/>
          <a:p>
            <a:r>
              <a:rPr lang="zh-CN" altLang="en-US" sz="1800" dirty="0"/>
              <a:t>空行：它的作用是通过一个空行，告诉服务器请求头部到此为止。</a:t>
            </a:r>
          </a:p>
          <a:p>
            <a:r>
              <a:rPr lang="zh-CN" altLang="en-US" sz="1800" dirty="0"/>
              <a:t>请求数据：若方法字段是</a:t>
            </a:r>
            <a:r>
              <a:rPr lang="en-US" altLang="zh-CN" sz="1800" dirty="0"/>
              <a:t>GET</a:t>
            </a:r>
            <a:r>
              <a:rPr lang="zh-CN" altLang="en-US" sz="1800" dirty="0"/>
              <a:t>，则此项为空，没有数据。若方法字段是</a:t>
            </a:r>
            <a:r>
              <a:rPr lang="en-US" altLang="zh-CN" sz="1800" dirty="0"/>
              <a:t>POST</a:t>
            </a:r>
            <a:r>
              <a:rPr lang="zh-CN" altLang="en-US" sz="1800" dirty="0"/>
              <a:t>，则通常来说此处放置的是要提交的数据。</a:t>
            </a:r>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grpSp>
        <p:nvGrpSpPr>
          <p:cNvPr id="59" name="组合 58"/>
          <p:cNvGrpSpPr/>
          <p:nvPr/>
        </p:nvGrpSpPr>
        <p:grpSpPr bwMode="gray">
          <a:xfrm>
            <a:off x="3072979" y="3396324"/>
            <a:ext cx="6357145" cy="2098371"/>
            <a:chOff x="3333858" y="2771590"/>
            <a:chExt cx="6357145" cy="2098371"/>
          </a:xfrm>
        </p:grpSpPr>
        <p:sp>
          <p:nvSpPr>
            <p:cNvPr id="60" name="矩形 59">
              <a:extLst>
                <a:ext uri="{FF2B5EF4-FFF2-40B4-BE49-F238E27FC236}">
                  <a16:creationId xmlns:a16="http://schemas.microsoft.com/office/drawing/2014/main" id="{ED1FF46C-3174-448F-9ADD-33C5AECA1FDF}"/>
                </a:ext>
              </a:extLst>
            </p:cNvPr>
            <p:cNvSpPr/>
            <p:nvPr/>
          </p:nvSpPr>
          <p:spPr bwMode="gray">
            <a:xfrm>
              <a:off x="3334804" y="2771592"/>
              <a:ext cx="1065048"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请求方法</a:t>
              </a:r>
            </a:p>
          </p:txBody>
        </p:sp>
        <p:sp>
          <p:nvSpPr>
            <p:cNvPr id="61" name="矩形 60">
              <a:extLst>
                <a:ext uri="{FF2B5EF4-FFF2-40B4-BE49-F238E27FC236}">
                  <a16:creationId xmlns:a16="http://schemas.microsoft.com/office/drawing/2014/main" id="{E8A2D369-73BF-4B1F-AF0A-AF36A42A352A}"/>
                </a:ext>
              </a:extLst>
            </p:cNvPr>
            <p:cNvSpPr/>
            <p:nvPr/>
          </p:nvSpPr>
          <p:spPr bwMode="gray">
            <a:xfrm>
              <a:off x="5034846" y="2771592"/>
              <a:ext cx="1070903"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rPr>
                <a:t>URI</a:t>
              </a:r>
              <a:endParaRPr lang="zh-CN" altLang="en-US" sz="1500" dirty="0">
                <a:solidFill>
                  <a:schemeClr val="tx1"/>
                </a:solidFill>
              </a:endParaRPr>
            </a:p>
          </p:txBody>
        </p:sp>
        <p:sp>
          <p:nvSpPr>
            <p:cNvPr id="62" name="矩形 61">
              <a:extLst>
                <a:ext uri="{FF2B5EF4-FFF2-40B4-BE49-F238E27FC236}">
                  <a16:creationId xmlns:a16="http://schemas.microsoft.com/office/drawing/2014/main" id="{FE4A73F8-F45F-4216-B6C8-7B97955278AC}"/>
                </a:ext>
              </a:extLst>
            </p:cNvPr>
            <p:cNvSpPr/>
            <p:nvPr/>
          </p:nvSpPr>
          <p:spPr bwMode="gray">
            <a:xfrm>
              <a:off x="6750275" y="2771591"/>
              <a:ext cx="1381846"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协议版本</a:t>
              </a:r>
            </a:p>
          </p:txBody>
        </p:sp>
        <p:sp>
          <p:nvSpPr>
            <p:cNvPr id="63" name="矩形 62">
              <a:extLst>
                <a:ext uri="{FF2B5EF4-FFF2-40B4-BE49-F238E27FC236}">
                  <a16:creationId xmlns:a16="http://schemas.microsoft.com/office/drawing/2014/main" id="{3F04E949-4CCC-4846-8B15-6F183B7861C1}"/>
                </a:ext>
              </a:extLst>
            </p:cNvPr>
            <p:cNvSpPr/>
            <p:nvPr/>
          </p:nvSpPr>
          <p:spPr bwMode="gray">
            <a:xfrm>
              <a:off x="3333858" y="4546796"/>
              <a:ext cx="5080901" cy="323165"/>
            </a:xfrm>
            <a:prstGeom prst="rect">
              <a:avLst/>
            </a:prstGeom>
            <a:solidFill>
              <a:srgbClr val="56C4D2"/>
            </a:solidFill>
          </p:spPr>
          <p:txBody>
            <a:bodyPr wrap="square" rtlCol="0">
              <a:spAutoFit/>
            </a:bodyPr>
            <a:lstStyle/>
            <a:p>
              <a:pPr algn="ctr"/>
              <a:r>
                <a:rPr lang="zh-CN" altLang="en-US" sz="1500" b="1" dirty="0">
                  <a:solidFill>
                    <a:schemeClr val="bg1"/>
                  </a:solidFill>
                </a:rPr>
                <a:t>数据</a:t>
              </a:r>
            </a:p>
          </p:txBody>
        </p:sp>
        <p:sp>
          <p:nvSpPr>
            <p:cNvPr id="64" name="矩形 63">
              <a:extLst>
                <a:ext uri="{FF2B5EF4-FFF2-40B4-BE49-F238E27FC236}">
                  <a16:creationId xmlns:a16="http://schemas.microsoft.com/office/drawing/2014/main" id="{ED1FF46C-3174-448F-9ADD-33C5AECA1FDF}"/>
                </a:ext>
              </a:extLst>
            </p:cNvPr>
            <p:cNvSpPr/>
            <p:nvPr/>
          </p:nvSpPr>
          <p:spPr bwMode="gray">
            <a:xfrm>
              <a:off x="4399373" y="2771592"/>
              <a:ext cx="671367"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空格</a:t>
              </a:r>
            </a:p>
          </p:txBody>
        </p:sp>
        <p:sp>
          <p:nvSpPr>
            <p:cNvPr id="65" name="矩形 64">
              <a:extLst>
                <a:ext uri="{FF2B5EF4-FFF2-40B4-BE49-F238E27FC236}">
                  <a16:creationId xmlns:a16="http://schemas.microsoft.com/office/drawing/2014/main" id="{ED1FF46C-3174-448F-9ADD-33C5AECA1FDF}"/>
                </a:ext>
              </a:extLst>
            </p:cNvPr>
            <p:cNvSpPr/>
            <p:nvPr/>
          </p:nvSpPr>
          <p:spPr bwMode="gray">
            <a:xfrm>
              <a:off x="6078908" y="2771592"/>
              <a:ext cx="671367" cy="360040"/>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空格</a:t>
              </a:r>
            </a:p>
          </p:txBody>
        </p:sp>
        <p:grpSp>
          <p:nvGrpSpPr>
            <p:cNvPr id="66" name="组合 65"/>
            <p:cNvGrpSpPr/>
            <p:nvPr/>
          </p:nvGrpSpPr>
          <p:grpSpPr bwMode="gray">
            <a:xfrm>
              <a:off x="3333858" y="4184489"/>
              <a:ext cx="1570713" cy="323165"/>
              <a:chOff x="6670863" y="4556412"/>
              <a:chExt cx="1570713" cy="323165"/>
            </a:xfrm>
            <a:solidFill>
              <a:srgbClr val="FFFFFF"/>
            </a:solidFill>
          </p:grpSpPr>
          <p:sp>
            <p:nvSpPr>
              <p:cNvPr id="79" name="矩形 78">
                <a:extLst>
                  <a:ext uri="{FF2B5EF4-FFF2-40B4-BE49-F238E27FC236}">
                    <a16:creationId xmlns:a16="http://schemas.microsoft.com/office/drawing/2014/main" id="{ED1FF46C-3174-448F-9ADD-33C5AECA1FDF}"/>
                  </a:ext>
                </a:extLst>
              </p:cNvPr>
              <p:cNvSpPr/>
              <p:nvPr/>
            </p:nvSpPr>
            <p:spPr bwMode="gray">
              <a:xfrm>
                <a:off x="6670863" y="4556412"/>
                <a:ext cx="785829" cy="323165"/>
              </a:xfrm>
              <a:prstGeom prst="rect">
                <a:avLst/>
              </a:prstGeom>
              <a:solidFill>
                <a:srgbClr val="56C4D2"/>
              </a:solidFill>
            </p:spPr>
            <p:txBody>
              <a:bodyPr wrap="square" rtlCol="0">
                <a:spAutoFit/>
              </a:bodyPr>
              <a:lstStyle/>
              <a:p>
                <a:pPr algn="ctr"/>
                <a:r>
                  <a:rPr lang="zh-CN" altLang="en-US" sz="1500" b="1">
                    <a:solidFill>
                      <a:schemeClr val="bg1"/>
                    </a:solidFill>
                  </a:rPr>
                  <a:t>回车符</a:t>
                </a:r>
              </a:p>
            </p:txBody>
          </p:sp>
          <p:sp>
            <p:nvSpPr>
              <p:cNvPr id="80" name="矩形 79">
                <a:extLst>
                  <a:ext uri="{FF2B5EF4-FFF2-40B4-BE49-F238E27FC236}">
                    <a16:creationId xmlns:a16="http://schemas.microsoft.com/office/drawing/2014/main" id="{ED1FF46C-3174-448F-9ADD-33C5AECA1FDF}"/>
                  </a:ext>
                </a:extLst>
              </p:cNvPr>
              <p:cNvSpPr/>
              <p:nvPr/>
            </p:nvSpPr>
            <p:spPr bwMode="gray">
              <a:xfrm>
                <a:off x="7456692" y="4556412"/>
                <a:ext cx="784884" cy="323165"/>
              </a:xfrm>
              <a:prstGeom prst="rect">
                <a:avLst/>
              </a:prstGeom>
              <a:solidFill>
                <a:srgbClr val="56C4D2"/>
              </a:solidFill>
            </p:spPr>
            <p:txBody>
              <a:bodyPr wrap="square" rtlCol="0">
                <a:spAutoFit/>
              </a:bodyPr>
              <a:lstStyle/>
              <a:p>
                <a:pPr algn="ctr"/>
                <a:r>
                  <a:rPr lang="zh-CN" altLang="en-US" sz="1500" b="1">
                    <a:solidFill>
                      <a:schemeClr val="bg1"/>
                    </a:solidFill>
                  </a:rPr>
                  <a:t>换行符</a:t>
                </a:r>
              </a:p>
            </p:txBody>
          </p:sp>
        </p:grpSp>
        <p:grpSp>
          <p:nvGrpSpPr>
            <p:cNvPr id="67" name="组合 66"/>
            <p:cNvGrpSpPr/>
            <p:nvPr/>
          </p:nvGrpSpPr>
          <p:grpSpPr bwMode="gray">
            <a:xfrm>
              <a:off x="3333859" y="3118390"/>
              <a:ext cx="5085093" cy="370535"/>
              <a:chOff x="1898948" y="4916449"/>
              <a:chExt cx="5085093" cy="357297"/>
            </a:xfrm>
            <a:solidFill>
              <a:srgbClr val="FFFFFF"/>
            </a:solidFill>
          </p:grpSpPr>
          <p:sp>
            <p:nvSpPr>
              <p:cNvPr id="76" name="矩形 75">
                <a:extLst>
                  <a:ext uri="{FF2B5EF4-FFF2-40B4-BE49-F238E27FC236}">
                    <a16:creationId xmlns:a16="http://schemas.microsoft.com/office/drawing/2014/main" id="{DE3F0C5F-22A9-4922-B2C2-C3EB12DD441E}"/>
                  </a:ext>
                </a:extLst>
              </p:cNvPr>
              <p:cNvSpPr/>
              <p:nvPr/>
            </p:nvSpPr>
            <p:spPr bwMode="gray">
              <a:xfrm>
                <a:off x="1898948" y="4916449"/>
                <a:ext cx="3516163" cy="357295"/>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a:solidFill>
                      <a:schemeClr val="tx1"/>
                    </a:solidFill>
                  </a:rPr>
                  <a:t>头部字段名：值</a:t>
                </a:r>
                <a:endParaRPr lang="en-US" altLang="zh-CN" sz="1500">
                  <a:solidFill>
                    <a:schemeClr val="tx1"/>
                  </a:solidFill>
                </a:endParaRPr>
              </a:p>
            </p:txBody>
          </p:sp>
          <p:sp>
            <p:nvSpPr>
              <p:cNvPr id="77" name="矩形 76">
                <a:extLst>
                  <a:ext uri="{FF2B5EF4-FFF2-40B4-BE49-F238E27FC236}">
                    <a16:creationId xmlns:a16="http://schemas.microsoft.com/office/drawing/2014/main" id="{ED1FF46C-3174-448F-9ADD-33C5AECA1FDF}"/>
                  </a:ext>
                </a:extLst>
              </p:cNvPr>
              <p:cNvSpPr/>
              <p:nvPr/>
            </p:nvSpPr>
            <p:spPr bwMode="gray">
              <a:xfrm>
                <a:off x="5404225" y="4916449"/>
                <a:ext cx="784884" cy="357297"/>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78" name="矩形 77">
                <a:extLst>
                  <a:ext uri="{FF2B5EF4-FFF2-40B4-BE49-F238E27FC236}">
                    <a16:creationId xmlns:a16="http://schemas.microsoft.com/office/drawing/2014/main" id="{ED1FF46C-3174-448F-9ADD-33C5AECA1FDF}"/>
                  </a:ext>
                </a:extLst>
              </p:cNvPr>
              <p:cNvSpPr/>
              <p:nvPr/>
            </p:nvSpPr>
            <p:spPr bwMode="gray">
              <a:xfrm>
                <a:off x="6189109" y="4916449"/>
                <a:ext cx="794932" cy="357297"/>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sp>
          <p:nvSpPr>
            <p:cNvPr id="68" name="矩形 67">
              <a:extLst>
                <a:ext uri="{FF2B5EF4-FFF2-40B4-BE49-F238E27FC236}">
                  <a16:creationId xmlns:a16="http://schemas.microsoft.com/office/drawing/2014/main" id="{DE3F0C5F-22A9-4922-B2C2-C3EB12DD441E}"/>
                </a:ext>
              </a:extLst>
            </p:cNvPr>
            <p:cNvSpPr/>
            <p:nvPr/>
          </p:nvSpPr>
          <p:spPr bwMode="gray">
            <a:xfrm>
              <a:off x="3333859" y="3485034"/>
              <a:ext cx="5085093" cy="357295"/>
            </a:xfrm>
            <a:prstGeom prst="rect">
              <a:avLst/>
            </a:prstGeom>
            <a:solidFill>
              <a:srgbClr val="FFFFFF"/>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solidFill>
                    <a:schemeClr val="tx1"/>
                  </a:solidFill>
                </a:rPr>
                <a:t>…</a:t>
              </a:r>
            </a:p>
          </p:txBody>
        </p:sp>
        <p:grpSp>
          <p:nvGrpSpPr>
            <p:cNvPr id="69" name="组合 68"/>
            <p:cNvGrpSpPr/>
            <p:nvPr/>
          </p:nvGrpSpPr>
          <p:grpSpPr bwMode="gray">
            <a:xfrm>
              <a:off x="3333859" y="3838149"/>
              <a:ext cx="5085092" cy="349439"/>
              <a:chOff x="1894037" y="4916451"/>
              <a:chExt cx="5085092" cy="343134"/>
            </a:xfrm>
            <a:solidFill>
              <a:srgbClr val="FFFFFF"/>
            </a:solidFill>
          </p:grpSpPr>
          <p:sp>
            <p:nvSpPr>
              <p:cNvPr id="73" name="矩形 72">
                <a:extLst>
                  <a:ext uri="{FF2B5EF4-FFF2-40B4-BE49-F238E27FC236}">
                    <a16:creationId xmlns:a16="http://schemas.microsoft.com/office/drawing/2014/main" id="{DE3F0C5F-22A9-4922-B2C2-C3EB12DD441E}"/>
                  </a:ext>
                </a:extLst>
              </p:cNvPr>
              <p:cNvSpPr/>
              <p:nvPr/>
            </p:nvSpPr>
            <p:spPr bwMode="gray">
              <a:xfrm>
                <a:off x="1894037" y="4916451"/>
                <a:ext cx="3521074" cy="343134"/>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a:solidFill>
                      <a:schemeClr val="tx1"/>
                    </a:solidFill>
                  </a:rPr>
                  <a:t>头部字段名：值</a:t>
                </a:r>
                <a:endParaRPr lang="en-US" altLang="zh-CN" sz="1500">
                  <a:solidFill>
                    <a:schemeClr val="tx1"/>
                  </a:solidFill>
                </a:endParaRPr>
              </a:p>
            </p:txBody>
          </p:sp>
          <p:sp>
            <p:nvSpPr>
              <p:cNvPr id="74" name="矩形 73">
                <a:extLst>
                  <a:ext uri="{FF2B5EF4-FFF2-40B4-BE49-F238E27FC236}">
                    <a16:creationId xmlns:a16="http://schemas.microsoft.com/office/drawing/2014/main" id="{ED1FF46C-3174-448F-9ADD-33C5AECA1FDF}"/>
                  </a:ext>
                </a:extLst>
              </p:cNvPr>
              <p:cNvSpPr/>
              <p:nvPr/>
            </p:nvSpPr>
            <p:spPr bwMode="gray">
              <a:xfrm>
                <a:off x="5404225" y="4920545"/>
                <a:ext cx="784884" cy="339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75" name="矩形 74">
                <a:extLst>
                  <a:ext uri="{FF2B5EF4-FFF2-40B4-BE49-F238E27FC236}">
                    <a16:creationId xmlns:a16="http://schemas.microsoft.com/office/drawing/2014/main" id="{ED1FF46C-3174-448F-9ADD-33C5AECA1FDF}"/>
                  </a:ext>
                </a:extLst>
              </p:cNvPr>
              <p:cNvSpPr/>
              <p:nvPr/>
            </p:nvSpPr>
            <p:spPr bwMode="gray">
              <a:xfrm>
                <a:off x="6189108" y="4920545"/>
                <a:ext cx="790021" cy="339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grpSp>
          <p:nvGrpSpPr>
            <p:cNvPr id="70" name="组合 69"/>
            <p:cNvGrpSpPr/>
            <p:nvPr/>
          </p:nvGrpSpPr>
          <p:grpSpPr bwMode="gray">
            <a:xfrm>
              <a:off x="8121235" y="2771590"/>
              <a:ext cx="1569768" cy="349156"/>
              <a:chOff x="6671808" y="4556412"/>
              <a:chExt cx="1569768" cy="360040"/>
            </a:xfrm>
            <a:solidFill>
              <a:srgbClr val="FFFFFF"/>
            </a:solidFill>
          </p:grpSpPr>
          <p:sp>
            <p:nvSpPr>
              <p:cNvPr id="71" name="矩形 70">
                <a:extLst>
                  <a:ext uri="{FF2B5EF4-FFF2-40B4-BE49-F238E27FC236}">
                    <a16:creationId xmlns:a16="http://schemas.microsoft.com/office/drawing/2014/main" id="{ED1FF46C-3174-448F-9ADD-33C5AECA1FDF}"/>
                  </a:ext>
                </a:extLst>
              </p:cNvPr>
              <p:cNvSpPr/>
              <p:nvPr/>
            </p:nvSpPr>
            <p:spPr bwMode="gray">
              <a:xfrm>
                <a:off x="6671808" y="4556412"/>
                <a:ext cx="784884"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72" name="矩形 71">
                <a:extLst>
                  <a:ext uri="{FF2B5EF4-FFF2-40B4-BE49-F238E27FC236}">
                    <a16:creationId xmlns:a16="http://schemas.microsoft.com/office/drawing/2014/main" id="{ED1FF46C-3174-448F-9ADD-33C5AECA1FDF}"/>
                  </a:ext>
                </a:extLst>
              </p:cNvPr>
              <p:cNvSpPr/>
              <p:nvPr/>
            </p:nvSpPr>
            <p:spPr bwMode="gray">
              <a:xfrm>
                <a:off x="7456692" y="4556412"/>
                <a:ext cx="784884"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grpSp>
      <p:sp>
        <p:nvSpPr>
          <p:cNvPr id="30" name="文本框 29">
            <a:extLst>
              <a:ext uri="{FF2B5EF4-FFF2-40B4-BE49-F238E27FC236}">
                <a16:creationId xmlns:a16="http://schemas.microsoft.com/office/drawing/2014/main" id="{69387562-BBB4-4B4D-B3CF-C5337D4F1D5C}"/>
              </a:ext>
            </a:extLst>
          </p:cNvPr>
          <p:cNvSpPr txBox="1"/>
          <p:nvPr/>
        </p:nvSpPr>
        <p:spPr bwMode="gray">
          <a:xfrm>
            <a:off x="3117375" y="2210506"/>
            <a:ext cx="6607432" cy="830997"/>
          </a:xfrm>
          <a:prstGeom prst="rect">
            <a:avLst/>
          </a:prstGeom>
          <a:noFill/>
          <a:ln>
            <a:solidFill>
              <a:srgbClr val="56C4D2"/>
            </a:solidFill>
          </a:ln>
        </p:spPr>
        <p:txBody>
          <a:bodyPr wrap="square" rtlCol="0">
            <a:spAutoFit/>
          </a:bodyPr>
          <a:lstStyle/>
          <a:p>
            <a:pPr>
              <a:lnSpc>
                <a:spcPct val="150000"/>
              </a:lnSpc>
            </a:pPr>
            <a:r>
              <a:rPr lang="zh-CN" altLang="en-US" sz="1600"/>
              <a:t>请求数据示例：</a:t>
            </a:r>
            <a:endParaRPr lang="en-US" altLang="zh-CN" sz="1600"/>
          </a:p>
          <a:p>
            <a:pPr>
              <a:lnSpc>
                <a:spcPct val="150000"/>
              </a:lnSpc>
            </a:pPr>
            <a:r>
              <a:rPr lang="en-US" altLang="zh-CN" sz="1600"/>
              <a:t>user=admin&amp;password=123456</a:t>
            </a:r>
          </a:p>
        </p:txBody>
      </p:sp>
      <p:sp>
        <p:nvSpPr>
          <p:cNvPr id="33" name="五边形 32"/>
          <p:cNvSpPr/>
          <p:nvPr/>
        </p:nvSpPr>
        <p:spPr bwMode="gray">
          <a:xfrm>
            <a:off x="8747863" y="112853"/>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请求行</a:t>
            </a:r>
          </a:p>
        </p:txBody>
      </p:sp>
      <p:sp>
        <p:nvSpPr>
          <p:cNvPr id="34" name="燕尾形 33"/>
          <p:cNvSpPr/>
          <p:nvPr/>
        </p:nvSpPr>
        <p:spPr bwMode="gray">
          <a:xfrm>
            <a:off x="9724807" y="112853"/>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请求头部</a:t>
            </a:r>
          </a:p>
        </p:txBody>
      </p:sp>
      <p:sp>
        <p:nvSpPr>
          <p:cNvPr id="35" name="燕尾形 34"/>
          <p:cNvSpPr/>
          <p:nvPr/>
        </p:nvSpPr>
        <p:spPr bwMode="gray">
          <a:xfrm>
            <a:off x="10691591" y="112853"/>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请求数据</a:t>
            </a:r>
          </a:p>
        </p:txBody>
      </p:sp>
    </p:spTree>
    <p:extLst>
      <p:ext uri="{BB962C8B-B14F-4D97-AF65-F5344CB8AC3E}">
        <p14:creationId xmlns:p14="http://schemas.microsoft.com/office/powerpoint/2010/main" val="8311457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t>服务器响应消息</a:t>
            </a:r>
          </a:p>
        </p:txBody>
      </p:sp>
      <p:sp>
        <p:nvSpPr>
          <p:cNvPr id="7" name="文本占位符 6"/>
          <p:cNvSpPr>
            <a:spLocks noGrp="1"/>
          </p:cNvSpPr>
          <p:nvPr>
            <p:ph type="body" sz="quarter" idx="10"/>
          </p:nvPr>
        </p:nvSpPr>
        <p:spPr bwMode="gray"/>
        <p:txBody>
          <a:bodyPr/>
          <a:lstStyle/>
          <a:p>
            <a:r>
              <a:rPr lang="en-US" altLang="zh-CN" sz="1800" dirty="0"/>
              <a:t>HTTP</a:t>
            </a:r>
            <a:r>
              <a:rPr lang="zh-CN" altLang="en-US" sz="1800" dirty="0"/>
              <a:t>响应消息由四个部分组成，分别是：状态行、响应头部、空行和响应正文。</a:t>
            </a:r>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latinLnBrk="1"/>
            <a:endParaRPr lang="zh-CN" altLang="en-US" sz="1800" dirty="0"/>
          </a:p>
        </p:txBody>
      </p:sp>
      <p:sp>
        <p:nvSpPr>
          <p:cNvPr id="35" name="矩形 34">
            <a:extLst>
              <a:ext uri="{FF2B5EF4-FFF2-40B4-BE49-F238E27FC236}">
                <a16:creationId xmlns:a16="http://schemas.microsoft.com/office/drawing/2014/main" id="{ED1FF46C-3174-448F-9ADD-33C5AECA1FDF}"/>
              </a:ext>
            </a:extLst>
          </p:cNvPr>
          <p:cNvSpPr/>
          <p:nvPr/>
        </p:nvSpPr>
        <p:spPr bwMode="gray">
          <a:xfrm>
            <a:off x="3428877" y="2324870"/>
            <a:ext cx="1065993"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协议版本</a:t>
            </a:r>
          </a:p>
        </p:txBody>
      </p:sp>
      <p:sp>
        <p:nvSpPr>
          <p:cNvPr id="37" name="矩形 36">
            <a:extLst>
              <a:ext uri="{FF2B5EF4-FFF2-40B4-BE49-F238E27FC236}">
                <a16:creationId xmlns:a16="http://schemas.microsoft.com/office/drawing/2014/main" id="{E8A2D369-73BF-4B1F-AF0A-AF36A42A352A}"/>
              </a:ext>
            </a:extLst>
          </p:cNvPr>
          <p:cNvSpPr/>
          <p:nvPr/>
        </p:nvSpPr>
        <p:spPr bwMode="gray">
          <a:xfrm>
            <a:off x="5129865" y="2324870"/>
            <a:ext cx="1070903"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状态码</a:t>
            </a:r>
          </a:p>
        </p:txBody>
      </p:sp>
      <p:sp>
        <p:nvSpPr>
          <p:cNvPr id="38" name="矩形 37">
            <a:extLst>
              <a:ext uri="{FF2B5EF4-FFF2-40B4-BE49-F238E27FC236}">
                <a16:creationId xmlns:a16="http://schemas.microsoft.com/office/drawing/2014/main" id="{FE4A73F8-F45F-4216-B6C8-7B97955278AC}"/>
              </a:ext>
            </a:extLst>
          </p:cNvPr>
          <p:cNvSpPr/>
          <p:nvPr/>
        </p:nvSpPr>
        <p:spPr bwMode="gray">
          <a:xfrm>
            <a:off x="6845294" y="2324869"/>
            <a:ext cx="1381846"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原因短语</a:t>
            </a:r>
          </a:p>
        </p:txBody>
      </p:sp>
      <p:sp>
        <p:nvSpPr>
          <p:cNvPr id="39" name="矩形 38">
            <a:extLst>
              <a:ext uri="{FF2B5EF4-FFF2-40B4-BE49-F238E27FC236}">
                <a16:creationId xmlns:a16="http://schemas.microsoft.com/office/drawing/2014/main" id="{3F04E949-4CCC-4846-8B15-6F183B7861C1}"/>
              </a:ext>
            </a:extLst>
          </p:cNvPr>
          <p:cNvSpPr/>
          <p:nvPr/>
        </p:nvSpPr>
        <p:spPr bwMode="gray">
          <a:xfrm>
            <a:off x="3428877" y="4100074"/>
            <a:ext cx="5080901"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数据</a:t>
            </a:r>
          </a:p>
        </p:txBody>
      </p:sp>
      <p:sp>
        <p:nvSpPr>
          <p:cNvPr id="40" name="矩形 39">
            <a:extLst>
              <a:ext uri="{FF2B5EF4-FFF2-40B4-BE49-F238E27FC236}">
                <a16:creationId xmlns:a16="http://schemas.microsoft.com/office/drawing/2014/main" id="{ED1FF46C-3174-448F-9ADD-33C5AECA1FDF}"/>
              </a:ext>
            </a:extLst>
          </p:cNvPr>
          <p:cNvSpPr/>
          <p:nvPr/>
        </p:nvSpPr>
        <p:spPr bwMode="gray">
          <a:xfrm>
            <a:off x="4494392" y="2324870"/>
            <a:ext cx="671367"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空格</a:t>
            </a:r>
          </a:p>
        </p:txBody>
      </p:sp>
      <p:sp>
        <p:nvSpPr>
          <p:cNvPr id="41" name="矩形 40">
            <a:extLst>
              <a:ext uri="{FF2B5EF4-FFF2-40B4-BE49-F238E27FC236}">
                <a16:creationId xmlns:a16="http://schemas.microsoft.com/office/drawing/2014/main" id="{ED1FF46C-3174-448F-9ADD-33C5AECA1FDF}"/>
              </a:ext>
            </a:extLst>
          </p:cNvPr>
          <p:cNvSpPr/>
          <p:nvPr/>
        </p:nvSpPr>
        <p:spPr bwMode="gray">
          <a:xfrm>
            <a:off x="6173927" y="2324870"/>
            <a:ext cx="671367"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空格</a:t>
            </a:r>
          </a:p>
        </p:txBody>
      </p:sp>
      <p:sp>
        <p:nvSpPr>
          <p:cNvPr id="59" name="矩形 58">
            <a:extLst>
              <a:ext uri="{FF2B5EF4-FFF2-40B4-BE49-F238E27FC236}">
                <a16:creationId xmlns:a16="http://schemas.microsoft.com/office/drawing/2014/main" id="{ED1FF46C-3174-448F-9ADD-33C5AECA1FDF}"/>
              </a:ext>
            </a:extLst>
          </p:cNvPr>
          <p:cNvSpPr/>
          <p:nvPr/>
        </p:nvSpPr>
        <p:spPr bwMode="gray">
          <a:xfrm>
            <a:off x="3428877" y="3737767"/>
            <a:ext cx="785829"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60" name="矩形 59">
            <a:extLst>
              <a:ext uri="{FF2B5EF4-FFF2-40B4-BE49-F238E27FC236}">
                <a16:creationId xmlns:a16="http://schemas.microsoft.com/office/drawing/2014/main" id="{ED1FF46C-3174-448F-9ADD-33C5AECA1FDF}"/>
              </a:ext>
            </a:extLst>
          </p:cNvPr>
          <p:cNvSpPr/>
          <p:nvPr/>
        </p:nvSpPr>
        <p:spPr bwMode="gray">
          <a:xfrm>
            <a:off x="4214706" y="3737767"/>
            <a:ext cx="784884"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sp>
        <p:nvSpPr>
          <p:cNvPr id="56" name="矩形 55">
            <a:extLst>
              <a:ext uri="{FF2B5EF4-FFF2-40B4-BE49-F238E27FC236}">
                <a16:creationId xmlns:a16="http://schemas.microsoft.com/office/drawing/2014/main" id="{DE3F0C5F-22A9-4922-B2C2-C3EB12DD441E}"/>
              </a:ext>
            </a:extLst>
          </p:cNvPr>
          <p:cNvSpPr/>
          <p:nvPr/>
        </p:nvSpPr>
        <p:spPr bwMode="gray">
          <a:xfrm>
            <a:off x="3428877" y="2671668"/>
            <a:ext cx="3516164" cy="370533"/>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a:solidFill>
                  <a:schemeClr val="tx1"/>
                </a:solidFill>
              </a:rPr>
              <a:t>头部字段名：值</a:t>
            </a:r>
            <a:endParaRPr lang="en-US" altLang="zh-CN" sz="1500">
              <a:solidFill>
                <a:schemeClr val="tx1"/>
              </a:solidFill>
            </a:endParaRPr>
          </a:p>
        </p:txBody>
      </p:sp>
      <p:sp>
        <p:nvSpPr>
          <p:cNvPr id="57" name="矩形 56">
            <a:extLst>
              <a:ext uri="{FF2B5EF4-FFF2-40B4-BE49-F238E27FC236}">
                <a16:creationId xmlns:a16="http://schemas.microsoft.com/office/drawing/2014/main" id="{ED1FF46C-3174-448F-9ADD-33C5AECA1FDF}"/>
              </a:ext>
            </a:extLst>
          </p:cNvPr>
          <p:cNvSpPr/>
          <p:nvPr/>
        </p:nvSpPr>
        <p:spPr bwMode="gray">
          <a:xfrm>
            <a:off x="6934155" y="2671668"/>
            <a:ext cx="784884" cy="370535"/>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58" name="矩形 57">
            <a:extLst>
              <a:ext uri="{FF2B5EF4-FFF2-40B4-BE49-F238E27FC236}">
                <a16:creationId xmlns:a16="http://schemas.microsoft.com/office/drawing/2014/main" id="{ED1FF46C-3174-448F-9ADD-33C5AECA1FDF}"/>
              </a:ext>
            </a:extLst>
          </p:cNvPr>
          <p:cNvSpPr/>
          <p:nvPr/>
        </p:nvSpPr>
        <p:spPr bwMode="gray">
          <a:xfrm>
            <a:off x="7719039" y="2671668"/>
            <a:ext cx="784884" cy="370535"/>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sp>
        <p:nvSpPr>
          <p:cNvPr id="44" name="矩形 43">
            <a:extLst>
              <a:ext uri="{FF2B5EF4-FFF2-40B4-BE49-F238E27FC236}">
                <a16:creationId xmlns:a16="http://schemas.microsoft.com/office/drawing/2014/main" id="{DE3F0C5F-22A9-4922-B2C2-C3EB12DD441E}"/>
              </a:ext>
            </a:extLst>
          </p:cNvPr>
          <p:cNvSpPr/>
          <p:nvPr/>
        </p:nvSpPr>
        <p:spPr bwMode="gray">
          <a:xfrm>
            <a:off x="3428877" y="3038312"/>
            <a:ext cx="5075045" cy="357295"/>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solidFill>
                  <a:schemeClr val="tx1"/>
                </a:solidFill>
              </a:rPr>
              <a:t>…</a:t>
            </a:r>
          </a:p>
        </p:txBody>
      </p:sp>
      <p:sp>
        <p:nvSpPr>
          <p:cNvPr id="53" name="矩形 52">
            <a:extLst>
              <a:ext uri="{FF2B5EF4-FFF2-40B4-BE49-F238E27FC236}">
                <a16:creationId xmlns:a16="http://schemas.microsoft.com/office/drawing/2014/main" id="{DE3F0C5F-22A9-4922-B2C2-C3EB12DD441E}"/>
              </a:ext>
            </a:extLst>
          </p:cNvPr>
          <p:cNvSpPr/>
          <p:nvPr/>
        </p:nvSpPr>
        <p:spPr bwMode="gray">
          <a:xfrm>
            <a:off x="3428878" y="3391431"/>
            <a:ext cx="3521074" cy="34943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a:solidFill>
                  <a:schemeClr val="tx1"/>
                </a:solidFill>
              </a:rPr>
              <a:t>头部字段名：值</a:t>
            </a:r>
            <a:endParaRPr lang="en-US" altLang="zh-CN" sz="1500">
              <a:solidFill>
                <a:schemeClr val="tx1"/>
              </a:solidFill>
            </a:endParaRPr>
          </a:p>
        </p:txBody>
      </p:sp>
      <p:sp>
        <p:nvSpPr>
          <p:cNvPr id="54" name="矩形 53">
            <a:extLst>
              <a:ext uri="{FF2B5EF4-FFF2-40B4-BE49-F238E27FC236}">
                <a16:creationId xmlns:a16="http://schemas.microsoft.com/office/drawing/2014/main" id="{ED1FF46C-3174-448F-9ADD-33C5AECA1FDF}"/>
              </a:ext>
            </a:extLst>
          </p:cNvPr>
          <p:cNvSpPr/>
          <p:nvPr/>
        </p:nvSpPr>
        <p:spPr bwMode="gray">
          <a:xfrm>
            <a:off x="6939066" y="3387467"/>
            <a:ext cx="784884" cy="356738"/>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55" name="矩形 54">
            <a:extLst>
              <a:ext uri="{FF2B5EF4-FFF2-40B4-BE49-F238E27FC236}">
                <a16:creationId xmlns:a16="http://schemas.microsoft.com/office/drawing/2014/main" id="{ED1FF46C-3174-448F-9ADD-33C5AECA1FDF}"/>
              </a:ext>
            </a:extLst>
          </p:cNvPr>
          <p:cNvSpPr/>
          <p:nvPr/>
        </p:nvSpPr>
        <p:spPr bwMode="gray">
          <a:xfrm>
            <a:off x="7723950" y="3387467"/>
            <a:ext cx="779972" cy="356738"/>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sp>
        <p:nvSpPr>
          <p:cNvPr id="51" name="矩形 50">
            <a:extLst>
              <a:ext uri="{FF2B5EF4-FFF2-40B4-BE49-F238E27FC236}">
                <a16:creationId xmlns:a16="http://schemas.microsoft.com/office/drawing/2014/main" id="{ED1FF46C-3174-448F-9ADD-33C5AECA1FDF}"/>
              </a:ext>
            </a:extLst>
          </p:cNvPr>
          <p:cNvSpPr/>
          <p:nvPr/>
        </p:nvSpPr>
        <p:spPr bwMode="gray">
          <a:xfrm>
            <a:off x="8216254" y="2324862"/>
            <a:ext cx="784884" cy="34680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52" name="矩形 51">
            <a:extLst>
              <a:ext uri="{FF2B5EF4-FFF2-40B4-BE49-F238E27FC236}">
                <a16:creationId xmlns:a16="http://schemas.microsoft.com/office/drawing/2014/main" id="{ED1FF46C-3174-448F-9ADD-33C5AECA1FDF}"/>
              </a:ext>
            </a:extLst>
          </p:cNvPr>
          <p:cNvSpPr/>
          <p:nvPr/>
        </p:nvSpPr>
        <p:spPr bwMode="gray">
          <a:xfrm>
            <a:off x="9001138" y="2324862"/>
            <a:ext cx="784884" cy="346895"/>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sp>
        <p:nvSpPr>
          <p:cNvPr id="33" name="AutoShape 35"/>
          <p:cNvSpPr>
            <a:spLocks/>
          </p:cNvSpPr>
          <p:nvPr/>
        </p:nvSpPr>
        <p:spPr bwMode="gray">
          <a:xfrm>
            <a:off x="3193693" y="2864686"/>
            <a:ext cx="208344" cy="838687"/>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sz="1200">
              <a:latin typeface="+mn-ea"/>
            </a:endParaRPr>
          </a:p>
        </p:txBody>
      </p:sp>
      <p:sp>
        <p:nvSpPr>
          <p:cNvPr id="34" name="AutoShape 35"/>
          <p:cNvSpPr>
            <a:spLocks/>
          </p:cNvSpPr>
          <p:nvPr/>
        </p:nvSpPr>
        <p:spPr bwMode="gray">
          <a:xfrm>
            <a:off x="3187986" y="4178176"/>
            <a:ext cx="219757" cy="260961"/>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sz="1200">
              <a:latin typeface="+mn-ea"/>
            </a:endParaRPr>
          </a:p>
        </p:txBody>
      </p:sp>
      <p:sp>
        <p:nvSpPr>
          <p:cNvPr id="61" name="AutoShape 35"/>
          <p:cNvSpPr>
            <a:spLocks/>
          </p:cNvSpPr>
          <p:nvPr/>
        </p:nvSpPr>
        <p:spPr bwMode="gray">
          <a:xfrm>
            <a:off x="3178178" y="3811094"/>
            <a:ext cx="219757" cy="260961"/>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sz="1200">
              <a:latin typeface="+mn-ea"/>
            </a:endParaRPr>
          </a:p>
        </p:txBody>
      </p:sp>
      <p:sp>
        <p:nvSpPr>
          <p:cNvPr id="63" name="AutoShape 35"/>
          <p:cNvSpPr>
            <a:spLocks/>
          </p:cNvSpPr>
          <p:nvPr/>
        </p:nvSpPr>
        <p:spPr bwMode="gray">
          <a:xfrm>
            <a:off x="3187986" y="2389730"/>
            <a:ext cx="219757" cy="260961"/>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sz="1200">
              <a:latin typeface="+mn-ea"/>
            </a:endParaRPr>
          </a:p>
        </p:txBody>
      </p:sp>
      <p:grpSp>
        <p:nvGrpSpPr>
          <p:cNvPr id="47" name="组合 46"/>
          <p:cNvGrpSpPr/>
          <p:nvPr/>
        </p:nvGrpSpPr>
        <p:grpSpPr bwMode="gray">
          <a:xfrm>
            <a:off x="2003538" y="2358200"/>
            <a:ext cx="1082282" cy="2152814"/>
            <a:chOff x="1161566" y="1594234"/>
            <a:chExt cx="1082282" cy="2152814"/>
          </a:xfrm>
        </p:grpSpPr>
        <p:sp>
          <p:nvSpPr>
            <p:cNvPr id="48" name="文本框 47"/>
            <p:cNvSpPr txBox="1"/>
            <p:nvPr/>
          </p:nvSpPr>
          <p:spPr bwMode="gray">
            <a:xfrm>
              <a:off x="1162207" y="2386136"/>
              <a:ext cx="1067003" cy="323165"/>
            </a:xfrm>
            <a:prstGeom prst="rect">
              <a:avLst/>
            </a:prstGeom>
            <a:solidFill>
              <a:srgbClr val="56C4D2"/>
            </a:solidFill>
          </p:spPr>
          <p:txBody>
            <a:bodyPr wrap="square" rtlCol="0">
              <a:spAutoFit/>
            </a:bodyPr>
            <a:lstStyle>
              <a:defPPr>
                <a:defRPr lang="en-US"/>
              </a:defPPr>
              <a:lvl1pPr algn="ctr">
                <a:defRPr sz="1500" b="1">
                  <a:solidFill>
                    <a:schemeClr val="bg1"/>
                  </a:solidFill>
                </a:defRPr>
              </a:lvl1pPr>
            </a:lstStyle>
            <a:p>
              <a:r>
                <a:rPr lang="zh-CN" altLang="en-US"/>
                <a:t>响应头部</a:t>
              </a:r>
            </a:p>
          </p:txBody>
        </p:sp>
        <p:sp>
          <p:nvSpPr>
            <p:cNvPr id="49" name="文本框 48"/>
            <p:cNvSpPr txBox="1"/>
            <p:nvPr/>
          </p:nvSpPr>
          <p:spPr bwMode="gray">
            <a:xfrm>
              <a:off x="1161566" y="3423883"/>
              <a:ext cx="1082282" cy="323165"/>
            </a:xfrm>
            <a:prstGeom prst="rect">
              <a:avLst/>
            </a:prstGeom>
            <a:solidFill>
              <a:srgbClr val="56C4D2"/>
            </a:solidFill>
          </p:spPr>
          <p:txBody>
            <a:bodyPr wrap="square" rtlCol="0">
              <a:spAutoFit/>
            </a:bodyPr>
            <a:lstStyle>
              <a:defPPr>
                <a:defRPr lang="en-US"/>
              </a:defPPr>
              <a:lvl1pPr algn="ctr">
                <a:defRPr sz="1500" b="1">
                  <a:solidFill>
                    <a:schemeClr val="bg1"/>
                  </a:solidFill>
                </a:defRPr>
              </a:lvl1pPr>
            </a:lstStyle>
            <a:p>
              <a:r>
                <a:rPr lang="zh-CN" altLang="en-US" dirty="0"/>
                <a:t>响应正文</a:t>
              </a:r>
            </a:p>
          </p:txBody>
        </p:sp>
        <p:sp>
          <p:nvSpPr>
            <p:cNvPr id="50" name="文本框 49"/>
            <p:cNvSpPr txBox="1"/>
            <p:nvPr/>
          </p:nvSpPr>
          <p:spPr bwMode="gray">
            <a:xfrm>
              <a:off x="1161566" y="1594234"/>
              <a:ext cx="1067644" cy="323165"/>
            </a:xfrm>
            <a:prstGeom prst="rect">
              <a:avLst/>
            </a:prstGeom>
            <a:solidFill>
              <a:srgbClr val="56C4D2"/>
            </a:solidFill>
          </p:spPr>
          <p:txBody>
            <a:bodyPr wrap="square" rtlCol="0">
              <a:spAutoFit/>
            </a:bodyPr>
            <a:lstStyle>
              <a:defPPr>
                <a:defRPr lang="en-US"/>
              </a:defPPr>
              <a:lvl1pPr algn="ctr">
                <a:defRPr sz="1500" b="1">
                  <a:solidFill>
                    <a:schemeClr val="bg1"/>
                  </a:solidFill>
                </a:defRPr>
              </a:lvl1pPr>
            </a:lstStyle>
            <a:p>
              <a:r>
                <a:rPr lang="zh-CN" altLang="en-US" dirty="0"/>
                <a:t>状态行</a:t>
              </a:r>
            </a:p>
          </p:txBody>
        </p:sp>
        <p:sp>
          <p:nvSpPr>
            <p:cNvPr id="64" name="文本框 63"/>
            <p:cNvSpPr txBox="1"/>
            <p:nvPr/>
          </p:nvSpPr>
          <p:spPr bwMode="gray">
            <a:xfrm>
              <a:off x="1161566" y="2994556"/>
              <a:ext cx="1067644" cy="323165"/>
            </a:xfrm>
            <a:prstGeom prst="rect">
              <a:avLst/>
            </a:prstGeom>
            <a:solidFill>
              <a:srgbClr val="56C4D2"/>
            </a:solidFill>
          </p:spPr>
          <p:txBody>
            <a:bodyPr wrap="square" rtlCol="0">
              <a:spAutoFit/>
            </a:bodyPr>
            <a:lstStyle>
              <a:defPPr>
                <a:defRPr lang="en-US"/>
              </a:defPPr>
              <a:lvl1pPr algn="ctr">
                <a:defRPr sz="1500" b="1">
                  <a:solidFill>
                    <a:schemeClr val="bg1"/>
                  </a:solidFill>
                </a:defRPr>
              </a:lvl1pPr>
            </a:lstStyle>
            <a:p>
              <a:r>
                <a:rPr lang="zh-CN" altLang="en-US"/>
                <a:t>空行</a:t>
              </a:r>
            </a:p>
          </p:txBody>
        </p:sp>
      </p:grpSp>
    </p:spTree>
    <p:extLst>
      <p:ext uri="{BB962C8B-B14F-4D97-AF65-F5344CB8AC3E}">
        <p14:creationId xmlns:p14="http://schemas.microsoft.com/office/powerpoint/2010/main" val="11800329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服务器响应消息：状态行</a:t>
            </a:r>
          </a:p>
        </p:txBody>
      </p:sp>
      <p:sp>
        <p:nvSpPr>
          <p:cNvPr id="6" name="文本占位符 5"/>
          <p:cNvSpPr>
            <a:spLocks noGrp="1"/>
          </p:cNvSpPr>
          <p:nvPr>
            <p:ph type="body" sz="quarter" idx="10"/>
          </p:nvPr>
        </p:nvSpPr>
        <p:spPr bwMode="gray"/>
        <p:txBody>
          <a:bodyPr/>
          <a:lstStyle/>
          <a:p>
            <a:r>
              <a:rPr lang="zh-CN" altLang="en-US" sz="1800" dirty="0"/>
              <a:t>响应消息的第一行是状态行，由协议版本、状态码和原因短语组成，每个元素由空格字符分隔。</a:t>
            </a:r>
          </a:p>
          <a:p>
            <a:pPr lvl="1"/>
            <a:r>
              <a:rPr lang="zh-CN" altLang="en-US" sz="1600" dirty="0"/>
              <a:t>协议版本：协议版本旨在允许发送方指示消息的格式及其理解后续</a:t>
            </a:r>
            <a:r>
              <a:rPr lang="en-US" altLang="zh-CN" sz="1600" dirty="0"/>
              <a:t>HTTP</a:t>
            </a:r>
            <a:r>
              <a:rPr lang="zh-CN" altLang="en-US" sz="1600" dirty="0"/>
              <a:t>通信的能力。</a:t>
            </a:r>
          </a:p>
          <a:p>
            <a:pPr lvl="1"/>
            <a:r>
              <a:rPr lang="zh-CN" altLang="en-US" sz="1600" dirty="0"/>
              <a:t>状态码：一个</a:t>
            </a:r>
            <a:r>
              <a:rPr lang="en-US" altLang="zh-CN" sz="1600" dirty="0"/>
              <a:t>3</a:t>
            </a:r>
            <a:r>
              <a:rPr lang="zh-CN" altLang="en-US" sz="1600" dirty="0"/>
              <a:t>位整数结果码，用于向客户端返回操作结果。</a:t>
            </a:r>
          </a:p>
          <a:p>
            <a:pPr lvl="1"/>
            <a:r>
              <a:rPr lang="zh-CN" altLang="en-US" sz="1600" dirty="0"/>
              <a:t>原因短语：旨在对状态码进行简短的文本描述，帮助理解。</a:t>
            </a:r>
          </a:p>
          <a:p>
            <a:pPr lvl="1"/>
            <a:endParaRPr lang="zh-CN" altLang="en-US" sz="1600" dirty="0"/>
          </a:p>
        </p:txBody>
      </p:sp>
      <p:sp>
        <p:nvSpPr>
          <p:cNvPr id="3" name="内容占位符 2"/>
          <p:cNvSpPr txBox="1">
            <a:spLocks/>
          </p:cNvSpPr>
          <p:nvPr/>
        </p:nvSpPr>
        <p:spPr bwMode="gray">
          <a:xfrm>
            <a:off x="468316" y="1233487"/>
            <a:ext cx="11276184" cy="2592279"/>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600" dirty="0"/>
          </a:p>
        </p:txBody>
      </p:sp>
      <p:sp>
        <p:nvSpPr>
          <p:cNvPr id="31" name="五边形 30"/>
          <p:cNvSpPr/>
          <p:nvPr/>
        </p:nvSpPr>
        <p:spPr bwMode="gray">
          <a:xfrm>
            <a:off x="8747863" y="126000"/>
            <a:ext cx="1055909" cy="212400"/>
          </a:xfrm>
          <a:prstGeom prst="homePlate">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状态行</a:t>
            </a:r>
          </a:p>
        </p:txBody>
      </p:sp>
      <p:sp>
        <p:nvSpPr>
          <p:cNvPr id="32" name="燕尾形 31"/>
          <p:cNvSpPr/>
          <p:nvPr/>
        </p:nvSpPr>
        <p:spPr bwMode="gray">
          <a:xfrm>
            <a:off x="9724807"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响应头部</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gray">
          <a:xfrm>
            <a:off x="10691591"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响应正文</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4" name="组合 33"/>
          <p:cNvGrpSpPr/>
          <p:nvPr/>
        </p:nvGrpSpPr>
        <p:grpSpPr bwMode="gray">
          <a:xfrm>
            <a:off x="2796195" y="3741721"/>
            <a:ext cx="6357145" cy="2135249"/>
            <a:chOff x="2952221" y="2505864"/>
            <a:chExt cx="6357145" cy="2135249"/>
          </a:xfrm>
        </p:grpSpPr>
        <p:sp>
          <p:nvSpPr>
            <p:cNvPr id="36" name="矩形 35">
              <a:extLst>
                <a:ext uri="{FF2B5EF4-FFF2-40B4-BE49-F238E27FC236}">
                  <a16:creationId xmlns:a16="http://schemas.microsoft.com/office/drawing/2014/main" id="{ED1FF46C-3174-448F-9ADD-33C5AECA1FDF}"/>
                </a:ext>
              </a:extLst>
            </p:cNvPr>
            <p:cNvSpPr/>
            <p:nvPr/>
          </p:nvSpPr>
          <p:spPr bwMode="gray">
            <a:xfrm>
              <a:off x="2952221" y="2505869"/>
              <a:ext cx="1065993" cy="323165"/>
            </a:xfrm>
            <a:prstGeom prst="rect">
              <a:avLst/>
            </a:prstGeom>
            <a:solidFill>
              <a:srgbClr val="56C4D2"/>
            </a:solidFill>
            <a:ln>
              <a:solidFill>
                <a:srgbClr val="56C4D2"/>
              </a:solidFill>
            </a:ln>
          </p:spPr>
          <p:txBody>
            <a:bodyPr wrap="square" rtlCol="0">
              <a:spAutoFit/>
            </a:bodyPr>
            <a:lstStyle/>
            <a:p>
              <a:pPr algn="ctr"/>
              <a:r>
                <a:rPr lang="zh-CN" altLang="en-US" sz="1500" b="1" dirty="0">
                  <a:solidFill>
                    <a:schemeClr val="bg1"/>
                  </a:solidFill>
                </a:rPr>
                <a:t>协议版本</a:t>
              </a:r>
            </a:p>
          </p:txBody>
        </p:sp>
        <p:sp>
          <p:nvSpPr>
            <p:cNvPr id="61" name="矩形 60">
              <a:extLst>
                <a:ext uri="{FF2B5EF4-FFF2-40B4-BE49-F238E27FC236}">
                  <a16:creationId xmlns:a16="http://schemas.microsoft.com/office/drawing/2014/main" id="{E8A2D369-73BF-4B1F-AF0A-AF36A42A352A}"/>
                </a:ext>
              </a:extLst>
            </p:cNvPr>
            <p:cNvSpPr/>
            <p:nvPr/>
          </p:nvSpPr>
          <p:spPr bwMode="gray">
            <a:xfrm>
              <a:off x="4653209" y="2505869"/>
              <a:ext cx="1070903" cy="323165"/>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状态码</a:t>
              </a:r>
            </a:p>
          </p:txBody>
        </p:sp>
        <p:sp>
          <p:nvSpPr>
            <p:cNvPr id="62" name="矩形 61">
              <a:extLst>
                <a:ext uri="{FF2B5EF4-FFF2-40B4-BE49-F238E27FC236}">
                  <a16:creationId xmlns:a16="http://schemas.microsoft.com/office/drawing/2014/main" id="{FE4A73F8-F45F-4216-B6C8-7B97955278AC}"/>
                </a:ext>
              </a:extLst>
            </p:cNvPr>
            <p:cNvSpPr/>
            <p:nvPr/>
          </p:nvSpPr>
          <p:spPr bwMode="gray">
            <a:xfrm>
              <a:off x="6368638" y="2505868"/>
              <a:ext cx="1381846" cy="323165"/>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原因短语</a:t>
              </a:r>
            </a:p>
          </p:txBody>
        </p:sp>
        <p:sp>
          <p:nvSpPr>
            <p:cNvPr id="63" name="矩形 62">
              <a:extLst>
                <a:ext uri="{FF2B5EF4-FFF2-40B4-BE49-F238E27FC236}">
                  <a16:creationId xmlns:a16="http://schemas.microsoft.com/office/drawing/2014/main" id="{3F04E949-4CCC-4846-8B15-6F183B7861C1}"/>
                </a:ext>
              </a:extLst>
            </p:cNvPr>
            <p:cNvSpPr/>
            <p:nvPr/>
          </p:nvSpPr>
          <p:spPr bwMode="gray">
            <a:xfrm>
              <a:off x="2952221" y="4281073"/>
              <a:ext cx="5080901"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数据</a:t>
              </a:r>
            </a:p>
          </p:txBody>
        </p:sp>
        <p:sp>
          <p:nvSpPr>
            <p:cNvPr id="64" name="矩形 63">
              <a:extLst>
                <a:ext uri="{FF2B5EF4-FFF2-40B4-BE49-F238E27FC236}">
                  <a16:creationId xmlns:a16="http://schemas.microsoft.com/office/drawing/2014/main" id="{ED1FF46C-3174-448F-9ADD-33C5AECA1FDF}"/>
                </a:ext>
              </a:extLst>
            </p:cNvPr>
            <p:cNvSpPr/>
            <p:nvPr/>
          </p:nvSpPr>
          <p:spPr bwMode="gray">
            <a:xfrm>
              <a:off x="4017736" y="2505869"/>
              <a:ext cx="671367" cy="323165"/>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空格</a:t>
              </a:r>
            </a:p>
          </p:txBody>
        </p:sp>
        <p:sp>
          <p:nvSpPr>
            <p:cNvPr id="65" name="矩形 64">
              <a:extLst>
                <a:ext uri="{FF2B5EF4-FFF2-40B4-BE49-F238E27FC236}">
                  <a16:creationId xmlns:a16="http://schemas.microsoft.com/office/drawing/2014/main" id="{ED1FF46C-3174-448F-9ADD-33C5AECA1FDF}"/>
                </a:ext>
              </a:extLst>
            </p:cNvPr>
            <p:cNvSpPr/>
            <p:nvPr/>
          </p:nvSpPr>
          <p:spPr bwMode="gray">
            <a:xfrm>
              <a:off x="5697271" y="2505869"/>
              <a:ext cx="671367" cy="323165"/>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空格</a:t>
              </a:r>
            </a:p>
          </p:txBody>
        </p:sp>
        <p:grpSp>
          <p:nvGrpSpPr>
            <p:cNvPr id="66" name="组合 65"/>
            <p:cNvGrpSpPr/>
            <p:nvPr/>
          </p:nvGrpSpPr>
          <p:grpSpPr bwMode="gray">
            <a:xfrm>
              <a:off x="2952221" y="3918766"/>
              <a:ext cx="1570713" cy="360040"/>
              <a:chOff x="6670863" y="4556412"/>
              <a:chExt cx="1570713" cy="360040"/>
            </a:xfrm>
            <a:solidFill>
              <a:schemeClr val="bg1"/>
            </a:solidFill>
          </p:grpSpPr>
          <p:sp>
            <p:nvSpPr>
              <p:cNvPr id="79" name="矩形 78">
                <a:extLst>
                  <a:ext uri="{FF2B5EF4-FFF2-40B4-BE49-F238E27FC236}">
                    <a16:creationId xmlns:a16="http://schemas.microsoft.com/office/drawing/2014/main" id="{ED1FF46C-3174-448F-9ADD-33C5AECA1FDF}"/>
                  </a:ext>
                </a:extLst>
              </p:cNvPr>
              <p:cNvSpPr/>
              <p:nvPr/>
            </p:nvSpPr>
            <p:spPr bwMode="gray">
              <a:xfrm>
                <a:off x="6670863" y="4556412"/>
                <a:ext cx="785829"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80" name="矩形 79">
                <a:extLst>
                  <a:ext uri="{FF2B5EF4-FFF2-40B4-BE49-F238E27FC236}">
                    <a16:creationId xmlns:a16="http://schemas.microsoft.com/office/drawing/2014/main" id="{ED1FF46C-3174-448F-9ADD-33C5AECA1FDF}"/>
                  </a:ext>
                </a:extLst>
              </p:cNvPr>
              <p:cNvSpPr/>
              <p:nvPr/>
            </p:nvSpPr>
            <p:spPr bwMode="gray">
              <a:xfrm>
                <a:off x="7456692" y="4556412"/>
                <a:ext cx="784884"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grpSp>
          <p:nvGrpSpPr>
            <p:cNvPr id="67" name="组合 66"/>
            <p:cNvGrpSpPr/>
            <p:nvPr/>
          </p:nvGrpSpPr>
          <p:grpSpPr bwMode="gray">
            <a:xfrm>
              <a:off x="2952221" y="2852667"/>
              <a:ext cx="5075046" cy="370535"/>
              <a:chOff x="1898947" y="4916449"/>
              <a:chExt cx="5075046" cy="357297"/>
            </a:xfrm>
            <a:solidFill>
              <a:schemeClr val="bg1"/>
            </a:solidFill>
          </p:grpSpPr>
          <p:sp>
            <p:nvSpPr>
              <p:cNvPr id="76" name="矩形 75">
                <a:extLst>
                  <a:ext uri="{FF2B5EF4-FFF2-40B4-BE49-F238E27FC236}">
                    <a16:creationId xmlns:a16="http://schemas.microsoft.com/office/drawing/2014/main" id="{DE3F0C5F-22A9-4922-B2C2-C3EB12DD441E}"/>
                  </a:ext>
                </a:extLst>
              </p:cNvPr>
              <p:cNvSpPr/>
              <p:nvPr/>
            </p:nvSpPr>
            <p:spPr bwMode="gray">
              <a:xfrm>
                <a:off x="1898947" y="4916449"/>
                <a:ext cx="3516164" cy="357295"/>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a:solidFill>
                      <a:schemeClr val="tx1"/>
                    </a:solidFill>
                  </a:rPr>
                  <a:t>头部字段名：值</a:t>
                </a:r>
                <a:endParaRPr lang="en-US" altLang="zh-CN" sz="1500">
                  <a:solidFill>
                    <a:schemeClr val="tx1"/>
                  </a:solidFill>
                </a:endParaRPr>
              </a:p>
            </p:txBody>
          </p:sp>
          <p:sp>
            <p:nvSpPr>
              <p:cNvPr id="77" name="矩形 76">
                <a:extLst>
                  <a:ext uri="{FF2B5EF4-FFF2-40B4-BE49-F238E27FC236}">
                    <a16:creationId xmlns:a16="http://schemas.microsoft.com/office/drawing/2014/main" id="{ED1FF46C-3174-448F-9ADD-33C5AECA1FDF}"/>
                  </a:ext>
                </a:extLst>
              </p:cNvPr>
              <p:cNvSpPr/>
              <p:nvPr/>
            </p:nvSpPr>
            <p:spPr bwMode="gray">
              <a:xfrm>
                <a:off x="5404225" y="4916449"/>
                <a:ext cx="784884" cy="357297"/>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78" name="矩形 77">
                <a:extLst>
                  <a:ext uri="{FF2B5EF4-FFF2-40B4-BE49-F238E27FC236}">
                    <a16:creationId xmlns:a16="http://schemas.microsoft.com/office/drawing/2014/main" id="{ED1FF46C-3174-448F-9ADD-33C5AECA1FDF}"/>
                  </a:ext>
                </a:extLst>
              </p:cNvPr>
              <p:cNvSpPr/>
              <p:nvPr/>
            </p:nvSpPr>
            <p:spPr bwMode="gray">
              <a:xfrm>
                <a:off x="6189109" y="4916449"/>
                <a:ext cx="784884" cy="357297"/>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sp>
          <p:nvSpPr>
            <p:cNvPr id="68" name="矩形 67">
              <a:extLst>
                <a:ext uri="{FF2B5EF4-FFF2-40B4-BE49-F238E27FC236}">
                  <a16:creationId xmlns:a16="http://schemas.microsoft.com/office/drawing/2014/main" id="{DE3F0C5F-22A9-4922-B2C2-C3EB12DD441E}"/>
                </a:ext>
              </a:extLst>
            </p:cNvPr>
            <p:cNvSpPr/>
            <p:nvPr/>
          </p:nvSpPr>
          <p:spPr bwMode="gray">
            <a:xfrm>
              <a:off x="2952221" y="3219311"/>
              <a:ext cx="5075045" cy="357295"/>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solidFill>
                    <a:schemeClr val="tx1"/>
                  </a:solidFill>
                </a:rPr>
                <a:t>…</a:t>
              </a:r>
            </a:p>
          </p:txBody>
        </p:sp>
        <p:grpSp>
          <p:nvGrpSpPr>
            <p:cNvPr id="69" name="组合 68"/>
            <p:cNvGrpSpPr/>
            <p:nvPr/>
          </p:nvGrpSpPr>
          <p:grpSpPr bwMode="gray">
            <a:xfrm>
              <a:off x="2952222" y="3568466"/>
              <a:ext cx="5075044" cy="356738"/>
              <a:chOff x="1894037" y="4912559"/>
              <a:chExt cx="5075044" cy="350301"/>
            </a:xfrm>
            <a:solidFill>
              <a:schemeClr val="bg1"/>
            </a:solidFill>
          </p:grpSpPr>
          <p:sp>
            <p:nvSpPr>
              <p:cNvPr id="73" name="矩形 72">
                <a:extLst>
                  <a:ext uri="{FF2B5EF4-FFF2-40B4-BE49-F238E27FC236}">
                    <a16:creationId xmlns:a16="http://schemas.microsoft.com/office/drawing/2014/main" id="{DE3F0C5F-22A9-4922-B2C2-C3EB12DD441E}"/>
                  </a:ext>
                </a:extLst>
              </p:cNvPr>
              <p:cNvSpPr/>
              <p:nvPr/>
            </p:nvSpPr>
            <p:spPr bwMode="gray">
              <a:xfrm>
                <a:off x="1894037" y="4916451"/>
                <a:ext cx="3521074" cy="343134"/>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a:solidFill>
                      <a:schemeClr val="tx1"/>
                    </a:solidFill>
                  </a:rPr>
                  <a:t>头部字段名：值</a:t>
                </a:r>
                <a:endParaRPr lang="en-US" altLang="zh-CN" sz="1500">
                  <a:solidFill>
                    <a:schemeClr val="tx1"/>
                  </a:solidFill>
                </a:endParaRPr>
              </a:p>
            </p:txBody>
          </p:sp>
          <p:sp>
            <p:nvSpPr>
              <p:cNvPr id="74" name="矩形 73">
                <a:extLst>
                  <a:ext uri="{FF2B5EF4-FFF2-40B4-BE49-F238E27FC236}">
                    <a16:creationId xmlns:a16="http://schemas.microsoft.com/office/drawing/2014/main" id="{ED1FF46C-3174-448F-9ADD-33C5AECA1FDF}"/>
                  </a:ext>
                </a:extLst>
              </p:cNvPr>
              <p:cNvSpPr/>
              <p:nvPr/>
            </p:nvSpPr>
            <p:spPr bwMode="gray">
              <a:xfrm>
                <a:off x="5404225" y="4912559"/>
                <a:ext cx="784884" cy="350301"/>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75" name="矩形 74">
                <a:extLst>
                  <a:ext uri="{FF2B5EF4-FFF2-40B4-BE49-F238E27FC236}">
                    <a16:creationId xmlns:a16="http://schemas.microsoft.com/office/drawing/2014/main" id="{ED1FF46C-3174-448F-9ADD-33C5AECA1FDF}"/>
                  </a:ext>
                </a:extLst>
              </p:cNvPr>
              <p:cNvSpPr/>
              <p:nvPr/>
            </p:nvSpPr>
            <p:spPr bwMode="gray">
              <a:xfrm>
                <a:off x="6189109" y="4912559"/>
                <a:ext cx="779972" cy="350301"/>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grpSp>
          <p:nvGrpSpPr>
            <p:cNvPr id="70" name="组合 69"/>
            <p:cNvGrpSpPr/>
            <p:nvPr/>
          </p:nvGrpSpPr>
          <p:grpSpPr bwMode="gray">
            <a:xfrm>
              <a:off x="7739598" y="2505864"/>
              <a:ext cx="1569768" cy="323165"/>
              <a:chOff x="6671808" y="4556412"/>
              <a:chExt cx="1569768" cy="333239"/>
            </a:xfrm>
            <a:solidFill>
              <a:schemeClr val="bg1"/>
            </a:solidFill>
          </p:grpSpPr>
          <p:sp>
            <p:nvSpPr>
              <p:cNvPr id="71" name="矩形 70">
                <a:extLst>
                  <a:ext uri="{FF2B5EF4-FFF2-40B4-BE49-F238E27FC236}">
                    <a16:creationId xmlns:a16="http://schemas.microsoft.com/office/drawing/2014/main" id="{ED1FF46C-3174-448F-9ADD-33C5AECA1FDF}"/>
                  </a:ext>
                </a:extLst>
              </p:cNvPr>
              <p:cNvSpPr/>
              <p:nvPr/>
            </p:nvSpPr>
            <p:spPr bwMode="gray">
              <a:xfrm>
                <a:off x="6671808" y="4556412"/>
                <a:ext cx="784884" cy="333239"/>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回车符</a:t>
                </a:r>
              </a:p>
            </p:txBody>
          </p:sp>
          <p:sp>
            <p:nvSpPr>
              <p:cNvPr id="72" name="矩形 71">
                <a:extLst>
                  <a:ext uri="{FF2B5EF4-FFF2-40B4-BE49-F238E27FC236}">
                    <a16:creationId xmlns:a16="http://schemas.microsoft.com/office/drawing/2014/main" id="{ED1FF46C-3174-448F-9ADD-33C5AECA1FDF}"/>
                  </a:ext>
                </a:extLst>
              </p:cNvPr>
              <p:cNvSpPr/>
              <p:nvPr/>
            </p:nvSpPr>
            <p:spPr bwMode="gray">
              <a:xfrm>
                <a:off x="7456692" y="4556412"/>
                <a:ext cx="784884" cy="333239"/>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换行符</a:t>
                </a:r>
              </a:p>
            </p:txBody>
          </p:sp>
        </p:grpSp>
      </p:grpSp>
      <p:sp>
        <p:nvSpPr>
          <p:cNvPr id="29" name="文本框 28">
            <a:extLst>
              <a:ext uri="{FF2B5EF4-FFF2-40B4-BE49-F238E27FC236}">
                <a16:creationId xmlns:a16="http://schemas.microsoft.com/office/drawing/2014/main" id="{69387562-BBB4-4B4D-B3CF-C5337D4F1D5C}"/>
              </a:ext>
            </a:extLst>
          </p:cNvPr>
          <p:cNvSpPr txBox="1"/>
          <p:nvPr/>
        </p:nvSpPr>
        <p:spPr bwMode="gray">
          <a:xfrm>
            <a:off x="2796195" y="2968589"/>
            <a:ext cx="6607432" cy="423899"/>
          </a:xfrm>
          <a:prstGeom prst="rect">
            <a:avLst/>
          </a:prstGeom>
          <a:noFill/>
          <a:ln>
            <a:solidFill>
              <a:srgbClr val="56C4D2"/>
            </a:solidFill>
          </a:ln>
        </p:spPr>
        <p:txBody>
          <a:bodyPr wrap="square" rtlCol="0">
            <a:spAutoFit/>
          </a:bodyPr>
          <a:lstStyle/>
          <a:p>
            <a:pPr>
              <a:lnSpc>
                <a:spcPct val="150000"/>
              </a:lnSpc>
            </a:pPr>
            <a:r>
              <a:rPr lang="zh-CN" altLang="en-US" sz="1600"/>
              <a:t>状态行示例：</a:t>
            </a:r>
            <a:r>
              <a:rPr lang="en-US" altLang="zh-CN" sz="1600"/>
              <a:t>HTTP1.1 200 OK</a:t>
            </a:r>
          </a:p>
        </p:txBody>
      </p:sp>
    </p:spTree>
    <p:extLst>
      <p:ext uri="{BB962C8B-B14F-4D97-AF65-F5344CB8AC3E}">
        <p14:creationId xmlns:p14="http://schemas.microsoft.com/office/powerpoint/2010/main" val="6337416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t>状态码</a:t>
            </a:r>
          </a:p>
        </p:txBody>
      </p:sp>
      <p:sp>
        <p:nvSpPr>
          <p:cNvPr id="10" name="文本占位符 9"/>
          <p:cNvSpPr>
            <a:spLocks noGrp="1"/>
          </p:cNvSpPr>
          <p:nvPr>
            <p:ph type="body" sz="quarter" idx="10"/>
          </p:nvPr>
        </p:nvSpPr>
        <p:spPr bwMode="gray"/>
        <p:txBody>
          <a:bodyPr/>
          <a:lstStyle/>
          <a:p>
            <a:r>
              <a:rPr lang="en-US" altLang="zh-CN" sz="1800" dirty="0"/>
              <a:t>HTTP</a:t>
            </a:r>
            <a:r>
              <a:rPr lang="zh-CN" altLang="en-US" sz="1800" dirty="0"/>
              <a:t>状态码（</a:t>
            </a:r>
            <a:r>
              <a:rPr lang="en-US" altLang="zh-CN" sz="1800" dirty="0"/>
              <a:t>HTTP Status Code</a:t>
            </a:r>
            <a:r>
              <a:rPr lang="zh-CN" altLang="en-US" sz="1800" dirty="0"/>
              <a:t>）是服务器响应状态的</a:t>
            </a:r>
            <a:r>
              <a:rPr lang="en-US" altLang="zh-CN" sz="1800" dirty="0"/>
              <a:t>3</a:t>
            </a:r>
            <a:r>
              <a:rPr lang="zh-CN" altLang="en-US" sz="1800" dirty="0"/>
              <a:t>位数字码，用于向客户端返回操作结果。</a:t>
            </a:r>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600"/>
          </a:p>
        </p:txBody>
      </p:sp>
      <p:sp>
        <p:nvSpPr>
          <p:cNvPr id="35" name="内容占位符 2"/>
          <p:cNvSpPr txBox="1">
            <a:spLocks/>
          </p:cNvSpPr>
          <p:nvPr/>
        </p:nvSpPr>
        <p:spPr bwMode="gray">
          <a:xfrm>
            <a:off x="469729" y="1233488"/>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285750" indent="-285750"/>
            <a:endParaRPr lang="en-US" altLang="zh-CN" sz="1800" dirty="0"/>
          </a:p>
        </p:txBody>
      </p:sp>
      <p:graphicFrame>
        <p:nvGraphicFramePr>
          <p:cNvPr id="6" name="表格 5">
            <a:extLst>
              <a:ext uri="{FF2B5EF4-FFF2-40B4-BE49-F238E27FC236}">
                <a16:creationId xmlns:a16="http://schemas.microsoft.com/office/drawing/2014/main" id="{9609A30D-F6B5-4401-8DA8-F6A7C4E62CFC}"/>
              </a:ext>
            </a:extLst>
          </p:cNvPr>
          <p:cNvGraphicFramePr>
            <a:graphicFrameLocks noGrp="1"/>
          </p:cNvGraphicFramePr>
          <p:nvPr>
            <p:extLst>
              <p:ext uri="{D42A27DB-BD31-4B8C-83A1-F6EECF244321}">
                <p14:modId xmlns:p14="http://schemas.microsoft.com/office/powerpoint/2010/main" val="3149163008"/>
              </p:ext>
            </p:extLst>
          </p:nvPr>
        </p:nvGraphicFramePr>
        <p:xfrm>
          <a:off x="550078" y="1658938"/>
          <a:ext cx="11091843" cy="4114800"/>
        </p:xfrm>
        <a:graphic>
          <a:graphicData uri="http://schemas.openxmlformats.org/drawingml/2006/table">
            <a:tbl>
              <a:tblPr firstRow="1" bandRow="1"/>
              <a:tblGrid>
                <a:gridCol w="850639">
                  <a:extLst>
                    <a:ext uri="{9D8B030D-6E8A-4147-A177-3AD203B41FA5}">
                      <a16:colId xmlns:a16="http://schemas.microsoft.com/office/drawing/2014/main" val="20000"/>
                    </a:ext>
                  </a:extLst>
                </a:gridCol>
                <a:gridCol w="2430683">
                  <a:extLst>
                    <a:ext uri="{9D8B030D-6E8A-4147-A177-3AD203B41FA5}">
                      <a16:colId xmlns:a16="http://schemas.microsoft.com/office/drawing/2014/main" val="1240633139"/>
                    </a:ext>
                  </a:extLst>
                </a:gridCol>
                <a:gridCol w="2532465">
                  <a:extLst>
                    <a:ext uri="{9D8B030D-6E8A-4147-A177-3AD203B41FA5}">
                      <a16:colId xmlns:a16="http://schemas.microsoft.com/office/drawing/2014/main" val="20001"/>
                    </a:ext>
                  </a:extLst>
                </a:gridCol>
                <a:gridCol w="5278056">
                  <a:extLst>
                    <a:ext uri="{9D8B030D-6E8A-4147-A177-3AD203B41FA5}">
                      <a16:colId xmlns:a16="http://schemas.microsoft.com/office/drawing/2014/main" val="2808074268"/>
                    </a:ext>
                  </a:extLst>
                </a:gridCol>
              </a:tblGrid>
              <a:tr h="300028">
                <a:tc gridSpan="2">
                  <a:txBody>
                    <a:bodyPr/>
                    <a:lstStyle/>
                    <a:p>
                      <a:pPr algn="ctr"/>
                      <a:r>
                        <a:rPr lang="zh-CN" altLang="en-US" sz="1600" b="1" dirty="0">
                          <a:solidFill>
                            <a:schemeClr val="tx1"/>
                          </a:solidFill>
                        </a:rPr>
                        <a:t>状态码</a:t>
                      </a:r>
                      <a:endParaRPr lang="zh-CN" altLang="en-US" sz="1600" b="1"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CN" altLang="en-US" sz="1600" b="1" dirty="0">
                        <a:solidFill>
                          <a:schemeClr val="bg1"/>
                        </a:solidFill>
                        <a:latin typeface="+mn-lt"/>
                        <a:ea typeface="+mn-ea"/>
                      </a:endParaRPr>
                    </a:p>
                  </a:txBody>
                  <a:tcPr marL="109753" marR="109753" marT="45731" marB="45731"/>
                </a:tc>
                <a:tc gridSpan="2">
                  <a:txBody>
                    <a:bodyPr/>
                    <a:lstStyle/>
                    <a:p>
                      <a:pPr algn="ctr"/>
                      <a:r>
                        <a:rPr lang="zh-CN" altLang="en-US" sz="1600" b="1" dirty="0">
                          <a:solidFill>
                            <a:schemeClr val="tx1"/>
                          </a:solidFill>
                        </a:rPr>
                        <a:t>状态码说明</a:t>
                      </a:r>
                      <a:endParaRPr lang="zh-CN" altLang="en-US" sz="1600" b="1"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CN" altLang="en-US" sz="1400" b="1" dirty="0">
                        <a:solidFill>
                          <a:schemeClr val="bg1"/>
                        </a:solidFill>
                        <a:latin typeface="+mn-lt"/>
                        <a:ea typeface="+mn-ea"/>
                      </a:endParaRPr>
                    </a:p>
                  </a:txBody>
                  <a:tcPr marL="109753" marR="109753" marT="45731" marB="45731"/>
                </a:tc>
                <a:extLst>
                  <a:ext uri="{0D108BD9-81ED-4DB2-BD59-A6C34878D82A}">
                    <a16:rowId xmlns:a16="http://schemas.microsoft.com/office/drawing/2014/main" val="10000"/>
                  </a:ext>
                </a:extLst>
              </a:tr>
              <a:tr h="300028">
                <a:tc>
                  <a:txBody>
                    <a:bodyPr/>
                    <a:lstStyle/>
                    <a:p>
                      <a:pPr algn="ctr"/>
                      <a:r>
                        <a:rPr lang="en-US" altLang="zh-CN" sz="1400" dirty="0"/>
                        <a:t>1XX</a:t>
                      </a:r>
                      <a:endParaRPr lang="zh-CN" altLang="en-US" sz="1400" b="0" dirty="0">
                        <a:solidFill>
                          <a:srgbClr val="000000"/>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(Informational)</a:t>
                      </a:r>
                      <a:r>
                        <a:rPr lang="zh-CN" altLang="en-US" sz="1400" dirty="0"/>
                        <a:t>请求被接收</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100 Continue</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请求被接收，继续执行</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0028">
                <a:tc rowSpan="3">
                  <a:txBody>
                    <a:bodyPr/>
                    <a:lstStyle/>
                    <a:p>
                      <a:pPr algn="ctr"/>
                      <a:r>
                        <a:rPr lang="en-US" altLang="zh-CN" sz="1400" dirty="0"/>
                        <a:t>2XX</a:t>
                      </a:r>
                      <a:endParaRPr lang="zh-CN" altLang="en-US" sz="1400" b="0" dirty="0">
                        <a:solidFill>
                          <a:srgbClr val="000000"/>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altLang="zh-CN" sz="1400" dirty="0"/>
                        <a:t>(Successful)</a:t>
                      </a:r>
                      <a:r>
                        <a:rPr lang="zh-CN" altLang="en-US" sz="1400" dirty="0"/>
                        <a:t>请求成功</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t>200 OK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成功，有响应消息体</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0028">
                <a:tc vMerge="1">
                  <a:txBody>
                    <a:bodyPr/>
                    <a:lstStyle/>
                    <a:p>
                      <a:endParaRPr lang="zh-CN" altLang="en-US" sz="1200" b="0" dirty="0">
                        <a:solidFill>
                          <a:srgbClr val="000000"/>
                        </a:solidFill>
                        <a:latin typeface="+mn-ea"/>
                        <a:ea typeface="+mn-ea"/>
                      </a:endParaRPr>
                    </a:p>
                  </a:txBody>
                  <a:tcPr marL="109753" marR="109753" marT="45731" marB="457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600" b="0" dirty="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t>201 Created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t>资源创建成功</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86920">
                <a:tc vMerge="1">
                  <a:txBody>
                    <a:bodyPr/>
                    <a:lstStyle/>
                    <a:p>
                      <a:endParaRPr lang="zh-CN" altLang="en-US" sz="1600" b="0" dirty="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vMerge="1">
                  <a:txBody>
                    <a:bodyPr/>
                    <a:lstStyle/>
                    <a:p>
                      <a:endParaRPr lang="zh-CN" altLang="en-US" sz="1600" b="0" dirty="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t>204 No Content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t>成功，无响应消息体</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3557638"/>
                  </a:ext>
                </a:extLst>
              </a:tr>
              <a:tr h="484603">
                <a:tc>
                  <a:txBody>
                    <a:bodyPr/>
                    <a:lstStyle/>
                    <a:p>
                      <a:pPr algn="ctr"/>
                      <a:r>
                        <a:rPr lang="en-US" altLang="zh-CN" sz="1400"/>
                        <a:t>3XX</a:t>
                      </a:r>
                      <a:endParaRPr lang="zh-CN" altLang="en-US" sz="1400" b="0" dirty="0">
                        <a:solidFill>
                          <a:srgbClr val="000000"/>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(Redirection)</a:t>
                      </a:r>
                      <a:r>
                        <a:rPr lang="zh-CN" altLang="en-US" sz="1400" dirty="0"/>
                        <a:t>进一步操作需要被执行</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301 Moved Permanently</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目标资源被分配了新的</a:t>
                      </a:r>
                      <a:r>
                        <a:rPr lang="en-US" altLang="zh-CN" sz="1400" dirty="0"/>
                        <a:t>URI</a:t>
                      </a:r>
                      <a:r>
                        <a:rPr lang="zh-CN" altLang="en-US" sz="1400" dirty="0"/>
                        <a:t>，且未来的资源都会关联到新的</a:t>
                      </a:r>
                      <a:r>
                        <a:rPr lang="en-US" altLang="zh-CN" sz="1400" dirty="0"/>
                        <a:t>URI</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0028">
                <a:tc rowSpan="4">
                  <a:txBody>
                    <a:bodyPr/>
                    <a:lstStyle/>
                    <a:p>
                      <a:pPr algn="ctr"/>
                      <a:r>
                        <a:rPr lang="en-US" altLang="zh-CN" sz="1400"/>
                        <a:t>4XX</a:t>
                      </a:r>
                      <a:endParaRPr lang="zh-CN" altLang="en-US" sz="1400" b="0" dirty="0">
                        <a:solidFill>
                          <a:srgbClr val="000000"/>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t>(Client Error)</a:t>
                      </a:r>
                      <a:r>
                        <a:rPr lang="zh-CN" altLang="en-US" sz="1400" dirty="0"/>
                        <a:t>请求错误</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t>400 Bad Request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请求消息体错误，消息体中携带有错误描述</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00028">
                <a:tc vMerge="1">
                  <a:txBody>
                    <a:bodyPr/>
                    <a:lstStyle/>
                    <a:p>
                      <a:endParaRPr lang="zh-CN" altLang="en-US" sz="1400" b="0" dirty="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vMerge="1">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endParaRPr lang="zh-CN" altLang="en-US" sz="1400" b="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a:txBody>
                    <a:bodyPr/>
                    <a:lstStyle/>
                    <a:p>
                      <a:pPr algn="ctr"/>
                      <a:r>
                        <a:rPr lang="en-US" altLang="zh-CN" sz="1400" dirty="0"/>
                        <a:t>401 Unauthorized</a:t>
                      </a:r>
                      <a:endParaRPr lang="en-US" altLang="zh-CN"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授权失败，例如证书不匹配</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00028">
                <a:tc vMerge="1">
                  <a:txBody>
                    <a:bodyPr/>
                    <a:lstStyle/>
                    <a:p>
                      <a:endParaRPr lang="zh-CN" altLang="en-US" sz="1400" b="0" dirty="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vMerge="1">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endParaRPr lang="zh-CN" altLang="en-US" sz="1400" b="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a:txBody>
                    <a:bodyPr/>
                    <a:lstStyle/>
                    <a:p>
                      <a:pPr algn="ctr"/>
                      <a:r>
                        <a:rPr lang="en-US" altLang="zh-CN" sz="1400" dirty="0"/>
                        <a:t>403 Forbidden</a:t>
                      </a:r>
                      <a:endParaRPr lang="en-US" altLang="zh-CN"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禁止访问，可能的原因是：用户试图执行权限之外的操作或登录用户名密码错误</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996799"/>
                  </a:ext>
                </a:extLst>
              </a:tr>
              <a:tr h="300028">
                <a:tc vMerge="1">
                  <a:txBody>
                    <a:bodyPr/>
                    <a:lstStyle/>
                    <a:p>
                      <a:endParaRPr lang="zh-CN" altLang="en-US" sz="1400" b="0" dirty="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vMerge="1">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endParaRPr lang="zh-CN" altLang="en-US" sz="1400" b="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a:txBody>
                    <a:bodyPr/>
                    <a:lstStyle/>
                    <a:p>
                      <a:pPr algn="ctr"/>
                      <a:r>
                        <a:rPr lang="en-US" altLang="zh-CN" sz="1400" dirty="0"/>
                        <a:t>404 Not Found</a:t>
                      </a:r>
                      <a:endParaRPr lang="en-US" altLang="zh-CN"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找不到请求的资源</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6686118"/>
                  </a:ext>
                </a:extLst>
              </a:tr>
              <a:tr h="300028">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a:t>5XX</a:t>
                      </a:r>
                      <a:endParaRPr lang="zh-CN" altLang="en-US" sz="1400" b="0" dirty="0">
                        <a:solidFill>
                          <a:srgbClr val="000000"/>
                        </a:solidFill>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a:t>(Server Error)</a:t>
                      </a:r>
                      <a:r>
                        <a:rPr lang="zh-CN" altLang="en-US" sz="1400"/>
                        <a:t>服务端错误</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500 Internal Server Error</a:t>
                      </a:r>
                      <a:endParaRPr lang="en-US" altLang="zh-CN"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a:t>服务器内部错误，不能执行此请求，用户需要稍后重新发送请求</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00028">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b="0" dirty="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400" b="0" dirty="0">
                        <a:solidFill>
                          <a:srgbClr val="000000"/>
                        </a:solidFill>
                        <a:latin typeface="+mn-lt"/>
                        <a:ea typeface="+mn-ea"/>
                      </a:endParaRPr>
                    </a:p>
                  </a:txBody>
                  <a:tcPr marL="109753" marR="109753" marT="45731" marB="45731">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A6D2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501 Not Implemented</a:t>
                      </a:r>
                      <a:endParaRPr lang="en-US" altLang="zh-CN"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a:t>功能未实现</a:t>
                      </a:r>
                      <a:endParaRPr lang="zh-CN" altLang="en-US" sz="1400" b="0" dirty="0">
                        <a:solidFill>
                          <a:srgbClr val="000000"/>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0641813"/>
                  </a:ext>
                </a:extLst>
              </a:tr>
            </a:tbl>
          </a:graphicData>
        </a:graphic>
      </p:graphicFrame>
      <p:sp>
        <p:nvSpPr>
          <p:cNvPr id="12" name="五边形 11"/>
          <p:cNvSpPr/>
          <p:nvPr/>
        </p:nvSpPr>
        <p:spPr bwMode="gray">
          <a:xfrm>
            <a:off x="8747863" y="126000"/>
            <a:ext cx="1055909" cy="212400"/>
          </a:xfrm>
          <a:prstGeom prst="homePlate">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状态行</a:t>
            </a:r>
          </a:p>
        </p:txBody>
      </p:sp>
      <p:sp>
        <p:nvSpPr>
          <p:cNvPr id="13" name="燕尾形 12"/>
          <p:cNvSpPr/>
          <p:nvPr/>
        </p:nvSpPr>
        <p:spPr bwMode="gray">
          <a:xfrm>
            <a:off x="9724807"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响应头部</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10691591"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响应正文</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9053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服务器响应消息：响应头部</a:t>
            </a:r>
          </a:p>
        </p:txBody>
      </p:sp>
      <p:sp>
        <p:nvSpPr>
          <p:cNvPr id="6" name="文本占位符 5"/>
          <p:cNvSpPr>
            <a:spLocks noGrp="1"/>
          </p:cNvSpPr>
          <p:nvPr>
            <p:ph type="body" sz="quarter" idx="10"/>
          </p:nvPr>
        </p:nvSpPr>
        <p:spPr bwMode="gray"/>
        <p:txBody>
          <a:bodyPr/>
          <a:lstStyle/>
          <a:p>
            <a:r>
              <a:rPr lang="zh-CN" altLang="en-US" sz="1800" dirty="0"/>
              <a:t>响应头部允许服务器传递关于响应的附加信息，这些头部字段提供了关于服务器的相关信息以及</a:t>
            </a:r>
            <a:r>
              <a:rPr lang="en-US" altLang="zh-CN" sz="1800" dirty="0"/>
              <a:t>URI</a:t>
            </a:r>
            <a:r>
              <a:rPr lang="zh-CN" altLang="en-US" sz="1800" dirty="0"/>
              <a:t>所标识资源的信息。</a:t>
            </a:r>
          </a:p>
          <a:p>
            <a:endParaRPr lang="zh-CN" altLang="en-US" sz="1800" dirty="0"/>
          </a:p>
          <a:p>
            <a:endParaRPr lang="zh-CN" altLang="en-US" sz="1800" dirty="0"/>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39" name="矩形 38">
            <a:extLst>
              <a:ext uri="{FF2B5EF4-FFF2-40B4-BE49-F238E27FC236}">
                <a16:creationId xmlns:a16="http://schemas.microsoft.com/office/drawing/2014/main" id="{ED1FF46C-3174-448F-9ADD-33C5AECA1FDF}"/>
              </a:ext>
            </a:extLst>
          </p:cNvPr>
          <p:cNvSpPr/>
          <p:nvPr/>
        </p:nvSpPr>
        <p:spPr bwMode="gray">
          <a:xfrm>
            <a:off x="2845500" y="2858229"/>
            <a:ext cx="1065993"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协议版本</a:t>
            </a:r>
          </a:p>
        </p:txBody>
      </p:sp>
      <p:sp>
        <p:nvSpPr>
          <p:cNvPr id="40" name="矩形 39">
            <a:extLst>
              <a:ext uri="{FF2B5EF4-FFF2-40B4-BE49-F238E27FC236}">
                <a16:creationId xmlns:a16="http://schemas.microsoft.com/office/drawing/2014/main" id="{E8A2D369-73BF-4B1F-AF0A-AF36A42A352A}"/>
              </a:ext>
            </a:extLst>
          </p:cNvPr>
          <p:cNvSpPr/>
          <p:nvPr/>
        </p:nvSpPr>
        <p:spPr bwMode="gray">
          <a:xfrm>
            <a:off x="4546488" y="2858229"/>
            <a:ext cx="1070903"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状态码</a:t>
            </a:r>
          </a:p>
        </p:txBody>
      </p:sp>
      <p:sp>
        <p:nvSpPr>
          <p:cNvPr id="41" name="矩形 40">
            <a:extLst>
              <a:ext uri="{FF2B5EF4-FFF2-40B4-BE49-F238E27FC236}">
                <a16:creationId xmlns:a16="http://schemas.microsoft.com/office/drawing/2014/main" id="{FE4A73F8-F45F-4216-B6C8-7B97955278AC}"/>
              </a:ext>
            </a:extLst>
          </p:cNvPr>
          <p:cNvSpPr/>
          <p:nvPr/>
        </p:nvSpPr>
        <p:spPr bwMode="gray">
          <a:xfrm>
            <a:off x="6261917" y="2858228"/>
            <a:ext cx="1381846"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原因短语</a:t>
            </a:r>
          </a:p>
        </p:txBody>
      </p:sp>
      <p:sp>
        <p:nvSpPr>
          <p:cNvPr id="42" name="矩形 41">
            <a:extLst>
              <a:ext uri="{FF2B5EF4-FFF2-40B4-BE49-F238E27FC236}">
                <a16:creationId xmlns:a16="http://schemas.microsoft.com/office/drawing/2014/main" id="{3F04E949-4CCC-4846-8B15-6F183B7861C1}"/>
              </a:ext>
            </a:extLst>
          </p:cNvPr>
          <p:cNvSpPr/>
          <p:nvPr/>
        </p:nvSpPr>
        <p:spPr bwMode="gray">
          <a:xfrm>
            <a:off x="2845500" y="4633433"/>
            <a:ext cx="5080901"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数据</a:t>
            </a:r>
          </a:p>
        </p:txBody>
      </p:sp>
      <p:sp>
        <p:nvSpPr>
          <p:cNvPr id="43" name="矩形 42">
            <a:extLst>
              <a:ext uri="{FF2B5EF4-FFF2-40B4-BE49-F238E27FC236}">
                <a16:creationId xmlns:a16="http://schemas.microsoft.com/office/drawing/2014/main" id="{ED1FF46C-3174-448F-9ADD-33C5AECA1FDF}"/>
              </a:ext>
            </a:extLst>
          </p:cNvPr>
          <p:cNvSpPr/>
          <p:nvPr/>
        </p:nvSpPr>
        <p:spPr bwMode="gray">
          <a:xfrm>
            <a:off x="3911015" y="2858229"/>
            <a:ext cx="671367"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空格</a:t>
            </a:r>
          </a:p>
        </p:txBody>
      </p:sp>
      <p:sp>
        <p:nvSpPr>
          <p:cNvPr id="44" name="矩形 43">
            <a:extLst>
              <a:ext uri="{FF2B5EF4-FFF2-40B4-BE49-F238E27FC236}">
                <a16:creationId xmlns:a16="http://schemas.microsoft.com/office/drawing/2014/main" id="{ED1FF46C-3174-448F-9ADD-33C5AECA1FDF}"/>
              </a:ext>
            </a:extLst>
          </p:cNvPr>
          <p:cNvSpPr/>
          <p:nvPr/>
        </p:nvSpPr>
        <p:spPr bwMode="gray">
          <a:xfrm>
            <a:off x="5590550" y="2858229"/>
            <a:ext cx="671367" cy="36004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空格</a:t>
            </a:r>
          </a:p>
        </p:txBody>
      </p:sp>
      <p:grpSp>
        <p:nvGrpSpPr>
          <p:cNvPr id="45" name="组合 44"/>
          <p:cNvGrpSpPr/>
          <p:nvPr/>
        </p:nvGrpSpPr>
        <p:grpSpPr bwMode="gray">
          <a:xfrm>
            <a:off x="2845500" y="4271126"/>
            <a:ext cx="1570713" cy="360040"/>
            <a:chOff x="6670863" y="4556412"/>
            <a:chExt cx="1570713" cy="360040"/>
          </a:xfrm>
          <a:solidFill>
            <a:schemeClr val="bg1"/>
          </a:solidFill>
        </p:grpSpPr>
        <p:sp>
          <p:nvSpPr>
            <p:cNvPr id="58" name="矩形 57">
              <a:extLst>
                <a:ext uri="{FF2B5EF4-FFF2-40B4-BE49-F238E27FC236}">
                  <a16:creationId xmlns:a16="http://schemas.microsoft.com/office/drawing/2014/main" id="{ED1FF46C-3174-448F-9ADD-33C5AECA1FDF}"/>
                </a:ext>
              </a:extLst>
            </p:cNvPr>
            <p:cNvSpPr/>
            <p:nvPr/>
          </p:nvSpPr>
          <p:spPr bwMode="gray">
            <a:xfrm>
              <a:off x="6670863" y="4556412"/>
              <a:ext cx="785829"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59" name="矩形 58">
              <a:extLst>
                <a:ext uri="{FF2B5EF4-FFF2-40B4-BE49-F238E27FC236}">
                  <a16:creationId xmlns:a16="http://schemas.microsoft.com/office/drawing/2014/main" id="{ED1FF46C-3174-448F-9ADD-33C5AECA1FDF}"/>
                </a:ext>
              </a:extLst>
            </p:cNvPr>
            <p:cNvSpPr/>
            <p:nvPr/>
          </p:nvSpPr>
          <p:spPr bwMode="gray">
            <a:xfrm>
              <a:off x="7456692" y="4556412"/>
              <a:ext cx="784884" cy="360040"/>
            </a:xfrm>
            <a:prstGeom prst="rect">
              <a:avLst/>
            </a:prstGeom>
            <a:grp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grpSp>
        <p:nvGrpSpPr>
          <p:cNvPr id="46" name="组合 45"/>
          <p:cNvGrpSpPr/>
          <p:nvPr/>
        </p:nvGrpSpPr>
        <p:grpSpPr bwMode="gray">
          <a:xfrm>
            <a:off x="2845500" y="3205033"/>
            <a:ext cx="5075046" cy="323165"/>
            <a:chOff x="1898947" y="4916449"/>
            <a:chExt cx="5075046" cy="311619"/>
          </a:xfrm>
          <a:solidFill>
            <a:schemeClr val="bg1"/>
          </a:solidFill>
        </p:grpSpPr>
        <p:sp>
          <p:nvSpPr>
            <p:cNvPr id="55" name="矩形 54">
              <a:extLst>
                <a:ext uri="{FF2B5EF4-FFF2-40B4-BE49-F238E27FC236}">
                  <a16:creationId xmlns:a16="http://schemas.microsoft.com/office/drawing/2014/main" id="{DE3F0C5F-22A9-4922-B2C2-C3EB12DD441E}"/>
                </a:ext>
              </a:extLst>
            </p:cNvPr>
            <p:cNvSpPr/>
            <p:nvPr/>
          </p:nvSpPr>
          <p:spPr bwMode="gray">
            <a:xfrm>
              <a:off x="1898947" y="4916449"/>
              <a:ext cx="3516164" cy="311619"/>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头部字段名：值</a:t>
              </a:r>
              <a:endParaRPr lang="en-US" altLang="zh-CN" sz="1500" b="1">
                <a:solidFill>
                  <a:schemeClr val="bg1"/>
                </a:solidFill>
              </a:endParaRPr>
            </a:p>
          </p:txBody>
        </p:sp>
        <p:sp>
          <p:nvSpPr>
            <p:cNvPr id="56" name="矩形 55">
              <a:extLst>
                <a:ext uri="{FF2B5EF4-FFF2-40B4-BE49-F238E27FC236}">
                  <a16:creationId xmlns:a16="http://schemas.microsoft.com/office/drawing/2014/main" id="{ED1FF46C-3174-448F-9ADD-33C5AECA1FDF}"/>
                </a:ext>
              </a:extLst>
            </p:cNvPr>
            <p:cNvSpPr/>
            <p:nvPr/>
          </p:nvSpPr>
          <p:spPr bwMode="gray">
            <a:xfrm>
              <a:off x="5404225" y="4916449"/>
              <a:ext cx="784884" cy="311619"/>
            </a:xfrm>
            <a:prstGeom prst="rect">
              <a:avLst/>
            </a:prstGeom>
            <a:solidFill>
              <a:srgbClr val="56C4D2"/>
            </a:solidFill>
            <a:ln>
              <a:solidFill>
                <a:srgbClr val="56C4D2"/>
              </a:solidFill>
            </a:ln>
          </p:spPr>
          <p:txBody>
            <a:bodyPr wrap="square" rtlCol="0">
              <a:spAutoFit/>
            </a:bodyPr>
            <a:lstStyle/>
            <a:p>
              <a:pPr algn="ctr"/>
              <a:r>
                <a:rPr lang="zh-CN" altLang="en-US" sz="1500" b="1" dirty="0">
                  <a:solidFill>
                    <a:schemeClr val="bg1"/>
                  </a:solidFill>
                </a:rPr>
                <a:t>回车符</a:t>
              </a:r>
            </a:p>
          </p:txBody>
        </p:sp>
        <p:sp>
          <p:nvSpPr>
            <p:cNvPr id="57" name="矩形 56">
              <a:extLst>
                <a:ext uri="{FF2B5EF4-FFF2-40B4-BE49-F238E27FC236}">
                  <a16:creationId xmlns:a16="http://schemas.microsoft.com/office/drawing/2014/main" id="{ED1FF46C-3174-448F-9ADD-33C5AECA1FDF}"/>
                </a:ext>
              </a:extLst>
            </p:cNvPr>
            <p:cNvSpPr/>
            <p:nvPr/>
          </p:nvSpPr>
          <p:spPr bwMode="gray">
            <a:xfrm>
              <a:off x="6189109" y="4916449"/>
              <a:ext cx="784884" cy="311619"/>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换行符</a:t>
              </a:r>
            </a:p>
          </p:txBody>
        </p:sp>
      </p:grpSp>
      <p:sp>
        <p:nvSpPr>
          <p:cNvPr id="47" name="矩形 46">
            <a:extLst>
              <a:ext uri="{FF2B5EF4-FFF2-40B4-BE49-F238E27FC236}">
                <a16:creationId xmlns:a16="http://schemas.microsoft.com/office/drawing/2014/main" id="{DE3F0C5F-22A9-4922-B2C2-C3EB12DD441E}"/>
              </a:ext>
            </a:extLst>
          </p:cNvPr>
          <p:cNvSpPr/>
          <p:nvPr/>
        </p:nvSpPr>
        <p:spPr bwMode="gray">
          <a:xfrm>
            <a:off x="2845500" y="3571671"/>
            <a:ext cx="5075045" cy="323165"/>
          </a:xfrm>
          <a:prstGeom prst="rect">
            <a:avLst/>
          </a:prstGeom>
          <a:solidFill>
            <a:srgbClr val="56C4D2"/>
          </a:solidFill>
          <a:ln>
            <a:solidFill>
              <a:srgbClr val="56C4D2"/>
            </a:solidFill>
          </a:ln>
        </p:spPr>
        <p:txBody>
          <a:bodyPr wrap="square" rtlCol="0">
            <a:spAutoFit/>
          </a:bodyPr>
          <a:lstStyle/>
          <a:p>
            <a:pPr algn="ctr"/>
            <a:r>
              <a:rPr lang="en-US" altLang="zh-CN" sz="1500" b="1">
                <a:solidFill>
                  <a:schemeClr val="bg1"/>
                </a:solidFill>
              </a:rPr>
              <a:t>…</a:t>
            </a:r>
          </a:p>
        </p:txBody>
      </p:sp>
      <p:grpSp>
        <p:nvGrpSpPr>
          <p:cNvPr id="48" name="组合 47"/>
          <p:cNvGrpSpPr/>
          <p:nvPr/>
        </p:nvGrpSpPr>
        <p:grpSpPr bwMode="gray">
          <a:xfrm>
            <a:off x="2845501" y="3920830"/>
            <a:ext cx="5075044" cy="327129"/>
            <a:chOff x="1894037" y="4912559"/>
            <a:chExt cx="5075044" cy="321226"/>
          </a:xfrm>
          <a:solidFill>
            <a:schemeClr val="bg1"/>
          </a:solidFill>
        </p:grpSpPr>
        <p:sp>
          <p:nvSpPr>
            <p:cNvPr id="52" name="矩形 51">
              <a:extLst>
                <a:ext uri="{FF2B5EF4-FFF2-40B4-BE49-F238E27FC236}">
                  <a16:creationId xmlns:a16="http://schemas.microsoft.com/office/drawing/2014/main" id="{DE3F0C5F-22A9-4922-B2C2-C3EB12DD441E}"/>
                </a:ext>
              </a:extLst>
            </p:cNvPr>
            <p:cNvSpPr/>
            <p:nvPr/>
          </p:nvSpPr>
          <p:spPr bwMode="gray">
            <a:xfrm>
              <a:off x="1894037" y="4916451"/>
              <a:ext cx="3521074" cy="317334"/>
            </a:xfrm>
            <a:prstGeom prst="rect">
              <a:avLst/>
            </a:prstGeom>
            <a:solidFill>
              <a:srgbClr val="56C4D2"/>
            </a:solidFill>
            <a:ln>
              <a:solidFill>
                <a:srgbClr val="56C4D2"/>
              </a:solidFill>
            </a:ln>
          </p:spPr>
          <p:txBody>
            <a:bodyPr wrap="square" rtlCol="0">
              <a:spAutoFit/>
            </a:bodyPr>
            <a:lstStyle/>
            <a:p>
              <a:pPr algn="ctr"/>
              <a:r>
                <a:rPr lang="zh-CN" altLang="en-US" sz="1500" b="1" dirty="0">
                  <a:solidFill>
                    <a:schemeClr val="bg1"/>
                  </a:solidFill>
                </a:rPr>
                <a:t>头部字段名：值</a:t>
              </a:r>
              <a:endParaRPr lang="en-US" altLang="zh-CN" sz="1500" b="1" dirty="0">
                <a:solidFill>
                  <a:schemeClr val="bg1"/>
                </a:solidFill>
              </a:endParaRPr>
            </a:p>
          </p:txBody>
        </p:sp>
        <p:sp>
          <p:nvSpPr>
            <p:cNvPr id="53" name="矩形 52">
              <a:extLst>
                <a:ext uri="{FF2B5EF4-FFF2-40B4-BE49-F238E27FC236}">
                  <a16:creationId xmlns:a16="http://schemas.microsoft.com/office/drawing/2014/main" id="{ED1FF46C-3174-448F-9ADD-33C5AECA1FDF}"/>
                </a:ext>
              </a:extLst>
            </p:cNvPr>
            <p:cNvSpPr/>
            <p:nvPr/>
          </p:nvSpPr>
          <p:spPr bwMode="gray">
            <a:xfrm>
              <a:off x="5404225" y="4912559"/>
              <a:ext cx="784884" cy="317334"/>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回车符</a:t>
              </a:r>
            </a:p>
          </p:txBody>
        </p:sp>
        <p:sp>
          <p:nvSpPr>
            <p:cNvPr id="54" name="矩形 53">
              <a:extLst>
                <a:ext uri="{FF2B5EF4-FFF2-40B4-BE49-F238E27FC236}">
                  <a16:creationId xmlns:a16="http://schemas.microsoft.com/office/drawing/2014/main" id="{ED1FF46C-3174-448F-9ADD-33C5AECA1FDF}"/>
                </a:ext>
              </a:extLst>
            </p:cNvPr>
            <p:cNvSpPr/>
            <p:nvPr/>
          </p:nvSpPr>
          <p:spPr bwMode="gray">
            <a:xfrm>
              <a:off x="6189109" y="4912559"/>
              <a:ext cx="779972" cy="317334"/>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换行符</a:t>
              </a:r>
            </a:p>
          </p:txBody>
        </p:sp>
      </p:grpSp>
      <p:sp>
        <p:nvSpPr>
          <p:cNvPr id="50" name="矩形 49">
            <a:extLst>
              <a:ext uri="{FF2B5EF4-FFF2-40B4-BE49-F238E27FC236}">
                <a16:creationId xmlns:a16="http://schemas.microsoft.com/office/drawing/2014/main" id="{ED1FF46C-3174-448F-9ADD-33C5AECA1FDF}"/>
              </a:ext>
            </a:extLst>
          </p:cNvPr>
          <p:cNvSpPr/>
          <p:nvPr/>
        </p:nvSpPr>
        <p:spPr bwMode="gray">
          <a:xfrm>
            <a:off x="7632877" y="2858221"/>
            <a:ext cx="784884" cy="34680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回车符</a:t>
            </a:r>
          </a:p>
        </p:txBody>
      </p:sp>
      <p:sp>
        <p:nvSpPr>
          <p:cNvPr id="51" name="矩形 50">
            <a:extLst>
              <a:ext uri="{FF2B5EF4-FFF2-40B4-BE49-F238E27FC236}">
                <a16:creationId xmlns:a16="http://schemas.microsoft.com/office/drawing/2014/main" id="{ED1FF46C-3174-448F-9ADD-33C5AECA1FDF}"/>
              </a:ext>
            </a:extLst>
          </p:cNvPr>
          <p:cNvSpPr/>
          <p:nvPr/>
        </p:nvSpPr>
        <p:spPr bwMode="gray">
          <a:xfrm>
            <a:off x="8417761" y="2858221"/>
            <a:ext cx="784884" cy="346895"/>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换行符</a:t>
            </a:r>
          </a:p>
        </p:txBody>
      </p:sp>
      <p:sp>
        <p:nvSpPr>
          <p:cNvPr id="29" name="文本框 28">
            <a:extLst>
              <a:ext uri="{FF2B5EF4-FFF2-40B4-BE49-F238E27FC236}">
                <a16:creationId xmlns:a16="http://schemas.microsoft.com/office/drawing/2014/main" id="{69387562-BBB4-4B4D-B3CF-C5337D4F1D5C}"/>
              </a:ext>
            </a:extLst>
          </p:cNvPr>
          <p:cNvSpPr txBox="1"/>
          <p:nvPr/>
        </p:nvSpPr>
        <p:spPr bwMode="gray">
          <a:xfrm>
            <a:off x="2845501" y="2236420"/>
            <a:ext cx="6607432" cy="338554"/>
          </a:xfrm>
          <a:prstGeom prst="rect">
            <a:avLst/>
          </a:prstGeom>
          <a:noFill/>
          <a:ln>
            <a:solidFill>
              <a:srgbClr val="56C4D2"/>
            </a:solidFill>
          </a:ln>
        </p:spPr>
        <p:txBody>
          <a:bodyPr wrap="square" rtlCol="0">
            <a:spAutoFit/>
          </a:bodyPr>
          <a:lstStyle/>
          <a:p>
            <a:r>
              <a:rPr lang="zh-CN" altLang="en-US" sz="1600"/>
              <a:t>响应头部示例：</a:t>
            </a:r>
            <a:r>
              <a:rPr lang="en-US" altLang="zh-CN" sz="1600"/>
              <a:t>Server: JSP3/2.0.14</a:t>
            </a:r>
          </a:p>
        </p:txBody>
      </p:sp>
      <p:sp>
        <p:nvSpPr>
          <p:cNvPr id="33" name="五边形 32"/>
          <p:cNvSpPr/>
          <p:nvPr/>
        </p:nvSpPr>
        <p:spPr bwMode="gray">
          <a:xfrm>
            <a:off x="8747863" y="126000"/>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状态行</a:t>
            </a:r>
          </a:p>
        </p:txBody>
      </p:sp>
      <p:sp>
        <p:nvSpPr>
          <p:cNvPr id="34" name="燕尾形 33"/>
          <p:cNvSpPr/>
          <p:nvPr/>
        </p:nvSpPr>
        <p:spPr bwMode="gray">
          <a:xfrm>
            <a:off x="9724807" y="126000"/>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响应头部</a:t>
            </a:r>
          </a:p>
        </p:txBody>
      </p:sp>
      <p:sp>
        <p:nvSpPr>
          <p:cNvPr id="36" name="燕尾形 35"/>
          <p:cNvSpPr/>
          <p:nvPr/>
        </p:nvSpPr>
        <p:spPr bwMode="gray">
          <a:xfrm>
            <a:off x="10691591"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响应正文</a:t>
            </a:r>
          </a:p>
        </p:txBody>
      </p:sp>
    </p:spTree>
    <p:extLst>
      <p:ext uri="{BB962C8B-B14F-4D97-AF65-F5344CB8AC3E}">
        <p14:creationId xmlns:p14="http://schemas.microsoft.com/office/powerpoint/2010/main" val="37937490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响应头部常见字段</a:t>
            </a:r>
          </a:p>
        </p:txBody>
      </p:sp>
      <p:sp>
        <p:nvSpPr>
          <p:cNvPr id="3" name="内容占位符 2"/>
          <p:cNvSpPr txBox="1">
            <a:spLocks/>
          </p:cNvSpPr>
          <p:nvPr/>
        </p:nvSpPr>
        <p:spPr>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latinLnBrk="1"/>
            <a:endParaRPr lang="zh-CN" altLang="en-US" sz="1600"/>
          </a:p>
        </p:txBody>
      </p:sp>
      <p:graphicFrame>
        <p:nvGraphicFramePr>
          <p:cNvPr id="4" name="表格 3"/>
          <p:cNvGraphicFramePr>
            <a:graphicFrameLocks noGrp="1"/>
          </p:cNvGraphicFramePr>
          <p:nvPr>
            <p:extLst>
              <p:ext uri="{D42A27DB-BD31-4B8C-83A1-F6EECF244321}">
                <p14:modId xmlns:p14="http://schemas.microsoft.com/office/powerpoint/2010/main" val="670788902"/>
              </p:ext>
            </p:extLst>
          </p:nvPr>
        </p:nvGraphicFramePr>
        <p:xfrm>
          <a:off x="697149" y="1280513"/>
          <a:ext cx="10797702" cy="4585948"/>
        </p:xfrm>
        <a:graphic>
          <a:graphicData uri="http://schemas.openxmlformats.org/drawingml/2006/table">
            <a:tbl>
              <a:tblPr/>
              <a:tblGrid>
                <a:gridCol w="2507417">
                  <a:extLst>
                    <a:ext uri="{9D8B030D-6E8A-4147-A177-3AD203B41FA5}">
                      <a16:colId xmlns:a16="http://schemas.microsoft.com/office/drawing/2014/main" val="20000"/>
                    </a:ext>
                  </a:extLst>
                </a:gridCol>
                <a:gridCol w="8290285">
                  <a:extLst>
                    <a:ext uri="{9D8B030D-6E8A-4147-A177-3AD203B41FA5}">
                      <a16:colId xmlns:a16="http://schemas.microsoft.com/office/drawing/2014/main" val="20001"/>
                    </a:ext>
                  </a:extLst>
                </a:gridCol>
              </a:tblGrid>
              <a:tr h="344331">
                <a:tc>
                  <a:txBody>
                    <a:bodyPr/>
                    <a:lstStyle/>
                    <a:p>
                      <a:pPr algn="ctr">
                        <a:lnSpc>
                          <a:spcPct val="100000"/>
                        </a:lnSpc>
                      </a:pP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响应头字段</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含义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3478">
                <a:tc>
                  <a:txBody>
                    <a:bodyPr/>
                    <a:lstStyle/>
                    <a:p>
                      <a:pPr algn="ctr">
                        <a:lnSpc>
                          <a:spcPct val="100000"/>
                        </a:lnSpc>
                      </a:pPr>
                      <a:r>
                        <a:rPr lang="en-US" altLang="zh-CN" sz="1400" dirty="0"/>
                        <a:t>Allow</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zh-CN" altLang="en-US" sz="1400" dirty="0"/>
                        <a:t>服务器支持哪些请求方法</a:t>
                      </a:r>
                      <a:r>
                        <a:rPr lang="en-US" altLang="zh-CN" sz="1400" dirty="0"/>
                        <a:t>(</a:t>
                      </a:r>
                      <a:r>
                        <a:rPr lang="zh-CN" altLang="en-US" sz="1400" dirty="0"/>
                        <a:t>如</a:t>
                      </a:r>
                      <a:r>
                        <a:rPr lang="en-US" altLang="zh-CN" sz="1400" dirty="0"/>
                        <a:t>GET</a:t>
                      </a:r>
                      <a:r>
                        <a:rPr lang="zh-CN" altLang="en-US" sz="1400" dirty="0"/>
                        <a:t>、</a:t>
                      </a:r>
                      <a:r>
                        <a:rPr lang="en-US" altLang="zh-CN" sz="1400" dirty="0"/>
                        <a:t>POST</a:t>
                      </a:r>
                      <a:r>
                        <a:rPr lang="zh-CN" altLang="en-US" sz="1400" dirty="0"/>
                        <a:t>等</a:t>
                      </a:r>
                      <a:r>
                        <a:rPr lang="en-US" altLang="zh-CN" sz="1400" dirty="0"/>
                        <a:t>)</a:t>
                      </a:r>
                      <a:endParaRPr lang="zh-CN" alt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3478">
                <a:tc>
                  <a:txBody>
                    <a:bodyPr/>
                    <a:lstStyle/>
                    <a:p>
                      <a:pPr algn="ctr">
                        <a:lnSpc>
                          <a:spcPct val="100000"/>
                        </a:lnSpc>
                      </a:pPr>
                      <a:r>
                        <a:rPr lang="en-US" altLang="zh-CN" sz="1400" dirty="0"/>
                        <a:t>Content-Encoding</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文档的编码</a:t>
                      </a:r>
                      <a:r>
                        <a:rPr lang="en-US" altLang="zh-CN" sz="1400" dirty="0"/>
                        <a:t>(Encode)</a:t>
                      </a:r>
                      <a:r>
                        <a:rPr lang="zh-CN" altLang="en-US" sz="1400" dirty="0"/>
                        <a:t>方法。只有在解码之后才可以得到</a:t>
                      </a:r>
                      <a:r>
                        <a:rPr lang="en-US" altLang="zh-CN" sz="1400" dirty="0"/>
                        <a:t>Content-Type</a:t>
                      </a:r>
                      <a:r>
                        <a:rPr lang="zh-CN" altLang="en-US" sz="1400" dirty="0"/>
                        <a:t>头指定的内容类型</a:t>
                      </a:r>
                      <a:endParaRPr lang="en-US" altLang="zh-CN"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4834">
                <a:tc>
                  <a:txBody>
                    <a:bodyPr/>
                    <a:lstStyle/>
                    <a:p>
                      <a:pPr algn="ctr">
                        <a:lnSpc>
                          <a:spcPct val="100000"/>
                        </a:lnSpc>
                      </a:pPr>
                      <a:r>
                        <a:rPr lang="en-US" altLang="zh-CN" sz="1400" dirty="0"/>
                        <a:t>Content-Length</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表示内容长度。只有当客户端使用持久</a:t>
                      </a:r>
                      <a:r>
                        <a:rPr lang="en-US" altLang="zh-CN" sz="1400" dirty="0"/>
                        <a:t>HTTP</a:t>
                      </a:r>
                      <a:r>
                        <a:rPr lang="zh-CN" altLang="en-US" sz="1400" dirty="0"/>
                        <a:t>连接时才需要该字段</a:t>
                      </a:r>
                      <a:endParaRPr lang="en-US" altLang="zh-CN"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27319">
                <a:tc>
                  <a:txBody>
                    <a:bodyPr/>
                    <a:lstStyle/>
                    <a:p>
                      <a:pPr algn="ctr">
                        <a:lnSpc>
                          <a:spcPct val="100000"/>
                        </a:lnSpc>
                      </a:pPr>
                      <a:r>
                        <a:rPr lang="en-US" altLang="zh-CN" sz="1400"/>
                        <a:t>Content-Type</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表示数据属于什么</a:t>
                      </a:r>
                      <a:r>
                        <a:rPr lang="en-US" altLang="zh-CN" sz="1400" dirty="0"/>
                        <a:t>MIME</a:t>
                      </a:r>
                      <a:r>
                        <a:rPr lang="zh-CN" altLang="en-US" sz="1400" dirty="0"/>
                        <a:t>类型。默认为</a:t>
                      </a:r>
                      <a:r>
                        <a:rPr lang="en-US" altLang="zh-CN" sz="1400" dirty="0"/>
                        <a:t>text/plain</a:t>
                      </a:r>
                      <a:r>
                        <a:rPr lang="zh-CN" altLang="en-US" sz="1400" dirty="0"/>
                        <a:t>纯文本格式</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22755">
                <a:tc>
                  <a:txBody>
                    <a:bodyPr/>
                    <a:lstStyle/>
                    <a:p>
                      <a:pPr algn="ctr"/>
                      <a:r>
                        <a:rPr lang="en-US" altLang="zh-CN" sz="1400"/>
                        <a:t>Date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当前的</a:t>
                      </a:r>
                      <a:r>
                        <a:rPr lang="en-US" altLang="zh-CN" sz="1400" dirty="0"/>
                        <a:t>GMT</a:t>
                      </a:r>
                      <a:r>
                        <a:rPr lang="zh-CN" altLang="en-US" sz="1400" dirty="0"/>
                        <a:t>时间</a:t>
                      </a:r>
                      <a:endParaRPr lang="en-US" altLang="zh-CN"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23478">
                <a:tc>
                  <a:txBody>
                    <a:bodyPr/>
                    <a:lstStyle/>
                    <a:p>
                      <a:pPr algn="ctr">
                        <a:lnSpc>
                          <a:spcPct val="100000"/>
                        </a:lnSpc>
                      </a:pPr>
                      <a:r>
                        <a:rPr lang="en-US" altLang="zh-CN" sz="1400"/>
                        <a:t>Location</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该字段配合</a:t>
                      </a:r>
                      <a:r>
                        <a:rPr lang="en-US" altLang="zh-CN" sz="1400" dirty="0"/>
                        <a:t>302</a:t>
                      </a:r>
                      <a:r>
                        <a:rPr lang="zh-CN" altLang="en-US" sz="1400" dirty="0"/>
                        <a:t>状态码使用，用于重定向到一个新</a:t>
                      </a:r>
                      <a:r>
                        <a:rPr lang="en-US" altLang="zh-CN" sz="1400" dirty="0"/>
                        <a:t>URI</a:t>
                      </a:r>
                      <a:r>
                        <a:rPr lang="zh-CN" altLang="en-US" sz="1400" dirty="0"/>
                        <a:t>地址。表示客户端应当去寻找并提取资源的位置</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68417">
                <a:tc>
                  <a:txBody>
                    <a:bodyPr/>
                    <a:lstStyle/>
                    <a:p>
                      <a:pPr algn="ctr">
                        <a:lnSpc>
                          <a:spcPct val="100000"/>
                        </a:lnSpc>
                      </a:pPr>
                      <a:r>
                        <a:rPr lang="en-US" altLang="zh-CN" sz="1400"/>
                        <a:t>Server</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表示服务器的类型</a:t>
                      </a:r>
                      <a:endParaRPr lang="zh-CN" altLang="en-US" sz="1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06602">
                <a:tc>
                  <a:txBody>
                    <a:bodyPr/>
                    <a:lstStyle/>
                    <a:p>
                      <a:pPr algn="ctr">
                        <a:lnSpc>
                          <a:spcPct val="100000"/>
                        </a:lnSpc>
                      </a:pPr>
                      <a:r>
                        <a:rPr lang="en-US" altLang="zh-CN" sz="1400"/>
                        <a:t>Set-Cookie</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设置和页面关联的</a:t>
                      </a:r>
                      <a:r>
                        <a:rPr lang="en-US" altLang="zh-CN" sz="1400" dirty="0"/>
                        <a:t>Cookie</a:t>
                      </a:r>
                      <a:endParaRPr lang="zh-CN" altLang="en-US" sz="1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59108">
                <a:tc>
                  <a:txBody>
                    <a:bodyPr/>
                    <a:lstStyle/>
                    <a:p>
                      <a:pPr algn="ctr">
                        <a:lnSpc>
                          <a:spcPct val="100000"/>
                        </a:lnSpc>
                      </a:pPr>
                      <a:r>
                        <a:rPr lang="en-US" altLang="zh-CN" sz="1400"/>
                        <a:t>Transfer-Encoding</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t>数据的传送格式</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532148">
                <a:tc>
                  <a:txBody>
                    <a:bodyPr/>
                    <a:lstStyle/>
                    <a:p>
                      <a:pPr algn="ctr">
                        <a:lnSpc>
                          <a:spcPct val="100000"/>
                        </a:lnSpc>
                      </a:pPr>
                      <a:r>
                        <a:rPr lang="en-US" altLang="zh-CN" sz="1400"/>
                        <a:t>WWW-Authenticate</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t>表示客户应该在</a:t>
                      </a:r>
                      <a:r>
                        <a:rPr lang="en-US" altLang="zh-CN" sz="1400" dirty="0"/>
                        <a:t>Authorization</a:t>
                      </a:r>
                      <a:r>
                        <a:rPr lang="zh-CN" altLang="en-US" sz="1400" dirty="0"/>
                        <a:t>头中提供什么类型的授权信息，在包含</a:t>
                      </a:r>
                      <a:r>
                        <a:rPr lang="en-US" altLang="zh-CN" sz="1400" dirty="0"/>
                        <a:t>401(Unauthorized)</a:t>
                      </a:r>
                      <a:r>
                        <a:rPr lang="zh-CN" altLang="en-US" sz="1400" dirty="0"/>
                        <a:t>状态行的应答中这个字段是必需的</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1" name="五边形 10"/>
          <p:cNvSpPr/>
          <p:nvPr/>
        </p:nvSpPr>
        <p:spPr bwMode="auto">
          <a:xfrm>
            <a:off x="8747863" y="126000"/>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状态行</a:t>
            </a:r>
          </a:p>
        </p:txBody>
      </p:sp>
      <p:sp>
        <p:nvSpPr>
          <p:cNvPr id="12" name="燕尾形 11"/>
          <p:cNvSpPr/>
          <p:nvPr/>
        </p:nvSpPr>
        <p:spPr bwMode="auto">
          <a:xfrm>
            <a:off x="9724807" y="126000"/>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响应头部</a:t>
            </a:r>
          </a:p>
        </p:txBody>
      </p:sp>
      <p:sp>
        <p:nvSpPr>
          <p:cNvPr id="13" name="燕尾形 12"/>
          <p:cNvSpPr/>
          <p:nvPr/>
        </p:nvSpPr>
        <p:spPr bwMode="auto">
          <a:xfrm>
            <a:off x="10691591"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响应正文</a:t>
            </a:r>
          </a:p>
        </p:txBody>
      </p:sp>
    </p:spTree>
    <p:extLst>
      <p:ext uri="{BB962C8B-B14F-4D97-AF65-F5344CB8AC3E}">
        <p14:creationId xmlns:p14="http://schemas.microsoft.com/office/powerpoint/2010/main" val="20889797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服务器响应消息：响应正文</a:t>
            </a:r>
          </a:p>
        </p:txBody>
      </p:sp>
      <p:sp>
        <p:nvSpPr>
          <p:cNvPr id="6" name="文本占位符 5"/>
          <p:cNvSpPr>
            <a:spLocks noGrp="1"/>
          </p:cNvSpPr>
          <p:nvPr>
            <p:ph type="body" sz="quarter" idx="10"/>
          </p:nvPr>
        </p:nvSpPr>
        <p:spPr bwMode="gray"/>
        <p:txBody>
          <a:bodyPr/>
          <a:lstStyle/>
          <a:p>
            <a:r>
              <a:rPr lang="zh-CN" altLang="en-US" sz="1800" dirty="0"/>
              <a:t>空行：它的作用是通过一个空行，告诉客户端响应头部到此为止。</a:t>
            </a:r>
          </a:p>
          <a:p>
            <a:r>
              <a:rPr lang="zh-CN" altLang="en-US" sz="1800" dirty="0"/>
              <a:t>响应正文：响应的消息体，如果客户端请求的数据类型是纯数据则返回纯数据。如果请求的是</a:t>
            </a:r>
            <a:r>
              <a:rPr lang="en-US" altLang="zh-CN" sz="1800" dirty="0"/>
              <a:t>HTML</a:t>
            </a:r>
            <a:r>
              <a:rPr lang="zh-CN" altLang="en-US" sz="1800" dirty="0"/>
              <a:t>页面，则返回</a:t>
            </a:r>
            <a:r>
              <a:rPr lang="en-US" altLang="zh-CN" sz="1800" dirty="0"/>
              <a:t>HTML</a:t>
            </a:r>
            <a:r>
              <a:rPr lang="zh-CN" altLang="en-US" sz="1800" dirty="0"/>
              <a:t>代码。</a:t>
            </a:r>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36" name="矩形 35">
            <a:extLst>
              <a:ext uri="{FF2B5EF4-FFF2-40B4-BE49-F238E27FC236}">
                <a16:creationId xmlns:a16="http://schemas.microsoft.com/office/drawing/2014/main" id="{ED1FF46C-3174-448F-9ADD-33C5AECA1FDF}"/>
              </a:ext>
            </a:extLst>
          </p:cNvPr>
          <p:cNvSpPr/>
          <p:nvPr/>
        </p:nvSpPr>
        <p:spPr bwMode="gray">
          <a:xfrm>
            <a:off x="2923776" y="2859425"/>
            <a:ext cx="1065993" cy="360040"/>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协议版本</a:t>
            </a:r>
          </a:p>
        </p:txBody>
      </p:sp>
      <p:sp>
        <p:nvSpPr>
          <p:cNvPr id="61" name="矩形 60">
            <a:extLst>
              <a:ext uri="{FF2B5EF4-FFF2-40B4-BE49-F238E27FC236}">
                <a16:creationId xmlns:a16="http://schemas.microsoft.com/office/drawing/2014/main" id="{E8A2D369-73BF-4B1F-AF0A-AF36A42A352A}"/>
              </a:ext>
            </a:extLst>
          </p:cNvPr>
          <p:cNvSpPr/>
          <p:nvPr/>
        </p:nvSpPr>
        <p:spPr bwMode="gray">
          <a:xfrm>
            <a:off x="4655270" y="2859425"/>
            <a:ext cx="1070903" cy="360040"/>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状态码</a:t>
            </a:r>
          </a:p>
        </p:txBody>
      </p:sp>
      <p:sp>
        <p:nvSpPr>
          <p:cNvPr id="62" name="矩形 61">
            <a:extLst>
              <a:ext uri="{FF2B5EF4-FFF2-40B4-BE49-F238E27FC236}">
                <a16:creationId xmlns:a16="http://schemas.microsoft.com/office/drawing/2014/main" id="{FE4A73F8-F45F-4216-B6C8-7B97955278AC}"/>
              </a:ext>
            </a:extLst>
          </p:cNvPr>
          <p:cNvSpPr/>
          <p:nvPr/>
        </p:nvSpPr>
        <p:spPr bwMode="gray">
          <a:xfrm>
            <a:off x="6340193" y="2859425"/>
            <a:ext cx="1381846" cy="360040"/>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原因短语</a:t>
            </a:r>
          </a:p>
        </p:txBody>
      </p:sp>
      <p:sp>
        <p:nvSpPr>
          <p:cNvPr id="63" name="矩形 62">
            <a:extLst>
              <a:ext uri="{FF2B5EF4-FFF2-40B4-BE49-F238E27FC236}">
                <a16:creationId xmlns:a16="http://schemas.microsoft.com/office/drawing/2014/main" id="{3F04E949-4CCC-4846-8B15-6F183B7861C1}"/>
              </a:ext>
            </a:extLst>
          </p:cNvPr>
          <p:cNvSpPr/>
          <p:nvPr/>
        </p:nvSpPr>
        <p:spPr bwMode="gray">
          <a:xfrm>
            <a:off x="2923776" y="4630967"/>
            <a:ext cx="5080901" cy="323165"/>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数据</a:t>
            </a:r>
          </a:p>
        </p:txBody>
      </p:sp>
      <p:sp>
        <p:nvSpPr>
          <p:cNvPr id="64" name="矩形 63">
            <a:extLst>
              <a:ext uri="{FF2B5EF4-FFF2-40B4-BE49-F238E27FC236}">
                <a16:creationId xmlns:a16="http://schemas.microsoft.com/office/drawing/2014/main" id="{ED1FF46C-3174-448F-9ADD-33C5AECA1FDF}"/>
              </a:ext>
            </a:extLst>
          </p:cNvPr>
          <p:cNvSpPr/>
          <p:nvPr/>
        </p:nvSpPr>
        <p:spPr bwMode="gray">
          <a:xfrm>
            <a:off x="3989291" y="2859425"/>
            <a:ext cx="671367" cy="360040"/>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空格</a:t>
            </a:r>
          </a:p>
        </p:txBody>
      </p:sp>
      <p:sp>
        <p:nvSpPr>
          <p:cNvPr id="65" name="矩形 64">
            <a:extLst>
              <a:ext uri="{FF2B5EF4-FFF2-40B4-BE49-F238E27FC236}">
                <a16:creationId xmlns:a16="http://schemas.microsoft.com/office/drawing/2014/main" id="{ED1FF46C-3174-448F-9ADD-33C5AECA1FDF}"/>
              </a:ext>
            </a:extLst>
          </p:cNvPr>
          <p:cNvSpPr/>
          <p:nvPr/>
        </p:nvSpPr>
        <p:spPr bwMode="gray">
          <a:xfrm>
            <a:off x="5726173" y="2859425"/>
            <a:ext cx="614020" cy="360040"/>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空格</a:t>
            </a:r>
          </a:p>
        </p:txBody>
      </p:sp>
      <p:grpSp>
        <p:nvGrpSpPr>
          <p:cNvPr id="66" name="组合 65"/>
          <p:cNvGrpSpPr/>
          <p:nvPr/>
        </p:nvGrpSpPr>
        <p:grpSpPr bwMode="gray">
          <a:xfrm>
            <a:off x="2923776" y="4307802"/>
            <a:ext cx="1570713" cy="323165"/>
            <a:chOff x="6670863" y="4556412"/>
            <a:chExt cx="1570713" cy="323165"/>
          </a:xfrm>
          <a:solidFill>
            <a:schemeClr val="bg1"/>
          </a:solidFill>
        </p:grpSpPr>
        <p:sp>
          <p:nvSpPr>
            <p:cNvPr id="79" name="矩形 78">
              <a:extLst>
                <a:ext uri="{FF2B5EF4-FFF2-40B4-BE49-F238E27FC236}">
                  <a16:creationId xmlns:a16="http://schemas.microsoft.com/office/drawing/2014/main" id="{ED1FF46C-3174-448F-9ADD-33C5AECA1FDF}"/>
                </a:ext>
              </a:extLst>
            </p:cNvPr>
            <p:cNvSpPr/>
            <p:nvPr/>
          </p:nvSpPr>
          <p:spPr bwMode="gray">
            <a:xfrm>
              <a:off x="6670863" y="4556412"/>
              <a:ext cx="785829" cy="323165"/>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回车符</a:t>
              </a:r>
            </a:p>
          </p:txBody>
        </p:sp>
        <p:sp>
          <p:nvSpPr>
            <p:cNvPr id="80" name="矩形 79">
              <a:extLst>
                <a:ext uri="{FF2B5EF4-FFF2-40B4-BE49-F238E27FC236}">
                  <a16:creationId xmlns:a16="http://schemas.microsoft.com/office/drawing/2014/main" id="{ED1FF46C-3174-448F-9ADD-33C5AECA1FDF}"/>
                </a:ext>
              </a:extLst>
            </p:cNvPr>
            <p:cNvSpPr/>
            <p:nvPr/>
          </p:nvSpPr>
          <p:spPr bwMode="gray">
            <a:xfrm>
              <a:off x="7456692" y="4556412"/>
              <a:ext cx="784884" cy="323165"/>
            </a:xfrm>
            <a:prstGeom prst="rect">
              <a:avLst/>
            </a:prstGeom>
            <a:solidFill>
              <a:srgbClr val="56C4D2"/>
            </a:solidFill>
            <a:ln>
              <a:solidFill>
                <a:srgbClr val="56C4D2"/>
              </a:solidFill>
            </a:ln>
          </p:spPr>
          <p:txBody>
            <a:bodyPr wrap="square" rtlCol="0">
              <a:spAutoFit/>
            </a:bodyPr>
            <a:lstStyle/>
            <a:p>
              <a:pPr algn="ctr"/>
              <a:r>
                <a:rPr lang="zh-CN" altLang="en-US" sz="1500" b="1">
                  <a:solidFill>
                    <a:schemeClr val="bg1"/>
                  </a:solidFill>
                </a:rPr>
                <a:t>换行符</a:t>
              </a:r>
            </a:p>
          </p:txBody>
        </p:sp>
      </p:grpSp>
      <p:sp>
        <p:nvSpPr>
          <p:cNvPr id="76" name="矩形 75">
            <a:extLst>
              <a:ext uri="{FF2B5EF4-FFF2-40B4-BE49-F238E27FC236}">
                <a16:creationId xmlns:a16="http://schemas.microsoft.com/office/drawing/2014/main" id="{DE3F0C5F-22A9-4922-B2C2-C3EB12DD441E}"/>
              </a:ext>
            </a:extLst>
          </p:cNvPr>
          <p:cNvSpPr/>
          <p:nvPr/>
        </p:nvSpPr>
        <p:spPr bwMode="gray">
          <a:xfrm>
            <a:off x="2923776" y="3219935"/>
            <a:ext cx="3516164" cy="370533"/>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头部字段名：值</a:t>
            </a:r>
            <a:endParaRPr lang="en-US" altLang="zh-CN" sz="1500">
              <a:solidFill>
                <a:schemeClr val="tx1"/>
              </a:solidFill>
            </a:endParaRPr>
          </a:p>
        </p:txBody>
      </p:sp>
      <p:sp>
        <p:nvSpPr>
          <p:cNvPr id="77" name="矩形 76">
            <a:extLst>
              <a:ext uri="{FF2B5EF4-FFF2-40B4-BE49-F238E27FC236}">
                <a16:creationId xmlns:a16="http://schemas.microsoft.com/office/drawing/2014/main" id="{ED1FF46C-3174-448F-9ADD-33C5AECA1FDF}"/>
              </a:ext>
            </a:extLst>
          </p:cNvPr>
          <p:cNvSpPr/>
          <p:nvPr/>
        </p:nvSpPr>
        <p:spPr bwMode="gray">
          <a:xfrm>
            <a:off x="6439821" y="3220940"/>
            <a:ext cx="797707" cy="369528"/>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78" name="矩形 77">
            <a:extLst>
              <a:ext uri="{FF2B5EF4-FFF2-40B4-BE49-F238E27FC236}">
                <a16:creationId xmlns:a16="http://schemas.microsoft.com/office/drawing/2014/main" id="{ED1FF46C-3174-448F-9ADD-33C5AECA1FDF}"/>
              </a:ext>
            </a:extLst>
          </p:cNvPr>
          <p:cNvSpPr/>
          <p:nvPr/>
        </p:nvSpPr>
        <p:spPr bwMode="gray">
          <a:xfrm>
            <a:off x="7237528" y="3220940"/>
            <a:ext cx="784884" cy="370535"/>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sp>
        <p:nvSpPr>
          <p:cNvPr id="68" name="矩形 67">
            <a:extLst>
              <a:ext uri="{FF2B5EF4-FFF2-40B4-BE49-F238E27FC236}">
                <a16:creationId xmlns:a16="http://schemas.microsoft.com/office/drawing/2014/main" id="{DE3F0C5F-22A9-4922-B2C2-C3EB12DD441E}"/>
              </a:ext>
            </a:extLst>
          </p:cNvPr>
          <p:cNvSpPr/>
          <p:nvPr/>
        </p:nvSpPr>
        <p:spPr bwMode="gray">
          <a:xfrm>
            <a:off x="2923776" y="3589042"/>
            <a:ext cx="5098636" cy="357295"/>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solidFill>
                  <a:schemeClr val="tx1"/>
                </a:solidFill>
              </a:rPr>
              <a:t>…</a:t>
            </a:r>
          </a:p>
        </p:txBody>
      </p:sp>
      <p:grpSp>
        <p:nvGrpSpPr>
          <p:cNvPr id="69" name="组合 68"/>
          <p:cNvGrpSpPr/>
          <p:nvPr/>
        </p:nvGrpSpPr>
        <p:grpSpPr bwMode="gray">
          <a:xfrm>
            <a:off x="2923776" y="3952347"/>
            <a:ext cx="5098636" cy="349200"/>
            <a:chOff x="1888180" y="4799774"/>
            <a:chExt cx="5098636" cy="342899"/>
          </a:xfrm>
          <a:solidFill>
            <a:schemeClr val="bg1"/>
          </a:solidFill>
        </p:grpSpPr>
        <p:sp>
          <p:nvSpPr>
            <p:cNvPr id="73" name="矩形 72">
              <a:extLst>
                <a:ext uri="{FF2B5EF4-FFF2-40B4-BE49-F238E27FC236}">
                  <a16:creationId xmlns:a16="http://schemas.microsoft.com/office/drawing/2014/main" id="{DE3F0C5F-22A9-4922-B2C2-C3EB12DD441E}"/>
                </a:ext>
              </a:extLst>
            </p:cNvPr>
            <p:cNvSpPr/>
            <p:nvPr/>
          </p:nvSpPr>
          <p:spPr bwMode="gray">
            <a:xfrm>
              <a:off x="1888180" y="4799774"/>
              <a:ext cx="3521074" cy="342899"/>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头部字段名：值</a:t>
              </a:r>
              <a:endParaRPr lang="en-US" altLang="zh-CN" sz="1500">
                <a:solidFill>
                  <a:schemeClr val="tx1"/>
                </a:solidFill>
              </a:endParaRPr>
            </a:p>
          </p:txBody>
        </p:sp>
        <p:sp>
          <p:nvSpPr>
            <p:cNvPr id="74" name="矩形 73">
              <a:extLst>
                <a:ext uri="{FF2B5EF4-FFF2-40B4-BE49-F238E27FC236}">
                  <a16:creationId xmlns:a16="http://schemas.microsoft.com/office/drawing/2014/main" id="{ED1FF46C-3174-448F-9ADD-33C5AECA1FDF}"/>
                </a:ext>
              </a:extLst>
            </p:cNvPr>
            <p:cNvSpPr/>
            <p:nvPr/>
          </p:nvSpPr>
          <p:spPr bwMode="gray">
            <a:xfrm>
              <a:off x="5417048" y="4799774"/>
              <a:ext cx="784884" cy="342899"/>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rPr>
                <a:t>回车符</a:t>
              </a:r>
            </a:p>
          </p:txBody>
        </p:sp>
        <p:sp>
          <p:nvSpPr>
            <p:cNvPr id="75" name="矩形 74">
              <a:extLst>
                <a:ext uri="{FF2B5EF4-FFF2-40B4-BE49-F238E27FC236}">
                  <a16:creationId xmlns:a16="http://schemas.microsoft.com/office/drawing/2014/main" id="{ED1FF46C-3174-448F-9ADD-33C5AECA1FDF}"/>
                </a:ext>
              </a:extLst>
            </p:cNvPr>
            <p:cNvSpPr/>
            <p:nvPr/>
          </p:nvSpPr>
          <p:spPr bwMode="gray">
            <a:xfrm>
              <a:off x="6206844" y="4799774"/>
              <a:ext cx="779972" cy="342899"/>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grpSp>
      <p:sp>
        <p:nvSpPr>
          <p:cNvPr id="71" name="矩形 70">
            <a:extLst>
              <a:ext uri="{FF2B5EF4-FFF2-40B4-BE49-F238E27FC236}">
                <a16:creationId xmlns:a16="http://schemas.microsoft.com/office/drawing/2014/main" id="{ED1FF46C-3174-448F-9ADD-33C5AECA1FDF}"/>
              </a:ext>
            </a:extLst>
          </p:cNvPr>
          <p:cNvSpPr/>
          <p:nvPr/>
        </p:nvSpPr>
        <p:spPr bwMode="gray">
          <a:xfrm>
            <a:off x="7722039" y="2859425"/>
            <a:ext cx="784884" cy="346800"/>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回车符</a:t>
            </a:r>
          </a:p>
        </p:txBody>
      </p:sp>
      <p:sp>
        <p:nvSpPr>
          <p:cNvPr id="72" name="矩形 71">
            <a:extLst>
              <a:ext uri="{FF2B5EF4-FFF2-40B4-BE49-F238E27FC236}">
                <a16:creationId xmlns:a16="http://schemas.microsoft.com/office/drawing/2014/main" id="{ED1FF46C-3174-448F-9ADD-33C5AECA1FDF}"/>
              </a:ext>
            </a:extLst>
          </p:cNvPr>
          <p:cNvSpPr/>
          <p:nvPr/>
        </p:nvSpPr>
        <p:spPr bwMode="gray">
          <a:xfrm>
            <a:off x="8506923" y="2859425"/>
            <a:ext cx="784884" cy="346895"/>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rPr>
              <a:t>换行符</a:t>
            </a:r>
          </a:p>
        </p:txBody>
      </p:sp>
      <p:sp>
        <p:nvSpPr>
          <p:cNvPr id="35" name="五边形 34"/>
          <p:cNvSpPr/>
          <p:nvPr/>
        </p:nvSpPr>
        <p:spPr bwMode="gray">
          <a:xfrm>
            <a:off x="8747863" y="126000"/>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状态行</a:t>
            </a:r>
          </a:p>
        </p:txBody>
      </p:sp>
      <p:sp>
        <p:nvSpPr>
          <p:cNvPr id="37" name="燕尾形 36"/>
          <p:cNvSpPr/>
          <p:nvPr/>
        </p:nvSpPr>
        <p:spPr bwMode="gray">
          <a:xfrm>
            <a:off x="9724807"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响应头部</a:t>
            </a:r>
          </a:p>
        </p:txBody>
      </p:sp>
      <p:sp>
        <p:nvSpPr>
          <p:cNvPr id="38" name="燕尾形 37"/>
          <p:cNvSpPr/>
          <p:nvPr/>
        </p:nvSpPr>
        <p:spPr bwMode="gray">
          <a:xfrm>
            <a:off x="10691591" y="126000"/>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响应正文</a:t>
            </a:r>
          </a:p>
        </p:txBody>
      </p:sp>
    </p:spTree>
    <p:extLst>
      <p:ext uri="{BB962C8B-B14F-4D97-AF65-F5344CB8AC3E}">
        <p14:creationId xmlns:p14="http://schemas.microsoft.com/office/powerpoint/2010/main" val="33061243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客户端请求消息：报文示例</a:t>
            </a:r>
          </a:p>
        </p:txBody>
      </p:sp>
      <p:sp>
        <p:nvSpPr>
          <p:cNvPr id="7" name="文本占位符 6"/>
          <p:cNvSpPr>
            <a:spLocks noGrp="1"/>
          </p:cNvSpPr>
          <p:nvPr>
            <p:ph type="body" sz="quarter" idx="10"/>
          </p:nvPr>
        </p:nvSpPr>
        <p:spPr bwMode="gray"/>
        <p:txBody>
          <a:bodyPr/>
          <a:lstStyle/>
          <a:p>
            <a:r>
              <a:rPr lang="zh-CN" altLang="en-US" sz="1800" dirty="0"/>
              <a:t>客户端向服务器发送含有用户名密码的请求消息，进行登录认证。</a:t>
            </a:r>
          </a:p>
          <a:p>
            <a:endParaRPr lang="zh-CN" altLang="en-US" sz="1800" dirty="0"/>
          </a:p>
        </p:txBody>
      </p:sp>
      <p:sp>
        <p:nvSpPr>
          <p:cNvPr id="3" name="内容占位符 2"/>
          <p:cNvSpPr txBox="1">
            <a:spLocks/>
          </p:cNvSpPr>
          <p:nvPr/>
        </p:nvSpPr>
        <p:spPr bwMode="gray">
          <a:xfrm>
            <a:off x="468316" y="1341063"/>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600"/>
          </a:p>
        </p:txBody>
      </p:sp>
      <p:sp>
        <p:nvSpPr>
          <p:cNvPr id="5" name="内容占位符 2"/>
          <p:cNvSpPr txBox="1">
            <a:spLocks/>
          </p:cNvSpPr>
          <p:nvPr/>
        </p:nvSpPr>
        <p:spPr bwMode="gray">
          <a:xfrm>
            <a:off x="375846" y="1360375"/>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600"/>
          </a:p>
        </p:txBody>
      </p:sp>
      <p:sp>
        <p:nvSpPr>
          <p:cNvPr id="46"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cxnSp>
        <p:nvCxnSpPr>
          <p:cNvPr id="53" name="肘形连接符 52"/>
          <p:cNvCxnSpPr/>
          <p:nvPr/>
        </p:nvCxnSpPr>
        <p:spPr bwMode="gray">
          <a:xfrm rot="10800000" flipH="1" flipV="1">
            <a:off x="3459456" y="3673916"/>
            <a:ext cx="19781" cy="2214249"/>
          </a:xfrm>
          <a:prstGeom prst="bentConnector3">
            <a:avLst>
              <a:gd name="adj1" fmla="val -999125"/>
            </a:avLst>
          </a:prstGeom>
          <a:noFill/>
          <a:ln w="28575" cap="flat" cmpd="sng" algn="ctr">
            <a:solidFill>
              <a:srgbClr val="8BC9A0"/>
            </a:solidFill>
            <a:prstDash val="dash"/>
            <a:miter lim="800000"/>
            <a:tailEnd type="triangle"/>
          </a:ln>
          <a:effectLst/>
        </p:spPr>
      </p:cxnSp>
      <p:sp>
        <p:nvSpPr>
          <p:cNvPr id="54" name="文本框 53">
            <a:extLst>
              <a:ext uri="{FF2B5EF4-FFF2-40B4-BE49-F238E27FC236}">
                <a16:creationId xmlns:a16="http://schemas.microsoft.com/office/drawing/2014/main" id="{E4E30EB8-DE34-4595-BCF8-67A3852D8F2A}"/>
              </a:ext>
            </a:extLst>
          </p:cNvPr>
          <p:cNvSpPr txBox="1"/>
          <p:nvPr/>
        </p:nvSpPr>
        <p:spPr bwMode="gray">
          <a:xfrm>
            <a:off x="3681134" y="1712551"/>
            <a:ext cx="6576988" cy="2160591"/>
          </a:xfrm>
          <a:prstGeom prst="rect">
            <a:avLst/>
          </a:prstGeom>
          <a:noFill/>
          <a:ln>
            <a:solidFill>
              <a:srgbClr val="56C4D2"/>
            </a:solidFill>
          </a:ln>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cs typeface="Courier New" panose="02070309020205020404" pitchFamily="49" charset="0"/>
              </a:rPr>
              <a:t>POST </a:t>
            </a:r>
            <a:r>
              <a:rPr kumimoji="0" lang="en-US" altLang="zh-CN" sz="1400" b="0" i="0" u="none" strike="noStrike" kern="0" cap="none" spc="0" normalizeH="0" baseline="0" noProof="0" dirty="0">
                <a:ln>
                  <a:noFill/>
                </a:ln>
                <a:effectLst/>
                <a:uLnTx/>
                <a:uFillTx/>
              </a:rPr>
              <a:t>http://www.w3.org/pub/WWW/TheProject.html </a:t>
            </a:r>
            <a:r>
              <a:rPr kumimoji="0" lang="en-US" altLang="zh-CN" sz="1400" b="1" i="0" u="none" strike="noStrike" kern="0" cap="none" spc="0" normalizeH="0" baseline="0" noProof="0" dirty="0">
                <a:ln>
                  <a:noFill/>
                </a:ln>
                <a:effectLst/>
                <a:uLnTx/>
                <a:uFillTx/>
              </a:rPr>
              <a:t>HTTP/1.1</a:t>
            </a:r>
            <a:endParaRPr kumimoji="0" lang="en-US" altLang="zh-CN" sz="1400" b="0" i="0" u="none" strike="noStrike" kern="0" cap="none" spc="0" normalizeH="0" baseline="0" noProof="0" dirty="0">
              <a:ln>
                <a:noFill/>
              </a:ln>
              <a:effectLst/>
              <a:uLnTx/>
              <a:uFillTx/>
              <a:cs typeface="Courier New" panose="02070309020205020404" pitchFamily="49" charset="0"/>
            </a:endParaRPr>
          </a:p>
          <a:p>
            <a:pPr marL="0" marR="0" lvl="0" indent="0" defTabSz="914400" eaLnBrk="1" fontAlgn="auto"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Accept: </a:t>
            </a:r>
            <a:r>
              <a:rPr kumimoji="0" lang="en-US" altLang="zh-CN" sz="1400" b="0" i="0" u="none" strike="noStrike" kern="0" cap="none" spc="0" normalizeH="0" baseline="0" noProof="0" dirty="0">
                <a:ln>
                  <a:noFill/>
                </a:ln>
                <a:effectLst/>
                <a:uLnTx/>
                <a:uFillTx/>
              </a:rPr>
              <a:t>text/html</a:t>
            </a: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Accept-Encoding: </a:t>
            </a:r>
            <a:r>
              <a:rPr kumimoji="0" lang="en-US" altLang="zh-CN" sz="1400" b="0" i="0" u="none" strike="noStrike" kern="0" cap="none" spc="0" normalizeH="0" baseline="0" noProof="0" dirty="0" err="1">
                <a:ln>
                  <a:noFill/>
                </a:ln>
                <a:effectLst/>
                <a:uLnTx/>
                <a:uFillTx/>
              </a:rPr>
              <a:t>gzip</a:t>
            </a:r>
            <a:r>
              <a:rPr kumimoji="0" lang="en-US" altLang="zh-CN" sz="1400" b="0" i="0" u="none" strike="noStrike" kern="0" cap="none" spc="0" normalizeH="0" baseline="0" noProof="0" dirty="0">
                <a:ln>
                  <a:noFill/>
                </a:ln>
                <a:effectLst/>
                <a:uLnTx/>
                <a:uFillTx/>
              </a:rPr>
              <a:t>, deflate, </a:t>
            </a:r>
            <a:r>
              <a:rPr kumimoji="0" lang="en-US" altLang="zh-CN" sz="1400" b="0" i="0" u="none" strike="noStrike" kern="0" cap="none" spc="0" normalizeH="0" baseline="0" noProof="0" dirty="0" err="1">
                <a:ln>
                  <a:noFill/>
                </a:ln>
                <a:effectLst/>
                <a:uLnTx/>
                <a:uFillTx/>
              </a:rPr>
              <a:t>br</a:t>
            </a:r>
            <a:endParaRPr kumimoji="0" lang="en-US" altLang="zh-CN" sz="1400" b="0" i="0" u="none" strike="noStrike" kern="0" cap="none" spc="0" normalizeH="0" baseline="0" noProof="0" dirty="0">
              <a:ln>
                <a:noFill/>
              </a:ln>
              <a:effectLst/>
              <a:uLnTx/>
              <a:uFillTx/>
            </a:endParaRP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Accept-Language: </a:t>
            </a:r>
            <a:r>
              <a:rPr kumimoji="0" lang="en-US" altLang="zh-CN" sz="1400" b="0" i="0" u="none" strike="noStrike" kern="0" cap="none" spc="0" normalizeH="0" baseline="0" noProof="0" dirty="0" err="1">
                <a:ln>
                  <a:noFill/>
                </a:ln>
                <a:effectLst/>
                <a:uLnTx/>
                <a:uFillTx/>
              </a:rPr>
              <a:t>zh-CN,zh;q</a:t>
            </a:r>
            <a:r>
              <a:rPr kumimoji="0" lang="en-US" altLang="zh-CN" sz="1400" b="0" i="0" u="none" strike="noStrike" kern="0" cap="none" spc="0" normalizeH="0" baseline="0" noProof="0" dirty="0">
                <a:ln>
                  <a:noFill/>
                </a:ln>
                <a:effectLst/>
                <a:uLnTx/>
                <a:uFillTx/>
              </a:rPr>
              <a:t>=0.9</a:t>
            </a: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Content-Type: </a:t>
            </a:r>
            <a:r>
              <a:rPr kumimoji="0" lang="en-US" altLang="zh-CN" sz="1400" b="0" i="0" u="none" strike="noStrike" kern="0" cap="none" spc="0" normalizeH="0" baseline="0" noProof="0" dirty="0">
                <a:ln>
                  <a:noFill/>
                </a:ln>
                <a:effectLst/>
                <a:uLnTx/>
                <a:uFillTx/>
              </a:rPr>
              <a:t>text/</a:t>
            </a:r>
            <a:r>
              <a:rPr kumimoji="0" lang="en-US" altLang="zh-CN" sz="1400" b="0" i="0" u="none" strike="noStrike" kern="0" cap="none" spc="0" normalizeH="0" baseline="0" noProof="0" dirty="0" err="1">
                <a:ln>
                  <a:noFill/>
                </a:ln>
                <a:effectLst/>
                <a:uLnTx/>
                <a:uFillTx/>
              </a:rPr>
              <a:t>html;charset</a:t>
            </a:r>
            <a:r>
              <a:rPr kumimoji="0" lang="en-US" altLang="zh-CN" sz="1400" b="0" i="0" u="none" strike="noStrike" kern="0" cap="none" spc="0" normalizeH="0" baseline="0" noProof="0" dirty="0">
                <a:ln>
                  <a:noFill/>
                </a:ln>
                <a:effectLst/>
                <a:uLnTx/>
                <a:uFillTx/>
              </a:rPr>
              <a:t>=utf-8</a:t>
            </a: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Connection: </a:t>
            </a:r>
            <a:r>
              <a:rPr kumimoji="0" lang="en-US" altLang="zh-CN" sz="1400" b="0" i="0" u="none" strike="noStrike" kern="0" cap="none" spc="0" normalizeH="0" baseline="0" noProof="0" dirty="0">
                <a:ln>
                  <a:noFill/>
                </a:ln>
                <a:effectLst/>
                <a:uLnTx/>
                <a:uFillTx/>
              </a:rPr>
              <a:t>keep-alive</a:t>
            </a:r>
          </a:p>
          <a:p>
            <a:pPr marL="0" marR="0" lvl="0" indent="0" defTabSz="914400" eaLnBrk="1" fontAlgn="t" latinLnBrk="0" hangingPunct="1">
              <a:lnSpc>
                <a:spcPct val="120000"/>
              </a:lnSpc>
              <a:spcBef>
                <a:spcPts val="0"/>
              </a:spcBef>
              <a:spcAft>
                <a:spcPts val="0"/>
              </a:spcAft>
              <a:buClrTx/>
              <a:buSzTx/>
              <a:buFontTx/>
              <a:buNone/>
              <a:tabLst/>
              <a:defRPr/>
            </a:pPr>
            <a:endParaRPr kumimoji="0" lang="en-US" altLang="zh-CN" sz="1400" b="0" i="0" u="none" strike="noStrike" kern="0" cap="none" spc="0" normalizeH="0" baseline="0" noProof="0" dirty="0">
              <a:ln>
                <a:noFill/>
              </a:ln>
              <a:effectLst/>
              <a:uLnTx/>
              <a:uFillTx/>
            </a:endParaRP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rPr>
              <a:t>user=</a:t>
            </a:r>
            <a:r>
              <a:rPr kumimoji="0" lang="en-US" altLang="zh-CN" sz="1400" b="0" i="0" u="none" strike="noStrike" kern="0" cap="none" spc="0" normalizeH="0" baseline="0" noProof="0" dirty="0" err="1">
                <a:ln>
                  <a:noFill/>
                </a:ln>
                <a:effectLst/>
                <a:uLnTx/>
                <a:uFillTx/>
              </a:rPr>
              <a:t>admin&amp;password</a:t>
            </a:r>
            <a:r>
              <a:rPr kumimoji="0" lang="en-US" altLang="zh-CN" sz="1400" b="0" i="0" u="none" strike="noStrike" kern="0" cap="none" spc="0" normalizeH="0" baseline="0" noProof="0" dirty="0">
                <a:ln>
                  <a:noFill/>
                </a:ln>
                <a:effectLst/>
                <a:uLnTx/>
                <a:uFillTx/>
              </a:rPr>
              <a:t>=123456</a:t>
            </a:r>
          </a:p>
        </p:txBody>
      </p:sp>
      <p:sp>
        <p:nvSpPr>
          <p:cNvPr id="55" name="AutoShape 35"/>
          <p:cNvSpPr>
            <a:spLocks/>
          </p:cNvSpPr>
          <p:nvPr/>
        </p:nvSpPr>
        <p:spPr bwMode="gray">
          <a:xfrm>
            <a:off x="3471271" y="2150807"/>
            <a:ext cx="210724" cy="999088"/>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100">
              <a:solidFill>
                <a:prstClr val="black"/>
              </a:solidFill>
              <a:latin typeface="方正兰亭黑简体"/>
              <a:ea typeface="方正兰亭黑简体"/>
            </a:endParaRPr>
          </a:p>
        </p:txBody>
      </p:sp>
      <p:sp>
        <p:nvSpPr>
          <p:cNvPr id="56" name="AutoShape 35"/>
          <p:cNvSpPr>
            <a:spLocks/>
          </p:cNvSpPr>
          <p:nvPr/>
        </p:nvSpPr>
        <p:spPr bwMode="gray">
          <a:xfrm>
            <a:off x="3470320" y="1794282"/>
            <a:ext cx="200155" cy="237683"/>
          </a:xfrm>
          <a:prstGeom prst="leftBrace">
            <a:avLst>
              <a:gd name="adj1" fmla="val 112010"/>
              <a:gd name="adj2" fmla="val 50000"/>
            </a:avLst>
          </a:prstGeom>
          <a:noFill/>
          <a:ln w="19050">
            <a:solidFill>
              <a:srgbClr val="EC706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100">
              <a:solidFill>
                <a:prstClr val="black"/>
              </a:solidFill>
              <a:latin typeface="方正兰亭黑简体"/>
              <a:ea typeface="方正兰亭黑简体"/>
            </a:endParaRPr>
          </a:p>
        </p:txBody>
      </p:sp>
      <p:sp>
        <p:nvSpPr>
          <p:cNvPr id="57" name="AutoShape 35"/>
          <p:cNvSpPr>
            <a:spLocks/>
          </p:cNvSpPr>
          <p:nvPr/>
        </p:nvSpPr>
        <p:spPr bwMode="gray">
          <a:xfrm>
            <a:off x="3465426" y="3269764"/>
            <a:ext cx="200155" cy="237683"/>
          </a:xfrm>
          <a:prstGeom prst="leftBrace">
            <a:avLst>
              <a:gd name="adj1" fmla="val 112010"/>
              <a:gd name="adj2" fmla="val 50000"/>
            </a:avLst>
          </a:prstGeom>
          <a:noFill/>
          <a:ln w="19050">
            <a:solidFill>
              <a:srgbClr val="FFD17D"/>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100">
              <a:solidFill>
                <a:prstClr val="black"/>
              </a:solidFill>
              <a:latin typeface="方正兰亭黑简体"/>
              <a:ea typeface="方正兰亭黑简体"/>
            </a:endParaRPr>
          </a:p>
        </p:txBody>
      </p:sp>
      <p:sp>
        <p:nvSpPr>
          <p:cNvPr id="59" name="矩形 58">
            <a:extLst>
              <a:ext uri="{FF2B5EF4-FFF2-40B4-BE49-F238E27FC236}">
                <a16:creationId xmlns:a16="http://schemas.microsoft.com/office/drawing/2014/main" id="{ED1FF46C-3174-448F-9ADD-33C5AECA1FDF}"/>
              </a:ext>
            </a:extLst>
          </p:cNvPr>
          <p:cNvSpPr/>
          <p:nvPr/>
        </p:nvSpPr>
        <p:spPr bwMode="gray">
          <a:xfrm>
            <a:off x="3682034" y="4108838"/>
            <a:ext cx="1013241" cy="327925"/>
          </a:xfrm>
          <a:prstGeom prst="rect">
            <a:avLst/>
          </a:prstGeom>
          <a:solidFill>
            <a:srgbClr val="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Huawei Sans"/>
                <a:ea typeface="方正兰亭黑简体"/>
                <a:cs typeface="+mn-cs"/>
              </a:rPr>
              <a:t>请求方法</a:t>
            </a:r>
          </a:p>
        </p:txBody>
      </p:sp>
      <p:sp>
        <p:nvSpPr>
          <p:cNvPr id="60" name="矩形 59">
            <a:extLst>
              <a:ext uri="{FF2B5EF4-FFF2-40B4-BE49-F238E27FC236}">
                <a16:creationId xmlns:a16="http://schemas.microsoft.com/office/drawing/2014/main" id="{E8A2D369-73BF-4B1F-AF0A-AF36A42A352A}"/>
              </a:ext>
            </a:extLst>
          </p:cNvPr>
          <p:cNvSpPr/>
          <p:nvPr/>
        </p:nvSpPr>
        <p:spPr bwMode="gray">
          <a:xfrm>
            <a:off x="5299381" y="4108838"/>
            <a:ext cx="1018811" cy="327925"/>
          </a:xfrm>
          <a:prstGeom prst="rect">
            <a:avLst/>
          </a:prstGeom>
          <a:solidFill>
            <a:srgbClr val="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effectLst/>
                <a:uLnTx/>
                <a:uFillTx/>
                <a:latin typeface="Huawei Sans"/>
                <a:ea typeface="方正兰亭黑简体"/>
                <a:cs typeface="+mn-cs"/>
              </a:rPr>
              <a:t>URI</a:t>
            </a:r>
            <a:endParaRPr kumimoji="0" lang="zh-CN" altLang="en-US" sz="1400" b="0" i="0" u="none" strike="noStrike" kern="0" cap="none" spc="0" normalizeH="0" baseline="0" noProof="0">
              <a:ln>
                <a:noFill/>
              </a:ln>
              <a:effectLst/>
              <a:uLnTx/>
              <a:uFillTx/>
              <a:latin typeface="Huawei Sans"/>
              <a:ea typeface="方正兰亭黑简体"/>
              <a:cs typeface="+mn-cs"/>
            </a:endParaRPr>
          </a:p>
        </p:txBody>
      </p:sp>
      <p:sp>
        <p:nvSpPr>
          <p:cNvPr id="61" name="矩形 60">
            <a:extLst>
              <a:ext uri="{FF2B5EF4-FFF2-40B4-BE49-F238E27FC236}">
                <a16:creationId xmlns:a16="http://schemas.microsoft.com/office/drawing/2014/main" id="{FE4A73F8-F45F-4216-B6C8-7B97955278AC}"/>
              </a:ext>
            </a:extLst>
          </p:cNvPr>
          <p:cNvSpPr/>
          <p:nvPr/>
        </p:nvSpPr>
        <p:spPr bwMode="gray">
          <a:xfrm>
            <a:off x="6931367" y="4108837"/>
            <a:ext cx="1314629" cy="327925"/>
          </a:xfrm>
          <a:prstGeom prst="rect">
            <a:avLst/>
          </a:prstGeom>
          <a:solidFill>
            <a:srgbClr val="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协议版本</a:t>
            </a:r>
          </a:p>
        </p:txBody>
      </p:sp>
      <p:sp>
        <p:nvSpPr>
          <p:cNvPr id="62" name="矩形 61">
            <a:extLst>
              <a:ext uri="{FF2B5EF4-FFF2-40B4-BE49-F238E27FC236}">
                <a16:creationId xmlns:a16="http://schemas.microsoft.com/office/drawing/2014/main" id="{3F04E949-4CCC-4846-8B15-6F183B7861C1}"/>
              </a:ext>
            </a:extLst>
          </p:cNvPr>
          <p:cNvSpPr/>
          <p:nvPr/>
        </p:nvSpPr>
        <p:spPr bwMode="gray">
          <a:xfrm>
            <a:off x="3681134" y="5725694"/>
            <a:ext cx="4833751" cy="327925"/>
          </a:xfrm>
          <a:prstGeom prst="rect">
            <a:avLst/>
          </a:prstGeom>
          <a:solidFill>
            <a:srgbClr val="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8BC9A0">
                    <a:lumMod val="75000"/>
                  </a:srgbClr>
                </a:solidFill>
                <a:effectLst/>
                <a:uLnTx/>
                <a:uFillTx/>
                <a:latin typeface="Huawei Sans"/>
                <a:ea typeface="方正兰亭黑简体"/>
                <a:cs typeface="+mn-cs"/>
              </a:rPr>
              <a:t>数据</a:t>
            </a:r>
          </a:p>
        </p:txBody>
      </p:sp>
      <p:sp>
        <p:nvSpPr>
          <p:cNvPr id="63" name="矩形 62">
            <a:extLst>
              <a:ext uri="{FF2B5EF4-FFF2-40B4-BE49-F238E27FC236}">
                <a16:creationId xmlns:a16="http://schemas.microsoft.com/office/drawing/2014/main" id="{ED1FF46C-3174-448F-9ADD-33C5AECA1FDF}"/>
              </a:ext>
            </a:extLst>
          </p:cNvPr>
          <p:cNvSpPr/>
          <p:nvPr/>
        </p:nvSpPr>
        <p:spPr bwMode="gray">
          <a:xfrm>
            <a:off x="4694819" y="4108838"/>
            <a:ext cx="638710" cy="327925"/>
          </a:xfrm>
          <a:prstGeom prst="rect">
            <a:avLst/>
          </a:prstGeom>
          <a:solidFill>
            <a:srgbClr val="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空格</a:t>
            </a:r>
          </a:p>
        </p:txBody>
      </p:sp>
      <p:sp>
        <p:nvSpPr>
          <p:cNvPr id="64" name="矩形 63">
            <a:extLst>
              <a:ext uri="{FF2B5EF4-FFF2-40B4-BE49-F238E27FC236}">
                <a16:creationId xmlns:a16="http://schemas.microsoft.com/office/drawing/2014/main" id="{ED1FF46C-3174-448F-9ADD-33C5AECA1FDF}"/>
              </a:ext>
            </a:extLst>
          </p:cNvPr>
          <p:cNvSpPr/>
          <p:nvPr/>
        </p:nvSpPr>
        <p:spPr bwMode="gray">
          <a:xfrm>
            <a:off x="6292657" y="4108838"/>
            <a:ext cx="638710" cy="327925"/>
          </a:xfrm>
          <a:prstGeom prst="rect">
            <a:avLst/>
          </a:prstGeom>
          <a:solidFill>
            <a:srgbClr val="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空格</a:t>
            </a:r>
          </a:p>
        </p:txBody>
      </p:sp>
      <p:grpSp>
        <p:nvGrpSpPr>
          <p:cNvPr id="65" name="组合 64"/>
          <p:cNvGrpSpPr/>
          <p:nvPr/>
        </p:nvGrpSpPr>
        <p:grpSpPr bwMode="gray">
          <a:xfrm>
            <a:off x="3681134" y="5395705"/>
            <a:ext cx="1494309" cy="327925"/>
            <a:chOff x="6670863" y="4556412"/>
            <a:chExt cx="1570713" cy="360040"/>
          </a:xfrm>
          <a:solidFill>
            <a:srgbClr val="FFFFFF"/>
          </a:solidFill>
        </p:grpSpPr>
        <p:sp>
          <p:nvSpPr>
            <p:cNvPr id="78" name="矩形 77">
              <a:extLst>
                <a:ext uri="{FF2B5EF4-FFF2-40B4-BE49-F238E27FC236}">
                  <a16:creationId xmlns:a16="http://schemas.microsoft.com/office/drawing/2014/main" id="{ED1FF46C-3174-448F-9ADD-33C5AECA1FDF}"/>
                </a:ext>
              </a:extLst>
            </p:cNvPr>
            <p:cNvSpPr/>
            <p:nvPr/>
          </p:nvSpPr>
          <p:spPr bwMode="gray">
            <a:xfrm>
              <a:off x="6670863" y="4556412"/>
              <a:ext cx="785829" cy="360040"/>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D17D">
                      <a:lumMod val="75000"/>
                    </a:srgbClr>
                  </a:solidFill>
                  <a:effectLst/>
                  <a:uLnTx/>
                  <a:uFillTx/>
                  <a:latin typeface="Huawei Sans"/>
                  <a:ea typeface="方正兰亭黑简体"/>
                  <a:cs typeface="+mn-cs"/>
                </a:rPr>
                <a:t>回车符</a:t>
              </a:r>
            </a:p>
          </p:txBody>
        </p:sp>
        <p:sp>
          <p:nvSpPr>
            <p:cNvPr id="79" name="矩形 78">
              <a:extLst>
                <a:ext uri="{FF2B5EF4-FFF2-40B4-BE49-F238E27FC236}">
                  <a16:creationId xmlns:a16="http://schemas.microsoft.com/office/drawing/2014/main" id="{ED1FF46C-3174-448F-9ADD-33C5AECA1FDF}"/>
                </a:ext>
              </a:extLst>
            </p:cNvPr>
            <p:cNvSpPr/>
            <p:nvPr/>
          </p:nvSpPr>
          <p:spPr bwMode="gray">
            <a:xfrm>
              <a:off x="7456692" y="4556412"/>
              <a:ext cx="784884" cy="360040"/>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D17D">
                      <a:lumMod val="75000"/>
                    </a:srgbClr>
                  </a:solidFill>
                  <a:effectLst/>
                  <a:uLnTx/>
                  <a:uFillTx/>
                  <a:latin typeface="Huawei Sans"/>
                  <a:ea typeface="方正兰亭黑简体"/>
                  <a:cs typeface="+mn-cs"/>
                </a:rPr>
                <a:t>换行符</a:t>
              </a:r>
            </a:p>
          </p:txBody>
        </p:sp>
      </p:grpSp>
      <p:grpSp>
        <p:nvGrpSpPr>
          <p:cNvPr id="66" name="组合 65"/>
          <p:cNvGrpSpPr/>
          <p:nvPr/>
        </p:nvGrpSpPr>
        <p:grpSpPr bwMode="gray">
          <a:xfrm>
            <a:off x="3696164" y="4424702"/>
            <a:ext cx="4822711" cy="337483"/>
            <a:chOff x="1914745" y="4916449"/>
            <a:chExt cx="5069296" cy="357297"/>
          </a:xfrm>
          <a:solidFill>
            <a:srgbClr val="FFFFFF"/>
          </a:solidFill>
        </p:grpSpPr>
        <p:sp>
          <p:nvSpPr>
            <p:cNvPr id="75" name="矩形 74">
              <a:extLst>
                <a:ext uri="{FF2B5EF4-FFF2-40B4-BE49-F238E27FC236}">
                  <a16:creationId xmlns:a16="http://schemas.microsoft.com/office/drawing/2014/main" id="{DE3F0C5F-22A9-4922-B2C2-C3EB12DD441E}"/>
                </a:ext>
              </a:extLst>
            </p:cNvPr>
            <p:cNvSpPr/>
            <p:nvPr/>
          </p:nvSpPr>
          <p:spPr bwMode="gray">
            <a:xfrm>
              <a:off x="1914745" y="4916449"/>
              <a:ext cx="3516163" cy="357295"/>
            </a:xfrm>
            <a:prstGeom prst="rect">
              <a:avLst/>
            </a:prstGeom>
            <a:grpFill/>
            <a:ln w="12700" cap="flat" cmpd="sng" algn="ctr">
              <a:solidFill>
                <a:srgbClr val="56C4D2"/>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Huawei Sans"/>
                  <a:ea typeface="方正兰亭黑简体"/>
                  <a:cs typeface="+mn-cs"/>
                </a:rPr>
                <a:t>头部字段名：值</a:t>
              </a:r>
              <a:endParaRPr kumimoji="0" lang="en-US" altLang="zh-CN" sz="1400" b="0" i="0" u="none" strike="noStrike" kern="0" cap="none" spc="0" normalizeH="0" baseline="0" noProof="0" dirty="0">
                <a:ln>
                  <a:noFill/>
                </a:ln>
                <a:effectLst/>
                <a:uLnTx/>
                <a:uFillTx/>
                <a:latin typeface="Huawei Sans"/>
                <a:ea typeface="方正兰亭黑简体"/>
                <a:cs typeface="+mn-cs"/>
              </a:endParaRPr>
            </a:p>
          </p:txBody>
        </p:sp>
        <p:sp>
          <p:nvSpPr>
            <p:cNvPr id="76" name="矩形 75">
              <a:extLst>
                <a:ext uri="{FF2B5EF4-FFF2-40B4-BE49-F238E27FC236}">
                  <a16:creationId xmlns:a16="http://schemas.microsoft.com/office/drawing/2014/main" id="{ED1FF46C-3174-448F-9ADD-33C5AECA1FDF}"/>
                </a:ext>
              </a:extLst>
            </p:cNvPr>
            <p:cNvSpPr/>
            <p:nvPr/>
          </p:nvSpPr>
          <p:spPr bwMode="gray">
            <a:xfrm>
              <a:off x="5420022" y="4916449"/>
              <a:ext cx="784884" cy="357297"/>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回车符</a:t>
              </a:r>
            </a:p>
          </p:txBody>
        </p:sp>
        <p:sp>
          <p:nvSpPr>
            <p:cNvPr id="77" name="矩形 76">
              <a:extLst>
                <a:ext uri="{FF2B5EF4-FFF2-40B4-BE49-F238E27FC236}">
                  <a16:creationId xmlns:a16="http://schemas.microsoft.com/office/drawing/2014/main" id="{ED1FF46C-3174-448F-9ADD-33C5AECA1FDF}"/>
                </a:ext>
              </a:extLst>
            </p:cNvPr>
            <p:cNvSpPr/>
            <p:nvPr/>
          </p:nvSpPr>
          <p:spPr bwMode="gray">
            <a:xfrm>
              <a:off x="6189109" y="4916449"/>
              <a:ext cx="794932" cy="357297"/>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换行符</a:t>
              </a:r>
            </a:p>
          </p:txBody>
        </p:sp>
      </p:grpSp>
      <p:sp>
        <p:nvSpPr>
          <p:cNvPr id="67" name="矩形 66">
            <a:extLst>
              <a:ext uri="{FF2B5EF4-FFF2-40B4-BE49-F238E27FC236}">
                <a16:creationId xmlns:a16="http://schemas.microsoft.com/office/drawing/2014/main" id="{DE3F0C5F-22A9-4922-B2C2-C3EB12DD441E}"/>
              </a:ext>
            </a:extLst>
          </p:cNvPr>
          <p:cNvSpPr/>
          <p:nvPr/>
        </p:nvSpPr>
        <p:spPr bwMode="gray">
          <a:xfrm>
            <a:off x="3681135" y="4758641"/>
            <a:ext cx="4837739" cy="325424"/>
          </a:xfrm>
          <a:prstGeom prst="rect">
            <a:avLst/>
          </a:prstGeom>
          <a:solidFill>
            <a:srgbClr val="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effectLst/>
                <a:uLnTx/>
                <a:uFillTx/>
                <a:latin typeface="Huawei Sans"/>
                <a:ea typeface="方正兰亭黑简体"/>
                <a:cs typeface="+mn-cs"/>
              </a:rPr>
              <a:t>…</a:t>
            </a:r>
          </a:p>
        </p:txBody>
      </p:sp>
      <p:grpSp>
        <p:nvGrpSpPr>
          <p:cNvPr id="68" name="组合 67"/>
          <p:cNvGrpSpPr/>
          <p:nvPr/>
        </p:nvGrpSpPr>
        <p:grpSpPr bwMode="gray">
          <a:xfrm>
            <a:off x="3681135" y="5080258"/>
            <a:ext cx="4837738" cy="318269"/>
            <a:chOff x="1894037" y="4916451"/>
            <a:chExt cx="5085092" cy="343134"/>
          </a:xfrm>
          <a:solidFill>
            <a:srgbClr val="FFFFFF"/>
          </a:solidFill>
        </p:grpSpPr>
        <p:sp>
          <p:nvSpPr>
            <p:cNvPr id="72" name="矩形 71">
              <a:extLst>
                <a:ext uri="{FF2B5EF4-FFF2-40B4-BE49-F238E27FC236}">
                  <a16:creationId xmlns:a16="http://schemas.microsoft.com/office/drawing/2014/main" id="{DE3F0C5F-22A9-4922-B2C2-C3EB12DD441E}"/>
                </a:ext>
              </a:extLst>
            </p:cNvPr>
            <p:cNvSpPr/>
            <p:nvPr/>
          </p:nvSpPr>
          <p:spPr bwMode="gray">
            <a:xfrm>
              <a:off x="1894037" y="4916451"/>
              <a:ext cx="3521074" cy="343134"/>
            </a:xfrm>
            <a:prstGeom prst="rect">
              <a:avLst/>
            </a:prstGeom>
            <a:grpFill/>
            <a:ln w="12700" cap="flat" cmpd="sng" algn="ctr">
              <a:solidFill>
                <a:srgbClr val="56C4D2"/>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头部字段名：值</a:t>
              </a:r>
              <a:endParaRPr kumimoji="0" lang="en-US" altLang="zh-CN" sz="1400" b="0" i="0" u="none" strike="noStrike" kern="0" cap="none" spc="0" normalizeH="0" baseline="0" noProof="0">
                <a:ln>
                  <a:noFill/>
                </a:ln>
                <a:effectLst/>
                <a:uLnTx/>
                <a:uFillTx/>
                <a:latin typeface="Huawei Sans"/>
                <a:ea typeface="方正兰亭黑简体"/>
                <a:cs typeface="+mn-cs"/>
              </a:endParaRPr>
            </a:p>
          </p:txBody>
        </p:sp>
        <p:sp>
          <p:nvSpPr>
            <p:cNvPr id="73" name="矩形 72">
              <a:extLst>
                <a:ext uri="{FF2B5EF4-FFF2-40B4-BE49-F238E27FC236}">
                  <a16:creationId xmlns:a16="http://schemas.microsoft.com/office/drawing/2014/main" id="{ED1FF46C-3174-448F-9ADD-33C5AECA1FDF}"/>
                </a:ext>
              </a:extLst>
            </p:cNvPr>
            <p:cNvSpPr/>
            <p:nvPr/>
          </p:nvSpPr>
          <p:spPr bwMode="gray">
            <a:xfrm>
              <a:off x="5404225" y="4920545"/>
              <a:ext cx="784884" cy="339040"/>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回车符</a:t>
              </a:r>
            </a:p>
          </p:txBody>
        </p:sp>
        <p:sp>
          <p:nvSpPr>
            <p:cNvPr id="74" name="矩形 73">
              <a:extLst>
                <a:ext uri="{FF2B5EF4-FFF2-40B4-BE49-F238E27FC236}">
                  <a16:creationId xmlns:a16="http://schemas.microsoft.com/office/drawing/2014/main" id="{ED1FF46C-3174-448F-9ADD-33C5AECA1FDF}"/>
                </a:ext>
              </a:extLst>
            </p:cNvPr>
            <p:cNvSpPr/>
            <p:nvPr/>
          </p:nvSpPr>
          <p:spPr bwMode="gray">
            <a:xfrm>
              <a:off x="6189108" y="4920545"/>
              <a:ext cx="790021" cy="339040"/>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换行符</a:t>
              </a:r>
            </a:p>
          </p:txBody>
        </p:sp>
      </p:grpSp>
      <p:grpSp>
        <p:nvGrpSpPr>
          <p:cNvPr id="69" name="组合 68"/>
          <p:cNvGrpSpPr/>
          <p:nvPr/>
        </p:nvGrpSpPr>
        <p:grpSpPr bwMode="gray">
          <a:xfrm>
            <a:off x="8235639" y="4108836"/>
            <a:ext cx="1493410" cy="318011"/>
            <a:chOff x="6671808" y="4556412"/>
            <a:chExt cx="1569768" cy="360040"/>
          </a:xfrm>
          <a:solidFill>
            <a:srgbClr val="FFFFFF"/>
          </a:solidFill>
        </p:grpSpPr>
        <p:sp>
          <p:nvSpPr>
            <p:cNvPr id="70" name="矩形 69">
              <a:extLst>
                <a:ext uri="{FF2B5EF4-FFF2-40B4-BE49-F238E27FC236}">
                  <a16:creationId xmlns:a16="http://schemas.microsoft.com/office/drawing/2014/main" id="{ED1FF46C-3174-448F-9ADD-33C5AECA1FDF}"/>
                </a:ext>
              </a:extLst>
            </p:cNvPr>
            <p:cNvSpPr/>
            <p:nvPr/>
          </p:nvSpPr>
          <p:spPr bwMode="gray">
            <a:xfrm>
              <a:off x="6671808" y="4556412"/>
              <a:ext cx="784884" cy="357611"/>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回车符</a:t>
              </a:r>
            </a:p>
          </p:txBody>
        </p:sp>
        <p:sp>
          <p:nvSpPr>
            <p:cNvPr id="71" name="矩形 70">
              <a:extLst>
                <a:ext uri="{FF2B5EF4-FFF2-40B4-BE49-F238E27FC236}">
                  <a16:creationId xmlns:a16="http://schemas.microsoft.com/office/drawing/2014/main" id="{ED1FF46C-3174-448F-9ADD-33C5AECA1FDF}"/>
                </a:ext>
              </a:extLst>
            </p:cNvPr>
            <p:cNvSpPr/>
            <p:nvPr/>
          </p:nvSpPr>
          <p:spPr bwMode="gray">
            <a:xfrm>
              <a:off x="7456692" y="4556412"/>
              <a:ext cx="784884" cy="360040"/>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换行符</a:t>
              </a:r>
            </a:p>
          </p:txBody>
        </p:sp>
      </p:grpSp>
      <p:sp>
        <p:nvSpPr>
          <p:cNvPr id="80" name="AutoShape 35"/>
          <p:cNvSpPr>
            <a:spLocks/>
          </p:cNvSpPr>
          <p:nvPr/>
        </p:nvSpPr>
        <p:spPr bwMode="gray">
          <a:xfrm>
            <a:off x="3491375" y="4582680"/>
            <a:ext cx="189760" cy="763876"/>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050">
              <a:solidFill>
                <a:prstClr val="black"/>
              </a:solidFill>
              <a:latin typeface="方正兰亭黑简体"/>
              <a:ea typeface="方正兰亭黑简体"/>
            </a:endParaRPr>
          </a:p>
        </p:txBody>
      </p:sp>
      <p:sp>
        <p:nvSpPr>
          <p:cNvPr id="81" name="AutoShape 35"/>
          <p:cNvSpPr>
            <a:spLocks/>
          </p:cNvSpPr>
          <p:nvPr/>
        </p:nvSpPr>
        <p:spPr bwMode="gray">
          <a:xfrm>
            <a:off x="3486177" y="5779007"/>
            <a:ext cx="200155" cy="237683"/>
          </a:xfrm>
          <a:prstGeom prst="leftBrace">
            <a:avLst>
              <a:gd name="adj1" fmla="val 112010"/>
              <a:gd name="adj2" fmla="val 50000"/>
            </a:avLst>
          </a:prstGeom>
          <a:noFill/>
          <a:ln w="19050">
            <a:solidFill>
              <a:srgbClr val="8BC9A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050">
              <a:solidFill>
                <a:prstClr val="black"/>
              </a:solidFill>
              <a:latin typeface="方正兰亭黑简体"/>
              <a:ea typeface="方正兰亭黑简体"/>
            </a:endParaRPr>
          </a:p>
        </p:txBody>
      </p:sp>
      <p:sp>
        <p:nvSpPr>
          <p:cNvPr id="82" name="AutoShape 35"/>
          <p:cNvSpPr>
            <a:spLocks/>
          </p:cNvSpPr>
          <p:nvPr/>
        </p:nvSpPr>
        <p:spPr bwMode="gray">
          <a:xfrm>
            <a:off x="3477243" y="5444669"/>
            <a:ext cx="200155" cy="237683"/>
          </a:xfrm>
          <a:prstGeom prst="leftBrace">
            <a:avLst>
              <a:gd name="adj1" fmla="val 112010"/>
              <a:gd name="adj2" fmla="val 50000"/>
            </a:avLst>
          </a:prstGeom>
          <a:noFill/>
          <a:ln w="19050">
            <a:solidFill>
              <a:srgbClr val="FFD17D"/>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050">
              <a:solidFill>
                <a:prstClr val="black"/>
              </a:solidFill>
              <a:latin typeface="方正兰亭黑简体"/>
              <a:ea typeface="方正兰亭黑简体"/>
            </a:endParaRPr>
          </a:p>
        </p:txBody>
      </p:sp>
      <p:sp>
        <p:nvSpPr>
          <p:cNvPr id="83" name="AutoShape 35"/>
          <p:cNvSpPr>
            <a:spLocks/>
          </p:cNvSpPr>
          <p:nvPr/>
        </p:nvSpPr>
        <p:spPr bwMode="gray">
          <a:xfrm>
            <a:off x="3486177" y="4150090"/>
            <a:ext cx="200155" cy="237683"/>
          </a:xfrm>
          <a:prstGeom prst="leftBrace">
            <a:avLst>
              <a:gd name="adj1" fmla="val 112010"/>
              <a:gd name="adj2" fmla="val 50000"/>
            </a:avLst>
          </a:prstGeom>
          <a:noFill/>
          <a:ln w="19050">
            <a:solidFill>
              <a:srgbClr val="EC706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050">
              <a:solidFill>
                <a:prstClr val="black"/>
              </a:solidFill>
              <a:latin typeface="方正兰亭黑简体"/>
              <a:ea typeface="方正兰亭黑简体"/>
            </a:endParaRPr>
          </a:p>
        </p:txBody>
      </p:sp>
      <p:sp>
        <p:nvSpPr>
          <p:cNvPr id="84" name="AutoShape 35"/>
          <p:cNvSpPr>
            <a:spLocks/>
          </p:cNvSpPr>
          <p:nvPr/>
        </p:nvSpPr>
        <p:spPr bwMode="gray">
          <a:xfrm>
            <a:off x="3466396" y="3564758"/>
            <a:ext cx="200155" cy="237683"/>
          </a:xfrm>
          <a:prstGeom prst="leftBrace">
            <a:avLst>
              <a:gd name="adj1" fmla="val 112010"/>
              <a:gd name="adj2" fmla="val 50000"/>
            </a:avLst>
          </a:prstGeom>
          <a:noFill/>
          <a:ln w="19050">
            <a:solidFill>
              <a:srgbClr val="8BC9A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100">
              <a:solidFill>
                <a:prstClr val="black"/>
              </a:solidFill>
              <a:latin typeface="方正兰亭黑简体"/>
              <a:ea typeface="方正兰亭黑简体"/>
            </a:endParaRPr>
          </a:p>
        </p:txBody>
      </p:sp>
      <p:cxnSp>
        <p:nvCxnSpPr>
          <p:cNvPr id="85" name="肘形连接符 84"/>
          <p:cNvCxnSpPr/>
          <p:nvPr/>
        </p:nvCxnSpPr>
        <p:spPr bwMode="gray">
          <a:xfrm rot="10800000" flipH="1" flipV="1">
            <a:off x="3472365" y="3388605"/>
            <a:ext cx="11818" cy="2174905"/>
          </a:xfrm>
          <a:prstGeom prst="bentConnector3">
            <a:avLst>
              <a:gd name="adj1" fmla="val -3780262"/>
            </a:avLst>
          </a:prstGeom>
          <a:noFill/>
          <a:ln w="19050" cap="flat" cmpd="sng" algn="ctr">
            <a:solidFill>
              <a:srgbClr val="FFD17D"/>
            </a:solidFill>
            <a:prstDash val="sysDash"/>
            <a:miter lim="800000"/>
            <a:tailEnd type="triangle"/>
          </a:ln>
          <a:effectLst/>
        </p:spPr>
      </p:cxnSp>
      <p:cxnSp>
        <p:nvCxnSpPr>
          <p:cNvPr id="86" name="肘形连接符 85"/>
          <p:cNvCxnSpPr/>
          <p:nvPr/>
        </p:nvCxnSpPr>
        <p:spPr bwMode="gray">
          <a:xfrm rot="10800000" flipH="1" flipV="1">
            <a:off x="3475898" y="2650351"/>
            <a:ext cx="20103" cy="2314267"/>
          </a:xfrm>
          <a:prstGeom prst="bentConnector3">
            <a:avLst>
              <a:gd name="adj1" fmla="val -3075494"/>
            </a:avLst>
          </a:prstGeom>
          <a:noFill/>
          <a:ln w="12700" cap="flat" cmpd="sng" algn="ctr">
            <a:solidFill>
              <a:srgbClr val="56C4D2"/>
            </a:solidFill>
            <a:prstDash val="sysDot"/>
            <a:miter lim="800000"/>
            <a:tailEnd type="triangle"/>
          </a:ln>
          <a:effectLst/>
        </p:spPr>
      </p:cxnSp>
      <p:cxnSp>
        <p:nvCxnSpPr>
          <p:cNvPr id="87" name="肘形连接符 86"/>
          <p:cNvCxnSpPr/>
          <p:nvPr/>
        </p:nvCxnSpPr>
        <p:spPr bwMode="gray">
          <a:xfrm rot="10800000" flipH="1" flipV="1">
            <a:off x="3455282" y="1913123"/>
            <a:ext cx="34365" cy="2355808"/>
          </a:xfrm>
          <a:prstGeom prst="bentConnector3">
            <a:avLst>
              <a:gd name="adj1" fmla="val -2429401"/>
            </a:avLst>
          </a:prstGeom>
          <a:noFill/>
          <a:ln w="12700" cap="flat" cmpd="sng" algn="ctr">
            <a:solidFill>
              <a:srgbClr val="EC7061"/>
            </a:solidFill>
            <a:prstDash val="solid"/>
            <a:miter lim="800000"/>
            <a:tailEnd type="triangle"/>
          </a:ln>
          <a:effectLst/>
        </p:spPr>
      </p:cxnSp>
      <p:grpSp>
        <p:nvGrpSpPr>
          <p:cNvPr id="88" name="组合 87"/>
          <p:cNvGrpSpPr/>
          <p:nvPr/>
        </p:nvGrpSpPr>
        <p:grpSpPr bwMode="gray">
          <a:xfrm>
            <a:off x="1436360" y="1920007"/>
            <a:ext cx="985743" cy="1974222"/>
            <a:chOff x="1161566" y="1594234"/>
            <a:chExt cx="1082282" cy="2167568"/>
          </a:xfrm>
        </p:grpSpPr>
        <p:sp>
          <p:nvSpPr>
            <p:cNvPr id="89" name="文本框 88"/>
            <p:cNvSpPr txBox="1"/>
            <p:nvPr/>
          </p:nvSpPr>
          <p:spPr bwMode="gray">
            <a:xfrm>
              <a:off x="1162207" y="2386136"/>
              <a:ext cx="1067003" cy="337919"/>
            </a:xfrm>
            <a:prstGeom prst="rect">
              <a:avLst/>
            </a:prstGeom>
            <a:solidFill>
              <a:srgbClr val="56C4D2"/>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white"/>
                  </a:solidFill>
                  <a:effectLst/>
                  <a:uLnTx/>
                  <a:uFillTx/>
                </a:rPr>
                <a:t>请求头部</a:t>
              </a:r>
            </a:p>
          </p:txBody>
        </p:sp>
        <p:sp>
          <p:nvSpPr>
            <p:cNvPr id="90" name="文本框 89"/>
            <p:cNvSpPr txBox="1"/>
            <p:nvPr/>
          </p:nvSpPr>
          <p:spPr bwMode="gray">
            <a:xfrm>
              <a:off x="1161566" y="3423883"/>
              <a:ext cx="1082282" cy="337919"/>
            </a:xfrm>
            <a:prstGeom prst="rect">
              <a:avLst/>
            </a:prstGeom>
            <a:solidFill>
              <a:srgbClr val="8BC9A0"/>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rPr>
                <a:t>请求数据</a:t>
              </a:r>
            </a:p>
          </p:txBody>
        </p:sp>
        <p:sp>
          <p:nvSpPr>
            <p:cNvPr id="91" name="文本框 90"/>
            <p:cNvSpPr txBox="1"/>
            <p:nvPr/>
          </p:nvSpPr>
          <p:spPr bwMode="gray">
            <a:xfrm>
              <a:off x="1161566" y="1594234"/>
              <a:ext cx="1067644" cy="337919"/>
            </a:xfrm>
            <a:prstGeom prst="rect">
              <a:avLst/>
            </a:prstGeom>
            <a:solidFill>
              <a:srgbClr val="EC7061"/>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rPr>
                <a:t>请求行</a:t>
              </a:r>
            </a:p>
          </p:txBody>
        </p:sp>
        <p:sp>
          <p:nvSpPr>
            <p:cNvPr id="92" name="文本框 91"/>
            <p:cNvSpPr txBox="1"/>
            <p:nvPr/>
          </p:nvSpPr>
          <p:spPr bwMode="gray">
            <a:xfrm>
              <a:off x="1161566" y="3014876"/>
              <a:ext cx="1067644" cy="337919"/>
            </a:xfrm>
            <a:prstGeom prst="rect">
              <a:avLst/>
            </a:prstGeom>
            <a:solidFill>
              <a:srgbClr val="FFD17D"/>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rPr>
                <a:t>空行</a:t>
              </a:r>
            </a:p>
          </p:txBody>
        </p:sp>
      </p:grpSp>
    </p:spTree>
    <p:extLst>
      <p:ext uri="{BB962C8B-B14F-4D97-AF65-F5344CB8AC3E}">
        <p14:creationId xmlns:p14="http://schemas.microsoft.com/office/powerpoint/2010/main" val="32185470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服务器响应消息：报文示例</a:t>
            </a:r>
          </a:p>
        </p:txBody>
      </p:sp>
      <p:sp>
        <p:nvSpPr>
          <p:cNvPr id="8" name="文本占位符 7"/>
          <p:cNvSpPr>
            <a:spLocks noGrp="1"/>
          </p:cNvSpPr>
          <p:nvPr>
            <p:ph type="body" sz="quarter" idx="10"/>
          </p:nvPr>
        </p:nvSpPr>
        <p:spPr bwMode="gray"/>
        <p:txBody>
          <a:bodyPr/>
          <a:lstStyle/>
          <a:p>
            <a:r>
              <a:rPr lang="zh-CN" altLang="en-US" sz="1800" dirty="0"/>
              <a:t>服务器向客户端返回响应消息，认证成功。</a:t>
            </a:r>
          </a:p>
          <a:p>
            <a:endParaRPr lang="zh-CN" altLang="en-US" sz="1800" dirty="0"/>
          </a:p>
        </p:txBody>
      </p:sp>
      <p:sp>
        <p:nvSpPr>
          <p:cNvPr id="47"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49" name="内容占位符 2"/>
          <p:cNvSpPr txBox="1">
            <a:spLocks/>
          </p:cNvSpPr>
          <p:nvPr/>
        </p:nvSpPr>
        <p:spPr bwMode="gray">
          <a:xfrm>
            <a:off x="1349643" y="1410052"/>
            <a:ext cx="10138724" cy="420791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02279" marR="0" lvl="0" indent="-302279" algn="l" defTabSz="914034" rtl="0" eaLnBrk="1" fontAlgn="auto" latinLnBrk="0" hangingPunct="1">
              <a:lnSpc>
                <a:spcPct val="140000"/>
              </a:lnSpc>
              <a:spcBef>
                <a:spcPts val="792"/>
              </a:spcBef>
              <a:spcAft>
                <a:spcPts val="0"/>
              </a:spcAft>
              <a:buClrTx/>
              <a:buSzTx/>
              <a:buFont typeface="Arial" panose="020B0604020202020204" pitchFamily="34" charset="0"/>
              <a:buChar char="•"/>
              <a:tabLst/>
              <a:defRPr/>
            </a:pPr>
            <a:endParaRPr kumimoji="0" lang="zh-CN" altLang="en-US" sz="1200" b="0" i="0" u="none" strike="noStrike" kern="1200" cap="none" spc="0" normalizeH="0" baseline="0" noProof="0">
              <a:ln>
                <a:noFill/>
              </a:ln>
              <a:solidFill>
                <a:prstClr val="black"/>
              </a:solidFill>
              <a:effectLst/>
              <a:uLnTx/>
              <a:uFillTx/>
              <a:latin typeface="Huawei Sans"/>
              <a:ea typeface="方正兰亭黑简体"/>
              <a:cs typeface="+mn-cs"/>
            </a:endParaRPr>
          </a:p>
        </p:txBody>
      </p:sp>
      <p:grpSp>
        <p:nvGrpSpPr>
          <p:cNvPr id="50" name="组合 49"/>
          <p:cNvGrpSpPr/>
          <p:nvPr/>
        </p:nvGrpSpPr>
        <p:grpSpPr bwMode="gray">
          <a:xfrm>
            <a:off x="1563166" y="1853457"/>
            <a:ext cx="972343" cy="1986789"/>
            <a:chOff x="1305157" y="3935947"/>
            <a:chExt cx="1067644" cy="2181517"/>
          </a:xfrm>
        </p:grpSpPr>
        <p:sp>
          <p:nvSpPr>
            <p:cNvPr id="51" name="文本框 50"/>
            <p:cNvSpPr txBox="1"/>
            <p:nvPr/>
          </p:nvSpPr>
          <p:spPr bwMode="gray">
            <a:xfrm>
              <a:off x="1305798" y="4727849"/>
              <a:ext cx="1067003" cy="342306"/>
            </a:xfrm>
            <a:prstGeom prst="rect">
              <a:avLst/>
            </a:prstGeom>
            <a:solidFill>
              <a:srgbClr val="56C4D2"/>
            </a:solidFill>
          </p:spPr>
          <p:txBody>
            <a:bodyPr wrap="square" rtlCol="0">
              <a:spAutoFit/>
            </a:bodyPr>
            <a:lstStyle>
              <a:defPPr>
                <a:defRPr lang="en-US"/>
              </a:defPPr>
              <a:lvl1pPr marR="0" lvl="0" indent="0" algn="ctr" defTabSz="914400" fontAlgn="auto">
                <a:lnSpc>
                  <a:spcPct val="100000"/>
                </a:lnSpc>
                <a:spcBef>
                  <a:spcPts val="0"/>
                </a:spcBef>
                <a:spcAft>
                  <a:spcPts val="0"/>
                </a:spcAft>
                <a:buClrTx/>
                <a:buSzTx/>
                <a:buFontTx/>
                <a:buNone/>
                <a:tabLst/>
                <a:defRPr kumimoji="0" sz="1400" b="1" i="0" u="none" strike="noStrike" kern="0" cap="none" spc="0" normalizeH="0" baseline="0">
                  <a:ln>
                    <a:noFill/>
                  </a:ln>
                  <a:solidFill>
                    <a:prstClr val="white"/>
                  </a:solidFill>
                  <a:effectLst/>
                  <a:uLnTx/>
                  <a:uFillTx/>
                </a:defRPr>
              </a:lvl1pPr>
            </a:lstStyle>
            <a:p>
              <a:r>
                <a:rPr lang="zh-CN" altLang="en-US" dirty="0"/>
                <a:t>响应头部</a:t>
              </a:r>
            </a:p>
          </p:txBody>
        </p:sp>
        <p:sp>
          <p:nvSpPr>
            <p:cNvPr id="52" name="文本框 51"/>
            <p:cNvSpPr txBox="1"/>
            <p:nvPr/>
          </p:nvSpPr>
          <p:spPr bwMode="gray">
            <a:xfrm>
              <a:off x="1305798" y="5775158"/>
              <a:ext cx="1055150" cy="342306"/>
            </a:xfrm>
            <a:prstGeom prst="rect">
              <a:avLst/>
            </a:prstGeom>
            <a:solidFill>
              <a:srgbClr val="8BC9A0"/>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rPr>
                <a:t>响应正文</a:t>
              </a:r>
            </a:p>
          </p:txBody>
        </p:sp>
        <p:sp>
          <p:nvSpPr>
            <p:cNvPr id="53" name="文本框 52"/>
            <p:cNvSpPr txBox="1"/>
            <p:nvPr/>
          </p:nvSpPr>
          <p:spPr bwMode="gray">
            <a:xfrm>
              <a:off x="1305157" y="3935947"/>
              <a:ext cx="1067644" cy="342306"/>
            </a:xfrm>
            <a:prstGeom prst="rect">
              <a:avLst/>
            </a:prstGeom>
            <a:solidFill>
              <a:srgbClr val="EC7061"/>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rPr>
                <a:t>状态行</a:t>
              </a:r>
            </a:p>
          </p:txBody>
        </p:sp>
        <p:sp>
          <p:nvSpPr>
            <p:cNvPr id="54" name="文本框 53"/>
            <p:cNvSpPr txBox="1"/>
            <p:nvPr/>
          </p:nvSpPr>
          <p:spPr bwMode="gray">
            <a:xfrm>
              <a:off x="1305798" y="5347027"/>
              <a:ext cx="1067003" cy="342306"/>
            </a:xfrm>
            <a:prstGeom prst="rect">
              <a:avLst/>
            </a:prstGeom>
            <a:solidFill>
              <a:srgbClr val="FFD17D"/>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rPr>
                <a:t>空行</a:t>
              </a:r>
            </a:p>
          </p:txBody>
        </p:sp>
      </p:grpSp>
      <p:cxnSp>
        <p:nvCxnSpPr>
          <p:cNvPr id="56" name="肘形连接符 55"/>
          <p:cNvCxnSpPr>
            <a:stCxn id="88" idx="1"/>
            <a:endCxn id="63" idx="1"/>
          </p:cNvCxnSpPr>
          <p:nvPr/>
        </p:nvCxnSpPr>
        <p:spPr bwMode="gray">
          <a:xfrm rot="10800000" flipH="1" flipV="1">
            <a:off x="3656516" y="3645011"/>
            <a:ext cx="19779" cy="2147091"/>
          </a:xfrm>
          <a:prstGeom prst="bentConnector3">
            <a:avLst>
              <a:gd name="adj1" fmla="val -1091703"/>
            </a:avLst>
          </a:prstGeom>
          <a:noFill/>
          <a:ln w="28575" cap="flat" cmpd="sng" algn="ctr">
            <a:solidFill>
              <a:srgbClr val="8BC9A0"/>
            </a:solidFill>
            <a:prstDash val="dash"/>
            <a:miter lim="800000"/>
            <a:tailEnd type="triangle"/>
          </a:ln>
          <a:effectLst/>
        </p:spPr>
      </p:cxnSp>
      <p:sp>
        <p:nvSpPr>
          <p:cNvPr id="57" name="文本框 56">
            <a:extLst>
              <a:ext uri="{FF2B5EF4-FFF2-40B4-BE49-F238E27FC236}">
                <a16:creationId xmlns:a16="http://schemas.microsoft.com/office/drawing/2014/main" id="{E4E30EB8-DE34-4595-BCF8-67A3852D8F2A}"/>
              </a:ext>
            </a:extLst>
          </p:cNvPr>
          <p:cNvSpPr txBox="1"/>
          <p:nvPr/>
        </p:nvSpPr>
        <p:spPr bwMode="gray">
          <a:xfrm>
            <a:off x="3866683" y="1663103"/>
            <a:ext cx="6279017" cy="2160591"/>
          </a:xfrm>
          <a:prstGeom prst="rect">
            <a:avLst/>
          </a:prstGeom>
          <a:noFill/>
          <a:ln>
            <a:solidFill>
              <a:srgbClr val="56C4D2"/>
            </a:solidFill>
          </a:ln>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HTTP/1.1 200 OK</a:t>
            </a:r>
            <a:endParaRPr kumimoji="0" lang="en-US" altLang="zh-CN" sz="1400" b="0" i="0" u="none" strike="noStrike" kern="0" cap="none" spc="0" normalizeH="0" baseline="0" noProof="0" dirty="0">
              <a:ln>
                <a:noFill/>
              </a:ln>
              <a:effectLst/>
              <a:uLnTx/>
              <a:uFillTx/>
              <a:cs typeface="Courier New" panose="02070309020205020404" pitchFamily="49" charset="0"/>
            </a:endParaRP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err="1">
                <a:ln>
                  <a:noFill/>
                </a:ln>
                <a:effectLst/>
                <a:uLnTx/>
                <a:uFillTx/>
              </a:rPr>
              <a:t>Date:YY-MM-DD</a:t>
            </a:r>
            <a:r>
              <a:rPr kumimoji="0" lang="en-US" altLang="zh-CN" sz="1400" b="1" i="0" u="none" strike="noStrike" kern="0" cap="none" spc="0" normalizeH="0" baseline="0" noProof="0" dirty="0">
                <a:ln>
                  <a:noFill/>
                </a:ln>
                <a:effectLst/>
                <a:uLnTx/>
                <a:uFillTx/>
              </a:rPr>
              <a:t> </a:t>
            </a: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Content-Encoding: </a:t>
            </a:r>
            <a:r>
              <a:rPr kumimoji="0" lang="en-US" altLang="zh-CN" sz="1400" b="0" i="0" u="none" strike="noStrike" kern="0" cap="none" spc="0" normalizeH="0" baseline="0" noProof="0" dirty="0" err="1">
                <a:ln>
                  <a:noFill/>
                </a:ln>
                <a:effectLst/>
                <a:uLnTx/>
                <a:uFillTx/>
              </a:rPr>
              <a:t>gzip</a:t>
            </a:r>
            <a:r>
              <a:rPr kumimoji="0" lang="en-US" altLang="zh-CN" sz="1400" b="0" i="0" u="none" strike="noStrike" kern="0" cap="none" spc="0" normalizeH="0" baseline="0" noProof="0" dirty="0">
                <a:ln>
                  <a:noFill/>
                </a:ln>
                <a:effectLst/>
                <a:uLnTx/>
                <a:uFillTx/>
              </a:rPr>
              <a:t>, deflate, </a:t>
            </a:r>
            <a:r>
              <a:rPr kumimoji="0" lang="en-US" altLang="zh-CN" sz="1400" b="0" i="0" u="none" strike="noStrike" kern="0" cap="none" spc="0" normalizeH="0" baseline="0" noProof="0" dirty="0" err="1">
                <a:ln>
                  <a:noFill/>
                </a:ln>
                <a:effectLst/>
                <a:uLnTx/>
                <a:uFillTx/>
              </a:rPr>
              <a:t>br</a:t>
            </a:r>
            <a:endParaRPr kumimoji="0" lang="en-US" altLang="zh-CN" sz="1400" b="0" i="0" u="none" strike="noStrike" kern="0" cap="none" spc="0" normalizeH="0" baseline="0" noProof="0" dirty="0">
              <a:ln>
                <a:noFill/>
              </a:ln>
              <a:effectLst/>
              <a:uLnTx/>
              <a:uFillTx/>
            </a:endParaRP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Accept-Language: </a:t>
            </a:r>
            <a:r>
              <a:rPr kumimoji="0" lang="en-US" altLang="zh-CN" sz="1400" b="0" i="0" u="none" strike="noStrike" kern="0" cap="none" spc="0" normalizeH="0" baseline="0" noProof="0" dirty="0" err="1">
                <a:ln>
                  <a:noFill/>
                </a:ln>
                <a:effectLst/>
                <a:uLnTx/>
                <a:uFillTx/>
              </a:rPr>
              <a:t>zh-CN,zh;q</a:t>
            </a:r>
            <a:r>
              <a:rPr kumimoji="0" lang="en-US" altLang="zh-CN" sz="1400" b="0" i="0" u="none" strike="noStrike" kern="0" cap="none" spc="0" normalizeH="0" baseline="0" noProof="0" dirty="0">
                <a:ln>
                  <a:noFill/>
                </a:ln>
                <a:effectLst/>
                <a:uLnTx/>
                <a:uFillTx/>
              </a:rPr>
              <a:t>=0.9</a:t>
            </a: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Content-Type: </a:t>
            </a:r>
            <a:r>
              <a:rPr kumimoji="0" lang="en-US" altLang="zh-CN" sz="1400" b="0" i="0" u="none" strike="noStrike" kern="0" cap="none" spc="0" normalizeH="0" baseline="0" noProof="0" dirty="0">
                <a:ln>
                  <a:noFill/>
                </a:ln>
                <a:effectLst/>
                <a:uLnTx/>
                <a:uFillTx/>
              </a:rPr>
              <a:t>text/html</a:t>
            </a: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Connection: </a:t>
            </a:r>
            <a:r>
              <a:rPr kumimoji="0" lang="en-US" altLang="zh-CN" sz="1400" b="0" i="0" u="none" strike="noStrike" kern="0" cap="none" spc="0" normalizeH="0" baseline="0" noProof="0" dirty="0">
                <a:ln>
                  <a:noFill/>
                </a:ln>
                <a:effectLst/>
                <a:uLnTx/>
                <a:uFillTx/>
              </a:rPr>
              <a:t>keep-alive</a:t>
            </a:r>
          </a:p>
          <a:p>
            <a:pPr marL="0" marR="0" lvl="0" indent="0" defTabSz="914400" eaLnBrk="1" fontAlgn="t" latinLnBrk="0" hangingPunct="1">
              <a:lnSpc>
                <a:spcPct val="120000"/>
              </a:lnSpc>
              <a:spcBef>
                <a:spcPts val="0"/>
              </a:spcBef>
              <a:spcAft>
                <a:spcPts val="0"/>
              </a:spcAft>
              <a:buClrTx/>
              <a:buSzTx/>
              <a:buFontTx/>
              <a:buNone/>
              <a:tabLst/>
              <a:defRPr/>
            </a:pPr>
            <a:endParaRPr kumimoji="0" lang="en-US" altLang="zh-CN" sz="1400" b="0" i="0" u="none" strike="noStrike" kern="0" cap="none" spc="0" normalizeH="0" baseline="0" noProof="0" dirty="0">
              <a:ln>
                <a:noFill/>
              </a:ln>
              <a:effectLst/>
              <a:uLnTx/>
              <a:uFillTx/>
            </a:endParaRPr>
          </a:p>
          <a:p>
            <a:pPr marL="0" marR="0" lvl="0" indent="0" defTabSz="914400" eaLnBrk="1" fontAlgn="t" latinLnBrk="0" hangingPunct="1">
              <a:lnSpc>
                <a:spcPct val="12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rPr>
              <a:t>Login succeeded</a:t>
            </a:r>
          </a:p>
        </p:txBody>
      </p:sp>
      <p:sp>
        <p:nvSpPr>
          <p:cNvPr id="92" name="矩形 91">
            <a:extLst>
              <a:ext uri="{FF2B5EF4-FFF2-40B4-BE49-F238E27FC236}">
                <a16:creationId xmlns:a16="http://schemas.microsoft.com/office/drawing/2014/main" id="{ED1FF46C-3174-448F-9ADD-33C5AECA1FDF}"/>
              </a:ext>
            </a:extLst>
          </p:cNvPr>
          <p:cNvSpPr/>
          <p:nvPr/>
        </p:nvSpPr>
        <p:spPr bwMode="gray">
          <a:xfrm>
            <a:off x="3879673" y="4030349"/>
            <a:ext cx="994428" cy="327902"/>
          </a:xfrm>
          <a:prstGeom prst="rect">
            <a:avLst/>
          </a:prstGeom>
          <a:solidFill>
            <a:sysClr val="window" lastClr="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Huawei Sans"/>
                <a:ea typeface="方正兰亭黑简体"/>
                <a:cs typeface="+mn-cs"/>
              </a:rPr>
              <a:t>协议版本</a:t>
            </a:r>
          </a:p>
        </p:txBody>
      </p:sp>
      <p:sp>
        <p:nvSpPr>
          <p:cNvPr id="93" name="矩形 92">
            <a:extLst>
              <a:ext uri="{FF2B5EF4-FFF2-40B4-BE49-F238E27FC236}">
                <a16:creationId xmlns:a16="http://schemas.microsoft.com/office/drawing/2014/main" id="{E8A2D369-73BF-4B1F-AF0A-AF36A42A352A}"/>
              </a:ext>
            </a:extLst>
          </p:cNvPr>
          <p:cNvSpPr/>
          <p:nvPr/>
        </p:nvSpPr>
        <p:spPr bwMode="gray">
          <a:xfrm>
            <a:off x="5466466" y="4030349"/>
            <a:ext cx="999008" cy="327902"/>
          </a:xfrm>
          <a:prstGeom prst="rect">
            <a:avLst/>
          </a:prstGeom>
          <a:solidFill>
            <a:sysClr val="window" lastClr="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状态码</a:t>
            </a:r>
          </a:p>
        </p:txBody>
      </p:sp>
      <p:sp>
        <p:nvSpPr>
          <p:cNvPr id="94" name="矩形 93">
            <a:extLst>
              <a:ext uri="{FF2B5EF4-FFF2-40B4-BE49-F238E27FC236}">
                <a16:creationId xmlns:a16="http://schemas.microsoft.com/office/drawing/2014/main" id="{FE4A73F8-F45F-4216-B6C8-7B97955278AC}"/>
              </a:ext>
            </a:extLst>
          </p:cNvPr>
          <p:cNvSpPr/>
          <p:nvPr/>
        </p:nvSpPr>
        <p:spPr bwMode="gray">
          <a:xfrm>
            <a:off x="7066730" y="4030348"/>
            <a:ext cx="1289076" cy="327902"/>
          </a:xfrm>
          <a:prstGeom prst="rect">
            <a:avLst/>
          </a:prstGeom>
          <a:solidFill>
            <a:sysClr val="window" lastClr="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原因短语</a:t>
            </a:r>
          </a:p>
        </p:txBody>
      </p:sp>
      <p:sp>
        <p:nvSpPr>
          <p:cNvPr id="95" name="矩形 94">
            <a:extLst>
              <a:ext uri="{FF2B5EF4-FFF2-40B4-BE49-F238E27FC236}">
                <a16:creationId xmlns:a16="http://schemas.microsoft.com/office/drawing/2014/main" id="{3F04E949-4CCC-4846-8B15-6F183B7861C1}"/>
              </a:ext>
            </a:extLst>
          </p:cNvPr>
          <p:cNvSpPr/>
          <p:nvPr/>
        </p:nvSpPr>
        <p:spPr bwMode="gray">
          <a:xfrm>
            <a:off x="3879673" y="5647093"/>
            <a:ext cx="4739797" cy="327902"/>
          </a:xfrm>
          <a:prstGeom prst="rect">
            <a:avLst/>
          </a:prstGeom>
          <a:solidFill>
            <a:sysClr val="window" lastClr="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8BC9A0">
                    <a:lumMod val="75000"/>
                  </a:srgbClr>
                </a:solidFill>
                <a:effectLst/>
                <a:uLnTx/>
                <a:uFillTx/>
                <a:latin typeface="Huawei Sans"/>
                <a:ea typeface="方正兰亭黑简体"/>
                <a:cs typeface="+mn-cs"/>
              </a:rPr>
              <a:t>数据</a:t>
            </a:r>
          </a:p>
        </p:txBody>
      </p:sp>
      <p:sp>
        <p:nvSpPr>
          <p:cNvPr id="96" name="矩形 95">
            <a:extLst>
              <a:ext uri="{FF2B5EF4-FFF2-40B4-BE49-F238E27FC236}">
                <a16:creationId xmlns:a16="http://schemas.microsoft.com/office/drawing/2014/main" id="{ED1FF46C-3174-448F-9ADD-33C5AECA1FDF}"/>
              </a:ext>
            </a:extLst>
          </p:cNvPr>
          <p:cNvSpPr/>
          <p:nvPr/>
        </p:nvSpPr>
        <p:spPr bwMode="gray">
          <a:xfrm>
            <a:off x="4873655" y="4030349"/>
            <a:ext cx="626295" cy="327902"/>
          </a:xfrm>
          <a:prstGeom prst="rect">
            <a:avLst/>
          </a:prstGeom>
          <a:solidFill>
            <a:sysClr val="window" lastClr="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空格</a:t>
            </a:r>
          </a:p>
        </p:txBody>
      </p:sp>
      <p:sp>
        <p:nvSpPr>
          <p:cNvPr id="97" name="矩形 96">
            <a:extLst>
              <a:ext uri="{FF2B5EF4-FFF2-40B4-BE49-F238E27FC236}">
                <a16:creationId xmlns:a16="http://schemas.microsoft.com/office/drawing/2014/main" id="{ED1FF46C-3174-448F-9ADD-33C5AECA1FDF}"/>
              </a:ext>
            </a:extLst>
          </p:cNvPr>
          <p:cNvSpPr/>
          <p:nvPr/>
        </p:nvSpPr>
        <p:spPr bwMode="gray">
          <a:xfrm>
            <a:off x="6440435" y="4030349"/>
            <a:ext cx="626295" cy="327902"/>
          </a:xfrm>
          <a:prstGeom prst="rect">
            <a:avLst/>
          </a:prstGeom>
          <a:solidFill>
            <a:sysClr val="window" lastClr="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空格</a:t>
            </a:r>
          </a:p>
        </p:txBody>
      </p:sp>
      <p:grpSp>
        <p:nvGrpSpPr>
          <p:cNvPr id="110" name="组合 109"/>
          <p:cNvGrpSpPr/>
          <p:nvPr/>
        </p:nvGrpSpPr>
        <p:grpSpPr bwMode="gray">
          <a:xfrm>
            <a:off x="3879673" y="5317127"/>
            <a:ext cx="1465264" cy="327902"/>
            <a:chOff x="6670863" y="4556412"/>
            <a:chExt cx="1570713" cy="360040"/>
          </a:xfrm>
          <a:solidFill>
            <a:sysClr val="window" lastClr="FFFFFF"/>
          </a:solidFill>
        </p:grpSpPr>
        <p:sp>
          <p:nvSpPr>
            <p:cNvPr id="123" name="矩形 122">
              <a:extLst>
                <a:ext uri="{FF2B5EF4-FFF2-40B4-BE49-F238E27FC236}">
                  <a16:creationId xmlns:a16="http://schemas.microsoft.com/office/drawing/2014/main" id="{ED1FF46C-3174-448F-9ADD-33C5AECA1FDF}"/>
                </a:ext>
              </a:extLst>
            </p:cNvPr>
            <p:cNvSpPr/>
            <p:nvPr/>
          </p:nvSpPr>
          <p:spPr bwMode="gray">
            <a:xfrm>
              <a:off x="6670863" y="4556412"/>
              <a:ext cx="785829" cy="360040"/>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D17D">
                      <a:lumMod val="75000"/>
                    </a:srgbClr>
                  </a:solidFill>
                  <a:effectLst/>
                  <a:uLnTx/>
                  <a:uFillTx/>
                  <a:latin typeface="Huawei Sans"/>
                  <a:ea typeface="方正兰亭黑简体"/>
                  <a:cs typeface="+mn-cs"/>
                </a:rPr>
                <a:t>回车符</a:t>
              </a:r>
            </a:p>
          </p:txBody>
        </p:sp>
        <p:sp>
          <p:nvSpPr>
            <p:cNvPr id="124" name="矩形 123">
              <a:extLst>
                <a:ext uri="{FF2B5EF4-FFF2-40B4-BE49-F238E27FC236}">
                  <a16:creationId xmlns:a16="http://schemas.microsoft.com/office/drawing/2014/main" id="{ED1FF46C-3174-448F-9ADD-33C5AECA1FDF}"/>
                </a:ext>
              </a:extLst>
            </p:cNvPr>
            <p:cNvSpPr/>
            <p:nvPr/>
          </p:nvSpPr>
          <p:spPr bwMode="gray">
            <a:xfrm>
              <a:off x="7456692" y="4556412"/>
              <a:ext cx="784884" cy="360040"/>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D17D">
                      <a:lumMod val="75000"/>
                    </a:srgbClr>
                  </a:solidFill>
                  <a:effectLst/>
                  <a:uLnTx/>
                  <a:uFillTx/>
                  <a:latin typeface="Huawei Sans"/>
                  <a:ea typeface="方正兰亭黑简体"/>
                  <a:cs typeface="+mn-cs"/>
                </a:rPr>
                <a:t>换行符</a:t>
              </a:r>
            </a:p>
          </p:txBody>
        </p:sp>
      </p:grpSp>
      <p:grpSp>
        <p:nvGrpSpPr>
          <p:cNvPr id="111" name="组合 110"/>
          <p:cNvGrpSpPr/>
          <p:nvPr/>
        </p:nvGrpSpPr>
        <p:grpSpPr bwMode="gray">
          <a:xfrm>
            <a:off x="3879673" y="4346191"/>
            <a:ext cx="4734335" cy="337460"/>
            <a:chOff x="1898947" y="4916449"/>
            <a:chExt cx="5075046" cy="357297"/>
          </a:xfrm>
          <a:solidFill>
            <a:sysClr val="window" lastClr="FFFFFF"/>
          </a:solidFill>
        </p:grpSpPr>
        <p:sp>
          <p:nvSpPr>
            <p:cNvPr id="120" name="矩形 119">
              <a:extLst>
                <a:ext uri="{FF2B5EF4-FFF2-40B4-BE49-F238E27FC236}">
                  <a16:creationId xmlns:a16="http://schemas.microsoft.com/office/drawing/2014/main" id="{DE3F0C5F-22A9-4922-B2C2-C3EB12DD441E}"/>
                </a:ext>
              </a:extLst>
            </p:cNvPr>
            <p:cNvSpPr/>
            <p:nvPr/>
          </p:nvSpPr>
          <p:spPr bwMode="gray">
            <a:xfrm>
              <a:off x="1898947" y="4916449"/>
              <a:ext cx="3516164" cy="357295"/>
            </a:xfrm>
            <a:prstGeom prst="rect">
              <a:avLst/>
            </a:prstGeom>
            <a:grpFill/>
            <a:ln w="12700" cap="flat" cmpd="sng" algn="ctr">
              <a:solidFill>
                <a:srgbClr val="56C4D2"/>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Huawei Sans"/>
                  <a:ea typeface="方正兰亭黑简体"/>
                  <a:cs typeface="+mn-cs"/>
                </a:rPr>
                <a:t>头部字段名：值</a:t>
              </a:r>
              <a:endParaRPr kumimoji="0" lang="en-US" altLang="zh-CN" sz="1400" b="0" i="0" u="none" strike="noStrike" kern="0" cap="none" spc="0" normalizeH="0" baseline="0" noProof="0" dirty="0">
                <a:ln>
                  <a:noFill/>
                </a:ln>
                <a:effectLst/>
                <a:uLnTx/>
                <a:uFillTx/>
                <a:latin typeface="Huawei Sans"/>
                <a:ea typeface="方正兰亭黑简体"/>
                <a:cs typeface="+mn-cs"/>
              </a:endParaRPr>
            </a:p>
          </p:txBody>
        </p:sp>
        <p:sp>
          <p:nvSpPr>
            <p:cNvPr id="121" name="矩形 120">
              <a:extLst>
                <a:ext uri="{FF2B5EF4-FFF2-40B4-BE49-F238E27FC236}">
                  <a16:creationId xmlns:a16="http://schemas.microsoft.com/office/drawing/2014/main" id="{ED1FF46C-3174-448F-9ADD-33C5AECA1FDF}"/>
                </a:ext>
              </a:extLst>
            </p:cNvPr>
            <p:cNvSpPr/>
            <p:nvPr/>
          </p:nvSpPr>
          <p:spPr bwMode="gray">
            <a:xfrm>
              <a:off x="5404225" y="4916449"/>
              <a:ext cx="784884" cy="357297"/>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回车符</a:t>
              </a:r>
            </a:p>
          </p:txBody>
        </p:sp>
        <p:sp>
          <p:nvSpPr>
            <p:cNvPr id="122" name="矩形 121">
              <a:extLst>
                <a:ext uri="{FF2B5EF4-FFF2-40B4-BE49-F238E27FC236}">
                  <a16:creationId xmlns:a16="http://schemas.microsoft.com/office/drawing/2014/main" id="{ED1FF46C-3174-448F-9ADD-33C5AECA1FDF}"/>
                </a:ext>
              </a:extLst>
            </p:cNvPr>
            <p:cNvSpPr/>
            <p:nvPr/>
          </p:nvSpPr>
          <p:spPr bwMode="gray">
            <a:xfrm>
              <a:off x="6189109" y="4916449"/>
              <a:ext cx="784884" cy="357297"/>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换行符</a:t>
              </a:r>
            </a:p>
          </p:txBody>
        </p:sp>
      </p:grpSp>
      <p:sp>
        <p:nvSpPr>
          <p:cNvPr id="112" name="矩形 111">
            <a:extLst>
              <a:ext uri="{FF2B5EF4-FFF2-40B4-BE49-F238E27FC236}">
                <a16:creationId xmlns:a16="http://schemas.microsoft.com/office/drawing/2014/main" id="{DE3F0C5F-22A9-4922-B2C2-C3EB12DD441E}"/>
              </a:ext>
            </a:extLst>
          </p:cNvPr>
          <p:cNvSpPr/>
          <p:nvPr/>
        </p:nvSpPr>
        <p:spPr bwMode="gray">
          <a:xfrm>
            <a:off x="3879673" y="4680107"/>
            <a:ext cx="4734334" cy="325402"/>
          </a:xfrm>
          <a:prstGeom prst="rect">
            <a:avLst/>
          </a:prstGeom>
          <a:solidFill>
            <a:sysClr val="window" lastClr="FFFFFF"/>
          </a:solid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effectLst/>
                <a:uLnTx/>
                <a:uFillTx/>
                <a:latin typeface="Huawei Sans"/>
                <a:ea typeface="方正兰亭黑简体"/>
                <a:cs typeface="+mn-cs"/>
              </a:rPr>
              <a:t>…</a:t>
            </a:r>
          </a:p>
        </p:txBody>
      </p:sp>
      <p:grpSp>
        <p:nvGrpSpPr>
          <p:cNvPr id="113" name="组合 112"/>
          <p:cNvGrpSpPr/>
          <p:nvPr/>
        </p:nvGrpSpPr>
        <p:grpSpPr bwMode="gray">
          <a:xfrm>
            <a:off x="3879674" y="4998096"/>
            <a:ext cx="4734333" cy="324894"/>
            <a:chOff x="1894037" y="4912559"/>
            <a:chExt cx="5075044" cy="350301"/>
          </a:xfrm>
          <a:solidFill>
            <a:sysClr val="window" lastClr="FFFFFF"/>
          </a:solidFill>
        </p:grpSpPr>
        <p:sp>
          <p:nvSpPr>
            <p:cNvPr id="117" name="矩形 116">
              <a:extLst>
                <a:ext uri="{FF2B5EF4-FFF2-40B4-BE49-F238E27FC236}">
                  <a16:creationId xmlns:a16="http://schemas.microsoft.com/office/drawing/2014/main" id="{DE3F0C5F-22A9-4922-B2C2-C3EB12DD441E}"/>
                </a:ext>
              </a:extLst>
            </p:cNvPr>
            <p:cNvSpPr/>
            <p:nvPr/>
          </p:nvSpPr>
          <p:spPr bwMode="gray">
            <a:xfrm>
              <a:off x="1894037" y="4916451"/>
              <a:ext cx="3521074" cy="343134"/>
            </a:xfrm>
            <a:prstGeom prst="rect">
              <a:avLst/>
            </a:prstGeom>
            <a:grpFill/>
            <a:ln w="12700" cap="flat" cmpd="sng" algn="ctr">
              <a:solidFill>
                <a:srgbClr val="56C4D2"/>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头部字段名：值</a:t>
              </a:r>
              <a:endParaRPr kumimoji="0" lang="en-US" altLang="zh-CN" sz="1400" b="0" i="0" u="none" strike="noStrike" kern="0" cap="none" spc="0" normalizeH="0" baseline="0" noProof="0">
                <a:ln>
                  <a:noFill/>
                </a:ln>
                <a:effectLst/>
                <a:uLnTx/>
                <a:uFillTx/>
                <a:latin typeface="Huawei Sans"/>
                <a:ea typeface="方正兰亭黑简体"/>
                <a:cs typeface="+mn-cs"/>
              </a:endParaRPr>
            </a:p>
          </p:txBody>
        </p:sp>
        <p:sp>
          <p:nvSpPr>
            <p:cNvPr id="118" name="矩形 117">
              <a:extLst>
                <a:ext uri="{FF2B5EF4-FFF2-40B4-BE49-F238E27FC236}">
                  <a16:creationId xmlns:a16="http://schemas.microsoft.com/office/drawing/2014/main" id="{ED1FF46C-3174-448F-9ADD-33C5AECA1FDF}"/>
                </a:ext>
              </a:extLst>
            </p:cNvPr>
            <p:cNvSpPr/>
            <p:nvPr/>
          </p:nvSpPr>
          <p:spPr bwMode="gray">
            <a:xfrm>
              <a:off x="5404225" y="4912559"/>
              <a:ext cx="784884" cy="350301"/>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回车符</a:t>
              </a:r>
            </a:p>
          </p:txBody>
        </p:sp>
        <p:sp>
          <p:nvSpPr>
            <p:cNvPr id="119" name="矩形 118">
              <a:extLst>
                <a:ext uri="{FF2B5EF4-FFF2-40B4-BE49-F238E27FC236}">
                  <a16:creationId xmlns:a16="http://schemas.microsoft.com/office/drawing/2014/main" id="{ED1FF46C-3174-448F-9ADD-33C5AECA1FDF}"/>
                </a:ext>
              </a:extLst>
            </p:cNvPr>
            <p:cNvSpPr/>
            <p:nvPr/>
          </p:nvSpPr>
          <p:spPr bwMode="gray">
            <a:xfrm>
              <a:off x="6189109" y="4912559"/>
              <a:ext cx="779972" cy="350301"/>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换行符</a:t>
              </a:r>
            </a:p>
          </p:txBody>
        </p:sp>
      </p:grpSp>
      <p:grpSp>
        <p:nvGrpSpPr>
          <p:cNvPr id="114" name="组合 113"/>
          <p:cNvGrpSpPr/>
          <p:nvPr/>
        </p:nvGrpSpPr>
        <p:grpSpPr bwMode="gray">
          <a:xfrm>
            <a:off x="8345652" y="4030342"/>
            <a:ext cx="1464382" cy="315930"/>
            <a:chOff x="6671808" y="4556412"/>
            <a:chExt cx="1569768" cy="357709"/>
          </a:xfrm>
          <a:solidFill>
            <a:sysClr val="window" lastClr="FFFFFF"/>
          </a:solidFill>
        </p:grpSpPr>
        <p:sp>
          <p:nvSpPr>
            <p:cNvPr id="115" name="矩形 114">
              <a:extLst>
                <a:ext uri="{FF2B5EF4-FFF2-40B4-BE49-F238E27FC236}">
                  <a16:creationId xmlns:a16="http://schemas.microsoft.com/office/drawing/2014/main" id="{ED1FF46C-3174-448F-9ADD-33C5AECA1FDF}"/>
                </a:ext>
              </a:extLst>
            </p:cNvPr>
            <p:cNvSpPr/>
            <p:nvPr/>
          </p:nvSpPr>
          <p:spPr bwMode="gray">
            <a:xfrm>
              <a:off x="6671808" y="4556412"/>
              <a:ext cx="784884" cy="357611"/>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回车符</a:t>
              </a:r>
            </a:p>
          </p:txBody>
        </p:sp>
        <p:sp>
          <p:nvSpPr>
            <p:cNvPr id="116" name="矩形 115">
              <a:extLst>
                <a:ext uri="{FF2B5EF4-FFF2-40B4-BE49-F238E27FC236}">
                  <a16:creationId xmlns:a16="http://schemas.microsoft.com/office/drawing/2014/main" id="{ED1FF46C-3174-448F-9ADD-33C5AECA1FDF}"/>
                </a:ext>
              </a:extLst>
            </p:cNvPr>
            <p:cNvSpPr/>
            <p:nvPr/>
          </p:nvSpPr>
          <p:spPr bwMode="gray">
            <a:xfrm>
              <a:off x="7456692" y="4556412"/>
              <a:ext cx="784884" cy="357709"/>
            </a:xfrm>
            <a:prstGeom prst="rect">
              <a:avLst/>
            </a:prstGeom>
            <a:grpFill/>
            <a:ln w="12700" cap="flat" cmpd="sng" algn="ctr">
              <a:solidFill>
                <a:srgbClr val="56C4D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latin typeface="Huawei Sans"/>
                  <a:ea typeface="方正兰亭黑简体"/>
                  <a:cs typeface="+mn-cs"/>
                </a:rPr>
                <a:t>换行符</a:t>
              </a:r>
            </a:p>
          </p:txBody>
        </p:sp>
      </p:grpSp>
      <p:sp>
        <p:nvSpPr>
          <p:cNvPr id="59" name="AutoShape 35"/>
          <p:cNvSpPr>
            <a:spLocks/>
          </p:cNvSpPr>
          <p:nvPr/>
        </p:nvSpPr>
        <p:spPr bwMode="gray">
          <a:xfrm>
            <a:off x="3642249" y="2128095"/>
            <a:ext cx="218282" cy="1041052"/>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sz="1100">
              <a:solidFill>
                <a:prstClr val="black"/>
              </a:solidFill>
              <a:latin typeface="方正兰亭黑简体"/>
              <a:ea typeface="方正兰亭黑简体"/>
            </a:endParaRPr>
          </a:p>
        </p:txBody>
      </p:sp>
      <p:sp>
        <p:nvSpPr>
          <p:cNvPr id="60" name="AutoShape 35"/>
          <p:cNvSpPr>
            <a:spLocks/>
          </p:cNvSpPr>
          <p:nvPr/>
        </p:nvSpPr>
        <p:spPr bwMode="gray">
          <a:xfrm>
            <a:off x="3660441" y="1755823"/>
            <a:ext cx="200141" cy="237667"/>
          </a:xfrm>
          <a:prstGeom prst="leftBrace">
            <a:avLst>
              <a:gd name="adj1" fmla="val 112010"/>
              <a:gd name="adj2" fmla="val 50000"/>
            </a:avLst>
          </a:prstGeom>
          <a:noFill/>
          <a:ln w="19050">
            <a:solidFill>
              <a:srgbClr val="EC706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black"/>
              </a:solidFill>
              <a:effectLst/>
              <a:uLnTx/>
              <a:uFillTx/>
              <a:latin typeface="方正兰亭黑简体"/>
              <a:ea typeface="方正兰亭黑简体"/>
            </a:endParaRPr>
          </a:p>
        </p:txBody>
      </p:sp>
      <p:sp>
        <p:nvSpPr>
          <p:cNvPr id="61" name="AutoShape 35"/>
          <p:cNvSpPr>
            <a:spLocks/>
          </p:cNvSpPr>
          <p:nvPr/>
        </p:nvSpPr>
        <p:spPr bwMode="gray">
          <a:xfrm>
            <a:off x="3645975" y="3250347"/>
            <a:ext cx="200141" cy="237667"/>
          </a:xfrm>
          <a:prstGeom prst="leftBrace">
            <a:avLst>
              <a:gd name="adj1" fmla="val 112010"/>
              <a:gd name="adj2" fmla="val 50000"/>
            </a:avLst>
          </a:prstGeom>
          <a:noFill/>
          <a:ln w="19050">
            <a:solidFill>
              <a:srgbClr val="FFD17D"/>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black"/>
              </a:solidFill>
              <a:effectLst/>
              <a:uLnTx/>
              <a:uFillTx/>
              <a:latin typeface="方正兰亭黑简体"/>
              <a:ea typeface="方正兰亭黑简体"/>
            </a:endParaRPr>
          </a:p>
        </p:txBody>
      </p:sp>
      <p:sp>
        <p:nvSpPr>
          <p:cNvPr id="62" name="AutoShape 35"/>
          <p:cNvSpPr>
            <a:spLocks/>
          </p:cNvSpPr>
          <p:nvPr/>
        </p:nvSpPr>
        <p:spPr bwMode="gray">
          <a:xfrm>
            <a:off x="3681494" y="4477025"/>
            <a:ext cx="189747" cy="763823"/>
          </a:xfrm>
          <a:prstGeom prst="leftBrace">
            <a:avLst>
              <a:gd name="adj1" fmla="val 112010"/>
              <a:gd name="adj2" fmla="val 50000"/>
            </a:avLst>
          </a:prstGeom>
          <a:noFill/>
          <a:ln w="19050">
            <a:solidFill>
              <a:srgbClr val="56C4D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sz="1100">
              <a:solidFill>
                <a:prstClr val="black"/>
              </a:solidFill>
              <a:latin typeface="方正兰亭黑简体"/>
              <a:ea typeface="方正兰亭黑简体"/>
            </a:endParaRPr>
          </a:p>
        </p:txBody>
      </p:sp>
      <p:sp>
        <p:nvSpPr>
          <p:cNvPr id="63" name="AutoShape 35"/>
          <p:cNvSpPr>
            <a:spLocks/>
          </p:cNvSpPr>
          <p:nvPr/>
        </p:nvSpPr>
        <p:spPr bwMode="gray">
          <a:xfrm>
            <a:off x="3676297" y="5673270"/>
            <a:ext cx="200141" cy="237667"/>
          </a:xfrm>
          <a:prstGeom prst="leftBrace">
            <a:avLst>
              <a:gd name="adj1" fmla="val 112010"/>
              <a:gd name="adj2" fmla="val 50000"/>
            </a:avLst>
          </a:prstGeom>
          <a:noFill/>
          <a:ln w="19050">
            <a:solidFill>
              <a:srgbClr val="8BC9A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black"/>
              </a:solidFill>
              <a:effectLst/>
              <a:uLnTx/>
              <a:uFillTx/>
              <a:latin typeface="方正兰亭黑简体"/>
              <a:ea typeface="方正兰亭黑简体"/>
            </a:endParaRPr>
          </a:p>
        </p:txBody>
      </p:sp>
      <p:sp>
        <p:nvSpPr>
          <p:cNvPr id="86" name="AutoShape 35"/>
          <p:cNvSpPr>
            <a:spLocks/>
          </p:cNvSpPr>
          <p:nvPr/>
        </p:nvSpPr>
        <p:spPr bwMode="gray">
          <a:xfrm>
            <a:off x="3667364" y="5338955"/>
            <a:ext cx="200141" cy="237667"/>
          </a:xfrm>
          <a:prstGeom prst="leftBrace">
            <a:avLst>
              <a:gd name="adj1" fmla="val 112010"/>
              <a:gd name="adj2" fmla="val 50000"/>
            </a:avLst>
          </a:prstGeom>
          <a:noFill/>
          <a:ln w="19050">
            <a:solidFill>
              <a:srgbClr val="FFD17D"/>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black"/>
              </a:solidFill>
              <a:effectLst/>
              <a:uLnTx/>
              <a:uFillTx/>
              <a:latin typeface="方正兰亭黑简体"/>
              <a:ea typeface="方正兰亭黑简体"/>
            </a:endParaRPr>
          </a:p>
        </p:txBody>
      </p:sp>
      <p:sp>
        <p:nvSpPr>
          <p:cNvPr id="87" name="AutoShape 35"/>
          <p:cNvSpPr>
            <a:spLocks/>
          </p:cNvSpPr>
          <p:nvPr/>
        </p:nvSpPr>
        <p:spPr bwMode="gray">
          <a:xfrm>
            <a:off x="3676297" y="4044465"/>
            <a:ext cx="200141" cy="237667"/>
          </a:xfrm>
          <a:prstGeom prst="leftBrace">
            <a:avLst>
              <a:gd name="adj1" fmla="val 112010"/>
              <a:gd name="adj2" fmla="val 50000"/>
            </a:avLst>
          </a:prstGeom>
          <a:noFill/>
          <a:ln w="19050">
            <a:solidFill>
              <a:srgbClr val="EC706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black"/>
              </a:solidFill>
              <a:effectLst/>
              <a:uLnTx/>
              <a:uFillTx/>
              <a:latin typeface="方正兰亭黑简体"/>
              <a:ea typeface="方正兰亭黑简体"/>
            </a:endParaRPr>
          </a:p>
        </p:txBody>
      </p:sp>
      <p:sp>
        <p:nvSpPr>
          <p:cNvPr id="88" name="AutoShape 35"/>
          <p:cNvSpPr>
            <a:spLocks/>
          </p:cNvSpPr>
          <p:nvPr/>
        </p:nvSpPr>
        <p:spPr bwMode="gray">
          <a:xfrm>
            <a:off x="3656516" y="3526178"/>
            <a:ext cx="200141" cy="237667"/>
          </a:xfrm>
          <a:prstGeom prst="leftBrace">
            <a:avLst>
              <a:gd name="adj1" fmla="val 112010"/>
              <a:gd name="adj2" fmla="val 50000"/>
            </a:avLst>
          </a:prstGeom>
          <a:noFill/>
          <a:ln w="19050">
            <a:solidFill>
              <a:srgbClr val="8BC9A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black"/>
              </a:solidFill>
              <a:effectLst/>
              <a:uLnTx/>
              <a:uFillTx/>
              <a:latin typeface="方正兰亭黑简体"/>
              <a:ea typeface="方正兰亭黑简体"/>
            </a:endParaRPr>
          </a:p>
        </p:txBody>
      </p:sp>
      <p:cxnSp>
        <p:nvCxnSpPr>
          <p:cNvPr id="89" name="肘形连接符 88"/>
          <p:cNvCxnSpPr>
            <a:stCxn id="61" idx="1"/>
            <a:endCxn id="86" idx="1"/>
          </p:cNvCxnSpPr>
          <p:nvPr/>
        </p:nvCxnSpPr>
        <p:spPr bwMode="gray">
          <a:xfrm rot="10800000" flipH="1" flipV="1">
            <a:off x="3645974" y="3369181"/>
            <a:ext cx="21389" cy="2088607"/>
          </a:xfrm>
          <a:prstGeom prst="bentConnector3">
            <a:avLst>
              <a:gd name="adj1" fmla="val -2033992"/>
            </a:avLst>
          </a:prstGeom>
          <a:noFill/>
          <a:ln w="19050" cap="flat" cmpd="sng" algn="ctr">
            <a:solidFill>
              <a:srgbClr val="FFD17D"/>
            </a:solidFill>
            <a:prstDash val="sysDash"/>
            <a:miter lim="800000"/>
            <a:tailEnd type="triangle"/>
          </a:ln>
          <a:effectLst/>
        </p:spPr>
      </p:cxnSp>
      <p:cxnSp>
        <p:nvCxnSpPr>
          <p:cNvPr id="90" name="肘形连接符 89"/>
          <p:cNvCxnSpPr>
            <a:stCxn id="59" idx="1"/>
            <a:endCxn id="62" idx="1"/>
          </p:cNvCxnSpPr>
          <p:nvPr/>
        </p:nvCxnSpPr>
        <p:spPr bwMode="gray">
          <a:xfrm rot="10800000" flipH="1" flipV="1">
            <a:off x="3642249" y="2648619"/>
            <a:ext cx="39245" cy="2210317"/>
          </a:xfrm>
          <a:prstGeom prst="bentConnector3">
            <a:avLst>
              <a:gd name="adj1" fmla="val -1613390"/>
            </a:avLst>
          </a:prstGeom>
          <a:noFill/>
          <a:ln w="12700" cap="flat" cmpd="sng" algn="ctr">
            <a:solidFill>
              <a:srgbClr val="56C4D2"/>
            </a:solidFill>
            <a:prstDash val="sysDot"/>
            <a:miter lim="800000"/>
            <a:tailEnd type="triangle"/>
          </a:ln>
          <a:effectLst/>
        </p:spPr>
      </p:cxnSp>
      <p:cxnSp>
        <p:nvCxnSpPr>
          <p:cNvPr id="91" name="肘形连接符 90"/>
          <p:cNvCxnSpPr>
            <a:stCxn id="60" idx="1"/>
            <a:endCxn id="87" idx="1"/>
          </p:cNvCxnSpPr>
          <p:nvPr/>
        </p:nvCxnSpPr>
        <p:spPr bwMode="gray">
          <a:xfrm rot="10800000" flipH="1" flipV="1">
            <a:off x="3660441" y="1874656"/>
            <a:ext cx="15856" cy="2288642"/>
          </a:xfrm>
          <a:prstGeom prst="bentConnector3">
            <a:avLst>
              <a:gd name="adj1" fmla="val -5398047"/>
            </a:avLst>
          </a:prstGeom>
          <a:noFill/>
          <a:ln w="12700" cap="flat" cmpd="sng" algn="ctr">
            <a:solidFill>
              <a:srgbClr val="EC7061"/>
            </a:solidFill>
            <a:prstDash val="solid"/>
            <a:miter lim="800000"/>
            <a:tailEnd type="triangle"/>
          </a:ln>
          <a:effectLst/>
        </p:spPr>
      </p:cxnSp>
    </p:spTree>
    <p:extLst>
      <p:ext uri="{BB962C8B-B14F-4D97-AF65-F5344CB8AC3E}">
        <p14:creationId xmlns:p14="http://schemas.microsoft.com/office/powerpoint/2010/main" val="29120541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SDN</a:t>
            </a:r>
            <a:r>
              <a:rPr lang="zh-CN" altLang="en-US" dirty="0">
                <a:solidFill>
                  <a:schemeClr val="bg1">
                    <a:lumMod val="50000"/>
                  </a:schemeClr>
                </a:solidFill>
              </a:rPr>
              <a:t>概述</a:t>
            </a:r>
          </a:p>
          <a:p>
            <a:r>
              <a:rPr lang="en-US" altLang="zh-CN" dirty="0">
                <a:solidFill>
                  <a:schemeClr val="bg1">
                    <a:lumMod val="50000"/>
                  </a:schemeClr>
                </a:solidFill>
                <a:sym typeface="Huawei Sans" panose="020C0503030203020204" pitchFamily="34" charset="0"/>
              </a:rPr>
              <a:t>REST</a:t>
            </a:r>
            <a:r>
              <a:rPr lang="zh-CN" altLang="en-US" dirty="0">
                <a:solidFill>
                  <a:schemeClr val="bg1">
                    <a:lumMod val="50000"/>
                  </a:schemeClr>
                </a:solidFill>
                <a:sym typeface="Huawei Sans" panose="020C0503030203020204" pitchFamily="34" charset="0"/>
              </a:rPr>
              <a:t>和</a:t>
            </a:r>
            <a:r>
              <a:rPr lang="en-US" altLang="zh-CN" dirty="0">
                <a:solidFill>
                  <a:schemeClr val="bg1">
                    <a:lumMod val="50000"/>
                  </a:schemeClr>
                </a:solidFill>
                <a:sym typeface="Huawei Sans" panose="020C0503030203020204" pitchFamily="34" charset="0"/>
              </a:rPr>
              <a:t>RESTful</a:t>
            </a:r>
          </a:p>
          <a:p>
            <a:r>
              <a:rPr lang="en-US" altLang="zh-CN" b="1" dirty="0">
                <a:sym typeface="Huawei Sans" panose="020C0503030203020204" pitchFamily="34" charset="0"/>
              </a:rPr>
              <a:t>HTTP</a:t>
            </a:r>
            <a:r>
              <a:rPr lang="zh-CN" altLang="en-US" b="1" dirty="0">
                <a:sym typeface="Huawei Sans" panose="020C0503030203020204" pitchFamily="34" charset="0"/>
              </a:rPr>
              <a:t>工作原理</a:t>
            </a:r>
            <a:endParaRPr lang="en-US" altLang="zh-CN" b="1" dirty="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HTTP</a:t>
            </a:r>
            <a:r>
              <a:rPr lang="zh-CN" altLang="en-US" dirty="0">
                <a:solidFill>
                  <a:schemeClr val="bg1">
                    <a:lumMod val="50000"/>
                  </a:schemeClr>
                </a:solidFill>
                <a:sym typeface="Huawei Sans" panose="020C0503030203020204" pitchFamily="34" charset="0"/>
              </a:rPr>
              <a:t>简介</a:t>
            </a:r>
          </a:p>
          <a:p>
            <a:pPr lvl="1"/>
            <a:r>
              <a:rPr lang="en-US" altLang="zh-CN" dirty="0">
                <a:solidFill>
                  <a:schemeClr val="bg1">
                    <a:lumMod val="50000"/>
                  </a:schemeClr>
                </a:solidFill>
                <a:sym typeface="Huawei Sans" panose="020C0503030203020204" pitchFamily="34" charset="0"/>
              </a:rPr>
              <a:t>HTTP/1.1</a:t>
            </a:r>
            <a:r>
              <a:rPr lang="zh-CN" altLang="en-US" dirty="0">
                <a:solidFill>
                  <a:schemeClr val="bg1">
                    <a:lumMod val="50000"/>
                  </a:schemeClr>
                </a:solidFill>
                <a:sym typeface="Huawei Sans" panose="020C0503030203020204" pitchFamily="34" charset="0"/>
              </a:rPr>
              <a:t>报文</a:t>
            </a:r>
          </a:p>
          <a:p>
            <a:pPr lvl="1">
              <a:buSzPct val="60000"/>
              <a:buFont typeface="Wingdings" panose="05000000000000000000" pitchFamily="2" charset="2"/>
              <a:buChar char="n"/>
            </a:pPr>
            <a:r>
              <a:rPr lang="en-US" altLang="zh-CN" dirty="0">
                <a:sym typeface="Huawei Sans" panose="020C0503030203020204" pitchFamily="34" charset="0"/>
              </a:rPr>
              <a:t>HTTPS</a:t>
            </a:r>
            <a:r>
              <a:rPr lang="zh-CN" altLang="en-US" dirty="0">
                <a:sym typeface="Huawei Sans" panose="020C0503030203020204" pitchFamily="34" charset="0"/>
              </a:rPr>
              <a:t>和</a:t>
            </a:r>
            <a:r>
              <a:rPr lang="en-US" altLang="zh-CN" dirty="0">
                <a:sym typeface="Huawei Sans" panose="020C0503030203020204" pitchFamily="34" charset="0"/>
              </a:rPr>
              <a:t>HTTP/2</a:t>
            </a:r>
          </a:p>
          <a:p>
            <a:r>
              <a:rPr lang="en-US" altLang="zh-CN" dirty="0">
                <a:solidFill>
                  <a:schemeClr val="bg1">
                    <a:lumMod val="50000"/>
                  </a:schemeClr>
                </a:solidFill>
                <a:sym typeface="Huawei Sans" panose="020C0503030203020204" pitchFamily="34" charset="0"/>
              </a:rPr>
              <a:t>RESTful</a:t>
            </a:r>
            <a:r>
              <a:rPr lang="zh-CN" altLang="en-US" dirty="0">
                <a:solidFill>
                  <a:schemeClr val="bg1">
                    <a:lumMod val="50000"/>
                  </a:schemeClr>
                </a:solidFill>
                <a:sym typeface="Huawei Sans" panose="020C0503030203020204" pitchFamily="34" charset="0"/>
              </a:rPr>
              <a:t>接口调用实践</a:t>
            </a:r>
            <a:endParaRPr lang="en-US" altLang="zh-CN" dirty="0">
              <a:solidFill>
                <a:schemeClr val="bg1">
                  <a:lumMod val="50000"/>
                </a:schemeClr>
              </a:solidFill>
              <a:sym typeface="Huawei Sans" panose="020C0503030203020204" pitchFamily="34" charset="0"/>
            </a:endParaRPr>
          </a:p>
          <a:p>
            <a:endParaRPr lang="zh-CN" altLang="en-US" dirty="0"/>
          </a:p>
        </p:txBody>
      </p:sp>
    </p:spTree>
    <p:extLst>
      <p:ext uri="{BB962C8B-B14F-4D97-AF65-F5344CB8AC3E}">
        <p14:creationId xmlns:p14="http://schemas.microsoft.com/office/powerpoint/2010/main" val="2107500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HTTPS</a:t>
            </a:r>
            <a:r>
              <a:rPr lang="zh-CN" altLang="en-US"/>
              <a:t>简介</a:t>
            </a:r>
          </a:p>
        </p:txBody>
      </p:sp>
      <p:sp>
        <p:nvSpPr>
          <p:cNvPr id="38" name="文本占位符 37"/>
          <p:cNvSpPr>
            <a:spLocks noGrp="1"/>
          </p:cNvSpPr>
          <p:nvPr>
            <p:ph type="body" sz="quarter" idx="10"/>
          </p:nvPr>
        </p:nvSpPr>
        <p:spPr bwMode="gray"/>
        <p:txBody>
          <a:bodyPr/>
          <a:lstStyle/>
          <a:p>
            <a:r>
              <a:rPr lang="en-US" altLang="zh-CN" sz="1800" dirty="0"/>
              <a:t>HTTPS (Hyper Text Transfer Protocol over </a:t>
            </a:r>
            <a:r>
              <a:rPr lang="en-US" altLang="zh-CN" sz="1800" dirty="0" err="1"/>
              <a:t>SecureSocket</a:t>
            </a:r>
            <a:r>
              <a:rPr lang="en-US" altLang="zh-CN" sz="1800" dirty="0"/>
              <a:t> Layer</a:t>
            </a:r>
            <a:r>
              <a:rPr lang="zh-CN" altLang="en-US" sz="1800" dirty="0"/>
              <a:t>，安全超文本传输协议），是以安全为目标的</a:t>
            </a:r>
            <a:r>
              <a:rPr lang="en-US" altLang="zh-CN" sz="1800" dirty="0"/>
              <a:t>HTTP</a:t>
            </a:r>
            <a:r>
              <a:rPr lang="zh-CN" altLang="en-US" sz="1800" dirty="0"/>
              <a:t>通道。</a:t>
            </a:r>
            <a:r>
              <a:rPr lang="en-US" altLang="zh-CN" sz="1800" dirty="0"/>
              <a:t>HTTPS</a:t>
            </a:r>
            <a:r>
              <a:rPr lang="zh-CN" altLang="en-US" sz="1800" dirty="0"/>
              <a:t>在</a:t>
            </a:r>
            <a:r>
              <a:rPr lang="en-US" altLang="zh-CN" sz="1800" dirty="0"/>
              <a:t>HTTP</a:t>
            </a:r>
            <a:r>
              <a:rPr lang="zh-CN" altLang="en-US" sz="1800" dirty="0"/>
              <a:t>的基础下加入</a:t>
            </a:r>
            <a:r>
              <a:rPr lang="en-US" altLang="zh-CN" sz="1800" dirty="0"/>
              <a:t>SSL/TLS</a:t>
            </a:r>
            <a:r>
              <a:rPr lang="zh-CN" altLang="en-US" sz="1800" dirty="0"/>
              <a:t>层，是使用</a:t>
            </a:r>
            <a:r>
              <a:rPr lang="en-US" altLang="zh-CN" sz="1800" dirty="0"/>
              <a:t>SSL/TLS</a:t>
            </a:r>
            <a:r>
              <a:rPr lang="zh-CN" altLang="en-US" sz="1800" dirty="0"/>
              <a:t>加密的</a:t>
            </a:r>
            <a:r>
              <a:rPr lang="en-US" altLang="zh-CN" sz="1800" dirty="0"/>
              <a:t>HTTP</a:t>
            </a:r>
            <a:r>
              <a:rPr lang="zh-CN" altLang="en-US" sz="1800" dirty="0"/>
              <a:t>协议。</a:t>
            </a:r>
          </a:p>
          <a:p>
            <a:endParaRPr lang="zh-CN" altLang="en-US" sz="1800" dirty="0"/>
          </a:p>
          <a:p>
            <a:endParaRPr lang="zh-CN" altLang="en-US" sz="1800" dirty="0"/>
          </a:p>
        </p:txBody>
      </p:sp>
      <p:sp>
        <p:nvSpPr>
          <p:cNvPr id="3" name="内容占位符 2"/>
          <p:cNvSpPr txBox="1">
            <a:spLocks/>
          </p:cNvSpPr>
          <p:nvPr/>
        </p:nvSpPr>
        <p:spPr bwMode="gray">
          <a:xfrm>
            <a:off x="398061" y="1233487"/>
            <a:ext cx="11276184" cy="1692593"/>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600"/>
          </a:p>
        </p:txBody>
      </p:sp>
      <p:sp>
        <p:nvSpPr>
          <p:cNvPr id="7" name="文本占位符 3">
            <a:extLst>
              <a:ext uri="{FF2B5EF4-FFF2-40B4-BE49-F238E27FC236}">
                <a16:creationId xmlns:a16="http://schemas.microsoft.com/office/drawing/2014/main" id="{0AD84FAA-B1FC-4E83-9D3D-4342BE18F678}"/>
              </a:ext>
            </a:extLst>
          </p:cNvPr>
          <p:cNvSpPr txBox="1">
            <a:spLocks/>
          </p:cNvSpPr>
          <p:nvPr/>
        </p:nvSpPr>
        <p:spPr bwMode="gray">
          <a:xfrm>
            <a:off x="469900" y="1233488"/>
            <a:ext cx="10926233" cy="523262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endParaRPr lang="zh-CN" altLang="en-US" sz="1800" dirty="0"/>
          </a:p>
        </p:txBody>
      </p:sp>
      <p:sp>
        <p:nvSpPr>
          <p:cNvPr id="17" name="文本框 16"/>
          <p:cNvSpPr txBox="1"/>
          <p:nvPr/>
        </p:nvSpPr>
        <p:spPr bwMode="gray">
          <a:xfrm>
            <a:off x="4652856" y="1977508"/>
            <a:ext cx="2560320" cy="369332"/>
          </a:xfrm>
          <a:prstGeom prst="rect">
            <a:avLst/>
          </a:prstGeom>
          <a:noFill/>
        </p:spPr>
        <p:txBody>
          <a:bodyPr wrap="square" rtlCol="0">
            <a:spAutoFit/>
          </a:bodyPr>
          <a:lstStyle/>
          <a:p>
            <a:r>
              <a:rPr lang="en-US" altLang="zh-CN" b="1" dirty="0"/>
              <a:t>HTTP    VS    HTTPS</a:t>
            </a:r>
            <a:endParaRPr lang="zh-CN" altLang="en-US" b="1" dirty="0"/>
          </a:p>
        </p:txBody>
      </p:sp>
      <p:grpSp>
        <p:nvGrpSpPr>
          <p:cNvPr id="6" name="组合 5"/>
          <p:cNvGrpSpPr/>
          <p:nvPr/>
        </p:nvGrpSpPr>
        <p:grpSpPr bwMode="gray">
          <a:xfrm>
            <a:off x="1455706" y="2622434"/>
            <a:ext cx="3064711" cy="1040618"/>
            <a:chOff x="2663360" y="3809985"/>
            <a:chExt cx="3064711" cy="1040618"/>
          </a:xfrm>
        </p:grpSpPr>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91100" y="3809985"/>
              <a:ext cx="836971" cy="659158"/>
            </a:xfrm>
            <a:prstGeom prst="rect">
              <a:avLst/>
            </a:prstGeom>
          </p:spPr>
        </p:pic>
        <p:pic>
          <p:nvPicPr>
            <p:cNvPr id="9" name="图片 8" descr="笔记本电脑.png"/>
            <p:cNvPicPr>
              <a:picLocks noChangeAspect="1"/>
            </p:cNvPicPr>
            <p:nvPr/>
          </p:nvPicPr>
          <p:blipFill>
            <a:blip r:embed="rId4" cstate="print"/>
            <a:stretch>
              <a:fillRect/>
            </a:stretch>
          </p:blipFill>
          <p:spPr bwMode="gray">
            <a:xfrm>
              <a:off x="2663360" y="3842089"/>
              <a:ext cx="968153" cy="606958"/>
            </a:xfrm>
            <a:prstGeom prst="rect">
              <a:avLst/>
            </a:prstGeom>
          </p:spPr>
        </p:pic>
        <p:cxnSp>
          <p:nvCxnSpPr>
            <p:cNvPr id="10" name="直接连接符 9"/>
            <p:cNvCxnSpPr/>
            <p:nvPr/>
          </p:nvCxnSpPr>
          <p:spPr bwMode="gray">
            <a:xfrm flipV="1">
              <a:off x="3608363" y="4139564"/>
              <a:ext cx="1259587" cy="6004"/>
            </a:xfrm>
            <a:prstGeom prst="line">
              <a:avLst/>
            </a:prstGeom>
            <a:ln w="38100">
              <a:solidFill>
                <a:srgbClr val="56C4D2"/>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bwMode="gray">
            <a:xfrm>
              <a:off x="2712043" y="4499189"/>
              <a:ext cx="1097829" cy="338554"/>
            </a:xfrm>
            <a:prstGeom prst="rect">
              <a:avLst/>
            </a:prstGeom>
            <a:noFill/>
          </p:spPr>
          <p:txBody>
            <a:bodyPr wrap="square" rtlCol="0">
              <a:spAutoFit/>
            </a:bodyPr>
            <a:lstStyle/>
            <a:p>
              <a:r>
                <a:rPr lang="zh-CN" altLang="en-US" sz="1600" dirty="0"/>
                <a:t>客户端</a:t>
              </a:r>
            </a:p>
          </p:txBody>
        </p:sp>
        <p:sp>
          <p:nvSpPr>
            <p:cNvPr id="16" name="文本框 15">
              <a:extLst>
                <a:ext uri="{FF2B5EF4-FFF2-40B4-BE49-F238E27FC236}">
                  <a16:creationId xmlns:a16="http://schemas.microsoft.com/office/drawing/2014/main" id="{4BB50338-4F2F-4CA1-9CF3-9E6DB92F39E5}"/>
                </a:ext>
              </a:extLst>
            </p:cNvPr>
            <p:cNvSpPr txBox="1"/>
            <p:nvPr/>
          </p:nvSpPr>
          <p:spPr bwMode="gray">
            <a:xfrm>
              <a:off x="4909242" y="4512049"/>
              <a:ext cx="818829" cy="338554"/>
            </a:xfrm>
            <a:prstGeom prst="rect">
              <a:avLst/>
            </a:prstGeom>
            <a:noFill/>
          </p:spPr>
          <p:txBody>
            <a:bodyPr wrap="square" rtlCol="0">
              <a:spAutoFit/>
            </a:bodyPr>
            <a:lstStyle/>
            <a:p>
              <a:r>
                <a:rPr lang="zh-CN" altLang="en-US" sz="1600" dirty="0"/>
                <a:t>服务端</a:t>
              </a:r>
            </a:p>
          </p:txBody>
        </p:sp>
      </p:grpSp>
      <p:pic>
        <p:nvPicPr>
          <p:cNvPr id="11" name="图片 1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458987" y="2600651"/>
            <a:ext cx="836971" cy="659158"/>
          </a:xfrm>
          <a:prstGeom prst="rect">
            <a:avLst/>
          </a:prstGeom>
        </p:spPr>
      </p:pic>
      <p:pic>
        <p:nvPicPr>
          <p:cNvPr id="12" name="图片 11" descr="笔记本电脑.png"/>
          <p:cNvPicPr>
            <a:picLocks noChangeAspect="1"/>
          </p:cNvPicPr>
          <p:nvPr/>
        </p:nvPicPr>
        <p:blipFill>
          <a:blip r:embed="rId4" cstate="print"/>
          <a:stretch>
            <a:fillRect/>
          </a:stretch>
        </p:blipFill>
        <p:spPr bwMode="gray">
          <a:xfrm>
            <a:off x="6231247" y="2652851"/>
            <a:ext cx="968153" cy="606958"/>
          </a:xfrm>
          <a:prstGeom prst="rect">
            <a:avLst/>
          </a:prstGeom>
        </p:spPr>
      </p:pic>
      <p:cxnSp>
        <p:nvCxnSpPr>
          <p:cNvPr id="13" name="直接连接符 12"/>
          <p:cNvCxnSpPr/>
          <p:nvPr/>
        </p:nvCxnSpPr>
        <p:spPr bwMode="gray">
          <a:xfrm flipV="1">
            <a:off x="7176250" y="2930230"/>
            <a:ext cx="1259587" cy="6004"/>
          </a:xfrm>
          <a:prstGeom prst="line">
            <a:avLst/>
          </a:prstGeom>
          <a:ln w="38100">
            <a:solidFill>
              <a:srgbClr val="56C4D2"/>
            </a:solidFill>
          </a:ln>
        </p:spPr>
        <p:style>
          <a:lnRef idx="1">
            <a:schemeClr val="accent1"/>
          </a:lnRef>
          <a:fillRef idx="0">
            <a:schemeClr val="accent1"/>
          </a:fillRef>
          <a:effectRef idx="0">
            <a:schemeClr val="accent1"/>
          </a:effectRef>
          <a:fontRef idx="minor">
            <a:schemeClr val="tx1"/>
          </a:fontRef>
        </p:style>
      </p:cxnSp>
      <p:sp>
        <p:nvSpPr>
          <p:cNvPr id="4" name="圆柱形 3"/>
          <p:cNvSpPr/>
          <p:nvPr/>
        </p:nvSpPr>
        <p:spPr bwMode="gray">
          <a:xfrm>
            <a:off x="7723911" y="2860361"/>
            <a:ext cx="306606" cy="325120"/>
          </a:xfrm>
          <a:prstGeom prst="can">
            <a:avLst/>
          </a:prstGeom>
          <a:solidFill>
            <a:srgbClr val="FFD17D"/>
          </a:solidFill>
          <a:ln>
            <a:solidFill>
              <a:srgbClr val="FFF2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空心弧 13"/>
          <p:cNvSpPr/>
          <p:nvPr/>
        </p:nvSpPr>
        <p:spPr bwMode="gray">
          <a:xfrm>
            <a:off x="7723911" y="2642585"/>
            <a:ext cx="306606" cy="560923"/>
          </a:xfrm>
          <a:prstGeom prst="blockArc">
            <a:avLst/>
          </a:prstGeom>
          <a:solidFill>
            <a:srgbClr val="FFD17D"/>
          </a:solidFill>
          <a:ln>
            <a:solidFill>
              <a:srgbClr val="FFF2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文本框 18">
            <a:extLst>
              <a:ext uri="{FF2B5EF4-FFF2-40B4-BE49-F238E27FC236}">
                <a16:creationId xmlns:a16="http://schemas.microsoft.com/office/drawing/2014/main" id="{4BB50338-4F2F-4CA1-9CF3-9E6DB92F39E5}"/>
              </a:ext>
            </a:extLst>
          </p:cNvPr>
          <p:cNvSpPr txBox="1"/>
          <p:nvPr/>
        </p:nvSpPr>
        <p:spPr bwMode="gray">
          <a:xfrm>
            <a:off x="8492897" y="3302954"/>
            <a:ext cx="818829" cy="338554"/>
          </a:xfrm>
          <a:prstGeom prst="rect">
            <a:avLst/>
          </a:prstGeom>
          <a:noFill/>
        </p:spPr>
        <p:txBody>
          <a:bodyPr wrap="square" rtlCol="0">
            <a:spAutoFit/>
          </a:bodyPr>
          <a:lstStyle/>
          <a:p>
            <a:r>
              <a:rPr lang="zh-CN" altLang="en-US" sz="1600" dirty="0"/>
              <a:t>服务端</a:t>
            </a:r>
          </a:p>
        </p:txBody>
      </p:sp>
      <p:sp>
        <p:nvSpPr>
          <p:cNvPr id="18" name="文本框 17"/>
          <p:cNvSpPr txBox="1"/>
          <p:nvPr/>
        </p:nvSpPr>
        <p:spPr bwMode="gray">
          <a:xfrm>
            <a:off x="6283328" y="3321734"/>
            <a:ext cx="1097829" cy="338554"/>
          </a:xfrm>
          <a:prstGeom prst="rect">
            <a:avLst/>
          </a:prstGeom>
          <a:solidFill>
            <a:schemeClr val="bg1"/>
          </a:solidFill>
        </p:spPr>
        <p:txBody>
          <a:bodyPr wrap="square" rtlCol="0">
            <a:spAutoFit/>
          </a:bodyPr>
          <a:lstStyle/>
          <a:p>
            <a:r>
              <a:rPr lang="zh-CN" altLang="en-US" sz="1600" dirty="0"/>
              <a:t>客户端</a:t>
            </a:r>
          </a:p>
        </p:txBody>
      </p:sp>
      <p:grpSp>
        <p:nvGrpSpPr>
          <p:cNvPr id="20" name="组合 19"/>
          <p:cNvGrpSpPr/>
          <p:nvPr/>
        </p:nvGrpSpPr>
        <p:grpSpPr bwMode="gray">
          <a:xfrm>
            <a:off x="1874137" y="5075894"/>
            <a:ext cx="1971994" cy="719554"/>
            <a:chOff x="3891051" y="2604298"/>
            <a:chExt cx="2817017" cy="719554"/>
          </a:xfrm>
          <a:solidFill>
            <a:srgbClr val="56C4D2"/>
          </a:solidFill>
        </p:grpSpPr>
        <p:sp>
          <p:nvSpPr>
            <p:cNvPr id="21" name="矩形 20"/>
            <p:cNvSpPr/>
            <p:nvPr/>
          </p:nvSpPr>
          <p:spPr bwMode="gray">
            <a:xfrm>
              <a:off x="3896496" y="3052816"/>
              <a:ext cx="2811572" cy="2710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bwMode="gray">
            <a:xfrm>
              <a:off x="3891051" y="2604298"/>
              <a:ext cx="2811572" cy="2710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TCP</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5" name="矩形 24"/>
          <p:cNvSpPr/>
          <p:nvPr/>
        </p:nvSpPr>
        <p:spPr bwMode="gray">
          <a:xfrm>
            <a:off x="1854643" y="4591431"/>
            <a:ext cx="1968182" cy="27103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HTTP</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7" name="组合 26"/>
          <p:cNvGrpSpPr/>
          <p:nvPr/>
        </p:nvGrpSpPr>
        <p:grpSpPr bwMode="gray">
          <a:xfrm>
            <a:off x="6768305" y="5234287"/>
            <a:ext cx="1968182" cy="690750"/>
            <a:chOff x="3896496" y="2633102"/>
            <a:chExt cx="2811572" cy="690750"/>
          </a:xfrm>
        </p:grpSpPr>
        <p:sp>
          <p:nvSpPr>
            <p:cNvPr id="28" name="矩形 27"/>
            <p:cNvSpPr/>
            <p:nvPr/>
          </p:nvSpPr>
          <p:spPr bwMode="gray">
            <a:xfrm>
              <a:off x="3896496" y="3052816"/>
              <a:ext cx="2811572" cy="27103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bwMode="gray">
            <a:xfrm>
              <a:off x="3896496" y="2633102"/>
              <a:ext cx="2811572" cy="27103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TCP</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4" name="矩形 33"/>
          <p:cNvSpPr/>
          <p:nvPr/>
        </p:nvSpPr>
        <p:spPr bwMode="gray">
          <a:xfrm>
            <a:off x="6768305" y="4811957"/>
            <a:ext cx="1968182" cy="271036"/>
          </a:xfrm>
          <a:prstGeom prst="rect">
            <a:avLst/>
          </a:prstGeom>
          <a:solidFill>
            <a:srgbClr val="FDE397"/>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TLS</a:t>
            </a: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bwMode="gray">
          <a:xfrm>
            <a:off x="6804272" y="4350474"/>
            <a:ext cx="1968182" cy="27103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HTTP</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等腰三角形 43"/>
          <p:cNvSpPr/>
          <p:nvPr/>
        </p:nvSpPr>
        <p:spPr bwMode="gray">
          <a:xfrm rot="15725113">
            <a:off x="8976316" y="4316655"/>
            <a:ext cx="670821" cy="1068284"/>
          </a:xfrm>
          <a:prstGeom prst="triangle">
            <a:avLst>
              <a:gd name="adj" fmla="val 44185"/>
            </a:avLst>
          </a:prstGeom>
          <a:gradFill>
            <a:gsLst>
              <a:gs pos="6000">
                <a:srgbClr val="FDE397"/>
              </a:gs>
              <a:gs pos="94000">
                <a:sysClr val="window" lastClr="FFFFFF">
                  <a:alpha val="0"/>
                </a:sysClr>
              </a:gs>
            </a:gsLst>
            <a:lin ang="5400000" scaled="0"/>
          </a:gradFill>
          <a:ln>
            <a:noFill/>
          </a:ln>
          <a:effectLst/>
        </p:spPr>
        <p:txBody>
          <a:bodyPr lIns="36863" tIns="40549" rIns="36863" bIns="40549"/>
          <a:lstStyle/>
          <a:p>
            <a:pPr marL="0" marR="0" lvl="0" indent="0" defTabSz="615490" eaLnBrk="0" fontAlgn="base" latinLnBrk="0" hangingPunct="0">
              <a:lnSpc>
                <a:spcPct val="100000"/>
              </a:lnSpc>
              <a:spcBef>
                <a:spcPct val="20000"/>
              </a:spcBef>
              <a:spcAft>
                <a:spcPct val="0"/>
              </a:spcAft>
              <a:buClr>
                <a:srgbClr val="990000"/>
              </a:buClr>
              <a:buSzPct val="60000"/>
              <a:buFontTx/>
              <a:buNone/>
              <a:tabLst/>
              <a:defRPr/>
            </a:pPr>
            <a:endParaRPr kumimoji="0" lang="zh-CN" altLang="en-US" sz="798"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39"/>
          <p:cNvSpPr/>
          <p:nvPr/>
        </p:nvSpPr>
        <p:spPr bwMode="gray">
          <a:xfrm>
            <a:off x="10035915" y="4225680"/>
            <a:ext cx="1562442" cy="1584569"/>
          </a:xfrm>
          <a:prstGeom prst="roundRect">
            <a:avLst>
              <a:gd name="adj" fmla="val 2303"/>
            </a:avLst>
          </a:prstGeom>
          <a:no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600" dirty="0">
                <a:solidFill>
                  <a:srgbClr val="FF0000"/>
                </a:solidFill>
              </a:rPr>
              <a:t>身份验证</a:t>
            </a:r>
            <a:endParaRPr lang="en-US" altLang="zh-CN" sz="1600" dirty="0">
              <a:solidFill>
                <a:srgbClr val="FF0000"/>
              </a:solidFill>
            </a:endParaRPr>
          </a:p>
          <a:p>
            <a:pPr marL="285750" indent="-285750">
              <a:buFont typeface="Arial" panose="020B0604020202020204" pitchFamily="34" charset="0"/>
              <a:buChar char="•"/>
            </a:pPr>
            <a:r>
              <a:rPr lang="zh-CN" altLang="en-US" sz="1600" dirty="0">
                <a:solidFill>
                  <a:schemeClr val="tx1"/>
                </a:solidFill>
                <a:highlight>
                  <a:srgbClr val="FFFF00"/>
                </a:highlight>
              </a:rPr>
              <a:t>信息加密</a:t>
            </a:r>
            <a:endParaRPr lang="en-US" altLang="zh-CN" sz="1600" dirty="0">
              <a:solidFill>
                <a:schemeClr val="tx1"/>
              </a:solidFill>
              <a:highlight>
                <a:srgbClr val="FFFF00"/>
              </a:highlight>
            </a:endParaRPr>
          </a:p>
          <a:p>
            <a:pPr marL="285750" indent="-285750">
              <a:buFont typeface="Arial" panose="020B0604020202020204" pitchFamily="34" charset="0"/>
              <a:buChar char="•"/>
            </a:pPr>
            <a:r>
              <a:rPr lang="zh-CN" altLang="en-US" sz="1600" dirty="0">
                <a:solidFill>
                  <a:schemeClr val="tx1"/>
                </a:solidFill>
              </a:rPr>
              <a:t>完整性校验</a:t>
            </a:r>
            <a:endParaRPr lang="en-US" altLang="zh-CN" sz="1600" dirty="0">
              <a:solidFill>
                <a:schemeClr val="tx1"/>
              </a:solidFill>
            </a:endParaRPr>
          </a:p>
          <a:p>
            <a:endParaRPr lang="zh-CN" altLang="en-US" sz="1600" dirty="0">
              <a:solidFill>
                <a:schemeClr val="tx1"/>
              </a:solidFill>
            </a:endParaRPr>
          </a:p>
        </p:txBody>
      </p:sp>
      <p:sp>
        <p:nvSpPr>
          <p:cNvPr id="61" name="文本框 60"/>
          <p:cNvSpPr txBox="1"/>
          <p:nvPr/>
        </p:nvSpPr>
        <p:spPr bwMode="gray">
          <a:xfrm>
            <a:off x="2526128" y="3059776"/>
            <a:ext cx="1259587" cy="338554"/>
          </a:xfrm>
          <a:prstGeom prst="rect">
            <a:avLst/>
          </a:prstGeom>
          <a:noFill/>
        </p:spPr>
        <p:txBody>
          <a:bodyPr wrap="square" rtlCol="0">
            <a:spAutoFit/>
          </a:bodyPr>
          <a:lstStyle/>
          <a:p>
            <a:r>
              <a:rPr lang="zh-CN" altLang="en-US" sz="1600" dirty="0"/>
              <a:t>明文通信</a:t>
            </a:r>
          </a:p>
        </p:txBody>
      </p:sp>
      <p:sp>
        <p:nvSpPr>
          <p:cNvPr id="62" name="文本框 61"/>
          <p:cNvSpPr txBox="1"/>
          <p:nvPr/>
        </p:nvSpPr>
        <p:spPr bwMode="gray">
          <a:xfrm>
            <a:off x="7367654" y="3238072"/>
            <a:ext cx="1259587" cy="338554"/>
          </a:xfrm>
          <a:prstGeom prst="rect">
            <a:avLst/>
          </a:prstGeom>
          <a:noFill/>
        </p:spPr>
        <p:txBody>
          <a:bodyPr wrap="square" rtlCol="0">
            <a:spAutoFit/>
          </a:bodyPr>
          <a:lstStyle/>
          <a:p>
            <a:r>
              <a:rPr lang="zh-CN" altLang="en-US" sz="1600" dirty="0"/>
              <a:t>密文通信</a:t>
            </a:r>
          </a:p>
        </p:txBody>
      </p:sp>
    </p:spTree>
    <p:extLst>
      <p:ext uri="{BB962C8B-B14F-4D97-AF65-F5344CB8AC3E}">
        <p14:creationId xmlns:p14="http://schemas.microsoft.com/office/powerpoint/2010/main" val="12967796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SSL/TLS</a:t>
            </a:r>
            <a:r>
              <a:rPr lang="zh-CN" altLang="en-US"/>
              <a:t>简介</a:t>
            </a:r>
          </a:p>
        </p:txBody>
      </p:sp>
      <p:sp>
        <p:nvSpPr>
          <p:cNvPr id="6" name="文本占位符 5"/>
          <p:cNvSpPr>
            <a:spLocks noGrp="1"/>
          </p:cNvSpPr>
          <p:nvPr>
            <p:ph type="body" sz="quarter" idx="10"/>
          </p:nvPr>
        </p:nvSpPr>
        <p:spPr bwMode="gray"/>
        <p:txBody>
          <a:bodyPr/>
          <a:lstStyle/>
          <a:p>
            <a:r>
              <a:rPr lang="en-US" altLang="zh-CN" sz="1800" dirty="0"/>
              <a:t>SSL</a:t>
            </a:r>
            <a:r>
              <a:rPr lang="zh-CN" altLang="en-US" sz="1800" dirty="0"/>
              <a:t>（</a:t>
            </a:r>
            <a:r>
              <a:rPr lang="en-US" altLang="zh-CN" sz="1800" dirty="0"/>
              <a:t>Secure Sockets Layer</a:t>
            </a:r>
            <a:r>
              <a:rPr lang="zh-CN" altLang="en-US" sz="1800" dirty="0"/>
              <a:t>，安全套接字）及</a:t>
            </a:r>
            <a:r>
              <a:rPr lang="en-US" altLang="zh-CN" sz="1800" dirty="0"/>
              <a:t>TLS</a:t>
            </a:r>
            <a:r>
              <a:rPr lang="zh-CN" altLang="en-US" sz="1800" dirty="0"/>
              <a:t>（</a:t>
            </a:r>
            <a:r>
              <a:rPr lang="en-US" altLang="zh-CN" sz="1800" dirty="0"/>
              <a:t>Transport Layer Security</a:t>
            </a:r>
            <a:r>
              <a:rPr lang="zh-CN" altLang="en-US" sz="1800" dirty="0"/>
              <a:t>，传输层安全）是为网络通信提供安全及数据完整性的一种安全协议。</a:t>
            </a:r>
          </a:p>
          <a:p>
            <a:r>
              <a:rPr lang="en-US" altLang="zh-CN" sz="1800" dirty="0"/>
              <a:t>TLS</a:t>
            </a:r>
            <a:r>
              <a:rPr lang="zh-CN" altLang="en-US" sz="1800" dirty="0"/>
              <a:t>是</a:t>
            </a:r>
            <a:r>
              <a:rPr lang="en-US" altLang="zh-CN" sz="1800" dirty="0"/>
              <a:t>SSL</a:t>
            </a:r>
            <a:r>
              <a:rPr lang="zh-CN" altLang="en-US" sz="1800" dirty="0"/>
              <a:t>的标准化后的产物。</a:t>
            </a:r>
            <a:r>
              <a:rPr lang="en-US" altLang="zh-CN" sz="1800" dirty="0"/>
              <a:t>SSL</a:t>
            </a:r>
            <a:r>
              <a:rPr lang="zh-CN" altLang="en-US" sz="1800" dirty="0"/>
              <a:t>与</a:t>
            </a:r>
            <a:r>
              <a:rPr lang="en-US" altLang="zh-CN" sz="1800" dirty="0"/>
              <a:t>TLS</a:t>
            </a:r>
            <a:r>
              <a:rPr lang="zh-CN" altLang="en-US" sz="1800" dirty="0"/>
              <a:t>在传输层与应用层之间对网络连接进行加密，不影响原有的</a:t>
            </a:r>
            <a:r>
              <a:rPr lang="en-US" altLang="zh-CN" sz="1800" dirty="0"/>
              <a:t>TCP</a:t>
            </a:r>
            <a:r>
              <a:rPr lang="zh-CN" altLang="en-US" sz="1800" dirty="0"/>
              <a:t>协议和</a:t>
            </a:r>
            <a:r>
              <a:rPr lang="en-US" altLang="zh-CN" sz="1800" dirty="0"/>
              <a:t>HTTP</a:t>
            </a:r>
            <a:r>
              <a:rPr lang="zh-CN" altLang="en-US" sz="1800" dirty="0"/>
              <a:t>协议，所以使用</a:t>
            </a:r>
            <a:r>
              <a:rPr lang="en-US" altLang="zh-CN" sz="1800" dirty="0"/>
              <a:t>HTTPS</a:t>
            </a:r>
            <a:r>
              <a:rPr lang="zh-CN" altLang="en-US" sz="1800" dirty="0"/>
              <a:t>不需要对</a:t>
            </a:r>
            <a:r>
              <a:rPr lang="en-US" altLang="zh-CN" sz="1800" dirty="0"/>
              <a:t>HTTP</a:t>
            </a:r>
            <a:r>
              <a:rPr lang="zh-CN" altLang="en-US" sz="1800" dirty="0"/>
              <a:t>页面进行太多的改造。</a:t>
            </a:r>
          </a:p>
          <a:p>
            <a:endParaRPr lang="zh-CN" altLang="en-US" sz="1800" dirty="0"/>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600"/>
          </a:p>
        </p:txBody>
      </p:sp>
      <p:sp>
        <p:nvSpPr>
          <p:cNvPr id="7" name="文本占位符 3">
            <a:extLst>
              <a:ext uri="{FF2B5EF4-FFF2-40B4-BE49-F238E27FC236}">
                <a16:creationId xmlns:a16="http://schemas.microsoft.com/office/drawing/2014/main" id="{0AD84FAA-B1FC-4E83-9D3D-4342BE18F678}"/>
              </a:ext>
            </a:extLst>
          </p:cNvPr>
          <p:cNvSpPr txBox="1">
            <a:spLocks/>
          </p:cNvSpPr>
          <p:nvPr/>
        </p:nvSpPr>
        <p:spPr bwMode="gray">
          <a:xfrm>
            <a:off x="469900" y="1233488"/>
            <a:ext cx="10926233" cy="523262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13" name="TextBox 18"/>
          <p:cNvSpPr txBox="1"/>
          <p:nvPr/>
        </p:nvSpPr>
        <p:spPr bwMode="gray">
          <a:xfrm>
            <a:off x="6280881" y="3365146"/>
            <a:ext cx="5163527" cy="2166747"/>
          </a:xfrm>
          <a:prstGeom prst="rect">
            <a:avLst/>
          </a:prstGeom>
          <a:noFill/>
        </p:spPr>
        <p:txBody>
          <a:bodyPr wrap="square" rtlCol="0">
            <a:spAutoFit/>
          </a:bodyPr>
          <a:lstStyle/>
          <a:p>
            <a:pPr marL="342900" indent="-342900">
              <a:lnSpc>
                <a:spcPct val="130000"/>
              </a:lnSpc>
              <a:spcAft>
                <a:spcPts val="600"/>
              </a:spcAft>
              <a:buFont typeface="+mj-lt"/>
              <a:buAutoNum type="arabicPeriod"/>
            </a:pPr>
            <a:r>
              <a:rPr lang="zh-CN" altLang="en-US" sz="1600" dirty="0">
                <a:latin typeface="Huawei Sans" panose="020C0503030203020204" pitchFamily="34" charset="0"/>
                <a:ea typeface="方正兰亭黑简体" panose="02000000000000000000" pitchFamily="2" charset="-122"/>
              </a:rPr>
              <a:t>数据具备完整性，</a:t>
            </a:r>
            <a:r>
              <a:rPr lang="en-US" altLang="zh-CN" sz="1600" dirty="0"/>
              <a:t> HTTPS</a:t>
            </a:r>
            <a:r>
              <a:rPr lang="zh-CN" altLang="en-US" sz="1600" dirty="0"/>
              <a:t>使用</a:t>
            </a:r>
            <a:r>
              <a:rPr lang="en-US" altLang="zh-CN" sz="1600" dirty="0"/>
              <a:t>SSL/TLS</a:t>
            </a:r>
            <a:r>
              <a:rPr lang="zh-CN" altLang="en-US" sz="1600" dirty="0"/>
              <a:t>加密传输所有的</a:t>
            </a:r>
            <a:r>
              <a:rPr lang="en-US" altLang="zh-CN" sz="1600" dirty="0"/>
              <a:t>HTTP</a:t>
            </a:r>
            <a:r>
              <a:rPr lang="zh-CN" altLang="en-US" sz="1600" dirty="0"/>
              <a:t>报文，</a:t>
            </a:r>
            <a:r>
              <a:rPr lang="zh-CN" altLang="en-US" sz="1600" dirty="0">
                <a:latin typeface="Huawei Sans" panose="020C0503030203020204" pitchFamily="34" charset="0"/>
                <a:ea typeface="方正兰亭黑简体" panose="02000000000000000000" pitchFamily="2" charset="-122"/>
              </a:rPr>
              <a:t>所有信息都是加密传播，第三方无法窃听，</a:t>
            </a:r>
            <a:r>
              <a:rPr lang="zh-CN" altLang="en-US" sz="1600" dirty="0"/>
              <a:t>即使截获也无法篡改。</a:t>
            </a:r>
            <a:endParaRPr lang="zh-CN" altLang="en-US" sz="1600" dirty="0">
              <a:latin typeface="Huawei Sans" panose="020C0503030203020204" pitchFamily="34" charset="0"/>
              <a:ea typeface="方正兰亭黑简体" panose="02000000000000000000" pitchFamily="2" charset="-122"/>
            </a:endParaRPr>
          </a:p>
          <a:p>
            <a:pPr marL="342900" indent="-342900">
              <a:lnSpc>
                <a:spcPct val="130000"/>
              </a:lnSpc>
              <a:spcAft>
                <a:spcPts val="600"/>
              </a:spcAft>
              <a:buFont typeface="+mj-lt"/>
              <a:buAutoNum type="arabicPeriod"/>
            </a:pPr>
            <a:r>
              <a:rPr lang="zh-CN" altLang="en-US" sz="1600" dirty="0">
                <a:latin typeface="Huawei Sans" panose="020C0503030203020204" pitchFamily="34" charset="0"/>
                <a:ea typeface="方正兰亭黑简体" panose="02000000000000000000" pitchFamily="2" charset="-122"/>
              </a:rPr>
              <a:t>数据具有校验机制，一旦被篡改，通信双方会立刻发现。</a:t>
            </a:r>
          </a:p>
          <a:p>
            <a:pPr marL="342900" indent="-342900">
              <a:lnSpc>
                <a:spcPct val="130000"/>
              </a:lnSpc>
              <a:spcAft>
                <a:spcPts val="600"/>
              </a:spcAft>
              <a:buFont typeface="+mj-lt"/>
              <a:buAutoNum type="arabicPeriod"/>
            </a:pPr>
            <a:r>
              <a:rPr lang="zh-CN" altLang="en-US" sz="1600" dirty="0">
                <a:latin typeface="Huawei Sans" panose="020C0503030203020204" pitchFamily="34" charset="0"/>
                <a:ea typeface="方正兰亭黑简体" panose="02000000000000000000" pitchFamily="2" charset="-122"/>
              </a:rPr>
              <a:t>数据来源可信，配备身份证书，防止身份被冒充。</a:t>
            </a:r>
          </a:p>
        </p:txBody>
      </p:sp>
      <p:sp>
        <p:nvSpPr>
          <p:cNvPr id="14" name="圆角矩形 75"/>
          <p:cNvSpPr/>
          <p:nvPr/>
        </p:nvSpPr>
        <p:spPr bwMode="gray">
          <a:xfrm>
            <a:off x="6266355" y="2905365"/>
            <a:ext cx="5291928" cy="350744"/>
          </a:xfrm>
          <a:prstGeom prst="roundRect">
            <a:avLst>
              <a:gd name="adj" fmla="val 10604"/>
            </a:avLst>
          </a:prstGeom>
          <a:solidFill>
            <a:srgbClr val="30B5C5"/>
          </a:solidFill>
          <a:ln>
            <a:noFill/>
          </a:ln>
        </p:spPr>
        <p:txBody>
          <a:bodyPr wrap="square" rtlCol="0" anchor="ctr" anchorCtr="0">
            <a:noAutofit/>
          </a:bodyPr>
          <a:lstStyle/>
          <a:p>
            <a:pPr algn="ctr"/>
            <a:r>
              <a:rPr lang="zh-CN" altLang="en-US" sz="1700" b="1">
                <a:solidFill>
                  <a:prstClr val="white"/>
                </a:solidFill>
                <a:latin typeface="Huawei Sans" panose="020C0503030203020204" pitchFamily="34" charset="0"/>
                <a:ea typeface="方正兰亭黑简体" panose="02000000000000000000" pitchFamily="2" charset="-122"/>
              </a:rPr>
              <a:t>使用</a:t>
            </a:r>
            <a:r>
              <a:rPr lang="en-US" altLang="zh-CN" sz="1700" b="1">
                <a:solidFill>
                  <a:prstClr val="white"/>
                </a:solidFill>
                <a:latin typeface="Huawei Sans" panose="020C0503030203020204" pitchFamily="34" charset="0"/>
                <a:ea typeface="方正兰亭黑简体" panose="02000000000000000000" pitchFamily="2" charset="-122"/>
              </a:rPr>
              <a:t>SSL/TLS</a:t>
            </a:r>
            <a:r>
              <a:rPr lang="zh-CN" altLang="en-US" sz="1700" b="1">
                <a:solidFill>
                  <a:prstClr val="white"/>
                </a:solidFill>
                <a:latin typeface="Huawei Sans" panose="020C0503030203020204" pitchFamily="34" charset="0"/>
                <a:ea typeface="方正兰亭黑简体" panose="02000000000000000000" pitchFamily="2" charset="-122"/>
              </a:rPr>
              <a:t>的</a:t>
            </a:r>
            <a:r>
              <a:rPr lang="en-US" altLang="zh-CN" sz="1700" b="1">
                <a:solidFill>
                  <a:prstClr val="white"/>
                </a:solidFill>
                <a:latin typeface="Huawei Sans" panose="020C0503030203020204" pitchFamily="34" charset="0"/>
                <a:ea typeface="方正兰亭黑简体" panose="02000000000000000000" pitchFamily="2" charset="-122"/>
              </a:rPr>
              <a:t>HTTPS</a:t>
            </a:r>
            <a:r>
              <a:rPr lang="zh-CN" altLang="en-US" sz="1700" b="1">
                <a:solidFill>
                  <a:prstClr val="white"/>
                </a:solidFill>
                <a:latin typeface="Huawei Sans" panose="020C0503030203020204" pitchFamily="34" charset="0"/>
                <a:ea typeface="方正兰亭黑简体" panose="02000000000000000000" pitchFamily="2" charset="-122"/>
              </a:rPr>
              <a:t>通信的</a:t>
            </a:r>
            <a:r>
              <a:rPr lang="zh-CN" altLang="en-US" b="1">
                <a:solidFill>
                  <a:prstClr val="white"/>
                </a:solidFill>
                <a:latin typeface="Huawei Sans" panose="020C0503030203020204" pitchFamily="34" charset="0"/>
                <a:ea typeface="方正兰亭黑简体" panose="02000000000000000000" pitchFamily="2" charset="-122"/>
              </a:rPr>
              <a:t>特点</a:t>
            </a:r>
            <a:endParaRPr lang="zh-CN" altLang="en-US" b="1" dirty="0">
              <a:solidFill>
                <a:prstClr val="white"/>
              </a:solidFill>
              <a:latin typeface="Huawei Sans" panose="020C0503030203020204" pitchFamily="34" charset="0"/>
              <a:ea typeface="方正兰亭黑简体" panose="02000000000000000000" pitchFamily="2" charset="-122"/>
            </a:endParaRPr>
          </a:p>
        </p:txBody>
      </p:sp>
      <p:sp>
        <p:nvSpPr>
          <p:cNvPr id="15" name="圆角矩形 75"/>
          <p:cNvSpPr/>
          <p:nvPr/>
        </p:nvSpPr>
        <p:spPr bwMode="gray">
          <a:xfrm>
            <a:off x="643488" y="2912968"/>
            <a:ext cx="5265153" cy="343141"/>
          </a:xfrm>
          <a:prstGeom prst="roundRect">
            <a:avLst>
              <a:gd name="adj" fmla="val 10604"/>
            </a:avLst>
          </a:prstGeom>
          <a:solidFill>
            <a:srgbClr val="30B5C5"/>
          </a:solidFill>
          <a:ln>
            <a:noFill/>
          </a:ln>
        </p:spPr>
        <p:txBody>
          <a:bodyPr wrap="square" rtlCol="0" anchor="ctr" anchorCtr="0">
            <a:noAutofit/>
          </a:bodyPr>
          <a:lstStyle/>
          <a:p>
            <a:pPr algn="ctr" fontAlgn="auto">
              <a:spcBef>
                <a:spcPts val="0"/>
              </a:spcBef>
              <a:spcAft>
                <a:spcPts val="0"/>
              </a:spcAft>
            </a:pPr>
            <a:r>
              <a:rPr lang="zh-CN" altLang="en-US" sz="1700" b="1" dirty="0">
                <a:solidFill>
                  <a:prstClr val="white"/>
                </a:solidFill>
                <a:latin typeface="Huawei Sans" panose="020C0503030203020204" pitchFamily="34" charset="0"/>
                <a:ea typeface="方正兰亭黑简体" panose="02000000000000000000" pitchFamily="2" charset="-122"/>
              </a:rPr>
              <a:t>不使用</a:t>
            </a:r>
            <a:r>
              <a:rPr lang="en-US" altLang="zh-CN" sz="1700" b="1" dirty="0">
                <a:solidFill>
                  <a:prstClr val="white"/>
                </a:solidFill>
                <a:latin typeface="Huawei Sans" panose="020C0503030203020204" pitchFamily="34" charset="0"/>
                <a:ea typeface="方正兰亭黑简体" panose="02000000000000000000" pitchFamily="2" charset="-122"/>
              </a:rPr>
              <a:t>SSL/TLS</a:t>
            </a:r>
            <a:r>
              <a:rPr lang="zh-CN" altLang="en-US" sz="1700" b="1" dirty="0">
                <a:solidFill>
                  <a:prstClr val="white"/>
                </a:solidFill>
                <a:latin typeface="Huawei Sans" panose="020C0503030203020204" pitchFamily="34" charset="0"/>
                <a:ea typeface="方正兰亭黑简体" panose="02000000000000000000" pitchFamily="2" charset="-122"/>
              </a:rPr>
              <a:t>的</a:t>
            </a:r>
            <a:r>
              <a:rPr lang="en-US" altLang="zh-CN" sz="1700" b="1" dirty="0">
                <a:solidFill>
                  <a:prstClr val="white"/>
                </a:solidFill>
                <a:latin typeface="Huawei Sans" panose="020C0503030203020204" pitchFamily="34" charset="0"/>
                <a:ea typeface="方正兰亭黑简体" panose="02000000000000000000" pitchFamily="2" charset="-122"/>
              </a:rPr>
              <a:t>HTTP</a:t>
            </a:r>
            <a:r>
              <a:rPr lang="zh-CN" altLang="en-US" sz="1700" b="1" dirty="0">
                <a:solidFill>
                  <a:prstClr val="white"/>
                </a:solidFill>
                <a:latin typeface="Huawei Sans" panose="020C0503030203020204" pitchFamily="34" charset="0"/>
                <a:ea typeface="方正兰亭黑简体" panose="02000000000000000000" pitchFamily="2" charset="-122"/>
              </a:rPr>
              <a:t>通信的风险</a:t>
            </a:r>
          </a:p>
        </p:txBody>
      </p:sp>
      <p:sp>
        <p:nvSpPr>
          <p:cNvPr id="16" name="圆角矩形 75"/>
          <p:cNvSpPr/>
          <p:nvPr/>
        </p:nvSpPr>
        <p:spPr bwMode="gray">
          <a:xfrm>
            <a:off x="6266355" y="3346651"/>
            <a:ext cx="5291928" cy="214700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圆角矩形 75"/>
          <p:cNvSpPr/>
          <p:nvPr/>
        </p:nvSpPr>
        <p:spPr bwMode="gray">
          <a:xfrm>
            <a:off x="656432" y="3346651"/>
            <a:ext cx="5252209" cy="214700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8" name="矩形 17"/>
          <p:cNvSpPr/>
          <p:nvPr/>
        </p:nvSpPr>
        <p:spPr bwMode="gray">
          <a:xfrm>
            <a:off x="691763" y="3501341"/>
            <a:ext cx="5181545" cy="1846659"/>
          </a:xfrm>
          <a:prstGeom prst="rect">
            <a:avLst/>
          </a:prstGeom>
          <a:noFill/>
        </p:spPr>
        <p:txBody>
          <a:bodyPr wrap="square" rtlCol="0">
            <a:spAutoFit/>
          </a:bodyPr>
          <a:lstStyle/>
          <a:p>
            <a:pPr marL="342900" indent="-342900" fontAlgn="auto">
              <a:lnSpc>
                <a:spcPct val="130000"/>
              </a:lnSpc>
              <a:spcBef>
                <a:spcPts val="0"/>
              </a:spcBef>
              <a:spcAft>
                <a:spcPts val="600"/>
              </a:spcAft>
              <a:buFont typeface="+mj-lt"/>
              <a:buAutoNum type="arabicPeriod"/>
            </a:pPr>
            <a:r>
              <a:rPr lang="zh-CN" altLang="en-US" sz="1600" dirty="0">
                <a:latin typeface="Huawei Sans" panose="020C0503030203020204" pitchFamily="34" charset="0"/>
                <a:ea typeface="方正兰亭黑简体" panose="02000000000000000000" pitchFamily="2" charset="-122"/>
              </a:rPr>
              <a:t>窃听风险（</a:t>
            </a:r>
            <a:r>
              <a:rPr lang="en-US" altLang="zh-CN" sz="1600" dirty="0">
                <a:latin typeface="Huawei Sans" panose="020C0503030203020204" pitchFamily="34" charset="0"/>
                <a:ea typeface="方正兰亭黑简体" panose="02000000000000000000" pitchFamily="2" charset="-122"/>
              </a:rPr>
              <a:t>eavesdropping</a:t>
            </a:r>
            <a:r>
              <a:rPr lang="zh-CN" altLang="en-US" sz="1600" dirty="0">
                <a:latin typeface="Huawei Sans" panose="020C0503030203020204" pitchFamily="34" charset="0"/>
                <a:ea typeface="方正兰亭黑简体" panose="02000000000000000000" pitchFamily="2" charset="-122"/>
              </a:rPr>
              <a:t>）：</a:t>
            </a:r>
            <a:r>
              <a:rPr lang="en-US" altLang="zh-CN" sz="1600" dirty="0"/>
              <a:t> HTTP</a:t>
            </a:r>
            <a:r>
              <a:rPr lang="zh-CN" altLang="en-US" sz="1600" dirty="0"/>
              <a:t>报文明文传输，</a:t>
            </a:r>
            <a:r>
              <a:rPr lang="zh-CN" altLang="en-US" sz="1600" dirty="0">
                <a:latin typeface="Huawei Sans" panose="020C0503030203020204" pitchFamily="34" charset="0"/>
                <a:ea typeface="方正兰亭黑简体" panose="02000000000000000000" pitchFamily="2" charset="-122"/>
              </a:rPr>
              <a:t>第三方可以获知通信数据。</a:t>
            </a:r>
          </a:p>
          <a:p>
            <a:pPr marL="342900" indent="-342900" fontAlgn="auto">
              <a:lnSpc>
                <a:spcPct val="130000"/>
              </a:lnSpc>
              <a:spcBef>
                <a:spcPts val="0"/>
              </a:spcBef>
              <a:spcAft>
                <a:spcPts val="600"/>
              </a:spcAft>
              <a:buFont typeface="+mj-lt"/>
              <a:buAutoNum type="arabicPeriod"/>
            </a:pPr>
            <a:r>
              <a:rPr lang="zh-CN" altLang="en-US" sz="1600" dirty="0">
                <a:latin typeface="Huawei Sans" panose="020C0503030203020204" pitchFamily="34" charset="0"/>
                <a:ea typeface="方正兰亭黑简体" panose="02000000000000000000" pitchFamily="2" charset="-122"/>
              </a:rPr>
              <a:t>篡改风险（</a:t>
            </a:r>
            <a:r>
              <a:rPr lang="en-US" altLang="zh-CN" sz="1600" dirty="0">
                <a:latin typeface="Huawei Sans" panose="020C0503030203020204" pitchFamily="34" charset="0"/>
                <a:ea typeface="方正兰亭黑简体" panose="02000000000000000000" pitchFamily="2" charset="-122"/>
              </a:rPr>
              <a:t>tampering</a:t>
            </a:r>
            <a:r>
              <a:rPr lang="zh-CN" altLang="en-US" sz="1600" dirty="0">
                <a:latin typeface="Huawei Sans" panose="020C0503030203020204" pitchFamily="34" charset="0"/>
                <a:ea typeface="方正兰亭黑简体" panose="02000000000000000000" pitchFamily="2" charset="-122"/>
              </a:rPr>
              <a:t>）：第三方可以修改通信内容。</a:t>
            </a:r>
          </a:p>
          <a:p>
            <a:pPr marL="342900" indent="-342900" fontAlgn="auto">
              <a:lnSpc>
                <a:spcPct val="130000"/>
              </a:lnSpc>
              <a:spcBef>
                <a:spcPts val="0"/>
              </a:spcBef>
              <a:spcAft>
                <a:spcPts val="600"/>
              </a:spcAft>
              <a:buFont typeface="+mj-lt"/>
              <a:buAutoNum type="arabicPeriod"/>
            </a:pPr>
            <a:r>
              <a:rPr lang="zh-CN" altLang="en-US" sz="1600" dirty="0">
                <a:latin typeface="Huawei Sans" panose="020C0503030203020204" pitchFamily="34" charset="0"/>
                <a:ea typeface="方正兰亭黑简体" panose="02000000000000000000" pitchFamily="2" charset="-122"/>
              </a:rPr>
              <a:t>冒充风险（</a:t>
            </a:r>
            <a:r>
              <a:rPr lang="en-US" altLang="zh-CN" sz="1600" dirty="0">
                <a:latin typeface="Huawei Sans" panose="020C0503030203020204" pitchFamily="34" charset="0"/>
                <a:ea typeface="方正兰亭黑简体" panose="02000000000000000000" pitchFamily="2" charset="-122"/>
              </a:rPr>
              <a:t>pretending</a:t>
            </a:r>
            <a:r>
              <a:rPr lang="zh-CN" altLang="en-US" sz="1600" dirty="0">
                <a:latin typeface="Huawei Sans" panose="020C0503030203020204" pitchFamily="34" charset="0"/>
                <a:ea typeface="方正兰亭黑简体" panose="02000000000000000000" pitchFamily="2" charset="-122"/>
              </a:rPr>
              <a:t>）：第三方可以冒充他人身份参与通信。</a:t>
            </a:r>
          </a:p>
        </p:txBody>
      </p:sp>
    </p:spTree>
    <p:extLst>
      <p:ext uri="{BB962C8B-B14F-4D97-AF65-F5344CB8AC3E}">
        <p14:creationId xmlns:p14="http://schemas.microsoft.com/office/powerpoint/2010/main" val="2314373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HTTP/2</a:t>
            </a:r>
            <a:r>
              <a:rPr lang="zh-CN" altLang="en-US"/>
              <a:t>简介</a:t>
            </a:r>
          </a:p>
        </p:txBody>
      </p:sp>
      <p:sp>
        <p:nvSpPr>
          <p:cNvPr id="6" name="文本占位符 5"/>
          <p:cNvSpPr>
            <a:spLocks noGrp="1"/>
          </p:cNvSpPr>
          <p:nvPr>
            <p:ph type="body" sz="quarter" idx="10"/>
          </p:nvPr>
        </p:nvSpPr>
        <p:spPr bwMode="gray"/>
        <p:txBody>
          <a:bodyPr/>
          <a:lstStyle/>
          <a:p>
            <a:r>
              <a:rPr lang="en-US" altLang="zh-CN" sz="1800" dirty="0"/>
              <a:t>HTTP/2</a:t>
            </a:r>
            <a:r>
              <a:rPr lang="zh-CN" altLang="en-US" sz="1800" dirty="0"/>
              <a:t>是</a:t>
            </a:r>
            <a:r>
              <a:rPr lang="en-US" altLang="zh-CN" sz="1800" dirty="0"/>
              <a:t>HTTP</a:t>
            </a:r>
            <a:r>
              <a:rPr lang="zh-CN" altLang="en-US" sz="1800" dirty="0"/>
              <a:t>协议的第二个主要版本，最初命名为</a:t>
            </a:r>
            <a:r>
              <a:rPr lang="en-US" altLang="zh-CN" sz="1800" dirty="0"/>
              <a:t>HTTP2.0</a:t>
            </a:r>
            <a:r>
              <a:rPr lang="zh-CN" altLang="en-US" sz="1800" dirty="0"/>
              <a:t>，主要基于</a:t>
            </a:r>
            <a:r>
              <a:rPr lang="en-US" altLang="zh-CN" sz="1800" dirty="0"/>
              <a:t>SPDY</a:t>
            </a:r>
            <a:r>
              <a:rPr lang="zh-CN" altLang="en-US" sz="1800" dirty="0"/>
              <a:t>协议。</a:t>
            </a:r>
          </a:p>
          <a:p>
            <a:r>
              <a:rPr lang="en-US" altLang="zh-CN" sz="1800" dirty="0"/>
              <a:t>HTTP2.0</a:t>
            </a:r>
            <a:r>
              <a:rPr lang="zh-CN" altLang="en-US" sz="1800" dirty="0"/>
              <a:t>的特点是：在不改动</a:t>
            </a:r>
            <a:r>
              <a:rPr lang="en-US" altLang="zh-CN" sz="1800" dirty="0"/>
              <a:t>HTTP</a:t>
            </a:r>
            <a:r>
              <a:rPr lang="zh-CN" altLang="en-US" sz="1800" dirty="0"/>
              <a:t>语义、方法、状态码、</a:t>
            </a:r>
            <a:r>
              <a:rPr lang="en-US" altLang="zh-CN" sz="1800" dirty="0"/>
              <a:t>URI</a:t>
            </a:r>
            <a:r>
              <a:rPr lang="zh-CN" altLang="en-US" sz="1800" dirty="0"/>
              <a:t>及首部字段的情况下，大幅度提高了</a:t>
            </a:r>
            <a:r>
              <a:rPr lang="en-US" altLang="zh-CN" sz="1800" dirty="0"/>
              <a:t>web</a:t>
            </a:r>
            <a:r>
              <a:rPr lang="zh-CN" altLang="en-US" sz="1800" dirty="0"/>
              <a:t>性能。</a:t>
            </a:r>
          </a:p>
          <a:p>
            <a:endParaRPr lang="zh-CN" altLang="en-US" sz="1800" dirty="0"/>
          </a:p>
        </p:txBody>
      </p:sp>
      <p:sp>
        <p:nvSpPr>
          <p:cNvPr id="3" name="内容占位符 2"/>
          <p:cNvSpPr txBox="1">
            <a:spLocks/>
          </p:cNvSpPr>
          <p:nvPr/>
        </p:nvSpPr>
        <p:spPr bwMode="gray">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600"/>
          </a:p>
        </p:txBody>
      </p:sp>
      <p:sp>
        <p:nvSpPr>
          <p:cNvPr id="7" name="文本占位符 3">
            <a:extLst>
              <a:ext uri="{FF2B5EF4-FFF2-40B4-BE49-F238E27FC236}">
                <a16:creationId xmlns:a16="http://schemas.microsoft.com/office/drawing/2014/main" id="{0AD84FAA-B1FC-4E83-9D3D-4342BE18F678}"/>
              </a:ext>
            </a:extLst>
          </p:cNvPr>
          <p:cNvSpPr txBox="1">
            <a:spLocks/>
          </p:cNvSpPr>
          <p:nvPr/>
        </p:nvSpPr>
        <p:spPr bwMode="gray">
          <a:xfrm>
            <a:off x="469900" y="1233488"/>
            <a:ext cx="10926233" cy="523262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8" name="文本框 6"/>
          <p:cNvSpPr txBox="1"/>
          <p:nvPr/>
        </p:nvSpPr>
        <p:spPr bwMode="gray">
          <a:xfrm>
            <a:off x="1704472" y="2576994"/>
            <a:ext cx="4159387" cy="3132744"/>
          </a:xfrm>
          <a:prstGeom prst="rect">
            <a:avLst/>
          </a:prstGeom>
          <a:solidFill>
            <a:schemeClr val="bg1">
              <a:lumMod val="20000"/>
              <a:lumOff val="80000"/>
              <a:alpha val="50000"/>
            </a:schemeClr>
          </a:solidFill>
          <a:ln w="9525" cap="flat" cmpd="sng" algn="ctr">
            <a:solidFill>
              <a:schemeClr val="bg1">
                <a:lumMod val="75000"/>
              </a:schemeClr>
            </a:solidFill>
            <a:prstDash val="solid"/>
          </a:ln>
          <a:effectLst/>
        </p:spPr>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3289">
              <a:defRPr/>
            </a:pPr>
            <a:endParaRPr lang="zh-CN" altLang="en-US" sz="17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bwMode="gray">
          <a:xfrm>
            <a:off x="1708408" y="2229968"/>
            <a:ext cx="4158924" cy="291616"/>
          </a:xfrm>
          <a:prstGeom prst="rect">
            <a:avLst/>
          </a:prstGeom>
          <a:solidFill>
            <a:srgbClr val="30B5C5"/>
          </a:solidFill>
          <a:ln w="25400" cap="flat" cmpd="sng" algn="ctr">
            <a:noFill/>
            <a:prstDash val="solid"/>
          </a:ln>
          <a:effectLst/>
        </p:spPr>
        <p:txBody>
          <a:bodyPr rtlCol="0" anchor="ctr"/>
          <a:lstStyle/>
          <a:p>
            <a:pPr algn="ctr" defTabSz="913289">
              <a:defRPr/>
            </a:pPr>
            <a:r>
              <a:rPr lang="en-US" altLang="zh-CN" sz="17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HTTP/1.1</a:t>
            </a:r>
            <a:endParaRPr lang="zh-CN" altLang="en-US" sz="17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 Box 11"/>
          <p:cNvSpPr txBox="1">
            <a:spLocks noChangeArrowheads="1"/>
          </p:cNvSpPr>
          <p:nvPr/>
        </p:nvSpPr>
        <p:spPr bwMode="gray">
          <a:xfrm>
            <a:off x="1708408" y="2685841"/>
            <a:ext cx="3683406" cy="781752"/>
          </a:xfrm>
          <a:prstGeom prst="rect">
            <a:avLst/>
          </a:prstGeom>
          <a:noFill/>
          <a:ln w="9525">
            <a:noFill/>
            <a:miter lim="800000"/>
            <a:headEnd/>
            <a:tailEnd/>
          </a:ln>
        </p:spPr>
        <p:txBody>
          <a:bodyPr wrap="square">
            <a:spAutoFit/>
          </a:bodyPr>
          <a:lstStyle/>
          <a:p>
            <a:pPr>
              <a:lnSpc>
                <a:spcPct val="60000"/>
              </a:lnSpc>
              <a:spcBef>
                <a:spcPct val="50000"/>
              </a:spcBef>
            </a:pPr>
            <a:r>
              <a:rPr lang="en-US" altLang="zh-CN" sz="16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Latency: 57ms</a:t>
            </a:r>
          </a:p>
          <a:p>
            <a:pPr>
              <a:lnSpc>
                <a:spcPct val="60000"/>
              </a:lnSpc>
              <a:spcBef>
                <a:spcPct val="50000"/>
              </a:spcBef>
            </a:pPr>
            <a:r>
              <a:rPr lang="en-US" altLang="zh-CN" sz="16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Load time: 7.84s</a:t>
            </a:r>
          </a:p>
          <a:p>
            <a:pPr>
              <a:lnSpc>
                <a:spcPct val="60000"/>
              </a:lnSpc>
              <a:spcBef>
                <a:spcPct val="50000"/>
              </a:spcBef>
            </a:pPr>
            <a:endParaRPr lang="en-US" altLang="zh-CN" sz="16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 name="Freeform 5"/>
          <p:cNvSpPr>
            <a:spLocks/>
          </p:cNvSpPr>
          <p:nvPr/>
        </p:nvSpPr>
        <p:spPr bwMode="gray">
          <a:xfrm>
            <a:off x="4455863" y="3740291"/>
            <a:ext cx="456504" cy="661839"/>
          </a:xfrm>
          <a:custGeom>
            <a:avLst/>
            <a:gdLst>
              <a:gd name="T0" fmla="*/ 37 w 105"/>
              <a:gd name="T1" fmla="*/ 152 h 152"/>
              <a:gd name="T2" fmla="*/ 105 w 105"/>
              <a:gd name="T3" fmla="*/ 152 h 152"/>
              <a:gd name="T4" fmla="*/ 55 w 105"/>
              <a:gd name="T5" fmla="*/ 0 h 152"/>
              <a:gd name="T6" fmla="*/ 0 w 105"/>
              <a:gd name="T7" fmla="*/ 40 h 152"/>
              <a:gd name="T8" fmla="*/ 37 w 105"/>
              <a:gd name="T9" fmla="*/ 152 h 152"/>
            </a:gdLst>
            <a:ahLst/>
            <a:cxnLst>
              <a:cxn ang="0">
                <a:pos x="T0" y="T1"/>
              </a:cxn>
              <a:cxn ang="0">
                <a:pos x="T2" y="T3"/>
              </a:cxn>
              <a:cxn ang="0">
                <a:pos x="T4" y="T5"/>
              </a:cxn>
              <a:cxn ang="0">
                <a:pos x="T6" y="T7"/>
              </a:cxn>
              <a:cxn ang="0">
                <a:pos x="T8" y="T9"/>
              </a:cxn>
            </a:cxnLst>
            <a:rect l="0" t="0" r="r" b="b"/>
            <a:pathLst>
              <a:path w="105" h="152">
                <a:moveTo>
                  <a:pt x="37" y="152"/>
                </a:moveTo>
                <a:cubicBezTo>
                  <a:pt x="105" y="152"/>
                  <a:pt x="105" y="152"/>
                  <a:pt x="105" y="152"/>
                </a:cubicBezTo>
                <a:cubicBezTo>
                  <a:pt x="105" y="96"/>
                  <a:pt x="86" y="43"/>
                  <a:pt x="55" y="0"/>
                </a:cubicBezTo>
                <a:cubicBezTo>
                  <a:pt x="0" y="40"/>
                  <a:pt x="0" y="40"/>
                  <a:pt x="0" y="40"/>
                </a:cubicBezTo>
                <a:cubicBezTo>
                  <a:pt x="23" y="72"/>
                  <a:pt x="37" y="110"/>
                  <a:pt x="37" y="152"/>
                </a:cubicBezTo>
                <a:close/>
              </a:path>
            </a:pathLst>
          </a:custGeom>
          <a:solidFill>
            <a:srgbClr val="BEE9EE"/>
          </a:solidFill>
          <a:ln w="3175" cap="flat">
            <a:solidFill>
              <a:srgbClr val="FFFFFF"/>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Freeform 6"/>
          <p:cNvSpPr>
            <a:spLocks/>
          </p:cNvSpPr>
          <p:nvPr/>
        </p:nvSpPr>
        <p:spPr bwMode="gray">
          <a:xfrm>
            <a:off x="3436521" y="5190470"/>
            <a:ext cx="696673" cy="341003"/>
          </a:xfrm>
          <a:custGeom>
            <a:avLst/>
            <a:gdLst>
              <a:gd name="T0" fmla="*/ 80 w 160"/>
              <a:gd name="T1" fmla="*/ 10 h 78"/>
              <a:gd name="T2" fmla="*/ 22 w 160"/>
              <a:gd name="T3" fmla="*/ 0 h 78"/>
              <a:gd name="T4" fmla="*/ 0 w 160"/>
              <a:gd name="T5" fmla="*/ 65 h 78"/>
              <a:gd name="T6" fmla="*/ 80 w 160"/>
              <a:gd name="T7" fmla="*/ 78 h 78"/>
              <a:gd name="T8" fmla="*/ 160 w 160"/>
              <a:gd name="T9" fmla="*/ 65 h 78"/>
              <a:gd name="T10" fmla="*/ 139 w 160"/>
              <a:gd name="T11" fmla="*/ 0 h 78"/>
              <a:gd name="T12" fmla="*/ 80 w 160"/>
              <a:gd name="T13" fmla="*/ 10 h 78"/>
            </a:gdLst>
            <a:ahLst/>
            <a:cxnLst>
              <a:cxn ang="0">
                <a:pos x="T0" y="T1"/>
              </a:cxn>
              <a:cxn ang="0">
                <a:pos x="T2" y="T3"/>
              </a:cxn>
              <a:cxn ang="0">
                <a:pos x="T4" y="T5"/>
              </a:cxn>
              <a:cxn ang="0">
                <a:pos x="T6" y="T7"/>
              </a:cxn>
              <a:cxn ang="0">
                <a:pos x="T8" y="T9"/>
              </a:cxn>
              <a:cxn ang="0">
                <a:pos x="T10" y="T11"/>
              </a:cxn>
              <a:cxn ang="0">
                <a:pos x="T12" y="T13"/>
              </a:cxn>
            </a:cxnLst>
            <a:rect l="0" t="0" r="r" b="b"/>
            <a:pathLst>
              <a:path w="160" h="78">
                <a:moveTo>
                  <a:pt x="80" y="10"/>
                </a:moveTo>
                <a:cubicBezTo>
                  <a:pt x="60" y="10"/>
                  <a:pt x="40" y="6"/>
                  <a:pt x="22" y="0"/>
                </a:cubicBezTo>
                <a:cubicBezTo>
                  <a:pt x="0" y="65"/>
                  <a:pt x="0" y="65"/>
                  <a:pt x="0" y="65"/>
                </a:cubicBezTo>
                <a:cubicBezTo>
                  <a:pt x="26" y="73"/>
                  <a:pt x="52" y="78"/>
                  <a:pt x="80" y="78"/>
                </a:cubicBezTo>
                <a:cubicBezTo>
                  <a:pt x="108" y="78"/>
                  <a:pt x="135" y="73"/>
                  <a:pt x="160" y="65"/>
                </a:cubicBezTo>
                <a:cubicBezTo>
                  <a:pt x="139" y="0"/>
                  <a:pt x="139" y="0"/>
                  <a:pt x="139" y="0"/>
                </a:cubicBezTo>
                <a:cubicBezTo>
                  <a:pt x="121" y="6"/>
                  <a:pt x="101" y="10"/>
                  <a:pt x="80" y="10"/>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Freeform 7"/>
          <p:cNvSpPr>
            <a:spLocks/>
          </p:cNvSpPr>
          <p:nvPr/>
        </p:nvSpPr>
        <p:spPr bwMode="gray">
          <a:xfrm>
            <a:off x="2873685" y="4889801"/>
            <a:ext cx="658173" cy="584838"/>
          </a:xfrm>
          <a:custGeom>
            <a:avLst/>
            <a:gdLst>
              <a:gd name="T0" fmla="*/ 55 w 151"/>
              <a:gd name="T1" fmla="*/ 0 h 134"/>
              <a:gd name="T2" fmla="*/ 0 w 151"/>
              <a:gd name="T3" fmla="*/ 40 h 134"/>
              <a:gd name="T4" fmla="*/ 129 w 151"/>
              <a:gd name="T5" fmla="*/ 134 h 134"/>
              <a:gd name="T6" fmla="*/ 151 w 151"/>
              <a:gd name="T7" fmla="*/ 69 h 134"/>
              <a:gd name="T8" fmla="*/ 55 w 151"/>
              <a:gd name="T9" fmla="*/ 0 h 134"/>
            </a:gdLst>
            <a:ahLst/>
            <a:cxnLst>
              <a:cxn ang="0">
                <a:pos x="T0" y="T1"/>
              </a:cxn>
              <a:cxn ang="0">
                <a:pos x="T2" y="T3"/>
              </a:cxn>
              <a:cxn ang="0">
                <a:pos x="T4" y="T5"/>
              </a:cxn>
              <a:cxn ang="0">
                <a:pos x="T6" y="T7"/>
              </a:cxn>
              <a:cxn ang="0">
                <a:pos x="T8" y="T9"/>
              </a:cxn>
            </a:cxnLst>
            <a:rect l="0" t="0" r="r" b="b"/>
            <a:pathLst>
              <a:path w="151" h="134">
                <a:moveTo>
                  <a:pt x="55" y="0"/>
                </a:moveTo>
                <a:cubicBezTo>
                  <a:pt x="0" y="40"/>
                  <a:pt x="0" y="40"/>
                  <a:pt x="0" y="40"/>
                </a:cubicBezTo>
                <a:cubicBezTo>
                  <a:pt x="32" y="84"/>
                  <a:pt x="77" y="117"/>
                  <a:pt x="129" y="134"/>
                </a:cubicBezTo>
                <a:cubicBezTo>
                  <a:pt x="151" y="69"/>
                  <a:pt x="151" y="69"/>
                  <a:pt x="151" y="69"/>
                </a:cubicBezTo>
                <a:cubicBezTo>
                  <a:pt x="112" y="57"/>
                  <a:pt x="79" y="32"/>
                  <a:pt x="55" y="0"/>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Freeform 8"/>
          <p:cNvSpPr>
            <a:spLocks/>
          </p:cNvSpPr>
          <p:nvPr/>
        </p:nvSpPr>
        <p:spPr bwMode="gray">
          <a:xfrm>
            <a:off x="4041527" y="4889801"/>
            <a:ext cx="652671" cy="584838"/>
          </a:xfrm>
          <a:custGeom>
            <a:avLst/>
            <a:gdLst>
              <a:gd name="T0" fmla="*/ 0 w 150"/>
              <a:gd name="T1" fmla="*/ 69 h 134"/>
              <a:gd name="T2" fmla="*/ 21 w 150"/>
              <a:gd name="T3" fmla="*/ 134 h 134"/>
              <a:gd name="T4" fmla="*/ 150 w 150"/>
              <a:gd name="T5" fmla="*/ 40 h 134"/>
              <a:gd name="T6" fmla="*/ 95 w 150"/>
              <a:gd name="T7" fmla="*/ 0 h 134"/>
              <a:gd name="T8" fmla="*/ 0 w 150"/>
              <a:gd name="T9" fmla="*/ 69 h 134"/>
            </a:gdLst>
            <a:ahLst/>
            <a:cxnLst>
              <a:cxn ang="0">
                <a:pos x="T0" y="T1"/>
              </a:cxn>
              <a:cxn ang="0">
                <a:pos x="T2" y="T3"/>
              </a:cxn>
              <a:cxn ang="0">
                <a:pos x="T4" y="T5"/>
              </a:cxn>
              <a:cxn ang="0">
                <a:pos x="T6" y="T7"/>
              </a:cxn>
              <a:cxn ang="0">
                <a:pos x="T8" y="T9"/>
              </a:cxn>
            </a:cxnLst>
            <a:rect l="0" t="0" r="r" b="b"/>
            <a:pathLst>
              <a:path w="150" h="134">
                <a:moveTo>
                  <a:pt x="0" y="69"/>
                </a:moveTo>
                <a:cubicBezTo>
                  <a:pt x="21" y="134"/>
                  <a:pt x="21" y="134"/>
                  <a:pt x="21" y="134"/>
                </a:cubicBezTo>
                <a:cubicBezTo>
                  <a:pt x="74" y="117"/>
                  <a:pt x="119" y="84"/>
                  <a:pt x="150" y="40"/>
                </a:cubicBezTo>
                <a:cubicBezTo>
                  <a:pt x="95" y="0"/>
                  <a:pt x="95" y="0"/>
                  <a:pt x="95" y="0"/>
                </a:cubicBezTo>
                <a:cubicBezTo>
                  <a:pt x="72" y="32"/>
                  <a:pt x="39" y="57"/>
                  <a:pt x="0" y="69"/>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Freeform 9"/>
          <p:cNvSpPr>
            <a:spLocks/>
          </p:cNvSpPr>
          <p:nvPr/>
        </p:nvSpPr>
        <p:spPr bwMode="gray">
          <a:xfrm>
            <a:off x="4455863" y="4402131"/>
            <a:ext cx="456504" cy="661839"/>
          </a:xfrm>
          <a:custGeom>
            <a:avLst/>
            <a:gdLst>
              <a:gd name="T0" fmla="*/ 37 w 105"/>
              <a:gd name="T1" fmla="*/ 0 h 152"/>
              <a:gd name="T2" fmla="*/ 0 w 105"/>
              <a:gd name="T3" fmla="*/ 112 h 152"/>
              <a:gd name="T4" fmla="*/ 55 w 105"/>
              <a:gd name="T5" fmla="*/ 152 h 152"/>
              <a:gd name="T6" fmla="*/ 105 w 105"/>
              <a:gd name="T7" fmla="*/ 0 h 152"/>
              <a:gd name="T8" fmla="*/ 37 w 105"/>
              <a:gd name="T9" fmla="*/ 0 h 152"/>
            </a:gdLst>
            <a:ahLst/>
            <a:cxnLst>
              <a:cxn ang="0">
                <a:pos x="T0" y="T1"/>
              </a:cxn>
              <a:cxn ang="0">
                <a:pos x="T2" y="T3"/>
              </a:cxn>
              <a:cxn ang="0">
                <a:pos x="T4" y="T5"/>
              </a:cxn>
              <a:cxn ang="0">
                <a:pos x="T6" y="T7"/>
              </a:cxn>
              <a:cxn ang="0">
                <a:pos x="T8" y="T9"/>
              </a:cxn>
            </a:cxnLst>
            <a:rect l="0" t="0" r="r" b="b"/>
            <a:pathLst>
              <a:path w="105" h="152">
                <a:moveTo>
                  <a:pt x="37" y="0"/>
                </a:moveTo>
                <a:cubicBezTo>
                  <a:pt x="37" y="42"/>
                  <a:pt x="23" y="81"/>
                  <a:pt x="0" y="112"/>
                </a:cubicBezTo>
                <a:cubicBezTo>
                  <a:pt x="55" y="152"/>
                  <a:pt x="55" y="152"/>
                  <a:pt x="55" y="152"/>
                </a:cubicBezTo>
                <a:cubicBezTo>
                  <a:pt x="86" y="110"/>
                  <a:pt x="105" y="57"/>
                  <a:pt x="105" y="0"/>
                </a:cubicBezTo>
                <a:lnTo>
                  <a:pt x="37" y="0"/>
                </a:lnTo>
                <a:close/>
              </a:path>
            </a:pathLst>
          </a:custGeom>
          <a:solidFill>
            <a:srgbClr val="BEE9EE"/>
          </a:solidFill>
          <a:ln w="3175" cap="flat">
            <a:solidFill>
              <a:srgbClr val="FFFFFF"/>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Freeform 10"/>
          <p:cNvSpPr>
            <a:spLocks/>
          </p:cNvSpPr>
          <p:nvPr/>
        </p:nvSpPr>
        <p:spPr bwMode="gray">
          <a:xfrm>
            <a:off x="2661016" y="3740291"/>
            <a:ext cx="452837" cy="661839"/>
          </a:xfrm>
          <a:custGeom>
            <a:avLst/>
            <a:gdLst>
              <a:gd name="T0" fmla="*/ 104 w 104"/>
              <a:gd name="T1" fmla="*/ 40 h 152"/>
              <a:gd name="T2" fmla="*/ 49 w 104"/>
              <a:gd name="T3" fmla="*/ 0 h 152"/>
              <a:gd name="T4" fmla="*/ 0 w 104"/>
              <a:gd name="T5" fmla="*/ 152 h 152"/>
              <a:gd name="T6" fmla="*/ 68 w 104"/>
              <a:gd name="T7" fmla="*/ 152 h 152"/>
              <a:gd name="T8" fmla="*/ 104 w 104"/>
              <a:gd name="T9" fmla="*/ 40 h 152"/>
            </a:gdLst>
            <a:ahLst/>
            <a:cxnLst>
              <a:cxn ang="0">
                <a:pos x="T0" y="T1"/>
              </a:cxn>
              <a:cxn ang="0">
                <a:pos x="T2" y="T3"/>
              </a:cxn>
              <a:cxn ang="0">
                <a:pos x="T4" y="T5"/>
              </a:cxn>
              <a:cxn ang="0">
                <a:pos x="T6" y="T7"/>
              </a:cxn>
              <a:cxn ang="0">
                <a:pos x="T8" y="T9"/>
              </a:cxn>
            </a:cxnLst>
            <a:rect l="0" t="0" r="r" b="b"/>
            <a:pathLst>
              <a:path w="104" h="152">
                <a:moveTo>
                  <a:pt x="104" y="40"/>
                </a:moveTo>
                <a:cubicBezTo>
                  <a:pt x="49" y="0"/>
                  <a:pt x="49" y="0"/>
                  <a:pt x="49" y="0"/>
                </a:cubicBezTo>
                <a:cubicBezTo>
                  <a:pt x="18" y="43"/>
                  <a:pt x="0" y="96"/>
                  <a:pt x="0" y="152"/>
                </a:cubicBezTo>
                <a:cubicBezTo>
                  <a:pt x="68" y="152"/>
                  <a:pt x="68" y="152"/>
                  <a:pt x="68" y="152"/>
                </a:cubicBezTo>
                <a:cubicBezTo>
                  <a:pt x="68" y="110"/>
                  <a:pt x="82" y="72"/>
                  <a:pt x="104" y="40"/>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11"/>
          <p:cNvSpPr>
            <a:spLocks/>
          </p:cNvSpPr>
          <p:nvPr/>
        </p:nvSpPr>
        <p:spPr bwMode="gray">
          <a:xfrm>
            <a:off x="2873685" y="3335122"/>
            <a:ext cx="658173" cy="579338"/>
          </a:xfrm>
          <a:custGeom>
            <a:avLst/>
            <a:gdLst>
              <a:gd name="T0" fmla="*/ 151 w 151"/>
              <a:gd name="T1" fmla="*/ 64 h 133"/>
              <a:gd name="T2" fmla="*/ 129 w 151"/>
              <a:gd name="T3" fmla="*/ 0 h 133"/>
              <a:gd name="T4" fmla="*/ 0 w 151"/>
              <a:gd name="T5" fmla="*/ 93 h 133"/>
              <a:gd name="T6" fmla="*/ 55 w 151"/>
              <a:gd name="T7" fmla="*/ 133 h 133"/>
              <a:gd name="T8" fmla="*/ 151 w 151"/>
              <a:gd name="T9" fmla="*/ 64 h 133"/>
            </a:gdLst>
            <a:ahLst/>
            <a:cxnLst>
              <a:cxn ang="0">
                <a:pos x="T0" y="T1"/>
              </a:cxn>
              <a:cxn ang="0">
                <a:pos x="T2" y="T3"/>
              </a:cxn>
              <a:cxn ang="0">
                <a:pos x="T4" y="T5"/>
              </a:cxn>
              <a:cxn ang="0">
                <a:pos x="T6" y="T7"/>
              </a:cxn>
              <a:cxn ang="0">
                <a:pos x="T8" y="T9"/>
              </a:cxn>
            </a:cxnLst>
            <a:rect l="0" t="0" r="r" b="b"/>
            <a:pathLst>
              <a:path w="151" h="133">
                <a:moveTo>
                  <a:pt x="151" y="64"/>
                </a:moveTo>
                <a:cubicBezTo>
                  <a:pt x="129" y="0"/>
                  <a:pt x="129" y="0"/>
                  <a:pt x="129" y="0"/>
                </a:cubicBezTo>
                <a:cubicBezTo>
                  <a:pt x="77" y="17"/>
                  <a:pt x="32" y="50"/>
                  <a:pt x="0" y="93"/>
                </a:cubicBezTo>
                <a:cubicBezTo>
                  <a:pt x="55" y="133"/>
                  <a:pt x="55" y="133"/>
                  <a:pt x="55" y="133"/>
                </a:cubicBezTo>
                <a:cubicBezTo>
                  <a:pt x="79" y="101"/>
                  <a:pt x="112" y="77"/>
                  <a:pt x="151" y="64"/>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12"/>
          <p:cNvSpPr>
            <a:spLocks/>
          </p:cNvSpPr>
          <p:nvPr/>
        </p:nvSpPr>
        <p:spPr bwMode="gray">
          <a:xfrm>
            <a:off x="2661016" y="4402131"/>
            <a:ext cx="452837" cy="661839"/>
          </a:xfrm>
          <a:custGeom>
            <a:avLst/>
            <a:gdLst>
              <a:gd name="T0" fmla="*/ 68 w 104"/>
              <a:gd name="T1" fmla="*/ 0 h 152"/>
              <a:gd name="T2" fmla="*/ 0 w 104"/>
              <a:gd name="T3" fmla="*/ 0 h 152"/>
              <a:gd name="T4" fmla="*/ 49 w 104"/>
              <a:gd name="T5" fmla="*/ 152 h 152"/>
              <a:gd name="T6" fmla="*/ 104 w 104"/>
              <a:gd name="T7" fmla="*/ 112 h 152"/>
              <a:gd name="T8" fmla="*/ 68 w 104"/>
              <a:gd name="T9" fmla="*/ 0 h 152"/>
            </a:gdLst>
            <a:ahLst/>
            <a:cxnLst>
              <a:cxn ang="0">
                <a:pos x="T0" y="T1"/>
              </a:cxn>
              <a:cxn ang="0">
                <a:pos x="T2" y="T3"/>
              </a:cxn>
              <a:cxn ang="0">
                <a:pos x="T4" y="T5"/>
              </a:cxn>
              <a:cxn ang="0">
                <a:pos x="T6" y="T7"/>
              </a:cxn>
              <a:cxn ang="0">
                <a:pos x="T8" y="T9"/>
              </a:cxn>
            </a:cxnLst>
            <a:rect l="0" t="0" r="r" b="b"/>
            <a:pathLst>
              <a:path w="104" h="152">
                <a:moveTo>
                  <a:pt x="68" y="0"/>
                </a:moveTo>
                <a:cubicBezTo>
                  <a:pt x="0" y="0"/>
                  <a:pt x="0" y="0"/>
                  <a:pt x="0" y="0"/>
                </a:cubicBezTo>
                <a:cubicBezTo>
                  <a:pt x="0" y="57"/>
                  <a:pt x="18" y="110"/>
                  <a:pt x="49" y="152"/>
                </a:cubicBezTo>
                <a:cubicBezTo>
                  <a:pt x="104" y="112"/>
                  <a:pt x="104" y="112"/>
                  <a:pt x="104" y="112"/>
                </a:cubicBezTo>
                <a:cubicBezTo>
                  <a:pt x="82" y="81"/>
                  <a:pt x="68" y="42"/>
                  <a:pt x="68" y="0"/>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Freeform 13"/>
          <p:cNvSpPr>
            <a:spLocks/>
          </p:cNvSpPr>
          <p:nvPr/>
        </p:nvSpPr>
        <p:spPr bwMode="gray">
          <a:xfrm>
            <a:off x="3436521" y="3278288"/>
            <a:ext cx="696673" cy="335504"/>
          </a:xfrm>
          <a:custGeom>
            <a:avLst/>
            <a:gdLst>
              <a:gd name="T0" fmla="*/ 80 w 160"/>
              <a:gd name="T1" fmla="*/ 68 h 77"/>
              <a:gd name="T2" fmla="*/ 139 w 160"/>
              <a:gd name="T3" fmla="*/ 77 h 77"/>
              <a:gd name="T4" fmla="*/ 160 w 160"/>
              <a:gd name="T5" fmla="*/ 13 h 77"/>
              <a:gd name="T6" fmla="*/ 80 w 160"/>
              <a:gd name="T7" fmla="*/ 0 h 77"/>
              <a:gd name="T8" fmla="*/ 0 w 160"/>
              <a:gd name="T9" fmla="*/ 13 h 77"/>
              <a:gd name="T10" fmla="*/ 22 w 160"/>
              <a:gd name="T11" fmla="*/ 77 h 77"/>
              <a:gd name="T12" fmla="*/ 80 w 160"/>
              <a:gd name="T13" fmla="*/ 68 h 77"/>
            </a:gdLst>
            <a:ahLst/>
            <a:cxnLst>
              <a:cxn ang="0">
                <a:pos x="T0" y="T1"/>
              </a:cxn>
              <a:cxn ang="0">
                <a:pos x="T2" y="T3"/>
              </a:cxn>
              <a:cxn ang="0">
                <a:pos x="T4" y="T5"/>
              </a:cxn>
              <a:cxn ang="0">
                <a:pos x="T6" y="T7"/>
              </a:cxn>
              <a:cxn ang="0">
                <a:pos x="T8" y="T9"/>
              </a:cxn>
              <a:cxn ang="0">
                <a:pos x="T10" y="T11"/>
              </a:cxn>
              <a:cxn ang="0">
                <a:pos x="T12" y="T13"/>
              </a:cxn>
            </a:cxnLst>
            <a:rect l="0" t="0" r="r" b="b"/>
            <a:pathLst>
              <a:path w="160" h="77">
                <a:moveTo>
                  <a:pt x="80" y="68"/>
                </a:moveTo>
                <a:cubicBezTo>
                  <a:pt x="101" y="68"/>
                  <a:pt x="121" y="71"/>
                  <a:pt x="139" y="77"/>
                </a:cubicBezTo>
                <a:cubicBezTo>
                  <a:pt x="160" y="13"/>
                  <a:pt x="160" y="13"/>
                  <a:pt x="160" y="13"/>
                </a:cubicBezTo>
                <a:cubicBezTo>
                  <a:pt x="135" y="4"/>
                  <a:pt x="108" y="0"/>
                  <a:pt x="80" y="0"/>
                </a:cubicBezTo>
                <a:cubicBezTo>
                  <a:pt x="52" y="0"/>
                  <a:pt x="26" y="4"/>
                  <a:pt x="0" y="13"/>
                </a:cubicBezTo>
                <a:cubicBezTo>
                  <a:pt x="22" y="77"/>
                  <a:pt x="22" y="77"/>
                  <a:pt x="22" y="77"/>
                </a:cubicBezTo>
                <a:cubicBezTo>
                  <a:pt x="40" y="71"/>
                  <a:pt x="60" y="68"/>
                  <a:pt x="80" y="68"/>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Freeform 14"/>
          <p:cNvSpPr>
            <a:spLocks/>
          </p:cNvSpPr>
          <p:nvPr/>
        </p:nvSpPr>
        <p:spPr bwMode="gray">
          <a:xfrm>
            <a:off x="4041527" y="3335122"/>
            <a:ext cx="652671" cy="579338"/>
          </a:xfrm>
          <a:custGeom>
            <a:avLst/>
            <a:gdLst>
              <a:gd name="T0" fmla="*/ 95 w 150"/>
              <a:gd name="T1" fmla="*/ 133 h 133"/>
              <a:gd name="T2" fmla="*/ 150 w 150"/>
              <a:gd name="T3" fmla="*/ 93 h 133"/>
              <a:gd name="T4" fmla="*/ 21 w 150"/>
              <a:gd name="T5" fmla="*/ 0 h 133"/>
              <a:gd name="T6" fmla="*/ 0 w 150"/>
              <a:gd name="T7" fmla="*/ 64 h 133"/>
              <a:gd name="T8" fmla="*/ 95 w 150"/>
              <a:gd name="T9" fmla="*/ 133 h 133"/>
            </a:gdLst>
            <a:ahLst/>
            <a:cxnLst>
              <a:cxn ang="0">
                <a:pos x="T0" y="T1"/>
              </a:cxn>
              <a:cxn ang="0">
                <a:pos x="T2" y="T3"/>
              </a:cxn>
              <a:cxn ang="0">
                <a:pos x="T4" y="T5"/>
              </a:cxn>
              <a:cxn ang="0">
                <a:pos x="T6" y="T7"/>
              </a:cxn>
              <a:cxn ang="0">
                <a:pos x="T8" y="T9"/>
              </a:cxn>
            </a:cxnLst>
            <a:rect l="0" t="0" r="r" b="b"/>
            <a:pathLst>
              <a:path w="150" h="133">
                <a:moveTo>
                  <a:pt x="95" y="133"/>
                </a:moveTo>
                <a:cubicBezTo>
                  <a:pt x="150" y="93"/>
                  <a:pt x="150" y="93"/>
                  <a:pt x="150" y="93"/>
                </a:cubicBezTo>
                <a:cubicBezTo>
                  <a:pt x="119" y="50"/>
                  <a:pt x="74" y="17"/>
                  <a:pt x="21" y="0"/>
                </a:cubicBezTo>
                <a:cubicBezTo>
                  <a:pt x="0" y="64"/>
                  <a:pt x="0" y="64"/>
                  <a:pt x="0" y="64"/>
                </a:cubicBezTo>
                <a:cubicBezTo>
                  <a:pt x="39" y="77"/>
                  <a:pt x="72" y="101"/>
                  <a:pt x="95" y="133"/>
                </a:cubicBezTo>
                <a:close/>
              </a:path>
            </a:pathLst>
          </a:custGeom>
          <a:solidFill>
            <a:srgbClr val="BEE9EE"/>
          </a:solidFill>
          <a:ln w="3175" cap="flat">
            <a:solidFill>
              <a:srgbClr val="FFFFFF"/>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 Box 11"/>
          <p:cNvSpPr txBox="1">
            <a:spLocks noChangeArrowheads="1"/>
          </p:cNvSpPr>
          <p:nvPr/>
        </p:nvSpPr>
        <p:spPr bwMode="gray">
          <a:xfrm>
            <a:off x="2827235" y="4179208"/>
            <a:ext cx="1940132" cy="645886"/>
          </a:xfrm>
          <a:prstGeom prst="rect">
            <a:avLst/>
          </a:prstGeom>
          <a:noFill/>
          <a:ln w="9525">
            <a:noFill/>
            <a:miter lim="800000"/>
            <a:headEnd/>
            <a:tailEnd/>
          </a:ln>
        </p:spPr>
        <p:txBody>
          <a:bodyPr wrap="square">
            <a:spAutoFit/>
          </a:bodyPr>
          <a:lstStyle/>
          <a:p>
            <a:pPr algn="ctr" defTabSz="914034" fontAlgn="base">
              <a:lnSpc>
                <a:spcPct val="60000"/>
              </a:lnSpc>
              <a:spcBef>
                <a:spcPct val="50000"/>
              </a:spcBef>
              <a:spcAft>
                <a:spcPct val="0"/>
              </a:spcAft>
            </a:pPr>
            <a:r>
              <a:rPr lang="en-US" altLang="zh-CN" sz="5998" dirty="0">
                <a:solidFill>
                  <a:schemeClr val="dk1">
                    <a:lumMod val="50000"/>
                  </a:scheme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30</a:t>
            </a:r>
            <a:r>
              <a:rPr lang="en-US" altLang="zh-CN" sz="2799" dirty="0">
                <a:solidFill>
                  <a:schemeClr val="dk1">
                    <a:lumMod val="50000"/>
                  </a:scheme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endParaRPr lang="en-US" altLang="zh-CN" sz="5998" dirty="0">
              <a:solidFill>
                <a:schemeClr val="dk1">
                  <a:lumMod val="50000"/>
                </a:scheme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4" name="文本框 6"/>
          <p:cNvSpPr txBox="1"/>
          <p:nvPr/>
        </p:nvSpPr>
        <p:spPr bwMode="gray">
          <a:xfrm>
            <a:off x="6348358" y="2583586"/>
            <a:ext cx="4159387" cy="3132744"/>
          </a:xfrm>
          <a:prstGeom prst="rect">
            <a:avLst/>
          </a:prstGeom>
          <a:solidFill>
            <a:schemeClr val="bg1">
              <a:lumMod val="20000"/>
              <a:lumOff val="80000"/>
              <a:alpha val="50000"/>
            </a:schemeClr>
          </a:solidFill>
          <a:ln w="9525" cap="flat" cmpd="sng" algn="ctr">
            <a:solidFill>
              <a:schemeClr val="bg1">
                <a:lumMod val="75000"/>
              </a:schemeClr>
            </a:solidFill>
            <a:prstDash val="solid"/>
          </a:ln>
          <a:effectLst/>
        </p:spPr>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3289">
              <a:defRPr/>
            </a:pPr>
            <a:endParaRPr lang="zh-CN" altLang="en-US" sz="1799"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6352294" y="2236560"/>
            <a:ext cx="4158924" cy="291616"/>
          </a:xfrm>
          <a:prstGeom prst="rect">
            <a:avLst/>
          </a:prstGeom>
          <a:solidFill>
            <a:srgbClr val="30B5C5"/>
          </a:solidFill>
          <a:ln w="25400" cap="flat" cmpd="sng" algn="ctr">
            <a:noFill/>
            <a:prstDash val="solid"/>
          </a:ln>
          <a:effectLst/>
        </p:spPr>
        <p:txBody>
          <a:bodyPr rtlCol="0" anchor="ctr"/>
          <a:lstStyle/>
          <a:p>
            <a:pPr algn="ctr" defTabSz="913289">
              <a:defRPr/>
            </a:pPr>
            <a:r>
              <a:rPr lang="en-US" altLang="zh-CN" sz="17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HTTP/2</a:t>
            </a:r>
            <a:endParaRPr lang="zh-CN" altLang="en-US" sz="17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 Box 11"/>
          <p:cNvSpPr txBox="1">
            <a:spLocks noChangeArrowheads="1"/>
          </p:cNvSpPr>
          <p:nvPr/>
        </p:nvSpPr>
        <p:spPr bwMode="gray">
          <a:xfrm>
            <a:off x="6352294" y="2692433"/>
            <a:ext cx="3683406" cy="781752"/>
          </a:xfrm>
          <a:prstGeom prst="rect">
            <a:avLst/>
          </a:prstGeom>
          <a:noFill/>
          <a:ln w="9525">
            <a:noFill/>
            <a:miter lim="800000"/>
            <a:headEnd/>
            <a:tailEnd/>
          </a:ln>
        </p:spPr>
        <p:txBody>
          <a:bodyPr wrap="square">
            <a:spAutoFit/>
          </a:bodyPr>
          <a:lstStyle/>
          <a:p>
            <a:pPr>
              <a:lnSpc>
                <a:spcPct val="60000"/>
              </a:lnSpc>
              <a:spcBef>
                <a:spcPct val="50000"/>
              </a:spcBef>
            </a:pPr>
            <a:r>
              <a:rPr lang="en-US" altLang="zh-CN" sz="16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Latency: 38ms</a:t>
            </a:r>
          </a:p>
          <a:p>
            <a:pPr>
              <a:lnSpc>
                <a:spcPct val="60000"/>
              </a:lnSpc>
              <a:spcBef>
                <a:spcPct val="50000"/>
              </a:spcBef>
            </a:pPr>
            <a:r>
              <a:rPr lang="en-US" altLang="zh-CN" sz="16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Load time: 3.6s</a:t>
            </a:r>
          </a:p>
          <a:p>
            <a:pPr>
              <a:lnSpc>
                <a:spcPct val="60000"/>
              </a:lnSpc>
              <a:spcBef>
                <a:spcPct val="50000"/>
              </a:spcBef>
            </a:pPr>
            <a:endParaRPr lang="en-US" altLang="zh-CN" sz="16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8" name="Freeform 5"/>
          <p:cNvSpPr>
            <a:spLocks/>
          </p:cNvSpPr>
          <p:nvPr/>
        </p:nvSpPr>
        <p:spPr bwMode="gray">
          <a:xfrm>
            <a:off x="9099749" y="3746883"/>
            <a:ext cx="456504" cy="661839"/>
          </a:xfrm>
          <a:custGeom>
            <a:avLst/>
            <a:gdLst>
              <a:gd name="T0" fmla="*/ 37 w 105"/>
              <a:gd name="T1" fmla="*/ 152 h 152"/>
              <a:gd name="T2" fmla="*/ 105 w 105"/>
              <a:gd name="T3" fmla="*/ 152 h 152"/>
              <a:gd name="T4" fmla="*/ 55 w 105"/>
              <a:gd name="T5" fmla="*/ 0 h 152"/>
              <a:gd name="T6" fmla="*/ 0 w 105"/>
              <a:gd name="T7" fmla="*/ 40 h 152"/>
              <a:gd name="T8" fmla="*/ 37 w 105"/>
              <a:gd name="T9" fmla="*/ 152 h 152"/>
            </a:gdLst>
            <a:ahLst/>
            <a:cxnLst>
              <a:cxn ang="0">
                <a:pos x="T0" y="T1"/>
              </a:cxn>
              <a:cxn ang="0">
                <a:pos x="T2" y="T3"/>
              </a:cxn>
              <a:cxn ang="0">
                <a:pos x="T4" y="T5"/>
              </a:cxn>
              <a:cxn ang="0">
                <a:pos x="T6" y="T7"/>
              </a:cxn>
              <a:cxn ang="0">
                <a:pos x="T8" y="T9"/>
              </a:cxn>
            </a:cxnLst>
            <a:rect l="0" t="0" r="r" b="b"/>
            <a:pathLst>
              <a:path w="105" h="152">
                <a:moveTo>
                  <a:pt x="37" y="152"/>
                </a:moveTo>
                <a:cubicBezTo>
                  <a:pt x="105" y="152"/>
                  <a:pt x="105" y="152"/>
                  <a:pt x="105" y="152"/>
                </a:cubicBezTo>
                <a:cubicBezTo>
                  <a:pt x="105" y="96"/>
                  <a:pt x="86" y="43"/>
                  <a:pt x="55" y="0"/>
                </a:cubicBezTo>
                <a:cubicBezTo>
                  <a:pt x="0" y="40"/>
                  <a:pt x="0" y="40"/>
                  <a:pt x="0" y="40"/>
                </a:cubicBezTo>
                <a:cubicBezTo>
                  <a:pt x="23" y="72"/>
                  <a:pt x="37" y="110"/>
                  <a:pt x="37" y="152"/>
                </a:cubicBezTo>
                <a:close/>
              </a:path>
            </a:pathLst>
          </a:custGeom>
          <a:solidFill>
            <a:srgbClr val="BEE9EE"/>
          </a:solidFill>
          <a:ln w="3175" cap="flat">
            <a:solidFill>
              <a:srgbClr val="FFFFFF"/>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Freeform 6"/>
          <p:cNvSpPr>
            <a:spLocks/>
          </p:cNvSpPr>
          <p:nvPr/>
        </p:nvSpPr>
        <p:spPr bwMode="gray">
          <a:xfrm>
            <a:off x="8080407" y="5197062"/>
            <a:ext cx="696673" cy="341003"/>
          </a:xfrm>
          <a:custGeom>
            <a:avLst/>
            <a:gdLst>
              <a:gd name="T0" fmla="*/ 80 w 160"/>
              <a:gd name="T1" fmla="*/ 10 h 78"/>
              <a:gd name="T2" fmla="*/ 22 w 160"/>
              <a:gd name="T3" fmla="*/ 0 h 78"/>
              <a:gd name="T4" fmla="*/ 0 w 160"/>
              <a:gd name="T5" fmla="*/ 65 h 78"/>
              <a:gd name="T6" fmla="*/ 80 w 160"/>
              <a:gd name="T7" fmla="*/ 78 h 78"/>
              <a:gd name="T8" fmla="*/ 160 w 160"/>
              <a:gd name="T9" fmla="*/ 65 h 78"/>
              <a:gd name="T10" fmla="*/ 139 w 160"/>
              <a:gd name="T11" fmla="*/ 0 h 78"/>
              <a:gd name="T12" fmla="*/ 80 w 160"/>
              <a:gd name="T13" fmla="*/ 10 h 78"/>
            </a:gdLst>
            <a:ahLst/>
            <a:cxnLst>
              <a:cxn ang="0">
                <a:pos x="T0" y="T1"/>
              </a:cxn>
              <a:cxn ang="0">
                <a:pos x="T2" y="T3"/>
              </a:cxn>
              <a:cxn ang="0">
                <a:pos x="T4" y="T5"/>
              </a:cxn>
              <a:cxn ang="0">
                <a:pos x="T6" y="T7"/>
              </a:cxn>
              <a:cxn ang="0">
                <a:pos x="T8" y="T9"/>
              </a:cxn>
              <a:cxn ang="0">
                <a:pos x="T10" y="T11"/>
              </a:cxn>
              <a:cxn ang="0">
                <a:pos x="T12" y="T13"/>
              </a:cxn>
            </a:cxnLst>
            <a:rect l="0" t="0" r="r" b="b"/>
            <a:pathLst>
              <a:path w="160" h="78">
                <a:moveTo>
                  <a:pt x="80" y="10"/>
                </a:moveTo>
                <a:cubicBezTo>
                  <a:pt x="60" y="10"/>
                  <a:pt x="40" y="6"/>
                  <a:pt x="22" y="0"/>
                </a:cubicBezTo>
                <a:cubicBezTo>
                  <a:pt x="0" y="65"/>
                  <a:pt x="0" y="65"/>
                  <a:pt x="0" y="65"/>
                </a:cubicBezTo>
                <a:cubicBezTo>
                  <a:pt x="26" y="73"/>
                  <a:pt x="52" y="78"/>
                  <a:pt x="80" y="78"/>
                </a:cubicBezTo>
                <a:cubicBezTo>
                  <a:pt x="108" y="78"/>
                  <a:pt x="135" y="73"/>
                  <a:pt x="160" y="65"/>
                </a:cubicBezTo>
                <a:cubicBezTo>
                  <a:pt x="139" y="0"/>
                  <a:pt x="139" y="0"/>
                  <a:pt x="139" y="0"/>
                </a:cubicBezTo>
                <a:cubicBezTo>
                  <a:pt x="121" y="6"/>
                  <a:pt x="101" y="10"/>
                  <a:pt x="80" y="10"/>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Freeform 7"/>
          <p:cNvSpPr>
            <a:spLocks/>
          </p:cNvSpPr>
          <p:nvPr/>
        </p:nvSpPr>
        <p:spPr bwMode="gray">
          <a:xfrm>
            <a:off x="7517571" y="4896393"/>
            <a:ext cx="658173" cy="584838"/>
          </a:xfrm>
          <a:custGeom>
            <a:avLst/>
            <a:gdLst>
              <a:gd name="T0" fmla="*/ 55 w 151"/>
              <a:gd name="T1" fmla="*/ 0 h 134"/>
              <a:gd name="T2" fmla="*/ 0 w 151"/>
              <a:gd name="T3" fmla="*/ 40 h 134"/>
              <a:gd name="T4" fmla="*/ 129 w 151"/>
              <a:gd name="T5" fmla="*/ 134 h 134"/>
              <a:gd name="T6" fmla="*/ 151 w 151"/>
              <a:gd name="T7" fmla="*/ 69 h 134"/>
              <a:gd name="T8" fmla="*/ 55 w 151"/>
              <a:gd name="T9" fmla="*/ 0 h 134"/>
            </a:gdLst>
            <a:ahLst/>
            <a:cxnLst>
              <a:cxn ang="0">
                <a:pos x="T0" y="T1"/>
              </a:cxn>
              <a:cxn ang="0">
                <a:pos x="T2" y="T3"/>
              </a:cxn>
              <a:cxn ang="0">
                <a:pos x="T4" y="T5"/>
              </a:cxn>
              <a:cxn ang="0">
                <a:pos x="T6" y="T7"/>
              </a:cxn>
              <a:cxn ang="0">
                <a:pos x="T8" y="T9"/>
              </a:cxn>
            </a:cxnLst>
            <a:rect l="0" t="0" r="r" b="b"/>
            <a:pathLst>
              <a:path w="151" h="134">
                <a:moveTo>
                  <a:pt x="55" y="0"/>
                </a:moveTo>
                <a:cubicBezTo>
                  <a:pt x="0" y="40"/>
                  <a:pt x="0" y="40"/>
                  <a:pt x="0" y="40"/>
                </a:cubicBezTo>
                <a:cubicBezTo>
                  <a:pt x="32" y="84"/>
                  <a:pt x="77" y="117"/>
                  <a:pt x="129" y="134"/>
                </a:cubicBezTo>
                <a:cubicBezTo>
                  <a:pt x="151" y="69"/>
                  <a:pt x="151" y="69"/>
                  <a:pt x="151" y="69"/>
                </a:cubicBezTo>
                <a:cubicBezTo>
                  <a:pt x="112" y="57"/>
                  <a:pt x="79" y="32"/>
                  <a:pt x="55" y="0"/>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Freeform 8"/>
          <p:cNvSpPr>
            <a:spLocks/>
          </p:cNvSpPr>
          <p:nvPr/>
        </p:nvSpPr>
        <p:spPr bwMode="gray">
          <a:xfrm>
            <a:off x="8685413" y="4896393"/>
            <a:ext cx="652671" cy="584838"/>
          </a:xfrm>
          <a:custGeom>
            <a:avLst/>
            <a:gdLst>
              <a:gd name="T0" fmla="*/ 0 w 150"/>
              <a:gd name="T1" fmla="*/ 69 h 134"/>
              <a:gd name="T2" fmla="*/ 21 w 150"/>
              <a:gd name="T3" fmla="*/ 134 h 134"/>
              <a:gd name="T4" fmla="*/ 150 w 150"/>
              <a:gd name="T5" fmla="*/ 40 h 134"/>
              <a:gd name="T6" fmla="*/ 95 w 150"/>
              <a:gd name="T7" fmla="*/ 0 h 134"/>
              <a:gd name="T8" fmla="*/ 0 w 150"/>
              <a:gd name="T9" fmla="*/ 69 h 134"/>
            </a:gdLst>
            <a:ahLst/>
            <a:cxnLst>
              <a:cxn ang="0">
                <a:pos x="T0" y="T1"/>
              </a:cxn>
              <a:cxn ang="0">
                <a:pos x="T2" y="T3"/>
              </a:cxn>
              <a:cxn ang="0">
                <a:pos x="T4" y="T5"/>
              </a:cxn>
              <a:cxn ang="0">
                <a:pos x="T6" y="T7"/>
              </a:cxn>
              <a:cxn ang="0">
                <a:pos x="T8" y="T9"/>
              </a:cxn>
            </a:cxnLst>
            <a:rect l="0" t="0" r="r" b="b"/>
            <a:pathLst>
              <a:path w="150" h="134">
                <a:moveTo>
                  <a:pt x="0" y="69"/>
                </a:moveTo>
                <a:cubicBezTo>
                  <a:pt x="21" y="134"/>
                  <a:pt x="21" y="134"/>
                  <a:pt x="21" y="134"/>
                </a:cubicBezTo>
                <a:cubicBezTo>
                  <a:pt x="74" y="117"/>
                  <a:pt x="119" y="84"/>
                  <a:pt x="150" y="40"/>
                </a:cubicBezTo>
                <a:cubicBezTo>
                  <a:pt x="95" y="0"/>
                  <a:pt x="95" y="0"/>
                  <a:pt x="95" y="0"/>
                </a:cubicBezTo>
                <a:cubicBezTo>
                  <a:pt x="72" y="32"/>
                  <a:pt x="39" y="57"/>
                  <a:pt x="0" y="69"/>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9"/>
          <p:cNvSpPr>
            <a:spLocks/>
          </p:cNvSpPr>
          <p:nvPr/>
        </p:nvSpPr>
        <p:spPr bwMode="gray">
          <a:xfrm>
            <a:off x="9099749" y="4408723"/>
            <a:ext cx="456504" cy="661839"/>
          </a:xfrm>
          <a:custGeom>
            <a:avLst/>
            <a:gdLst>
              <a:gd name="T0" fmla="*/ 37 w 105"/>
              <a:gd name="T1" fmla="*/ 0 h 152"/>
              <a:gd name="T2" fmla="*/ 0 w 105"/>
              <a:gd name="T3" fmla="*/ 112 h 152"/>
              <a:gd name="T4" fmla="*/ 55 w 105"/>
              <a:gd name="T5" fmla="*/ 152 h 152"/>
              <a:gd name="T6" fmla="*/ 105 w 105"/>
              <a:gd name="T7" fmla="*/ 0 h 152"/>
              <a:gd name="T8" fmla="*/ 37 w 105"/>
              <a:gd name="T9" fmla="*/ 0 h 152"/>
            </a:gdLst>
            <a:ahLst/>
            <a:cxnLst>
              <a:cxn ang="0">
                <a:pos x="T0" y="T1"/>
              </a:cxn>
              <a:cxn ang="0">
                <a:pos x="T2" y="T3"/>
              </a:cxn>
              <a:cxn ang="0">
                <a:pos x="T4" y="T5"/>
              </a:cxn>
              <a:cxn ang="0">
                <a:pos x="T6" y="T7"/>
              </a:cxn>
              <a:cxn ang="0">
                <a:pos x="T8" y="T9"/>
              </a:cxn>
            </a:cxnLst>
            <a:rect l="0" t="0" r="r" b="b"/>
            <a:pathLst>
              <a:path w="105" h="152">
                <a:moveTo>
                  <a:pt x="37" y="0"/>
                </a:moveTo>
                <a:cubicBezTo>
                  <a:pt x="37" y="42"/>
                  <a:pt x="23" y="81"/>
                  <a:pt x="0" y="112"/>
                </a:cubicBezTo>
                <a:cubicBezTo>
                  <a:pt x="55" y="152"/>
                  <a:pt x="55" y="152"/>
                  <a:pt x="55" y="152"/>
                </a:cubicBezTo>
                <a:cubicBezTo>
                  <a:pt x="86" y="110"/>
                  <a:pt x="105" y="57"/>
                  <a:pt x="105" y="0"/>
                </a:cubicBezTo>
                <a:lnTo>
                  <a:pt x="37" y="0"/>
                </a:lnTo>
                <a:close/>
              </a:path>
            </a:pathLst>
          </a:custGeom>
          <a:solidFill>
            <a:srgbClr val="BEE9EE"/>
          </a:solidFill>
          <a:ln w="3175" cap="flat">
            <a:solidFill>
              <a:srgbClr val="FFFFFF"/>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10"/>
          <p:cNvSpPr>
            <a:spLocks/>
          </p:cNvSpPr>
          <p:nvPr/>
        </p:nvSpPr>
        <p:spPr bwMode="gray">
          <a:xfrm>
            <a:off x="7304902" y="3746883"/>
            <a:ext cx="452837" cy="661839"/>
          </a:xfrm>
          <a:custGeom>
            <a:avLst/>
            <a:gdLst>
              <a:gd name="T0" fmla="*/ 104 w 104"/>
              <a:gd name="T1" fmla="*/ 40 h 152"/>
              <a:gd name="T2" fmla="*/ 49 w 104"/>
              <a:gd name="T3" fmla="*/ 0 h 152"/>
              <a:gd name="T4" fmla="*/ 0 w 104"/>
              <a:gd name="T5" fmla="*/ 152 h 152"/>
              <a:gd name="T6" fmla="*/ 68 w 104"/>
              <a:gd name="T7" fmla="*/ 152 h 152"/>
              <a:gd name="T8" fmla="*/ 104 w 104"/>
              <a:gd name="T9" fmla="*/ 40 h 152"/>
            </a:gdLst>
            <a:ahLst/>
            <a:cxnLst>
              <a:cxn ang="0">
                <a:pos x="T0" y="T1"/>
              </a:cxn>
              <a:cxn ang="0">
                <a:pos x="T2" y="T3"/>
              </a:cxn>
              <a:cxn ang="0">
                <a:pos x="T4" y="T5"/>
              </a:cxn>
              <a:cxn ang="0">
                <a:pos x="T6" y="T7"/>
              </a:cxn>
              <a:cxn ang="0">
                <a:pos x="T8" y="T9"/>
              </a:cxn>
            </a:cxnLst>
            <a:rect l="0" t="0" r="r" b="b"/>
            <a:pathLst>
              <a:path w="104" h="152">
                <a:moveTo>
                  <a:pt x="104" y="40"/>
                </a:moveTo>
                <a:cubicBezTo>
                  <a:pt x="49" y="0"/>
                  <a:pt x="49" y="0"/>
                  <a:pt x="49" y="0"/>
                </a:cubicBezTo>
                <a:cubicBezTo>
                  <a:pt x="18" y="43"/>
                  <a:pt x="0" y="96"/>
                  <a:pt x="0" y="152"/>
                </a:cubicBezTo>
                <a:cubicBezTo>
                  <a:pt x="68" y="152"/>
                  <a:pt x="68" y="152"/>
                  <a:pt x="68" y="152"/>
                </a:cubicBezTo>
                <a:cubicBezTo>
                  <a:pt x="68" y="110"/>
                  <a:pt x="82" y="72"/>
                  <a:pt x="104" y="40"/>
                </a:cubicBezTo>
                <a:close/>
              </a:path>
            </a:pathLst>
          </a:custGeom>
          <a:solidFill>
            <a:srgbClr val="56C4D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1"/>
          <p:cNvSpPr>
            <a:spLocks/>
          </p:cNvSpPr>
          <p:nvPr/>
        </p:nvSpPr>
        <p:spPr bwMode="gray">
          <a:xfrm>
            <a:off x="7517571" y="3341714"/>
            <a:ext cx="658173" cy="579338"/>
          </a:xfrm>
          <a:custGeom>
            <a:avLst/>
            <a:gdLst>
              <a:gd name="T0" fmla="*/ 151 w 151"/>
              <a:gd name="T1" fmla="*/ 64 h 133"/>
              <a:gd name="T2" fmla="*/ 129 w 151"/>
              <a:gd name="T3" fmla="*/ 0 h 133"/>
              <a:gd name="T4" fmla="*/ 0 w 151"/>
              <a:gd name="T5" fmla="*/ 93 h 133"/>
              <a:gd name="T6" fmla="*/ 55 w 151"/>
              <a:gd name="T7" fmla="*/ 133 h 133"/>
              <a:gd name="T8" fmla="*/ 151 w 151"/>
              <a:gd name="T9" fmla="*/ 64 h 133"/>
            </a:gdLst>
            <a:ahLst/>
            <a:cxnLst>
              <a:cxn ang="0">
                <a:pos x="T0" y="T1"/>
              </a:cxn>
              <a:cxn ang="0">
                <a:pos x="T2" y="T3"/>
              </a:cxn>
              <a:cxn ang="0">
                <a:pos x="T4" y="T5"/>
              </a:cxn>
              <a:cxn ang="0">
                <a:pos x="T6" y="T7"/>
              </a:cxn>
              <a:cxn ang="0">
                <a:pos x="T8" y="T9"/>
              </a:cxn>
            </a:cxnLst>
            <a:rect l="0" t="0" r="r" b="b"/>
            <a:pathLst>
              <a:path w="151" h="133">
                <a:moveTo>
                  <a:pt x="151" y="64"/>
                </a:moveTo>
                <a:cubicBezTo>
                  <a:pt x="129" y="0"/>
                  <a:pt x="129" y="0"/>
                  <a:pt x="129" y="0"/>
                </a:cubicBezTo>
                <a:cubicBezTo>
                  <a:pt x="77" y="17"/>
                  <a:pt x="32" y="50"/>
                  <a:pt x="0" y="93"/>
                </a:cubicBezTo>
                <a:cubicBezTo>
                  <a:pt x="55" y="133"/>
                  <a:pt x="55" y="133"/>
                  <a:pt x="55" y="133"/>
                </a:cubicBezTo>
                <a:cubicBezTo>
                  <a:pt x="79" y="101"/>
                  <a:pt x="112" y="77"/>
                  <a:pt x="151" y="64"/>
                </a:cubicBezTo>
                <a:close/>
              </a:path>
            </a:pathLst>
          </a:custGeom>
          <a:solidFill>
            <a:srgbClr val="56C4D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12"/>
          <p:cNvSpPr>
            <a:spLocks/>
          </p:cNvSpPr>
          <p:nvPr/>
        </p:nvSpPr>
        <p:spPr bwMode="gray">
          <a:xfrm>
            <a:off x="7304902" y="4408723"/>
            <a:ext cx="452837" cy="661839"/>
          </a:xfrm>
          <a:custGeom>
            <a:avLst/>
            <a:gdLst>
              <a:gd name="T0" fmla="*/ 68 w 104"/>
              <a:gd name="T1" fmla="*/ 0 h 152"/>
              <a:gd name="T2" fmla="*/ 0 w 104"/>
              <a:gd name="T3" fmla="*/ 0 h 152"/>
              <a:gd name="T4" fmla="*/ 49 w 104"/>
              <a:gd name="T5" fmla="*/ 152 h 152"/>
              <a:gd name="T6" fmla="*/ 104 w 104"/>
              <a:gd name="T7" fmla="*/ 112 h 152"/>
              <a:gd name="T8" fmla="*/ 68 w 104"/>
              <a:gd name="T9" fmla="*/ 0 h 152"/>
            </a:gdLst>
            <a:ahLst/>
            <a:cxnLst>
              <a:cxn ang="0">
                <a:pos x="T0" y="T1"/>
              </a:cxn>
              <a:cxn ang="0">
                <a:pos x="T2" y="T3"/>
              </a:cxn>
              <a:cxn ang="0">
                <a:pos x="T4" y="T5"/>
              </a:cxn>
              <a:cxn ang="0">
                <a:pos x="T6" y="T7"/>
              </a:cxn>
              <a:cxn ang="0">
                <a:pos x="T8" y="T9"/>
              </a:cxn>
            </a:cxnLst>
            <a:rect l="0" t="0" r="r" b="b"/>
            <a:pathLst>
              <a:path w="104" h="152">
                <a:moveTo>
                  <a:pt x="68" y="0"/>
                </a:moveTo>
                <a:cubicBezTo>
                  <a:pt x="0" y="0"/>
                  <a:pt x="0" y="0"/>
                  <a:pt x="0" y="0"/>
                </a:cubicBezTo>
                <a:cubicBezTo>
                  <a:pt x="0" y="57"/>
                  <a:pt x="18" y="110"/>
                  <a:pt x="49" y="152"/>
                </a:cubicBezTo>
                <a:cubicBezTo>
                  <a:pt x="104" y="112"/>
                  <a:pt x="104" y="112"/>
                  <a:pt x="104" y="112"/>
                </a:cubicBezTo>
                <a:cubicBezTo>
                  <a:pt x="82" y="81"/>
                  <a:pt x="68" y="42"/>
                  <a:pt x="68" y="0"/>
                </a:cubicBezTo>
                <a:close/>
              </a:path>
            </a:pathLst>
          </a:custGeom>
          <a:solidFill>
            <a:srgbClr val="94DAE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13"/>
          <p:cNvSpPr>
            <a:spLocks/>
          </p:cNvSpPr>
          <p:nvPr/>
        </p:nvSpPr>
        <p:spPr bwMode="gray">
          <a:xfrm>
            <a:off x="8080407" y="3284880"/>
            <a:ext cx="696673" cy="335504"/>
          </a:xfrm>
          <a:custGeom>
            <a:avLst/>
            <a:gdLst>
              <a:gd name="T0" fmla="*/ 80 w 160"/>
              <a:gd name="T1" fmla="*/ 68 h 77"/>
              <a:gd name="T2" fmla="*/ 139 w 160"/>
              <a:gd name="T3" fmla="*/ 77 h 77"/>
              <a:gd name="T4" fmla="*/ 160 w 160"/>
              <a:gd name="T5" fmla="*/ 13 h 77"/>
              <a:gd name="T6" fmla="*/ 80 w 160"/>
              <a:gd name="T7" fmla="*/ 0 h 77"/>
              <a:gd name="T8" fmla="*/ 0 w 160"/>
              <a:gd name="T9" fmla="*/ 13 h 77"/>
              <a:gd name="T10" fmla="*/ 22 w 160"/>
              <a:gd name="T11" fmla="*/ 77 h 77"/>
              <a:gd name="T12" fmla="*/ 80 w 160"/>
              <a:gd name="T13" fmla="*/ 68 h 77"/>
            </a:gdLst>
            <a:ahLst/>
            <a:cxnLst>
              <a:cxn ang="0">
                <a:pos x="T0" y="T1"/>
              </a:cxn>
              <a:cxn ang="0">
                <a:pos x="T2" y="T3"/>
              </a:cxn>
              <a:cxn ang="0">
                <a:pos x="T4" y="T5"/>
              </a:cxn>
              <a:cxn ang="0">
                <a:pos x="T6" y="T7"/>
              </a:cxn>
              <a:cxn ang="0">
                <a:pos x="T8" y="T9"/>
              </a:cxn>
              <a:cxn ang="0">
                <a:pos x="T10" y="T11"/>
              </a:cxn>
              <a:cxn ang="0">
                <a:pos x="T12" y="T13"/>
              </a:cxn>
            </a:cxnLst>
            <a:rect l="0" t="0" r="r" b="b"/>
            <a:pathLst>
              <a:path w="160" h="77">
                <a:moveTo>
                  <a:pt x="80" y="68"/>
                </a:moveTo>
                <a:cubicBezTo>
                  <a:pt x="101" y="68"/>
                  <a:pt x="121" y="71"/>
                  <a:pt x="139" y="77"/>
                </a:cubicBezTo>
                <a:cubicBezTo>
                  <a:pt x="160" y="13"/>
                  <a:pt x="160" y="13"/>
                  <a:pt x="160" y="13"/>
                </a:cubicBezTo>
                <a:cubicBezTo>
                  <a:pt x="135" y="4"/>
                  <a:pt x="108" y="0"/>
                  <a:pt x="80" y="0"/>
                </a:cubicBezTo>
                <a:cubicBezTo>
                  <a:pt x="52" y="0"/>
                  <a:pt x="26" y="4"/>
                  <a:pt x="0" y="13"/>
                </a:cubicBezTo>
                <a:cubicBezTo>
                  <a:pt x="22" y="77"/>
                  <a:pt x="22" y="77"/>
                  <a:pt x="22" y="77"/>
                </a:cubicBezTo>
                <a:cubicBezTo>
                  <a:pt x="40" y="71"/>
                  <a:pt x="60" y="68"/>
                  <a:pt x="80" y="68"/>
                </a:cubicBezTo>
                <a:close/>
              </a:path>
            </a:pathLst>
          </a:custGeom>
          <a:solidFill>
            <a:srgbClr val="56C4D2"/>
          </a:solidFill>
          <a:ln w="9525" cap="flat">
            <a:solidFill>
              <a:schemeClr val="bg2"/>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14"/>
          <p:cNvSpPr>
            <a:spLocks/>
          </p:cNvSpPr>
          <p:nvPr/>
        </p:nvSpPr>
        <p:spPr bwMode="gray">
          <a:xfrm>
            <a:off x="8685413" y="3341714"/>
            <a:ext cx="652671" cy="579338"/>
          </a:xfrm>
          <a:custGeom>
            <a:avLst/>
            <a:gdLst>
              <a:gd name="T0" fmla="*/ 95 w 150"/>
              <a:gd name="T1" fmla="*/ 133 h 133"/>
              <a:gd name="T2" fmla="*/ 150 w 150"/>
              <a:gd name="T3" fmla="*/ 93 h 133"/>
              <a:gd name="T4" fmla="*/ 21 w 150"/>
              <a:gd name="T5" fmla="*/ 0 h 133"/>
              <a:gd name="T6" fmla="*/ 0 w 150"/>
              <a:gd name="T7" fmla="*/ 64 h 133"/>
              <a:gd name="T8" fmla="*/ 95 w 150"/>
              <a:gd name="T9" fmla="*/ 133 h 133"/>
            </a:gdLst>
            <a:ahLst/>
            <a:cxnLst>
              <a:cxn ang="0">
                <a:pos x="T0" y="T1"/>
              </a:cxn>
              <a:cxn ang="0">
                <a:pos x="T2" y="T3"/>
              </a:cxn>
              <a:cxn ang="0">
                <a:pos x="T4" y="T5"/>
              </a:cxn>
              <a:cxn ang="0">
                <a:pos x="T6" y="T7"/>
              </a:cxn>
              <a:cxn ang="0">
                <a:pos x="T8" y="T9"/>
              </a:cxn>
            </a:cxnLst>
            <a:rect l="0" t="0" r="r" b="b"/>
            <a:pathLst>
              <a:path w="150" h="133">
                <a:moveTo>
                  <a:pt x="95" y="133"/>
                </a:moveTo>
                <a:cubicBezTo>
                  <a:pt x="150" y="93"/>
                  <a:pt x="150" y="93"/>
                  <a:pt x="150" y="93"/>
                </a:cubicBezTo>
                <a:cubicBezTo>
                  <a:pt x="119" y="50"/>
                  <a:pt x="74" y="17"/>
                  <a:pt x="21" y="0"/>
                </a:cubicBezTo>
                <a:cubicBezTo>
                  <a:pt x="0" y="64"/>
                  <a:pt x="0" y="64"/>
                  <a:pt x="0" y="64"/>
                </a:cubicBezTo>
                <a:cubicBezTo>
                  <a:pt x="39" y="77"/>
                  <a:pt x="72" y="101"/>
                  <a:pt x="95" y="133"/>
                </a:cubicBezTo>
                <a:close/>
              </a:path>
            </a:pathLst>
          </a:custGeom>
          <a:solidFill>
            <a:srgbClr val="BEE9EE"/>
          </a:solidFill>
          <a:ln w="3175" cap="flat">
            <a:solidFill>
              <a:srgbClr val="FFFFFF"/>
            </a:solidFill>
            <a:prstDash val="solid"/>
            <a:miter lim="800000"/>
            <a:headEnd/>
            <a:tailEnd/>
          </a:ln>
        </p:spPr>
        <p:txBody>
          <a:bodyPr vert="horz" wrap="square" lIns="91404" tIns="45702" rIns="91404" bIns="45702" numCol="1" anchor="t" anchorCtr="0" compatLnSpc="1">
            <a:prstTxWarp prst="textNoShape">
              <a:avLst/>
            </a:prstTxWarp>
          </a:bodyPr>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 Box 11"/>
          <p:cNvSpPr txBox="1">
            <a:spLocks noChangeArrowheads="1"/>
          </p:cNvSpPr>
          <p:nvPr/>
        </p:nvSpPr>
        <p:spPr bwMode="gray">
          <a:xfrm>
            <a:off x="7471121" y="4185800"/>
            <a:ext cx="1940132" cy="645886"/>
          </a:xfrm>
          <a:prstGeom prst="rect">
            <a:avLst/>
          </a:prstGeom>
          <a:noFill/>
          <a:ln w="9525">
            <a:noFill/>
            <a:miter lim="800000"/>
            <a:headEnd/>
            <a:tailEnd/>
          </a:ln>
        </p:spPr>
        <p:txBody>
          <a:bodyPr wrap="square">
            <a:spAutoFit/>
          </a:bodyPr>
          <a:lstStyle/>
          <a:p>
            <a:pPr algn="ctr" defTabSz="914034" fontAlgn="base">
              <a:lnSpc>
                <a:spcPct val="60000"/>
              </a:lnSpc>
              <a:spcBef>
                <a:spcPct val="50000"/>
              </a:spcBef>
              <a:spcAft>
                <a:spcPct val="0"/>
              </a:spcAft>
            </a:pPr>
            <a:r>
              <a:rPr lang="en-US" altLang="zh-CN" sz="5998">
                <a:solidFill>
                  <a:schemeClr val="dk1">
                    <a:lumMod val="50000"/>
                  </a:scheme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80</a:t>
            </a:r>
            <a:r>
              <a:rPr lang="en-US" altLang="zh-CN" sz="2799" dirty="0">
                <a:solidFill>
                  <a:schemeClr val="dk1">
                    <a:lumMod val="50000"/>
                  </a:scheme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endParaRPr lang="en-US" altLang="zh-CN" sz="5998" dirty="0">
              <a:solidFill>
                <a:schemeClr val="dk1">
                  <a:lumMod val="50000"/>
                </a:schemeClr>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39178063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HTTP/2</a:t>
            </a:r>
            <a:r>
              <a:rPr lang="zh-CN" altLang="en-US" dirty="0"/>
              <a:t>核心：二进制传输</a:t>
            </a:r>
          </a:p>
        </p:txBody>
      </p:sp>
      <p:sp>
        <p:nvSpPr>
          <p:cNvPr id="23" name="文本占位符 22"/>
          <p:cNvSpPr>
            <a:spLocks noGrp="1"/>
          </p:cNvSpPr>
          <p:nvPr>
            <p:ph type="body" sz="quarter" idx="10"/>
          </p:nvPr>
        </p:nvSpPr>
        <p:spPr/>
        <p:txBody>
          <a:bodyPr/>
          <a:lstStyle/>
          <a:p>
            <a:r>
              <a:rPr lang="en-US" altLang="zh-CN" sz="1600" dirty="0"/>
              <a:t>HTTP/2</a:t>
            </a:r>
            <a:r>
              <a:rPr lang="zh-CN" altLang="en-US" sz="1600" dirty="0"/>
              <a:t>中性能增强的核心是二进制传输。</a:t>
            </a:r>
          </a:p>
          <a:p>
            <a:r>
              <a:rPr lang="zh-CN" altLang="en-US" sz="1600" dirty="0"/>
              <a:t>在</a:t>
            </a:r>
            <a:r>
              <a:rPr lang="en-US" altLang="zh-CN" sz="1600" dirty="0"/>
              <a:t>HTTP/1</a:t>
            </a:r>
            <a:r>
              <a:rPr lang="zh-CN" altLang="en-US" sz="1600" dirty="0"/>
              <a:t>中，数据是通过文本的方式传输。数据基于文本的方式传输存在缺陷，这是由于文本的表现形式有多样性，需要考虑各种场景才能达到健壮性。但是二进制则不同，只有</a:t>
            </a:r>
            <a:r>
              <a:rPr lang="en-US" altLang="zh-CN" sz="1600" dirty="0"/>
              <a:t>0</a:t>
            </a:r>
            <a:r>
              <a:rPr lang="zh-CN" altLang="en-US" sz="1600" dirty="0"/>
              <a:t>和</a:t>
            </a:r>
            <a:r>
              <a:rPr lang="en-US" altLang="zh-CN" sz="1600" dirty="0"/>
              <a:t>1</a:t>
            </a:r>
            <a:r>
              <a:rPr lang="zh-CN" altLang="en-US" sz="1600" dirty="0"/>
              <a:t>的组合，因此选择二进制传输，实现方便且健壮。</a:t>
            </a:r>
            <a:br>
              <a:rPr lang="zh-CN" altLang="en-US" sz="1600" dirty="0"/>
            </a:br>
            <a:endParaRPr lang="zh-CN" altLang="en-US" sz="1600" dirty="0"/>
          </a:p>
          <a:p>
            <a:endParaRPr lang="zh-CN" altLang="en-US" sz="1600" dirty="0"/>
          </a:p>
          <a:p>
            <a:endParaRPr lang="zh-CN" altLang="en-US" sz="1600" dirty="0"/>
          </a:p>
          <a:p>
            <a:endParaRPr lang="zh-CN" altLang="en-US" sz="1600" dirty="0"/>
          </a:p>
        </p:txBody>
      </p:sp>
      <p:sp>
        <p:nvSpPr>
          <p:cNvPr id="3" name="内容占位符 2"/>
          <p:cNvSpPr txBox="1">
            <a:spLocks/>
          </p:cNvSpPr>
          <p:nvPr/>
        </p:nvSpPr>
        <p:spPr>
          <a:xfrm>
            <a:off x="468316" y="1233487"/>
            <a:ext cx="11276184"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600"/>
          </a:p>
        </p:txBody>
      </p:sp>
      <p:sp>
        <p:nvSpPr>
          <p:cNvPr id="7" name="文本占位符 3">
            <a:extLst>
              <a:ext uri="{FF2B5EF4-FFF2-40B4-BE49-F238E27FC236}">
                <a16:creationId xmlns:a16="http://schemas.microsoft.com/office/drawing/2014/main" id="{0AD84FAA-B1FC-4E83-9D3D-4342BE18F678}"/>
              </a:ext>
            </a:extLst>
          </p:cNvPr>
          <p:cNvSpPr txBox="1">
            <a:spLocks/>
          </p:cNvSpPr>
          <p:nvPr/>
        </p:nvSpPr>
        <p:spPr>
          <a:xfrm>
            <a:off x="469900" y="1233488"/>
            <a:ext cx="11276013" cy="523262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p>
        </p:txBody>
      </p:sp>
      <p:sp>
        <p:nvSpPr>
          <p:cNvPr id="31" name="梯形 2"/>
          <p:cNvSpPr/>
          <p:nvPr/>
        </p:nvSpPr>
        <p:spPr>
          <a:xfrm rot="16378936">
            <a:off x="3788439" y="2145717"/>
            <a:ext cx="2039005" cy="2463969"/>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 name="connsiteX0" fmla="*/ 0 w 6501504"/>
              <a:gd name="connsiteY0" fmla="*/ 782464 h 782464"/>
              <a:gd name="connsiteX1" fmla="*/ 1465962 w 6501504"/>
              <a:gd name="connsiteY1" fmla="*/ 7620 h 782464"/>
              <a:gd name="connsiteX2" fmla="*/ 2563446 w 6501504"/>
              <a:gd name="connsiteY2" fmla="*/ 0 h 782464"/>
              <a:gd name="connsiteX3" fmla="*/ 6501504 w 6501504"/>
              <a:gd name="connsiteY3" fmla="*/ 734506 h 782464"/>
              <a:gd name="connsiteX4" fmla="*/ 0 w 6501504"/>
              <a:gd name="connsiteY4" fmla="*/ 782464 h 782464"/>
              <a:gd name="connsiteX0" fmla="*/ 0 w 6458090"/>
              <a:gd name="connsiteY0" fmla="*/ 757410 h 757410"/>
              <a:gd name="connsiteX1" fmla="*/ 1422548 w 6458090"/>
              <a:gd name="connsiteY1" fmla="*/ 7620 h 757410"/>
              <a:gd name="connsiteX2" fmla="*/ 2520032 w 6458090"/>
              <a:gd name="connsiteY2" fmla="*/ 0 h 757410"/>
              <a:gd name="connsiteX3" fmla="*/ 6458090 w 6458090"/>
              <a:gd name="connsiteY3" fmla="*/ 734506 h 757410"/>
              <a:gd name="connsiteX4" fmla="*/ 0 w 6458090"/>
              <a:gd name="connsiteY4" fmla="*/ 757410 h 757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8090" h="757410">
                <a:moveTo>
                  <a:pt x="0" y="757410"/>
                </a:moveTo>
                <a:lnTo>
                  <a:pt x="1422548" y="7620"/>
                </a:lnTo>
                <a:lnTo>
                  <a:pt x="2520032" y="0"/>
                </a:lnTo>
                <a:lnTo>
                  <a:pt x="6458090" y="734506"/>
                </a:lnTo>
                <a:lnTo>
                  <a:pt x="0" y="757410"/>
                </a:lnTo>
                <a:close/>
              </a:path>
            </a:pathLst>
          </a:custGeom>
          <a:gradFill>
            <a:gsLst>
              <a:gs pos="100000">
                <a:srgbClr val="F4FBFE"/>
              </a:gs>
              <a:gs pos="0">
                <a:srgbClr val="94DAE2"/>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32" name="文本框 31">
            <a:extLst>
              <a:ext uri="{FF2B5EF4-FFF2-40B4-BE49-F238E27FC236}">
                <a16:creationId xmlns:a16="http://schemas.microsoft.com/office/drawing/2014/main" id="{E4E30EB8-DE34-4595-BCF8-67A3852D8F2A}"/>
              </a:ext>
            </a:extLst>
          </p:cNvPr>
          <p:cNvSpPr txBox="1"/>
          <p:nvPr/>
        </p:nvSpPr>
        <p:spPr>
          <a:xfrm>
            <a:off x="6096000" y="2861082"/>
            <a:ext cx="3448843" cy="1569660"/>
          </a:xfrm>
          <a:prstGeom prst="rect">
            <a:avLst/>
          </a:prstGeom>
          <a:noFill/>
          <a:ln>
            <a:solidFill>
              <a:srgbClr val="30B5C5"/>
            </a:solidFill>
          </a:ln>
        </p:spPr>
        <p:txBody>
          <a:bodyPr wrap="square" rtlCol="0">
            <a:spAutoFit/>
          </a:bodyPr>
          <a:lstStyle/>
          <a:p>
            <a:pPr marL="0" marR="0" lvl="0" indent="0" defTabSz="914400" eaLnBrk="1" fontAlgn="auto" latinLnBrk="0" hangingPunct="1">
              <a:lnSpc>
                <a:spcPts val="24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cs typeface="Courier New" panose="02070309020205020404" pitchFamily="49" charset="0"/>
              </a:rPr>
              <a:t>POST </a:t>
            </a:r>
            <a:r>
              <a:rPr kumimoji="0" lang="en-US" altLang="zh-CN" sz="1400" b="0" i="0" u="none" strike="noStrike" kern="0" cap="none" spc="0" normalizeH="0" baseline="0" noProof="0" dirty="0">
                <a:ln>
                  <a:noFill/>
                </a:ln>
                <a:effectLst/>
                <a:uLnTx/>
                <a:uFillTx/>
              </a:rPr>
              <a:t>http://www.w3.org </a:t>
            </a:r>
            <a:r>
              <a:rPr kumimoji="0" lang="en-US" altLang="zh-CN" sz="1400" b="1" i="0" u="none" strike="noStrike" kern="0" cap="none" spc="0" normalizeH="0" baseline="0" noProof="0" dirty="0">
                <a:ln>
                  <a:noFill/>
                </a:ln>
                <a:effectLst/>
                <a:uLnTx/>
                <a:uFillTx/>
              </a:rPr>
              <a:t>HTTP/1.1</a:t>
            </a:r>
            <a:endParaRPr kumimoji="0" lang="en-US" altLang="zh-CN" sz="1400" b="0" i="0" u="none" strike="noStrike" kern="0" cap="none" spc="0" normalizeH="0" baseline="0" noProof="0" dirty="0">
              <a:ln>
                <a:noFill/>
              </a:ln>
              <a:effectLst/>
              <a:uLnTx/>
              <a:uFillTx/>
              <a:cs typeface="Courier New" panose="02070309020205020404" pitchFamily="49" charset="0"/>
            </a:endParaRPr>
          </a:p>
          <a:p>
            <a:pPr marL="0" marR="0" lvl="0" indent="0" defTabSz="914400" eaLnBrk="1" fontAlgn="auto" latinLnBrk="0" hangingPunct="1">
              <a:lnSpc>
                <a:spcPts val="24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Accept: </a:t>
            </a:r>
            <a:r>
              <a:rPr kumimoji="0" lang="en-US" altLang="zh-CN" sz="1400" b="0" i="0" u="none" strike="noStrike" kern="0" cap="none" spc="0" normalizeH="0" baseline="0" noProof="0" dirty="0">
                <a:ln>
                  <a:noFill/>
                </a:ln>
                <a:effectLst/>
                <a:uLnTx/>
                <a:uFillTx/>
              </a:rPr>
              <a:t>text/html</a:t>
            </a:r>
          </a:p>
          <a:p>
            <a:pPr marL="0" marR="0" lvl="0" indent="0" defTabSz="914400" eaLnBrk="1" fontAlgn="t"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Content-Type: </a:t>
            </a:r>
            <a:r>
              <a:rPr kumimoji="0" lang="en-US" altLang="zh-CN" sz="1400" b="0" i="0" u="none" strike="noStrike" kern="0" cap="none" spc="0" normalizeH="0" baseline="0" noProof="0" dirty="0">
                <a:ln>
                  <a:noFill/>
                </a:ln>
                <a:effectLst/>
                <a:uLnTx/>
                <a:uFillTx/>
              </a:rPr>
              <a:t>text/</a:t>
            </a:r>
            <a:r>
              <a:rPr kumimoji="0" lang="en-US" altLang="zh-CN" sz="1400" b="0" i="0" u="none" strike="noStrike" kern="0" cap="none" spc="0" normalizeH="0" baseline="0" noProof="0" dirty="0" err="1">
                <a:ln>
                  <a:noFill/>
                </a:ln>
                <a:effectLst/>
                <a:uLnTx/>
                <a:uFillTx/>
              </a:rPr>
              <a:t>html;charset</a:t>
            </a:r>
            <a:r>
              <a:rPr kumimoji="0" lang="en-US" altLang="zh-CN" sz="1400" b="0" i="0" u="none" strike="noStrike" kern="0" cap="none" spc="0" normalizeH="0" baseline="0" noProof="0" dirty="0">
                <a:ln>
                  <a:noFill/>
                </a:ln>
                <a:effectLst/>
                <a:uLnTx/>
                <a:uFillTx/>
              </a:rPr>
              <a:t>=utf-8</a:t>
            </a:r>
          </a:p>
          <a:p>
            <a:pPr marL="0" marR="0" lvl="0" indent="0" defTabSz="914400" eaLnBrk="1" fontAlgn="t"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rPr>
              <a:t>Connection: </a:t>
            </a:r>
            <a:r>
              <a:rPr kumimoji="0" lang="en-US" altLang="zh-CN" sz="1400" b="0" i="0" u="none" strike="noStrike" kern="0" cap="none" spc="0" normalizeH="0" baseline="0" noProof="0" dirty="0">
                <a:ln>
                  <a:noFill/>
                </a:ln>
                <a:effectLst/>
                <a:uLnTx/>
                <a:uFillTx/>
              </a:rPr>
              <a:t>keep-alive</a:t>
            </a:r>
          </a:p>
          <a:p>
            <a:pPr marL="0" marR="0" lvl="0" indent="0" defTabSz="914400" eaLnBrk="1" fontAlgn="t" latinLnBrk="0" hangingPunct="1">
              <a:lnSpc>
                <a:spcPct val="100000"/>
              </a:lnSpc>
              <a:spcBef>
                <a:spcPts val="0"/>
              </a:spcBef>
              <a:spcAft>
                <a:spcPts val="0"/>
              </a:spcAft>
              <a:buClrTx/>
              <a:buSzTx/>
              <a:buFontTx/>
              <a:buNone/>
              <a:tabLst/>
              <a:defRPr/>
            </a:pPr>
            <a:endParaRPr kumimoji="0" lang="en-US" altLang="zh-CN" sz="1400" b="0" i="0" u="none" strike="noStrike" kern="0" cap="none" spc="0" normalizeH="0" baseline="0" noProof="0" dirty="0">
              <a:ln>
                <a:noFill/>
              </a:ln>
              <a:effectLst/>
              <a:uLnTx/>
              <a:uFillTx/>
            </a:endParaRPr>
          </a:p>
          <a:p>
            <a:pPr marL="0" marR="0" lvl="0" indent="0" defTabSz="914400" eaLnBrk="1" fontAlgn="t"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rPr>
              <a:t>user=</a:t>
            </a:r>
            <a:r>
              <a:rPr kumimoji="0" lang="en-US" altLang="zh-CN" sz="1400" b="0" i="0" u="none" strike="noStrike" kern="0" cap="none" spc="0" normalizeH="0" baseline="0" noProof="0" dirty="0" err="1">
                <a:ln>
                  <a:noFill/>
                </a:ln>
                <a:effectLst/>
                <a:uLnTx/>
                <a:uFillTx/>
              </a:rPr>
              <a:t>admin&amp;password</a:t>
            </a:r>
            <a:r>
              <a:rPr kumimoji="0" lang="en-US" altLang="zh-CN" sz="1400" b="0" i="0" u="none" strike="noStrike" kern="0" cap="none" spc="0" normalizeH="0" baseline="0" noProof="0" dirty="0">
                <a:ln>
                  <a:noFill/>
                </a:ln>
                <a:effectLst/>
                <a:uLnTx/>
                <a:uFillTx/>
              </a:rPr>
              <a:t>=123456</a:t>
            </a:r>
          </a:p>
        </p:txBody>
      </p:sp>
      <p:sp>
        <p:nvSpPr>
          <p:cNvPr id="33" name="文本框 32">
            <a:extLst>
              <a:ext uri="{FF2B5EF4-FFF2-40B4-BE49-F238E27FC236}">
                <a16:creationId xmlns:a16="http://schemas.microsoft.com/office/drawing/2014/main" id="{E4E30EB8-DE34-4595-BCF8-67A3852D8F2A}"/>
              </a:ext>
            </a:extLst>
          </p:cNvPr>
          <p:cNvSpPr txBox="1"/>
          <p:nvPr/>
        </p:nvSpPr>
        <p:spPr>
          <a:xfrm>
            <a:off x="6067249" y="5084845"/>
            <a:ext cx="3448843" cy="370935"/>
          </a:xfrm>
          <a:prstGeom prst="rect">
            <a:avLst/>
          </a:prstGeom>
          <a:noFill/>
          <a:ln>
            <a:solidFill>
              <a:srgbClr val="30B5C5"/>
            </a:solidFill>
          </a:ln>
        </p:spPr>
        <p:txBody>
          <a:bodyPr wrap="square" rtlCol="0">
            <a:spAutoFit/>
          </a:bodyPr>
          <a:lstStyle/>
          <a:p>
            <a:pPr marL="0" marR="0" lvl="0" indent="0" algn="ctr" defTabSz="914400" eaLnBrk="1" fontAlgn="auto" latinLnBrk="0" hangingPunct="1">
              <a:lnSpc>
                <a:spcPts val="24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rPr>
              <a:t>头部帧</a:t>
            </a:r>
            <a:endParaRPr kumimoji="0" lang="en-US" altLang="zh-CN" sz="1400" b="0" i="0" u="none" strike="noStrike" kern="0" cap="none" spc="0" normalizeH="0" baseline="0" noProof="0">
              <a:ln>
                <a:noFill/>
              </a:ln>
              <a:effectLst/>
              <a:uLnTx/>
              <a:uFillTx/>
            </a:endParaRPr>
          </a:p>
        </p:txBody>
      </p:sp>
      <p:sp>
        <p:nvSpPr>
          <p:cNvPr id="34" name="文本框 33"/>
          <p:cNvSpPr txBox="1"/>
          <p:nvPr/>
        </p:nvSpPr>
        <p:spPr>
          <a:xfrm>
            <a:off x="6077576" y="2505134"/>
            <a:ext cx="1467643"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prstClr val="black"/>
                </a:solidFill>
                <a:effectLst/>
                <a:uLnTx/>
                <a:uFillTx/>
              </a:rPr>
              <a:t>HTTP1.1</a:t>
            </a:r>
            <a:endParaRPr kumimoji="0" lang="zh-CN" altLang="en-US" sz="1600" b="0" i="0" u="none" strike="noStrike" kern="0" cap="none" spc="0" normalizeH="0" baseline="0" noProof="0">
              <a:ln>
                <a:noFill/>
              </a:ln>
              <a:solidFill>
                <a:prstClr val="black"/>
              </a:solidFill>
              <a:effectLst/>
              <a:uLnTx/>
              <a:uFillTx/>
            </a:endParaRPr>
          </a:p>
        </p:txBody>
      </p:sp>
      <p:sp>
        <p:nvSpPr>
          <p:cNvPr id="35" name="文本框 34"/>
          <p:cNvSpPr txBox="1"/>
          <p:nvPr/>
        </p:nvSpPr>
        <p:spPr>
          <a:xfrm>
            <a:off x="6047369" y="4754491"/>
            <a:ext cx="1467643"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prstClr val="black"/>
                </a:solidFill>
                <a:effectLst/>
                <a:uLnTx/>
                <a:uFillTx/>
              </a:rPr>
              <a:t>HTTP2.0</a:t>
            </a:r>
            <a:endParaRPr kumimoji="0" lang="zh-CN" altLang="en-US" sz="1600" b="0" i="0" u="none" strike="noStrike" kern="0" cap="none" spc="0" normalizeH="0" baseline="0" noProof="0">
              <a:ln>
                <a:noFill/>
              </a:ln>
              <a:solidFill>
                <a:prstClr val="black"/>
              </a:solidFill>
              <a:effectLst/>
              <a:uLnTx/>
              <a:uFillTx/>
            </a:endParaRPr>
          </a:p>
        </p:txBody>
      </p:sp>
      <p:sp>
        <p:nvSpPr>
          <p:cNvPr id="36" name="文本框 35">
            <a:extLst>
              <a:ext uri="{FF2B5EF4-FFF2-40B4-BE49-F238E27FC236}">
                <a16:creationId xmlns:a16="http://schemas.microsoft.com/office/drawing/2014/main" id="{E4E30EB8-DE34-4595-BCF8-67A3852D8F2A}"/>
              </a:ext>
            </a:extLst>
          </p:cNvPr>
          <p:cNvSpPr txBox="1"/>
          <p:nvPr/>
        </p:nvSpPr>
        <p:spPr>
          <a:xfrm>
            <a:off x="6067249" y="5492380"/>
            <a:ext cx="3448843" cy="370935"/>
          </a:xfrm>
          <a:prstGeom prst="rect">
            <a:avLst/>
          </a:prstGeom>
          <a:noFill/>
          <a:ln>
            <a:solidFill>
              <a:srgbClr val="30B5C5"/>
            </a:solidFill>
          </a:ln>
        </p:spPr>
        <p:txBody>
          <a:bodyPr wrap="square" rtlCol="0">
            <a:spAutoFit/>
          </a:bodyPr>
          <a:lstStyle/>
          <a:p>
            <a:pPr marL="0" marR="0" lvl="0" indent="0" algn="ctr" defTabSz="914400" eaLnBrk="1" fontAlgn="auto" latinLnBrk="0" hangingPunct="1">
              <a:lnSpc>
                <a:spcPts val="2400"/>
              </a:lnSpc>
              <a:spcBef>
                <a:spcPts val="0"/>
              </a:spcBef>
              <a:spcAft>
                <a:spcPts val="0"/>
              </a:spcAft>
              <a:buClrTx/>
              <a:buSzTx/>
              <a:buFontTx/>
              <a:buNone/>
              <a:tabLst/>
              <a:defRPr/>
            </a:pPr>
            <a:r>
              <a:rPr kumimoji="0" lang="zh-CN" altLang="en-US" sz="1400" b="0" i="0" u="none" strike="noStrike" kern="0" cap="none" spc="0" normalizeH="0" baseline="0" noProof="0">
                <a:ln>
                  <a:noFill/>
                </a:ln>
                <a:effectLst/>
                <a:uLnTx/>
                <a:uFillTx/>
              </a:rPr>
              <a:t>数据帧</a:t>
            </a:r>
            <a:endParaRPr kumimoji="0" lang="en-US" altLang="zh-CN" sz="1400" b="0" i="0" u="none" strike="noStrike" kern="0" cap="none" spc="0" normalizeH="0" baseline="0" noProof="0">
              <a:ln>
                <a:noFill/>
              </a:ln>
              <a:effectLst/>
              <a:uLnTx/>
              <a:uFillTx/>
            </a:endParaRPr>
          </a:p>
        </p:txBody>
      </p:sp>
      <p:sp>
        <p:nvSpPr>
          <p:cNvPr id="37" name="AutoShape 35"/>
          <p:cNvSpPr>
            <a:spLocks/>
          </p:cNvSpPr>
          <p:nvPr/>
        </p:nvSpPr>
        <p:spPr bwMode="auto">
          <a:xfrm flipH="1">
            <a:off x="9578234" y="3076710"/>
            <a:ext cx="322865" cy="838687"/>
          </a:xfrm>
          <a:prstGeom prst="leftBrace">
            <a:avLst>
              <a:gd name="adj1" fmla="val 112010"/>
              <a:gd name="adj2" fmla="val 50000"/>
            </a:avLst>
          </a:prstGeom>
          <a:noFill/>
          <a:ln w="19050">
            <a:solidFill>
              <a:srgbClr val="30B5C5"/>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方正兰亭黑简体"/>
              <a:ea typeface="方正兰亭黑简体"/>
            </a:endParaRPr>
          </a:p>
        </p:txBody>
      </p:sp>
      <p:sp>
        <p:nvSpPr>
          <p:cNvPr id="38" name="AutoShape 35"/>
          <p:cNvSpPr>
            <a:spLocks/>
          </p:cNvSpPr>
          <p:nvPr/>
        </p:nvSpPr>
        <p:spPr bwMode="auto">
          <a:xfrm flipH="1">
            <a:off x="9578234" y="4159628"/>
            <a:ext cx="309036" cy="260961"/>
          </a:xfrm>
          <a:prstGeom prst="leftBrace">
            <a:avLst>
              <a:gd name="adj1" fmla="val 112010"/>
              <a:gd name="adj2" fmla="val 50000"/>
            </a:avLst>
          </a:prstGeom>
          <a:noFill/>
          <a:ln w="19050">
            <a:solidFill>
              <a:srgbClr val="EC706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endParaRPr lang="zh-CN" altLang="en-US" sz="1200">
              <a:solidFill>
                <a:srgbClr val="EC7061"/>
              </a:solidFill>
              <a:latin typeface="方正兰亭黑简体"/>
              <a:ea typeface="方正兰亭黑简体"/>
            </a:endParaRPr>
          </a:p>
        </p:txBody>
      </p:sp>
      <p:cxnSp>
        <p:nvCxnSpPr>
          <p:cNvPr id="39" name="肘形连接符 38"/>
          <p:cNvCxnSpPr>
            <a:stCxn id="37" idx="1"/>
            <a:endCxn id="33" idx="3"/>
          </p:cNvCxnSpPr>
          <p:nvPr/>
        </p:nvCxnSpPr>
        <p:spPr>
          <a:xfrm flipH="1">
            <a:off x="9516092" y="3496054"/>
            <a:ext cx="385007" cy="1774259"/>
          </a:xfrm>
          <a:prstGeom prst="bentConnector3">
            <a:avLst>
              <a:gd name="adj1" fmla="val -59376"/>
            </a:avLst>
          </a:prstGeom>
          <a:noFill/>
          <a:ln w="19050" cap="flat" cmpd="sng" algn="ctr">
            <a:solidFill>
              <a:srgbClr val="30B5C5"/>
            </a:solidFill>
            <a:prstDash val="solid"/>
            <a:miter lim="800000"/>
            <a:tailEnd type="triangle"/>
          </a:ln>
          <a:effectLst/>
        </p:spPr>
      </p:cxnSp>
      <p:cxnSp>
        <p:nvCxnSpPr>
          <p:cNvPr id="40" name="肘形连接符 39"/>
          <p:cNvCxnSpPr>
            <a:endCxn id="36" idx="3"/>
          </p:cNvCxnSpPr>
          <p:nvPr/>
        </p:nvCxnSpPr>
        <p:spPr>
          <a:xfrm rot="5400000">
            <a:off x="9271513" y="4533536"/>
            <a:ext cx="1388892" cy="899733"/>
          </a:xfrm>
          <a:prstGeom prst="bentConnector2">
            <a:avLst/>
          </a:prstGeom>
          <a:noFill/>
          <a:ln w="19050" cap="flat" cmpd="sng" algn="ctr">
            <a:solidFill>
              <a:srgbClr val="EC7061"/>
            </a:solidFill>
            <a:prstDash val="solid"/>
            <a:miter lim="800000"/>
            <a:tailEnd type="triangle"/>
          </a:ln>
          <a:effectLst/>
        </p:spPr>
      </p:cxnSp>
      <p:cxnSp>
        <p:nvCxnSpPr>
          <p:cNvPr id="41" name="直接连接符 40"/>
          <p:cNvCxnSpPr>
            <a:stCxn id="38" idx="1"/>
          </p:cNvCxnSpPr>
          <p:nvPr/>
        </p:nvCxnSpPr>
        <p:spPr>
          <a:xfrm flipV="1">
            <a:off x="9887270" y="4288956"/>
            <a:ext cx="528552" cy="1153"/>
          </a:xfrm>
          <a:prstGeom prst="line">
            <a:avLst/>
          </a:prstGeom>
          <a:noFill/>
          <a:ln w="19050" cap="flat" cmpd="sng" algn="ctr">
            <a:solidFill>
              <a:srgbClr val="EC7061"/>
            </a:solidFill>
            <a:prstDash val="solid"/>
            <a:miter lim="800000"/>
          </a:ln>
          <a:effectLst/>
        </p:spPr>
      </p:cxnSp>
      <p:sp>
        <p:nvSpPr>
          <p:cNvPr id="4" name="矩形 3"/>
          <p:cNvSpPr/>
          <p:nvPr/>
        </p:nvSpPr>
        <p:spPr>
          <a:xfrm>
            <a:off x="1640539" y="4178601"/>
            <a:ext cx="1918034" cy="415790"/>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会话层</a:t>
            </a:r>
          </a:p>
        </p:txBody>
      </p:sp>
      <p:sp>
        <p:nvSpPr>
          <p:cNvPr id="22" name="矩形 21"/>
          <p:cNvSpPr/>
          <p:nvPr/>
        </p:nvSpPr>
        <p:spPr>
          <a:xfrm>
            <a:off x="1640539" y="4867949"/>
            <a:ext cx="1918034" cy="415790"/>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传输层</a:t>
            </a:r>
          </a:p>
        </p:txBody>
      </p:sp>
      <p:sp>
        <p:nvSpPr>
          <p:cNvPr id="24" name="矩形 23"/>
          <p:cNvSpPr/>
          <p:nvPr/>
        </p:nvSpPr>
        <p:spPr>
          <a:xfrm>
            <a:off x="1640539" y="5515627"/>
            <a:ext cx="1918034" cy="415790"/>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网络层</a:t>
            </a:r>
          </a:p>
        </p:txBody>
      </p:sp>
      <p:sp>
        <p:nvSpPr>
          <p:cNvPr id="25" name="矩形 24"/>
          <p:cNvSpPr/>
          <p:nvPr/>
        </p:nvSpPr>
        <p:spPr>
          <a:xfrm>
            <a:off x="1640538" y="3487058"/>
            <a:ext cx="1918035" cy="415790"/>
          </a:xfrm>
          <a:prstGeom prst="rect">
            <a:avLst/>
          </a:prstGeom>
          <a:solidFill>
            <a:srgbClr val="30B5C5"/>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应用层（</a:t>
            </a:r>
            <a:r>
              <a:rPr lang="en-US" altLang="zh-CN" dirty="0">
                <a:solidFill>
                  <a:schemeClr val="bg1"/>
                </a:solidFill>
              </a:rPr>
              <a:t>HTTP</a:t>
            </a:r>
            <a:r>
              <a:rPr lang="zh-CN" altLang="en-US" dirty="0">
                <a:solidFill>
                  <a:schemeClr val="bg1"/>
                </a:solidFill>
              </a:rPr>
              <a:t>）</a:t>
            </a:r>
          </a:p>
        </p:txBody>
      </p:sp>
    </p:spTree>
    <p:extLst>
      <p:ext uri="{BB962C8B-B14F-4D97-AF65-F5344CB8AC3E}">
        <p14:creationId xmlns:p14="http://schemas.microsoft.com/office/powerpoint/2010/main" val="23748418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SDN</a:t>
            </a:r>
            <a:r>
              <a:rPr lang="zh-CN" altLang="en-US" dirty="0">
                <a:solidFill>
                  <a:schemeClr val="bg1">
                    <a:lumMod val="50000"/>
                  </a:schemeClr>
                </a:solidFill>
              </a:rPr>
              <a:t>概述</a:t>
            </a:r>
          </a:p>
          <a:p>
            <a:r>
              <a:rPr lang="en-US" altLang="zh-CN" dirty="0">
                <a:solidFill>
                  <a:schemeClr val="bg1">
                    <a:lumMod val="50000"/>
                  </a:schemeClr>
                </a:solidFill>
                <a:sym typeface="Huawei Sans" panose="020C0503030203020204" pitchFamily="34" charset="0"/>
              </a:rPr>
              <a:t>REST</a:t>
            </a:r>
            <a:r>
              <a:rPr lang="zh-CN" altLang="en-US" dirty="0">
                <a:solidFill>
                  <a:schemeClr val="bg1">
                    <a:lumMod val="50000"/>
                  </a:schemeClr>
                </a:solidFill>
                <a:sym typeface="Huawei Sans" panose="020C0503030203020204" pitchFamily="34" charset="0"/>
              </a:rPr>
              <a:t>和</a:t>
            </a:r>
            <a:r>
              <a:rPr lang="en-US" altLang="zh-CN" dirty="0">
                <a:solidFill>
                  <a:schemeClr val="bg1">
                    <a:lumMod val="50000"/>
                  </a:schemeClr>
                </a:solidFill>
                <a:sym typeface="Huawei Sans" panose="020C0503030203020204" pitchFamily="34" charset="0"/>
              </a:rPr>
              <a:t>RESTful</a:t>
            </a:r>
          </a:p>
          <a:p>
            <a:r>
              <a:rPr lang="en-US" altLang="zh-CN" dirty="0">
                <a:solidFill>
                  <a:schemeClr val="bg1">
                    <a:lumMod val="50000"/>
                  </a:schemeClr>
                </a:solidFill>
                <a:sym typeface="Huawei Sans" panose="020C0503030203020204" pitchFamily="34" charset="0"/>
              </a:rPr>
              <a:t>HTTP</a:t>
            </a:r>
            <a:r>
              <a:rPr lang="zh-CN" altLang="en-US" dirty="0">
                <a:solidFill>
                  <a:schemeClr val="bg1">
                    <a:lumMod val="50000"/>
                  </a:schemeClr>
                </a:solidFill>
                <a:sym typeface="Huawei Sans" panose="020C0503030203020204" pitchFamily="34" charset="0"/>
              </a:rPr>
              <a:t>工作原理</a:t>
            </a:r>
            <a:endParaRPr lang="en-US" altLang="zh-CN" dirty="0">
              <a:solidFill>
                <a:schemeClr val="bg1">
                  <a:lumMod val="50000"/>
                </a:schemeClr>
              </a:solidFill>
              <a:sym typeface="Huawei Sans" panose="020C0503030203020204" pitchFamily="34" charset="0"/>
            </a:endParaRPr>
          </a:p>
          <a:p>
            <a:r>
              <a:rPr lang="en-US" altLang="zh-CN" b="1" dirty="0">
                <a:sym typeface="Huawei Sans" panose="020C0503030203020204" pitchFamily="34" charset="0"/>
              </a:rPr>
              <a:t>RESTful</a:t>
            </a:r>
            <a:r>
              <a:rPr lang="zh-CN" altLang="en-US" b="1" dirty="0">
                <a:sym typeface="Huawei Sans" panose="020C0503030203020204" pitchFamily="34" charset="0"/>
              </a:rPr>
              <a:t>接口调用实践</a:t>
            </a:r>
            <a:endParaRPr lang="en-US" altLang="zh-CN" b="1" dirty="0">
              <a:sym typeface="Huawei Sans" panose="020C0503030203020204" pitchFamily="34" charset="0"/>
            </a:endParaRPr>
          </a:p>
          <a:p>
            <a:endParaRPr lang="zh-CN" altLang="en-US" dirty="0"/>
          </a:p>
        </p:txBody>
      </p:sp>
    </p:spTree>
    <p:extLst>
      <p:ext uri="{BB962C8B-B14F-4D97-AF65-F5344CB8AC3E}">
        <p14:creationId xmlns:p14="http://schemas.microsoft.com/office/powerpoint/2010/main" val="8240297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sz="1800" dirty="0"/>
              <a:t>案例描述：</a:t>
            </a:r>
          </a:p>
          <a:p>
            <a:pPr lvl="1"/>
            <a:r>
              <a:rPr lang="en-US" altLang="zh-CN" sz="1600" dirty="0" err="1"/>
              <a:t>iMaster</a:t>
            </a:r>
            <a:r>
              <a:rPr lang="en-US" altLang="zh-CN" sz="1600" dirty="0"/>
              <a:t> NCE</a:t>
            </a:r>
            <a:r>
              <a:rPr lang="zh-CN" altLang="en-US" sz="1600" dirty="0"/>
              <a:t>是华为集管理、控制、分析和</a:t>
            </a:r>
            <a:r>
              <a:rPr lang="en-US" altLang="zh-CN" sz="1600" dirty="0"/>
              <a:t>AI</a:t>
            </a:r>
            <a:r>
              <a:rPr lang="zh-CN" altLang="en-US" sz="1600" dirty="0"/>
              <a:t>智能功能于一体的网络自动化与智能化平台。在</a:t>
            </a:r>
            <a:r>
              <a:rPr lang="en-US" altLang="zh-CN" sz="1600" dirty="0"/>
              <a:t>SDN</a:t>
            </a:r>
            <a:r>
              <a:rPr lang="zh-CN" altLang="en-US" sz="1600" dirty="0"/>
              <a:t>网络架构中，由控制器统一纳管网络设备。用户可以根据控制器北向开放接口实现意图驱动网络。</a:t>
            </a:r>
          </a:p>
          <a:p>
            <a:pPr lvl="1"/>
            <a:r>
              <a:rPr lang="zh-CN" altLang="en-US" sz="1600" dirty="0"/>
              <a:t>本案例通过代码实践，帮助读者快速掌握使用</a:t>
            </a:r>
            <a:r>
              <a:rPr lang="en-US" altLang="zh-CN" sz="1600" dirty="0"/>
              <a:t>Python requests</a:t>
            </a:r>
            <a:r>
              <a:rPr lang="zh-CN" altLang="en-US" sz="1600" dirty="0"/>
              <a:t>模块登录</a:t>
            </a:r>
            <a:r>
              <a:rPr lang="en-US" altLang="zh-CN" sz="1600" dirty="0" err="1"/>
              <a:t>iMaster</a:t>
            </a:r>
            <a:r>
              <a:rPr lang="en-US" altLang="zh-CN" sz="1600" dirty="0"/>
              <a:t> NCE</a:t>
            </a:r>
            <a:r>
              <a:rPr lang="zh-CN" altLang="en-US" sz="1600" dirty="0"/>
              <a:t>并调用其业务接口。</a:t>
            </a:r>
          </a:p>
          <a:p>
            <a:pPr lvl="1"/>
            <a:endParaRPr lang="zh-CN" altLang="en-US" sz="1600" dirty="0"/>
          </a:p>
          <a:p>
            <a:endParaRPr lang="zh-CN" altLang="en-US" sz="1800" dirty="0"/>
          </a:p>
          <a:p>
            <a:endParaRPr lang="zh-CN" altLang="en-US" sz="1800" dirty="0"/>
          </a:p>
          <a:p>
            <a:endParaRPr lang="zh-CN" altLang="en-US" sz="1800" dirty="0"/>
          </a:p>
          <a:p>
            <a:endParaRPr lang="zh-CN" altLang="en-US" sz="1800" dirty="0"/>
          </a:p>
          <a:p>
            <a:endParaRPr lang="zh-CN" altLang="en-US" sz="1800" dirty="0"/>
          </a:p>
          <a:p>
            <a:endParaRPr lang="zh-CN" altLang="en-US" sz="1800" dirty="0"/>
          </a:p>
        </p:txBody>
      </p:sp>
      <p:sp>
        <p:nvSpPr>
          <p:cNvPr id="16" name="文本占位符 2"/>
          <p:cNvSpPr txBox="1">
            <a:spLocks/>
          </p:cNvSpPr>
          <p:nvPr/>
        </p:nvSpPr>
        <p:spPr bwMode="gray">
          <a:xfrm>
            <a:off x="468317" y="1219840"/>
            <a:ext cx="11276183" cy="2614801"/>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endParaRPr lang="en-US" altLang="zh-CN" sz="1800" dirty="0"/>
          </a:p>
        </p:txBody>
      </p:sp>
      <p:sp>
        <p:nvSpPr>
          <p:cNvPr id="2" name="标题 1"/>
          <p:cNvSpPr>
            <a:spLocks noGrp="1"/>
          </p:cNvSpPr>
          <p:nvPr>
            <p:ph type="title"/>
          </p:nvPr>
        </p:nvSpPr>
        <p:spPr bwMode="gray"/>
        <p:txBody>
          <a:bodyPr/>
          <a:lstStyle/>
          <a:p>
            <a:r>
              <a:rPr lang="zh-CN" altLang="en-US" dirty="0"/>
              <a:t>案例：调用</a:t>
            </a:r>
            <a:r>
              <a:rPr lang="en-US" altLang="zh-CN" dirty="0"/>
              <a:t>RESTful</a:t>
            </a:r>
            <a:r>
              <a:rPr lang="zh-CN" altLang="en-US" dirty="0"/>
              <a:t>接口获得</a:t>
            </a:r>
            <a:r>
              <a:rPr lang="en-US" altLang="zh-CN" dirty="0"/>
              <a:t>Token (1)</a:t>
            </a:r>
            <a:endParaRPr lang="zh-CN" altLang="en-US" dirty="0"/>
          </a:p>
        </p:txBody>
      </p:sp>
      <p:grpSp>
        <p:nvGrpSpPr>
          <p:cNvPr id="27" name="组合 26"/>
          <p:cNvGrpSpPr/>
          <p:nvPr/>
        </p:nvGrpSpPr>
        <p:grpSpPr bwMode="gray">
          <a:xfrm>
            <a:off x="2469037" y="2880233"/>
            <a:ext cx="7552745" cy="3219412"/>
            <a:chOff x="2449680" y="1458922"/>
            <a:chExt cx="7552745" cy="3219412"/>
          </a:xfrm>
        </p:grpSpPr>
        <p:cxnSp>
          <p:nvCxnSpPr>
            <p:cNvPr id="28" name="直接连接符 27"/>
            <p:cNvCxnSpPr/>
            <p:nvPr/>
          </p:nvCxnSpPr>
          <p:spPr bwMode="gray">
            <a:xfrm>
              <a:off x="3173202" y="2296928"/>
              <a:ext cx="0" cy="2381406"/>
            </a:xfrm>
            <a:prstGeom prst="line">
              <a:avLst/>
            </a:prstGeom>
            <a:noFill/>
            <a:ln w="19050" cap="flat" cmpd="sng" algn="ctr">
              <a:solidFill>
                <a:srgbClr val="EC7061"/>
              </a:solidFill>
              <a:prstDash val="sysDot"/>
              <a:miter lim="800000"/>
            </a:ln>
            <a:effectLst/>
          </p:spPr>
        </p:cxnSp>
        <p:cxnSp>
          <p:nvCxnSpPr>
            <p:cNvPr id="29" name="直接连接符 28"/>
            <p:cNvCxnSpPr/>
            <p:nvPr/>
          </p:nvCxnSpPr>
          <p:spPr bwMode="gray">
            <a:xfrm>
              <a:off x="8574570" y="2238187"/>
              <a:ext cx="0" cy="2440147"/>
            </a:xfrm>
            <a:prstGeom prst="line">
              <a:avLst/>
            </a:prstGeom>
            <a:noFill/>
            <a:ln w="19050" cap="flat" cmpd="sng" algn="ctr">
              <a:solidFill>
                <a:srgbClr val="30B5C5"/>
              </a:solidFill>
              <a:prstDash val="sysDot"/>
              <a:miter lim="800000"/>
            </a:ln>
            <a:effectLst/>
          </p:spPr>
        </p:cxnSp>
        <p:sp>
          <p:nvSpPr>
            <p:cNvPr id="30" name="文本框 29"/>
            <p:cNvSpPr txBox="1"/>
            <p:nvPr/>
          </p:nvSpPr>
          <p:spPr bwMode="gray">
            <a:xfrm>
              <a:off x="2449680" y="1495839"/>
              <a:ext cx="2068195"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effectLst/>
                  <a:uLnTx/>
                  <a:uFillTx/>
                </a:rPr>
                <a:t>客户端（</a:t>
              </a:r>
              <a:r>
                <a:rPr kumimoji="0" lang="en-US" altLang="zh-CN" sz="1600" b="0" i="0" u="none" strike="noStrike" kern="0" cap="none" spc="0" normalizeH="0" baseline="0" noProof="0" dirty="0" err="1">
                  <a:ln>
                    <a:noFill/>
                  </a:ln>
                  <a:effectLst/>
                  <a:uLnTx/>
                  <a:uFillTx/>
                </a:rPr>
                <a:t>CloudIDE</a:t>
              </a:r>
              <a:r>
                <a:rPr kumimoji="0" lang="zh-CN" altLang="en-US" sz="1600" b="0" i="0" u="none" strike="noStrike" kern="0" cap="none" spc="0" normalizeH="0" baseline="0" noProof="0" dirty="0">
                  <a:ln>
                    <a:noFill/>
                  </a:ln>
                  <a:effectLst/>
                  <a:uLnTx/>
                  <a:uFillTx/>
                </a:rPr>
                <a:t>）</a:t>
              </a:r>
              <a:endParaRPr kumimoji="0" lang="en-US" altLang="zh-CN" sz="1800" b="0" i="0" u="none" strike="noStrike" kern="0" cap="none" spc="0" normalizeH="0" baseline="0" noProof="0" dirty="0">
                <a:ln>
                  <a:noFill/>
                </a:ln>
                <a:effectLst/>
                <a:uLnTx/>
                <a:uFillTx/>
              </a:endParaRPr>
            </a:p>
          </p:txBody>
        </p:sp>
        <p:pic>
          <p:nvPicPr>
            <p:cNvPr id="31" name="图片 30" descr="PC.png"/>
            <p:cNvPicPr>
              <a:picLocks noChangeAspect="1"/>
            </p:cNvPicPr>
            <p:nvPr/>
          </p:nvPicPr>
          <p:blipFill>
            <a:blip r:embed="rId3" cstate="print"/>
            <a:stretch>
              <a:fillRect/>
            </a:stretch>
          </p:blipFill>
          <p:spPr bwMode="gray">
            <a:xfrm>
              <a:off x="2931115" y="1875720"/>
              <a:ext cx="576563" cy="442800"/>
            </a:xfrm>
            <a:prstGeom prst="rect">
              <a:avLst/>
            </a:prstGeom>
          </p:spPr>
        </p:pic>
        <p:sp>
          <p:nvSpPr>
            <p:cNvPr id="32" name="矩形 31"/>
            <p:cNvSpPr/>
            <p:nvPr/>
          </p:nvSpPr>
          <p:spPr bwMode="gray">
            <a:xfrm>
              <a:off x="4905869" y="3509831"/>
              <a:ext cx="1842171"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rPr>
                <a:t>HTTP</a:t>
              </a:r>
              <a:r>
                <a:rPr kumimoji="0" lang="zh-CN" altLang="en-US" sz="1400" b="0" i="0" u="none" strike="noStrike" kern="0" cap="none" spc="0" normalizeH="0" baseline="0" noProof="0">
                  <a:ln>
                    <a:noFill/>
                  </a:ln>
                  <a:solidFill>
                    <a:prstClr val="black"/>
                  </a:solidFill>
                  <a:effectLst/>
                  <a:uLnTx/>
                  <a:uFillTx/>
                </a:rPr>
                <a:t>响应</a:t>
              </a:r>
              <a:r>
                <a:rPr kumimoji="0" lang="en-US" altLang="zh-CN" sz="1400" b="0" i="0" u="none" strike="noStrike" kern="0" cap="none" spc="0" normalizeH="0" baseline="0" noProof="0">
                  <a:ln>
                    <a:noFill/>
                  </a:ln>
                  <a:solidFill>
                    <a:prstClr val="black"/>
                  </a:solidFill>
                  <a:effectLst/>
                  <a:uLnTx/>
                  <a:uFillTx/>
                </a:rPr>
                <a:t>Token</a:t>
              </a:r>
              <a:r>
                <a:rPr kumimoji="0" lang="zh-CN" altLang="en-US" sz="1400" b="0" i="0" u="none" strike="noStrike" kern="0" cap="none" spc="0" normalizeH="0" baseline="0" noProof="0">
                  <a:ln>
                    <a:noFill/>
                  </a:ln>
                  <a:solidFill>
                    <a:prstClr val="black"/>
                  </a:solidFill>
                  <a:effectLst/>
                  <a:uLnTx/>
                  <a:uFillTx/>
                </a:rPr>
                <a:t>数据</a:t>
              </a:r>
              <a:endParaRPr kumimoji="0" lang="zh-CN" altLang="en-US" sz="1400" b="0" i="0" u="none" strike="noStrike" kern="0" cap="none" spc="0" normalizeH="0" baseline="0" noProof="0" dirty="0">
                <a:ln>
                  <a:noFill/>
                </a:ln>
                <a:solidFill>
                  <a:prstClr val="black"/>
                </a:solidFill>
                <a:effectLst/>
                <a:uLnTx/>
                <a:uFillTx/>
              </a:endParaRPr>
            </a:p>
          </p:txBody>
        </p:sp>
        <p:cxnSp>
          <p:nvCxnSpPr>
            <p:cNvPr id="33" name="直接连接符 32"/>
            <p:cNvCxnSpPr/>
            <p:nvPr/>
          </p:nvCxnSpPr>
          <p:spPr bwMode="gray">
            <a:xfrm>
              <a:off x="3173202" y="3123150"/>
              <a:ext cx="5400000" cy="0"/>
            </a:xfrm>
            <a:prstGeom prst="line">
              <a:avLst/>
            </a:prstGeom>
            <a:noFill/>
            <a:ln w="28575" cap="flat" cmpd="sng" algn="ctr">
              <a:solidFill>
                <a:srgbClr val="EC7061"/>
              </a:solidFill>
              <a:prstDash val="solid"/>
              <a:miter lim="800000"/>
              <a:headEnd type="none" w="med" len="med"/>
              <a:tailEnd type="triangle" w="med" len="med"/>
            </a:ln>
            <a:effectLst/>
          </p:spPr>
        </p:cxnSp>
        <p:cxnSp>
          <p:nvCxnSpPr>
            <p:cNvPr id="34" name="直接连接符 33"/>
            <p:cNvCxnSpPr/>
            <p:nvPr/>
          </p:nvCxnSpPr>
          <p:spPr bwMode="gray">
            <a:xfrm flipH="1">
              <a:off x="3173202" y="3828655"/>
              <a:ext cx="5400000" cy="1"/>
            </a:xfrm>
            <a:prstGeom prst="line">
              <a:avLst/>
            </a:prstGeom>
            <a:noFill/>
            <a:ln w="28575" cap="flat" cmpd="sng" algn="ctr">
              <a:solidFill>
                <a:srgbClr val="30B5C5"/>
              </a:solidFill>
              <a:prstDash val="dash"/>
              <a:miter lim="800000"/>
              <a:headEnd type="none" w="med" len="med"/>
              <a:tailEnd type="triangle" w="med" len="med"/>
            </a:ln>
            <a:effectLst/>
          </p:spPr>
        </p:cxnSp>
        <p:sp>
          <p:nvSpPr>
            <p:cNvPr id="35" name="文本框 34"/>
            <p:cNvSpPr txBox="1"/>
            <p:nvPr/>
          </p:nvSpPr>
          <p:spPr bwMode="gray">
            <a:xfrm>
              <a:off x="4548966" y="2804325"/>
              <a:ext cx="3953447"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rPr>
                <a:t>HTTP POST</a:t>
              </a:r>
              <a:r>
                <a:rPr kumimoji="0" lang="zh-CN" altLang="en-US" sz="1400" b="0" i="0" u="none" strike="noStrike" kern="0" cap="none" spc="0" normalizeH="0" baseline="0" noProof="0">
                  <a:ln>
                    <a:noFill/>
                  </a:ln>
                  <a:solidFill>
                    <a:prstClr val="black"/>
                  </a:solidFill>
                  <a:effectLst/>
                  <a:uLnTx/>
                  <a:uFillTx/>
                </a:rPr>
                <a:t>请求获取</a:t>
              </a:r>
              <a:r>
                <a:rPr kumimoji="0" lang="en-US" altLang="zh-CN" sz="1400" b="0" i="0" u="none" strike="noStrike" kern="0" cap="none" spc="0" normalizeH="0" baseline="0" noProof="0">
                  <a:ln>
                    <a:noFill/>
                  </a:ln>
                  <a:solidFill>
                    <a:prstClr val="black"/>
                  </a:solidFill>
                  <a:effectLst/>
                  <a:uLnTx/>
                  <a:uFillTx/>
                </a:rPr>
                <a:t>Token</a:t>
              </a:r>
              <a:endParaRPr kumimoji="0" lang="zh-CN" altLang="en-US" sz="1400" b="0" i="0" u="none" strike="noStrike" kern="0" cap="none" spc="0" normalizeH="0" baseline="0" noProof="0">
                <a:ln>
                  <a:noFill/>
                </a:ln>
                <a:solidFill>
                  <a:prstClr val="black"/>
                </a:solidFill>
                <a:effectLst/>
                <a:uLnTx/>
                <a:uFillTx/>
              </a:endParaRPr>
            </a:p>
          </p:txBody>
        </p:sp>
        <p:pic>
          <p:nvPicPr>
            <p:cNvPr id="36" name="图片 35"/>
            <p:cNvPicPr>
              <a:picLocks noChangeAspect="1"/>
            </p:cNvPicPr>
            <p:nvPr/>
          </p:nvPicPr>
          <p:blipFill>
            <a:blip r:embed="rId4"/>
            <a:stretch>
              <a:fillRect/>
            </a:stretch>
          </p:blipFill>
          <p:spPr bwMode="gray">
            <a:xfrm>
              <a:off x="7930741" y="1669353"/>
              <a:ext cx="1104900" cy="666750"/>
            </a:xfrm>
            <a:prstGeom prst="rect">
              <a:avLst/>
            </a:prstGeom>
          </p:spPr>
        </p:pic>
        <p:sp>
          <p:nvSpPr>
            <p:cNvPr id="37" name="文本框 36"/>
            <p:cNvSpPr txBox="1"/>
            <p:nvPr/>
          </p:nvSpPr>
          <p:spPr bwMode="gray">
            <a:xfrm>
              <a:off x="7381142" y="1458922"/>
              <a:ext cx="2621283"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effectLst/>
                  <a:uLnTx/>
                  <a:uFillTx/>
                </a:rPr>
                <a:t>服务器（</a:t>
              </a:r>
              <a:r>
                <a:rPr kumimoji="0" lang="en-US" altLang="zh-CN" sz="1600" b="0" i="0" u="none" strike="noStrike" kern="0" cap="none" spc="0" normalizeH="0" baseline="0" noProof="0" dirty="0" err="1">
                  <a:ln>
                    <a:noFill/>
                  </a:ln>
                  <a:effectLst/>
                  <a:uLnTx/>
                  <a:uFillTx/>
                </a:rPr>
                <a:t>iMaster</a:t>
              </a:r>
              <a:r>
                <a:rPr kumimoji="0" lang="en-US" altLang="zh-CN" sz="1600" b="0" i="0" u="none" strike="noStrike" kern="0" cap="none" spc="0" normalizeH="0" baseline="0" noProof="0" dirty="0">
                  <a:ln>
                    <a:noFill/>
                  </a:ln>
                  <a:effectLst/>
                  <a:uLnTx/>
                  <a:uFillTx/>
                </a:rPr>
                <a:t> NCE</a:t>
              </a:r>
              <a:r>
                <a:rPr kumimoji="0" lang="zh-CN" altLang="en-US" sz="1600" b="0" i="0" u="none" strike="noStrike" kern="0" cap="none" spc="0" normalizeH="0" baseline="0" noProof="0" dirty="0">
                  <a:ln>
                    <a:noFill/>
                  </a:ln>
                  <a:effectLst/>
                  <a:uLnTx/>
                  <a:uFillTx/>
                </a:rPr>
                <a:t>）</a:t>
              </a:r>
              <a:endParaRPr kumimoji="0" lang="en-US" altLang="zh-CN" sz="1800" b="0" i="0" u="none" strike="noStrike" kern="0" cap="none" spc="0" normalizeH="0" baseline="0" noProof="0" dirty="0">
                <a:ln>
                  <a:noFill/>
                </a:ln>
                <a:effectLst/>
                <a:uLnTx/>
                <a:uFillTx/>
              </a:endParaRPr>
            </a:p>
          </p:txBody>
        </p:sp>
      </p:grpSp>
    </p:spTree>
    <p:extLst>
      <p:ext uri="{BB962C8B-B14F-4D97-AF65-F5344CB8AC3E}">
        <p14:creationId xmlns:p14="http://schemas.microsoft.com/office/powerpoint/2010/main" val="2825325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sz="1800" dirty="0"/>
              <a:t>配置思路：</a:t>
            </a:r>
          </a:p>
          <a:p>
            <a:pPr lvl="1"/>
            <a:r>
              <a:rPr lang="zh-CN" altLang="en-US" sz="1600" dirty="0"/>
              <a:t>环境准备：准备</a:t>
            </a:r>
            <a:r>
              <a:rPr lang="en-US" altLang="zh-CN" sz="1600" dirty="0"/>
              <a:t>IDE</a:t>
            </a:r>
            <a:r>
              <a:rPr lang="zh-CN" altLang="en-US" sz="1600" dirty="0"/>
              <a:t>和实验沙箱环境。</a:t>
            </a:r>
          </a:p>
          <a:p>
            <a:pPr lvl="1"/>
            <a:r>
              <a:rPr lang="zh-CN" altLang="en-US" sz="1600" dirty="0"/>
              <a:t>编写</a:t>
            </a:r>
            <a:r>
              <a:rPr lang="en-US" altLang="zh-CN" sz="1600" dirty="0"/>
              <a:t>Python RESTful API</a:t>
            </a:r>
            <a:r>
              <a:rPr lang="zh-CN" altLang="en-US" sz="1600" dirty="0"/>
              <a:t>调用示例代码。</a:t>
            </a:r>
          </a:p>
          <a:p>
            <a:pPr lvl="1"/>
            <a:r>
              <a:rPr lang="zh-CN" altLang="en-US" sz="1600" dirty="0"/>
              <a:t>结果验证。</a:t>
            </a:r>
          </a:p>
          <a:p>
            <a:pPr lvl="1"/>
            <a:endParaRPr lang="zh-CN" altLang="en-US" sz="1600" dirty="0"/>
          </a:p>
          <a:p>
            <a:endParaRPr lang="zh-CN" altLang="en-US" sz="1800" dirty="0"/>
          </a:p>
        </p:txBody>
      </p:sp>
      <p:sp>
        <p:nvSpPr>
          <p:cNvPr id="16" name="文本占位符 2"/>
          <p:cNvSpPr txBox="1">
            <a:spLocks/>
          </p:cNvSpPr>
          <p:nvPr/>
        </p:nvSpPr>
        <p:spPr bwMode="gray">
          <a:xfrm>
            <a:off x="468317" y="1219840"/>
            <a:ext cx="11276183" cy="2614801"/>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endParaRPr lang="en-US" altLang="zh-CN" sz="1800" dirty="0"/>
          </a:p>
        </p:txBody>
      </p:sp>
      <p:sp>
        <p:nvSpPr>
          <p:cNvPr id="2" name="标题 1"/>
          <p:cNvSpPr>
            <a:spLocks noGrp="1"/>
          </p:cNvSpPr>
          <p:nvPr>
            <p:ph type="title"/>
          </p:nvPr>
        </p:nvSpPr>
        <p:spPr bwMode="gray"/>
        <p:txBody>
          <a:bodyPr/>
          <a:lstStyle/>
          <a:p>
            <a:r>
              <a:rPr lang="zh-CN" altLang="en-US" dirty="0"/>
              <a:t>案例：调用</a:t>
            </a:r>
            <a:r>
              <a:rPr lang="en-US" altLang="zh-CN" dirty="0"/>
              <a:t>RESTful</a:t>
            </a:r>
            <a:r>
              <a:rPr lang="zh-CN" altLang="en-US" dirty="0"/>
              <a:t>接口获得</a:t>
            </a:r>
            <a:r>
              <a:rPr lang="en-US" altLang="zh-CN" dirty="0"/>
              <a:t>Token (2)</a:t>
            </a:r>
            <a:endParaRPr lang="zh-CN" altLang="en-US" dirty="0"/>
          </a:p>
        </p:txBody>
      </p:sp>
      <p:grpSp>
        <p:nvGrpSpPr>
          <p:cNvPr id="19" name="组合 18"/>
          <p:cNvGrpSpPr/>
          <p:nvPr/>
        </p:nvGrpSpPr>
        <p:grpSpPr bwMode="gray">
          <a:xfrm>
            <a:off x="2731684" y="2767617"/>
            <a:ext cx="7552745" cy="3219412"/>
            <a:chOff x="2449680" y="1458922"/>
            <a:chExt cx="7552745" cy="3219412"/>
          </a:xfrm>
        </p:grpSpPr>
        <p:cxnSp>
          <p:nvCxnSpPr>
            <p:cNvPr id="20" name="直接连接符 19"/>
            <p:cNvCxnSpPr/>
            <p:nvPr/>
          </p:nvCxnSpPr>
          <p:spPr bwMode="gray">
            <a:xfrm>
              <a:off x="3173202" y="2296928"/>
              <a:ext cx="0" cy="2381406"/>
            </a:xfrm>
            <a:prstGeom prst="line">
              <a:avLst/>
            </a:prstGeom>
            <a:noFill/>
            <a:ln w="19050" cap="flat" cmpd="sng" algn="ctr">
              <a:solidFill>
                <a:srgbClr val="EC7061"/>
              </a:solidFill>
              <a:prstDash val="sysDot"/>
              <a:miter lim="800000"/>
            </a:ln>
            <a:effectLst/>
          </p:spPr>
        </p:cxnSp>
        <p:cxnSp>
          <p:nvCxnSpPr>
            <p:cNvPr id="21" name="直接连接符 20"/>
            <p:cNvCxnSpPr/>
            <p:nvPr/>
          </p:nvCxnSpPr>
          <p:spPr bwMode="gray">
            <a:xfrm>
              <a:off x="8574570" y="2238187"/>
              <a:ext cx="0" cy="2440147"/>
            </a:xfrm>
            <a:prstGeom prst="line">
              <a:avLst/>
            </a:prstGeom>
            <a:noFill/>
            <a:ln w="19050" cap="flat" cmpd="sng" algn="ctr">
              <a:solidFill>
                <a:srgbClr val="30B5C5"/>
              </a:solidFill>
              <a:prstDash val="sysDot"/>
              <a:miter lim="800000"/>
            </a:ln>
            <a:effectLst/>
          </p:spPr>
        </p:cxnSp>
        <p:sp>
          <p:nvSpPr>
            <p:cNvPr id="22" name="文本框 21"/>
            <p:cNvSpPr txBox="1"/>
            <p:nvPr/>
          </p:nvSpPr>
          <p:spPr bwMode="gray">
            <a:xfrm>
              <a:off x="2449680" y="1495839"/>
              <a:ext cx="2068195"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effectLst/>
                  <a:uLnTx/>
                  <a:uFillTx/>
                </a:rPr>
                <a:t>客户端（</a:t>
              </a:r>
              <a:r>
                <a:rPr kumimoji="0" lang="en-US" altLang="zh-CN" sz="1600" b="0" i="0" u="none" strike="noStrike" kern="0" cap="none" spc="0" normalizeH="0" baseline="0" noProof="0" dirty="0" err="1">
                  <a:ln>
                    <a:noFill/>
                  </a:ln>
                  <a:effectLst/>
                  <a:uLnTx/>
                  <a:uFillTx/>
                </a:rPr>
                <a:t>CloudIDE</a:t>
              </a:r>
              <a:r>
                <a:rPr kumimoji="0" lang="zh-CN" altLang="en-US" sz="1600" b="0" i="0" u="none" strike="noStrike" kern="0" cap="none" spc="0" normalizeH="0" baseline="0" noProof="0" dirty="0">
                  <a:ln>
                    <a:noFill/>
                  </a:ln>
                  <a:effectLst/>
                  <a:uLnTx/>
                  <a:uFillTx/>
                </a:rPr>
                <a:t>）</a:t>
              </a:r>
              <a:endParaRPr kumimoji="0" lang="en-US" altLang="zh-CN" sz="1800" b="0" i="0" u="none" strike="noStrike" kern="0" cap="none" spc="0" normalizeH="0" baseline="0" noProof="0" dirty="0">
                <a:ln>
                  <a:noFill/>
                </a:ln>
                <a:effectLst/>
                <a:uLnTx/>
                <a:uFillTx/>
              </a:endParaRPr>
            </a:p>
          </p:txBody>
        </p:sp>
        <p:pic>
          <p:nvPicPr>
            <p:cNvPr id="23" name="图片 22" descr="PC.png"/>
            <p:cNvPicPr>
              <a:picLocks noChangeAspect="1"/>
            </p:cNvPicPr>
            <p:nvPr/>
          </p:nvPicPr>
          <p:blipFill>
            <a:blip r:embed="rId3" cstate="print"/>
            <a:stretch>
              <a:fillRect/>
            </a:stretch>
          </p:blipFill>
          <p:spPr bwMode="gray">
            <a:xfrm>
              <a:off x="2931115" y="1875720"/>
              <a:ext cx="576563" cy="442800"/>
            </a:xfrm>
            <a:prstGeom prst="rect">
              <a:avLst/>
            </a:prstGeom>
          </p:spPr>
        </p:pic>
        <p:sp>
          <p:nvSpPr>
            <p:cNvPr id="24" name="矩形 23"/>
            <p:cNvSpPr/>
            <p:nvPr/>
          </p:nvSpPr>
          <p:spPr bwMode="gray">
            <a:xfrm>
              <a:off x="4905869" y="3509831"/>
              <a:ext cx="1842171"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rPr>
                <a:t>HTTP</a:t>
              </a:r>
              <a:r>
                <a:rPr kumimoji="0" lang="zh-CN" altLang="en-US" sz="1400" b="0" i="0" u="none" strike="noStrike" kern="0" cap="none" spc="0" normalizeH="0" baseline="0" noProof="0">
                  <a:ln>
                    <a:noFill/>
                  </a:ln>
                  <a:solidFill>
                    <a:prstClr val="black"/>
                  </a:solidFill>
                  <a:effectLst/>
                  <a:uLnTx/>
                  <a:uFillTx/>
                </a:rPr>
                <a:t>响应</a:t>
              </a:r>
              <a:r>
                <a:rPr kumimoji="0" lang="en-US" altLang="zh-CN" sz="1400" b="0" i="0" u="none" strike="noStrike" kern="0" cap="none" spc="0" normalizeH="0" baseline="0" noProof="0">
                  <a:ln>
                    <a:noFill/>
                  </a:ln>
                  <a:solidFill>
                    <a:prstClr val="black"/>
                  </a:solidFill>
                  <a:effectLst/>
                  <a:uLnTx/>
                  <a:uFillTx/>
                </a:rPr>
                <a:t>Token</a:t>
              </a:r>
              <a:r>
                <a:rPr kumimoji="0" lang="zh-CN" altLang="en-US" sz="1400" b="0" i="0" u="none" strike="noStrike" kern="0" cap="none" spc="0" normalizeH="0" baseline="0" noProof="0">
                  <a:ln>
                    <a:noFill/>
                  </a:ln>
                  <a:solidFill>
                    <a:prstClr val="black"/>
                  </a:solidFill>
                  <a:effectLst/>
                  <a:uLnTx/>
                  <a:uFillTx/>
                </a:rPr>
                <a:t>数据</a:t>
              </a:r>
              <a:endParaRPr kumimoji="0" lang="zh-CN" altLang="en-US" sz="1400" b="0" i="0" u="none" strike="noStrike" kern="0" cap="none" spc="0" normalizeH="0" baseline="0" noProof="0" dirty="0">
                <a:ln>
                  <a:noFill/>
                </a:ln>
                <a:solidFill>
                  <a:prstClr val="black"/>
                </a:solidFill>
                <a:effectLst/>
                <a:uLnTx/>
                <a:uFillTx/>
              </a:endParaRPr>
            </a:p>
          </p:txBody>
        </p:sp>
        <p:cxnSp>
          <p:nvCxnSpPr>
            <p:cNvPr id="25" name="直接连接符 24"/>
            <p:cNvCxnSpPr/>
            <p:nvPr/>
          </p:nvCxnSpPr>
          <p:spPr bwMode="gray">
            <a:xfrm>
              <a:off x="3173202" y="3123150"/>
              <a:ext cx="5400000" cy="0"/>
            </a:xfrm>
            <a:prstGeom prst="line">
              <a:avLst/>
            </a:prstGeom>
            <a:noFill/>
            <a:ln w="28575" cap="flat" cmpd="sng" algn="ctr">
              <a:solidFill>
                <a:srgbClr val="EC7061"/>
              </a:solidFill>
              <a:prstDash val="solid"/>
              <a:miter lim="800000"/>
              <a:headEnd type="none" w="med" len="med"/>
              <a:tailEnd type="triangle" w="med" len="med"/>
            </a:ln>
            <a:effectLst/>
          </p:spPr>
        </p:cxnSp>
        <p:cxnSp>
          <p:nvCxnSpPr>
            <p:cNvPr id="26" name="直接连接符 25"/>
            <p:cNvCxnSpPr/>
            <p:nvPr/>
          </p:nvCxnSpPr>
          <p:spPr bwMode="gray">
            <a:xfrm flipH="1">
              <a:off x="3173202" y="3828655"/>
              <a:ext cx="5400000" cy="1"/>
            </a:xfrm>
            <a:prstGeom prst="line">
              <a:avLst/>
            </a:prstGeom>
            <a:noFill/>
            <a:ln w="28575" cap="flat" cmpd="sng" algn="ctr">
              <a:solidFill>
                <a:srgbClr val="30B5C5"/>
              </a:solidFill>
              <a:prstDash val="dash"/>
              <a:miter lim="800000"/>
              <a:headEnd type="none" w="med" len="med"/>
              <a:tailEnd type="triangle" w="med" len="med"/>
            </a:ln>
            <a:effectLst/>
          </p:spPr>
        </p:cxnSp>
        <p:sp>
          <p:nvSpPr>
            <p:cNvPr id="27" name="文本框 26"/>
            <p:cNvSpPr txBox="1"/>
            <p:nvPr/>
          </p:nvSpPr>
          <p:spPr bwMode="gray">
            <a:xfrm>
              <a:off x="4548966" y="2804325"/>
              <a:ext cx="3953447"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rPr>
                <a:t>HTTP POST</a:t>
              </a:r>
              <a:r>
                <a:rPr kumimoji="0" lang="zh-CN" altLang="en-US" sz="1400" b="0" i="0" u="none" strike="noStrike" kern="0" cap="none" spc="0" normalizeH="0" baseline="0" noProof="0">
                  <a:ln>
                    <a:noFill/>
                  </a:ln>
                  <a:solidFill>
                    <a:prstClr val="black"/>
                  </a:solidFill>
                  <a:effectLst/>
                  <a:uLnTx/>
                  <a:uFillTx/>
                </a:rPr>
                <a:t>请求获取</a:t>
              </a:r>
              <a:r>
                <a:rPr kumimoji="0" lang="en-US" altLang="zh-CN" sz="1400" b="0" i="0" u="none" strike="noStrike" kern="0" cap="none" spc="0" normalizeH="0" baseline="0" noProof="0">
                  <a:ln>
                    <a:noFill/>
                  </a:ln>
                  <a:solidFill>
                    <a:prstClr val="black"/>
                  </a:solidFill>
                  <a:effectLst/>
                  <a:uLnTx/>
                  <a:uFillTx/>
                </a:rPr>
                <a:t>Token</a:t>
              </a:r>
              <a:endParaRPr kumimoji="0" lang="zh-CN" altLang="en-US" sz="1400" b="0" i="0" u="none" strike="noStrike" kern="0" cap="none" spc="0" normalizeH="0" baseline="0" noProof="0">
                <a:ln>
                  <a:noFill/>
                </a:ln>
                <a:solidFill>
                  <a:prstClr val="black"/>
                </a:solidFill>
                <a:effectLst/>
                <a:uLnTx/>
                <a:uFillTx/>
              </a:endParaRPr>
            </a:p>
          </p:txBody>
        </p:sp>
        <p:pic>
          <p:nvPicPr>
            <p:cNvPr id="28" name="图片 27"/>
            <p:cNvPicPr>
              <a:picLocks noChangeAspect="1"/>
            </p:cNvPicPr>
            <p:nvPr/>
          </p:nvPicPr>
          <p:blipFill>
            <a:blip r:embed="rId4"/>
            <a:stretch>
              <a:fillRect/>
            </a:stretch>
          </p:blipFill>
          <p:spPr bwMode="gray">
            <a:xfrm>
              <a:off x="7930741" y="1669353"/>
              <a:ext cx="1104900" cy="666750"/>
            </a:xfrm>
            <a:prstGeom prst="rect">
              <a:avLst/>
            </a:prstGeom>
          </p:spPr>
        </p:pic>
        <p:sp>
          <p:nvSpPr>
            <p:cNvPr id="29" name="文本框 28"/>
            <p:cNvSpPr txBox="1"/>
            <p:nvPr/>
          </p:nvSpPr>
          <p:spPr bwMode="gray">
            <a:xfrm>
              <a:off x="7381142" y="1458922"/>
              <a:ext cx="2621283"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effectLst/>
                  <a:uLnTx/>
                  <a:uFillTx/>
                </a:rPr>
                <a:t>服务器（</a:t>
              </a:r>
              <a:r>
                <a:rPr kumimoji="0" lang="en-US" altLang="zh-CN" sz="1600" b="0" i="0" u="none" strike="noStrike" kern="0" cap="none" spc="0" normalizeH="0" baseline="0" noProof="0" dirty="0" err="1">
                  <a:ln>
                    <a:noFill/>
                  </a:ln>
                  <a:effectLst/>
                  <a:uLnTx/>
                  <a:uFillTx/>
                </a:rPr>
                <a:t>iMaster</a:t>
              </a:r>
              <a:r>
                <a:rPr kumimoji="0" lang="en-US" altLang="zh-CN" sz="1600" b="0" i="0" u="none" strike="noStrike" kern="0" cap="none" spc="0" normalizeH="0" baseline="0" noProof="0" dirty="0">
                  <a:ln>
                    <a:noFill/>
                  </a:ln>
                  <a:effectLst/>
                  <a:uLnTx/>
                  <a:uFillTx/>
                </a:rPr>
                <a:t> NCE</a:t>
              </a:r>
              <a:r>
                <a:rPr kumimoji="0" lang="zh-CN" altLang="en-US" sz="1600" b="0" i="0" u="none" strike="noStrike" kern="0" cap="none" spc="0" normalizeH="0" baseline="0" noProof="0" dirty="0">
                  <a:ln>
                    <a:noFill/>
                  </a:ln>
                  <a:effectLst/>
                  <a:uLnTx/>
                  <a:uFillTx/>
                </a:rPr>
                <a:t>）</a:t>
              </a:r>
              <a:endParaRPr kumimoji="0" lang="en-US" altLang="zh-CN" sz="1800" b="0" i="0" u="none" strike="noStrike" kern="0" cap="none" spc="0" normalizeH="0" baseline="0" noProof="0" dirty="0">
                <a:ln>
                  <a:noFill/>
                </a:ln>
                <a:effectLst/>
                <a:uLnTx/>
                <a:uFillTx/>
              </a:endParaRPr>
            </a:p>
          </p:txBody>
        </p:sp>
      </p:grpSp>
    </p:spTree>
    <p:extLst>
      <p:ext uri="{BB962C8B-B14F-4D97-AF65-F5344CB8AC3E}">
        <p14:creationId xmlns:p14="http://schemas.microsoft.com/office/powerpoint/2010/main" val="31823814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bwMode="gray"/>
        <p:txBody>
          <a:bodyPr/>
          <a:lstStyle/>
          <a:p>
            <a:r>
              <a:rPr lang="zh-CN" altLang="en-US" sz="1800" dirty="0"/>
              <a:t>访问</a:t>
            </a:r>
            <a:r>
              <a:rPr lang="en-US" altLang="zh-CN" sz="1800" dirty="0" err="1"/>
              <a:t>CodeHub</a:t>
            </a:r>
            <a:r>
              <a:rPr lang="zh-CN" altLang="en-US" sz="1800" dirty="0"/>
              <a:t>控制台，新建项目和云上代码仓库。</a:t>
            </a:r>
          </a:p>
          <a:p>
            <a:endParaRPr lang="zh-CN" altLang="en-US" sz="1800" dirty="0"/>
          </a:p>
          <a:p>
            <a:endParaRPr lang="zh-CN" altLang="en-US" sz="1800" dirty="0"/>
          </a:p>
        </p:txBody>
      </p:sp>
      <p:sp>
        <p:nvSpPr>
          <p:cNvPr id="16" name="文本占位符 2"/>
          <p:cNvSpPr txBox="1">
            <a:spLocks/>
          </p:cNvSpPr>
          <p:nvPr/>
        </p:nvSpPr>
        <p:spPr bwMode="gray">
          <a:xfrm>
            <a:off x="468317" y="1219840"/>
            <a:ext cx="11276183" cy="2614801"/>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endParaRPr lang="en-US" altLang="zh-CN" sz="1800" dirty="0"/>
          </a:p>
        </p:txBody>
      </p:sp>
      <p:sp>
        <p:nvSpPr>
          <p:cNvPr id="2" name="标题 1"/>
          <p:cNvSpPr>
            <a:spLocks noGrp="1"/>
          </p:cNvSpPr>
          <p:nvPr>
            <p:ph type="title"/>
          </p:nvPr>
        </p:nvSpPr>
        <p:spPr bwMode="gray"/>
        <p:txBody>
          <a:bodyPr/>
          <a:lstStyle/>
          <a:p>
            <a:r>
              <a:rPr lang="zh-CN" altLang="en-US" dirty="0"/>
              <a:t>步骤：新建代码仓库</a:t>
            </a:r>
          </a:p>
        </p:txBody>
      </p:sp>
      <p:pic>
        <p:nvPicPr>
          <p:cNvPr id="5" name="图片 4"/>
          <p:cNvPicPr/>
          <p:nvPr/>
        </p:nvPicPr>
        <p:blipFill>
          <a:blip r:embed="rId3"/>
          <a:stretch>
            <a:fillRect/>
          </a:stretch>
        </p:blipFill>
        <p:spPr bwMode="gray">
          <a:xfrm>
            <a:off x="1454344" y="1862966"/>
            <a:ext cx="8821769" cy="3549556"/>
          </a:xfrm>
          <a:prstGeom prst="rect">
            <a:avLst/>
          </a:prstGeom>
          <a:ln>
            <a:solidFill>
              <a:schemeClr val="bg1">
                <a:lumMod val="85000"/>
              </a:schemeClr>
            </a:solidFill>
          </a:ln>
        </p:spPr>
      </p:pic>
    </p:spTree>
    <p:extLst>
      <p:ext uri="{BB962C8B-B14F-4D97-AF65-F5344CB8AC3E}">
        <p14:creationId xmlns:p14="http://schemas.microsoft.com/office/powerpoint/2010/main" val="3747958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sz="1800" dirty="0"/>
              <a:t>将完整代码</a:t>
            </a:r>
            <a:r>
              <a:rPr lang="en-US" altLang="zh-CN" sz="1800" dirty="0"/>
              <a:t>Fork</a:t>
            </a:r>
            <a:r>
              <a:rPr lang="zh-CN" altLang="en-US" sz="1800" dirty="0"/>
              <a:t>到仓库中。本章节完整代码已上传到华为云</a:t>
            </a:r>
            <a:r>
              <a:rPr lang="en-US" altLang="zh-CN" sz="1800" dirty="0" err="1"/>
              <a:t>DevCloud</a:t>
            </a:r>
            <a:r>
              <a:rPr lang="zh-CN" altLang="en-US" sz="1800" dirty="0"/>
              <a:t>。读者可以使用华为</a:t>
            </a:r>
            <a:r>
              <a:rPr lang="en-US" altLang="zh-CN" sz="1800" dirty="0" err="1"/>
              <a:t>CloudIDE</a:t>
            </a:r>
            <a:r>
              <a:rPr lang="zh-CN" altLang="en-US" sz="1800" dirty="0"/>
              <a:t>将代码下载至本地（或者在线编程）。</a:t>
            </a:r>
          </a:p>
          <a:p>
            <a:endParaRPr lang="zh-CN" altLang="en-US" sz="1800" dirty="0"/>
          </a:p>
          <a:p>
            <a:endParaRPr lang="zh-CN" altLang="en-US" sz="1800" dirty="0"/>
          </a:p>
        </p:txBody>
      </p:sp>
      <p:sp>
        <p:nvSpPr>
          <p:cNvPr id="16" name="文本占位符 2"/>
          <p:cNvSpPr txBox="1">
            <a:spLocks/>
          </p:cNvSpPr>
          <p:nvPr/>
        </p:nvSpPr>
        <p:spPr bwMode="gray">
          <a:xfrm>
            <a:off x="468317" y="1219840"/>
            <a:ext cx="11276183" cy="2614801"/>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endParaRPr lang="en-US" altLang="zh-CN" sz="1800" dirty="0"/>
          </a:p>
        </p:txBody>
      </p:sp>
      <p:sp>
        <p:nvSpPr>
          <p:cNvPr id="2" name="标题 1"/>
          <p:cNvSpPr>
            <a:spLocks noGrp="1"/>
          </p:cNvSpPr>
          <p:nvPr>
            <p:ph type="title"/>
          </p:nvPr>
        </p:nvSpPr>
        <p:spPr bwMode="gray"/>
        <p:txBody>
          <a:bodyPr/>
          <a:lstStyle/>
          <a:p>
            <a:r>
              <a:rPr lang="zh-CN" altLang="en-US"/>
              <a:t>步骤：</a:t>
            </a:r>
            <a:r>
              <a:rPr lang="en-US" altLang="zh-CN"/>
              <a:t>Fork</a:t>
            </a:r>
            <a:r>
              <a:rPr lang="zh-CN" altLang="en-US"/>
              <a:t>完整代码</a:t>
            </a:r>
            <a:endParaRPr lang="zh-CN" altLang="en-US" dirty="0"/>
          </a:p>
        </p:txBody>
      </p:sp>
      <p:pic>
        <p:nvPicPr>
          <p:cNvPr id="6" name="图片 5"/>
          <p:cNvPicPr/>
          <p:nvPr/>
        </p:nvPicPr>
        <p:blipFill>
          <a:blip r:embed="rId3"/>
          <a:stretch>
            <a:fillRect/>
          </a:stretch>
        </p:blipFill>
        <p:spPr bwMode="gray">
          <a:xfrm>
            <a:off x="1066332" y="2163337"/>
            <a:ext cx="9259698" cy="3450454"/>
          </a:xfrm>
          <a:prstGeom prst="rect">
            <a:avLst/>
          </a:prstGeom>
          <a:ln>
            <a:solidFill>
              <a:schemeClr val="bg1">
                <a:lumMod val="85000"/>
              </a:schemeClr>
            </a:solidFill>
          </a:ln>
        </p:spPr>
      </p:pic>
      <p:sp>
        <p:nvSpPr>
          <p:cNvPr id="4" name="矩形 3"/>
          <p:cNvSpPr/>
          <p:nvPr/>
        </p:nvSpPr>
        <p:spPr>
          <a:xfrm>
            <a:off x="2927927" y="2632364"/>
            <a:ext cx="1524000" cy="157018"/>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340349" y="2632364"/>
            <a:ext cx="1524000" cy="157018"/>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23331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7"/>
          <p:cNvSpPr txBox="1">
            <a:spLocks/>
          </p:cNvSpPr>
          <p:nvPr/>
        </p:nvSpPr>
        <p:spPr bwMode="gray">
          <a:xfrm>
            <a:off x="455612" y="2581311"/>
            <a:ext cx="11293475" cy="4879805"/>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base"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800" dirty="0" err="1"/>
              <a:t>CloudIDE</a:t>
            </a:r>
            <a:r>
              <a:rPr lang="zh-CN" altLang="en-US" sz="1800" dirty="0"/>
              <a:t>界面显示如下：</a:t>
            </a:r>
          </a:p>
        </p:txBody>
      </p:sp>
      <p:sp>
        <p:nvSpPr>
          <p:cNvPr id="8" name="文本占位符 7"/>
          <p:cNvSpPr>
            <a:spLocks noGrp="1"/>
          </p:cNvSpPr>
          <p:nvPr>
            <p:ph type="body" sz="quarter" idx="10"/>
          </p:nvPr>
        </p:nvSpPr>
        <p:spPr bwMode="gray"/>
        <p:txBody>
          <a:bodyPr/>
          <a:lstStyle/>
          <a:p>
            <a:r>
              <a:rPr lang="zh-CN" altLang="en-US" sz="1800" dirty="0"/>
              <a:t>点击</a:t>
            </a:r>
            <a:r>
              <a:rPr lang="en-US" altLang="zh-CN" sz="1800" dirty="0" err="1"/>
              <a:t>CloudIDE</a:t>
            </a:r>
            <a:r>
              <a:rPr lang="zh-CN" altLang="en-US" sz="1800" dirty="0"/>
              <a:t>即可打开代码。</a:t>
            </a:r>
          </a:p>
          <a:p>
            <a:endParaRPr lang="zh-CN" altLang="en-US" sz="1800" dirty="0"/>
          </a:p>
          <a:p>
            <a:endParaRPr lang="zh-CN" altLang="en-US" sz="1800" dirty="0"/>
          </a:p>
        </p:txBody>
      </p:sp>
      <p:sp>
        <p:nvSpPr>
          <p:cNvPr id="16" name="文本占位符 2"/>
          <p:cNvSpPr txBox="1">
            <a:spLocks/>
          </p:cNvSpPr>
          <p:nvPr/>
        </p:nvSpPr>
        <p:spPr bwMode="gray">
          <a:xfrm>
            <a:off x="468317" y="1219841"/>
            <a:ext cx="11276183" cy="38789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endParaRPr lang="en-US" altLang="zh-CN" sz="1800" dirty="0"/>
          </a:p>
        </p:txBody>
      </p:sp>
      <p:sp>
        <p:nvSpPr>
          <p:cNvPr id="2" name="标题 1"/>
          <p:cNvSpPr>
            <a:spLocks noGrp="1"/>
          </p:cNvSpPr>
          <p:nvPr>
            <p:ph type="title"/>
          </p:nvPr>
        </p:nvSpPr>
        <p:spPr bwMode="gray"/>
        <p:txBody>
          <a:bodyPr/>
          <a:lstStyle/>
          <a:p>
            <a:r>
              <a:rPr lang="zh-CN" altLang="en-US"/>
              <a:t>步骤：打开</a:t>
            </a:r>
            <a:r>
              <a:rPr lang="en-US" altLang="zh-CN"/>
              <a:t>CloudIDE</a:t>
            </a:r>
            <a:endParaRPr lang="zh-CN" altLang="en-US" dirty="0"/>
          </a:p>
        </p:txBody>
      </p:sp>
      <p:pic>
        <p:nvPicPr>
          <p:cNvPr id="5" name="图片 4"/>
          <p:cNvPicPr/>
          <p:nvPr/>
        </p:nvPicPr>
        <p:blipFill>
          <a:blip r:embed="rId3"/>
          <a:stretch>
            <a:fillRect/>
          </a:stretch>
        </p:blipFill>
        <p:spPr bwMode="gray">
          <a:xfrm>
            <a:off x="674111" y="1595939"/>
            <a:ext cx="8415727" cy="956238"/>
          </a:xfrm>
          <a:prstGeom prst="rect">
            <a:avLst/>
          </a:prstGeom>
          <a:ln>
            <a:solidFill>
              <a:schemeClr val="bg1">
                <a:lumMod val="85000"/>
              </a:schemeClr>
            </a:solidFill>
          </a:ln>
        </p:spPr>
      </p:pic>
      <p:pic>
        <p:nvPicPr>
          <p:cNvPr id="7" name="图片 6"/>
          <p:cNvPicPr/>
          <p:nvPr/>
        </p:nvPicPr>
        <p:blipFill>
          <a:blip r:embed="rId4"/>
          <a:stretch>
            <a:fillRect/>
          </a:stretch>
        </p:blipFill>
        <p:spPr bwMode="gray">
          <a:xfrm>
            <a:off x="674111" y="3056099"/>
            <a:ext cx="8415727" cy="2959849"/>
          </a:xfrm>
          <a:prstGeom prst="rect">
            <a:avLst/>
          </a:prstGeom>
        </p:spPr>
      </p:pic>
    </p:spTree>
    <p:extLst>
      <p:ext uri="{BB962C8B-B14F-4D97-AF65-F5344CB8AC3E}">
        <p14:creationId xmlns:p14="http://schemas.microsoft.com/office/powerpoint/2010/main" val="15754091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bwMode="gray"/>
        <p:txBody>
          <a:bodyPr/>
          <a:lstStyle/>
          <a:p>
            <a:r>
              <a:rPr lang="zh-CN" altLang="en-US" sz="1800" dirty="0"/>
              <a:t>沙箱预约</a:t>
            </a:r>
          </a:p>
          <a:p>
            <a:pPr lvl="1"/>
            <a:r>
              <a:rPr lang="zh-CN" altLang="en-US" sz="1600" dirty="0"/>
              <a:t>开发者社区提供华为数通解决的沙箱体验，本实验申请智简园区网络沙箱。</a:t>
            </a:r>
          </a:p>
          <a:p>
            <a:pPr lvl="1"/>
            <a:r>
              <a:rPr lang="zh-CN" altLang="en-US" sz="1600" dirty="0"/>
              <a:t>沙箱提供两种体验方式，快速体验和</a:t>
            </a:r>
            <a:r>
              <a:rPr lang="en-US" altLang="zh-CN" sz="1600" dirty="0"/>
              <a:t>Demo</a:t>
            </a:r>
            <a:r>
              <a:rPr lang="zh-CN" altLang="en-US" sz="1600" dirty="0"/>
              <a:t>调测。本实验基于</a:t>
            </a:r>
            <a:r>
              <a:rPr lang="en-US" altLang="zh-CN" sz="1600" dirty="0" err="1"/>
              <a:t>CloudIDE</a:t>
            </a:r>
            <a:r>
              <a:rPr lang="zh-CN" altLang="en-US" sz="1600" dirty="0"/>
              <a:t>，选择“快速体验”方式。</a:t>
            </a:r>
          </a:p>
          <a:p>
            <a:pPr lvl="1"/>
            <a:endParaRPr lang="zh-CN" altLang="en-US" sz="1600" dirty="0"/>
          </a:p>
          <a:p>
            <a:endParaRPr lang="zh-CN" altLang="en-US" sz="1800" dirty="0"/>
          </a:p>
        </p:txBody>
      </p:sp>
      <p:sp>
        <p:nvSpPr>
          <p:cNvPr id="16" name="文本占位符 2"/>
          <p:cNvSpPr txBox="1">
            <a:spLocks/>
          </p:cNvSpPr>
          <p:nvPr/>
        </p:nvSpPr>
        <p:spPr bwMode="gray">
          <a:xfrm>
            <a:off x="468317" y="1219841"/>
            <a:ext cx="11276183" cy="38789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endParaRPr lang="en-US" altLang="zh-CN" sz="1800" dirty="0"/>
          </a:p>
        </p:txBody>
      </p:sp>
      <p:sp>
        <p:nvSpPr>
          <p:cNvPr id="2" name="标题 1"/>
          <p:cNvSpPr>
            <a:spLocks noGrp="1"/>
          </p:cNvSpPr>
          <p:nvPr>
            <p:ph type="title"/>
          </p:nvPr>
        </p:nvSpPr>
        <p:spPr bwMode="gray"/>
        <p:txBody>
          <a:bodyPr/>
          <a:lstStyle/>
          <a:p>
            <a:r>
              <a:rPr lang="zh-CN" altLang="en-US"/>
              <a:t>步骤：沙箱预约</a:t>
            </a:r>
            <a:endParaRPr lang="zh-CN" altLang="en-US" dirty="0"/>
          </a:p>
        </p:txBody>
      </p:sp>
      <p:pic>
        <p:nvPicPr>
          <p:cNvPr id="5" name="图片 4"/>
          <p:cNvPicPr>
            <a:picLocks noChangeAspect="1"/>
          </p:cNvPicPr>
          <p:nvPr/>
        </p:nvPicPr>
        <p:blipFill>
          <a:blip r:embed="rId3"/>
          <a:stretch>
            <a:fillRect/>
          </a:stretch>
        </p:blipFill>
        <p:spPr bwMode="gray">
          <a:xfrm>
            <a:off x="1103243" y="2431156"/>
            <a:ext cx="9660835" cy="3338889"/>
          </a:xfrm>
          <a:prstGeom prst="rect">
            <a:avLst/>
          </a:prstGeom>
          <a:ln>
            <a:solidFill>
              <a:schemeClr val="bg1">
                <a:lumMod val="85000"/>
              </a:schemeClr>
            </a:solidFill>
          </a:ln>
        </p:spPr>
      </p:pic>
    </p:spTree>
    <p:extLst>
      <p:ext uri="{BB962C8B-B14F-4D97-AF65-F5344CB8AC3E}">
        <p14:creationId xmlns:p14="http://schemas.microsoft.com/office/powerpoint/2010/main" val="21207027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bwMode="gray"/>
        <p:txBody>
          <a:bodyPr/>
          <a:lstStyle/>
          <a:p>
            <a:r>
              <a:rPr lang="zh-CN" altLang="en-US" sz="1800" dirty="0"/>
              <a:t>查看沙箱信息</a:t>
            </a:r>
          </a:p>
          <a:p>
            <a:pPr lvl="1"/>
            <a:r>
              <a:rPr lang="zh-CN" altLang="en-US" sz="1600" dirty="0"/>
              <a:t>“租户账号”为用户</a:t>
            </a:r>
            <a:r>
              <a:rPr lang="en-US" altLang="zh-CN" sz="1600" dirty="0"/>
              <a:t>NCE</a:t>
            </a:r>
            <a:r>
              <a:rPr lang="zh-CN" altLang="en-US" sz="1600" dirty="0"/>
              <a:t>页面登录账户。</a:t>
            </a:r>
          </a:p>
          <a:p>
            <a:pPr lvl="1"/>
            <a:r>
              <a:rPr lang="zh-CN" altLang="en-US" sz="1600" dirty="0"/>
              <a:t>“北向账号”为位置定位应用与</a:t>
            </a:r>
            <a:r>
              <a:rPr lang="en-US" altLang="zh-CN" sz="1600" dirty="0"/>
              <a:t>NCE</a:t>
            </a:r>
            <a:r>
              <a:rPr lang="zh-CN" altLang="en-US" sz="1600" dirty="0"/>
              <a:t>交互的账号。</a:t>
            </a:r>
          </a:p>
          <a:p>
            <a:pPr lvl="1"/>
            <a:r>
              <a:rPr lang="zh-CN" altLang="en-US" sz="1600" dirty="0"/>
              <a:t>“北向</a:t>
            </a:r>
            <a:r>
              <a:rPr lang="en-US" altLang="zh-CN" sz="1600" dirty="0"/>
              <a:t>URL”</a:t>
            </a:r>
            <a:r>
              <a:rPr lang="zh-CN" altLang="en-US" sz="1600" dirty="0"/>
              <a:t>为</a:t>
            </a:r>
            <a:r>
              <a:rPr lang="en-US" altLang="zh-CN" sz="1600" dirty="0" err="1"/>
              <a:t>iMaster</a:t>
            </a:r>
            <a:r>
              <a:rPr lang="en-US" altLang="zh-CN" sz="1600" dirty="0"/>
              <a:t> NCE</a:t>
            </a:r>
            <a:r>
              <a:rPr lang="zh-CN" altLang="en-US" sz="1600" dirty="0"/>
              <a:t>登录地址，点击“前往体验”可跳转。</a:t>
            </a:r>
          </a:p>
          <a:p>
            <a:pPr lvl="1"/>
            <a:r>
              <a:rPr lang="zh-CN" altLang="en-US" sz="1600" dirty="0"/>
              <a:t>“密码”为本次申请的沙箱环境的登录密码。</a:t>
            </a:r>
          </a:p>
          <a:p>
            <a:pPr lvl="1"/>
            <a:endParaRPr lang="zh-CN" altLang="en-US" sz="1600" dirty="0"/>
          </a:p>
          <a:p>
            <a:pPr lvl="1"/>
            <a:endParaRPr lang="zh-CN" altLang="en-US" sz="1600" dirty="0"/>
          </a:p>
          <a:p>
            <a:endParaRPr lang="zh-CN" altLang="en-US" sz="1800" dirty="0"/>
          </a:p>
        </p:txBody>
      </p:sp>
      <p:sp>
        <p:nvSpPr>
          <p:cNvPr id="16" name="文本占位符 2"/>
          <p:cNvSpPr txBox="1">
            <a:spLocks/>
          </p:cNvSpPr>
          <p:nvPr/>
        </p:nvSpPr>
        <p:spPr bwMode="gray">
          <a:xfrm>
            <a:off x="468317" y="1219841"/>
            <a:ext cx="11276183" cy="38789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endParaRPr lang="en-US" altLang="zh-CN" sz="1800" dirty="0"/>
          </a:p>
        </p:txBody>
      </p:sp>
      <p:sp>
        <p:nvSpPr>
          <p:cNvPr id="2" name="标题 1"/>
          <p:cNvSpPr>
            <a:spLocks noGrp="1"/>
          </p:cNvSpPr>
          <p:nvPr>
            <p:ph type="title"/>
          </p:nvPr>
        </p:nvSpPr>
        <p:spPr bwMode="gray"/>
        <p:txBody>
          <a:bodyPr/>
          <a:lstStyle/>
          <a:p>
            <a:r>
              <a:rPr lang="zh-CN" altLang="en-US"/>
              <a:t>步骤：沙箱信息</a:t>
            </a:r>
            <a:endParaRPr lang="zh-CN" altLang="en-US" dirty="0"/>
          </a:p>
        </p:txBody>
      </p:sp>
      <p:pic>
        <p:nvPicPr>
          <p:cNvPr id="4" name="图片 3"/>
          <p:cNvPicPr>
            <a:picLocks noChangeAspect="1"/>
          </p:cNvPicPr>
          <p:nvPr/>
        </p:nvPicPr>
        <p:blipFill>
          <a:blip r:embed="rId3"/>
          <a:stretch>
            <a:fillRect/>
          </a:stretch>
        </p:blipFill>
        <p:spPr bwMode="gray">
          <a:xfrm>
            <a:off x="3067223" y="3331993"/>
            <a:ext cx="3146144" cy="2709862"/>
          </a:xfrm>
          <a:prstGeom prst="rect">
            <a:avLst/>
          </a:prstGeom>
          <a:ln>
            <a:solidFill>
              <a:schemeClr val="bg1">
                <a:lumMod val="85000"/>
              </a:schemeClr>
            </a:solidFill>
          </a:ln>
        </p:spPr>
      </p:pic>
      <p:sp>
        <p:nvSpPr>
          <p:cNvPr id="3" name="矩形 2"/>
          <p:cNvSpPr/>
          <p:nvPr/>
        </p:nvSpPr>
        <p:spPr bwMode="gray">
          <a:xfrm>
            <a:off x="3260436" y="5126182"/>
            <a:ext cx="1708727" cy="1385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275137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2"/>
          <p:cNvSpPr txBox="1">
            <a:spLocks/>
          </p:cNvSpPr>
          <p:nvPr/>
        </p:nvSpPr>
        <p:spPr bwMode="gray">
          <a:xfrm>
            <a:off x="468317" y="1219841"/>
            <a:ext cx="11276183" cy="354307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endParaRPr lang="en-US" altLang="zh-CN" sz="1800" dirty="0"/>
          </a:p>
        </p:txBody>
      </p:sp>
      <p:sp>
        <p:nvSpPr>
          <p:cNvPr id="2" name="标题 1"/>
          <p:cNvSpPr>
            <a:spLocks noGrp="1"/>
          </p:cNvSpPr>
          <p:nvPr>
            <p:ph type="title"/>
          </p:nvPr>
        </p:nvSpPr>
        <p:spPr bwMode="gray"/>
        <p:txBody>
          <a:bodyPr/>
          <a:lstStyle/>
          <a:p>
            <a:r>
              <a:rPr lang="zh-CN" altLang="en-US"/>
              <a:t>步骤：安装</a:t>
            </a:r>
            <a:r>
              <a:rPr lang="en-US" altLang="zh-CN"/>
              <a:t>requests</a:t>
            </a:r>
            <a:r>
              <a:rPr lang="zh-CN" altLang="en-US"/>
              <a:t>模块</a:t>
            </a:r>
            <a:endParaRPr lang="zh-CN" altLang="en-US" dirty="0"/>
          </a:p>
        </p:txBody>
      </p:sp>
      <p:sp>
        <p:nvSpPr>
          <p:cNvPr id="5" name="文本占位符 4"/>
          <p:cNvSpPr>
            <a:spLocks noGrp="1"/>
          </p:cNvSpPr>
          <p:nvPr>
            <p:ph type="body" sz="quarter" idx="10"/>
          </p:nvPr>
        </p:nvSpPr>
        <p:spPr bwMode="gray"/>
        <p:txBody>
          <a:bodyPr/>
          <a:lstStyle/>
          <a:p>
            <a:r>
              <a:rPr lang="zh-CN" altLang="en-US" sz="1800" dirty="0"/>
              <a:t>安装</a:t>
            </a:r>
            <a:r>
              <a:rPr lang="en-US" altLang="zh-CN" sz="1800" dirty="0"/>
              <a:t>requests</a:t>
            </a:r>
            <a:r>
              <a:rPr lang="zh-CN" altLang="en-US" sz="1800" dirty="0"/>
              <a:t>模块</a:t>
            </a:r>
          </a:p>
          <a:p>
            <a:pPr lvl="1"/>
            <a:r>
              <a:rPr lang="zh-CN" altLang="en-US" sz="1600" dirty="0"/>
              <a:t>本实验需要使用</a:t>
            </a:r>
            <a:r>
              <a:rPr lang="en-US" altLang="zh-CN" sz="1600" dirty="0"/>
              <a:t>Python requests</a:t>
            </a:r>
            <a:r>
              <a:rPr lang="zh-CN" altLang="en-US" sz="1600" dirty="0"/>
              <a:t>模块。</a:t>
            </a:r>
            <a:r>
              <a:rPr lang="en-US" altLang="zh-CN" sz="1600" dirty="0" err="1"/>
              <a:t>CloudIDE</a:t>
            </a:r>
            <a:r>
              <a:rPr lang="zh-CN" altLang="en-US" sz="1600" dirty="0"/>
              <a:t>中新建及运行</a:t>
            </a:r>
            <a:r>
              <a:rPr lang="en-US" altLang="zh-CN" sz="1600" dirty="0"/>
              <a:t>setup.py</a:t>
            </a:r>
            <a:r>
              <a:rPr lang="zh-CN" altLang="en-US" sz="1600" dirty="0"/>
              <a:t>代码安装</a:t>
            </a:r>
            <a:r>
              <a:rPr lang="en-US" altLang="zh-CN" sz="1600" dirty="0"/>
              <a:t>requests</a:t>
            </a:r>
            <a:r>
              <a:rPr lang="zh-CN" altLang="en-US" sz="1600" dirty="0"/>
              <a:t>模块。或者在</a:t>
            </a:r>
            <a:r>
              <a:rPr lang="en-US" altLang="zh-CN" sz="1600" dirty="0" err="1"/>
              <a:t>ClioudIDE</a:t>
            </a:r>
            <a:r>
              <a:rPr lang="en-US" altLang="zh-CN" sz="1600" dirty="0"/>
              <a:t> python</a:t>
            </a:r>
            <a:r>
              <a:rPr lang="zh-CN" altLang="en-US" sz="1600" dirty="0"/>
              <a:t>命令行终端输入</a:t>
            </a:r>
            <a:r>
              <a:rPr lang="en-US" altLang="zh-CN" sz="1600" dirty="0"/>
              <a:t>pip3 install requests</a:t>
            </a:r>
            <a:r>
              <a:rPr lang="zh-CN" altLang="en-US" sz="1600" dirty="0"/>
              <a:t>进行安装。</a:t>
            </a:r>
          </a:p>
          <a:p>
            <a:pPr lvl="1"/>
            <a:endParaRPr lang="zh-CN" altLang="en-US" sz="1600" dirty="0"/>
          </a:p>
          <a:p>
            <a:endParaRPr lang="zh-CN" altLang="en-US" sz="1800" dirty="0"/>
          </a:p>
          <a:p>
            <a:endParaRPr lang="zh-CN" altLang="en-US" sz="1800" dirty="0"/>
          </a:p>
        </p:txBody>
      </p:sp>
      <p:sp>
        <p:nvSpPr>
          <p:cNvPr id="6" name="文本占位符 2"/>
          <p:cNvSpPr txBox="1">
            <a:spLocks/>
          </p:cNvSpPr>
          <p:nvPr/>
        </p:nvSpPr>
        <p:spPr bwMode="gray">
          <a:xfrm>
            <a:off x="468317" y="1219841"/>
            <a:ext cx="11276183" cy="38789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endParaRPr lang="en-US" altLang="zh-CN" sz="1800" dirty="0"/>
          </a:p>
        </p:txBody>
      </p:sp>
      <p:pic>
        <p:nvPicPr>
          <p:cNvPr id="10" name="图片 9"/>
          <p:cNvPicPr/>
          <p:nvPr/>
        </p:nvPicPr>
        <p:blipFill>
          <a:blip r:embed="rId3"/>
          <a:stretch>
            <a:fillRect/>
          </a:stretch>
        </p:blipFill>
        <p:spPr bwMode="gray">
          <a:xfrm>
            <a:off x="4827982" y="2514724"/>
            <a:ext cx="6657975" cy="3151568"/>
          </a:xfrm>
          <a:prstGeom prst="rect">
            <a:avLst/>
          </a:prstGeom>
        </p:spPr>
      </p:pic>
      <p:sp>
        <p:nvSpPr>
          <p:cNvPr id="11" name="文本框 10">
            <a:extLst>
              <a:ext uri="{FF2B5EF4-FFF2-40B4-BE49-F238E27FC236}">
                <a16:creationId xmlns:a16="http://schemas.microsoft.com/office/drawing/2014/main" id="{E4E30EB8-DE34-4595-BCF8-67A3852D8F2A}"/>
              </a:ext>
            </a:extLst>
          </p:cNvPr>
          <p:cNvSpPr txBox="1"/>
          <p:nvPr/>
        </p:nvSpPr>
        <p:spPr bwMode="gray">
          <a:xfrm>
            <a:off x="622699" y="2558240"/>
            <a:ext cx="3642555" cy="867930"/>
          </a:xfrm>
          <a:prstGeom prst="rect">
            <a:avLst/>
          </a:prstGeom>
          <a:noFill/>
          <a:ln>
            <a:solidFill>
              <a:srgbClr val="30B5C5"/>
            </a:solidFill>
          </a:ln>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rPr>
              <a:t>import os</a:t>
            </a:r>
          </a:p>
          <a:p>
            <a:pPr marL="0" marR="0" lvl="0" indent="0" defTabSz="914400" eaLnBrk="1" fontAlgn="auto" latinLnBrk="0" hangingPunct="1">
              <a:lnSpc>
                <a:spcPct val="12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prstClr val="black"/>
              </a:solidFill>
              <a:effectLst/>
              <a:uLnTx/>
              <a:uFillTx/>
            </a:endParaRPr>
          </a:p>
          <a:p>
            <a:pPr marL="0" marR="0" lvl="0" indent="0" defTabSz="914400" eaLnBrk="1" fontAlgn="auto" latinLnBrk="0" hangingPunct="1">
              <a:lnSpc>
                <a:spcPct val="12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rPr>
              <a:t>os.system(“pip3 install requests”)</a:t>
            </a:r>
          </a:p>
        </p:txBody>
      </p:sp>
    </p:spTree>
    <p:extLst>
      <p:ext uri="{BB962C8B-B14F-4D97-AF65-F5344CB8AC3E}">
        <p14:creationId xmlns:p14="http://schemas.microsoft.com/office/powerpoint/2010/main" val="24346836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t>步骤：编写</a:t>
            </a:r>
            <a:r>
              <a:rPr lang="en-US" altLang="zh-CN"/>
              <a:t>Python</a:t>
            </a:r>
            <a:r>
              <a:rPr lang="zh-CN" altLang="en-US"/>
              <a:t>脚本</a:t>
            </a:r>
            <a:endParaRPr lang="zh-CN" altLang="en-US" dirty="0"/>
          </a:p>
        </p:txBody>
      </p:sp>
      <p:sp>
        <p:nvSpPr>
          <p:cNvPr id="9" name="文本占位符 8"/>
          <p:cNvSpPr>
            <a:spLocks noGrp="1"/>
          </p:cNvSpPr>
          <p:nvPr>
            <p:ph type="body" sz="quarter" idx="10"/>
          </p:nvPr>
        </p:nvSpPr>
        <p:spPr bwMode="gray"/>
        <p:txBody>
          <a:bodyPr/>
          <a:lstStyle/>
          <a:p>
            <a:r>
              <a:rPr lang="zh-CN" altLang="en-US" sz="1800" dirty="0"/>
              <a:t>编写</a:t>
            </a:r>
            <a:r>
              <a:rPr lang="en-US" altLang="zh-CN" sz="1800" dirty="0"/>
              <a:t>Python</a:t>
            </a:r>
            <a:r>
              <a:rPr lang="zh-CN" altLang="en-US" sz="1800" dirty="0"/>
              <a:t>脚本</a:t>
            </a:r>
          </a:p>
          <a:p>
            <a:endParaRPr lang="zh-CN" altLang="en-US" sz="1800" dirty="0"/>
          </a:p>
        </p:txBody>
      </p:sp>
      <p:sp>
        <p:nvSpPr>
          <p:cNvPr id="22" name="文本框 21">
            <a:extLst>
              <a:ext uri="{FF2B5EF4-FFF2-40B4-BE49-F238E27FC236}">
                <a16:creationId xmlns:a16="http://schemas.microsoft.com/office/drawing/2014/main" id="{773D837C-8D89-4B32-AD1E-4199EF71F59D}"/>
              </a:ext>
            </a:extLst>
          </p:cNvPr>
          <p:cNvSpPr txBox="1"/>
          <p:nvPr/>
        </p:nvSpPr>
        <p:spPr bwMode="gray">
          <a:xfrm>
            <a:off x="4999406" y="1081663"/>
            <a:ext cx="6520954" cy="5004447"/>
          </a:xfrm>
          <a:prstGeom prst="rect">
            <a:avLst/>
          </a:prstGeom>
          <a:noFill/>
          <a:ln>
            <a:solidFill>
              <a:srgbClr val="30B5C5"/>
            </a:solidFill>
          </a:ln>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import requests  </a:t>
            </a:r>
          </a:p>
          <a:p>
            <a:pPr marL="0" marR="0" lvl="0" indent="0" defTabSz="914400" eaLnBrk="1" fontAlgn="auto" latinLnBrk="0" hangingPunct="1">
              <a:lnSpc>
                <a:spcPct val="12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nbi_name = "campus02@north.com"  </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nbi_pwd = "5aAZ4lh44@"  </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host = "139.9.213.72"  </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port = "18002"</a:t>
            </a:r>
          </a:p>
          <a:p>
            <a:pPr marL="0" marR="0" lvl="0" indent="0" defTabSz="914400" eaLnBrk="1" fontAlgn="auto" latinLnBrk="0" hangingPunct="1">
              <a:lnSpc>
                <a:spcPct val="12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POST_TOKEN_URL = "/controller/v2/tokens"  </a:t>
            </a:r>
          </a:p>
          <a:p>
            <a:pPr marL="0" marR="0" lvl="0" indent="0" defTabSz="914400" eaLnBrk="1" fontAlgn="auto" latinLnBrk="0" hangingPunct="1">
              <a:lnSpc>
                <a:spcPct val="12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post_token_url = "https://" + host + ":" + port + POST_TOKEN_URL  </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headers_post = {'Content-Type': 'application/json', 'Accept': 'application/json'}  </a:t>
            </a:r>
          </a:p>
          <a:p>
            <a:pPr marL="0" marR="0" lvl="0" indent="0" defTabSz="914400" eaLnBrk="1" fontAlgn="auto" latinLnBrk="0" hangingPunct="1">
              <a:lnSpc>
                <a:spcPct val="12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r = requests.post(post_token_url, headers=headers_post, json={"userName": nbi_name, "password": nbi_pwd}, verify=False)  </a:t>
            </a:r>
          </a:p>
          <a:p>
            <a:pPr marL="0" marR="0" lvl="0" indent="0" defTabSz="914400" eaLnBrk="1" fontAlgn="auto" latinLnBrk="0" hangingPunct="1">
              <a:lnSpc>
                <a:spcPct val="12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token_id = r.json()['data']['token_id']  </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print("1.【Get Token Id】")  </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print("【post_token_url】："+post_token_url)  </a:t>
            </a:r>
          </a:p>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print("【token_id】："+token_id)  </a:t>
            </a:r>
          </a:p>
        </p:txBody>
      </p:sp>
      <p:sp>
        <p:nvSpPr>
          <p:cNvPr id="23" name="文本框 22">
            <a:extLst>
              <a:ext uri="{FF2B5EF4-FFF2-40B4-BE49-F238E27FC236}">
                <a16:creationId xmlns:a16="http://schemas.microsoft.com/office/drawing/2014/main" id="{76555FBF-27B5-43BA-BEF8-5D6B48E01858}"/>
              </a:ext>
            </a:extLst>
          </p:cNvPr>
          <p:cNvSpPr txBox="1"/>
          <p:nvPr/>
        </p:nvSpPr>
        <p:spPr bwMode="gray">
          <a:xfrm>
            <a:off x="2184578" y="1969246"/>
            <a:ext cx="2827117" cy="350865"/>
          </a:xfrm>
          <a:prstGeom prst="rect">
            <a:avLst/>
          </a:prstGeom>
          <a:noFill/>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solidFill>
                <a:effectLst/>
                <a:uLnTx/>
                <a:uFillTx/>
              </a:rPr>
              <a:t>配置北向用户信息及北向地址 </a:t>
            </a:r>
          </a:p>
        </p:txBody>
      </p:sp>
      <p:sp>
        <p:nvSpPr>
          <p:cNvPr id="24" name="左大括号 23"/>
          <p:cNvSpPr/>
          <p:nvPr/>
        </p:nvSpPr>
        <p:spPr bwMode="gray">
          <a:xfrm>
            <a:off x="4753799" y="1719497"/>
            <a:ext cx="161158" cy="873760"/>
          </a:xfrm>
          <a:prstGeom prst="leftBrace">
            <a:avLst/>
          </a:prstGeom>
          <a:noFill/>
          <a:ln w="12700" cap="flat" cmpd="sng" algn="ctr">
            <a:solidFill>
              <a:srgbClr val="30B5C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a:ea typeface="方正兰亭黑简体"/>
              <a:cs typeface="+mn-cs"/>
            </a:endParaRPr>
          </a:p>
        </p:txBody>
      </p:sp>
      <p:sp>
        <p:nvSpPr>
          <p:cNvPr id="25" name="文本框 24"/>
          <p:cNvSpPr txBox="1"/>
          <p:nvPr/>
        </p:nvSpPr>
        <p:spPr bwMode="gray">
          <a:xfrm>
            <a:off x="4647223" y="2889757"/>
            <a:ext cx="728943" cy="307777"/>
          </a:xfrm>
          <a:prstGeom prst="rect">
            <a:avLst/>
          </a:prstGeom>
          <a:noFill/>
          <a:ln>
            <a:noFill/>
          </a:ln>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kumimoji="0" sz="1400" b="0" i="0" u="none" strike="noStrike" kern="0" cap="none" spc="0" normalizeH="0" baseline="0">
                <a:ln>
                  <a:noFill/>
                </a:ln>
                <a:solidFill>
                  <a:srgbClr val="30B5C5"/>
                </a:solidFill>
                <a:effectLst/>
                <a:uLnTx/>
                <a:uFillTx/>
              </a:defRPr>
            </a:lvl1pPr>
          </a:lstStyle>
          <a:p>
            <a:r>
              <a:rPr lang="en-US" altLang="zh-CN" dirty="0"/>
              <a:t>--</a:t>
            </a:r>
            <a:endParaRPr lang="zh-CN" altLang="en-US" dirty="0"/>
          </a:p>
        </p:txBody>
      </p:sp>
      <p:sp>
        <p:nvSpPr>
          <p:cNvPr id="26" name="文本框 25">
            <a:extLst>
              <a:ext uri="{FF2B5EF4-FFF2-40B4-BE49-F238E27FC236}">
                <a16:creationId xmlns:a16="http://schemas.microsoft.com/office/drawing/2014/main" id="{76555FBF-27B5-43BA-BEF8-5D6B48E01858}"/>
              </a:ext>
            </a:extLst>
          </p:cNvPr>
          <p:cNvSpPr txBox="1"/>
          <p:nvPr/>
        </p:nvSpPr>
        <p:spPr bwMode="gray">
          <a:xfrm>
            <a:off x="3241218" y="2875168"/>
            <a:ext cx="1512581" cy="334002"/>
          </a:xfrm>
          <a:prstGeom prst="rect">
            <a:avLst/>
          </a:prstGeom>
          <a:noFill/>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solidFill>
                <a:effectLst/>
                <a:uLnTx/>
                <a:uFillTx/>
              </a:rPr>
              <a:t>定义接口的URI</a:t>
            </a:r>
          </a:p>
        </p:txBody>
      </p:sp>
      <p:sp>
        <p:nvSpPr>
          <p:cNvPr id="27" name="文本框 26"/>
          <p:cNvSpPr txBox="1"/>
          <p:nvPr/>
        </p:nvSpPr>
        <p:spPr bwMode="gray">
          <a:xfrm>
            <a:off x="4647223" y="3416854"/>
            <a:ext cx="728943" cy="307777"/>
          </a:xfrm>
          <a:prstGeom prst="rect">
            <a:avLst/>
          </a:prstGeom>
          <a:noFill/>
          <a:ln>
            <a:noFill/>
          </a:ln>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kumimoji="0" sz="1400" b="0" i="0" u="none" strike="noStrike" kern="0" cap="none" spc="0" normalizeH="0" baseline="0">
                <a:ln>
                  <a:noFill/>
                </a:ln>
                <a:solidFill>
                  <a:srgbClr val="30B5C5"/>
                </a:solidFill>
                <a:effectLst/>
                <a:uLnTx/>
                <a:uFillTx/>
              </a:defRPr>
            </a:lvl1pPr>
          </a:lstStyle>
          <a:p>
            <a:r>
              <a:rPr lang="en-US" altLang="zh-CN"/>
              <a:t>--</a:t>
            </a:r>
            <a:endParaRPr lang="zh-CN" altLang="en-US"/>
          </a:p>
        </p:txBody>
      </p:sp>
      <p:sp>
        <p:nvSpPr>
          <p:cNvPr id="28" name="文本框 27">
            <a:extLst>
              <a:ext uri="{FF2B5EF4-FFF2-40B4-BE49-F238E27FC236}">
                <a16:creationId xmlns:a16="http://schemas.microsoft.com/office/drawing/2014/main" id="{76555FBF-27B5-43BA-BEF8-5D6B48E01858}"/>
              </a:ext>
            </a:extLst>
          </p:cNvPr>
          <p:cNvSpPr txBox="1"/>
          <p:nvPr/>
        </p:nvSpPr>
        <p:spPr bwMode="gray">
          <a:xfrm>
            <a:off x="3241218" y="3402265"/>
            <a:ext cx="1512581" cy="350865"/>
          </a:xfrm>
          <a:prstGeom prst="rect">
            <a:avLst/>
          </a:prstGeom>
          <a:noFill/>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solidFill>
                <a:effectLst/>
                <a:uLnTx/>
                <a:uFillTx/>
              </a:rPr>
              <a:t>配置</a:t>
            </a:r>
            <a:r>
              <a:rPr kumimoji="0" lang="en-US" altLang="zh-CN" sz="1400" b="0" i="0" u="none" strike="noStrike" kern="0" cap="none" spc="0" normalizeH="0" baseline="0" noProof="0">
                <a:ln>
                  <a:noFill/>
                </a:ln>
                <a:solidFill>
                  <a:prstClr val="black"/>
                </a:solidFill>
                <a:effectLst/>
                <a:uLnTx/>
                <a:uFillTx/>
              </a:rPr>
              <a:t>URL</a:t>
            </a:r>
            <a:endParaRPr kumimoji="0" lang="zh-CN" altLang="en-US" sz="1400" b="0" i="0" u="none" strike="noStrike" kern="0" cap="none" spc="0" normalizeH="0" baseline="0" noProof="0">
              <a:ln>
                <a:noFill/>
              </a:ln>
              <a:solidFill>
                <a:prstClr val="black"/>
              </a:solidFill>
              <a:effectLst/>
              <a:uLnTx/>
              <a:uFillTx/>
            </a:endParaRPr>
          </a:p>
        </p:txBody>
      </p:sp>
      <p:sp>
        <p:nvSpPr>
          <p:cNvPr id="29" name="文本框 28"/>
          <p:cNvSpPr txBox="1"/>
          <p:nvPr/>
        </p:nvSpPr>
        <p:spPr bwMode="gray">
          <a:xfrm>
            <a:off x="4647223" y="3699172"/>
            <a:ext cx="728943" cy="307777"/>
          </a:xfrm>
          <a:prstGeom prst="rect">
            <a:avLst/>
          </a:prstGeom>
          <a:noFill/>
          <a:ln>
            <a:noFill/>
          </a:ln>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kumimoji="0" sz="1400" b="0" i="0" u="none" strike="noStrike" kern="0" cap="none" spc="0" normalizeH="0" baseline="0">
                <a:ln>
                  <a:noFill/>
                </a:ln>
                <a:solidFill>
                  <a:srgbClr val="30B5C5"/>
                </a:solidFill>
                <a:effectLst/>
                <a:uLnTx/>
                <a:uFillTx/>
              </a:defRPr>
            </a:lvl1pPr>
          </a:lstStyle>
          <a:p>
            <a:r>
              <a:rPr lang="en-US" altLang="zh-CN" dirty="0"/>
              <a:t>--</a:t>
            </a:r>
            <a:endParaRPr lang="zh-CN" altLang="en-US" dirty="0"/>
          </a:p>
        </p:txBody>
      </p:sp>
      <p:sp>
        <p:nvSpPr>
          <p:cNvPr id="30" name="文本框 29">
            <a:extLst>
              <a:ext uri="{FF2B5EF4-FFF2-40B4-BE49-F238E27FC236}">
                <a16:creationId xmlns:a16="http://schemas.microsoft.com/office/drawing/2014/main" id="{76555FBF-27B5-43BA-BEF8-5D6B48E01858}"/>
              </a:ext>
            </a:extLst>
          </p:cNvPr>
          <p:cNvSpPr txBox="1"/>
          <p:nvPr/>
        </p:nvSpPr>
        <p:spPr bwMode="gray">
          <a:xfrm>
            <a:off x="3241218" y="3684583"/>
            <a:ext cx="1512581" cy="334002"/>
          </a:xfrm>
          <a:prstGeom prst="rect">
            <a:avLst/>
          </a:prstGeom>
          <a:noFill/>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solidFill>
                <a:effectLst/>
                <a:uLnTx/>
                <a:uFillTx/>
              </a:rPr>
              <a:t>配置请求头部</a:t>
            </a:r>
          </a:p>
        </p:txBody>
      </p:sp>
      <p:sp>
        <p:nvSpPr>
          <p:cNvPr id="31" name="文本框 30"/>
          <p:cNvSpPr txBox="1"/>
          <p:nvPr/>
        </p:nvSpPr>
        <p:spPr bwMode="gray">
          <a:xfrm>
            <a:off x="4655254" y="4153936"/>
            <a:ext cx="728943" cy="307777"/>
          </a:xfrm>
          <a:prstGeom prst="rect">
            <a:avLst/>
          </a:prstGeom>
          <a:noFill/>
          <a:ln>
            <a:noFill/>
          </a:ln>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kumimoji="0" sz="1400" b="0" i="0" u="none" strike="noStrike" kern="0" cap="none" spc="0" normalizeH="0" baseline="0">
                <a:ln>
                  <a:noFill/>
                </a:ln>
                <a:solidFill>
                  <a:srgbClr val="30B5C5"/>
                </a:solidFill>
                <a:effectLst/>
                <a:uLnTx/>
                <a:uFillTx/>
              </a:defRPr>
            </a:lvl1pPr>
          </a:lstStyle>
          <a:p>
            <a:r>
              <a:rPr lang="en-US" altLang="zh-CN"/>
              <a:t>--</a:t>
            </a:r>
            <a:endParaRPr lang="zh-CN" altLang="en-US"/>
          </a:p>
        </p:txBody>
      </p:sp>
      <p:sp>
        <p:nvSpPr>
          <p:cNvPr id="32" name="文本框 31">
            <a:extLst>
              <a:ext uri="{FF2B5EF4-FFF2-40B4-BE49-F238E27FC236}">
                <a16:creationId xmlns:a16="http://schemas.microsoft.com/office/drawing/2014/main" id="{76555FBF-27B5-43BA-BEF8-5D6B48E01858}"/>
              </a:ext>
            </a:extLst>
          </p:cNvPr>
          <p:cNvSpPr txBox="1"/>
          <p:nvPr/>
        </p:nvSpPr>
        <p:spPr bwMode="gray">
          <a:xfrm>
            <a:off x="1847096" y="4139347"/>
            <a:ext cx="2869960" cy="350865"/>
          </a:xfrm>
          <a:prstGeom prst="rect">
            <a:avLst/>
          </a:prstGeom>
          <a:noFill/>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solidFill>
                <a:effectLst/>
                <a:uLnTx/>
                <a:uFillTx/>
              </a:rPr>
              <a:t>发起请求，报文体为</a:t>
            </a:r>
            <a:r>
              <a:rPr kumimoji="0" lang="en-US" altLang="zh-CN" sz="1400" b="0" i="0" u="none" strike="noStrike" kern="0" cap="none" spc="0" normalizeH="0" baseline="0" noProof="0">
                <a:ln>
                  <a:noFill/>
                </a:ln>
                <a:solidFill>
                  <a:prstClr val="black"/>
                </a:solidFill>
                <a:effectLst/>
                <a:uLnTx/>
                <a:uFillTx/>
              </a:rPr>
              <a:t>json</a:t>
            </a:r>
            <a:r>
              <a:rPr kumimoji="0" lang="zh-CN" altLang="en-US" sz="1400" b="0" i="0" u="none" strike="noStrike" kern="0" cap="none" spc="0" normalizeH="0" baseline="0" noProof="0">
                <a:ln>
                  <a:noFill/>
                </a:ln>
                <a:solidFill>
                  <a:prstClr val="black"/>
                </a:solidFill>
                <a:effectLst/>
                <a:uLnTx/>
                <a:uFillTx/>
              </a:rPr>
              <a:t>格式数据</a:t>
            </a:r>
          </a:p>
        </p:txBody>
      </p:sp>
      <p:sp>
        <p:nvSpPr>
          <p:cNvPr id="33" name="文本框 32"/>
          <p:cNvSpPr txBox="1"/>
          <p:nvPr/>
        </p:nvSpPr>
        <p:spPr bwMode="gray">
          <a:xfrm>
            <a:off x="4657482" y="4962782"/>
            <a:ext cx="728943" cy="307777"/>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30B5C5"/>
                </a:solidFill>
                <a:effectLst/>
                <a:uLnTx/>
                <a:uFillTx/>
              </a:rPr>
              <a:t>--</a:t>
            </a:r>
            <a:endParaRPr kumimoji="0" lang="zh-CN" altLang="en-US" sz="1400" b="0" i="0" u="none" strike="noStrike" kern="0" cap="none" spc="0" normalizeH="0" baseline="0" noProof="0" dirty="0">
              <a:ln>
                <a:noFill/>
              </a:ln>
              <a:solidFill>
                <a:srgbClr val="30B5C5"/>
              </a:solidFill>
              <a:effectLst/>
              <a:uLnTx/>
              <a:uFillTx/>
            </a:endParaRPr>
          </a:p>
        </p:txBody>
      </p:sp>
      <p:sp>
        <p:nvSpPr>
          <p:cNvPr id="34" name="文本框 33">
            <a:extLst>
              <a:ext uri="{FF2B5EF4-FFF2-40B4-BE49-F238E27FC236}">
                <a16:creationId xmlns:a16="http://schemas.microsoft.com/office/drawing/2014/main" id="{76555FBF-27B5-43BA-BEF8-5D6B48E01858}"/>
              </a:ext>
            </a:extLst>
          </p:cNvPr>
          <p:cNvSpPr txBox="1"/>
          <p:nvPr/>
        </p:nvSpPr>
        <p:spPr bwMode="gray">
          <a:xfrm>
            <a:off x="2396679" y="4948193"/>
            <a:ext cx="2322605" cy="350865"/>
          </a:xfrm>
          <a:prstGeom prst="rect">
            <a:avLst/>
          </a:prstGeom>
          <a:noFill/>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解析返回数据，获得</a:t>
            </a:r>
            <a:r>
              <a:rPr kumimoji="0" lang="en-US" altLang="zh-CN" sz="1400" b="0" i="0" u="none" strike="noStrike" kern="0" cap="none" spc="0" normalizeH="0" baseline="0" noProof="0" dirty="0">
                <a:ln>
                  <a:noFill/>
                </a:ln>
                <a:solidFill>
                  <a:prstClr val="black"/>
                </a:solidFill>
                <a:effectLst/>
                <a:uLnTx/>
                <a:uFillTx/>
              </a:rPr>
              <a:t>token</a:t>
            </a:r>
            <a:endParaRPr kumimoji="0" lang="zh-CN" altLang="en-US" sz="14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30578450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t>结果验证</a:t>
            </a:r>
          </a:p>
        </p:txBody>
      </p:sp>
      <p:sp>
        <p:nvSpPr>
          <p:cNvPr id="7" name="文本占位符 6"/>
          <p:cNvSpPr>
            <a:spLocks noGrp="1"/>
          </p:cNvSpPr>
          <p:nvPr>
            <p:ph type="body" sz="quarter" idx="10"/>
          </p:nvPr>
        </p:nvSpPr>
        <p:spPr bwMode="gray"/>
        <p:txBody>
          <a:bodyPr/>
          <a:lstStyle/>
          <a:p>
            <a:r>
              <a:rPr lang="zh-CN" altLang="en-US" sz="1800" dirty="0"/>
              <a:t>通过调用</a:t>
            </a:r>
            <a:r>
              <a:rPr lang="en-US" altLang="zh-CN" sz="1800" dirty="0"/>
              <a:t>RESTful</a:t>
            </a:r>
            <a:r>
              <a:rPr lang="zh-CN" altLang="en-US" sz="1800" dirty="0"/>
              <a:t>接口获得了返回的结果，即</a:t>
            </a:r>
            <a:r>
              <a:rPr lang="en-US" altLang="zh-CN" sz="1800" dirty="0" err="1"/>
              <a:t>token_id</a:t>
            </a:r>
            <a:r>
              <a:rPr lang="zh-CN" altLang="en-US" sz="1800" dirty="0"/>
              <a:t>：</a:t>
            </a:r>
          </a:p>
          <a:p>
            <a:endParaRPr lang="zh-CN" altLang="en-US" sz="1800" dirty="0"/>
          </a:p>
        </p:txBody>
      </p:sp>
      <p:sp>
        <p:nvSpPr>
          <p:cNvPr id="5" name="文本占位符 2"/>
          <p:cNvSpPr txBox="1">
            <a:spLocks/>
          </p:cNvSpPr>
          <p:nvPr/>
        </p:nvSpPr>
        <p:spPr bwMode="gray">
          <a:xfrm>
            <a:off x="468317" y="1219841"/>
            <a:ext cx="11276183" cy="354307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p>
        </p:txBody>
      </p:sp>
      <p:sp>
        <p:nvSpPr>
          <p:cNvPr id="8" name="文本框 7">
            <a:extLst>
              <a:ext uri="{FF2B5EF4-FFF2-40B4-BE49-F238E27FC236}">
                <a16:creationId xmlns:a16="http://schemas.microsoft.com/office/drawing/2014/main" id="{773D837C-8D89-4B32-AD1E-4199EF71F59D}"/>
              </a:ext>
            </a:extLst>
          </p:cNvPr>
          <p:cNvSpPr txBox="1"/>
          <p:nvPr/>
        </p:nvSpPr>
        <p:spPr bwMode="gray">
          <a:xfrm>
            <a:off x="568411" y="2054989"/>
            <a:ext cx="9363529" cy="1938992"/>
          </a:xfrm>
          <a:prstGeom prst="rect">
            <a:avLst/>
          </a:prstGeom>
          <a:noFill/>
          <a:ln>
            <a:solidFill>
              <a:srgbClr val="30B5C5"/>
            </a:solidFill>
          </a:ln>
        </p:spPr>
        <p:txBody>
          <a:bodyPr wrap="square" rtlCol="0">
            <a:spAutoFit/>
          </a:bodyPr>
          <a:lstStyle/>
          <a:p>
            <a:pPr marR="0" lvl="0" defTabSz="914400" eaLnBrk="1" fontAlgn="auto" latinLnBrk="0" hangingPunct="1">
              <a:lnSpc>
                <a:spcPct val="150000"/>
              </a:lnSpc>
              <a:spcBef>
                <a:spcPts val="0"/>
              </a:spcBef>
              <a:spcAft>
                <a:spcPts val="0"/>
              </a:spcAft>
              <a:buClrTx/>
              <a:buSzTx/>
              <a:tabLst/>
              <a:defRPr/>
            </a:pPr>
            <a:r>
              <a:rPr kumimoji="0" lang="en-US" altLang="zh-CN" sz="1600" b="0" i="0" u="none" strike="noStrike" kern="0" cap="none" spc="0" normalizeH="0" baseline="0" noProof="0" dirty="0">
                <a:ln>
                  <a:noFill/>
                </a:ln>
                <a:solidFill>
                  <a:prstClr val="black"/>
                </a:solidFill>
                <a:effectLst/>
                <a:uLnTx/>
                <a:uFillTx/>
              </a:rPr>
              <a:t>     </a:t>
            </a:r>
            <a:r>
              <a:rPr kumimoji="0" lang="zh-CN" altLang="zh-CN" sz="1600" b="0" i="0" u="none" strike="noStrike" kern="0" cap="none" spc="0" normalizeH="0" baseline="0" noProof="0" dirty="0">
                <a:ln>
                  <a:noFill/>
                </a:ln>
                <a:solidFill>
                  <a:prstClr val="black"/>
                </a:solidFill>
                <a:effectLst/>
                <a:uLnTx/>
                <a:uFillTx/>
              </a:rPr>
              <a:t>【</a:t>
            </a:r>
            <a:r>
              <a:rPr kumimoji="0" lang="en-US" altLang="zh-CN" sz="1600" b="0" i="0" u="none" strike="noStrike" kern="0" cap="none" spc="0" normalizeH="0" baseline="0" noProof="0" dirty="0">
                <a:ln>
                  <a:noFill/>
                </a:ln>
                <a:solidFill>
                  <a:prstClr val="black"/>
                </a:solidFill>
                <a:effectLst/>
                <a:uLnTx/>
                <a:uFillTx/>
              </a:rPr>
              <a:t>Get Token Id</a:t>
            </a:r>
            <a:r>
              <a:rPr kumimoji="0" lang="zh-CN" altLang="zh-CN" sz="1600" b="0" i="0" u="none" strike="noStrike" kern="0" cap="none" spc="0" normalizeH="0" baseline="0" noProof="0" dirty="0">
                <a:ln>
                  <a:noFill/>
                </a:ln>
                <a:solidFill>
                  <a:prstClr val="black"/>
                </a:solidFill>
                <a:effectLst/>
                <a:uLnTx/>
                <a:uFillTx/>
              </a:rPr>
              <a:t>】</a:t>
            </a:r>
          </a:p>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rPr>
              <a:t>     </a:t>
            </a:r>
            <a:r>
              <a:rPr kumimoji="0" lang="zh-CN" altLang="zh-CN" sz="1600" b="0" i="0" u="none" strike="noStrike" kern="0" cap="none" spc="0" normalizeH="0" baseline="0" noProof="0" dirty="0">
                <a:ln>
                  <a:noFill/>
                </a:ln>
                <a:solidFill>
                  <a:prstClr val="black"/>
                </a:solidFill>
                <a:effectLst/>
                <a:uLnTx/>
                <a:uFillTx/>
              </a:rPr>
              <a:t>【</a:t>
            </a:r>
            <a:r>
              <a:rPr kumimoji="0" lang="en-US" altLang="zh-CN" sz="1600" b="0" i="0" u="none" strike="noStrike" kern="0" cap="none" spc="0" normalizeH="0" baseline="0" noProof="0" dirty="0" err="1">
                <a:ln>
                  <a:noFill/>
                </a:ln>
                <a:solidFill>
                  <a:prstClr val="black"/>
                </a:solidFill>
                <a:effectLst/>
                <a:uLnTx/>
                <a:uFillTx/>
              </a:rPr>
              <a:t>post_token_url</a:t>
            </a:r>
            <a:r>
              <a:rPr kumimoji="0" lang="zh-CN" altLang="zh-CN" sz="1600" b="0" i="0" u="none" strike="noStrike" kern="0" cap="none" spc="0" normalizeH="0" baseline="0" noProof="0" dirty="0">
                <a:ln>
                  <a:noFill/>
                </a:ln>
                <a:solidFill>
                  <a:prstClr val="black"/>
                </a:solidFill>
                <a:effectLst/>
                <a:uLnTx/>
                <a:uFillTx/>
              </a:rPr>
              <a:t>】：</a:t>
            </a:r>
            <a:r>
              <a:rPr kumimoji="0" lang="en-US" altLang="zh-CN" sz="1600" b="0" i="0" u="none" strike="noStrike" kern="0" cap="none" spc="0" normalizeH="0" baseline="0" noProof="0" dirty="0">
                <a:ln>
                  <a:noFill/>
                </a:ln>
                <a:solidFill>
                  <a:prstClr val="black"/>
                </a:solidFill>
                <a:effectLst/>
                <a:uLnTx/>
                <a:uFillTx/>
              </a:rPr>
              <a:t>https://139.9.213.72:18002/controller/v2/tokens</a:t>
            </a:r>
            <a:endParaRPr kumimoji="0" lang="zh-CN" altLang="zh-CN" sz="16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rPr>
              <a:t>     </a:t>
            </a:r>
            <a:r>
              <a:rPr kumimoji="0" lang="zh-CN" altLang="zh-CN" sz="1600" b="0" i="0" u="none" strike="noStrike" kern="0" cap="none" spc="0" normalizeH="0" baseline="0" noProof="0" dirty="0">
                <a:ln>
                  <a:noFill/>
                </a:ln>
                <a:solidFill>
                  <a:prstClr val="black"/>
                </a:solidFill>
                <a:effectLst/>
                <a:uLnTx/>
                <a:uFillTx/>
              </a:rPr>
              <a:t>【</a:t>
            </a:r>
            <a:r>
              <a:rPr kumimoji="0" lang="en-US" altLang="zh-CN" sz="1600" b="0" i="0" u="none" strike="noStrike" kern="0" cap="none" spc="0" normalizeH="0" baseline="0" noProof="0" dirty="0" err="1">
                <a:ln>
                  <a:noFill/>
                </a:ln>
                <a:solidFill>
                  <a:prstClr val="black"/>
                </a:solidFill>
                <a:effectLst/>
                <a:uLnTx/>
                <a:uFillTx/>
              </a:rPr>
              <a:t>token_id</a:t>
            </a:r>
            <a:r>
              <a:rPr kumimoji="0" lang="zh-CN" altLang="zh-CN" sz="1600" b="0" i="0" u="none" strike="noStrike" kern="0" cap="none" spc="0" normalizeH="0" baseline="0" noProof="0" dirty="0">
                <a:ln>
                  <a:noFill/>
                </a:ln>
                <a:solidFill>
                  <a:prstClr val="black"/>
                </a:solidFill>
                <a:effectLst/>
                <a:uLnTx/>
                <a:uFillTx/>
              </a:rPr>
              <a:t>】：</a:t>
            </a:r>
            <a:r>
              <a:rPr kumimoji="0" lang="en-US" altLang="zh-CN" sz="1600" b="0" i="0" u="none" strike="noStrike" kern="0" cap="none" spc="0" normalizeH="0" baseline="0" noProof="0" dirty="0">
                <a:ln>
                  <a:noFill/>
                </a:ln>
                <a:solidFill>
                  <a:prstClr val="black"/>
                </a:solidFill>
                <a:effectLst/>
                <a:uLnTx/>
                <a:uFillTx/>
              </a:rPr>
              <a:t>x- rs5jvy7z47vsum042r2qc9vtaq44o9hgqohf3uca7z9clio5vvvz86al3s5dvs0aphpck5defw45uqpi3xdgddmn482kgajutf7vlfs649rw6k5c6r6l0a5i1g4b5j9c</a:t>
            </a:r>
            <a:endParaRPr kumimoji="0" lang="zh-CN" altLang="zh-CN" sz="16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847409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a:t>(</a:t>
            </a:r>
            <a:r>
              <a:rPr lang="zh-CN" altLang="en-US" dirty="0"/>
              <a:t>单选题</a:t>
            </a:r>
            <a:r>
              <a:rPr lang="en-US" altLang="zh-CN" dirty="0"/>
              <a:t>)</a:t>
            </a:r>
            <a:r>
              <a:rPr lang="zh-CN" altLang="en-US" dirty="0"/>
              <a:t>以下采用哪种方法的</a:t>
            </a:r>
            <a:r>
              <a:rPr lang="en-US" altLang="zh-CN" dirty="0"/>
              <a:t>HTTP</a:t>
            </a:r>
            <a:r>
              <a:rPr lang="zh-CN" altLang="en-US" dirty="0"/>
              <a:t>请求不需要请求数据？</a:t>
            </a:r>
            <a:r>
              <a:rPr lang="en-US" altLang="zh-CN" dirty="0"/>
              <a:t>(     )</a:t>
            </a:r>
          </a:p>
          <a:p>
            <a:pPr lvl="1"/>
            <a:r>
              <a:rPr lang="en-US" altLang="zh-CN" dirty="0"/>
              <a:t>POST</a:t>
            </a:r>
            <a:endParaRPr lang="zh-CN" altLang="en-US" dirty="0"/>
          </a:p>
          <a:p>
            <a:pPr lvl="1"/>
            <a:r>
              <a:rPr lang="en-US" altLang="zh-CN" dirty="0"/>
              <a:t>GET</a:t>
            </a:r>
            <a:endParaRPr lang="zh-CN" altLang="en-US" dirty="0"/>
          </a:p>
          <a:p>
            <a:pPr lvl="1"/>
            <a:r>
              <a:rPr lang="en-US" altLang="zh-CN" dirty="0"/>
              <a:t>PUT</a:t>
            </a:r>
            <a:endParaRPr lang="zh-CN" altLang="en-US" dirty="0"/>
          </a:p>
          <a:p>
            <a:pPr lvl="1"/>
            <a:r>
              <a:rPr lang="en-US" altLang="zh-CN" dirty="0"/>
              <a:t>DELETE</a:t>
            </a:r>
          </a:p>
        </p:txBody>
      </p:sp>
    </p:spTree>
    <p:extLst>
      <p:ext uri="{BB962C8B-B14F-4D97-AF65-F5344CB8AC3E}">
        <p14:creationId xmlns:p14="http://schemas.microsoft.com/office/powerpoint/2010/main" val="16079769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p:txBody>
          <a:bodyPr/>
          <a:lstStyle/>
          <a:p>
            <a:r>
              <a:rPr lang="en-US" altLang="zh-CN" sz="2000" dirty="0"/>
              <a:t>SDN</a:t>
            </a:r>
            <a:r>
              <a:rPr lang="zh-CN" altLang="en-US" sz="2000" dirty="0"/>
              <a:t>是网络架构的革新，以控制器为主体，让网络更加开放、灵活和简单。</a:t>
            </a:r>
            <a:endParaRPr lang="en-US" altLang="zh-CN" sz="2000" dirty="0"/>
          </a:p>
          <a:p>
            <a:r>
              <a:rPr lang="en-US" altLang="zh-CN" sz="2000" dirty="0"/>
              <a:t>REST</a:t>
            </a:r>
            <a:r>
              <a:rPr lang="zh-CN" altLang="en-US" sz="2000" dirty="0"/>
              <a:t>是一种架构风格或设计风格，而不是标准，</a:t>
            </a:r>
            <a:r>
              <a:rPr lang="en-US" altLang="zh-CN" sz="2000" dirty="0"/>
              <a:t>REST</a:t>
            </a:r>
            <a:r>
              <a:rPr lang="zh-CN" altLang="en-US" sz="2000" dirty="0"/>
              <a:t>仅提供设计原则和约束条件。</a:t>
            </a:r>
            <a:endParaRPr lang="en-US" altLang="zh-CN" sz="2000" dirty="0"/>
          </a:p>
          <a:p>
            <a:r>
              <a:rPr lang="en-US" altLang="zh-CN" sz="2000" dirty="0"/>
              <a:t>REST</a:t>
            </a:r>
            <a:r>
              <a:rPr lang="zh-CN" altLang="en-US" sz="2000" dirty="0"/>
              <a:t>充分利用</a:t>
            </a:r>
            <a:r>
              <a:rPr lang="en-US" altLang="zh-CN" sz="2000" dirty="0"/>
              <a:t>HTTP</a:t>
            </a:r>
            <a:r>
              <a:rPr lang="zh-CN" altLang="en-US" sz="2000" dirty="0"/>
              <a:t>协议，</a:t>
            </a:r>
            <a:r>
              <a:rPr lang="en-US" altLang="zh-CN" sz="2000" dirty="0"/>
              <a:t>REST</a:t>
            </a:r>
            <a:r>
              <a:rPr lang="zh-CN" altLang="en-US" sz="2000" dirty="0"/>
              <a:t>的核心在于对有多种表现</a:t>
            </a:r>
            <a:r>
              <a:rPr lang="zh-CN" altLang="zh-CN" sz="2000" dirty="0"/>
              <a:t>形式</a:t>
            </a:r>
            <a:r>
              <a:rPr lang="zh-CN" altLang="en-US" sz="2000" dirty="0"/>
              <a:t>的资源进行操作（</a:t>
            </a:r>
            <a:r>
              <a:rPr lang="en-US" altLang="zh-CN" sz="2000" dirty="0"/>
              <a:t>GET</a:t>
            </a:r>
            <a:r>
              <a:rPr lang="zh-CN" altLang="en-US" sz="2000" dirty="0"/>
              <a:t>，</a:t>
            </a:r>
            <a:r>
              <a:rPr lang="en-US" altLang="zh-CN" sz="2000" dirty="0"/>
              <a:t>POST</a:t>
            </a:r>
            <a:r>
              <a:rPr lang="zh-CN" altLang="en-US" sz="2000" dirty="0"/>
              <a:t>，</a:t>
            </a:r>
            <a:r>
              <a:rPr lang="en-US" altLang="zh-CN" sz="2000" dirty="0"/>
              <a:t>PUT</a:t>
            </a:r>
            <a:r>
              <a:rPr lang="zh-CN" altLang="en-US" sz="2000" dirty="0"/>
              <a:t>，</a:t>
            </a:r>
            <a:r>
              <a:rPr lang="en-US" altLang="zh-CN" sz="2000" dirty="0"/>
              <a:t> DELETE</a:t>
            </a:r>
            <a:r>
              <a:rPr lang="zh-CN" altLang="en-US" sz="2000" dirty="0"/>
              <a:t>等）。</a:t>
            </a:r>
            <a:endParaRPr lang="en-US" altLang="zh-CN" sz="2000" dirty="0"/>
          </a:p>
          <a:p>
            <a:r>
              <a:rPr lang="zh-CN" altLang="en-US" sz="2000" dirty="0"/>
              <a:t>通过</a:t>
            </a:r>
            <a:r>
              <a:rPr lang="en-US" altLang="zh-CN" sz="2000" dirty="0"/>
              <a:t>RESTful</a:t>
            </a:r>
            <a:r>
              <a:rPr lang="zh-CN" altLang="en-US" sz="2000" dirty="0"/>
              <a:t>接口调用，</a:t>
            </a:r>
            <a:r>
              <a:rPr lang="zh-CN" altLang="zh-CN" sz="2000" dirty="0"/>
              <a:t>用户可以根据</a:t>
            </a:r>
            <a:r>
              <a:rPr lang="zh-CN" altLang="en-US" sz="2000" dirty="0"/>
              <a:t>自身需求撰写</a:t>
            </a:r>
            <a:r>
              <a:rPr lang="en-US" altLang="zh-CN" sz="2000" dirty="0"/>
              <a:t>Python</a:t>
            </a:r>
            <a:r>
              <a:rPr lang="zh-CN" altLang="en-US" sz="2000" dirty="0"/>
              <a:t>脚本实现自动化</a:t>
            </a:r>
            <a:r>
              <a:rPr lang="zh-CN" altLang="zh-CN" sz="2000" dirty="0"/>
              <a:t>。</a:t>
            </a:r>
          </a:p>
        </p:txBody>
      </p:sp>
    </p:spTree>
    <p:extLst>
      <p:ext uri="{BB962C8B-B14F-4D97-AF65-F5344CB8AC3E}">
        <p14:creationId xmlns:p14="http://schemas.microsoft.com/office/powerpoint/2010/main" val="7501434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1600" dirty="0">
                <a:sym typeface="Huawei Sans" panose="020C0503030203020204" pitchFamily="34" charset="0"/>
              </a:rPr>
              <a:t>REST</a:t>
            </a:r>
            <a:r>
              <a:rPr lang="zh-CN" altLang="en-US" sz="1600" dirty="0">
                <a:sym typeface="Huawei Sans" panose="020C0503030203020204" pitchFamily="34" charset="0"/>
              </a:rPr>
              <a:t>论文原文</a:t>
            </a:r>
            <a:endParaRPr lang="en-US" altLang="zh-CN" sz="1600" dirty="0">
              <a:sym typeface="Huawei Sans" panose="020C0503030203020204" pitchFamily="34" charset="0"/>
            </a:endParaRPr>
          </a:p>
          <a:p>
            <a:pPr lvl="1"/>
            <a:r>
              <a:rPr lang="en-US" altLang="zh-CN" sz="1400" dirty="0">
                <a:sym typeface="Huawei Sans" panose="020C0503030203020204" pitchFamily="34" charset="0"/>
              </a:rPr>
              <a:t>https://www.ics.uci.edu/~fielding/pubs/dissertation/rest_arch_style.htm</a:t>
            </a:r>
          </a:p>
          <a:p>
            <a:r>
              <a:rPr lang="en-US" altLang="zh-CN" sz="1600" dirty="0">
                <a:sym typeface="Huawei Sans" panose="020C0503030203020204" pitchFamily="34" charset="0"/>
              </a:rPr>
              <a:t>HTTP/1.0 RFC</a:t>
            </a:r>
            <a:r>
              <a:rPr lang="zh-CN" altLang="en-US" sz="1600" dirty="0">
                <a:sym typeface="Huawei Sans" panose="020C0503030203020204" pitchFamily="34" charset="0"/>
              </a:rPr>
              <a:t>官方文档</a:t>
            </a:r>
            <a:endParaRPr lang="en-US" altLang="zh-CN" sz="1600" dirty="0">
              <a:sym typeface="Huawei Sans" panose="020C0503030203020204" pitchFamily="34" charset="0"/>
            </a:endParaRPr>
          </a:p>
          <a:p>
            <a:pPr lvl="1"/>
            <a:r>
              <a:rPr lang="en-US" altLang="zh-CN" sz="1400" dirty="0">
                <a:sym typeface="Huawei Sans" panose="020C0503030203020204" pitchFamily="34" charset="0"/>
              </a:rPr>
              <a:t>https://www.ietf.org/rfc/rfc1945.html</a:t>
            </a:r>
          </a:p>
          <a:p>
            <a:r>
              <a:rPr lang="en-US" altLang="zh-CN" sz="1600" dirty="0">
                <a:sym typeface="Huawei Sans" panose="020C0503030203020204" pitchFamily="34" charset="0"/>
              </a:rPr>
              <a:t>HTTP/1.1 RFC</a:t>
            </a:r>
            <a:r>
              <a:rPr lang="zh-CN" altLang="en-US" sz="1600" dirty="0">
                <a:sym typeface="Huawei Sans" panose="020C0503030203020204" pitchFamily="34" charset="0"/>
              </a:rPr>
              <a:t>官方文档</a:t>
            </a:r>
            <a:endParaRPr lang="en-US" altLang="zh-CN" sz="1600" dirty="0">
              <a:sym typeface="Huawei Sans" panose="020C0503030203020204" pitchFamily="34" charset="0"/>
            </a:endParaRPr>
          </a:p>
          <a:p>
            <a:pPr lvl="1"/>
            <a:r>
              <a:rPr lang="en-US" altLang="zh-CN" sz="1400" dirty="0">
                <a:sym typeface="Huawei Sans" panose="020C0503030203020204" pitchFamily="34" charset="0"/>
              </a:rPr>
              <a:t>https://www.ietf.org/rfc/rfc2616.html</a:t>
            </a:r>
          </a:p>
          <a:p>
            <a:r>
              <a:rPr lang="en-US" altLang="zh-CN" sz="1600" dirty="0">
                <a:sym typeface="Huawei Sans" panose="020C0503030203020204" pitchFamily="34" charset="0"/>
              </a:rPr>
              <a:t>HTTP/2 RFC</a:t>
            </a:r>
            <a:r>
              <a:rPr lang="zh-CN" altLang="en-US" sz="1600" dirty="0">
                <a:sym typeface="Huawei Sans" panose="020C0503030203020204" pitchFamily="34" charset="0"/>
              </a:rPr>
              <a:t>官方文档</a:t>
            </a:r>
            <a:endParaRPr lang="en-US" altLang="zh-CN" sz="1600" dirty="0">
              <a:sym typeface="Huawei Sans" panose="020C0503030203020204" pitchFamily="34" charset="0"/>
            </a:endParaRPr>
          </a:p>
          <a:p>
            <a:pPr lvl="1"/>
            <a:r>
              <a:rPr lang="en-US" altLang="zh-CN" sz="1400" dirty="0">
                <a:sym typeface="Huawei Sans" panose="020C0503030203020204" pitchFamily="34" charset="0"/>
              </a:rPr>
              <a:t>https://www.ietf.org/rfc/rfc7540.html</a:t>
            </a:r>
          </a:p>
          <a:p>
            <a:r>
              <a:rPr lang="en-US" altLang="zh-CN" sz="1600" dirty="0">
                <a:sym typeface="Huawei Sans" panose="020C0503030203020204" pitchFamily="34" charset="0"/>
              </a:rPr>
              <a:t>HTTPS RFC</a:t>
            </a:r>
            <a:r>
              <a:rPr lang="zh-CN" altLang="en-US" sz="1600" dirty="0">
                <a:sym typeface="Huawei Sans" panose="020C0503030203020204" pitchFamily="34" charset="0"/>
              </a:rPr>
              <a:t>官方文档</a:t>
            </a:r>
            <a:endParaRPr lang="en-US" altLang="zh-CN" sz="1600" dirty="0">
              <a:sym typeface="Huawei Sans" panose="020C0503030203020204" pitchFamily="34" charset="0"/>
            </a:endParaRPr>
          </a:p>
          <a:p>
            <a:pPr lvl="1"/>
            <a:r>
              <a:rPr lang="en-US" altLang="zh-CN" sz="1400" dirty="0">
                <a:sym typeface="Huawei Sans" panose="020C0503030203020204" pitchFamily="34" charset="0"/>
              </a:rPr>
              <a:t>https://www.ietf.org/rfc/rfc2818.html</a:t>
            </a:r>
          </a:p>
          <a:p>
            <a:pPr lvl="1"/>
            <a:endParaRPr lang="en-US" altLang="zh-CN" sz="1400" dirty="0">
              <a:sym typeface="Huawei Sans" panose="020C0503030203020204" pitchFamily="34" charset="0"/>
            </a:endParaRPr>
          </a:p>
          <a:p>
            <a:pPr lvl="1"/>
            <a:endParaRPr lang="en-US" altLang="zh-CN" sz="1400" dirty="0">
              <a:sym typeface="Huawei Sans" panose="020C0503030203020204" pitchFamily="34" charset="0"/>
            </a:endParaRPr>
          </a:p>
          <a:p>
            <a:pPr lvl="1"/>
            <a:endParaRPr lang="zh-CN" altLang="en-US" sz="1400" dirty="0">
              <a:sym typeface="Huawei Sans" panose="020C0503030203020204" pitchFamily="34" charset="0"/>
            </a:endParaRPr>
          </a:p>
        </p:txBody>
      </p:sp>
    </p:spTree>
    <p:extLst>
      <p:ext uri="{BB962C8B-B14F-4D97-AF65-F5344CB8AC3E}">
        <p14:creationId xmlns:p14="http://schemas.microsoft.com/office/powerpoint/2010/main" val="19042782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998978"/>
      </p:ext>
    </p:extLst>
  </p:cSld>
  <p:clrMapOvr>
    <a:masterClrMapping/>
  </p:clrMapOvr>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5960F2-6186-408B-A0DC-5CA5E58B604F}">
  <ds:schemaRefs>
    <ds:schemaRef ds:uri="http://schemas.openxmlformats.org/package/2006/metadata/core-properties"/>
    <ds:schemaRef ds:uri="http://schemas.microsoft.com/office/infopath/2007/PartnerControls"/>
    <ds:schemaRef ds:uri="475f1e55-3009-46d8-9566-5d569a2b3a98"/>
    <ds:schemaRef ds:uri="http://purl.org/dc/dcmitype/"/>
    <ds:schemaRef ds:uri="http://www.w3.org/XML/1998/namespace"/>
    <ds:schemaRef ds:uri="http://purl.org/dc/elements/1.1/"/>
    <ds:schemaRef ds:uri="http://schemas.microsoft.com/office/2006/documentManagement/type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593794A8-1999-42BC-8CE5-9417B74163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14067</TotalTime>
  <Words>8093</Words>
  <Application>Microsoft Office PowerPoint</Application>
  <PresentationFormat>宽屏</PresentationFormat>
  <Paragraphs>1031</Paragraphs>
  <Slides>67</Slides>
  <Notes>67</Notes>
  <HiddenSlides>1</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67</vt:i4>
      </vt:variant>
    </vt:vector>
  </HeadingPairs>
  <TitlesOfParts>
    <vt:vector size="77" baseType="lpstr">
      <vt:lpstr>Huawei Sans</vt:lpstr>
      <vt:lpstr>方正兰亭黑简体</vt:lpstr>
      <vt:lpstr>Microsoft YaHei</vt:lpstr>
      <vt:lpstr>Microsoft YaHei</vt:lpstr>
      <vt:lpstr>Arial</vt:lpstr>
      <vt:lpstr>Wingdings</vt:lpstr>
      <vt:lpstr>2_标题页模板</vt:lpstr>
      <vt:lpstr>3_功能页模板</vt:lpstr>
      <vt:lpstr>4_内容页模板</vt:lpstr>
      <vt:lpstr>5_感谢页模板</vt:lpstr>
      <vt:lpstr>PowerPoint 演示文稿</vt:lpstr>
      <vt:lpstr>RESTful原理与实践</vt:lpstr>
      <vt:lpstr>PowerPoint 演示文稿</vt:lpstr>
      <vt:lpstr>PowerPoint 演示文稿</vt:lpstr>
      <vt:lpstr>PowerPoint 演示文稿</vt:lpstr>
      <vt:lpstr>SDN的起源</vt:lpstr>
      <vt:lpstr>SDN的本质诉求</vt:lpstr>
      <vt:lpstr>SDN网络架构</vt:lpstr>
      <vt:lpstr>华为SDN网络架构</vt:lpstr>
      <vt:lpstr>华为SDN解决方案：管、控、析构建智简网络</vt:lpstr>
      <vt:lpstr>什么是iMaster NCE ？</vt:lpstr>
      <vt:lpstr>iMaster NCE全新启航</vt:lpstr>
      <vt:lpstr>PowerPoint 演示文稿</vt:lpstr>
      <vt:lpstr>南北向基本概念</vt:lpstr>
      <vt:lpstr>北向接口的发展</vt:lpstr>
      <vt:lpstr>接口演进：规范URI命名</vt:lpstr>
      <vt:lpstr>接口演进：无状态设计</vt:lpstr>
      <vt:lpstr>接口演进：前后端分离 (1)</vt:lpstr>
      <vt:lpstr>接口演进：前后端分离 (2)</vt:lpstr>
      <vt:lpstr>接口演进：前后端分离 (3)</vt:lpstr>
      <vt:lpstr>PowerPoint 演示文稿</vt:lpstr>
      <vt:lpstr>REST简介</vt:lpstr>
      <vt:lpstr>REST概念：资源</vt:lpstr>
      <vt:lpstr>REST概念：表现层</vt:lpstr>
      <vt:lpstr>REST概念：状态转化</vt:lpstr>
      <vt:lpstr>RESTful和RESTCONF</vt:lpstr>
      <vt:lpstr>RESTful接口如何定义</vt:lpstr>
      <vt:lpstr>PowerPoint 演示文稿</vt:lpstr>
      <vt:lpstr>HTTP发展历程</vt:lpstr>
      <vt:lpstr>HTTP简介</vt:lpstr>
      <vt:lpstr>HTTP工作原理</vt:lpstr>
      <vt:lpstr>HTTP特点描述</vt:lpstr>
      <vt:lpstr>PowerPoint 演示文稿</vt:lpstr>
      <vt:lpstr>客户端请求消息</vt:lpstr>
      <vt:lpstr>客户端请求消息：请求行</vt:lpstr>
      <vt:lpstr>HTTP请求方法</vt:lpstr>
      <vt:lpstr>客户端请求消息：请求头部</vt:lpstr>
      <vt:lpstr> 请求头部字段</vt:lpstr>
      <vt:lpstr>客户端请求消息：请求数据</vt:lpstr>
      <vt:lpstr>服务器响应消息</vt:lpstr>
      <vt:lpstr>服务器响应消息：状态行</vt:lpstr>
      <vt:lpstr>状态码</vt:lpstr>
      <vt:lpstr>服务器响应消息：响应头部</vt:lpstr>
      <vt:lpstr>响应头部常见字段</vt:lpstr>
      <vt:lpstr>服务器响应消息：响应正文</vt:lpstr>
      <vt:lpstr>客户端请求消息：报文示例</vt:lpstr>
      <vt:lpstr>服务器响应消息：报文示例</vt:lpstr>
      <vt:lpstr>PowerPoint 演示文稿</vt:lpstr>
      <vt:lpstr>HTTPS简介</vt:lpstr>
      <vt:lpstr>SSL/TLS简介</vt:lpstr>
      <vt:lpstr>HTTP/2简介</vt:lpstr>
      <vt:lpstr>HTTP/2核心：二进制传输</vt:lpstr>
      <vt:lpstr>PowerPoint 演示文稿</vt:lpstr>
      <vt:lpstr>案例：调用RESTful接口获得Token (1)</vt:lpstr>
      <vt:lpstr>案例：调用RESTful接口获得Token (2)</vt:lpstr>
      <vt:lpstr>步骤：新建代码仓库</vt:lpstr>
      <vt:lpstr>步骤：Fork完整代码</vt:lpstr>
      <vt:lpstr>步骤：打开CloudIDE</vt:lpstr>
      <vt:lpstr>步骤：沙箱预约</vt:lpstr>
      <vt:lpstr>步骤：沙箱信息</vt:lpstr>
      <vt:lpstr>步骤：安装requests模块</vt:lpstr>
      <vt:lpstr>步骤：编写Python脚本</vt:lpstr>
      <vt:lpstr>结果验证</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796</cp:revision>
  <cp:lastPrinted>2020-07-31T09:33:18Z</cp:lastPrinted>
  <dcterms:created xsi:type="dcterms:W3CDTF">2018-11-29T10:16:29Z</dcterms:created>
  <dcterms:modified xsi:type="dcterms:W3CDTF">2023-12-09T03:33:15Z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(3)Ya/+Ws0RXfSdLSk1QUrre0XqYUFxjvZpTfxxRWkHBFvjhrIH2rkG5ZAVYMtGJUkkSqmN7X+a
Gilah6fziHeENGDhJ4aU8xR4rL2m22HBaAvojTAV/HX9yWQ1cWrdAOAMOoR4Vdl03+Zax6Xs
9cRTz7OgvNb6jLI8/QIk0pYBPGUvM2RxX0FrDlWH/XFJRk7fNQ1OEwufcFp3u9BnIVJpgM8t
xjJ3jYg+02iirRVilg</vt:lpwstr>
  </property>
  <property fmtid="{D5CDD505-2E9C-101B-9397-08002B2CF9AE}" pid="3" name="_2015_ms_pID_7253431">
    <vt:lpwstr>umCXhT4VMLUOOq8ii54coLn2VfOqazS9qYetB40RQNMzH4Mmzu74QD
TrpXgLgxJjwkIqIFzft2s/EnjKsbUOU16rxCO7OHUafRmssSOtNpEHGUpy/JyNI+LVmir3WR
yfbw/L/WKfmQN2zRABXlkICfKBTv3/1NdHV1DkytaRsHNiGyjOVOr8U4BeNqyGa6mtsz2fMQ
xDj3wfL098l1ktHIF2xou9USByTYf847A750</vt:lpwstr>
  </property>
  <property fmtid="{D5CDD505-2E9C-101B-9397-08002B2CF9AE}" pid="4" name="_2015_ms_pID_7253432">
    <vt:lpwstr>YQ==</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1636935772</vt:lpwstr>
  </property>
</Properties>
</file>