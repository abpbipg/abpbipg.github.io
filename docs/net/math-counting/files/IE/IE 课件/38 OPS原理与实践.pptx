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49"/>
  </p:notesMasterIdLst>
  <p:handoutMasterIdLst>
    <p:handoutMasterId r:id="rId50"/>
  </p:handoutMasterIdLst>
  <p:sldIdLst>
    <p:sldId id="257" r:id="rId8"/>
    <p:sldId id="258"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318" r:id="rId42"/>
    <p:sldId id="319" r:id="rId43"/>
    <p:sldId id="320" r:id="rId44"/>
    <p:sldId id="321" r:id="rId45"/>
    <p:sldId id="322" r:id="rId46"/>
    <p:sldId id="323" r:id="rId47"/>
    <p:sldId id="284" r:id="rId48"/>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5292" userDrawn="1">
          <p15:clr>
            <a:srgbClr val="A4A3A4"/>
          </p15:clr>
        </p15:guide>
        <p15:guide id="4" orient="horz" pos="2137"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junjianzjhw" initials="h" lastIdx="12" clrIdx="0">
    <p:extLst>
      <p:ext uri="{19B8F6BF-5375-455C-9EA6-DF929625EA0E}">
        <p15:presenceInfo xmlns:p15="http://schemas.microsoft.com/office/powerpoint/2012/main" userId="S-1-5-21-147214757-305610072-1517763936-56826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C4D2"/>
    <a:srgbClr val="BEE9EE"/>
    <a:srgbClr val="FFFFFF"/>
    <a:srgbClr val="00B0F0"/>
    <a:srgbClr val="94DAE2"/>
    <a:srgbClr val="80D5F4"/>
    <a:srgbClr val="F3FBFE"/>
    <a:srgbClr val="FAFAFA"/>
    <a:srgbClr val="30B5C5"/>
    <a:srgbClr val="DBDB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8" autoAdjust="0"/>
    <p:restoredTop sz="91171" autoAdjust="0"/>
  </p:normalViewPr>
  <p:slideViewPr>
    <p:cSldViewPr snapToGrid="0" snapToObjects="1">
      <p:cViewPr varScale="1">
        <p:scale>
          <a:sx n="106" d="100"/>
          <a:sy n="106" d="100"/>
        </p:scale>
        <p:origin x="2424" y="96"/>
      </p:cViewPr>
      <p:guideLst>
        <p:guide pos="5292"/>
        <p:guide orient="horz" pos="2137"/>
      </p:guideLst>
    </p:cSldViewPr>
  </p:slideViewPr>
  <p:outlineViewPr>
    <p:cViewPr>
      <p:scale>
        <a:sx n="33" d="100"/>
        <a:sy n="33" d="100"/>
      </p:scale>
      <p:origin x="0" y="-29832"/>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p:scale>
          <a:sx n="82" d="100"/>
          <a:sy n="82" d="100"/>
        </p:scale>
        <p:origin x="3060" y="240"/>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8" Type="http://schemas.openxmlformats.org/officeDocument/2006/relationships/slide" Target="slides/slide1.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xmlns=""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10/21/2021</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xmlns=""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xmlns=""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97902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8459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35533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19513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38986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传统网络设备相对封闭，不开放的系统，无法应对灵活多变，差异化的网络管理需求。</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59938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有了</a:t>
            </a:r>
            <a:r>
              <a:rPr lang="en-US" altLang="zh-CN" smtClean="0"/>
              <a:t>OPS</a:t>
            </a:r>
            <a:r>
              <a:rPr lang="zh-CN" altLang="en-US" smtClean="0"/>
              <a:t>功能，用户可以根据自己的需求编写脚本，导入网络设备进行运行，灵活高效。</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13625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88616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VRP</a:t>
            </a:r>
            <a:r>
              <a:rPr lang="zh-CN" altLang="en-US" dirty="0" smtClean="0"/>
              <a:t>系统是华为公司多年研究和网络应用经验的成果，知识产权为华为公司所有的一种网络操作系统。</a:t>
            </a:r>
            <a:endParaRPr lang="en-US" altLang="zh-CN" dirty="0" smtClean="0"/>
          </a:p>
          <a:p>
            <a:r>
              <a:rPr lang="zh-CN" altLang="en-US" dirty="0" smtClean="0"/>
              <a:t>管理对象：网络设备中开放出来的，可以被</a:t>
            </a:r>
            <a:r>
              <a:rPr lang="en-US" altLang="zh-CN" dirty="0" smtClean="0"/>
              <a:t>Restful API</a:t>
            </a:r>
            <a:r>
              <a:rPr lang="zh-CN" altLang="en-US" dirty="0" smtClean="0"/>
              <a:t>接口进行调用的对象，如</a:t>
            </a:r>
            <a:r>
              <a:rPr lang="en-US" altLang="zh-CN" dirty="0" smtClean="0"/>
              <a:t>CPU</a:t>
            </a:r>
            <a:r>
              <a:rPr lang="zh-CN" altLang="en-US" dirty="0" smtClean="0"/>
              <a:t>信息，系统信息，接口信息等。</a:t>
            </a:r>
            <a:endParaRPr lang="en-US" altLang="zh-CN" dirty="0" smtClean="0"/>
          </a:p>
          <a:p>
            <a:r>
              <a:rPr lang="en-US" altLang="zh-CN" dirty="0" smtClean="0"/>
              <a:t>URI</a:t>
            </a:r>
            <a:r>
              <a:rPr lang="zh-CN" altLang="en-US" dirty="0" smtClean="0"/>
              <a:t>（</a:t>
            </a:r>
            <a:r>
              <a:rPr lang="en-US" altLang="zh-CN" dirty="0" smtClean="0"/>
              <a:t>Uniform Resource Identifier</a:t>
            </a:r>
            <a:r>
              <a:rPr lang="zh-CN" altLang="en-US" dirty="0" smtClean="0"/>
              <a:t>）：统一资源标识符，用于标识一个特定的资源，</a:t>
            </a:r>
            <a:r>
              <a:rPr lang="en-US" altLang="zh-CN" dirty="0" smtClean="0"/>
              <a:t>OPS</a:t>
            </a:r>
            <a:r>
              <a:rPr lang="zh-CN" altLang="en-US" dirty="0" smtClean="0"/>
              <a:t>中使用</a:t>
            </a:r>
            <a:r>
              <a:rPr lang="en-US" altLang="zh-CN" dirty="0" smtClean="0"/>
              <a:t>URI</a:t>
            </a:r>
            <a:r>
              <a:rPr lang="zh-CN" altLang="en-US" dirty="0" smtClean="0"/>
              <a:t>标识管理对象。如</a:t>
            </a:r>
            <a:r>
              <a:rPr lang="en-US" altLang="zh-CN" dirty="0" smtClean="0"/>
              <a:t>CPU</a:t>
            </a:r>
            <a:r>
              <a:rPr lang="zh-CN" altLang="en-US" dirty="0" smtClean="0"/>
              <a:t>信息的</a:t>
            </a:r>
            <a:r>
              <a:rPr lang="en-US" altLang="zh-CN" dirty="0" smtClean="0"/>
              <a:t>URI</a:t>
            </a:r>
            <a:r>
              <a:rPr lang="zh-CN" altLang="en-US" dirty="0" smtClean="0"/>
              <a:t>为</a:t>
            </a:r>
            <a:r>
              <a:rPr lang="en-US" altLang="zh-CN" dirty="0" smtClean="0"/>
              <a:t>/</a:t>
            </a:r>
            <a:r>
              <a:rPr lang="en-US" altLang="zh-CN" dirty="0" err="1" smtClean="0"/>
              <a:t>devm</a:t>
            </a:r>
            <a:r>
              <a:rPr lang="en-US" altLang="zh-CN" dirty="0" smtClean="0"/>
              <a:t>/</a:t>
            </a:r>
            <a:r>
              <a:rPr lang="en-US" altLang="zh-CN" dirty="0" err="1" smtClean="0"/>
              <a:t>cpuInfos</a:t>
            </a:r>
            <a:r>
              <a:rPr lang="en-US" altLang="zh-CN" dirty="0" smtClean="0"/>
              <a:t>/</a:t>
            </a:r>
            <a:r>
              <a:rPr lang="en-US" altLang="zh-CN" dirty="0" err="1" smtClean="0"/>
              <a:t>cpuInfo</a:t>
            </a:r>
            <a:r>
              <a:rPr lang="zh-CN" altLang="en-US" dirty="0" smtClean="0"/>
              <a:t>，其唯一地标识了</a:t>
            </a:r>
            <a:r>
              <a:rPr lang="en-US" altLang="zh-CN" dirty="0" smtClean="0"/>
              <a:t>CPU</a:t>
            </a:r>
            <a:r>
              <a:rPr lang="zh-CN" altLang="en-US" dirty="0" smtClean="0"/>
              <a:t>信息这个管理对象。</a:t>
            </a:r>
            <a:endParaRPr lang="en-US" altLang="zh-CN" dirty="0" smtClean="0"/>
          </a:p>
          <a:p>
            <a:pPr lvl="0"/>
            <a:r>
              <a:rPr lang="en-US" altLang="zh-CN" dirty="0" smtClean="0"/>
              <a:t>URL</a:t>
            </a:r>
            <a:r>
              <a:rPr lang="zh-CN" altLang="en-US" dirty="0" smtClean="0"/>
              <a:t>（</a:t>
            </a:r>
            <a:r>
              <a:rPr lang="en-US" altLang="zh-CN" dirty="0" smtClean="0"/>
              <a:t>Uniform resource locator</a:t>
            </a:r>
            <a:r>
              <a:rPr lang="zh-CN" altLang="en-US" dirty="0" smtClean="0"/>
              <a:t>）：统一资源定位符，</a:t>
            </a:r>
            <a:r>
              <a:rPr lang="en-US" altLang="zh-CN" dirty="0" smtClean="0"/>
              <a:t>URL</a:t>
            </a:r>
            <a:r>
              <a:rPr lang="zh-CN" altLang="en-US" dirty="0" smtClean="0"/>
              <a:t>是一种</a:t>
            </a:r>
            <a:r>
              <a:rPr lang="en-US" altLang="zh-CN" dirty="0" smtClean="0"/>
              <a:t>URI,</a:t>
            </a:r>
            <a:r>
              <a:rPr lang="zh-CN" altLang="en-US" dirty="0" smtClean="0"/>
              <a:t>可以用来表示一个资源，而且还指明了如何定位这个资源，如</a:t>
            </a:r>
            <a:r>
              <a:rPr lang="en-US" altLang="zh-CN" dirty="0" smtClean="0"/>
              <a:t>http://www.ietf.org/rfc/rfc2396.txt</a:t>
            </a:r>
            <a:r>
              <a:rPr lang="zh-CN" altLang="en-US" dirty="0" smtClean="0"/>
              <a:t>，</a:t>
            </a:r>
            <a:r>
              <a:rPr lang="en-US" altLang="zh-CN" dirty="0" smtClean="0"/>
              <a:t>ftp://ftp.is.co.za/rfc/rfc1808.txt</a:t>
            </a:r>
            <a:r>
              <a:rPr lang="zh-CN" altLang="en-US" dirty="0" smtClean="0"/>
              <a:t>。</a:t>
            </a:r>
            <a:endParaRPr lang="en-US" altLang="zh-CN" dirty="0" smtClean="0"/>
          </a:p>
          <a:p>
            <a:r>
              <a:rPr lang="zh-CN" altLang="en-US" dirty="0" smtClean="0"/>
              <a:t>目前华为网络设备</a:t>
            </a:r>
            <a:r>
              <a:rPr lang="en-US" altLang="zh-CN" dirty="0" smtClean="0"/>
              <a:t>OPS</a:t>
            </a:r>
            <a:r>
              <a:rPr lang="zh-CN" altLang="en-US" dirty="0" smtClean="0"/>
              <a:t>功能集成了</a:t>
            </a:r>
            <a:r>
              <a:rPr lang="en-US" altLang="zh-CN" dirty="0" smtClean="0"/>
              <a:t>Python</a:t>
            </a:r>
            <a:r>
              <a:rPr lang="zh-CN" altLang="en-US" dirty="0" smtClean="0"/>
              <a:t>语言的运行环境，可以运行</a:t>
            </a:r>
            <a:r>
              <a:rPr lang="en-US" altLang="zh-CN" dirty="0" smtClean="0"/>
              <a:t>Python</a:t>
            </a:r>
            <a:r>
              <a:rPr lang="zh-CN" altLang="en-US" dirty="0" smtClean="0"/>
              <a:t>脚本。</a:t>
            </a:r>
            <a:r>
              <a:rPr lang="en-US" altLang="zh-CN" dirty="0" smtClean="0"/>
              <a:t>Java</a:t>
            </a:r>
            <a:r>
              <a:rPr lang="zh-CN" altLang="en-US" dirty="0" smtClean="0"/>
              <a:t>，</a:t>
            </a:r>
            <a:r>
              <a:rPr lang="en-US" altLang="zh-CN" dirty="0" smtClean="0"/>
              <a:t>C/C++</a:t>
            </a:r>
            <a:r>
              <a:rPr lang="zh-CN" altLang="en-US" dirty="0" smtClean="0"/>
              <a:t>语言运行环境当前版本暂未实现，待扩展。</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69336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API</a:t>
            </a:r>
            <a:r>
              <a:rPr lang="zh-CN" altLang="en-US" smtClean="0"/>
              <a:t>（</a:t>
            </a:r>
            <a:r>
              <a:rPr lang="en-US" altLang="zh-CN" smtClean="0"/>
              <a:t>Application Programming Interface</a:t>
            </a:r>
            <a:r>
              <a:rPr lang="zh-CN" altLang="en-US" smtClean="0"/>
              <a:t>，应用编程接口）：指应用程序之间为了保证互相通讯所提供的一系列特殊规则和要求。</a:t>
            </a:r>
            <a:endParaRPr lang="en-US" altLang="zh-CN" smtClean="0"/>
          </a:p>
          <a:p>
            <a:pPr lvl="0"/>
            <a:r>
              <a:rPr lang="zh-CN" altLang="en-US" smtClean="0"/>
              <a:t>获取更多</a:t>
            </a:r>
            <a:r>
              <a:rPr lang="en-US" altLang="zh-CN" smtClean="0"/>
              <a:t>Restful</a:t>
            </a:r>
            <a:r>
              <a:rPr lang="zh-CN" altLang="en-US" smtClean="0"/>
              <a:t>相关知识可学习</a:t>
            </a:r>
            <a:r>
              <a:rPr lang="en-US" altLang="zh-CN" smtClean="0"/>
              <a:t>HCIP-</a:t>
            </a:r>
            <a:r>
              <a:rPr lang="zh-CN" altLang="en-US" smtClean="0"/>
              <a:t>编程与自动化课程</a:t>
            </a:r>
            <a:r>
              <a:rPr lang="en-US" altLang="zh-CN" smtClean="0"/>
              <a:t>《RESTful</a:t>
            </a:r>
            <a:r>
              <a:rPr lang="zh-CN" altLang="en-US" smtClean="0"/>
              <a:t>原理与实践</a:t>
            </a:r>
            <a:r>
              <a:rPr lang="en-US" altLang="zh-CN" smtClean="0"/>
              <a:t>》</a:t>
            </a:r>
            <a:r>
              <a:rPr lang="zh-CN" altLang="en-US" smtClean="0"/>
              <a:t>。</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69681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OPS</a:t>
            </a:r>
            <a:r>
              <a:rPr lang="zh-CN" altLang="en-US" dirty="0" smtClean="0"/>
              <a:t>功能是用户编写</a:t>
            </a:r>
            <a:r>
              <a:rPr lang="en-US" altLang="zh-CN" dirty="0" smtClean="0"/>
              <a:t>python</a:t>
            </a:r>
            <a:r>
              <a:rPr lang="zh-CN" altLang="en-US" dirty="0" smtClean="0"/>
              <a:t>脚本，将脚本安装到网络设备，脚本运行时发送</a:t>
            </a:r>
            <a:r>
              <a:rPr lang="en-US" altLang="zh-CN" dirty="0" smtClean="0"/>
              <a:t>HTTP</a:t>
            </a:r>
            <a:r>
              <a:rPr lang="zh-CN" altLang="en-US" dirty="0" smtClean="0"/>
              <a:t>请求，来实现对网络设备的管理。</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66146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目前</a:t>
            </a:r>
            <a:r>
              <a:rPr lang="en-US" altLang="zh-CN" dirty="0" smtClean="0"/>
              <a:t>Restful API</a:t>
            </a:r>
            <a:r>
              <a:rPr lang="zh-CN" altLang="en-US" dirty="0" smtClean="0"/>
              <a:t>的实现使用了</a:t>
            </a:r>
            <a:r>
              <a:rPr lang="en-US" altLang="zh-CN" dirty="0" smtClean="0"/>
              <a:t>HTTP</a:t>
            </a:r>
            <a:r>
              <a:rPr lang="zh-CN" altLang="en-US" dirty="0" smtClean="0"/>
              <a:t>的标准规范，因此这边对</a:t>
            </a:r>
            <a:r>
              <a:rPr lang="en-US" altLang="zh-CN" dirty="0" smtClean="0"/>
              <a:t>HTTP</a:t>
            </a:r>
            <a:r>
              <a:rPr lang="zh-CN" altLang="en-US" dirty="0" smtClean="0"/>
              <a:t>做一个简单介绍。</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54628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60441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&lt;headers&gt;</a:t>
            </a:r>
            <a:r>
              <a:rPr lang="zh-CN" altLang="en-US" smtClean="0"/>
              <a:t>和</a:t>
            </a:r>
            <a:r>
              <a:rPr lang="en-US" altLang="zh-CN" smtClean="0"/>
              <a:t>&lt;entity-body&gt;</a:t>
            </a:r>
            <a:r>
              <a:rPr lang="zh-CN" altLang="en-US" smtClean="0"/>
              <a:t>即为上一页胶片中报文组成部分中的首部字段和主体。</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21151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首部字段：</a:t>
            </a:r>
            <a:endParaRPr lang="en-US" altLang="zh-CN" smtClean="0"/>
          </a:p>
          <a:p>
            <a:pPr lvl="1"/>
            <a:r>
              <a:rPr lang="en-US" altLang="zh-CN" smtClean="0"/>
              <a:t>Host</a:t>
            </a:r>
            <a:r>
              <a:rPr lang="zh-CN" altLang="en-US" smtClean="0"/>
              <a:t>：</a:t>
            </a:r>
            <a:r>
              <a:rPr lang="en-US" altLang="zh-CN" smtClean="0"/>
              <a:t>Web</a:t>
            </a:r>
            <a:r>
              <a:rPr lang="zh-CN" altLang="en-US" smtClean="0"/>
              <a:t>服务器的主机名和端口号。</a:t>
            </a:r>
            <a:endParaRPr lang="en-US" altLang="zh-CN" smtClean="0"/>
          </a:p>
          <a:p>
            <a:pPr lvl="1"/>
            <a:r>
              <a:rPr lang="en-US" altLang="zh-CN" smtClean="0"/>
              <a:t>User-Agent</a:t>
            </a:r>
            <a:r>
              <a:rPr lang="zh-CN" altLang="en-US" smtClean="0"/>
              <a:t>：发起请求的应用程序名称。</a:t>
            </a:r>
            <a:endParaRPr lang="en-US" altLang="zh-CN" smtClean="0"/>
          </a:p>
          <a:p>
            <a:pPr lvl="1"/>
            <a:r>
              <a:rPr lang="en-US" altLang="zh-CN" smtClean="0"/>
              <a:t>Accept</a:t>
            </a:r>
            <a:r>
              <a:rPr lang="zh-CN" altLang="en-US" smtClean="0"/>
              <a:t>：告诉服务器能够发送哪些媒体类型。</a:t>
            </a:r>
            <a:endParaRPr lang="en-US" altLang="zh-CN" smtClean="0"/>
          </a:p>
          <a:p>
            <a:pPr lvl="1"/>
            <a:r>
              <a:rPr lang="en-US" altLang="zh-CN" smtClean="0"/>
              <a:t>Accept-Language</a:t>
            </a:r>
            <a:r>
              <a:rPr lang="zh-CN" altLang="en-US" smtClean="0"/>
              <a:t>：告诉服务器能够发送哪些语言。</a:t>
            </a:r>
            <a:endParaRPr lang="en-US" altLang="zh-CN" smtClean="0"/>
          </a:p>
          <a:p>
            <a:pPr lvl="1"/>
            <a:r>
              <a:rPr lang="en-US" altLang="zh-CN" smtClean="0"/>
              <a:t>Date</a:t>
            </a:r>
            <a:r>
              <a:rPr lang="zh-CN" altLang="en-US" smtClean="0"/>
              <a:t>：当前的</a:t>
            </a:r>
            <a:r>
              <a:rPr lang="en-US" altLang="zh-CN" smtClean="0"/>
              <a:t>GMT</a:t>
            </a:r>
            <a:r>
              <a:rPr lang="zh-CN" altLang="en-US" smtClean="0"/>
              <a:t>时间。</a:t>
            </a:r>
            <a:endParaRPr lang="en-US" altLang="zh-CN" smtClean="0"/>
          </a:p>
          <a:p>
            <a:pPr lvl="1"/>
            <a:r>
              <a:rPr lang="en-US" altLang="zh-CN" smtClean="0"/>
              <a:t>Server</a:t>
            </a:r>
            <a:r>
              <a:rPr lang="zh-CN" altLang="en-US" smtClean="0"/>
              <a:t>：服务器名字。</a:t>
            </a:r>
            <a:endParaRPr lang="en-US" altLang="zh-CN" smtClean="0"/>
          </a:p>
          <a:p>
            <a:pPr lvl="1"/>
            <a:r>
              <a:rPr lang="en-US" altLang="zh-CN" smtClean="0"/>
              <a:t>Last-Modified</a:t>
            </a:r>
            <a:r>
              <a:rPr lang="zh-CN" altLang="en-US" smtClean="0"/>
              <a:t>：文档的最后改动时间。</a:t>
            </a:r>
            <a:endParaRPr lang="en-US" altLang="zh-CN" smtClean="0"/>
          </a:p>
          <a:p>
            <a:pPr lvl="1"/>
            <a:r>
              <a:rPr lang="en-US" altLang="zh-CN" smtClean="0"/>
              <a:t>ETag</a:t>
            </a:r>
            <a:r>
              <a:rPr lang="zh-CN" altLang="en-US" smtClean="0"/>
              <a:t>：于此实体相关的实体标记。</a:t>
            </a:r>
            <a:endParaRPr lang="en-US" altLang="zh-CN" smtClean="0"/>
          </a:p>
          <a:p>
            <a:pPr lvl="1"/>
            <a:r>
              <a:rPr lang="en-US" altLang="zh-CN" smtClean="0"/>
              <a:t>Accept-Ranges</a:t>
            </a:r>
            <a:r>
              <a:rPr lang="zh-CN" altLang="en-US" smtClean="0"/>
              <a:t>：告知客户端，服务器是否支持范围请求。</a:t>
            </a:r>
            <a:endParaRPr lang="en-US" altLang="zh-CN" smtClean="0"/>
          </a:p>
          <a:p>
            <a:pPr lvl="1"/>
            <a:r>
              <a:rPr lang="en-US" altLang="zh-CN" smtClean="0"/>
              <a:t>Vary</a:t>
            </a:r>
            <a:r>
              <a:rPr lang="zh-CN" altLang="en-US" smtClean="0"/>
              <a:t>：服务器会根据这些首部的内容挑选出最适合的资源版本发送给客户端。</a:t>
            </a:r>
            <a:endParaRPr lang="en-US" altLang="zh-CN" smtClean="0"/>
          </a:p>
          <a:p>
            <a:pPr lvl="1"/>
            <a:r>
              <a:rPr lang="en-US" altLang="zh-CN" smtClean="0"/>
              <a:t>Content-Length</a:t>
            </a:r>
            <a:r>
              <a:rPr lang="zh-CN" altLang="en-US" smtClean="0"/>
              <a:t>：表示内容长度。</a:t>
            </a:r>
            <a:endParaRPr lang="en-US" altLang="zh-CN" smtClean="0"/>
          </a:p>
          <a:p>
            <a:pPr lvl="1"/>
            <a:r>
              <a:rPr lang="en-US" altLang="zh-CN" smtClean="0"/>
              <a:t>Content-Type</a:t>
            </a:r>
            <a:r>
              <a:rPr lang="zh-CN" altLang="en-US" smtClean="0"/>
              <a:t>：表示文档类型。</a:t>
            </a:r>
            <a:endParaRPr lang="en-US" altLang="zh-CN" smtClean="0"/>
          </a:p>
          <a:p>
            <a:pPr lvl="0"/>
            <a:r>
              <a:rPr lang="zh-CN" altLang="en-US" smtClean="0"/>
              <a:t>详细首部字段信息请参考</a:t>
            </a:r>
            <a:r>
              <a:rPr lang="en-US" altLang="zh-CN" smtClean="0"/>
              <a:t>RFC2616</a:t>
            </a:r>
            <a:r>
              <a:rPr lang="zh-CN" altLang="en-US" smtClean="0"/>
              <a:t>。</a:t>
            </a:r>
            <a:endParaRPr lang="en-US" altLang="zh-CN" smtClean="0"/>
          </a:p>
          <a:p>
            <a:pPr lvl="1"/>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601041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OPS RESTful API</a:t>
            </a:r>
            <a:r>
              <a:rPr lang="zh-CN" altLang="en-US" smtClean="0"/>
              <a:t>请求报文与响应报文格式与上页胶片中的</a:t>
            </a:r>
            <a:r>
              <a:rPr lang="en-US" altLang="zh-CN" smtClean="0"/>
              <a:t>HTTP</a:t>
            </a:r>
            <a:r>
              <a:rPr lang="zh-CN" altLang="en-US" smtClean="0"/>
              <a:t>请求报文与响应报文格式类似。</a:t>
            </a:r>
            <a:endParaRPr lang="en-US" altLang="zh-CN" smtClean="0"/>
          </a:p>
          <a:p>
            <a:r>
              <a:rPr lang="en-US" altLang="zh-CN" smtClean="0"/>
              <a:t>XML(Extensible Markup Language</a:t>
            </a:r>
            <a:r>
              <a:rPr lang="zh-CN" altLang="en-US" smtClean="0"/>
              <a:t>，可扩展标记语言</a:t>
            </a:r>
            <a:r>
              <a:rPr lang="en-US" altLang="zh-CN" smtClean="0"/>
              <a:t>)</a:t>
            </a:r>
            <a:r>
              <a:rPr lang="zh-CN" altLang="en-US" smtClean="0"/>
              <a:t>，被设计用来传输和存储数据。</a:t>
            </a:r>
            <a:endParaRPr lang="en-US" altLang="zh-CN" smtClean="0"/>
          </a:p>
          <a:p>
            <a:r>
              <a:rPr lang="zh-CN" altLang="en-US" smtClean="0"/>
              <a:t>目前，</a:t>
            </a:r>
            <a:r>
              <a:rPr lang="en-US" altLang="zh-CN" smtClean="0"/>
              <a:t>OPS RESTful API</a:t>
            </a:r>
            <a:r>
              <a:rPr lang="zh-CN" altLang="en-US" smtClean="0"/>
              <a:t>只支持采用</a:t>
            </a:r>
            <a:r>
              <a:rPr lang="en-US" altLang="zh-CN" smtClean="0"/>
              <a:t>XML</a:t>
            </a:r>
            <a:r>
              <a:rPr lang="zh-CN" altLang="en-US" smtClean="0"/>
              <a:t>格式传输数据，未来的版本会支持</a:t>
            </a:r>
            <a:r>
              <a:rPr lang="en-US" altLang="zh-CN" smtClean="0"/>
              <a:t>JSON</a:t>
            </a:r>
            <a:r>
              <a:rPr lang="zh-CN" altLang="en-US" smtClean="0"/>
              <a:t>（</a:t>
            </a:r>
            <a:r>
              <a:rPr lang="en-US" altLang="zh-CN" smtClean="0"/>
              <a:t>JavaScript Object Notation</a:t>
            </a:r>
            <a:r>
              <a:rPr lang="zh-CN" altLang="en-US" smtClean="0"/>
              <a:t>）格式。所以，目前</a:t>
            </a:r>
            <a:r>
              <a:rPr lang="en-US" altLang="zh-CN" smtClean="0"/>
              <a:t>OPS Restful API</a:t>
            </a:r>
            <a:r>
              <a:rPr lang="zh-CN" altLang="en-US" smtClean="0"/>
              <a:t>请求报文和响应报文的主体部分都是</a:t>
            </a:r>
            <a:r>
              <a:rPr lang="en-US" altLang="zh-CN" smtClean="0"/>
              <a:t>XML</a:t>
            </a:r>
            <a:r>
              <a:rPr lang="zh-CN" altLang="en-US" smtClean="0"/>
              <a:t>格式。</a:t>
            </a:r>
            <a:endParaRPr lang="en-US" altLang="zh-CN" smtClean="0"/>
          </a:p>
          <a:p>
            <a:r>
              <a:rPr lang="en-US" altLang="zh-CN" smtClean="0"/>
              <a:t>《RESTful API</a:t>
            </a:r>
            <a:r>
              <a:rPr lang="zh-CN" altLang="en-US" smtClean="0"/>
              <a:t>参考</a:t>
            </a:r>
            <a:r>
              <a:rPr lang="en-US" altLang="zh-CN" smtClean="0"/>
              <a:t>》</a:t>
            </a:r>
            <a:r>
              <a:rPr lang="zh-CN" altLang="en-US" smtClean="0"/>
              <a:t>可在华为</a:t>
            </a:r>
            <a:r>
              <a:rPr lang="en-US" altLang="zh-CN" smtClean="0"/>
              <a:t>support</a:t>
            </a:r>
            <a:r>
              <a:rPr lang="zh-CN" altLang="en-US" smtClean="0"/>
              <a:t>网站</a:t>
            </a:r>
            <a:r>
              <a:rPr lang="en-US" altLang="zh-CN" smtClean="0"/>
              <a:t>http://support.huawei.com</a:t>
            </a:r>
            <a:r>
              <a:rPr lang="zh-CN" altLang="en-US" smtClean="0"/>
              <a:t>的对应网络设备页面进行下载。</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50322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维护助手是华为网络设备的一个功能，可以设置触发条件及条件满足时执行的</a:t>
            </a:r>
            <a:r>
              <a:rPr lang="en-US" altLang="zh-CN" smtClean="0"/>
              <a:t>Python</a:t>
            </a:r>
            <a:r>
              <a:rPr lang="zh-CN" altLang="en-US" smtClean="0"/>
              <a:t>脚本。系统会实时监控设备的运行，当设定的触发条件满足时，自动执行</a:t>
            </a:r>
            <a:r>
              <a:rPr lang="en-US" altLang="zh-CN" smtClean="0"/>
              <a:t>Python</a:t>
            </a:r>
            <a:r>
              <a:rPr lang="zh-CN" altLang="en-US" smtClean="0"/>
              <a:t>脚本，完成</a:t>
            </a:r>
            <a:r>
              <a:rPr lang="en-US" altLang="zh-CN" smtClean="0"/>
              <a:t>Python</a:t>
            </a:r>
            <a:r>
              <a:rPr lang="zh-CN" altLang="en-US" smtClean="0"/>
              <a:t>脚本中定义的动作。更多关于维护助手的描述可参见华为网络设备产品文档。</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017119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512989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DHCP</a:t>
            </a:r>
            <a:r>
              <a:rPr lang="zh-CN" altLang="en-US" smtClean="0"/>
              <a:t>服务器：用来为自动部署的网络设备分配临时管理</a:t>
            </a:r>
            <a:r>
              <a:rPr lang="en-US" altLang="zh-CN" smtClean="0"/>
              <a:t>IP</a:t>
            </a:r>
            <a:r>
              <a:rPr lang="zh-CN" altLang="en-US" smtClean="0"/>
              <a:t>地址、缺省网关、脚本文件服务器地址等信息。</a:t>
            </a:r>
            <a:endParaRPr lang="en-US" altLang="zh-CN" smtClean="0"/>
          </a:p>
          <a:p>
            <a:r>
              <a:rPr lang="en-US" altLang="zh-CN" smtClean="0"/>
              <a:t>DHCP</a:t>
            </a:r>
            <a:r>
              <a:rPr lang="zh-CN" altLang="en-US" smtClean="0"/>
              <a:t>中继：当需要自动部署的网络设备与</a:t>
            </a:r>
            <a:r>
              <a:rPr lang="en-US" altLang="zh-CN" smtClean="0"/>
              <a:t>DHCP</a:t>
            </a:r>
            <a:r>
              <a:rPr lang="zh-CN" altLang="en-US" smtClean="0"/>
              <a:t>服务器位于不同网段时，需要通过</a:t>
            </a:r>
            <a:r>
              <a:rPr lang="en-US" altLang="zh-CN" smtClean="0"/>
              <a:t>DHCP</a:t>
            </a:r>
            <a:r>
              <a:rPr lang="zh-CN" altLang="en-US" smtClean="0"/>
              <a:t>中继转发</a:t>
            </a:r>
            <a:r>
              <a:rPr lang="en-US" altLang="zh-CN" smtClean="0"/>
              <a:t>DHCP</a:t>
            </a:r>
            <a:r>
              <a:rPr lang="zh-CN" altLang="en-US" smtClean="0"/>
              <a:t>交互报文。</a:t>
            </a:r>
            <a:endParaRPr lang="en-US" altLang="zh-CN" smtClean="0"/>
          </a:p>
          <a:p>
            <a:r>
              <a:rPr lang="zh-CN" altLang="en-US" smtClean="0"/>
              <a:t>脚本文件服务器：用来保存网络设备自动部署时需要的脚本文件（</a:t>
            </a:r>
            <a:r>
              <a:rPr lang="en-US" altLang="zh-CN" smtClean="0"/>
              <a:t>Python</a:t>
            </a:r>
            <a:r>
              <a:rPr lang="zh-CN" altLang="en-US" smtClean="0"/>
              <a:t>脚本）。通过运行脚本文件，网络设备可以获取软件和配置文件服务器地址、版本文件、配置文件等信息。</a:t>
            </a:r>
            <a:endParaRPr lang="en-US" altLang="zh-CN" smtClean="0"/>
          </a:p>
          <a:p>
            <a:r>
              <a:rPr lang="zh-CN" altLang="en-US" smtClean="0"/>
              <a:t>软件和配置文件服务器：用来保存网络设备自动部署需要的系统软件、配置文件、补丁文件。</a:t>
            </a:r>
            <a:endParaRPr lang="en-US" altLang="zh-CN" smtClean="0"/>
          </a:p>
          <a:p>
            <a:endParaRPr lang="en-US" altLang="zh-CN" smtClean="0"/>
          </a:p>
          <a:p>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839535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通过编写</a:t>
            </a:r>
            <a:r>
              <a:rPr lang="en-US" altLang="zh-CN" smtClean="0"/>
              <a:t>python</a:t>
            </a:r>
            <a:r>
              <a:rPr lang="zh-CN" altLang="en-US" smtClean="0"/>
              <a:t>脚本，可以实现下发命令，当网络不通时，将执行结果暂存在设备，等网络恢复再传输到</a:t>
            </a:r>
            <a:r>
              <a:rPr lang="en-US" altLang="zh-CN" smtClean="0"/>
              <a:t>Server</a:t>
            </a:r>
            <a:r>
              <a:rPr lang="zh-CN" altLang="en-US" smtClean="0"/>
              <a:t>的功能。因此，可以消减网络不通带来的影响。</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034687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9758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5638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58028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342945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834187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573729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099162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490792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511489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804719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295736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备注占位符 4"/>
          <p:cNvSpPr>
            <a:spLocks noGrp="1"/>
          </p:cNvSpPr>
          <p:nvPr>
            <p:ph type="body" idx="1"/>
          </p:nvPr>
        </p:nvSpPr>
        <p:spPr/>
        <p:txBody>
          <a:bodyPr/>
          <a:lstStyle/>
          <a:p>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546404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3059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备注占位符 4"/>
          <p:cNvSpPr>
            <a:spLocks noGrp="1"/>
          </p:cNvSpPr>
          <p:nvPr>
            <p:ph type="body" idx="1"/>
          </p:nvPr>
        </p:nvSpPr>
        <p:spPr/>
        <p:txBody>
          <a:bodyPr/>
          <a:lstStyle/>
          <a:p>
            <a:pPr lvl="0"/>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580014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299253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753049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113439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smtClean="0"/>
              <a:t>ABCD</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434378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81505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282450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95552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3918138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nvPr>
        </p:nvGraphicFramePr>
        <p:xfrm>
          <a:off x="1007140" y="1398424"/>
          <a:ext cx="10194260"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84624">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nvPr>
        </p:nvGraphicFramePr>
        <p:xfrm>
          <a:off x="1007140" y="2920836"/>
          <a:ext cx="10177327" cy="254952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067692">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9170045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base"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36787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smtClean="0"/>
              <a:t>此</a:t>
            </a:r>
            <a:r>
              <a:rPr lang="zh-CN" altLang="en-US" dirty="0"/>
              <a:t>版式用于</a:t>
            </a:r>
            <a:r>
              <a:rPr lang="zh-CN" altLang="en-US" dirty="0" smtClean="0"/>
              <a:t>思考题具体格式</a:t>
            </a:r>
            <a:endParaRPr lang="en-US" altLang="zh-CN" dirty="0" smtClean="0"/>
          </a:p>
        </p:txBody>
      </p:sp>
      <p:cxnSp>
        <p:nvCxnSpPr>
          <p:cNvPr id="2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55710467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295293137"/>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733786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051668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2597678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851924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999981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xmlns=""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10282994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xmlns=""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xmlns=""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xmlns=""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xmlns=""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文本占位符 13"/>
          <p:cNvSpPr>
            <a:spLocks noGrp="1"/>
          </p:cNvSpPr>
          <p:nvPr>
            <p:ph type="body" sz="quarter" idx="17"/>
          </p:nvPr>
        </p:nvSpPr>
        <p:spPr/>
        <p:txBody>
          <a:bodyPr/>
          <a:lstStyle/>
          <a:p>
            <a:endParaRPr lang="zh-CN" altLang="en-US">
              <a:sym typeface="Huawei Sans" panose="020C0503030203020204" pitchFamily="34" charset="0"/>
            </a:endParaRPr>
          </a:p>
        </p:txBody>
      </p:sp>
      <p:sp>
        <p:nvSpPr>
          <p:cNvPr id="25" name="文本占位符 24"/>
          <p:cNvSpPr>
            <a:spLocks noGrp="1"/>
          </p:cNvSpPr>
          <p:nvPr>
            <p:ph type="body" sz="quarter" idx="18"/>
          </p:nvPr>
        </p:nvSpPr>
        <p:spPr/>
        <p:txBody>
          <a:bodyPr/>
          <a:lstStyle/>
          <a:p>
            <a:r>
              <a:rPr lang="en-US" altLang="zh-CN" smtClean="0">
                <a:sym typeface="Huawei Sans" panose="020C0503030203020204" pitchFamily="34" charset="0"/>
              </a:rPr>
              <a:t>Datacom</a:t>
            </a:r>
            <a:endParaRPr lang="zh-CN" altLang="en-US" dirty="0">
              <a:sym typeface="Huawei Sans" panose="020C0503030203020204" pitchFamily="34" charset="0"/>
            </a:endParaRPr>
          </a:p>
        </p:txBody>
      </p:sp>
      <p:sp>
        <p:nvSpPr>
          <p:cNvPr id="15" name="文本占位符 14"/>
          <p:cNvSpPr>
            <a:spLocks noGrp="1"/>
          </p:cNvSpPr>
          <p:nvPr>
            <p:ph type="body" sz="quarter" idx="19"/>
          </p:nvPr>
        </p:nvSpPr>
        <p:spPr/>
        <p:txBody>
          <a:bodyPr/>
          <a:lstStyle/>
          <a:p>
            <a:r>
              <a:rPr lang="zh-CN" altLang="en-US" dirty="0" smtClean="0">
                <a:sym typeface="Huawei Sans" panose="020C0503030203020204" pitchFamily="34" charset="0"/>
              </a:rPr>
              <a:t>通用</a:t>
            </a:r>
            <a:endParaRPr lang="zh-CN" altLang="en-US" dirty="0">
              <a:sym typeface="Huawei Sans" panose="020C0503030203020204" pitchFamily="34" charset="0"/>
            </a:endParaRPr>
          </a:p>
        </p:txBody>
      </p:sp>
      <p:sp>
        <p:nvSpPr>
          <p:cNvPr id="16" name="文本占位符 15"/>
          <p:cNvSpPr>
            <a:spLocks noGrp="1"/>
          </p:cNvSpPr>
          <p:nvPr>
            <p:ph type="body" sz="quarter" idx="20"/>
          </p:nvPr>
        </p:nvSpPr>
        <p:spPr/>
        <p:txBody>
          <a:bodyPr/>
          <a:lstStyle/>
          <a:p>
            <a:r>
              <a:rPr lang="en-US" altLang="zh-CN" dirty="0" smtClean="0">
                <a:sym typeface="Huawei Sans" panose="020C0503030203020204" pitchFamily="34" charset="0"/>
              </a:rPr>
              <a:t>V1.0</a:t>
            </a:r>
            <a:endParaRPr lang="zh-CN" altLang="en-US" dirty="0">
              <a:sym typeface="Huawei Sans" panose="020C0503030203020204" pitchFamily="34" charset="0"/>
            </a:endParaRPr>
          </a:p>
        </p:txBody>
      </p:sp>
      <p:sp>
        <p:nvSpPr>
          <p:cNvPr id="74" name="文本占位符 73"/>
          <p:cNvSpPr>
            <a:spLocks noGrp="1"/>
          </p:cNvSpPr>
          <p:nvPr>
            <p:ph type="body" sz="quarter" idx="13"/>
          </p:nvPr>
        </p:nvSpPr>
        <p:spPr/>
        <p:txBody>
          <a:bodyPr/>
          <a:lstStyle/>
          <a:p>
            <a:r>
              <a:rPr lang="zh-CN" altLang="en-US" dirty="0">
                <a:sym typeface="Huawei Sans" panose="020C0503030203020204" pitchFamily="34" charset="0"/>
              </a:rPr>
              <a:t>蔚炯坚</a:t>
            </a:r>
            <a:r>
              <a:rPr lang="en-US" altLang="zh-CN" dirty="0" smtClean="0">
                <a:sym typeface="Huawei Sans" panose="020C0503030203020204" pitchFamily="34" charset="0"/>
              </a:rPr>
              <a:t>/WX935519</a:t>
            </a:r>
            <a:endParaRPr lang="zh-CN" altLang="en-US" dirty="0">
              <a:sym typeface="Huawei Sans" panose="020C0503030203020204" pitchFamily="34" charset="0"/>
            </a:endParaRPr>
          </a:p>
        </p:txBody>
      </p:sp>
      <p:sp>
        <p:nvSpPr>
          <p:cNvPr id="75" name="文本占位符 74"/>
          <p:cNvSpPr>
            <a:spLocks noGrp="1"/>
          </p:cNvSpPr>
          <p:nvPr>
            <p:ph type="body" sz="quarter" idx="14"/>
          </p:nvPr>
        </p:nvSpPr>
        <p:spPr/>
        <p:txBody>
          <a:bodyPr/>
          <a:lstStyle/>
          <a:p>
            <a:r>
              <a:rPr lang="en-US" altLang="zh-CN" dirty="0" smtClean="0">
                <a:sym typeface="Huawei Sans" panose="020C0503030203020204" pitchFamily="34" charset="0"/>
              </a:rPr>
              <a:t>2020.06.16</a:t>
            </a:r>
            <a:endParaRPr lang="en-US" altLang="zh-CN" dirty="0">
              <a:sym typeface="Huawei Sans" panose="020C0503030203020204" pitchFamily="34" charset="0"/>
            </a:endParaRPr>
          </a:p>
        </p:txBody>
      </p:sp>
      <p:sp>
        <p:nvSpPr>
          <p:cNvPr id="22" name="文本占位符 21"/>
          <p:cNvSpPr>
            <a:spLocks noGrp="1"/>
          </p:cNvSpPr>
          <p:nvPr>
            <p:ph type="body" sz="quarter" idx="15"/>
          </p:nvPr>
        </p:nvSpPr>
        <p:spPr/>
        <p:txBody>
          <a:bodyPr/>
          <a:lstStyle/>
          <a:p>
            <a:r>
              <a:rPr lang="zh-CN" altLang="en-US" dirty="0">
                <a:sym typeface="Huawei Sans" panose="020C0503030203020204" pitchFamily="34" charset="0"/>
              </a:rPr>
              <a:t>万倡利</a:t>
            </a:r>
            <a:r>
              <a:rPr lang="en-US" altLang="zh-CN" dirty="0" smtClean="0">
                <a:sym typeface="Huawei Sans" panose="020C0503030203020204" pitchFamily="34" charset="0"/>
              </a:rPr>
              <a:t>/WX408647</a:t>
            </a:r>
            <a:endParaRPr lang="en-US" altLang="zh-CN" dirty="0">
              <a:sym typeface="Huawei Sans" panose="020C0503030203020204" pitchFamily="34" charset="0"/>
            </a:endParaRPr>
          </a:p>
        </p:txBody>
      </p:sp>
      <p:sp>
        <p:nvSpPr>
          <p:cNvPr id="23" name="文本占位符 22"/>
          <p:cNvSpPr>
            <a:spLocks noGrp="1"/>
          </p:cNvSpPr>
          <p:nvPr>
            <p:ph type="body" sz="quarter" idx="16"/>
          </p:nvPr>
        </p:nvSpPr>
        <p:spPr/>
        <p:txBody>
          <a:bodyPr/>
          <a:lstStyle/>
          <a:p>
            <a:r>
              <a:rPr lang="zh-CN" altLang="en-US" dirty="0" smtClean="0">
                <a:sym typeface="Huawei Sans" panose="020C0503030203020204" pitchFamily="34" charset="0"/>
              </a:rPr>
              <a:t>新开发</a:t>
            </a:r>
            <a:endParaRPr lang="zh-CN" altLang="en-US" dirty="0">
              <a:sym typeface="Huawei Sans" panose="020C0503030203020204" pitchFamily="34" charset="0"/>
            </a:endParaRPr>
          </a:p>
        </p:txBody>
      </p:sp>
      <p:sp>
        <p:nvSpPr>
          <p:cNvPr id="28" name="文本占位符 27"/>
          <p:cNvSpPr>
            <a:spLocks noGrp="1"/>
          </p:cNvSpPr>
          <p:nvPr>
            <p:ph type="body" sz="quarter" idx="21"/>
          </p:nvPr>
        </p:nvSpPr>
        <p:spPr/>
        <p:txBody>
          <a:bodyPr/>
          <a:lstStyle/>
          <a:p>
            <a:r>
              <a:rPr lang="zh-CN" altLang="en-US" dirty="0">
                <a:sym typeface="Huawei Sans" panose="020C0503030203020204" pitchFamily="34" charset="0"/>
              </a:rPr>
              <a:t>何军建</a:t>
            </a:r>
            <a:r>
              <a:rPr lang="en-US" altLang="zh-CN" dirty="0" smtClean="0">
                <a:sym typeface="Huawei Sans" panose="020C0503030203020204" pitchFamily="34" charset="0"/>
              </a:rPr>
              <a:t>/WX580230</a:t>
            </a:r>
            <a:endParaRPr lang="en-US" altLang="zh-CN" dirty="0">
              <a:sym typeface="Huawei Sans" panose="020C0503030203020204" pitchFamily="34" charset="0"/>
            </a:endParaRPr>
          </a:p>
        </p:txBody>
      </p:sp>
      <p:sp>
        <p:nvSpPr>
          <p:cNvPr id="29" name="文本占位符 28"/>
          <p:cNvSpPr>
            <a:spLocks noGrp="1"/>
          </p:cNvSpPr>
          <p:nvPr>
            <p:ph type="body" sz="quarter" idx="22"/>
          </p:nvPr>
        </p:nvSpPr>
        <p:spPr/>
        <p:txBody>
          <a:bodyPr/>
          <a:lstStyle/>
          <a:p>
            <a:r>
              <a:rPr lang="en-US" altLang="zh-CN" dirty="0" smtClean="0">
                <a:sym typeface="Huawei Sans" panose="020C0503030203020204" pitchFamily="34" charset="0"/>
              </a:rPr>
              <a:t>2021.08.24</a:t>
            </a:r>
            <a:endParaRPr lang="en-US" altLang="zh-CN" dirty="0">
              <a:sym typeface="Huawei Sans" panose="020C0503030203020204" pitchFamily="34" charset="0"/>
            </a:endParaRPr>
          </a:p>
        </p:txBody>
      </p:sp>
      <p:sp>
        <p:nvSpPr>
          <p:cNvPr id="30" name="文本占位符 29"/>
          <p:cNvSpPr>
            <a:spLocks noGrp="1"/>
          </p:cNvSpPr>
          <p:nvPr>
            <p:ph type="body" sz="quarter" idx="23"/>
          </p:nvPr>
        </p:nvSpPr>
        <p:spPr/>
        <p:txBody>
          <a:bodyPr/>
          <a:lstStyle/>
          <a:p>
            <a:r>
              <a:rPr lang="zh-CN" altLang="en-US" dirty="0">
                <a:sym typeface="Huawei Sans" panose="020C0503030203020204" pitchFamily="34" charset="0"/>
              </a:rPr>
              <a:t>李先</a:t>
            </a:r>
            <a:r>
              <a:rPr lang="zh-CN" altLang="en-US" dirty="0" smtClean="0">
                <a:sym typeface="Huawei Sans" panose="020C0503030203020204" pitchFamily="34" charset="0"/>
              </a:rPr>
              <a:t>之</a:t>
            </a:r>
            <a:r>
              <a:rPr lang="en-US" altLang="zh-CN" dirty="0" smtClean="0">
                <a:sym typeface="Huawei Sans" panose="020C0503030203020204" pitchFamily="34" charset="0"/>
              </a:rPr>
              <a:t>/00354681</a:t>
            </a:r>
            <a:endParaRPr lang="en-US" altLang="zh-CN" dirty="0">
              <a:sym typeface="Huawei Sans" panose="020C0503030203020204" pitchFamily="34" charset="0"/>
            </a:endParaRPr>
          </a:p>
        </p:txBody>
      </p:sp>
      <p:sp>
        <p:nvSpPr>
          <p:cNvPr id="31" name="文本占位符 30"/>
          <p:cNvSpPr>
            <a:spLocks noGrp="1"/>
          </p:cNvSpPr>
          <p:nvPr>
            <p:ph type="body" sz="quarter" idx="24"/>
          </p:nvPr>
        </p:nvSpPr>
        <p:spPr/>
        <p:txBody>
          <a:bodyPr/>
          <a:lstStyle/>
          <a:p>
            <a:r>
              <a:rPr lang="zh-CN" altLang="en-US" dirty="0" smtClean="0">
                <a:sym typeface="Huawei Sans" panose="020C0503030203020204" pitchFamily="34" charset="0"/>
              </a:rPr>
              <a:t>优化</a:t>
            </a:r>
            <a:endParaRPr lang="zh-CN" altLang="en-US" dirty="0">
              <a:sym typeface="Huawei Sans" panose="020C0503030203020204" pitchFamily="34" charset="0"/>
            </a:endParaRPr>
          </a:p>
        </p:txBody>
      </p:sp>
      <p:sp>
        <p:nvSpPr>
          <p:cNvPr id="32" name="文本占位符 31"/>
          <p:cNvSpPr>
            <a:spLocks noGrp="1"/>
          </p:cNvSpPr>
          <p:nvPr>
            <p:ph type="body" sz="quarter" idx="25"/>
          </p:nvPr>
        </p:nvSpPr>
        <p:spPr/>
        <p:txBody>
          <a:bodyPr/>
          <a:lstStyle/>
          <a:p>
            <a:endParaRPr lang="en-US" altLang="zh-CN" dirty="0">
              <a:sym typeface="Huawei Sans" panose="020C0503030203020204" pitchFamily="34" charset="0"/>
            </a:endParaRPr>
          </a:p>
        </p:txBody>
      </p:sp>
      <p:sp>
        <p:nvSpPr>
          <p:cNvPr id="33" name="文本占位符 32"/>
          <p:cNvSpPr>
            <a:spLocks noGrp="1"/>
          </p:cNvSpPr>
          <p:nvPr>
            <p:ph type="body" sz="quarter" idx="26"/>
          </p:nvPr>
        </p:nvSpPr>
        <p:spPr/>
        <p:txBody>
          <a:bodyPr/>
          <a:lstStyle/>
          <a:p>
            <a:endParaRPr lang="en-US" altLang="zh-CN" dirty="0">
              <a:sym typeface="Huawei Sans" panose="020C0503030203020204" pitchFamily="34" charset="0"/>
            </a:endParaRPr>
          </a:p>
        </p:txBody>
      </p:sp>
      <p:sp>
        <p:nvSpPr>
          <p:cNvPr id="17" name="文本占位符 16"/>
          <p:cNvSpPr>
            <a:spLocks noGrp="1"/>
          </p:cNvSpPr>
          <p:nvPr>
            <p:ph type="body" sz="quarter" idx="27"/>
          </p:nvPr>
        </p:nvSpPr>
        <p:spPr/>
        <p:txBody>
          <a:bodyPr/>
          <a:lstStyle/>
          <a:p>
            <a:endParaRPr lang="zh-CN" altLang="en-US">
              <a:sym typeface="Huawei Sans" panose="020C0503030203020204" pitchFamily="34" charset="0"/>
            </a:endParaRPr>
          </a:p>
        </p:txBody>
      </p:sp>
      <p:sp>
        <p:nvSpPr>
          <p:cNvPr id="35" name="文本占位符 34"/>
          <p:cNvSpPr>
            <a:spLocks noGrp="1"/>
          </p:cNvSpPr>
          <p:nvPr>
            <p:ph type="body" sz="quarter" idx="28"/>
          </p:nvPr>
        </p:nvSpPr>
        <p:spPr/>
        <p:txBody>
          <a:bodyPr/>
          <a:lstStyle/>
          <a:p>
            <a:r>
              <a:rPr lang="zh-CN" altLang="en-US" dirty="0" smtClean="0">
                <a:sym typeface="Huawei Sans" panose="020C0503030203020204" pitchFamily="34" charset="0"/>
              </a:rPr>
              <a:t>优化</a:t>
            </a:r>
            <a:endParaRPr lang="zh-CN" altLang="en-US" dirty="0">
              <a:sym typeface="Huawei Sans" panose="020C0503030203020204" pitchFamily="34" charset="0"/>
            </a:endParaRPr>
          </a:p>
        </p:txBody>
      </p:sp>
      <p:sp>
        <p:nvSpPr>
          <p:cNvPr id="18" name="文本占位符 17"/>
          <p:cNvSpPr>
            <a:spLocks noGrp="1"/>
          </p:cNvSpPr>
          <p:nvPr>
            <p:ph type="body" sz="quarter" idx="29"/>
          </p:nvPr>
        </p:nvSpPr>
        <p:spPr/>
        <p:txBody>
          <a:bodyPr/>
          <a:lstStyle/>
          <a:p>
            <a:endParaRPr lang="zh-CN" altLang="en-US">
              <a:sym typeface="Huawei Sans" panose="020C0503030203020204" pitchFamily="34" charset="0"/>
            </a:endParaRPr>
          </a:p>
        </p:txBody>
      </p:sp>
      <p:sp>
        <p:nvSpPr>
          <p:cNvPr id="19" name="文本占位符 18"/>
          <p:cNvSpPr>
            <a:spLocks noGrp="1"/>
          </p:cNvSpPr>
          <p:nvPr>
            <p:ph type="body" sz="quarter" idx="30"/>
          </p:nvPr>
        </p:nvSpPr>
        <p:spPr/>
        <p:txBody>
          <a:bodyPr/>
          <a:lstStyle/>
          <a:p>
            <a:endParaRPr lang="zh-CN" altLang="en-US">
              <a:sym typeface="Huawei Sans" panose="020C0503030203020204" pitchFamily="34" charset="0"/>
            </a:endParaRPr>
          </a:p>
        </p:txBody>
      </p:sp>
      <p:sp>
        <p:nvSpPr>
          <p:cNvPr id="20" name="文本占位符 19"/>
          <p:cNvSpPr>
            <a:spLocks noGrp="1"/>
          </p:cNvSpPr>
          <p:nvPr>
            <p:ph type="body" sz="quarter" idx="31"/>
          </p:nvPr>
        </p:nvSpPr>
        <p:spPr/>
        <p:txBody>
          <a:bodyPr/>
          <a:lstStyle/>
          <a:p>
            <a:endParaRPr lang="zh-CN" altLang="en-US">
              <a:sym typeface="Huawei Sans" panose="020C0503030203020204" pitchFamily="34" charset="0"/>
            </a:endParaRPr>
          </a:p>
        </p:txBody>
      </p:sp>
      <p:sp>
        <p:nvSpPr>
          <p:cNvPr id="21" name="文本占位符 20"/>
          <p:cNvSpPr>
            <a:spLocks noGrp="1"/>
          </p:cNvSpPr>
          <p:nvPr>
            <p:ph type="body" sz="quarter" idx="32"/>
          </p:nvPr>
        </p:nvSpPr>
        <p:spPr/>
        <p:txBody>
          <a:bodyPr/>
          <a:lstStyle/>
          <a:p>
            <a:endParaRPr lang="zh-CN" altLang="en-US" dirty="0">
              <a:sym typeface="Huawei Sans" panose="020C0503030203020204" pitchFamily="34" charset="0"/>
            </a:endParaRPr>
          </a:p>
        </p:txBody>
      </p:sp>
    </p:spTree>
    <p:extLst>
      <p:ext uri="{BB962C8B-B14F-4D97-AF65-F5344CB8AC3E}">
        <p14:creationId xmlns:p14="http://schemas.microsoft.com/office/powerpoint/2010/main" val="11296919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bwMode="gray"/>
        <p:txBody>
          <a:bodyPr/>
          <a:lstStyle/>
          <a:p>
            <a:r>
              <a:rPr lang="en-US" altLang="zh-CN" dirty="0">
                <a:sym typeface="Huawei Sans" panose="020C0503030203020204" pitchFamily="34" charset="0"/>
              </a:rPr>
              <a:t>OPS</a:t>
            </a:r>
            <a:r>
              <a:rPr lang="zh-CN" altLang="en-US" dirty="0">
                <a:sym typeface="Huawei Sans" panose="020C0503030203020204" pitchFamily="34" charset="0"/>
              </a:rPr>
              <a:t>原理与实践</a:t>
            </a:r>
          </a:p>
        </p:txBody>
      </p:sp>
    </p:spTree>
    <p:extLst>
      <p:ext uri="{BB962C8B-B14F-4D97-AF65-F5344CB8AC3E}">
        <p14:creationId xmlns:p14="http://schemas.microsoft.com/office/powerpoint/2010/main" val="31712373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zh-CN" altLang="en-US" sz="2000" dirty="0" smtClean="0">
                <a:sym typeface="Huawei Sans" panose="020C0503030203020204" pitchFamily="34" charset="0"/>
              </a:rPr>
              <a:t>传统网络设备是一个封闭系统，提供的功能和服务都是固定的，不具有动态性和灵活性。随着网络的迅猛发展和不断普及，多样化、差异化的需求层出不穷，传统网络设备难以满足这些需求。部分用户要求设备提供不同层次的开放性，便于开发一些自定义的功能，部署一些私有的管理策略，实现自动化运维等功能，以降低管理成本。</a:t>
            </a:r>
            <a:endParaRPr lang="en-US" altLang="zh-CN" sz="2000" dirty="0" smtClean="0">
              <a:sym typeface="Huawei Sans" panose="020C0503030203020204" pitchFamily="34" charset="0"/>
            </a:endParaRPr>
          </a:p>
          <a:p>
            <a:r>
              <a:rPr lang="zh-CN" altLang="en-US" sz="2000" dirty="0" smtClean="0">
                <a:sym typeface="Huawei Sans" panose="020C0503030203020204" pitchFamily="34" charset="0"/>
              </a:rPr>
              <a:t>华为公司推出</a:t>
            </a:r>
            <a:r>
              <a:rPr lang="en-US" altLang="zh-CN" sz="2000" dirty="0" smtClean="0">
                <a:sym typeface="Huawei Sans" panose="020C0503030203020204" pitchFamily="34" charset="0"/>
              </a:rPr>
              <a:t>OPS</a:t>
            </a:r>
            <a:r>
              <a:rPr lang="zh-CN" altLang="en-US" sz="2000" dirty="0" smtClean="0">
                <a:sym typeface="Huawei Sans" panose="020C0503030203020204" pitchFamily="34" charset="0"/>
              </a:rPr>
              <a:t>（</a:t>
            </a:r>
            <a:r>
              <a:rPr lang="en-US" altLang="zh-CN" sz="2000" dirty="0" smtClean="0">
                <a:sym typeface="Huawei Sans" panose="020C0503030203020204" pitchFamily="34" charset="0"/>
              </a:rPr>
              <a:t>Open Programmability System</a:t>
            </a:r>
            <a:r>
              <a:rPr lang="zh-CN" altLang="en-US" sz="2000" dirty="0" smtClean="0">
                <a:sym typeface="Huawei Sans" panose="020C0503030203020204" pitchFamily="34" charset="0"/>
              </a:rPr>
              <a:t>，</a:t>
            </a:r>
            <a:r>
              <a:rPr lang="zh-CN" altLang="en-US" sz="2000" dirty="0" smtClean="0"/>
              <a:t>开放可编程</a:t>
            </a:r>
            <a:r>
              <a:rPr lang="zh-CN" altLang="en-US" sz="2000" dirty="0"/>
              <a:t>系统</a:t>
            </a:r>
            <a:r>
              <a:rPr lang="zh-CN" altLang="en-US" sz="2000" dirty="0" smtClean="0">
                <a:sym typeface="Huawei Sans" panose="020C0503030203020204" pitchFamily="34" charset="0"/>
              </a:rPr>
              <a:t>），提供网络设备的开放可编程能力，赋予用户二次开发的能力，充分释放设备潜力。</a:t>
            </a:r>
            <a:endParaRPr lang="en-US" altLang="zh-CN" sz="2000" dirty="0" smtClean="0">
              <a:sym typeface="Huawei Sans" panose="020C0503030203020204" pitchFamily="34" charset="0"/>
            </a:endParaRPr>
          </a:p>
          <a:p>
            <a:r>
              <a:rPr lang="zh-CN" altLang="en-US" sz="2000" dirty="0" smtClean="0">
                <a:sym typeface="Huawei Sans" panose="020C0503030203020204" pitchFamily="34" charset="0"/>
              </a:rPr>
              <a:t>本课程介绍</a:t>
            </a:r>
            <a:r>
              <a:rPr lang="en-US" altLang="zh-CN" sz="2000" dirty="0" smtClean="0">
                <a:sym typeface="Huawei Sans" panose="020C0503030203020204" pitchFamily="34" charset="0"/>
              </a:rPr>
              <a:t>OPS</a:t>
            </a:r>
            <a:r>
              <a:rPr lang="zh-CN" altLang="en-US" sz="2000" dirty="0" smtClean="0">
                <a:sym typeface="Huawei Sans" panose="020C0503030203020204" pitchFamily="34" charset="0"/>
              </a:rPr>
              <a:t>，描述其原理及应用场景，并通过一个案例进行实践。</a:t>
            </a:r>
            <a:endParaRPr lang="en-US" altLang="zh-CN" sz="2000" dirty="0">
              <a:sym typeface="Huawei Sans" panose="020C0503030203020204" pitchFamily="34" charset="0"/>
            </a:endParaRPr>
          </a:p>
        </p:txBody>
      </p:sp>
    </p:spTree>
    <p:extLst>
      <p:ext uri="{BB962C8B-B14F-4D97-AF65-F5344CB8AC3E}">
        <p14:creationId xmlns:p14="http://schemas.microsoft.com/office/powerpoint/2010/main" val="15893100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zh-CN" altLang="en-US" dirty="0" smtClean="0">
                <a:sym typeface="Huawei Sans" panose="020C0503030203020204" pitchFamily="34" charset="0"/>
              </a:rPr>
              <a:t>学完本课程后，您将能够：</a:t>
            </a:r>
          </a:p>
          <a:p>
            <a:pPr lvl="1"/>
            <a:r>
              <a:rPr lang="zh-CN" altLang="en-US" dirty="0" smtClean="0">
                <a:sym typeface="Huawei Sans" panose="020C0503030203020204" pitchFamily="34" charset="0"/>
              </a:rPr>
              <a:t>描述</a:t>
            </a:r>
            <a:r>
              <a:rPr lang="en-US" altLang="zh-CN" dirty="0" smtClean="0">
                <a:sym typeface="Huawei Sans" panose="020C0503030203020204" pitchFamily="34" charset="0"/>
              </a:rPr>
              <a:t>OPS</a:t>
            </a:r>
            <a:r>
              <a:rPr lang="zh-CN" altLang="en-US" dirty="0" smtClean="0">
                <a:sym typeface="Huawei Sans" panose="020C0503030203020204" pitchFamily="34" charset="0"/>
              </a:rPr>
              <a:t>基本概念</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描述</a:t>
            </a:r>
            <a:r>
              <a:rPr lang="en-US" altLang="zh-CN" dirty="0" smtClean="0">
                <a:sym typeface="Huawei Sans" panose="020C0503030203020204" pitchFamily="34" charset="0"/>
              </a:rPr>
              <a:t>OPS</a:t>
            </a:r>
            <a:r>
              <a:rPr lang="zh-CN" altLang="en-US" dirty="0" smtClean="0">
                <a:sym typeface="Huawei Sans" panose="020C0503030203020204" pitchFamily="34" charset="0"/>
              </a:rPr>
              <a:t>基本功能</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实现</a:t>
            </a:r>
            <a:r>
              <a:rPr lang="en-US" altLang="zh-CN" dirty="0" smtClean="0">
                <a:sym typeface="Huawei Sans" panose="020C0503030203020204" pitchFamily="34" charset="0"/>
              </a:rPr>
              <a:t>OPS</a:t>
            </a:r>
            <a:r>
              <a:rPr lang="zh-CN" altLang="en-US" dirty="0" smtClean="0">
                <a:sym typeface="Huawei Sans" panose="020C0503030203020204" pitchFamily="34" charset="0"/>
              </a:rPr>
              <a:t>基本配置</a:t>
            </a:r>
          </a:p>
        </p:txBody>
      </p:sp>
    </p:spTree>
    <p:extLst>
      <p:ext uri="{BB962C8B-B14F-4D97-AF65-F5344CB8AC3E}">
        <p14:creationId xmlns:p14="http://schemas.microsoft.com/office/powerpoint/2010/main" val="11219324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b="1" dirty="0" smtClean="0">
                <a:sym typeface="Huawei Sans" panose="020C0503030203020204" pitchFamily="34" charset="0"/>
              </a:rPr>
              <a:t>OPS</a:t>
            </a:r>
            <a:r>
              <a:rPr lang="zh-CN" altLang="en-US" b="1" dirty="0" smtClean="0">
                <a:sym typeface="Huawei Sans" panose="020C0503030203020204" pitchFamily="34" charset="0"/>
              </a:rPr>
              <a:t>概述</a:t>
            </a:r>
            <a:endParaRPr lang="en-US" altLang="zh-CN" b="1" dirty="0" smtClean="0">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原理</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应用场景</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配置实践</a:t>
            </a:r>
            <a:endParaRPr lang="en-US" altLang="zh-CN" dirty="0" smtClean="0">
              <a:solidFill>
                <a:schemeClr val="bg1">
                  <a:lumMod val="50000"/>
                </a:schemeClr>
              </a:solidFill>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41463205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OPS</a:t>
            </a:r>
            <a:r>
              <a:rPr lang="zh-CN" altLang="en-US" smtClean="0">
                <a:sym typeface="Huawei Sans" panose="020C0503030203020204" pitchFamily="34" charset="0"/>
              </a:rPr>
              <a:t>概述 </a:t>
            </a:r>
            <a:r>
              <a:rPr lang="en-US" altLang="zh-CN" smtClean="0">
                <a:sym typeface="Huawei Sans" panose="020C0503030203020204" pitchFamily="34" charset="0"/>
              </a:rPr>
              <a:t>(1)</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2000" dirty="0" smtClean="0">
                <a:sym typeface="Huawei Sans" panose="020C0503030203020204" pitchFamily="34" charset="0"/>
              </a:rPr>
              <a:t>试想下面的场景：</a:t>
            </a:r>
            <a:endParaRPr lang="en-US" altLang="zh-CN" sz="2000" dirty="0" smtClean="0">
              <a:sym typeface="Huawei Sans" panose="020C0503030203020204" pitchFamily="34" charset="0"/>
            </a:endParaRPr>
          </a:p>
          <a:p>
            <a:pPr lvl="1"/>
            <a:r>
              <a:rPr lang="zh-CN" altLang="en-US" sz="1800" dirty="0" smtClean="0">
                <a:sym typeface="Huawei Sans" panose="020C0503030203020204" pitchFamily="34" charset="0"/>
              </a:rPr>
              <a:t>网络开局，硬件安装完成后，大批量设备需进行业务配置。</a:t>
            </a:r>
            <a:endParaRPr lang="en-US" altLang="zh-CN" sz="1800" dirty="0" smtClean="0">
              <a:sym typeface="Huawei Sans" panose="020C0503030203020204" pitchFamily="34" charset="0"/>
            </a:endParaRPr>
          </a:p>
          <a:p>
            <a:pPr lvl="1"/>
            <a:r>
              <a:rPr lang="zh-CN" altLang="en-US" sz="1800" dirty="0" smtClean="0">
                <a:sym typeface="Huawei Sans" panose="020C0503030203020204" pitchFamily="34" charset="0"/>
              </a:rPr>
              <a:t>网络管理员希望设备出现某些告警时，自动执行相应处理动作。</a:t>
            </a:r>
            <a:endParaRPr lang="en-US" altLang="zh-CN" sz="1800" dirty="0" smtClean="0">
              <a:sym typeface="Huawei Sans" panose="020C0503030203020204" pitchFamily="34" charset="0"/>
            </a:endParaRPr>
          </a:p>
          <a:p>
            <a:pPr lvl="1"/>
            <a:r>
              <a:rPr lang="zh-CN" altLang="en-US" sz="1800" dirty="0" smtClean="0">
                <a:sym typeface="Huawei Sans" panose="020C0503030203020204" pitchFamily="34" charset="0"/>
              </a:rPr>
              <a:t>网络管理员编写脚本远程下发命令，定时收集设备信息，遇到网络不通的情况。</a:t>
            </a:r>
            <a:endParaRPr lang="en-US" altLang="zh-CN" sz="1800" dirty="0" smtClean="0">
              <a:sym typeface="Huawei Sans" panose="020C0503030203020204" pitchFamily="34" charset="0"/>
            </a:endParaRPr>
          </a:p>
          <a:p>
            <a:endParaRPr lang="zh-CN" altLang="en-US" sz="2000" dirty="0">
              <a:sym typeface="Huawei Sans" panose="020C0503030203020204" pitchFamily="34" charset="0"/>
            </a:endParaRPr>
          </a:p>
        </p:txBody>
      </p:sp>
      <p:sp>
        <p:nvSpPr>
          <p:cNvPr id="10" name="矩形 9"/>
          <p:cNvSpPr/>
          <p:nvPr/>
        </p:nvSpPr>
        <p:spPr bwMode="gray">
          <a:xfrm>
            <a:off x="3766149" y="3779966"/>
            <a:ext cx="5000100" cy="931584"/>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bwMode="gray">
          <a:xfrm>
            <a:off x="3829732" y="3891815"/>
            <a:ext cx="4936517" cy="707886"/>
          </a:xfrm>
          <a:prstGeom prst="rect">
            <a:avLst/>
          </a:prstGeom>
          <a:noFill/>
        </p:spPr>
        <p:txBody>
          <a:bodyPr wrap="square" rtlCol="0">
            <a:spAutoFit/>
          </a:bodyPr>
          <a:lstStyle/>
          <a:p>
            <a:r>
              <a:rPr lang="zh-CN" altLang="en-US" sz="20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传统网络设备已无法有效解决以上场景存在的问题及想要达成的需求。</a:t>
            </a:r>
          </a:p>
        </p:txBody>
      </p:sp>
      <p:pic>
        <p:nvPicPr>
          <p:cNvPr id="13" name="图片 12" descr="交换机.png"/>
          <p:cNvPicPr>
            <a:picLocks noChangeAspect="1"/>
          </p:cNvPicPr>
          <p:nvPr/>
        </p:nvPicPr>
        <p:blipFill>
          <a:blip r:embed="rId3" cstate="print"/>
          <a:stretch>
            <a:fillRect/>
          </a:stretch>
        </p:blipFill>
        <p:spPr bwMode="gray">
          <a:xfrm>
            <a:off x="2664139" y="3981150"/>
            <a:ext cx="540000" cy="441817"/>
          </a:xfrm>
          <a:prstGeom prst="rect">
            <a:avLst/>
          </a:prstGeom>
        </p:spPr>
      </p:pic>
      <p:sp>
        <p:nvSpPr>
          <p:cNvPr id="14" name="TextBox 42"/>
          <p:cNvSpPr txBox="1"/>
          <p:nvPr/>
        </p:nvSpPr>
        <p:spPr bwMode="gray">
          <a:xfrm>
            <a:off x="2534029" y="4422967"/>
            <a:ext cx="800219" cy="338554"/>
          </a:xfrm>
          <a:prstGeom prst="rect">
            <a:avLst/>
          </a:prstGeom>
          <a:noFill/>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管理员</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40678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OPS</a:t>
            </a:r>
            <a:r>
              <a:rPr lang="zh-CN" altLang="en-US" smtClean="0">
                <a:sym typeface="Huawei Sans" panose="020C0503030203020204" pitchFamily="34" charset="0"/>
              </a:rPr>
              <a:t>概述 </a:t>
            </a:r>
            <a:r>
              <a:rPr lang="en-US" altLang="zh-CN" smtClean="0">
                <a:sym typeface="Huawei Sans" panose="020C0503030203020204" pitchFamily="34" charset="0"/>
              </a:rPr>
              <a:t>(2)</a:t>
            </a:r>
            <a:endParaRPr lang="zh-CN" altLang="en-US" dirty="0">
              <a:sym typeface="Huawei Sans" panose="020C0503030203020204" pitchFamily="34" charset="0"/>
            </a:endParaRPr>
          </a:p>
        </p:txBody>
      </p:sp>
      <p:sp>
        <p:nvSpPr>
          <p:cNvPr id="5" name="文本占位符 4"/>
          <p:cNvSpPr>
            <a:spLocks noGrp="1"/>
          </p:cNvSpPr>
          <p:nvPr>
            <p:ph type="body" sz="quarter" idx="10"/>
          </p:nvPr>
        </p:nvSpPr>
        <p:spPr bwMode="gray"/>
        <p:txBody>
          <a:bodyPr/>
          <a:lstStyle/>
          <a:p>
            <a:r>
              <a:rPr lang="zh-CN" altLang="en-US" sz="1800" dirty="0" smtClean="0">
                <a:sym typeface="Huawei Sans" panose="020C0503030203020204" pitchFamily="34" charset="0"/>
              </a:rPr>
              <a:t>华为公司推出</a:t>
            </a:r>
            <a:r>
              <a:rPr lang="en-US" altLang="zh-CN" sz="1800" dirty="0" smtClean="0">
                <a:sym typeface="Huawei Sans" panose="020C0503030203020204" pitchFamily="34" charset="0"/>
              </a:rPr>
              <a:t>OPS</a:t>
            </a:r>
            <a:r>
              <a:rPr lang="zh-CN" altLang="en-US" sz="1800" dirty="0" smtClean="0">
                <a:sym typeface="Huawei Sans" panose="020C0503030203020204" pitchFamily="34" charset="0"/>
              </a:rPr>
              <a:t>，提供网络设备的开放可编程能力。</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OPS</a:t>
            </a:r>
            <a:r>
              <a:rPr lang="zh-CN" altLang="en-US" sz="1800" dirty="0" smtClean="0">
                <a:sym typeface="Huawei Sans" panose="020C0503030203020204" pitchFamily="34" charset="0"/>
              </a:rPr>
              <a:t>允许用户或第三方开发商利用系统开放的</a:t>
            </a:r>
            <a:r>
              <a:rPr lang="en-US" altLang="zh-CN" sz="1800" dirty="0" smtClean="0">
                <a:sym typeface="Huawei Sans" panose="020C0503030203020204" pitchFamily="34" charset="0"/>
              </a:rPr>
              <a:t>RESTful API</a:t>
            </a:r>
            <a:r>
              <a:rPr lang="zh-CN" altLang="en-US" sz="1800" dirty="0" smtClean="0">
                <a:sym typeface="Huawei Sans" panose="020C0503030203020204" pitchFamily="34" charset="0"/>
              </a:rPr>
              <a:t>，开发和部署自己的网络管理策略，从而迅速地实现业务功能扩展、自动部署和设备的智能化管理，降低运维成本和操作的复杂度。</a:t>
            </a:r>
            <a:endParaRPr lang="zh-CN" altLang="en-US" sz="1800" dirty="0">
              <a:sym typeface="Huawei Sans" panose="020C0503030203020204" pitchFamily="34" charset="0"/>
            </a:endParaRPr>
          </a:p>
        </p:txBody>
      </p:sp>
      <p:pic>
        <p:nvPicPr>
          <p:cNvPr id="39" name="图片 3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131050" y="4027250"/>
            <a:ext cx="540000" cy="442800"/>
          </a:xfrm>
          <a:prstGeom prst="rect">
            <a:avLst/>
          </a:prstGeom>
        </p:spPr>
      </p:pic>
      <p:sp>
        <p:nvSpPr>
          <p:cNvPr id="3" name="矩形 2"/>
          <p:cNvSpPr/>
          <p:nvPr/>
        </p:nvSpPr>
        <p:spPr bwMode="gray">
          <a:xfrm>
            <a:off x="4953191" y="2628771"/>
            <a:ext cx="2731627" cy="3298784"/>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左右箭头 6"/>
          <p:cNvSpPr/>
          <p:nvPr/>
        </p:nvSpPr>
        <p:spPr bwMode="gray">
          <a:xfrm>
            <a:off x="4953191" y="4032082"/>
            <a:ext cx="2731626" cy="573185"/>
          </a:xfrm>
          <a:prstGeom prst="leftRightArrow">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latin typeface="Huawei Sans" panose="020C0503030203020204" pitchFamily="34" charset="0"/>
                <a:ea typeface="方正兰亭黑简体" panose="02000000000000000000" pitchFamily="2" charset="-122"/>
                <a:sym typeface="Huawei Sans" panose="020C0503030203020204" pitchFamily="34" charset="0"/>
              </a:rPr>
              <a:t>RESTful</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API</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流程图: 数据 7"/>
          <p:cNvSpPr/>
          <p:nvPr/>
        </p:nvSpPr>
        <p:spPr bwMode="gray">
          <a:xfrm>
            <a:off x="5195488" y="4992795"/>
            <a:ext cx="2080359" cy="711605"/>
          </a:xfrm>
          <a:prstGeom prst="flowChartInputOutpu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系统能力</a:t>
            </a:r>
          </a:p>
        </p:txBody>
      </p:sp>
      <p:sp>
        <p:nvSpPr>
          <p:cNvPr id="9" name="上下箭头 8"/>
          <p:cNvSpPr/>
          <p:nvPr/>
        </p:nvSpPr>
        <p:spPr bwMode="gray">
          <a:xfrm>
            <a:off x="6076709" y="4470050"/>
            <a:ext cx="317916" cy="493588"/>
          </a:xfrm>
          <a:prstGeom prst="upDownArrow">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上下箭头 40"/>
          <p:cNvSpPr/>
          <p:nvPr/>
        </p:nvSpPr>
        <p:spPr bwMode="gray">
          <a:xfrm>
            <a:off x="6076709" y="3667900"/>
            <a:ext cx="317916" cy="493588"/>
          </a:xfrm>
          <a:prstGeom prst="upDownArrow">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 name="图片 18" descr="交换机.png"/>
          <p:cNvPicPr>
            <a:picLocks noChangeAspect="1"/>
          </p:cNvPicPr>
          <p:nvPr/>
        </p:nvPicPr>
        <p:blipFill>
          <a:blip r:embed="rId4" cstate="print"/>
          <a:stretch>
            <a:fillRect/>
          </a:stretch>
        </p:blipFill>
        <p:spPr bwMode="gray">
          <a:xfrm>
            <a:off x="3392998" y="3940579"/>
            <a:ext cx="540000" cy="441817"/>
          </a:xfrm>
          <a:prstGeom prst="rect">
            <a:avLst/>
          </a:prstGeom>
        </p:spPr>
      </p:pic>
      <p:sp>
        <p:nvSpPr>
          <p:cNvPr id="20" name="TextBox 42"/>
          <p:cNvSpPr txBox="1"/>
          <p:nvPr/>
        </p:nvSpPr>
        <p:spPr bwMode="gray">
          <a:xfrm>
            <a:off x="3262888" y="4382396"/>
            <a:ext cx="800219" cy="338554"/>
          </a:xfrm>
          <a:prstGeom prst="rect">
            <a:avLst/>
          </a:prstGeom>
          <a:noFill/>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管理员</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折角形 12"/>
          <p:cNvSpPr/>
          <p:nvPr/>
        </p:nvSpPr>
        <p:spPr bwMode="gray">
          <a:xfrm>
            <a:off x="5962706" y="3098019"/>
            <a:ext cx="545922" cy="474508"/>
          </a:xfrm>
          <a:prstGeom prst="foldedCorner">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脚本</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527629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概述</a:t>
            </a:r>
            <a:endParaRPr lang="en-US" altLang="zh-CN" dirty="0" smtClean="0">
              <a:solidFill>
                <a:schemeClr val="bg1">
                  <a:lumMod val="50000"/>
                </a:schemeClr>
              </a:solidFill>
              <a:sym typeface="Huawei Sans" panose="020C0503030203020204" pitchFamily="34" charset="0"/>
            </a:endParaRPr>
          </a:p>
          <a:p>
            <a:r>
              <a:rPr lang="en-US" altLang="zh-CN" b="1" dirty="0" smtClean="0">
                <a:sym typeface="Huawei Sans" panose="020C0503030203020204" pitchFamily="34" charset="0"/>
              </a:rPr>
              <a:t>OPS</a:t>
            </a:r>
            <a:r>
              <a:rPr lang="zh-CN" altLang="en-US" b="1" dirty="0" smtClean="0">
                <a:sym typeface="Huawei Sans" panose="020C0503030203020204" pitchFamily="34" charset="0"/>
              </a:rPr>
              <a:t>原理</a:t>
            </a:r>
            <a:endParaRPr lang="en-US" altLang="zh-CN" b="1" dirty="0" smtClean="0">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应用场景</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配置实践</a:t>
            </a:r>
            <a:endParaRPr lang="en-US" altLang="zh-CN" dirty="0" smtClean="0">
              <a:solidFill>
                <a:schemeClr val="bg1">
                  <a:lumMod val="50000"/>
                </a:schemeClr>
              </a:solidFill>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22236433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OPS</a:t>
            </a:r>
            <a:r>
              <a:rPr lang="zh-CN" altLang="en-US" smtClean="0">
                <a:sym typeface="Huawei Sans" panose="020C0503030203020204" pitchFamily="34" charset="0"/>
              </a:rPr>
              <a:t>架构</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bwMode="gray">
          <a:xfrm>
            <a:off x="455613" y="1047750"/>
            <a:ext cx="5919590" cy="4879805"/>
          </a:xfrm>
        </p:spPr>
        <p:txBody>
          <a:bodyPr/>
          <a:lstStyle/>
          <a:p>
            <a:r>
              <a:rPr lang="en-US" altLang="zh-CN" sz="1800" dirty="0" smtClean="0">
                <a:sym typeface="Huawei Sans" panose="020C0503030203020204" pitchFamily="34" charset="0"/>
              </a:rPr>
              <a:t>OPS</a:t>
            </a:r>
            <a:r>
              <a:rPr lang="zh-CN" altLang="en-US" sz="1800" dirty="0" smtClean="0">
                <a:sym typeface="Huawei Sans" panose="020C0503030203020204" pitchFamily="34" charset="0"/>
              </a:rPr>
              <a:t>基于华为公司通用路由平台</a:t>
            </a:r>
            <a:r>
              <a:rPr lang="en-US" altLang="zh-CN" sz="1800" dirty="0" smtClean="0">
                <a:sym typeface="Huawei Sans" panose="020C0503030203020204" pitchFamily="34" charset="0"/>
              </a:rPr>
              <a:t>VRP</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Versatile Routing Platform</a:t>
            </a:r>
            <a:r>
              <a:rPr lang="zh-CN" altLang="en-US" sz="1800" dirty="0" smtClean="0">
                <a:sym typeface="Huawei Sans" panose="020C0503030203020204" pitchFamily="34" charset="0"/>
              </a:rPr>
              <a:t>）开发，通过开放的</a:t>
            </a:r>
            <a:r>
              <a:rPr lang="en-US" altLang="zh-CN" sz="1800" dirty="0" smtClean="0">
                <a:sym typeface="Huawei Sans" panose="020C0503030203020204" pitchFamily="34" charset="0"/>
              </a:rPr>
              <a:t>RESTful API</a:t>
            </a:r>
            <a:r>
              <a:rPr lang="zh-CN" altLang="en-US" sz="1800" dirty="0" smtClean="0">
                <a:sym typeface="Huawei Sans" panose="020C0503030203020204" pitchFamily="34" charset="0"/>
              </a:rPr>
              <a:t>接口与</a:t>
            </a:r>
            <a:r>
              <a:rPr lang="en-US" altLang="zh-CN" sz="1800" dirty="0" smtClean="0">
                <a:sym typeface="Huawei Sans" panose="020C0503030203020204" pitchFamily="34" charset="0"/>
              </a:rPr>
              <a:t>VRP</a:t>
            </a:r>
            <a:r>
              <a:rPr lang="zh-CN" altLang="en-US" sz="1800" dirty="0" smtClean="0">
                <a:sym typeface="Huawei Sans" panose="020C0503030203020204" pitchFamily="34" charset="0"/>
              </a:rPr>
              <a:t>系统的管理平面、控制平面、数据平面的模块进行交互，实现对设备整体功能的扩展。</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OPS</a:t>
            </a:r>
            <a:r>
              <a:rPr lang="zh-CN" altLang="en-US" sz="1800" dirty="0" smtClean="0">
                <a:sym typeface="Huawei Sans" panose="020C0503030203020204" pitchFamily="34" charset="0"/>
              </a:rPr>
              <a:t>通过开放管理对象来开放设备，管理对象使用</a:t>
            </a:r>
            <a:r>
              <a:rPr lang="en-US" altLang="zh-CN" sz="1800" dirty="0" smtClean="0">
                <a:sym typeface="Huawei Sans" panose="020C0503030203020204" pitchFamily="34" charset="0"/>
              </a:rPr>
              <a:t>URI</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Uniform Resource Identifier</a:t>
            </a:r>
            <a:r>
              <a:rPr lang="zh-CN" altLang="en-US" sz="1800" dirty="0" smtClean="0">
                <a:sym typeface="Huawei Sans" panose="020C0503030203020204" pitchFamily="34" charset="0"/>
              </a:rPr>
              <a:t>）进行唯一的标识。客户端可以通过标准的</a:t>
            </a:r>
            <a:r>
              <a:rPr lang="en-US" altLang="zh-CN" sz="1800" dirty="0" smtClean="0">
                <a:sym typeface="Huawei Sans" panose="020C0503030203020204" pitchFamily="34" charset="0"/>
              </a:rPr>
              <a:t>HTTP</a:t>
            </a:r>
            <a:r>
              <a:rPr lang="zh-CN" altLang="en-US" sz="1800" dirty="0" smtClean="0">
                <a:sym typeface="Huawei Sans" panose="020C0503030203020204" pitchFamily="34" charset="0"/>
              </a:rPr>
              <a:t>方法对对象进行操作，如</a:t>
            </a:r>
            <a:r>
              <a:rPr lang="en-US" altLang="zh-CN" sz="1800" dirty="0" smtClean="0">
                <a:sym typeface="Huawei Sans" panose="020C0503030203020204" pitchFamily="34" charset="0"/>
              </a:rPr>
              <a:t>GET</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PUT</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POST</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DELETE</a:t>
            </a:r>
            <a:r>
              <a:rPr lang="zh-CN" altLang="en-US" sz="1800" dirty="0" smtClean="0">
                <a:sym typeface="Huawei Sans" panose="020C0503030203020204" pitchFamily="34" charset="0"/>
              </a:rPr>
              <a:t>。</a:t>
            </a:r>
            <a:endParaRPr lang="zh-CN" altLang="en-US" sz="1800" dirty="0">
              <a:sym typeface="Huawei Sans" panose="020C0503030203020204" pitchFamily="34" charset="0"/>
            </a:endParaRPr>
          </a:p>
        </p:txBody>
      </p:sp>
      <p:sp>
        <p:nvSpPr>
          <p:cNvPr id="33" name="文本框 32"/>
          <p:cNvSpPr txBox="1"/>
          <p:nvPr/>
        </p:nvSpPr>
        <p:spPr bwMode="gray">
          <a:xfrm>
            <a:off x="8867753" y="5519630"/>
            <a:ext cx="1057583" cy="369332"/>
          </a:xfrm>
          <a:prstGeom prst="rect">
            <a:avLst/>
          </a:prstGeom>
          <a:noFill/>
        </p:spPr>
        <p:txBody>
          <a:bodyPr wrap="square" rtlCol="0">
            <a:spAutoFit/>
          </a:bodyPr>
          <a:lstStyle/>
          <a:p>
            <a:pPr algn="ctr"/>
            <a:r>
              <a:rPr lang="en-US" altLang="zh-CN"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1998</a:t>
            </a:r>
            <a:endParaRPr lang="zh-CN" altLang="en-US"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3"/>
          <p:cNvSpPr/>
          <p:nvPr/>
        </p:nvSpPr>
        <p:spPr bwMode="gray">
          <a:xfrm>
            <a:off x="6368526" y="1294730"/>
            <a:ext cx="5139159" cy="4557431"/>
          </a:xfrm>
          <a:prstGeom prst="round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左右箭头 18"/>
          <p:cNvSpPr/>
          <p:nvPr/>
        </p:nvSpPr>
        <p:spPr bwMode="gray">
          <a:xfrm>
            <a:off x="6678593" y="2399364"/>
            <a:ext cx="4525702" cy="573185"/>
          </a:xfrm>
          <a:prstGeom prst="leftRightArrow">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latin typeface="Huawei Sans" panose="020C0503030203020204" pitchFamily="34" charset="0"/>
                <a:ea typeface="方正兰亭黑简体" panose="02000000000000000000" pitchFamily="2" charset="-122"/>
                <a:sym typeface="Huawei Sans" panose="020C0503030203020204" pitchFamily="34" charset="0"/>
              </a:rPr>
              <a:t>RESTful</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API</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上下箭头 20"/>
          <p:cNvSpPr/>
          <p:nvPr/>
        </p:nvSpPr>
        <p:spPr bwMode="gray">
          <a:xfrm>
            <a:off x="7225797" y="2012626"/>
            <a:ext cx="317916" cy="493588"/>
          </a:xfrm>
          <a:prstGeom prst="upDownArrow">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上下箭头 21"/>
          <p:cNvSpPr/>
          <p:nvPr/>
        </p:nvSpPr>
        <p:spPr bwMode="gray">
          <a:xfrm>
            <a:off x="8258944" y="2012626"/>
            <a:ext cx="317916" cy="493588"/>
          </a:xfrm>
          <a:prstGeom prst="upDownArrow">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上下箭头 22"/>
          <p:cNvSpPr/>
          <p:nvPr/>
        </p:nvSpPr>
        <p:spPr bwMode="gray">
          <a:xfrm>
            <a:off x="9292091" y="2012626"/>
            <a:ext cx="317916" cy="493588"/>
          </a:xfrm>
          <a:prstGeom prst="upDownArrow">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上下箭头 23"/>
          <p:cNvSpPr/>
          <p:nvPr/>
        </p:nvSpPr>
        <p:spPr bwMode="gray">
          <a:xfrm>
            <a:off x="10325239" y="2012626"/>
            <a:ext cx="317916" cy="493588"/>
          </a:xfrm>
          <a:prstGeom prst="upDownArrow">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折角形 24"/>
          <p:cNvSpPr/>
          <p:nvPr/>
        </p:nvSpPr>
        <p:spPr bwMode="gray">
          <a:xfrm>
            <a:off x="6891130" y="1519413"/>
            <a:ext cx="962358" cy="493211"/>
          </a:xfrm>
          <a:prstGeom prst="foldedCorner">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python</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折角形 30"/>
          <p:cNvSpPr/>
          <p:nvPr/>
        </p:nvSpPr>
        <p:spPr bwMode="gray">
          <a:xfrm>
            <a:off x="7955908" y="1519415"/>
            <a:ext cx="929966" cy="493211"/>
          </a:xfrm>
          <a:prstGeom prst="foldedCorne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Java</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折角形 33"/>
          <p:cNvSpPr/>
          <p:nvPr/>
        </p:nvSpPr>
        <p:spPr bwMode="gray">
          <a:xfrm>
            <a:off x="8988294" y="1519415"/>
            <a:ext cx="929966" cy="493211"/>
          </a:xfrm>
          <a:prstGeom prst="foldedCorne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C/C++</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折角形 34"/>
          <p:cNvSpPr/>
          <p:nvPr/>
        </p:nvSpPr>
        <p:spPr bwMode="gray">
          <a:xfrm>
            <a:off x="10020679" y="1519414"/>
            <a:ext cx="929966" cy="493211"/>
          </a:xfrm>
          <a:prstGeom prst="foldedCorne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上下箭头 35"/>
          <p:cNvSpPr/>
          <p:nvPr/>
        </p:nvSpPr>
        <p:spPr bwMode="gray">
          <a:xfrm>
            <a:off x="7757828" y="2865699"/>
            <a:ext cx="317916" cy="493588"/>
          </a:xfrm>
          <a:prstGeom prst="upDownArrow">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上下箭头 36"/>
          <p:cNvSpPr/>
          <p:nvPr/>
        </p:nvSpPr>
        <p:spPr bwMode="gray">
          <a:xfrm>
            <a:off x="8809775" y="2865699"/>
            <a:ext cx="317916" cy="493588"/>
          </a:xfrm>
          <a:prstGeom prst="upDownArrow">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上下箭头 37"/>
          <p:cNvSpPr/>
          <p:nvPr/>
        </p:nvSpPr>
        <p:spPr bwMode="gray">
          <a:xfrm>
            <a:off x="9861721" y="2865699"/>
            <a:ext cx="317916" cy="493588"/>
          </a:xfrm>
          <a:prstGeom prst="upDownArrow">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平行四边形 4"/>
          <p:cNvSpPr/>
          <p:nvPr/>
        </p:nvSpPr>
        <p:spPr bwMode="gray">
          <a:xfrm>
            <a:off x="7210394" y="3519080"/>
            <a:ext cx="3462099" cy="588483"/>
          </a:xfrm>
          <a:prstGeom prst="parallelogram">
            <a:avLst>
              <a:gd name="adj" fmla="val 87687"/>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管理平面</a:t>
            </a:r>
          </a:p>
        </p:txBody>
      </p:sp>
      <p:sp>
        <p:nvSpPr>
          <p:cNvPr id="39" name="平行四边形 38"/>
          <p:cNvSpPr/>
          <p:nvPr/>
        </p:nvSpPr>
        <p:spPr bwMode="gray">
          <a:xfrm>
            <a:off x="7225797" y="4272350"/>
            <a:ext cx="3462099" cy="588483"/>
          </a:xfrm>
          <a:prstGeom prst="parallelogram">
            <a:avLst>
              <a:gd name="adj" fmla="val 87687"/>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控制平面</a:t>
            </a:r>
          </a:p>
        </p:txBody>
      </p:sp>
      <p:sp>
        <p:nvSpPr>
          <p:cNvPr id="40" name="平行四边形 39"/>
          <p:cNvSpPr/>
          <p:nvPr/>
        </p:nvSpPr>
        <p:spPr bwMode="gray">
          <a:xfrm>
            <a:off x="7181056" y="5025620"/>
            <a:ext cx="3462099" cy="588483"/>
          </a:xfrm>
          <a:prstGeom prst="parallelogram">
            <a:avLst>
              <a:gd name="adj" fmla="val 87687"/>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数据平面</a:t>
            </a:r>
          </a:p>
        </p:txBody>
      </p:sp>
    </p:spTree>
    <p:extLst>
      <p:ext uri="{BB962C8B-B14F-4D97-AF65-F5344CB8AC3E}">
        <p14:creationId xmlns:p14="http://schemas.microsoft.com/office/powerpoint/2010/main" val="21736997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RESTful API</a:t>
            </a:r>
            <a:r>
              <a:rPr lang="zh-CN" altLang="en-US" smtClean="0">
                <a:sym typeface="Huawei Sans" panose="020C0503030203020204" pitchFamily="34" charset="0"/>
              </a:rPr>
              <a:t>介绍</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2000" smtClean="0">
                <a:sym typeface="Huawei Sans" panose="020C0503030203020204" pitchFamily="34" charset="0"/>
              </a:rPr>
              <a:t>REST</a:t>
            </a:r>
            <a:r>
              <a:rPr lang="zh-CN" altLang="en-US" sz="2000" smtClean="0">
                <a:sym typeface="Huawei Sans" panose="020C0503030203020204" pitchFamily="34" charset="0"/>
              </a:rPr>
              <a:t>（</a:t>
            </a:r>
            <a:r>
              <a:rPr lang="en-US" altLang="zh-CN" sz="2000" smtClean="0">
                <a:sym typeface="Huawei Sans" panose="020C0503030203020204" pitchFamily="34" charset="0"/>
              </a:rPr>
              <a:t>Representational State Transfer</a:t>
            </a:r>
            <a:r>
              <a:rPr lang="zh-CN" altLang="en-US" sz="2000" smtClean="0">
                <a:sym typeface="Huawei Sans" panose="020C0503030203020204" pitchFamily="34" charset="0"/>
              </a:rPr>
              <a:t>，表现层状态转移）：一种软件架构风格。其设计概念和准则为：</a:t>
            </a:r>
            <a:endParaRPr lang="en-US" altLang="zh-CN" sz="2000" smtClean="0">
              <a:sym typeface="Huawei Sans" panose="020C0503030203020204" pitchFamily="34" charset="0"/>
            </a:endParaRPr>
          </a:p>
          <a:p>
            <a:pPr lvl="1"/>
            <a:r>
              <a:rPr lang="zh-CN" altLang="en-US" sz="1800" smtClean="0">
                <a:sym typeface="Huawei Sans" panose="020C0503030203020204" pitchFamily="34" charset="0"/>
              </a:rPr>
              <a:t>网络上的所有事物都可被抽象为资源。</a:t>
            </a:r>
            <a:endParaRPr lang="en-US" altLang="zh-CN" sz="1800" smtClean="0">
              <a:sym typeface="Huawei Sans" panose="020C0503030203020204" pitchFamily="34" charset="0"/>
            </a:endParaRPr>
          </a:p>
          <a:p>
            <a:pPr lvl="1"/>
            <a:r>
              <a:rPr lang="zh-CN" altLang="en-US" sz="1800" smtClean="0">
                <a:sym typeface="Huawei Sans" panose="020C0503030203020204" pitchFamily="34" charset="0"/>
              </a:rPr>
              <a:t>每一个资源都有唯一的资源标识，对资源的操作不会改变这些标识。</a:t>
            </a:r>
            <a:endParaRPr lang="en-US" altLang="zh-CN" sz="1800" smtClean="0">
              <a:sym typeface="Huawei Sans" panose="020C0503030203020204" pitchFamily="34" charset="0"/>
            </a:endParaRPr>
          </a:p>
          <a:p>
            <a:pPr lvl="1"/>
            <a:r>
              <a:rPr lang="zh-CN" altLang="en-US" sz="1800" smtClean="0">
                <a:sym typeface="Huawei Sans" panose="020C0503030203020204" pitchFamily="34" charset="0"/>
              </a:rPr>
              <a:t>使用标准方法操作资源，核心操作为</a:t>
            </a:r>
            <a:r>
              <a:rPr lang="en-US" altLang="zh-CN" sz="1800" smtClean="0">
                <a:sym typeface="Huawei Sans" panose="020C0503030203020204" pitchFamily="34" charset="0"/>
              </a:rPr>
              <a:t>HTTP</a:t>
            </a:r>
            <a:r>
              <a:rPr lang="zh-CN" altLang="en-US" sz="1800" smtClean="0">
                <a:sym typeface="Huawei Sans" panose="020C0503030203020204" pitchFamily="34" charset="0"/>
              </a:rPr>
              <a:t>规范定义的</a:t>
            </a:r>
            <a:r>
              <a:rPr lang="en-US" altLang="zh-CN" sz="1800" smtClean="0">
                <a:sym typeface="Huawei Sans" panose="020C0503030203020204" pitchFamily="34" charset="0"/>
              </a:rPr>
              <a:t>GET</a:t>
            </a:r>
            <a:r>
              <a:rPr lang="zh-CN" altLang="en-US" sz="1800" smtClean="0">
                <a:sym typeface="Huawei Sans" panose="020C0503030203020204" pitchFamily="34" charset="0"/>
              </a:rPr>
              <a:t>，</a:t>
            </a:r>
            <a:r>
              <a:rPr lang="en-US" altLang="zh-CN" sz="1800" smtClean="0">
                <a:sym typeface="Huawei Sans" panose="020C0503030203020204" pitchFamily="34" charset="0"/>
              </a:rPr>
              <a:t>PUT</a:t>
            </a:r>
            <a:r>
              <a:rPr lang="zh-CN" altLang="en-US" sz="1800" smtClean="0">
                <a:sym typeface="Huawei Sans" panose="020C0503030203020204" pitchFamily="34" charset="0"/>
              </a:rPr>
              <a:t>，</a:t>
            </a:r>
            <a:r>
              <a:rPr lang="en-US" altLang="zh-CN" sz="1800" smtClean="0">
                <a:sym typeface="Huawei Sans" panose="020C0503030203020204" pitchFamily="34" charset="0"/>
              </a:rPr>
              <a:t>POST</a:t>
            </a:r>
            <a:r>
              <a:rPr lang="zh-CN" altLang="en-US" sz="1800" smtClean="0">
                <a:sym typeface="Huawei Sans" panose="020C0503030203020204" pitchFamily="34" charset="0"/>
              </a:rPr>
              <a:t>，</a:t>
            </a:r>
            <a:r>
              <a:rPr lang="en-US" altLang="zh-CN" sz="1800" smtClean="0">
                <a:sym typeface="Huawei Sans" panose="020C0503030203020204" pitchFamily="34" charset="0"/>
              </a:rPr>
              <a:t>DELETE</a:t>
            </a:r>
            <a:r>
              <a:rPr lang="zh-CN" altLang="en-US" sz="1800" smtClean="0">
                <a:sym typeface="Huawei Sans" panose="020C0503030203020204" pitchFamily="34" charset="0"/>
              </a:rPr>
              <a:t>。</a:t>
            </a:r>
            <a:endParaRPr lang="en-US" altLang="zh-CN" sz="1800" smtClean="0">
              <a:sym typeface="Huawei Sans" panose="020C0503030203020204" pitchFamily="34" charset="0"/>
            </a:endParaRPr>
          </a:p>
          <a:p>
            <a:pPr lvl="1"/>
            <a:r>
              <a:rPr lang="zh-CN" altLang="en-US" sz="1800" smtClean="0">
                <a:sym typeface="Huawei Sans" panose="020C0503030203020204" pitchFamily="34" charset="0"/>
              </a:rPr>
              <a:t>所有的操作都是无状态的。</a:t>
            </a:r>
            <a:endParaRPr lang="en-US" altLang="zh-CN" sz="1800" smtClean="0">
              <a:sym typeface="Huawei Sans" panose="020C0503030203020204" pitchFamily="34" charset="0"/>
            </a:endParaRPr>
          </a:p>
          <a:p>
            <a:r>
              <a:rPr lang="en-US" altLang="zh-CN" sz="2000" smtClean="0">
                <a:sym typeface="Huawei Sans" panose="020C0503030203020204" pitchFamily="34" charset="0"/>
              </a:rPr>
              <a:t>RESTful API</a:t>
            </a:r>
            <a:r>
              <a:rPr lang="zh-CN" altLang="en-US" sz="2000" smtClean="0">
                <a:sym typeface="Huawei Sans" panose="020C0503030203020204" pitchFamily="34" charset="0"/>
              </a:rPr>
              <a:t>：符合</a:t>
            </a:r>
            <a:r>
              <a:rPr lang="en-US" altLang="zh-CN" sz="2000" smtClean="0">
                <a:sym typeface="Huawei Sans" panose="020C0503030203020204" pitchFamily="34" charset="0"/>
              </a:rPr>
              <a:t>REST</a:t>
            </a:r>
            <a:r>
              <a:rPr lang="zh-CN" altLang="en-US" sz="2000" smtClean="0">
                <a:sym typeface="Huawei Sans" panose="020C0503030203020204" pitchFamily="34" charset="0"/>
              </a:rPr>
              <a:t>架构风格的</a:t>
            </a:r>
            <a:r>
              <a:rPr lang="en-US" altLang="zh-CN" sz="2000" smtClean="0">
                <a:sym typeface="Huawei Sans" panose="020C0503030203020204" pitchFamily="34" charset="0"/>
              </a:rPr>
              <a:t>API</a:t>
            </a:r>
            <a:r>
              <a:rPr lang="zh-CN" altLang="en-US" sz="2000" smtClean="0">
                <a:sym typeface="Huawei Sans" panose="020C0503030203020204" pitchFamily="34" charset="0"/>
              </a:rPr>
              <a:t>。</a:t>
            </a:r>
            <a:endParaRPr lang="en-US" altLang="zh-CN" sz="2000" smtClean="0">
              <a:sym typeface="Huawei Sans" panose="020C0503030203020204" pitchFamily="34" charset="0"/>
            </a:endParaRPr>
          </a:p>
          <a:p>
            <a:r>
              <a:rPr lang="en-US" altLang="zh-CN" sz="2000" smtClean="0">
                <a:sym typeface="Huawei Sans" panose="020C0503030203020204" pitchFamily="34" charset="0"/>
              </a:rPr>
              <a:t>OPS</a:t>
            </a:r>
            <a:r>
              <a:rPr lang="zh-CN" altLang="en-US" sz="2000" smtClean="0">
                <a:sym typeface="Huawei Sans" panose="020C0503030203020204" pitchFamily="34" charset="0"/>
              </a:rPr>
              <a:t>定义了一套</a:t>
            </a:r>
            <a:r>
              <a:rPr lang="en-US" altLang="zh-CN" sz="2000" smtClean="0">
                <a:sym typeface="Huawei Sans" panose="020C0503030203020204" pitchFamily="34" charset="0"/>
              </a:rPr>
              <a:t>RESTful API</a:t>
            </a:r>
            <a:r>
              <a:rPr lang="zh-CN" altLang="en-US" sz="2000" smtClean="0">
                <a:sym typeface="Huawei Sans" panose="020C0503030203020204" pitchFamily="34" charset="0"/>
              </a:rPr>
              <a:t>，并使用</a:t>
            </a:r>
            <a:r>
              <a:rPr lang="en-US" altLang="zh-CN" sz="2000" smtClean="0">
                <a:sym typeface="Huawei Sans" panose="020C0503030203020204" pitchFamily="34" charset="0"/>
              </a:rPr>
              <a:t>URI</a:t>
            </a:r>
            <a:r>
              <a:rPr lang="zh-CN" altLang="en-US" sz="2000" smtClean="0">
                <a:sym typeface="Huawei Sans" panose="020C0503030203020204" pitchFamily="34" charset="0"/>
              </a:rPr>
              <a:t>标识开放的管理对象。用户可以通过标准的</a:t>
            </a:r>
            <a:r>
              <a:rPr lang="en-US" altLang="zh-CN" sz="2000" smtClean="0">
                <a:sym typeface="Huawei Sans" panose="020C0503030203020204" pitchFamily="34" charset="0"/>
              </a:rPr>
              <a:t>HTTP</a:t>
            </a:r>
            <a:r>
              <a:rPr lang="zh-CN" altLang="en-US" sz="2000" smtClean="0">
                <a:sym typeface="Huawei Sans" panose="020C0503030203020204" pitchFamily="34" charset="0"/>
              </a:rPr>
              <a:t>方法（</a:t>
            </a:r>
            <a:r>
              <a:rPr lang="en-US" altLang="zh-CN" sz="2000" smtClean="0">
                <a:sym typeface="Huawei Sans" panose="020C0503030203020204" pitchFamily="34" charset="0"/>
              </a:rPr>
              <a:t>GET</a:t>
            </a:r>
            <a:r>
              <a:rPr lang="zh-CN" altLang="en-US" sz="2000" smtClean="0">
                <a:sym typeface="Huawei Sans" panose="020C0503030203020204" pitchFamily="34" charset="0"/>
              </a:rPr>
              <a:t>、</a:t>
            </a:r>
            <a:r>
              <a:rPr lang="en-US" altLang="zh-CN" sz="2000" smtClean="0">
                <a:sym typeface="Huawei Sans" panose="020C0503030203020204" pitchFamily="34" charset="0"/>
              </a:rPr>
              <a:t>PUT</a:t>
            </a:r>
            <a:r>
              <a:rPr lang="zh-CN" altLang="en-US" sz="2000" smtClean="0">
                <a:sym typeface="Huawei Sans" panose="020C0503030203020204" pitchFamily="34" charset="0"/>
              </a:rPr>
              <a:t>、</a:t>
            </a:r>
            <a:r>
              <a:rPr lang="en-US" altLang="zh-CN" sz="2000" smtClean="0">
                <a:sym typeface="Huawei Sans" panose="020C0503030203020204" pitchFamily="34" charset="0"/>
              </a:rPr>
              <a:t>POST</a:t>
            </a:r>
            <a:r>
              <a:rPr lang="zh-CN" altLang="en-US" sz="2000" smtClean="0">
                <a:sym typeface="Huawei Sans" panose="020C0503030203020204" pitchFamily="34" charset="0"/>
              </a:rPr>
              <a:t>和</a:t>
            </a:r>
            <a:r>
              <a:rPr lang="en-US" altLang="zh-CN" sz="2000" smtClean="0">
                <a:sym typeface="Huawei Sans" panose="020C0503030203020204" pitchFamily="34" charset="0"/>
              </a:rPr>
              <a:t>DELETE</a:t>
            </a:r>
            <a:r>
              <a:rPr lang="zh-CN" altLang="en-US" sz="2000" smtClean="0">
                <a:sym typeface="Huawei Sans" panose="020C0503030203020204" pitchFamily="34" charset="0"/>
              </a:rPr>
              <a:t>）访问管理对象。</a:t>
            </a:r>
            <a:endParaRPr lang="en-US" altLang="zh-CN" sz="2000" dirty="0">
              <a:sym typeface="Huawei Sans" panose="020C0503030203020204" pitchFamily="34" charset="0"/>
            </a:endParaRPr>
          </a:p>
        </p:txBody>
      </p:sp>
    </p:spTree>
    <p:extLst>
      <p:ext uri="{BB962C8B-B14F-4D97-AF65-F5344CB8AC3E}">
        <p14:creationId xmlns:p14="http://schemas.microsoft.com/office/powerpoint/2010/main" val="14466736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OPS RESTful API</a:t>
            </a:r>
            <a:r>
              <a:rPr lang="zh-CN" altLang="en-US" smtClean="0">
                <a:sym typeface="Huawei Sans" panose="020C0503030203020204" pitchFamily="34" charset="0"/>
              </a:rPr>
              <a:t>交互示例</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smtClean="0">
                <a:sym typeface="Huawei Sans" panose="020C0503030203020204" pitchFamily="34" charset="0"/>
              </a:rPr>
              <a:t>有了</a:t>
            </a:r>
            <a:r>
              <a:rPr lang="en-US" altLang="zh-CN" sz="1800" smtClean="0">
                <a:sym typeface="Huawei Sans" panose="020C0503030203020204" pitchFamily="34" charset="0"/>
              </a:rPr>
              <a:t>OPS</a:t>
            </a:r>
            <a:r>
              <a:rPr lang="zh-CN" altLang="en-US" sz="1800" smtClean="0">
                <a:sym typeface="Huawei Sans" panose="020C0503030203020204" pitchFamily="34" charset="0"/>
              </a:rPr>
              <a:t>定义的</a:t>
            </a:r>
            <a:r>
              <a:rPr lang="en-US" altLang="zh-CN" sz="1800" smtClean="0">
                <a:sym typeface="Huawei Sans" panose="020C0503030203020204" pitchFamily="34" charset="0"/>
              </a:rPr>
              <a:t>RESTful API</a:t>
            </a:r>
            <a:r>
              <a:rPr lang="zh-CN" altLang="en-US" sz="1800" smtClean="0">
                <a:sym typeface="Huawei Sans" panose="020C0503030203020204" pitchFamily="34" charset="0"/>
              </a:rPr>
              <a:t>，用户就可以通过编写</a:t>
            </a:r>
            <a:r>
              <a:rPr lang="en-US" altLang="zh-CN" sz="1800" smtClean="0">
                <a:sym typeface="Huawei Sans" panose="020C0503030203020204" pitchFamily="34" charset="0"/>
              </a:rPr>
              <a:t>Python</a:t>
            </a:r>
            <a:r>
              <a:rPr lang="zh-CN" altLang="en-US" sz="1800" smtClean="0">
                <a:sym typeface="Huawei Sans" panose="020C0503030203020204" pitchFamily="34" charset="0"/>
              </a:rPr>
              <a:t>脚本，发送</a:t>
            </a:r>
            <a:r>
              <a:rPr lang="en-US" altLang="zh-CN" sz="1800" smtClean="0">
                <a:sym typeface="Huawei Sans" panose="020C0503030203020204" pitchFamily="34" charset="0"/>
              </a:rPr>
              <a:t>HTTP</a:t>
            </a:r>
            <a:r>
              <a:rPr lang="zh-CN" altLang="en-US" sz="1800" smtClean="0">
                <a:sym typeface="Huawei Sans" panose="020C0503030203020204" pitchFamily="34" charset="0"/>
              </a:rPr>
              <a:t>请求对网络设备的管理对象进行操作，网络设备则会根据操作的执行结果返回</a:t>
            </a:r>
            <a:r>
              <a:rPr lang="en-US" altLang="zh-CN" sz="1800" smtClean="0">
                <a:sym typeface="Huawei Sans" panose="020C0503030203020204" pitchFamily="34" charset="0"/>
              </a:rPr>
              <a:t>HTTP</a:t>
            </a:r>
            <a:r>
              <a:rPr lang="zh-CN" altLang="en-US" sz="1800" smtClean="0">
                <a:sym typeface="Huawei Sans" panose="020C0503030203020204" pitchFamily="34" charset="0"/>
              </a:rPr>
              <a:t>响应消息。</a:t>
            </a:r>
            <a:endParaRPr lang="en-US" altLang="zh-CN" sz="1800" dirty="0">
              <a:sym typeface="Huawei Sans" panose="020C0503030203020204" pitchFamily="34" charset="0"/>
            </a:endParaRPr>
          </a:p>
        </p:txBody>
      </p:sp>
      <p:sp>
        <p:nvSpPr>
          <p:cNvPr id="9" name="矩形 8"/>
          <p:cNvSpPr/>
          <p:nvPr/>
        </p:nvSpPr>
        <p:spPr bwMode="gray">
          <a:xfrm>
            <a:off x="1790487" y="2181357"/>
            <a:ext cx="7250234" cy="3298784"/>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6309093" y="2216081"/>
            <a:ext cx="2434542" cy="369332"/>
          </a:xfrm>
          <a:prstGeom prst="rect">
            <a:avLst/>
          </a:prstGeom>
          <a:noFill/>
        </p:spPr>
        <p:txBody>
          <a:bodyPr wrap="squar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管理对象：</a:t>
            </a:r>
          </a:p>
        </p:txBody>
      </p:sp>
      <p:sp>
        <p:nvSpPr>
          <p:cNvPr id="13" name="矩形 12"/>
          <p:cNvSpPr/>
          <p:nvPr/>
        </p:nvSpPr>
        <p:spPr bwMode="gray">
          <a:xfrm>
            <a:off x="6427273" y="2632351"/>
            <a:ext cx="2495263" cy="2734833"/>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6926432" y="2929366"/>
            <a:ext cx="1496947" cy="2369880"/>
          </a:xfrm>
          <a:prstGeom prst="rect">
            <a:avLst/>
          </a:prstGeom>
          <a:noFill/>
        </p:spPr>
        <p:txBody>
          <a:bodyPr wrap="square" rtlCol="0">
            <a:spAutoFit/>
          </a:bodyPr>
          <a:lstStyle/>
          <a:p>
            <a:pPr algn="ctr">
              <a:spcBef>
                <a:spcPts val="1200"/>
              </a:spcBef>
            </a:pPr>
            <a:r>
              <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信息</a:t>
            </a:r>
            <a:endPar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spcBef>
                <a:spcPts val="1200"/>
              </a:spcBef>
            </a:pP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系统信息</a:t>
            </a:r>
            <a:endPar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spcBef>
                <a:spcPts val="1200"/>
              </a:spcBef>
            </a:pP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接口信息</a:t>
            </a:r>
            <a:endPar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spcBef>
                <a:spcPts val="1200"/>
              </a:spcBef>
            </a:pP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路由信息</a:t>
            </a:r>
            <a:endPar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spcBef>
                <a:spcPts val="1200"/>
              </a:spcBef>
            </a:pPr>
            <a:r>
              <a:rPr lang="en-US" altLang="zh-CN"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p>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箭头连接符 15"/>
          <p:cNvCxnSpPr/>
          <p:nvPr/>
        </p:nvCxnSpPr>
        <p:spPr bwMode="gray">
          <a:xfrm>
            <a:off x="3538017" y="3574475"/>
            <a:ext cx="2880000" cy="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bwMode="gray">
          <a:xfrm>
            <a:off x="4492183" y="3413267"/>
            <a:ext cx="1001712" cy="358002"/>
          </a:xfrm>
          <a:prstGeom prst="rect">
            <a:avLst/>
          </a:prstGeom>
          <a:solidFill>
            <a:srgbClr val="BEE9EE"/>
          </a:solidFill>
          <a:ln w="9525">
            <a:noFill/>
          </a:ln>
        </p:spPr>
        <p:txBody>
          <a:bodyPr wrap="none" lIns="0" tIns="0" rIns="0" bIns="0" rtlCol="0" anchor="ctr" anchorCtr="0">
            <a:noAutofit/>
          </a:bodyPr>
          <a:lstStyle>
            <a:defPPr>
              <a:defRPr lang="en-US"/>
            </a:defPPr>
            <a:lvl1pPr algn="ctr">
              <a:defRPr sz="1400">
                <a:solidFill>
                  <a:srgbClr val="EC7061"/>
                </a:solidFill>
                <a:latin typeface="Huawei Sans" panose="020C0503030203020204" pitchFamily="34" charset="0"/>
                <a:ea typeface="方正兰亭黑简体" panose="02000000000000000000" pitchFamily="2" charset="-122"/>
              </a:defRPr>
            </a:lvl1pPr>
          </a:lstStyle>
          <a:p>
            <a:r>
              <a:rPr lang="en-US" altLang="zh-CN" dirty="0">
                <a:solidFill>
                  <a:schemeClr val="tx1"/>
                </a:solidFill>
                <a:sym typeface="Huawei Sans" panose="020C0503030203020204" pitchFamily="34" charset="0"/>
              </a:rPr>
              <a:t>HTTP</a:t>
            </a:r>
            <a:r>
              <a:rPr lang="zh-CN" altLang="en-US" dirty="0">
                <a:solidFill>
                  <a:schemeClr val="tx1"/>
                </a:solidFill>
                <a:sym typeface="Huawei Sans" panose="020C0503030203020204" pitchFamily="34" charset="0"/>
              </a:rPr>
              <a:t>请求</a:t>
            </a:r>
          </a:p>
        </p:txBody>
      </p:sp>
      <p:cxnSp>
        <p:nvCxnSpPr>
          <p:cNvPr id="20" name="直接箭头连接符 19"/>
          <p:cNvCxnSpPr/>
          <p:nvPr/>
        </p:nvCxnSpPr>
        <p:spPr bwMode="gray">
          <a:xfrm flipH="1">
            <a:off x="3538017" y="4141635"/>
            <a:ext cx="2880000" cy="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bwMode="gray">
          <a:xfrm>
            <a:off x="4976644" y="3962634"/>
            <a:ext cx="1001712" cy="358002"/>
          </a:xfrm>
          <a:prstGeom prst="rect">
            <a:avLst/>
          </a:prstGeom>
          <a:solidFill>
            <a:srgbClr val="BEE9EE"/>
          </a:solidFill>
          <a:ln w="9525">
            <a:noFill/>
          </a:ln>
        </p:spPr>
        <p:txBody>
          <a:bodyPr wrap="none" lIns="0" tIns="0" rIns="0" bIns="0" rtlCol="0" anchor="ctr" anchorCtr="0">
            <a:noAutofit/>
          </a:bodyPr>
          <a:lstStyle>
            <a:defPPr>
              <a:defRPr lang="en-US"/>
            </a:defPPr>
            <a:lvl1pPr algn="ctr">
              <a:defRPr sz="1400">
                <a:solidFill>
                  <a:srgbClr val="EC7061"/>
                </a:solidFill>
                <a:latin typeface="Huawei Sans" panose="020C0503030203020204" pitchFamily="34" charset="0"/>
                <a:ea typeface="方正兰亭黑简体" panose="02000000000000000000" pitchFamily="2" charset="-122"/>
              </a:defRPr>
            </a:lvl1pPr>
          </a:lstStyle>
          <a:p>
            <a:r>
              <a:rPr lang="en-US" altLang="zh-CN" dirty="0">
                <a:solidFill>
                  <a:schemeClr val="tx1"/>
                </a:solidFill>
                <a:sym typeface="Huawei Sans" panose="020C0503030203020204" pitchFamily="34" charset="0"/>
              </a:rPr>
              <a:t>HTTP</a:t>
            </a:r>
            <a:r>
              <a:rPr lang="zh-CN" altLang="en-US" dirty="0">
                <a:solidFill>
                  <a:schemeClr val="tx1"/>
                </a:solidFill>
                <a:sym typeface="Huawei Sans" panose="020C0503030203020204" pitchFamily="34" charset="0"/>
              </a:rPr>
              <a:t>响应</a:t>
            </a:r>
          </a:p>
        </p:txBody>
      </p:sp>
      <p:sp>
        <p:nvSpPr>
          <p:cNvPr id="15" name="竖卷形 14"/>
          <p:cNvSpPr/>
          <p:nvPr/>
        </p:nvSpPr>
        <p:spPr bwMode="gray">
          <a:xfrm>
            <a:off x="2086983" y="3072606"/>
            <a:ext cx="1527586" cy="1481560"/>
          </a:xfrm>
          <a:prstGeom prst="verticalScroll">
            <a:avLst/>
          </a:prstGeom>
          <a:solidFill>
            <a:srgbClr val="56C4D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p>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a:t>
            </a:r>
          </a:p>
        </p:txBody>
      </p:sp>
    </p:spTree>
    <p:extLst>
      <p:ext uri="{BB962C8B-B14F-4D97-AF65-F5344CB8AC3E}">
        <p14:creationId xmlns:p14="http://schemas.microsoft.com/office/powerpoint/2010/main" val="36542541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0B75F51C-8FE0-4244-907B-D4B71BA72F6B}"/>
              </a:ext>
            </a:extLst>
          </p:cNvPr>
          <p:cNvSpPr>
            <a:spLocks noGrp="1"/>
          </p:cNvSpPr>
          <p:nvPr>
            <p:ph type="title"/>
          </p:nvPr>
        </p:nvSpPr>
        <p:spPr bwMode="gray"/>
        <p:txBody>
          <a:bodyPr/>
          <a:lstStyle/>
          <a:p>
            <a:r>
              <a:rPr lang="en-US" altLang="zh-CN" smtClean="0">
                <a:sym typeface="Huawei Sans" panose="020C0503030203020204" pitchFamily="34" charset="0"/>
              </a:rPr>
              <a:t>HTTP</a:t>
            </a:r>
            <a:r>
              <a:rPr lang="zh-CN" altLang="en-US" smtClean="0">
                <a:sym typeface="Huawei Sans" panose="020C0503030203020204" pitchFamily="34" charset="0"/>
              </a:rPr>
              <a:t>简介</a:t>
            </a:r>
            <a:endParaRPr lang="zh-CN" altLang="en-US">
              <a:sym typeface="Huawei Sans" panose="020C0503030203020204" pitchFamily="34" charset="0"/>
            </a:endParaRPr>
          </a:p>
        </p:txBody>
      </p:sp>
      <p:sp>
        <p:nvSpPr>
          <p:cNvPr id="3" name="文本占位符 2">
            <a:extLst>
              <a:ext uri="{FF2B5EF4-FFF2-40B4-BE49-F238E27FC236}">
                <a16:creationId xmlns="" xmlns:a16="http://schemas.microsoft.com/office/drawing/2014/main" id="{CF60ADDD-39FF-453B-93A9-7BE149D4B4CB}"/>
              </a:ext>
            </a:extLst>
          </p:cNvPr>
          <p:cNvSpPr>
            <a:spLocks noGrp="1"/>
          </p:cNvSpPr>
          <p:nvPr>
            <p:ph type="body" sz="quarter" idx="10"/>
          </p:nvPr>
        </p:nvSpPr>
        <p:spPr bwMode="gray"/>
        <p:txBody>
          <a:bodyPr/>
          <a:lstStyle/>
          <a:p>
            <a:r>
              <a:rPr lang="en-US" altLang="zh-CN" sz="1800" smtClean="0">
                <a:sym typeface="Huawei Sans" panose="020C0503030203020204" pitchFamily="34" charset="0"/>
              </a:rPr>
              <a:t>HTTP</a:t>
            </a:r>
            <a:r>
              <a:rPr lang="zh-CN" altLang="en-US" sz="1800" smtClean="0">
                <a:sym typeface="Huawei Sans" panose="020C0503030203020204" pitchFamily="34" charset="0"/>
              </a:rPr>
              <a:t>（</a:t>
            </a:r>
            <a:r>
              <a:rPr lang="en-US" altLang="zh-CN" sz="1800" smtClean="0">
                <a:sym typeface="Huawei Sans" panose="020C0503030203020204" pitchFamily="34" charset="0"/>
              </a:rPr>
              <a:t>HyperText Transfer Protocol</a:t>
            </a:r>
            <a:r>
              <a:rPr lang="zh-CN" altLang="en-US" sz="1800" smtClean="0">
                <a:sym typeface="Huawei Sans" panose="020C0503030203020204" pitchFamily="34" charset="0"/>
              </a:rPr>
              <a:t>，超文本传输协议）是因特网上应用最为广泛的一种网络传输协议，用于从万维网服务器传输超文本到本地浏览器。</a:t>
            </a:r>
            <a:endParaRPr lang="en-US" altLang="zh-CN" sz="1800" smtClean="0">
              <a:sym typeface="Huawei Sans" panose="020C0503030203020204" pitchFamily="34" charset="0"/>
            </a:endParaRPr>
          </a:p>
          <a:p>
            <a:r>
              <a:rPr lang="en-US" altLang="zh-CN" sz="1800" smtClean="0">
                <a:sym typeface="Huawei Sans" panose="020C0503030203020204" pitchFamily="34" charset="0"/>
              </a:rPr>
              <a:t>HTTP</a:t>
            </a:r>
            <a:r>
              <a:rPr lang="zh-CN" altLang="en-US" sz="1800" smtClean="0">
                <a:sym typeface="Huawei Sans" panose="020C0503030203020204" pitchFamily="34" charset="0"/>
              </a:rPr>
              <a:t>采用客户端</a:t>
            </a:r>
            <a:r>
              <a:rPr lang="en-US" altLang="zh-CN" sz="1800" smtClean="0">
                <a:sym typeface="Huawei Sans" panose="020C0503030203020204" pitchFamily="34" charset="0"/>
              </a:rPr>
              <a:t>/</a:t>
            </a:r>
            <a:r>
              <a:rPr lang="zh-CN" altLang="en-US" sz="1800" smtClean="0">
                <a:sym typeface="Huawei Sans" panose="020C0503030203020204" pitchFamily="34" charset="0"/>
              </a:rPr>
              <a:t>服务端（</a:t>
            </a:r>
            <a:r>
              <a:rPr lang="en-US" altLang="zh-CN" sz="1800" smtClean="0">
                <a:sym typeface="Huawei Sans" panose="020C0503030203020204" pitchFamily="34" charset="0"/>
              </a:rPr>
              <a:t>C/S</a:t>
            </a:r>
            <a:r>
              <a:rPr lang="zh-CN" altLang="en-US" sz="1800" smtClean="0">
                <a:sym typeface="Huawei Sans" panose="020C0503030203020204" pitchFamily="34" charset="0"/>
              </a:rPr>
              <a:t>）的架构模型，基于</a:t>
            </a:r>
            <a:r>
              <a:rPr lang="en-US" altLang="zh-CN" sz="1800" smtClean="0">
                <a:sym typeface="Huawei Sans" panose="020C0503030203020204" pitchFamily="34" charset="0"/>
              </a:rPr>
              <a:t>TCP/IP</a:t>
            </a:r>
            <a:r>
              <a:rPr lang="zh-CN" altLang="en-US" sz="1800" smtClean="0">
                <a:sym typeface="Huawei Sans" panose="020C0503030203020204" pitchFamily="34" charset="0"/>
              </a:rPr>
              <a:t>通信协议来传递数据（</a:t>
            </a:r>
            <a:r>
              <a:rPr lang="en-US" altLang="zh-CN" sz="1800" smtClean="0">
                <a:sym typeface="Huawei Sans" panose="020C0503030203020204" pitchFamily="34" charset="0"/>
              </a:rPr>
              <a:t>HTML</a:t>
            </a:r>
            <a:r>
              <a:rPr lang="zh-CN" altLang="en-US" sz="1800" smtClean="0">
                <a:sym typeface="Huawei Sans" panose="020C0503030203020204" pitchFamily="34" charset="0"/>
              </a:rPr>
              <a:t>文件，图片文件，查询结果等）。</a:t>
            </a:r>
            <a:r>
              <a:rPr lang="en-US" altLang="zh-CN" sz="1800" smtClean="0">
                <a:sym typeface="Huawei Sans" panose="020C0503030203020204" pitchFamily="34" charset="0"/>
              </a:rPr>
              <a:t>HTTP</a:t>
            </a:r>
            <a:r>
              <a:rPr lang="zh-CN" altLang="en-US" sz="1800" smtClean="0">
                <a:sym typeface="Huawei Sans" panose="020C0503030203020204" pitchFamily="34" charset="0"/>
              </a:rPr>
              <a:t>默认使用</a:t>
            </a:r>
            <a:r>
              <a:rPr lang="en-US" altLang="zh-CN" sz="1800" smtClean="0">
                <a:sym typeface="Huawei Sans" panose="020C0503030203020204" pitchFamily="34" charset="0"/>
              </a:rPr>
              <a:t>80/TCP</a:t>
            </a:r>
            <a:r>
              <a:rPr lang="zh-CN" altLang="en-US" sz="1800" smtClean="0">
                <a:sym typeface="Huawei Sans" panose="020C0503030203020204" pitchFamily="34" charset="0"/>
              </a:rPr>
              <a:t>端口号。</a:t>
            </a:r>
            <a:endParaRPr lang="en-US" altLang="zh-CN" sz="1800" smtClean="0">
              <a:sym typeface="Huawei Sans" panose="020C0503030203020204" pitchFamily="34" charset="0"/>
            </a:endParaRPr>
          </a:p>
          <a:p>
            <a:endParaRPr lang="en-US" altLang="zh-CN" sz="1800" smtClean="0">
              <a:sym typeface="Huawei Sans" panose="020C0503030203020204" pitchFamily="34" charset="0"/>
            </a:endParaRPr>
          </a:p>
          <a:p>
            <a:endParaRPr lang="zh-CN" altLang="en-US" sz="1800" dirty="0">
              <a:sym typeface="Huawei Sans" panose="020C0503030203020204" pitchFamily="34" charset="0"/>
            </a:endParaRP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336682" y="3742864"/>
            <a:ext cx="836971" cy="659158"/>
          </a:xfrm>
          <a:prstGeom prst="rect">
            <a:avLst/>
          </a:prstGeom>
        </p:spPr>
      </p:pic>
      <p:pic>
        <p:nvPicPr>
          <p:cNvPr id="6" name="图片 5" descr="笔记本电脑.png"/>
          <p:cNvPicPr>
            <a:picLocks noChangeAspect="1"/>
          </p:cNvPicPr>
          <p:nvPr/>
        </p:nvPicPr>
        <p:blipFill>
          <a:blip r:embed="rId4" cstate="print"/>
          <a:stretch>
            <a:fillRect/>
          </a:stretch>
        </p:blipFill>
        <p:spPr bwMode="gray">
          <a:xfrm>
            <a:off x="2868294" y="3747190"/>
            <a:ext cx="1051417" cy="659158"/>
          </a:xfrm>
          <a:prstGeom prst="rect">
            <a:avLst/>
          </a:prstGeom>
        </p:spPr>
      </p:pic>
      <p:cxnSp>
        <p:nvCxnSpPr>
          <p:cNvPr id="10" name="直接箭头连接符 9">
            <a:extLst>
              <a:ext uri="{FF2B5EF4-FFF2-40B4-BE49-F238E27FC236}">
                <a16:creationId xmlns="" xmlns:a16="http://schemas.microsoft.com/office/drawing/2014/main" id="{BA877C97-A666-4A1C-8CE5-234683096791}"/>
              </a:ext>
            </a:extLst>
          </p:cNvPr>
          <p:cNvCxnSpPr>
            <a:cxnSpLocks/>
          </p:cNvCxnSpPr>
          <p:nvPr/>
        </p:nvCxnSpPr>
        <p:spPr bwMode="gray">
          <a:xfrm>
            <a:off x="4071240" y="3875182"/>
            <a:ext cx="4126087" cy="0"/>
          </a:xfrm>
          <a:prstGeom prst="straightConnector1">
            <a:avLst/>
          </a:prstGeom>
          <a:ln w="571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 xmlns:a16="http://schemas.microsoft.com/office/drawing/2014/main" id="{BA877C97-A666-4A1C-8CE5-234683096791}"/>
              </a:ext>
            </a:extLst>
          </p:cNvPr>
          <p:cNvCxnSpPr>
            <a:cxnSpLocks/>
          </p:cNvCxnSpPr>
          <p:nvPr/>
        </p:nvCxnSpPr>
        <p:spPr bwMode="gray">
          <a:xfrm>
            <a:off x="4071240" y="4232614"/>
            <a:ext cx="4126087" cy="0"/>
          </a:xfrm>
          <a:prstGeom prst="straightConnector1">
            <a:avLst/>
          </a:prstGeom>
          <a:ln w="571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bwMode="gray">
          <a:xfrm>
            <a:off x="5483445" y="3445484"/>
            <a:ext cx="1301676"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请求</a:t>
            </a:r>
          </a:p>
        </p:txBody>
      </p:sp>
      <p:sp>
        <p:nvSpPr>
          <p:cNvPr id="15" name="文本框 14"/>
          <p:cNvSpPr txBox="1"/>
          <p:nvPr/>
        </p:nvSpPr>
        <p:spPr bwMode="gray">
          <a:xfrm>
            <a:off x="5483445" y="4363757"/>
            <a:ext cx="1301676"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响应</a:t>
            </a:r>
          </a:p>
        </p:txBody>
      </p:sp>
      <p:sp>
        <p:nvSpPr>
          <p:cNvPr id="16" name="文本框 15"/>
          <p:cNvSpPr txBox="1"/>
          <p:nvPr/>
        </p:nvSpPr>
        <p:spPr bwMode="gray">
          <a:xfrm>
            <a:off x="8065615" y="4542797"/>
            <a:ext cx="1506070" cy="369332"/>
          </a:xfrm>
          <a:prstGeom prst="rect">
            <a:avLst/>
          </a:prstGeom>
          <a:noFill/>
        </p:spPr>
        <p:txBody>
          <a:bodyPr wrap="square" rtlCol="0">
            <a:sp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服务器</a:t>
            </a:r>
          </a:p>
        </p:txBody>
      </p:sp>
      <p:sp>
        <p:nvSpPr>
          <p:cNvPr id="17" name="文本框 16"/>
          <p:cNvSpPr txBox="1"/>
          <p:nvPr/>
        </p:nvSpPr>
        <p:spPr bwMode="gray">
          <a:xfrm>
            <a:off x="2927212" y="4567120"/>
            <a:ext cx="933579" cy="369332"/>
          </a:xfrm>
          <a:prstGeom prst="rect">
            <a:avLst/>
          </a:prstGeom>
          <a:noFill/>
        </p:spPr>
        <p:txBody>
          <a:bodyPr wrap="squar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客户端</a:t>
            </a:r>
          </a:p>
        </p:txBody>
      </p:sp>
    </p:spTree>
    <p:extLst>
      <p:ext uri="{BB962C8B-B14F-4D97-AF65-F5344CB8AC3E}">
        <p14:creationId xmlns:p14="http://schemas.microsoft.com/office/powerpoint/2010/main" val="6554974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0B75F51C-8FE0-4244-907B-D4B71BA72F6B}"/>
              </a:ext>
            </a:extLst>
          </p:cNvPr>
          <p:cNvSpPr>
            <a:spLocks noGrp="1"/>
          </p:cNvSpPr>
          <p:nvPr>
            <p:ph type="title"/>
          </p:nvPr>
        </p:nvSpPr>
        <p:spPr bwMode="gray"/>
        <p:txBody>
          <a:bodyPr/>
          <a:lstStyle/>
          <a:p>
            <a:r>
              <a:rPr lang="en-US" altLang="zh-CN" smtClean="0">
                <a:sym typeface="Huawei Sans" panose="020C0503030203020204" pitchFamily="34" charset="0"/>
              </a:rPr>
              <a:t>HTTP</a:t>
            </a:r>
            <a:r>
              <a:rPr lang="zh-CN" altLang="en-US" smtClean="0">
                <a:sym typeface="Huawei Sans" panose="020C0503030203020204" pitchFamily="34" charset="0"/>
              </a:rPr>
              <a:t>报文格式 </a:t>
            </a:r>
            <a:r>
              <a:rPr lang="en-US" altLang="zh-CN" smtClean="0">
                <a:sym typeface="Huawei Sans" panose="020C0503030203020204" pitchFamily="34" charset="0"/>
              </a:rPr>
              <a:t>(1)</a:t>
            </a:r>
            <a:endParaRPr lang="zh-CN" altLang="en-US" dirty="0">
              <a:sym typeface="Huawei Sans" panose="020C0503030203020204" pitchFamily="34" charset="0"/>
            </a:endParaRPr>
          </a:p>
        </p:txBody>
      </p:sp>
      <p:sp>
        <p:nvSpPr>
          <p:cNvPr id="3" name="文本占位符 2">
            <a:extLst>
              <a:ext uri="{FF2B5EF4-FFF2-40B4-BE49-F238E27FC236}">
                <a16:creationId xmlns="" xmlns:a16="http://schemas.microsoft.com/office/drawing/2014/main" id="{CF60ADDD-39FF-453B-93A9-7BE149D4B4CB}"/>
              </a:ext>
            </a:extLst>
          </p:cNvPr>
          <p:cNvSpPr>
            <a:spLocks noGrp="1"/>
          </p:cNvSpPr>
          <p:nvPr>
            <p:ph type="body" sz="quarter" idx="10"/>
          </p:nvPr>
        </p:nvSpPr>
        <p:spPr bwMode="gray"/>
        <p:txBody>
          <a:bodyPr/>
          <a:lstStyle/>
          <a:p>
            <a:r>
              <a:rPr lang="en-US" altLang="zh-CN" sz="1800" dirty="0" smtClean="0">
                <a:sym typeface="Huawei Sans" panose="020C0503030203020204" pitchFamily="34" charset="0"/>
              </a:rPr>
              <a:t>HTTP</a:t>
            </a:r>
            <a:r>
              <a:rPr lang="zh-CN" altLang="en-US" sz="1800" dirty="0" smtClean="0">
                <a:sym typeface="Huawei Sans" panose="020C0503030203020204" pitchFamily="34" charset="0"/>
              </a:rPr>
              <a:t>报文是承载在</a:t>
            </a:r>
            <a:r>
              <a:rPr lang="en-US" altLang="zh-CN" sz="1800" dirty="0" smtClean="0">
                <a:sym typeface="Huawei Sans" panose="020C0503030203020204" pitchFamily="34" charset="0"/>
              </a:rPr>
              <a:t>TCP</a:t>
            </a:r>
            <a:r>
              <a:rPr lang="zh-CN" altLang="en-US" sz="1800" dirty="0" smtClean="0">
                <a:sym typeface="Huawei Sans" panose="020C0503030203020204" pitchFamily="34" charset="0"/>
              </a:rPr>
              <a:t>协议上的，它在</a:t>
            </a:r>
            <a:r>
              <a:rPr lang="en-US" altLang="zh-CN" sz="1800" dirty="0" smtClean="0">
                <a:sym typeface="Huawei Sans" panose="020C0503030203020204" pitchFamily="34" charset="0"/>
              </a:rPr>
              <a:t>TCP</a:t>
            </a:r>
            <a:r>
              <a:rPr lang="zh-CN" altLang="en-US" sz="1800" dirty="0" smtClean="0">
                <a:sym typeface="Huawei Sans" panose="020C0503030203020204" pitchFamily="34" charset="0"/>
              </a:rPr>
              <a:t>报文中所处位置如下。</a:t>
            </a:r>
            <a:endParaRPr lang="en-US" altLang="zh-CN" sz="1800" dirty="0" smtClean="0">
              <a:sym typeface="Huawei Sans" panose="020C0503030203020204" pitchFamily="34" charset="0"/>
            </a:endParaRPr>
          </a:p>
          <a:p>
            <a:endParaRPr lang="en-US" altLang="zh-CN" sz="1800" dirty="0">
              <a:sym typeface="Huawei Sans" panose="020C0503030203020204" pitchFamily="34" charset="0"/>
            </a:endParaRPr>
          </a:p>
        </p:txBody>
      </p:sp>
      <p:grpSp>
        <p:nvGrpSpPr>
          <p:cNvPr id="27" name="组合 26"/>
          <p:cNvGrpSpPr/>
          <p:nvPr/>
        </p:nvGrpSpPr>
        <p:grpSpPr bwMode="gray">
          <a:xfrm>
            <a:off x="1594177" y="2054630"/>
            <a:ext cx="5862918" cy="1417419"/>
            <a:chOff x="1796527" y="1827586"/>
            <a:chExt cx="5862918" cy="1417419"/>
          </a:xfrm>
        </p:grpSpPr>
        <p:sp>
          <p:nvSpPr>
            <p:cNvPr id="5" name="矩形 4"/>
            <p:cNvSpPr/>
            <p:nvPr/>
          </p:nvSpPr>
          <p:spPr bwMode="gray">
            <a:xfrm>
              <a:off x="1796527" y="2732443"/>
              <a:ext cx="1355464" cy="512562"/>
            </a:xfrm>
            <a:prstGeom prst="rect">
              <a:avLst/>
            </a:prstGeom>
            <a:no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首部</a:t>
              </a:r>
            </a:p>
          </p:txBody>
        </p:sp>
        <p:sp>
          <p:nvSpPr>
            <p:cNvPr id="13" name="矩形 12"/>
            <p:cNvSpPr/>
            <p:nvPr/>
          </p:nvSpPr>
          <p:spPr bwMode="gray">
            <a:xfrm>
              <a:off x="3151991" y="2732443"/>
              <a:ext cx="1355464" cy="512562"/>
            </a:xfrm>
            <a:prstGeom prst="rect">
              <a:avLst/>
            </a:prstGeom>
            <a:no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TCP</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首部</a:t>
              </a:r>
            </a:p>
          </p:txBody>
        </p:sp>
        <p:sp>
          <p:nvSpPr>
            <p:cNvPr id="18" name="矩形 17"/>
            <p:cNvSpPr/>
            <p:nvPr/>
          </p:nvSpPr>
          <p:spPr bwMode="gray">
            <a:xfrm>
              <a:off x="4507455" y="2732443"/>
              <a:ext cx="3151990" cy="512562"/>
            </a:xfrm>
            <a:prstGeom prst="rect">
              <a:avLst/>
            </a:prstGeom>
            <a:solidFill>
              <a:srgbClr val="56C4D2"/>
            </a:solid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TCP</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a:t>
              </a:r>
            </a:p>
          </p:txBody>
        </p:sp>
        <p:cxnSp>
          <p:nvCxnSpPr>
            <p:cNvPr id="8" name="直接连接符 7"/>
            <p:cNvCxnSpPr/>
            <p:nvPr/>
          </p:nvCxnSpPr>
          <p:spPr bwMode="gray">
            <a:xfrm flipV="1">
              <a:off x="3151991" y="2269863"/>
              <a:ext cx="0" cy="3334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gray">
            <a:xfrm flipV="1">
              <a:off x="7648688" y="2269863"/>
              <a:ext cx="0" cy="3334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bwMode="gray">
            <a:xfrm>
              <a:off x="3151991" y="2431228"/>
              <a:ext cx="4496697" cy="0"/>
            </a:xfrm>
            <a:prstGeom prst="straightConnector1">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bwMode="gray">
            <a:xfrm>
              <a:off x="4672360" y="2246562"/>
              <a:ext cx="1204333" cy="338554"/>
            </a:xfrm>
            <a:prstGeom prst="rect">
              <a:avLst/>
            </a:prstGeom>
            <a:solidFill>
              <a:schemeClr val="bg1"/>
            </a:solidFill>
          </p:spPr>
          <p:txBody>
            <a:bodyPr wrap="squar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TCP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报文段</a:t>
              </a:r>
            </a:p>
          </p:txBody>
        </p:sp>
        <p:cxnSp>
          <p:nvCxnSpPr>
            <p:cNvPr id="22" name="直接连接符 21"/>
            <p:cNvCxnSpPr/>
            <p:nvPr/>
          </p:nvCxnSpPr>
          <p:spPr bwMode="gray">
            <a:xfrm flipV="1">
              <a:off x="1796527" y="1841131"/>
              <a:ext cx="0" cy="3334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gray">
            <a:xfrm flipV="1">
              <a:off x="7648688" y="1841131"/>
              <a:ext cx="0" cy="3334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bwMode="gray">
            <a:xfrm>
              <a:off x="1796527" y="2007875"/>
              <a:ext cx="5852161" cy="0"/>
            </a:xfrm>
            <a:prstGeom prst="straightConnector1">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bwMode="gray">
            <a:xfrm>
              <a:off x="3880624" y="1827586"/>
              <a:ext cx="1182031" cy="338554"/>
            </a:xfrm>
            <a:prstGeom prst="rect">
              <a:avLst/>
            </a:prstGeom>
            <a:solidFill>
              <a:schemeClr val="bg1"/>
            </a:solidFill>
          </p:spPr>
          <p:txBody>
            <a:bodyPr wrap="squar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报文段</a:t>
              </a:r>
            </a:p>
          </p:txBody>
        </p:sp>
      </p:grpSp>
      <p:sp>
        <p:nvSpPr>
          <p:cNvPr id="29" name="折角形 28"/>
          <p:cNvSpPr/>
          <p:nvPr/>
        </p:nvSpPr>
        <p:spPr bwMode="gray">
          <a:xfrm>
            <a:off x="8801408" y="2239118"/>
            <a:ext cx="1105664" cy="1237130"/>
          </a:xfrm>
          <a:prstGeom prst="foldedCorner">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a:t>
            </a:r>
          </a:p>
        </p:txBody>
      </p:sp>
      <p:grpSp>
        <p:nvGrpSpPr>
          <p:cNvPr id="39" name="组合 38"/>
          <p:cNvGrpSpPr/>
          <p:nvPr/>
        </p:nvGrpSpPr>
        <p:grpSpPr bwMode="gray">
          <a:xfrm>
            <a:off x="7468246" y="2239118"/>
            <a:ext cx="1244502" cy="1237129"/>
            <a:chOff x="6773225" y="4449420"/>
            <a:chExt cx="1327191" cy="1237126"/>
          </a:xfrm>
          <a:gradFill>
            <a:gsLst>
              <a:gs pos="100000">
                <a:srgbClr val="56C4D2"/>
              </a:gs>
              <a:gs pos="0">
                <a:schemeClr val="accent1">
                  <a:lumMod val="50000"/>
                  <a:lumOff val="50000"/>
                  <a:alpha val="0"/>
                </a:schemeClr>
              </a:gs>
            </a:gsLst>
            <a:lin ang="10800000" scaled="0"/>
          </a:gradFill>
        </p:grpSpPr>
        <p:sp>
          <p:nvSpPr>
            <p:cNvPr id="37" name="矩形 36"/>
            <p:cNvSpPr/>
            <p:nvPr/>
          </p:nvSpPr>
          <p:spPr bwMode="gray">
            <a:xfrm>
              <a:off x="6773225" y="5173984"/>
              <a:ext cx="1327191" cy="5125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直角三角形 37"/>
            <p:cNvSpPr/>
            <p:nvPr/>
          </p:nvSpPr>
          <p:spPr bwMode="gray">
            <a:xfrm flipH="1">
              <a:off x="6773225" y="4449420"/>
              <a:ext cx="1327190" cy="724568"/>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0" name="文本占位符 2">
            <a:extLst>
              <a:ext uri="{FF2B5EF4-FFF2-40B4-BE49-F238E27FC236}">
                <a16:creationId xmlns="" xmlns:a16="http://schemas.microsoft.com/office/drawing/2014/main" id="{CF60ADDD-39FF-453B-93A9-7BE149D4B4CB}"/>
              </a:ext>
            </a:extLst>
          </p:cNvPr>
          <p:cNvSpPr txBox="1">
            <a:spLocks/>
          </p:cNvSpPr>
          <p:nvPr/>
        </p:nvSpPr>
        <p:spPr bwMode="gray">
          <a:xfrm>
            <a:off x="457908" y="3716338"/>
            <a:ext cx="10838277" cy="240568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报文（请求报文和响应报文）的组成：</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起始行：在请求报文中用来说明要</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执行</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操作</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，在响应报文中说明执行结果。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首部字段：用于补充关于请求和响应的附加信息。如请求报文首部字段</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Host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指定了被请求资源的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Internet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主机，响应报文首部字段</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Content-Type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表明报文主体中的内容是什么类型。</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主体：请求报文主体是客户端要发送给</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服务器的数据，响应报文主体则是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Web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服务器要返回给客户端的数据，如</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html</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文本、图片、视频等。</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313352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0B75F51C-8FE0-4244-907B-D4B71BA72F6B}"/>
              </a:ext>
            </a:extLst>
          </p:cNvPr>
          <p:cNvSpPr>
            <a:spLocks noGrp="1"/>
          </p:cNvSpPr>
          <p:nvPr>
            <p:ph type="title"/>
          </p:nvPr>
        </p:nvSpPr>
        <p:spPr bwMode="gray"/>
        <p:txBody>
          <a:bodyPr/>
          <a:lstStyle/>
          <a:p>
            <a:r>
              <a:rPr lang="en-US" altLang="zh-CN" smtClean="0">
                <a:sym typeface="Huawei Sans" panose="020C0503030203020204" pitchFamily="34" charset="0"/>
              </a:rPr>
              <a:t>HTTP</a:t>
            </a:r>
            <a:r>
              <a:rPr lang="zh-CN" altLang="en-US" smtClean="0">
                <a:sym typeface="Huawei Sans" panose="020C0503030203020204" pitchFamily="34" charset="0"/>
              </a:rPr>
              <a:t>报文格式 </a:t>
            </a:r>
            <a:r>
              <a:rPr lang="en-US" altLang="zh-CN" smtClean="0">
                <a:sym typeface="Huawei Sans" panose="020C0503030203020204" pitchFamily="34" charset="0"/>
              </a:rPr>
              <a:t>(2)</a:t>
            </a:r>
            <a:endParaRPr lang="zh-CN" altLang="en-US" dirty="0">
              <a:sym typeface="Huawei Sans" panose="020C0503030203020204" pitchFamily="34" charset="0"/>
            </a:endParaRPr>
          </a:p>
        </p:txBody>
      </p:sp>
      <p:sp>
        <p:nvSpPr>
          <p:cNvPr id="12" name="文本占位符 11"/>
          <p:cNvSpPr>
            <a:spLocks noGrp="1"/>
          </p:cNvSpPr>
          <p:nvPr>
            <p:ph type="body" sz="quarter" idx="10"/>
          </p:nvPr>
        </p:nvSpPr>
        <p:spPr bwMode="gray"/>
        <p:txBody>
          <a:bodyPr/>
          <a:lstStyle/>
          <a:p>
            <a:r>
              <a:rPr lang="en-US" altLang="zh-CN" sz="1800" dirty="0" smtClean="0">
                <a:sym typeface="Huawei Sans" panose="020C0503030203020204" pitchFamily="34" charset="0"/>
              </a:rPr>
              <a:t>HTTP</a:t>
            </a:r>
            <a:r>
              <a:rPr lang="zh-CN" altLang="en-US" sz="1800" dirty="0" smtClean="0">
                <a:sym typeface="Huawei Sans" panose="020C0503030203020204" pitchFamily="34" charset="0"/>
              </a:rPr>
              <a:t>报文的语法：</a:t>
            </a:r>
            <a:endParaRPr lang="zh-CN" altLang="en-US" sz="1800" dirty="0">
              <a:sym typeface="Huawei Sans" panose="020C0503030203020204" pitchFamily="34" charset="0"/>
            </a:endParaRPr>
          </a:p>
        </p:txBody>
      </p:sp>
      <p:graphicFrame>
        <p:nvGraphicFramePr>
          <p:cNvPr id="30" name="表格 29"/>
          <p:cNvGraphicFramePr>
            <a:graphicFrameLocks noGrp="1"/>
          </p:cNvGraphicFramePr>
          <p:nvPr>
            <p:extLst>
              <p:ext uri="{D42A27DB-BD31-4B8C-83A1-F6EECF244321}">
                <p14:modId xmlns:p14="http://schemas.microsoft.com/office/powerpoint/2010/main" val="2641333853"/>
              </p:ext>
            </p:extLst>
          </p:nvPr>
        </p:nvGraphicFramePr>
        <p:xfrm>
          <a:off x="1248956" y="1735721"/>
          <a:ext cx="8920956" cy="1417449"/>
        </p:xfrm>
        <a:graphic>
          <a:graphicData uri="http://schemas.openxmlformats.org/drawingml/2006/table">
            <a:tbl>
              <a:tblPr/>
              <a:tblGrid>
                <a:gridCol w="1087100">
                  <a:extLst>
                    <a:ext uri="{9D8B030D-6E8A-4147-A177-3AD203B41FA5}">
                      <a16:colId xmlns="" xmlns:a16="http://schemas.microsoft.com/office/drawing/2014/main" val="20000"/>
                    </a:ext>
                  </a:extLst>
                </a:gridCol>
                <a:gridCol w="3916928">
                  <a:extLst>
                    <a:ext uri="{9D8B030D-6E8A-4147-A177-3AD203B41FA5}">
                      <a16:colId xmlns="" xmlns:a16="http://schemas.microsoft.com/office/drawing/2014/main" val="20001"/>
                    </a:ext>
                  </a:extLst>
                </a:gridCol>
                <a:gridCol w="3916928">
                  <a:extLst>
                    <a:ext uri="{9D8B030D-6E8A-4147-A177-3AD203B41FA5}">
                      <a16:colId xmlns="" xmlns:a16="http://schemas.microsoft.com/office/drawing/2014/main" val="20002"/>
                    </a:ext>
                  </a:extLst>
                </a:gridCol>
              </a:tblGrid>
              <a:tr h="382011">
                <a:tc>
                  <a:txBody>
                    <a:bodyPr/>
                    <a:lstStyle/>
                    <a:p>
                      <a:pPr algn="ctr">
                        <a:lnSpc>
                          <a:spcPct val="100000"/>
                        </a:lnSpc>
                      </a:pP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请求报文格式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响应报文格式</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45146">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起始行</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&lt;method&gt; &lt;request-URL&gt; &lt;version&gt;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&lt;version&gt; &lt;status-code&gt; &lt;reason-phrase&gt;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r h="345146">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首部字段</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&lt;headers&gt;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&lt;headers&gt;</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345146">
                <a:tc>
                  <a:txBody>
                    <a:bodyPr/>
                    <a:lstStyle/>
                    <a:p>
                      <a:pPr algn="ctr">
                        <a:lnSpc>
                          <a:spcPct val="100000"/>
                        </a:lnSpc>
                      </a:pPr>
                      <a:r>
                        <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rPr>
                        <a:t>主体</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&lt;entity-body&gt;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&lt;entity-body&gt;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15" name="文本框 14"/>
          <p:cNvSpPr txBox="1"/>
          <p:nvPr/>
        </p:nvSpPr>
        <p:spPr bwMode="gray">
          <a:xfrm>
            <a:off x="1248956" y="3340494"/>
            <a:ext cx="8920956" cy="2890022"/>
          </a:xfrm>
          <a:prstGeom prst="rect">
            <a:avLst/>
          </a:prstGeom>
          <a:noFill/>
        </p:spPr>
        <p:txBody>
          <a:bodyPr wrap="square" rtlCol="0">
            <a:spAutoFit/>
          </a:bodyPr>
          <a:lstStyle/>
          <a:p>
            <a:pPr>
              <a:lnSpc>
                <a:spcPct val="130000"/>
              </a:lnSpc>
              <a:spcBef>
                <a:spcPts val="600"/>
              </a:spcBef>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请求报文和响应报文只有起始行的语法不同：</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30000"/>
              </a:lnSpc>
              <a:spcBef>
                <a:spcPts val="600"/>
              </a:spcBef>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method</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客户端对服务器端资源</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执行的动作，是一个单独的词，比如</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GET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POST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30000"/>
              </a:lnSpc>
              <a:spcBef>
                <a:spcPts val="600"/>
              </a:spcBef>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request-URL</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：请求</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的资源在服务器上的路径。</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30000"/>
              </a:lnSpc>
              <a:spcBef>
                <a:spcPts val="600"/>
              </a:spcBef>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version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：报文所使用的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版本。格式为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HTTP/&lt;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主要版本号</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&gt;.&lt;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次要版本号</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30000"/>
              </a:lnSpc>
              <a:spcBef>
                <a:spcPts val="600"/>
              </a:spcBef>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status-code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状态码，用于表示请求操作的执行结果，状态码是三位数字。</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ct val="130000"/>
              </a:lnSpc>
              <a:spcBef>
                <a:spcPts val="600"/>
              </a:spcBef>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reason-phrase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：原因短语，使用人类可读的方式对状态码进行解释。</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262608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bwMode="gray">
          <a:xfrm>
            <a:off x="837690" y="4163210"/>
            <a:ext cx="10361020" cy="1839558"/>
          </a:xfrm>
          <a:prstGeom prst="rect">
            <a:avLst/>
          </a:prstGeom>
          <a:solidFill>
            <a:srgbClr val="8BC9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gray">
          <a:xfrm>
            <a:off x="837689" y="2411648"/>
            <a:ext cx="10361021" cy="1800000"/>
          </a:xfrm>
          <a:prstGeom prst="rect">
            <a:avLst/>
          </a:prstGeom>
          <a:solidFill>
            <a:srgbClr val="FFF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837690" y="2118412"/>
            <a:ext cx="10361020" cy="29323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a:extLst>
              <a:ext uri="{FF2B5EF4-FFF2-40B4-BE49-F238E27FC236}">
                <a16:creationId xmlns="" xmlns:a16="http://schemas.microsoft.com/office/drawing/2014/main" id="{0B75F51C-8FE0-4244-907B-D4B71BA72F6B}"/>
              </a:ext>
            </a:extLst>
          </p:cNvPr>
          <p:cNvSpPr>
            <a:spLocks noGrp="1"/>
          </p:cNvSpPr>
          <p:nvPr>
            <p:ph type="title"/>
          </p:nvPr>
        </p:nvSpPr>
        <p:spPr bwMode="gray"/>
        <p:txBody>
          <a:bodyPr/>
          <a:lstStyle/>
          <a:p>
            <a:r>
              <a:rPr lang="en-US" altLang="zh-CN" smtClean="0">
                <a:sym typeface="Huawei Sans" panose="020C0503030203020204" pitchFamily="34" charset="0"/>
              </a:rPr>
              <a:t>HTTP</a:t>
            </a:r>
            <a:r>
              <a:rPr lang="zh-CN" altLang="en-US" smtClean="0">
                <a:sym typeface="Huawei Sans" panose="020C0503030203020204" pitchFamily="34" charset="0"/>
              </a:rPr>
              <a:t>报文格式 </a:t>
            </a:r>
            <a:r>
              <a:rPr lang="en-US" altLang="zh-CN" smtClean="0">
                <a:sym typeface="Huawei Sans" panose="020C0503030203020204" pitchFamily="34" charset="0"/>
              </a:rPr>
              <a:t>(3)</a:t>
            </a:r>
            <a:endParaRPr lang="zh-CN" altLang="en-US" dirty="0">
              <a:sym typeface="Huawei Sans" panose="020C0503030203020204" pitchFamily="34" charset="0"/>
            </a:endParaRPr>
          </a:p>
        </p:txBody>
      </p:sp>
      <p:sp>
        <p:nvSpPr>
          <p:cNvPr id="12" name="文本占位符 11"/>
          <p:cNvSpPr>
            <a:spLocks noGrp="1"/>
          </p:cNvSpPr>
          <p:nvPr>
            <p:ph type="body" sz="quarter" idx="10"/>
          </p:nvPr>
        </p:nvSpPr>
        <p:spPr bwMode="gray"/>
        <p:txBody>
          <a:bodyPr/>
          <a:lstStyle/>
          <a:p>
            <a:r>
              <a:rPr lang="en-US" altLang="zh-CN" sz="1800" smtClean="0">
                <a:sym typeface="Huawei Sans" panose="020C0503030203020204" pitchFamily="34" charset="0"/>
              </a:rPr>
              <a:t>HTTP</a:t>
            </a:r>
            <a:r>
              <a:rPr lang="zh-CN" altLang="en-US" sz="1800" smtClean="0">
                <a:sym typeface="Huawei Sans" panose="020C0503030203020204" pitchFamily="34" charset="0"/>
              </a:rPr>
              <a:t>报文实例：</a:t>
            </a:r>
            <a:endParaRPr lang="zh-CN" altLang="en-US" sz="1800" dirty="0">
              <a:sym typeface="Huawei Sans" panose="020C0503030203020204" pitchFamily="34" charset="0"/>
            </a:endParaRPr>
          </a:p>
        </p:txBody>
      </p:sp>
      <p:sp>
        <p:nvSpPr>
          <p:cNvPr id="4" name="文本框 3"/>
          <p:cNvSpPr txBox="1"/>
          <p:nvPr/>
        </p:nvSpPr>
        <p:spPr bwMode="gray">
          <a:xfrm>
            <a:off x="2292852" y="2118410"/>
            <a:ext cx="4527508" cy="1461939"/>
          </a:xfrm>
          <a:prstGeom prst="rect">
            <a:avLst/>
          </a:prstGeom>
          <a:noFill/>
        </p:spPr>
        <p:txBody>
          <a:bodyPr wrap="square" rtlCol="0">
            <a:spAutoFit/>
          </a:bodyPr>
          <a:lstStyle/>
          <a:p>
            <a:pPr>
              <a:spcBef>
                <a:spcPts val="60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GET / HTTP/1.1</a:t>
            </a:r>
          </a:p>
          <a:p>
            <a:pPr>
              <a:spcBef>
                <a:spcPts val="60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Host: www.example.com</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User-Agent: Mozilla/5.0 (Windows NT 10.0; Win64; x64)</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Accept: text/</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html,application</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xhtml+xml</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Accept-Language: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zh-CN,zh;q</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=0.9</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bwMode="gray">
          <a:xfrm>
            <a:off x="6981395" y="2118410"/>
            <a:ext cx="4194339" cy="3908762"/>
          </a:xfrm>
          <a:prstGeom prst="rect">
            <a:avLst/>
          </a:prstGeom>
          <a:noFill/>
        </p:spPr>
        <p:txBody>
          <a:bodyPr wrap="square" rtlCol="0">
            <a:spAutoFit/>
          </a:bodyPr>
          <a:lstStyle>
            <a:defPPr>
              <a:defRPr lang="en-US"/>
            </a:defPPr>
            <a:lvl1pPr>
              <a:lnSpc>
                <a:spcPct val="130000"/>
              </a:lnSpc>
              <a:spcBef>
                <a:spcPts val="600"/>
              </a:spcBef>
            </a:lvl1pPr>
          </a:lstStyle>
          <a:p>
            <a:pPr>
              <a:lnSpc>
                <a:spcPct val="10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HTTP/1.1 200 OK</a:t>
            </a:r>
          </a:p>
          <a:p>
            <a:pPr>
              <a:lnSpc>
                <a:spcPct val="10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Date: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YY-MM-DD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Server: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VWebServer</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Last-Modified: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YY-MM-DD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ct val="100000"/>
              </a:lnSpc>
              <a:spcBef>
                <a:spcPts val="0"/>
              </a:spcBef>
            </a:pP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ETag</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"e211-5a81ca574d000"</a:t>
            </a: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Accept-Ranges: bytes</a:t>
            </a: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Vary: Accept-Encoding</a:t>
            </a: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Content-Length: 13358</a:t>
            </a: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Content-Type: text/html</a:t>
            </a:r>
          </a:p>
          <a:p>
            <a:pPr>
              <a:lnSpc>
                <a:spcPct val="1000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&lt;HTML&gt;</a:t>
            </a: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&lt;HEAD&gt;</a:t>
            </a: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&lt;TITLE&gt;Example Homepage&lt;/TITLE&gt;</a:t>
            </a: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&lt;/HEAD&gt;</a:t>
            </a: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&lt;BODY&gt;</a:t>
            </a: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 Body goes here --&gt;</a:t>
            </a: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&lt;/BODY&gt;</a:t>
            </a:r>
          </a:p>
          <a:p>
            <a:pPr>
              <a:lnSpc>
                <a:spcPct val="100000"/>
              </a:lnSpc>
              <a:spcBef>
                <a:spcPts val="0"/>
              </a:spcBef>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&lt;/HTML&gt;</a:t>
            </a:r>
          </a:p>
        </p:txBody>
      </p:sp>
      <p:sp>
        <p:nvSpPr>
          <p:cNvPr id="11" name="圆角矩形 75"/>
          <p:cNvSpPr/>
          <p:nvPr/>
        </p:nvSpPr>
        <p:spPr bwMode="gray">
          <a:xfrm>
            <a:off x="837690" y="1731424"/>
            <a:ext cx="5810536" cy="386987"/>
          </a:xfrm>
          <a:prstGeom prst="rect">
            <a:avLst/>
          </a:prstGeom>
          <a:solidFill>
            <a:srgbClr val="56C4D2"/>
          </a:solidFill>
          <a:ln>
            <a:noFill/>
          </a:ln>
        </p:spPr>
        <p:txBody>
          <a:bodyPr wrap="square" rtlCol="0" anchor="ctr" anchorCtr="0">
            <a:noAutofit/>
          </a:bodyPr>
          <a:lstStyle/>
          <a:p>
            <a:pPr algn="ctr" fontAlgn="auto">
              <a:spcBef>
                <a:spcPts val="0"/>
              </a:spcBef>
              <a:spcAft>
                <a:spcPts val="0"/>
              </a:spcAft>
            </a:pP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请求报文</a:t>
            </a:r>
          </a:p>
        </p:txBody>
      </p:sp>
      <p:sp>
        <p:nvSpPr>
          <p:cNvPr id="13" name="圆角矩形 75"/>
          <p:cNvSpPr/>
          <p:nvPr/>
        </p:nvSpPr>
        <p:spPr bwMode="gray">
          <a:xfrm>
            <a:off x="6648226" y="1731424"/>
            <a:ext cx="4550483" cy="386987"/>
          </a:xfrm>
          <a:prstGeom prst="rect">
            <a:avLst/>
          </a:prstGeom>
          <a:solidFill>
            <a:srgbClr val="56C4D2"/>
          </a:solidFill>
          <a:ln>
            <a:noFill/>
          </a:ln>
        </p:spPr>
        <p:txBody>
          <a:bodyPr wrap="square" rtlCol="0" anchor="ctr" anchorCtr="0">
            <a:noAutofit/>
          </a:bodyPr>
          <a:lstStyle/>
          <a:p>
            <a:pPr algn="ctr"/>
            <a:r>
              <a:rPr lang="zh-CN" altLang="en-US" sz="16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响应报文</a:t>
            </a:r>
          </a:p>
        </p:txBody>
      </p:sp>
      <p:cxnSp>
        <p:nvCxnSpPr>
          <p:cNvPr id="14" name="直接连接符 13"/>
          <p:cNvCxnSpPr/>
          <p:nvPr/>
        </p:nvCxnSpPr>
        <p:spPr bwMode="gray">
          <a:xfrm flipH="1">
            <a:off x="6648226" y="1731424"/>
            <a:ext cx="0" cy="4411192"/>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gray">
          <a:xfrm flipH="1">
            <a:off x="2206788" y="1731424"/>
            <a:ext cx="0" cy="4411192"/>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bwMode="gray">
          <a:xfrm>
            <a:off x="1054249" y="2111141"/>
            <a:ext cx="957431" cy="307777"/>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起始行</a:t>
            </a:r>
          </a:p>
        </p:txBody>
      </p:sp>
      <p:sp>
        <p:nvSpPr>
          <p:cNvPr id="17" name="文本框 16"/>
          <p:cNvSpPr txBox="1"/>
          <p:nvPr/>
        </p:nvSpPr>
        <p:spPr bwMode="gray">
          <a:xfrm>
            <a:off x="1043523" y="3091028"/>
            <a:ext cx="957431" cy="307777"/>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首部字段</a:t>
            </a:r>
          </a:p>
        </p:txBody>
      </p:sp>
      <p:sp>
        <p:nvSpPr>
          <p:cNvPr id="18" name="文本框 17"/>
          <p:cNvSpPr txBox="1"/>
          <p:nvPr/>
        </p:nvSpPr>
        <p:spPr bwMode="gray">
          <a:xfrm>
            <a:off x="1043522" y="4842589"/>
            <a:ext cx="957431" cy="307777"/>
          </a:xfrm>
          <a:prstGeom prst="rect">
            <a:avLst/>
          </a:prstGeom>
          <a:noFill/>
        </p:spPr>
        <p:txBody>
          <a:bodyPr wrap="squar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主体</a:t>
            </a:r>
          </a:p>
        </p:txBody>
      </p:sp>
      <p:sp>
        <p:nvSpPr>
          <p:cNvPr id="19" name="文本框 18"/>
          <p:cNvSpPr txBox="1"/>
          <p:nvPr/>
        </p:nvSpPr>
        <p:spPr bwMode="gray">
          <a:xfrm>
            <a:off x="2292149" y="4211647"/>
            <a:ext cx="4183944" cy="523220"/>
          </a:xfrm>
          <a:prstGeom prst="rect">
            <a:avLst/>
          </a:prstGeom>
          <a:noFill/>
        </p:spPr>
        <p:txBody>
          <a:bodyPr wrap="square" rtlCol="0">
            <a:spAutoFit/>
          </a:bodyPr>
          <a:lstStyle/>
          <a:p>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GET</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方法通常用于请求服务器发送某个资源，主体内容为空。</a:t>
            </a:r>
          </a:p>
        </p:txBody>
      </p:sp>
    </p:spTree>
    <p:extLst>
      <p:ext uri="{BB962C8B-B14F-4D97-AF65-F5344CB8AC3E}">
        <p14:creationId xmlns:p14="http://schemas.microsoft.com/office/powerpoint/2010/main" val="20525744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OPS RESTful API</a:t>
            </a:r>
            <a:r>
              <a:rPr lang="zh-CN" altLang="en-US" smtClean="0">
                <a:sym typeface="Huawei Sans" panose="020C0503030203020204" pitchFamily="34" charset="0"/>
              </a:rPr>
              <a:t>描述示例</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smtClean="0">
                <a:sym typeface="Huawei Sans" panose="020C0503030203020204" pitchFamily="34" charset="0"/>
              </a:rPr>
              <a:t>用户发送的</a:t>
            </a:r>
            <a:r>
              <a:rPr lang="en-US" altLang="zh-CN" sz="1800" smtClean="0">
                <a:sym typeface="Huawei Sans" panose="020C0503030203020204" pitchFamily="34" charset="0"/>
              </a:rPr>
              <a:t>HTTP</a:t>
            </a:r>
            <a:r>
              <a:rPr lang="zh-CN" altLang="en-US" sz="1800" smtClean="0">
                <a:sym typeface="Huawei Sans" panose="020C0503030203020204" pitchFamily="34" charset="0"/>
              </a:rPr>
              <a:t>请求需要按照</a:t>
            </a:r>
            <a:r>
              <a:rPr lang="en-US" altLang="zh-CN" sz="1800" smtClean="0">
                <a:sym typeface="Huawei Sans" panose="020C0503030203020204" pitchFamily="34" charset="0"/>
              </a:rPr>
              <a:t>OPS</a:t>
            </a:r>
            <a:r>
              <a:rPr lang="zh-CN" altLang="en-US" sz="1800" smtClean="0">
                <a:sym typeface="Huawei Sans" panose="020C0503030203020204" pitchFamily="34" charset="0"/>
              </a:rPr>
              <a:t>定义的</a:t>
            </a:r>
            <a:r>
              <a:rPr lang="en-US" altLang="zh-CN" sz="1800" smtClean="0">
                <a:sym typeface="Huawei Sans" panose="020C0503030203020204" pitchFamily="34" charset="0"/>
              </a:rPr>
              <a:t>RESTful API</a:t>
            </a:r>
            <a:r>
              <a:rPr lang="zh-CN" altLang="en-US" sz="1800" smtClean="0">
                <a:sym typeface="Huawei Sans" panose="020C0503030203020204" pitchFamily="34" charset="0"/>
              </a:rPr>
              <a:t>进行构造。获取系统信息</a:t>
            </a:r>
            <a:r>
              <a:rPr lang="en-US" altLang="zh-CN" sz="1800" smtClean="0">
                <a:sym typeface="Huawei Sans" panose="020C0503030203020204" pitchFamily="34" charset="0"/>
              </a:rPr>
              <a:t>API</a:t>
            </a:r>
            <a:r>
              <a:rPr lang="zh-CN" altLang="en-US" sz="1800" smtClean="0">
                <a:sym typeface="Huawei Sans" panose="020C0503030203020204" pitchFamily="34" charset="0"/>
              </a:rPr>
              <a:t>描述如下。</a:t>
            </a:r>
            <a:endParaRPr lang="en-US" altLang="zh-CN" sz="1800" dirty="0">
              <a:sym typeface="Huawei Sans" panose="020C0503030203020204" pitchFamily="34" charset="0"/>
            </a:endParaRPr>
          </a:p>
        </p:txBody>
      </p:sp>
      <p:sp>
        <p:nvSpPr>
          <p:cNvPr id="19" name="文本框 25"/>
          <p:cNvSpPr txBox="1"/>
          <p:nvPr/>
        </p:nvSpPr>
        <p:spPr bwMode="gray">
          <a:xfrm>
            <a:off x="563117" y="2311077"/>
            <a:ext cx="4393050" cy="2554545"/>
          </a:xfrm>
          <a:prstGeom prst="rect">
            <a:avLst/>
          </a:prstGeom>
          <a:noFill/>
          <a:ln>
            <a:solidFill>
              <a:srgbClr val="56C4D2"/>
            </a:solid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GET /system/</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systemInfo</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HTTP/1.1</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Host: </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localhost</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Accept-Encoding: identity</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Content-Length: 66</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Content-type: application/xml</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Accept: application/xml</a:t>
            </a:r>
          </a:p>
          <a:p>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&lt;?xml version="1.0" encoding="UTF-8"?&gt;</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systemInfo</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 </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systemInfo</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a:t>
            </a:r>
            <a:endParaRPr lang="pt-BR"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5"/>
          <p:cNvSpPr txBox="1"/>
          <p:nvPr/>
        </p:nvSpPr>
        <p:spPr bwMode="gray">
          <a:xfrm>
            <a:off x="5979081" y="2311077"/>
            <a:ext cx="4796945" cy="3785652"/>
          </a:xfrm>
          <a:prstGeom prst="rect">
            <a:avLst/>
          </a:prstGeom>
          <a:noFill/>
          <a:ln>
            <a:solidFill>
              <a:srgbClr val="56C4D2"/>
            </a:solidFill>
          </a:ln>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HTTP/1.1 200 OK</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Cache-Control: no-cache</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Content-Type: application/xml</a:t>
            </a:r>
          </a:p>
          <a:p>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&lt;?xml version="1.0" encoding="UTF-8"?&gt; &lt;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systemInfo</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sysName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&gt;HUAWEI&lt;/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sysName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platformName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&gt;VRP&lt;/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platformName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platformVer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&gt;v800r007c00&lt;/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platformVer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productName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&gt;Device&lt;/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productName</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productVer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&gt;V800R007C00&lt;/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productVer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patchVer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patchVer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esn</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&gt;123456789&lt;/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esn</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&lt;mac&gt;00e0-fc34-1234&lt;/mac&gt;</a:t>
            </a:r>
          </a:p>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systemInfo</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&gt;</a:t>
            </a:r>
            <a:endParaRPr lang="pt-BR"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563117" y="1941745"/>
            <a:ext cx="4393049" cy="369332"/>
          </a:xfrm>
          <a:prstGeom prst="rect">
            <a:avLst/>
          </a:prstGeom>
          <a:solidFill>
            <a:srgbClr val="56C4D2"/>
          </a:solidFill>
          <a:ln>
            <a:solidFill>
              <a:srgbClr val="56C4D2"/>
            </a:solidFill>
          </a:ln>
        </p:spPr>
        <p:txBody>
          <a:bodyPr wrap="square" rtlCol="0">
            <a:spAutoFit/>
          </a:bodyPr>
          <a:lstStyle/>
          <a:p>
            <a:pPr algn="ct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包含</a:t>
            </a:r>
            <a:r>
              <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头部的请求示例（</a:t>
            </a:r>
            <a:r>
              <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XML</a:t>
            </a: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格式）</a:t>
            </a:r>
          </a:p>
        </p:txBody>
      </p:sp>
      <p:sp>
        <p:nvSpPr>
          <p:cNvPr id="24" name="文本框 23"/>
          <p:cNvSpPr txBox="1"/>
          <p:nvPr/>
        </p:nvSpPr>
        <p:spPr bwMode="gray">
          <a:xfrm>
            <a:off x="5979081" y="1930067"/>
            <a:ext cx="4796945" cy="381010"/>
          </a:xfrm>
          <a:prstGeom prst="rect">
            <a:avLst/>
          </a:prstGeom>
          <a:solidFill>
            <a:srgbClr val="56C4D2"/>
          </a:solidFill>
          <a:ln>
            <a:solidFill>
              <a:srgbClr val="56C4D2"/>
            </a:solidFill>
          </a:ln>
        </p:spPr>
        <p:txBody>
          <a:bodyPr wrap="square" rtlCol="0">
            <a:spAutoFit/>
          </a:bodyPr>
          <a:lstStyle/>
          <a:p>
            <a:pPr algn="ct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包含</a:t>
            </a:r>
            <a:r>
              <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头部的响应示例（</a:t>
            </a:r>
            <a:r>
              <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XML</a:t>
            </a: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格式）</a:t>
            </a:r>
          </a:p>
        </p:txBody>
      </p:sp>
    </p:spTree>
    <p:extLst>
      <p:ext uri="{BB962C8B-B14F-4D97-AF65-F5344CB8AC3E}">
        <p14:creationId xmlns:p14="http://schemas.microsoft.com/office/powerpoint/2010/main" val="8014957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Python</a:t>
            </a:r>
            <a:r>
              <a:rPr lang="zh-CN" altLang="en-US" smtClean="0">
                <a:sym typeface="Huawei Sans" panose="020C0503030203020204" pitchFamily="34" charset="0"/>
              </a:rPr>
              <a:t>脚本使用介绍</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800" dirty="0" smtClean="0">
                <a:sym typeface="Huawei Sans" panose="020C0503030203020204" pitchFamily="34" charset="0"/>
              </a:rPr>
              <a:t>目前，华为</a:t>
            </a:r>
            <a:r>
              <a:rPr lang="en-US" altLang="zh-CN" sz="1800" dirty="0" smtClean="0">
                <a:sym typeface="Huawei Sans" panose="020C0503030203020204" pitchFamily="34" charset="0"/>
              </a:rPr>
              <a:t>OPS RESTful API</a:t>
            </a:r>
            <a:r>
              <a:rPr lang="zh-CN" altLang="en-US" sz="1800" dirty="0" smtClean="0">
                <a:sym typeface="Huawei Sans" panose="020C0503030203020204" pitchFamily="34" charset="0"/>
              </a:rPr>
              <a:t>只支持在</a:t>
            </a:r>
            <a:r>
              <a:rPr lang="en-US" altLang="zh-CN" sz="1800" dirty="0" smtClean="0">
                <a:sym typeface="Huawei Sans" panose="020C0503030203020204" pitchFamily="34" charset="0"/>
              </a:rPr>
              <a:t>ERE</a:t>
            </a:r>
            <a:r>
              <a:rPr lang="zh-CN" altLang="en-US" sz="1800" dirty="0" smtClean="0">
                <a:sym typeface="Huawei Sans" panose="020C0503030203020204" pitchFamily="34" charset="0"/>
              </a:rPr>
              <a:t>（</a:t>
            </a:r>
            <a:r>
              <a:rPr lang="en-US" altLang="zh-CN" sz="1800" dirty="0" smtClean="0">
                <a:sym typeface="Huawei Sans" panose="020C0503030203020204" pitchFamily="34" charset="0"/>
              </a:rPr>
              <a:t>Embedded Running Environment</a:t>
            </a:r>
            <a:r>
              <a:rPr lang="zh-CN" altLang="en-US" sz="1800" dirty="0" smtClean="0">
                <a:sym typeface="Huawei Sans" panose="020C0503030203020204" pitchFamily="34" charset="0"/>
              </a:rPr>
              <a:t>，内嵌运行环境）中调用。网络设备系统中集成了</a:t>
            </a:r>
            <a:r>
              <a:rPr lang="en-US" altLang="zh-CN" sz="1800" dirty="0" smtClean="0">
                <a:sym typeface="Huawei Sans" panose="020C0503030203020204" pitchFamily="34" charset="0"/>
              </a:rPr>
              <a:t>Python</a:t>
            </a:r>
            <a:r>
              <a:rPr lang="zh-CN" altLang="en-US" sz="1800" dirty="0" smtClean="0">
                <a:sym typeface="Huawei Sans" panose="020C0503030203020204" pitchFamily="34" charset="0"/>
              </a:rPr>
              <a:t>语言运行环境，用户根据</a:t>
            </a:r>
            <a:r>
              <a:rPr lang="en-US" altLang="zh-CN" sz="1800" dirty="0" smtClean="0">
                <a:sym typeface="Huawei Sans" panose="020C0503030203020204" pitchFamily="34" charset="0"/>
              </a:rPr>
              <a:t>OPS API</a:t>
            </a:r>
            <a:r>
              <a:rPr lang="zh-CN" altLang="en-US" sz="1800" dirty="0" smtClean="0">
                <a:sym typeface="Huawei Sans" panose="020C0503030203020204" pitchFamily="34" charset="0"/>
              </a:rPr>
              <a:t>编写</a:t>
            </a:r>
            <a:r>
              <a:rPr lang="en-US" altLang="zh-CN" sz="1800" dirty="0" smtClean="0">
                <a:sym typeface="Huawei Sans" panose="020C0503030203020204" pitchFamily="34" charset="0"/>
              </a:rPr>
              <a:t>Python</a:t>
            </a:r>
            <a:r>
              <a:rPr lang="zh-CN" altLang="en-US" sz="1800" dirty="0" smtClean="0">
                <a:sym typeface="Huawei Sans" panose="020C0503030203020204" pitchFamily="34" charset="0"/>
              </a:rPr>
              <a:t>脚本，并将其安装到设备系统中，</a:t>
            </a:r>
            <a:r>
              <a:rPr lang="en-US" altLang="zh-CN" sz="1800" dirty="0" smtClean="0">
                <a:sym typeface="Huawei Sans" panose="020C0503030203020204" pitchFamily="34" charset="0"/>
              </a:rPr>
              <a:t>Python</a:t>
            </a:r>
            <a:r>
              <a:rPr lang="zh-CN" altLang="en-US" sz="1800" dirty="0" smtClean="0">
                <a:sym typeface="Huawei Sans" panose="020C0503030203020204" pitchFamily="34" charset="0"/>
              </a:rPr>
              <a:t>脚本运行时，通过向系统发送</a:t>
            </a:r>
            <a:r>
              <a:rPr lang="en-US" altLang="zh-CN" sz="1800" dirty="0" smtClean="0">
                <a:sym typeface="Huawei Sans" panose="020C0503030203020204" pitchFamily="34" charset="0"/>
              </a:rPr>
              <a:t>HTTP</a:t>
            </a:r>
            <a:r>
              <a:rPr lang="zh-CN" altLang="en-US" sz="1800" dirty="0" smtClean="0">
                <a:sym typeface="Huawei Sans" panose="020C0503030203020204" pitchFamily="34" charset="0"/>
              </a:rPr>
              <a:t>请求，来实现对设备的管理。</a:t>
            </a:r>
            <a:endParaRPr lang="zh-CN" altLang="en-US" sz="1800" dirty="0">
              <a:sym typeface="Huawei Sans" panose="020C0503030203020204" pitchFamily="34" charset="0"/>
            </a:endParaRPr>
          </a:p>
        </p:txBody>
      </p:sp>
      <p:grpSp>
        <p:nvGrpSpPr>
          <p:cNvPr id="9" name="组合 8"/>
          <p:cNvGrpSpPr/>
          <p:nvPr/>
        </p:nvGrpSpPr>
        <p:grpSpPr bwMode="gray">
          <a:xfrm>
            <a:off x="1160840" y="3414532"/>
            <a:ext cx="2754776" cy="2594458"/>
            <a:chOff x="1458409" y="3472407"/>
            <a:chExt cx="2754776" cy="2594458"/>
          </a:xfrm>
          <a:solidFill>
            <a:srgbClr val="56C4D2"/>
          </a:solidFill>
        </p:grpSpPr>
        <p:sp>
          <p:nvSpPr>
            <p:cNvPr id="5" name="圆角矩形 4"/>
            <p:cNvSpPr/>
            <p:nvPr/>
          </p:nvSpPr>
          <p:spPr bwMode="gray">
            <a:xfrm>
              <a:off x="1458410" y="3472407"/>
              <a:ext cx="2754775" cy="51015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编写并上传</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a:t>
              </a:r>
            </a:p>
          </p:txBody>
        </p:sp>
        <p:sp>
          <p:nvSpPr>
            <p:cNvPr id="11" name="圆角矩形 10"/>
            <p:cNvSpPr/>
            <p:nvPr/>
          </p:nvSpPr>
          <p:spPr bwMode="gray">
            <a:xfrm>
              <a:off x="1458409" y="4514561"/>
              <a:ext cx="2754775" cy="51015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安装</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a:t>
              </a:r>
            </a:p>
          </p:txBody>
        </p:sp>
        <p:sp>
          <p:nvSpPr>
            <p:cNvPr id="13" name="圆角矩形 12"/>
            <p:cNvSpPr/>
            <p:nvPr/>
          </p:nvSpPr>
          <p:spPr bwMode="gray">
            <a:xfrm>
              <a:off x="1458410" y="5556714"/>
              <a:ext cx="2754775" cy="51015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运行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a:t>
              </a:r>
            </a:p>
          </p:txBody>
        </p:sp>
        <p:cxnSp>
          <p:nvCxnSpPr>
            <p:cNvPr id="7" name="直接箭头连接符 6"/>
            <p:cNvCxnSpPr>
              <a:stCxn id="5" idx="2"/>
              <a:endCxn id="11" idx="0"/>
            </p:cNvCxnSpPr>
            <p:nvPr/>
          </p:nvCxnSpPr>
          <p:spPr bwMode="gray">
            <a:xfrm flipH="1">
              <a:off x="2835797" y="3982558"/>
              <a:ext cx="1" cy="532003"/>
            </a:xfrm>
            <a:prstGeom prst="straightConnector1">
              <a:avLst/>
            </a:prstGeom>
            <a:grpFill/>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bwMode="gray">
            <a:xfrm flipH="1">
              <a:off x="2835795" y="5024711"/>
              <a:ext cx="1" cy="532003"/>
            </a:xfrm>
            <a:prstGeom prst="straightConnector1">
              <a:avLst/>
            </a:prstGeom>
            <a:grpFill/>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grpSp>
      <p:sp>
        <p:nvSpPr>
          <p:cNvPr id="8" name="文本框 7"/>
          <p:cNvSpPr txBox="1"/>
          <p:nvPr/>
        </p:nvSpPr>
        <p:spPr bwMode="gray">
          <a:xfrm>
            <a:off x="446088" y="2748421"/>
            <a:ext cx="3743454" cy="400110"/>
          </a:xfrm>
          <a:prstGeom prst="rect">
            <a:avLst/>
          </a:prstGeom>
          <a:noFill/>
        </p:spPr>
        <p:txBody>
          <a:bodyPr wrap="square" rtlCol="0">
            <a:spAutoFit/>
          </a:bodyPr>
          <a:lstStyle/>
          <a:p>
            <a:pPr marL="342900" indent="-342900">
              <a:buFont typeface="Arial" panose="020B0604020202020204" pitchFamily="34" charset="0"/>
              <a:buChar char="•"/>
            </a:pP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脚本运行流程示意图</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7" name="线形标注 1(带边框和强调线) 16"/>
          <p:cNvSpPr/>
          <p:nvPr/>
        </p:nvSpPr>
        <p:spPr bwMode="gray">
          <a:xfrm>
            <a:off x="5879937" y="5312779"/>
            <a:ext cx="5278057" cy="730070"/>
          </a:xfrm>
          <a:prstGeom prst="accentBorderCallout1">
            <a:avLst>
              <a:gd name="adj1" fmla="val 39360"/>
              <a:gd name="adj2" fmla="val -8552"/>
              <a:gd name="adj3" fmla="val 63351"/>
              <a:gd name="adj4" fmla="val -35263"/>
            </a:avLst>
          </a:prstGeom>
          <a:solidFill>
            <a:srgbClr val="56C4D2"/>
          </a:solid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spcBef>
                <a:spcPts val="600"/>
              </a:spcBef>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用户可以通过命令行手动来运行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脚本，也可以通过配置维护助手来运行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a:t>
            </a:r>
          </a:p>
        </p:txBody>
      </p:sp>
      <p:sp>
        <p:nvSpPr>
          <p:cNvPr id="22" name="线形标注 1(带边框和强调线) 21"/>
          <p:cNvSpPr/>
          <p:nvPr/>
        </p:nvSpPr>
        <p:spPr bwMode="gray">
          <a:xfrm>
            <a:off x="5879938" y="4363656"/>
            <a:ext cx="5278056" cy="450000"/>
          </a:xfrm>
          <a:prstGeom prst="accentBorderCallout1">
            <a:avLst>
              <a:gd name="adj1" fmla="val 45702"/>
              <a:gd name="adj2" fmla="val -8332"/>
              <a:gd name="adj3" fmla="val 73635"/>
              <a:gd name="adj4" fmla="val -35264"/>
            </a:avLst>
          </a:prstGeom>
          <a:solidFill>
            <a:srgbClr val="56C4D2"/>
          </a:solid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spcBef>
                <a:spcPts val="600"/>
              </a:spcBef>
            </a:pP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脚本必须安装后才能在设备上运行。</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线形标注 1(带边框和强调线) 24"/>
          <p:cNvSpPr/>
          <p:nvPr/>
        </p:nvSpPr>
        <p:spPr bwMode="gray">
          <a:xfrm>
            <a:off x="5879937" y="3414531"/>
            <a:ext cx="3530280" cy="450000"/>
          </a:xfrm>
          <a:prstGeom prst="accentBorderCallout1">
            <a:avLst>
              <a:gd name="adj1" fmla="val 50918"/>
              <a:gd name="adj2" fmla="val -12377"/>
              <a:gd name="adj3" fmla="val 66630"/>
              <a:gd name="adj4" fmla="val -52533"/>
            </a:avLst>
          </a:prstGeom>
          <a:solidFill>
            <a:srgbClr val="56C4D2"/>
          </a:solid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spcBef>
                <a:spcPts val="600"/>
              </a:spcBef>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上传</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脚本到网络设备。</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787880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概述</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原理</a:t>
            </a:r>
            <a:endParaRPr lang="en-US" altLang="zh-CN" dirty="0" smtClean="0">
              <a:solidFill>
                <a:schemeClr val="bg1">
                  <a:lumMod val="50000"/>
                </a:schemeClr>
              </a:solidFill>
              <a:sym typeface="Huawei Sans" panose="020C0503030203020204" pitchFamily="34" charset="0"/>
            </a:endParaRPr>
          </a:p>
          <a:p>
            <a:r>
              <a:rPr lang="en-US" altLang="zh-CN" b="1" dirty="0" smtClean="0">
                <a:sym typeface="Huawei Sans" panose="020C0503030203020204" pitchFamily="34" charset="0"/>
              </a:rPr>
              <a:t>OPS</a:t>
            </a:r>
            <a:r>
              <a:rPr lang="zh-CN" altLang="en-US" b="1" dirty="0" smtClean="0">
                <a:sym typeface="Huawei Sans" panose="020C0503030203020204" pitchFamily="34" charset="0"/>
              </a:rPr>
              <a:t>应用场景</a:t>
            </a:r>
            <a:endParaRPr lang="en-US" altLang="zh-CN" b="1" dirty="0" smtClean="0">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配置实践</a:t>
            </a:r>
            <a:endParaRPr lang="en-US" altLang="zh-CN" dirty="0" smtClean="0">
              <a:solidFill>
                <a:schemeClr val="bg1">
                  <a:lumMod val="50000"/>
                </a:schemeClr>
              </a:solidFill>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1578024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场景</a:t>
            </a:r>
            <a:r>
              <a:rPr lang="en-US" altLang="zh-CN" smtClean="0">
                <a:sym typeface="Huawei Sans" panose="020C0503030203020204" pitchFamily="34" charset="0"/>
              </a:rPr>
              <a:t>1</a:t>
            </a:r>
            <a:r>
              <a:rPr lang="zh-CN" altLang="en-US" smtClean="0">
                <a:sym typeface="Huawei Sans" panose="020C0503030203020204" pitchFamily="34" charset="0"/>
              </a:rPr>
              <a:t>：实现空配置设备自动部署</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800" smtClean="0">
                <a:sym typeface="Huawei Sans" panose="020C0503030203020204" pitchFamily="34" charset="0"/>
              </a:rPr>
              <a:t>使用</a:t>
            </a:r>
            <a:r>
              <a:rPr lang="en-US" altLang="zh-CN" sz="1800" smtClean="0">
                <a:sym typeface="Huawei Sans" panose="020C0503030203020204" pitchFamily="34" charset="0"/>
              </a:rPr>
              <a:t>OPS</a:t>
            </a:r>
            <a:r>
              <a:rPr lang="zh-CN" altLang="en-US" sz="1800" smtClean="0">
                <a:sym typeface="Huawei Sans" panose="020C0503030203020204" pitchFamily="34" charset="0"/>
              </a:rPr>
              <a:t>可以实现空配置设备自动部署，不需要管理员到安装现场，降低了人力成本，提升了部署效率。</a:t>
            </a:r>
            <a:endParaRPr lang="zh-CN" altLang="en-US" sz="1800" dirty="0">
              <a:sym typeface="Huawei Sans" panose="020C0503030203020204" pitchFamily="34" charset="0"/>
            </a:endParaRPr>
          </a:p>
        </p:txBody>
      </p:sp>
      <p:grpSp>
        <p:nvGrpSpPr>
          <p:cNvPr id="1039" name="组合 1038"/>
          <p:cNvGrpSpPr/>
          <p:nvPr/>
        </p:nvGrpSpPr>
        <p:grpSpPr bwMode="gray">
          <a:xfrm>
            <a:off x="1238695" y="2055743"/>
            <a:ext cx="9556573" cy="3406783"/>
            <a:chOff x="1677717" y="2152892"/>
            <a:chExt cx="9556573" cy="3406783"/>
          </a:xfrm>
        </p:grpSpPr>
        <p:pic>
          <p:nvPicPr>
            <p:cNvPr id="28" name="图片 2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951041" y="3391382"/>
              <a:ext cx="868101" cy="767756"/>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097701" y="3448909"/>
              <a:ext cx="763929" cy="767756"/>
            </a:xfrm>
            <a:prstGeom prst="rect">
              <a:avLst/>
            </a:prstGeom>
          </p:spPr>
        </p:pic>
        <p:pic>
          <p:nvPicPr>
            <p:cNvPr id="30" name="图片 2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097701" y="4791919"/>
              <a:ext cx="763929" cy="767756"/>
            </a:xfrm>
            <a:prstGeom prst="rect">
              <a:avLst/>
            </a:prstGeom>
          </p:spPr>
        </p:pic>
        <p:pic>
          <p:nvPicPr>
            <p:cNvPr id="31" name="图片 3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9097701" y="2152892"/>
              <a:ext cx="763928" cy="709882"/>
            </a:xfrm>
            <a:prstGeom prst="rect">
              <a:avLst/>
            </a:prstGeom>
          </p:spPr>
        </p:pic>
        <p:sp>
          <p:nvSpPr>
            <p:cNvPr id="33" name="Freeform 159"/>
            <p:cNvSpPr/>
            <p:nvPr/>
          </p:nvSpPr>
          <p:spPr bwMode="gray">
            <a:xfrm flipH="1">
              <a:off x="4938237" y="3243497"/>
              <a:ext cx="1419534" cy="86292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2" name="图片 31"/>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4603214" y="3391382"/>
              <a:ext cx="810228" cy="767756"/>
            </a:xfrm>
            <a:prstGeom prst="rect">
              <a:avLst/>
            </a:prstGeom>
          </p:spPr>
        </p:pic>
        <p:cxnSp>
          <p:nvCxnSpPr>
            <p:cNvPr id="34" name="直接连接符 33"/>
            <p:cNvCxnSpPr>
              <a:stCxn id="33" idx="5"/>
              <a:endCxn id="31" idx="1"/>
            </p:cNvCxnSpPr>
            <p:nvPr/>
          </p:nvCxnSpPr>
          <p:spPr bwMode="gray">
            <a:xfrm flipV="1">
              <a:off x="6188768" y="2507833"/>
              <a:ext cx="2908933" cy="1050171"/>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3" idx="8"/>
              <a:endCxn id="29" idx="1"/>
            </p:cNvCxnSpPr>
            <p:nvPr/>
          </p:nvCxnSpPr>
          <p:spPr bwMode="gray">
            <a:xfrm>
              <a:off x="6357771" y="3832787"/>
              <a:ext cx="2739930"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3" idx="14"/>
              <a:endCxn id="30" idx="1"/>
            </p:cNvCxnSpPr>
            <p:nvPr/>
          </p:nvCxnSpPr>
          <p:spPr bwMode="gray">
            <a:xfrm>
              <a:off x="6124526" y="4106426"/>
              <a:ext cx="2973175" cy="1069371"/>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8" idx="3"/>
              <a:endCxn id="32" idx="1"/>
            </p:cNvCxnSpPr>
            <p:nvPr/>
          </p:nvCxnSpPr>
          <p:spPr bwMode="gray">
            <a:xfrm>
              <a:off x="2819142" y="3775260"/>
              <a:ext cx="1784072"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bwMode="gray">
            <a:xfrm>
              <a:off x="9948953" y="2215445"/>
              <a:ext cx="1030147" cy="584775"/>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DHCP</a:t>
              </a: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服务器</a:t>
              </a:r>
            </a:p>
          </p:txBody>
        </p:sp>
        <p:sp>
          <p:nvSpPr>
            <p:cNvPr id="49" name="文本框 48"/>
            <p:cNvSpPr txBox="1"/>
            <p:nvPr/>
          </p:nvSpPr>
          <p:spPr bwMode="gray">
            <a:xfrm>
              <a:off x="9936005" y="3547029"/>
              <a:ext cx="1131050" cy="584775"/>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脚本文件服务器</a:t>
              </a:r>
            </a:p>
          </p:txBody>
        </p:sp>
        <p:sp>
          <p:nvSpPr>
            <p:cNvPr id="50" name="文本框 49"/>
            <p:cNvSpPr txBox="1"/>
            <p:nvPr/>
          </p:nvSpPr>
          <p:spPr bwMode="gray">
            <a:xfrm>
              <a:off x="9819543" y="4885812"/>
              <a:ext cx="1414747" cy="584775"/>
            </a:xfrm>
            <a:prstGeom prst="rect">
              <a:avLst/>
            </a:prstGeom>
            <a:noFill/>
          </p:spPr>
          <p:txBody>
            <a:bodyPr wrap="square" rtlCol="0">
              <a:spAutoFit/>
            </a:bodyPr>
            <a:lstStyle/>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软件和配置</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文件服务器</a:t>
              </a:r>
            </a:p>
          </p:txBody>
        </p:sp>
        <p:sp>
          <p:nvSpPr>
            <p:cNvPr id="51" name="文本框 50"/>
            <p:cNvSpPr txBox="1"/>
            <p:nvPr/>
          </p:nvSpPr>
          <p:spPr bwMode="gray">
            <a:xfrm>
              <a:off x="4300954" y="4286977"/>
              <a:ext cx="1414747" cy="338554"/>
            </a:xfrm>
            <a:prstGeom prst="rect">
              <a:avLst/>
            </a:prstGeom>
            <a:noFill/>
          </p:spPr>
          <p:txBody>
            <a:bodyPr wrap="squar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中继</a:t>
              </a:r>
            </a:p>
          </p:txBody>
        </p:sp>
        <p:sp>
          <p:nvSpPr>
            <p:cNvPr id="52" name="文本框 51"/>
            <p:cNvSpPr txBox="1"/>
            <p:nvPr/>
          </p:nvSpPr>
          <p:spPr bwMode="gray">
            <a:xfrm>
              <a:off x="1677717" y="4286977"/>
              <a:ext cx="1414747" cy="338554"/>
            </a:xfrm>
            <a:prstGeom prst="rect">
              <a:avLst/>
            </a:prstGeom>
            <a:noFill/>
          </p:spPr>
          <p:txBody>
            <a:bodyPr wrap="squar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直接箭头连接符 52"/>
            <p:cNvCxnSpPr>
              <a:stCxn id="28" idx="0"/>
            </p:cNvCxnSpPr>
            <p:nvPr/>
          </p:nvCxnSpPr>
          <p:spPr bwMode="gray">
            <a:xfrm flipV="1">
              <a:off x="2385092" y="2862774"/>
              <a:ext cx="311809" cy="528608"/>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bwMode="gray">
            <a:xfrm>
              <a:off x="1940512" y="2521321"/>
              <a:ext cx="2718027"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下载并运行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脚本</a:t>
              </a:r>
            </a:p>
          </p:txBody>
        </p:sp>
        <p:cxnSp>
          <p:nvCxnSpPr>
            <p:cNvPr id="56" name="直接箭头连接符 55"/>
            <p:cNvCxnSpPr/>
            <p:nvPr/>
          </p:nvCxnSpPr>
          <p:spPr bwMode="gray">
            <a:xfrm flipH="1">
              <a:off x="3057739" y="3608880"/>
              <a:ext cx="1329065" cy="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连接符 69"/>
            <p:cNvCxnSpPr>
              <a:cxnSpLocks noChangeAspect="1"/>
            </p:cNvCxnSpPr>
            <p:nvPr/>
          </p:nvCxnSpPr>
          <p:spPr bwMode="gray">
            <a:xfrm flipV="1">
              <a:off x="6318018" y="2451895"/>
              <a:ext cx="2520000" cy="910693"/>
            </a:xfrm>
            <a:prstGeom prst="line">
              <a:avLst/>
            </a:prstGeom>
            <a:ln w="19050">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接连接符 70"/>
            <p:cNvCxnSpPr>
              <a:cxnSpLocks noChangeAspect="1"/>
            </p:cNvCxnSpPr>
            <p:nvPr/>
          </p:nvCxnSpPr>
          <p:spPr bwMode="gray">
            <a:xfrm>
              <a:off x="6385534" y="4374052"/>
              <a:ext cx="2520000" cy="906102"/>
            </a:xfrm>
            <a:prstGeom prst="line">
              <a:avLst/>
            </a:prstGeom>
            <a:ln w="19050">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bwMode="gray">
            <a:xfrm>
              <a:off x="6510171" y="3718968"/>
              <a:ext cx="2413910" cy="10380"/>
            </a:xfrm>
            <a:prstGeom prst="line">
              <a:avLst/>
            </a:prstGeom>
            <a:ln w="19050">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4" name="文本框 73"/>
            <p:cNvSpPr txBox="1"/>
            <p:nvPr/>
          </p:nvSpPr>
          <p:spPr bwMode="gray">
            <a:xfrm rot="20378739">
              <a:off x="5923693" y="2379731"/>
              <a:ext cx="2718027" cy="584775"/>
            </a:xfrm>
            <a:prstGeom prst="rect">
              <a:avLst/>
            </a:prstGeom>
            <a:noFill/>
          </p:spPr>
          <p:txBody>
            <a:bodyPr wrap="square" rtlCol="0">
              <a:spAutoFit/>
            </a:bodyPr>
            <a:lstStyle/>
            <a:p>
              <a:pPr marL="342900" indent="-342900" algn="ctr">
                <a:buFont typeface="+mj-ea"/>
                <a:buAutoNum type="circleNumDbPlain"/>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获取</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地址、脚本服务器名和脚本名</a:t>
              </a:r>
            </a:p>
          </p:txBody>
        </p:sp>
        <p:sp>
          <p:nvSpPr>
            <p:cNvPr id="75" name="文本框 74"/>
            <p:cNvSpPr txBox="1"/>
            <p:nvPr/>
          </p:nvSpPr>
          <p:spPr bwMode="gray">
            <a:xfrm>
              <a:off x="6368722" y="3365827"/>
              <a:ext cx="2718027" cy="338554"/>
            </a:xfrm>
            <a:prstGeom prst="rect">
              <a:avLst/>
            </a:prstGeom>
            <a:noFill/>
          </p:spPr>
          <p:txBody>
            <a:bodyPr wrap="square" rtlCol="0">
              <a:spAutoFit/>
            </a:bodyPr>
            <a:lstStyle/>
            <a:p>
              <a:pPr marL="342900" indent="-342900" algn="ctr">
                <a:buFont typeface="+mj-ea"/>
                <a:buAutoNum type="circleNumDbPlain" startAt="2"/>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下载</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脚本</a:t>
              </a:r>
            </a:p>
          </p:txBody>
        </p:sp>
        <p:sp>
          <p:nvSpPr>
            <p:cNvPr id="83" name="文本框 82"/>
            <p:cNvSpPr txBox="1"/>
            <p:nvPr/>
          </p:nvSpPr>
          <p:spPr bwMode="gray">
            <a:xfrm rot="1176972">
              <a:off x="5961870" y="4826169"/>
              <a:ext cx="3079794" cy="338554"/>
            </a:xfrm>
            <a:prstGeom prst="rect">
              <a:avLst/>
            </a:prstGeom>
            <a:noFill/>
          </p:spPr>
          <p:txBody>
            <a:bodyPr wrap="square" rtlCol="0">
              <a:spAutoFit/>
            </a:bodyPr>
            <a:lstStyle/>
            <a:p>
              <a:pPr marL="342900" indent="-342900" algn="ctr">
                <a:buFont typeface="+mj-ea"/>
                <a:buAutoNum type="circleNumDbPlain" startAt="3"/>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下载系统软件和配置文件</a:t>
              </a:r>
            </a:p>
          </p:txBody>
        </p:sp>
      </p:grpSp>
    </p:spTree>
    <p:extLst>
      <p:ext uri="{BB962C8B-B14F-4D97-AF65-F5344CB8AC3E}">
        <p14:creationId xmlns:p14="http://schemas.microsoft.com/office/powerpoint/2010/main" val="22011547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场景</a:t>
            </a:r>
            <a:r>
              <a:rPr lang="en-US" altLang="zh-CN" smtClean="0">
                <a:sym typeface="Huawei Sans" panose="020C0503030203020204" pitchFamily="34" charset="0"/>
              </a:rPr>
              <a:t>2</a:t>
            </a:r>
            <a:r>
              <a:rPr lang="zh-CN" altLang="en-US" smtClean="0">
                <a:sym typeface="Huawei Sans" panose="020C0503030203020204" pitchFamily="34" charset="0"/>
              </a:rPr>
              <a:t>：实现自动检查设备健康状态</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800" smtClean="0">
                <a:sym typeface="Huawei Sans" panose="020C0503030203020204" pitchFamily="34" charset="0"/>
              </a:rPr>
              <a:t>通常情况下，对设备的健康状态进行检查时，用户需要登录设备并执行多条命令行，以查看设备的硬件、业务运行状态。</a:t>
            </a:r>
            <a:endParaRPr lang="en-US" altLang="zh-CN" sz="1800" smtClean="0">
              <a:sym typeface="Huawei Sans" panose="020C0503030203020204" pitchFamily="34" charset="0"/>
            </a:endParaRPr>
          </a:p>
          <a:p>
            <a:r>
              <a:rPr lang="zh-CN" altLang="en-US" sz="1800" smtClean="0">
                <a:sym typeface="Huawei Sans" panose="020C0503030203020204" pitchFamily="34" charset="0"/>
              </a:rPr>
              <a:t>通过</a:t>
            </a:r>
            <a:r>
              <a:rPr lang="en-US" altLang="zh-CN" sz="1800" smtClean="0">
                <a:sym typeface="Huawei Sans" panose="020C0503030203020204" pitchFamily="34" charset="0"/>
              </a:rPr>
              <a:t>OPS</a:t>
            </a:r>
            <a:r>
              <a:rPr lang="zh-CN" altLang="en-US" sz="1800" smtClean="0">
                <a:sym typeface="Huawei Sans" panose="020C0503030203020204" pitchFamily="34" charset="0"/>
              </a:rPr>
              <a:t>功能，设备可以自动执行这些健康检查命令，定时收集执行结果并将其发送至服务器以供分析，减少维护工作量。因为这些命令是通过安装在网络设备系统中的</a:t>
            </a:r>
            <a:r>
              <a:rPr lang="en-US" altLang="zh-CN" sz="1800" smtClean="0">
                <a:sym typeface="Huawei Sans" panose="020C0503030203020204" pitchFamily="34" charset="0"/>
              </a:rPr>
              <a:t>Python</a:t>
            </a:r>
            <a:r>
              <a:rPr lang="zh-CN" altLang="en-US" sz="1800" smtClean="0">
                <a:sym typeface="Huawei Sans" panose="020C0503030203020204" pitchFamily="34" charset="0"/>
              </a:rPr>
              <a:t>脚本下发的，而不是用户通过网络远程下发的，因此也不需要担心网络不通的问题。</a:t>
            </a:r>
            <a:endParaRPr lang="en-US" altLang="zh-CN" sz="1800" dirty="0">
              <a:sym typeface="Huawei Sans" panose="020C0503030203020204" pitchFamily="34" charset="0"/>
            </a:endParaRPr>
          </a:p>
        </p:txBody>
      </p:sp>
      <p:grpSp>
        <p:nvGrpSpPr>
          <p:cNvPr id="14" name="组合 13"/>
          <p:cNvGrpSpPr/>
          <p:nvPr/>
        </p:nvGrpSpPr>
        <p:grpSpPr bwMode="gray">
          <a:xfrm>
            <a:off x="2136587" y="3716338"/>
            <a:ext cx="7747839" cy="1566838"/>
            <a:chOff x="1893518" y="4167339"/>
            <a:chExt cx="7747839" cy="1566838"/>
          </a:xfrm>
        </p:grpSpPr>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956827" y="4483231"/>
              <a:ext cx="868101" cy="767756"/>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762035" y="4483231"/>
              <a:ext cx="763929" cy="767756"/>
            </a:xfrm>
            <a:prstGeom prst="rect">
              <a:avLst/>
            </a:prstGeom>
          </p:spPr>
        </p:pic>
        <p:cxnSp>
          <p:nvCxnSpPr>
            <p:cNvPr id="9" name="直接连接符 8"/>
            <p:cNvCxnSpPr>
              <a:stCxn id="6" idx="3"/>
              <a:endCxn id="7" idx="1"/>
            </p:cNvCxnSpPr>
            <p:nvPr/>
          </p:nvCxnSpPr>
          <p:spPr bwMode="gray">
            <a:xfrm>
              <a:off x="2824928" y="4867109"/>
              <a:ext cx="5937107"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8" name="Freeform 159"/>
            <p:cNvSpPr/>
            <p:nvPr/>
          </p:nvSpPr>
          <p:spPr bwMode="gray">
            <a:xfrm flipH="1">
              <a:off x="5259715" y="4643155"/>
              <a:ext cx="1035329" cy="54760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3775521" y="4167339"/>
              <a:ext cx="4178461"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自动收集并发送设备健康信息</a:t>
              </a:r>
            </a:p>
          </p:txBody>
        </p:sp>
        <p:sp>
          <p:nvSpPr>
            <p:cNvPr id="13" name="文本框 12"/>
            <p:cNvSpPr txBox="1"/>
            <p:nvPr/>
          </p:nvSpPr>
          <p:spPr bwMode="gray">
            <a:xfrm>
              <a:off x="1893518" y="5395623"/>
              <a:ext cx="994717" cy="338554"/>
            </a:xfrm>
            <a:prstGeom prst="rect">
              <a:avLst/>
            </a:prstGeom>
            <a:noFill/>
          </p:spPr>
          <p:txBody>
            <a:bodyPr wrap="squar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8646640" y="5395623"/>
              <a:ext cx="994717" cy="338554"/>
            </a:xfrm>
            <a:prstGeom prst="rect">
              <a:avLst/>
            </a:prstGeom>
            <a:noFill/>
          </p:spPr>
          <p:txBody>
            <a:bodyPr wrap="squar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直接箭头连接符 10"/>
            <p:cNvCxnSpPr/>
            <p:nvPr/>
          </p:nvCxnSpPr>
          <p:spPr bwMode="gray">
            <a:xfrm>
              <a:off x="3213903" y="4560402"/>
              <a:ext cx="5278056" cy="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00296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场景</a:t>
            </a:r>
            <a:r>
              <a:rPr lang="en-US" altLang="zh-CN" smtClean="0">
                <a:sym typeface="Huawei Sans" panose="020C0503030203020204" pitchFamily="34" charset="0"/>
              </a:rPr>
              <a:t>3</a:t>
            </a:r>
            <a:r>
              <a:rPr lang="zh-CN" altLang="en-US" smtClean="0">
                <a:sym typeface="Huawei Sans" panose="020C0503030203020204" pitchFamily="34" charset="0"/>
              </a:rPr>
              <a:t>：实现自动备份配置文件</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800" smtClean="0">
                <a:sym typeface="Huawei Sans" panose="020C0503030203020204" pitchFamily="34" charset="0"/>
              </a:rPr>
              <a:t>网络设备通过维护助手订阅配置文件保存事件，当配置被保存后，设备自动运行</a:t>
            </a:r>
            <a:r>
              <a:rPr lang="en-US" altLang="zh-CN" sz="1800" smtClean="0">
                <a:sym typeface="Huawei Sans" panose="020C0503030203020204" pitchFamily="34" charset="0"/>
              </a:rPr>
              <a:t>Python</a:t>
            </a:r>
            <a:r>
              <a:rPr lang="zh-CN" altLang="en-US" sz="1800" smtClean="0">
                <a:sym typeface="Huawei Sans" panose="020C0503030203020204" pitchFamily="34" charset="0"/>
              </a:rPr>
              <a:t>脚本，将配置文件发送至服务器进行备份，以减少手工备份的工作量。</a:t>
            </a:r>
            <a:endParaRPr lang="en-US" altLang="zh-CN" sz="1800" dirty="0">
              <a:sym typeface="Huawei Sans" panose="020C0503030203020204" pitchFamily="34" charset="0"/>
            </a:endParaRPr>
          </a:p>
        </p:txBody>
      </p:sp>
      <p:grpSp>
        <p:nvGrpSpPr>
          <p:cNvPr id="14" name="组合 13"/>
          <p:cNvGrpSpPr/>
          <p:nvPr/>
        </p:nvGrpSpPr>
        <p:grpSpPr bwMode="gray">
          <a:xfrm>
            <a:off x="2233901" y="2733000"/>
            <a:ext cx="7747839" cy="1566838"/>
            <a:chOff x="1893518" y="4167339"/>
            <a:chExt cx="7747839" cy="1566838"/>
          </a:xfrm>
        </p:grpSpPr>
        <p:pic>
          <p:nvPicPr>
            <p:cNvPr id="15" name="图片 1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956827" y="4483231"/>
              <a:ext cx="868101" cy="767756"/>
            </a:xfrm>
            <a:prstGeom prst="rect">
              <a:avLst/>
            </a:prstGeom>
          </p:spPr>
        </p:pic>
        <p:pic>
          <p:nvPicPr>
            <p:cNvPr id="16" name="图片 15"/>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762035" y="4483231"/>
              <a:ext cx="763929" cy="767756"/>
            </a:xfrm>
            <a:prstGeom prst="rect">
              <a:avLst/>
            </a:prstGeom>
          </p:spPr>
        </p:pic>
        <p:cxnSp>
          <p:nvCxnSpPr>
            <p:cNvPr id="17" name="直接连接符 16"/>
            <p:cNvCxnSpPr>
              <a:stCxn id="15" idx="3"/>
              <a:endCxn id="16" idx="1"/>
            </p:cNvCxnSpPr>
            <p:nvPr/>
          </p:nvCxnSpPr>
          <p:spPr bwMode="gray">
            <a:xfrm>
              <a:off x="2824928" y="4867109"/>
              <a:ext cx="5937107"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18" name="Freeform 159"/>
            <p:cNvSpPr/>
            <p:nvPr/>
          </p:nvSpPr>
          <p:spPr bwMode="gray">
            <a:xfrm flipH="1">
              <a:off x="5259715" y="4643155"/>
              <a:ext cx="1035329" cy="54760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905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3775521" y="4167339"/>
              <a:ext cx="4178461" cy="338554"/>
            </a:xfrm>
            <a:prstGeom prst="rect">
              <a:avLst/>
            </a:prstGeom>
            <a:noFill/>
          </p:spPr>
          <p:txBody>
            <a:bodyPr wrap="squar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自动备份配置文件至服务器</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1893518" y="5395623"/>
              <a:ext cx="994717" cy="338554"/>
            </a:xfrm>
            <a:prstGeom prst="rect">
              <a:avLst/>
            </a:prstGeom>
            <a:noFill/>
          </p:spPr>
          <p:txBody>
            <a:bodyPr wrap="squar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8646640" y="5395623"/>
              <a:ext cx="994717" cy="338554"/>
            </a:xfrm>
            <a:prstGeom prst="rect">
              <a:avLst/>
            </a:prstGeom>
            <a:noFill/>
          </p:spPr>
          <p:txBody>
            <a:bodyPr wrap="square" rtlCol="0">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 name="直接箭头连接符 21"/>
            <p:cNvCxnSpPr/>
            <p:nvPr/>
          </p:nvCxnSpPr>
          <p:spPr bwMode="gray">
            <a:xfrm>
              <a:off x="3213903" y="4560402"/>
              <a:ext cx="5278056" cy="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249056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概述</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原理</a:t>
            </a:r>
            <a:endParaRPr lang="en-US" altLang="zh-CN" dirty="0" smtClean="0">
              <a:solidFill>
                <a:schemeClr val="bg1">
                  <a:lumMod val="50000"/>
                </a:schemeClr>
              </a:solidFill>
              <a:sym typeface="Huawei Sans" panose="020C0503030203020204" pitchFamily="34" charset="0"/>
            </a:endParaRPr>
          </a:p>
          <a:p>
            <a:r>
              <a:rPr lang="en-US" altLang="zh-CN" dirty="0" smtClean="0">
                <a:solidFill>
                  <a:schemeClr val="bg1">
                    <a:lumMod val="50000"/>
                  </a:schemeClr>
                </a:solidFill>
                <a:sym typeface="Huawei Sans" panose="020C0503030203020204" pitchFamily="34" charset="0"/>
              </a:rPr>
              <a:t>OPS</a:t>
            </a:r>
            <a:r>
              <a:rPr lang="zh-CN" altLang="en-US" dirty="0" smtClean="0">
                <a:solidFill>
                  <a:schemeClr val="bg1">
                    <a:lumMod val="50000"/>
                  </a:schemeClr>
                </a:solidFill>
                <a:sym typeface="Huawei Sans" panose="020C0503030203020204" pitchFamily="34" charset="0"/>
              </a:rPr>
              <a:t>应用场景</a:t>
            </a:r>
            <a:endParaRPr lang="en-US" altLang="zh-CN" dirty="0" smtClean="0">
              <a:solidFill>
                <a:schemeClr val="bg1">
                  <a:lumMod val="50000"/>
                </a:schemeClr>
              </a:solidFill>
              <a:sym typeface="Huawei Sans" panose="020C0503030203020204" pitchFamily="34" charset="0"/>
            </a:endParaRPr>
          </a:p>
          <a:p>
            <a:r>
              <a:rPr lang="en-US" altLang="zh-CN" b="1" dirty="0" smtClean="0">
                <a:sym typeface="Huawei Sans" panose="020C0503030203020204" pitchFamily="34" charset="0"/>
              </a:rPr>
              <a:t>OPS</a:t>
            </a:r>
            <a:r>
              <a:rPr lang="zh-CN" altLang="en-US" b="1" dirty="0" smtClean="0">
                <a:sym typeface="Huawei Sans" panose="020C0503030203020204" pitchFamily="34" charset="0"/>
              </a:rPr>
              <a:t>配置实践</a:t>
            </a:r>
            <a:endParaRPr lang="en-US" altLang="zh-CN" b="1" dirty="0" smtClean="0">
              <a:sym typeface="Huawei Sans" panose="020C0503030203020204" pitchFamily="34" charset="0"/>
            </a:endParaRP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24483320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左大括号 42"/>
          <p:cNvSpPr/>
          <p:nvPr/>
        </p:nvSpPr>
        <p:spPr bwMode="gray">
          <a:xfrm>
            <a:off x="7422309" y="4436502"/>
            <a:ext cx="786356" cy="850790"/>
          </a:xfrm>
          <a:prstGeom prst="leftBrace">
            <a:avLst>
              <a:gd name="adj1" fmla="val 6337"/>
              <a:gd name="adj2" fmla="val 49370"/>
            </a:avLst>
          </a:prstGeom>
          <a:solidFill>
            <a:srgbClr val="FFFFFF"/>
          </a:solidFill>
          <a:ln w="76200">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左大括号 26"/>
          <p:cNvSpPr/>
          <p:nvPr/>
        </p:nvSpPr>
        <p:spPr bwMode="gray">
          <a:xfrm>
            <a:off x="3418917" y="4838405"/>
            <a:ext cx="1109483" cy="850790"/>
          </a:xfrm>
          <a:prstGeom prst="leftBrace">
            <a:avLst>
              <a:gd name="adj1" fmla="val 6337"/>
              <a:gd name="adj2" fmla="val 49370"/>
            </a:avLst>
          </a:prstGeom>
          <a:ln w="76200">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配置思路</a:t>
            </a:r>
            <a:endParaRPr lang="zh-CN" altLang="en-US" dirty="0">
              <a:sym typeface="Huawei Sans" panose="020C0503030203020204" pitchFamily="34" charset="0"/>
            </a:endParaRPr>
          </a:p>
        </p:txBody>
      </p:sp>
      <p:sp>
        <p:nvSpPr>
          <p:cNvPr id="7" name="文本占位符 6"/>
          <p:cNvSpPr>
            <a:spLocks noGrp="1"/>
          </p:cNvSpPr>
          <p:nvPr>
            <p:ph type="body" sz="quarter" idx="10"/>
          </p:nvPr>
        </p:nvSpPr>
        <p:spPr bwMode="gray"/>
        <p:txBody>
          <a:bodyPr/>
          <a:lstStyle/>
          <a:p>
            <a:r>
              <a:rPr lang="en-US" altLang="zh-CN" sz="1800" dirty="0" smtClean="0">
                <a:sym typeface="Huawei Sans" panose="020C0503030203020204" pitchFamily="34" charset="0"/>
              </a:rPr>
              <a:t>OPS</a:t>
            </a:r>
            <a:r>
              <a:rPr lang="zh-CN" altLang="en-US" sz="1800" dirty="0" smtClean="0">
                <a:sym typeface="Huawei Sans" panose="020C0503030203020204" pitchFamily="34" charset="0"/>
              </a:rPr>
              <a:t>的配置思路如下。其中最重要的是编写</a:t>
            </a:r>
            <a:r>
              <a:rPr lang="en-US" altLang="zh-CN" sz="1800" dirty="0" smtClean="0">
                <a:sym typeface="Huawei Sans" panose="020C0503030203020204" pitchFamily="34" charset="0"/>
              </a:rPr>
              <a:t>Python</a:t>
            </a:r>
            <a:r>
              <a:rPr lang="zh-CN" altLang="en-US" sz="1800" dirty="0" smtClean="0">
                <a:sym typeface="Huawei Sans" panose="020C0503030203020204" pitchFamily="34" charset="0"/>
              </a:rPr>
              <a:t>脚本，后面会详细介绍。之后的三个步骤较简单，操作方式和所涉及命令已在下图标注，不再详细展开。</a:t>
            </a:r>
          </a:p>
          <a:p>
            <a:endParaRPr lang="zh-CN" altLang="en-US" sz="1800" dirty="0">
              <a:sym typeface="Huawei Sans" panose="020C0503030203020204" pitchFamily="34" charset="0"/>
            </a:endParaRPr>
          </a:p>
        </p:txBody>
      </p:sp>
      <p:sp>
        <p:nvSpPr>
          <p:cNvPr id="17" name="圆角矩形 16"/>
          <p:cNvSpPr/>
          <p:nvPr/>
        </p:nvSpPr>
        <p:spPr bwMode="gray">
          <a:xfrm>
            <a:off x="883048" y="3006392"/>
            <a:ext cx="2754775" cy="510151"/>
          </a:xfrm>
          <a:prstGeom prst="roundRect">
            <a:avLst/>
          </a:prstGeom>
          <a:solidFill>
            <a:srgbClr val="56C4D2"/>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上传</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a:t>
            </a:r>
          </a:p>
        </p:txBody>
      </p:sp>
      <p:sp>
        <p:nvSpPr>
          <p:cNvPr id="18" name="圆角矩形 17"/>
          <p:cNvSpPr/>
          <p:nvPr/>
        </p:nvSpPr>
        <p:spPr bwMode="gray">
          <a:xfrm>
            <a:off x="883047" y="4014521"/>
            <a:ext cx="2754775" cy="510151"/>
          </a:xfrm>
          <a:prstGeom prst="round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安装</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a:t>
            </a:r>
          </a:p>
        </p:txBody>
      </p:sp>
      <p:sp>
        <p:nvSpPr>
          <p:cNvPr id="19" name="圆角矩形 18"/>
          <p:cNvSpPr/>
          <p:nvPr/>
        </p:nvSpPr>
        <p:spPr bwMode="gray">
          <a:xfrm>
            <a:off x="883048" y="5022649"/>
            <a:ext cx="2754775" cy="510151"/>
          </a:xfrm>
          <a:prstGeom prst="round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运行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a:t>
            </a:r>
          </a:p>
        </p:txBody>
      </p:sp>
      <p:cxnSp>
        <p:nvCxnSpPr>
          <p:cNvPr id="20" name="直接箭头连接符 19"/>
          <p:cNvCxnSpPr>
            <a:stCxn id="17" idx="2"/>
            <a:endCxn id="18" idx="0"/>
          </p:cNvCxnSpPr>
          <p:nvPr/>
        </p:nvCxnSpPr>
        <p:spPr bwMode="gray">
          <a:xfrm flipH="1">
            <a:off x="2260435" y="3516543"/>
            <a:ext cx="1" cy="497978"/>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bwMode="gray">
          <a:xfrm flipH="1">
            <a:off x="2260433" y="4490646"/>
            <a:ext cx="1" cy="532003"/>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23" name="圆角矩形 22"/>
          <p:cNvSpPr/>
          <p:nvPr/>
        </p:nvSpPr>
        <p:spPr bwMode="gray">
          <a:xfrm>
            <a:off x="883048" y="1998263"/>
            <a:ext cx="2754775" cy="510151"/>
          </a:xfrm>
          <a:prstGeom prst="round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编写</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a:t>
            </a:r>
          </a:p>
        </p:txBody>
      </p:sp>
      <p:cxnSp>
        <p:nvCxnSpPr>
          <p:cNvPr id="24" name="直接箭头连接符 23"/>
          <p:cNvCxnSpPr>
            <a:stCxn id="23" idx="2"/>
            <a:endCxn id="17" idx="0"/>
          </p:cNvCxnSpPr>
          <p:nvPr/>
        </p:nvCxnSpPr>
        <p:spPr bwMode="gray">
          <a:xfrm>
            <a:off x="2260436" y="2508414"/>
            <a:ext cx="0" cy="497978"/>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bwMode="gray">
          <a:xfrm>
            <a:off x="4762780" y="4664995"/>
            <a:ext cx="2766591" cy="393804"/>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维护助手运行</a:t>
            </a:r>
          </a:p>
        </p:txBody>
      </p:sp>
      <p:sp>
        <p:nvSpPr>
          <p:cNvPr id="30" name="矩形 29"/>
          <p:cNvSpPr/>
          <p:nvPr/>
        </p:nvSpPr>
        <p:spPr bwMode="gray">
          <a:xfrm>
            <a:off x="4762780" y="5319371"/>
            <a:ext cx="2772337" cy="397675"/>
          </a:xfrm>
          <a:prstGeom prst="rect">
            <a:avLst/>
          </a:prstGeom>
          <a:solidFill>
            <a:srgbClr val="56C4D2"/>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命令行手动运行</a:t>
            </a:r>
          </a:p>
        </p:txBody>
      </p:sp>
      <p:sp>
        <p:nvSpPr>
          <p:cNvPr id="33" name="矩形 32"/>
          <p:cNvSpPr/>
          <p:nvPr/>
        </p:nvSpPr>
        <p:spPr bwMode="gray">
          <a:xfrm>
            <a:off x="8422162" y="4248208"/>
            <a:ext cx="2446032" cy="393912"/>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命令行维护助手运行</a:t>
            </a:r>
          </a:p>
        </p:txBody>
      </p:sp>
      <p:sp>
        <p:nvSpPr>
          <p:cNvPr id="35" name="矩形 34"/>
          <p:cNvSpPr/>
          <p:nvPr/>
        </p:nvSpPr>
        <p:spPr bwMode="gray">
          <a:xfrm>
            <a:off x="8422162" y="5008370"/>
            <a:ext cx="2442500" cy="404518"/>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脚本维护助手运行</a:t>
            </a:r>
          </a:p>
        </p:txBody>
      </p:sp>
      <p:sp>
        <p:nvSpPr>
          <p:cNvPr id="29" name="文本框 28"/>
          <p:cNvSpPr txBox="1"/>
          <p:nvPr/>
        </p:nvSpPr>
        <p:spPr bwMode="gray">
          <a:xfrm>
            <a:off x="4715616" y="5734382"/>
            <a:ext cx="2945958" cy="369332"/>
          </a:xfrm>
          <a:prstGeom prst="rect">
            <a:avLst/>
          </a:prstGeom>
          <a:noFill/>
        </p:spPr>
        <p:txBody>
          <a:bodyPr wrap="square" rtlCol="0">
            <a:sp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ops run python </a:t>
            </a:r>
            <a:r>
              <a:rPr lang="en-US" altLang="zh-CN" i="1" dirty="0">
                <a:latin typeface="Huawei Sans" panose="020C0503030203020204" pitchFamily="34" charset="0"/>
                <a:ea typeface="方正兰亭黑简体" panose="02000000000000000000" pitchFamily="2" charset="-122"/>
                <a:sym typeface="Huawei Sans" panose="020C0503030203020204" pitchFamily="34" charset="0"/>
              </a:rPr>
              <a:t>file-name</a:t>
            </a:r>
            <a:endParaRPr lang="zh-CN" altLang="en-US" i="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p:cNvSpPr/>
          <p:nvPr/>
        </p:nvSpPr>
        <p:spPr bwMode="gray">
          <a:xfrm>
            <a:off x="4762781" y="5717046"/>
            <a:ext cx="2772336" cy="386668"/>
          </a:xfrm>
          <a:prstGeom prst="rect">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1" name="组合 50"/>
          <p:cNvGrpSpPr/>
          <p:nvPr/>
        </p:nvGrpSpPr>
        <p:grpSpPr bwMode="gray">
          <a:xfrm>
            <a:off x="3637825" y="4063542"/>
            <a:ext cx="3903444" cy="369332"/>
            <a:chOff x="3498930" y="4239123"/>
            <a:chExt cx="3903444" cy="369332"/>
          </a:xfrm>
        </p:grpSpPr>
        <p:cxnSp>
          <p:nvCxnSpPr>
            <p:cNvPr id="45" name="直接箭头连接符 44"/>
            <p:cNvCxnSpPr/>
            <p:nvPr/>
          </p:nvCxnSpPr>
          <p:spPr bwMode="gray">
            <a:xfrm flipH="1">
              <a:off x="3498930" y="4395420"/>
              <a:ext cx="911748" cy="0"/>
            </a:xfrm>
            <a:prstGeom prst="straightConnector1">
              <a:avLst/>
            </a:prstGeom>
            <a:ln w="7620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bwMode="gray">
            <a:xfrm>
              <a:off x="4625897" y="4239123"/>
              <a:ext cx="2776477" cy="369332"/>
            </a:xfrm>
            <a:prstGeom prst="rect">
              <a:avLst/>
            </a:prstGeom>
            <a:noFill/>
            <a:ln>
              <a:solidFill>
                <a:srgbClr val="56C4D2"/>
              </a:solidFill>
            </a:ln>
          </p:spPr>
          <p:txBody>
            <a:bodyPr wrap="square" rtlCol="0">
              <a:sp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ops install file </a:t>
              </a:r>
              <a:r>
                <a:rPr lang="en-US" altLang="zh-CN" i="1" dirty="0">
                  <a:latin typeface="Huawei Sans" panose="020C0503030203020204" pitchFamily="34" charset="0"/>
                  <a:ea typeface="方正兰亭黑简体" panose="02000000000000000000" pitchFamily="2" charset="-122"/>
                  <a:sym typeface="Huawei Sans" panose="020C0503030203020204" pitchFamily="34" charset="0"/>
                </a:rPr>
                <a:t>file-name</a:t>
              </a:r>
              <a:endParaRPr lang="zh-CN" altLang="en-US" i="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7" name="组合 56"/>
          <p:cNvGrpSpPr/>
          <p:nvPr/>
        </p:nvGrpSpPr>
        <p:grpSpPr bwMode="gray">
          <a:xfrm>
            <a:off x="3621902" y="2910513"/>
            <a:ext cx="3907469" cy="646331"/>
            <a:chOff x="3483007" y="3074094"/>
            <a:chExt cx="3907469" cy="646331"/>
          </a:xfrm>
        </p:grpSpPr>
        <p:cxnSp>
          <p:nvCxnSpPr>
            <p:cNvPr id="54" name="直接箭头连接符 53"/>
            <p:cNvCxnSpPr/>
            <p:nvPr/>
          </p:nvCxnSpPr>
          <p:spPr bwMode="gray">
            <a:xfrm flipH="1">
              <a:off x="3483007" y="3410783"/>
              <a:ext cx="911748" cy="0"/>
            </a:xfrm>
            <a:prstGeom prst="straightConnector1">
              <a:avLst/>
            </a:prstGeom>
            <a:ln w="7620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bwMode="gray">
            <a:xfrm>
              <a:off x="4618140" y="3074094"/>
              <a:ext cx="2772336" cy="646331"/>
            </a:xfrm>
            <a:prstGeom prst="rect">
              <a:avLst/>
            </a:prstGeom>
            <a:noFill/>
            <a:ln>
              <a:solidFill>
                <a:srgbClr val="56C4D2"/>
              </a:solidFill>
            </a:ln>
          </p:spPr>
          <p:txBody>
            <a:bodyPr wrap="squar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等方式将脚本上传到网络设备</a:t>
              </a:r>
              <a:endParaRPr lang="zh-CN" altLang="en-US" i="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8" name="矩形 57"/>
          <p:cNvSpPr/>
          <p:nvPr/>
        </p:nvSpPr>
        <p:spPr bwMode="gray">
          <a:xfrm>
            <a:off x="8579554" y="3029442"/>
            <a:ext cx="216000" cy="216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bwMode="gray">
          <a:xfrm>
            <a:off x="8796084" y="2961533"/>
            <a:ext cx="2155166" cy="830997"/>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维护助手部分请参考产品文档，本文不详细展开。</a:t>
            </a:r>
          </a:p>
        </p:txBody>
      </p:sp>
      <p:sp>
        <p:nvSpPr>
          <p:cNvPr id="3" name="文本框 2"/>
          <p:cNvSpPr txBox="1"/>
          <p:nvPr/>
        </p:nvSpPr>
        <p:spPr bwMode="gray">
          <a:xfrm>
            <a:off x="4758640" y="1996413"/>
            <a:ext cx="6017514" cy="561683"/>
          </a:xfrm>
          <a:prstGeom prst="rect">
            <a:avLst/>
          </a:prstGeom>
          <a:noFill/>
          <a:ln w="12700" cap="flat" cmpd="sng" algn="ctr">
            <a:solidFill>
              <a:srgbClr val="56C4D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1D1D1A"/>
                </a:solidFill>
                <a:latin typeface="Huawei Sans" panose="020C0503030203020204" pitchFamily="34" charset="0"/>
                <a:ea typeface="方正兰亭黑简体" panose="02000000000000000000" pitchFamily="2" charset="-122"/>
              </a:defRPr>
            </a:lvl1pPr>
          </a:lstStyle>
          <a:p>
            <a:pPr marL="108000" algn="l"/>
            <a:r>
              <a:rPr lang="zh-CN" altLang="en-US" sz="1800" dirty="0">
                <a:sym typeface="Huawei Sans" panose="020C0503030203020204" pitchFamily="34" charset="0"/>
              </a:rPr>
              <a:t>假设我们已有</a:t>
            </a:r>
            <a:r>
              <a:rPr lang="en-US" altLang="zh-CN" sz="1800" dirty="0">
                <a:sym typeface="Huawei Sans" panose="020C0503030203020204" pitchFamily="34" charset="0"/>
              </a:rPr>
              <a:t>Python</a:t>
            </a:r>
            <a:r>
              <a:rPr lang="zh-CN" altLang="en-US" sz="1800" dirty="0">
                <a:sym typeface="Huawei Sans" panose="020C0503030203020204" pitchFamily="34" charset="0"/>
              </a:rPr>
              <a:t>脚本，再进行之后三个简单步骤，即可完成</a:t>
            </a:r>
            <a:r>
              <a:rPr lang="zh-CN" altLang="en-US" sz="1800" dirty="0" smtClean="0">
                <a:sym typeface="Huawei Sans" panose="020C0503030203020204" pitchFamily="34" charset="0"/>
              </a:rPr>
              <a:t>配置。</a:t>
            </a:r>
            <a:endParaRPr lang="zh-CN" altLang="en-US" sz="1800" dirty="0">
              <a:sym typeface="Huawei Sans" panose="020C0503030203020204" pitchFamily="34" charset="0"/>
            </a:endParaRPr>
          </a:p>
        </p:txBody>
      </p:sp>
    </p:spTree>
    <p:extLst>
      <p:ext uri="{BB962C8B-B14F-4D97-AF65-F5344CB8AC3E}">
        <p14:creationId xmlns:p14="http://schemas.microsoft.com/office/powerpoint/2010/main" val="2922203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Python</a:t>
            </a:r>
            <a:r>
              <a:rPr lang="zh-CN" altLang="en-US" smtClean="0">
                <a:sym typeface="Huawei Sans" panose="020C0503030203020204" pitchFamily="34" charset="0"/>
              </a:rPr>
              <a:t>脚本编写</a:t>
            </a:r>
            <a:r>
              <a:rPr lang="en-US" altLang="zh-CN" smtClean="0">
                <a:sym typeface="Huawei Sans" panose="020C0503030203020204" pitchFamily="34" charset="0"/>
              </a:rPr>
              <a:t> (1)</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en-US" altLang="zh-CN" sz="1800" dirty="0" smtClean="0">
                <a:sym typeface="Huawei Sans" panose="020C0503030203020204" pitchFamily="34" charset="0"/>
              </a:rPr>
              <a:t>Python</a:t>
            </a:r>
            <a:r>
              <a:rPr lang="zh-CN" altLang="en-US" sz="1800" dirty="0" smtClean="0">
                <a:sym typeface="Huawei Sans" panose="020C0503030203020204" pitchFamily="34" charset="0"/>
              </a:rPr>
              <a:t>脚本的作用是向系统下发</a:t>
            </a:r>
            <a:r>
              <a:rPr lang="en-US" altLang="zh-CN" sz="1800" dirty="0" smtClean="0">
                <a:sym typeface="Huawei Sans" panose="020C0503030203020204" pitchFamily="34" charset="0"/>
              </a:rPr>
              <a:t>HTTP</a:t>
            </a:r>
            <a:r>
              <a:rPr lang="zh-CN" altLang="en-US" sz="1800" dirty="0" smtClean="0">
                <a:sym typeface="Huawei Sans" panose="020C0503030203020204" pitchFamily="34" charset="0"/>
              </a:rPr>
              <a:t>请求，来实现对系统的管理。华为公司提供了</a:t>
            </a:r>
            <a:r>
              <a:rPr lang="en-US" altLang="zh-CN" sz="1800" dirty="0" smtClean="0">
                <a:sym typeface="Huawei Sans" panose="020C0503030203020204" pitchFamily="34" charset="0"/>
              </a:rPr>
              <a:t>Python</a:t>
            </a:r>
            <a:r>
              <a:rPr lang="zh-CN" altLang="en-US" sz="1800" dirty="0" smtClean="0">
                <a:sym typeface="Huawei Sans" panose="020C0503030203020204" pitchFamily="34" charset="0"/>
              </a:rPr>
              <a:t>脚本模板，用户只需根据要实现的功能查找相应</a:t>
            </a:r>
            <a:r>
              <a:rPr lang="en-US" altLang="zh-CN" sz="1800" dirty="0" smtClean="0">
                <a:sym typeface="Huawei Sans" panose="020C0503030203020204" pitchFamily="34" charset="0"/>
              </a:rPr>
              <a:t>RESTful API</a:t>
            </a:r>
            <a:r>
              <a:rPr lang="zh-CN" altLang="en-US" sz="1800" dirty="0" smtClean="0">
                <a:sym typeface="Huawei Sans" panose="020C0503030203020204" pitchFamily="34" charset="0"/>
              </a:rPr>
              <a:t>，并对部分代码做相应修改即可。</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Python</a:t>
            </a:r>
            <a:r>
              <a:rPr lang="zh-CN" altLang="en-US" sz="1800" dirty="0" smtClean="0">
                <a:sym typeface="Huawei Sans" panose="020C0503030203020204" pitchFamily="34" charset="0"/>
              </a:rPr>
              <a:t>脚本模板示例：</a:t>
            </a:r>
            <a:endParaRPr lang="en-US" altLang="zh-CN" sz="1800" dirty="0" smtClean="0">
              <a:sym typeface="Huawei Sans" panose="020C0503030203020204" pitchFamily="34" charset="0"/>
            </a:endParaRPr>
          </a:p>
          <a:p>
            <a:endParaRPr lang="en-US" altLang="zh-CN" sz="1800" dirty="0" smtClean="0">
              <a:sym typeface="Huawei Sans" panose="020C0503030203020204" pitchFamily="34" charset="0"/>
            </a:endParaRPr>
          </a:p>
          <a:p>
            <a:endParaRPr lang="zh-CN" altLang="en-US" sz="1800" dirty="0">
              <a:sym typeface="Huawei Sans" panose="020C0503030203020204" pitchFamily="34" charset="0"/>
            </a:endParaRPr>
          </a:p>
        </p:txBody>
      </p:sp>
      <p:sp>
        <p:nvSpPr>
          <p:cNvPr id="11" name="文本占位符 3">
            <a:extLst>
              <a:ext uri="{FF2B5EF4-FFF2-40B4-BE49-F238E27FC236}">
                <a16:creationId xmlns="" xmlns:a16="http://schemas.microsoft.com/office/drawing/2014/main" id="{CA0EE224-3D73-4EE2-BA18-107CD32B12DC}"/>
              </a:ext>
            </a:extLst>
          </p:cNvPr>
          <p:cNvSpPr txBox="1">
            <a:spLocks/>
          </p:cNvSpPr>
          <p:nvPr/>
        </p:nvSpPr>
        <p:spPr bwMode="gray">
          <a:xfrm>
            <a:off x="553437" y="2393211"/>
            <a:ext cx="6105181" cy="3742722"/>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usr</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/bin/</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env</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python</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coding: utf-8 -*- </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import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traceback</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import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httplib</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import string</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class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OPSConnection</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(object):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"""Make an OPS connection instance."""</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初始化类，创建一个</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def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__</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init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__(self, host, port = 80):</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self.host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host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self.port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port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self.headers</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6982709" y="2393211"/>
            <a:ext cx="4766379" cy="223753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fontAlgn="base">
              <a:lnSpc>
                <a:spcPct val="140000"/>
              </a:lnSpc>
              <a:spcBef>
                <a:spcPts val="792"/>
              </a:spcBef>
              <a:buClrTx/>
              <a:buSzPct val="50000"/>
              <a:buFont typeface="Wingdings" panose="05000000000000000000" pitchFamily="2" charset="2"/>
              <a:buChar char="l"/>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defTabSz="914034" fontAlgn="base">
              <a:lnSpc>
                <a:spcPct val="140000"/>
              </a:lnSpc>
              <a:spcBef>
                <a:spcPts val="720"/>
              </a:spcBef>
              <a:buClrTx/>
              <a:buSzPct val="50000"/>
              <a:buFont typeface="Wingdings" panose="05000000000000000000" pitchFamily="2" charset="2"/>
              <a:buChar char="p"/>
              <a:defRPr sz="1999" baseline="0">
                <a:latin typeface="Huawei Sans" panose="020C0503030203020204" pitchFamily="34" charset="0"/>
                <a:ea typeface="方正兰亭黑简体" panose="02000000000000000000" pitchFamily="2" charset="-122"/>
              </a:defRPr>
            </a:lvl2pPr>
            <a:lvl3pPr marL="1003998" indent="-201519" defTabSz="914034" fontAlgn="base">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base">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base">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en-US" altLang="zh-CN" dirty="0">
                <a:sym typeface="Huawei Sans" panose="020C0503030203020204" pitchFamily="34" charset="0"/>
              </a:rPr>
              <a:t>import</a:t>
            </a:r>
            <a:r>
              <a:rPr lang="zh-CN" altLang="en-US" dirty="0">
                <a:sym typeface="Huawei Sans" panose="020C0503030203020204" pitchFamily="34" charset="0"/>
              </a:rPr>
              <a:t>语句导入</a:t>
            </a:r>
            <a:r>
              <a:rPr lang="en-US" altLang="zh-CN" dirty="0">
                <a:sym typeface="Huawei Sans" panose="020C0503030203020204" pitchFamily="34" charset="0"/>
              </a:rPr>
              <a:t>Python</a:t>
            </a:r>
            <a:r>
              <a:rPr lang="zh-CN" altLang="en-US" dirty="0">
                <a:sym typeface="Huawei Sans" panose="020C0503030203020204" pitchFamily="34" charset="0"/>
              </a:rPr>
              <a:t>脚本模板中需要使用的第三方模块。</a:t>
            </a:r>
            <a:endParaRPr lang="en-US" altLang="zh-CN" dirty="0">
              <a:sym typeface="Huawei Sans" panose="020C0503030203020204" pitchFamily="34" charset="0"/>
            </a:endParaRPr>
          </a:p>
          <a:p>
            <a:r>
              <a:rPr lang="en-US" altLang="zh-CN" dirty="0" err="1">
                <a:sym typeface="Huawei Sans" panose="020C0503030203020204" pitchFamily="34" charset="0"/>
              </a:rPr>
              <a:t>OPSConnection</a:t>
            </a:r>
            <a:r>
              <a:rPr lang="zh-CN" altLang="en-US" dirty="0">
                <a:sym typeface="Huawei Sans" panose="020C0503030203020204" pitchFamily="34" charset="0"/>
              </a:rPr>
              <a:t>类是一个用来调用</a:t>
            </a:r>
            <a:r>
              <a:rPr lang="en-US" altLang="zh-CN" dirty="0" err="1">
                <a:sym typeface="Huawei Sans" panose="020C0503030203020204" pitchFamily="34" charset="0"/>
              </a:rPr>
              <a:t>RESTful</a:t>
            </a:r>
            <a:r>
              <a:rPr lang="en-US" altLang="zh-CN" dirty="0">
                <a:sym typeface="Huawei Sans" panose="020C0503030203020204" pitchFamily="34" charset="0"/>
              </a:rPr>
              <a:t> API</a:t>
            </a:r>
            <a:r>
              <a:rPr lang="zh-CN" altLang="en-US" dirty="0">
                <a:sym typeface="Huawei Sans" panose="020C0503030203020204" pitchFamily="34" charset="0"/>
              </a:rPr>
              <a:t>的类，该类中定义了一些方法来执行建立</a:t>
            </a:r>
            <a:r>
              <a:rPr lang="en-US" altLang="zh-CN" dirty="0">
                <a:sym typeface="Huawei Sans" panose="020C0503030203020204" pitchFamily="34" charset="0"/>
              </a:rPr>
              <a:t>HTTP</a:t>
            </a:r>
            <a:r>
              <a:rPr lang="zh-CN" altLang="en-US" dirty="0">
                <a:sym typeface="Huawei Sans" panose="020C0503030203020204" pitchFamily="34" charset="0"/>
              </a:rPr>
              <a:t>连接时的操作，该部分可以直接调用，用户不需要修改。（代码较长，接下页胶片）。</a:t>
            </a:r>
            <a:endParaRPr lang="en-US" altLang="zh-CN" dirty="0">
              <a:sym typeface="Huawei Sans" panose="020C0503030203020204" pitchFamily="34" charset="0"/>
            </a:endParaRPr>
          </a:p>
        </p:txBody>
      </p:sp>
    </p:spTree>
    <p:extLst>
      <p:ext uri="{BB962C8B-B14F-4D97-AF65-F5344CB8AC3E}">
        <p14:creationId xmlns:p14="http://schemas.microsoft.com/office/powerpoint/2010/main" val="36180225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Python</a:t>
            </a:r>
            <a:r>
              <a:rPr lang="zh-CN" altLang="en-US" smtClean="0">
                <a:sym typeface="Huawei Sans" panose="020C0503030203020204" pitchFamily="34" charset="0"/>
              </a:rPr>
              <a:t>脚本编写 </a:t>
            </a:r>
            <a:r>
              <a:rPr lang="en-US" altLang="zh-CN" smtClean="0">
                <a:sym typeface="Huawei Sans" panose="020C0503030203020204" pitchFamily="34" charset="0"/>
              </a:rPr>
              <a:t>(2)</a:t>
            </a:r>
            <a:endParaRPr lang="zh-CN" altLang="en-US" dirty="0">
              <a:sym typeface="Huawei Sans" panose="020C0503030203020204" pitchFamily="34" charset="0"/>
            </a:endParaRPr>
          </a:p>
        </p:txBody>
      </p:sp>
      <p:sp>
        <p:nvSpPr>
          <p:cNvPr id="7" name="文本占位符 3">
            <a:extLst>
              <a:ext uri="{FF2B5EF4-FFF2-40B4-BE49-F238E27FC236}">
                <a16:creationId xmlns="" xmlns:a16="http://schemas.microsoft.com/office/drawing/2014/main" id="{CA0EE224-3D73-4EE2-BA18-107CD32B12DC}"/>
              </a:ext>
            </a:extLst>
          </p:cNvPr>
          <p:cNvSpPr txBox="1">
            <a:spLocks/>
          </p:cNvSpPr>
          <p:nvPr/>
        </p:nvSpPr>
        <p:spPr bwMode="gray">
          <a:xfrm>
            <a:off x="550263" y="1023017"/>
            <a:ext cx="6105180" cy="5148262"/>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"Content-type": "text/xml",</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"Accept":       "text/xml"</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self.conn</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None</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关闭</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def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close(self):</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"""Close the connection"""</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self.conn.close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创建设备资源操作。</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def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create(self,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"""Create operation"""</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self.rest_call</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("POST",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 ret</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删除设备资源操作。</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def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delete(self,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"""Delete operation""“</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self.rest_call</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("DELETE",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 ret</a:t>
            </a:r>
          </a:p>
        </p:txBody>
      </p:sp>
      <p:sp>
        <p:nvSpPr>
          <p:cNvPr id="8" name="文本框 7"/>
          <p:cNvSpPr txBox="1"/>
          <p:nvPr/>
        </p:nvSpPr>
        <p:spPr bwMode="gray">
          <a:xfrm>
            <a:off x="6852835" y="1449388"/>
            <a:ext cx="4824252" cy="3380477"/>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fontAlgn="base">
              <a:lnSpc>
                <a:spcPct val="140000"/>
              </a:lnSpc>
              <a:spcBef>
                <a:spcPts val="792"/>
              </a:spcBef>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defTabSz="914034" fontAlgn="base">
              <a:lnSpc>
                <a:spcPct val="140000"/>
              </a:lnSpc>
              <a:spcBef>
                <a:spcPts val="720"/>
              </a:spcBef>
              <a:buClrTx/>
              <a:buSzPct val="50000"/>
              <a:buFont typeface="Wingdings" panose="05000000000000000000" pitchFamily="2" charset="2"/>
              <a:buChar char="p"/>
              <a:defRPr sz="1999" baseline="0">
                <a:latin typeface="Huawei Sans" panose="020C0503030203020204" pitchFamily="34" charset="0"/>
                <a:ea typeface="方正兰亭黑简体" panose="02000000000000000000" pitchFamily="2" charset="-122"/>
              </a:defRPr>
            </a:lvl2pPr>
            <a:lvl3pPr marL="1003998" indent="-201519" defTabSz="914034" fontAlgn="base">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base">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base">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en-US" altLang="zh-CN" sz="1600" dirty="0" err="1">
                <a:sym typeface="Huawei Sans" panose="020C0503030203020204" pitchFamily="34" charset="0"/>
              </a:rPr>
              <a:t>OPSConnection</a:t>
            </a:r>
            <a:r>
              <a:rPr lang="zh-CN" altLang="en-US" sz="1600" dirty="0">
                <a:sym typeface="Huawei Sans" panose="020C0503030203020204" pitchFamily="34" charset="0"/>
              </a:rPr>
              <a:t>类定义的方法（代码较长，接下页胶片）：</a:t>
            </a:r>
            <a:endParaRPr lang="en-US" altLang="zh-CN" sz="1600" dirty="0">
              <a:sym typeface="Huawei Sans" panose="020C0503030203020204" pitchFamily="34" charset="0"/>
            </a:endParaRPr>
          </a:p>
          <a:p>
            <a:pPr lvl="1"/>
            <a:r>
              <a:rPr lang="en-US" altLang="zh-CN" sz="1800" dirty="0" err="1">
                <a:sym typeface="Huawei Sans" panose="020C0503030203020204" pitchFamily="34" charset="0"/>
              </a:rPr>
              <a:t>def</a:t>
            </a:r>
            <a:r>
              <a:rPr lang="en-US" altLang="zh-CN" sz="1800" dirty="0">
                <a:sym typeface="Huawei Sans" panose="020C0503030203020204" pitchFamily="34" charset="0"/>
              </a:rPr>
              <a:t> _</a:t>
            </a:r>
            <a:r>
              <a:rPr lang="en-US" altLang="zh-CN" sz="1800" dirty="0" err="1">
                <a:sym typeface="Huawei Sans" panose="020C0503030203020204" pitchFamily="34" charset="0"/>
              </a:rPr>
              <a:t>init</a:t>
            </a:r>
            <a:r>
              <a:rPr lang="en-US" altLang="zh-CN" sz="1800" dirty="0">
                <a:sym typeface="Huawei Sans" panose="020C0503030203020204" pitchFamily="34" charset="0"/>
              </a:rPr>
              <a:t>_()</a:t>
            </a:r>
            <a:r>
              <a:rPr lang="zh-CN" altLang="en-US" sz="1800" dirty="0">
                <a:sym typeface="Huawei Sans" panose="020C0503030203020204" pitchFamily="34" charset="0"/>
              </a:rPr>
              <a:t>：初始化类，创建一个</a:t>
            </a:r>
            <a:r>
              <a:rPr lang="en-US" altLang="zh-CN" sz="1800" dirty="0">
                <a:sym typeface="Huawei Sans" panose="020C0503030203020204" pitchFamily="34" charset="0"/>
              </a:rPr>
              <a:t>HTTP</a:t>
            </a:r>
            <a:r>
              <a:rPr lang="zh-CN" altLang="en-US" sz="1800" dirty="0">
                <a:sym typeface="Huawei Sans" panose="020C0503030203020204" pitchFamily="34" charset="0"/>
              </a:rPr>
              <a:t>连接。</a:t>
            </a:r>
            <a:endParaRPr lang="en-US" altLang="zh-CN" sz="1800" dirty="0">
              <a:sym typeface="Huawei Sans" panose="020C0503030203020204" pitchFamily="34" charset="0"/>
            </a:endParaRPr>
          </a:p>
          <a:p>
            <a:pPr lvl="1"/>
            <a:r>
              <a:rPr lang="en-US" altLang="zh-CN" sz="1800" dirty="0" err="1">
                <a:sym typeface="Huawei Sans" panose="020C0503030203020204" pitchFamily="34" charset="0"/>
              </a:rPr>
              <a:t>def</a:t>
            </a:r>
            <a:r>
              <a:rPr lang="en-US" altLang="zh-CN" sz="1800" dirty="0">
                <a:sym typeface="Huawei Sans" panose="020C0503030203020204" pitchFamily="34" charset="0"/>
              </a:rPr>
              <a:t> close()</a:t>
            </a:r>
            <a:r>
              <a:rPr lang="zh-CN" altLang="en-US" sz="1800" dirty="0">
                <a:sym typeface="Huawei Sans" panose="020C0503030203020204" pitchFamily="34" charset="0"/>
              </a:rPr>
              <a:t>：关闭</a:t>
            </a:r>
            <a:r>
              <a:rPr lang="en-US" altLang="zh-CN" sz="1800" dirty="0">
                <a:sym typeface="Huawei Sans" panose="020C0503030203020204" pitchFamily="34" charset="0"/>
              </a:rPr>
              <a:t>HTTP</a:t>
            </a:r>
            <a:r>
              <a:rPr lang="zh-CN" altLang="en-US" sz="1800" dirty="0">
                <a:sym typeface="Huawei Sans" panose="020C0503030203020204" pitchFamily="34" charset="0"/>
              </a:rPr>
              <a:t>连接。</a:t>
            </a:r>
            <a:endParaRPr lang="en-US" altLang="zh-CN" sz="1800" dirty="0">
              <a:sym typeface="Huawei Sans" panose="020C0503030203020204" pitchFamily="34" charset="0"/>
            </a:endParaRPr>
          </a:p>
          <a:p>
            <a:pPr lvl="1"/>
            <a:r>
              <a:rPr lang="en-US" altLang="zh-CN" sz="1800" dirty="0" err="1">
                <a:sym typeface="Huawei Sans" panose="020C0503030203020204" pitchFamily="34" charset="0"/>
              </a:rPr>
              <a:t>def</a:t>
            </a:r>
            <a:r>
              <a:rPr lang="en-US" altLang="zh-CN" sz="1800" dirty="0">
                <a:sym typeface="Huawei Sans" panose="020C0503030203020204" pitchFamily="34" charset="0"/>
              </a:rPr>
              <a:t> create()</a:t>
            </a:r>
            <a:r>
              <a:rPr lang="zh-CN" altLang="en-US" sz="1800" dirty="0">
                <a:sym typeface="Huawei Sans" panose="020C0503030203020204" pitchFamily="34" charset="0"/>
              </a:rPr>
              <a:t>：创建设备资源操作。</a:t>
            </a:r>
            <a:endParaRPr lang="en-US" altLang="zh-CN" sz="1800" dirty="0">
              <a:sym typeface="Huawei Sans" panose="020C0503030203020204" pitchFamily="34" charset="0"/>
            </a:endParaRPr>
          </a:p>
          <a:p>
            <a:pPr lvl="1"/>
            <a:r>
              <a:rPr lang="en-US" altLang="zh-CN" sz="1800" dirty="0" err="1">
                <a:sym typeface="Huawei Sans" panose="020C0503030203020204" pitchFamily="34" charset="0"/>
              </a:rPr>
              <a:t>def</a:t>
            </a:r>
            <a:r>
              <a:rPr lang="en-US" altLang="zh-CN" sz="1800" dirty="0">
                <a:sym typeface="Huawei Sans" panose="020C0503030203020204" pitchFamily="34" charset="0"/>
              </a:rPr>
              <a:t> delete()</a:t>
            </a:r>
            <a:r>
              <a:rPr lang="zh-CN" altLang="en-US" sz="1800" dirty="0">
                <a:sym typeface="Huawei Sans" panose="020C0503030203020204" pitchFamily="34" charset="0"/>
              </a:rPr>
              <a:t>：删除设备资源操作。</a:t>
            </a:r>
          </a:p>
        </p:txBody>
      </p:sp>
    </p:spTree>
    <p:extLst>
      <p:ext uri="{BB962C8B-B14F-4D97-AF65-F5344CB8AC3E}">
        <p14:creationId xmlns:p14="http://schemas.microsoft.com/office/powerpoint/2010/main" val="24482404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Python</a:t>
            </a:r>
            <a:r>
              <a:rPr lang="zh-CN" altLang="en-US" smtClean="0">
                <a:sym typeface="Huawei Sans" panose="020C0503030203020204" pitchFamily="34" charset="0"/>
              </a:rPr>
              <a:t>脚本编写 </a:t>
            </a:r>
            <a:r>
              <a:rPr lang="en-US" altLang="zh-CN" smtClean="0">
                <a:sym typeface="Huawei Sans" panose="020C0503030203020204" pitchFamily="34" charset="0"/>
              </a:rPr>
              <a:t>(3)</a:t>
            </a:r>
            <a:endParaRPr lang="zh-CN" altLang="en-US" dirty="0">
              <a:sym typeface="Huawei Sans" panose="020C0503030203020204" pitchFamily="34" charset="0"/>
            </a:endParaRPr>
          </a:p>
        </p:txBody>
      </p:sp>
      <p:sp>
        <p:nvSpPr>
          <p:cNvPr id="7" name="文本占位符 3">
            <a:extLst>
              <a:ext uri="{FF2B5EF4-FFF2-40B4-BE49-F238E27FC236}">
                <a16:creationId xmlns="" xmlns:a16="http://schemas.microsoft.com/office/drawing/2014/main" id="{CA0EE224-3D73-4EE2-BA18-107CD32B12DC}"/>
              </a:ext>
            </a:extLst>
          </p:cNvPr>
          <p:cNvSpPr txBox="1">
            <a:spLocks/>
          </p:cNvSpPr>
          <p:nvPr/>
        </p:nvSpPr>
        <p:spPr bwMode="gray">
          <a:xfrm>
            <a:off x="550263" y="998179"/>
            <a:ext cx="6105180" cy="5148262"/>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查询设备资源操作。</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def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get(self,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None):</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"""Get operation"""</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self.rest_call</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("GET",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 ret</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修改设备资源操作。</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def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set(self,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"""Set operation"""</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self.rest_call</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("PUT",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 ret</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类内部调用的方法。</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def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rest_call</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(self, method,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"""REST call"""</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print('|---------------------------------- request: ----------------------------------|')</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print('%s %s HTTP/1.1\n' % (method,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if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None:</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body = ""</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else:</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body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p:cNvSpPr txBox="1"/>
          <p:nvPr/>
        </p:nvSpPr>
        <p:spPr bwMode="gray">
          <a:xfrm>
            <a:off x="6921661" y="1254169"/>
            <a:ext cx="4824252" cy="263610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en-US"/>
            </a:defPPr>
            <a:lvl1pPr marL="302279" indent="-302279" algn="just" defTabSz="914034" fontAlgn="base">
              <a:lnSpc>
                <a:spcPct val="140000"/>
              </a:lnSpc>
              <a:spcBef>
                <a:spcPts val="792"/>
              </a:spcBef>
              <a:buClrTx/>
              <a:buSzPct val="50000"/>
              <a:buFont typeface="Wingdings" panose="05000000000000000000" pitchFamily="2" charset="2"/>
              <a:buChar char="l"/>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lvl="1" indent="-251899" defTabSz="914034" fontAlgn="base">
              <a:lnSpc>
                <a:spcPct val="140000"/>
              </a:lnSpc>
              <a:spcBef>
                <a:spcPts val="720"/>
              </a:spcBef>
              <a:buClrTx/>
              <a:buSzPct val="50000"/>
              <a:buFont typeface="Wingdings" panose="05000000000000000000" pitchFamily="2" charset="2"/>
              <a:buChar char="p"/>
              <a:defRPr baseline="0">
                <a:latin typeface="Huawei Sans" panose="020C0503030203020204" pitchFamily="34" charset="0"/>
                <a:ea typeface="方正兰亭黑简体" panose="02000000000000000000" pitchFamily="2" charset="-122"/>
              </a:defRPr>
            </a:lvl2pPr>
            <a:lvl3pPr marL="1003998" indent="-201519" defTabSz="914034" fontAlgn="base">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base">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base">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en-US" altLang="zh-CN" dirty="0" err="1">
                <a:sym typeface="Huawei Sans" panose="020C0503030203020204" pitchFamily="34" charset="0"/>
              </a:rPr>
              <a:t>OPSConnection</a:t>
            </a:r>
            <a:r>
              <a:rPr lang="zh-CN" altLang="en-US" dirty="0">
                <a:sym typeface="Huawei Sans" panose="020C0503030203020204" pitchFamily="34" charset="0"/>
              </a:rPr>
              <a:t>类定义的方法：</a:t>
            </a:r>
            <a:endParaRPr lang="en-US" altLang="zh-CN" dirty="0">
              <a:sym typeface="Huawei Sans" panose="020C0503030203020204" pitchFamily="34" charset="0"/>
            </a:endParaRPr>
          </a:p>
          <a:p>
            <a:pPr lvl="1"/>
            <a:r>
              <a:rPr lang="en-US" altLang="zh-CN" dirty="0" err="1">
                <a:sym typeface="Huawei Sans" panose="020C0503030203020204" pitchFamily="34" charset="0"/>
              </a:rPr>
              <a:t>def</a:t>
            </a:r>
            <a:r>
              <a:rPr lang="en-US" altLang="zh-CN" dirty="0">
                <a:sym typeface="Huawei Sans" panose="020C0503030203020204" pitchFamily="34" charset="0"/>
              </a:rPr>
              <a:t> get()</a:t>
            </a:r>
            <a:r>
              <a:rPr lang="zh-CN" altLang="en-US" dirty="0">
                <a:sym typeface="Huawei Sans" panose="020C0503030203020204" pitchFamily="34" charset="0"/>
              </a:rPr>
              <a:t>：查询设备资源操作。</a:t>
            </a:r>
            <a:endParaRPr lang="en-US" altLang="zh-CN" dirty="0">
              <a:sym typeface="Huawei Sans" panose="020C0503030203020204" pitchFamily="34" charset="0"/>
            </a:endParaRPr>
          </a:p>
          <a:p>
            <a:pPr lvl="1"/>
            <a:r>
              <a:rPr lang="en-US" altLang="zh-CN" dirty="0" err="1">
                <a:sym typeface="Huawei Sans" panose="020C0503030203020204" pitchFamily="34" charset="0"/>
              </a:rPr>
              <a:t>def</a:t>
            </a:r>
            <a:r>
              <a:rPr lang="en-US" altLang="zh-CN" dirty="0">
                <a:sym typeface="Huawei Sans" panose="020C0503030203020204" pitchFamily="34" charset="0"/>
              </a:rPr>
              <a:t> set()</a:t>
            </a:r>
            <a:r>
              <a:rPr lang="zh-CN" altLang="en-US" dirty="0">
                <a:sym typeface="Huawei Sans" panose="020C0503030203020204" pitchFamily="34" charset="0"/>
              </a:rPr>
              <a:t>：修改设备资源操作。</a:t>
            </a:r>
            <a:endParaRPr lang="en-US" altLang="zh-CN" dirty="0">
              <a:sym typeface="Huawei Sans" panose="020C0503030203020204" pitchFamily="34" charset="0"/>
            </a:endParaRPr>
          </a:p>
          <a:p>
            <a:pPr lvl="1"/>
            <a:r>
              <a:rPr lang="en-US" altLang="zh-CN" dirty="0" err="1">
                <a:sym typeface="Huawei Sans" panose="020C0503030203020204" pitchFamily="34" charset="0"/>
              </a:rPr>
              <a:t>def</a:t>
            </a:r>
            <a:r>
              <a:rPr lang="en-US" altLang="zh-CN" dirty="0">
                <a:sym typeface="Huawei Sans" panose="020C0503030203020204" pitchFamily="34" charset="0"/>
              </a:rPr>
              <a:t> </a:t>
            </a:r>
            <a:r>
              <a:rPr lang="en-US" altLang="zh-CN" dirty="0" err="1">
                <a:sym typeface="Huawei Sans" panose="020C0503030203020204" pitchFamily="34" charset="0"/>
              </a:rPr>
              <a:t>rest_call</a:t>
            </a:r>
            <a:r>
              <a:rPr lang="en-US" altLang="zh-CN" dirty="0">
                <a:sym typeface="Huawei Sans" panose="020C0503030203020204" pitchFamily="34" charset="0"/>
              </a:rPr>
              <a:t>()</a:t>
            </a:r>
            <a:r>
              <a:rPr lang="zh-CN" altLang="en-US" dirty="0">
                <a:sym typeface="Huawei Sans" panose="020C0503030203020204" pitchFamily="34" charset="0"/>
              </a:rPr>
              <a:t>：类内部调用的方法。</a:t>
            </a:r>
            <a:endParaRPr lang="en-US" altLang="zh-CN" dirty="0">
              <a:sym typeface="Huawei Sans" panose="020C0503030203020204" pitchFamily="34" charset="0"/>
            </a:endParaRPr>
          </a:p>
          <a:p>
            <a:r>
              <a:rPr lang="en-US" altLang="zh-CN" dirty="0" err="1">
                <a:sym typeface="Huawei Sans" panose="020C0503030203020204" pitchFamily="34" charset="0"/>
              </a:rPr>
              <a:t>OPSConnection</a:t>
            </a:r>
            <a:r>
              <a:rPr lang="zh-CN" altLang="en-US" dirty="0">
                <a:sym typeface="Huawei Sans" panose="020C0503030203020204" pitchFamily="34" charset="0"/>
              </a:rPr>
              <a:t>类中定义的方法，用户不需要进行修改，直接使用即可。</a:t>
            </a:r>
            <a:endParaRPr lang="en-US" altLang="zh-CN" dirty="0">
              <a:sym typeface="Huawei Sans" panose="020C0503030203020204" pitchFamily="34" charset="0"/>
            </a:endParaRPr>
          </a:p>
        </p:txBody>
      </p:sp>
    </p:spTree>
    <p:extLst>
      <p:ext uri="{BB962C8B-B14F-4D97-AF65-F5344CB8AC3E}">
        <p14:creationId xmlns:p14="http://schemas.microsoft.com/office/powerpoint/2010/main" val="30062821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Python</a:t>
            </a:r>
            <a:r>
              <a:rPr lang="zh-CN" altLang="en-US" smtClean="0">
                <a:sym typeface="Huawei Sans" panose="020C0503030203020204" pitchFamily="34" charset="0"/>
              </a:rPr>
              <a:t>脚本编写 </a:t>
            </a:r>
            <a:r>
              <a:rPr lang="en-US" altLang="zh-CN" smtClean="0">
                <a:sym typeface="Huawei Sans" panose="020C0503030203020204" pitchFamily="34" charset="0"/>
              </a:rPr>
              <a:t>(4)</a:t>
            </a:r>
            <a:endParaRPr lang="zh-CN" altLang="en-US" dirty="0">
              <a:sym typeface="Huawei Sans" panose="020C0503030203020204" pitchFamily="34" charset="0"/>
            </a:endParaRPr>
          </a:p>
        </p:txBody>
      </p:sp>
      <p:sp>
        <p:nvSpPr>
          <p:cNvPr id="7" name="文本占位符 3">
            <a:extLst>
              <a:ext uri="{FF2B5EF4-FFF2-40B4-BE49-F238E27FC236}">
                <a16:creationId xmlns="" xmlns:a16="http://schemas.microsoft.com/office/drawing/2014/main" id="{CA0EE224-3D73-4EE2-BA18-107CD32B12DC}"/>
              </a:ext>
            </a:extLst>
          </p:cNvPr>
          <p:cNvSpPr txBox="1">
            <a:spLocks/>
          </p:cNvSpPr>
          <p:nvPr/>
        </p:nvSpPr>
        <p:spPr bwMode="gray">
          <a:xfrm>
            <a:off x="560593" y="994338"/>
            <a:ext cx="6105180" cy="5148262"/>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print(body)</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if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self.conn</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self.conn.close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self.conn</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httplib.HTTPConnection</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self.host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self.port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self.conn.request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(method,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body,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self.headers</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response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self.conn.getresponse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response.status</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httplib.OK</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stub code</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response.status</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response.reason</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response.read</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print('|---------------------------------- response: ---------------------------------|')</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print('HTTP/1.1 %s %s\n\</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n%s</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ret)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print('|------------------------------------------------------------------------------|')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 ret</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定义获取系统启动信息的函数。</a:t>
            </a:r>
          </a:p>
          <a:p>
            <a:pPr marL="0" indent="0">
              <a:lnSpc>
                <a:spcPct val="100000"/>
              </a:lnSpc>
              <a:buNone/>
            </a:pP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def</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get_startup_info</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ops_conn</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endPar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cfg</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startupInfos</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startupInfo</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endPar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 \</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'''&lt;?xml version="1.0" encoding="UTF-8"?&gt;</a:t>
            </a:r>
          </a:p>
        </p:txBody>
      </p:sp>
      <p:sp>
        <p:nvSpPr>
          <p:cNvPr id="4" name="文本框 3"/>
          <p:cNvSpPr txBox="1"/>
          <p:nvPr/>
        </p:nvSpPr>
        <p:spPr bwMode="gray">
          <a:xfrm>
            <a:off x="6921661" y="1254169"/>
            <a:ext cx="4824252" cy="2582245"/>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en-US"/>
            </a:defPPr>
            <a:lvl1pPr marL="302279" indent="-302279" algn="just" defTabSz="914034" fontAlgn="base">
              <a:lnSpc>
                <a:spcPct val="140000"/>
              </a:lnSpc>
              <a:spcBef>
                <a:spcPts val="792"/>
              </a:spcBef>
              <a:buClrTx/>
              <a:buSzPct val="50000"/>
              <a:buFont typeface="Wingdings" panose="05000000000000000000" pitchFamily="2" charset="2"/>
              <a:buChar char="l"/>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lvl="1" indent="-251899" defTabSz="914034" fontAlgn="base">
              <a:lnSpc>
                <a:spcPct val="140000"/>
              </a:lnSpc>
              <a:spcBef>
                <a:spcPts val="720"/>
              </a:spcBef>
              <a:buClrTx/>
              <a:buSzPct val="50000"/>
              <a:buFont typeface="Wingdings" panose="05000000000000000000" pitchFamily="2" charset="2"/>
              <a:buChar char="p"/>
              <a:defRPr baseline="0">
                <a:latin typeface="Huawei Sans" panose="020C0503030203020204" pitchFamily="34" charset="0"/>
                <a:ea typeface="方正兰亭黑简体" panose="02000000000000000000" pitchFamily="2" charset="-122"/>
              </a:defRPr>
            </a:lvl2pPr>
            <a:lvl3pPr marL="1003998" indent="-201519" defTabSz="914034" fontAlgn="base">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base">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base">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zh-CN" altLang="en-US" dirty="0">
                <a:sym typeface="Huawei Sans" panose="020C0503030203020204" pitchFamily="34" charset="0"/>
              </a:rPr>
              <a:t>通过</a:t>
            </a:r>
            <a:r>
              <a:rPr lang="en-US" altLang="zh-CN" dirty="0" err="1">
                <a:sym typeface="Huawei Sans" panose="020C0503030203020204" pitchFamily="34" charset="0"/>
              </a:rPr>
              <a:t>OPSConnection</a:t>
            </a:r>
            <a:r>
              <a:rPr lang="zh-CN" altLang="en-US" dirty="0">
                <a:sym typeface="Huawei Sans" panose="020C0503030203020204" pitchFamily="34" charset="0"/>
              </a:rPr>
              <a:t>类实例调用</a:t>
            </a:r>
            <a:r>
              <a:rPr lang="en-US" altLang="zh-CN" dirty="0" err="1">
                <a:sym typeface="Huawei Sans" panose="020C0503030203020204" pitchFamily="34" charset="0"/>
              </a:rPr>
              <a:t>RESTful</a:t>
            </a:r>
            <a:r>
              <a:rPr lang="en-US" altLang="zh-CN" dirty="0">
                <a:sym typeface="Huawei Sans" panose="020C0503030203020204" pitchFamily="34" charset="0"/>
              </a:rPr>
              <a:t> API</a:t>
            </a:r>
            <a:r>
              <a:rPr lang="zh-CN" altLang="en-US" dirty="0">
                <a:sym typeface="Huawei Sans" panose="020C0503030203020204" pitchFamily="34" charset="0"/>
              </a:rPr>
              <a:t>实现设备管理的方法需要用户自己编写，如本文中</a:t>
            </a:r>
            <a:r>
              <a:rPr lang="en-US" altLang="zh-CN" dirty="0" err="1">
                <a:sym typeface="Huawei Sans" panose="020C0503030203020204" pitchFamily="34" charset="0"/>
              </a:rPr>
              <a:t>def</a:t>
            </a:r>
            <a:r>
              <a:rPr lang="en-US" altLang="zh-CN" dirty="0">
                <a:sym typeface="Huawei Sans" panose="020C0503030203020204" pitchFamily="34" charset="0"/>
              </a:rPr>
              <a:t> </a:t>
            </a:r>
            <a:r>
              <a:rPr lang="en-US" altLang="zh-CN" dirty="0" err="1">
                <a:sym typeface="Huawei Sans" panose="020C0503030203020204" pitchFamily="34" charset="0"/>
              </a:rPr>
              <a:t>get_startup_info</a:t>
            </a:r>
            <a:r>
              <a:rPr lang="en-US" altLang="zh-CN" dirty="0">
                <a:sym typeface="Huawei Sans" panose="020C0503030203020204" pitchFamily="34" charset="0"/>
              </a:rPr>
              <a:t>(</a:t>
            </a:r>
            <a:r>
              <a:rPr lang="en-US" altLang="zh-CN" dirty="0" err="1">
                <a:sym typeface="Huawei Sans" panose="020C0503030203020204" pitchFamily="34" charset="0"/>
              </a:rPr>
              <a:t>ops_conn</a:t>
            </a:r>
            <a:r>
              <a:rPr lang="en-US" altLang="zh-CN" dirty="0">
                <a:sym typeface="Huawei Sans" panose="020C0503030203020204" pitchFamily="34" charset="0"/>
              </a:rPr>
              <a:t>)</a:t>
            </a:r>
            <a:r>
              <a:rPr lang="zh-CN" altLang="en-US" dirty="0">
                <a:sym typeface="Huawei Sans" panose="020C0503030203020204" pitchFamily="34" charset="0"/>
              </a:rPr>
              <a:t>方法，用于获取系统启动信息。方法名用户可以自行指定。</a:t>
            </a:r>
            <a:endParaRPr lang="en-US" altLang="zh-CN" dirty="0">
              <a:sym typeface="Huawei Sans" panose="020C0503030203020204" pitchFamily="34" charset="0"/>
            </a:endParaRPr>
          </a:p>
          <a:p>
            <a:r>
              <a:rPr lang="en-US" altLang="zh-CN" dirty="0" err="1">
                <a:sym typeface="Huawei Sans" panose="020C0503030203020204" pitchFamily="34" charset="0"/>
              </a:rPr>
              <a:t>uri</a:t>
            </a:r>
            <a:r>
              <a:rPr lang="en-US" altLang="zh-CN" dirty="0">
                <a:sym typeface="Huawei Sans" panose="020C0503030203020204" pitchFamily="34" charset="0"/>
              </a:rPr>
              <a:t> = “/</a:t>
            </a:r>
            <a:r>
              <a:rPr lang="en-US" altLang="zh-CN" dirty="0" err="1">
                <a:sym typeface="Huawei Sans" panose="020C0503030203020204" pitchFamily="34" charset="0"/>
              </a:rPr>
              <a:t>cfg</a:t>
            </a:r>
            <a:r>
              <a:rPr lang="en-US" altLang="zh-CN" dirty="0">
                <a:sym typeface="Huawei Sans" panose="020C0503030203020204" pitchFamily="34" charset="0"/>
              </a:rPr>
              <a:t>/</a:t>
            </a:r>
            <a:r>
              <a:rPr lang="en-US" altLang="zh-CN" dirty="0" err="1">
                <a:sym typeface="Huawei Sans" panose="020C0503030203020204" pitchFamily="34" charset="0"/>
              </a:rPr>
              <a:t>startupInfos</a:t>
            </a:r>
            <a:r>
              <a:rPr lang="en-US" altLang="zh-CN" dirty="0">
                <a:sym typeface="Huawei Sans" panose="020C0503030203020204" pitchFamily="34" charset="0"/>
              </a:rPr>
              <a:t>/</a:t>
            </a:r>
            <a:r>
              <a:rPr lang="en-US" altLang="zh-CN" dirty="0" err="1">
                <a:sym typeface="Huawei Sans" panose="020C0503030203020204" pitchFamily="34" charset="0"/>
              </a:rPr>
              <a:t>startupInfo</a:t>
            </a:r>
            <a:r>
              <a:rPr lang="en-US" altLang="zh-CN" dirty="0">
                <a:sym typeface="Huawei Sans" panose="020C0503030203020204" pitchFamily="34" charset="0"/>
              </a:rPr>
              <a:t>”</a:t>
            </a:r>
            <a:r>
              <a:rPr lang="zh-CN" altLang="en-US" dirty="0">
                <a:sym typeface="Huawei Sans" panose="020C0503030203020204" pitchFamily="34" charset="0"/>
              </a:rPr>
              <a:t>为系统启动信息的</a:t>
            </a:r>
            <a:r>
              <a:rPr lang="en-US" altLang="zh-CN" dirty="0">
                <a:sym typeface="Huawei Sans" panose="020C0503030203020204" pitchFamily="34" charset="0"/>
              </a:rPr>
              <a:t>URI</a:t>
            </a:r>
            <a:r>
              <a:rPr lang="zh-CN" altLang="en-US" dirty="0">
                <a:sym typeface="Huawei Sans" panose="020C0503030203020204" pitchFamily="34" charset="0"/>
              </a:rPr>
              <a:t>。不同的管理对象有不同的</a:t>
            </a:r>
            <a:r>
              <a:rPr lang="en-US" altLang="zh-CN" dirty="0">
                <a:sym typeface="Huawei Sans" panose="020C0503030203020204" pitchFamily="34" charset="0"/>
              </a:rPr>
              <a:t>URI</a:t>
            </a:r>
            <a:r>
              <a:rPr lang="zh-CN" altLang="en-US" dirty="0">
                <a:sym typeface="Huawei Sans" panose="020C0503030203020204" pitchFamily="34" charset="0"/>
              </a:rPr>
              <a:t>。用户需要根据实际需求对</a:t>
            </a:r>
            <a:r>
              <a:rPr lang="en-US" altLang="zh-CN" dirty="0">
                <a:sym typeface="Huawei Sans" panose="020C0503030203020204" pitchFamily="34" charset="0"/>
              </a:rPr>
              <a:t>URI</a:t>
            </a:r>
            <a:r>
              <a:rPr lang="zh-CN" altLang="en-US" dirty="0">
                <a:sym typeface="Huawei Sans" panose="020C0503030203020204" pitchFamily="34" charset="0"/>
              </a:rPr>
              <a:t>进行修改。</a:t>
            </a:r>
          </a:p>
        </p:txBody>
      </p:sp>
      <p:sp>
        <p:nvSpPr>
          <p:cNvPr id="3" name="文本框 2">
            <a:extLst>
              <a:ext uri="{FF2B5EF4-FFF2-40B4-BE49-F238E27FC236}">
                <a16:creationId xmlns="" xmlns:a16="http://schemas.microsoft.com/office/drawing/2014/main" id="{620F0AFF-102F-4CA2-82BB-E6D00E19FE24}"/>
              </a:ext>
            </a:extLst>
          </p:cNvPr>
          <p:cNvSpPr txBox="1"/>
          <p:nvPr/>
        </p:nvSpPr>
        <p:spPr bwMode="gray">
          <a:xfrm>
            <a:off x="7315200" y="5010412"/>
            <a:ext cx="3256767" cy="830997"/>
          </a:xfrm>
          <a:prstGeom prst="rect">
            <a:avLst/>
          </a:prstGeom>
          <a:solidFill>
            <a:srgbClr val="EC7061"/>
          </a:solidFill>
        </p:spPr>
        <p:txBody>
          <a:bodyPr wrap="square" rtlCol="0">
            <a:spAutoFit/>
          </a:bodyPr>
          <a:lstStyle/>
          <a:p>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加粗</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字体</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部分是用户在编写自己的</a:t>
            </a:r>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脚本时需要根据实际需求进行修改的代码。</a:t>
            </a:r>
          </a:p>
        </p:txBody>
      </p:sp>
    </p:spTree>
    <p:extLst>
      <p:ext uri="{BB962C8B-B14F-4D97-AF65-F5344CB8AC3E}">
        <p14:creationId xmlns:p14="http://schemas.microsoft.com/office/powerpoint/2010/main" val="414104211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Python</a:t>
            </a:r>
            <a:r>
              <a:rPr lang="zh-CN" altLang="en-US" smtClean="0">
                <a:sym typeface="Huawei Sans" panose="020C0503030203020204" pitchFamily="34" charset="0"/>
              </a:rPr>
              <a:t>脚本编写 </a:t>
            </a:r>
            <a:r>
              <a:rPr lang="en-US" altLang="zh-CN" smtClean="0">
                <a:sym typeface="Huawei Sans" panose="020C0503030203020204" pitchFamily="34" charset="0"/>
              </a:rPr>
              <a:t>(5)</a:t>
            </a:r>
            <a:endParaRPr lang="zh-CN" altLang="en-US" dirty="0">
              <a:sym typeface="Huawei Sans" panose="020C0503030203020204" pitchFamily="34" charset="0"/>
            </a:endParaRPr>
          </a:p>
        </p:txBody>
      </p:sp>
      <p:sp>
        <p:nvSpPr>
          <p:cNvPr id="7" name="文本占位符 3">
            <a:extLst>
              <a:ext uri="{FF2B5EF4-FFF2-40B4-BE49-F238E27FC236}">
                <a16:creationId xmlns="" xmlns:a16="http://schemas.microsoft.com/office/drawing/2014/main" id="{CA0EE224-3D73-4EE2-BA18-107CD32B12DC}"/>
              </a:ext>
            </a:extLst>
          </p:cNvPr>
          <p:cNvSpPr txBox="1">
            <a:spLocks/>
          </p:cNvSpPr>
          <p:nvPr/>
        </p:nvSpPr>
        <p:spPr bwMode="gray">
          <a:xfrm>
            <a:off x="569927" y="994338"/>
            <a:ext cx="6105180" cy="5148262"/>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startupInfo</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startupInfo</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系统启动信息的响应数据类似于下面所示。</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&lt;?xml version="1.0" encoding="UTF-8"?&gt;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rpc</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-reply&gt;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&lt;data&gt;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cfg</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xmlns</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="http://www.huawei.com/netconf/vrp" format-version="1.0" content-version="1.0"&gt;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startupInfos</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startupInfo</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&lt;position&gt;6&lt;/position&gt;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nextStartupFile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&gt;flash:/</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vrpcfg.cfg</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nextStartupFile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configedSysSoft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&gt;flash:/system-software.cc&lt;/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configedSysSoft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curSysSoft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&gt;flash:/system-software.cc&lt;/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curSysSoft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nextSysSoft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&gt;flash:/system-software.cc&lt;/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nextSysSoft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curStartupFile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&gt;flash:/</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vrpcfg.cfg</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curStartupFile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curPatchFile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&gt;NULL&lt;/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curPatchFile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nextPatchFile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&gt;NULL&lt;/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nextPatchFile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startupInfo</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6921661" y="1254169"/>
            <a:ext cx="4824252" cy="154811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en-US"/>
            </a:defPPr>
            <a:lvl1pPr marL="302279" indent="-302279" algn="just" defTabSz="914034" fontAlgn="base">
              <a:lnSpc>
                <a:spcPct val="140000"/>
              </a:lnSpc>
              <a:spcBef>
                <a:spcPts val="792"/>
              </a:spcBef>
              <a:buClrTx/>
              <a:buSzPct val="50000"/>
              <a:buFont typeface="Wingdings" panose="05000000000000000000" pitchFamily="2" charset="2"/>
              <a:buChar char="l"/>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lvl="1" indent="-251899" defTabSz="914034" fontAlgn="base">
              <a:lnSpc>
                <a:spcPct val="140000"/>
              </a:lnSpc>
              <a:spcBef>
                <a:spcPts val="720"/>
              </a:spcBef>
              <a:buClrTx/>
              <a:buSzPct val="50000"/>
              <a:buFont typeface="Wingdings" panose="05000000000000000000" pitchFamily="2" charset="2"/>
              <a:buChar char="p"/>
              <a:defRPr baseline="0">
                <a:latin typeface="Huawei Sans" panose="020C0503030203020204" pitchFamily="34" charset="0"/>
                <a:ea typeface="方正兰亭黑简体" panose="02000000000000000000" pitchFamily="2" charset="-122"/>
              </a:defRPr>
            </a:lvl2pPr>
            <a:lvl3pPr marL="1003998" indent="-201519" defTabSz="914034" fontAlgn="base">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base">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base">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en-US" altLang="zh-CN" dirty="0" err="1">
                <a:sym typeface="Huawei Sans" panose="020C0503030203020204" pitchFamily="34" charset="0"/>
              </a:rPr>
              <a:t>uri</a:t>
            </a:r>
            <a:r>
              <a:rPr lang="zh-CN" altLang="en-US" dirty="0">
                <a:sym typeface="Huawei Sans" panose="020C0503030203020204" pitchFamily="34" charset="0"/>
              </a:rPr>
              <a:t>和</a:t>
            </a:r>
            <a:r>
              <a:rPr lang="en-US" altLang="zh-CN" dirty="0" err="1">
                <a:sym typeface="Huawei Sans" panose="020C0503030203020204" pitchFamily="34" charset="0"/>
              </a:rPr>
              <a:t>req_data</a:t>
            </a:r>
            <a:r>
              <a:rPr lang="zh-CN" altLang="en-US" dirty="0">
                <a:sym typeface="Huawei Sans" panose="020C0503030203020204" pitchFamily="34" charset="0"/>
              </a:rPr>
              <a:t>的值需要根据用户的实际需求，在</a:t>
            </a:r>
            <a:r>
              <a:rPr lang="en-US" altLang="zh-CN" dirty="0">
                <a:sym typeface="Huawei Sans" panose="020C0503030203020204" pitchFamily="34" charset="0"/>
              </a:rPr>
              <a:t>《</a:t>
            </a:r>
            <a:r>
              <a:rPr lang="en-US" altLang="zh-CN" dirty="0" err="1">
                <a:sym typeface="Huawei Sans" panose="020C0503030203020204" pitchFamily="34" charset="0"/>
              </a:rPr>
              <a:t>RESTful</a:t>
            </a:r>
            <a:r>
              <a:rPr lang="en-US" altLang="zh-CN" dirty="0">
                <a:sym typeface="Huawei Sans" panose="020C0503030203020204" pitchFamily="34" charset="0"/>
              </a:rPr>
              <a:t> API</a:t>
            </a:r>
            <a:r>
              <a:rPr lang="zh-CN" altLang="en-US" dirty="0">
                <a:sym typeface="Huawei Sans" panose="020C0503030203020204" pitchFamily="34" charset="0"/>
              </a:rPr>
              <a:t>参考</a:t>
            </a:r>
            <a:r>
              <a:rPr lang="en-US" altLang="zh-CN" dirty="0">
                <a:sym typeface="Huawei Sans" panose="020C0503030203020204" pitchFamily="34" charset="0"/>
              </a:rPr>
              <a:t>》</a:t>
            </a:r>
            <a:r>
              <a:rPr lang="zh-CN" altLang="en-US" dirty="0">
                <a:sym typeface="Huawei Sans" panose="020C0503030203020204" pitchFamily="34" charset="0"/>
              </a:rPr>
              <a:t>文档中查找。</a:t>
            </a:r>
            <a:endParaRPr lang="en-US" altLang="zh-CN" dirty="0">
              <a:sym typeface="Huawei Sans" panose="020C0503030203020204" pitchFamily="34" charset="0"/>
            </a:endParaRPr>
          </a:p>
          <a:p>
            <a:r>
              <a:rPr lang="zh-CN" altLang="en-US" dirty="0">
                <a:sym typeface="Huawei Sans" panose="020C0503030203020204" pitchFamily="34" charset="0"/>
              </a:rPr>
              <a:t>本文中的系统启动信息在</a:t>
            </a:r>
            <a:r>
              <a:rPr lang="en-US" altLang="zh-CN" dirty="0">
                <a:sym typeface="Huawei Sans" panose="020C0503030203020204" pitchFamily="34" charset="0"/>
              </a:rPr>
              <a:t>《</a:t>
            </a:r>
            <a:r>
              <a:rPr lang="en-US" altLang="zh-CN" dirty="0" err="1">
                <a:sym typeface="Huawei Sans" panose="020C0503030203020204" pitchFamily="34" charset="0"/>
              </a:rPr>
              <a:t>RESTful</a:t>
            </a:r>
            <a:r>
              <a:rPr lang="en-US" altLang="zh-CN" dirty="0">
                <a:sym typeface="Huawei Sans" panose="020C0503030203020204" pitchFamily="34" charset="0"/>
              </a:rPr>
              <a:t> API</a:t>
            </a:r>
            <a:r>
              <a:rPr lang="zh-CN" altLang="en-US" dirty="0">
                <a:sym typeface="Huawei Sans" panose="020C0503030203020204" pitchFamily="34" charset="0"/>
              </a:rPr>
              <a:t>参考</a:t>
            </a:r>
            <a:r>
              <a:rPr lang="en-US" altLang="zh-CN" dirty="0">
                <a:sym typeface="Huawei Sans" panose="020C0503030203020204" pitchFamily="34" charset="0"/>
              </a:rPr>
              <a:t>》</a:t>
            </a:r>
            <a:r>
              <a:rPr lang="zh-CN" altLang="en-US" dirty="0">
                <a:sym typeface="Huawei Sans" panose="020C0503030203020204" pitchFamily="34" charset="0"/>
              </a:rPr>
              <a:t>中的内容如下：</a:t>
            </a:r>
          </a:p>
        </p:txBody>
      </p:sp>
      <p:graphicFrame>
        <p:nvGraphicFramePr>
          <p:cNvPr id="11" name="表格 10"/>
          <p:cNvGraphicFramePr>
            <a:graphicFrameLocks noGrp="1"/>
          </p:cNvGraphicFramePr>
          <p:nvPr>
            <p:extLst>
              <p:ext uri="{D42A27DB-BD31-4B8C-83A1-F6EECF244321}">
                <p14:modId xmlns:p14="http://schemas.microsoft.com/office/powerpoint/2010/main" val="849512578"/>
              </p:ext>
            </p:extLst>
          </p:nvPr>
        </p:nvGraphicFramePr>
        <p:xfrm>
          <a:off x="6761420" y="2802029"/>
          <a:ext cx="4964829" cy="817479"/>
        </p:xfrm>
        <a:graphic>
          <a:graphicData uri="http://schemas.openxmlformats.org/drawingml/2006/table">
            <a:tbl>
              <a:tblPr/>
              <a:tblGrid>
                <a:gridCol w="799498">
                  <a:extLst>
                    <a:ext uri="{9D8B030D-6E8A-4147-A177-3AD203B41FA5}">
                      <a16:colId xmlns="" xmlns:a16="http://schemas.microsoft.com/office/drawing/2014/main" val="20000"/>
                    </a:ext>
                  </a:extLst>
                </a:gridCol>
                <a:gridCol w="2511014">
                  <a:extLst>
                    <a:ext uri="{9D8B030D-6E8A-4147-A177-3AD203B41FA5}">
                      <a16:colId xmlns="" xmlns:a16="http://schemas.microsoft.com/office/drawing/2014/main" val="20001"/>
                    </a:ext>
                  </a:extLst>
                </a:gridCol>
                <a:gridCol w="1654317">
                  <a:extLst>
                    <a:ext uri="{9D8B030D-6E8A-4147-A177-3AD203B41FA5}">
                      <a16:colId xmlns="" xmlns:a16="http://schemas.microsoft.com/office/drawing/2014/main" val="20002"/>
                    </a:ext>
                  </a:extLst>
                </a:gridCol>
              </a:tblGrid>
              <a:tr h="383623">
                <a:tc>
                  <a:txBody>
                    <a:bodyPr/>
                    <a:lstStyle/>
                    <a:p>
                      <a:pPr algn="ctr">
                        <a:lnSpc>
                          <a:spcPct val="100000"/>
                        </a:lnSpc>
                      </a:pPr>
                      <a:r>
                        <a:rPr lang="zh-CN" altLang="en-US"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操作</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en-US" altLang="zh-CN"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URI</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描述</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433856">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GET</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cfg</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startupInfos</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startupInfo</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获取系统启动信息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12" name="文本占位符 3">
            <a:extLst>
              <a:ext uri="{FF2B5EF4-FFF2-40B4-BE49-F238E27FC236}">
                <a16:creationId xmlns="" xmlns:a16="http://schemas.microsoft.com/office/drawing/2014/main" id="{CA0EE224-3D73-4EE2-BA18-107CD32B12DC}"/>
              </a:ext>
            </a:extLst>
          </p:cNvPr>
          <p:cNvSpPr txBox="1">
            <a:spLocks/>
          </p:cNvSpPr>
          <p:nvPr/>
        </p:nvSpPr>
        <p:spPr bwMode="gray">
          <a:xfrm>
            <a:off x="7351000" y="4074277"/>
            <a:ext cx="3785668" cy="1381884"/>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zh-CN" altLang="en-US" sz="1400" b="1" kern="0" dirty="0" smtClean="0">
                <a:latin typeface="Huawei Sans" panose="020C0503030203020204" pitchFamily="34" charset="0"/>
                <a:ea typeface="方正兰亭黑简体" panose="02000000000000000000" pitchFamily="2" charset="-122"/>
                <a:sym typeface="Huawei Sans" panose="020C0503030203020204" pitchFamily="34" charset="0"/>
              </a:rPr>
              <a:t>请求示例：</a:t>
            </a:r>
            <a:endParaRPr lang="en-US" altLang="zh-CN" sz="1400" b="1" kern="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400" kern="0" dirty="0" smtClean="0">
                <a:latin typeface="Huawei Sans" panose="020C0503030203020204" pitchFamily="34" charset="0"/>
                <a:ea typeface="方正兰亭黑简体" panose="02000000000000000000" pitchFamily="2" charset="-122"/>
                <a:sym typeface="Huawei Sans" panose="020C0503030203020204" pitchFamily="34" charset="0"/>
              </a:rPr>
              <a:t>&lt;?</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xml version="1.0" encoding="UTF-8"?&gt;</a:t>
            </a:r>
          </a:p>
          <a:p>
            <a:pPr marL="0" indent="0">
              <a:lnSpc>
                <a:spcPct val="100000"/>
              </a:lnSpc>
              <a:buNone/>
            </a:pPr>
            <a:r>
              <a:rPr lang="en-US" altLang="zh-CN" sz="1400" kern="0" dirty="0" smtClean="0">
                <a:latin typeface="Huawei Sans" panose="020C0503030203020204" pitchFamily="34" charset="0"/>
                <a:ea typeface="方正兰亭黑简体" panose="02000000000000000000" pitchFamily="2" charset="-122"/>
                <a:sym typeface="Huawei Sans" panose="020C0503030203020204" pitchFamily="34" charset="0"/>
              </a:rPr>
              <a:t>&lt;</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startupInfos</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400" kern="0" dirty="0" smtClean="0">
                <a:latin typeface="Huawei Sans" panose="020C0503030203020204" pitchFamily="34" charset="0"/>
                <a:ea typeface="方正兰亭黑简体" panose="02000000000000000000" pitchFamily="2" charset="-122"/>
                <a:sym typeface="Huawei Sans" panose="020C0503030203020204" pitchFamily="34" charset="0"/>
              </a:rPr>
              <a:t>&lt;/</a:t>
            </a:r>
            <a:r>
              <a:rPr lang="en-US" altLang="zh-CN" sz="1400" kern="0" dirty="0" err="1">
                <a:latin typeface="Huawei Sans" panose="020C0503030203020204" pitchFamily="34" charset="0"/>
                <a:ea typeface="方正兰亭黑简体" panose="02000000000000000000" pitchFamily="2" charset="-122"/>
                <a:sym typeface="Huawei Sans" panose="020C0503030203020204" pitchFamily="34" charset="0"/>
              </a:rPr>
              <a:t>startupInfo</a:t>
            </a:r>
            <a:r>
              <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endParaRPr lang="en-US" altLang="zh-CN" sz="14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268237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Python</a:t>
            </a:r>
            <a:r>
              <a:rPr lang="zh-CN" altLang="en-US" smtClean="0">
                <a:sym typeface="Huawei Sans" panose="020C0503030203020204" pitchFamily="34" charset="0"/>
              </a:rPr>
              <a:t>脚本编写 </a:t>
            </a:r>
            <a:r>
              <a:rPr lang="en-US" altLang="zh-CN" smtClean="0">
                <a:sym typeface="Huawei Sans" panose="020C0503030203020204" pitchFamily="34" charset="0"/>
              </a:rPr>
              <a:t>(6)</a:t>
            </a:r>
            <a:endParaRPr lang="zh-CN" altLang="en-US" dirty="0">
              <a:sym typeface="Huawei Sans" panose="020C0503030203020204" pitchFamily="34" charset="0"/>
            </a:endParaRPr>
          </a:p>
        </p:txBody>
      </p:sp>
      <p:sp>
        <p:nvSpPr>
          <p:cNvPr id="7" name="文本占位符 3">
            <a:extLst>
              <a:ext uri="{FF2B5EF4-FFF2-40B4-BE49-F238E27FC236}">
                <a16:creationId xmlns="" xmlns:a16="http://schemas.microsoft.com/office/drawing/2014/main" id="{CA0EE224-3D73-4EE2-BA18-107CD32B12DC}"/>
              </a:ext>
            </a:extLst>
          </p:cNvPr>
          <p:cNvSpPr txBox="1">
            <a:spLocks/>
          </p:cNvSpPr>
          <p:nvPr/>
        </p:nvSpPr>
        <p:spPr bwMode="gray">
          <a:xfrm>
            <a:off x="550263" y="1017179"/>
            <a:ext cx="6105180" cy="5148262"/>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startupInfos</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cfg</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&lt;/data&gt;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rpc</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-reply&gt;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执行一个</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GET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操作请求。</a:t>
            </a:r>
          </a:p>
          <a:p>
            <a:pPr marL="0" indent="0">
              <a:lnSpc>
                <a:spcPct val="100000"/>
              </a:lnSpc>
              <a:buNone/>
            </a:pP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ret, _,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rsp_data</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ops_conn.get</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if ret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httplib.OK</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 None</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rsp_data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main()</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函数定义脚本运行时需要执行的操作，用户可根据实际需求进行修改。</a:t>
            </a:r>
          </a:p>
          <a:p>
            <a:pPr marL="0" indent="0">
              <a:lnSpc>
                <a:spcPct val="100000"/>
              </a:lnSpc>
              <a:buNone/>
            </a:pP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def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main():</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"""The main function."""</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host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localhost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try:</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ops_conn</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OPSConnection</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(host)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调用获取系统启动信息的函数。</a:t>
            </a:r>
          </a:p>
        </p:txBody>
      </p:sp>
      <p:sp>
        <p:nvSpPr>
          <p:cNvPr id="4" name="文本框 3"/>
          <p:cNvSpPr txBox="1"/>
          <p:nvPr/>
        </p:nvSpPr>
        <p:spPr bwMode="gray">
          <a:xfrm>
            <a:off x="6921661" y="1254169"/>
            <a:ext cx="4824252" cy="381559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en-US"/>
            </a:defPPr>
            <a:lvl1pPr marL="302279" indent="-302279" algn="just" defTabSz="914034" fontAlgn="base">
              <a:lnSpc>
                <a:spcPct val="140000"/>
              </a:lnSpc>
              <a:spcBef>
                <a:spcPts val="792"/>
              </a:spcBef>
              <a:buClrTx/>
              <a:buSzPct val="50000"/>
              <a:buFont typeface="Wingdings" panose="05000000000000000000" pitchFamily="2" charset="2"/>
              <a:buChar char="l"/>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lvl="1" indent="-251899" defTabSz="914034" fontAlgn="base">
              <a:lnSpc>
                <a:spcPct val="140000"/>
              </a:lnSpc>
              <a:spcBef>
                <a:spcPts val="720"/>
              </a:spcBef>
              <a:buClrTx/>
              <a:buSzPct val="50000"/>
              <a:buFont typeface="Wingdings" panose="05000000000000000000" pitchFamily="2" charset="2"/>
              <a:buChar char="p"/>
              <a:defRPr baseline="0">
                <a:latin typeface="Huawei Sans" panose="020C0503030203020204" pitchFamily="34" charset="0"/>
                <a:ea typeface="方正兰亭黑简体" panose="02000000000000000000" pitchFamily="2" charset="-122"/>
              </a:defRPr>
            </a:lvl2pPr>
            <a:lvl3pPr marL="1003998" indent="-201519" defTabSz="914034" fontAlgn="base">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base">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base">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zh-CN" altLang="en-US" dirty="0">
                <a:sym typeface="Huawei Sans" panose="020C0503030203020204" pitchFamily="34" charset="0"/>
              </a:rPr>
              <a:t>根据</a:t>
            </a:r>
            <a:r>
              <a:rPr lang="en-US" altLang="zh-CN" dirty="0">
                <a:sym typeface="Huawei Sans" panose="020C0503030203020204" pitchFamily="34" charset="0"/>
              </a:rPr>
              <a:t>《</a:t>
            </a:r>
            <a:r>
              <a:rPr lang="en-US" altLang="zh-CN" dirty="0" err="1">
                <a:sym typeface="Huawei Sans" panose="020C0503030203020204" pitchFamily="34" charset="0"/>
              </a:rPr>
              <a:t>RESTful</a:t>
            </a:r>
            <a:r>
              <a:rPr lang="en-US" altLang="zh-CN" dirty="0">
                <a:sym typeface="Huawei Sans" panose="020C0503030203020204" pitchFamily="34" charset="0"/>
              </a:rPr>
              <a:t> API</a:t>
            </a:r>
            <a:r>
              <a:rPr lang="zh-CN" altLang="en-US" dirty="0">
                <a:sym typeface="Huawei Sans" panose="020C0503030203020204" pitchFamily="34" charset="0"/>
              </a:rPr>
              <a:t>参考</a:t>
            </a:r>
            <a:r>
              <a:rPr lang="en-US" altLang="zh-CN" dirty="0">
                <a:sym typeface="Huawei Sans" panose="020C0503030203020204" pitchFamily="34" charset="0"/>
              </a:rPr>
              <a:t>》</a:t>
            </a:r>
            <a:r>
              <a:rPr lang="zh-CN" altLang="en-US" dirty="0">
                <a:sym typeface="Huawei Sans" panose="020C0503030203020204" pitchFamily="34" charset="0"/>
              </a:rPr>
              <a:t>，获取系统启动信息</a:t>
            </a:r>
            <a:r>
              <a:rPr lang="en-US" altLang="zh-CN" dirty="0" err="1">
                <a:sym typeface="Huawei Sans" panose="020C0503030203020204" pitchFamily="34" charset="0"/>
              </a:rPr>
              <a:t>RESTful</a:t>
            </a:r>
            <a:r>
              <a:rPr lang="en-US" altLang="zh-CN" dirty="0">
                <a:sym typeface="Huawei Sans" panose="020C0503030203020204" pitchFamily="34" charset="0"/>
              </a:rPr>
              <a:t> API</a:t>
            </a:r>
            <a:r>
              <a:rPr lang="zh-CN" altLang="en-US" dirty="0">
                <a:sym typeface="Huawei Sans" panose="020C0503030203020204" pitchFamily="34" charset="0"/>
              </a:rPr>
              <a:t>对应的</a:t>
            </a:r>
            <a:r>
              <a:rPr lang="en-US" altLang="zh-CN" dirty="0">
                <a:sym typeface="Huawei Sans" panose="020C0503030203020204" pitchFamily="34" charset="0"/>
              </a:rPr>
              <a:t>HTTP</a:t>
            </a:r>
            <a:r>
              <a:rPr lang="zh-CN" altLang="en-US" dirty="0">
                <a:sym typeface="Huawei Sans" panose="020C0503030203020204" pitchFamily="34" charset="0"/>
              </a:rPr>
              <a:t>操作是</a:t>
            </a:r>
            <a:r>
              <a:rPr lang="en-US" altLang="zh-CN" dirty="0">
                <a:sym typeface="Huawei Sans" panose="020C0503030203020204" pitchFamily="34" charset="0"/>
              </a:rPr>
              <a:t>GET</a:t>
            </a:r>
            <a:r>
              <a:rPr lang="zh-CN" altLang="en-US" dirty="0">
                <a:sym typeface="Huawei Sans" panose="020C0503030203020204" pitchFamily="34" charset="0"/>
              </a:rPr>
              <a:t>，因此调用</a:t>
            </a:r>
            <a:r>
              <a:rPr lang="en-US" altLang="zh-CN" dirty="0" err="1">
                <a:sym typeface="Huawei Sans" panose="020C0503030203020204" pitchFamily="34" charset="0"/>
              </a:rPr>
              <a:t>OPSConnection</a:t>
            </a:r>
            <a:r>
              <a:rPr lang="zh-CN" altLang="en-US" dirty="0">
                <a:sym typeface="Huawei Sans" panose="020C0503030203020204" pitchFamily="34" charset="0"/>
              </a:rPr>
              <a:t>类实例的</a:t>
            </a:r>
            <a:r>
              <a:rPr lang="en-US" altLang="zh-CN" dirty="0">
                <a:sym typeface="Huawei Sans" panose="020C0503030203020204" pitchFamily="34" charset="0"/>
              </a:rPr>
              <a:t>get</a:t>
            </a:r>
            <a:r>
              <a:rPr lang="zh-CN" altLang="en-US" dirty="0">
                <a:sym typeface="Huawei Sans" panose="020C0503030203020204" pitchFamily="34" charset="0"/>
              </a:rPr>
              <a:t>方法。</a:t>
            </a:r>
            <a:endParaRPr lang="en-US" altLang="zh-CN" dirty="0">
              <a:sym typeface="Huawei Sans" panose="020C0503030203020204" pitchFamily="34" charset="0"/>
            </a:endParaRPr>
          </a:p>
          <a:p>
            <a:r>
              <a:rPr lang="zh-CN" altLang="en-US" dirty="0">
                <a:sym typeface="Huawei Sans" panose="020C0503030203020204" pitchFamily="34" charset="0"/>
              </a:rPr>
              <a:t>用户可以根据自己需实现的设备管理功能，修改</a:t>
            </a:r>
            <a:r>
              <a:rPr lang="en-US" altLang="zh-CN" dirty="0">
                <a:sym typeface="Huawei Sans" panose="020C0503030203020204" pitchFamily="34" charset="0"/>
              </a:rPr>
              <a:t>get</a:t>
            </a:r>
            <a:r>
              <a:rPr lang="zh-CN" altLang="en-US" dirty="0">
                <a:sym typeface="Huawei Sans" panose="020C0503030203020204" pitchFamily="34" charset="0"/>
              </a:rPr>
              <a:t>方法为</a:t>
            </a:r>
            <a:r>
              <a:rPr lang="en-US" altLang="zh-CN" dirty="0" err="1">
                <a:sym typeface="Huawei Sans" panose="020C0503030203020204" pitchFamily="34" charset="0"/>
              </a:rPr>
              <a:t>OPSConnection</a:t>
            </a:r>
            <a:r>
              <a:rPr lang="zh-CN" altLang="en-US" dirty="0">
                <a:sym typeface="Huawei Sans" panose="020C0503030203020204" pitchFamily="34" charset="0"/>
              </a:rPr>
              <a:t>类的</a:t>
            </a:r>
            <a:r>
              <a:rPr lang="en-US" altLang="zh-CN" dirty="0">
                <a:sym typeface="Huawei Sans" panose="020C0503030203020204" pitchFamily="34" charset="0"/>
              </a:rPr>
              <a:t>create</a:t>
            </a:r>
            <a:r>
              <a:rPr lang="zh-CN" altLang="en-US" dirty="0">
                <a:sym typeface="Huawei Sans" panose="020C0503030203020204" pitchFamily="34" charset="0"/>
              </a:rPr>
              <a:t>，</a:t>
            </a:r>
            <a:r>
              <a:rPr lang="en-US" altLang="zh-CN" dirty="0">
                <a:sym typeface="Huawei Sans" panose="020C0503030203020204" pitchFamily="34" charset="0"/>
              </a:rPr>
              <a:t>delete</a:t>
            </a:r>
            <a:r>
              <a:rPr lang="zh-CN" altLang="en-US" dirty="0">
                <a:sym typeface="Huawei Sans" panose="020C0503030203020204" pitchFamily="34" charset="0"/>
              </a:rPr>
              <a:t>或</a:t>
            </a:r>
            <a:r>
              <a:rPr lang="en-US" altLang="zh-CN" dirty="0">
                <a:sym typeface="Huawei Sans" panose="020C0503030203020204" pitchFamily="34" charset="0"/>
              </a:rPr>
              <a:t>set</a:t>
            </a:r>
            <a:r>
              <a:rPr lang="zh-CN" altLang="en-US" dirty="0">
                <a:sym typeface="Huawei Sans" panose="020C0503030203020204" pitchFamily="34" charset="0"/>
              </a:rPr>
              <a:t>方法。</a:t>
            </a:r>
            <a:endParaRPr lang="en-US" altLang="zh-CN" dirty="0">
              <a:sym typeface="Huawei Sans" panose="020C0503030203020204" pitchFamily="34" charset="0"/>
            </a:endParaRPr>
          </a:p>
          <a:p>
            <a:r>
              <a:rPr lang="en-US" altLang="zh-CN" dirty="0" err="1">
                <a:sym typeface="Huawei Sans" panose="020C0503030203020204" pitchFamily="34" charset="0"/>
              </a:rPr>
              <a:t>req_data</a:t>
            </a:r>
            <a:r>
              <a:rPr lang="zh-CN" altLang="en-US" dirty="0">
                <a:sym typeface="Huawei Sans" panose="020C0503030203020204" pitchFamily="34" charset="0"/>
              </a:rPr>
              <a:t>为发送的请求内容，</a:t>
            </a:r>
            <a:r>
              <a:rPr lang="en-US" altLang="zh-CN" dirty="0" err="1">
                <a:sym typeface="Huawei Sans" panose="020C0503030203020204" pitchFamily="34" charset="0"/>
              </a:rPr>
              <a:t>rsp_data</a:t>
            </a:r>
            <a:r>
              <a:rPr lang="zh-CN" altLang="en-US" dirty="0">
                <a:sym typeface="Huawei Sans" panose="020C0503030203020204" pitchFamily="34" charset="0"/>
              </a:rPr>
              <a:t>为网络设备执行请求操作后的响应消息。</a:t>
            </a:r>
            <a:endParaRPr lang="en-US" altLang="zh-CN" dirty="0">
              <a:sym typeface="Huawei Sans" panose="020C0503030203020204" pitchFamily="34" charset="0"/>
            </a:endParaRPr>
          </a:p>
          <a:p>
            <a:r>
              <a:rPr lang="en-US" altLang="zh-CN" dirty="0">
                <a:sym typeface="Huawei Sans" panose="020C0503030203020204" pitchFamily="34" charset="0"/>
              </a:rPr>
              <a:t>main()</a:t>
            </a:r>
            <a:r>
              <a:rPr lang="zh-CN" altLang="en-US" dirty="0">
                <a:sym typeface="Huawei Sans" panose="020C0503030203020204" pitchFamily="34" charset="0"/>
              </a:rPr>
              <a:t>方法中</a:t>
            </a:r>
            <a:r>
              <a:rPr lang="en-US" altLang="zh-CN" dirty="0">
                <a:sym typeface="Huawei Sans" panose="020C0503030203020204" pitchFamily="34" charset="0"/>
              </a:rPr>
              <a:t>host</a:t>
            </a:r>
            <a:r>
              <a:rPr lang="zh-CN" altLang="en-US" dirty="0">
                <a:sym typeface="Huawei Sans" panose="020C0503030203020204" pitchFamily="34" charset="0"/>
              </a:rPr>
              <a:t>表示环路地址，目前</a:t>
            </a:r>
            <a:r>
              <a:rPr lang="en-US" altLang="zh-CN" dirty="0" err="1">
                <a:sym typeface="Huawei Sans" panose="020C0503030203020204" pitchFamily="34" charset="0"/>
              </a:rPr>
              <a:t>RESTful</a:t>
            </a:r>
            <a:r>
              <a:rPr lang="en-US" altLang="zh-CN" dirty="0">
                <a:sym typeface="Huawei Sans" panose="020C0503030203020204" pitchFamily="34" charset="0"/>
              </a:rPr>
              <a:t> API</a:t>
            </a:r>
            <a:r>
              <a:rPr lang="zh-CN" altLang="en-US" dirty="0">
                <a:sym typeface="Huawei Sans" panose="020C0503030203020204" pitchFamily="34" charset="0"/>
              </a:rPr>
              <a:t>仅支持设备内部调用，即取值“</a:t>
            </a:r>
            <a:r>
              <a:rPr lang="en-US" altLang="zh-CN" dirty="0">
                <a:sym typeface="Huawei Sans" panose="020C0503030203020204" pitchFamily="34" charset="0"/>
              </a:rPr>
              <a:t>localhost</a:t>
            </a:r>
            <a:r>
              <a:rPr lang="zh-CN" altLang="en-US" dirty="0">
                <a:sym typeface="Huawei Sans" panose="020C0503030203020204" pitchFamily="34" charset="0"/>
              </a:rPr>
              <a:t>”。</a:t>
            </a:r>
            <a:endParaRPr lang="en-US" altLang="zh-CN" dirty="0">
              <a:sym typeface="Huawei Sans" panose="020C0503030203020204" pitchFamily="34" charset="0"/>
            </a:endParaRPr>
          </a:p>
        </p:txBody>
      </p:sp>
    </p:spTree>
    <p:extLst>
      <p:ext uri="{BB962C8B-B14F-4D97-AF65-F5344CB8AC3E}">
        <p14:creationId xmlns:p14="http://schemas.microsoft.com/office/powerpoint/2010/main" val="16014640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Python</a:t>
            </a:r>
            <a:r>
              <a:rPr lang="zh-CN" altLang="en-US" smtClean="0">
                <a:sym typeface="Huawei Sans" panose="020C0503030203020204" pitchFamily="34" charset="0"/>
              </a:rPr>
              <a:t>脚本编写 </a:t>
            </a:r>
            <a:r>
              <a:rPr lang="en-US" altLang="zh-CN" smtClean="0">
                <a:sym typeface="Huawei Sans" panose="020C0503030203020204" pitchFamily="34" charset="0"/>
              </a:rPr>
              <a:t>(7)</a:t>
            </a:r>
            <a:endParaRPr lang="zh-CN" altLang="en-US" dirty="0">
              <a:sym typeface="Huawei Sans" panose="020C0503030203020204" pitchFamily="34" charset="0"/>
            </a:endParaRPr>
          </a:p>
        </p:txBody>
      </p:sp>
      <p:sp>
        <p:nvSpPr>
          <p:cNvPr id="7" name="文本占位符 3">
            <a:extLst>
              <a:ext uri="{FF2B5EF4-FFF2-40B4-BE49-F238E27FC236}">
                <a16:creationId xmlns="" xmlns:a16="http://schemas.microsoft.com/office/drawing/2014/main" id="{CA0EE224-3D73-4EE2-BA18-107CD32B12DC}"/>
              </a:ext>
            </a:extLst>
          </p:cNvPr>
          <p:cNvSpPr txBox="1">
            <a:spLocks/>
          </p:cNvSpPr>
          <p:nvPr/>
        </p:nvSpPr>
        <p:spPr bwMode="gray">
          <a:xfrm>
            <a:off x="550263" y="1233488"/>
            <a:ext cx="6105180" cy="3005025"/>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rsp_data</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get_startup_info</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ops_conn</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关闭</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ops_conn.close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except: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errinfo</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traceback.format_exc</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print(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errinfo</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if __name__ == "__main__":</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main()</a:t>
            </a:r>
          </a:p>
        </p:txBody>
      </p:sp>
      <p:sp>
        <p:nvSpPr>
          <p:cNvPr id="4" name="文本框 3"/>
          <p:cNvSpPr txBox="1"/>
          <p:nvPr/>
        </p:nvSpPr>
        <p:spPr bwMode="gray">
          <a:xfrm>
            <a:off x="6921661" y="1254169"/>
            <a:ext cx="4824252" cy="265919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defPPr>
              <a:defRPr lang="en-US"/>
            </a:defPPr>
            <a:lvl1pPr marL="302279" indent="-302279" algn="just" defTabSz="914034" fontAlgn="base">
              <a:lnSpc>
                <a:spcPct val="140000"/>
              </a:lnSpc>
              <a:spcBef>
                <a:spcPts val="792"/>
              </a:spcBef>
              <a:buClrTx/>
              <a:buSzPct val="50000"/>
              <a:buFont typeface="Wingdings" panose="05000000000000000000" pitchFamily="2" charset="2"/>
              <a:buChar char="l"/>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lvl="1" indent="-251899" defTabSz="914034" fontAlgn="base">
              <a:lnSpc>
                <a:spcPct val="140000"/>
              </a:lnSpc>
              <a:spcBef>
                <a:spcPts val="720"/>
              </a:spcBef>
              <a:buClrTx/>
              <a:buSzPct val="50000"/>
              <a:buFont typeface="Wingdings" panose="05000000000000000000" pitchFamily="2" charset="2"/>
              <a:buChar char="p"/>
              <a:defRPr baseline="0">
                <a:latin typeface="Huawei Sans" panose="020C0503030203020204" pitchFamily="34" charset="0"/>
                <a:ea typeface="方正兰亭黑简体" panose="02000000000000000000" pitchFamily="2" charset="-122"/>
              </a:defRPr>
            </a:lvl2pPr>
            <a:lvl3pPr marL="1003998" indent="-201519" defTabSz="914034" fontAlgn="base">
              <a:lnSpc>
                <a:spcPct val="140000"/>
              </a:lnSpc>
              <a:spcBef>
                <a:spcPts val="648"/>
              </a:spcBef>
              <a:buClrTx/>
              <a:buSzPct val="50000"/>
              <a:buFont typeface="Wingdings" panose="05000000000000000000" pitchFamily="2" charset="2"/>
              <a:buChar char="n"/>
              <a:defRPr sz="1799" baseline="0">
                <a:latin typeface="Huawei Sans" panose="020C0503030203020204" pitchFamily="34" charset="0"/>
                <a:ea typeface="方正兰亭黑简体" panose="02000000000000000000" pitchFamily="2" charset="-122"/>
              </a:defRPr>
            </a:lvl3pPr>
            <a:lvl4pPr marL="1399840" indent="-197921" defTabSz="914034" fontAlgn="base">
              <a:lnSpc>
                <a:spcPct val="140000"/>
              </a:lnSpc>
              <a:spcBef>
                <a:spcPts val="576"/>
              </a:spcBef>
              <a:buFont typeface="Huawei Sans" panose="020C0503030203020204" pitchFamily="34" charset="0"/>
              <a:buChar char="−"/>
              <a:defRPr sz="1599" baseline="0">
                <a:latin typeface="Huawei Sans" panose="020C0503030203020204" pitchFamily="34" charset="0"/>
                <a:ea typeface="方正兰亭黑简体" panose="02000000000000000000" pitchFamily="2" charset="-122"/>
              </a:defRPr>
            </a:lvl4pPr>
            <a:lvl5pPr marL="1802879" indent="-201519" defTabSz="914034" fontAlgn="base">
              <a:lnSpc>
                <a:spcPct val="140000"/>
              </a:lnSpc>
              <a:spcBef>
                <a:spcPts val="576"/>
              </a:spcBef>
              <a:buFont typeface="Huawei Sans" panose="020C0503030203020204" pitchFamily="34" charset="0"/>
              <a:buChar char="~"/>
              <a:defRPr sz="1399" baseline="0">
                <a:latin typeface="Huawei Sans" panose="020C0503030203020204" pitchFamily="34" charset="0"/>
                <a:ea typeface="方正兰亭黑简体" panose="02000000000000000000" pitchFamily="2" charset="-122"/>
              </a:defRPr>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zh-CN" altLang="en-US" dirty="0">
                <a:sym typeface="Huawei Sans" panose="020C0503030203020204" pitchFamily="34" charset="0"/>
              </a:rPr>
              <a:t>用户在</a:t>
            </a:r>
            <a:r>
              <a:rPr lang="en-US" altLang="zh-CN" dirty="0">
                <a:sym typeface="Huawei Sans" panose="020C0503030203020204" pitchFamily="34" charset="0"/>
              </a:rPr>
              <a:t>main()</a:t>
            </a:r>
            <a:r>
              <a:rPr lang="zh-CN" altLang="en-US" dirty="0">
                <a:sym typeface="Huawei Sans" panose="020C0503030203020204" pitchFamily="34" charset="0"/>
              </a:rPr>
              <a:t>方法调用自己根据</a:t>
            </a:r>
            <a:r>
              <a:rPr lang="en-US" altLang="zh-CN" dirty="0" err="1">
                <a:sym typeface="Huawei Sans" panose="020C0503030203020204" pitchFamily="34" charset="0"/>
              </a:rPr>
              <a:t>RESTful</a:t>
            </a:r>
            <a:r>
              <a:rPr lang="en-US" altLang="zh-CN" dirty="0">
                <a:sym typeface="Huawei Sans" panose="020C0503030203020204" pitchFamily="34" charset="0"/>
              </a:rPr>
              <a:t> API</a:t>
            </a:r>
            <a:r>
              <a:rPr lang="zh-CN" altLang="en-US" dirty="0">
                <a:sym typeface="Huawei Sans" panose="020C0503030203020204" pitchFamily="34" charset="0"/>
              </a:rPr>
              <a:t>编写的方法，如本文中的</a:t>
            </a:r>
            <a:r>
              <a:rPr lang="en-US" altLang="zh-CN" dirty="0" err="1">
                <a:sym typeface="Huawei Sans" panose="020C0503030203020204" pitchFamily="34" charset="0"/>
              </a:rPr>
              <a:t>get_startup_info</a:t>
            </a:r>
            <a:r>
              <a:rPr lang="zh-CN" altLang="en-US" dirty="0">
                <a:sym typeface="Huawei Sans" panose="020C0503030203020204" pitchFamily="34" charset="0"/>
              </a:rPr>
              <a:t>方法，完成整个脚本需要执行的功能。</a:t>
            </a:r>
            <a:endParaRPr lang="en-US" altLang="zh-CN" dirty="0">
              <a:sym typeface="Huawei Sans" panose="020C0503030203020204" pitchFamily="34" charset="0"/>
            </a:endParaRPr>
          </a:p>
          <a:p>
            <a:r>
              <a:rPr lang="zh-CN" altLang="en-US" dirty="0">
                <a:sym typeface="Huawei Sans" panose="020C0503030203020204" pitchFamily="34" charset="0"/>
              </a:rPr>
              <a:t>在</a:t>
            </a:r>
            <a:r>
              <a:rPr lang="en-US" altLang="zh-CN" dirty="0">
                <a:sym typeface="Huawei Sans" panose="020C0503030203020204" pitchFamily="34" charset="0"/>
              </a:rPr>
              <a:t>main()</a:t>
            </a:r>
            <a:r>
              <a:rPr lang="zh-CN" altLang="en-US" dirty="0">
                <a:sym typeface="Huawei Sans" panose="020C0503030203020204" pitchFamily="34" charset="0"/>
              </a:rPr>
              <a:t>方法中结合使用各种</a:t>
            </a:r>
            <a:r>
              <a:rPr lang="en-US" altLang="zh-CN" dirty="0" err="1">
                <a:sym typeface="Huawei Sans" panose="020C0503030203020204" pitchFamily="34" charset="0"/>
              </a:rPr>
              <a:t>RESTful</a:t>
            </a:r>
            <a:r>
              <a:rPr lang="en-US" altLang="zh-CN" dirty="0">
                <a:sym typeface="Huawei Sans" panose="020C0503030203020204" pitchFamily="34" charset="0"/>
              </a:rPr>
              <a:t> API</a:t>
            </a:r>
            <a:r>
              <a:rPr lang="zh-CN" altLang="en-US" dirty="0">
                <a:sym typeface="Huawei Sans" panose="020C0503030203020204" pitchFamily="34" charset="0"/>
              </a:rPr>
              <a:t>和</a:t>
            </a:r>
            <a:r>
              <a:rPr lang="en-US" altLang="zh-CN" dirty="0">
                <a:sym typeface="Huawei Sans" panose="020C0503030203020204" pitchFamily="34" charset="0"/>
              </a:rPr>
              <a:t>Python</a:t>
            </a:r>
            <a:r>
              <a:rPr lang="zh-CN" altLang="en-US" dirty="0">
                <a:sym typeface="Huawei Sans" panose="020C0503030203020204" pitchFamily="34" charset="0"/>
              </a:rPr>
              <a:t>语言的循环，判断等结构，可以灵活地实现网络设备的各种管理功能。</a:t>
            </a:r>
            <a:endParaRPr lang="en-US" altLang="zh-CN" dirty="0">
              <a:sym typeface="Huawei Sans" panose="020C0503030203020204" pitchFamily="34" charset="0"/>
            </a:endParaRPr>
          </a:p>
          <a:p>
            <a:r>
              <a:rPr lang="zh-CN" altLang="en-US" dirty="0">
                <a:sym typeface="Huawei Sans" panose="020C0503030203020204" pitchFamily="34" charset="0"/>
              </a:rPr>
              <a:t>脚本最后执行</a:t>
            </a:r>
            <a:r>
              <a:rPr lang="en-US" altLang="zh-CN" dirty="0">
                <a:sym typeface="Huawei Sans" panose="020C0503030203020204" pitchFamily="34" charset="0"/>
              </a:rPr>
              <a:t>main()</a:t>
            </a:r>
            <a:r>
              <a:rPr lang="zh-CN" altLang="en-US" dirty="0">
                <a:sym typeface="Huawei Sans" panose="020C0503030203020204" pitchFamily="34" charset="0"/>
              </a:rPr>
              <a:t>方法。</a:t>
            </a:r>
            <a:endParaRPr lang="en-US" altLang="zh-CN" dirty="0">
              <a:sym typeface="Huawei Sans" panose="020C0503030203020204" pitchFamily="34" charset="0"/>
            </a:endParaRPr>
          </a:p>
        </p:txBody>
      </p:sp>
    </p:spTree>
    <p:extLst>
      <p:ext uri="{BB962C8B-B14F-4D97-AF65-F5344CB8AC3E}">
        <p14:creationId xmlns:p14="http://schemas.microsoft.com/office/powerpoint/2010/main" val="20723622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案例：获取设备</a:t>
            </a:r>
            <a:r>
              <a:rPr lang="en-US" altLang="zh-CN" smtClean="0">
                <a:sym typeface="Huawei Sans" panose="020C0503030203020204" pitchFamily="34" charset="0"/>
              </a:rPr>
              <a:t>CPU</a:t>
            </a:r>
            <a:r>
              <a:rPr lang="zh-CN" altLang="en-US" smtClean="0">
                <a:sym typeface="Huawei Sans" panose="020C0503030203020204" pitchFamily="34" charset="0"/>
              </a:rPr>
              <a:t>信息</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smtClean="0">
                <a:sym typeface="Huawei Sans" panose="020C0503030203020204" pitchFamily="34" charset="0"/>
              </a:rPr>
              <a:t>案例描述：网络管理员利用网络设备的</a:t>
            </a:r>
            <a:r>
              <a:rPr lang="en-US" altLang="zh-CN" sz="1800" smtClean="0">
                <a:sym typeface="Huawei Sans" panose="020C0503030203020204" pitchFamily="34" charset="0"/>
              </a:rPr>
              <a:t>OPS</a:t>
            </a:r>
            <a:r>
              <a:rPr lang="zh-CN" altLang="en-US" sz="1800" smtClean="0">
                <a:sym typeface="Huawei Sans" panose="020C0503030203020204" pitchFamily="34" charset="0"/>
              </a:rPr>
              <a:t>功能，编写</a:t>
            </a:r>
            <a:r>
              <a:rPr lang="en-US" altLang="zh-CN" sz="1800" smtClean="0">
                <a:sym typeface="Huawei Sans" panose="020C0503030203020204" pitchFamily="34" charset="0"/>
              </a:rPr>
              <a:t>Python</a:t>
            </a:r>
            <a:r>
              <a:rPr lang="zh-CN" altLang="en-US" sz="1800" smtClean="0">
                <a:sym typeface="Huawei Sans" panose="020C0503030203020204" pitchFamily="34" charset="0"/>
              </a:rPr>
              <a:t>脚本，上传到设备运行以获取设备</a:t>
            </a:r>
            <a:r>
              <a:rPr lang="en-US" altLang="zh-CN" sz="1800" smtClean="0">
                <a:sym typeface="Huawei Sans" panose="020C0503030203020204" pitchFamily="34" charset="0"/>
              </a:rPr>
              <a:t>CPU</a:t>
            </a:r>
            <a:r>
              <a:rPr lang="zh-CN" altLang="en-US" sz="1800" smtClean="0">
                <a:sym typeface="Huawei Sans" panose="020C0503030203020204" pitchFamily="34" charset="0"/>
              </a:rPr>
              <a:t>信息。组网信息如下图：</a:t>
            </a:r>
            <a:endParaRPr lang="zh-CN" altLang="en-US" sz="1800" dirty="0">
              <a:sym typeface="Huawei Sans" panose="020C0503030203020204" pitchFamily="34" charset="0"/>
            </a:endParaRPr>
          </a:p>
        </p:txBody>
      </p:sp>
      <p:grpSp>
        <p:nvGrpSpPr>
          <p:cNvPr id="17" name="组合 16"/>
          <p:cNvGrpSpPr/>
          <p:nvPr/>
        </p:nvGrpSpPr>
        <p:grpSpPr bwMode="gray">
          <a:xfrm>
            <a:off x="2108634" y="2801534"/>
            <a:ext cx="7635218" cy="1593731"/>
            <a:chOff x="2479021" y="3483317"/>
            <a:chExt cx="7635218" cy="1593731"/>
          </a:xfrm>
        </p:grpSpPr>
        <p:grpSp>
          <p:nvGrpSpPr>
            <p:cNvPr id="11" name="组合 10"/>
            <p:cNvGrpSpPr/>
            <p:nvPr/>
          </p:nvGrpSpPr>
          <p:grpSpPr bwMode="gray">
            <a:xfrm>
              <a:off x="2617916" y="3716338"/>
              <a:ext cx="7357429" cy="910710"/>
              <a:chOff x="2097055" y="3224847"/>
              <a:chExt cx="7357429" cy="910710"/>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356923" y="3235557"/>
                <a:ext cx="1097561" cy="900000"/>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2097055" y="3224847"/>
                <a:ext cx="1097561" cy="900000"/>
              </a:xfrm>
              <a:prstGeom prst="rect">
                <a:avLst/>
              </a:prstGeom>
            </p:spPr>
          </p:pic>
          <p:cxnSp>
            <p:nvCxnSpPr>
              <p:cNvPr id="10" name="直接连接符 9"/>
              <p:cNvCxnSpPr>
                <a:endCxn id="6" idx="1"/>
              </p:cNvCxnSpPr>
              <p:nvPr/>
            </p:nvCxnSpPr>
            <p:spPr bwMode="gray">
              <a:xfrm>
                <a:off x="3032567" y="3685557"/>
                <a:ext cx="5324356" cy="0"/>
              </a:xfrm>
              <a:prstGeom prst="line">
                <a:avLst/>
              </a:prstGeom>
              <a:ln w="19050">
                <a:solidFill>
                  <a:srgbClr val="1163AB"/>
                </a:solidFill>
              </a:ln>
            </p:spPr>
            <p:style>
              <a:lnRef idx="1">
                <a:schemeClr val="accent1"/>
              </a:lnRef>
              <a:fillRef idx="0">
                <a:schemeClr val="accent1"/>
              </a:fillRef>
              <a:effectRef idx="0">
                <a:schemeClr val="accent1"/>
              </a:effectRef>
              <a:fontRef idx="minor">
                <a:schemeClr val="tx1"/>
              </a:fontRef>
            </p:style>
          </p:cxnSp>
        </p:grpSp>
        <p:sp>
          <p:nvSpPr>
            <p:cNvPr id="12" name="文本框 11"/>
            <p:cNvSpPr txBox="1"/>
            <p:nvPr/>
          </p:nvSpPr>
          <p:spPr bwMode="gray">
            <a:xfrm>
              <a:off x="2479021" y="4707716"/>
              <a:ext cx="1375350" cy="369332"/>
            </a:xfrm>
            <a:prstGeom prst="rect">
              <a:avLst/>
            </a:prstGeom>
            <a:noFill/>
          </p:spPr>
          <p:txBody>
            <a:bodyPr wrap="squar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网络管理员</a:t>
              </a:r>
            </a:p>
          </p:txBody>
        </p:sp>
        <p:sp>
          <p:nvSpPr>
            <p:cNvPr id="13" name="文本框 12"/>
            <p:cNvSpPr txBox="1"/>
            <p:nvPr/>
          </p:nvSpPr>
          <p:spPr bwMode="gray">
            <a:xfrm>
              <a:off x="8738889" y="4707715"/>
              <a:ext cx="1375350" cy="369332"/>
            </a:xfrm>
            <a:prstGeom prst="rect">
              <a:avLst/>
            </a:prstGeom>
            <a:noFill/>
          </p:spPr>
          <p:txBody>
            <a:bodyPr wrap="square" rtlCol="0">
              <a:spAutoFit/>
            </a:bodyP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网络设备</a:t>
              </a:r>
            </a:p>
          </p:txBody>
        </p:sp>
        <p:sp>
          <p:nvSpPr>
            <p:cNvPr id="14" name="文本框 13"/>
            <p:cNvSpPr txBox="1"/>
            <p:nvPr/>
          </p:nvSpPr>
          <p:spPr bwMode="gray">
            <a:xfrm>
              <a:off x="7083705" y="3483317"/>
              <a:ext cx="1794079" cy="703078"/>
            </a:xfrm>
            <a:prstGeom prst="rect">
              <a:avLst/>
            </a:prstGeom>
            <a:noFill/>
          </p:spPr>
          <p:txBody>
            <a:bodyPr wrap="square" rtlCol="0">
              <a:spAutoFit/>
            </a:bodyPr>
            <a:lstStyle/>
            <a:p>
              <a:pPr algn="r">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GE1/0/0</a:t>
              </a:r>
            </a:p>
            <a:p>
              <a:pPr algn="r">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192.168.56.100</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3744407" y="4200215"/>
              <a:ext cx="1429478" cy="382990"/>
            </a:xfrm>
            <a:prstGeom prst="rect">
              <a:avLst/>
            </a:prstGeom>
            <a:noFill/>
          </p:spPr>
          <p:txBody>
            <a:bodyPr wrap="square" rtlCol="0">
              <a:spAutoFit/>
            </a:bodyPr>
            <a:lstStyle/>
            <a:p>
              <a:pPr>
                <a:lnSpc>
                  <a:spcPct val="13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192.168.56.1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a:extLst>
                <a:ext uri="{FF2B5EF4-FFF2-40B4-BE49-F238E27FC236}">
                  <a16:creationId xmlns="" xmlns:a16="http://schemas.microsoft.com/office/drawing/2014/main" id="{B885BED1-0EC0-435F-AECC-01CB43FD768C}"/>
                </a:ext>
              </a:extLst>
            </p:cNvPr>
            <p:cNvSpPr txBox="1"/>
            <p:nvPr/>
          </p:nvSpPr>
          <p:spPr bwMode="gray">
            <a:xfrm>
              <a:off x="3807162" y="3724258"/>
              <a:ext cx="1292341" cy="338554"/>
            </a:xfrm>
            <a:prstGeom prst="rect">
              <a:avLst/>
            </a:prstGeom>
            <a:solidFill>
              <a:srgbClr val="56C4D2"/>
            </a:solidFill>
          </p:spPr>
          <p:txBody>
            <a:bodyPr wrap="none" rtlCol="0">
              <a:spAutoFit/>
            </a:bodyPr>
            <a:lstStyle/>
            <a:p>
              <a:pPr algn="ctr"/>
              <a:r>
                <a:rPr lang="en-US" altLang="zh-CN"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Python</a:t>
              </a:r>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脚本</a:t>
              </a:r>
            </a:p>
          </p:txBody>
        </p:sp>
      </p:grpSp>
    </p:spTree>
    <p:extLst>
      <p:ext uri="{BB962C8B-B14F-4D97-AF65-F5344CB8AC3E}">
        <p14:creationId xmlns:p14="http://schemas.microsoft.com/office/powerpoint/2010/main" val="5789094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编写</a:t>
            </a:r>
            <a:r>
              <a:rPr lang="en-US" altLang="zh-CN" smtClean="0">
                <a:sym typeface="Huawei Sans" panose="020C0503030203020204" pitchFamily="34" charset="0"/>
              </a:rPr>
              <a:t>Python</a:t>
            </a:r>
            <a:r>
              <a:rPr lang="zh-CN" altLang="en-US" smtClean="0">
                <a:sym typeface="Huawei Sans" panose="020C0503030203020204" pitchFamily="34" charset="0"/>
              </a:rPr>
              <a:t>脚本 </a:t>
            </a:r>
            <a:r>
              <a:rPr lang="en-US" altLang="zh-CN" smtClean="0">
                <a:sym typeface="Huawei Sans" panose="020C0503030203020204" pitchFamily="34" charset="0"/>
              </a:rPr>
              <a:t>(1)</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smtClean="0">
                <a:sym typeface="Huawei Sans" panose="020C0503030203020204" pitchFamily="34" charset="0"/>
              </a:rPr>
              <a:t>根据需要实现的获取设备</a:t>
            </a:r>
            <a:r>
              <a:rPr lang="en-US" altLang="zh-CN" sz="1800" smtClean="0">
                <a:sym typeface="Huawei Sans" panose="020C0503030203020204" pitchFamily="34" charset="0"/>
              </a:rPr>
              <a:t>CPU</a:t>
            </a:r>
            <a:r>
              <a:rPr lang="zh-CN" altLang="en-US" sz="1800" smtClean="0">
                <a:sym typeface="Huawei Sans" panose="020C0503030203020204" pitchFamily="34" charset="0"/>
              </a:rPr>
              <a:t>信息这一功能，查找</a:t>
            </a:r>
            <a:r>
              <a:rPr lang="en-US" altLang="zh-CN" sz="1800" smtClean="0">
                <a:sym typeface="Huawei Sans" panose="020C0503030203020204" pitchFamily="34" charset="0"/>
              </a:rPr>
              <a:t>《RESTful API</a:t>
            </a:r>
            <a:r>
              <a:rPr lang="zh-CN" altLang="en-US" sz="1800" smtClean="0">
                <a:sym typeface="Huawei Sans" panose="020C0503030203020204" pitchFamily="34" charset="0"/>
              </a:rPr>
              <a:t>参考</a:t>
            </a:r>
            <a:r>
              <a:rPr lang="en-US" altLang="zh-CN" sz="1800" smtClean="0">
                <a:sym typeface="Huawei Sans" panose="020C0503030203020204" pitchFamily="34" charset="0"/>
              </a:rPr>
              <a:t>》</a:t>
            </a:r>
            <a:r>
              <a:rPr lang="zh-CN" altLang="en-US" sz="1800" smtClean="0">
                <a:sym typeface="Huawei Sans" panose="020C0503030203020204" pitchFamily="34" charset="0"/>
              </a:rPr>
              <a:t>手册，获取</a:t>
            </a:r>
            <a:r>
              <a:rPr lang="en-US" altLang="zh-CN" sz="1800" smtClean="0">
                <a:sym typeface="Huawei Sans" panose="020C0503030203020204" pitchFamily="34" charset="0"/>
              </a:rPr>
              <a:t>URI</a:t>
            </a:r>
            <a:r>
              <a:rPr lang="zh-CN" altLang="en-US" sz="1800" smtClean="0">
                <a:sym typeface="Huawei Sans" panose="020C0503030203020204" pitchFamily="34" charset="0"/>
              </a:rPr>
              <a:t>、请求内容及响应内容信息，结果如下：</a:t>
            </a:r>
            <a:endParaRPr lang="en-US" altLang="zh-CN" sz="1800" dirty="0">
              <a:sym typeface="Huawei Sans" panose="020C0503030203020204" pitchFamily="34" charset="0"/>
            </a:endParaRPr>
          </a:p>
        </p:txBody>
      </p:sp>
      <p:sp>
        <p:nvSpPr>
          <p:cNvPr id="19" name="文本框 18"/>
          <p:cNvSpPr txBox="1"/>
          <p:nvPr/>
        </p:nvSpPr>
        <p:spPr bwMode="gray">
          <a:xfrm>
            <a:off x="809434" y="2149483"/>
            <a:ext cx="1053683"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URI</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信息：</a:t>
            </a:r>
          </a:p>
        </p:txBody>
      </p:sp>
      <p:sp>
        <p:nvSpPr>
          <p:cNvPr id="20" name="文本框 19"/>
          <p:cNvSpPr txBox="1"/>
          <p:nvPr/>
        </p:nvSpPr>
        <p:spPr bwMode="gray">
          <a:xfrm>
            <a:off x="830949" y="3608759"/>
            <a:ext cx="1849749"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请求内容信息：</a:t>
            </a:r>
          </a:p>
        </p:txBody>
      </p:sp>
      <p:sp>
        <p:nvSpPr>
          <p:cNvPr id="21" name="文本框 20"/>
          <p:cNvSpPr txBox="1"/>
          <p:nvPr/>
        </p:nvSpPr>
        <p:spPr bwMode="gray">
          <a:xfrm>
            <a:off x="6173829" y="3608759"/>
            <a:ext cx="1849749"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响应内容信息：</a:t>
            </a:r>
          </a:p>
        </p:txBody>
      </p:sp>
      <p:graphicFrame>
        <p:nvGraphicFramePr>
          <p:cNvPr id="12" name="表格 11"/>
          <p:cNvGraphicFramePr>
            <a:graphicFrameLocks noGrp="1"/>
          </p:cNvGraphicFramePr>
          <p:nvPr>
            <p:extLst>
              <p:ext uri="{D42A27DB-BD31-4B8C-83A1-F6EECF244321}">
                <p14:modId xmlns:p14="http://schemas.microsoft.com/office/powerpoint/2010/main" val="4212711356"/>
              </p:ext>
            </p:extLst>
          </p:nvPr>
        </p:nvGraphicFramePr>
        <p:xfrm>
          <a:off x="960387" y="2572710"/>
          <a:ext cx="9982916" cy="817479"/>
        </p:xfrm>
        <a:graphic>
          <a:graphicData uri="http://schemas.openxmlformats.org/drawingml/2006/table">
            <a:tbl>
              <a:tblPr/>
              <a:tblGrid>
                <a:gridCol w="1607572">
                  <a:extLst>
                    <a:ext uri="{9D8B030D-6E8A-4147-A177-3AD203B41FA5}">
                      <a16:colId xmlns="" xmlns:a16="http://schemas.microsoft.com/office/drawing/2014/main" val="20000"/>
                    </a:ext>
                  </a:extLst>
                </a:gridCol>
                <a:gridCol w="5048964">
                  <a:extLst>
                    <a:ext uri="{9D8B030D-6E8A-4147-A177-3AD203B41FA5}">
                      <a16:colId xmlns="" xmlns:a16="http://schemas.microsoft.com/office/drawing/2014/main" val="20001"/>
                    </a:ext>
                  </a:extLst>
                </a:gridCol>
                <a:gridCol w="3326380">
                  <a:extLst>
                    <a:ext uri="{9D8B030D-6E8A-4147-A177-3AD203B41FA5}">
                      <a16:colId xmlns="" xmlns:a16="http://schemas.microsoft.com/office/drawing/2014/main" val="20002"/>
                    </a:ext>
                  </a:extLst>
                </a:gridCol>
              </a:tblGrid>
              <a:tr h="383623">
                <a:tc>
                  <a:txBody>
                    <a:bodyPr/>
                    <a:lstStyle/>
                    <a:p>
                      <a:pPr algn="ctr">
                        <a:lnSpc>
                          <a:spcPct val="100000"/>
                        </a:lnSpc>
                      </a:pPr>
                      <a:r>
                        <a:rPr lang="zh-CN" altLang="en-US"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操作</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en-US" altLang="zh-CN"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URI</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zh-CN" altLang="en-US"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描述</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433856">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GET</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devm</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cpuInfos</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cpuInfo</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获取系统启动信息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13" name="文本占位符 3">
            <a:extLst>
              <a:ext uri="{FF2B5EF4-FFF2-40B4-BE49-F238E27FC236}">
                <a16:creationId xmlns="" xmlns:a16="http://schemas.microsoft.com/office/drawing/2014/main" id="{CA0EE224-3D73-4EE2-BA18-107CD32B12DC}"/>
              </a:ext>
            </a:extLst>
          </p:cNvPr>
          <p:cNvSpPr txBox="1">
            <a:spLocks/>
          </p:cNvSpPr>
          <p:nvPr/>
        </p:nvSpPr>
        <p:spPr bwMode="gray">
          <a:xfrm>
            <a:off x="809434" y="3980375"/>
            <a:ext cx="4424324" cy="2015293"/>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&lt;?xml version="1.0" encoding="UTF-8"?&gt;</a:t>
            </a:r>
          </a:p>
          <a:p>
            <a:pPr marL="0" indent="0">
              <a:lnSpc>
                <a:spcPct val="100000"/>
              </a:lnSpc>
              <a:buNone/>
            </a:pP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cpuInfo</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&lt;position</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&gt;&lt;/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position&gt;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entIndex</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&gt;&lt;/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entIndex</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&gt;</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systemCpuUsage</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&gt;&lt;/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systemCpuUsage</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&gt;    </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ovloadTHreshold</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&gt;&lt;/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ovloadTHreshold</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    </a:t>
            </a:r>
          </a:p>
          <a:p>
            <a:pPr marL="0" indent="0">
              <a:lnSpc>
                <a:spcPct val="100000"/>
              </a:lnSpc>
              <a:buNone/>
            </a:pP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&lt;unovloadTHreshold&gt;&lt;/unovloadTHreshold</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    </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cpuInfo</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p:txBody>
      </p:sp>
      <p:sp>
        <p:nvSpPr>
          <p:cNvPr id="14" name="文本占位符 3">
            <a:extLst>
              <a:ext uri="{FF2B5EF4-FFF2-40B4-BE49-F238E27FC236}">
                <a16:creationId xmlns="" xmlns:a16="http://schemas.microsoft.com/office/drawing/2014/main" id="{CA0EE224-3D73-4EE2-BA18-107CD32B12DC}"/>
              </a:ext>
            </a:extLst>
          </p:cNvPr>
          <p:cNvSpPr txBox="1">
            <a:spLocks/>
          </p:cNvSpPr>
          <p:nvPr/>
        </p:nvSpPr>
        <p:spPr bwMode="gray">
          <a:xfrm>
            <a:off x="6279260" y="3964968"/>
            <a:ext cx="4424324" cy="2015293"/>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&lt;?xml version="1.0" encoding="UTF-8"?&gt;</a:t>
            </a:r>
          </a:p>
          <a:p>
            <a:pPr marL="0" indent="0">
              <a:lnSpc>
                <a:spcPct val="100000"/>
              </a:lnSpc>
              <a:buNone/>
            </a:pP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cpuInfo</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position chassis=“1”  slot=“17”&gt;17&lt;/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position&gt;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entIndex</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&gt;17891329&lt;/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entIndex</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&gt;</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systemCpuUsage</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&gt;5&lt;/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systemCpuUsage</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&gt;    </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ovloadTHreshold</a:t>
            </a: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&gt;95&lt;/</a:t>
            </a:r>
            <a:r>
              <a:rPr lang="en-US" altLang="zh-CN" sz="1200" kern="0" dirty="0" err="1" smtClean="0">
                <a:latin typeface="Huawei Sans" panose="020C0503030203020204" pitchFamily="34" charset="0"/>
                <a:ea typeface="方正兰亭黑简体" panose="02000000000000000000" pitchFamily="2" charset="-122"/>
                <a:sym typeface="Huawei Sans" panose="020C0503030203020204" pitchFamily="34" charset="0"/>
              </a:rPr>
              <a:t>ovloadTHreshold</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    </a:t>
            </a:r>
          </a:p>
          <a:p>
            <a:pPr marL="0" indent="0">
              <a:lnSpc>
                <a:spcPct val="100000"/>
              </a:lnSpc>
              <a:buNone/>
            </a:pPr>
            <a:r>
              <a:rPr lang="en-US" altLang="zh-CN" sz="1200" kern="0" dirty="0" smtClean="0">
                <a:latin typeface="Huawei Sans" panose="020C0503030203020204" pitchFamily="34" charset="0"/>
                <a:ea typeface="方正兰亭黑简体" panose="02000000000000000000" pitchFamily="2" charset="-122"/>
                <a:sym typeface="Huawei Sans" panose="020C0503030203020204" pitchFamily="34" charset="0"/>
              </a:rPr>
              <a:t>                &lt;unovloadTHreshold&gt;75&lt;/unovloadTHreshold</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    </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cpuInfo</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&gt;</a:t>
            </a:r>
          </a:p>
        </p:txBody>
      </p:sp>
    </p:spTree>
    <p:extLst>
      <p:ext uri="{BB962C8B-B14F-4D97-AF65-F5344CB8AC3E}">
        <p14:creationId xmlns:p14="http://schemas.microsoft.com/office/powerpoint/2010/main" val="29249133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编写</a:t>
            </a:r>
            <a:r>
              <a:rPr lang="en-US" altLang="zh-CN" smtClean="0">
                <a:sym typeface="Huawei Sans" panose="020C0503030203020204" pitchFamily="34" charset="0"/>
              </a:rPr>
              <a:t>Python</a:t>
            </a:r>
            <a:r>
              <a:rPr lang="zh-CN" altLang="en-US" smtClean="0">
                <a:sym typeface="Huawei Sans" panose="020C0503030203020204" pitchFamily="34" charset="0"/>
              </a:rPr>
              <a:t>脚本 </a:t>
            </a:r>
            <a:r>
              <a:rPr lang="en-US" altLang="zh-CN" smtClean="0">
                <a:sym typeface="Huawei Sans" panose="020C0503030203020204" pitchFamily="34" charset="0"/>
              </a:rPr>
              <a:t>(2)</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smtClean="0">
                <a:sym typeface="Huawei Sans" panose="020C0503030203020204" pitchFamily="34" charset="0"/>
              </a:rPr>
              <a:t>根据查找的</a:t>
            </a:r>
            <a:r>
              <a:rPr lang="en-US" altLang="zh-CN" sz="1800" smtClean="0">
                <a:sym typeface="Huawei Sans" panose="020C0503030203020204" pitchFamily="34" charset="0"/>
              </a:rPr>
              <a:t>URI</a:t>
            </a:r>
            <a:r>
              <a:rPr lang="zh-CN" altLang="en-US" sz="1800" smtClean="0">
                <a:sym typeface="Huawei Sans" panose="020C0503030203020204" pitchFamily="34" charset="0"/>
              </a:rPr>
              <a:t>及请求内容信息修改</a:t>
            </a:r>
            <a:r>
              <a:rPr lang="en-US" altLang="zh-CN" sz="1800" smtClean="0">
                <a:sym typeface="Huawei Sans" panose="020C0503030203020204" pitchFamily="34" charset="0"/>
              </a:rPr>
              <a:t>Python</a:t>
            </a:r>
            <a:r>
              <a:rPr lang="zh-CN" altLang="en-US" sz="1800" smtClean="0">
                <a:sym typeface="Huawei Sans" panose="020C0503030203020204" pitchFamily="34" charset="0"/>
              </a:rPr>
              <a:t>脚本模板相关代码，模板其余代码均不需要改动。</a:t>
            </a:r>
            <a:endParaRPr lang="en-US" altLang="zh-CN" sz="1800" dirty="0">
              <a:sym typeface="Huawei Sans" panose="020C0503030203020204" pitchFamily="34" charset="0"/>
            </a:endParaRPr>
          </a:p>
        </p:txBody>
      </p:sp>
      <p:sp>
        <p:nvSpPr>
          <p:cNvPr id="11" name="文本占位符 3">
            <a:extLst>
              <a:ext uri="{FF2B5EF4-FFF2-40B4-BE49-F238E27FC236}">
                <a16:creationId xmlns="" xmlns:a16="http://schemas.microsoft.com/office/drawing/2014/main" id="{CA0EE224-3D73-4EE2-BA18-107CD32B12DC}"/>
              </a:ext>
            </a:extLst>
          </p:cNvPr>
          <p:cNvSpPr txBox="1">
            <a:spLocks/>
          </p:cNvSpPr>
          <p:nvPr/>
        </p:nvSpPr>
        <p:spPr bwMode="gray">
          <a:xfrm>
            <a:off x="671993" y="1869811"/>
            <a:ext cx="5271248" cy="4284009"/>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def</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get_cpu_info</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ops_conn</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devm</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cpuInfos</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cpuInfo</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信息对应</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URI             </a:t>
            </a:r>
          </a:p>
          <a:p>
            <a:pPr marL="0" indent="0">
              <a:lnSpc>
                <a:spcPct val="100000"/>
              </a:lnSpc>
              <a:buNone/>
            </a:pPr>
            <a:endPar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 \                                       </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设置获取</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信息请求内容</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'''&lt;?xml version='1.0' encoding='UTF-8'?&gt; </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cpuInfo</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 </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&lt;position&gt;&lt;/position&gt; </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entIndex</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entIndex</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 </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systemCpuUsage</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systemCpuUsage</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 </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ovloadThreshold</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ovloadThreshold</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 </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unovloadThreshold</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unovloadThreshold</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 </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&lt;/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cpuInfo</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&gt;</a:t>
            </a:r>
          </a:p>
          <a:p>
            <a:pPr marL="0" indent="0">
              <a:lnSpc>
                <a:spcPct val="100000"/>
              </a:lnSpc>
              <a:buNone/>
            </a:pP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 _,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rsp_data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ops_conn.get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uri</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req_data</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执行</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GET</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操作请求</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if ret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httplib.OK</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 None</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rsp_data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占位符 3">
            <a:extLst>
              <a:ext uri="{FF2B5EF4-FFF2-40B4-BE49-F238E27FC236}">
                <a16:creationId xmlns="" xmlns:a16="http://schemas.microsoft.com/office/drawing/2014/main" id="{CA0EE224-3D73-4EE2-BA18-107CD32B12DC}"/>
              </a:ext>
            </a:extLst>
          </p:cNvPr>
          <p:cNvSpPr txBox="1">
            <a:spLocks/>
          </p:cNvSpPr>
          <p:nvPr/>
        </p:nvSpPr>
        <p:spPr bwMode="gray">
          <a:xfrm>
            <a:off x="6309000" y="1869811"/>
            <a:ext cx="5294560" cy="4284010"/>
          </a:xfrm>
          <a:prstGeom prst="rect">
            <a:avLst/>
          </a:prstGeom>
          <a:noFill/>
          <a:ln w="9525">
            <a:solidFill>
              <a:srgbClr val="56C4D2"/>
            </a:solid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0" indent="0">
              <a:lnSpc>
                <a:spcPct val="100000"/>
              </a:lnSpc>
              <a:buNone/>
            </a:pP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def</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main():</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"""The main function.""“</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host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localhost</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try:</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ops_conn</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OPSConnection</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(host)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调用获取设备</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CPU</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信息的函数。</a:t>
            </a:r>
          </a:p>
          <a:p>
            <a:pPr marL="0" indent="0">
              <a:lnSpc>
                <a:spcPct val="100000"/>
              </a:lnSpc>
              <a:buNone/>
            </a:pPr>
            <a:r>
              <a:rPr lang="zh-CN" altLang="en-US" sz="1200" b="1"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rsp_data</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get_cpu_info</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1" kern="0" dirty="0" err="1">
                <a:latin typeface="Huawei Sans" panose="020C0503030203020204" pitchFamily="34" charset="0"/>
                <a:ea typeface="方正兰亭黑简体" panose="02000000000000000000" pitchFamily="2" charset="-122"/>
                <a:sym typeface="Huawei Sans" panose="020C0503030203020204" pitchFamily="34" charset="0"/>
              </a:rPr>
              <a:t>ops_conn</a:t>
            </a:r>
            <a:r>
              <a:rPr lang="en-US" altLang="zh-CN" sz="1200" b="1"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关闭</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连接。</a:t>
            </a:r>
          </a:p>
          <a:p>
            <a:pPr marL="0" indent="0">
              <a:lnSpc>
                <a:spcPct val="100000"/>
              </a:lnSpc>
              <a:buNone/>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ops_conn.close</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a:t>
            </a:r>
          </a:p>
          <a:p>
            <a:pPr marL="0" indent="0">
              <a:lnSpc>
                <a:spcPct val="100000"/>
              </a:lnSpc>
              <a:buNone/>
            </a:pP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except: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errinfo</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traceback.format_exc</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print(</a:t>
            </a:r>
            <a:r>
              <a:rPr lang="en-US" altLang="zh-CN" sz="1200" kern="0" dirty="0" err="1">
                <a:latin typeface="Huawei Sans" panose="020C0503030203020204" pitchFamily="34" charset="0"/>
                <a:ea typeface="方正兰亭黑简体" panose="02000000000000000000" pitchFamily="2" charset="-122"/>
                <a:sym typeface="Huawei Sans" panose="020C0503030203020204" pitchFamily="34" charset="0"/>
              </a:rPr>
              <a:t>errinfo</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a:t>
            </a:r>
          </a:p>
          <a:p>
            <a:pPr marL="0" indent="0">
              <a:lnSpc>
                <a:spcPct val="100000"/>
              </a:lnSpc>
              <a:buNone/>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        return</a:t>
            </a:r>
          </a:p>
        </p:txBody>
      </p:sp>
      <p:sp>
        <p:nvSpPr>
          <p:cNvPr id="14" name="文本框 13"/>
          <p:cNvSpPr txBox="1"/>
          <p:nvPr/>
        </p:nvSpPr>
        <p:spPr bwMode="gray">
          <a:xfrm>
            <a:off x="570155" y="1486148"/>
            <a:ext cx="2520263" cy="338554"/>
          </a:xfrm>
          <a:prstGeom prst="rect">
            <a:avLst/>
          </a:prstGeom>
          <a:noFill/>
        </p:spPr>
        <p:txBody>
          <a:bodyPr wrap="square" rtlCol="0">
            <a:spAutoFit/>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定义</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get_cpu_info</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方法：</a:t>
            </a:r>
          </a:p>
        </p:txBody>
      </p:sp>
      <p:sp>
        <p:nvSpPr>
          <p:cNvPr id="15" name="文本框 14"/>
          <p:cNvSpPr txBox="1"/>
          <p:nvPr/>
        </p:nvSpPr>
        <p:spPr bwMode="gray">
          <a:xfrm>
            <a:off x="6208246" y="1504383"/>
            <a:ext cx="4102599" cy="338554"/>
          </a:xfrm>
          <a:prstGeom prst="rect">
            <a:avLst/>
          </a:prstGeom>
          <a:noFill/>
        </p:spPr>
        <p:txBody>
          <a:bodyPr wrap="squar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main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方法中调用</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get_cpu_info</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方法：</a:t>
            </a:r>
          </a:p>
        </p:txBody>
      </p:sp>
    </p:spTree>
    <p:extLst>
      <p:ext uri="{BB962C8B-B14F-4D97-AF65-F5344CB8AC3E}">
        <p14:creationId xmlns:p14="http://schemas.microsoft.com/office/powerpoint/2010/main" val="279463092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上传</a:t>
            </a:r>
            <a:r>
              <a:rPr lang="en-US" altLang="zh-CN" smtClean="0">
                <a:sym typeface="Huawei Sans" panose="020C0503030203020204" pitchFamily="34" charset="0"/>
              </a:rPr>
              <a:t>Python</a:t>
            </a:r>
            <a:r>
              <a:rPr lang="zh-CN" altLang="en-US" smtClean="0">
                <a:sym typeface="Huawei Sans" panose="020C0503030203020204" pitchFamily="34" charset="0"/>
              </a:rPr>
              <a:t>脚本</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smtClean="0">
                <a:sym typeface="Huawei Sans" panose="020C0503030203020204" pitchFamily="34" charset="0"/>
              </a:rPr>
              <a:t>上一步</a:t>
            </a:r>
            <a:r>
              <a:rPr lang="en-US" altLang="zh-CN" sz="1800" smtClean="0">
                <a:sym typeface="Huawei Sans" panose="020C0503030203020204" pitchFamily="34" charset="0"/>
              </a:rPr>
              <a:t>Python</a:t>
            </a:r>
            <a:r>
              <a:rPr lang="zh-CN" altLang="en-US" sz="1800" smtClean="0">
                <a:sym typeface="Huawei Sans" panose="020C0503030203020204" pitchFamily="34" charset="0"/>
              </a:rPr>
              <a:t>脚本编写完成后，保存为</a:t>
            </a:r>
            <a:r>
              <a:rPr lang="en-US" altLang="zh-CN" sz="1800" smtClean="0">
                <a:sym typeface="Huawei Sans" panose="020C0503030203020204" pitchFamily="34" charset="0"/>
              </a:rPr>
              <a:t>cpu_demo.py</a:t>
            </a:r>
            <a:r>
              <a:rPr lang="zh-CN" altLang="en-US" sz="1800" smtClean="0">
                <a:sym typeface="Huawei Sans" panose="020C0503030203020204" pitchFamily="34" charset="0"/>
              </a:rPr>
              <a:t>。现在网络管理员本地</a:t>
            </a:r>
            <a:r>
              <a:rPr lang="en-US" altLang="zh-CN" sz="1800" smtClean="0">
                <a:sym typeface="Huawei Sans" panose="020C0503030203020204" pitchFamily="34" charset="0"/>
              </a:rPr>
              <a:t>PC</a:t>
            </a:r>
            <a:r>
              <a:rPr lang="zh-CN" altLang="en-US" sz="1800" smtClean="0">
                <a:sym typeface="Huawei Sans" panose="020C0503030203020204" pitchFamily="34" charset="0"/>
              </a:rPr>
              <a:t>开启</a:t>
            </a:r>
            <a:r>
              <a:rPr lang="en-US" altLang="zh-CN" sz="1800" smtClean="0">
                <a:sym typeface="Huawei Sans" panose="020C0503030203020204" pitchFamily="34" charset="0"/>
              </a:rPr>
              <a:t>FTP</a:t>
            </a:r>
            <a:r>
              <a:rPr lang="zh-CN" altLang="en-US" sz="1800" smtClean="0">
                <a:sym typeface="Huawei Sans" panose="020C0503030203020204" pitchFamily="34" charset="0"/>
              </a:rPr>
              <a:t>服务器，网络设备作为</a:t>
            </a:r>
            <a:r>
              <a:rPr lang="en-US" altLang="zh-CN" sz="1800" smtClean="0">
                <a:sym typeface="Huawei Sans" panose="020C0503030203020204" pitchFamily="34" charset="0"/>
              </a:rPr>
              <a:t>FTP</a:t>
            </a:r>
            <a:r>
              <a:rPr lang="zh-CN" altLang="en-US" sz="1800" smtClean="0">
                <a:sym typeface="Huawei Sans" panose="020C0503030203020204" pitchFamily="34" charset="0"/>
              </a:rPr>
              <a:t>客户端下载此</a:t>
            </a:r>
            <a:r>
              <a:rPr lang="en-US" altLang="zh-CN" sz="1800" smtClean="0">
                <a:sym typeface="Huawei Sans" panose="020C0503030203020204" pitchFamily="34" charset="0"/>
              </a:rPr>
              <a:t>Python</a:t>
            </a:r>
            <a:r>
              <a:rPr lang="zh-CN" altLang="en-US" sz="1800" smtClean="0">
                <a:sym typeface="Huawei Sans" panose="020C0503030203020204" pitchFamily="34" charset="0"/>
              </a:rPr>
              <a:t>脚本。</a:t>
            </a:r>
            <a:endParaRPr lang="en-US" altLang="zh-CN" sz="1800" dirty="0">
              <a:sym typeface="Huawei Sans" panose="020C0503030203020204" pitchFamily="34" charset="0"/>
            </a:endParaRPr>
          </a:p>
        </p:txBody>
      </p:sp>
      <p:sp>
        <p:nvSpPr>
          <p:cNvPr id="8" name="文本框 7">
            <a:extLst>
              <a:ext uri="{FF2B5EF4-FFF2-40B4-BE49-F238E27FC236}">
                <a16:creationId xmlns="" xmlns:a16="http://schemas.microsoft.com/office/drawing/2014/main" id="{773D837C-8D89-4B32-AD1E-4199EF71F59D}"/>
              </a:ext>
            </a:extLst>
          </p:cNvPr>
          <p:cNvSpPr txBox="1"/>
          <p:nvPr/>
        </p:nvSpPr>
        <p:spPr bwMode="gray">
          <a:xfrm>
            <a:off x="793469" y="1957237"/>
            <a:ext cx="10534333" cy="3970318"/>
          </a:xfrm>
          <a:prstGeom prst="rect">
            <a:avLst/>
          </a:prstGeom>
          <a:solidFill>
            <a:schemeClr val="bg1">
              <a:lumMod val="85000"/>
            </a:schemeClr>
          </a:solidFill>
          <a:ln>
            <a:noFill/>
          </a:ln>
        </p:spPr>
        <p:txBody>
          <a:bodyPr wrap="square" rtlCol="0">
            <a:spAutoFit/>
          </a:bodyPr>
          <a:lstStyle>
            <a:defPPr>
              <a:defRPr lang="en-US"/>
            </a:defPPr>
            <a:lvl1pPr>
              <a:defRPr sz="1400"/>
            </a:lvl1pPr>
          </a:lstStyle>
          <a:p>
            <a:r>
              <a:rPr lang="en-US" altLang="zh-CN" dirty="0">
                <a:sym typeface="Huawei Sans" panose="020C0503030203020204" pitchFamily="34" charset="0"/>
              </a:rPr>
              <a:t>&lt;CE1&gt;ftp 192.168.56.1                                                                                            # </a:t>
            </a:r>
            <a:r>
              <a:rPr lang="zh-CN" altLang="en-US" dirty="0">
                <a:sym typeface="Huawei Sans" panose="020C0503030203020204" pitchFamily="34" charset="0"/>
              </a:rPr>
              <a:t>连接</a:t>
            </a:r>
            <a:r>
              <a:rPr lang="en-US" altLang="zh-CN" dirty="0">
                <a:sym typeface="Huawei Sans" panose="020C0503030203020204" pitchFamily="34" charset="0"/>
              </a:rPr>
              <a:t>FTP</a:t>
            </a:r>
            <a:r>
              <a:rPr lang="zh-CN" altLang="en-US" dirty="0">
                <a:sym typeface="Huawei Sans" panose="020C0503030203020204" pitchFamily="34" charset="0"/>
              </a:rPr>
              <a:t>服务器</a:t>
            </a:r>
          </a:p>
          <a:p>
            <a:r>
              <a:rPr lang="en-US" altLang="zh-CN" dirty="0">
                <a:sym typeface="Huawei Sans" panose="020C0503030203020204" pitchFamily="34" charset="0"/>
              </a:rPr>
              <a:t>Trying 192.168.56.1 ...</a:t>
            </a:r>
            <a:endParaRPr lang="zh-CN" altLang="en-US" dirty="0">
              <a:sym typeface="Huawei Sans" panose="020C0503030203020204" pitchFamily="34" charset="0"/>
            </a:endParaRPr>
          </a:p>
          <a:p>
            <a:r>
              <a:rPr lang="en-US" altLang="zh-CN" dirty="0">
                <a:sym typeface="Huawei Sans" panose="020C0503030203020204" pitchFamily="34" charset="0"/>
              </a:rPr>
              <a:t>Press CTRL + K to abort</a:t>
            </a:r>
            <a:endParaRPr lang="zh-CN" altLang="en-US" dirty="0">
              <a:sym typeface="Huawei Sans" panose="020C0503030203020204" pitchFamily="34" charset="0"/>
            </a:endParaRPr>
          </a:p>
          <a:p>
            <a:r>
              <a:rPr lang="en-US" altLang="zh-CN" dirty="0">
                <a:sym typeface="Huawei Sans" panose="020C0503030203020204" pitchFamily="34" charset="0"/>
              </a:rPr>
              <a:t>Connected to 192.168.56.1.</a:t>
            </a:r>
            <a:endParaRPr lang="zh-CN" altLang="en-US" dirty="0">
              <a:sym typeface="Huawei Sans" panose="020C0503030203020204" pitchFamily="34" charset="0"/>
            </a:endParaRPr>
          </a:p>
          <a:p>
            <a:r>
              <a:rPr lang="en-US" altLang="zh-CN" dirty="0">
                <a:sym typeface="Huawei Sans" panose="020C0503030203020204" pitchFamily="34" charset="0"/>
              </a:rPr>
              <a:t>220 WFTPD 2.0 service (by Texas Imperial Software) ready for new user</a:t>
            </a:r>
            <a:endParaRPr lang="zh-CN" altLang="en-US" dirty="0">
              <a:sym typeface="Huawei Sans" panose="020C0503030203020204" pitchFamily="34" charset="0"/>
            </a:endParaRPr>
          </a:p>
          <a:p>
            <a:r>
              <a:rPr lang="en-US" altLang="zh-CN" dirty="0">
                <a:sym typeface="Huawei Sans" panose="020C0503030203020204" pitchFamily="34" charset="0"/>
              </a:rPr>
              <a:t>User(192.168.56.1:(none)):1                                                                                    # </a:t>
            </a:r>
            <a:r>
              <a:rPr lang="zh-CN" altLang="en-US" dirty="0">
                <a:sym typeface="Huawei Sans" panose="020C0503030203020204" pitchFamily="34" charset="0"/>
              </a:rPr>
              <a:t>输入用户名</a:t>
            </a:r>
          </a:p>
          <a:p>
            <a:r>
              <a:rPr lang="en-US" altLang="zh-CN" dirty="0">
                <a:sym typeface="Huawei Sans" panose="020C0503030203020204" pitchFamily="34" charset="0"/>
              </a:rPr>
              <a:t>331 Give me your password, please</a:t>
            </a:r>
            <a:endParaRPr lang="zh-CN" altLang="en-US" dirty="0">
              <a:sym typeface="Huawei Sans" panose="020C0503030203020204" pitchFamily="34" charset="0"/>
            </a:endParaRPr>
          </a:p>
          <a:p>
            <a:r>
              <a:rPr lang="en-US" altLang="zh-CN" dirty="0">
                <a:sym typeface="Huawei Sans" panose="020C0503030203020204" pitchFamily="34" charset="0"/>
              </a:rPr>
              <a:t>Enter password:                                                                                                      # </a:t>
            </a:r>
            <a:r>
              <a:rPr lang="zh-CN" altLang="en-US" dirty="0">
                <a:sym typeface="Huawei Sans" panose="020C0503030203020204" pitchFamily="34" charset="0"/>
              </a:rPr>
              <a:t>输入密码</a:t>
            </a:r>
          </a:p>
          <a:p>
            <a:r>
              <a:rPr lang="en-US" altLang="zh-CN" dirty="0">
                <a:sym typeface="Huawei Sans" panose="020C0503030203020204" pitchFamily="34" charset="0"/>
              </a:rPr>
              <a:t>230 Logged in successfully</a:t>
            </a:r>
            <a:endParaRPr lang="zh-CN" altLang="en-US" dirty="0">
              <a:sym typeface="Huawei Sans" panose="020C0503030203020204" pitchFamily="34" charset="0"/>
            </a:endParaRPr>
          </a:p>
          <a:p>
            <a:r>
              <a:rPr lang="en-US" altLang="zh-CN" dirty="0">
                <a:sym typeface="Huawei Sans" panose="020C0503030203020204" pitchFamily="34" charset="0"/>
              </a:rPr>
              <a:t>[ftp]get cpu_demo.py                                                                                              # </a:t>
            </a:r>
            <a:r>
              <a:rPr lang="zh-CN" altLang="en-US" dirty="0">
                <a:sym typeface="Huawei Sans" panose="020C0503030203020204" pitchFamily="34" charset="0"/>
              </a:rPr>
              <a:t>获取</a:t>
            </a:r>
            <a:r>
              <a:rPr lang="en-US" altLang="zh-CN" dirty="0">
                <a:sym typeface="Huawei Sans" panose="020C0503030203020204" pitchFamily="34" charset="0"/>
              </a:rPr>
              <a:t>cpu_demo.py</a:t>
            </a:r>
            <a:r>
              <a:rPr lang="zh-CN" altLang="en-US" dirty="0">
                <a:sym typeface="Huawei Sans" panose="020C0503030203020204" pitchFamily="34" charset="0"/>
              </a:rPr>
              <a:t>脚本文件</a:t>
            </a:r>
          </a:p>
          <a:p>
            <a:r>
              <a:rPr lang="en-US" altLang="zh-CN" dirty="0">
                <a:sym typeface="Huawei Sans" panose="020C0503030203020204" pitchFamily="34" charset="0"/>
              </a:rPr>
              <a:t>Warning: The file may not transfer correctly in ASCII mode.</a:t>
            </a:r>
            <a:endParaRPr lang="zh-CN" altLang="en-US" dirty="0">
              <a:sym typeface="Huawei Sans" panose="020C0503030203020204" pitchFamily="34" charset="0"/>
            </a:endParaRPr>
          </a:p>
          <a:p>
            <a:r>
              <a:rPr lang="en-US" altLang="zh-CN" dirty="0">
                <a:sym typeface="Huawei Sans" panose="020C0503030203020204" pitchFamily="34" charset="0"/>
              </a:rPr>
              <a:t>500 Unidentified command SIZE cpu_demo.py</a:t>
            </a:r>
            <a:endParaRPr lang="zh-CN" altLang="en-US" dirty="0">
              <a:sym typeface="Huawei Sans" panose="020C0503030203020204" pitchFamily="34" charset="0"/>
            </a:endParaRPr>
          </a:p>
          <a:p>
            <a:r>
              <a:rPr lang="en-US" altLang="zh-CN" dirty="0">
                <a:sym typeface="Huawei Sans" panose="020C0503030203020204" pitchFamily="34" charset="0"/>
              </a:rPr>
              <a:t>200 PORT command okay</a:t>
            </a:r>
            <a:endParaRPr lang="zh-CN" altLang="en-US" dirty="0">
              <a:sym typeface="Huawei Sans" panose="020C0503030203020204" pitchFamily="34" charset="0"/>
            </a:endParaRPr>
          </a:p>
          <a:p>
            <a:r>
              <a:rPr lang="en-US" altLang="zh-CN" dirty="0">
                <a:sym typeface="Huawei Sans" panose="020C0503030203020204" pitchFamily="34" charset="0"/>
              </a:rPr>
              <a:t>150 "D:\FTPSERVER\cpu_demo.py" file ready to send (4605 bytes) in ASCII mode</a:t>
            </a:r>
            <a:endParaRPr lang="zh-CN" altLang="en-US" dirty="0">
              <a:sym typeface="Huawei Sans" panose="020C0503030203020204" pitchFamily="34" charset="0"/>
            </a:endParaRPr>
          </a:p>
          <a:p>
            <a:r>
              <a:rPr lang="en-US" altLang="zh-CN" dirty="0">
                <a:sym typeface="Huawei Sans" panose="020C0503030203020204" pitchFamily="34" charset="0"/>
              </a:rPr>
              <a:t>..</a:t>
            </a:r>
            <a:endParaRPr lang="zh-CN" altLang="en-US" dirty="0">
              <a:sym typeface="Huawei Sans" panose="020C0503030203020204" pitchFamily="34" charset="0"/>
            </a:endParaRPr>
          </a:p>
          <a:p>
            <a:r>
              <a:rPr lang="en-US" altLang="zh-CN" dirty="0">
                <a:sym typeface="Huawei Sans" panose="020C0503030203020204" pitchFamily="34" charset="0"/>
              </a:rPr>
              <a:t>226 Transfer finished successfully.                                                                            # ftp</a:t>
            </a:r>
            <a:r>
              <a:rPr lang="zh-CN" altLang="en-US" dirty="0">
                <a:sym typeface="Huawei Sans" panose="020C0503030203020204" pitchFamily="34" charset="0"/>
              </a:rPr>
              <a:t>传输成功完成</a:t>
            </a:r>
          </a:p>
          <a:p>
            <a:endParaRPr lang="zh-CN" altLang="en-US" dirty="0">
              <a:sym typeface="Huawei Sans" panose="020C0503030203020204" pitchFamily="34" charset="0"/>
            </a:endParaRPr>
          </a:p>
          <a:p>
            <a:r>
              <a:rPr lang="en-US" altLang="zh-CN" dirty="0">
                <a:sym typeface="Huawei Sans" panose="020C0503030203020204" pitchFamily="34" charset="0"/>
              </a:rPr>
              <a:t>FTP: 4605 byte(s) received in 1.135 second(s) 3.962Kbyte(s)/sec.</a:t>
            </a:r>
            <a:endParaRPr lang="zh-CN" altLang="en-US" dirty="0">
              <a:sym typeface="Huawei Sans" panose="020C0503030203020204" pitchFamily="34" charset="0"/>
            </a:endParaRPr>
          </a:p>
        </p:txBody>
      </p:sp>
    </p:spTree>
    <p:extLst>
      <p:ext uri="{BB962C8B-B14F-4D97-AF65-F5344CB8AC3E}">
        <p14:creationId xmlns:p14="http://schemas.microsoft.com/office/powerpoint/2010/main" val="365548972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安装</a:t>
            </a:r>
            <a:r>
              <a:rPr lang="en-US" altLang="zh-CN" smtClean="0">
                <a:sym typeface="Huawei Sans" panose="020C0503030203020204" pitchFamily="34" charset="0"/>
              </a:rPr>
              <a:t>Python</a:t>
            </a:r>
            <a:r>
              <a:rPr lang="zh-CN" altLang="en-US" smtClean="0">
                <a:sym typeface="Huawei Sans" panose="020C0503030203020204" pitchFamily="34" charset="0"/>
              </a:rPr>
              <a:t>脚本</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dirty="0" smtClean="0">
                <a:sym typeface="Huawei Sans" panose="020C0503030203020204" pitchFamily="34" charset="0"/>
              </a:rPr>
              <a:t>Python</a:t>
            </a:r>
            <a:r>
              <a:rPr lang="zh-CN" altLang="en-US" sz="1800" dirty="0" smtClean="0">
                <a:sym typeface="Huawei Sans" panose="020C0503030203020204" pitchFamily="34" charset="0"/>
              </a:rPr>
              <a:t>脚本上传完成后，使用</a:t>
            </a:r>
            <a:r>
              <a:rPr lang="en-US" altLang="zh-CN" sz="1800" dirty="0" smtClean="0">
                <a:sym typeface="Huawei Sans" panose="020C0503030203020204" pitchFamily="34" charset="0"/>
              </a:rPr>
              <a:t>ops install file file-name </a:t>
            </a:r>
            <a:r>
              <a:rPr lang="zh-CN" altLang="en-US" sz="1800" dirty="0" smtClean="0">
                <a:sym typeface="Huawei Sans" panose="020C0503030203020204" pitchFamily="34" charset="0"/>
              </a:rPr>
              <a:t>命令安装脚本。</a:t>
            </a:r>
            <a:endParaRPr lang="zh-CN" altLang="en-US" sz="1800" dirty="0">
              <a:sym typeface="Huawei Sans" panose="020C0503030203020204" pitchFamily="34" charset="0"/>
            </a:endParaRPr>
          </a:p>
        </p:txBody>
      </p:sp>
      <p:sp>
        <p:nvSpPr>
          <p:cNvPr id="7" name="文本框 6">
            <a:extLst>
              <a:ext uri="{FF2B5EF4-FFF2-40B4-BE49-F238E27FC236}">
                <a16:creationId xmlns="" xmlns:a16="http://schemas.microsoft.com/office/drawing/2014/main" id="{773D837C-8D89-4B32-AD1E-4199EF71F59D}"/>
              </a:ext>
            </a:extLst>
          </p:cNvPr>
          <p:cNvSpPr txBox="1"/>
          <p:nvPr/>
        </p:nvSpPr>
        <p:spPr bwMode="gray">
          <a:xfrm>
            <a:off x="828833" y="1811480"/>
            <a:ext cx="9390932" cy="307777"/>
          </a:xfrm>
          <a:prstGeom prst="rect">
            <a:avLst/>
          </a:prstGeom>
          <a:solidFill>
            <a:schemeClr val="bg1">
              <a:lumMod val="85000"/>
            </a:schemeClr>
          </a:solidFill>
          <a:ln>
            <a:noFill/>
          </a:ln>
        </p:spPr>
        <p:txBody>
          <a:bodyPr wrap="square" rtlCol="0">
            <a:spAutoFit/>
          </a:bodyPr>
          <a:lstStyle>
            <a:defPPr>
              <a:defRPr lang="en-US"/>
            </a:defPPr>
            <a:lvl1pPr>
              <a:defRPr sz="1400"/>
            </a:lvl1pPr>
          </a:lstStyle>
          <a:p>
            <a:r>
              <a:rPr lang="en-US" altLang="zh-CN" dirty="0">
                <a:sym typeface="Huawei Sans" panose="020C0503030203020204" pitchFamily="34" charset="0"/>
              </a:rPr>
              <a:t>&lt;CE1&gt;ops install file cpu_demo.py                                                             # </a:t>
            </a:r>
            <a:r>
              <a:rPr lang="zh-CN" altLang="en-US" dirty="0">
                <a:sym typeface="Huawei Sans" panose="020C0503030203020204" pitchFamily="34" charset="0"/>
              </a:rPr>
              <a:t>安装</a:t>
            </a:r>
            <a:r>
              <a:rPr lang="en-US" altLang="zh-CN" dirty="0">
                <a:sym typeface="Huawei Sans" panose="020C0503030203020204" pitchFamily="34" charset="0"/>
              </a:rPr>
              <a:t>Python</a:t>
            </a:r>
            <a:r>
              <a:rPr lang="zh-CN" altLang="en-US" dirty="0">
                <a:sym typeface="Huawei Sans" panose="020C0503030203020204" pitchFamily="34" charset="0"/>
              </a:rPr>
              <a:t>脚本文件</a:t>
            </a:r>
          </a:p>
        </p:txBody>
      </p:sp>
      <p:sp>
        <p:nvSpPr>
          <p:cNvPr id="9" name="文本占位符 2"/>
          <p:cNvSpPr txBox="1">
            <a:spLocks/>
          </p:cNvSpPr>
          <p:nvPr/>
        </p:nvSpPr>
        <p:spPr bwMode="gray">
          <a:xfrm>
            <a:off x="468316" y="2235225"/>
            <a:ext cx="10953621" cy="476979"/>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检查安装结果。</a:t>
            </a:r>
          </a:p>
        </p:txBody>
      </p:sp>
      <p:sp>
        <p:nvSpPr>
          <p:cNvPr id="10" name="文本框 9">
            <a:extLst>
              <a:ext uri="{FF2B5EF4-FFF2-40B4-BE49-F238E27FC236}">
                <a16:creationId xmlns="" xmlns:a16="http://schemas.microsoft.com/office/drawing/2014/main" id="{773D837C-8D89-4B32-AD1E-4199EF71F59D}"/>
              </a:ext>
            </a:extLst>
          </p:cNvPr>
          <p:cNvSpPr txBox="1"/>
          <p:nvPr/>
        </p:nvSpPr>
        <p:spPr bwMode="gray">
          <a:xfrm>
            <a:off x="828834" y="2693608"/>
            <a:ext cx="9390931" cy="1384995"/>
          </a:xfrm>
          <a:prstGeom prst="rect">
            <a:avLst/>
          </a:prstGeom>
          <a:solidFill>
            <a:schemeClr val="bg1">
              <a:lumMod val="85000"/>
            </a:schemeClr>
          </a:solidFill>
          <a:ln>
            <a:noFill/>
          </a:ln>
        </p:spPr>
        <p:txBody>
          <a:bodyPr wrap="square" rtlCol="0">
            <a:spAutoFit/>
          </a:bodyPr>
          <a:lstStyle>
            <a:defPPr>
              <a:defRPr lang="en-US"/>
            </a:defPPr>
            <a:lvl1pPr>
              <a:defRPr sz="1400"/>
            </a:lvl1pPr>
          </a:lstStyle>
          <a:p>
            <a:r>
              <a:rPr lang="en-US" altLang="zh-CN" dirty="0">
                <a:sym typeface="Huawei Sans" panose="020C0503030203020204" pitchFamily="34" charset="0"/>
              </a:rPr>
              <a:t>&lt;CE1&gt;display ops script                                                                            # </a:t>
            </a:r>
            <a:r>
              <a:rPr lang="zh-CN" altLang="en-US" dirty="0">
                <a:sym typeface="Huawei Sans" panose="020C0503030203020204" pitchFamily="34" charset="0"/>
              </a:rPr>
              <a:t>查看安装的脚本目录信息</a:t>
            </a:r>
          </a:p>
          <a:p>
            <a:r>
              <a:rPr lang="en-US" altLang="zh-CN" dirty="0">
                <a:sym typeface="Huawei Sans" panose="020C0503030203020204" pitchFamily="34" charset="0"/>
              </a:rPr>
              <a: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Index      Size(Byte)  Filename</a:t>
            </a:r>
            <a:endParaRPr lang="zh-CN" altLang="en-US" dirty="0">
              <a:sym typeface="Huawei Sans" panose="020C0503030203020204" pitchFamily="34" charset="0"/>
            </a:endParaRPr>
          </a:p>
          <a:p>
            <a:r>
              <a:rPr lang="en-US" altLang="zh-CN" dirty="0">
                <a:sym typeface="Huawei Sans" panose="020C0503030203020204" pitchFamily="34" charset="0"/>
              </a:rPr>
              <a: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0            4605  cpu_demo.py</a:t>
            </a:r>
            <a:endParaRPr lang="zh-CN" altLang="en-US" dirty="0">
              <a:sym typeface="Huawei Sans" panose="020C0503030203020204" pitchFamily="34" charset="0"/>
            </a:endParaRPr>
          </a:p>
          <a:p>
            <a:r>
              <a:rPr lang="en-US" altLang="zh-CN" dirty="0">
                <a:sym typeface="Huawei Sans" panose="020C0503030203020204" pitchFamily="34" charset="0"/>
              </a:rPr>
              <a:t>--------------------------------------------------------------------------------</a:t>
            </a:r>
            <a:endParaRPr lang="zh-CN" altLang="en-US" dirty="0">
              <a:sym typeface="Huawei Sans" panose="020C0503030203020204" pitchFamily="34" charset="0"/>
            </a:endParaRPr>
          </a:p>
        </p:txBody>
      </p:sp>
      <p:sp>
        <p:nvSpPr>
          <p:cNvPr id="6" name="文本框 5"/>
          <p:cNvSpPr txBox="1"/>
          <p:nvPr/>
        </p:nvSpPr>
        <p:spPr bwMode="gray">
          <a:xfrm>
            <a:off x="742772" y="4281543"/>
            <a:ext cx="5098630" cy="369332"/>
          </a:xfrm>
          <a:prstGeom prst="rect">
            <a:avLst/>
          </a:prstGeom>
          <a:noFill/>
        </p:spPr>
        <p:txBody>
          <a:bodyPr wrap="square" rtlCol="0">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可以看到，</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cpu_demo.py</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脚本已经安装成功。</a:t>
            </a:r>
          </a:p>
        </p:txBody>
      </p:sp>
    </p:spTree>
    <p:extLst>
      <p:ext uri="{BB962C8B-B14F-4D97-AF65-F5344CB8AC3E}">
        <p14:creationId xmlns:p14="http://schemas.microsoft.com/office/powerpoint/2010/main" val="297347453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运行</a:t>
            </a:r>
            <a:r>
              <a:rPr lang="en-US" altLang="zh-CN" smtClean="0">
                <a:sym typeface="Huawei Sans" panose="020C0503030203020204" pitchFamily="34" charset="0"/>
              </a:rPr>
              <a:t>Python</a:t>
            </a:r>
            <a:r>
              <a:rPr lang="zh-CN" altLang="en-US" smtClean="0">
                <a:sym typeface="Huawei Sans" panose="020C0503030203020204" pitchFamily="34" charset="0"/>
              </a:rPr>
              <a:t>脚本 </a:t>
            </a:r>
            <a:r>
              <a:rPr lang="en-US" altLang="zh-CN" smtClean="0">
                <a:sym typeface="Huawei Sans" panose="020C0503030203020204" pitchFamily="34" charset="0"/>
              </a:rPr>
              <a:t>(1)</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smtClean="0">
                <a:sym typeface="Huawei Sans" panose="020C0503030203020204" pitchFamily="34" charset="0"/>
              </a:rPr>
              <a:t>使用</a:t>
            </a:r>
            <a:r>
              <a:rPr lang="en-US" altLang="zh-CN" sz="1800" smtClean="0">
                <a:sym typeface="Huawei Sans" panose="020C0503030203020204" pitchFamily="34" charset="0"/>
              </a:rPr>
              <a:t>ops run python file-name </a:t>
            </a:r>
            <a:r>
              <a:rPr lang="zh-CN" altLang="en-US" sz="1800" smtClean="0">
                <a:sym typeface="Huawei Sans" panose="020C0503030203020204" pitchFamily="34" charset="0"/>
              </a:rPr>
              <a:t>命令运行</a:t>
            </a:r>
            <a:r>
              <a:rPr lang="en-US" altLang="zh-CN" sz="1800" smtClean="0">
                <a:sym typeface="Huawei Sans" panose="020C0503030203020204" pitchFamily="34" charset="0"/>
              </a:rPr>
              <a:t>Python</a:t>
            </a:r>
            <a:r>
              <a:rPr lang="zh-CN" altLang="en-US" sz="1800" smtClean="0">
                <a:sym typeface="Huawei Sans" panose="020C0503030203020204" pitchFamily="34" charset="0"/>
              </a:rPr>
              <a:t>脚本。</a:t>
            </a:r>
            <a:endParaRPr lang="zh-CN" altLang="en-US" sz="1800" dirty="0">
              <a:sym typeface="Huawei Sans" panose="020C0503030203020204" pitchFamily="34" charset="0"/>
            </a:endParaRPr>
          </a:p>
        </p:txBody>
      </p:sp>
      <p:sp>
        <p:nvSpPr>
          <p:cNvPr id="7" name="文本框 6">
            <a:extLst>
              <a:ext uri="{FF2B5EF4-FFF2-40B4-BE49-F238E27FC236}">
                <a16:creationId xmlns="" xmlns:a16="http://schemas.microsoft.com/office/drawing/2014/main" id="{773D837C-8D89-4B32-AD1E-4199EF71F59D}"/>
              </a:ext>
            </a:extLst>
          </p:cNvPr>
          <p:cNvSpPr txBox="1"/>
          <p:nvPr/>
        </p:nvSpPr>
        <p:spPr bwMode="gray">
          <a:xfrm>
            <a:off x="828833" y="1502543"/>
            <a:ext cx="10294573" cy="4616648"/>
          </a:xfrm>
          <a:prstGeom prst="rect">
            <a:avLst/>
          </a:prstGeom>
          <a:solidFill>
            <a:schemeClr val="bg1">
              <a:lumMod val="85000"/>
            </a:schemeClr>
          </a:solidFill>
          <a:ln>
            <a:noFill/>
          </a:ln>
        </p:spPr>
        <p:txBody>
          <a:bodyPr wrap="square" rtlCol="0">
            <a:spAutoFit/>
          </a:bodyPr>
          <a:lstStyle>
            <a:defPPr>
              <a:defRPr lang="en-US"/>
            </a:defPPr>
            <a:lvl1pPr>
              <a:defRPr sz="1400"/>
            </a:lvl1pPr>
          </a:lstStyle>
          <a:p>
            <a:r>
              <a:rPr lang="en-US" altLang="zh-CN" dirty="0">
                <a:sym typeface="Huawei Sans" panose="020C0503030203020204" pitchFamily="34" charset="0"/>
              </a:rPr>
              <a:t>&lt;CE1&gt;ops run python cpu_demo.py </a:t>
            </a:r>
            <a:endParaRPr lang="zh-CN" altLang="en-US" dirty="0">
              <a:sym typeface="Huawei Sans" panose="020C0503030203020204" pitchFamily="34" charset="0"/>
            </a:endParaRPr>
          </a:p>
          <a:p>
            <a:r>
              <a:rPr lang="en-US" altLang="zh-CN" dirty="0">
                <a:sym typeface="Huawei Sans" panose="020C0503030203020204" pitchFamily="34" charset="0"/>
              </a:rPr>
              <a:t>|---------------------------------- request: ----------------------------------|            # </a:t>
            </a:r>
            <a:r>
              <a:rPr lang="zh-CN" altLang="en-US" dirty="0">
                <a:sym typeface="Huawei Sans" panose="020C0503030203020204" pitchFamily="34" charset="0"/>
              </a:rPr>
              <a:t>发送的</a:t>
            </a:r>
            <a:r>
              <a:rPr lang="en-US" altLang="zh-CN" dirty="0">
                <a:sym typeface="Huawei Sans" panose="020C0503030203020204" pitchFamily="34" charset="0"/>
              </a:rPr>
              <a:t>GET</a:t>
            </a:r>
            <a:r>
              <a:rPr lang="zh-CN" altLang="en-US" dirty="0">
                <a:sym typeface="Huawei Sans" panose="020C0503030203020204" pitchFamily="34" charset="0"/>
              </a:rPr>
              <a:t>操作请求内容</a:t>
            </a:r>
          </a:p>
          <a:p>
            <a:r>
              <a:rPr lang="en-US" altLang="zh-CN" dirty="0">
                <a:sym typeface="Huawei Sans" panose="020C0503030203020204" pitchFamily="34" charset="0"/>
              </a:rPr>
              <a:t>GET /</a:t>
            </a:r>
            <a:r>
              <a:rPr lang="en-US" altLang="zh-CN" dirty="0" err="1">
                <a:sym typeface="Huawei Sans" panose="020C0503030203020204" pitchFamily="34" charset="0"/>
              </a:rPr>
              <a:t>devm</a:t>
            </a:r>
            <a:r>
              <a:rPr lang="en-US" altLang="zh-CN" dirty="0">
                <a:sym typeface="Huawei Sans" panose="020C0503030203020204" pitchFamily="34" charset="0"/>
              </a:rPr>
              <a:t>/</a:t>
            </a:r>
            <a:r>
              <a:rPr lang="en-US" altLang="zh-CN" dirty="0" err="1">
                <a:sym typeface="Huawei Sans" panose="020C0503030203020204" pitchFamily="34" charset="0"/>
              </a:rPr>
              <a:t>cpuInfos</a:t>
            </a:r>
            <a:r>
              <a:rPr lang="en-US" altLang="zh-CN" dirty="0">
                <a:sym typeface="Huawei Sans" panose="020C0503030203020204" pitchFamily="34" charset="0"/>
              </a:rPr>
              <a:t>/</a:t>
            </a:r>
            <a:r>
              <a:rPr lang="en-US" altLang="zh-CN" dirty="0" err="1">
                <a:sym typeface="Huawei Sans" panose="020C0503030203020204" pitchFamily="34" charset="0"/>
              </a:rPr>
              <a:t>cpuInfo</a:t>
            </a:r>
            <a:r>
              <a:rPr lang="en-US" altLang="zh-CN" dirty="0">
                <a:sym typeface="Huawei Sans" panose="020C0503030203020204" pitchFamily="34" charset="0"/>
              </a:rPr>
              <a:t> HTTP/1.1</a:t>
            </a:r>
            <a:endParaRPr lang="zh-CN" altLang="en-US" dirty="0">
              <a:sym typeface="Huawei Sans" panose="020C0503030203020204" pitchFamily="34" charset="0"/>
            </a:endParaRPr>
          </a:p>
          <a:p>
            <a:endParaRPr lang="zh-CN" altLang="en-US" dirty="0">
              <a:sym typeface="Huawei Sans" panose="020C0503030203020204" pitchFamily="34" charset="0"/>
            </a:endParaRPr>
          </a:p>
          <a:p>
            <a:r>
              <a:rPr lang="en-US" altLang="zh-CN" dirty="0">
                <a:sym typeface="Huawei Sans" panose="020C0503030203020204" pitchFamily="34" charset="0"/>
              </a:rPr>
              <a:t>&lt;?xml version='1.0' encoding='UTF-8'?&gt; </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cpuInfo</a:t>
            </a:r>
            <a:r>
              <a:rPr lang="en-US" altLang="zh-CN" dirty="0">
                <a:sym typeface="Huawei Sans" panose="020C0503030203020204" pitchFamily="34" charset="0"/>
              </a:rPr>
              <a:t>&gt; </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&lt;position&gt;&lt;/position&gt; </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entIndex</a:t>
            </a:r>
            <a:r>
              <a:rPr lang="en-US" altLang="zh-CN" dirty="0">
                <a:sym typeface="Huawei Sans" panose="020C0503030203020204" pitchFamily="34" charset="0"/>
              </a:rPr>
              <a:t>&gt;&lt;/</a:t>
            </a:r>
            <a:r>
              <a:rPr lang="en-US" altLang="zh-CN" dirty="0" err="1">
                <a:sym typeface="Huawei Sans" panose="020C0503030203020204" pitchFamily="34" charset="0"/>
              </a:rPr>
              <a:t>entIndex</a:t>
            </a:r>
            <a:r>
              <a:rPr lang="en-US" altLang="zh-CN" dirty="0">
                <a:sym typeface="Huawei Sans" panose="020C0503030203020204" pitchFamily="34" charset="0"/>
              </a:rPr>
              <a:t>&gt; </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systemCpuUsage</a:t>
            </a:r>
            <a:r>
              <a:rPr lang="en-US" altLang="zh-CN" dirty="0">
                <a:sym typeface="Huawei Sans" panose="020C0503030203020204" pitchFamily="34" charset="0"/>
              </a:rPr>
              <a:t>&gt;&lt;/</a:t>
            </a:r>
            <a:r>
              <a:rPr lang="en-US" altLang="zh-CN" dirty="0" err="1">
                <a:sym typeface="Huawei Sans" panose="020C0503030203020204" pitchFamily="34" charset="0"/>
              </a:rPr>
              <a:t>systemCpuUsage</a:t>
            </a:r>
            <a:r>
              <a:rPr lang="en-US" altLang="zh-CN" dirty="0">
                <a:sym typeface="Huawei Sans" panose="020C0503030203020204" pitchFamily="34" charset="0"/>
              </a:rPr>
              <a:t>&gt; </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ovloadThreshold</a:t>
            </a:r>
            <a:r>
              <a:rPr lang="en-US" altLang="zh-CN" dirty="0">
                <a:sym typeface="Huawei Sans" panose="020C0503030203020204" pitchFamily="34" charset="0"/>
              </a:rPr>
              <a:t>&gt;&lt;/</a:t>
            </a:r>
            <a:r>
              <a:rPr lang="en-US" altLang="zh-CN" dirty="0" err="1">
                <a:sym typeface="Huawei Sans" panose="020C0503030203020204" pitchFamily="34" charset="0"/>
              </a:rPr>
              <a:t>ovloadThreshold</a:t>
            </a:r>
            <a:r>
              <a:rPr lang="en-US" altLang="zh-CN" dirty="0">
                <a:sym typeface="Huawei Sans" panose="020C0503030203020204" pitchFamily="34" charset="0"/>
              </a:rPr>
              <a:t>&gt; </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unovloadThreshold</a:t>
            </a:r>
            <a:r>
              <a:rPr lang="en-US" altLang="zh-CN" dirty="0">
                <a:sym typeface="Huawei Sans" panose="020C0503030203020204" pitchFamily="34" charset="0"/>
              </a:rPr>
              <a:t>&gt;&lt;/</a:t>
            </a:r>
            <a:r>
              <a:rPr lang="en-US" altLang="zh-CN" dirty="0" err="1">
                <a:sym typeface="Huawei Sans" panose="020C0503030203020204" pitchFamily="34" charset="0"/>
              </a:rPr>
              <a:t>unovloadThreshold</a:t>
            </a:r>
            <a:r>
              <a:rPr lang="en-US" altLang="zh-CN" dirty="0">
                <a:sym typeface="Huawei Sans" panose="020C0503030203020204" pitchFamily="34" charset="0"/>
              </a:rPr>
              <a:t>&gt; </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cpuInfo</a:t>
            </a:r>
            <a:r>
              <a:rPr lang="en-US" altLang="zh-CN" dirty="0">
                <a:sym typeface="Huawei Sans" panose="020C0503030203020204" pitchFamily="34" charset="0"/>
              </a:rPr>
              <a:t>&gt;</a:t>
            </a:r>
            <a:endParaRPr lang="zh-CN" altLang="en-US" dirty="0">
              <a:sym typeface="Huawei Sans" panose="020C0503030203020204" pitchFamily="34" charset="0"/>
            </a:endParaRPr>
          </a:p>
          <a:p>
            <a:r>
              <a:rPr lang="zh-CN" altLang="en-US" dirty="0">
                <a:sym typeface="Huawei Sans" panose="020C0503030203020204" pitchFamily="34" charset="0"/>
              </a:rPr>
              <a:t>        </a:t>
            </a:r>
          </a:p>
          <a:p>
            <a:r>
              <a:rPr lang="en-US" altLang="zh-CN" dirty="0">
                <a:sym typeface="Huawei Sans" panose="020C0503030203020204" pitchFamily="34" charset="0"/>
              </a:rPr>
              <a:t>|---------------------------------- response: ---------------------------------|          # </a:t>
            </a:r>
            <a:r>
              <a:rPr lang="zh-CN" altLang="en-US" dirty="0">
                <a:sym typeface="Huawei Sans" panose="020C0503030203020204" pitchFamily="34" charset="0"/>
              </a:rPr>
              <a:t>网络设备返回的回应消息内容（接下一页胶片）</a:t>
            </a:r>
          </a:p>
          <a:p>
            <a:r>
              <a:rPr lang="en-US" altLang="zh-CN" dirty="0">
                <a:sym typeface="Huawei Sans" panose="020C0503030203020204" pitchFamily="34" charset="0"/>
              </a:rPr>
              <a:t>HTTP/1.1 200 OK</a:t>
            </a:r>
            <a:endParaRPr lang="zh-CN" altLang="en-US" dirty="0">
              <a:sym typeface="Huawei Sans" panose="020C0503030203020204" pitchFamily="34" charset="0"/>
            </a:endParaRPr>
          </a:p>
          <a:p>
            <a:endParaRPr lang="zh-CN" altLang="en-US" dirty="0">
              <a:sym typeface="Huawei Sans" panose="020C0503030203020204" pitchFamily="34" charset="0"/>
            </a:endParaRPr>
          </a:p>
          <a:p>
            <a:r>
              <a:rPr lang="en-US" altLang="zh-CN" dirty="0">
                <a:sym typeface="Huawei Sans" panose="020C0503030203020204" pitchFamily="34" charset="0"/>
              </a:rPr>
              <a:t>&lt;?xml version="1.0" encoding="UTF-8"?&gt;</a:t>
            </a:r>
            <a:endParaRPr lang="zh-CN" altLang="en-US" dirty="0">
              <a:sym typeface="Huawei Sans" panose="020C0503030203020204" pitchFamily="34" charset="0"/>
            </a:endParaRPr>
          </a:p>
          <a:p>
            <a:r>
              <a:rPr lang="en-US" altLang="zh-CN" dirty="0">
                <a:sym typeface="Huawei Sans" panose="020C0503030203020204" pitchFamily="34" charset="0"/>
              </a:rPr>
              <a:t>&lt;</a:t>
            </a:r>
            <a:r>
              <a:rPr lang="en-US" altLang="zh-CN" dirty="0" err="1">
                <a:sym typeface="Huawei Sans" panose="020C0503030203020204" pitchFamily="34" charset="0"/>
              </a:rPr>
              <a:t>rpc</a:t>
            </a:r>
            <a:r>
              <a:rPr lang="en-US" altLang="zh-CN" dirty="0">
                <a:sym typeface="Huawei Sans" panose="020C0503030203020204" pitchFamily="34" charset="0"/>
              </a:rPr>
              <a:t>-reply&gt;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&lt;data&gt;</a:t>
            </a:r>
          </a:p>
          <a:p>
            <a:r>
              <a:rPr lang="zh-CN" altLang="en-US" dirty="0">
                <a:sym typeface="Huawei Sans" panose="020C0503030203020204" pitchFamily="34" charset="0"/>
              </a:rPr>
              <a:t>    </a:t>
            </a:r>
            <a:r>
              <a:rPr lang="fr-FR" altLang="zh-CN" dirty="0">
                <a:sym typeface="Huawei Sans" panose="020C0503030203020204" pitchFamily="34" charset="0"/>
              </a:rPr>
              <a:t>&lt;devm xmlns="http://www.huawei.com/netconf/vrp" format-version="1.0" content</a:t>
            </a:r>
            <a:endParaRPr lang="zh-CN" altLang="en-US" dirty="0">
              <a:sym typeface="Huawei Sans" panose="020C0503030203020204" pitchFamily="34" charset="0"/>
            </a:endParaRPr>
          </a:p>
          <a:p>
            <a:r>
              <a:rPr lang="en-US" altLang="zh-CN" dirty="0">
                <a:sym typeface="Huawei Sans" panose="020C0503030203020204" pitchFamily="34" charset="0"/>
              </a:rPr>
              <a:t>-version="1.0"&gt;</a:t>
            </a:r>
            <a:endParaRPr lang="zh-CN" altLang="en-US" dirty="0">
              <a:sym typeface="Huawei Sans" panose="020C0503030203020204" pitchFamily="34" charset="0"/>
            </a:endParaRPr>
          </a:p>
        </p:txBody>
      </p:sp>
    </p:spTree>
    <p:extLst>
      <p:ext uri="{BB962C8B-B14F-4D97-AF65-F5344CB8AC3E}">
        <p14:creationId xmlns:p14="http://schemas.microsoft.com/office/powerpoint/2010/main" val="320765056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运行</a:t>
            </a:r>
            <a:r>
              <a:rPr lang="en-US" altLang="zh-CN" smtClean="0">
                <a:sym typeface="Huawei Sans" panose="020C0503030203020204" pitchFamily="34" charset="0"/>
              </a:rPr>
              <a:t>Python</a:t>
            </a:r>
            <a:r>
              <a:rPr lang="zh-CN" altLang="en-US" smtClean="0">
                <a:sym typeface="Huawei Sans" panose="020C0503030203020204" pitchFamily="34" charset="0"/>
              </a:rPr>
              <a:t>脚本 </a:t>
            </a:r>
            <a:r>
              <a:rPr lang="en-US" altLang="zh-CN" smtClean="0">
                <a:sym typeface="Huawei Sans" panose="020C0503030203020204" pitchFamily="34" charset="0"/>
              </a:rPr>
              <a:t>(2)</a:t>
            </a:r>
            <a:endParaRPr lang="zh-CN" altLang="en-US" dirty="0">
              <a:sym typeface="Huawei Sans" panose="020C0503030203020204" pitchFamily="34" charset="0"/>
            </a:endParaRPr>
          </a:p>
        </p:txBody>
      </p:sp>
      <p:sp>
        <p:nvSpPr>
          <p:cNvPr id="7" name="文本框 6">
            <a:extLst>
              <a:ext uri="{FF2B5EF4-FFF2-40B4-BE49-F238E27FC236}">
                <a16:creationId xmlns="" xmlns:a16="http://schemas.microsoft.com/office/drawing/2014/main" id="{773D837C-8D89-4B32-AD1E-4199EF71F59D}"/>
              </a:ext>
            </a:extLst>
          </p:cNvPr>
          <p:cNvSpPr txBox="1"/>
          <p:nvPr/>
        </p:nvSpPr>
        <p:spPr bwMode="gray">
          <a:xfrm>
            <a:off x="828833" y="1233488"/>
            <a:ext cx="9426514" cy="4616648"/>
          </a:xfrm>
          <a:prstGeom prst="rect">
            <a:avLst/>
          </a:prstGeom>
          <a:solidFill>
            <a:schemeClr val="bg1">
              <a:lumMod val="85000"/>
            </a:schemeClr>
          </a:solidFill>
          <a:ln>
            <a:noFill/>
          </a:ln>
        </p:spPr>
        <p:txBody>
          <a:bodyPr wrap="square" rtlCol="0">
            <a:spAutoFit/>
          </a:bodyPr>
          <a:lstStyle>
            <a:defPPr>
              <a:defRPr lang="en-US"/>
            </a:defPPr>
            <a:lvl1pPr>
              <a:defRPr sz="1400"/>
            </a:lvl1pPr>
          </a:lstStyle>
          <a:p>
            <a:r>
              <a:rPr lang="en-US" altLang="zh-CN" dirty="0">
                <a:sym typeface="Huawei Sans" panose="020C0503030203020204" pitchFamily="34" charset="0"/>
              </a:rPr>
              <a:t>      &lt;</a:t>
            </a:r>
            <a:r>
              <a:rPr lang="en-US" altLang="zh-CN" dirty="0" err="1">
                <a:sym typeface="Huawei Sans" panose="020C0503030203020204" pitchFamily="34" charset="0"/>
              </a:rPr>
              <a:t>cpuInfos</a:t>
            </a:r>
            <a:r>
              <a:rPr lang="en-US" altLang="zh-CN" dirty="0">
                <a:sym typeface="Huawei Sans" panose="020C0503030203020204" pitchFamily="34" charset="0"/>
              </a:rPr>
              <a:t>&gt; </a:t>
            </a:r>
            <a:r>
              <a:rPr lang="en-US" altLang="zh-CN" dirty="0" smtClean="0">
                <a:sym typeface="Huawei Sans" panose="020C0503030203020204" pitchFamily="34" charset="0"/>
              </a:rPr>
              <a:t>                                                                        </a:t>
            </a:r>
            <a:endParaRPr lang="zh-CN" altLang="en-US" dirty="0" smtClean="0">
              <a:sym typeface="Huawei Sans" panose="020C0503030203020204" pitchFamily="34" charset="0"/>
            </a:endParaRPr>
          </a:p>
          <a:p>
            <a:r>
              <a:rPr lang="zh-CN" altLang="en-US" dirty="0" smtClean="0">
                <a:sym typeface="Huawei Sans" panose="020C0503030203020204" pitchFamily="34" charset="0"/>
              </a:rPr>
              <a:t>        </a:t>
            </a:r>
            <a:r>
              <a:rPr lang="en-US" altLang="zh-CN" dirty="0" smtClean="0">
                <a:sym typeface="Huawei Sans" panose="020C0503030203020204" pitchFamily="34" charset="0"/>
              </a:rPr>
              <a:t>&lt;</a:t>
            </a:r>
            <a:r>
              <a:rPr lang="en-US" altLang="zh-CN" dirty="0" err="1" smtClean="0">
                <a:sym typeface="Huawei Sans" panose="020C0503030203020204" pitchFamily="34" charset="0"/>
              </a:rPr>
              <a:t>cpuInfo</a:t>
            </a:r>
            <a:r>
              <a:rPr lang="en-US" altLang="zh-CN" dirty="0" smtClean="0">
                <a:sym typeface="Huawei Sans" panose="020C0503030203020204" pitchFamily="34" charset="0"/>
              </a:rPr>
              <a:t>&gt;                                                                        </a:t>
            </a:r>
            <a:endParaRPr lang="zh-CN" altLang="en-US" dirty="0" smtClean="0">
              <a:sym typeface="Huawei Sans" panose="020C0503030203020204" pitchFamily="34" charset="0"/>
            </a:endParaRPr>
          </a:p>
          <a:p>
            <a:r>
              <a:rPr lang="zh-CN" altLang="en-US" dirty="0" smtClean="0">
                <a:sym typeface="Huawei Sans" panose="020C0503030203020204" pitchFamily="34" charset="0"/>
              </a:rPr>
              <a:t>          </a:t>
            </a:r>
            <a:r>
              <a:rPr lang="fr-FR" altLang="zh-CN" dirty="0">
                <a:sym typeface="Huawei Sans" panose="020C0503030203020204" pitchFamily="34" charset="0"/>
              </a:rPr>
              <a:t>&lt;position chassis=“1” slot=“1”&gt;1&lt;/position&gt;                   </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entIndex</a:t>
            </a:r>
            <a:r>
              <a:rPr lang="en-US" altLang="zh-CN" dirty="0">
                <a:sym typeface="Huawei Sans" panose="020C0503030203020204" pitchFamily="34" charset="0"/>
              </a:rPr>
              <a:t>&gt;16842753&lt;/</a:t>
            </a:r>
            <a:r>
              <a:rPr lang="en-US" altLang="zh-CN" dirty="0" err="1">
                <a:sym typeface="Huawei Sans" panose="020C0503030203020204" pitchFamily="34" charset="0"/>
              </a:rPr>
              <a:t>entIndex</a:t>
            </a:r>
            <a:r>
              <a:rPr lang="en-US" altLang="zh-CN" dirty="0">
                <a:sym typeface="Huawei Sans" panose="020C0503030203020204" pitchFamily="34" charset="0"/>
              </a:rPr>
              <a:t>&gt;                                   </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systemCpuUsage</a:t>
            </a:r>
            <a:r>
              <a:rPr lang="en-US" altLang="zh-CN" dirty="0">
                <a:sym typeface="Huawei Sans" panose="020C0503030203020204" pitchFamily="34" charset="0"/>
              </a:rPr>
              <a:t>&gt;4&lt;/</a:t>
            </a:r>
            <a:r>
              <a:rPr lang="en-US" altLang="zh-CN" dirty="0" err="1">
                <a:sym typeface="Huawei Sans" panose="020C0503030203020204" pitchFamily="34" charset="0"/>
              </a:rPr>
              <a:t>systemCpuUsage</a:t>
            </a:r>
            <a:r>
              <a:rPr lang="en-US" altLang="zh-CN" dirty="0">
                <a:sym typeface="Huawei Sans" panose="020C0503030203020204" pitchFamily="34" charset="0"/>
              </a:rPr>
              <a:t>&gt;                        </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ovloadThreshold</a:t>
            </a:r>
            <a:r>
              <a:rPr lang="en-US" altLang="zh-CN" dirty="0">
                <a:sym typeface="Huawei Sans" panose="020C0503030203020204" pitchFamily="34" charset="0"/>
              </a:rPr>
              <a:t>&gt;90&lt;/</a:t>
            </a:r>
            <a:r>
              <a:rPr lang="en-US" altLang="zh-CN" dirty="0" err="1">
                <a:sym typeface="Huawei Sans" panose="020C0503030203020204" pitchFamily="34" charset="0"/>
              </a:rPr>
              <a:t>ovloadThreshold</a:t>
            </a:r>
            <a:r>
              <a:rPr lang="en-US" altLang="zh-CN" dirty="0">
                <a:sym typeface="Huawei Sans" panose="020C0503030203020204" pitchFamily="34" charset="0"/>
              </a:rPr>
              <a:t>&gt;                      </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unovloadThreshold</a:t>
            </a:r>
            <a:r>
              <a:rPr lang="en-US" altLang="zh-CN" dirty="0">
                <a:sym typeface="Huawei Sans" panose="020C0503030203020204" pitchFamily="34" charset="0"/>
              </a:rPr>
              <a:t>&gt;75&lt;/</a:t>
            </a:r>
            <a:r>
              <a:rPr lang="en-US" altLang="zh-CN" dirty="0" err="1">
                <a:sym typeface="Huawei Sans" panose="020C0503030203020204" pitchFamily="34" charset="0"/>
              </a:rPr>
              <a:t>unovloadThreshold</a:t>
            </a:r>
            <a:r>
              <a:rPr lang="en-US" altLang="zh-CN" dirty="0">
                <a:sym typeface="Huawei Sans" panose="020C0503030203020204" pitchFamily="34" charset="0"/>
              </a:rPr>
              <a:t>&gt;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cpuInfo</a:t>
            </a:r>
            <a:r>
              <a:rPr lang="en-US" altLang="zh-CN" dirty="0">
                <a:sym typeface="Huawei Sans" panose="020C0503030203020204" pitchFamily="34" charset="0"/>
              </a:rPr>
              <a:t>&gt;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cpuInfo</a:t>
            </a:r>
            <a:r>
              <a:rPr lang="en-US" altLang="zh-CN" dirty="0">
                <a:sym typeface="Huawei Sans" panose="020C0503030203020204" pitchFamily="34" charset="0"/>
              </a:rPr>
              <a:t>&gt;</a:t>
            </a:r>
            <a:endParaRPr lang="zh-CN" altLang="en-US" dirty="0">
              <a:sym typeface="Huawei Sans" panose="020C0503030203020204" pitchFamily="34" charset="0"/>
            </a:endParaRPr>
          </a:p>
          <a:p>
            <a:r>
              <a:rPr lang="zh-CN" altLang="en-US" dirty="0">
                <a:sym typeface="Huawei Sans" panose="020C0503030203020204" pitchFamily="34" charset="0"/>
              </a:rPr>
              <a:t>          </a:t>
            </a:r>
            <a:r>
              <a:rPr lang="fr-FR" altLang="zh-CN" dirty="0">
                <a:sym typeface="Huawei Sans" panose="020C0503030203020204" pitchFamily="34" charset="0"/>
              </a:rPr>
              <a:t>&lt;position chassis="1" slot="17"&gt;17&lt;/position&gt;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entIndex</a:t>
            </a:r>
            <a:r>
              <a:rPr lang="en-US" altLang="zh-CN" dirty="0">
                <a:sym typeface="Huawei Sans" panose="020C0503030203020204" pitchFamily="34" charset="0"/>
              </a:rPr>
              <a:t>&gt;17891329&lt;/</a:t>
            </a:r>
            <a:r>
              <a:rPr lang="en-US" altLang="zh-CN" dirty="0" err="1">
                <a:sym typeface="Huawei Sans" panose="020C0503030203020204" pitchFamily="34" charset="0"/>
              </a:rPr>
              <a:t>entIndex</a:t>
            </a:r>
            <a:r>
              <a:rPr lang="en-US" altLang="zh-CN" dirty="0">
                <a:sym typeface="Huawei Sans" panose="020C0503030203020204" pitchFamily="34" charset="0"/>
              </a:rPr>
              <a:t>&gt;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systemCpuUsage</a:t>
            </a:r>
            <a:r>
              <a:rPr lang="en-US" altLang="zh-CN" dirty="0">
                <a:sym typeface="Huawei Sans" panose="020C0503030203020204" pitchFamily="34" charset="0"/>
              </a:rPr>
              <a:t>&gt;4&lt;/</a:t>
            </a:r>
            <a:r>
              <a:rPr lang="en-US" altLang="zh-CN" dirty="0" err="1">
                <a:sym typeface="Huawei Sans" panose="020C0503030203020204" pitchFamily="34" charset="0"/>
              </a:rPr>
              <a:t>systemCpuUsage</a:t>
            </a:r>
            <a:r>
              <a:rPr lang="en-US" altLang="zh-CN" dirty="0">
                <a:sym typeface="Huawei Sans" panose="020C0503030203020204" pitchFamily="34" charset="0"/>
              </a:rPr>
              <a:t>&gt;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ovloadThreshold</a:t>
            </a:r>
            <a:r>
              <a:rPr lang="en-US" altLang="zh-CN" dirty="0">
                <a:sym typeface="Huawei Sans" panose="020C0503030203020204" pitchFamily="34" charset="0"/>
              </a:rPr>
              <a:t>&gt;90&lt;/</a:t>
            </a:r>
            <a:r>
              <a:rPr lang="en-US" altLang="zh-CN" dirty="0" err="1">
                <a:sym typeface="Huawei Sans" panose="020C0503030203020204" pitchFamily="34" charset="0"/>
              </a:rPr>
              <a:t>ovloadThreshold</a:t>
            </a:r>
            <a:r>
              <a:rPr lang="en-US" altLang="zh-CN" dirty="0">
                <a:sym typeface="Huawei Sans" panose="020C0503030203020204" pitchFamily="34" charset="0"/>
              </a:rPr>
              <a:t>&gt;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unovloadThreshold</a:t>
            </a:r>
            <a:r>
              <a:rPr lang="en-US" altLang="zh-CN" dirty="0">
                <a:sym typeface="Huawei Sans" panose="020C0503030203020204" pitchFamily="34" charset="0"/>
              </a:rPr>
              <a:t>&gt;75&lt;/</a:t>
            </a:r>
            <a:r>
              <a:rPr lang="en-US" altLang="zh-CN" dirty="0" err="1">
                <a:sym typeface="Huawei Sans" panose="020C0503030203020204" pitchFamily="34" charset="0"/>
              </a:rPr>
              <a:t>unovloadThreshold</a:t>
            </a:r>
            <a:r>
              <a:rPr lang="en-US" altLang="zh-CN" dirty="0">
                <a:sym typeface="Huawei Sans" panose="020C0503030203020204" pitchFamily="34" charset="0"/>
              </a:rPr>
              <a:t>&gt;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cpuInfo</a:t>
            </a:r>
            <a:r>
              <a:rPr lang="en-US" altLang="zh-CN" dirty="0">
                <a:sym typeface="Huawei Sans" panose="020C0503030203020204" pitchFamily="34" charset="0"/>
              </a:rPr>
              <a:t>&gt;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cpuInfos</a:t>
            </a:r>
            <a:r>
              <a:rPr lang="en-US" altLang="zh-CN" dirty="0">
                <a:sym typeface="Huawei Sans" panose="020C0503030203020204" pitchFamily="34" charset="0"/>
              </a:rPr>
              <a:t>&gt;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a:t>
            </a:r>
            <a:r>
              <a:rPr lang="en-US" altLang="zh-CN" dirty="0" err="1">
                <a:sym typeface="Huawei Sans" panose="020C0503030203020204" pitchFamily="34" charset="0"/>
              </a:rPr>
              <a:t>devm</a:t>
            </a:r>
            <a:r>
              <a:rPr lang="en-US" altLang="zh-CN" dirty="0">
                <a:sym typeface="Huawei Sans" panose="020C0503030203020204" pitchFamily="34" charset="0"/>
              </a:rPr>
              <a:t>&gt;</a:t>
            </a:r>
            <a:endParaRPr lang="zh-CN" altLang="en-US" dirty="0">
              <a:sym typeface="Huawei Sans" panose="020C0503030203020204" pitchFamily="34" charset="0"/>
            </a:endParaRPr>
          </a:p>
          <a:p>
            <a:r>
              <a:rPr lang="zh-CN" altLang="en-US" dirty="0">
                <a:sym typeface="Huawei Sans" panose="020C0503030203020204" pitchFamily="34" charset="0"/>
              </a:rPr>
              <a:t>  </a:t>
            </a:r>
            <a:r>
              <a:rPr lang="en-US" altLang="zh-CN" dirty="0">
                <a:sym typeface="Huawei Sans" panose="020C0503030203020204" pitchFamily="34" charset="0"/>
              </a:rPr>
              <a:t>&lt;/data&gt;</a:t>
            </a:r>
            <a:endParaRPr lang="zh-CN" altLang="en-US" dirty="0">
              <a:sym typeface="Huawei Sans" panose="020C0503030203020204" pitchFamily="34" charset="0"/>
            </a:endParaRPr>
          </a:p>
          <a:p>
            <a:r>
              <a:rPr lang="en-US" altLang="zh-CN" dirty="0">
                <a:sym typeface="Huawei Sans" panose="020C0503030203020204" pitchFamily="34" charset="0"/>
              </a:rPr>
              <a:t>&lt;/</a:t>
            </a:r>
            <a:r>
              <a:rPr lang="en-US" altLang="zh-CN" dirty="0" err="1">
                <a:sym typeface="Huawei Sans" panose="020C0503030203020204" pitchFamily="34" charset="0"/>
              </a:rPr>
              <a:t>rpc</a:t>
            </a:r>
            <a:r>
              <a:rPr lang="en-US" altLang="zh-CN" dirty="0">
                <a:sym typeface="Huawei Sans" panose="020C0503030203020204" pitchFamily="34" charset="0"/>
              </a:rPr>
              <a:t>-reply&gt;</a:t>
            </a:r>
            <a:endParaRPr lang="zh-CN" altLang="en-US" dirty="0">
              <a:sym typeface="Huawei Sans" panose="020C0503030203020204" pitchFamily="34" charset="0"/>
            </a:endParaRPr>
          </a:p>
          <a:p>
            <a:endParaRPr lang="zh-CN" altLang="en-US" dirty="0">
              <a:sym typeface="Huawei Sans" panose="020C0503030203020204" pitchFamily="34" charset="0"/>
            </a:endParaRPr>
          </a:p>
          <a:p>
            <a:r>
              <a:rPr lang="en-US" altLang="zh-CN" dirty="0">
                <a:sym typeface="Huawei Sans" panose="020C0503030203020204" pitchFamily="34" charset="0"/>
              </a:rPr>
              <a:t>|------------------------------------------------------------------------------|</a:t>
            </a:r>
            <a:endParaRPr lang="zh-CN" altLang="en-US" dirty="0">
              <a:sym typeface="Huawei Sans" panose="020C0503030203020204" pitchFamily="34" charset="0"/>
            </a:endParaRPr>
          </a:p>
        </p:txBody>
      </p:sp>
      <p:sp>
        <p:nvSpPr>
          <p:cNvPr id="4" name="文本框 3">
            <a:extLst>
              <a:ext uri="{FF2B5EF4-FFF2-40B4-BE49-F238E27FC236}">
                <a16:creationId xmlns="" xmlns:a16="http://schemas.microsoft.com/office/drawing/2014/main" id="{773D837C-8D89-4B32-AD1E-4199EF71F59D}"/>
              </a:ext>
            </a:extLst>
          </p:cNvPr>
          <p:cNvSpPr txBox="1"/>
          <p:nvPr/>
        </p:nvSpPr>
        <p:spPr bwMode="gray">
          <a:xfrm>
            <a:off x="5428968" y="1458572"/>
            <a:ext cx="4826379" cy="1384995"/>
          </a:xfrm>
          <a:prstGeom prst="rect">
            <a:avLst/>
          </a:prstGeom>
          <a:solidFill>
            <a:schemeClr val="bg1">
              <a:lumMod val="85000"/>
            </a:schemeClr>
          </a:solidFill>
          <a:ln>
            <a:noFill/>
          </a:ln>
        </p:spPr>
        <p:txBody>
          <a:bodyPr wrap="square" rtlCol="0">
            <a:spAutoFit/>
          </a:bodyPr>
          <a:lstStyle>
            <a:defPPr>
              <a:defRPr lang="en-US"/>
            </a:defPPr>
            <a:lvl1pPr>
              <a:defRPr sz="1400"/>
            </a:lvl1pPr>
          </a:lstStyle>
          <a:p>
            <a:r>
              <a:rPr lang="en-US" altLang="zh-CN" dirty="0" smtClean="0">
                <a:sym typeface="Huawei Sans" panose="020C0503030203020204" pitchFamily="34" charset="0"/>
              </a:rPr>
              <a:t># </a:t>
            </a:r>
            <a:r>
              <a:rPr lang="zh-CN" altLang="en-US" dirty="0">
                <a:sym typeface="Huawei Sans" panose="020C0503030203020204" pitchFamily="34" charset="0"/>
              </a:rPr>
              <a:t>返回的</a:t>
            </a:r>
            <a:r>
              <a:rPr lang="en-US" altLang="zh-CN" dirty="0">
                <a:sym typeface="Huawei Sans" panose="020C0503030203020204" pitchFamily="34" charset="0"/>
              </a:rPr>
              <a:t>CPU</a:t>
            </a:r>
            <a:r>
              <a:rPr lang="zh-CN" altLang="en-US" dirty="0">
                <a:sym typeface="Huawei Sans" panose="020C0503030203020204" pitchFamily="34" charset="0"/>
              </a:rPr>
              <a:t>信息，本案例中网络设备有</a:t>
            </a:r>
            <a:r>
              <a:rPr lang="en-US" altLang="zh-CN" dirty="0">
                <a:sym typeface="Huawei Sans" panose="020C0503030203020204" pitchFamily="34" charset="0"/>
              </a:rPr>
              <a:t>2</a:t>
            </a:r>
            <a:r>
              <a:rPr lang="zh-CN" altLang="en-US" dirty="0">
                <a:sym typeface="Huawei Sans" panose="020C0503030203020204" pitchFamily="34" charset="0"/>
              </a:rPr>
              <a:t>个</a:t>
            </a:r>
            <a:r>
              <a:rPr lang="en-US" altLang="zh-CN" dirty="0">
                <a:sym typeface="Huawei Sans" panose="020C0503030203020204" pitchFamily="34" charset="0"/>
              </a:rPr>
              <a:t>CPU</a:t>
            </a:r>
            <a:endParaRPr lang="zh-CN" altLang="en-US" dirty="0">
              <a:sym typeface="Huawei Sans" panose="020C0503030203020204" pitchFamily="34" charset="0"/>
            </a:endParaRPr>
          </a:p>
          <a:p>
            <a:r>
              <a:rPr lang="en-US" altLang="zh-CN" dirty="0" smtClean="0">
                <a:sym typeface="Huawei Sans" panose="020C0503030203020204" pitchFamily="34" charset="0"/>
              </a:rPr>
              <a:t># </a:t>
            </a:r>
            <a:r>
              <a:rPr lang="en-US" altLang="zh-CN" dirty="0">
                <a:sym typeface="Huawei Sans" panose="020C0503030203020204" pitchFamily="34" charset="0"/>
              </a:rPr>
              <a:t>position</a:t>
            </a:r>
            <a:r>
              <a:rPr lang="zh-CN" altLang="en-US" dirty="0">
                <a:sym typeface="Huawei Sans" panose="020C0503030203020204" pitchFamily="34" charset="0"/>
              </a:rPr>
              <a:t>表示</a:t>
            </a:r>
            <a:r>
              <a:rPr lang="en-US" altLang="zh-CN" dirty="0">
                <a:sym typeface="Huawei Sans" panose="020C0503030203020204" pitchFamily="34" charset="0"/>
              </a:rPr>
              <a:t>CPU</a:t>
            </a:r>
            <a:r>
              <a:rPr lang="zh-CN" altLang="en-US" dirty="0">
                <a:sym typeface="Huawei Sans" panose="020C0503030203020204" pitchFamily="34" charset="0"/>
              </a:rPr>
              <a:t>位置信息</a:t>
            </a:r>
          </a:p>
          <a:p>
            <a:r>
              <a:rPr lang="en-US" altLang="zh-CN" dirty="0" smtClean="0">
                <a:sym typeface="Huawei Sans" panose="020C0503030203020204" pitchFamily="34" charset="0"/>
              </a:rPr>
              <a:t># </a:t>
            </a:r>
            <a:r>
              <a:rPr lang="en-US" altLang="zh-CN" dirty="0" err="1">
                <a:sym typeface="Huawei Sans" panose="020C0503030203020204" pitchFamily="34" charset="0"/>
              </a:rPr>
              <a:t>entIndex</a:t>
            </a:r>
            <a:r>
              <a:rPr lang="zh-CN" altLang="en-US" dirty="0">
                <a:sym typeface="Huawei Sans" panose="020C0503030203020204" pitchFamily="34" charset="0"/>
              </a:rPr>
              <a:t>表示</a:t>
            </a:r>
            <a:r>
              <a:rPr lang="en-US" altLang="zh-CN" dirty="0">
                <a:sym typeface="Huawei Sans" panose="020C0503030203020204" pitchFamily="34" charset="0"/>
              </a:rPr>
              <a:t>CPU</a:t>
            </a:r>
            <a:r>
              <a:rPr lang="zh-CN" altLang="en-US" dirty="0">
                <a:sym typeface="Huawei Sans" panose="020C0503030203020204" pitchFamily="34" charset="0"/>
              </a:rPr>
              <a:t>索引信息</a:t>
            </a:r>
          </a:p>
          <a:p>
            <a:r>
              <a:rPr lang="en-US" altLang="zh-CN" dirty="0" smtClean="0">
                <a:sym typeface="Huawei Sans" panose="020C0503030203020204" pitchFamily="34" charset="0"/>
              </a:rPr>
              <a:t># </a:t>
            </a:r>
            <a:r>
              <a:rPr lang="en-US" altLang="zh-CN" dirty="0" err="1">
                <a:sym typeface="Huawei Sans" panose="020C0503030203020204" pitchFamily="34" charset="0"/>
              </a:rPr>
              <a:t>systemCpuUsage</a:t>
            </a:r>
            <a:r>
              <a:rPr lang="zh-CN" altLang="en-US" dirty="0">
                <a:sym typeface="Huawei Sans" panose="020C0503030203020204" pitchFamily="34" charset="0"/>
              </a:rPr>
              <a:t>表示</a:t>
            </a:r>
            <a:r>
              <a:rPr lang="en-US" altLang="zh-CN" dirty="0">
                <a:sym typeface="Huawei Sans" panose="020C0503030203020204" pitchFamily="34" charset="0"/>
              </a:rPr>
              <a:t>CPU</a:t>
            </a:r>
            <a:r>
              <a:rPr lang="zh-CN" altLang="en-US" dirty="0">
                <a:sym typeface="Huawei Sans" panose="020C0503030203020204" pitchFamily="34" charset="0"/>
              </a:rPr>
              <a:t>使用率</a:t>
            </a:r>
          </a:p>
          <a:p>
            <a:r>
              <a:rPr lang="en-US" altLang="zh-CN" dirty="0" smtClean="0">
                <a:sym typeface="Huawei Sans" panose="020C0503030203020204" pitchFamily="34" charset="0"/>
              </a:rPr>
              <a:t># </a:t>
            </a:r>
            <a:r>
              <a:rPr lang="en-US" altLang="zh-CN" dirty="0" err="1" smtClean="0">
                <a:sym typeface="Huawei Sans" panose="020C0503030203020204" pitchFamily="34" charset="0"/>
              </a:rPr>
              <a:t>ovloadThreshold</a:t>
            </a:r>
            <a:r>
              <a:rPr lang="zh-CN" altLang="en-US" dirty="0" smtClean="0">
                <a:sym typeface="Huawei Sans" panose="020C0503030203020204" pitchFamily="34" charset="0"/>
              </a:rPr>
              <a:t>表示</a:t>
            </a:r>
            <a:r>
              <a:rPr lang="en-US" altLang="zh-CN" dirty="0" smtClean="0">
                <a:sym typeface="Huawei Sans" panose="020C0503030203020204" pitchFamily="34" charset="0"/>
              </a:rPr>
              <a:t>CPU</a:t>
            </a:r>
            <a:r>
              <a:rPr lang="zh-CN" altLang="en-US" dirty="0" smtClean="0">
                <a:sym typeface="Huawei Sans" panose="020C0503030203020204" pitchFamily="34" charset="0"/>
              </a:rPr>
              <a:t>过载门限</a:t>
            </a:r>
          </a:p>
          <a:p>
            <a:r>
              <a:rPr lang="en-US" altLang="zh-CN" dirty="0" smtClean="0">
                <a:sym typeface="Huawei Sans" panose="020C0503030203020204" pitchFamily="34" charset="0"/>
              </a:rPr>
              <a:t># </a:t>
            </a:r>
            <a:r>
              <a:rPr lang="en-US" altLang="zh-CN" dirty="0" err="1" smtClean="0">
                <a:sym typeface="Huawei Sans" panose="020C0503030203020204" pitchFamily="34" charset="0"/>
              </a:rPr>
              <a:t>unovloadThreshold</a:t>
            </a:r>
            <a:r>
              <a:rPr lang="zh-CN" altLang="en-US" dirty="0" smtClean="0">
                <a:sym typeface="Huawei Sans" panose="020C0503030203020204" pitchFamily="34" charset="0"/>
              </a:rPr>
              <a:t>表示</a:t>
            </a:r>
            <a:r>
              <a:rPr lang="en-US" altLang="zh-CN" dirty="0" smtClean="0">
                <a:sym typeface="Huawei Sans" panose="020C0503030203020204" pitchFamily="34" charset="0"/>
              </a:rPr>
              <a:t>CPU</a:t>
            </a:r>
            <a:r>
              <a:rPr lang="zh-CN" altLang="en-US" dirty="0" smtClean="0">
                <a:sym typeface="Huawei Sans" panose="020C0503030203020204" pitchFamily="34" charset="0"/>
              </a:rPr>
              <a:t>去过载门限</a:t>
            </a:r>
            <a:endParaRPr lang="zh-CN" altLang="en-US" dirty="0">
              <a:sym typeface="Huawei Sans" panose="020C0503030203020204" pitchFamily="34" charset="0"/>
            </a:endParaRPr>
          </a:p>
        </p:txBody>
      </p:sp>
    </p:spTree>
    <p:extLst>
      <p:ext uri="{BB962C8B-B14F-4D97-AF65-F5344CB8AC3E}">
        <p14:creationId xmlns:p14="http://schemas.microsoft.com/office/powerpoint/2010/main" val="41763783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en-US" altLang="zh-CN" dirty="0" smtClean="0">
                <a:sym typeface="Huawei Sans" panose="020C0503030203020204" pitchFamily="34" charset="0"/>
              </a:rPr>
              <a:t>(</a:t>
            </a:r>
            <a:r>
              <a:rPr lang="zh-CN" altLang="en-US" dirty="0">
                <a:sym typeface="Huawei Sans" panose="020C0503030203020204" pitchFamily="34" charset="0"/>
              </a:rPr>
              <a:t>多选题</a:t>
            </a:r>
            <a:r>
              <a:rPr lang="en-US" altLang="zh-CN" dirty="0" smtClean="0">
                <a:sym typeface="Huawei Sans" panose="020C0503030203020204" pitchFamily="34" charset="0"/>
              </a:rPr>
              <a:t>)OPS</a:t>
            </a:r>
            <a:r>
              <a:rPr lang="zh-CN" altLang="en-US" dirty="0" smtClean="0">
                <a:sym typeface="Huawei Sans" panose="020C0503030203020204" pitchFamily="34" charset="0"/>
              </a:rPr>
              <a:t>功能通过标准的</a:t>
            </a:r>
            <a:r>
              <a:rPr lang="en-US" altLang="zh-CN" dirty="0" smtClean="0">
                <a:sym typeface="Huawei Sans" panose="020C0503030203020204" pitchFamily="34" charset="0"/>
              </a:rPr>
              <a:t>HTTP</a:t>
            </a:r>
            <a:r>
              <a:rPr lang="zh-CN" altLang="en-US" dirty="0" smtClean="0">
                <a:sym typeface="Huawei Sans" panose="020C0503030203020204" pitchFamily="34" charset="0"/>
              </a:rPr>
              <a:t>方法访问管理对象，支持的方法有哪些项？</a:t>
            </a:r>
            <a:r>
              <a:rPr lang="en-US" altLang="zh-CN" dirty="0" smtClean="0">
                <a:sym typeface="Huawei Sans" panose="020C0503030203020204" pitchFamily="34" charset="0"/>
              </a:rPr>
              <a:t>(     )</a:t>
            </a:r>
          </a:p>
          <a:p>
            <a:pPr lvl="1"/>
            <a:r>
              <a:rPr lang="en-US" altLang="zh-CN" dirty="0" smtClean="0">
                <a:sym typeface="Huawei Sans" panose="020C0503030203020204" pitchFamily="34" charset="0"/>
              </a:rPr>
              <a:t>GET</a:t>
            </a:r>
          </a:p>
          <a:p>
            <a:pPr lvl="1"/>
            <a:r>
              <a:rPr lang="en-US" altLang="zh-CN" dirty="0" smtClean="0">
                <a:sym typeface="Huawei Sans" panose="020C0503030203020204" pitchFamily="34" charset="0"/>
              </a:rPr>
              <a:t>PUT</a:t>
            </a:r>
          </a:p>
          <a:p>
            <a:pPr lvl="1"/>
            <a:r>
              <a:rPr lang="en-US" altLang="zh-CN" dirty="0" smtClean="0">
                <a:sym typeface="Huawei Sans" panose="020C0503030203020204" pitchFamily="34" charset="0"/>
              </a:rPr>
              <a:t>POST</a:t>
            </a:r>
          </a:p>
          <a:p>
            <a:pPr lvl="1"/>
            <a:r>
              <a:rPr lang="en-US" altLang="zh-CN" dirty="0" smtClean="0">
                <a:sym typeface="Huawei Sans" panose="020C0503030203020204" pitchFamily="34" charset="0"/>
              </a:rPr>
              <a:t>DELETE</a:t>
            </a:r>
            <a:endParaRPr lang="en-US" altLang="zh-CN" dirty="0">
              <a:sym typeface="Huawei Sans" panose="020C0503030203020204" pitchFamily="34" charset="0"/>
            </a:endParaRPr>
          </a:p>
        </p:txBody>
      </p:sp>
    </p:spTree>
    <p:extLst>
      <p:ext uri="{BB962C8B-B14F-4D97-AF65-F5344CB8AC3E}">
        <p14:creationId xmlns:p14="http://schemas.microsoft.com/office/powerpoint/2010/main" val="115036877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bwMode="gray"/>
        <p:txBody>
          <a:bodyPr/>
          <a:lstStyle/>
          <a:p>
            <a:r>
              <a:rPr lang="en-US" altLang="zh-CN" sz="2000" smtClean="0">
                <a:sym typeface="Huawei Sans" panose="020C0503030203020204" pitchFamily="34" charset="0"/>
              </a:rPr>
              <a:t>OPS</a:t>
            </a:r>
            <a:r>
              <a:rPr lang="zh-CN" altLang="en-US" sz="2000" smtClean="0">
                <a:sym typeface="Huawei Sans" panose="020C0503030203020204" pitchFamily="34" charset="0"/>
              </a:rPr>
              <a:t>（</a:t>
            </a:r>
            <a:r>
              <a:rPr lang="en-US" altLang="zh-CN" sz="2000" smtClean="0">
                <a:sym typeface="Huawei Sans" panose="020C0503030203020204" pitchFamily="34" charset="0"/>
              </a:rPr>
              <a:t>Open Programmability System</a:t>
            </a:r>
            <a:r>
              <a:rPr lang="zh-CN" altLang="en-US" sz="2000" smtClean="0">
                <a:sym typeface="Huawei Sans" panose="020C0503030203020204" pitchFamily="34" charset="0"/>
              </a:rPr>
              <a:t>）是华为网络设备特有功能，利用</a:t>
            </a:r>
            <a:r>
              <a:rPr lang="en-US" altLang="zh-CN" sz="2000" smtClean="0">
                <a:sym typeface="Huawei Sans" panose="020C0503030203020204" pitchFamily="34" charset="0"/>
              </a:rPr>
              <a:t>RESTful API</a:t>
            </a:r>
            <a:r>
              <a:rPr lang="zh-CN" altLang="en-US" sz="2000" smtClean="0">
                <a:sym typeface="Huawei Sans" panose="020C0503030203020204" pitchFamily="34" charset="0"/>
              </a:rPr>
              <a:t>，通过标准的</a:t>
            </a:r>
            <a:r>
              <a:rPr lang="en-US" altLang="zh-CN" sz="2000" smtClean="0">
                <a:sym typeface="Huawei Sans" panose="020C0503030203020204" pitchFamily="34" charset="0"/>
              </a:rPr>
              <a:t>HTTP</a:t>
            </a:r>
            <a:r>
              <a:rPr lang="zh-CN" altLang="en-US" sz="2000" smtClean="0">
                <a:sym typeface="Huawei Sans" panose="020C0503030203020204" pitchFamily="34" charset="0"/>
              </a:rPr>
              <a:t>方法访问设备的管理对象，使用户可以从容应对各种网络运维需求。</a:t>
            </a:r>
            <a:endParaRPr lang="en-US" altLang="zh-CN" sz="2000" smtClean="0">
              <a:sym typeface="Huawei Sans" panose="020C0503030203020204" pitchFamily="34" charset="0"/>
            </a:endParaRPr>
          </a:p>
          <a:p>
            <a:r>
              <a:rPr lang="zh-CN" altLang="en-US" sz="2000" smtClean="0">
                <a:sym typeface="Huawei Sans" panose="020C0503030203020204" pitchFamily="34" charset="0"/>
              </a:rPr>
              <a:t>华为公司提供了</a:t>
            </a:r>
            <a:r>
              <a:rPr lang="en-US" altLang="zh-CN" sz="2000" smtClean="0">
                <a:sym typeface="Huawei Sans" panose="020C0503030203020204" pitchFamily="34" charset="0"/>
              </a:rPr>
              <a:t>OPS</a:t>
            </a:r>
            <a:r>
              <a:rPr lang="zh-CN" altLang="en-US" sz="2000" smtClean="0">
                <a:sym typeface="Huawei Sans" panose="020C0503030203020204" pitchFamily="34" charset="0"/>
              </a:rPr>
              <a:t>功能的</a:t>
            </a:r>
            <a:r>
              <a:rPr lang="en-US" altLang="zh-CN" sz="2000" smtClean="0">
                <a:sym typeface="Huawei Sans" panose="020C0503030203020204" pitchFamily="34" charset="0"/>
              </a:rPr>
              <a:t>Python</a:t>
            </a:r>
            <a:r>
              <a:rPr lang="zh-CN" altLang="en-US" sz="2000" smtClean="0">
                <a:sym typeface="Huawei Sans" panose="020C0503030203020204" pitchFamily="34" charset="0"/>
              </a:rPr>
              <a:t>脚本模板，用户只需根据所要实现功能，查找相关</a:t>
            </a:r>
            <a:r>
              <a:rPr lang="en-US" altLang="zh-CN" sz="2000" smtClean="0">
                <a:sym typeface="Huawei Sans" panose="020C0503030203020204" pitchFamily="34" charset="0"/>
              </a:rPr>
              <a:t>RESTful API</a:t>
            </a:r>
            <a:r>
              <a:rPr lang="zh-CN" altLang="en-US" sz="2000" smtClean="0">
                <a:sym typeface="Huawei Sans" panose="020C0503030203020204" pitchFamily="34" charset="0"/>
              </a:rPr>
              <a:t>，并修改部分代码即可，简单易用。</a:t>
            </a:r>
            <a:endParaRPr lang="en-US" altLang="zh-CN" sz="2000" smtClean="0">
              <a:sym typeface="Huawei Sans" panose="020C0503030203020204" pitchFamily="34" charset="0"/>
            </a:endParaRPr>
          </a:p>
          <a:p>
            <a:endParaRPr lang="en-US" altLang="zh-CN" sz="2000" smtClean="0">
              <a:sym typeface="Huawei Sans" panose="020C0503030203020204" pitchFamily="34" charset="0"/>
            </a:endParaRPr>
          </a:p>
          <a:p>
            <a:endParaRPr lang="en-US" altLang="zh-CN" sz="2000" smtClean="0">
              <a:sym typeface="Huawei Sans" panose="020C0503030203020204" pitchFamily="34" charset="0"/>
            </a:endParaRPr>
          </a:p>
          <a:p>
            <a:endParaRPr lang="en-US" altLang="zh-CN" sz="2000" smtClean="0">
              <a:sym typeface="Huawei Sans" panose="020C0503030203020204" pitchFamily="34" charset="0"/>
            </a:endParaRPr>
          </a:p>
          <a:p>
            <a:endParaRPr lang="en-US" altLang="zh-CN" sz="2000" smtClean="0">
              <a:sym typeface="Huawei Sans" panose="020C0503030203020204" pitchFamily="34" charset="0"/>
            </a:endParaRPr>
          </a:p>
          <a:p>
            <a:endParaRPr lang="zh-CN" altLang="en-US" sz="2000" dirty="0">
              <a:sym typeface="Huawei Sans" panose="020C0503030203020204" pitchFamily="34" charset="0"/>
            </a:endParaRPr>
          </a:p>
        </p:txBody>
      </p:sp>
    </p:spTree>
    <p:extLst>
      <p:ext uri="{BB962C8B-B14F-4D97-AF65-F5344CB8AC3E}">
        <p14:creationId xmlns:p14="http://schemas.microsoft.com/office/powerpoint/2010/main" val="27632006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sz="2000" dirty="0" smtClean="0">
                <a:sym typeface="Huawei Sans" panose="020C0503030203020204" pitchFamily="34" charset="0"/>
              </a:rPr>
              <a:t>REST</a:t>
            </a:r>
            <a:r>
              <a:rPr lang="zh-CN" altLang="en-US" sz="2000" dirty="0" smtClean="0">
                <a:sym typeface="Huawei Sans" panose="020C0503030203020204" pitchFamily="34" charset="0"/>
              </a:rPr>
              <a:t>论文原文</a:t>
            </a:r>
            <a:endParaRPr lang="en-US" altLang="zh-CN" sz="2000" dirty="0" smtClean="0">
              <a:sym typeface="Huawei Sans" panose="020C0503030203020204" pitchFamily="34" charset="0"/>
            </a:endParaRPr>
          </a:p>
          <a:p>
            <a:pPr lvl="1"/>
            <a:r>
              <a:rPr lang="en-US" altLang="zh-CN" sz="1800" dirty="0" smtClean="0">
                <a:sym typeface="Huawei Sans" panose="020C0503030203020204" pitchFamily="34" charset="0"/>
              </a:rPr>
              <a:t>https://www.ics.uci.edu/~fielding/pubs/dissertation/rest_arch_style.htm</a:t>
            </a:r>
          </a:p>
          <a:p>
            <a:r>
              <a:rPr lang="en-US" altLang="zh-CN" sz="2000" dirty="0" smtClean="0">
                <a:sym typeface="Huawei Sans" panose="020C0503030203020204" pitchFamily="34" charset="0"/>
              </a:rPr>
              <a:t>HTTP/1.1 RFC</a:t>
            </a:r>
            <a:r>
              <a:rPr lang="zh-CN" altLang="en-US" sz="2000" dirty="0" smtClean="0">
                <a:sym typeface="Huawei Sans" panose="020C0503030203020204" pitchFamily="34" charset="0"/>
              </a:rPr>
              <a:t>官方文档</a:t>
            </a:r>
            <a:endParaRPr lang="en-US" altLang="zh-CN" sz="2000" dirty="0" smtClean="0">
              <a:sym typeface="Huawei Sans" panose="020C0503030203020204" pitchFamily="34" charset="0"/>
            </a:endParaRPr>
          </a:p>
          <a:p>
            <a:pPr lvl="1"/>
            <a:r>
              <a:rPr lang="en-US" altLang="zh-CN" sz="1800" dirty="0" smtClean="0">
                <a:sym typeface="Huawei Sans" panose="020C0503030203020204" pitchFamily="34" charset="0"/>
              </a:rPr>
              <a:t>https://www.ietf.org/rfc/rfc2616.html</a:t>
            </a:r>
          </a:p>
          <a:p>
            <a:r>
              <a:rPr lang="en-US" altLang="zh-CN" sz="2000" dirty="0" smtClean="0">
                <a:sym typeface="Huawei Sans" panose="020C0503030203020204" pitchFamily="34" charset="0"/>
              </a:rPr>
              <a:t>Python</a:t>
            </a:r>
            <a:r>
              <a:rPr lang="zh-CN" altLang="en-US" sz="2000" dirty="0" smtClean="0">
                <a:sym typeface="Huawei Sans" panose="020C0503030203020204" pitchFamily="34" charset="0"/>
              </a:rPr>
              <a:t>官网</a:t>
            </a:r>
            <a:endParaRPr lang="en-US" altLang="zh-CN" sz="2000" dirty="0" smtClean="0">
              <a:sym typeface="Huawei Sans" panose="020C0503030203020204" pitchFamily="34" charset="0"/>
            </a:endParaRPr>
          </a:p>
          <a:p>
            <a:pPr lvl="1"/>
            <a:r>
              <a:rPr lang="en-US" altLang="zh-CN" sz="1800" dirty="0" smtClean="0">
                <a:sym typeface="Huawei Sans" panose="020C0503030203020204" pitchFamily="34" charset="0"/>
              </a:rPr>
              <a:t>https://www.python.org</a:t>
            </a:r>
          </a:p>
          <a:p>
            <a:r>
              <a:rPr lang="en-US" altLang="zh-CN" sz="2000" dirty="0" smtClean="0">
                <a:sym typeface="Huawei Sans" panose="020C0503030203020204" pitchFamily="34" charset="0"/>
              </a:rPr>
              <a:t>OPS RESTful API</a:t>
            </a:r>
          </a:p>
          <a:p>
            <a:pPr lvl="1"/>
            <a:r>
              <a:rPr lang="en-US" altLang="zh-CN" sz="1800" dirty="0" smtClean="0">
                <a:sym typeface="Huawei Sans" panose="020C0503030203020204" pitchFamily="34" charset="0"/>
              </a:rPr>
              <a:t>https://support.huawei.com</a:t>
            </a:r>
          </a:p>
          <a:p>
            <a:endParaRPr lang="zh-CN" altLang="en-US" sz="2000" dirty="0">
              <a:sym typeface="Huawei Sans" panose="020C0503030203020204" pitchFamily="34" charset="0"/>
            </a:endParaRPr>
          </a:p>
        </p:txBody>
      </p:sp>
    </p:spTree>
    <p:extLst>
      <p:ext uri="{BB962C8B-B14F-4D97-AF65-F5344CB8AC3E}">
        <p14:creationId xmlns:p14="http://schemas.microsoft.com/office/powerpoint/2010/main" val="248637097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998978"/>
      </p:ext>
    </p:extLst>
  </p:cSld>
  <p:clrMapOvr>
    <a:masterClrMapping/>
  </p:clrMapOvr>
  <p:timing>
    <p:tnLst>
      <p:par>
        <p:cTn id="1" dur="indefinite" restart="never" nodeType="tmRoot"/>
      </p:par>
    </p:tnLst>
  </p:timing>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5960F2-6186-408B-A0DC-5CA5E58B604F}">
  <ds:schemaRefs>
    <ds:schemaRef ds:uri="http://schemas.microsoft.com/office/2006/metadata/properties"/>
    <ds:schemaRef ds:uri="http://purl.org/dc/elements/1.1/"/>
    <ds:schemaRef ds:uri="http://www.w3.org/XML/1998/namespace"/>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475f1e55-3009-46d8-9566-5d569a2b3a98"/>
    <ds:schemaRef ds:uri="http://purl.org/dc/dcmitype/"/>
  </ds:schemaRefs>
</ds:datastoreItem>
</file>

<file path=customXml/itemProps2.xml><?xml version="1.0" encoding="utf-8"?>
<ds:datastoreItem xmlns:ds="http://schemas.openxmlformats.org/officeDocument/2006/customXml" ds:itemID="{14FC9099-2CE5-4707-8285-F2E15B963AEE}"/>
</file>

<file path=customXml/itemProps3.xml><?xml version="1.0" encoding="utf-8"?>
<ds:datastoreItem xmlns:ds="http://schemas.openxmlformats.org/officeDocument/2006/customXml" ds:itemID="{FEDE263F-0510-4442-823E-69B63ECB6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13786</TotalTime>
  <Words>5015</Words>
  <Application>Microsoft Office PowerPoint</Application>
  <PresentationFormat>宽屏</PresentationFormat>
  <Paragraphs>611</Paragraphs>
  <Slides>41</Slides>
  <Notes>41</Notes>
  <HiddenSlides>1</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41</vt:i4>
      </vt:variant>
    </vt:vector>
  </HeadingPairs>
  <TitlesOfParts>
    <vt:vector size="51" baseType="lpstr">
      <vt:lpstr>方正兰亭黑简体</vt:lpstr>
      <vt:lpstr>Microsoft YaHei</vt:lpstr>
      <vt:lpstr>Microsoft YaHei</vt:lpstr>
      <vt:lpstr>Arial</vt:lpstr>
      <vt:lpstr>Huawei Sans</vt:lpstr>
      <vt:lpstr>Wingdings</vt:lpstr>
      <vt:lpstr>2_标题页模板</vt:lpstr>
      <vt:lpstr>3_功能页模板</vt:lpstr>
      <vt:lpstr>4_内容页模板</vt:lpstr>
      <vt:lpstr>5_感谢页模板</vt:lpstr>
      <vt:lpstr>PowerPoint 演示文稿</vt:lpstr>
      <vt:lpstr>OPS原理与实践</vt:lpstr>
      <vt:lpstr>PowerPoint 演示文稿</vt:lpstr>
      <vt:lpstr>PowerPoint 演示文稿</vt:lpstr>
      <vt:lpstr>PowerPoint 演示文稿</vt:lpstr>
      <vt:lpstr>OPS概述 (1)</vt:lpstr>
      <vt:lpstr>OPS概述 (2)</vt:lpstr>
      <vt:lpstr>PowerPoint 演示文稿</vt:lpstr>
      <vt:lpstr>OPS架构</vt:lpstr>
      <vt:lpstr>RESTful API介绍</vt:lpstr>
      <vt:lpstr>OPS RESTful API交互示例</vt:lpstr>
      <vt:lpstr>HTTP简介</vt:lpstr>
      <vt:lpstr>HTTP报文格式 (1)</vt:lpstr>
      <vt:lpstr>HTTP报文格式 (2)</vt:lpstr>
      <vt:lpstr>HTTP报文格式 (3)</vt:lpstr>
      <vt:lpstr>OPS RESTful API描述示例</vt:lpstr>
      <vt:lpstr>Python脚本使用介绍</vt:lpstr>
      <vt:lpstr>PowerPoint 演示文稿</vt:lpstr>
      <vt:lpstr>场景1：实现空配置设备自动部署</vt:lpstr>
      <vt:lpstr>场景2：实现自动检查设备健康状态</vt:lpstr>
      <vt:lpstr>场景3：实现自动备份配置文件</vt:lpstr>
      <vt:lpstr>PowerPoint 演示文稿</vt:lpstr>
      <vt:lpstr>配置思路</vt:lpstr>
      <vt:lpstr>Python脚本编写 (1)</vt:lpstr>
      <vt:lpstr>Python脚本编写 (2)</vt:lpstr>
      <vt:lpstr>Python脚本编写 (3)</vt:lpstr>
      <vt:lpstr>Python脚本编写 (4)</vt:lpstr>
      <vt:lpstr>Python脚本编写 (5)</vt:lpstr>
      <vt:lpstr>Python脚本编写 (6)</vt:lpstr>
      <vt:lpstr>Python脚本编写 (7)</vt:lpstr>
      <vt:lpstr>案例：获取设备CPU信息</vt:lpstr>
      <vt:lpstr>编写Python脚本 (1)</vt:lpstr>
      <vt:lpstr>编写Python脚本 (2)</vt:lpstr>
      <vt:lpstr>上传Python脚本</vt:lpstr>
      <vt:lpstr>安装Python脚本</vt:lpstr>
      <vt:lpstr>运行Python脚本 (1)</vt:lpstr>
      <vt:lpstr>运行Python脚本 (2)</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hejunjianzjhw</cp:lastModifiedBy>
  <cp:revision>665</cp:revision>
  <cp:lastPrinted>2020-07-31T09:33:18Z</cp:lastPrinted>
  <dcterms:created xsi:type="dcterms:W3CDTF">2018-11-29T10:16:29Z</dcterms:created>
  <dcterms:modified xsi:type="dcterms:W3CDTF">2021-10-21T02:01:29Z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(3)rtQxOqMhnw/FyhE2EXswqH7rxxZ+0aHHSEHubb7pfdVQo5Nmnit+ozO0J2mLUlz5J9FDKGBw
VF+Rx8djpp6D/KEarhT9DgeWX8JSrJU1AwvNSg92YFxbceFwBE7juW/JxYD/VpPnIwREDkNh
OIzxdxIU/0DTbUKyfnAoIXIQ3O9QYjJ0q9viRTzsvC3wU/6ZLBVO0KWeB5qhs4CYbFB/00aP
MZWeLQm1a1Y+LeS2jM</vt:lpwstr>
  </property>
  <property fmtid="{D5CDD505-2E9C-101B-9397-08002B2CF9AE}" pid="3" name="_2015_ms_pID_7253431">
    <vt:lpwstr>dSgI0ac9yxXgKTUrgMe+5nixvbKcUQ4mQzeFPtIUtFC9bghoADOQ6A
2Xf0p1twHxvmv7Lfx4EstXhWL0lWz0880WJGU5k8Ys57Ck1Nb8d4jGC1P9J6pdRE+FMIrnLs
MZMtm1CCMC99gAcer7zPJRUqLUGp4SlzFrBanTmG9Ih+IOzqblcKCAfRseSKnsaK4zpgF5dy
Ob8x5KE0wsKTK4z6+GaekZrnSR0DTbuqkeIH</vt:lpwstr>
  </property>
  <property fmtid="{D5CDD505-2E9C-101B-9397-08002B2CF9AE}" pid="4" name="_2015_ms_pID_7253432">
    <vt:lpwstr>Bw==</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1634777000</vt:lpwstr>
  </property>
</Properties>
</file>